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72"/>
  </p:notesMasterIdLst>
  <p:sldIdLst>
    <p:sldId id="258" r:id="rId2"/>
    <p:sldId id="283" r:id="rId3"/>
    <p:sldId id="284" r:id="rId4"/>
    <p:sldId id="285" r:id="rId5"/>
    <p:sldId id="351" r:id="rId6"/>
    <p:sldId id="413" r:id="rId7"/>
    <p:sldId id="354" r:id="rId8"/>
    <p:sldId id="355" r:id="rId9"/>
    <p:sldId id="358" r:id="rId10"/>
    <p:sldId id="359" r:id="rId11"/>
    <p:sldId id="360" r:id="rId12"/>
    <p:sldId id="361" r:id="rId13"/>
    <p:sldId id="362" r:id="rId14"/>
    <p:sldId id="414" r:id="rId15"/>
    <p:sldId id="363" r:id="rId16"/>
    <p:sldId id="366" r:id="rId17"/>
    <p:sldId id="415" r:id="rId18"/>
    <p:sldId id="367" r:id="rId19"/>
    <p:sldId id="368" r:id="rId20"/>
    <p:sldId id="369" r:id="rId21"/>
    <p:sldId id="370" r:id="rId22"/>
    <p:sldId id="371" r:id="rId23"/>
    <p:sldId id="372" r:id="rId24"/>
    <p:sldId id="373" r:id="rId25"/>
    <p:sldId id="374" r:id="rId26"/>
    <p:sldId id="375" r:id="rId27"/>
    <p:sldId id="416" r:id="rId28"/>
    <p:sldId id="417" r:id="rId29"/>
    <p:sldId id="378" r:id="rId30"/>
    <p:sldId id="376" r:id="rId31"/>
    <p:sldId id="377" r:id="rId32"/>
    <p:sldId id="418" r:id="rId33"/>
    <p:sldId id="379" r:id="rId34"/>
    <p:sldId id="419" r:id="rId35"/>
    <p:sldId id="420" r:id="rId36"/>
    <p:sldId id="381" r:id="rId37"/>
    <p:sldId id="383" r:id="rId38"/>
    <p:sldId id="382" r:id="rId39"/>
    <p:sldId id="421" r:id="rId40"/>
    <p:sldId id="422" r:id="rId41"/>
    <p:sldId id="423" r:id="rId42"/>
    <p:sldId id="424" r:id="rId43"/>
    <p:sldId id="425" r:id="rId44"/>
    <p:sldId id="426" r:id="rId45"/>
    <p:sldId id="427" r:id="rId46"/>
    <p:sldId id="384" r:id="rId47"/>
    <p:sldId id="385" r:id="rId48"/>
    <p:sldId id="386" r:id="rId49"/>
    <p:sldId id="387" r:id="rId50"/>
    <p:sldId id="388" r:id="rId51"/>
    <p:sldId id="389" r:id="rId52"/>
    <p:sldId id="390" r:id="rId53"/>
    <p:sldId id="428" r:id="rId54"/>
    <p:sldId id="429" r:id="rId55"/>
    <p:sldId id="391" r:id="rId56"/>
    <p:sldId id="392" r:id="rId57"/>
    <p:sldId id="397" r:id="rId58"/>
    <p:sldId id="398" r:id="rId59"/>
    <p:sldId id="400" r:id="rId60"/>
    <p:sldId id="430" r:id="rId61"/>
    <p:sldId id="402" r:id="rId62"/>
    <p:sldId id="431" r:id="rId63"/>
    <p:sldId id="432" r:id="rId64"/>
    <p:sldId id="405" r:id="rId65"/>
    <p:sldId id="406" r:id="rId66"/>
    <p:sldId id="407" r:id="rId67"/>
    <p:sldId id="408" r:id="rId68"/>
    <p:sldId id="409" r:id="rId69"/>
    <p:sldId id="410" r:id="rId70"/>
    <p:sldId id="411"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1837" autoAdjust="0"/>
  </p:normalViewPr>
  <p:slideViewPr>
    <p:cSldViewPr snapToGrid="0">
      <p:cViewPr varScale="1">
        <p:scale>
          <a:sx n="99" d="100"/>
          <a:sy n="99" d="100"/>
        </p:scale>
        <p:origin x="1528" y="176"/>
      </p:cViewPr>
      <p:guideLst/>
    </p:cSldViewPr>
  </p:slideViewPr>
  <p:notesTextViewPr>
    <p:cViewPr>
      <p:scale>
        <a:sx n="3" d="2"/>
        <a:sy n="3" d="2"/>
      </p:scale>
      <p:origin x="0" y="0"/>
    </p:cViewPr>
  </p:notesTextViewPr>
  <p:sorterViewPr>
    <p:cViewPr varScale="1">
      <p:scale>
        <a:sx n="100" d="100"/>
        <a:sy n="100" d="100"/>
      </p:scale>
      <p:origin x="0" y="-12528"/>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8/10/relationships/authors" Targe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5/15/25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1795140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1662021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1944876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Arial" panose="020B0604020202020204" pitchFamily="34" charset="0"/>
              </a:rPr>
              <a:t>Personal License Plate</a:t>
            </a:r>
            <a:r>
              <a:rPr lang="ja-JP" altLang="en-US" dirty="0">
                <a:latin typeface="Arial" panose="020B0604020202020204" pitchFamily="34" charset="0"/>
              </a:rPr>
              <a:t>”</a:t>
            </a:r>
            <a:r>
              <a:rPr lang="en-US" altLang="ja-JP" dirty="0">
                <a:latin typeface="Arial" panose="020B0604020202020204" pitchFamily="34"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Arial" panose="020B0604020202020204" pitchFamily="34" charset="0"/>
              </a:rPr>
              <a:t>LV2SAIL</a:t>
            </a:r>
            <a:r>
              <a:rPr lang="ja-JP" altLang="en-US" dirty="0">
                <a:latin typeface="Arial" panose="020B0604020202020204" pitchFamily="34" charset="0"/>
              </a:rPr>
              <a:t>”</a:t>
            </a:r>
            <a:r>
              <a:rPr lang="en-US" altLang="ja-JP" dirty="0">
                <a:latin typeface="Arial" panose="020B0604020202020204" pitchFamily="34" charset="0"/>
              </a:rPr>
              <a:t> OR </a:t>
            </a:r>
            <a:r>
              <a:rPr lang="ja-JP" altLang="en-US" dirty="0">
                <a:latin typeface="Arial" panose="020B0604020202020204" pitchFamily="34" charset="0"/>
              </a:rPr>
              <a:t>“</a:t>
            </a:r>
            <a:r>
              <a:rPr lang="en-US" altLang="ja-JP" dirty="0">
                <a:latin typeface="Arial" panose="020B0604020202020204" pitchFamily="34" charset="0"/>
              </a:rPr>
              <a:t>DADOV5</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DO</a:t>
            </a:r>
            <a:r>
              <a:rPr lang="en-US" altLang="en-US" dirty="0">
                <a:latin typeface="Arial" panose="020B0604020202020204" pitchFamily="34" charset="0"/>
              </a:rPr>
              <a:t>: Review Event Ground Rules.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anyone have any rules they would like to see added?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everyone agree to these?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Introduce the notion of Standard Work and the goal of this event.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1213457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Standard Work is a foundational element of the Toyota Production System.</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Explain the components of the TPS Model:</a:t>
            </a:r>
          </a:p>
          <a:p>
            <a:pPr>
              <a:buFontTx/>
              <a:buChar char="-"/>
            </a:pPr>
            <a:r>
              <a:rPr lang="en-US" altLang="en-US" dirty="0">
                <a:latin typeface="Arial" panose="020B0604020202020204" pitchFamily="34" charset="0"/>
              </a:rPr>
              <a:t>Just in Time: Delivering the right product with the right quantity and quality in at the exact time that it is needed.</a:t>
            </a:r>
          </a:p>
          <a:p>
            <a:pPr>
              <a:buFontTx/>
              <a:buChar char="-"/>
            </a:pPr>
            <a:r>
              <a:rPr lang="en-US" altLang="en-US" dirty="0" err="1">
                <a:latin typeface="Arial" panose="020B0604020202020204" pitchFamily="34" charset="0"/>
              </a:rPr>
              <a:t>Jidoka</a:t>
            </a:r>
            <a:r>
              <a:rPr lang="en-US" altLang="en-US" dirty="0">
                <a:latin typeface="Arial" panose="020B0604020202020204" pitchFamily="34" charset="0"/>
              </a:rPr>
              <a:t>: Also called autonomation.  The machine has the intelligence to detect a defect. This is considered more accurate than relying on manual inspection.  Eliminates the production of rejects.</a:t>
            </a:r>
          </a:p>
          <a:p>
            <a:pPr>
              <a:buFontTx/>
              <a:buChar char="-"/>
            </a:pPr>
            <a:r>
              <a:rPr lang="en-US" altLang="en-US" dirty="0" err="1">
                <a:latin typeface="Arial" panose="020B0604020202020204" pitchFamily="34" charset="0"/>
              </a:rPr>
              <a:t>Heijunka</a:t>
            </a:r>
            <a:r>
              <a:rPr lang="en-US" altLang="en-US" dirty="0">
                <a:latin typeface="Arial" panose="020B0604020202020204" pitchFamily="34" charset="0"/>
              </a:rPr>
              <a:t>: A Japanese work for level loading. The idea here is to reduce the variation of customer demand by leveling the production schedule.</a:t>
            </a:r>
          </a:p>
          <a:p>
            <a:pPr>
              <a:buFontTx/>
              <a:buChar char="-"/>
            </a:pPr>
            <a:r>
              <a:rPr lang="en-US" altLang="en-US" dirty="0">
                <a:latin typeface="Arial" panose="020B0604020202020204" pitchFamily="34" charset="0"/>
              </a:rPr>
              <a:t>Kaizen: Continuous improvement.  Everything that we do today we can do better tomorrow.</a:t>
            </a:r>
          </a:p>
          <a:p>
            <a:pPr>
              <a:buFontTx/>
              <a:buChar char="-"/>
            </a:pPr>
            <a:r>
              <a:rPr lang="en-US" altLang="en-US" dirty="0">
                <a:latin typeface="Arial" panose="020B0604020202020204" pitchFamily="34" charset="0"/>
              </a:rPr>
              <a:t>Standard Work: Creates a baseline for improvement.  Assures that work will be done in a consistent manner, thereby improving quality.</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1532884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We just discussed the straight forward definition of standard work. There are subtleties that distinguish standard work. Note, the separate focus of the operator and of the machine. After the separate focus, there is a combined focus of the interaction between the operator and the machine. Standard work is not the same as traditional time and motion study. The differences include (TAKT time–customer demand, expects the operator to perform multiple repetitive operations within a work sequence and does not promote the building of unnecessary inventory).</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3497405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Productivity is equal to output over input. Improving productivity is an outcome of standard work. Standard work affects both the numerator and denominator.</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1030382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Have the discussion around knowing who your various customers may be for a process. What might not be considered value-adding to one customer, may be considered value-adding to another. </a:t>
            </a:r>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28058806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the previous slide, the definitions of Value Added (VA) and Non-Value Added (NVA) were introduced. This slide continues to help define the difference between VA and NVA, and helps provide a visual representation.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It is helpful to use a process as an example. One easy example is a machined part that goes through several operations that are VA; cut to size, turn, mill, drill, plate, polish, etc. Mention the 95/5 split, but it</a:t>
            </a:r>
            <a:r>
              <a:rPr lang="ja-JP" altLang="en-US" dirty="0">
                <a:latin typeface="Arial" panose="020B0604020202020204" pitchFamily="34" charset="0"/>
              </a:rPr>
              <a:t>’</a:t>
            </a:r>
            <a:r>
              <a:rPr lang="en-US" altLang="ja-JP" dirty="0">
                <a:latin typeface="Arial" panose="020B0604020202020204" pitchFamily="34" charset="0"/>
              </a:rPr>
              <a:t>s better to use an example that the audience experiences. Get the audience to tell you how long the VA steps take for one of their parts or products; 10 seconds to cut, 20 second to turn, etc. Then ask for the estimated lead time. Next, do the math to give the % split. Fabricated parts are normally much less than 5% VA.</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3648223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One point to make is that we are focusing on eliminating waste, not trying to improve value added steps.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Reducing Lead Time does all of these things and improves market share, sales and growth.</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ASK: </a:t>
            </a:r>
            <a:r>
              <a:rPr lang="ja-JP" altLang="en-US" dirty="0">
                <a:latin typeface="Arial" panose="020B0604020202020204" pitchFamily="34" charset="0"/>
              </a:rPr>
              <a:t>“</a:t>
            </a:r>
            <a:r>
              <a:rPr lang="en-US" altLang="ja-JP" dirty="0">
                <a:latin typeface="Arial" panose="020B0604020202020204" pitchFamily="34" charset="0"/>
              </a:rPr>
              <a:t>What does this do for the employee?</a:t>
            </a:r>
            <a:r>
              <a:rPr lang="ja-JP" altLang="en-US" dirty="0">
                <a:latin typeface="Arial" panose="020B0604020202020204" pitchFamily="34" charset="0"/>
              </a:rPr>
              <a:t>”</a:t>
            </a:r>
            <a:r>
              <a:rPr lang="en-US" altLang="ja-JP" dirty="0">
                <a:latin typeface="Arial" panose="020B0604020202020204" pitchFamily="34" charset="0"/>
              </a:rPr>
              <a:t> (removes repetitive tasks, improves quality of life)</a:t>
            </a:r>
          </a:p>
          <a:p>
            <a:endParaRPr lang="en-US" altLang="en-US" dirty="0">
              <a:latin typeface="Arial" panose="020B0604020202020204" pitchFamily="34" charset="0"/>
            </a:endParaRPr>
          </a:p>
          <a:p>
            <a:r>
              <a:rPr lang="en-US" altLang="en-US"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As waste is eliminated or reduced, lead time is reduced, cost is reduced, quality is improved by reducing the number of opportunities, and inventory is reduced. Predictability is improved, which reduces variation.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2880245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752631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2791912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pPr>
            <a:r>
              <a:rPr lang="en-US" altLang="en-US" b="1" dirty="0">
                <a:latin typeface="Arial" panose="020B0604020202020204" pitchFamily="34" charset="0"/>
              </a:rPr>
              <a:t>REFERENCE FOR MORE ON ORIGINS OF TAKT TIME:</a:t>
            </a:r>
            <a:r>
              <a:rPr lang="en-US" altLang="en-US" dirty="0">
                <a:latin typeface="Arial" panose="020B0604020202020204" pitchFamily="34" charset="0"/>
              </a:rPr>
              <a:t> </a:t>
            </a:r>
            <a:br>
              <a:rPr lang="en-US" altLang="en-US" dirty="0">
                <a:latin typeface="Arial" panose="020B0604020202020204" pitchFamily="34" charset="0"/>
              </a:rPr>
            </a:br>
            <a:r>
              <a:rPr lang="en-US" altLang="en-US" dirty="0">
                <a:latin typeface="Arial" panose="020B0604020202020204" pitchFamily="34" charset="0"/>
              </a:rPr>
              <a:t>This term is an interesting example of a word moving from region to region until it is now becoming standard in German, Japanese, and English. The word itself, meaning a precision interval of time, as in musical meter, was first introduced in German industry as it embraced mass production in the 1930s. German aircraft firms moved aircraft fuselages ahead to the next workstation at steady intervals determined by the Takt time. Mitsubishi imported the term in its German form for its own aircraft production efforts in Japan and the term was later taken up by Toyota. It has only crept into English in the last decade as lean thinking has spread. For the historical details see </a:t>
            </a:r>
            <a:r>
              <a:rPr lang="en-US" altLang="en-US" dirty="0" err="1">
                <a:latin typeface="Arial" panose="020B0604020202020204" pitchFamily="34" charset="0"/>
              </a:rPr>
              <a:t>Kazou</a:t>
            </a:r>
            <a:r>
              <a:rPr lang="en-US" altLang="en-US" dirty="0">
                <a:latin typeface="Arial" panose="020B0604020202020204" pitchFamily="34" charset="0"/>
              </a:rPr>
              <a:t> Wada, "The Emergence of the 'Flow Production' Method in Japan," in </a:t>
            </a:r>
            <a:r>
              <a:rPr lang="en-US" altLang="en-US" dirty="0" err="1">
                <a:latin typeface="Arial" panose="020B0604020202020204" pitchFamily="34" charset="0"/>
              </a:rPr>
              <a:t>Haruhito</a:t>
            </a:r>
            <a:r>
              <a:rPr lang="en-US" altLang="en-US" dirty="0">
                <a:latin typeface="Arial" panose="020B0604020202020204" pitchFamily="34" charset="0"/>
              </a:rPr>
              <a:t> </a:t>
            </a:r>
            <a:r>
              <a:rPr lang="en-US" altLang="en-US" dirty="0" err="1">
                <a:latin typeface="Arial" panose="020B0604020202020204" pitchFamily="34" charset="0"/>
              </a:rPr>
              <a:t>Shiomi</a:t>
            </a:r>
            <a:r>
              <a:rPr lang="en-US" altLang="en-US" dirty="0">
                <a:latin typeface="Arial" panose="020B0604020202020204" pitchFamily="34" charset="0"/>
              </a:rPr>
              <a:t> and Kazuo Wada, Fordism Transformed: The Development of Production Methods in the Automobile Industry (Oxford: Oxford University Press, 1995.</a:t>
            </a:r>
            <a:br>
              <a:rPr lang="en-US" altLang="en-US" dirty="0">
                <a:latin typeface="Arial" panose="020B0604020202020204" pitchFamily="34" charset="0"/>
              </a:rPr>
            </a:br>
            <a:r>
              <a:rPr lang="en-US" altLang="en-US" dirty="0">
                <a:latin typeface="Arial" panose="020B0604020202020204" pitchFamily="34" charset="0"/>
              </a:rPr>
              <a:t>Later research led to the information that the specific German production line in question was the one for the Junker airplane. </a:t>
            </a:r>
          </a:p>
          <a:p>
            <a:r>
              <a:rPr lang="en-US" altLang="en-US" dirty="0">
                <a:latin typeface="Arial" panose="020B0604020202020204" pitchFamily="34" charset="0"/>
              </a:rPr>
              <a:t>Source:</a:t>
            </a:r>
          </a:p>
          <a:p>
            <a:r>
              <a:rPr lang="en-US" altLang="en-US" dirty="0">
                <a:latin typeface="Arial" panose="020B0604020202020204" pitchFamily="34" charset="0"/>
              </a:rPr>
              <a:t>James P. Womack </a:t>
            </a:r>
          </a:p>
          <a:p>
            <a:r>
              <a:rPr lang="en-US" altLang="en-US" dirty="0">
                <a:latin typeface="Arial" panose="020B0604020202020204" pitchFamily="34" charset="0"/>
              </a:rPr>
              <a:t>and Daniel T. Jones,</a:t>
            </a:r>
          </a:p>
          <a:p>
            <a:r>
              <a:rPr lang="en-US" altLang="en-US" u="sng" dirty="0">
                <a:latin typeface="Arial" panose="020B0604020202020204" pitchFamily="34" charset="0"/>
              </a:rPr>
              <a:t>Lean Thinking, 1996</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6931344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TAKT time is defined as the rate at which you should produce one part based on the rate of sales to meet customer demand.  TAKT time should be expressed in seconds and is calculated by </a:t>
            </a:r>
            <a:r>
              <a:rPr lang="en-US" altLang="ja-JP" i="1" dirty="0">
                <a:latin typeface="Arial" panose="020B0604020202020204" pitchFamily="34" charset="0"/>
              </a:rPr>
              <a:t>(read the equation).</a:t>
            </a:r>
            <a:r>
              <a:rPr lang="ja-JP" altLang="en-US" i="1" dirty="0">
                <a:latin typeface="Arial" panose="020B0604020202020204" pitchFamily="34" charset="0"/>
              </a:rPr>
              <a:t>”</a:t>
            </a:r>
            <a:endParaRPr lang="en-US" altLang="ja-JP" i="1" dirty="0">
              <a:latin typeface="Arial" panose="020B0604020202020204" pitchFamily="34" charset="0"/>
            </a:endParaRPr>
          </a:p>
          <a:p>
            <a:endParaRPr lang="en-US" altLang="en-US" i="1"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39713830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the definition for TAKT time here and the exact calculation. Here is an example of a TAKT time calculation.  The inputs are the customer demand is 350 units per shift, there are 8 hours per shift, an unpaid lunch and two 15 minute paid breaks.  Start by calculating the gross available time which is 8 hours * 60 minutes per hour * 60 seconds per minute.  Subtract from this total the breaks (30 minutes * 60 seconds per minute) for a total available time of 27,000 seconds.  Note, in this case there is a paid lunch.  To calculate the TAKT time, divide 27,000 seconds by 350 units to get 77 a TAKT time of 77 seconds.</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2614097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Review the definition for TAKT time here and the exact calculation. Here is a simple template you can use to properly categorize the elements of TAKT time.  Your actual calculation may be a little more difficult, but will follow the same fundamentals.</a:t>
            </a:r>
          </a:p>
          <a:p>
            <a:endParaRPr lang="en-US" altLang="en-US" dirty="0">
              <a:latin typeface="Arial" panose="020B0604020202020204" pitchFamily="34" charset="0"/>
            </a:endParaRPr>
          </a:p>
          <a:p>
            <a:r>
              <a:rPr lang="en-US" altLang="en-US" b="1" dirty="0">
                <a:latin typeface="Arial" panose="020B0604020202020204" pitchFamily="34" charset="0"/>
              </a:rPr>
              <a:t>DO: </a:t>
            </a:r>
            <a:r>
              <a:rPr lang="en-US" altLang="en-US" dirty="0">
                <a:latin typeface="Arial" panose="020B0604020202020204" pitchFamily="34" charset="0"/>
              </a:rPr>
              <a:t>Based on the amount provided on the slide, 890 units for daily demand, the TAKT Time equation would be:</a:t>
            </a:r>
          </a:p>
          <a:p>
            <a:endParaRPr lang="en-US" altLang="en-US" dirty="0">
              <a:latin typeface="Arial" panose="020B0604020202020204" pitchFamily="34" charset="0"/>
            </a:endParaRPr>
          </a:p>
          <a:p>
            <a:r>
              <a:rPr lang="en-US" altLang="en-US" dirty="0">
                <a:latin typeface="Arial" panose="020B0604020202020204" pitchFamily="34" charset="0"/>
              </a:rPr>
              <a:t>450 min avail x 60 sec = 27,000 sec per shift</a:t>
            </a:r>
          </a:p>
          <a:p>
            <a:r>
              <a:rPr lang="en-US" altLang="en-US" dirty="0">
                <a:latin typeface="Arial" panose="020B0604020202020204" pitchFamily="34" charset="0"/>
              </a:rPr>
              <a:t>27,000 sec/890 units/shift = 31 seconds</a:t>
            </a:r>
          </a:p>
          <a:p>
            <a:endParaRPr lang="en-US" altLang="en-US" dirty="0">
              <a:latin typeface="Arial" panose="020B0604020202020204" pitchFamily="34" charset="0"/>
            </a:endParaRPr>
          </a:p>
          <a:p>
            <a:r>
              <a:rPr lang="en-US" altLang="en-US" dirty="0">
                <a:latin typeface="Arial" panose="020B0604020202020204" pitchFamily="34" charset="0"/>
              </a:rPr>
              <a:t>TAKT Time = 31 seconds per piece (meaning the customer needs us to make one unit every 31 seconds)</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13773352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a:latin typeface="Arial" panose="020B0604020202020204" pitchFamily="34" charset="0"/>
              </a:rPr>
              <a:t>DO:</a:t>
            </a:r>
            <a:r>
              <a:rPr lang="en-US" altLang="en-US">
                <a:latin typeface="Arial" panose="020B0604020202020204" pitchFamily="34" charset="0"/>
              </a:rPr>
              <a:t> Review definitions on the slide and then speak specifically to each type on the following slides. </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24459809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operator cycle time is the time it takes an operator to complete one full cycle in his/her assigned work sequence.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38729214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calculating machine cycle time remember that this has nothing to do with the operator.  It is the time it takes a machine to completely finish one full cycle.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41155624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The third type of cycle time to define is Processing Cycle time. The machine cycle time plus the manual time it takes the operator to unload, load and cycle start the machine and amortized tool change time. The amortized tool change is the time it takes to complete a scheduled tool change divided by the number of cycles between the tool change. The amortized tool change time is only for scheduled tool changes.</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34002203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b="1" dirty="0">
                <a:latin typeface="Arial" panose="020B0604020202020204" pitchFamily="34" charset="0"/>
              </a:rPr>
              <a:t>ANSWERS:</a:t>
            </a:r>
            <a:r>
              <a:rPr lang="en-US" altLang="en-US" sz="1200" dirty="0">
                <a:latin typeface="Arial" panose="020B0604020202020204" pitchFamily="34" charset="0"/>
              </a:rPr>
              <a:t> (post on a chart paper or whiteboard in the room)</a:t>
            </a:r>
          </a:p>
          <a:p>
            <a:r>
              <a:rPr lang="en-US" altLang="en-US" sz="1200" dirty="0">
                <a:latin typeface="Arial" panose="020B0604020202020204" pitchFamily="34" charset="0"/>
              </a:rPr>
              <a:t>Total Operator Cycle Time: Total operator cycle time is the sum of the time it takes to build the part at Station #1, to gauge the part, walk the part from Station #1 to Station #2, unload the part from Station #2 start machine #2 and ends with the time it takes to walk back to Station #1.  </a:t>
            </a:r>
          </a:p>
          <a:p>
            <a:endParaRPr lang="en-US" altLang="en-US" sz="1200" dirty="0">
              <a:latin typeface="Arial" panose="020B0604020202020204" pitchFamily="34" charset="0"/>
            </a:endParaRPr>
          </a:p>
          <a:p>
            <a:r>
              <a:rPr lang="en-US" altLang="en-US" sz="1200" dirty="0">
                <a:latin typeface="Arial" panose="020B0604020202020204" pitchFamily="34" charset="0"/>
              </a:rPr>
              <a:t>Unload, Load, Start #1:  	10 sec</a:t>
            </a:r>
          </a:p>
          <a:p>
            <a:r>
              <a:rPr lang="en-US" altLang="en-US" sz="1200" dirty="0">
                <a:latin typeface="Arial" panose="020B0604020202020204" pitchFamily="34" charset="0"/>
              </a:rPr>
              <a:t>Gage part                         	12 sec</a:t>
            </a:r>
          </a:p>
          <a:p>
            <a:r>
              <a:rPr lang="en-US" altLang="en-US" sz="1200" dirty="0">
                <a:latin typeface="Arial" panose="020B0604020202020204" pitchFamily="34" charset="0"/>
              </a:rPr>
              <a:t>Walk                                    4 sec</a:t>
            </a:r>
          </a:p>
          <a:p>
            <a:r>
              <a:rPr lang="en-US" altLang="en-US" sz="1200" dirty="0">
                <a:latin typeface="Arial" panose="020B0604020202020204" pitchFamily="34" charset="0"/>
              </a:rPr>
              <a:t>Unload, Load, Start #2:   	12 sec </a:t>
            </a:r>
          </a:p>
          <a:p>
            <a:r>
              <a:rPr lang="en-US" altLang="en-US" sz="1200" dirty="0">
                <a:latin typeface="Arial" panose="020B0604020202020204" pitchFamily="34" charset="0"/>
              </a:rPr>
              <a:t>Walk                                    </a:t>
            </a:r>
            <a:r>
              <a:rPr lang="en-US" altLang="en-US" sz="1200" u="sng" dirty="0">
                <a:latin typeface="Arial" panose="020B0604020202020204" pitchFamily="34" charset="0"/>
              </a:rPr>
              <a:t>3 sec</a:t>
            </a:r>
          </a:p>
          <a:p>
            <a:r>
              <a:rPr lang="en-US" altLang="en-US" sz="1200" dirty="0">
                <a:latin typeface="Arial" panose="020B0604020202020204" pitchFamily="34" charset="0"/>
              </a:rPr>
              <a:t>Total                                 	41 sec </a:t>
            </a:r>
          </a:p>
          <a:p>
            <a:endParaRPr lang="en-US" altLang="en-US" sz="1200" dirty="0">
              <a:latin typeface="Arial" panose="020B0604020202020204" pitchFamily="34" charset="0"/>
            </a:endParaRPr>
          </a:p>
          <a:p>
            <a:r>
              <a:rPr lang="en-US" altLang="en-US" sz="1200" dirty="0">
                <a:latin typeface="Arial" panose="020B0604020202020204" pitchFamily="34" charset="0"/>
              </a:rPr>
              <a:t>Processing Time for Machine #1: The processing time for machine #1 is the sum of the time to unload, load and start machine #1 plus the machine cycle time for machine #1.</a:t>
            </a:r>
          </a:p>
          <a:p>
            <a:endParaRPr lang="en-US" altLang="en-US" sz="1200" dirty="0">
              <a:latin typeface="Arial" panose="020B0604020202020204" pitchFamily="34" charset="0"/>
            </a:endParaRPr>
          </a:p>
          <a:p>
            <a:r>
              <a:rPr lang="en-US" altLang="en-US" sz="1200" dirty="0">
                <a:latin typeface="Arial" panose="020B0604020202020204" pitchFamily="34" charset="0"/>
              </a:rPr>
              <a:t>Unload, Load, Start #1:  	10 sec</a:t>
            </a:r>
          </a:p>
          <a:p>
            <a:r>
              <a:rPr lang="en-US" altLang="en-US" sz="1200" dirty="0">
                <a:latin typeface="Arial" panose="020B0604020202020204" pitchFamily="34" charset="0"/>
              </a:rPr>
              <a:t>Machine Cycle Time      	 </a:t>
            </a:r>
            <a:r>
              <a:rPr lang="en-US" altLang="en-US" sz="1200" u="sng" dirty="0">
                <a:latin typeface="Arial" panose="020B0604020202020204" pitchFamily="34" charset="0"/>
              </a:rPr>
              <a:t>25 sec</a:t>
            </a:r>
          </a:p>
          <a:p>
            <a:r>
              <a:rPr lang="en-US" altLang="en-US" sz="1200" dirty="0">
                <a:latin typeface="Arial" panose="020B0604020202020204" pitchFamily="34" charset="0"/>
              </a:rPr>
              <a:t>Total                               	 35 sec </a:t>
            </a:r>
          </a:p>
          <a:p>
            <a:endParaRPr lang="en-US" altLang="en-US" sz="12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5925373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The information on this slide corresponds to the exercise on the previous slide.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4444534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First have the class work in pairs to answer the question. Call on people for the answers. Discuss. </a:t>
            </a:r>
          </a:p>
          <a:p>
            <a:r>
              <a:rPr lang="en-US" altLang="en-US" b="1" dirty="0">
                <a:latin typeface="Arial" panose="020B0604020202020204" pitchFamily="34" charset="0"/>
              </a:rPr>
              <a:t>ANSWERS: </a:t>
            </a:r>
            <a:r>
              <a:rPr lang="en-US" altLang="en-US" dirty="0">
                <a:latin typeface="Arial" panose="020B0604020202020204" pitchFamily="34" charset="0"/>
              </a:rPr>
              <a:t>Some options:  Work overtime, kaizen the process to understand the cycle time of the bottleneck machine, work additional shifts</a:t>
            </a:r>
          </a:p>
          <a:p>
            <a:r>
              <a:rPr lang="en-US" altLang="en-US" b="1" dirty="0">
                <a:latin typeface="Arial" panose="020B0604020202020204" pitchFamily="34" charset="0"/>
              </a:rPr>
              <a:t>NOTE: </a:t>
            </a:r>
            <a:r>
              <a:rPr lang="en-US" altLang="en-US" dirty="0">
                <a:latin typeface="Arial" panose="020B0604020202020204" pitchFamily="34" charset="0"/>
              </a:rPr>
              <a:t>The term </a:t>
            </a:r>
            <a:r>
              <a:rPr lang="ja-JP" altLang="en-US" dirty="0">
                <a:latin typeface="Arial" panose="020B0604020202020204" pitchFamily="34" charset="0"/>
              </a:rPr>
              <a:t>“</a:t>
            </a:r>
            <a:r>
              <a:rPr lang="en-US" altLang="ja-JP" dirty="0">
                <a:latin typeface="Arial" panose="020B0604020202020204" pitchFamily="34" charset="0"/>
              </a:rPr>
              <a:t>bottleneck</a:t>
            </a:r>
            <a:r>
              <a:rPr lang="ja-JP" altLang="en-US" dirty="0">
                <a:latin typeface="Arial" panose="020B0604020202020204" pitchFamily="34" charset="0"/>
              </a:rPr>
              <a:t>”</a:t>
            </a:r>
            <a:r>
              <a:rPr lang="en-US" altLang="ja-JP" dirty="0">
                <a:latin typeface="Arial" panose="020B0604020202020204" pitchFamily="34" charset="0"/>
              </a:rPr>
              <a:t> refers to the process/machine where processing time is greater than TAKT time. When flow is in place, each process must be able to product to TAKT time or less in order to meet customer demand. </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32584369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objectives of the section.</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37842444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Work sequence is defined as the specific order in which an operator performs the manual steps of a process for one part.</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4340765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this case, the operator and part follow the same sequence.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32411185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Here is another work sequence combination where the operators do not flow the same as the part. Note, Operator #1 retrieves the raw material completes steps 1,2 7,8 and deposits the finished product into the finished goods container. Operator #2 completes steps 3,4 5 &amp; 6 in this work sequence.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38812513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ANSWER: </a:t>
            </a:r>
            <a:r>
              <a:rPr lang="en-US" altLang="en-US" dirty="0">
                <a:latin typeface="Arial" panose="020B0604020202020204" pitchFamily="34" charset="0"/>
              </a:rPr>
              <a:t>"No".  In order to support the least operator concept we frequently use U shaped cells.  When we do that one or more operators frequently are doing steps that are not in part sequence.  Example - operator 1 does part sequence 1 and 6. Although each operator is not flowing with the part together – the process and sequence is designed for continuous flow.</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30972653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To determine the number of operators needed, sum the total operator cycle times and divide by the TAKT time. This result is the number of operators required to produce at TAKT time.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42428312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most cases, when the number of operators needed is calculated, the result will not be a whole number.  The recommended staffing based on the calculation is: </a:t>
            </a:r>
            <a:r>
              <a:rPr lang="en-US" altLang="ja-JP" i="1" dirty="0">
                <a:latin typeface="Arial" panose="020B0604020202020204" pitchFamily="34" charset="0"/>
              </a:rPr>
              <a:t>(read chart).  </a:t>
            </a:r>
            <a:r>
              <a:rPr lang="en-US" altLang="ja-JP" dirty="0">
                <a:latin typeface="Arial" panose="020B0604020202020204" pitchFamily="34" charset="0"/>
              </a:rPr>
              <a:t>In the early stages this guideline can be very helpful.  Many times people, in their zest to make change, will remove any and all fractional heads.  Recommendation is to not fall into that trap. This will help ensure a high probability of success.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39365013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We will now do some exercises to demonstrate the interaction between TAKT time, number of Operators and work sequence for each operator.  Remember to pick up raw material (RM) and place the finished good (FG) into the finished good container.</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33762453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ANSWERS:</a:t>
            </a:r>
          </a:p>
          <a:p>
            <a:r>
              <a:rPr lang="en-US" altLang="en-US" dirty="0">
                <a:latin typeface="Arial" panose="020B0604020202020204" pitchFamily="34" charset="0"/>
              </a:rPr>
              <a:t>Takt Time = 100 seconds</a:t>
            </a:r>
          </a:p>
          <a:p>
            <a:r>
              <a:rPr lang="en-US" altLang="en-US" dirty="0">
                <a:latin typeface="Arial" panose="020B0604020202020204" pitchFamily="34" charset="0"/>
              </a:rPr>
              <a:t>Number of Operators = 1</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pic>
        <p:nvPicPr>
          <p:cNvPr id="5" name="Picture 4">
            <a:extLst>
              <a:ext uri="{FF2B5EF4-FFF2-40B4-BE49-F238E27FC236}">
                <a16:creationId xmlns:a16="http://schemas.microsoft.com/office/drawing/2014/main" id="{E627A077-B279-517C-23DB-EC627899E0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3366"/>
          <a:stretch>
            <a:fillRect/>
          </a:stretch>
        </p:blipFill>
        <p:spPr bwMode="auto">
          <a:xfrm>
            <a:off x="804863" y="5302250"/>
            <a:ext cx="5348287"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8984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ANSWERS:</a:t>
            </a:r>
          </a:p>
          <a:p>
            <a:r>
              <a:rPr lang="en-US" altLang="en-US" dirty="0">
                <a:latin typeface="Arial" panose="020B0604020202020204" pitchFamily="34" charset="0"/>
              </a:rPr>
              <a:t>Takt Time = 50 seconds</a:t>
            </a:r>
          </a:p>
          <a:p>
            <a:r>
              <a:rPr lang="en-US" altLang="en-US" dirty="0">
                <a:latin typeface="Arial" panose="020B0604020202020204" pitchFamily="34" charset="0"/>
              </a:rPr>
              <a:t>Number of Operators = 2</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pic>
        <p:nvPicPr>
          <p:cNvPr id="5" name="Picture 5">
            <a:extLst>
              <a:ext uri="{FF2B5EF4-FFF2-40B4-BE49-F238E27FC236}">
                <a16:creationId xmlns:a16="http://schemas.microsoft.com/office/drawing/2014/main" id="{9F7C8AF4-4478-1C4C-E8A3-CF4D70A6ED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1755"/>
          <a:stretch>
            <a:fillRect/>
          </a:stretch>
        </p:blipFill>
        <p:spPr bwMode="auto">
          <a:xfrm>
            <a:off x="754063" y="5418138"/>
            <a:ext cx="5348287" cy="213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09170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ANSWERS:</a:t>
            </a:r>
          </a:p>
          <a:p>
            <a:r>
              <a:rPr lang="en-US" altLang="en-US" dirty="0">
                <a:latin typeface="Arial" panose="020B0604020202020204" pitchFamily="34" charset="0"/>
              </a:rPr>
              <a:t>Takt Time = 25 seconds</a:t>
            </a:r>
          </a:p>
          <a:p>
            <a:r>
              <a:rPr lang="en-US" altLang="en-US" dirty="0">
                <a:latin typeface="Arial" panose="020B0604020202020204" pitchFamily="34" charset="0"/>
              </a:rPr>
              <a:t>Number of Operators = 4</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pic>
        <p:nvPicPr>
          <p:cNvPr id="5" name="Picture 5">
            <a:extLst>
              <a:ext uri="{FF2B5EF4-FFF2-40B4-BE49-F238E27FC236}">
                <a16:creationId xmlns:a16="http://schemas.microsoft.com/office/drawing/2014/main" id="{A0AF6338-DFE9-A218-4E2F-4128F4AFD9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6634"/>
          <a:stretch>
            <a:fillRect/>
          </a:stretch>
        </p:blipFill>
        <p:spPr bwMode="auto">
          <a:xfrm>
            <a:off x="754063" y="5243513"/>
            <a:ext cx="5348287" cy="236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0589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objectives of the section.</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22252349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A common term used in standard work is Standard Work-in-Process.  The common abbreviations are WIP or SWIP.  Standard WIP is defined as the amount of parts required on the line that will allow the operator to flow product efficiently.</a:t>
            </a:r>
            <a:r>
              <a:rPr lang="ja-JP" altLang="en-US" dirty="0">
                <a:latin typeface="Arial" panose="020B0604020202020204" pitchFamily="34" charset="0"/>
              </a:rPr>
              <a:t>”</a:t>
            </a:r>
            <a:r>
              <a:rPr lang="en-US" altLang="ja-JP" dirty="0">
                <a:latin typeface="Arial" panose="020B0604020202020204" pitchFamily="34" charset="0"/>
              </a:rPr>
              <a:t> </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8890726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For this cell the Standard WIP is nine pieces.  This is an example of what Standard WIP looks like in a cell. </a:t>
            </a:r>
          </a:p>
          <a:p>
            <a:endParaRPr lang="en-US" altLang="en-US" dirty="0">
              <a:latin typeface="Arial" panose="020B0604020202020204" pitchFamily="34" charset="0"/>
            </a:endParaRPr>
          </a:p>
          <a:p>
            <a:r>
              <a:rPr lang="en-US" altLang="en-US" dirty="0">
                <a:latin typeface="Arial" panose="020B0604020202020204" pitchFamily="34" charset="0"/>
              </a:rPr>
              <a:t>RM = Raw Materials</a:t>
            </a:r>
          </a:p>
          <a:p>
            <a:r>
              <a:rPr lang="en-US" altLang="en-US" dirty="0">
                <a:latin typeface="Arial" panose="020B0604020202020204" pitchFamily="34" charset="0"/>
              </a:rPr>
              <a:t>FG = Finished Goods</a:t>
            </a:r>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18305730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b="1" dirty="0">
                <a:latin typeface="Arial" panose="020B0604020202020204" pitchFamily="34" charset="0"/>
              </a:rPr>
              <a:t>NOTE: </a:t>
            </a:r>
            <a:r>
              <a:rPr lang="en-US" altLang="en-US" dirty="0">
                <a:latin typeface="Arial" panose="020B0604020202020204" pitchFamily="34" charset="0"/>
              </a:rPr>
              <a:t>Use the following three slides for this exercise.</a:t>
            </a:r>
          </a:p>
          <a:p>
            <a:pPr>
              <a:lnSpc>
                <a:spcPct val="90000"/>
              </a:lnSpc>
            </a:pPr>
            <a:r>
              <a:rPr lang="en-US" altLang="en-US" b="1" dirty="0">
                <a:latin typeface="Arial" panose="020B0604020202020204" pitchFamily="34" charset="0"/>
              </a:rPr>
              <a:t>DO: </a:t>
            </a:r>
            <a:r>
              <a:rPr lang="en-US" altLang="en-US" dirty="0">
                <a:latin typeface="Arial" panose="020B0604020202020204" pitchFamily="34" charset="0"/>
              </a:rPr>
              <a:t>Use this example to reinforce SWIP and Curtain Quantity and to show the difference between the two. It is also a review of TAKT Time and Work Sequence.</a:t>
            </a:r>
          </a:p>
          <a:p>
            <a:pPr>
              <a:lnSpc>
                <a:spcPct val="90000"/>
              </a:lnSpc>
            </a:pPr>
            <a:r>
              <a:rPr lang="en-US" altLang="en-US" dirty="0">
                <a:latin typeface="Arial" panose="020B0604020202020204" pitchFamily="34" charset="0"/>
              </a:rPr>
              <a:t>1. Have the class calculate TAKT Time. </a:t>
            </a:r>
          </a:p>
          <a:p>
            <a:pPr>
              <a:lnSpc>
                <a:spcPct val="90000"/>
              </a:lnSpc>
            </a:pPr>
            <a:r>
              <a:rPr lang="en-US" altLang="en-US" sz="900" dirty="0">
                <a:latin typeface="Arial" panose="020B0604020202020204" pitchFamily="34" charset="0"/>
              </a:rPr>
              <a:t>TT = Available Time/daily demand</a:t>
            </a:r>
          </a:p>
          <a:p>
            <a:pPr>
              <a:lnSpc>
                <a:spcPct val="90000"/>
              </a:lnSpc>
            </a:pPr>
            <a:r>
              <a:rPr lang="en-US" altLang="en-US" sz="900" dirty="0">
                <a:latin typeface="Arial" panose="020B0604020202020204" pitchFamily="34" charset="0"/>
              </a:rPr>
              <a:t>TT = 450 min/7 units/day = 64.3 min</a:t>
            </a:r>
          </a:p>
          <a:p>
            <a:pPr>
              <a:lnSpc>
                <a:spcPct val="90000"/>
              </a:lnSpc>
            </a:pPr>
            <a:r>
              <a:rPr lang="en-US" altLang="en-US" sz="900" dirty="0">
                <a:latin typeface="Arial" panose="020B0604020202020204" pitchFamily="34" charset="0"/>
              </a:rPr>
              <a:t>TT = 64.3 min</a:t>
            </a:r>
            <a:br>
              <a:rPr lang="en-US" altLang="en-US" sz="900" dirty="0">
                <a:latin typeface="Arial" panose="020B0604020202020204" pitchFamily="34" charset="0"/>
              </a:rPr>
            </a:br>
            <a:endParaRPr lang="en-US" altLang="en-US" sz="900" dirty="0">
              <a:latin typeface="Arial" panose="020B0604020202020204" pitchFamily="34" charset="0"/>
            </a:endParaRPr>
          </a:p>
          <a:p>
            <a:pPr>
              <a:lnSpc>
                <a:spcPct val="90000"/>
              </a:lnSpc>
            </a:pPr>
            <a:r>
              <a:rPr lang="en-US" altLang="en-US" dirty="0">
                <a:latin typeface="Arial" panose="020B0604020202020204" pitchFamily="34" charset="0"/>
              </a:rPr>
              <a:t>2. Walk through the operations in the cell. Go step by step through the calculation for SWIP at Station 4 and give them the answer. </a:t>
            </a:r>
          </a:p>
          <a:p>
            <a:pPr>
              <a:lnSpc>
                <a:spcPct val="90000"/>
              </a:lnSpc>
            </a:pPr>
            <a:r>
              <a:rPr lang="en-US" altLang="en-US" sz="900" dirty="0">
                <a:latin typeface="Arial" panose="020B0604020202020204" pitchFamily="34" charset="0"/>
              </a:rPr>
              <a:t>SWIP = cycle time/TT</a:t>
            </a:r>
          </a:p>
          <a:p>
            <a:pPr>
              <a:lnSpc>
                <a:spcPct val="90000"/>
              </a:lnSpc>
            </a:pPr>
            <a:r>
              <a:rPr lang="en-US" altLang="en-US" sz="900" dirty="0">
                <a:latin typeface="Arial" panose="020B0604020202020204" pitchFamily="34" charset="0"/>
              </a:rPr>
              <a:t>SWIP = 21 hours/64.3 min (convert hours to minutes)</a:t>
            </a:r>
          </a:p>
          <a:p>
            <a:pPr>
              <a:lnSpc>
                <a:spcPct val="90000"/>
              </a:lnSpc>
            </a:pPr>
            <a:r>
              <a:rPr lang="en-US" altLang="en-US" sz="900" dirty="0">
                <a:latin typeface="Arial" panose="020B0604020202020204" pitchFamily="34" charset="0"/>
              </a:rPr>
              <a:t>SWIP = 1260/64.3 min</a:t>
            </a:r>
          </a:p>
          <a:p>
            <a:pPr>
              <a:lnSpc>
                <a:spcPct val="90000"/>
              </a:lnSpc>
            </a:pPr>
            <a:r>
              <a:rPr lang="en-US" altLang="en-US" sz="900" dirty="0">
                <a:latin typeface="Arial" panose="020B0604020202020204" pitchFamily="34" charset="0"/>
              </a:rPr>
              <a:t>SWIP = 19.59 ( or round up to 20 units)</a:t>
            </a:r>
            <a:br>
              <a:rPr lang="en-US" altLang="en-US" sz="900" dirty="0">
                <a:latin typeface="Arial" panose="020B0604020202020204" pitchFamily="34" charset="0"/>
              </a:rPr>
            </a:br>
            <a:endParaRPr lang="en-US" altLang="en-US" sz="900" dirty="0">
              <a:latin typeface="Arial" panose="020B0604020202020204" pitchFamily="34" charset="0"/>
            </a:endParaRPr>
          </a:p>
          <a:p>
            <a:pPr>
              <a:lnSpc>
                <a:spcPct val="90000"/>
              </a:lnSpc>
            </a:pPr>
            <a:r>
              <a:rPr lang="en-US" altLang="en-US" dirty="0">
                <a:latin typeface="Arial" panose="020B0604020202020204" pitchFamily="34" charset="0"/>
              </a:rPr>
              <a:t>3. Ask the class to calculate SWIP at Station 7. </a:t>
            </a:r>
          </a:p>
          <a:p>
            <a:pPr>
              <a:lnSpc>
                <a:spcPct val="90000"/>
              </a:lnSpc>
            </a:pPr>
            <a:r>
              <a:rPr lang="en-US" altLang="en-US" sz="900" dirty="0">
                <a:latin typeface="Arial" panose="020B0604020202020204" pitchFamily="34" charset="0"/>
              </a:rPr>
              <a:t>SWIP = (10 </a:t>
            </a:r>
            <a:r>
              <a:rPr lang="en-US" altLang="en-US" sz="900" dirty="0" err="1">
                <a:latin typeface="Arial" panose="020B0604020202020204" pitchFamily="34" charset="0"/>
              </a:rPr>
              <a:t>hrs</a:t>
            </a:r>
            <a:r>
              <a:rPr lang="en-US" altLang="en-US" sz="900" dirty="0">
                <a:latin typeface="Arial" panose="020B0604020202020204" pitchFamily="34" charset="0"/>
              </a:rPr>
              <a:t> x 60 min) / 64.3 min</a:t>
            </a:r>
          </a:p>
          <a:p>
            <a:pPr>
              <a:lnSpc>
                <a:spcPct val="90000"/>
              </a:lnSpc>
            </a:pPr>
            <a:r>
              <a:rPr lang="en-US" altLang="en-US" sz="900" dirty="0">
                <a:latin typeface="Arial" panose="020B0604020202020204" pitchFamily="34" charset="0"/>
              </a:rPr>
              <a:t>SWIP = 600/64.3</a:t>
            </a:r>
          </a:p>
          <a:p>
            <a:pPr>
              <a:lnSpc>
                <a:spcPct val="90000"/>
              </a:lnSpc>
            </a:pPr>
            <a:r>
              <a:rPr lang="en-US" altLang="en-US" sz="900" dirty="0">
                <a:latin typeface="Arial" panose="020B0604020202020204" pitchFamily="34" charset="0"/>
              </a:rPr>
              <a:t>SWIP = 9.3 rounded up to 10</a:t>
            </a:r>
          </a:p>
          <a:p>
            <a:pPr>
              <a:lnSpc>
                <a:spcPct val="90000"/>
              </a:lnSpc>
            </a:pPr>
            <a:endParaRPr lang="en-US" altLang="en-US" sz="9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3402263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15250553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For use with exercise</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25858132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For use with exercise</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15125164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The curtain effect is a result of an outside process needed to facilitate the cell operation.</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a:p>
            <a:r>
              <a:rPr lang="en-US" altLang="en-US"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The equation for calculating the curtain quantity is the number of pieces in the curtain are the lead-time of a process over the TAKT time. When calculating the number of pieces in a curtain always round up when there is a remainder. When FIFO is not possible, the curtain quantity must be doubled.</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8755012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For this cell the Standard WIP is nine pieces.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Another aspect of Standard WIP is Standard WIP with curtain effect.  The curtain effect is a result of an outside process needed to facilitate the cell operation. In this case, In this example, the parts leave the cell after station #1. The operations performed at step #2 are done outside the cell,  Parts are reintroduced prior to station #3. These pieces of inventory represent the curtain effect. The abbreviation used for curtain quantity is CQ.</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RM = Raw Materials</a:t>
            </a:r>
          </a:p>
          <a:p>
            <a:r>
              <a:rPr lang="en-US" altLang="en-US" dirty="0">
                <a:latin typeface="Arial" panose="020B0604020202020204" pitchFamily="34" charset="0"/>
              </a:rPr>
              <a:t>FG = Finished Goods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34865319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2000" b="1" dirty="0">
                <a:latin typeface="Arial" panose="020B0604020202020204" pitchFamily="34" charset="0"/>
              </a:rPr>
              <a:t>NOTE: </a:t>
            </a:r>
            <a:r>
              <a:rPr lang="en-US" altLang="en-US" sz="2000" dirty="0">
                <a:latin typeface="Arial" panose="020B0604020202020204" pitchFamily="34" charset="0"/>
              </a:rPr>
              <a:t>For use with exercise</a:t>
            </a:r>
          </a:p>
          <a:p>
            <a:pPr>
              <a:lnSpc>
                <a:spcPct val="90000"/>
              </a:lnSpc>
            </a:pPr>
            <a:r>
              <a:rPr lang="en-US" altLang="en-US" sz="2000" dirty="0">
                <a:latin typeface="Arial" panose="020B0604020202020204" pitchFamily="34" charset="0"/>
              </a:rPr>
              <a:t>4. Ask the class to calculate the Curtain Quantity for Paint. Point out that for CQ, it is important to use the Lead Time, not just the Cycle Time of the curtain process.</a:t>
            </a:r>
          </a:p>
          <a:p>
            <a:pPr>
              <a:lnSpc>
                <a:spcPct val="90000"/>
              </a:lnSpc>
            </a:pPr>
            <a:r>
              <a:rPr lang="en-US" altLang="en-US" sz="1100" dirty="0">
                <a:latin typeface="Arial" panose="020B0604020202020204" pitchFamily="34" charset="0"/>
              </a:rPr>
              <a:t>CQ = LT/TT</a:t>
            </a:r>
          </a:p>
          <a:p>
            <a:pPr>
              <a:lnSpc>
                <a:spcPct val="90000"/>
              </a:lnSpc>
            </a:pPr>
            <a:r>
              <a:rPr lang="en-US" altLang="en-US" sz="1100" dirty="0">
                <a:latin typeface="Arial" panose="020B0604020202020204" pitchFamily="34" charset="0"/>
              </a:rPr>
              <a:t>CQ = (24 hrs. x 60 min)/64.3 min</a:t>
            </a:r>
          </a:p>
          <a:p>
            <a:pPr>
              <a:lnSpc>
                <a:spcPct val="90000"/>
              </a:lnSpc>
            </a:pPr>
            <a:r>
              <a:rPr lang="en-US" altLang="en-US" sz="1100" dirty="0">
                <a:latin typeface="Arial" panose="020B0604020202020204" pitchFamily="34" charset="0"/>
              </a:rPr>
              <a:t>CQ = 22.39 rounded up to 23</a:t>
            </a:r>
            <a:br>
              <a:rPr lang="en-US" altLang="en-US" sz="1100" dirty="0">
                <a:latin typeface="Arial" panose="020B0604020202020204" pitchFamily="34" charset="0"/>
              </a:rPr>
            </a:br>
            <a:endParaRPr lang="en-US" altLang="en-US" sz="1100" dirty="0">
              <a:latin typeface="Arial" panose="020B0604020202020204" pitchFamily="34" charset="0"/>
            </a:endParaRPr>
          </a:p>
          <a:p>
            <a:pPr>
              <a:lnSpc>
                <a:spcPct val="90000"/>
              </a:lnSpc>
            </a:pPr>
            <a:r>
              <a:rPr lang="en-US" altLang="en-US" sz="2000" dirty="0">
                <a:latin typeface="Arial" panose="020B0604020202020204" pitchFamily="34" charset="0"/>
              </a:rPr>
              <a:t>5. Ask the class to determine the number of operators needed and what the work sequence would be.</a:t>
            </a:r>
          </a:p>
          <a:p>
            <a:pPr>
              <a:lnSpc>
                <a:spcPct val="90000"/>
              </a:lnSpc>
            </a:pPr>
            <a:r>
              <a:rPr lang="en-US" altLang="en-US" sz="1100" dirty="0">
                <a:latin typeface="Arial" panose="020B0604020202020204" pitchFamily="34" charset="0"/>
              </a:rPr>
              <a:t># of Operators: Total Operator Cycle Times/TT</a:t>
            </a:r>
          </a:p>
          <a:p>
            <a:pPr>
              <a:lnSpc>
                <a:spcPct val="90000"/>
              </a:lnSpc>
            </a:pPr>
            <a:r>
              <a:rPr lang="en-US" altLang="en-US" sz="1100" dirty="0">
                <a:latin typeface="Arial" panose="020B0604020202020204" pitchFamily="34" charset="0"/>
              </a:rPr>
              <a:t># of Operators: 248 min/64.3 min</a:t>
            </a:r>
          </a:p>
          <a:p>
            <a:pPr>
              <a:lnSpc>
                <a:spcPct val="90000"/>
              </a:lnSpc>
            </a:pPr>
            <a:r>
              <a:rPr lang="en-US" altLang="en-US" sz="1100" dirty="0">
                <a:latin typeface="Arial" panose="020B0604020202020204" pitchFamily="34" charset="0"/>
              </a:rPr>
              <a:t># of Operators: 3.85 rounded up to 4 operators</a:t>
            </a:r>
          </a:p>
          <a:p>
            <a:pPr>
              <a:lnSpc>
                <a:spcPct val="90000"/>
              </a:lnSpc>
            </a:pPr>
            <a:endParaRPr lang="en-US" altLang="en-US" sz="1100" dirty="0">
              <a:latin typeface="Arial" panose="020B0604020202020204" pitchFamily="34" charset="0"/>
            </a:endParaRPr>
          </a:p>
          <a:p>
            <a:pPr>
              <a:lnSpc>
                <a:spcPct val="90000"/>
              </a:lnSpc>
            </a:pPr>
            <a:r>
              <a:rPr lang="en-US" altLang="en-US" sz="1100" dirty="0">
                <a:latin typeface="Arial" panose="020B0604020202020204" pitchFamily="34" charset="0"/>
              </a:rPr>
              <a:t>6. Recommended operator sequence (TT = 64.3 min): </a:t>
            </a:r>
          </a:p>
          <a:p>
            <a:pPr>
              <a:lnSpc>
                <a:spcPct val="90000"/>
              </a:lnSpc>
            </a:pPr>
            <a:r>
              <a:rPr lang="en-US" altLang="en-US" sz="1100" dirty="0">
                <a:latin typeface="Arial" panose="020B0604020202020204" pitchFamily="34" charset="0"/>
              </a:rPr>
              <a:t>Operator A: Process 1,2,3 (total of 62 minutes)</a:t>
            </a:r>
          </a:p>
          <a:p>
            <a:pPr>
              <a:lnSpc>
                <a:spcPct val="90000"/>
              </a:lnSpc>
            </a:pPr>
            <a:r>
              <a:rPr lang="en-US" altLang="en-US" sz="1100" dirty="0">
                <a:latin typeface="Arial" panose="020B0604020202020204" pitchFamily="34" charset="0"/>
              </a:rPr>
              <a:t>Operator B: Processes 4,5 (total of 64 minutes)</a:t>
            </a:r>
          </a:p>
          <a:p>
            <a:pPr>
              <a:lnSpc>
                <a:spcPct val="90000"/>
              </a:lnSpc>
            </a:pPr>
            <a:r>
              <a:rPr lang="en-US" altLang="en-US" sz="1100" dirty="0">
                <a:latin typeface="Arial" panose="020B0604020202020204" pitchFamily="34" charset="0"/>
              </a:rPr>
              <a:t>Operator C: Processes 6,7 (total of 61 minutes)</a:t>
            </a:r>
          </a:p>
          <a:p>
            <a:pPr>
              <a:lnSpc>
                <a:spcPct val="90000"/>
              </a:lnSpc>
            </a:pPr>
            <a:r>
              <a:rPr lang="en-US" altLang="en-US" sz="1100" dirty="0">
                <a:latin typeface="Arial" panose="020B0604020202020204" pitchFamily="34" charset="0"/>
              </a:rPr>
              <a:t>Operator D: Processes 8,9,10,11 (total of 61 minutes) </a:t>
            </a:r>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3489260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objectives of the section.</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23196016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There are five forms used for documenting standard work: Time Observation Form, Process Capacity Form, Standard Work Combination Sheet, Standard Work Sheet and the Operator Loading Chart. We will now review the contents of each of these forms.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25413829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The first form is the Time Observation Form. It is used to document the cycle time of the operator. The expectation is you can monitor the operator for 7–10 cycles of the operator executing a task.  You will record the lowest observable task time as the observed time to complete a task. This assumes you do find abnormalities during the observation. An abnormality may be something like the operator misses a step and is then able to have an observable time well below the other observable times.  The Time Observation form is a key input to the Standard Work Combination Sheet.</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NOTE: </a:t>
            </a:r>
            <a:r>
              <a:rPr lang="ja-JP" altLang="en-US" dirty="0">
                <a:latin typeface="Arial" panose="020B0604020202020204" pitchFamily="34" charset="0"/>
              </a:rPr>
              <a:t>“</a:t>
            </a:r>
            <a:r>
              <a:rPr lang="en-US" altLang="ja-JP" dirty="0">
                <a:latin typeface="Arial" panose="020B0604020202020204" pitchFamily="34" charset="0"/>
              </a:rPr>
              <a:t>The reason we take the lowest observable time and not the lowest </a:t>
            </a:r>
            <a:r>
              <a:rPr lang="ja-JP" altLang="en-US" dirty="0">
                <a:latin typeface="Arial" panose="020B0604020202020204" pitchFamily="34" charset="0"/>
              </a:rPr>
              <a:t>“</a:t>
            </a:r>
            <a:r>
              <a:rPr lang="en-US" altLang="ja-JP" dirty="0">
                <a:latin typeface="Arial" panose="020B0604020202020204" pitchFamily="34" charset="0"/>
              </a:rPr>
              <a:t>repeatable task time</a:t>
            </a:r>
            <a:r>
              <a:rPr lang="ja-JP" altLang="en-US" dirty="0">
                <a:latin typeface="Arial" panose="020B0604020202020204" pitchFamily="34" charset="0"/>
              </a:rPr>
              <a:t>”</a:t>
            </a:r>
            <a:r>
              <a:rPr lang="en-US" altLang="ja-JP" dirty="0">
                <a:latin typeface="Arial" panose="020B0604020202020204" pitchFamily="34" charset="0"/>
              </a:rPr>
              <a:t> is because Standard Work is a tool used for improvement. If the operators were observed being able to do a task at a certain time (barring any abnormalities that would discount the observation), then that time should be used as the benchmark to strive towards. Standard Work is a tool used for improvement, not documentation.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263365190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first step in completing the time observation form is to record the process step in sequence.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27994324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Then, using a running stopwatch, record the time when each task is completed. If you miss one time, keep going.</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7227250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b="1" dirty="0">
                <a:latin typeface="Arial" panose="020B0604020202020204" pitchFamily="34" charset="0"/>
              </a:rPr>
              <a:t>SAY: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Now, place the lowest observable time to complete each process step into the column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Lowest Elemental Time.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Then add those times in that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Lowest Elemental Time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column and post the sum in the bottom row of that column (in our case 25 secs).  Look at the bottom row labeled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Time for 1 Cycle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find the shortest cycle and post that number in bottom row of the column labeled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Adjusted elemental time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Compare the sum of the lowest elemental times to the lowest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Time for 1 Cycle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If the sum in the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Lowest Elemental Time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column is less than the lowest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Time for 1 Cycle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post the difference in the last row of the column labeled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Adjustment</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Also, post that number in the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Adjustment</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column next to the larger* elemental time(s).  Then post the total of each Lowest Elemental Time and its Adjustment in the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Adjusted Elemental Time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column and assure that the actual sum of Adjusted Elemental Times matches the number we posted in the last row of the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Adjusted Elemental Time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column. </a:t>
            </a:r>
          </a:p>
          <a:p>
            <a:pPr>
              <a:lnSpc>
                <a:spcPct val="90000"/>
              </a:lnSpc>
            </a:pPr>
            <a:r>
              <a:rPr lang="en-US" altLang="en-US" dirty="0">
                <a:solidFill>
                  <a:srgbClr val="FF0000"/>
                </a:solidFill>
                <a:latin typeface="Arial" panose="020B0604020202020204" pitchFamily="34" charset="0"/>
              </a:rPr>
              <a:t>* We do it to the larger since the % effect is the smallest there.</a:t>
            </a:r>
            <a:r>
              <a:rPr lang="ja-JP" altLang="en-US" dirty="0">
                <a:solidFill>
                  <a:srgbClr val="FF0000"/>
                </a:solidFill>
                <a:latin typeface="Arial" panose="020B0604020202020204" pitchFamily="34" charset="0"/>
              </a:rPr>
              <a:t>”</a:t>
            </a:r>
            <a:endParaRPr lang="en-US" altLang="ja-JP" dirty="0">
              <a:solidFill>
                <a:srgbClr val="FF0000"/>
              </a:solidFill>
              <a:latin typeface="Arial" panose="020B0604020202020204" pitchFamily="34" charset="0"/>
            </a:endParaRPr>
          </a:p>
          <a:p>
            <a:pPr>
              <a:lnSpc>
                <a:spcPct val="90000"/>
              </a:lnSpc>
            </a:pPr>
            <a:endParaRPr lang="en-US" altLang="en-US" dirty="0">
              <a:solidFill>
                <a:srgbClr val="FF0000"/>
              </a:solidFill>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149615507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Time Observation sheet needs to be completed for each operator in the cell. Don</a:t>
            </a:r>
            <a:r>
              <a:rPr lang="ja-JP" altLang="en-US" dirty="0">
                <a:latin typeface="Arial" panose="020B0604020202020204" pitchFamily="34" charset="0"/>
              </a:rPr>
              <a:t>’</a:t>
            </a:r>
            <a:r>
              <a:rPr lang="en-US" altLang="ja-JP" dirty="0">
                <a:latin typeface="Arial" panose="020B0604020202020204" pitchFamily="34" charset="0"/>
              </a:rPr>
              <a:t>t hesitate to allow the Operator to observe other Operators doing the task. Though it is noble for you to try to perform the tasks, do so at a different time; unless you maintain current certification for the task, do not use your time in the time observations. Keep the stopwatch running so if you miss a time you can keep going. Have logical observation points for each process step. It is okay to note ideas for kaizen on your sheet, they will be discussed later. Note abnormalities spotted during the observation.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19071716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The Processing Cycle time is used in the calculation. The Process Capacity Sheet is used to calculate the capacity for each piece of equipment in the cell. The process capacity sheet highlights the bottleneck processes, where bottleneck is defined as Processing Cycle Time is greater than the TAKT time. One cell is completed per cell and is a proactive tool allowing the ability to perform what-if scenarios.</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NOTE: </a:t>
            </a:r>
            <a:r>
              <a:rPr lang="en-US" altLang="en-US" dirty="0">
                <a:latin typeface="Arial" panose="020B0604020202020204" pitchFamily="34" charset="0"/>
              </a:rPr>
              <a:t>Bottlenecks are defined as processes where processing time is greater than TAKT time.</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90289003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Here is an example of a Process Capacity sheet.  Note the potential capacity problem as the Grind Process has a capacity of 303 pieces but the daily demand is 350 units. Therefore the Grind process is a potential bottleneck.</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dirty="0">
                <a:solidFill>
                  <a:srgbClr val="FF0000"/>
                </a:solidFill>
                <a:latin typeface="Arial" panose="020B0604020202020204" pitchFamily="34" charset="0"/>
              </a:rPr>
              <a:t>Assume plant is operating one shift.  Processing Capacity is then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Operating Time per Shift</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divided by </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Total Time to Complete</a:t>
            </a:r>
            <a:r>
              <a:rPr lang="ja-JP" altLang="en-US" dirty="0">
                <a:solidFill>
                  <a:srgbClr val="FF0000"/>
                </a:solidFill>
                <a:latin typeface="Arial" panose="020B0604020202020204" pitchFamily="34" charset="0"/>
              </a:rPr>
              <a:t>”</a:t>
            </a:r>
            <a:r>
              <a:rPr lang="en-US" altLang="ja-JP" dirty="0">
                <a:solidFill>
                  <a:srgbClr val="FF0000"/>
                </a:solidFill>
                <a:latin typeface="Arial" panose="020B0604020202020204" pitchFamily="34" charset="0"/>
              </a:rPr>
              <a:t>.  As an example, for Grind:</a:t>
            </a:r>
          </a:p>
          <a:p>
            <a:r>
              <a:rPr lang="en-US" altLang="en-US" dirty="0">
                <a:solidFill>
                  <a:srgbClr val="FF0000"/>
                </a:solidFill>
                <a:latin typeface="Arial" panose="020B0604020202020204" pitchFamily="34" charset="0"/>
              </a:rPr>
              <a:t>27000 secs/89 secs = 303 units.</a:t>
            </a:r>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32129727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Standard Work Combination Sheet is the graphical representation of the interaction between the operator and the equipment. The Standard Work Combination Sheet provides the repeatable standard for the operators to follow. There is a comparison relative between the cycle times and the TAKT time, and it provides an opportunity to identify areas for improvement.</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3705080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Standard Work Combination Sheet looks like this. The first operation is to pick the raw material (2 seconds of manual time), then, operation #2 is to unload and start the mill. In this step, there are 4 seconds of manual time, 65 seconds of automatic time and three seconds of walk time to get to the third station. TAKT time is shown on the work combination sheet is shown in red. In this case the operator can complete all tasks in 70 seconds, the TAKT time is 77 seconds. In this case, the operator can complete all tasks in less than the TAKT time.</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23074236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Here are some tips for Standard Work Combination sheets. Use one sheet per operator and post the sheet at the operator</a:t>
            </a:r>
            <a:r>
              <a:rPr lang="ja-JP" altLang="en-US" dirty="0">
                <a:latin typeface="Arial" panose="020B0604020202020204" pitchFamily="34" charset="0"/>
              </a:rPr>
              <a:t>’</a:t>
            </a:r>
            <a:r>
              <a:rPr lang="en-US" altLang="ja-JP" dirty="0">
                <a:latin typeface="Arial" panose="020B0604020202020204" pitchFamily="34" charset="0"/>
              </a:rPr>
              <a:t>s work station.  Create playbooks for the various TAKT times at which you plan to operate the cells. Always date your document.  Work Combination Sheets do not replace more detailed work instructions. As is the case with many of the Lean tools, use the combination sheets to highlight kaizen opportunities.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40312231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For each demand level, represented by the different TAKT times, the Standard Work Sheets represent a </a:t>
            </a:r>
            <a:r>
              <a:rPr lang="ja-JP" altLang="en-US" dirty="0">
                <a:latin typeface="Arial" panose="020B0604020202020204" pitchFamily="34" charset="0"/>
              </a:rPr>
              <a:t>‘</a:t>
            </a:r>
            <a:r>
              <a:rPr lang="en-US" altLang="ja-JP" dirty="0">
                <a:latin typeface="Arial" panose="020B0604020202020204" pitchFamily="34" charset="0"/>
              </a:rPr>
              <a:t>play.</a:t>
            </a:r>
            <a:r>
              <a:rPr lang="ja-JP" altLang="en-US" dirty="0">
                <a:latin typeface="Arial" panose="020B0604020202020204" pitchFamily="34" charset="0"/>
              </a:rPr>
              <a:t>’</a:t>
            </a:r>
            <a:r>
              <a:rPr lang="en-US" altLang="ja-JP" dirty="0">
                <a:latin typeface="Arial" panose="020B0604020202020204" pitchFamily="34" charset="0"/>
              </a:rPr>
              <a:t>  For each play, there are sets of operator loading charts, Standard Work Combination Sheets, Standard Work Sheets and daily production goals.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5728783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Standard Work Sheet visually details the work sequence of an operator and shows the operator</a:t>
            </a:r>
            <a:r>
              <a:rPr lang="ja-JP" altLang="en-US" dirty="0">
                <a:latin typeface="Arial" panose="020B0604020202020204" pitchFamily="34" charset="0"/>
              </a:rPr>
              <a:t>’</a:t>
            </a:r>
            <a:r>
              <a:rPr lang="en-US" altLang="ja-JP" dirty="0">
                <a:latin typeface="Arial" panose="020B0604020202020204" pitchFamily="34" charset="0"/>
              </a:rPr>
              <a:t>s work sequence with respect to the physical work area. The Standard Work Sheet shows the Standard WIP requirements, gauge and safety conditions. These are useful in visually detailing operator assignments and are an audit tool that should be used by supervisors. The Standard Work Sheet is also the tool to use to help train new operators assigned to an area.</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424127176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This chart highlights the Standard Work Sheet. Note the identification of the SWIP, key safety locations and sequence of the operator.</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288226933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next Standard Work document is the Operator Loading Chart. In this chart the cycle time for all operators in a cell is detailed.  It compares the operator cycle times to TAKT time. It allows the supervisor to understand manning requirements at a glance.  The Operator Loading Chart facilitates kaizen opportunities that may exist and incorporates the least operator concept.</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402623640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This page should help understand Operator Loading Charts. The first graph shows the operator loads and the TAKT time. Note how operations A and C exceed TAKT time. Operator A &amp; C are items that should be addressed in kaizen activities. In the second chart, we show the traditional picture of the Operator Loading Chart as compared to TAKT time. In this case, each operator is equally loaded and is less than the TAKT time. In the least operator method the operators are loaded to TAKT time and the amount of work remaining is given to the least operator. An advantage here is that the supervisor can tell how much improvement needs to be made to reduce an operator. Instead of trying to spread the savings across all operators, a better visual is available when displayed in this manner.</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62</a:t>
            </a:fld>
            <a:endParaRPr lang="en-US"/>
          </a:p>
        </p:txBody>
      </p:sp>
    </p:spTree>
    <p:extLst>
      <p:ext uri="{BB962C8B-B14F-4D97-AF65-F5344CB8AC3E}">
        <p14:creationId xmlns:p14="http://schemas.microsoft.com/office/powerpoint/2010/main" val="233063612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There are many documents generated when implementing Standard Work. Each document has a specific location in which it is kept. The Time Observation Form is saved on file, while the Standard Work Combination Sheet and Standard Work Sheet are kept at the work station. At the mouth of the cell you keep the Process Capacity Form and the Operator Loading Chart.</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401840284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dirty="0">
                <a:latin typeface="Arial" panose="020B0604020202020204" pitchFamily="34" charset="0"/>
              </a:rPr>
              <a:t>“</a:t>
            </a:r>
            <a:r>
              <a:rPr lang="en-US" altLang="ja-JP" dirty="0">
                <a:latin typeface="Arial" panose="020B0604020202020204" pitchFamily="34" charset="0"/>
              </a:rPr>
              <a:t>Here is a form we recommend you use to track the kaizen results. This makes it easier to have a visual of the improvements made to date and the opportunities that still exist.</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NOTE: </a:t>
            </a:r>
            <a:r>
              <a:rPr lang="en-US" altLang="en-US" dirty="0">
                <a:latin typeface="Arial" panose="020B0604020202020204" pitchFamily="34" charset="0"/>
              </a:rPr>
              <a:t>This form is in excel and additional measurements could be added per the event objectives.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389819109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Cover report-out guidelines.</a:t>
            </a:r>
          </a:p>
        </p:txBody>
      </p:sp>
      <p:sp>
        <p:nvSpPr>
          <p:cNvPr id="4" name="Slide Number Placeholder 3"/>
          <p:cNvSpPr>
            <a:spLocks noGrp="1"/>
          </p:cNvSpPr>
          <p:nvPr>
            <p:ph type="sldNum" sz="quarter" idx="5"/>
          </p:nvPr>
        </p:nvSpPr>
        <p:spPr/>
        <p:txBody>
          <a:bodyPr/>
          <a:lstStyle/>
          <a:p>
            <a:fld id="{AECD8548-F1A2-4EDF-A416-5F2BB6B8F64C}" type="slidenum">
              <a:rPr lang="en-US" smtClean="0"/>
              <a:t>65</a:t>
            </a:fld>
            <a:endParaRPr lang="en-US"/>
          </a:p>
        </p:txBody>
      </p:sp>
    </p:spTree>
    <p:extLst>
      <p:ext uri="{BB962C8B-B14F-4D97-AF65-F5344CB8AC3E}">
        <p14:creationId xmlns:p14="http://schemas.microsoft.com/office/powerpoint/2010/main" val="115091833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66</a:t>
            </a:fld>
            <a:endParaRPr lang="en-US"/>
          </a:p>
        </p:txBody>
      </p:sp>
    </p:spTree>
    <p:extLst>
      <p:ext uri="{BB962C8B-B14F-4D97-AF65-F5344CB8AC3E}">
        <p14:creationId xmlns:p14="http://schemas.microsoft.com/office/powerpoint/2010/main" val="290802850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reviewing flow-manufacturing concepts, note how there are quality products produced at TAKT time.  Flow-manufacturing supports improved utilization of people through higher productivity and proper staffing by design. It also enables the continuous flow of material and operators and provides immediate feedback, flow information, and exposes problems to the organization.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67</a:t>
            </a:fld>
            <a:endParaRPr lang="en-US"/>
          </a:p>
        </p:txBody>
      </p:sp>
    </p:spTree>
    <p:extLst>
      <p:ext uri="{BB962C8B-B14F-4D97-AF65-F5344CB8AC3E}">
        <p14:creationId xmlns:p14="http://schemas.microsoft.com/office/powerpoint/2010/main" val="130433463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closing, if a process is not documented, there is no process. The more consistent the operations, the better the quality.  Without a standard, there can be no improvement. Standard Work is a dynamic tool used by management and should not be used to </a:t>
            </a:r>
            <a:r>
              <a:rPr lang="ja-JP" altLang="en-US" dirty="0">
                <a:latin typeface="Arial" panose="020B0604020202020204" pitchFamily="34" charset="0"/>
              </a:rPr>
              <a:t>“</a:t>
            </a:r>
            <a:r>
              <a:rPr lang="en-US" altLang="ja-JP" dirty="0">
                <a:latin typeface="Arial" panose="020B0604020202020204" pitchFamily="34" charset="0"/>
              </a:rPr>
              <a:t>justify</a:t>
            </a:r>
            <a:r>
              <a:rPr lang="ja-JP" altLang="en-US" dirty="0">
                <a:latin typeface="Arial" panose="020B0604020202020204" pitchFamily="34" charset="0"/>
              </a:rPr>
              <a:t>”</a:t>
            </a:r>
            <a:r>
              <a:rPr lang="en-US" altLang="ja-JP" dirty="0">
                <a:latin typeface="Arial" panose="020B0604020202020204" pitchFamily="34" charset="0"/>
              </a:rPr>
              <a:t> laying off operators. Standard Work should be no older than 30 days.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68</a:t>
            </a:fld>
            <a:endParaRPr lang="en-US"/>
          </a:p>
        </p:txBody>
      </p:sp>
    </p:spTree>
    <p:extLst>
      <p:ext uri="{BB962C8B-B14F-4D97-AF65-F5344CB8AC3E}">
        <p14:creationId xmlns:p14="http://schemas.microsoft.com/office/powerpoint/2010/main" val="314222429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This is a strong statement.</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The founders of </a:t>
            </a:r>
            <a:r>
              <a:rPr lang="en-US" altLang="en-US" dirty="0" err="1">
                <a:latin typeface="Arial" panose="020B0604020202020204" pitchFamily="34" charset="0"/>
              </a:rPr>
              <a:t>Shingijutsu</a:t>
            </a:r>
            <a:r>
              <a:rPr lang="en-US" altLang="en-US" dirty="0">
                <a:latin typeface="Arial" panose="020B0604020202020204" pitchFamily="34" charset="0"/>
              </a:rPr>
              <a:t> Consultants have direct ties/lineage to Taichi Ohno and the Toyota Production System. Mr. </a:t>
            </a:r>
            <a:r>
              <a:rPr lang="en-US" altLang="en-US" dirty="0" err="1">
                <a:latin typeface="Arial" panose="020B0604020202020204" pitchFamily="34" charset="0"/>
              </a:rPr>
              <a:t>Niwa</a:t>
            </a:r>
            <a:r>
              <a:rPr lang="en-US" altLang="en-US" dirty="0">
                <a:latin typeface="Arial" panose="020B0604020202020204" pitchFamily="34" charset="0"/>
              </a:rPr>
              <a:t> was one of the original partners. What do you think he meant by this statement?</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Standard Work is a foundational element of the Toyota Production System. A lack of understanding of these concepts translates into a poor understanding of the Toyota Production System.</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69</a:t>
            </a:fld>
            <a:endParaRPr lang="en-US"/>
          </a:p>
        </p:txBody>
      </p:sp>
    </p:spTree>
    <p:extLst>
      <p:ext uri="{BB962C8B-B14F-4D97-AF65-F5344CB8AC3E}">
        <p14:creationId xmlns:p14="http://schemas.microsoft.com/office/powerpoint/2010/main" val="12589948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70</a:t>
            </a:fld>
            <a:endParaRPr lang="en-US"/>
          </a:p>
        </p:txBody>
      </p:sp>
    </p:spTree>
    <p:extLst>
      <p:ext uri="{BB962C8B-B14F-4D97-AF65-F5344CB8AC3E}">
        <p14:creationId xmlns:p14="http://schemas.microsoft.com/office/powerpoint/2010/main" val="40196842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STANDARD WORK PRESENTATION ENG REV3.0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0.xml"/><Relationship Id="rId1" Type="http://schemas.openxmlformats.org/officeDocument/2006/relationships/slideLayout" Target="../slideLayouts/slideLayout10.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Standard Work</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altLang="en-US" sz="2800" dirty="0"/>
              <a:t>Safety first (use personal protective equipment)</a:t>
            </a:r>
          </a:p>
          <a:p>
            <a:r>
              <a:rPr lang="en-US" altLang="en-US" sz="2800" dirty="0"/>
              <a:t>Active participation by all</a:t>
            </a:r>
          </a:p>
          <a:p>
            <a:r>
              <a:rPr lang="en-US" altLang="en-US" sz="2800" dirty="0"/>
              <a:t>Start and end on time</a:t>
            </a:r>
          </a:p>
          <a:p>
            <a:r>
              <a:rPr lang="en-US" altLang="en-US" sz="2800" dirty="0"/>
              <a:t>All electronic gadgets (phones, pagers, </a:t>
            </a:r>
            <a:r>
              <a:rPr lang="en-US" altLang="en-US" sz="2800" dirty="0" err="1"/>
              <a:t>etc</a:t>
            </a:r>
            <a:r>
              <a:rPr lang="en-US" altLang="en-US" sz="2800" dirty="0"/>
              <a:t>) turned to “off” or “silent”</a:t>
            </a:r>
          </a:p>
          <a:p>
            <a:r>
              <a:rPr lang="en-US" altLang="en-US" sz="2800" dirty="0"/>
              <a:t>Computers to be used only when instructed</a:t>
            </a:r>
          </a:p>
          <a:p>
            <a:r>
              <a:rPr lang="en-US" altLang="en-US" sz="2800" dirty="0"/>
              <a:t>Keep an open mind to change</a:t>
            </a:r>
          </a:p>
          <a:p>
            <a:r>
              <a:rPr lang="en-US" altLang="en-US" sz="2800" dirty="0"/>
              <a:t>Don’t let “perfect” get in the way of “better”</a:t>
            </a:r>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Standard Work Module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To define Standard Work and apply the Standard Work process and tools to achieve a target goal for your business.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grpSp>
        <p:nvGrpSpPr>
          <p:cNvPr id="9" name="Group 8">
            <a:extLst>
              <a:ext uri="{FF2B5EF4-FFF2-40B4-BE49-F238E27FC236}">
                <a16:creationId xmlns:a16="http://schemas.microsoft.com/office/drawing/2014/main" id="{73F83C5F-01DC-99F1-D42F-860102D3FB4C}"/>
              </a:ext>
            </a:extLst>
          </p:cNvPr>
          <p:cNvGrpSpPr/>
          <p:nvPr/>
        </p:nvGrpSpPr>
        <p:grpSpPr>
          <a:xfrm>
            <a:off x="2081729" y="3429000"/>
            <a:ext cx="8028542" cy="1891030"/>
            <a:chOff x="1603375" y="3835400"/>
            <a:chExt cx="5735638" cy="1350963"/>
          </a:xfrm>
        </p:grpSpPr>
        <p:sp>
          <p:nvSpPr>
            <p:cNvPr id="4" name="AutoShape 9">
              <a:extLst>
                <a:ext uri="{FF2B5EF4-FFF2-40B4-BE49-F238E27FC236}">
                  <a16:creationId xmlns:a16="http://schemas.microsoft.com/office/drawing/2014/main" id="{53A8133C-B6BE-F47E-D91A-0845803C88CC}"/>
                </a:ext>
              </a:extLst>
            </p:cNvPr>
            <p:cNvSpPr>
              <a:spLocks noChangeArrowheads="1"/>
            </p:cNvSpPr>
            <p:nvPr/>
          </p:nvSpPr>
          <p:spPr bwMode="auto">
            <a:xfrm>
              <a:off x="5738813" y="3835400"/>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a:solidFill>
                    <a:schemeClr val="bg1"/>
                  </a:solidFill>
                  <a:latin typeface="Roboto" panose="02000000000000000000" pitchFamily="2" charset="0"/>
                  <a:ea typeface="Roboto" panose="02000000000000000000" pitchFamily="2" charset="0"/>
                </a:rPr>
                <a:t>Standard</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Work</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     Documentation</a:t>
              </a:r>
            </a:p>
          </p:txBody>
        </p:sp>
        <p:sp>
          <p:nvSpPr>
            <p:cNvPr id="6" name="AutoShape 10">
              <a:extLst>
                <a:ext uri="{FF2B5EF4-FFF2-40B4-BE49-F238E27FC236}">
                  <a16:creationId xmlns:a16="http://schemas.microsoft.com/office/drawing/2014/main" id="{628F8213-411B-A7ED-F1AD-09DE6D25C7E8}"/>
                </a:ext>
              </a:extLst>
            </p:cNvPr>
            <p:cNvSpPr>
              <a:spLocks noChangeArrowheads="1"/>
            </p:cNvSpPr>
            <p:nvPr/>
          </p:nvSpPr>
          <p:spPr bwMode="auto">
            <a:xfrm>
              <a:off x="4398963" y="3835400"/>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a:solidFill>
                    <a:schemeClr val="bg1"/>
                  </a:solidFill>
                  <a:latin typeface="Roboto" panose="02000000000000000000" pitchFamily="2" charset="0"/>
                  <a:ea typeface="Roboto" panose="02000000000000000000" pitchFamily="2" charset="0"/>
                </a:rPr>
                <a:t>Standard</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Work In</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Process</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(WIP)</a:t>
              </a:r>
            </a:p>
          </p:txBody>
        </p:sp>
        <p:sp>
          <p:nvSpPr>
            <p:cNvPr id="7" name="AutoShape 3">
              <a:extLst>
                <a:ext uri="{FF2B5EF4-FFF2-40B4-BE49-F238E27FC236}">
                  <a16:creationId xmlns:a16="http://schemas.microsoft.com/office/drawing/2014/main" id="{6FE540A8-36D1-C5AC-18F7-28D714F6603E}"/>
                </a:ext>
              </a:extLst>
            </p:cNvPr>
            <p:cNvSpPr>
              <a:spLocks noChangeArrowheads="1"/>
            </p:cNvSpPr>
            <p:nvPr/>
          </p:nvSpPr>
          <p:spPr bwMode="auto">
            <a:xfrm>
              <a:off x="2943225"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a:solidFill>
                    <a:schemeClr val="bg1"/>
                  </a:solidFill>
                  <a:latin typeface="Roboto" panose="02000000000000000000" pitchFamily="2" charset="0"/>
                  <a:ea typeface="Roboto" panose="02000000000000000000" pitchFamily="2" charset="0"/>
                </a:rPr>
                <a:t>Work</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Sequence</a:t>
              </a:r>
            </a:p>
          </p:txBody>
        </p:sp>
        <p:sp>
          <p:nvSpPr>
            <p:cNvPr id="8" name="AutoShape 4">
              <a:extLst>
                <a:ext uri="{FF2B5EF4-FFF2-40B4-BE49-F238E27FC236}">
                  <a16:creationId xmlns:a16="http://schemas.microsoft.com/office/drawing/2014/main" id="{2365E74D-CD90-5431-54F9-31AD4F4EB7C4}"/>
                </a:ext>
              </a:extLst>
            </p:cNvPr>
            <p:cNvSpPr>
              <a:spLocks noChangeArrowheads="1"/>
            </p:cNvSpPr>
            <p:nvPr/>
          </p:nvSpPr>
          <p:spPr bwMode="auto">
            <a:xfrm>
              <a:off x="1603375"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dirty="0">
                  <a:solidFill>
                    <a:schemeClr val="bg1"/>
                  </a:solidFill>
                  <a:latin typeface="Roboto" panose="02000000000000000000" pitchFamily="2" charset="0"/>
                  <a:ea typeface="Roboto" panose="02000000000000000000" pitchFamily="2" charset="0"/>
                </a:rPr>
                <a:t>Takt</a:t>
              </a:r>
              <a:br>
                <a:rPr lang="en-US" altLang="en-US" sz="2000" dirty="0">
                  <a:solidFill>
                    <a:schemeClr val="bg1"/>
                  </a:solidFill>
                  <a:latin typeface="Roboto" panose="02000000000000000000" pitchFamily="2" charset="0"/>
                  <a:ea typeface="Roboto" panose="02000000000000000000" pitchFamily="2" charset="0"/>
                </a:rPr>
              </a:br>
              <a:r>
                <a:rPr lang="en-US" altLang="en-US" sz="2000" dirty="0">
                  <a:solidFill>
                    <a:schemeClr val="bg1"/>
                  </a:solidFill>
                  <a:latin typeface="Roboto" panose="02000000000000000000" pitchFamily="2" charset="0"/>
                  <a:ea typeface="Roboto" panose="02000000000000000000" pitchFamily="2" charset="0"/>
                </a:rPr>
                <a:t>Time vs.</a:t>
              </a:r>
              <a:br>
                <a:rPr lang="en-US" altLang="en-US" sz="2000" dirty="0">
                  <a:solidFill>
                    <a:schemeClr val="bg1"/>
                  </a:solidFill>
                  <a:latin typeface="Roboto" panose="02000000000000000000" pitchFamily="2" charset="0"/>
                  <a:ea typeface="Roboto" panose="02000000000000000000" pitchFamily="2" charset="0"/>
                </a:rPr>
              </a:br>
              <a:r>
                <a:rPr lang="en-US" altLang="en-US" sz="2000" dirty="0">
                  <a:solidFill>
                    <a:schemeClr val="bg1"/>
                  </a:solidFill>
                  <a:latin typeface="Roboto" panose="02000000000000000000" pitchFamily="2" charset="0"/>
                  <a:ea typeface="Roboto" panose="02000000000000000000" pitchFamily="2" charset="0"/>
                </a:rPr>
                <a:t>Cycle Time</a:t>
              </a:r>
            </a:p>
          </p:txBody>
        </p:sp>
      </p:grpSp>
    </p:spTree>
    <p:extLst>
      <p:ext uri="{BB962C8B-B14F-4D97-AF65-F5344CB8AC3E}">
        <p14:creationId xmlns:p14="http://schemas.microsoft.com/office/powerpoint/2010/main" val="1274483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BECAB-3DDE-DB09-3931-1D69BC1D4328}"/>
              </a:ext>
            </a:extLst>
          </p:cNvPr>
          <p:cNvSpPr>
            <a:spLocks noGrp="1"/>
          </p:cNvSpPr>
          <p:nvPr>
            <p:ph type="title"/>
          </p:nvPr>
        </p:nvSpPr>
        <p:spPr/>
        <p:txBody>
          <a:bodyPr>
            <a:noAutofit/>
          </a:bodyPr>
          <a:lstStyle/>
          <a:p>
            <a:r>
              <a:rPr lang="en-US" sz="2400" dirty="0"/>
              <a:t>Standard Work: Improvement </a:t>
            </a:r>
            <a:r>
              <a:rPr lang="en-US" sz="2400" i="1" dirty="0"/>
              <a:t>Cannot</a:t>
            </a:r>
            <a:r>
              <a:rPr lang="en-US" sz="2400" dirty="0"/>
              <a:t> Be Made Without a Standard</a:t>
            </a:r>
          </a:p>
        </p:txBody>
      </p:sp>
      <p:sp>
        <p:nvSpPr>
          <p:cNvPr id="4" name="Text Placeholder 3">
            <a:extLst>
              <a:ext uri="{FF2B5EF4-FFF2-40B4-BE49-F238E27FC236}">
                <a16:creationId xmlns:a16="http://schemas.microsoft.com/office/drawing/2014/main" id="{4A065183-581A-5743-1958-D46664C2AF5E}"/>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Defines interaction between people and environment when processing products or services</a:t>
            </a:r>
          </a:p>
          <a:p>
            <a:pPr marL="285750" indent="-285750">
              <a:buFont typeface="Arial" panose="020B0604020202020204" pitchFamily="34" charset="0"/>
              <a:buChar char="•"/>
            </a:pPr>
            <a:r>
              <a:rPr lang="en-US" dirty="0"/>
              <a:t>Details motion of the operator and his work sequence</a:t>
            </a:r>
          </a:p>
          <a:p>
            <a:pPr marL="285750" indent="-285750">
              <a:buFont typeface="Arial" panose="020B0604020202020204" pitchFamily="34" charset="0"/>
              <a:buChar char="•"/>
            </a:pPr>
            <a:r>
              <a:rPr lang="en-US" dirty="0"/>
              <a:t>Provides a routine for consistency of an operation</a:t>
            </a:r>
          </a:p>
          <a:p>
            <a:pPr marL="285750" indent="-285750">
              <a:buFont typeface="Arial" panose="020B0604020202020204" pitchFamily="34" charset="0"/>
              <a:buChar char="•"/>
            </a:pPr>
            <a:r>
              <a:rPr lang="en-US" dirty="0"/>
              <a:t>Details best processes known and understood</a:t>
            </a:r>
          </a:p>
          <a:p>
            <a:pPr marL="285750" indent="-285750">
              <a:buFont typeface="Arial" panose="020B0604020202020204" pitchFamily="34" charset="0"/>
              <a:buChar char="•"/>
            </a:pPr>
            <a:r>
              <a:rPr lang="en-US" dirty="0"/>
              <a:t>Provides basis for improvement by defining the normal and highlighting the abnormal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grpSp>
        <p:nvGrpSpPr>
          <p:cNvPr id="5" name="Group 15">
            <a:extLst>
              <a:ext uri="{FF2B5EF4-FFF2-40B4-BE49-F238E27FC236}">
                <a16:creationId xmlns:a16="http://schemas.microsoft.com/office/drawing/2014/main" id="{85E19A5B-3DCC-31D7-3414-C7F069C40A95}"/>
              </a:ext>
            </a:extLst>
          </p:cNvPr>
          <p:cNvGrpSpPr>
            <a:grpSpLocks/>
          </p:cNvGrpSpPr>
          <p:nvPr/>
        </p:nvGrpSpPr>
        <p:grpSpPr bwMode="auto">
          <a:xfrm>
            <a:off x="5405755" y="1862137"/>
            <a:ext cx="5946457" cy="3841433"/>
            <a:chOff x="529" y="122"/>
            <a:chExt cx="4743" cy="4150"/>
          </a:xfrm>
        </p:grpSpPr>
        <p:sp>
          <p:nvSpPr>
            <p:cNvPr id="6" name="Rectangle 16">
              <a:extLst>
                <a:ext uri="{FF2B5EF4-FFF2-40B4-BE49-F238E27FC236}">
                  <a16:creationId xmlns:a16="http://schemas.microsoft.com/office/drawing/2014/main" id="{10843226-9251-63F6-05F9-386A8D19C2CC}"/>
                </a:ext>
              </a:extLst>
            </p:cNvPr>
            <p:cNvSpPr>
              <a:spLocks noChangeArrowheads="1"/>
            </p:cNvSpPr>
            <p:nvPr/>
          </p:nvSpPr>
          <p:spPr bwMode="auto">
            <a:xfrm>
              <a:off x="676" y="845"/>
              <a:ext cx="715" cy="2517"/>
            </a:xfrm>
            <a:prstGeom prst="rect">
              <a:avLst/>
            </a:prstGeom>
            <a:gradFill rotWithShape="0">
              <a:gsLst>
                <a:gs pos="0">
                  <a:schemeClr val="accent2"/>
                </a:gs>
                <a:gs pos="50000">
                  <a:schemeClr val="bg2"/>
                </a:gs>
                <a:gs pos="100000">
                  <a:schemeClr val="accent2"/>
                </a:gs>
              </a:gsLst>
              <a:lin ang="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 name="Rectangle 17">
              <a:extLst>
                <a:ext uri="{FF2B5EF4-FFF2-40B4-BE49-F238E27FC236}">
                  <a16:creationId xmlns:a16="http://schemas.microsoft.com/office/drawing/2014/main" id="{CB039785-AA56-1845-DFDA-8554E4B55696}"/>
                </a:ext>
              </a:extLst>
            </p:cNvPr>
            <p:cNvSpPr>
              <a:spLocks noChangeArrowheads="1"/>
            </p:cNvSpPr>
            <p:nvPr/>
          </p:nvSpPr>
          <p:spPr bwMode="auto">
            <a:xfrm>
              <a:off x="565" y="3431"/>
              <a:ext cx="4687" cy="707"/>
            </a:xfrm>
            <a:prstGeom prst="rect">
              <a:avLst/>
            </a:prstGeom>
            <a:gradFill rotWithShape="0">
              <a:gsLst>
                <a:gs pos="0">
                  <a:schemeClr val="tx2"/>
                </a:gs>
                <a:gs pos="100000">
                  <a:schemeClr val="accent3"/>
                </a:gs>
              </a:gsLst>
              <a:lin ang="540000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 name="Rectangle 18">
              <a:extLst>
                <a:ext uri="{FF2B5EF4-FFF2-40B4-BE49-F238E27FC236}">
                  <a16:creationId xmlns:a16="http://schemas.microsoft.com/office/drawing/2014/main" id="{B2968071-B7D3-753E-EE89-856DF2D2C8C0}"/>
                </a:ext>
              </a:extLst>
            </p:cNvPr>
            <p:cNvSpPr>
              <a:spLocks noChangeArrowheads="1"/>
            </p:cNvSpPr>
            <p:nvPr/>
          </p:nvSpPr>
          <p:spPr bwMode="auto">
            <a:xfrm>
              <a:off x="537" y="122"/>
              <a:ext cx="4735" cy="707"/>
            </a:xfrm>
            <a:prstGeom prst="rect">
              <a:avLst/>
            </a:prstGeom>
            <a:gradFill rotWithShape="0">
              <a:gsLst>
                <a:gs pos="0">
                  <a:schemeClr val="tx2"/>
                </a:gs>
                <a:gs pos="100000">
                  <a:schemeClr val="accent3"/>
                </a:gs>
              </a:gsLst>
              <a:lin ang="540000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9" name="Rectangle 19">
              <a:extLst>
                <a:ext uri="{FF2B5EF4-FFF2-40B4-BE49-F238E27FC236}">
                  <a16:creationId xmlns:a16="http://schemas.microsoft.com/office/drawing/2014/main" id="{045864C2-5FC3-680C-F078-60444453F31A}"/>
                </a:ext>
              </a:extLst>
            </p:cNvPr>
            <p:cNvSpPr>
              <a:spLocks noChangeArrowheads="1"/>
            </p:cNvSpPr>
            <p:nvPr/>
          </p:nvSpPr>
          <p:spPr bwMode="auto">
            <a:xfrm>
              <a:off x="4431" y="865"/>
              <a:ext cx="715" cy="2516"/>
            </a:xfrm>
            <a:prstGeom prst="rect">
              <a:avLst/>
            </a:prstGeom>
            <a:gradFill rotWithShape="0">
              <a:gsLst>
                <a:gs pos="0">
                  <a:schemeClr val="accent2"/>
                </a:gs>
                <a:gs pos="50000">
                  <a:schemeClr val="bg2"/>
                </a:gs>
                <a:gs pos="100000">
                  <a:schemeClr val="accent2"/>
                </a:gs>
              </a:gsLst>
              <a:lin ang="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0" name="Rectangle 20">
              <a:extLst>
                <a:ext uri="{FF2B5EF4-FFF2-40B4-BE49-F238E27FC236}">
                  <a16:creationId xmlns:a16="http://schemas.microsoft.com/office/drawing/2014/main" id="{58C3CB1F-0491-D247-8783-EF8397BB7CAF}"/>
                </a:ext>
              </a:extLst>
            </p:cNvPr>
            <p:cNvSpPr>
              <a:spLocks noChangeArrowheads="1"/>
            </p:cNvSpPr>
            <p:nvPr/>
          </p:nvSpPr>
          <p:spPr bwMode="auto">
            <a:xfrm>
              <a:off x="1866" y="227"/>
              <a:ext cx="2010"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Toyota Production Model</a:t>
              </a:r>
            </a:p>
          </p:txBody>
        </p:sp>
        <p:sp>
          <p:nvSpPr>
            <p:cNvPr id="11" name="Rectangle 21">
              <a:extLst>
                <a:ext uri="{FF2B5EF4-FFF2-40B4-BE49-F238E27FC236}">
                  <a16:creationId xmlns:a16="http://schemas.microsoft.com/office/drawing/2014/main" id="{7520EC41-E156-D433-77C7-5187E96B4336}"/>
                </a:ext>
              </a:extLst>
            </p:cNvPr>
            <p:cNvSpPr>
              <a:spLocks noChangeArrowheads="1"/>
            </p:cNvSpPr>
            <p:nvPr/>
          </p:nvSpPr>
          <p:spPr bwMode="auto">
            <a:xfrm>
              <a:off x="529" y="3591"/>
              <a:ext cx="797"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Heijunka</a:t>
              </a:r>
            </a:p>
          </p:txBody>
        </p:sp>
        <p:sp>
          <p:nvSpPr>
            <p:cNvPr id="12" name="Rectangle 22">
              <a:extLst>
                <a:ext uri="{FF2B5EF4-FFF2-40B4-BE49-F238E27FC236}">
                  <a16:creationId xmlns:a16="http://schemas.microsoft.com/office/drawing/2014/main" id="{0B86FA30-88D0-671B-A064-71DCFB3F629F}"/>
                </a:ext>
              </a:extLst>
            </p:cNvPr>
            <p:cNvSpPr>
              <a:spLocks noChangeArrowheads="1"/>
            </p:cNvSpPr>
            <p:nvPr/>
          </p:nvSpPr>
          <p:spPr bwMode="auto">
            <a:xfrm>
              <a:off x="4377" y="3591"/>
              <a:ext cx="647"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Kaizen</a:t>
              </a:r>
            </a:p>
          </p:txBody>
        </p:sp>
        <p:sp>
          <p:nvSpPr>
            <p:cNvPr id="13" name="Rectangle 23">
              <a:extLst>
                <a:ext uri="{FF2B5EF4-FFF2-40B4-BE49-F238E27FC236}">
                  <a16:creationId xmlns:a16="http://schemas.microsoft.com/office/drawing/2014/main" id="{05DD3FE7-B711-5334-AEF2-6EEF359F0D99}"/>
                </a:ext>
              </a:extLst>
            </p:cNvPr>
            <p:cNvSpPr>
              <a:spLocks noChangeArrowheads="1"/>
            </p:cNvSpPr>
            <p:nvPr/>
          </p:nvSpPr>
          <p:spPr bwMode="auto">
            <a:xfrm>
              <a:off x="2546" y="3427"/>
              <a:ext cx="817" cy="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Standard</a:t>
              </a:r>
            </a:p>
            <a:p>
              <a:pPr algn="ctr">
                <a:lnSpc>
                  <a:spcPct val="100000"/>
                </a:lnSpc>
                <a:spcBef>
                  <a:spcPct val="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Work</a:t>
              </a:r>
            </a:p>
          </p:txBody>
        </p:sp>
        <p:sp>
          <p:nvSpPr>
            <p:cNvPr id="14" name="Rectangle 24">
              <a:extLst>
                <a:ext uri="{FF2B5EF4-FFF2-40B4-BE49-F238E27FC236}">
                  <a16:creationId xmlns:a16="http://schemas.microsoft.com/office/drawing/2014/main" id="{89A8EDDD-04EB-648D-8178-EDC123D65591}"/>
                </a:ext>
              </a:extLst>
            </p:cNvPr>
            <p:cNvSpPr>
              <a:spLocks noChangeArrowheads="1"/>
            </p:cNvSpPr>
            <p:nvPr/>
          </p:nvSpPr>
          <p:spPr bwMode="auto">
            <a:xfrm>
              <a:off x="572" y="830"/>
              <a:ext cx="914" cy="155"/>
            </a:xfrm>
            <a:prstGeom prst="rect">
              <a:avLst/>
            </a:prstGeom>
            <a:gradFill rotWithShape="0">
              <a:gsLst>
                <a:gs pos="0">
                  <a:schemeClr val="accent2"/>
                </a:gs>
                <a:gs pos="50000">
                  <a:schemeClr val="accent3"/>
                </a:gs>
                <a:gs pos="100000">
                  <a:schemeClr val="accent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5" name="Rectangle 25">
              <a:extLst>
                <a:ext uri="{FF2B5EF4-FFF2-40B4-BE49-F238E27FC236}">
                  <a16:creationId xmlns:a16="http://schemas.microsoft.com/office/drawing/2014/main" id="{A4DC7A61-FABF-0E95-83D9-F97A1BE47C91}"/>
                </a:ext>
              </a:extLst>
            </p:cNvPr>
            <p:cNvSpPr>
              <a:spLocks noChangeArrowheads="1"/>
            </p:cNvSpPr>
            <p:nvPr/>
          </p:nvSpPr>
          <p:spPr bwMode="auto">
            <a:xfrm>
              <a:off x="572" y="3266"/>
              <a:ext cx="914" cy="157"/>
            </a:xfrm>
            <a:prstGeom prst="rect">
              <a:avLst/>
            </a:prstGeom>
            <a:gradFill rotWithShape="0">
              <a:gsLst>
                <a:gs pos="0">
                  <a:schemeClr val="accent2"/>
                </a:gs>
                <a:gs pos="50000">
                  <a:schemeClr val="accent3"/>
                </a:gs>
                <a:gs pos="100000">
                  <a:schemeClr val="accent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6" name="Rectangle 26">
              <a:extLst>
                <a:ext uri="{FF2B5EF4-FFF2-40B4-BE49-F238E27FC236}">
                  <a16:creationId xmlns:a16="http://schemas.microsoft.com/office/drawing/2014/main" id="{9645B56F-B660-1B29-2560-7EE9F4C53DD7}"/>
                </a:ext>
              </a:extLst>
            </p:cNvPr>
            <p:cNvSpPr>
              <a:spLocks noChangeArrowheads="1"/>
            </p:cNvSpPr>
            <p:nvPr/>
          </p:nvSpPr>
          <p:spPr bwMode="auto">
            <a:xfrm>
              <a:off x="4326" y="3266"/>
              <a:ext cx="914" cy="157"/>
            </a:xfrm>
            <a:prstGeom prst="rect">
              <a:avLst/>
            </a:prstGeom>
            <a:gradFill rotWithShape="0">
              <a:gsLst>
                <a:gs pos="0">
                  <a:schemeClr val="accent2"/>
                </a:gs>
                <a:gs pos="50000">
                  <a:schemeClr val="accent3"/>
                </a:gs>
                <a:gs pos="100000">
                  <a:schemeClr val="accent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7" name="Rectangle 27">
              <a:extLst>
                <a:ext uri="{FF2B5EF4-FFF2-40B4-BE49-F238E27FC236}">
                  <a16:creationId xmlns:a16="http://schemas.microsoft.com/office/drawing/2014/main" id="{8CBAA05A-1507-4E94-2D95-EF41D483958B}"/>
                </a:ext>
              </a:extLst>
            </p:cNvPr>
            <p:cNvSpPr>
              <a:spLocks noChangeArrowheads="1"/>
            </p:cNvSpPr>
            <p:nvPr/>
          </p:nvSpPr>
          <p:spPr bwMode="auto">
            <a:xfrm>
              <a:off x="4328" y="826"/>
              <a:ext cx="914" cy="155"/>
            </a:xfrm>
            <a:prstGeom prst="rect">
              <a:avLst/>
            </a:prstGeom>
            <a:gradFill rotWithShape="0">
              <a:gsLst>
                <a:gs pos="0">
                  <a:schemeClr val="accent2"/>
                </a:gs>
                <a:gs pos="50000">
                  <a:schemeClr val="accent3"/>
                </a:gs>
                <a:gs pos="100000">
                  <a:schemeClr val="accent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8" name="Rectangle 28">
              <a:extLst>
                <a:ext uri="{FF2B5EF4-FFF2-40B4-BE49-F238E27FC236}">
                  <a16:creationId xmlns:a16="http://schemas.microsoft.com/office/drawing/2014/main" id="{1BEA6AB8-DAFA-2A72-9EE3-2B7EF0E57EA7}"/>
                </a:ext>
              </a:extLst>
            </p:cNvPr>
            <p:cNvSpPr>
              <a:spLocks noChangeArrowheads="1"/>
            </p:cNvSpPr>
            <p:nvPr/>
          </p:nvSpPr>
          <p:spPr bwMode="auto">
            <a:xfrm rot="16200000">
              <a:off x="50" y="1939"/>
              <a:ext cx="189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Just In Time</a:t>
              </a:r>
            </a:p>
          </p:txBody>
        </p:sp>
        <p:sp>
          <p:nvSpPr>
            <p:cNvPr id="19" name="Rectangle 29">
              <a:extLst>
                <a:ext uri="{FF2B5EF4-FFF2-40B4-BE49-F238E27FC236}">
                  <a16:creationId xmlns:a16="http://schemas.microsoft.com/office/drawing/2014/main" id="{0A332F4C-4E05-F4B4-4FF0-43578170810A}"/>
                </a:ext>
              </a:extLst>
            </p:cNvPr>
            <p:cNvSpPr>
              <a:spLocks noChangeArrowheads="1"/>
            </p:cNvSpPr>
            <p:nvPr/>
          </p:nvSpPr>
          <p:spPr bwMode="auto">
            <a:xfrm rot="16200000">
              <a:off x="4330" y="1882"/>
              <a:ext cx="87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Jidoka</a:t>
              </a:r>
            </a:p>
          </p:txBody>
        </p:sp>
        <p:sp>
          <p:nvSpPr>
            <p:cNvPr id="20" name="Oval 30">
              <a:extLst>
                <a:ext uri="{FF2B5EF4-FFF2-40B4-BE49-F238E27FC236}">
                  <a16:creationId xmlns:a16="http://schemas.microsoft.com/office/drawing/2014/main" id="{DFF96DDE-20AA-CE22-7060-D924F78AD820}"/>
                </a:ext>
              </a:extLst>
            </p:cNvPr>
            <p:cNvSpPr>
              <a:spLocks noChangeArrowheads="1"/>
            </p:cNvSpPr>
            <p:nvPr/>
          </p:nvSpPr>
          <p:spPr bwMode="auto">
            <a:xfrm>
              <a:off x="2160" y="3120"/>
              <a:ext cx="1536" cy="1152"/>
            </a:xfrm>
            <a:prstGeom prst="ellipse">
              <a:avLst/>
            </a:prstGeom>
            <a:noFill/>
            <a:ln w="57150">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endParaRPr lang="en-US" altLang="en-US" sz="1600" b="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768068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dirty="0"/>
              <a:t>Standard Work Characteristics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Documented process; must be repetitive to apply Standard Work concepts</a:t>
            </a:r>
          </a:p>
          <a:p>
            <a:r>
              <a:rPr lang="en-US" dirty="0"/>
              <a:t>Separate focus on the operator, separate focus on the machine</a:t>
            </a:r>
          </a:p>
          <a:p>
            <a:r>
              <a:rPr lang="en-US" dirty="0"/>
              <a:t>Combined focus on the interaction of operator and machine</a:t>
            </a:r>
          </a:p>
          <a:p>
            <a:r>
              <a:rPr lang="en-US" dirty="0"/>
              <a:t>Is different than a traditional time and motion study:</a:t>
            </a:r>
          </a:p>
          <a:p>
            <a:pPr lvl="1"/>
            <a:r>
              <a:rPr lang="en-US" dirty="0"/>
              <a:t>Takes customer demand into consideration</a:t>
            </a:r>
          </a:p>
          <a:p>
            <a:pPr lvl="1"/>
            <a:r>
              <a:rPr lang="en-US" dirty="0"/>
              <a:t>Expects that the operator will perform multiple, repetitive operations within a work sequence</a:t>
            </a:r>
          </a:p>
          <a:p>
            <a:pPr lvl="1"/>
            <a:r>
              <a:rPr lang="en-US" dirty="0"/>
              <a:t>Does not promote the building of unnecessary inventory</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a:t>
            </a:fld>
            <a:endParaRPr lang="en-US"/>
          </a:p>
        </p:txBody>
      </p:sp>
    </p:spTree>
    <p:extLst>
      <p:ext uri="{BB962C8B-B14F-4D97-AF65-F5344CB8AC3E}">
        <p14:creationId xmlns:p14="http://schemas.microsoft.com/office/powerpoint/2010/main" val="1464623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Standard Work Improves Productivity</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a:xfrm>
            <a:off x="6245224" y="3516947"/>
            <a:ext cx="5181600" cy="959645"/>
          </a:xfrm>
        </p:spPr>
        <p:txBody>
          <a:bodyPr/>
          <a:lstStyle/>
          <a:p>
            <a:r>
              <a:rPr lang="en-US" dirty="0"/>
              <a:t>Standard Work impacts both sides of the equation</a:t>
            </a:r>
          </a:p>
          <a:p>
            <a:endParaRPr lang="en-US" dirty="0"/>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grpSp>
        <p:nvGrpSpPr>
          <p:cNvPr id="19" name="Group 18">
            <a:extLst>
              <a:ext uri="{FF2B5EF4-FFF2-40B4-BE49-F238E27FC236}">
                <a16:creationId xmlns:a16="http://schemas.microsoft.com/office/drawing/2014/main" id="{1844AF30-0FA1-2DEE-642F-46FBD83ABDE5}"/>
              </a:ext>
            </a:extLst>
          </p:cNvPr>
          <p:cNvGrpSpPr/>
          <p:nvPr/>
        </p:nvGrpSpPr>
        <p:grpSpPr>
          <a:xfrm>
            <a:off x="765176" y="2234406"/>
            <a:ext cx="5254625" cy="3533775"/>
            <a:chOff x="495300" y="1571625"/>
            <a:chExt cx="5254625" cy="3533775"/>
          </a:xfrm>
        </p:grpSpPr>
        <p:sp>
          <p:nvSpPr>
            <p:cNvPr id="5" name="Rectangle 2">
              <a:extLst>
                <a:ext uri="{FF2B5EF4-FFF2-40B4-BE49-F238E27FC236}">
                  <a16:creationId xmlns:a16="http://schemas.microsoft.com/office/drawing/2014/main" id="{A6DD30FD-AD83-96AF-D2F0-297B19185271}"/>
                </a:ext>
              </a:extLst>
            </p:cNvPr>
            <p:cNvSpPr>
              <a:spLocks noChangeArrowheads="1"/>
            </p:cNvSpPr>
            <p:nvPr/>
          </p:nvSpPr>
          <p:spPr bwMode="auto">
            <a:xfrm>
              <a:off x="495300" y="1571625"/>
              <a:ext cx="5254625" cy="353377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7" name="Rectangle 19">
              <a:extLst>
                <a:ext uri="{FF2B5EF4-FFF2-40B4-BE49-F238E27FC236}">
                  <a16:creationId xmlns:a16="http://schemas.microsoft.com/office/drawing/2014/main" id="{007C0EC7-6565-D0CF-24E0-E179C2175319}"/>
                </a:ext>
              </a:extLst>
            </p:cNvPr>
            <p:cNvSpPr>
              <a:spLocks noChangeArrowheads="1"/>
            </p:cNvSpPr>
            <p:nvPr/>
          </p:nvSpPr>
          <p:spPr bwMode="auto">
            <a:xfrm>
              <a:off x="1824038" y="1973263"/>
              <a:ext cx="1219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Aft>
                  <a:spcPct val="0"/>
                </a:spcAft>
                <a:buClrTx/>
                <a:buSzTx/>
                <a:buFontTx/>
                <a:buNone/>
              </a:pPr>
              <a:r>
                <a:rPr lang="en-US" altLang="en-US" sz="3600" b="0">
                  <a:latin typeface="Roboto" panose="02000000000000000000" pitchFamily="2" charset="0"/>
                  <a:ea typeface="Roboto" panose="02000000000000000000" pitchFamily="2" charset="0"/>
                </a:rPr>
                <a:t>P =</a:t>
              </a:r>
            </a:p>
          </p:txBody>
        </p:sp>
        <p:sp>
          <p:nvSpPr>
            <p:cNvPr id="8" name="Rectangle 20">
              <a:extLst>
                <a:ext uri="{FF2B5EF4-FFF2-40B4-BE49-F238E27FC236}">
                  <a16:creationId xmlns:a16="http://schemas.microsoft.com/office/drawing/2014/main" id="{D65938C2-9D02-D0D4-3048-C7444DBFFF0A}"/>
                </a:ext>
              </a:extLst>
            </p:cNvPr>
            <p:cNvSpPr>
              <a:spLocks noChangeArrowheads="1"/>
            </p:cNvSpPr>
            <p:nvPr/>
          </p:nvSpPr>
          <p:spPr bwMode="auto">
            <a:xfrm>
              <a:off x="1071563" y="1808163"/>
              <a:ext cx="424656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Aft>
                  <a:spcPct val="0"/>
                </a:spcAft>
                <a:buClrTx/>
                <a:buSzTx/>
                <a:buFontTx/>
                <a:buNone/>
              </a:pPr>
              <a:r>
                <a:rPr lang="en-US" altLang="en-US" sz="2400">
                  <a:latin typeface="Roboto" panose="02000000000000000000" pitchFamily="2" charset="0"/>
                  <a:ea typeface="Roboto" panose="02000000000000000000" pitchFamily="2" charset="0"/>
                </a:rPr>
                <a:t>    		Output </a:t>
              </a:r>
            </a:p>
            <a:p>
              <a:pPr eaLnBrk="1" hangingPunct="1">
                <a:lnSpc>
                  <a:spcPct val="100000"/>
                </a:lnSpc>
                <a:spcAft>
                  <a:spcPct val="0"/>
                </a:spcAft>
                <a:buClrTx/>
                <a:buSzTx/>
                <a:buFontTx/>
                <a:buNone/>
              </a:pPr>
              <a:r>
                <a:rPr lang="en-US" altLang="en-US" sz="2400">
                  <a:latin typeface="Roboto" panose="02000000000000000000" pitchFamily="2" charset="0"/>
                  <a:ea typeface="Roboto" panose="02000000000000000000" pitchFamily="2" charset="0"/>
                </a:rPr>
                <a:t>   		 Input </a:t>
              </a:r>
            </a:p>
          </p:txBody>
        </p:sp>
        <p:sp>
          <p:nvSpPr>
            <p:cNvPr id="9" name="Line 21">
              <a:extLst>
                <a:ext uri="{FF2B5EF4-FFF2-40B4-BE49-F238E27FC236}">
                  <a16:creationId xmlns:a16="http://schemas.microsoft.com/office/drawing/2014/main" id="{ADE0E34E-1127-E529-C575-E4B9B6579386}"/>
                </a:ext>
              </a:extLst>
            </p:cNvPr>
            <p:cNvSpPr>
              <a:spLocks noChangeShapeType="1"/>
            </p:cNvSpPr>
            <p:nvPr/>
          </p:nvSpPr>
          <p:spPr bwMode="auto">
            <a:xfrm>
              <a:off x="2816225" y="2335213"/>
              <a:ext cx="1116013" cy="1587"/>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 name="Line 23">
              <a:extLst>
                <a:ext uri="{FF2B5EF4-FFF2-40B4-BE49-F238E27FC236}">
                  <a16:creationId xmlns:a16="http://schemas.microsoft.com/office/drawing/2014/main" id="{0FCDCC8E-B44C-4EC4-1E76-56EDC97A19F6}"/>
                </a:ext>
              </a:extLst>
            </p:cNvPr>
            <p:cNvSpPr>
              <a:spLocks noChangeShapeType="1"/>
            </p:cNvSpPr>
            <p:nvPr/>
          </p:nvSpPr>
          <p:spPr bwMode="auto">
            <a:xfrm flipV="1">
              <a:off x="2668588" y="3725863"/>
              <a:ext cx="0" cy="357187"/>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1" name="Line 24">
              <a:extLst>
                <a:ext uri="{FF2B5EF4-FFF2-40B4-BE49-F238E27FC236}">
                  <a16:creationId xmlns:a16="http://schemas.microsoft.com/office/drawing/2014/main" id="{CA72A807-230E-ABCE-C2F0-29B1EDDA54F1}"/>
                </a:ext>
              </a:extLst>
            </p:cNvPr>
            <p:cNvSpPr>
              <a:spLocks noChangeShapeType="1"/>
            </p:cNvSpPr>
            <p:nvPr/>
          </p:nvSpPr>
          <p:spPr bwMode="auto">
            <a:xfrm rot="120000">
              <a:off x="2603500" y="4198938"/>
              <a:ext cx="14288" cy="354012"/>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8" name="Rectangle 22">
              <a:extLst>
                <a:ext uri="{FF2B5EF4-FFF2-40B4-BE49-F238E27FC236}">
                  <a16:creationId xmlns:a16="http://schemas.microsoft.com/office/drawing/2014/main" id="{3B6AE65D-28C7-2F80-BC5E-53C8B4662434}"/>
                </a:ext>
              </a:extLst>
            </p:cNvPr>
            <p:cNvSpPr>
              <a:spLocks noChangeArrowheads="1"/>
            </p:cNvSpPr>
            <p:nvPr/>
          </p:nvSpPr>
          <p:spPr bwMode="auto">
            <a:xfrm>
              <a:off x="822643" y="3467577"/>
              <a:ext cx="4821237"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Aft>
                  <a:spcPct val="0"/>
                </a:spcAft>
                <a:buClrTx/>
                <a:buSzTx/>
                <a:buFontTx/>
                <a:buNone/>
              </a:pPr>
              <a:r>
                <a:rPr lang="en-US" altLang="en-US" sz="1800" dirty="0">
                  <a:latin typeface="Roboto" panose="02000000000000000000" pitchFamily="2" charset="0"/>
                  <a:ea typeface="Roboto" panose="02000000000000000000" pitchFamily="2" charset="0"/>
                </a:rPr>
                <a:t>To improve productivity:</a:t>
              </a:r>
            </a:p>
            <a:p>
              <a:pPr eaLnBrk="1" hangingPunct="1">
                <a:lnSpc>
                  <a:spcPct val="100000"/>
                </a:lnSpc>
                <a:spcAft>
                  <a:spcPct val="0"/>
                </a:spcAft>
                <a:buClrTx/>
                <a:buSzTx/>
                <a:buFontTx/>
                <a:buNone/>
              </a:pPr>
              <a:r>
                <a:rPr lang="en-US" altLang="en-US" sz="1800" dirty="0">
                  <a:latin typeface="Roboto" panose="02000000000000000000" pitchFamily="2" charset="0"/>
                  <a:ea typeface="Roboto" panose="02000000000000000000" pitchFamily="2" charset="0"/>
                </a:rPr>
                <a:t>Output must go ___ at same input level</a:t>
              </a:r>
            </a:p>
            <a:p>
              <a:pPr eaLnBrk="1" hangingPunct="1">
                <a:lnSpc>
                  <a:spcPct val="100000"/>
                </a:lnSpc>
                <a:spcAft>
                  <a:spcPct val="0"/>
                </a:spcAft>
                <a:buClrTx/>
                <a:buSzTx/>
                <a:buFontTx/>
                <a:buNone/>
              </a:pPr>
              <a:r>
                <a:rPr lang="en-US" altLang="en-US" sz="1800" dirty="0">
                  <a:latin typeface="Roboto" panose="02000000000000000000" pitchFamily="2" charset="0"/>
                  <a:ea typeface="Roboto" panose="02000000000000000000" pitchFamily="2" charset="0"/>
                </a:rPr>
                <a:t>Input must go ____ at same output level</a:t>
              </a:r>
            </a:p>
          </p:txBody>
        </p:sp>
      </p:grpSp>
    </p:spTree>
    <p:extLst>
      <p:ext uri="{BB962C8B-B14F-4D97-AF65-F5344CB8AC3E}">
        <p14:creationId xmlns:p14="http://schemas.microsoft.com/office/powerpoint/2010/main" val="701616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Value Added vs. Non-Value Added</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Non-Value Adding Process</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p:txBody>
          <a:bodyPr/>
          <a:lstStyle/>
          <a:p>
            <a:r>
              <a:rPr lang="en-US" dirty="0"/>
              <a:t>Those process steps that take time, resources, or space, but do not add value to the product or service</a:t>
            </a:r>
          </a:p>
          <a:p>
            <a:endParaRPr lang="en-US" dirty="0"/>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Value Adding Process</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lstStyle/>
          <a:p>
            <a:r>
              <a:rPr lang="en-US" dirty="0"/>
              <a:t>A process step that transforms or shapes a product or service which is eventually sold to a customer</a:t>
            </a:r>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sp>
        <p:nvSpPr>
          <p:cNvPr id="7" name="Text Box 27">
            <a:extLst>
              <a:ext uri="{FF2B5EF4-FFF2-40B4-BE49-F238E27FC236}">
                <a16:creationId xmlns:a16="http://schemas.microsoft.com/office/drawing/2014/main" id="{385D3179-3A50-84BE-E269-2D4E28736E12}"/>
              </a:ext>
            </a:extLst>
          </p:cNvPr>
          <p:cNvSpPr txBox="1">
            <a:spLocks noChangeArrowheads="1"/>
          </p:cNvSpPr>
          <p:nvPr/>
        </p:nvSpPr>
        <p:spPr bwMode="auto">
          <a:xfrm>
            <a:off x="1977232" y="5314055"/>
            <a:ext cx="8237537" cy="440633"/>
          </a:xfrm>
          <a:prstGeom prst="rect">
            <a:avLst/>
          </a:prstGeom>
          <a:solidFill>
            <a:schemeClr val="bg2"/>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800" b="0" i="1" dirty="0">
                <a:latin typeface="Roboto" panose="02000000000000000000" pitchFamily="2" charset="0"/>
                <a:ea typeface="Roboto" panose="02000000000000000000" pitchFamily="2" charset="0"/>
              </a:rPr>
              <a:t>Who is the customer?</a:t>
            </a:r>
          </a:p>
        </p:txBody>
      </p:sp>
    </p:spTree>
    <p:extLst>
      <p:ext uri="{BB962C8B-B14F-4D97-AF65-F5344CB8AC3E}">
        <p14:creationId xmlns:p14="http://schemas.microsoft.com/office/powerpoint/2010/main" val="2447268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Value Added vs. Non-Value Added</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XYZ Value Stream</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6531016" y="1681163"/>
            <a:ext cx="5183188" cy="823912"/>
          </a:xfrm>
        </p:spPr>
        <p:txBody>
          <a:bodyPr/>
          <a:lstStyle/>
          <a:p>
            <a:r>
              <a:rPr lang="en-US" dirty="0"/>
              <a:t>Non-value added activity increases </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531016" y="2505075"/>
            <a:ext cx="5183188" cy="3684588"/>
          </a:xfrm>
        </p:spPr>
        <p:txBody>
          <a:bodyPr>
            <a:normAutofit/>
          </a:bodyPr>
          <a:lstStyle/>
          <a:p>
            <a:r>
              <a:rPr lang="en-US" dirty="0"/>
              <a:t>Lead times</a:t>
            </a:r>
          </a:p>
          <a:p>
            <a:r>
              <a:rPr lang="en-US" dirty="0"/>
              <a:t>Adds cost</a:t>
            </a:r>
          </a:p>
          <a:p>
            <a:r>
              <a:rPr lang="en-US" dirty="0"/>
              <a:t>Creates opportunities for defects</a:t>
            </a:r>
          </a:p>
          <a:p>
            <a:r>
              <a:rPr lang="en-US" dirty="0"/>
              <a:t>Increases inventories</a:t>
            </a:r>
          </a:p>
          <a:p>
            <a:r>
              <a:rPr lang="en-US" dirty="0"/>
              <a:t>Inhibits Flow Production</a:t>
            </a:r>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pic>
        <p:nvPicPr>
          <p:cNvPr id="9" name="Picture 6">
            <a:extLst>
              <a:ext uri="{FF2B5EF4-FFF2-40B4-BE49-F238E27FC236}">
                <a16:creationId xmlns:a16="http://schemas.microsoft.com/office/drawing/2014/main" id="{BB1B37C3-18F2-69A6-E949-0B7E4697B161}"/>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48385" y="2812647"/>
            <a:ext cx="5947615" cy="2668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AutoShape 4">
            <a:extLst>
              <a:ext uri="{FF2B5EF4-FFF2-40B4-BE49-F238E27FC236}">
                <a16:creationId xmlns:a16="http://schemas.microsoft.com/office/drawing/2014/main" id="{B4A873BF-8708-C6AE-A2C9-7B745CE1A065}"/>
              </a:ext>
            </a:extLst>
          </p:cNvPr>
          <p:cNvSpPr>
            <a:spLocks noChangeArrowheads="1"/>
          </p:cNvSpPr>
          <p:nvPr/>
        </p:nvSpPr>
        <p:spPr bwMode="auto">
          <a:xfrm>
            <a:off x="6076970" y="2505075"/>
            <a:ext cx="285750" cy="2493962"/>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Tree>
    <p:extLst>
      <p:ext uri="{BB962C8B-B14F-4D97-AF65-F5344CB8AC3E}">
        <p14:creationId xmlns:p14="http://schemas.microsoft.com/office/powerpoint/2010/main" val="64648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Value Added vs. Non-Value Added</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6531016" y="1681163"/>
            <a:ext cx="5183188" cy="823912"/>
          </a:xfrm>
        </p:spPr>
        <p:txBody>
          <a:bodyPr>
            <a:normAutofit fontScale="92500"/>
          </a:bodyPr>
          <a:lstStyle/>
          <a:p>
            <a:r>
              <a:rPr lang="en-US" dirty="0"/>
              <a:t>Lean tools help identify and eliminate waste from our processes, leading to: </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531016" y="2505075"/>
            <a:ext cx="5183188" cy="3684588"/>
          </a:xfrm>
        </p:spPr>
        <p:txBody>
          <a:bodyPr>
            <a:normAutofit/>
          </a:bodyPr>
          <a:lstStyle/>
          <a:p>
            <a:r>
              <a:rPr lang="en-US" dirty="0"/>
              <a:t>Reduced costs and lead time</a:t>
            </a:r>
          </a:p>
          <a:p>
            <a:r>
              <a:rPr lang="en-US" dirty="0"/>
              <a:t>Faster response</a:t>
            </a:r>
          </a:p>
          <a:p>
            <a:r>
              <a:rPr lang="en-US" dirty="0"/>
              <a:t>Improved quality</a:t>
            </a:r>
          </a:p>
          <a:p>
            <a:r>
              <a:rPr lang="en-US" dirty="0"/>
              <a:t>Reduced inventory and floor space</a:t>
            </a:r>
          </a:p>
          <a:p>
            <a:r>
              <a:rPr lang="en-US" dirty="0"/>
              <a:t>Better predictability </a:t>
            </a:r>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sp>
        <p:nvSpPr>
          <p:cNvPr id="10" name="AutoShape 4">
            <a:extLst>
              <a:ext uri="{FF2B5EF4-FFF2-40B4-BE49-F238E27FC236}">
                <a16:creationId xmlns:a16="http://schemas.microsoft.com/office/drawing/2014/main" id="{B4A873BF-8708-C6AE-A2C9-7B745CE1A065}"/>
              </a:ext>
            </a:extLst>
          </p:cNvPr>
          <p:cNvSpPr>
            <a:spLocks noChangeArrowheads="1"/>
          </p:cNvSpPr>
          <p:nvPr/>
        </p:nvSpPr>
        <p:spPr bwMode="auto">
          <a:xfrm>
            <a:off x="6076970" y="2505075"/>
            <a:ext cx="285750" cy="2493962"/>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grpSp>
        <p:nvGrpSpPr>
          <p:cNvPr id="72" name="Group 71">
            <a:extLst>
              <a:ext uri="{FF2B5EF4-FFF2-40B4-BE49-F238E27FC236}">
                <a16:creationId xmlns:a16="http://schemas.microsoft.com/office/drawing/2014/main" id="{C6B872FB-6111-42A3-52E2-1ADA0CB02B29}"/>
              </a:ext>
            </a:extLst>
          </p:cNvPr>
          <p:cNvGrpSpPr/>
          <p:nvPr/>
        </p:nvGrpSpPr>
        <p:grpSpPr>
          <a:xfrm>
            <a:off x="839788" y="1905001"/>
            <a:ext cx="4530725" cy="4291231"/>
            <a:chOff x="561975" y="1639888"/>
            <a:chExt cx="4530725" cy="4291231"/>
          </a:xfrm>
        </p:grpSpPr>
        <p:sp>
          <p:nvSpPr>
            <p:cNvPr id="12" name="Rectangle 15">
              <a:extLst>
                <a:ext uri="{FF2B5EF4-FFF2-40B4-BE49-F238E27FC236}">
                  <a16:creationId xmlns:a16="http://schemas.microsoft.com/office/drawing/2014/main" id="{6F498412-7721-F6FB-9B50-C34E3FBED299}"/>
                </a:ext>
              </a:extLst>
            </p:cNvPr>
            <p:cNvSpPr>
              <a:spLocks noChangeArrowheads="1"/>
            </p:cNvSpPr>
            <p:nvPr/>
          </p:nvSpPr>
          <p:spPr bwMode="auto">
            <a:xfrm>
              <a:off x="744538" y="1639888"/>
              <a:ext cx="6985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13" name="Rectangle 16">
              <a:extLst>
                <a:ext uri="{FF2B5EF4-FFF2-40B4-BE49-F238E27FC236}">
                  <a16:creationId xmlns:a16="http://schemas.microsoft.com/office/drawing/2014/main" id="{C1326920-CBCE-A7C3-40FB-49076A8A3BBE}"/>
                </a:ext>
              </a:extLst>
            </p:cNvPr>
            <p:cNvSpPr>
              <a:spLocks noChangeArrowheads="1"/>
            </p:cNvSpPr>
            <p:nvPr/>
          </p:nvSpPr>
          <p:spPr bwMode="auto">
            <a:xfrm>
              <a:off x="815975" y="2455863"/>
              <a:ext cx="261938" cy="830262"/>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14" name="WordArt 17">
              <a:extLst>
                <a:ext uri="{FF2B5EF4-FFF2-40B4-BE49-F238E27FC236}">
                  <a16:creationId xmlns:a16="http://schemas.microsoft.com/office/drawing/2014/main" id="{6FB97685-BB40-E63D-875C-798A30135B97}"/>
                </a:ext>
              </a:extLst>
            </p:cNvPr>
            <p:cNvSpPr>
              <a:spLocks noChangeArrowheads="1" noChangeShapeType="1" noTextEdit="1"/>
            </p:cNvSpPr>
            <p:nvPr/>
          </p:nvSpPr>
          <p:spPr bwMode="auto">
            <a:xfrm>
              <a:off x="841375" y="2717800"/>
              <a:ext cx="209550" cy="277813"/>
            </a:xfrm>
            <a:prstGeom prst="rect">
              <a:avLst/>
            </a:prstGeom>
          </p:spPr>
          <p:txBody>
            <a:bodyPr wrap="none" fromWordArt="1">
              <a:prstTxWarp prst="textPlain">
                <a:avLst>
                  <a:gd name="adj" fmla="val 50000"/>
                </a:avLst>
              </a:prstTxWarp>
            </a:bodyPr>
            <a:lstStyle/>
            <a:p>
              <a:r>
                <a:rPr lang="en-US" sz="2000" kern="10" dirty="0">
                  <a:ln w="9525">
                    <a:solidFill>
                      <a:srgbClr val="000000"/>
                    </a:solidFill>
                    <a:round/>
                    <a:headEnd/>
                    <a:tailEnd/>
                  </a:ln>
                  <a:solidFill>
                    <a:schemeClr val="tx2"/>
                  </a:solidFill>
                  <a:latin typeface="Arial Black" panose="020B0A04020102020204" pitchFamily="34" charset="0"/>
                </a:rPr>
                <a:t>$</a:t>
              </a:r>
            </a:p>
          </p:txBody>
        </p:sp>
        <p:sp>
          <p:nvSpPr>
            <p:cNvPr id="15" name="Rectangle 18">
              <a:extLst>
                <a:ext uri="{FF2B5EF4-FFF2-40B4-BE49-F238E27FC236}">
                  <a16:creationId xmlns:a16="http://schemas.microsoft.com/office/drawing/2014/main" id="{610400FF-6CA6-A764-495B-B2903881DFFF}"/>
                </a:ext>
              </a:extLst>
            </p:cNvPr>
            <p:cNvSpPr>
              <a:spLocks noChangeArrowheads="1"/>
            </p:cNvSpPr>
            <p:nvPr/>
          </p:nvSpPr>
          <p:spPr bwMode="auto">
            <a:xfrm>
              <a:off x="1090613" y="1639888"/>
              <a:ext cx="20955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16" name="Rectangle 19">
              <a:extLst>
                <a:ext uri="{FF2B5EF4-FFF2-40B4-BE49-F238E27FC236}">
                  <a16:creationId xmlns:a16="http://schemas.microsoft.com/office/drawing/2014/main" id="{88961B0B-1084-3399-4A8C-393F10A9213F}"/>
                </a:ext>
              </a:extLst>
            </p:cNvPr>
            <p:cNvSpPr>
              <a:spLocks noChangeArrowheads="1"/>
            </p:cNvSpPr>
            <p:nvPr/>
          </p:nvSpPr>
          <p:spPr bwMode="auto">
            <a:xfrm>
              <a:off x="1303338" y="2457450"/>
              <a:ext cx="349250" cy="830263"/>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17" name="WordArt 20">
              <a:extLst>
                <a:ext uri="{FF2B5EF4-FFF2-40B4-BE49-F238E27FC236}">
                  <a16:creationId xmlns:a16="http://schemas.microsoft.com/office/drawing/2014/main" id="{0FBF1712-27D8-C57A-313B-1F0D28CE5409}"/>
                </a:ext>
              </a:extLst>
            </p:cNvPr>
            <p:cNvSpPr>
              <a:spLocks noChangeArrowheads="1" noChangeShapeType="1" noTextEdit="1"/>
            </p:cNvSpPr>
            <p:nvPr/>
          </p:nvSpPr>
          <p:spPr bwMode="auto">
            <a:xfrm>
              <a:off x="1339850" y="2733675"/>
              <a:ext cx="209550" cy="277813"/>
            </a:xfrm>
            <a:prstGeom prst="rect">
              <a:avLst/>
            </a:prstGeom>
          </p:spPr>
          <p:txBody>
            <a:bodyPr wrap="none" fromWordArt="1">
              <a:prstTxWarp prst="textPlain">
                <a:avLst>
                  <a:gd name="adj" fmla="val 50000"/>
                </a:avLst>
              </a:prstTxWarp>
            </a:bodyPr>
            <a:lstStyle/>
            <a:p>
              <a:r>
                <a:rPr lang="en-US" sz="2000" kern="10" dirty="0">
                  <a:ln w="9525">
                    <a:solidFill>
                      <a:srgbClr val="000000"/>
                    </a:solidFill>
                    <a:round/>
                    <a:headEnd/>
                    <a:tailEnd/>
                  </a:ln>
                  <a:solidFill>
                    <a:schemeClr val="tx2"/>
                  </a:solidFill>
                  <a:latin typeface="Arial Black" panose="020B0A04020102020204" pitchFamily="34" charset="0"/>
                </a:rPr>
                <a:t>$</a:t>
              </a:r>
            </a:p>
          </p:txBody>
        </p:sp>
        <p:sp>
          <p:nvSpPr>
            <p:cNvPr id="18" name="Rectangle 21">
              <a:extLst>
                <a:ext uri="{FF2B5EF4-FFF2-40B4-BE49-F238E27FC236}">
                  <a16:creationId xmlns:a16="http://schemas.microsoft.com/office/drawing/2014/main" id="{B4D87BC8-0FF3-6E32-E4CD-7146D191DA3D}"/>
                </a:ext>
              </a:extLst>
            </p:cNvPr>
            <p:cNvSpPr>
              <a:spLocks noChangeArrowheads="1"/>
            </p:cNvSpPr>
            <p:nvPr/>
          </p:nvSpPr>
          <p:spPr bwMode="auto">
            <a:xfrm>
              <a:off x="1651000" y="1654175"/>
              <a:ext cx="6985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19" name="Rectangle 22">
              <a:extLst>
                <a:ext uri="{FF2B5EF4-FFF2-40B4-BE49-F238E27FC236}">
                  <a16:creationId xmlns:a16="http://schemas.microsoft.com/office/drawing/2014/main" id="{22F0D25C-14BB-EE11-9E09-68DC8E0B1364}"/>
                </a:ext>
              </a:extLst>
            </p:cNvPr>
            <p:cNvSpPr>
              <a:spLocks noChangeArrowheads="1"/>
            </p:cNvSpPr>
            <p:nvPr/>
          </p:nvSpPr>
          <p:spPr bwMode="auto">
            <a:xfrm>
              <a:off x="1749425" y="2457450"/>
              <a:ext cx="317500" cy="801688"/>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20" name="WordArt 23">
              <a:extLst>
                <a:ext uri="{FF2B5EF4-FFF2-40B4-BE49-F238E27FC236}">
                  <a16:creationId xmlns:a16="http://schemas.microsoft.com/office/drawing/2014/main" id="{6806B097-5670-7EE0-71EC-E4B86B7321C7}"/>
                </a:ext>
              </a:extLst>
            </p:cNvPr>
            <p:cNvSpPr>
              <a:spLocks noChangeArrowheads="1" noChangeShapeType="1" noTextEdit="1"/>
            </p:cNvSpPr>
            <p:nvPr/>
          </p:nvSpPr>
          <p:spPr bwMode="auto">
            <a:xfrm>
              <a:off x="1804988" y="2717800"/>
              <a:ext cx="209550" cy="277813"/>
            </a:xfrm>
            <a:prstGeom prst="rect">
              <a:avLst/>
            </a:prstGeom>
          </p:spPr>
          <p:txBody>
            <a:bodyPr wrap="none" fromWordArt="1">
              <a:prstTxWarp prst="textPlain">
                <a:avLst>
                  <a:gd name="adj" fmla="val 50000"/>
                </a:avLst>
              </a:prstTxWarp>
            </a:bodyPr>
            <a:lstStyle/>
            <a:p>
              <a:r>
                <a:rPr lang="en-US" sz="2000" kern="10">
                  <a:ln w="9525">
                    <a:solidFill>
                      <a:srgbClr val="000000"/>
                    </a:solidFill>
                    <a:round/>
                    <a:headEnd/>
                    <a:tailEnd/>
                  </a:ln>
                  <a:solidFill>
                    <a:schemeClr val="tx2"/>
                  </a:solidFill>
                  <a:latin typeface="Arial Black" panose="020B0A04020102020204" pitchFamily="34" charset="0"/>
                </a:rPr>
                <a:t>$</a:t>
              </a:r>
            </a:p>
          </p:txBody>
        </p:sp>
        <p:sp>
          <p:nvSpPr>
            <p:cNvPr id="21" name="Rectangle 24">
              <a:extLst>
                <a:ext uri="{FF2B5EF4-FFF2-40B4-BE49-F238E27FC236}">
                  <a16:creationId xmlns:a16="http://schemas.microsoft.com/office/drawing/2014/main" id="{B914AB77-23AC-2AAB-D9EB-B13245150941}"/>
                </a:ext>
              </a:extLst>
            </p:cNvPr>
            <p:cNvSpPr>
              <a:spLocks noChangeArrowheads="1"/>
            </p:cNvSpPr>
            <p:nvPr/>
          </p:nvSpPr>
          <p:spPr bwMode="auto">
            <a:xfrm>
              <a:off x="2052638" y="1652588"/>
              <a:ext cx="13970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22" name="Rectangle 25">
              <a:extLst>
                <a:ext uri="{FF2B5EF4-FFF2-40B4-BE49-F238E27FC236}">
                  <a16:creationId xmlns:a16="http://schemas.microsoft.com/office/drawing/2014/main" id="{790380DC-CF4B-64E5-A50A-95B3BCFB0944}"/>
                </a:ext>
              </a:extLst>
            </p:cNvPr>
            <p:cNvSpPr>
              <a:spLocks noChangeArrowheads="1"/>
            </p:cNvSpPr>
            <p:nvPr/>
          </p:nvSpPr>
          <p:spPr bwMode="auto">
            <a:xfrm>
              <a:off x="2206625" y="2455863"/>
              <a:ext cx="592138" cy="815975"/>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23" name="Rectangle 26">
              <a:extLst>
                <a:ext uri="{FF2B5EF4-FFF2-40B4-BE49-F238E27FC236}">
                  <a16:creationId xmlns:a16="http://schemas.microsoft.com/office/drawing/2014/main" id="{0135579A-B4D4-045D-0FD8-D5C2C02237E3}"/>
                </a:ext>
              </a:extLst>
            </p:cNvPr>
            <p:cNvSpPr>
              <a:spLocks noChangeArrowheads="1"/>
            </p:cNvSpPr>
            <p:nvPr/>
          </p:nvSpPr>
          <p:spPr bwMode="auto">
            <a:xfrm>
              <a:off x="2813050" y="1654175"/>
              <a:ext cx="20955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24" name="WordArt 27">
              <a:extLst>
                <a:ext uri="{FF2B5EF4-FFF2-40B4-BE49-F238E27FC236}">
                  <a16:creationId xmlns:a16="http://schemas.microsoft.com/office/drawing/2014/main" id="{FF39990A-917B-F1D3-C854-EDCFE4C59D9C}"/>
                </a:ext>
              </a:extLst>
            </p:cNvPr>
            <p:cNvSpPr>
              <a:spLocks noChangeArrowheads="1" noChangeShapeType="1" noTextEdit="1"/>
            </p:cNvSpPr>
            <p:nvPr/>
          </p:nvSpPr>
          <p:spPr bwMode="auto">
            <a:xfrm>
              <a:off x="2233613" y="2493963"/>
              <a:ext cx="209550" cy="276225"/>
            </a:xfrm>
            <a:prstGeom prst="rect">
              <a:avLst/>
            </a:prstGeom>
          </p:spPr>
          <p:txBody>
            <a:bodyPr wrap="none" fromWordArt="1">
              <a:prstTxWarp prst="textPlain">
                <a:avLst>
                  <a:gd name="adj" fmla="val 50000"/>
                </a:avLst>
              </a:prstTxWarp>
            </a:bodyPr>
            <a:lstStyle/>
            <a:p>
              <a:r>
                <a:rPr lang="en-US" sz="2000" kern="10">
                  <a:ln w="9525">
                    <a:solidFill>
                      <a:srgbClr val="000000"/>
                    </a:solidFill>
                    <a:round/>
                    <a:headEnd/>
                    <a:tailEnd/>
                  </a:ln>
                  <a:solidFill>
                    <a:schemeClr val="tx2"/>
                  </a:solidFill>
                  <a:latin typeface="Arial Black" panose="020B0A04020102020204" pitchFamily="34" charset="0"/>
                </a:rPr>
                <a:t>$</a:t>
              </a:r>
            </a:p>
          </p:txBody>
        </p:sp>
        <p:sp>
          <p:nvSpPr>
            <p:cNvPr id="25" name="WordArt 28">
              <a:extLst>
                <a:ext uri="{FF2B5EF4-FFF2-40B4-BE49-F238E27FC236}">
                  <a16:creationId xmlns:a16="http://schemas.microsoft.com/office/drawing/2014/main" id="{9C090FCB-AAE8-6957-514B-1C35683436E7}"/>
                </a:ext>
              </a:extLst>
            </p:cNvPr>
            <p:cNvSpPr>
              <a:spLocks noChangeArrowheads="1" noChangeShapeType="1" noTextEdit="1"/>
            </p:cNvSpPr>
            <p:nvPr/>
          </p:nvSpPr>
          <p:spPr bwMode="auto">
            <a:xfrm>
              <a:off x="2509838" y="2854325"/>
              <a:ext cx="209550" cy="277813"/>
            </a:xfrm>
            <a:prstGeom prst="rect">
              <a:avLst/>
            </a:prstGeom>
          </p:spPr>
          <p:txBody>
            <a:bodyPr wrap="none" fromWordArt="1">
              <a:prstTxWarp prst="textPlain">
                <a:avLst>
                  <a:gd name="adj" fmla="val 50000"/>
                </a:avLst>
              </a:prstTxWarp>
            </a:bodyPr>
            <a:lstStyle/>
            <a:p>
              <a:r>
                <a:rPr lang="en-US" sz="2000" kern="10" dirty="0">
                  <a:ln w="9525">
                    <a:solidFill>
                      <a:srgbClr val="000000"/>
                    </a:solidFill>
                    <a:round/>
                    <a:headEnd/>
                    <a:tailEnd/>
                  </a:ln>
                  <a:solidFill>
                    <a:schemeClr val="tx2"/>
                  </a:solidFill>
                  <a:latin typeface="Arial Black" panose="020B0A04020102020204" pitchFamily="34" charset="0"/>
                </a:rPr>
                <a:t>$</a:t>
              </a:r>
            </a:p>
          </p:txBody>
        </p:sp>
        <p:sp>
          <p:nvSpPr>
            <p:cNvPr id="26" name="Rectangle 29">
              <a:extLst>
                <a:ext uri="{FF2B5EF4-FFF2-40B4-BE49-F238E27FC236}">
                  <a16:creationId xmlns:a16="http://schemas.microsoft.com/office/drawing/2014/main" id="{FBE0EC60-07A4-E003-73E4-258C3701F1EC}"/>
                </a:ext>
              </a:extLst>
            </p:cNvPr>
            <p:cNvSpPr>
              <a:spLocks noChangeArrowheads="1"/>
            </p:cNvSpPr>
            <p:nvPr/>
          </p:nvSpPr>
          <p:spPr bwMode="auto">
            <a:xfrm>
              <a:off x="2992438" y="2486025"/>
              <a:ext cx="419100" cy="830263"/>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27" name="Rectangle 30">
              <a:extLst>
                <a:ext uri="{FF2B5EF4-FFF2-40B4-BE49-F238E27FC236}">
                  <a16:creationId xmlns:a16="http://schemas.microsoft.com/office/drawing/2014/main" id="{42CAA173-DDFE-356F-9BD2-7398308FE890}"/>
                </a:ext>
              </a:extLst>
            </p:cNvPr>
            <p:cNvSpPr>
              <a:spLocks noChangeArrowheads="1"/>
            </p:cNvSpPr>
            <p:nvPr/>
          </p:nvSpPr>
          <p:spPr bwMode="auto">
            <a:xfrm>
              <a:off x="3398838" y="1668463"/>
              <a:ext cx="6985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28" name="Rectangle 31">
              <a:extLst>
                <a:ext uri="{FF2B5EF4-FFF2-40B4-BE49-F238E27FC236}">
                  <a16:creationId xmlns:a16="http://schemas.microsoft.com/office/drawing/2014/main" id="{5D431288-5E97-D524-3D85-153679401D39}"/>
                </a:ext>
              </a:extLst>
            </p:cNvPr>
            <p:cNvSpPr>
              <a:spLocks noChangeArrowheads="1"/>
            </p:cNvSpPr>
            <p:nvPr/>
          </p:nvSpPr>
          <p:spPr bwMode="auto">
            <a:xfrm>
              <a:off x="3482975" y="2486025"/>
              <a:ext cx="628650" cy="830263"/>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29" name="Rectangle 32">
              <a:extLst>
                <a:ext uri="{FF2B5EF4-FFF2-40B4-BE49-F238E27FC236}">
                  <a16:creationId xmlns:a16="http://schemas.microsoft.com/office/drawing/2014/main" id="{A7DABF03-41A4-C403-0AC4-1FE7F220F59E}"/>
                </a:ext>
              </a:extLst>
            </p:cNvPr>
            <p:cNvSpPr>
              <a:spLocks noChangeArrowheads="1"/>
            </p:cNvSpPr>
            <p:nvPr/>
          </p:nvSpPr>
          <p:spPr bwMode="auto">
            <a:xfrm>
              <a:off x="4111625" y="1654175"/>
              <a:ext cx="6985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30" name="Rectangle 33">
              <a:extLst>
                <a:ext uri="{FF2B5EF4-FFF2-40B4-BE49-F238E27FC236}">
                  <a16:creationId xmlns:a16="http://schemas.microsoft.com/office/drawing/2014/main" id="{B43119F6-6430-1FAA-67E8-977E9ADAFFEB}"/>
                </a:ext>
              </a:extLst>
            </p:cNvPr>
            <p:cNvSpPr>
              <a:spLocks noChangeArrowheads="1"/>
            </p:cNvSpPr>
            <p:nvPr/>
          </p:nvSpPr>
          <p:spPr bwMode="auto">
            <a:xfrm>
              <a:off x="4208463" y="2487613"/>
              <a:ext cx="812800" cy="785812"/>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31" name="Rectangle 34">
              <a:extLst>
                <a:ext uri="{FF2B5EF4-FFF2-40B4-BE49-F238E27FC236}">
                  <a16:creationId xmlns:a16="http://schemas.microsoft.com/office/drawing/2014/main" id="{A56CA240-B4E8-373C-D1B0-6B3C5E13C7B4}"/>
                </a:ext>
              </a:extLst>
            </p:cNvPr>
            <p:cNvSpPr>
              <a:spLocks noChangeArrowheads="1"/>
            </p:cNvSpPr>
            <p:nvPr/>
          </p:nvSpPr>
          <p:spPr bwMode="auto">
            <a:xfrm>
              <a:off x="5006975" y="1668463"/>
              <a:ext cx="69850" cy="83185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32" name="Line 35">
              <a:extLst>
                <a:ext uri="{FF2B5EF4-FFF2-40B4-BE49-F238E27FC236}">
                  <a16:creationId xmlns:a16="http://schemas.microsoft.com/office/drawing/2014/main" id="{19A44568-E4B8-2B9A-A7E1-6E47E9767D2A}"/>
                </a:ext>
              </a:extLst>
            </p:cNvPr>
            <p:cNvSpPr>
              <a:spLocks noChangeShapeType="1"/>
            </p:cNvSpPr>
            <p:nvPr/>
          </p:nvSpPr>
          <p:spPr bwMode="auto">
            <a:xfrm>
              <a:off x="744538" y="2457450"/>
              <a:ext cx="0" cy="1352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3" name="Line 36">
              <a:extLst>
                <a:ext uri="{FF2B5EF4-FFF2-40B4-BE49-F238E27FC236}">
                  <a16:creationId xmlns:a16="http://schemas.microsoft.com/office/drawing/2014/main" id="{77E0F413-D60A-DD44-8B4A-1673C6AE36D5}"/>
                </a:ext>
              </a:extLst>
            </p:cNvPr>
            <p:cNvSpPr>
              <a:spLocks noChangeShapeType="1"/>
            </p:cNvSpPr>
            <p:nvPr/>
          </p:nvSpPr>
          <p:spPr bwMode="auto">
            <a:xfrm flipH="1">
              <a:off x="561975" y="2244725"/>
              <a:ext cx="128588" cy="14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 name="Line 37">
              <a:extLst>
                <a:ext uri="{FF2B5EF4-FFF2-40B4-BE49-F238E27FC236}">
                  <a16:creationId xmlns:a16="http://schemas.microsoft.com/office/drawing/2014/main" id="{A5F8F687-4842-99CB-5062-6E8A93522D66}"/>
                </a:ext>
              </a:extLst>
            </p:cNvPr>
            <p:cNvSpPr>
              <a:spLocks noChangeShapeType="1"/>
            </p:cNvSpPr>
            <p:nvPr/>
          </p:nvSpPr>
          <p:spPr bwMode="auto">
            <a:xfrm>
              <a:off x="565150" y="2259013"/>
              <a:ext cx="0" cy="2155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 name="Line 38">
              <a:extLst>
                <a:ext uri="{FF2B5EF4-FFF2-40B4-BE49-F238E27FC236}">
                  <a16:creationId xmlns:a16="http://schemas.microsoft.com/office/drawing/2014/main" id="{333FEA47-D90F-C5F5-5D3A-51031C5F32DD}"/>
                </a:ext>
              </a:extLst>
            </p:cNvPr>
            <p:cNvSpPr>
              <a:spLocks noChangeShapeType="1"/>
            </p:cNvSpPr>
            <p:nvPr/>
          </p:nvSpPr>
          <p:spPr bwMode="auto">
            <a:xfrm>
              <a:off x="576263" y="4416425"/>
              <a:ext cx="323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cxnSp>
          <p:nvCxnSpPr>
            <p:cNvPr id="36" name="AutoShape 40">
              <a:extLst>
                <a:ext uri="{FF2B5EF4-FFF2-40B4-BE49-F238E27FC236}">
                  <a16:creationId xmlns:a16="http://schemas.microsoft.com/office/drawing/2014/main" id="{21FA105F-33CE-6937-1B36-29D270F02E24}"/>
                </a:ext>
              </a:extLst>
            </p:cNvPr>
            <p:cNvCxnSpPr>
              <a:cxnSpLocks noChangeShapeType="1"/>
            </p:cNvCxnSpPr>
            <p:nvPr/>
          </p:nvCxnSpPr>
          <p:spPr bwMode="auto">
            <a:xfrm rot="10800000">
              <a:off x="1004888" y="3300413"/>
              <a:ext cx="369887" cy="307975"/>
            </a:xfrm>
            <a:prstGeom prst="curvedConnector3">
              <a:avLst>
                <a:gd name="adj1" fmla="val 49787"/>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7" name="Text Box 41">
              <a:extLst>
                <a:ext uri="{FF2B5EF4-FFF2-40B4-BE49-F238E27FC236}">
                  <a16:creationId xmlns:a16="http://schemas.microsoft.com/office/drawing/2014/main" id="{4C8D12B8-A26F-301A-217E-346468334A48}"/>
                </a:ext>
              </a:extLst>
            </p:cNvPr>
            <p:cNvSpPr txBox="1">
              <a:spLocks noChangeArrowheads="1"/>
            </p:cNvSpPr>
            <p:nvPr/>
          </p:nvSpPr>
          <p:spPr bwMode="auto">
            <a:xfrm>
              <a:off x="1417638" y="3471863"/>
              <a:ext cx="631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dirty="0">
                  <a:latin typeface="Roboto" panose="02000000000000000000" pitchFamily="2" charset="0"/>
                  <a:ea typeface="Roboto" panose="02000000000000000000" pitchFamily="2" charset="0"/>
                </a:rPr>
                <a:t>Waste</a:t>
              </a:r>
            </a:p>
          </p:txBody>
        </p:sp>
        <p:cxnSp>
          <p:nvCxnSpPr>
            <p:cNvPr id="38" name="AutoShape 42">
              <a:extLst>
                <a:ext uri="{FF2B5EF4-FFF2-40B4-BE49-F238E27FC236}">
                  <a16:creationId xmlns:a16="http://schemas.microsoft.com/office/drawing/2014/main" id="{42B4C27A-6E21-6F5A-AF68-925AFEE27058}"/>
                </a:ext>
              </a:extLst>
            </p:cNvPr>
            <p:cNvCxnSpPr>
              <a:cxnSpLocks noChangeShapeType="1"/>
            </p:cNvCxnSpPr>
            <p:nvPr/>
          </p:nvCxnSpPr>
          <p:spPr bwMode="auto">
            <a:xfrm rot="16200000">
              <a:off x="1878806" y="3442494"/>
              <a:ext cx="307975" cy="26988"/>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9" name="Text Box 43">
              <a:extLst>
                <a:ext uri="{FF2B5EF4-FFF2-40B4-BE49-F238E27FC236}">
                  <a16:creationId xmlns:a16="http://schemas.microsoft.com/office/drawing/2014/main" id="{6B4518FC-1113-818A-B339-32C21B767A2D}"/>
                </a:ext>
              </a:extLst>
            </p:cNvPr>
            <p:cNvSpPr txBox="1">
              <a:spLocks noChangeArrowheads="1"/>
            </p:cNvSpPr>
            <p:nvPr/>
          </p:nvSpPr>
          <p:spPr bwMode="auto">
            <a:xfrm>
              <a:off x="2208213" y="3590925"/>
              <a:ext cx="1314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Lead Time</a:t>
              </a:r>
            </a:p>
          </p:txBody>
        </p:sp>
        <p:cxnSp>
          <p:nvCxnSpPr>
            <p:cNvPr id="40" name="AutoShape 45">
              <a:extLst>
                <a:ext uri="{FF2B5EF4-FFF2-40B4-BE49-F238E27FC236}">
                  <a16:creationId xmlns:a16="http://schemas.microsoft.com/office/drawing/2014/main" id="{94EE51FC-5110-889A-05A5-AE4E05C72390}"/>
                </a:ext>
              </a:extLst>
            </p:cNvPr>
            <p:cNvCxnSpPr>
              <a:cxnSpLocks noChangeShapeType="1"/>
            </p:cNvCxnSpPr>
            <p:nvPr/>
          </p:nvCxnSpPr>
          <p:spPr bwMode="auto">
            <a:xfrm rot="10800000">
              <a:off x="3594100" y="3271838"/>
              <a:ext cx="768350" cy="279400"/>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1" name="Text Box 46">
              <a:extLst>
                <a:ext uri="{FF2B5EF4-FFF2-40B4-BE49-F238E27FC236}">
                  <a16:creationId xmlns:a16="http://schemas.microsoft.com/office/drawing/2014/main" id="{576F7143-B365-2FC3-EB60-5C45FD907166}"/>
                </a:ext>
              </a:extLst>
            </p:cNvPr>
            <p:cNvSpPr txBox="1">
              <a:spLocks noChangeArrowheads="1"/>
            </p:cNvSpPr>
            <p:nvPr/>
          </p:nvSpPr>
          <p:spPr bwMode="auto">
            <a:xfrm>
              <a:off x="4319588" y="3443288"/>
              <a:ext cx="631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Waste</a:t>
              </a:r>
            </a:p>
          </p:txBody>
        </p:sp>
        <p:cxnSp>
          <p:nvCxnSpPr>
            <p:cNvPr id="42" name="AutoShape 47">
              <a:extLst>
                <a:ext uri="{FF2B5EF4-FFF2-40B4-BE49-F238E27FC236}">
                  <a16:creationId xmlns:a16="http://schemas.microsoft.com/office/drawing/2014/main" id="{8459F338-7DB9-8A79-D7C2-A22A0397C731}"/>
                </a:ext>
              </a:extLst>
            </p:cNvPr>
            <p:cNvCxnSpPr>
              <a:cxnSpLocks noChangeShapeType="1"/>
            </p:cNvCxnSpPr>
            <p:nvPr/>
          </p:nvCxnSpPr>
          <p:spPr bwMode="auto">
            <a:xfrm rot="16200000">
              <a:off x="4784725" y="3365500"/>
              <a:ext cx="279400" cy="152400"/>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3" name="WordArt 48">
              <a:extLst>
                <a:ext uri="{FF2B5EF4-FFF2-40B4-BE49-F238E27FC236}">
                  <a16:creationId xmlns:a16="http://schemas.microsoft.com/office/drawing/2014/main" id="{301CE87C-E2BE-C20A-A81F-B06B9F021F47}"/>
                </a:ext>
              </a:extLst>
            </p:cNvPr>
            <p:cNvSpPr>
              <a:spLocks noChangeArrowheads="1" noChangeShapeType="1" noTextEdit="1"/>
            </p:cNvSpPr>
            <p:nvPr/>
          </p:nvSpPr>
          <p:spPr bwMode="auto">
            <a:xfrm>
              <a:off x="3089275" y="2740025"/>
              <a:ext cx="209550" cy="276225"/>
            </a:xfrm>
            <a:prstGeom prst="rect">
              <a:avLst/>
            </a:prstGeom>
          </p:spPr>
          <p:txBody>
            <a:bodyPr wrap="none" fromWordArt="1">
              <a:prstTxWarp prst="textPlain">
                <a:avLst>
                  <a:gd name="adj" fmla="val 50000"/>
                </a:avLst>
              </a:prstTxWarp>
            </a:bodyPr>
            <a:lstStyle/>
            <a:p>
              <a:r>
                <a:rPr lang="en-US" sz="2000" kern="10">
                  <a:ln w="9525">
                    <a:solidFill>
                      <a:srgbClr val="000000"/>
                    </a:solidFill>
                    <a:round/>
                    <a:headEnd/>
                    <a:tailEnd/>
                  </a:ln>
                  <a:solidFill>
                    <a:schemeClr val="tx2"/>
                  </a:solidFill>
                  <a:latin typeface="Arial Black" panose="020B0A04020102020204" pitchFamily="34" charset="0"/>
                </a:rPr>
                <a:t>$</a:t>
              </a:r>
            </a:p>
          </p:txBody>
        </p:sp>
        <p:sp>
          <p:nvSpPr>
            <p:cNvPr id="44" name="WordArt 49">
              <a:extLst>
                <a:ext uri="{FF2B5EF4-FFF2-40B4-BE49-F238E27FC236}">
                  <a16:creationId xmlns:a16="http://schemas.microsoft.com/office/drawing/2014/main" id="{DA84552A-4958-A2AB-80E1-2032A21EB8B8}"/>
                </a:ext>
              </a:extLst>
            </p:cNvPr>
            <p:cNvSpPr>
              <a:spLocks noChangeArrowheads="1" noChangeShapeType="1" noTextEdit="1"/>
            </p:cNvSpPr>
            <p:nvPr/>
          </p:nvSpPr>
          <p:spPr bwMode="auto">
            <a:xfrm>
              <a:off x="3854450" y="2563813"/>
              <a:ext cx="209550" cy="277812"/>
            </a:xfrm>
            <a:prstGeom prst="rect">
              <a:avLst/>
            </a:prstGeom>
          </p:spPr>
          <p:txBody>
            <a:bodyPr wrap="none" fromWordArt="1">
              <a:prstTxWarp prst="textPlain">
                <a:avLst>
                  <a:gd name="adj" fmla="val 50000"/>
                </a:avLst>
              </a:prstTxWarp>
            </a:bodyPr>
            <a:lstStyle/>
            <a:p>
              <a:r>
                <a:rPr lang="en-US" sz="2000" kern="10">
                  <a:ln w="9525">
                    <a:solidFill>
                      <a:srgbClr val="000000"/>
                    </a:solidFill>
                    <a:round/>
                    <a:headEnd/>
                    <a:tailEnd/>
                  </a:ln>
                  <a:solidFill>
                    <a:schemeClr val="tx2"/>
                  </a:solidFill>
                  <a:latin typeface="Arial Black" panose="020B0A04020102020204" pitchFamily="34" charset="0"/>
                </a:rPr>
                <a:t>$</a:t>
              </a:r>
            </a:p>
          </p:txBody>
        </p:sp>
        <p:sp>
          <p:nvSpPr>
            <p:cNvPr id="45" name="WordArt 50">
              <a:extLst>
                <a:ext uri="{FF2B5EF4-FFF2-40B4-BE49-F238E27FC236}">
                  <a16:creationId xmlns:a16="http://schemas.microsoft.com/office/drawing/2014/main" id="{07D61F0E-4204-1F02-B8B5-7FE9A692A61D}"/>
                </a:ext>
              </a:extLst>
            </p:cNvPr>
            <p:cNvSpPr>
              <a:spLocks noChangeArrowheads="1" noChangeShapeType="1" noTextEdit="1"/>
            </p:cNvSpPr>
            <p:nvPr/>
          </p:nvSpPr>
          <p:spPr bwMode="auto">
            <a:xfrm>
              <a:off x="3549650" y="2955925"/>
              <a:ext cx="209550" cy="277813"/>
            </a:xfrm>
            <a:prstGeom prst="rect">
              <a:avLst/>
            </a:prstGeom>
          </p:spPr>
          <p:txBody>
            <a:bodyPr wrap="none" fromWordArt="1">
              <a:prstTxWarp prst="textPlain">
                <a:avLst>
                  <a:gd name="adj" fmla="val 50000"/>
                </a:avLst>
              </a:prstTxWarp>
            </a:bodyPr>
            <a:lstStyle/>
            <a:p>
              <a:r>
                <a:rPr lang="en-US" sz="2000" kern="10">
                  <a:ln w="9525">
                    <a:solidFill>
                      <a:srgbClr val="000000"/>
                    </a:solidFill>
                    <a:round/>
                    <a:headEnd/>
                    <a:tailEnd/>
                  </a:ln>
                  <a:solidFill>
                    <a:schemeClr val="tx2"/>
                  </a:solidFill>
                  <a:latin typeface="Arial Black" panose="020B0A04020102020204" pitchFamily="34" charset="0"/>
                </a:rPr>
                <a:t>$</a:t>
              </a:r>
            </a:p>
          </p:txBody>
        </p:sp>
        <p:sp>
          <p:nvSpPr>
            <p:cNvPr id="46" name="WordArt 51">
              <a:extLst>
                <a:ext uri="{FF2B5EF4-FFF2-40B4-BE49-F238E27FC236}">
                  <a16:creationId xmlns:a16="http://schemas.microsoft.com/office/drawing/2014/main" id="{AAFCD250-F2CC-9F72-1634-C11445478066}"/>
                </a:ext>
              </a:extLst>
            </p:cNvPr>
            <p:cNvSpPr>
              <a:spLocks noChangeArrowheads="1" noChangeShapeType="1" noTextEdit="1"/>
            </p:cNvSpPr>
            <p:nvPr/>
          </p:nvSpPr>
          <p:spPr bwMode="auto">
            <a:xfrm>
              <a:off x="4711700" y="2549525"/>
              <a:ext cx="209550" cy="277813"/>
            </a:xfrm>
            <a:prstGeom prst="rect">
              <a:avLst/>
            </a:prstGeom>
          </p:spPr>
          <p:txBody>
            <a:bodyPr wrap="none" fromWordArt="1">
              <a:prstTxWarp prst="textPlain">
                <a:avLst>
                  <a:gd name="adj" fmla="val 50000"/>
                </a:avLst>
              </a:prstTxWarp>
            </a:bodyPr>
            <a:lstStyle/>
            <a:p>
              <a:r>
                <a:rPr lang="en-US" sz="2000" kern="10">
                  <a:ln w="9525">
                    <a:solidFill>
                      <a:srgbClr val="000000"/>
                    </a:solidFill>
                    <a:round/>
                    <a:headEnd/>
                    <a:tailEnd/>
                  </a:ln>
                  <a:solidFill>
                    <a:schemeClr val="tx2"/>
                  </a:solidFill>
                  <a:latin typeface="Arial Black" panose="020B0A04020102020204" pitchFamily="34" charset="0"/>
                </a:rPr>
                <a:t>$</a:t>
              </a:r>
            </a:p>
          </p:txBody>
        </p:sp>
        <p:sp>
          <p:nvSpPr>
            <p:cNvPr id="47" name="WordArt 52">
              <a:extLst>
                <a:ext uri="{FF2B5EF4-FFF2-40B4-BE49-F238E27FC236}">
                  <a16:creationId xmlns:a16="http://schemas.microsoft.com/office/drawing/2014/main" id="{236CDEBA-E685-C4FB-F580-49B814FD17D0}"/>
                </a:ext>
              </a:extLst>
            </p:cNvPr>
            <p:cNvSpPr>
              <a:spLocks noChangeArrowheads="1" noChangeShapeType="1" noTextEdit="1"/>
            </p:cNvSpPr>
            <p:nvPr/>
          </p:nvSpPr>
          <p:spPr bwMode="auto">
            <a:xfrm>
              <a:off x="4289425" y="2940050"/>
              <a:ext cx="209550" cy="277813"/>
            </a:xfrm>
            <a:prstGeom prst="rect">
              <a:avLst/>
            </a:prstGeom>
          </p:spPr>
          <p:txBody>
            <a:bodyPr wrap="none" fromWordArt="1">
              <a:prstTxWarp prst="textPlain">
                <a:avLst>
                  <a:gd name="adj" fmla="val 50000"/>
                </a:avLst>
              </a:prstTxWarp>
            </a:bodyPr>
            <a:lstStyle/>
            <a:p>
              <a:r>
                <a:rPr lang="en-US" sz="2000" kern="10">
                  <a:ln w="9525">
                    <a:solidFill>
                      <a:srgbClr val="000000"/>
                    </a:solidFill>
                    <a:round/>
                    <a:headEnd/>
                    <a:tailEnd/>
                  </a:ln>
                  <a:solidFill>
                    <a:schemeClr val="tx2"/>
                  </a:solidFill>
                  <a:latin typeface="Arial Black" panose="020B0A04020102020204" pitchFamily="34" charset="0"/>
                </a:rPr>
                <a:t>$</a:t>
              </a:r>
            </a:p>
          </p:txBody>
        </p:sp>
        <p:sp>
          <p:nvSpPr>
            <p:cNvPr id="48" name="Line 53">
              <a:extLst>
                <a:ext uri="{FF2B5EF4-FFF2-40B4-BE49-F238E27FC236}">
                  <a16:creationId xmlns:a16="http://schemas.microsoft.com/office/drawing/2014/main" id="{807202D2-CBFF-C61D-4AF4-688DC0F7103A}"/>
                </a:ext>
              </a:extLst>
            </p:cNvPr>
            <p:cNvSpPr>
              <a:spLocks noChangeShapeType="1"/>
            </p:cNvSpPr>
            <p:nvPr/>
          </p:nvSpPr>
          <p:spPr bwMode="auto">
            <a:xfrm flipH="1">
              <a:off x="744538" y="3813175"/>
              <a:ext cx="14684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9" name="Line 56">
              <a:extLst>
                <a:ext uri="{FF2B5EF4-FFF2-40B4-BE49-F238E27FC236}">
                  <a16:creationId xmlns:a16="http://schemas.microsoft.com/office/drawing/2014/main" id="{DD69ACC5-3945-83B0-3B1C-C73E164D85F7}"/>
                </a:ext>
              </a:extLst>
            </p:cNvPr>
            <p:cNvSpPr>
              <a:spLocks noChangeShapeType="1"/>
            </p:cNvSpPr>
            <p:nvPr/>
          </p:nvSpPr>
          <p:spPr bwMode="auto">
            <a:xfrm>
              <a:off x="3556000" y="3783013"/>
              <a:ext cx="15367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0" name="Line 57">
              <a:extLst>
                <a:ext uri="{FF2B5EF4-FFF2-40B4-BE49-F238E27FC236}">
                  <a16:creationId xmlns:a16="http://schemas.microsoft.com/office/drawing/2014/main" id="{0E779F9D-FEF6-BBFE-BC17-44D0F53BFB02}"/>
                </a:ext>
              </a:extLst>
            </p:cNvPr>
            <p:cNvSpPr>
              <a:spLocks noChangeShapeType="1"/>
            </p:cNvSpPr>
            <p:nvPr/>
          </p:nvSpPr>
          <p:spPr bwMode="auto">
            <a:xfrm>
              <a:off x="5092700" y="2486025"/>
              <a:ext cx="0" cy="1308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51" name="Group 58">
              <a:extLst>
                <a:ext uri="{FF2B5EF4-FFF2-40B4-BE49-F238E27FC236}">
                  <a16:creationId xmlns:a16="http://schemas.microsoft.com/office/drawing/2014/main" id="{EEEEE22D-C2E5-8A9C-3F6A-1206AB2714BB}"/>
                </a:ext>
              </a:extLst>
            </p:cNvPr>
            <p:cNvGrpSpPr>
              <a:grpSpLocks/>
            </p:cNvGrpSpPr>
            <p:nvPr/>
          </p:nvGrpSpPr>
          <p:grpSpPr bwMode="auto">
            <a:xfrm>
              <a:off x="1512888" y="3889375"/>
              <a:ext cx="1476375" cy="1846263"/>
              <a:chOff x="1248" y="2458"/>
              <a:chExt cx="1536" cy="1584"/>
            </a:xfrm>
          </p:grpSpPr>
          <p:sp>
            <p:nvSpPr>
              <p:cNvPr id="52" name="Rectangle 59">
                <a:extLst>
                  <a:ext uri="{FF2B5EF4-FFF2-40B4-BE49-F238E27FC236}">
                    <a16:creationId xmlns:a16="http://schemas.microsoft.com/office/drawing/2014/main" id="{BF36CA70-E238-AB42-91A3-69B5110A8D68}"/>
                  </a:ext>
                </a:extLst>
              </p:cNvPr>
              <p:cNvSpPr>
                <a:spLocks noChangeArrowheads="1"/>
              </p:cNvSpPr>
              <p:nvPr/>
            </p:nvSpPr>
            <p:spPr bwMode="auto">
              <a:xfrm>
                <a:off x="1536" y="2458"/>
                <a:ext cx="144"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53" name="Rectangle 60">
                <a:extLst>
                  <a:ext uri="{FF2B5EF4-FFF2-40B4-BE49-F238E27FC236}">
                    <a16:creationId xmlns:a16="http://schemas.microsoft.com/office/drawing/2014/main" id="{806CFF60-0678-3CD6-621E-0A030B67B931}"/>
                  </a:ext>
                </a:extLst>
              </p:cNvPr>
              <p:cNvSpPr>
                <a:spLocks noChangeArrowheads="1"/>
              </p:cNvSpPr>
              <p:nvPr/>
            </p:nvSpPr>
            <p:spPr bwMode="auto">
              <a:xfrm>
                <a:off x="1728" y="2458"/>
                <a:ext cx="48"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54" name="Rectangle 61">
                <a:extLst>
                  <a:ext uri="{FF2B5EF4-FFF2-40B4-BE49-F238E27FC236}">
                    <a16:creationId xmlns:a16="http://schemas.microsoft.com/office/drawing/2014/main" id="{7C97D364-8C07-D128-5A05-7461AD4334DB}"/>
                  </a:ext>
                </a:extLst>
              </p:cNvPr>
              <p:cNvSpPr>
                <a:spLocks noChangeArrowheads="1"/>
              </p:cNvSpPr>
              <p:nvPr/>
            </p:nvSpPr>
            <p:spPr bwMode="auto">
              <a:xfrm>
                <a:off x="1920" y="2458"/>
                <a:ext cx="96"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55" name="Rectangle 62">
                <a:extLst>
                  <a:ext uri="{FF2B5EF4-FFF2-40B4-BE49-F238E27FC236}">
                    <a16:creationId xmlns:a16="http://schemas.microsoft.com/office/drawing/2014/main" id="{E7B2A1CE-8185-1412-FC59-5E20307553F9}"/>
                  </a:ext>
                </a:extLst>
              </p:cNvPr>
              <p:cNvSpPr>
                <a:spLocks noChangeArrowheads="1"/>
              </p:cNvSpPr>
              <p:nvPr/>
            </p:nvSpPr>
            <p:spPr bwMode="auto">
              <a:xfrm>
                <a:off x="2160" y="2458"/>
                <a:ext cx="144"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56" name="Rectangle 63">
                <a:extLst>
                  <a:ext uri="{FF2B5EF4-FFF2-40B4-BE49-F238E27FC236}">
                    <a16:creationId xmlns:a16="http://schemas.microsoft.com/office/drawing/2014/main" id="{4F055DDF-0475-EFD4-FFD9-B219CA24BC4F}"/>
                  </a:ext>
                </a:extLst>
              </p:cNvPr>
              <p:cNvSpPr>
                <a:spLocks noChangeArrowheads="1"/>
              </p:cNvSpPr>
              <p:nvPr/>
            </p:nvSpPr>
            <p:spPr bwMode="auto">
              <a:xfrm>
                <a:off x="2496" y="2458"/>
                <a:ext cx="48"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57" name="Rectangle 64">
                <a:extLst>
                  <a:ext uri="{FF2B5EF4-FFF2-40B4-BE49-F238E27FC236}">
                    <a16:creationId xmlns:a16="http://schemas.microsoft.com/office/drawing/2014/main" id="{6EE21DA0-F02D-95AC-F08B-775AB28C65C3}"/>
                  </a:ext>
                </a:extLst>
              </p:cNvPr>
              <p:cNvSpPr>
                <a:spLocks noChangeArrowheads="1"/>
              </p:cNvSpPr>
              <p:nvPr/>
            </p:nvSpPr>
            <p:spPr bwMode="auto">
              <a:xfrm>
                <a:off x="2640" y="2458"/>
                <a:ext cx="48"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58" name="Rectangle 65">
                <a:extLst>
                  <a:ext uri="{FF2B5EF4-FFF2-40B4-BE49-F238E27FC236}">
                    <a16:creationId xmlns:a16="http://schemas.microsoft.com/office/drawing/2014/main" id="{67A2C117-9F05-D43F-101A-20CA9218FE8E}"/>
                  </a:ext>
                </a:extLst>
              </p:cNvPr>
              <p:cNvSpPr>
                <a:spLocks noChangeArrowheads="1"/>
              </p:cNvSpPr>
              <p:nvPr/>
            </p:nvSpPr>
            <p:spPr bwMode="auto">
              <a:xfrm flipH="1">
                <a:off x="2736" y="2458"/>
                <a:ext cx="48"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59" name="Rectangle 66">
                <a:extLst>
                  <a:ext uri="{FF2B5EF4-FFF2-40B4-BE49-F238E27FC236}">
                    <a16:creationId xmlns:a16="http://schemas.microsoft.com/office/drawing/2014/main" id="{273F6C9C-8380-35F8-FFF4-C8C3C31CF0EF}"/>
                  </a:ext>
                </a:extLst>
              </p:cNvPr>
              <p:cNvSpPr>
                <a:spLocks noChangeArrowheads="1"/>
              </p:cNvSpPr>
              <p:nvPr/>
            </p:nvSpPr>
            <p:spPr bwMode="auto">
              <a:xfrm>
                <a:off x="1680" y="3034"/>
                <a:ext cx="48" cy="576"/>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0" name="Rectangle 67">
                <a:extLst>
                  <a:ext uri="{FF2B5EF4-FFF2-40B4-BE49-F238E27FC236}">
                    <a16:creationId xmlns:a16="http://schemas.microsoft.com/office/drawing/2014/main" id="{8106ECB0-F37F-6744-633B-049C1C86C920}"/>
                  </a:ext>
                </a:extLst>
              </p:cNvPr>
              <p:cNvSpPr>
                <a:spLocks noChangeArrowheads="1"/>
              </p:cNvSpPr>
              <p:nvPr/>
            </p:nvSpPr>
            <p:spPr bwMode="auto">
              <a:xfrm>
                <a:off x="1776" y="3034"/>
                <a:ext cx="144" cy="576"/>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1" name="Rectangle 68">
                <a:extLst>
                  <a:ext uri="{FF2B5EF4-FFF2-40B4-BE49-F238E27FC236}">
                    <a16:creationId xmlns:a16="http://schemas.microsoft.com/office/drawing/2014/main" id="{26D7E4F8-DD3E-BCF6-DFD8-71D4FF424B33}"/>
                  </a:ext>
                </a:extLst>
              </p:cNvPr>
              <p:cNvSpPr>
                <a:spLocks noChangeArrowheads="1"/>
              </p:cNvSpPr>
              <p:nvPr/>
            </p:nvSpPr>
            <p:spPr bwMode="auto">
              <a:xfrm>
                <a:off x="1296" y="3034"/>
                <a:ext cx="240" cy="576"/>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2" name="Rectangle 69">
                <a:extLst>
                  <a:ext uri="{FF2B5EF4-FFF2-40B4-BE49-F238E27FC236}">
                    <a16:creationId xmlns:a16="http://schemas.microsoft.com/office/drawing/2014/main" id="{3F6DD9A6-E217-B226-0377-28386DE778DF}"/>
                  </a:ext>
                </a:extLst>
              </p:cNvPr>
              <p:cNvSpPr>
                <a:spLocks noChangeArrowheads="1"/>
              </p:cNvSpPr>
              <p:nvPr/>
            </p:nvSpPr>
            <p:spPr bwMode="auto">
              <a:xfrm>
                <a:off x="2016" y="3034"/>
                <a:ext cx="144" cy="576"/>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3" name="Rectangle 70">
                <a:extLst>
                  <a:ext uri="{FF2B5EF4-FFF2-40B4-BE49-F238E27FC236}">
                    <a16:creationId xmlns:a16="http://schemas.microsoft.com/office/drawing/2014/main" id="{82195926-DA43-E43B-260B-269335E87A15}"/>
                  </a:ext>
                </a:extLst>
              </p:cNvPr>
              <p:cNvSpPr>
                <a:spLocks noChangeArrowheads="1"/>
              </p:cNvSpPr>
              <p:nvPr/>
            </p:nvSpPr>
            <p:spPr bwMode="auto">
              <a:xfrm>
                <a:off x="2304" y="3034"/>
                <a:ext cx="192" cy="576"/>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4" name="Rectangle 71">
                <a:extLst>
                  <a:ext uri="{FF2B5EF4-FFF2-40B4-BE49-F238E27FC236}">
                    <a16:creationId xmlns:a16="http://schemas.microsoft.com/office/drawing/2014/main" id="{2836C005-AE50-4CF9-C218-68448024CE8D}"/>
                  </a:ext>
                </a:extLst>
              </p:cNvPr>
              <p:cNvSpPr>
                <a:spLocks noChangeArrowheads="1"/>
              </p:cNvSpPr>
              <p:nvPr/>
            </p:nvSpPr>
            <p:spPr bwMode="auto">
              <a:xfrm>
                <a:off x="2544" y="3034"/>
                <a:ext cx="96" cy="576"/>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5" name="Rectangle 72">
                <a:extLst>
                  <a:ext uri="{FF2B5EF4-FFF2-40B4-BE49-F238E27FC236}">
                    <a16:creationId xmlns:a16="http://schemas.microsoft.com/office/drawing/2014/main" id="{F39F8EAF-3D48-5361-16D9-1F4707EBEE96}"/>
                  </a:ext>
                </a:extLst>
              </p:cNvPr>
              <p:cNvSpPr>
                <a:spLocks noChangeArrowheads="1"/>
              </p:cNvSpPr>
              <p:nvPr/>
            </p:nvSpPr>
            <p:spPr bwMode="auto">
              <a:xfrm>
                <a:off x="2688" y="3034"/>
                <a:ext cx="48" cy="576"/>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6" name="Rectangle 73">
                <a:extLst>
                  <a:ext uri="{FF2B5EF4-FFF2-40B4-BE49-F238E27FC236}">
                    <a16:creationId xmlns:a16="http://schemas.microsoft.com/office/drawing/2014/main" id="{39414CB5-1959-1E10-3C1A-D4A3C3983B78}"/>
                  </a:ext>
                </a:extLst>
              </p:cNvPr>
              <p:cNvSpPr>
                <a:spLocks noChangeArrowheads="1"/>
              </p:cNvSpPr>
              <p:nvPr/>
            </p:nvSpPr>
            <p:spPr bwMode="auto">
              <a:xfrm>
                <a:off x="1248" y="2458"/>
                <a:ext cx="48" cy="576"/>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latin typeface="Roboto" panose="02000000000000000000" pitchFamily="2" charset="0"/>
                  <a:ea typeface="Roboto" panose="02000000000000000000" pitchFamily="2" charset="0"/>
                </a:endParaRPr>
              </a:p>
            </p:txBody>
          </p:sp>
          <p:sp>
            <p:nvSpPr>
              <p:cNvPr id="67" name="Line 74">
                <a:extLst>
                  <a:ext uri="{FF2B5EF4-FFF2-40B4-BE49-F238E27FC236}">
                    <a16:creationId xmlns:a16="http://schemas.microsoft.com/office/drawing/2014/main" id="{1D878651-52E9-F693-E1B7-14F548E86AA2}"/>
                  </a:ext>
                </a:extLst>
              </p:cNvPr>
              <p:cNvSpPr>
                <a:spLocks noChangeShapeType="1"/>
              </p:cNvSpPr>
              <p:nvPr/>
            </p:nvSpPr>
            <p:spPr bwMode="auto">
              <a:xfrm>
                <a:off x="1248" y="3034"/>
                <a:ext cx="0" cy="10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8" name="Line 75">
                <a:extLst>
                  <a:ext uri="{FF2B5EF4-FFF2-40B4-BE49-F238E27FC236}">
                    <a16:creationId xmlns:a16="http://schemas.microsoft.com/office/drawing/2014/main" id="{53486373-9A1C-DECA-DAB7-536D1F8F10C5}"/>
                  </a:ext>
                </a:extLst>
              </p:cNvPr>
              <p:cNvSpPr>
                <a:spLocks noChangeShapeType="1"/>
              </p:cNvSpPr>
              <p:nvPr/>
            </p:nvSpPr>
            <p:spPr bwMode="auto">
              <a:xfrm>
                <a:off x="2784" y="3034"/>
                <a:ext cx="0" cy="10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9" name="Line 76">
                <a:extLst>
                  <a:ext uri="{FF2B5EF4-FFF2-40B4-BE49-F238E27FC236}">
                    <a16:creationId xmlns:a16="http://schemas.microsoft.com/office/drawing/2014/main" id="{98BC2A37-5159-0D03-3304-3314C8C9AF20}"/>
                  </a:ext>
                </a:extLst>
              </p:cNvPr>
              <p:cNvSpPr>
                <a:spLocks noChangeShapeType="1"/>
              </p:cNvSpPr>
              <p:nvPr/>
            </p:nvSpPr>
            <p:spPr bwMode="auto">
              <a:xfrm flipH="1">
                <a:off x="1248" y="3994"/>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70" name="Line 77">
                <a:extLst>
                  <a:ext uri="{FF2B5EF4-FFF2-40B4-BE49-F238E27FC236}">
                    <a16:creationId xmlns:a16="http://schemas.microsoft.com/office/drawing/2014/main" id="{5D1A9667-76B2-DD89-7078-31D7B4B85EAA}"/>
                  </a:ext>
                </a:extLst>
              </p:cNvPr>
              <p:cNvSpPr>
                <a:spLocks noChangeShapeType="1"/>
              </p:cNvSpPr>
              <p:nvPr/>
            </p:nvSpPr>
            <p:spPr bwMode="auto">
              <a:xfrm>
                <a:off x="2592" y="3994"/>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71" name="Text Box 78">
              <a:extLst>
                <a:ext uri="{FF2B5EF4-FFF2-40B4-BE49-F238E27FC236}">
                  <a16:creationId xmlns:a16="http://schemas.microsoft.com/office/drawing/2014/main" id="{37EEBAE3-0A73-090A-405F-EBE84BC71497}"/>
                </a:ext>
              </a:extLst>
            </p:cNvPr>
            <p:cNvSpPr txBox="1">
              <a:spLocks noChangeArrowheads="1"/>
            </p:cNvSpPr>
            <p:nvPr/>
          </p:nvSpPr>
          <p:spPr bwMode="auto">
            <a:xfrm>
              <a:off x="1844675" y="5284788"/>
              <a:ext cx="90922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2400" b="0">
                  <a:latin typeface="Roboto" panose="02000000000000000000" pitchFamily="2" charset="0"/>
                  <a:ea typeface="Roboto" panose="02000000000000000000" pitchFamily="2" charset="0"/>
                </a:rPr>
                <a:t>  </a:t>
              </a:r>
              <a:r>
                <a:rPr lang="en-US" altLang="en-US" sz="1200">
                  <a:latin typeface="Roboto" panose="02000000000000000000" pitchFamily="2" charset="0"/>
                  <a:ea typeface="Roboto" panose="02000000000000000000" pitchFamily="2" charset="0"/>
                </a:rPr>
                <a:t>New </a:t>
              </a:r>
            </a:p>
            <a:p>
              <a:pPr eaLnBrk="1" hangingPunct="1">
                <a:lnSpc>
                  <a:spcPct val="100000"/>
                </a:lnSpc>
                <a:spcBef>
                  <a:spcPct val="0"/>
                </a:spcBef>
                <a:spcAft>
                  <a:spcPct val="0"/>
                </a:spcAft>
                <a:buClrTx/>
                <a:buSzTx/>
                <a:buFontTx/>
                <a:buNone/>
              </a:pPr>
              <a:r>
                <a:rPr lang="en-US" altLang="en-US" sz="1200">
                  <a:latin typeface="Roboto" panose="02000000000000000000" pitchFamily="2" charset="0"/>
                  <a:ea typeface="Roboto" panose="02000000000000000000" pitchFamily="2" charset="0"/>
                </a:rPr>
                <a:t>Lead Time</a:t>
              </a:r>
            </a:p>
          </p:txBody>
        </p:sp>
      </p:grpSp>
    </p:spTree>
    <p:extLst>
      <p:ext uri="{BB962C8B-B14F-4D97-AF65-F5344CB8AC3E}">
        <p14:creationId xmlns:p14="http://schemas.microsoft.com/office/powerpoint/2010/main" val="3573610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Standard Work Charter Review</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the Standard Work Charter for the event against charter criteria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the event charter and answer the following questions: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business need for this event?</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owner?</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goals for this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Make any modifications</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to charter as necessary. </a:t>
            </a:r>
          </a:p>
        </p:txBody>
      </p:sp>
    </p:spTree>
    <p:extLst>
      <p:ext uri="{BB962C8B-B14F-4D97-AF65-F5344CB8AC3E}">
        <p14:creationId xmlns:p14="http://schemas.microsoft.com/office/powerpoint/2010/main" val="4294534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TAKT Time vs. Cycle Time</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“takt time” and identify origins</a:t>
            </a:r>
          </a:p>
          <a:p>
            <a:r>
              <a:rPr lang="en-US" dirty="0"/>
              <a:t>Calculate takt time</a:t>
            </a:r>
          </a:p>
          <a:p>
            <a:r>
              <a:rPr lang="en-US" dirty="0"/>
              <a:t>Differentiate cycle time from takt time</a:t>
            </a:r>
          </a:p>
          <a:p>
            <a:r>
              <a:rPr lang="en-US" dirty="0"/>
              <a:t>Identify types of cycle time</a:t>
            </a:r>
          </a:p>
          <a:p>
            <a:r>
              <a:rPr lang="en-US" dirty="0"/>
              <a:t>Calculate number of operators</a:t>
            </a:r>
          </a:p>
          <a:p>
            <a:r>
              <a:rPr lang="en-US" dirty="0"/>
              <a:t>Calculate cycle time</a:t>
            </a:r>
          </a:p>
          <a:p>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C87A7FF0-98F8-9B45-43F5-1EE0B5702A07}"/>
              </a:ext>
            </a:extLst>
          </p:cNvPr>
          <p:cNvGrpSpPr/>
          <p:nvPr/>
        </p:nvGrpSpPr>
        <p:grpSpPr>
          <a:xfrm>
            <a:off x="699911" y="837132"/>
            <a:ext cx="5850075" cy="659880"/>
            <a:chOff x="699911" y="837132"/>
            <a:chExt cx="5850075" cy="659880"/>
          </a:xfrm>
        </p:grpSpPr>
        <p:sp>
          <p:nvSpPr>
            <p:cNvPr id="4" name="AutoShape 9">
              <a:extLst>
                <a:ext uri="{FF2B5EF4-FFF2-40B4-BE49-F238E27FC236}">
                  <a16:creationId xmlns:a16="http://schemas.microsoft.com/office/drawing/2014/main" id="{717DD1F3-5C6B-CA24-C474-C85FEE3DF5E7}"/>
                </a:ext>
              </a:extLst>
            </p:cNvPr>
            <p:cNvSpPr>
              <a:spLocks noChangeArrowheads="1"/>
            </p:cNvSpPr>
            <p:nvPr/>
          </p:nvSpPr>
          <p:spPr bwMode="auto">
            <a:xfrm>
              <a:off x="4971710" y="837132"/>
              <a:ext cx="1578276" cy="659879"/>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Documentation</a:t>
              </a:r>
            </a:p>
          </p:txBody>
        </p:sp>
        <p:grpSp>
          <p:nvGrpSpPr>
            <p:cNvPr id="13" name="Group 12">
              <a:extLst>
                <a:ext uri="{FF2B5EF4-FFF2-40B4-BE49-F238E27FC236}">
                  <a16:creationId xmlns:a16="http://schemas.microsoft.com/office/drawing/2014/main" id="{DADE2756-B973-0064-D4DD-52D3744FBA6B}"/>
                </a:ext>
              </a:extLst>
            </p:cNvPr>
            <p:cNvGrpSpPr/>
            <p:nvPr/>
          </p:nvGrpSpPr>
          <p:grpSpPr>
            <a:xfrm>
              <a:off x="699911" y="837133"/>
              <a:ext cx="4425950" cy="659879"/>
              <a:chOff x="5627530" y="641179"/>
              <a:chExt cx="6564470" cy="804977"/>
            </a:xfrm>
          </p:grpSpPr>
          <p:sp>
            <p:nvSpPr>
              <p:cNvPr id="14" name="AutoShape 9">
                <a:extLst>
                  <a:ext uri="{FF2B5EF4-FFF2-40B4-BE49-F238E27FC236}">
                    <a16:creationId xmlns:a16="http://schemas.microsoft.com/office/drawing/2014/main" id="{FF83B6EB-BAFE-C193-44C8-50C54ED609A3}"/>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Standard WIP</a:t>
                </a:r>
              </a:p>
            </p:txBody>
          </p:sp>
          <p:sp>
            <p:nvSpPr>
              <p:cNvPr id="15" name="AutoShape 10">
                <a:extLst>
                  <a:ext uri="{FF2B5EF4-FFF2-40B4-BE49-F238E27FC236}">
                    <a16:creationId xmlns:a16="http://schemas.microsoft.com/office/drawing/2014/main" id="{386767CB-AD12-A8CE-F49D-60EB435EC2D3}"/>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Work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Sequence</a:t>
                </a:r>
              </a:p>
            </p:txBody>
          </p:sp>
          <p:sp>
            <p:nvSpPr>
              <p:cNvPr id="16" name="AutoShape 11">
                <a:extLst>
                  <a:ext uri="{FF2B5EF4-FFF2-40B4-BE49-F238E27FC236}">
                    <a16:creationId xmlns:a16="http://schemas.microsoft.com/office/drawing/2014/main" id="{C2EFD1F9-72F5-1220-34C5-1283C9247686}"/>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Takt Time vs.</a:t>
                </a:r>
                <a:br>
                  <a:rPr lang="en-US" altLang="en-US" sz="1200" dirty="0">
                    <a:latin typeface="Roboto" panose="02000000000000000000" pitchFamily="2" charset="0"/>
                    <a:ea typeface="Roboto" panose="02000000000000000000" pitchFamily="2" charset="0"/>
                    <a:cs typeface="Roboto" panose="02000000000000000000" pitchFamily="2" charset="0"/>
                  </a:rPr>
                </a:br>
                <a:r>
                  <a:rPr lang="en-US" altLang="en-US" sz="1200" dirty="0">
                    <a:latin typeface="Roboto" panose="02000000000000000000" pitchFamily="2" charset="0"/>
                    <a:ea typeface="Roboto" panose="02000000000000000000" pitchFamily="2" charset="0"/>
                    <a:cs typeface="Roboto" panose="02000000000000000000" pitchFamily="2" charset="0"/>
                  </a:rPr>
                  <a:t>Cycle Time</a:t>
                </a:r>
              </a:p>
            </p:txBody>
          </p:sp>
        </p:grpSp>
      </p:grpSp>
    </p:spTree>
    <p:extLst>
      <p:ext uri="{BB962C8B-B14F-4D97-AF65-F5344CB8AC3E}">
        <p14:creationId xmlns:p14="http://schemas.microsoft.com/office/powerpoint/2010/main" val="1163401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Origin of Takt Time</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838200" y="1769915"/>
            <a:ext cx="5183188" cy="823912"/>
          </a:xfrm>
        </p:spPr>
        <p:txBody>
          <a:bodyPr>
            <a:normAutofit/>
          </a:bodyPr>
          <a:lstStyle/>
          <a:p>
            <a:r>
              <a:rPr lang="en-US" dirty="0"/>
              <a:t>Takt Time</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531016" y="2181871"/>
            <a:ext cx="5183188" cy="3684588"/>
          </a:xfrm>
        </p:spPr>
        <p:txBody>
          <a:bodyPr>
            <a:normAutofit fontScale="85000" lnSpcReduction="20000"/>
          </a:bodyPr>
          <a:lstStyle/>
          <a:p>
            <a:r>
              <a:rPr lang="en-US" dirty="0"/>
              <a:t>Term first introduced in German industry as it embraced mass production in the 1930’s</a:t>
            </a:r>
          </a:p>
          <a:p>
            <a:r>
              <a:rPr lang="en-US" dirty="0"/>
              <a:t>Meaning a “precision interval of time”, as in musical meter</a:t>
            </a:r>
          </a:p>
          <a:p>
            <a:r>
              <a:rPr lang="en-US" dirty="0"/>
              <a:t>German aircraft firms moved fuselages ahead to workstations at intervals determined by TAKT time*</a:t>
            </a:r>
          </a:p>
          <a:p>
            <a:r>
              <a:rPr lang="en-US" dirty="0"/>
              <a:t>Has emerged in the English language in the last decade as lean thinking has spread</a:t>
            </a:r>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sp>
        <p:nvSpPr>
          <p:cNvPr id="10" name="AutoShape 4">
            <a:extLst>
              <a:ext uri="{FF2B5EF4-FFF2-40B4-BE49-F238E27FC236}">
                <a16:creationId xmlns:a16="http://schemas.microsoft.com/office/drawing/2014/main" id="{B4A873BF-8708-C6AE-A2C9-7B745CE1A065}"/>
              </a:ext>
            </a:extLst>
          </p:cNvPr>
          <p:cNvSpPr>
            <a:spLocks noChangeArrowheads="1"/>
          </p:cNvSpPr>
          <p:nvPr/>
        </p:nvSpPr>
        <p:spPr bwMode="auto">
          <a:xfrm>
            <a:off x="5728303" y="2528465"/>
            <a:ext cx="285750" cy="2493962"/>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grpSp>
        <p:nvGrpSpPr>
          <p:cNvPr id="3" name="Group 2">
            <a:extLst>
              <a:ext uri="{FF2B5EF4-FFF2-40B4-BE49-F238E27FC236}">
                <a16:creationId xmlns:a16="http://schemas.microsoft.com/office/drawing/2014/main" id="{7F73BD49-C7C2-30B0-C6DB-E4A84362E7FC}"/>
              </a:ext>
            </a:extLst>
          </p:cNvPr>
          <p:cNvGrpSpPr/>
          <p:nvPr/>
        </p:nvGrpSpPr>
        <p:grpSpPr>
          <a:xfrm>
            <a:off x="838200" y="297639"/>
            <a:ext cx="4220210" cy="301303"/>
            <a:chOff x="838200" y="297639"/>
            <a:chExt cx="4220210" cy="301303"/>
          </a:xfrm>
        </p:grpSpPr>
        <p:sp>
          <p:nvSpPr>
            <p:cNvPr id="4" name="AutoShape 9">
              <a:extLst>
                <a:ext uri="{FF2B5EF4-FFF2-40B4-BE49-F238E27FC236}">
                  <a16:creationId xmlns:a16="http://schemas.microsoft.com/office/drawing/2014/main" id="{8320119E-92C1-826A-855D-D0D0123EA3D0}"/>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04665EBD-CE25-125F-ECEF-7FE29A68F024}"/>
                </a:ext>
              </a:extLst>
            </p:cNvPr>
            <p:cNvGrpSpPr/>
            <p:nvPr/>
          </p:nvGrpSpPr>
          <p:grpSpPr>
            <a:xfrm>
              <a:off x="838200" y="297639"/>
              <a:ext cx="4220210" cy="301303"/>
              <a:chOff x="838200" y="297639"/>
              <a:chExt cx="4220210" cy="301303"/>
            </a:xfrm>
          </p:grpSpPr>
          <p:grpSp>
            <p:nvGrpSpPr>
              <p:cNvPr id="9" name="Group 8">
                <a:extLst>
                  <a:ext uri="{FF2B5EF4-FFF2-40B4-BE49-F238E27FC236}">
                    <a16:creationId xmlns:a16="http://schemas.microsoft.com/office/drawing/2014/main" id="{A167AE2E-68EE-39AC-73E0-C9B2F31D6C09}"/>
                  </a:ext>
                </a:extLst>
              </p:cNvPr>
              <p:cNvGrpSpPr/>
              <p:nvPr/>
            </p:nvGrpSpPr>
            <p:grpSpPr>
              <a:xfrm>
                <a:off x="838200" y="297639"/>
                <a:ext cx="1060167" cy="290657"/>
                <a:chOff x="826426" y="4041857"/>
                <a:chExt cx="1060167" cy="290657"/>
              </a:xfrm>
            </p:grpSpPr>
            <p:sp>
              <p:nvSpPr>
                <p:cNvPr id="73" name="AutoShape 9">
                  <a:extLst>
                    <a:ext uri="{FF2B5EF4-FFF2-40B4-BE49-F238E27FC236}">
                      <a16:creationId xmlns:a16="http://schemas.microsoft.com/office/drawing/2014/main" id="{036048DD-8DC1-1A0E-E18C-D02A7268802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4" name="AutoShape 11">
                  <a:extLst>
                    <a:ext uri="{FF2B5EF4-FFF2-40B4-BE49-F238E27FC236}">
                      <a16:creationId xmlns:a16="http://schemas.microsoft.com/office/drawing/2014/main" id="{E438935C-2120-A63B-3ABF-0DC2E5D2E10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5" name="AutoShape 10">
                  <a:extLst>
                    <a:ext uri="{FF2B5EF4-FFF2-40B4-BE49-F238E27FC236}">
                      <a16:creationId xmlns:a16="http://schemas.microsoft.com/office/drawing/2014/main" id="{BFC36A99-ACEC-3200-8079-C0E65BF590CC}"/>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1" name="TextBox 10">
                <a:extLst>
                  <a:ext uri="{FF2B5EF4-FFF2-40B4-BE49-F238E27FC236}">
                    <a16:creationId xmlns:a16="http://schemas.microsoft.com/office/drawing/2014/main" id="{C0508D28-5452-39E6-2E3D-78131EB41070}"/>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Cycle Time</a:t>
                </a:r>
              </a:p>
            </p:txBody>
          </p:sp>
        </p:grpSp>
      </p:grpSp>
      <p:pic>
        <p:nvPicPr>
          <p:cNvPr id="12" name="Picture 8" descr="bigstockphoto_Silhouette_Of_Conductor_1074337">
            <a:extLst>
              <a:ext uri="{FF2B5EF4-FFF2-40B4-BE49-F238E27FC236}">
                <a16:creationId xmlns:a16="http://schemas.microsoft.com/office/drawing/2014/main" id="{F514AA92-3A37-1CFB-FFA8-921FE20058AE}"/>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9890" b="94368" l="9982" r="89927">
                        <a14:foregroundMark x1="27015" y1="94368" x2="27015" y2="94368"/>
                        <a14:foregroundMark x1="67766" y1="51236" x2="67766" y2="51236"/>
                        <a14:foregroundMark x1="68315" y1="47665" x2="68315" y2="47665"/>
                        <a14:foregroundMark x1="70513" y1="47253" x2="70513" y2="47253"/>
                        <a14:foregroundMark x1="67399" y1="51374" x2="63736" y2="57005"/>
                        <a14:foregroundMark x1="59890" y1="66346" x2="56410" y2="69505"/>
                      </a14:backgroundRemoval>
                    </a14:imgEffect>
                  </a14:imgLayer>
                </a14:imgProps>
              </a:ext>
              <a:ext uri="{28A0092B-C50C-407E-A947-70E740481C1C}">
                <a14:useLocalDpi xmlns:a14="http://schemas.microsoft.com/office/drawing/2010/main" val="0"/>
              </a:ext>
            </a:extLst>
          </a:blip>
          <a:srcRect/>
          <a:stretch>
            <a:fillRect/>
          </a:stretch>
        </p:blipFill>
        <p:spPr bwMode="auto">
          <a:xfrm>
            <a:off x="782618" y="2263353"/>
            <a:ext cx="4537075" cy="302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9">
            <a:extLst>
              <a:ext uri="{FF2B5EF4-FFF2-40B4-BE49-F238E27FC236}">
                <a16:creationId xmlns:a16="http://schemas.microsoft.com/office/drawing/2014/main" id="{934BD594-CC58-C575-18F0-C108B1F6653E}"/>
              </a:ext>
            </a:extLst>
          </p:cNvPr>
          <p:cNvSpPr txBox="1">
            <a:spLocks noChangeArrowheads="1"/>
          </p:cNvSpPr>
          <p:nvPr/>
        </p:nvSpPr>
        <p:spPr bwMode="auto">
          <a:xfrm>
            <a:off x="363538" y="5873750"/>
            <a:ext cx="3400290" cy="20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900" dirty="0">
                <a:latin typeface="Roboto" panose="02000000000000000000" pitchFamily="2" charset="0"/>
                <a:ea typeface="Roboto" panose="02000000000000000000" pitchFamily="2" charset="0"/>
              </a:rPr>
              <a:t>From </a:t>
            </a:r>
            <a:r>
              <a:rPr lang="en-US" altLang="en-US" sz="900" i="1" dirty="0">
                <a:latin typeface="Roboto" panose="02000000000000000000" pitchFamily="2" charset="0"/>
                <a:ea typeface="Roboto" panose="02000000000000000000" pitchFamily="2" charset="0"/>
              </a:rPr>
              <a:t>Lean Thinking</a:t>
            </a:r>
            <a:r>
              <a:rPr lang="en-US" altLang="en-US" sz="900" dirty="0">
                <a:latin typeface="Roboto" panose="02000000000000000000" pitchFamily="2" charset="0"/>
                <a:ea typeface="Roboto" panose="02000000000000000000" pitchFamily="2" charset="0"/>
              </a:rPr>
              <a:t> by James P. Womack and Daniel T. Jones</a:t>
            </a:r>
          </a:p>
        </p:txBody>
      </p:sp>
    </p:spTree>
    <p:extLst>
      <p:ext uri="{BB962C8B-B14F-4D97-AF65-F5344CB8AC3E}">
        <p14:creationId xmlns:p14="http://schemas.microsoft.com/office/powerpoint/2010/main" val="392741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TAKT Time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15</a:t>
            </a:fld>
            <a:endParaRPr lang="en-US"/>
          </a:p>
        </p:txBody>
      </p:sp>
      <p:grpSp>
        <p:nvGrpSpPr>
          <p:cNvPr id="16" name="Group 15">
            <a:extLst>
              <a:ext uri="{FF2B5EF4-FFF2-40B4-BE49-F238E27FC236}">
                <a16:creationId xmlns:a16="http://schemas.microsoft.com/office/drawing/2014/main" id="{E459EE76-BE5E-9E41-5B74-5766BBE9B3C6}"/>
              </a:ext>
            </a:extLst>
          </p:cNvPr>
          <p:cNvGrpSpPr/>
          <p:nvPr/>
        </p:nvGrpSpPr>
        <p:grpSpPr>
          <a:xfrm>
            <a:off x="1323340" y="2085975"/>
            <a:ext cx="9545320" cy="3908425"/>
            <a:chOff x="838200" y="2085975"/>
            <a:chExt cx="8213725" cy="3249613"/>
          </a:xfrm>
        </p:grpSpPr>
        <p:grpSp>
          <p:nvGrpSpPr>
            <p:cNvPr id="3" name="Group 3">
              <a:extLst>
                <a:ext uri="{FF2B5EF4-FFF2-40B4-BE49-F238E27FC236}">
                  <a16:creationId xmlns:a16="http://schemas.microsoft.com/office/drawing/2014/main" id="{F33CC1EF-93A5-10D7-58AA-6EA2E0EBB045}"/>
                </a:ext>
              </a:extLst>
            </p:cNvPr>
            <p:cNvGrpSpPr>
              <a:grpSpLocks/>
            </p:cNvGrpSpPr>
            <p:nvPr/>
          </p:nvGrpSpPr>
          <p:grpSpPr bwMode="auto">
            <a:xfrm>
              <a:off x="862012" y="2235200"/>
              <a:ext cx="8189913" cy="466725"/>
              <a:chOff x="562" y="1785"/>
              <a:chExt cx="4831" cy="294"/>
            </a:xfrm>
          </p:grpSpPr>
          <p:sp>
            <p:nvSpPr>
              <p:cNvPr id="5" name="AutoShape 4">
                <a:extLst>
                  <a:ext uri="{FF2B5EF4-FFF2-40B4-BE49-F238E27FC236}">
                    <a16:creationId xmlns:a16="http://schemas.microsoft.com/office/drawing/2014/main" id="{5D84D664-07C7-B409-9B2E-0F484CFD6B9C}"/>
                  </a:ext>
                </a:extLst>
              </p:cNvPr>
              <p:cNvSpPr>
                <a:spLocks noChangeArrowheads="1"/>
              </p:cNvSpPr>
              <p:nvPr/>
            </p:nvSpPr>
            <p:spPr bwMode="auto">
              <a:xfrm>
                <a:off x="3660" y="1785"/>
                <a:ext cx="1733" cy="294"/>
              </a:xfrm>
              <a:prstGeom prst="homePlate">
                <a:avLst>
                  <a:gd name="adj" fmla="val 48603"/>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Origin</a:t>
                </a:r>
              </a:p>
            </p:txBody>
          </p:sp>
          <p:sp>
            <p:nvSpPr>
              <p:cNvPr id="6" name="AutoShape 5">
                <a:extLst>
                  <a:ext uri="{FF2B5EF4-FFF2-40B4-BE49-F238E27FC236}">
                    <a16:creationId xmlns:a16="http://schemas.microsoft.com/office/drawing/2014/main" id="{397FB19D-58E8-CC48-70FA-02F5E2D9BFCE}"/>
                  </a:ext>
                </a:extLst>
              </p:cNvPr>
              <p:cNvSpPr>
                <a:spLocks noChangeArrowheads="1"/>
              </p:cNvSpPr>
              <p:nvPr/>
            </p:nvSpPr>
            <p:spPr bwMode="auto">
              <a:xfrm>
                <a:off x="2105" y="1785"/>
                <a:ext cx="1733" cy="294"/>
              </a:xfrm>
              <a:prstGeom prst="homePlate">
                <a:avLst>
                  <a:gd name="adj" fmla="val 48603"/>
                </a:avLst>
              </a:prstGeom>
              <a:solidFill>
                <a:schemeClr val="accent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Calculation</a:t>
                </a:r>
              </a:p>
            </p:txBody>
          </p:sp>
          <p:sp>
            <p:nvSpPr>
              <p:cNvPr id="7" name="AutoShape 6">
                <a:extLst>
                  <a:ext uri="{FF2B5EF4-FFF2-40B4-BE49-F238E27FC236}">
                    <a16:creationId xmlns:a16="http://schemas.microsoft.com/office/drawing/2014/main" id="{D9350E00-CF12-100D-8AAE-0394B8F4711B}"/>
                  </a:ext>
                </a:extLst>
              </p:cNvPr>
              <p:cNvSpPr>
                <a:spLocks noChangeArrowheads="1"/>
              </p:cNvSpPr>
              <p:nvPr/>
            </p:nvSpPr>
            <p:spPr bwMode="auto">
              <a:xfrm>
                <a:off x="562" y="1785"/>
                <a:ext cx="1733" cy="294"/>
              </a:xfrm>
              <a:prstGeom prst="homePlate">
                <a:avLst>
                  <a:gd name="adj" fmla="val 48603"/>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Definition</a:t>
                </a:r>
              </a:p>
            </p:txBody>
          </p:sp>
        </p:grpSp>
        <p:sp>
          <p:nvSpPr>
            <p:cNvPr id="8" name="Rectangle 7">
              <a:extLst>
                <a:ext uri="{FF2B5EF4-FFF2-40B4-BE49-F238E27FC236}">
                  <a16:creationId xmlns:a16="http://schemas.microsoft.com/office/drawing/2014/main" id="{0E08FB0D-FFEC-9970-590D-1637D209B41B}"/>
                </a:ext>
              </a:extLst>
            </p:cNvPr>
            <p:cNvSpPr>
              <a:spLocks noChangeArrowheads="1"/>
            </p:cNvSpPr>
            <p:nvPr/>
          </p:nvSpPr>
          <p:spPr bwMode="auto">
            <a:xfrm>
              <a:off x="866775" y="2752725"/>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How often you should produce one part, based on the rate of sales to meet customer requirements</a:t>
              </a:r>
            </a:p>
          </p:txBody>
        </p:sp>
        <p:sp>
          <p:nvSpPr>
            <p:cNvPr id="9" name="Rectangle 8">
              <a:extLst>
                <a:ext uri="{FF2B5EF4-FFF2-40B4-BE49-F238E27FC236}">
                  <a16:creationId xmlns:a16="http://schemas.microsoft.com/office/drawing/2014/main" id="{2F0E33F3-DDF6-DA64-C447-22C347C8D5BE}"/>
                </a:ext>
              </a:extLst>
            </p:cNvPr>
            <p:cNvSpPr>
              <a:spLocks noChangeArrowheads="1"/>
            </p:cNvSpPr>
            <p:nvPr/>
          </p:nvSpPr>
          <p:spPr bwMode="auto">
            <a:xfrm>
              <a:off x="3627437" y="2774950"/>
              <a:ext cx="25273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Available Working Time (per shift) </a:t>
              </a:r>
            </a:p>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Customer Demand (in units) </a:t>
              </a:r>
            </a:p>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Expressed in seconds</a:t>
              </a:r>
            </a:p>
          </p:txBody>
        </p:sp>
        <p:sp>
          <p:nvSpPr>
            <p:cNvPr id="10" name="Rectangle 9">
              <a:extLst>
                <a:ext uri="{FF2B5EF4-FFF2-40B4-BE49-F238E27FC236}">
                  <a16:creationId xmlns:a16="http://schemas.microsoft.com/office/drawing/2014/main" id="{847BE63F-9215-3F03-C363-451B53949A5A}"/>
                </a:ext>
              </a:extLst>
            </p:cNvPr>
            <p:cNvSpPr>
              <a:spLocks noChangeArrowheads="1"/>
            </p:cNvSpPr>
            <p:nvPr/>
          </p:nvSpPr>
          <p:spPr bwMode="auto">
            <a:xfrm>
              <a:off x="6280150" y="27606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a:latin typeface="Roboto" panose="02000000000000000000" pitchFamily="2" charset="0"/>
                  <a:ea typeface="Roboto" panose="02000000000000000000" pitchFamily="2" charset="0"/>
                </a:rPr>
                <a:t>German</a:t>
              </a:r>
            </a:p>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a:latin typeface="Roboto" panose="02000000000000000000" pitchFamily="2" charset="0"/>
                  <a:ea typeface="Roboto" panose="02000000000000000000" pitchFamily="2" charset="0"/>
                </a:rPr>
                <a:t>Translated means a precision of musical meter</a:t>
              </a:r>
            </a:p>
            <a:p>
              <a:pPr eaLnBrk="1" hangingPunct="1">
                <a:lnSpc>
                  <a:spcPct val="100000"/>
                </a:lnSpc>
                <a:spcBef>
                  <a:spcPct val="0"/>
                </a:spcBef>
                <a:spcAft>
                  <a:spcPct val="0"/>
                </a:spcAft>
                <a:buClr>
                  <a:schemeClr val="tx1"/>
                </a:buClr>
                <a:buFont typeface="Arial" panose="020B0604020202020204" pitchFamily="34" charset="0"/>
                <a:buChar char="•"/>
              </a:pPr>
              <a:endParaRPr lang="en-US" altLang="en-US" sz="1600">
                <a:latin typeface="Roboto" panose="02000000000000000000" pitchFamily="2" charset="0"/>
                <a:ea typeface="Roboto" panose="02000000000000000000" pitchFamily="2" charset="0"/>
              </a:endParaRPr>
            </a:p>
          </p:txBody>
        </p:sp>
        <p:sp>
          <p:nvSpPr>
            <p:cNvPr id="11" name="Oval 10">
              <a:extLst>
                <a:ext uri="{FF2B5EF4-FFF2-40B4-BE49-F238E27FC236}">
                  <a16:creationId xmlns:a16="http://schemas.microsoft.com/office/drawing/2014/main" id="{6259752F-6352-70AE-8577-FA0AE9363EF0}"/>
                </a:ext>
              </a:extLst>
            </p:cNvPr>
            <p:cNvSpPr>
              <a:spLocks noChangeArrowheads="1"/>
            </p:cNvSpPr>
            <p:nvPr/>
          </p:nvSpPr>
          <p:spPr bwMode="auto">
            <a:xfrm>
              <a:off x="992187" y="2089150"/>
              <a:ext cx="323850" cy="287338"/>
            </a:xfrm>
            <a:prstGeom prst="ellipse">
              <a:avLst/>
            </a:prstGeom>
            <a:solidFill>
              <a:schemeClr val="bg1"/>
            </a:solidFill>
            <a:ln w="19050" cap="sq">
              <a:solidFill>
                <a:srgbClr val="000066"/>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1</a:t>
              </a:r>
            </a:p>
          </p:txBody>
        </p:sp>
        <p:sp>
          <p:nvSpPr>
            <p:cNvPr id="12" name="Oval 11">
              <a:extLst>
                <a:ext uri="{FF2B5EF4-FFF2-40B4-BE49-F238E27FC236}">
                  <a16:creationId xmlns:a16="http://schemas.microsoft.com/office/drawing/2014/main" id="{3499317C-C91A-D4E5-4A65-F5334EF211CF}"/>
                </a:ext>
              </a:extLst>
            </p:cNvPr>
            <p:cNvSpPr>
              <a:spLocks noChangeArrowheads="1"/>
            </p:cNvSpPr>
            <p:nvPr/>
          </p:nvSpPr>
          <p:spPr bwMode="auto">
            <a:xfrm>
              <a:off x="3663950" y="2097088"/>
              <a:ext cx="323850" cy="287337"/>
            </a:xfrm>
            <a:prstGeom prst="ellipse">
              <a:avLst/>
            </a:prstGeom>
            <a:solidFill>
              <a:schemeClr val="bg1"/>
            </a:solidFill>
            <a:ln w="19050" cap="sq">
              <a:solidFill>
                <a:srgbClr val="000066"/>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2</a:t>
              </a:r>
            </a:p>
          </p:txBody>
        </p:sp>
        <p:sp>
          <p:nvSpPr>
            <p:cNvPr id="13" name="Oval 12">
              <a:extLst>
                <a:ext uri="{FF2B5EF4-FFF2-40B4-BE49-F238E27FC236}">
                  <a16:creationId xmlns:a16="http://schemas.microsoft.com/office/drawing/2014/main" id="{9CD5BA8C-36FC-D4FD-B1B4-173EE0AD6180}"/>
                </a:ext>
              </a:extLst>
            </p:cNvPr>
            <p:cNvSpPr>
              <a:spLocks noChangeArrowheads="1"/>
            </p:cNvSpPr>
            <p:nvPr/>
          </p:nvSpPr>
          <p:spPr bwMode="auto">
            <a:xfrm>
              <a:off x="6186487" y="2085975"/>
              <a:ext cx="323850" cy="287338"/>
            </a:xfrm>
            <a:prstGeom prst="ellipse">
              <a:avLst/>
            </a:prstGeom>
            <a:solidFill>
              <a:schemeClr val="bg1"/>
            </a:solidFill>
            <a:ln w="19050" cap="sq">
              <a:solidFill>
                <a:srgbClr val="000066"/>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3</a:t>
              </a:r>
            </a:p>
          </p:txBody>
        </p:sp>
        <p:sp>
          <p:nvSpPr>
            <p:cNvPr id="14" name="AutoShape 13">
              <a:extLst>
                <a:ext uri="{FF2B5EF4-FFF2-40B4-BE49-F238E27FC236}">
                  <a16:creationId xmlns:a16="http://schemas.microsoft.com/office/drawing/2014/main" id="{5BC8D421-9516-4D1A-2C10-FA2769891FC9}"/>
                </a:ext>
              </a:extLst>
            </p:cNvPr>
            <p:cNvSpPr>
              <a:spLocks noChangeArrowheads="1"/>
            </p:cNvSpPr>
            <p:nvPr/>
          </p:nvSpPr>
          <p:spPr bwMode="auto">
            <a:xfrm>
              <a:off x="838200" y="4814888"/>
              <a:ext cx="8204200" cy="520700"/>
            </a:xfrm>
            <a:prstGeom prst="homePlate">
              <a:avLst>
                <a:gd name="adj" fmla="val 32169"/>
              </a:avLst>
            </a:prstGeom>
            <a:solidFill>
              <a:schemeClr val="accent4"/>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Takt time measures the </a:t>
              </a:r>
              <a:r>
                <a:rPr lang="ja-JP" altLang="en-US" sz="1800">
                  <a:solidFill>
                    <a:schemeClr val="bg1"/>
                  </a:solidFill>
                  <a:latin typeface="Roboto" panose="02000000000000000000" pitchFamily="2" charset="0"/>
                </a:rPr>
                <a:t>“</a:t>
              </a:r>
              <a:r>
                <a:rPr lang="en-US" altLang="ja-JP" sz="1800">
                  <a:solidFill>
                    <a:schemeClr val="bg1"/>
                  </a:solidFill>
                  <a:latin typeface="Roboto" panose="02000000000000000000" pitchFamily="2" charset="0"/>
                  <a:ea typeface="Roboto" panose="02000000000000000000" pitchFamily="2" charset="0"/>
                </a:rPr>
                <a:t>beat</a:t>
              </a:r>
              <a:r>
                <a:rPr lang="ja-JP" altLang="en-US" sz="1800">
                  <a:solidFill>
                    <a:schemeClr val="bg1"/>
                  </a:solidFill>
                  <a:latin typeface="Roboto" panose="02000000000000000000" pitchFamily="2" charset="0"/>
                </a:rPr>
                <a:t>”</a:t>
              </a:r>
              <a:r>
                <a:rPr lang="en-US" altLang="ja-JP" sz="1800">
                  <a:solidFill>
                    <a:schemeClr val="bg1"/>
                  </a:solidFill>
                  <a:latin typeface="Roboto" panose="02000000000000000000" pitchFamily="2" charset="0"/>
                  <a:ea typeface="Roboto" panose="02000000000000000000" pitchFamily="2" charset="0"/>
                </a:rPr>
                <a:t> of customer demand</a:t>
              </a:r>
              <a:endParaRPr lang="en-US" altLang="en-US" sz="1800">
                <a:solidFill>
                  <a:schemeClr val="bg1"/>
                </a:solidFill>
                <a:latin typeface="Roboto" panose="02000000000000000000" pitchFamily="2" charset="0"/>
                <a:ea typeface="Roboto" panose="02000000000000000000" pitchFamily="2" charset="0"/>
              </a:endParaRPr>
            </a:p>
          </p:txBody>
        </p:sp>
        <p:sp>
          <p:nvSpPr>
            <p:cNvPr id="15" name="Line 22">
              <a:extLst>
                <a:ext uri="{FF2B5EF4-FFF2-40B4-BE49-F238E27FC236}">
                  <a16:creationId xmlns:a16="http://schemas.microsoft.com/office/drawing/2014/main" id="{8F1DB097-2DD3-877A-88BD-600BDE07CCAA}"/>
                </a:ext>
              </a:extLst>
            </p:cNvPr>
            <p:cNvSpPr>
              <a:spLocks noChangeShapeType="1"/>
            </p:cNvSpPr>
            <p:nvPr/>
          </p:nvSpPr>
          <p:spPr bwMode="auto">
            <a:xfrm flipV="1">
              <a:off x="3987800" y="3221038"/>
              <a:ext cx="2126199" cy="826"/>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17" name="Group 16">
            <a:extLst>
              <a:ext uri="{FF2B5EF4-FFF2-40B4-BE49-F238E27FC236}">
                <a16:creationId xmlns:a16="http://schemas.microsoft.com/office/drawing/2014/main" id="{77F1128A-A2CD-4FF9-35A2-9CB8380F9D61}"/>
              </a:ext>
            </a:extLst>
          </p:cNvPr>
          <p:cNvGrpSpPr/>
          <p:nvPr/>
        </p:nvGrpSpPr>
        <p:grpSpPr>
          <a:xfrm>
            <a:off x="838200" y="297639"/>
            <a:ext cx="4220210" cy="301303"/>
            <a:chOff x="838200" y="297639"/>
            <a:chExt cx="4220210" cy="301303"/>
          </a:xfrm>
        </p:grpSpPr>
        <p:sp>
          <p:nvSpPr>
            <p:cNvPr id="18" name="AutoShape 9">
              <a:extLst>
                <a:ext uri="{FF2B5EF4-FFF2-40B4-BE49-F238E27FC236}">
                  <a16:creationId xmlns:a16="http://schemas.microsoft.com/office/drawing/2014/main" id="{2441AB08-D9A0-0AAD-B589-CFF18F056C4F}"/>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49C68405-05CB-66F8-005E-634CCD0CC7CA}"/>
                </a:ext>
              </a:extLst>
            </p:cNvPr>
            <p:cNvGrpSpPr/>
            <p:nvPr/>
          </p:nvGrpSpPr>
          <p:grpSpPr>
            <a:xfrm>
              <a:off x="838200" y="297639"/>
              <a:ext cx="4220210" cy="301303"/>
              <a:chOff x="838200" y="297639"/>
              <a:chExt cx="4220210" cy="301303"/>
            </a:xfrm>
          </p:grpSpPr>
          <p:grpSp>
            <p:nvGrpSpPr>
              <p:cNvPr id="20" name="Group 19">
                <a:extLst>
                  <a:ext uri="{FF2B5EF4-FFF2-40B4-BE49-F238E27FC236}">
                    <a16:creationId xmlns:a16="http://schemas.microsoft.com/office/drawing/2014/main" id="{2180907F-9FC3-54AB-A37B-E305E859A5FA}"/>
                  </a:ext>
                </a:extLst>
              </p:cNvPr>
              <p:cNvGrpSpPr/>
              <p:nvPr/>
            </p:nvGrpSpPr>
            <p:grpSpPr>
              <a:xfrm>
                <a:off x="838200" y="297639"/>
                <a:ext cx="1060167" cy="290657"/>
                <a:chOff x="826426" y="4041857"/>
                <a:chExt cx="1060167" cy="290657"/>
              </a:xfrm>
            </p:grpSpPr>
            <p:sp>
              <p:nvSpPr>
                <p:cNvPr id="22" name="AutoShape 9">
                  <a:extLst>
                    <a:ext uri="{FF2B5EF4-FFF2-40B4-BE49-F238E27FC236}">
                      <a16:creationId xmlns:a16="http://schemas.microsoft.com/office/drawing/2014/main" id="{15BAC3A6-0665-4D02-46A0-3EFBC60AAD1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1">
                  <a:extLst>
                    <a:ext uri="{FF2B5EF4-FFF2-40B4-BE49-F238E27FC236}">
                      <a16:creationId xmlns:a16="http://schemas.microsoft.com/office/drawing/2014/main" id="{756D00D0-4C17-A863-64F5-3FEAD2AFB9E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10">
                  <a:extLst>
                    <a:ext uri="{FF2B5EF4-FFF2-40B4-BE49-F238E27FC236}">
                      <a16:creationId xmlns:a16="http://schemas.microsoft.com/office/drawing/2014/main" id="{DE479358-1562-587B-7300-BBA712283186}"/>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21" name="TextBox 20">
                <a:extLst>
                  <a:ext uri="{FF2B5EF4-FFF2-40B4-BE49-F238E27FC236}">
                    <a16:creationId xmlns:a16="http://schemas.microsoft.com/office/drawing/2014/main" id="{7BECED55-7C60-3867-B51F-D1B06475B29C}"/>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Cycle Time</a:t>
                </a:r>
              </a:p>
            </p:txBody>
          </p:sp>
        </p:grpSp>
      </p:grpSp>
    </p:spTree>
    <p:extLst>
      <p:ext uri="{BB962C8B-B14F-4D97-AF65-F5344CB8AC3E}">
        <p14:creationId xmlns:p14="http://schemas.microsoft.com/office/powerpoint/2010/main" val="1830717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TAKT Time Example</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normAutofit/>
          </a:bodyPr>
          <a:lstStyle/>
          <a:p>
            <a:r>
              <a:rPr lang="en-US" dirty="0"/>
              <a:t>Takt Time Calculation</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172200" y="4352925"/>
            <a:ext cx="5183188" cy="1836737"/>
          </a:xfrm>
        </p:spPr>
        <p:txBody>
          <a:bodyPr>
            <a:normAutofit/>
          </a:bodyPr>
          <a:lstStyle/>
          <a:p>
            <a:pPr marL="0" indent="0">
              <a:buNone/>
            </a:pPr>
            <a:r>
              <a:rPr lang="en-US" b="1" dirty="0"/>
              <a:t>Example</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16</a:t>
            </a:fld>
            <a:endParaRPr lang="en-US"/>
          </a:p>
        </p:txBody>
      </p:sp>
      <p:sp>
        <p:nvSpPr>
          <p:cNvPr id="17" name="Rectangle 17">
            <a:extLst>
              <a:ext uri="{FF2B5EF4-FFF2-40B4-BE49-F238E27FC236}">
                <a16:creationId xmlns:a16="http://schemas.microsoft.com/office/drawing/2014/main" id="{36B996AA-CAAE-9542-460D-BE63A1008D03}"/>
              </a:ext>
            </a:extLst>
          </p:cNvPr>
          <p:cNvSpPr>
            <a:spLocks noChangeArrowheads="1"/>
          </p:cNvSpPr>
          <p:nvPr/>
        </p:nvSpPr>
        <p:spPr bwMode="auto">
          <a:xfrm>
            <a:off x="7077710" y="2505075"/>
            <a:ext cx="3376613" cy="682625"/>
          </a:xfrm>
          <a:prstGeom prst="rect">
            <a:avLst/>
          </a:prstGeom>
          <a:noFill/>
          <a:ln w="9525">
            <a:noFill/>
            <a:miter lim="800000"/>
            <a:headEnd/>
            <a:tailEnd/>
          </a:ln>
        </p:spPr>
        <p:txBody>
          <a:bodyPr/>
          <a:lstStyle/>
          <a:p>
            <a:pPr marL="342900" indent="-342900" algn="ctr">
              <a:lnSpc>
                <a:spcPct val="80000"/>
              </a:lnSpc>
              <a:spcBef>
                <a:spcPct val="20000"/>
              </a:spcBef>
              <a:buClr>
                <a:schemeClr val="accent1"/>
              </a:buClr>
              <a:buSzPct val="90000"/>
              <a:buFont typeface="Wingdings" pitchFamily="2" charset="2"/>
              <a:buNone/>
              <a:tabLst>
                <a:tab pos="3086100" algn="l"/>
              </a:tabLst>
              <a:defRPr/>
            </a:pPr>
            <a:r>
              <a:rPr lang="en-US" sz="1600" dirty="0">
                <a:solidFill>
                  <a:schemeClr val="tx1"/>
                </a:solidFill>
                <a:latin typeface="Roboto" panose="02000000000000000000" pitchFamily="2" charset="0"/>
                <a:ea typeface="Roboto" panose="02000000000000000000" pitchFamily="2" charset="0"/>
                <a:cs typeface="Arial" pitchFamily="34" charset="0"/>
              </a:rPr>
              <a:t>Available Working Time</a:t>
            </a:r>
          </a:p>
          <a:p>
            <a:pPr marL="342900" indent="-342900" algn="ctr">
              <a:lnSpc>
                <a:spcPct val="75000"/>
              </a:lnSpc>
              <a:spcBef>
                <a:spcPct val="20000"/>
              </a:spcBef>
              <a:buClr>
                <a:schemeClr val="accent1"/>
              </a:buClr>
              <a:buSzPct val="90000"/>
              <a:buFont typeface="Wingdings" pitchFamily="2" charset="2"/>
              <a:buNone/>
              <a:tabLst>
                <a:tab pos="3086100" algn="l"/>
              </a:tabLst>
              <a:defRPr/>
            </a:pPr>
            <a:r>
              <a:rPr lang="en-US" sz="1600" baseline="30000" dirty="0">
                <a:solidFill>
                  <a:schemeClr val="tx1"/>
                </a:solidFill>
                <a:latin typeface="Roboto" panose="02000000000000000000" pitchFamily="2" charset="0"/>
                <a:ea typeface="Roboto" panose="02000000000000000000" pitchFamily="2" charset="0"/>
                <a:cs typeface="Arial" pitchFamily="34" charset="0"/>
              </a:rPr>
              <a:t>_____________________________</a:t>
            </a:r>
            <a:endParaRPr lang="en-US" sz="1600" u="sng" dirty="0">
              <a:solidFill>
                <a:schemeClr val="tx1"/>
              </a:solidFill>
              <a:latin typeface="Roboto" panose="02000000000000000000" pitchFamily="2" charset="0"/>
              <a:ea typeface="Roboto" panose="02000000000000000000" pitchFamily="2" charset="0"/>
              <a:cs typeface="Arial" pitchFamily="34" charset="0"/>
            </a:endParaRPr>
          </a:p>
          <a:p>
            <a:pPr marL="342900" indent="-342900" algn="ctr">
              <a:lnSpc>
                <a:spcPct val="75000"/>
              </a:lnSpc>
              <a:spcBef>
                <a:spcPct val="20000"/>
              </a:spcBef>
              <a:buClr>
                <a:schemeClr val="accent1"/>
              </a:buClr>
              <a:buSzPct val="90000"/>
              <a:buFont typeface="Wingdings" pitchFamily="2" charset="2"/>
              <a:buNone/>
              <a:tabLst>
                <a:tab pos="3086100" algn="l"/>
              </a:tabLst>
              <a:defRPr/>
            </a:pPr>
            <a:r>
              <a:rPr lang="en-US" sz="1600" dirty="0">
                <a:solidFill>
                  <a:schemeClr val="tx1"/>
                </a:solidFill>
                <a:latin typeface="Roboto" panose="02000000000000000000" pitchFamily="2" charset="0"/>
                <a:ea typeface="Roboto" panose="02000000000000000000" pitchFamily="2" charset="0"/>
                <a:cs typeface="Arial" pitchFamily="34" charset="0"/>
              </a:rPr>
              <a:t>Customer Demand</a:t>
            </a:r>
          </a:p>
        </p:txBody>
      </p:sp>
      <p:grpSp>
        <p:nvGrpSpPr>
          <p:cNvPr id="4" name="Group 3">
            <a:extLst>
              <a:ext uri="{FF2B5EF4-FFF2-40B4-BE49-F238E27FC236}">
                <a16:creationId xmlns:a16="http://schemas.microsoft.com/office/drawing/2014/main" id="{84FA54F6-C284-EAC7-3CFD-50E26EC87A4A}"/>
              </a:ext>
            </a:extLst>
          </p:cNvPr>
          <p:cNvGrpSpPr/>
          <p:nvPr/>
        </p:nvGrpSpPr>
        <p:grpSpPr>
          <a:xfrm>
            <a:off x="699453" y="1951990"/>
            <a:ext cx="5320348" cy="4237672"/>
            <a:chOff x="699453" y="1951990"/>
            <a:chExt cx="5320348" cy="4237672"/>
          </a:xfrm>
        </p:grpSpPr>
        <p:sp>
          <p:nvSpPr>
            <p:cNvPr id="22" name="Rectangle 2">
              <a:extLst>
                <a:ext uri="{FF2B5EF4-FFF2-40B4-BE49-F238E27FC236}">
                  <a16:creationId xmlns:a16="http://schemas.microsoft.com/office/drawing/2014/main" id="{8BF6FE3F-6EE4-E6CE-4A9D-CC2CE4F59270}"/>
                </a:ext>
              </a:extLst>
            </p:cNvPr>
            <p:cNvSpPr>
              <a:spLocks noChangeArrowheads="1"/>
            </p:cNvSpPr>
            <p:nvPr/>
          </p:nvSpPr>
          <p:spPr bwMode="auto">
            <a:xfrm>
              <a:off x="699453" y="1951990"/>
              <a:ext cx="5320348" cy="4237672"/>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a:solidFill>
                  <a:schemeClr val="bg1"/>
                </a:solidFill>
                <a:latin typeface="Roboto" panose="02000000000000000000" pitchFamily="2" charset="0"/>
                <a:ea typeface="Roboto" panose="02000000000000000000" pitchFamily="2" charset="0"/>
              </a:endParaRPr>
            </a:p>
          </p:txBody>
        </p:sp>
        <p:sp>
          <p:nvSpPr>
            <p:cNvPr id="3" name="Rectangle 33">
              <a:extLst>
                <a:ext uri="{FF2B5EF4-FFF2-40B4-BE49-F238E27FC236}">
                  <a16:creationId xmlns:a16="http://schemas.microsoft.com/office/drawing/2014/main" id="{DC684336-0E8B-E0AF-37D1-6F64184867A4}"/>
                </a:ext>
              </a:extLst>
            </p:cNvPr>
            <p:cNvSpPr>
              <a:spLocks noChangeArrowheads="1"/>
            </p:cNvSpPr>
            <p:nvPr/>
          </p:nvSpPr>
          <p:spPr bwMode="auto">
            <a:xfrm>
              <a:off x="1265888" y="2484913"/>
              <a:ext cx="4121150" cy="3196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Gross available time </a:t>
              </a:r>
            </a:p>
            <a:p>
              <a:pP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(8 hours x 3600 seconds) =	28,800 secs</a:t>
              </a:r>
            </a:p>
            <a:p>
              <a:pPr>
                <a:lnSpc>
                  <a:spcPct val="80000"/>
                </a:lnSpc>
                <a:spcBef>
                  <a:spcPct val="20000"/>
                </a:spcBef>
                <a:spcAft>
                  <a:spcPct val="0"/>
                </a:spcAft>
                <a:buClrTx/>
                <a:buSzTx/>
                <a:buFontTx/>
                <a:buNone/>
              </a:pPr>
              <a:endParaRPr lang="en-US" altLang="en-US" sz="16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Less breaks </a:t>
              </a:r>
            </a:p>
            <a:p>
              <a:pP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(30 minutes x 60 seconds) =	1,800 secs</a:t>
              </a:r>
            </a:p>
            <a:p>
              <a:pPr>
                <a:lnSpc>
                  <a:spcPct val="80000"/>
                </a:lnSpc>
                <a:spcBef>
                  <a:spcPct val="20000"/>
                </a:spcBef>
                <a:spcAft>
                  <a:spcPct val="0"/>
                </a:spcAft>
                <a:buClrTx/>
                <a:buSzTx/>
                <a:buFontTx/>
                <a:buNone/>
              </a:pPr>
              <a:endParaRPr lang="en-US" altLang="en-US" sz="16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Available Time =		27,000 secs</a:t>
              </a:r>
            </a:p>
            <a:p>
              <a:pPr>
                <a:lnSpc>
                  <a:spcPct val="80000"/>
                </a:lnSpc>
                <a:spcBef>
                  <a:spcPct val="20000"/>
                </a:spcBef>
                <a:spcAft>
                  <a:spcPct val="0"/>
                </a:spcAft>
                <a:buClrTx/>
                <a:buSzTx/>
                <a:buFontTx/>
                <a:buNone/>
              </a:pPr>
              <a:endParaRPr lang="en-US" altLang="en-US" sz="16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Customer demand =	350 units                                                           </a:t>
              </a:r>
            </a:p>
            <a:p>
              <a:pPr>
                <a:lnSpc>
                  <a:spcPct val="80000"/>
                </a:lnSpc>
                <a:spcBef>
                  <a:spcPct val="20000"/>
                </a:spcBef>
                <a:spcAft>
                  <a:spcPct val="0"/>
                </a:spcAft>
                <a:buClrTx/>
                <a:buSzTx/>
                <a:buFontTx/>
                <a:buNone/>
              </a:pPr>
              <a:endParaRPr lang="en-US" altLang="en-US" sz="16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600" dirty="0">
                  <a:solidFill>
                    <a:schemeClr val="accent1"/>
                  </a:solidFill>
                  <a:latin typeface="Roboto" panose="02000000000000000000" pitchFamily="2" charset="0"/>
                  <a:ea typeface="Roboto" panose="02000000000000000000" pitchFamily="2" charset="0"/>
                </a:rPr>
                <a:t>TAKT Time =		77 secs	</a:t>
              </a:r>
              <a:r>
                <a:rPr lang="en-US" altLang="en-US" sz="1600" dirty="0">
                  <a:solidFill>
                    <a:schemeClr val="tx2"/>
                  </a:solidFill>
                  <a:latin typeface="Roboto" panose="02000000000000000000" pitchFamily="2" charset="0"/>
                  <a:ea typeface="Roboto" panose="02000000000000000000" pitchFamily="2" charset="0"/>
                </a:rPr>
                <a:t>	</a:t>
              </a:r>
              <a:endParaRPr lang="en-US" altLang="en-US" sz="1600" dirty="0">
                <a:solidFill>
                  <a:srgbClr val="FF0033"/>
                </a:solidFill>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600" b="0" dirty="0">
                  <a:latin typeface="Roboto" panose="02000000000000000000" pitchFamily="2" charset="0"/>
                  <a:ea typeface="Roboto" panose="02000000000000000000" pitchFamily="2" charset="0"/>
                </a:rPr>
                <a:t>.</a:t>
              </a:r>
            </a:p>
          </p:txBody>
        </p:sp>
      </p:grpSp>
      <p:grpSp>
        <p:nvGrpSpPr>
          <p:cNvPr id="18" name="Group 12">
            <a:extLst>
              <a:ext uri="{FF2B5EF4-FFF2-40B4-BE49-F238E27FC236}">
                <a16:creationId xmlns:a16="http://schemas.microsoft.com/office/drawing/2014/main" id="{25237615-ED06-2749-A8FE-4938622F3EB5}"/>
              </a:ext>
            </a:extLst>
          </p:cNvPr>
          <p:cNvGrpSpPr>
            <a:grpSpLocks/>
          </p:cNvGrpSpPr>
          <p:nvPr/>
        </p:nvGrpSpPr>
        <p:grpSpPr bwMode="auto">
          <a:xfrm>
            <a:off x="7077710" y="3370672"/>
            <a:ext cx="3078162" cy="661988"/>
            <a:chOff x="3387" y="1842"/>
            <a:chExt cx="1939" cy="417"/>
          </a:xfrm>
        </p:grpSpPr>
        <p:sp>
          <p:nvSpPr>
            <p:cNvPr id="19" name="Text Box 13">
              <a:extLst>
                <a:ext uri="{FF2B5EF4-FFF2-40B4-BE49-F238E27FC236}">
                  <a16:creationId xmlns:a16="http://schemas.microsoft.com/office/drawing/2014/main" id="{3C6DAEAC-69E8-5578-D104-284C4A33125D}"/>
                </a:ext>
              </a:extLst>
            </p:cNvPr>
            <p:cNvSpPr txBox="1">
              <a:spLocks noChangeArrowheads="1"/>
            </p:cNvSpPr>
            <p:nvPr/>
          </p:nvSpPr>
          <p:spPr bwMode="auto">
            <a:xfrm>
              <a:off x="3387" y="1842"/>
              <a:ext cx="100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20000"/>
                </a:spcBef>
                <a:spcAft>
                  <a:spcPct val="0"/>
                </a:spcAft>
                <a:buClrTx/>
                <a:buSzTx/>
                <a:buFontTx/>
                <a:buNone/>
              </a:pPr>
              <a:r>
                <a:rPr lang="en-US" altLang="en-US" sz="1400" i="1" dirty="0">
                  <a:solidFill>
                    <a:schemeClr val="accent1"/>
                  </a:solidFill>
                  <a:latin typeface="Roboto" panose="02000000000000000000" pitchFamily="2" charset="0"/>
                  <a:ea typeface="Roboto" panose="02000000000000000000" pitchFamily="2" charset="0"/>
                </a:rPr>
                <a:t>27,000 seconds</a:t>
              </a:r>
            </a:p>
          </p:txBody>
        </p:sp>
        <p:sp>
          <p:nvSpPr>
            <p:cNvPr id="20" name="Rectangle 14">
              <a:extLst>
                <a:ext uri="{FF2B5EF4-FFF2-40B4-BE49-F238E27FC236}">
                  <a16:creationId xmlns:a16="http://schemas.microsoft.com/office/drawing/2014/main" id="{5196682E-5E29-0819-BD8B-47DFA287C142}"/>
                </a:ext>
              </a:extLst>
            </p:cNvPr>
            <p:cNvSpPr>
              <a:spLocks noChangeArrowheads="1"/>
            </p:cNvSpPr>
            <p:nvPr/>
          </p:nvSpPr>
          <p:spPr bwMode="auto">
            <a:xfrm>
              <a:off x="3409" y="1958"/>
              <a:ext cx="11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30000"/>
                </a:spcBef>
                <a:spcAft>
                  <a:spcPct val="0"/>
                </a:spcAft>
                <a:buClrTx/>
                <a:buSzTx/>
                <a:buFontTx/>
                <a:buNone/>
              </a:pPr>
              <a:endParaRPr lang="en-US" altLang="en-US" b="0">
                <a:solidFill>
                  <a:schemeClr val="accent1"/>
                </a:solidFill>
                <a:latin typeface="Roboto" panose="02000000000000000000" pitchFamily="2" charset="0"/>
                <a:ea typeface="Roboto" panose="02000000000000000000" pitchFamily="2" charset="0"/>
              </a:endParaRPr>
            </a:p>
          </p:txBody>
        </p:sp>
        <p:sp>
          <p:nvSpPr>
            <p:cNvPr id="21" name="Text Box 15">
              <a:extLst>
                <a:ext uri="{FF2B5EF4-FFF2-40B4-BE49-F238E27FC236}">
                  <a16:creationId xmlns:a16="http://schemas.microsoft.com/office/drawing/2014/main" id="{ECBB11FD-8405-0518-E231-50DD02E2074A}"/>
                </a:ext>
              </a:extLst>
            </p:cNvPr>
            <p:cNvSpPr txBox="1">
              <a:spLocks noChangeArrowheads="1"/>
            </p:cNvSpPr>
            <p:nvPr/>
          </p:nvSpPr>
          <p:spPr bwMode="auto">
            <a:xfrm>
              <a:off x="3397" y="2067"/>
              <a:ext cx="5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20000"/>
                </a:spcBef>
                <a:spcAft>
                  <a:spcPct val="0"/>
                </a:spcAft>
                <a:buClrTx/>
                <a:buSzTx/>
                <a:buFontTx/>
                <a:buNone/>
              </a:pPr>
              <a:r>
                <a:rPr lang="en-US" altLang="en-US" sz="1400" i="1">
                  <a:solidFill>
                    <a:schemeClr val="accent1"/>
                  </a:solidFill>
                  <a:latin typeface="Roboto" panose="02000000000000000000" pitchFamily="2" charset="0"/>
                  <a:ea typeface="Roboto" panose="02000000000000000000" pitchFamily="2" charset="0"/>
                </a:rPr>
                <a:t>350 units</a:t>
              </a:r>
              <a:endParaRPr lang="en-US" altLang="en-US" sz="1400" b="0">
                <a:solidFill>
                  <a:schemeClr val="accent1"/>
                </a:solidFill>
                <a:latin typeface="Roboto" panose="02000000000000000000" pitchFamily="2" charset="0"/>
                <a:ea typeface="Roboto" panose="02000000000000000000" pitchFamily="2" charset="0"/>
              </a:endParaRPr>
            </a:p>
          </p:txBody>
        </p:sp>
        <p:sp>
          <p:nvSpPr>
            <p:cNvPr id="33" name="Line 16">
              <a:extLst>
                <a:ext uri="{FF2B5EF4-FFF2-40B4-BE49-F238E27FC236}">
                  <a16:creationId xmlns:a16="http://schemas.microsoft.com/office/drawing/2014/main" id="{372037E4-5B38-F0A6-F8A3-794ABF7CA865}"/>
                </a:ext>
              </a:extLst>
            </p:cNvPr>
            <p:cNvSpPr>
              <a:spLocks noChangeShapeType="1"/>
            </p:cNvSpPr>
            <p:nvPr/>
          </p:nvSpPr>
          <p:spPr bwMode="auto">
            <a:xfrm>
              <a:off x="3457" y="2033"/>
              <a:ext cx="959" cy="0"/>
            </a:xfrm>
            <a:prstGeom prst="line">
              <a:avLst/>
            </a:prstGeom>
            <a:noFill/>
            <a:ln w="3810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solidFill>
                  <a:schemeClr val="accent1"/>
                </a:solidFill>
                <a:latin typeface="Roboto" panose="02000000000000000000" pitchFamily="2" charset="0"/>
                <a:ea typeface="Roboto" panose="02000000000000000000" pitchFamily="2" charset="0"/>
              </a:endParaRPr>
            </a:p>
          </p:txBody>
        </p:sp>
        <p:sp>
          <p:nvSpPr>
            <p:cNvPr id="34" name="Rectangle 17">
              <a:extLst>
                <a:ext uri="{FF2B5EF4-FFF2-40B4-BE49-F238E27FC236}">
                  <a16:creationId xmlns:a16="http://schemas.microsoft.com/office/drawing/2014/main" id="{0C725149-680F-6262-D69C-C4CDAACD3CFB}"/>
                </a:ext>
              </a:extLst>
            </p:cNvPr>
            <p:cNvSpPr>
              <a:spLocks noChangeArrowheads="1"/>
            </p:cNvSpPr>
            <p:nvPr/>
          </p:nvSpPr>
          <p:spPr bwMode="auto">
            <a:xfrm>
              <a:off x="4507" y="1927"/>
              <a:ext cx="81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400">
                  <a:solidFill>
                    <a:schemeClr val="accent1"/>
                  </a:solidFill>
                  <a:latin typeface="Roboto" panose="02000000000000000000" pitchFamily="2" charset="0"/>
                  <a:ea typeface="Roboto" panose="02000000000000000000" pitchFamily="2" charset="0"/>
                </a:rPr>
                <a:t>= 77 seconds</a:t>
              </a:r>
              <a:endParaRPr lang="en-US" altLang="en-US" sz="1400" b="0">
                <a:solidFill>
                  <a:schemeClr val="accent1"/>
                </a:solidFill>
                <a:latin typeface="Roboto" panose="02000000000000000000" pitchFamily="2" charset="0"/>
                <a:ea typeface="Roboto" panose="02000000000000000000" pitchFamily="2" charset="0"/>
              </a:endParaRPr>
            </a:p>
          </p:txBody>
        </p:sp>
      </p:grpSp>
      <p:sp>
        <p:nvSpPr>
          <p:cNvPr id="35" name="Rectangle 9">
            <a:extLst>
              <a:ext uri="{FF2B5EF4-FFF2-40B4-BE49-F238E27FC236}">
                <a16:creationId xmlns:a16="http://schemas.microsoft.com/office/drawing/2014/main" id="{6A416990-6AAB-4D12-8620-E0852DE9C612}"/>
              </a:ext>
            </a:extLst>
          </p:cNvPr>
          <p:cNvSpPr>
            <a:spLocks noChangeArrowheads="1"/>
          </p:cNvSpPr>
          <p:nvPr/>
        </p:nvSpPr>
        <p:spPr bwMode="auto">
          <a:xfrm>
            <a:off x="6423168" y="4913723"/>
            <a:ext cx="5521906"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dirty="0">
                <a:latin typeface="Roboto" panose="02000000000000000000" pitchFamily="2" charset="0"/>
                <a:ea typeface="Roboto" panose="02000000000000000000" pitchFamily="2" charset="0"/>
              </a:rPr>
              <a:t>Customer Demand per Shift:		350 units</a:t>
            </a:r>
          </a:p>
          <a:p>
            <a:pPr>
              <a:lnSpc>
                <a:spcPct val="80000"/>
              </a:lnSpc>
              <a:spcBef>
                <a:spcPct val="20000"/>
              </a:spcBef>
              <a:spcAft>
                <a:spcPct val="0"/>
              </a:spcAft>
              <a:buClrTx/>
              <a:buSzTx/>
              <a:buFontTx/>
              <a:buNone/>
            </a:pPr>
            <a:r>
              <a:rPr lang="en-US" altLang="en-US" dirty="0">
                <a:latin typeface="Roboto" panose="02000000000000000000" pitchFamily="2" charset="0"/>
                <a:ea typeface="Roboto" panose="02000000000000000000" pitchFamily="2" charset="0"/>
              </a:rPr>
              <a:t>Hours per Shift:		8 hours</a:t>
            </a:r>
          </a:p>
          <a:p>
            <a:pPr>
              <a:lnSpc>
                <a:spcPct val="80000"/>
              </a:lnSpc>
              <a:spcBef>
                <a:spcPct val="20000"/>
              </a:spcBef>
              <a:spcAft>
                <a:spcPct val="0"/>
              </a:spcAft>
              <a:buClrTx/>
              <a:buSzTx/>
              <a:buFontTx/>
              <a:buNone/>
            </a:pPr>
            <a:r>
              <a:rPr lang="en-US" altLang="en-US" dirty="0">
                <a:latin typeface="Roboto" panose="02000000000000000000" pitchFamily="2" charset="0"/>
                <a:ea typeface="Roboto" panose="02000000000000000000" pitchFamily="2" charset="0"/>
              </a:rPr>
              <a:t>Lunch:		unpaid</a:t>
            </a:r>
          </a:p>
          <a:p>
            <a:pPr>
              <a:lnSpc>
                <a:spcPct val="80000"/>
              </a:lnSpc>
              <a:spcBef>
                <a:spcPct val="20000"/>
              </a:spcBef>
              <a:spcAft>
                <a:spcPct val="0"/>
              </a:spcAft>
              <a:buClrTx/>
              <a:buSzTx/>
              <a:buFontTx/>
              <a:buNone/>
            </a:pPr>
            <a:r>
              <a:rPr lang="en-US" altLang="en-US" dirty="0">
                <a:latin typeface="Roboto" panose="02000000000000000000" pitchFamily="2" charset="0"/>
                <a:ea typeface="Roboto" panose="02000000000000000000" pitchFamily="2" charset="0"/>
              </a:rPr>
              <a:t>Breaks (2 – 15 minute) 		30 minutes</a:t>
            </a:r>
          </a:p>
        </p:txBody>
      </p:sp>
      <p:grpSp>
        <p:nvGrpSpPr>
          <p:cNvPr id="16" name="Group 15">
            <a:extLst>
              <a:ext uri="{FF2B5EF4-FFF2-40B4-BE49-F238E27FC236}">
                <a16:creationId xmlns:a16="http://schemas.microsoft.com/office/drawing/2014/main" id="{29E85BE1-5043-536A-F05E-E59C8472DD16}"/>
              </a:ext>
            </a:extLst>
          </p:cNvPr>
          <p:cNvGrpSpPr/>
          <p:nvPr/>
        </p:nvGrpSpPr>
        <p:grpSpPr>
          <a:xfrm>
            <a:off x="838200" y="297639"/>
            <a:ext cx="4220210" cy="301303"/>
            <a:chOff x="838200" y="297639"/>
            <a:chExt cx="4220210" cy="301303"/>
          </a:xfrm>
        </p:grpSpPr>
        <p:sp>
          <p:nvSpPr>
            <p:cNvPr id="23" name="AutoShape 9">
              <a:extLst>
                <a:ext uri="{FF2B5EF4-FFF2-40B4-BE49-F238E27FC236}">
                  <a16:creationId xmlns:a16="http://schemas.microsoft.com/office/drawing/2014/main" id="{5661D1A2-608A-29F8-9054-90EC3417C7DE}"/>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4" name="Group 23">
              <a:extLst>
                <a:ext uri="{FF2B5EF4-FFF2-40B4-BE49-F238E27FC236}">
                  <a16:creationId xmlns:a16="http://schemas.microsoft.com/office/drawing/2014/main" id="{EA416112-674E-16B8-4117-29FAA35EB973}"/>
                </a:ext>
              </a:extLst>
            </p:cNvPr>
            <p:cNvGrpSpPr/>
            <p:nvPr/>
          </p:nvGrpSpPr>
          <p:grpSpPr>
            <a:xfrm>
              <a:off x="838200" y="297639"/>
              <a:ext cx="4220210" cy="301303"/>
              <a:chOff x="838200" y="297639"/>
              <a:chExt cx="4220210" cy="301303"/>
            </a:xfrm>
          </p:grpSpPr>
          <p:grpSp>
            <p:nvGrpSpPr>
              <p:cNvPr id="25" name="Group 24">
                <a:extLst>
                  <a:ext uri="{FF2B5EF4-FFF2-40B4-BE49-F238E27FC236}">
                    <a16:creationId xmlns:a16="http://schemas.microsoft.com/office/drawing/2014/main" id="{F24EE25A-90A8-8874-443E-9634BB59F86F}"/>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8F1F38EB-2067-A19F-5D20-6FBE0D73494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8" name="AutoShape 11">
                  <a:extLst>
                    <a:ext uri="{FF2B5EF4-FFF2-40B4-BE49-F238E27FC236}">
                      <a16:creationId xmlns:a16="http://schemas.microsoft.com/office/drawing/2014/main" id="{269DCADD-B9AC-D79E-2F03-53D0AD1778E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9" name="AutoShape 10">
                  <a:extLst>
                    <a:ext uri="{FF2B5EF4-FFF2-40B4-BE49-F238E27FC236}">
                      <a16:creationId xmlns:a16="http://schemas.microsoft.com/office/drawing/2014/main" id="{E021E934-C70C-3B05-34E8-55211F0E5D12}"/>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26" name="TextBox 25">
                <a:extLst>
                  <a:ext uri="{FF2B5EF4-FFF2-40B4-BE49-F238E27FC236}">
                    <a16:creationId xmlns:a16="http://schemas.microsoft.com/office/drawing/2014/main" id="{F0A1344A-05C5-4F94-72F1-FF6298FF8637}"/>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Cycle Time</a:t>
                </a:r>
              </a:p>
            </p:txBody>
          </p:sp>
        </p:grpSp>
      </p:grpSp>
    </p:spTree>
    <p:extLst>
      <p:ext uri="{BB962C8B-B14F-4D97-AF65-F5344CB8AC3E}">
        <p14:creationId xmlns:p14="http://schemas.microsoft.com/office/powerpoint/2010/main" val="2972213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TAKT Time Example</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normAutofit/>
          </a:bodyPr>
          <a:lstStyle/>
          <a:p>
            <a:r>
              <a:rPr lang="en-US" dirty="0"/>
              <a:t>Takt Time Calculation</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172200" y="4352925"/>
            <a:ext cx="5183188" cy="1836737"/>
          </a:xfrm>
        </p:spPr>
        <p:txBody>
          <a:bodyPr>
            <a:normAutofit/>
          </a:bodyPr>
          <a:lstStyle/>
          <a:p>
            <a:pPr marL="0" indent="0">
              <a:buNone/>
            </a:pPr>
            <a:r>
              <a:rPr lang="en-US" b="1" dirty="0"/>
              <a:t>Example</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sp>
        <p:nvSpPr>
          <p:cNvPr id="17" name="Rectangle 17">
            <a:extLst>
              <a:ext uri="{FF2B5EF4-FFF2-40B4-BE49-F238E27FC236}">
                <a16:creationId xmlns:a16="http://schemas.microsoft.com/office/drawing/2014/main" id="{36B996AA-CAAE-9542-460D-BE63A1008D03}"/>
              </a:ext>
            </a:extLst>
          </p:cNvPr>
          <p:cNvSpPr>
            <a:spLocks noChangeArrowheads="1"/>
          </p:cNvSpPr>
          <p:nvPr/>
        </p:nvSpPr>
        <p:spPr bwMode="auto">
          <a:xfrm>
            <a:off x="7077710" y="2505075"/>
            <a:ext cx="3376613" cy="682625"/>
          </a:xfrm>
          <a:prstGeom prst="rect">
            <a:avLst/>
          </a:prstGeom>
          <a:noFill/>
          <a:ln w="9525">
            <a:noFill/>
            <a:miter lim="800000"/>
            <a:headEnd/>
            <a:tailEnd/>
          </a:ln>
        </p:spPr>
        <p:txBody>
          <a:bodyPr/>
          <a:lstStyle/>
          <a:p>
            <a:pPr marL="342900" indent="-342900" algn="ctr">
              <a:lnSpc>
                <a:spcPct val="80000"/>
              </a:lnSpc>
              <a:spcBef>
                <a:spcPct val="20000"/>
              </a:spcBef>
              <a:buClr>
                <a:schemeClr val="accent1"/>
              </a:buClr>
              <a:buSzPct val="90000"/>
              <a:buFont typeface="Wingdings" pitchFamily="2" charset="2"/>
              <a:buNone/>
              <a:tabLst>
                <a:tab pos="3086100" algn="l"/>
              </a:tabLst>
              <a:defRPr/>
            </a:pPr>
            <a:r>
              <a:rPr lang="en-US" sz="1600" dirty="0">
                <a:solidFill>
                  <a:schemeClr val="tx1"/>
                </a:solidFill>
                <a:latin typeface="Roboto" panose="02000000000000000000" pitchFamily="2" charset="0"/>
                <a:ea typeface="Roboto" panose="02000000000000000000" pitchFamily="2" charset="0"/>
                <a:cs typeface="Arial" pitchFamily="34" charset="0"/>
              </a:rPr>
              <a:t>Available Working Time</a:t>
            </a:r>
          </a:p>
          <a:p>
            <a:pPr marL="342900" indent="-342900" algn="ctr">
              <a:lnSpc>
                <a:spcPct val="75000"/>
              </a:lnSpc>
              <a:spcBef>
                <a:spcPct val="20000"/>
              </a:spcBef>
              <a:buClr>
                <a:schemeClr val="accent1"/>
              </a:buClr>
              <a:buSzPct val="90000"/>
              <a:buFont typeface="Wingdings" pitchFamily="2" charset="2"/>
              <a:buNone/>
              <a:tabLst>
                <a:tab pos="3086100" algn="l"/>
              </a:tabLst>
              <a:defRPr/>
            </a:pPr>
            <a:r>
              <a:rPr lang="en-US" sz="1600" baseline="30000" dirty="0">
                <a:solidFill>
                  <a:schemeClr val="tx1"/>
                </a:solidFill>
                <a:latin typeface="Roboto" panose="02000000000000000000" pitchFamily="2" charset="0"/>
                <a:ea typeface="Roboto" panose="02000000000000000000" pitchFamily="2" charset="0"/>
                <a:cs typeface="Arial" pitchFamily="34" charset="0"/>
              </a:rPr>
              <a:t>_____________________________</a:t>
            </a:r>
            <a:endParaRPr lang="en-US" sz="1600" u="sng" dirty="0">
              <a:solidFill>
                <a:schemeClr val="tx1"/>
              </a:solidFill>
              <a:latin typeface="Roboto" panose="02000000000000000000" pitchFamily="2" charset="0"/>
              <a:ea typeface="Roboto" panose="02000000000000000000" pitchFamily="2" charset="0"/>
              <a:cs typeface="Arial" pitchFamily="34" charset="0"/>
            </a:endParaRPr>
          </a:p>
          <a:p>
            <a:pPr marL="342900" indent="-342900" algn="ctr">
              <a:lnSpc>
                <a:spcPct val="75000"/>
              </a:lnSpc>
              <a:spcBef>
                <a:spcPct val="20000"/>
              </a:spcBef>
              <a:buClr>
                <a:schemeClr val="accent1"/>
              </a:buClr>
              <a:buSzPct val="90000"/>
              <a:buFont typeface="Wingdings" pitchFamily="2" charset="2"/>
              <a:buNone/>
              <a:tabLst>
                <a:tab pos="3086100" algn="l"/>
              </a:tabLst>
              <a:defRPr/>
            </a:pPr>
            <a:r>
              <a:rPr lang="en-US" sz="1600" dirty="0">
                <a:solidFill>
                  <a:schemeClr val="tx1"/>
                </a:solidFill>
                <a:latin typeface="Roboto" panose="02000000000000000000" pitchFamily="2" charset="0"/>
                <a:ea typeface="Roboto" panose="02000000000000000000" pitchFamily="2" charset="0"/>
                <a:cs typeface="Arial" pitchFamily="34" charset="0"/>
              </a:rPr>
              <a:t>Customer Demand</a:t>
            </a:r>
          </a:p>
        </p:txBody>
      </p:sp>
      <p:sp>
        <p:nvSpPr>
          <p:cNvPr id="22" name="Rectangle 2">
            <a:extLst>
              <a:ext uri="{FF2B5EF4-FFF2-40B4-BE49-F238E27FC236}">
                <a16:creationId xmlns:a16="http://schemas.microsoft.com/office/drawing/2014/main" id="{8BF6FE3F-6EE4-E6CE-4A9D-CC2CE4F59270}"/>
              </a:ext>
            </a:extLst>
          </p:cNvPr>
          <p:cNvSpPr>
            <a:spLocks noChangeArrowheads="1"/>
          </p:cNvSpPr>
          <p:nvPr/>
        </p:nvSpPr>
        <p:spPr bwMode="auto">
          <a:xfrm>
            <a:off x="699453" y="1951990"/>
            <a:ext cx="5320348" cy="4237672"/>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a:solidFill>
                <a:schemeClr val="bg1"/>
              </a:solidFill>
              <a:latin typeface="Roboto" panose="02000000000000000000" pitchFamily="2" charset="0"/>
              <a:ea typeface="Roboto" panose="02000000000000000000" pitchFamily="2" charset="0"/>
            </a:endParaRPr>
          </a:p>
        </p:txBody>
      </p:sp>
      <p:grpSp>
        <p:nvGrpSpPr>
          <p:cNvPr id="28" name="Group 27">
            <a:extLst>
              <a:ext uri="{FF2B5EF4-FFF2-40B4-BE49-F238E27FC236}">
                <a16:creationId xmlns:a16="http://schemas.microsoft.com/office/drawing/2014/main" id="{7F2148FB-7EEB-02C7-382F-5CEE94FE317E}"/>
              </a:ext>
            </a:extLst>
          </p:cNvPr>
          <p:cNvGrpSpPr/>
          <p:nvPr/>
        </p:nvGrpSpPr>
        <p:grpSpPr>
          <a:xfrm>
            <a:off x="1295877" y="2846387"/>
            <a:ext cx="4127500" cy="2469205"/>
            <a:chOff x="1233487" y="2702335"/>
            <a:chExt cx="4127500" cy="2469205"/>
          </a:xfrm>
        </p:grpSpPr>
        <p:sp>
          <p:nvSpPr>
            <p:cNvPr id="23" name="Rectangle 11">
              <a:extLst>
                <a:ext uri="{FF2B5EF4-FFF2-40B4-BE49-F238E27FC236}">
                  <a16:creationId xmlns:a16="http://schemas.microsoft.com/office/drawing/2014/main" id="{DE8770CD-86D1-49C3-74D0-B280C190D6D1}"/>
                </a:ext>
              </a:extLst>
            </p:cNvPr>
            <p:cNvSpPr>
              <a:spLocks noChangeArrowheads="1"/>
            </p:cNvSpPr>
            <p:nvPr/>
          </p:nvSpPr>
          <p:spPr bwMode="auto">
            <a:xfrm>
              <a:off x="1233487" y="2708685"/>
              <a:ext cx="4127500" cy="2462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400" b="0" dirty="0">
                  <a:latin typeface="Roboto" panose="02000000000000000000" pitchFamily="2" charset="0"/>
                  <a:ea typeface="Roboto" panose="02000000000000000000" pitchFamily="2" charset="0"/>
                </a:rPr>
                <a:t>____ </a:t>
              </a:r>
              <a:r>
                <a:rPr lang="en-US" altLang="en-US" sz="1400" dirty="0" err="1">
                  <a:latin typeface="Roboto" panose="02000000000000000000" pitchFamily="2" charset="0"/>
                  <a:ea typeface="Roboto" panose="02000000000000000000" pitchFamily="2" charset="0"/>
                </a:rPr>
                <a:t>Hrs</a:t>
              </a:r>
              <a:r>
                <a:rPr lang="en-US" altLang="en-US" sz="1400" dirty="0">
                  <a:latin typeface="Roboto" panose="02000000000000000000" pitchFamily="2" charset="0"/>
                  <a:ea typeface="Roboto" panose="02000000000000000000" pitchFamily="2" charset="0"/>
                </a:rPr>
                <a:t> = _________  Minutes (Based on 			  standard work shift)</a:t>
              </a:r>
            </a:p>
            <a:p>
              <a:pPr algn="ctr">
                <a:lnSpc>
                  <a:spcPct val="100000"/>
                </a:lnSpc>
                <a:spcAft>
                  <a:spcPct val="0"/>
                </a:spcAft>
                <a:buClrTx/>
                <a:buSzTx/>
                <a:buFontTx/>
                <a:buNone/>
              </a:pPr>
              <a:r>
                <a:rPr lang="en-US" altLang="en-US" sz="1400" dirty="0">
                  <a:latin typeface="Roboto" panose="02000000000000000000" pitchFamily="2" charset="0"/>
                  <a:ea typeface="Roboto" panose="02000000000000000000" pitchFamily="2" charset="0"/>
                </a:rPr>
                <a:t>	- ________  Minutes (Break Time)</a:t>
              </a:r>
            </a:p>
            <a:p>
              <a:pPr algn="ctr">
                <a:lnSpc>
                  <a:spcPct val="100000"/>
                </a:lnSpc>
                <a:spcAft>
                  <a:spcPct val="0"/>
                </a:spcAft>
                <a:buClrTx/>
                <a:buSzTx/>
                <a:buFontTx/>
                <a:buNone/>
              </a:pPr>
              <a:r>
                <a:rPr lang="en-US" altLang="en-US" sz="1400" dirty="0">
                  <a:latin typeface="Roboto" panose="02000000000000000000" pitchFamily="2" charset="0"/>
                  <a:ea typeface="Roboto" panose="02000000000000000000" pitchFamily="2" charset="0"/>
                </a:rPr>
                <a:t>	- ________   Minutes (Wash Time)</a:t>
              </a:r>
            </a:p>
            <a:p>
              <a:pPr algn="ctr">
                <a:lnSpc>
                  <a:spcPct val="100000"/>
                </a:lnSpc>
                <a:spcAft>
                  <a:spcPct val="0"/>
                </a:spcAft>
                <a:buClrTx/>
                <a:buSzTx/>
                <a:buFontTx/>
                <a:buNone/>
              </a:pPr>
              <a:r>
                <a:rPr lang="en-US" altLang="en-US" sz="1400" dirty="0">
                  <a:latin typeface="Roboto" panose="02000000000000000000" pitchFamily="2" charset="0"/>
                  <a:ea typeface="Roboto" panose="02000000000000000000" pitchFamily="2" charset="0"/>
                </a:rPr>
                <a:t>	- ________   Minutes (Clean-up)</a:t>
              </a:r>
            </a:p>
            <a:p>
              <a:pPr algn="ctr">
                <a:lnSpc>
                  <a:spcPct val="100000"/>
                </a:lnSpc>
                <a:spcAft>
                  <a:spcPct val="0"/>
                </a:spcAft>
                <a:buClrTx/>
                <a:buSzTx/>
                <a:buFontTx/>
                <a:buNone/>
              </a:pPr>
              <a:endParaRPr lang="en-US" altLang="en-US" sz="1400" dirty="0">
                <a:latin typeface="Roboto" panose="02000000000000000000" pitchFamily="2" charset="0"/>
                <a:ea typeface="Roboto" panose="02000000000000000000" pitchFamily="2" charset="0"/>
              </a:endParaRPr>
            </a:p>
            <a:p>
              <a:pPr algn="ctr">
                <a:lnSpc>
                  <a:spcPct val="100000"/>
                </a:lnSpc>
                <a:spcAft>
                  <a:spcPct val="0"/>
                </a:spcAft>
                <a:buClrTx/>
                <a:buSzTx/>
                <a:buFontTx/>
                <a:buNone/>
              </a:pPr>
              <a:r>
                <a:rPr lang="en-US" altLang="en-US" sz="1400" dirty="0">
                  <a:latin typeface="Roboto" panose="02000000000000000000" pitchFamily="2" charset="0"/>
                  <a:ea typeface="Roboto" panose="02000000000000000000" pitchFamily="2" charset="0"/>
                </a:rPr>
                <a:t>Total	 ______ Available Minutes per Shift</a:t>
              </a:r>
            </a:p>
            <a:p>
              <a:pPr algn="ctr">
                <a:lnSpc>
                  <a:spcPct val="100000"/>
                </a:lnSpc>
                <a:spcAft>
                  <a:spcPct val="0"/>
                </a:spcAft>
                <a:buClrTx/>
                <a:buSzTx/>
                <a:buFontTx/>
                <a:buNone/>
              </a:pPr>
              <a:endParaRPr lang="en-US" altLang="en-US" sz="1400" dirty="0">
                <a:latin typeface="Roboto" panose="02000000000000000000" pitchFamily="2" charset="0"/>
                <a:ea typeface="Roboto" panose="02000000000000000000" pitchFamily="2" charset="0"/>
              </a:endParaRPr>
            </a:p>
          </p:txBody>
        </p:sp>
        <p:sp>
          <p:nvSpPr>
            <p:cNvPr id="24" name="Text Box 15">
              <a:extLst>
                <a:ext uri="{FF2B5EF4-FFF2-40B4-BE49-F238E27FC236}">
                  <a16:creationId xmlns:a16="http://schemas.microsoft.com/office/drawing/2014/main" id="{A9CE1A36-CCE5-1F62-C39C-B91969FC49A3}"/>
                </a:ext>
              </a:extLst>
            </p:cNvPr>
            <p:cNvSpPr txBox="1">
              <a:spLocks noChangeArrowheads="1"/>
            </p:cNvSpPr>
            <p:nvPr/>
          </p:nvSpPr>
          <p:spPr bwMode="auto">
            <a:xfrm>
              <a:off x="1335850" y="2707098"/>
              <a:ext cx="301686" cy="29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8</a:t>
              </a:r>
            </a:p>
          </p:txBody>
        </p:sp>
        <p:sp>
          <p:nvSpPr>
            <p:cNvPr id="25" name="Text Box 16">
              <a:extLst>
                <a:ext uri="{FF2B5EF4-FFF2-40B4-BE49-F238E27FC236}">
                  <a16:creationId xmlns:a16="http://schemas.microsoft.com/office/drawing/2014/main" id="{FADF454A-622F-F9BD-225E-0B1E39AAD1AE}"/>
                </a:ext>
              </a:extLst>
            </p:cNvPr>
            <p:cNvSpPr txBox="1">
              <a:spLocks noChangeArrowheads="1"/>
            </p:cNvSpPr>
            <p:nvPr/>
          </p:nvSpPr>
          <p:spPr bwMode="auto">
            <a:xfrm>
              <a:off x="2484069" y="2702335"/>
              <a:ext cx="535724" cy="29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480</a:t>
              </a:r>
            </a:p>
          </p:txBody>
        </p:sp>
        <p:sp>
          <p:nvSpPr>
            <p:cNvPr id="26" name="Text Box 17">
              <a:extLst>
                <a:ext uri="{FF2B5EF4-FFF2-40B4-BE49-F238E27FC236}">
                  <a16:creationId xmlns:a16="http://schemas.microsoft.com/office/drawing/2014/main" id="{563A4714-B5D6-A7A8-08EA-D05A6025B755}"/>
                </a:ext>
              </a:extLst>
            </p:cNvPr>
            <p:cNvSpPr txBox="1">
              <a:spLocks noChangeArrowheads="1"/>
            </p:cNvSpPr>
            <p:nvPr/>
          </p:nvSpPr>
          <p:spPr bwMode="auto">
            <a:xfrm>
              <a:off x="2617985" y="3164298"/>
              <a:ext cx="418704" cy="29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30</a:t>
              </a:r>
            </a:p>
          </p:txBody>
        </p:sp>
        <p:sp>
          <p:nvSpPr>
            <p:cNvPr id="27" name="Text Box 18">
              <a:extLst>
                <a:ext uri="{FF2B5EF4-FFF2-40B4-BE49-F238E27FC236}">
                  <a16:creationId xmlns:a16="http://schemas.microsoft.com/office/drawing/2014/main" id="{5D9D5CA6-A046-B5AE-8C22-E9A48C9B171F}"/>
                </a:ext>
              </a:extLst>
            </p:cNvPr>
            <p:cNvSpPr txBox="1">
              <a:spLocks noChangeArrowheads="1"/>
            </p:cNvSpPr>
            <p:nvPr/>
          </p:nvSpPr>
          <p:spPr bwMode="auto">
            <a:xfrm>
              <a:off x="2357069" y="4497798"/>
              <a:ext cx="535724" cy="29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450</a:t>
              </a:r>
            </a:p>
          </p:txBody>
        </p:sp>
      </p:grpSp>
      <p:sp>
        <p:nvSpPr>
          <p:cNvPr id="29" name="Text Box 20">
            <a:extLst>
              <a:ext uri="{FF2B5EF4-FFF2-40B4-BE49-F238E27FC236}">
                <a16:creationId xmlns:a16="http://schemas.microsoft.com/office/drawing/2014/main" id="{1BF816DC-9E71-3AFB-CBC3-5656070B6554}"/>
              </a:ext>
            </a:extLst>
          </p:cNvPr>
          <p:cNvSpPr txBox="1">
            <a:spLocks noChangeArrowheads="1"/>
          </p:cNvSpPr>
          <p:nvPr/>
        </p:nvSpPr>
        <p:spPr bwMode="auto">
          <a:xfrm>
            <a:off x="6867099" y="3599712"/>
            <a:ext cx="2985113" cy="29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accent1"/>
                </a:solidFill>
                <a:latin typeface="Roboto" panose="02000000000000000000" pitchFamily="2" charset="0"/>
                <a:ea typeface="Roboto" panose="02000000000000000000" pitchFamily="2" charset="0"/>
              </a:rPr>
              <a:t>Customer Demand = 890 units</a:t>
            </a:r>
          </a:p>
        </p:txBody>
      </p:sp>
      <p:sp>
        <p:nvSpPr>
          <p:cNvPr id="30" name="Rectangle 8">
            <a:extLst>
              <a:ext uri="{FF2B5EF4-FFF2-40B4-BE49-F238E27FC236}">
                <a16:creationId xmlns:a16="http://schemas.microsoft.com/office/drawing/2014/main" id="{4D454BF6-C9F8-7109-0394-23E01DA997C9}"/>
              </a:ext>
            </a:extLst>
          </p:cNvPr>
          <p:cNvSpPr>
            <a:spLocks noChangeArrowheads="1"/>
          </p:cNvSpPr>
          <p:nvPr/>
        </p:nvSpPr>
        <p:spPr bwMode="auto">
          <a:xfrm>
            <a:off x="7517460" y="4478056"/>
            <a:ext cx="4510162"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________ Minutes Available x 60 = ________ Seconds per shift</a:t>
            </a:r>
          </a:p>
          <a:p>
            <a:pPr algn="ctr">
              <a:lnSpc>
                <a:spcPct val="80000"/>
              </a:lnSpc>
              <a:spcBef>
                <a:spcPct val="20000"/>
              </a:spcBef>
              <a:spcAft>
                <a:spcPct val="0"/>
              </a:spcAft>
              <a:buClrTx/>
              <a:buSzTx/>
              <a:buFontTx/>
              <a:buNone/>
            </a:pPr>
            <a:endParaRPr lang="en-US" altLang="en-US" sz="14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________ Seconds Divided by _____ pcs/shift = _______ Seconds</a:t>
            </a:r>
          </a:p>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	          </a:t>
            </a:r>
          </a:p>
          <a:p>
            <a:pPr algn="ctr">
              <a:lnSpc>
                <a:spcPct val="80000"/>
              </a:lnSpc>
              <a:spcBef>
                <a:spcPct val="20000"/>
              </a:spcBef>
              <a:spcAft>
                <a:spcPct val="0"/>
              </a:spcAft>
              <a:buClrTx/>
              <a:buSzTx/>
              <a:buFontTx/>
              <a:buNone/>
            </a:pPr>
            <a:r>
              <a:rPr lang="en-US" altLang="en-US" sz="1400" dirty="0">
                <a:solidFill>
                  <a:schemeClr val="accent1"/>
                </a:solidFill>
                <a:latin typeface="Roboto" panose="02000000000000000000" pitchFamily="2" charset="0"/>
                <a:ea typeface="Roboto" panose="02000000000000000000" pitchFamily="2" charset="0"/>
              </a:rPr>
              <a:t>TAKT Time = __________ Seconds </a:t>
            </a:r>
            <a:br>
              <a:rPr lang="en-US" altLang="en-US" sz="1400" dirty="0">
                <a:solidFill>
                  <a:schemeClr val="accent1"/>
                </a:solidFill>
                <a:latin typeface="Roboto" panose="02000000000000000000" pitchFamily="2" charset="0"/>
                <a:ea typeface="Roboto" panose="02000000000000000000" pitchFamily="2" charset="0"/>
              </a:rPr>
            </a:br>
            <a:r>
              <a:rPr lang="en-US" altLang="en-US" sz="1400" dirty="0">
                <a:solidFill>
                  <a:schemeClr val="accent1"/>
                </a:solidFill>
                <a:latin typeface="Roboto" panose="02000000000000000000" pitchFamily="2" charset="0"/>
                <a:ea typeface="Roboto" panose="02000000000000000000" pitchFamily="2" charset="0"/>
              </a:rPr>
              <a:t>per Piece</a:t>
            </a:r>
          </a:p>
          <a:p>
            <a:pPr algn="ctr">
              <a:lnSpc>
                <a:spcPct val="100000"/>
              </a:lnSpc>
              <a:spcAft>
                <a:spcPct val="0"/>
              </a:spcAft>
              <a:buClrTx/>
              <a:buSzTx/>
              <a:buFontTx/>
              <a:buNone/>
            </a:pPr>
            <a:endParaRPr lang="en-US" altLang="en-US" sz="1400" dirty="0">
              <a:latin typeface="Roboto" panose="02000000000000000000" pitchFamily="2" charset="0"/>
              <a:ea typeface="Roboto" panose="02000000000000000000" pitchFamily="2" charset="0"/>
            </a:endParaRPr>
          </a:p>
        </p:txBody>
      </p:sp>
      <p:sp>
        <p:nvSpPr>
          <p:cNvPr id="31" name="Text Box 19">
            <a:extLst>
              <a:ext uri="{FF2B5EF4-FFF2-40B4-BE49-F238E27FC236}">
                <a16:creationId xmlns:a16="http://schemas.microsoft.com/office/drawing/2014/main" id="{44ACC25B-09EF-B306-C6B6-151797797682}"/>
              </a:ext>
            </a:extLst>
          </p:cNvPr>
          <p:cNvSpPr txBox="1">
            <a:spLocks noChangeArrowheads="1"/>
          </p:cNvSpPr>
          <p:nvPr/>
        </p:nvSpPr>
        <p:spPr bwMode="auto">
          <a:xfrm>
            <a:off x="7760346" y="4435194"/>
            <a:ext cx="682855" cy="29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450</a:t>
            </a:r>
          </a:p>
        </p:txBody>
      </p:sp>
      <p:sp>
        <p:nvSpPr>
          <p:cNvPr id="32" name="Text Box 21">
            <a:extLst>
              <a:ext uri="{FF2B5EF4-FFF2-40B4-BE49-F238E27FC236}">
                <a16:creationId xmlns:a16="http://schemas.microsoft.com/office/drawing/2014/main" id="{B770E49A-41B7-1723-7161-CD43A8962E19}"/>
              </a:ext>
            </a:extLst>
          </p:cNvPr>
          <p:cNvSpPr txBox="1">
            <a:spLocks noChangeArrowheads="1"/>
          </p:cNvSpPr>
          <p:nvPr/>
        </p:nvSpPr>
        <p:spPr bwMode="auto">
          <a:xfrm>
            <a:off x="9825712" y="5031156"/>
            <a:ext cx="682854" cy="29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890</a:t>
            </a:r>
          </a:p>
        </p:txBody>
      </p:sp>
      <p:grpSp>
        <p:nvGrpSpPr>
          <p:cNvPr id="3" name="Group 2">
            <a:extLst>
              <a:ext uri="{FF2B5EF4-FFF2-40B4-BE49-F238E27FC236}">
                <a16:creationId xmlns:a16="http://schemas.microsoft.com/office/drawing/2014/main" id="{94605CEB-9A5D-2ACF-26DA-FECC728BE58B}"/>
              </a:ext>
            </a:extLst>
          </p:cNvPr>
          <p:cNvGrpSpPr/>
          <p:nvPr/>
        </p:nvGrpSpPr>
        <p:grpSpPr>
          <a:xfrm>
            <a:off x="838200" y="297639"/>
            <a:ext cx="4220210" cy="301303"/>
            <a:chOff x="838200" y="297639"/>
            <a:chExt cx="4220210" cy="301303"/>
          </a:xfrm>
        </p:grpSpPr>
        <p:sp>
          <p:nvSpPr>
            <p:cNvPr id="4" name="AutoShape 9">
              <a:extLst>
                <a:ext uri="{FF2B5EF4-FFF2-40B4-BE49-F238E27FC236}">
                  <a16:creationId xmlns:a16="http://schemas.microsoft.com/office/drawing/2014/main" id="{84B7FC48-3A27-48BD-AE07-6AF75ACB5990}"/>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6" name="Group 15">
              <a:extLst>
                <a:ext uri="{FF2B5EF4-FFF2-40B4-BE49-F238E27FC236}">
                  <a16:creationId xmlns:a16="http://schemas.microsoft.com/office/drawing/2014/main" id="{17ED07B0-D7E0-8132-78B6-8B00D9D9873F}"/>
                </a:ext>
              </a:extLst>
            </p:cNvPr>
            <p:cNvGrpSpPr/>
            <p:nvPr/>
          </p:nvGrpSpPr>
          <p:grpSpPr>
            <a:xfrm>
              <a:off x="838200" y="297639"/>
              <a:ext cx="4220210" cy="301303"/>
              <a:chOff x="838200" y="297639"/>
              <a:chExt cx="4220210" cy="301303"/>
            </a:xfrm>
          </p:grpSpPr>
          <p:grpSp>
            <p:nvGrpSpPr>
              <p:cNvPr id="18" name="Group 17">
                <a:extLst>
                  <a:ext uri="{FF2B5EF4-FFF2-40B4-BE49-F238E27FC236}">
                    <a16:creationId xmlns:a16="http://schemas.microsoft.com/office/drawing/2014/main" id="{84212400-61D5-B6AA-DDD0-C8CB165A57FE}"/>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0CC787D-D121-1A3E-96C3-EBEE50CCC55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91F4392D-C587-97B8-47F7-7F4F23EB0A8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3" name="AutoShape 10">
                  <a:extLst>
                    <a:ext uri="{FF2B5EF4-FFF2-40B4-BE49-F238E27FC236}">
                      <a16:creationId xmlns:a16="http://schemas.microsoft.com/office/drawing/2014/main" id="{D1EF3E47-6523-B3F5-75BB-7F4E3BC2CC12}"/>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9" name="TextBox 18">
                <a:extLst>
                  <a:ext uri="{FF2B5EF4-FFF2-40B4-BE49-F238E27FC236}">
                    <a16:creationId xmlns:a16="http://schemas.microsoft.com/office/drawing/2014/main" id="{B575A850-2056-66F7-8F12-67FDC62300F4}"/>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Cycle Time</a:t>
                </a:r>
              </a:p>
            </p:txBody>
          </p:sp>
        </p:grpSp>
      </p:grpSp>
    </p:spTree>
    <p:extLst>
      <p:ext uri="{BB962C8B-B14F-4D97-AF65-F5344CB8AC3E}">
        <p14:creationId xmlns:p14="http://schemas.microsoft.com/office/powerpoint/2010/main" val="3480075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Three Types of Cycle Time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grpSp>
        <p:nvGrpSpPr>
          <p:cNvPr id="16" name="Group 15">
            <a:extLst>
              <a:ext uri="{FF2B5EF4-FFF2-40B4-BE49-F238E27FC236}">
                <a16:creationId xmlns:a16="http://schemas.microsoft.com/office/drawing/2014/main" id="{E459EE76-BE5E-9E41-5B74-5766BBE9B3C6}"/>
              </a:ext>
            </a:extLst>
          </p:cNvPr>
          <p:cNvGrpSpPr/>
          <p:nvPr/>
        </p:nvGrpSpPr>
        <p:grpSpPr>
          <a:xfrm>
            <a:off x="1323340" y="2085975"/>
            <a:ext cx="9545320" cy="3908425"/>
            <a:chOff x="838200" y="2085975"/>
            <a:chExt cx="8213725" cy="3249613"/>
          </a:xfrm>
        </p:grpSpPr>
        <p:grpSp>
          <p:nvGrpSpPr>
            <p:cNvPr id="3" name="Group 3">
              <a:extLst>
                <a:ext uri="{FF2B5EF4-FFF2-40B4-BE49-F238E27FC236}">
                  <a16:creationId xmlns:a16="http://schemas.microsoft.com/office/drawing/2014/main" id="{F33CC1EF-93A5-10D7-58AA-6EA2E0EBB045}"/>
                </a:ext>
              </a:extLst>
            </p:cNvPr>
            <p:cNvGrpSpPr>
              <a:grpSpLocks/>
            </p:cNvGrpSpPr>
            <p:nvPr/>
          </p:nvGrpSpPr>
          <p:grpSpPr bwMode="auto">
            <a:xfrm>
              <a:off x="862012" y="2235200"/>
              <a:ext cx="8189913" cy="466725"/>
              <a:chOff x="562" y="1785"/>
              <a:chExt cx="4831" cy="294"/>
            </a:xfrm>
          </p:grpSpPr>
          <p:sp>
            <p:nvSpPr>
              <p:cNvPr id="5" name="AutoShape 4">
                <a:extLst>
                  <a:ext uri="{FF2B5EF4-FFF2-40B4-BE49-F238E27FC236}">
                    <a16:creationId xmlns:a16="http://schemas.microsoft.com/office/drawing/2014/main" id="{5D84D664-07C7-B409-9B2E-0F484CFD6B9C}"/>
                  </a:ext>
                </a:extLst>
              </p:cNvPr>
              <p:cNvSpPr>
                <a:spLocks noChangeArrowheads="1"/>
              </p:cNvSpPr>
              <p:nvPr/>
            </p:nvSpPr>
            <p:spPr bwMode="auto">
              <a:xfrm>
                <a:off x="3660" y="1785"/>
                <a:ext cx="1733" cy="294"/>
              </a:xfrm>
              <a:prstGeom prst="homePlate">
                <a:avLst>
                  <a:gd name="adj" fmla="val 48603"/>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Processing Cycle Time</a:t>
                </a:r>
              </a:p>
            </p:txBody>
          </p:sp>
          <p:sp>
            <p:nvSpPr>
              <p:cNvPr id="6" name="AutoShape 5">
                <a:extLst>
                  <a:ext uri="{FF2B5EF4-FFF2-40B4-BE49-F238E27FC236}">
                    <a16:creationId xmlns:a16="http://schemas.microsoft.com/office/drawing/2014/main" id="{397FB19D-58E8-CC48-70FA-02F5E2D9BFCE}"/>
                  </a:ext>
                </a:extLst>
              </p:cNvPr>
              <p:cNvSpPr>
                <a:spLocks noChangeArrowheads="1"/>
              </p:cNvSpPr>
              <p:nvPr/>
            </p:nvSpPr>
            <p:spPr bwMode="auto">
              <a:xfrm>
                <a:off x="2105" y="1785"/>
                <a:ext cx="1733" cy="294"/>
              </a:xfrm>
              <a:prstGeom prst="homePlate">
                <a:avLst>
                  <a:gd name="adj" fmla="val 48603"/>
                </a:avLst>
              </a:prstGeom>
              <a:solidFill>
                <a:schemeClr val="accent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Machine Cycle Time</a:t>
                </a:r>
              </a:p>
            </p:txBody>
          </p:sp>
          <p:sp>
            <p:nvSpPr>
              <p:cNvPr id="7" name="AutoShape 6">
                <a:extLst>
                  <a:ext uri="{FF2B5EF4-FFF2-40B4-BE49-F238E27FC236}">
                    <a16:creationId xmlns:a16="http://schemas.microsoft.com/office/drawing/2014/main" id="{D9350E00-CF12-100D-8AAE-0394B8F4711B}"/>
                  </a:ext>
                </a:extLst>
              </p:cNvPr>
              <p:cNvSpPr>
                <a:spLocks noChangeArrowheads="1"/>
              </p:cNvSpPr>
              <p:nvPr/>
            </p:nvSpPr>
            <p:spPr bwMode="auto">
              <a:xfrm>
                <a:off x="562" y="1785"/>
                <a:ext cx="1733" cy="294"/>
              </a:xfrm>
              <a:prstGeom prst="homePlate">
                <a:avLst>
                  <a:gd name="adj" fmla="val 48603"/>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Operator Cycle Time</a:t>
                </a:r>
              </a:p>
            </p:txBody>
          </p:sp>
        </p:grpSp>
        <p:sp>
          <p:nvSpPr>
            <p:cNvPr id="8" name="Rectangle 7">
              <a:extLst>
                <a:ext uri="{FF2B5EF4-FFF2-40B4-BE49-F238E27FC236}">
                  <a16:creationId xmlns:a16="http://schemas.microsoft.com/office/drawing/2014/main" id="{0E08FB0D-FFEC-9970-590D-1637D209B41B}"/>
                </a:ext>
              </a:extLst>
            </p:cNvPr>
            <p:cNvSpPr>
              <a:spLocks noChangeArrowheads="1"/>
            </p:cNvSpPr>
            <p:nvPr/>
          </p:nvSpPr>
          <p:spPr bwMode="auto">
            <a:xfrm>
              <a:off x="866775" y="2752725"/>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The amount of time it takes an operator to complete one full cycle in his/her assigned work sequence </a:t>
              </a:r>
            </a:p>
          </p:txBody>
        </p:sp>
        <p:sp>
          <p:nvSpPr>
            <p:cNvPr id="9" name="Rectangle 8">
              <a:extLst>
                <a:ext uri="{FF2B5EF4-FFF2-40B4-BE49-F238E27FC236}">
                  <a16:creationId xmlns:a16="http://schemas.microsoft.com/office/drawing/2014/main" id="{2F0E33F3-DDF6-DA64-C447-22C347C8D5BE}"/>
                </a:ext>
              </a:extLst>
            </p:cNvPr>
            <p:cNvSpPr>
              <a:spLocks noChangeArrowheads="1"/>
            </p:cNvSpPr>
            <p:nvPr/>
          </p:nvSpPr>
          <p:spPr bwMode="auto">
            <a:xfrm>
              <a:off x="3627437" y="2774950"/>
              <a:ext cx="25273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Defined as the amount of time it takes a machine to completely finish one full cycle (start/stop time)</a:t>
              </a:r>
            </a:p>
          </p:txBody>
        </p:sp>
        <p:sp>
          <p:nvSpPr>
            <p:cNvPr id="10" name="Rectangle 9">
              <a:extLst>
                <a:ext uri="{FF2B5EF4-FFF2-40B4-BE49-F238E27FC236}">
                  <a16:creationId xmlns:a16="http://schemas.microsoft.com/office/drawing/2014/main" id="{847BE63F-9215-3F03-C363-451B53949A5A}"/>
                </a:ext>
              </a:extLst>
            </p:cNvPr>
            <p:cNvSpPr>
              <a:spLocks noChangeArrowheads="1"/>
            </p:cNvSpPr>
            <p:nvPr/>
          </p:nvSpPr>
          <p:spPr bwMode="auto">
            <a:xfrm>
              <a:off x="6280150" y="27606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2000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The machine cycle time PLUS the manual time it takes an operator to unload, load, and cycle start the machine and amortized tool change time</a:t>
              </a:r>
            </a:p>
            <a:p>
              <a:pPr eaLnBrk="1" hangingPunct="1">
                <a:lnSpc>
                  <a:spcPct val="100000"/>
                </a:lnSpc>
                <a:spcBef>
                  <a:spcPct val="0"/>
                </a:spcBef>
                <a:spcAft>
                  <a:spcPct val="20000"/>
                </a:spcAft>
                <a:buClr>
                  <a:schemeClr val="tx1"/>
                </a:buClr>
                <a:buFont typeface="Arial" panose="020B0604020202020204" pitchFamily="34" charset="0"/>
                <a:buChar char="•"/>
              </a:pPr>
              <a:endParaRPr lang="en-US" altLang="en-US" sz="1600" dirty="0">
                <a:latin typeface="Roboto" panose="02000000000000000000" pitchFamily="2" charset="0"/>
                <a:ea typeface="Roboto" panose="02000000000000000000" pitchFamily="2" charset="0"/>
              </a:endParaRPr>
            </a:p>
          </p:txBody>
        </p:sp>
        <p:sp>
          <p:nvSpPr>
            <p:cNvPr id="11" name="Oval 10">
              <a:extLst>
                <a:ext uri="{FF2B5EF4-FFF2-40B4-BE49-F238E27FC236}">
                  <a16:creationId xmlns:a16="http://schemas.microsoft.com/office/drawing/2014/main" id="{6259752F-6352-70AE-8577-FA0AE9363EF0}"/>
                </a:ext>
              </a:extLst>
            </p:cNvPr>
            <p:cNvSpPr>
              <a:spLocks noChangeArrowheads="1"/>
            </p:cNvSpPr>
            <p:nvPr/>
          </p:nvSpPr>
          <p:spPr bwMode="auto">
            <a:xfrm>
              <a:off x="992187" y="2089150"/>
              <a:ext cx="323850" cy="287338"/>
            </a:xfrm>
            <a:prstGeom prst="ellipse">
              <a:avLst/>
            </a:prstGeom>
            <a:solidFill>
              <a:schemeClr val="bg1"/>
            </a:solidFill>
            <a:ln w="19050" cap="sq">
              <a:solidFill>
                <a:srgbClr val="000066"/>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1</a:t>
              </a:r>
            </a:p>
          </p:txBody>
        </p:sp>
        <p:sp>
          <p:nvSpPr>
            <p:cNvPr id="12" name="Oval 11">
              <a:extLst>
                <a:ext uri="{FF2B5EF4-FFF2-40B4-BE49-F238E27FC236}">
                  <a16:creationId xmlns:a16="http://schemas.microsoft.com/office/drawing/2014/main" id="{3499317C-C91A-D4E5-4A65-F5334EF211CF}"/>
                </a:ext>
              </a:extLst>
            </p:cNvPr>
            <p:cNvSpPr>
              <a:spLocks noChangeArrowheads="1"/>
            </p:cNvSpPr>
            <p:nvPr/>
          </p:nvSpPr>
          <p:spPr bwMode="auto">
            <a:xfrm>
              <a:off x="3663950" y="2097088"/>
              <a:ext cx="323850" cy="287337"/>
            </a:xfrm>
            <a:prstGeom prst="ellipse">
              <a:avLst/>
            </a:prstGeom>
            <a:solidFill>
              <a:schemeClr val="bg1"/>
            </a:solidFill>
            <a:ln w="19050" cap="sq">
              <a:solidFill>
                <a:srgbClr val="000066"/>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2</a:t>
              </a:r>
            </a:p>
          </p:txBody>
        </p:sp>
        <p:sp>
          <p:nvSpPr>
            <p:cNvPr id="13" name="Oval 12">
              <a:extLst>
                <a:ext uri="{FF2B5EF4-FFF2-40B4-BE49-F238E27FC236}">
                  <a16:creationId xmlns:a16="http://schemas.microsoft.com/office/drawing/2014/main" id="{9CD5BA8C-36FC-D4FD-B1B4-173EE0AD6180}"/>
                </a:ext>
              </a:extLst>
            </p:cNvPr>
            <p:cNvSpPr>
              <a:spLocks noChangeArrowheads="1"/>
            </p:cNvSpPr>
            <p:nvPr/>
          </p:nvSpPr>
          <p:spPr bwMode="auto">
            <a:xfrm>
              <a:off x="6186487" y="2085975"/>
              <a:ext cx="323850" cy="287338"/>
            </a:xfrm>
            <a:prstGeom prst="ellipse">
              <a:avLst/>
            </a:prstGeom>
            <a:solidFill>
              <a:schemeClr val="bg1"/>
            </a:solidFill>
            <a:ln w="19050" cap="sq">
              <a:solidFill>
                <a:srgbClr val="000066"/>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3</a:t>
              </a:r>
            </a:p>
          </p:txBody>
        </p:sp>
        <p:sp>
          <p:nvSpPr>
            <p:cNvPr id="14" name="AutoShape 13">
              <a:extLst>
                <a:ext uri="{FF2B5EF4-FFF2-40B4-BE49-F238E27FC236}">
                  <a16:creationId xmlns:a16="http://schemas.microsoft.com/office/drawing/2014/main" id="{5BC8D421-9516-4D1A-2C10-FA2769891FC9}"/>
                </a:ext>
              </a:extLst>
            </p:cNvPr>
            <p:cNvSpPr>
              <a:spLocks noChangeArrowheads="1"/>
            </p:cNvSpPr>
            <p:nvPr/>
          </p:nvSpPr>
          <p:spPr bwMode="auto">
            <a:xfrm>
              <a:off x="838200" y="4814888"/>
              <a:ext cx="8204200" cy="520700"/>
            </a:xfrm>
            <a:prstGeom prst="homePlate">
              <a:avLst>
                <a:gd name="adj" fmla="val 32169"/>
              </a:avLst>
            </a:prstGeom>
            <a:solidFill>
              <a:schemeClr val="accent4"/>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Cycle Time is NOT to be confused with Takt Time</a:t>
              </a:r>
            </a:p>
          </p:txBody>
        </p:sp>
      </p:grpSp>
      <p:grpSp>
        <p:nvGrpSpPr>
          <p:cNvPr id="15" name="Group 14">
            <a:extLst>
              <a:ext uri="{FF2B5EF4-FFF2-40B4-BE49-F238E27FC236}">
                <a16:creationId xmlns:a16="http://schemas.microsoft.com/office/drawing/2014/main" id="{B6A896FA-ADBD-3204-C97F-CF6495398131}"/>
              </a:ext>
            </a:extLst>
          </p:cNvPr>
          <p:cNvGrpSpPr/>
          <p:nvPr/>
        </p:nvGrpSpPr>
        <p:grpSpPr>
          <a:xfrm>
            <a:off x="838200" y="297639"/>
            <a:ext cx="4220210" cy="301303"/>
            <a:chOff x="838200" y="297639"/>
            <a:chExt cx="4220210" cy="301303"/>
          </a:xfrm>
        </p:grpSpPr>
        <p:sp>
          <p:nvSpPr>
            <p:cNvPr id="17" name="AutoShape 9">
              <a:extLst>
                <a:ext uri="{FF2B5EF4-FFF2-40B4-BE49-F238E27FC236}">
                  <a16:creationId xmlns:a16="http://schemas.microsoft.com/office/drawing/2014/main" id="{597BC897-EB89-54DD-4AFC-0F2723008F87}"/>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8" name="Group 17">
              <a:extLst>
                <a:ext uri="{FF2B5EF4-FFF2-40B4-BE49-F238E27FC236}">
                  <a16:creationId xmlns:a16="http://schemas.microsoft.com/office/drawing/2014/main" id="{8888755B-5123-387B-7BFA-7E7AB31362DD}"/>
                </a:ext>
              </a:extLst>
            </p:cNvPr>
            <p:cNvGrpSpPr/>
            <p:nvPr/>
          </p:nvGrpSpPr>
          <p:grpSpPr>
            <a:xfrm>
              <a:off x="838200" y="297639"/>
              <a:ext cx="4220210" cy="301303"/>
              <a:chOff x="838200" y="297639"/>
              <a:chExt cx="4220210" cy="301303"/>
            </a:xfrm>
          </p:grpSpPr>
          <p:grpSp>
            <p:nvGrpSpPr>
              <p:cNvPr id="19" name="Group 18">
                <a:extLst>
                  <a:ext uri="{FF2B5EF4-FFF2-40B4-BE49-F238E27FC236}">
                    <a16:creationId xmlns:a16="http://schemas.microsoft.com/office/drawing/2014/main" id="{327A0B5C-357C-DE0B-45F8-2FD54BFB095C}"/>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9F4B9A4C-B788-A7AF-C0CC-4CE686B5D2BF}"/>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CBB01B52-46FB-DFFA-C227-62F8250B31A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0">
                  <a:extLst>
                    <a:ext uri="{FF2B5EF4-FFF2-40B4-BE49-F238E27FC236}">
                      <a16:creationId xmlns:a16="http://schemas.microsoft.com/office/drawing/2014/main" id="{C5D8C28F-242D-6460-34B1-A604B52823D8}"/>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20" name="TextBox 19">
                <a:extLst>
                  <a:ext uri="{FF2B5EF4-FFF2-40B4-BE49-F238E27FC236}">
                    <a16:creationId xmlns:a16="http://schemas.microsoft.com/office/drawing/2014/main" id="{4D62610D-E9C4-C1F2-00CA-2F8BE8AC30EB}"/>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Cycle Time</a:t>
                </a:r>
              </a:p>
            </p:txBody>
          </p:sp>
        </p:grpSp>
      </p:grpSp>
    </p:spTree>
    <p:extLst>
      <p:ext uri="{BB962C8B-B14F-4D97-AF65-F5344CB8AC3E}">
        <p14:creationId xmlns:p14="http://schemas.microsoft.com/office/powerpoint/2010/main" val="3164916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Operator Cycle Time Defined</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838200" y="1769915"/>
            <a:ext cx="5183188" cy="823912"/>
          </a:xfrm>
        </p:spPr>
        <p:txBody>
          <a:bodyPr>
            <a:normAutofit/>
          </a:bodyPr>
          <a:lstStyle/>
          <a:p>
            <a:r>
              <a:rPr lang="en-US" dirty="0"/>
              <a:t>Operator Cycle Time</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531016" y="2505075"/>
            <a:ext cx="5183188" cy="3684588"/>
          </a:xfrm>
        </p:spPr>
        <p:txBody>
          <a:bodyPr>
            <a:normAutofit/>
          </a:bodyPr>
          <a:lstStyle/>
          <a:p>
            <a:r>
              <a:rPr lang="en-US" dirty="0"/>
              <a:t>The amount of time it takes an operator to complete one full cycle in his/her assigned work sequence </a:t>
            </a:r>
          </a:p>
          <a:p>
            <a:r>
              <a:rPr lang="en-US" dirty="0"/>
              <a:t>Example: It takes the first operator 60 seconds to perform operation 1-2-10-11 and return back to 1, ready to begin another cycle</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19</a:t>
            </a:fld>
            <a:endParaRPr lang="en-US"/>
          </a:p>
        </p:txBody>
      </p:sp>
      <p:sp>
        <p:nvSpPr>
          <p:cNvPr id="10" name="AutoShape 4">
            <a:extLst>
              <a:ext uri="{FF2B5EF4-FFF2-40B4-BE49-F238E27FC236}">
                <a16:creationId xmlns:a16="http://schemas.microsoft.com/office/drawing/2014/main" id="{B4A873BF-8708-C6AE-A2C9-7B745CE1A065}"/>
              </a:ext>
            </a:extLst>
          </p:cNvPr>
          <p:cNvSpPr>
            <a:spLocks noChangeArrowheads="1"/>
          </p:cNvSpPr>
          <p:nvPr/>
        </p:nvSpPr>
        <p:spPr bwMode="auto">
          <a:xfrm>
            <a:off x="6076970" y="2874706"/>
            <a:ext cx="285750" cy="2493962"/>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grpSp>
        <p:nvGrpSpPr>
          <p:cNvPr id="12" name="Group 13">
            <a:extLst>
              <a:ext uri="{FF2B5EF4-FFF2-40B4-BE49-F238E27FC236}">
                <a16:creationId xmlns:a16="http://schemas.microsoft.com/office/drawing/2014/main" id="{582C3717-C2A5-1327-F01E-F656B50B9F69}"/>
              </a:ext>
            </a:extLst>
          </p:cNvPr>
          <p:cNvGrpSpPr>
            <a:grpSpLocks/>
          </p:cNvGrpSpPr>
          <p:nvPr/>
        </p:nvGrpSpPr>
        <p:grpSpPr bwMode="auto">
          <a:xfrm>
            <a:off x="415924" y="3083243"/>
            <a:ext cx="5492750" cy="2151062"/>
            <a:chOff x="1008" y="2208"/>
            <a:chExt cx="3936" cy="1392"/>
          </a:xfrm>
        </p:grpSpPr>
        <p:sp>
          <p:nvSpPr>
            <p:cNvPr id="13" name="Line 14">
              <a:extLst>
                <a:ext uri="{FF2B5EF4-FFF2-40B4-BE49-F238E27FC236}">
                  <a16:creationId xmlns:a16="http://schemas.microsoft.com/office/drawing/2014/main" id="{4C673990-3FE7-F254-6317-7F6A248A59FF}"/>
                </a:ext>
              </a:extLst>
            </p:cNvPr>
            <p:cNvSpPr>
              <a:spLocks noChangeShapeType="1"/>
            </p:cNvSpPr>
            <p:nvPr/>
          </p:nvSpPr>
          <p:spPr bwMode="auto">
            <a:xfrm>
              <a:off x="4288" y="2304"/>
              <a:ext cx="576"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 name="Line 15">
              <a:extLst>
                <a:ext uri="{FF2B5EF4-FFF2-40B4-BE49-F238E27FC236}">
                  <a16:creationId xmlns:a16="http://schemas.microsoft.com/office/drawing/2014/main" id="{8C757366-5070-684C-2703-4C2B25D65BBD}"/>
                </a:ext>
              </a:extLst>
            </p:cNvPr>
            <p:cNvSpPr>
              <a:spLocks noChangeShapeType="1"/>
            </p:cNvSpPr>
            <p:nvPr/>
          </p:nvSpPr>
          <p:spPr bwMode="auto">
            <a:xfrm flipV="1">
              <a:off x="4224" y="2976"/>
              <a:ext cx="576"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 name="Line 16">
              <a:extLst>
                <a:ext uri="{FF2B5EF4-FFF2-40B4-BE49-F238E27FC236}">
                  <a16:creationId xmlns:a16="http://schemas.microsoft.com/office/drawing/2014/main" id="{41DCCDA0-D115-95B1-40A3-5A29B1B1FD94}"/>
                </a:ext>
              </a:extLst>
            </p:cNvPr>
            <p:cNvSpPr>
              <a:spLocks noChangeShapeType="1"/>
            </p:cNvSpPr>
            <p:nvPr/>
          </p:nvSpPr>
          <p:spPr bwMode="auto">
            <a:xfrm>
              <a:off x="1008" y="2352"/>
              <a:ext cx="3072" cy="0"/>
            </a:xfrm>
            <a:prstGeom prst="line">
              <a:avLst/>
            </a:prstGeom>
            <a:noFill/>
            <a:ln w="9525">
              <a:solidFill>
                <a:schemeClr val="tx1"/>
              </a:solidFill>
              <a:round/>
              <a:headEnd type="triangle" w="lg" len="lg"/>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 name="Line 17">
              <a:extLst>
                <a:ext uri="{FF2B5EF4-FFF2-40B4-BE49-F238E27FC236}">
                  <a16:creationId xmlns:a16="http://schemas.microsoft.com/office/drawing/2014/main" id="{58CE6FC5-439C-DC2F-4FE1-D7D0A4B51C51}"/>
                </a:ext>
              </a:extLst>
            </p:cNvPr>
            <p:cNvSpPr>
              <a:spLocks noChangeShapeType="1"/>
            </p:cNvSpPr>
            <p:nvPr/>
          </p:nvSpPr>
          <p:spPr bwMode="auto">
            <a:xfrm>
              <a:off x="1008" y="3456"/>
              <a:ext cx="31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 name="Rectangle 18">
              <a:extLst>
                <a:ext uri="{FF2B5EF4-FFF2-40B4-BE49-F238E27FC236}">
                  <a16:creationId xmlns:a16="http://schemas.microsoft.com/office/drawing/2014/main" id="{B90EABD1-6488-292F-DFAB-A9745831CFEC}"/>
                </a:ext>
              </a:extLst>
            </p:cNvPr>
            <p:cNvSpPr>
              <a:spLocks noChangeArrowheads="1"/>
            </p:cNvSpPr>
            <p:nvPr/>
          </p:nvSpPr>
          <p:spPr bwMode="auto">
            <a:xfrm>
              <a:off x="4560" y="2752"/>
              <a:ext cx="384" cy="288"/>
            </a:xfrm>
            <a:prstGeom prst="rect">
              <a:avLst/>
            </a:prstGeom>
            <a:solidFill>
              <a:schemeClr val="bg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200" b="0">
                  <a:latin typeface="Roboto" panose="02000000000000000000" pitchFamily="2" charset="0"/>
                  <a:ea typeface="Roboto" panose="02000000000000000000" pitchFamily="2" charset="0"/>
                </a:rPr>
                <a:t>6</a:t>
              </a:r>
            </a:p>
          </p:txBody>
        </p:sp>
        <p:sp>
          <p:nvSpPr>
            <p:cNvPr id="18" name="Rectangle 19">
              <a:extLst>
                <a:ext uri="{FF2B5EF4-FFF2-40B4-BE49-F238E27FC236}">
                  <a16:creationId xmlns:a16="http://schemas.microsoft.com/office/drawing/2014/main" id="{1D70A3C4-CC8E-1AB7-2FCD-4AB17B0724F3}"/>
                </a:ext>
              </a:extLst>
            </p:cNvPr>
            <p:cNvSpPr>
              <a:spLocks noChangeArrowheads="1"/>
            </p:cNvSpPr>
            <p:nvPr/>
          </p:nvSpPr>
          <p:spPr bwMode="auto">
            <a:xfrm>
              <a:off x="1848" y="3312"/>
              <a:ext cx="384" cy="288"/>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200" b="0">
                  <a:solidFill>
                    <a:schemeClr val="bg1"/>
                  </a:solidFill>
                  <a:latin typeface="Roboto" panose="02000000000000000000" pitchFamily="2" charset="0"/>
                  <a:ea typeface="Roboto" panose="02000000000000000000" pitchFamily="2" charset="0"/>
                </a:rPr>
                <a:t>2</a:t>
              </a:r>
            </a:p>
          </p:txBody>
        </p:sp>
        <p:sp>
          <p:nvSpPr>
            <p:cNvPr id="19" name="Rectangle 20">
              <a:extLst>
                <a:ext uri="{FF2B5EF4-FFF2-40B4-BE49-F238E27FC236}">
                  <a16:creationId xmlns:a16="http://schemas.microsoft.com/office/drawing/2014/main" id="{EC9E99B7-F3DF-683B-6861-49439F1119F5}"/>
                </a:ext>
              </a:extLst>
            </p:cNvPr>
            <p:cNvSpPr>
              <a:spLocks noChangeArrowheads="1"/>
            </p:cNvSpPr>
            <p:nvPr/>
          </p:nvSpPr>
          <p:spPr bwMode="auto">
            <a:xfrm>
              <a:off x="2544" y="3312"/>
              <a:ext cx="384" cy="288"/>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200" b="0">
                  <a:latin typeface="Roboto" panose="02000000000000000000" pitchFamily="2" charset="0"/>
                  <a:ea typeface="Roboto" panose="02000000000000000000" pitchFamily="2" charset="0"/>
                </a:rPr>
                <a:t>3</a:t>
              </a:r>
            </a:p>
          </p:txBody>
        </p:sp>
        <p:sp>
          <p:nvSpPr>
            <p:cNvPr id="20" name="Rectangle 21">
              <a:extLst>
                <a:ext uri="{FF2B5EF4-FFF2-40B4-BE49-F238E27FC236}">
                  <a16:creationId xmlns:a16="http://schemas.microsoft.com/office/drawing/2014/main" id="{E527E97B-ACE1-D2CA-C57A-FF99D5603117}"/>
                </a:ext>
              </a:extLst>
            </p:cNvPr>
            <p:cNvSpPr>
              <a:spLocks noChangeArrowheads="1"/>
            </p:cNvSpPr>
            <p:nvPr/>
          </p:nvSpPr>
          <p:spPr bwMode="auto">
            <a:xfrm>
              <a:off x="3240" y="3312"/>
              <a:ext cx="384" cy="288"/>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200" b="0">
                  <a:latin typeface="Roboto" panose="02000000000000000000" pitchFamily="2" charset="0"/>
                  <a:ea typeface="Roboto" panose="02000000000000000000" pitchFamily="2" charset="0"/>
                </a:rPr>
                <a:t>4</a:t>
              </a:r>
            </a:p>
          </p:txBody>
        </p:sp>
        <p:sp>
          <p:nvSpPr>
            <p:cNvPr id="21" name="Rectangle 22">
              <a:extLst>
                <a:ext uri="{FF2B5EF4-FFF2-40B4-BE49-F238E27FC236}">
                  <a16:creationId xmlns:a16="http://schemas.microsoft.com/office/drawing/2014/main" id="{889DDA38-D9FD-C91D-D07F-A97980BFAE18}"/>
                </a:ext>
              </a:extLst>
            </p:cNvPr>
            <p:cNvSpPr>
              <a:spLocks noChangeArrowheads="1"/>
            </p:cNvSpPr>
            <p:nvPr/>
          </p:nvSpPr>
          <p:spPr bwMode="auto">
            <a:xfrm>
              <a:off x="3936" y="3312"/>
              <a:ext cx="384" cy="288"/>
            </a:xfrm>
            <a:prstGeom prst="rect">
              <a:avLst/>
            </a:prstGeom>
            <a:solidFill>
              <a:schemeClr val="bg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200" b="0">
                  <a:latin typeface="Roboto" panose="02000000000000000000" pitchFamily="2" charset="0"/>
                  <a:ea typeface="Roboto" panose="02000000000000000000" pitchFamily="2" charset="0"/>
                </a:rPr>
                <a:t>5</a:t>
              </a:r>
            </a:p>
          </p:txBody>
        </p:sp>
        <p:sp>
          <p:nvSpPr>
            <p:cNvPr id="22" name="Rectangle 23">
              <a:extLst>
                <a:ext uri="{FF2B5EF4-FFF2-40B4-BE49-F238E27FC236}">
                  <a16:creationId xmlns:a16="http://schemas.microsoft.com/office/drawing/2014/main" id="{62CA1D7A-2E41-F592-1270-85032B126CE0}"/>
                </a:ext>
              </a:extLst>
            </p:cNvPr>
            <p:cNvSpPr>
              <a:spLocks noChangeArrowheads="1"/>
            </p:cNvSpPr>
            <p:nvPr/>
          </p:nvSpPr>
          <p:spPr bwMode="auto">
            <a:xfrm>
              <a:off x="1152" y="3312"/>
              <a:ext cx="384" cy="288"/>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200" b="0">
                  <a:solidFill>
                    <a:schemeClr val="bg1"/>
                  </a:solidFill>
                  <a:latin typeface="Roboto" panose="02000000000000000000" pitchFamily="2" charset="0"/>
                  <a:ea typeface="Roboto" panose="02000000000000000000" pitchFamily="2" charset="0"/>
                </a:rPr>
                <a:t>1</a:t>
              </a:r>
            </a:p>
          </p:txBody>
        </p:sp>
        <p:sp>
          <p:nvSpPr>
            <p:cNvPr id="23" name="Rectangle 24">
              <a:extLst>
                <a:ext uri="{FF2B5EF4-FFF2-40B4-BE49-F238E27FC236}">
                  <a16:creationId xmlns:a16="http://schemas.microsoft.com/office/drawing/2014/main" id="{D59C791A-5303-1C07-FD8F-CD7D50D054F9}"/>
                </a:ext>
              </a:extLst>
            </p:cNvPr>
            <p:cNvSpPr>
              <a:spLocks noChangeArrowheads="1"/>
            </p:cNvSpPr>
            <p:nvPr/>
          </p:nvSpPr>
          <p:spPr bwMode="auto">
            <a:xfrm>
              <a:off x="1848" y="2208"/>
              <a:ext cx="384" cy="288"/>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200" b="0">
                  <a:solidFill>
                    <a:schemeClr val="bg1"/>
                  </a:solidFill>
                  <a:latin typeface="Roboto" panose="02000000000000000000" pitchFamily="2" charset="0"/>
                  <a:ea typeface="Roboto" panose="02000000000000000000" pitchFamily="2" charset="0"/>
                </a:rPr>
                <a:t>10</a:t>
              </a:r>
            </a:p>
          </p:txBody>
        </p:sp>
        <p:sp>
          <p:nvSpPr>
            <p:cNvPr id="24" name="Rectangle 25">
              <a:extLst>
                <a:ext uri="{FF2B5EF4-FFF2-40B4-BE49-F238E27FC236}">
                  <a16:creationId xmlns:a16="http://schemas.microsoft.com/office/drawing/2014/main" id="{AEB16B48-F119-116E-4917-9893A07C90A5}"/>
                </a:ext>
              </a:extLst>
            </p:cNvPr>
            <p:cNvSpPr>
              <a:spLocks noChangeArrowheads="1"/>
            </p:cNvSpPr>
            <p:nvPr/>
          </p:nvSpPr>
          <p:spPr bwMode="auto">
            <a:xfrm>
              <a:off x="2544" y="2208"/>
              <a:ext cx="384" cy="288"/>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200" b="0" dirty="0">
                  <a:latin typeface="Roboto" panose="02000000000000000000" pitchFamily="2" charset="0"/>
                  <a:ea typeface="Roboto" panose="02000000000000000000" pitchFamily="2" charset="0"/>
                </a:rPr>
                <a:t>9</a:t>
              </a:r>
            </a:p>
          </p:txBody>
        </p:sp>
        <p:sp>
          <p:nvSpPr>
            <p:cNvPr id="25" name="Rectangle 26">
              <a:extLst>
                <a:ext uri="{FF2B5EF4-FFF2-40B4-BE49-F238E27FC236}">
                  <a16:creationId xmlns:a16="http://schemas.microsoft.com/office/drawing/2014/main" id="{C3E5DA9C-FACA-0DD9-4850-8C610E220AC8}"/>
                </a:ext>
              </a:extLst>
            </p:cNvPr>
            <p:cNvSpPr>
              <a:spLocks noChangeArrowheads="1"/>
            </p:cNvSpPr>
            <p:nvPr/>
          </p:nvSpPr>
          <p:spPr bwMode="auto">
            <a:xfrm>
              <a:off x="3240" y="2208"/>
              <a:ext cx="384" cy="288"/>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200" b="0">
                  <a:latin typeface="Roboto" panose="02000000000000000000" pitchFamily="2" charset="0"/>
                  <a:ea typeface="Roboto" panose="02000000000000000000" pitchFamily="2" charset="0"/>
                </a:rPr>
                <a:t>8</a:t>
              </a:r>
            </a:p>
          </p:txBody>
        </p:sp>
        <p:sp>
          <p:nvSpPr>
            <p:cNvPr id="26" name="Rectangle 27">
              <a:extLst>
                <a:ext uri="{FF2B5EF4-FFF2-40B4-BE49-F238E27FC236}">
                  <a16:creationId xmlns:a16="http://schemas.microsoft.com/office/drawing/2014/main" id="{4841FA09-1122-1CA2-856C-7BF02FDC7E33}"/>
                </a:ext>
              </a:extLst>
            </p:cNvPr>
            <p:cNvSpPr>
              <a:spLocks noChangeArrowheads="1"/>
            </p:cNvSpPr>
            <p:nvPr/>
          </p:nvSpPr>
          <p:spPr bwMode="auto">
            <a:xfrm>
              <a:off x="3936" y="2208"/>
              <a:ext cx="384" cy="288"/>
            </a:xfrm>
            <a:prstGeom prst="rect">
              <a:avLst/>
            </a:prstGeom>
            <a:solidFill>
              <a:schemeClr val="bg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200" b="0">
                  <a:latin typeface="Roboto" panose="02000000000000000000" pitchFamily="2" charset="0"/>
                  <a:ea typeface="Roboto" panose="02000000000000000000" pitchFamily="2" charset="0"/>
                </a:rPr>
                <a:t>7</a:t>
              </a:r>
            </a:p>
          </p:txBody>
        </p:sp>
        <p:sp>
          <p:nvSpPr>
            <p:cNvPr id="27" name="Rectangle 28">
              <a:extLst>
                <a:ext uri="{FF2B5EF4-FFF2-40B4-BE49-F238E27FC236}">
                  <a16:creationId xmlns:a16="http://schemas.microsoft.com/office/drawing/2014/main" id="{DFBD6696-B9EB-26D7-AACC-AB15226DEADD}"/>
                </a:ext>
              </a:extLst>
            </p:cNvPr>
            <p:cNvSpPr>
              <a:spLocks noChangeArrowheads="1"/>
            </p:cNvSpPr>
            <p:nvPr/>
          </p:nvSpPr>
          <p:spPr bwMode="auto">
            <a:xfrm>
              <a:off x="1152" y="2208"/>
              <a:ext cx="384" cy="288"/>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200" b="0" dirty="0">
                  <a:solidFill>
                    <a:schemeClr val="bg1"/>
                  </a:solidFill>
                  <a:latin typeface="Roboto" panose="02000000000000000000" pitchFamily="2" charset="0"/>
                  <a:ea typeface="Roboto" panose="02000000000000000000" pitchFamily="2" charset="0"/>
                </a:rPr>
                <a:t>11</a:t>
              </a:r>
            </a:p>
          </p:txBody>
        </p:sp>
        <p:grpSp>
          <p:nvGrpSpPr>
            <p:cNvPr id="28" name="Group 29">
              <a:extLst>
                <a:ext uri="{FF2B5EF4-FFF2-40B4-BE49-F238E27FC236}">
                  <a16:creationId xmlns:a16="http://schemas.microsoft.com/office/drawing/2014/main" id="{EDEC3C2F-C227-BFF2-31D4-9FEEC50AFA05}"/>
                </a:ext>
              </a:extLst>
            </p:cNvPr>
            <p:cNvGrpSpPr>
              <a:grpSpLocks/>
            </p:cNvGrpSpPr>
            <p:nvPr/>
          </p:nvGrpSpPr>
          <p:grpSpPr bwMode="auto">
            <a:xfrm>
              <a:off x="2544" y="2256"/>
              <a:ext cx="1008" cy="1248"/>
              <a:chOff x="2592" y="2352"/>
              <a:chExt cx="1008" cy="1248"/>
            </a:xfrm>
          </p:grpSpPr>
          <p:sp>
            <p:nvSpPr>
              <p:cNvPr id="39" name="Oval 30">
                <a:extLst>
                  <a:ext uri="{FF2B5EF4-FFF2-40B4-BE49-F238E27FC236}">
                    <a16:creationId xmlns:a16="http://schemas.microsoft.com/office/drawing/2014/main" id="{ED3D5CAA-9BA5-DEB2-6772-08578DF71770}"/>
                  </a:ext>
                </a:extLst>
              </p:cNvPr>
              <p:cNvSpPr>
                <a:spLocks noChangeArrowheads="1"/>
              </p:cNvSpPr>
              <p:nvPr/>
            </p:nvSpPr>
            <p:spPr bwMode="auto">
              <a:xfrm>
                <a:off x="2592" y="2352"/>
                <a:ext cx="1008" cy="1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nvGrpSpPr>
              <p:cNvPr id="40" name="Group 31">
                <a:extLst>
                  <a:ext uri="{FF2B5EF4-FFF2-40B4-BE49-F238E27FC236}">
                    <a16:creationId xmlns:a16="http://schemas.microsoft.com/office/drawing/2014/main" id="{D1CF77BD-F47F-35F9-B94C-085C27F881C8}"/>
                  </a:ext>
                </a:extLst>
              </p:cNvPr>
              <p:cNvGrpSpPr>
                <a:grpSpLocks/>
              </p:cNvGrpSpPr>
              <p:nvPr/>
            </p:nvGrpSpPr>
            <p:grpSpPr bwMode="auto">
              <a:xfrm>
                <a:off x="2976" y="2712"/>
                <a:ext cx="288" cy="540"/>
                <a:chOff x="3808" y="2227"/>
                <a:chExt cx="368" cy="1164"/>
              </a:xfrm>
            </p:grpSpPr>
            <p:sp>
              <p:nvSpPr>
                <p:cNvPr id="41" name="Freeform 32">
                  <a:extLst>
                    <a:ext uri="{FF2B5EF4-FFF2-40B4-BE49-F238E27FC236}">
                      <a16:creationId xmlns:a16="http://schemas.microsoft.com/office/drawing/2014/main" id="{98085141-0948-F8AE-21CD-62E568708608}"/>
                    </a:ext>
                  </a:extLst>
                </p:cNvPr>
                <p:cNvSpPr>
                  <a:spLocks/>
                </p:cNvSpPr>
                <p:nvPr/>
              </p:nvSpPr>
              <p:spPr bwMode="auto">
                <a:xfrm>
                  <a:off x="3808" y="2429"/>
                  <a:ext cx="368" cy="962"/>
                </a:xfrm>
                <a:custGeom>
                  <a:avLst/>
                  <a:gdLst>
                    <a:gd name="T0" fmla="*/ 151 w 386"/>
                    <a:gd name="T1" fmla="*/ 0 h 902"/>
                    <a:gd name="T2" fmla="*/ 222 w 386"/>
                    <a:gd name="T3" fmla="*/ 0 h 902"/>
                    <a:gd name="T4" fmla="*/ 234 w 386"/>
                    <a:gd name="T5" fmla="*/ 0 h 902"/>
                    <a:gd name="T6" fmla="*/ 253 w 386"/>
                    <a:gd name="T7" fmla="*/ 0 h 902"/>
                    <a:gd name="T8" fmla="*/ 269 w 386"/>
                    <a:gd name="T9" fmla="*/ 7 h 902"/>
                    <a:gd name="T10" fmla="*/ 295 w 386"/>
                    <a:gd name="T11" fmla="*/ 39 h 902"/>
                    <a:gd name="T12" fmla="*/ 318 w 386"/>
                    <a:gd name="T13" fmla="*/ 160 h 902"/>
                    <a:gd name="T14" fmla="*/ 318 w 386"/>
                    <a:gd name="T15" fmla="*/ 172 h 902"/>
                    <a:gd name="T16" fmla="*/ 318 w 386"/>
                    <a:gd name="T17" fmla="*/ 510 h 902"/>
                    <a:gd name="T18" fmla="*/ 318 w 386"/>
                    <a:gd name="T19" fmla="*/ 514 h 902"/>
                    <a:gd name="T20" fmla="*/ 311 w 386"/>
                    <a:gd name="T21" fmla="*/ 548 h 902"/>
                    <a:gd name="T22" fmla="*/ 287 w 386"/>
                    <a:gd name="T23" fmla="*/ 564 h 902"/>
                    <a:gd name="T24" fmla="*/ 263 w 386"/>
                    <a:gd name="T25" fmla="*/ 543 h 902"/>
                    <a:gd name="T26" fmla="*/ 259 w 386"/>
                    <a:gd name="T27" fmla="*/ 514 h 902"/>
                    <a:gd name="T28" fmla="*/ 258 w 386"/>
                    <a:gd name="T29" fmla="*/ 508 h 902"/>
                    <a:gd name="T30" fmla="*/ 258 w 386"/>
                    <a:gd name="T31" fmla="*/ 199 h 902"/>
                    <a:gd name="T32" fmla="*/ 243 w 386"/>
                    <a:gd name="T33" fmla="*/ 199 h 902"/>
                    <a:gd name="T34" fmla="*/ 243 w 386"/>
                    <a:gd name="T35" fmla="*/ 1071 h 902"/>
                    <a:gd name="T36" fmla="*/ 243 w 386"/>
                    <a:gd name="T37" fmla="*/ 1089 h 902"/>
                    <a:gd name="T38" fmla="*/ 237 w 386"/>
                    <a:gd name="T39" fmla="*/ 1135 h 902"/>
                    <a:gd name="T40" fmla="*/ 207 w 386"/>
                    <a:gd name="T41" fmla="*/ 1166 h 902"/>
                    <a:gd name="T42" fmla="*/ 181 w 386"/>
                    <a:gd name="T43" fmla="*/ 1148 h 902"/>
                    <a:gd name="T44" fmla="*/ 171 w 386"/>
                    <a:gd name="T45" fmla="*/ 1090 h 902"/>
                    <a:gd name="T46" fmla="*/ 171 w 386"/>
                    <a:gd name="T47" fmla="*/ 1073 h 902"/>
                    <a:gd name="T48" fmla="*/ 171 w 386"/>
                    <a:gd name="T49" fmla="*/ 562 h 902"/>
                    <a:gd name="T50" fmla="*/ 156 w 386"/>
                    <a:gd name="T51" fmla="*/ 561 h 902"/>
                    <a:gd name="T52" fmla="*/ 161 w 386"/>
                    <a:gd name="T53" fmla="*/ 561 h 902"/>
                    <a:gd name="T54" fmla="*/ 145 w 386"/>
                    <a:gd name="T55" fmla="*/ 562 h 902"/>
                    <a:gd name="T56" fmla="*/ 145 w 386"/>
                    <a:gd name="T57" fmla="*/ 1073 h 902"/>
                    <a:gd name="T58" fmla="*/ 145 w 386"/>
                    <a:gd name="T59" fmla="*/ 1090 h 902"/>
                    <a:gd name="T60" fmla="*/ 143 w 386"/>
                    <a:gd name="T61" fmla="*/ 1124 h 902"/>
                    <a:gd name="T62" fmla="*/ 137 w 386"/>
                    <a:gd name="T63" fmla="*/ 1148 h 902"/>
                    <a:gd name="T64" fmla="*/ 110 w 386"/>
                    <a:gd name="T65" fmla="*/ 1166 h 902"/>
                    <a:gd name="T66" fmla="*/ 82 w 386"/>
                    <a:gd name="T67" fmla="*/ 1139 h 902"/>
                    <a:gd name="T68" fmla="*/ 75 w 386"/>
                    <a:gd name="T69" fmla="*/ 1089 h 902"/>
                    <a:gd name="T70" fmla="*/ 75 w 386"/>
                    <a:gd name="T71" fmla="*/ 1071 h 902"/>
                    <a:gd name="T72" fmla="*/ 75 w 386"/>
                    <a:gd name="T73" fmla="*/ 199 h 902"/>
                    <a:gd name="T74" fmla="*/ 58 w 386"/>
                    <a:gd name="T75" fmla="*/ 199 h 902"/>
                    <a:gd name="T76" fmla="*/ 58 w 386"/>
                    <a:gd name="T77" fmla="*/ 508 h 902"/>
                    <a:gd name="T78" fmla="*/ 58 w 386"/>
                    <a:gd name="T79" fmla="*/ 514 h 902"/>
                    <a:gd name="T80" fmla="*/ 54 w 386"/>
                    <a:gd name="T81" fmla="*/ 542 h 902"/>
                    <a:gd name="T82" fmla="*/ 47 w 386"/>
                    <a:gd name="T83" fmla="*/ 558 h 902"/>
                    <a:gd name="T84" fmla="*/ 30 w 386"/>
                    <a:gd name="T85" fmla="*/ 564 h 902"/>
                    <a:gd name="T86" fmla="*/ 9 w 386"/>
                    <a:gd name="T87" fmla="*/ 548 h 902"/>
                    <a:gd name="T88" fmla="*/ 0 w 386"/>
                    <a:gd name="T89" fmla="*/ 514 h 902"/>
                    <a:gd name="T90" fmla="*/ 0 w 386"/>
                    <a:gd name="T91" fmla="*/ 510 h 902"/>
                    <a:gd name="T92" fmla="*/ 0 w 386"/>
                    <a:gd name="T93" fmla="*/ 172 h 902"/>
                    <a:gd name="T94" fmla="*/ 0 w 386"/>
                    <a:gd name="T95" fmla="*/ 160 h 902"/>
                    <a:gd name="T96" fmla="*/ 23 w 386"/>
                    <a:gd name="T97" fmla="*/ 41 h 902"/>
                    <a:gd name="T98" fmla="*/ 48 w 386"/>
                    <a:gd name="T99" fmla="*/ 7 h 902"/>
                    <a:gd name="T100" fmla="*/ 64 w 386"/>
                    <a:gd name="T101" fmla="*/ 1 h 902"/>
                    <a:gd name="T102" fmla="*/ 84 w 386"/>
                    <a:gd name="T103" fmla="*/ 0 h 902"/>
                    <a:gd name="T104" fmla="*/ 97 w 386"/>
                    <a:gd name="T105" fmla="*/ 0 h 902"/>
                    <a:gd name="T106" fmla="*/ 167 w 386"/>
                    <a:gd name="T107" fmla="*/ 0 h 902"/>
                    <a:gd name="T108" fmla="*/ 151 w 386"/>
                    <a:gd name="T109" fmla="*/ 0 h 90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86"/>
                    <a:gd name="T166" fmla="*/ 0 h 902"/>
                    <a:gd name="T167" fmla="*/ 386 w 386"/>
                    <a:gd name="T168" fmla="*/ 902 h 90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86" h="902">
                      <a:moveTo>
                        <a:pt x="183" y="0"/>
                      </a:moveTo>
                      <a:lnTo>
                        <a:pt x="269" y="0"/>
                      </a:lnTo>
                      <a:lnTo>
                        <a:pt x="283" y="0"/>
                      </a:lnTo>
                      <a:lnTo>
                        <a:pt x="306" y="0"/>
                      </a:lnTo>
                      <a:lnTo>
                        <a:pt x="326" y="7"/>
                      </a:lnTo>
                      <a:lnTo>
                        <a:pt x="357" y="31"/>
                      </a:lnTo>
                      <a:lnTo>
                        <a:pt x="385" y="124"/>
                      </a:lnTo>
                      <a:lnTo>
                        <a:pt x="385" y="133"/>
                      </a:lnTo>
                      <a:lnTo>
                        <a:pt x="385" y="394"/>
                      </a:lnTo>
                      <a:lnTo>
                        <a:pt x="385" y="398"/>
                      </a:lnTo>
                      <a:lnTo>
                        <a:pt x="377" y="424"/>
                      </a:lnTo>
                      <a:lnTo>
                        <a:pt x="347" y="436"/>
                      </a:lnTo>
                      <a:lnTo>
                        <a:pt x="318" y="419"/>
                      </a:lnTo>
                      <a:lnTo>
                        <a:pt x="314" y="398"/>
                      </a:lnTo>
                      <a:lnTo>
                        <a:pt x="313" y="392"/>
                      </a:lnTo>
                      <a:lnTo>
                        <a:pt x="313" y="154"/>
                      </a:lnTo>
                      <a:lnTo>
                        <a:pt x="294" y="154"/>
                      </a:lnTo>
                      <a:lnTo>
                        <a:pt x="294" y="827"/>
                      </a:lnTo>
                      <a:lnTo>
                        <a:pt x="294" y="841"/>
                      </a:lnTo>
                      <a:lnTo>
                        <a:pt x="287" y="878"/>
                      </a:lnTo>
                      <a:lnTo>
                        <a:pt x="251" y="901"/>
                      </a:lnTo>
                      <a:lnTo>
                        <a:pt x="219" y="887"/>
                      </a:lnTo>
                      <a:lnTo>
                        <a:pt x="207" y="842"/>
                      </a:lnTo>
                      <a:lnTo>
                        <a:pt x="207" y="829"/>
                      </a:lnTo>
                      <a:lnTo>
                        <a:pt x="207" y="434"/>
                      </a:lnTo>
                      <a:lnTo>
                        <a:pt x="189" y="433"/>
                      </a:lnTo>
                      <a:lnTo>
                        <a:pt x="195" y="433"/>
                      </a:lnTo>
                      <a:lnTo>
                        <a:pt x="175" y="434"/>
                      </a:lnTo>
                      <a:lnTo>
                        <a:pt x="175" y="829"/>
                      </a:lnTo>
                      <a:lnTo>
                        <a:pt x="175" y="842"/>
                      </a:lnTo>
                      <a:lnTo>
                        <a:pt x="173" y="868"/>
                      </a:lnTo>
                      <a:lnTo>
                        <a:pt x="166" y="887"/>
                      </a:lnTo>
                      <a:lnTo>
                        <a:pt x="133" y="901"/>
                      </a:lnTo>
                      <a:lnTo>
                        <a:pt x="99" y="880"/>
                      </a:lnTo>
                      <a:lnTo>
                        <a:pt x="91" y="841"/>
                      </a:lnTo>
                      <a:lnTo>
                        <a:pt x="91" y="827"/>
                      </a:lnTo>
                      <a:lnTo>
                        <a:pt x="91" y="154"/>
                      </a:lnTo>
                      <a:lnTo>
                        <a:pt x="70" y="154"/>
                      </a:lnTo>
                      <a:lnTo>
                        <a:pt x="70" y="392"/>
                      </a:lnTo>
                      <a:lnTo>
                        <a:pt x="70" y="398"/>
                      </a:lnTo>
                      <a:lnTo>
                        <a:pt x="66" y="418"/>
                      </a:lnTo>
                      <a:lnTo>
                        <a:pt x="57" y="430"/>
                      </a:lnTo>
                      <a:lnTo>
                        <a:pt x="37" y="436"/>
                      </a:lnTo>
                      <a:lnTo>
                        <a:pt x="9" y="424"/>
                      </a:lnTo>
                      <a:lnTo>
                        <a:pt x="0" y="398"/>
                      </a:lnTo>
                      <a:lnTo>
                        <a:pt x="0" y="394"/>
                      </a:lnTo>
                      <a:lnTo>
                        <a:pt x="0" y="133"/>
                      </a:lnTo>
                      <a:lnTo>
                        <a:pt x="0" y="124"/>
                      </a:lnTo>
                      <a:lnTo>
                        <a:pt x="27" y="32"/>
                      </a:lnTo>
                      <a:lnTo>
                        <a:pt x="58" y="7"/>
                      </a:lnTo>
                      <a:lnTo>
                        <a:pt x="77" y="1"/>
                      </a:lnTo>
                      <a:lnTo>
                        <a:pt x="101" y="0"/>
                      </a:lnTo>
                      <a:lnTo>
                        <a:pt x="117" y="0"/>
                      </a:lnTo>
                      <a:lnTo>
                        <a:pt x="202" y="0"/>
                      </a:lnTo>
                      <a:lnTo>
                        <a:pt x="183" y="0"/>
                      </a:lnTo>
                    </a:path>
                  </a:pathLst>
                </a:custGeom>
                <a:solidFill>
                  <a:schemeClr val="tx2"/>
                </a:solidFill>
                <a:ln w="3175" cap="rnd">
                  <a:solidFill>
                    <a:schemeClr val="tx1"/>
                  </a:solidFill>
                  <a:round/>
                  <a:headEnd/>
                  <a:tailEnd/>
                </a:ln>
              </p:spPr>
              <p:txBody>
                <a:bodyPr/>
                <a:lstStyle/>
                <a:p>
                  <a:endParaRPr lang="en-US">
                    <a:latin typeface="Roboto" panose="02000000000000000000" pitchFamily="2" charset="0"/>
                    <a:ea typeface="Roboto" panose="02000000000000000000" pitchFamily="2" charset="0"/>
                  </a:endParaRPr>
                </a:p>
              </p:txBody>
            </p:sp>
            <p:sp>
              <p:nvSpPr>
                <p:cNvPr id="42" name="Oval 33">
                  <a:extLst>
                    <a:ext uri="{FF2B5EF4-FFF2-40B4-BE49-F238E27FC236}">
                      <a16:creationId xmlns:a16="http://schemas.microsoft.com/office/drawing/2014/main" id="{82426807-D426-A660-0B60-86F568329A3D}"/>
                    </a:ext>
                  </a:extLst>
                </p:cNvPr>
                <p:cNvSpPr>
                  <a:spLocks noChangeArrowheads="1"/>
                </p:cNvSpPr>
                <p:nvPr/>
              </p:nvSpPr>
              <p:spPr bwMode="auto">
                <a:xfrm>
                  <a:off x="3927" y="2227"/>
                  <a:ext cx="128" cy="157"/>
                </a:xfrm>
                <a:prstGeom prst="ellipse">
                  <a:avLst/>
                </a:prstGeom>
                <a:solidFill>
                  <a:schemeClr val="tx2"/>
                </a:solidFill>
                <a:ln w="317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grpSp>
          <p:nvGrpSpPr>
            <p:cNvPr id="29" name="Group 34">
              <a:extLst>
                <a:ext uri="{FF2B5EF4-FFF2-40B4-BE49-F238E27FC236}">
                  <a16:creationId xmlns:a16="http://schemas.microsoft.com/office/drawing/2014/main" id="{382C870F-FFE5-4864-C3DB-644B4BA61B74}"/>
                </a:ext>
              </a:extLst>
            </p:cNvPr>
            <p:cNvGrpSpPr>
              <a:grpSpLocks/>
            </p:cNvGrpSpPr>
            <p:nvPr/>
          </p:nvGrpSpPr>
          <p:grpSpPr bwMode="auto">
            <a:xfrm>
              <a:off x="3840" y="2304"/>
              <a:ext cx="1056" cy="1184"/>
              <a:chOff x="3888" y="2400"/>
              <a:chExt cx="1056" cy="1184"/>
            </a:xfrm>
          </p:grpSpPr>
          <p:sp>
            <p:nvSpPr>
              <p:cNvPr id="35" name="Oval 35">
                <a:extLst>
                  <a:ext uri="{FF2B5EF4-FFF2-40B4-BE49-F238E27FC236}">
                    <a16:creationId xmlns:a16="http://schemas.microsoft.com/office/drawing/2014/main" id="{09573F26-86E0-69B4-CCBF-74D4C4FA41FB}"/>
                  </a:ext>
                </a:extLst>
              </p:cNvPr>
              <p:cNvSpPr>
                <a:spLocks noChangeArrowheads="1"/>
              </p:cNvSpPr>
              <p:nvPr/>
            </p:nvSpPr>
            <p:spPr bwMode="auto">
              <a:xfrm>
                <a:off x="3888" y="2400"/>
                <a:ext cx="1056" cy="118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endParaRPr lang="en-US" altLang="en-US" sz="2200" b="0">
                  <a:latin typeface="Roboto" panose="02000000000000000000" pitchFamily="2" charset="0"/>
                  <a:ea typeface="Roboto" panose="02000000000000000000" pitchFamily="2" charset="0"/>
                </a:endParaRPr>
              </a:p>
            </p:txBody>
          </p:sp>
          <p:grpSp>
            <p:nvGrpSpPr>
              <p:cNvPr id="36" name="Group 36">
                <a:extLst>
                  <a:ext uri="{FF2B5EF4-FFF2-40B4-BE49-F238E27FC236}">
                    <a16:creationId xmlns:a16="http://schemas.microsoft.com/office/drawing/2014/main" id="{8E069D09-1027-5785-3A5E-FF81A819EFB3}"/>
                  </a:ext>
                </a:extLst>
              </p:cNvPr>
              <p:cNvGrpSpPr>
                <a:grpSpLocks/>
              </p:cNvGrpSpPr>
              <p:nvPr/>
            </p:nvGrpSpPr>
            <p:grpSpPr bwMode="auto">
              <a:xfrm>
                <a:off x="4224" y="2724"/>
                <a:ext cx="288" cy="540"/>
                <a:chOff x="3808" y="2227"/>
                <a:chExt cx="368" cy="1164"/>
              </a:xfrm>
            </p:grpSpPr>
            <p:sp>
              <p:nvSpPr>
                <p:cNvPr id="37" name="Freeform 37">
                  <a:extLst>
                    <a:ext uri="{FF2B5EF4-FFF2-40B4-BE49-F238E27FC236}">
                      <a16:creationId xmlns:a16="http://schemas.microsoft.com/office/drawing/2014/main" id="{F8B2D4A1-4D58-28A7-E132-2ADCEF3E6A43}"/>
                    </a:ext>
                  </a:extLst>
                </p:cNvPr>
                <p:cNvSpPr>
                  <a:spLocks/>
                </p:cNvSpPr>
                <p:nvPr/>
              </p:nvSpPr>
              <p:spPr bwMode="auto">
                <a:xfrm>
                  <a:off x="3808" y="2429"/>
                  <a:ext cx="368" cy="962"/>
                </a:xfrm>
                <a:custGeom>
                  <a:avLst/>
                  <a:gdLst>
                    <a:gd name="T0" fmla="*/ 151 w 386"/>
                    <a:gd name="T1" fmla="*/ 0 h 902"/>
                    <a:gd name="T2" fmla="*/ 222 w 386"/>
                    <a:gd name="T3" fmla="*/ 0 h 902"/>
                    <a:gd name="T4" fmla="*/ 234 w 386"/>
                    <a:gd name="T5" fmla="*/ 0 h 902"/>
                    <a:gd name="T6" fmla="*/ 253 w 386"/>
                    <a:gd name="T7" fmla="*/ 0 h 902"/>
                    <a:gd name="T8" fmla="*/ 269 w 386"/>
                    <a:gd name="T9" fmla="*/ 7 h 902"/>
                    <a:gd name="T10" fmla="*/ 295 w 386"/>
                    <a:gd name="T11" fmla="*/ 39 h 902"/>
                    <a:gd name="T12" fmla="*/ 318 w 386"/>
                    <a:gd name="T13" fmla="*/ 160 h 902"/>
                    <a:gd name="T14" fmla="*/ 318 w 386"/>
                    <a:gd name="T15" fmla="*/ 172 h 902"/>
                    <a:gd name="T16" fmla="*/ 318 w 386"/>
                    <a:gd name="T17" fmla="*/ 510 h 902"/>
                    <a:gd name="T18" fmla="*/ 318 w 386"/>
                    <a:gd name="T19" fmla="*/ 514 h 902"/>
                    <a:gd name="T20" fmla="*/ 311 w 386"/>
                    <a:gd name="T21" fmla="*/ 548 h 902"/>
                    <a:gd name="T22" fmla="*/ 287 w 386"/>
                    <a:gd name="T23" fmla="*/ 564 h 902"/>
                    <a:gd name="T24" fmla="*/ 263 w 386"/>
                    <a:gd name="T25" fmla="*/ 543 h 902"/>
                    <a:gd name="T26" fmla="*/ 259 w 386"/>
                    <a:gd name="T27" fmla="*/ 514 h 902"/>
                    <a:gd name="T28" fmla="*/ 258 w 386"/>
                    <a:gd name="T29" fmla="*/ 508 h 902"/>
                    <a:gd name="T30" fmla="*/ 258 w 386"/>
                    <a:gd name="T31" fmla="*/ 199 h 902"/>
                    <a:gd name="T32" fmla="*/ 243 w 386"/>
                    <a:gd name="T33" fmla="*/ 199 h 902"/>
                    <a:gd name="T34" fmla="*/ 243 w 386"/>
                    <a:gd name="T35" fmla="*/ 1071 h 902"/>
                    <a:gd name="T36" fmla="*/ 243 w 386"/>
                    <a:gd name="T37" fmla="*/ 1089 h 902"/>
                    <a:gd name="T38" fmla="*/ 237 w 386"/>
                    <a:gd name="T39" fmla="*/ 1135 h 902"/>
                    <a:gd name="T40" fmla="*/ 207 w 386"/>
                    <a:gd name="T41" fmla="*/ 1166 h 902"/>
                    <a:gd name="T42" fmla="*/ 181 w 386"/>
                    <a:gd name="T43" fmla="*/ 1148 h 902"/>
                    <a:gd name="T44" fmla="*/ 171 w 386"/>
                    <a:gd name="T45" fmla="*/ 1090 h 902"/>
                    <a:gd name="T46" fmla="*/ 171 w 386"/>
                    <a:gd name="T47" fmla="*/ 1073 h 902"/>
                    <a:gd name="T48" fmla="*/ 171 w 386"/>
                    <a:gd name="T49" fmla="*/ 562 h 902"/>
                    <a:gd name="T50" fmla="*/ 156 w 386"/>
                    <a:gd name="T51" fmla="*/ 561 h 902"/>
                    <a:gd name="T52" fmla="*/ 161 w 386"/>
                    <a:gd name="T53" fmla="*/ 561 h 902"/>
                    <a:gd name="T54" fmla="*/ 145 w 386"/>
                    <a:gd name="T55" fmla="*/ 562 h 902"/>
                    <a:gd name="T56" fmla="*/ 145 w 386"/>
                    <a:gd name="T57" fmla="*/ 1073 h 902"/>
                    <a:gd name="T58" fmla="*/ 145 w 386"/>
                    <a:gd name="T59" fmla="*/ 1090 h 902"/>
                    <a:gd name="T60" fmla="*/ 143 w 386"/>
                    <a:gd name="T61" fmla="*/ 1124 h 902"/>
                    <a:gd name="T62" fmla="*/ 137 w 386"/>
                    <a:gd name="T63" fmla="*/ 1148 h 902"/>
                    <a:gd name="T64" fmla="*/ 110 w 386"/>
                    <a:gd name="T65" fmla="*/ 1166 h 902"/>
                    <a:gd name="T66" fmla="*/ 82 w 386"/>
                    <a:gd name="T67" fmla="*/ 1139 h 902"/>
                    <a:gd name="T68" fmla="*/ 75 w 386"/>
                    <a:gd name="T69" fmla="*/ 1089 h 902"/>
                    <a:gd name="T70" fmla="*/ 75 w 386"/>
                    <a:gd name="T71" fmla="*/ 1071 h 902"/>
                    <a:gd name="T72" fmla="*/ 75 w 386"/>
                    <a:gd name="T73" fmla="*/ 199 h 902"/>
                    <a:gd name="T74" fmla="*/ 58 w 386"/>
                    <a:gd name="T75" fmla="*/ 199 h 902"/>
                    <a:gd name="T76" fmla="*/ 58 w 386"/>
                    <a:gd name="T77" fmla="*/ 508 h 902"/>
                    <a:gd name="T78" fmla="*/ 58 w 386"/>
                    <a:gd name="T79" fmla="*/ 514 h 902"/>
                    <a:gd name="T80" fmla="*/ 54 w 386"/>
                    <a:gd name="T81" fmla="*/ 542 h 902"/>
                    <a:gd name="T82" fmla="*/ 47 w 386"/>
                    <a:gd name="T83" fmla="*/ 558 h 902"/>
                    <a:gd name="T84" fmla="*/ 30 w 386"/>
                    <a:gd name="T85" fmla="*/ 564 h 902"/>
                    <a:gd name="T86" fmla="*/ 9 w 386"/>
                    <a:gd name="T87" fmla="*/ 548 h 902"/>
                    <a:gd name="T88" fmla="*/ 0 w 386"/>
                    <a:gd name="T89" fmla="*/ 514 h 902"/>
                    <a:gd name="T90" fmla="*/ 0 w 386"/>
                    <a:gd name="T91" fmla="*/ 510 h 902"/>
                    <a:gd name="T92" fmla="*/ 0 w 386"/>
                    <a:gd name="T93" fmla="*/ 172 h 902"/>
                    <a:gd name="T94" fmla="*/ 0 w 386"/>
                    <a:gd name="T95" fmla="*/ 160 h 902"/>
                    <a:gd name="T96" fmla="*/ 23 w 386"/>
                    <a:gd name="T97" fmla="*/ 41 h 902"/>
                    <a:gd name="T98" fmla="*/ 48 w 386"/>
                    <a:gd name="T99" fmla="*/ 7 h 902"/>
                    <a:gd name="T100" fmla="*/ 64 w 386"/>
                    <a:gd name="T101" fmla="*/ 1 h 902"/>
                    <a:gd name="T102" fmla="*/ 84 w 386"/>
                    <a:gd name="T103" fmla="*/ 0 h 902"/>
                    <a:gd name="T104" fmla="*/ 97 w 386"/>
                    <a:gd name="T105" fmla="*/ 0 h 902"/>
                    <a:gd name="T106" fmla="*/ 167 w 386"/>
                    <a:gd name="T107" fmla="*/ 0 h 902"/>
                    <a:gd name="T108" fmla="*/ 151 w 386"/>
                    <a:gd name="T109" fmla="*/ 0 h 90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86"/>
                    <a:gd name="T166" fmla="*/ 0 h 902"/>
                    <a:gd name="T167" fmla="*/ 386 w 386"/>
                    <a:gd name="T168" fmla="*/ 902 h 90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86" h="902">
                      <a:moveTo>
                        <a:pt x="183" y="0"/>
                      </a:moveTo>
                      <a:lnTo>
                        <a:pt x="269" y="0"/>
                      </a:lnTo>
                      <a:lnTo>
                        <a:pt x="283" y="0"/>
                      </a:lnTo>
                      <a:lnTo>
                        <a:pt x="306" y="0"/>
                      </a:lnTo>
                      <a:lnTo>
                        <a:pt x="326" y="7"/>
                      </a:lnTo>
                      <a:lnTo>
                        <a:pt x="357" y="31"/>
                      </a:lnTo>
                      <a:lnTo>
                        <a:pt x="385" y="124"/>
                      </a:lnTo>
                      <a:lnTo>
                        <a:pt x="385" y="133"/>
                      </a:lnTo>
                      <a:lnTo>
                        <a:pt x="385" y="394"/>
                      </a:lnTo>
                      <a:lnTo>
                        <a:pt x="385" y="398"/>
                      </a:lnTo>
                      <a:lnTo>
                        <a:pt x="377" y="424"/>
                      </a:lnTo>
                      <a:lnTo>
                        <a:pt x="347" y="436"/>
                      </a:lnTo>
                      <a:lnTo>
                        <a:pt x="318" y="419"/>
                      </a:lnTo>
                      <a:lnTo>
                        <a:pt x="314" y="398"/>
                      </a:lnTo>
                      <a:lnTo>
                        <a:pt x="313" y="392"/>
                      </a:lnTo>
                      <a:lnTo>
                        <a:pt x="313" y="154"/>
                      </a:lnTo>
                      <a:lnTo>
                        <a:pt x="294" y="154"/>
                      </a:lnTo>
                      <a:lnTo>
                        <a:pt x="294" y="827"/>
                      </a:lnTo>
                      <a:lnTo>
                        <a:pt x="294" y="841"/>
                      </a:lnTo>
                      <a:lnTo>
                        <a:pt x="287" y="878"/>
                      </a:lnTo>
                      <a:lnTo>
                        <a:pt x="251" y="901"/>
                      </a:lnTo>
                      <a:lnTo>
                        <a:pt x="219" y="887"/>
                      </a:lnTo>
                      <a:lnTo>
                        <a:pt x="207" y="842"/>
                      </a:lnTo>
                      <a:lnTo>
                        <a:pt x="207" y="829"/>
                      </a:lnTo>
                      <a:lnTo>
                        <a:pt x="207" y="434"/>
                      </a:lnTo>
                      <a:lnTo>
                        <a:pt x="189" y="433"/>
                      </a:lnTo>
                      <a:lnTo>
                        <a:pt x="195" y="433"/>
                      </a:lnTo>
                      <a:lnTo>
                        <a:pt x="175" y="434"/>
                      </a:lnTo>
                      <a:lnTo>
                        <a:pt x="175" y="829"/>
                      </a:lnTo>
                      <a:lnTo>
                        <a:pt x="175" y="842"/>
                      </a:lnTo>
                      <a:lnTo>
                        <a:pt x="173" y="868"/>
                      </a:lnTo>
                      <a:lnTo>
                        <a:pt x="166" y="887"/>
                      </a:lnTo>
                      <a:lnTo>
                        <a:pt x="133" y="901"/>
                      </a:lnTo>
                      <a:lnTo>
                        <a:pt x="99" y="880"/>
                      </a:lnTo>
                      <a:lnTo>
                        <a:pt x="91" y="841"/>
                      </a:lnTo>
                      <a:lnTo>
                        <a:pt x="91" y="827"/>
                      </a:lnTo>
                      <a:lnTo>
                        <a:pt x="91" y="154"/>
                      </a:lnTo>
                      <a:lnTo>
                        <a:pt x="70" y="154"/>
                      </a:lnTo>
                      <a:lnTo>
                        <a:pt x="70" y="392"/>
                      </a:lnTo>
                      <a:lnTo>
                        <a:pt x="70" y="398"/>
                      </a:lnTo>
                      <a:lnTo>
                        <a:pt x="66" y="418"/>
                      </a:lnTo>
                      <a:lnTo>
                        <a:pt x="57" y="430"/>
                      </a:lnTo>
                      <a:lnTo>
                        <a:pt x="37" y="436"/>
                      </a:lnTo>
                      <a:lnTo>
                        <a:pt x="9" y="424"/>
                      </a:lnTo>
                      <a:lnTo>
                        <a:pt x="0" y="398"/>
                      </a:lnTo>
                      <a:lnTo>
                        <a:pt x="0" y="394"/>
                      </a:lnTo>
                      <a:lnTo>
                        <a:pt x="0" y="133"/>
                      </a:lnTo>
                      <a:lnTo>
                        <a:pt x="0" y="124"/>
                      </a:lnTo>
                      <a:lnTo>
                        <a:pt x="27" y="32"/>
                      </a:lnTo>
                      <a:lnTo>
                        <a:pt x="58" y="7"/>
                      </a:lnTo>
                      <a:lnTo>
                        <a:pt x="77" y="1"/>
                      </a:lnTo>
                      <a:lnTo>
                        <a:pt x="101" y="0"/>
                      </a:lnTo>
                      <a:lnTo>
                        <a:pt x="117" y="0"/>
                      </a:lnTo>
                      <a:lnTo>
                        <a:pt x="202" y="0"/>
                      </a:lnTo>
                      <a:lnTo>
                        <a:pt x="183" y="0"/>
                      </a:lnTo>
                    </a:path>
                  </a:pathLst>
                </a:custGeom>
                <a:solidFill>
                  <a:schemeClr val="tx2"/>
                </a:solidFill>
                <a:ln w="3175" cap="rnd">
                  <a:solidFill>
                    <a:schemeClr val="tx1"/>
                  </a:solidFill>
                  <a:round/>
                  <a:headEnd/>
                  <a:tailEnd/>
                </a:ln>
              </p:spPr>
              <p:txBody>
                <a:bodyPr/>
                <a:lstStyle/>
                <a:p>
                  <a:endParaRPr lang="en-US">
                    <a:latin typeface="Roboto" panose="02000000000000000000" pitchFamily="2" charset="0"/>
                    <a:ea typeface="Roboto" panose="02000000000000000000" pitchFamily="2" charset="0"/>
                  </a:endParaRPr>
                </a:p>
              </p:txBody>
            </p:sp>
            <p:sp>
              <p:nvSpPr>
                <p:cNvPr id="38" name="Oval 38">
                  <a:extLst>
                    <a:ext uri="{FF2B5EF4-FFF2-40B4-BE49-F238E27FC236}">
                      <a16:creationId xmlns:a16="http://schemas.microsoft.com/office/drawing/2014/main" id="{AC2528B6-D21E-839D-8A85-161705E7A859}"/>
                    </a:ext>
                  </a:extLst>
                </p:cNvPr>
                <p:cNvSpPr>
                  <a:spLocks noChangeArrowheads="1"/>
                </p:cNvSpPr>
                <p:nvPr/>
              </p:nvSpPr>
              <p:spPr bwMode="auto">
                <a:xfrm>
                  <a:off x="3927" y="2227"/>
                  <a:ext cx="128" cy="157"/>
                </a:xfrm>
                <a:prstGeom prst="ellipse">
                  <a:avLst/>
                </a:prstGeom>
                <a:solidFill>
                  <a:schemeClr val="tx2"/>
                </a:solidFill>
                <a:ln w="317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grpSp>
          <p:nvGrpSpPr>
            <p:cNvPr id="30" name="Group 39">
              <a:extLst>
                <a:ext uri="{FF2B5EF4-FFF2-40B4-BE49-F238E27FC236}">
                  <a16:creationId xmlns:a16="http://schemas.microsoft.com/office/drawing/2014/main" id="{6B372B4C-08AA-21BC-9605-C01DC667B163}"/>
                </a:ext>
              </a:extLst>
            </p:cNvPr>
            <p:cNvGrpSpPr>
              <a:grpSpLocks/>
            </p:cNvGrpSpPr>
            <p:nvPr/>
          </p:nvGrpSpPr>
          <p:grpSpPr bwMode="auto">
            <a:xfrm>
              <a:off x="1152" y="2256"/>
              <a:ext cx="1008" cy="1248"/>
              <a:chOff x="1200" y="2352"/>
              <a:chExt cx="1008" cy="1248"/>
            </a:xfrm>
          </p:grpSpPr>
          <p:grpSp>
            <p:nvGrpSpPr>
              <p:cNvPr id="31" name="Group 40">
                <a:extLst>
                  <a:ext uri="{FF2B5EF4-FFF2-40B4-BE49-F238E27FC236}">
                    <a16:creationId xmlns:a16="http://schemas.microsoft.com/office/drawing/2014/main" id="{74192E34-41A6-BFB6-C38B-129F474C177E}"/>
                  </a:ext>
                </a:extLst>
              </p:cNvPr>
              <p:cNvGrpSpPr>
                <a:grpSpLocks/>
              </p:cNvGrpSpPr>
              <p:nvPr/>
            </p:nvGrpSpPr>
            <p:grpSpPr bwMode="auto">
              <a:xfrm>
                <a:off x="1584" y="2696"/>
                <a:ext cx="288" cy="540"/>
                <a:chOff x="3808" y="2227"/>
                <a:chExt cx="368" cy="1164"/>
              </a:xfrm>
            </p:grpSpPr>
            <p:sp>
              <p:nvSpPr>
                <p:cNvPr id="33" name="Freeform 41">
                  <a:extLst>
                    <a:ext uri="{FF2B5EF4-FFF2-40B4-BE49-F238E27FC236}">
                      <a16:creationId xmlns:a16="http://schemas.microsoft.com/office/drawing/2014/main" id="{A40A2621-931A-1B8D-D341-5F54E43F2E31}"/>
                    </a:ext>
                  </a:extLst>
                </p:cNvPr>
                <p:cNvSpPr>
                  <a:spLocks/>
                </p:cNvSpPr>
                <p:nvPr/>
              </p:nvSpPr>
              <p:spPr bwMode="auto">
                <a:xfrm>
                  <a:off x="3808" y="2429"/>
                  <a:ext cx="368" cy="962"/>
                </a:xfrm>
                <a:custGeom>
                  <a:avLst/>
                  <a:gdLst>
                    <a:gd name="T0" fmla="*/ 151 w 386"/>
                    <a:gd name="T1" fmla="*/ 0 h 902"/>
                    <a:gd name="T2" fmla="*/ 222 w 386"/>
                    <a:gd name="T3" fmla="*/ 0 h 902"/>
                    <a:gd name="T4" fmla="*/ 234 w 386"/>
                    <a:gd name="T5" fmla="*/ 0 h 902"/>
                    <a:gd name="T6" fmla="*/ 253 w 386"/>
                    <a:gd name="T7" fmla="*/ 0 h 902"/>
                    <a:gd name="T8" fmla="*/ 269 w 386"/>
                    <a:gd name="T9" fmla="*/ 7 h 902"/>
                    <a:gd name="T10" fmla="*/ 295 w 386"/>
                    <a:gd name="T11" fmla="*/ 39 h 902"/>
                    <a:gd name="T12" fmla="*/ 318 w 386"/>
                    <a:gd name="T13" fmla="*/ 160 h 902"/>
                    <a:gd name="T14" fmla="*/ 318 w 386"/>
                    <a:gd name="T15" fmla="*/ 172 h 902"/>
                    <a:gd name="T16" fmla="*/ 318 w 386"/>
                    <a:gd name="T17" fmla="*/ 510 h 902"/>
                    <a:gd name="T18" fmla="*/ 318 w 386"/>
                    <a:gd name="T19" fmla="*/ 514 h 902"/>
                    <a:gd name="T20" fmla="*/ 311 w 386"/>
                    <a:gd name="T21" fmla="*/ 548 h 902"/>
                    <a:gd name="T22" fmla="*/ 287 w 386"/>
                    <a:gd name="T23" fmla="*/ 564 h 902"/>
                    <a:gd name="T24" fmla="*/ 263 w 386"/>
                    <a:gd name="T25" fmla="*/ 543 h 902"/>
                    <a:gd name="T26" fmla="*/ 259 w 386"/>
                    <a:gd name="T27" fmla="*/ 514 h 902"/>
                    <a:gd name="T28" fmla="*/ 258 w 386"/>
                    <a:gd name="T29" fmla="*/ 508 h 902"/>
                    <a:gd name="T30" fmla="*/ 258 w 386"/>
                    <a:gd name="T31" fmla="*/ 199 h 902"/>
                    <a:gd name="T32" fmla="*/ 243 w 386"/>
                    <a:gd name="T33" fmla="*/ 199 h 902"/>
                    <a:gd name="T34" fmla="*/ 243 w 386"/>
                    <a:gd name="T35" fmla="*/ 1071 h 902"/>
                    <a:gd name="T36" fmla="*/ 243 w 386"/>
                    <a:gd name="T37" fmla="*/ 1089 h 902"/>
                    <a:gd name="T38" fmla="*/ 237 w 386"/>
                    <a:gd name="T39" fmla="*/ 1135 h 902"/>
                    <a:gd name="T40" fmla="*/ 207 w 386"/>
                    <a:gd name="T41" fmla="*/ 1166 h 902"/>
                    <a:gd name="T42" fmla="*/ 181 w 386"/>
                    <a:gd name="T43" fmla="*/ 1148 h 902"/>
                    <a:gd name="T44" fmla="*/ 171 w 386"/>
                    <a:gd name="T45" fmla="*/ 1090 h 902"/>
                    <a:gd name="T46" fmla="*/ 171 w 386"/>
                    <a:gd name="T47" fmla="*/ 1073 h 902"/>
                    <a:gd name="T48" fmla="*/ 171 w 386"/>
                    <a:gd name="T49" fmla="*/ 562 h 902"/>
                    <a:gd name="T50" fmla="*/ 156 w 386"/>
                    <a:gd name="T51" fmla="*/ 561 h 902"/>
                    <a:gd name="T52" fmla="*/ 161 w 386"/>
                    <a:gd name="T53" fmla="*/ 561 h 902"/>
                    <a:gd name="T54" fmla="*/ 145 w 386"/>
                    <a:gd name="T55" fmla="*/ 562 h 902"/>
                    <a:gd name="T56" fmla="*/ 145 w 386"/>
                    <a:gd name="T57" fmla="*/ 1073 h 902"/>
                    <a:gd name="T58" fmla="*/ 145 w 386"/>
                    <a:gd name="T59" fmla="*/ 1090 h 902"/>
                    <a:gd name="T60" fmla="*/ 143 w 386"/>
                    <a:gd name="T61" fmla="*/ 1124 h 902"/>
                    <a:gd name="T62" fmla="*/ 137 w 386"/>
                    <a:gd name="T63" fmla="*/ 1148 h 902"/>
                    <a:gd name="T64" fmla="*/ 110 w 386"/>
                    <a:gd name="T65" fmla="*/ 1166 h 902"/>
                    <a:gd name="T66" fmla="*/ 82 w 386"/>
                    <a:gd name="T67" fmla="*/ 1139 h 902"/>
                    <a:gd name="T68" fmla="*/ 75 w 386"/>
                    <a:gd name="T69" fmla="*/ 1089 h 902"/>
                    <a:gd name="T70" fmla="*/ 75 w 386"/>
                    <a:gd name="T71" fmla="*/ 1071 h 902"/>
                    <a:gd name="T72" fmla="*/ 75 w 386"/>
                    <a:gd name="T73" fmla="*/ 199 h 902"/>
                    <a:gd name="T74" fmla="*/ 58 w 386"/>
                    <a:gd name="T75" fmla="*/ 199 h 902"/>
                    <a:gd name="T76" fmla="*/ 58 w 386"/>
                    <a:gd name="T77" fmla="*/ 508 h 902"/>
                    <a:gd name="T78" fmla="*/ 58 w 386"/>
                    <a:gd name="T79" fmla="*/ 514 h 902"/>
                    <a:gd name="T80" fmla="*/ 54 w 386"/>
                    <a:gd name="T81" fmla="*/ 542 h 902"/>
                    <a:gd name="T82" fmla="*/ 47 w 386"/>
                    <a:gd name="T83" fmla="*/ 558 h 902"/>
                    <a:gd name="T84" fmla="*/ 30 w 386"/>
                    <a:gd name="T85" fmla="*/ 564 h 902"/>
                    <a:gd name="T86" fmla="*/ 9 w 386"/>
                    <a:gd name="T87" fmla="*/ 548 h 902"/>
                    <a:gd name="T88" fmla="*/ 0 w 386"/>
                    <a:gd name="T89" fmla="*/ 514 h 902"/>
                    <a:gd name="T90" fmla="*/ 0 w 386"/>
                    <a:gd name="T91" fmla="*/ 510 h 902"/>
                    <a:gd name="T92" fmla="*/ 0 w 386"/>
                    <a:gd name="T93" fmla="*/ 172 h 902"/>
                    <a:gd name="T94" fmla="*/ 0 w 386"/>
                    <a:gd name="T95" fmla="*/ 160 h 902"/>
                    <a:gd name="T96" fmla="*/ 23 w 386"/>
                    <a:gd name="T97" fmla="*/ 41 h 902"/>
                    <a:gd name="T98" fmla="*/ 48 w 386"/>
                    <a:gd name="T99" fmla="*/ 7 h 902"/>
                    <a:gd name="T100" fmla="*/ 64 w 386"/>
                    <a:gd name="T101" fmla="*/ 1 h 902"/>
                    <a:gd name="T102" fmla="*/ 84 w 386"/>
                    <a:gd name="T103" fmla="*/ 0 h 902"/>
                    <a:gd name="T104" fmla="*/ 97 w 386"/>
                    <a:gd name="T105" fmla="*/ 0 h 902"/>
                    <a:gd name="T106" fmla="*/ 167 w 386"/>
                    <a:gd name="T107" fmla="*/ 0 h 902"/>
                    <a:gd name="T108" fmla="*/ 151 w 386"/>
                    <a:gd name="T109" fmla="*/ 0 h 90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86"/>
                    <a:gd name="T166" fmla="*/ 0 h 902"/>
                    <a:gd name="T167" fmla="*/ 386 w 386"/>
                    <a:gd name="T168" fmla="*/ 902 h 90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86" h="902">
                      <a:moveTo>
                        <a:pt x="183" y="0"/>
                      </a:moveTo>
                      <a:lnTo>
                        <a:pt x="269" y="0"/>
                      </a:lnTo>
                      <a:lnTo>
                        <a:pt x="283" y="0"/>
                      </a:lnTo>
                      <a:lnTo>
                        <a:pt x="306" y="0"/>
                      </a:lnTo>
                      <a:lnTo>
                        <a:pt x="326" y="7"/>
                      </a:lnTo>
                      <a:lnTo>
                        <a:pt x="357" y="31"/>
                      </a:lnTo>
                      <a:lnTo>
                        <a:pt x="385" y="124"/>
                      </a:lnTo>
                      <a:lnTo>
                        <a:pt x="385" y="133"/>
                      </a:lnTo>
                      <a:lnTo>
                        <a:pt x="385" y="394"/>
                      </a:lnTo>
                      <a:lnTo>
                        <a:pt x="385" y="398"/>
                      </a:lnTo>
                      <a:lnTo>
                        <a:pt x="377" y="424"/>
                      </a:lnTo>
                      <a:lnTo>
                        <a:pt x="347" y="436"/>
                      </a:lnTo>
                      <a:lnTo>
                        <a:pt x="318" y="419"/>
                      </a:lnTo>
                      <a:lnTo>
                        <a:pt x="314" y="398"/>
                      </a:lnTo>
                      <a:lnTo>
                        <a:pt x="313" y="392"/>
                      </a:lnTo>
                      <a:lnTo>
                        <a:pt x="313" y="154"/>
                      </a:lnTo>
                      <a:lnTo>
                        <a:pt x="294" y="154"/>
                      </a:lnTo>
                      <a:lnTo>
                        <a:pt x="294" y="827"/>
                      </a:lnTo>
                      <a:lnTo>
                        <a:pt x="294" y="841"/>
                      </a:lnTo>
                      <a:lnTo>
                        <a:pt x="287" y="878"/>
                      </a:lnTo>
                      <a:lnTo>
                        <a:pt x="251" y="901"/>
                      </a:lnTo>
                      <a:lnTo>
                        <a:pt x="219" y="887"/>
                      </a:lnTo>
                      <a:lnTo>
                        <a:pt x="207" y="842"/>
                      </a:lnTo>
                      <a:lnTo>
                        <a:pt x="207" y="829"/>
                      </a:lnTo>
                      <a:lnTo>
                        <a:pt x="207" y="434"/>
                      </a:lnTo>
                      <a:lnTo>
                        <a:pt x="189" y="433"/>
                      </a:lnTo>
                      <a:lnTo>
                        <a:pt x="195" y="433"/>
                      </a:lnTo>
                      <a:lnTo>
                        <a:pt x="175" y="434"/>
                      </a:lnTo>
                      <a:lnTo>
                        <a:pt x="175" y="829"/>
                      </a:lnTo>
                      <a:lnTo>
                        <a:pt x="175" y="842"/>
                      </a:lnTo>
                      <a:lnTo>
                        <a:pt x="173" y="868"/>
                      </a:lnTo>
                      <a:lnTo>
                        <a:pt x="166" y="887"/>
                      </a:lnTo>
                      <a:lnTo>
                        <a:pt x="133" y="901"/>
                      </a:lnTo>
                      <a:lnTo>
                        <a:pt x="99" y="880"/>
                      </a:lnTo>
                      <a:lnTo>
                        <a:pt x="91" y="841"/>
                      </a:lnTo>
                      <a:lnTo>
                        <a:pt x="91" y="827"/>
                      </a:lnTo>
                      <a:lnTo>
                        <a:pt x="91" y="154"/>
                      </a:lnTo>
                      <a:lnTo>
                        <a:pt x="70" y="154"/>
                      </a:lnTo>
                      <a:lnTo>
                        <a:pt x="70" y="392"/>
                      </a:lnTo>
                      <a:lnTo>
                        <a:pt x="70" y="398"/>
                      </a:lnTo>
                      <a:lnTo>
                        <a:pt x="66" y="418"/>
                      </a:lnTo>
                      <a:lnTo>
                        <a:pt x="57" y="430"/>
                      </a:lnTo>
                      <a:lnTo>
                        <a:pt x="37" y="436"/>
                      </a:lnTo>
                      <a:lnTo>
                        <a:pt x="9" y="424"/>
                      </a:lnTo>
                      <a:lnTo>
                        <a:pt x="0" y="398"/>
                      </a:lnTo>
                      <a:lnTo>
                        <a:pt x="0" y="394"/>
                      </a:lnTo>
                      <a:lnTo>
                        <a:pt x="0" y="133"/>
                      </a:lnTo>
                      <a:lnTo>
                        <a:pt x="0" y="124"/>
                      </a:lnTo>
                      <a:lnTo>
                        <a:pt x="27" y="32"/>
                      </a:lnTo>
                      <a:lnTo>
                        <a:pt x="58" y="7"/>
                      </a:lnTo>
                      <a:lnTo>
                        <a:pt x="77" y="1"/>
                      </a:lnTo>
                      <a:lnTo>
                        <a:pt x="101" y="0"/>
                      </a:lnTo>
                      <a:lnTo>
                        <a:pt x="117" y="0"/>
                      </a:lnTo>
                      <a:lnTo>
                        <a:pt x="202" y="0"/>
                      </a:lnTo>
                      <a:lnTo>
                        <a:pt x="183" y="0"/>
                      </a:lnTo>
                    </a:path>
                  </a:pathLst>
                </a:custGeom>
                <a:solidFill>
                  <a:schemeClr val="tx2"/>
                </a:solidFill>
                <a:ln w="3175" cap="rnd">
                  <a:solidFill>
                    <a:schemeClr val="tx1"/>
                  </a:solidFill>
                  <a:round/>
                  <a:headEnd/>
                  <a:tailEnd/>
                </a:ln>
              </p:spPr>
              <p:txBody>
                <a:bodyPr/>
                <a:lstStyle/>
                <a:p>
                  <a:endParaRPr lang="en-US">
                    <a:latin typeface="Roboto" panose="02000000000000000000" pitchFamily="2" charset="0"/>
                    <a:ea typeface="Roboto" panose="02000000000000000000" pitchFamily="2" charset="0"/>
                  </a:endParaRPr>
                </a:p>
              </p:txBody>
            </p:sp>
            <p:sp>
              <p:nvSpPr>
                <p:cNvPr id="34" name="Oval 42">
                  <a:extLst>
                    <a:ext uri="{FF2B5EF4-FFF2-40B4-BE49-F238E27FC236}">
                      <a16:creationId xmlns:a16="http://schemas.microsoft.com/office/drawing/2014/main" id="{D31BA8F9-28AA-1D88-CA08-5E2327733C43}"/>
                    </a:ext>
                  </a:extLst>
                </p:cNvPr>
                <p:cNvSpPr>
                  <a:spLocks noChangeArrowheads="1"/>
                </p:cNvSpPr>
                <p:nvPr/>
              </p:nvSpPr>
              <p:spPr bwMode="auto">
                <a:xfrm>
                  <a:off x="3927" y="2227"/>
                  <a:ext cx="128" cy="157"/>
                </a:xfrm>
                <a:prstGeom prst="ellipse">
                  <a:avLst/>
                </a:prstGeom>
                <a:solidFill>
                  <a:schemeClr val="tx2"/>
                </a:solidFill>
                <a:ln w="317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32" name="Oval 43">
                <a:extLst>
                  <a:ext uri="{FF2B5EF4-FFF2-40B4-BE49-F238E27FC236}">
                    <a16:creationId xmlns:a16="http://schemas.microsoft.com/office/drawing/2014/main" id="{804502E8-4C17-9577-3056-3FE6E98E1BB3}"/>
                  </a:ext>
                </a:extLst>
              </p:cNvPr>
              <p:cNvSpPr>
                <a:spLocks noChangeArrowheads="1"/>
              </p:cNvSpPr>
              <p:nvPr/>
            </p:nvSpPr>
            <p:spPr bwMode="auto">
              <a:xfrm>
                <a:off x="1200" y="2352"/>
                <a:ext cx="1008" cy="1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grpSp>
        <p:nvGrpSpPr>
          <p:cNvPr id="43" name="Group 42">
            <a:extLst>
              <a:ext uri="{FF2B5EF4-FFF2-40B4-BE49-F238E27FC236}">
                <a16:creationId xmlns:a16="http://schemas.microsoft.com/office/drawing/2014/main" id="{30FF9422-0AE1-F6DD-BA2F-D7AD79C86A00}"/>
              </a:ext>
            </a:extLst>
          </p:cNvPr>
          <p:cNvGrpSpPr/>
          <p:nvPr/>
        </p:nvGrpSpPr>
        <p:grpSpPr>
          <a:xfrm>
            <a:off x="838200" y="297639"/>
            <a:ext cx="4220210" cy="301303"/>
            <a:chOff x="838200" y="297639"/>
            <a:chExt cx="4220210" cy="301303"/>
          </a:xfrm>
        </p:grpSpPr>
        <p:sp>
          <p:nvSpPr>
            <p:cNvPr id="44" name="AutoShape 9">
              <a:extLst>
                <a:ext uri="{FF2B5EF4-FFF2-40B4-BE49-F238E27FC236}">
                  <a16:creationId xmlns:a16="http://schemas.microsoft.com/office/drawing/2014/main" id="{923CDE1A-FFDC-5F73-5B2D-708C007CF341}"/>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5" name="Group 44">
              <a:extLst>
                <a:ext uri="{FF2B5EF4-FFF2-40B4-BE49-F238E27FC236}">
                  <a16:creationId xmlns:a16="http://schemas.microsoft.com/office/drawing/2014/main" id="{9FECE698-43B6-BCE5-6F9F-82C62AEC12A2}"/>
                </a:ext>
              </a:extLst>
            </p:cNvPr>
            <p:cNvGrpSpPr/>
            <p:nvPr/>
          </p:nvGrpSpPr>
          <p:grpSpPr>
            <a:xfrm>
              <a:off x="838200" y="297639"/>
              <a:ext cx="4220210" cy="301303"/>
              <a:chOff x="838200" y="297639"/>
              <a:chExt cx="4220210" cy="301303"/>
            </a:xfrm>
          </p:grpSpPr>
          <p:grpSp>
            <p:nvGrpSpPr>
              <p:cNvPr id="46" name="Group 45">
                <a:extLst>
                  <a:ext uri="{FF2B5EF4-FFF2-40B4-BE49-F238E27FC236}">
                    <a16:creationId xmlns:a16="http://schemas.microsoft.com/office/drawing/2014/main" id="{48DEE1EE-378B-9F35-3A9F-9076A87E7508}"/>
                  </a:ext>
                </a:extLst>
              </p:cNvPr>
              <p:cNvGrpSpPr/>
              <p:nvPr/>
            </p:nvGrpSpPr>
            <p:grpSpPr>
              <a:xfrm>
                <a:off x="838200" y="297639"/>
                <a:ext cx="1060167" cy="290657"/>
                <a:chOff x="826426" y="4041857"/>
                <a:chExt cx="1060167" cy="290657"/>
              </a:xfrm>
            </p:grpSpPr>
            <p:sp>
              <p:nvSpPr>
                <p:cNvPr id="48" name="AutoShape 9">
                  <a:extLst>
                    <a:ext uri="{FF2B5EF4-FFF2-40B4-BE49-F238E27FC236}">
                      <a16:creationId xmlns:a16="http://schemas.microsoft.com/office/drawing/2014/main" id="{67264C3B-78B0-8604-2E42-7E97816FE79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9" name="AutoShape 11">
                  <a:extLst>
                    <a:ext uri="{FF2B5EF4-FFF2-40B4-BE49-F238E27FC236}">
                      <a16:creationId xmlns:a16="http://schemas.microsoft.com/office/drawing/2014/main" id="{F81EF46C-E4BF-8F5E-1A35-3C1EA37CEF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0" name="AutoShape 10">
                  <a:extLst>
                    <a:ext uri="{FF2B5EF4-FFF2-40B4-BE49-F238E27FC236}">
                      <a16:creationId xmlns:a16="http://schemas.microsoft.com/office/drawing/2014/main" id="{AE94D138-58B1-2DE1-C2F8-420006CA2B2B}"/>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47" name="TextBox 46">
                <a:extLst>
                  <a:ext uri="{FF2B5EF4-FFF2-40B4-BE49-F238E27FC236}">
                    <a16:creationId xmlns:a16="http://schemas.microsoft.com/office/drawing/2014/main" id="{263CBF13-8734-6A8E-28C1-3AFBC8477DD3}"/>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Cycle Time</a:t>
                </a:r>
              </a:p>
            </p:txBody>
          </p:sp>
        </p:grpSp>
      </p:grpSp>
    </p:spTree>
    <p:extLst>
      <p:ext uri="{BB962C8B-B14F-4D97-AF65-F5344CB8AC3E}">
        <p14:creationId xmlns:p14="http://schemas.microsoft.com/office/powerpoint/2010/main" val="415138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Machine Cycle Time Defined</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838200" y="1769915"/>
            <a:ext cx="5183188" cy="823912"/>
          </a:xfrm>
        </p:spPr>
        <p:txBody>
          <a:bodyPr>
            <a:normAutofit/>
          </a:bodyPr>
          <a:lstStyle/>
          <a:p>
            <a:r>
              <a:rPr lang="en-US" dirty="0"/>
              <a:t>Traditional Batch Manufacturing</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531016" y="2505075"/>
            <a:ext cx="5183188" cy="3684588"/>
          </a:xfrm>
        </p:spPr>
        <p:txBody>
          <a:bodyPr>
            <a:normAutofit/>
          </a:bodyPr>
          <a:lstStyle/>
          <a:p>
            <a:r>
              <a:rPr lang="en-US" dirty="0"/>
              <a:t>Defined as the amount of time it takes </a:t>
            </a:r>
            <a:r>
              <a:rPr lang="en-US" u="sng" dirty="0"/>
              <a:t>a machine</a:t>
            </a:r>
            <a:r>
              <a:rPr lang="en-US" dirty="0"/>
              <a:t> to completely finish one full cycle (start/stop time)</a:t>
            </a:r>
          </a:p>
          <a:p>
            <a:r>
              <a:rPr lang="en-US" dirty="0"/>
              <a:t>Has nothing to do with the operator</a:t>
            </a:r>
          </a:p>
          <a:p>
            <a:endParaRPr lang="en-US" dirty="0"/>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20</a:t>
            </a:fld>
            <a:endParaRPr lang="en-US"/>
          </a:p>
        </p:txBody>
      </p:sp>
      <p:sp>
        <p:nvSpPr>
          <p:cNvPr id="10" name="AutoShape 4">
            <a:extLst>
              <a:ext uri="{FF2B5EF4-FFF2-40B4-BE49-F238E27FC236}">
                <a16:creationId xmlns:a16="http://schemas.microsoft.com/office/drawing/2014/main" id="{B4A873BF-8708-C6AE-A2C9-7B745CE1A065}"/>
              </a:ext>
            </a:extLst>
          </p:cNvPr>
          <p:cNvSpPr>
            <a:spLocks noChangeArrowheads="1"/>
          </p:cNvSpPr>
          <p:nvPr/>
        </p:nvSpPr>
        <p:spPr bwMode="auto">
          <a:xfrm>
            <a:off x="5849208" y="2714956"/>
            <a:ext cx="285750" cy="2493962"/>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grpSp>
        <p:nvGrpSpPr>
          <p:cNvPr id="23" name="Group 22">
            <a:extLst>
              <a:ext uri="{FF2B5EF4-FFF2-40B4-BE49-F238E27FC236}">
                <a16:creationId xmlns:a16="http://schemas.microsoft.com/office/drawing/2014/main" id="{41742F83-76C0-B296-1A15-884F1C1B299D}"/>
              </a:ext>
            </a:extLst>
          </p:cNvPr>
          <p:cNvGrpSpPr/>
          <p:nvPr/>
        </p:nvGrpSpPr>
        <p:grpSpPr>
          <a:xfrm>
            <a:off x="838200" y="297639"/>
            <a:ext cx="4220210" cy="301303"/>
            <a:chOff x="838200" y="297639"/>
            <a:chExt cx="4220210" cy="301303"/>
          </a:xfrm>
        </p:grpSpPr>
        <p:sp>
          <p:nvSpPr>
            <p:cNvPr id="24" name="AutoShape 9">
              <a:extLst>
                <a:ext uri="{FF2B5EF4-FFF2-40B4-BE49-F238E27FC236}">
                  <a16:creationId xmlns:a16="http://schemas.microsoft.com/office/drawing/2014/main" id="{7699274D-DE80-A0FC-2B86-2927E88F81C8}"/>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5" name="Group 24">
              <a:extLst>
                <a:ext uri="{FF2B5EF4-FFF2-40B4-BE49-F238E27FC236}">
                  <a16:creationId xmlns:a16="http://schemas.microsoft.com/office/drawing/2014/main" id="{3F0B7B0A-F070-A506-FDEC-CA298B986651}"/>
                </a:ext>
              </a:extLst>
            </p:cNvPr>
            <p:cNvGrpSpPr/>
            <p:nvPr/>
          </p:nvGrpSpPr>
          <p:grpSpPr>
            <a:xfrm>
              <a:off x="838200" y="297639"/>
              <a:ext cx="4220210" cy="301303"/>
              <a:chOff x="838200" y="297639"/>
              <a:chExt cx="4220210" cy="301303"/>
            </a:xfrm>
          </p:grpSpPr>
          <p:grpSp>
            <p:nvGrpSpPr>
              <p:cNvPr id="26" name="Group 25">
                <a:extLst>
                  <a:ext uri="{FF2B5EF4-FFF2-40B4-BE49-F238E27FC236}">
                    <a16:creationId xmlns:a16="http://schemas.microsoft.com/office/drawing/2014/main" id="{D9C8906B-4315-6536-BE67-48E91F0602A7}"/>
                  </a:ext>
                </a:extLst>
              </p:cNvPr>
              <p:cNvGrpSpPr/>
              <p:nvPr/>
            </p:nvGrpSpPr>
            <p:grpSpPr>
              <a:xfrm>
                <a:off x="838200" y="297639"/>
                <a:ext cx="1060167" cy="290657"/>
                <a:chOff x="826426" y="4041857"/>
                <a:chExt cx="1060167" cy="290657"/>
              </a:xfrm>
            </p:grpSpPr>
            <p:sp>
              <p:nvSpPr>
                <p:cNvPr id="28" name="AutoShape 9">
                  <a:extLst>
                    <a:ext uri="{FF2B5EF4-FFF2-40B4-BE49-F238E27FC236}">
                      <a16:creationId xmlns:a16="http://schemas.microsoft.com/office/drawing/2014/main" id="{1D72DBE8-7BEE-06C3-C61F-5EB5C2DA7D4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9" name="AutoShape 11">
                  <a:extLst>
                    <a:ext uri="{FF2B5EF4-FFF2-40B4-BE49-F238E27FC236}">
                      <a16:creationId xmlns:a16="http://schemas.microsoft.com/office/drawing/2014/main" id="{85674FB8-4A85-4AA0-B804-BB8CC46ED3A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0" name="AutoShape 10">
                  <a:extLst>
                    <a:ext uri="{FF2B5EF4-FFF2-40B4-BE49-F238E27FC236}">
                      <a16:creationId xmlns:a16="http://schemas.microsoft.com/office/drawing/2014/main" id="{63BC8C09-2193-F78F-2444-84AFA4879FC9}"/>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27" name="TextBox 26">
                <a:extLst>
                  <a:ext uri="{FF2B5EF4-FFF2-40B4-BE49-F238E27FC236}">
                    <a16:creationId xmlns:a16="http://schemas.microsoft.com/office/drawing/2014/main" id="{A55C0C49-F0CB-0572-4178-0AD6B0722584}"/>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Cycle Time</a:t>
                </a:r>
              </a:p>
            </p:txBody>
          </p:sp>
        </p:grpSp>
      </p:grpSp>
      <p:grpSp>
        <p:nvGrpSpPr>
          <p:cNvPr id="43" name="Group 42">
            <a:extLst>
              <a:ext uri="{FF2B5EF4-FFF2-40B4-BE49-F238E27FC236}">
                <a16:creationId xmlns:a16="http://schemas.microsoft.com/office/drawing/2014/main" id="{A9825F5B-9505-39AB-1251-6D383D8145B5}"/>
              </a:ext>
            </a:extLst>
          </p:cNvPr>
          <p:cNvGrpSpPr/>
          <p:nvPr/>
        </p:nvGrpSpPr>
        <p:grpSpPr>
          <a:xfrm>
            <a:off x="1161297" y="2661162"/>
            <a:ext cx="3897113" cy="3206023"/>
            <a:chOff x="376238" y="1933575"/>
            <a:chExt cx="4576762" cy="3879089"/>
          </a:xfrm>
        </p:grpSpPr>
        <p:grpSp>
          <p:nvGrpSpPr>
            <p:cNvPr id="31" name="Group 14">
              <a:extLst>
                <a:ext uri="{FF2B5EF4-FFF2-40B4-BE49-F238E27FC236}">
                  <a16:creationId xmlns:a16="http://schemas.microsoft.com/office/drawing/2014/main" id="{67BDBD6C-BB43-9B2C-DB88-7BC167869CA5}"/>
                </a:ext>
              </a:extLst>
            </p:cNvPr>
            <p:cNvGrpSpPr>
              <a:grpSpLocks/>
            </p:cNvGrpSpPr>
            <p:nvPr/>
          </p:nvGrpSpPr>
          <p:grpSpPr bwMode="auto">
            <a:xfrm>
              <a:off x="376238" y="1998663"/>
              <a:ext cx="1903412" cy="1769733"/>
              <a:chOff x="256" y="2304"/>
              <a:chExt cx="1849" cy="1564"/>
            </a:xfrm>
          </p:grpSpPr>
          <p:sp>
            <p:nvSpPr>
              <p:cNvPr id="32" name="Oval 15">
                <a:extLst>
                  <a:ext uri="{FF2B5EF4-FFF2-40B4-BE49-F238E27FC236}">
                    <a16:creationId xmlns:a16="http://schemas.microsoft.com/office/drawing/2014/main" id="{46034682-6CA5-F73A-2DCC-1F94F10260DF}"/>
                  </a:ext>
                </a:extLst>
              </p:cNvPr>
              <p:cNvSpPr>
                <a:spLocks noChangeArrowheads="1"/>
              </p:cNvSpPr>
              <p:nvPr/>
            </p:nvSpPr>
            <p:spPr bwMode="auto">
              <a:xfrm>
                <a:off x="787" y="2304"/>
                <a:ext cx="816" cy="816"/>
              </a:xfrm>
              <a:prstGeom prst="ellipse">
                <a:avLst/>
              </a:prstGeom>
              <a:solidFill>
                <a:schemeClr val="accent6"/>
              </a:solidFill>
              <a:ln>
                <a:noFill/>
              </a:ln>
              <a:extLst>
                <a:ext uri="{91240B29-F687-4F45-9708-019B960494DF}">
                  <a14:hiddenLine xmlns:a14="http://schemas.microsoft.com/office/drawing/2010/main" w="57150">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800">
                    <a:solidFill>
                      <a:schemeClr val="bg1"/>
                    </a:solidFill>
                    <a:latin typeface="Roboto" panose="02000000000000000000" pitchFamily="2" charset="0"/>
                    <a:ea typeface="Roboto" panose="02000000000000000000" pitchFamily="2" charset="0"/>
                  </a:rPr>
                  <a:t>GO</a:t>
                </a:r>
              </a:p>
            </p:txBody>
          </p:sp>
          <p:sp>
            <p:nvSpPr>
              <p:cNvPr id="33" name="Text Box 16">
                <a:extLst>
                  <a:ext uri="{FF2B5EF4-FFF2-40B4-BE49-F238E27FC236}">
                    <a16:creationId xmlns:a16="http://schemas.microsoft.com/office/drawing/2014/main" id="{8E24EB00-DB85-1F92-91D3-5AF6CA98E16C}"/>
                  </a:ext>
                </a:extLst>
              </p:cNvPr>
              <p:cNvSpPr txBox="1">
                <a:spLocks noChangeArrowheads="1"/>
              </p:cNvSpPr>
              <p:nvPr/>
            </p:nvSpPr>
            <p:spPr bwMode="auto">
              <a:xfrm>
                <a:off x="256" y="3243"/>
                <a:ext cx="1849" cy="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1. Hit Cycle Start</a:t>
                </a:r>
              </a:p>
            </p:txBody>
          </p:sp>
        </p:grpSp>
        <p:grpSp>
          <p:nvGrpSpPr>
            <p:cNvPr id="34" name="Group 48">
              <a:extLst>
                <a:ext uri="{FF2B5EF4-FFF2-40B4-BE49-F238E27FC236}">
                  <a16:creationId xmlns:a16="http://schemas.microsoft.com/office/drawing/2014/main" id="{2C9ABC75-DE6A-6C12-2F77-D1278E4E46B5}"/>
                </a:ext>
              </a:extLst>
            </p:cNvPr>
            <p:cNvGrpSpPr>
              <a:grpSpLocks/>
            </p:cNvGrpSpPr>
            <p:nvPr/>
          </p:nvGrpSpPr>
          <p:grpSpPr bwMode="auto">
            <a:xfrm>
              <a:off x="2754312" y="1933575"/>
              <a:ext cx="2198688" cy="1565275"/>
              <a:chOff x="1735" y="1218"/>
              <a:chExt cx="1385" cy="986"/>
            </a:xfrm>
          </p:grpSpPr>
          <p:pic>
            <p:nvPicPr>
              <p:cNvPr id="35" name="Picture 47" descr="machine cycle">
                <a:extLst>
                  <a:ext uri="{FF2B5EF4-FFF2-40B4-BE49-F238E27FC236}">
                    <a16:creationId xmlns:a16="http://schemas.microsoft.com/office/drawing/2014/main" id="{864874A0-7D81-85E3-9B37-D9FBCEB76F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8" y="1218"/>
                <a:ext cx="750" cy="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 Box 19">
                <a:extLst>
                  <a:ext uri="{FF2B5EF4-FFF2-40B4-BE49-F238E27FC236}">
                    <a16:creationId xmlns:a16="http://schemas.microsoft.com/office/drawing/2014/main" id="{82F7704D-39BC-8075-CAA8-615CF0E70786}"/>
                  </a:ext>
                </a:extLst>
              </p:cNvPr>
              <p:cNvSpPr txBox="1">
                <a:spLocks noChangeArrowheads="1"/>
              </p:cNvSpPr>
              <p:nvPr/>
            </p:nvSpPr>
            <p:spPr bwMode="auto">
              <a:xfrm>
                <a:off x="1735" y="1946"/>
                <a:ext cx="1385"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2. Machine Cycles</a:t>
                </a:r>
              </a:p>
            </p:txBody>
          </p:sp>
        </p:grpSp>
        <p:grpSp>
          <p:nvGrpSpPr>
            <p:cNvPr id="37" name="Group 20">
              <a:extLst>
                <a:ext uri="{FF2B5EF4-FFF2-40B4-BE49-F238E27FC236}">
                  <a16:creationId xmlns:a16="http://schemas.microsoft.com/office/drawing/2014/main" id="{59AFBEBF-6A78-E5F2-5CD9-350C4140B86F}"/>
                </a:ext>
              </a:extLst>
            </p:cNvPr>
            <p:cNvGrpSpPr>
              <a:grpSpLocks/>
            </p:cNvGrpSpPr>
            <p:nvPr/>
          </p:nvGrpSpPr>
          <p:grpSpPr bwMode="auto">
            <a:xfrm>
              <a:off x="944253" y="3990974"/>
              <a:ext cx="3059733" cy="1821690"/>
              <a:chOff x="3575" y="2325"/>
              <a:chExt cx="2113" cy="1184"/>
            </a:xfrm>
          </p:grpSpPr>
          <p:sp>
            <p:nvSpPr>
              <p:cNvPr id="38" name="AutoShape 21">
                <a:extLst>
                  <a:ext uri="{FF2B5EF4-FFF2-40B4-BE49-F238E27FC236}">
                    <a16:creationId xmlns:a16="http://schemas.microsoft.com/office/drawing/2014/main" id="{E6612184-F12E-E930-C0E0-CE6B904F7B20}"/>
                  </a:ext>
                </a:extLst>
              </p:cNvPr>
              <p:cNvSpPr>
                <a:spLocks noChangeArrowheads="1"/>
              </p:cNvSpPr>
              <p:nvPr/>
            </p:nvSpPr>
            <p:spPr bwMode="auto">
              <a:xfrm>
                <a:off x="4176" y="2325"/>
                <a:ext cx="864" cy="816"/>
              </a:xfrm>
              <a:prstGeom prst="octagon">
                <a:avLst>
                  <a:gd name="adj" fmla="val 29287"/>
                </a:avLst>
              </a:prstGeom>
              <a:solidFill>
                <a:schemeClr val="accent1"/>
              </a:solidFill>
              <a:ln w="57150">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800">
                    <a:solidFill>
                      <a:schemeClr val="bg1"/>
                    </a:solidFill>
                    <a:latin typeface="Roboto" panose="02000000000000000000" pitchFamily="2" charset="0"/>
                    <a:ea typeface="Roboto" panose="02000000000000000000" pitchFamily="2" charset="0"/>
                  </a:rPr>
                  <a:t>STOP</a:t>
                </a:r>
              </a:p>
            </p:txBody>
          </p:sp>
          <p:sp>
            <p:nvSpPr>
              <p:cNvPr id="39" name="Text Box 22">
                <a:extLst>
                  <a:ext uri="{FF2B5EF4-FFF2-40B4-BE49-F238E27FC236}">
                    <a16:creationId xmlns:a16="http://schemas.microsoft.com/office/drawing/2014/main" id="{CDCE2B35-5E46-C0E1-2B71-9F74F69D1D10}"/>
                  </a:ext>
                </a:extLst>
              </p:cNvPr>
              <p:cNvSpPr txBox="1">
                <a:spLocks noChangeArrowheads="1"/>
              </p:cNvSpPr>
              <p:nvPr/>
            </p:nvSpPr>
            <p:spPr bwMode="auto">
              <a:xfrm>
                <a:off x="3575" y="3243"/>
                <a:ext cx="2113"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3. Machine Comes to Rest</a:t>
                </a:r>
              </a:p>
            </p:txBody>
          </p:sp>
        </p:grpSp>
        <p:sp>
          <p:nvSpPr>
            <p:cNvPr id="40" name="Line 23">
              <a:extLst>
                <a:ext uri="{FF2B5EF4-FFF2-40B4-BE49-F238E27FC236}">
                  <a16:creationId xmlns:a16="http://schemas.microsoft.com/office/drawing/2014/main" id="{6D1CFCA1-D973-8E66-F60A-3C5601389A4B}"/>
                </a:ext>
              </a:extLst>
            </p:cNvPr>
            <p:cNvSpPr>
              <a:spLocks noChangeShapeType="1"/>
            </p:cNvSpPr>
            <p:nvPr/>
          </p:nvSpPr>
          <p:spPr bwMode="auto">
            <a:xfrm>
              <a:off x="1885950" y="3016250"/>
              <a:ext cx="868362"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1" name="Line 24">
              <a:extLst>
                <a:ext uri="{FF2B5EF4-FFF2-40B4-BE49-F238E27FC236}">
                  <a16:creationId xmlns:a16="http://schemas.microsoft.com/office/drawing/2014/main" id="{89ADDFF0-3677-7758-FD7F-70869D34D60E}"/>
                </a:ext>
              </a:extLst>
            </p:cNvPr>
            <p:cNvSpPr>
              <a:spLocks noChangeShapeType="1"/>
            </p:cNvSpPr>
            <p:nvPr/>
          </p:nvSpPr>
          <p:spPr bwMode="auto">
            <a:xfrm>
              <a:off x="3882605" y="3498850"/>
              <a:ext cx="0" cy="884237"/>
            </a:xfrm>
            <a:prstGeom prst="line">
              <a:avLst/>
            </a:prstGeom>
            <a:noFill/>
            <a:ln w="571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2" name="Line 25">
              <a:extLst>
                <a:ext uri="{FF2B5EF4-FFF2-40B4-BE49-F238E27FC236}">
                  <a16:creationId xmlns:a16="http://schemas.microsoft.com/office/drawing/2014/main" id="{8660DB4B-4C2F-9BDB-576A-E069CECB4C2B}"/>
                </a:ext>
              </a:extLst>
            </p:cNvPr>
            <p:cNvSpPr>
              <a:spLocks noChangeShapeType="1"/>
            </p:cNvSpPr>
            <p:nvPr/>
          </p:nvSpPr>
          <p:spPr bwMode="auto">
            <a:xfrm flipH="1">
              <a:off x="3208338" y="4484688"/>
              <a:ext cx="681037" cy="0"/>
            </a:xfrm>
            <a:prstGeom prst="line">
              <a:avLst/>
            </a:prstGeom>
            <a:noFill/>
            <a:ln w="5715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42429235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Processing Cycle Time Defined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The machine cycle time PLUS the manual time it takes an operator to unload, load, and cycle start the machine and amortized tool change time</a:t>
            </a:r>
          </a:p>
          <a:p>
            <a:endParaRPr lang="en-US" dirty="0"/>
          </a:p>
          <a:p>
            <a:endParaRPr lang="en-US" dirty="0"/>
          </a:p>
          <a:p>
            <a:r>
              <a:rPr lang="en-US" dirty="0"/>
              <a:t>Amortized tool change is the time it takes to complete a scheduled tool change divided by the number of cycles between the tool change</a:t>
            </a:r>
          </a:p>
          <a:p>
            <a:r>
              <a:rPr lang="en-US" dirty="0"/>
              <a:t>Only for scheduled tool changes</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21</a:t>
            </a:fld>
            <a:endParaRPr lang="en-US"/>
          </a:p>
        </p:txBody>
      </p:sp>
      <p:grpSp>
        <p:nvGrpSpPr>
          <p:cNvPr id="13" name="Group 12">
            <a:extLst>
              <a:ext uri="{FF2B5EF4-FFF2-40B4-BE49-F238E27FC236}">
                <a16:creationId xmlns:a16="http://schemas.microsoft.com/office/drawing/2014/main" id="{23304E91-205E-6116-F497-CC43D72B7C5D}"/>
              </a:ext>
            </a:extLst>
          </p:cNvPr>
          <p:cNvGrpSpPr/>
          <p:nvPr/>
        </p:nvGrpSpPr>
        <p:grpSpPr>
          <a:xfrm>
            <a:off x="838200" y="297639"/>
            <a:ext cx="4220210" cy="301303"/>
            <a:chOff x="838200" y="297639"/>
            <a:chExt cx="4220210" cy="301303"/>
          </a:xfrm>
        </p:grpSpPr>
        <p:sp>
          <p:nvSpPr>
            <p:cNvPr id="14" name="AutoShape 9">
              <a:extLst>
                <a:ext uri="{FF2B5EF4-FFF2-40B4-BE49-F238E27FC236}">
                  <a16:creationId xmlns:a16="http://schemas.microsoft.com/office/drawing/2014/main" id="{7F6F3C61-D1F5-E037-7DF0-32D98373CB00}"/>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5" name="Group 14">
              <a:extLst>
                <a:ext uri="{FF2B5EF4-FFF2-40B4-BE49-F238E27FC236}">
                  <a16:creationId xmlns:a16="http://schemas.microsoft.com/office/drawing/2014/main" id="{6035651A-1DE4-C6CE-5A2F-68D85F4C9D1C}"/>
                </a:ext>
              </a:extLst>
            </p:cNvPr>
            <p:cNvGrpSpPr/>
            <p:nvPr/>
          </p:nvGrpSpPr>
          <p:grpSpPr>
            <a:xfrm>
              <a:off x="838200" y="297639"/>
              <a:ext cx="4220210" cy="301303"/>
              <a:chOff x="838200" y="297639"/>
              <a:chExt cx="4220210" cy="301303"/>
            </a:xfrm>
          </p:grpSpPr>
          <p:grpSp>
            <p:nvGrpSpPr>
              <p:cNvPr id="16" name="Group 15">
                <a:extLst>
                  <a:ext uri="{FF2B5EF4-FFF2-40B4-BE49-F238E27FC236}">
                    <a16:creationId xmlns:a16="http://schemas.microsoft.com/office/drawing/2014/main" id="{96BE7D98-F623-8465-EA4C-661441CC8134}"/>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B8045772-E20F-EB7E-1D65-7C898AF0F3D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423D27D7-6573-22C8-A6D8-DAAE814F4EC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0">
                  <a:extLst>
                    <a:ext uri="{FF2B5EF4-FFF2-40B4-BE49-F238E27FC236}">
                      <a16:creationId xmlns:a16="http://schemas.microsoft.com/office/drawing/2014/main" id="{610008E9-E72A-EAA8-DA5D-EB7EE3BDD8D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7" name="TextBox 16">
                <a:extLst>
                  <a:ext uri="{FF2B5EF4-FFF2-40B4-BE49-F238E27FC236}">
                    <a16:creationId xmlns:a16="http://schemas.microsoft.com/office/drawing/2014/main" id="{8EB627F2-2359-5F63-25F5-40979A6DDD81}"/>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Cycle Time</a:t>
                </a:r>
              </a:p>
            </p:txBody>
          </p:sp>
        </p:grpSp>
      </p:grpSp>
      <p:sp>
        <p:nvSpPr>
          <p:cNvPr id="21" name="Rectangle 7">
            <a:extLst>
              <a:ext uri="{FF2B5EF4-FFF2-40B4-BE49-F238E27FC236}">
                <a16:creationId xmlns:a16="http://schemas.microsoft.com/office/drawing/2014/main" id="{20FE3A19-EC5F-903A-C71F-5DFDE30F745B}"/>
              </a:ext>
            </a:extLst>
          </p:cNvPr>
          <p:cNvSpPr>
            <a:spLocks noChangeArrowheads="1"/>
          </p:cNvSpPr>
          <p:nvPr/>
        </p:nvSpPr>
        <p:spPr bwMode="auto">
          <a:xfrm>
            <a:off x="3882231" y="3169920"/>
            <a:ext cx="4427538" cy="668338"/>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a:solidFill>
                  <a:schemeClr val="bg1"/>
                </a:solidFill>
                <a:latin typeface="Roboto" panose="02000000000000000000" pitchFamily="2" charset="0"/>
                <a:ea typeface="Roboto" panose="02000000000000000000" pitchFamily="2" charset="0"/>
              </a:rPr>
              <a:t>OCT + MCT = PCT</a:t>
            </a:r>
          </a:p>
        </p:txBody>
      </p:sp>
    </p:spTree>
    <p:extLst>
      <p:ext uri="{BB962C8B-B14F-4D97-AF65-F5344CB8AC3E}">
        <p14:creationId xmlns:p14="http://schemas.microsoft.com/office/powerpoint/2010/main" val="2864851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Cycle Time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Calculate types of cycle time.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information on the following slide to calculate the following:</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Total Operator Cycle Time</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Processing Time for Machine #1</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Discuss answers as a class</a:t>
            </a:r>
          </a:p>
        </p:txBody>
      </p:sp>
      <p:grpSp>
        <p:nvGrpSpPr>
          <p:cNvPr id="20" name="Group 19">
            <a:extLst>
              <a:ext uri="{FF2B5EF4-FFF2-40B4-BE49-F238E27FC236}">
                <a16:creationId xmlns:a16="http://schemas.microsoft.com/office/drawing/2014/main" id="{7684A1A9-F91F-7F62-4F92-D995A4545720}"/>
              </a:ext>
            </a:extLst>
          </p:cNvPr>
          <p:cNvGrpSpPr/>
          <p:nvPr/>
        </p:nvGrpSpPr>
        <p:grpSpPr>
          <a:xfrm>
            <a:off x="838200" y="297639"/>
            <a:ext cx="4220210" cy="301303"/>
            <a:chOff x="838200" y="297639"/>
            <a:chExt cx="4220210" cy="301303"/>
          </a:xfrm>
        </p:grpSpPr>
        <p:sp>
          <p:nvSpPr>
            <p:cNvPr id="21" name="AutoShape 9">
              <a:extLst>
                <a:ext uri="{FF2B5EF4-FFF2-40B4-BE49-F238E27FC236}">
                  <a16:creationId xmlns:a16="http://schemas.microsoft.com/office/drawing/2014/main" id="{B451C38A-52D5-57A6-1391-500A74A0C07C}"/>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2" name="Group 21">
              <a:extLst>
                <a:ext uri="{FF2B5EF4-FFF2-40B4-BE49-F238E27FC236}">
                  <a16:creationId xmlns:a16="http://schemas.microsoft.com/office/drawing/2014/main" id="{A83053D0-4CBE-BC3D-9C5A-4E11F2D1BD37}"/>
                </a:ext>
              </a:extLst>
            </p:cNvPr>
            <p:cNvGrpSpPr/>
            <p:nvPr/>
          </p:nvGrpSpPr>
          <p:grpSpPr>
            <a:xfrm>
              <a:off x="838200" y="297639"/>
              <a:ext cx="4220210" cy="301303"/>
              <a:chOff x="838200" y="297639"/>
              <a:chExt cx="4220210" cy="301303"/>
            </a:xfrm>
          </p:grpSpPr>
          <p:grpSp>
            <p:nvGrpSpPr>
              <p:cNvPr id="23" name="Group 22">
                <a:extLst>
                  <a:ext uri="{FF2B5EF4-FFF2-40B4-BE49-F238E27FC236}">
                    <a16:creationId xmlns:a16="http://schemas.microsoft.com/office/drawing/2014/main" id="{160A0DA6-C94D-C14B-F1D2-7A6263A408F8}"/>
                  </a:ext>
                </a:extLst>
              </p:cNvPr>
              <p:cNvGrpSpPr/>
              <p:nvPr/>
            </p:nvGrpSpPr>
            <p:grpSpPr>
              <a:xfrm>
                <a:off x="838200" y="297639"/>
                <a:ext cx="1060167" cy="290657"/>
                <a:chOff x="826426" y="4041857"/>
                <a:chExt cx="1060167" cy="290657"/>
              </a:xfrm>
            </p:grpSpPr>
            <p:sp>
              <p:nvSpPr>
                <p:cNvPr id="25" name="AutoShape 9">
                  <a:extLst>
                    <a:ext uri="{FF2B5EF4-FFF2-40B4-BE49-F238E27FC236}">
                      <a16:creationId xmlns:a16="http://schemas.microsoft.com/office/drawing/2014/main" id="{B89A5B76-B481-358C-3D3F-340AC2D1A52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6" name="AutoShape 11">
                  <a:extLst>
                    <a:ext uri="{FF2B5EF4-FFF2-40B4-BE49-F238E27FC236}">
                      <a16:creationId xmlns:a16="http://schemas.microsoft.com/office/drawing/2014/main" id="{4A98D768-7572-FE9B-E3D1-CEC2CF4D47B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7" name="AutoShape 10">
                  <a:extLst>
                    <a:ext uri="{FF2B5EF4-FFF2-40B4-BE49-F238E27FC236}">
                      <a16:creationId xmlns:a16="http://schemas.microsoft.com/office/drawing/2014/main" id="{E9EA0E6E-84C7-26CF-AED0-A1AFEBD30BC0}"/>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24" name="TextBox 23">
                <a:extLst>
                  <a:ext uri="{FF2B5EF4-FFF2-40B4-BE49-F238E27FC236}">
                    <a16:creationId xmlns:a16="http://schemas.microsoft.com/office/drawing/2014/main" id="{DF3251BB-3851-8E8E-1770-312396A87136}"/>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Cycle Time</a:t>
                </a:r>
              </a:p>
            </p:txBody>
          </p:sp>
        </p:grpSp>
      </p:grpSp>
    </p:spTree>
    <p:extLst>
      <p:ext uri="{BB962C8B-B14F-4D97-AF65-F5344CB8AC3E}">
        <p14:creationId xmlns:p14="http://schemas.microsoft.com/office/powerpoint/2010/main" val="1278110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Exercise: Cycle Time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Operator cycle time for unloading, loading (raw material), and cycle starting machine #1 is 10 seconds</a:t>
            </a:r>
          </a:p>
          <a:p>
            <a:r>
              <a:rPr lang="en-US" dirty="0"/>
              <a:t>Machine #1 cycle time is 25 seconds</a:t>
            </a:r>
          </a:p>
          <a:p>
            <a:r>
              <a:rPr lang="en-US" dirty="0"/>
              <a:t>Operator gages the part after the unload, which takes 12 seconds</a:t>
            </a:r>
          </a:p>
          <a:p>
            <a:r>
              <a:rPr lang="en-US" dirty="0"/>
              <a:t>Operator takes 4 seconds to walk with part to machine #2</a:t>
            </a:r>
          </a:p>
          <a:p>
            <a:r>
              <a:rPr lang="en-US" dirty="0"/>
              <a:t>Operator cycle time for unloading, loading, and cycle starting machine #2 is 12 seconds</a:t>
            </a:r>
          </a:p>
          <a:p>
            <a:r>
              <a:rPr lang="en-US" dirty="0"/>
              <a:t>Operator returns to machine #1 with a walk time of 3 seconds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23</a:t>
            </a:fld>
            <a:endParaRPr lang="en-US"/>
          </a:p>
        </p:txBody>
      </p:sp>
      <p:grpSp>
        <p:nvGrpSpPr>
          <p:cNvPr id="13" name="Group 12">
            <a:extLst>
              <a:ext uri="{FF2B5EF4-FFF2-40B4-BE49-F238E27FC236}">
                <a16:creationId xmlns:a16="http://schemas.microsoft.com/office/drawing/2014/main" id="{8DDB5BB9-671C-1211-EF4B-C424EED47F37}"/>
              </a:ext>
            </a:extLst>
          </p:cNvPr>
          <p:cNvGrpSpPr/>
          <p:nvPr/>
        </p:nvGrpSpPr>
        <p:grpSpPr>
          <a:xfrm>
            <a:off x="838200" y="297639"/>
            <a:ext cx="4220210" cy="301303"/>
            <a:chOff x="838200" y="297639"/>
            <a:chExt cx="4220210" cy="301303"/>
          </a:xfrm>
        </p:grpSpPr>
        <p:sp>
          <p:nvSpPr>
            <p:cNvPr id="14" name="AutoShape 9">
              <a:extLst>
                <a:ext uri="{FF2B5EF4-FFF2-40B4-BE49-F238E27FC236}">
                  <a16:creationId xmlns:a16="http://schemas.microsoft.com/office/drawing/2014/main" id="{10DE5740-2BA3-8599-55AF-F34C8E8F9214}"/>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5" name="Group 14">
              <a:extLst>
                <a:ext uri="{FF2B5EF4-FFF2-40B4-BE49-F238E27FC236}">
                  <a16:creationId xmlns:a16="http://schemas.microsoft.com/office/drawing/2014/main" id="{A9C93441-289E-8C7E-9852-78A12BD9CE9C}"/>
                </a:ext>
              </a:extLst>
            </p:cNvPr>
            <p:cNvGrpSpPr/>
            <p:nvPr/>
          </p:nvGrpSpPr>
          <p:grpSpPr>
            <a:xfrm>
              <a:off x="838200" y="297639"/>
              <a:ext cx="4220210" cy="301303"/>
              <a:chOff x="838200" y="297639"/>
              <a:chExt cx="4220210" cy="301303"/>
            </a:xfrm>
          </p:grpSpPr>
          <p:grpSp>
            <p:nvGrpSpPr>
              <p:cNvPr id="16" name="Group 15">
                <a:extLst>
                  <a:ext uri="{FF2B5EF4-FFF2-40B4-BE49-F238E27FC236}">
                    <a16:creationId xmlns:a16="http://schemas.microsoft.com/office/drawing/2014/main" id="{9DACE9AB-E850-D27C-E809-15A9D405A56A}"/>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65273C51-D6E0-12E2-074A-046E5D29A64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5EE4DB56-C3C5-9DC7-C75C-AF91C08C9B3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0">
                  <a:extLst>
                    <a:ext uri="{FF2B5EF4-FFF2-40B4-BE49-F238E27FC236}">
                      <a16:creationId xmlns:a16="http://schemas.microsoft.com/office/drawing/2014/main" id="{FAB04887-8B18-08E9-38D4-ADB47297E058}"/>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7" name="TextBox 16">
                <a:extLst>
                  <a:ext uri="{FF2B5EF4-FFF2-40B4-BE49-F238E27FC236}">
                    <a16:creationId xmlns:a16="http://schemas.microsoft.com/office/drawing/2014/main" id="{09CE05F5-3392-9DE1-3126-B4503C2CE78A}"/>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Cycle Time</a:t>
                </a:r>
              </a:p>
            </p:txBody>
          </p:sp>
        </p:grpSp>
      </p:grpSp>
    </p:spTree>
    <p:extLst>
      <p:ext uri="{BB962C8B-B14F-4D97-AF65-F5344CB8AC3E}">
        <p14:creationId xmlns:p14="http://schemas.microsoft.com/office/powerpoint/2010/main" val="4095774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Takt Time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24</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takt time and cycle time to make decisions.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pairs, read and answer the following.</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Consider the following data:</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Your bottleneck machine in a cell has a cycle time of 150 seconds.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The takt time for the cell is 120 seconds (one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shift operation)</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your options? What would you do?</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Discuss answers as a class</a:t>
            </a:r>
          </a:p>
        </p:txBody>
      </p:sp>
      <p:grpSp>
        <p:nvGrpSpPr>
          <p:cNvPr id="3" name="Group 2">
            <a:extLst>
              <a:ext uri="{FF2B5EF4-FFF2-40B4-BE49-F238E27FC236}">
                <a16:creationId xmlns:a16="http://schemas.microsoft.com/office/drawing/2014/main" id="{6F3FAE3A-8887-5606-B7A4-28E15C394E3A}"/>
              </a:ext>
            </a:extLst>
          </p:cNvPr>
          <p:cNvGrpSpPr/>
          <p:nvPr/>
        </p:nvGrpSpPr>
        <p:grpSpPr>
          <a:xfrm>
            <a:off x="838200" y="297639"/>
            <a:ext cx="4220210" cy="301303"/>
            <a:chOff x="838200" y="297639"/>
            <a:chExt cx="4220210" cy="301303"/>
          </a:xfrm>
        </p:grpSpPr>
        <p:sp>
          <p:nvSpPr>
            <p:cNvPr id="4" name="AutoShape 9">
              <a:extLst>
                <a:ext uri="{FF2B5EF4-FFF2-40B4-BE49-F238E27FC236}">
                  <a16:creationId xmlns:a16="http://schemas.microsoft.com/office/drawing/2014/main" id="{5D6EE472-FC89-DAC4-2F02-D0457FE1AA96}"/>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4E969BA5-892E-A955-00FF-49B90A335154}"/>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A1ABC3EC-C871-A0A0-0FE6-52145B944AF3}"/>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0EC4E8D6-5BE7-84DF-518A-F9858F95DD9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5D264791-259F-D55D-BE6C-415E40A0AE0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0">
                  <a:extLst>
                    <a:ext uri="{FF2B5EF4-FFF2-40B4-BE49-F238E27FC236}">
                      <a16:creationId xmlns:a16="http://schemas.microsoft.com/office/drawing/2014/main" id="{BAF19BB5-AC00-B891-93FC-9EBF3560AF80}"/>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436D503A-19AC-A40B-C631-53C6DDBDD421}"/>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TAKT Time vs. Process Time</a:t>
                </a:r>
              </a:p>
            </p:txBody>
          </p:sp>
        </p:grpSp>
      </p:grpSp>
    </p:spTree>
    <p:extLst>
      <p:ext uri="{BB962C8B-B14F-4D97-AF65-F5344CB8AC3E}">
        <p14:creationId xmlns:p14="http://schemas.microsoft.com/office/powerpoint/2010/main" val="1352862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25</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Work Sequence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“work sequence”</a:t>
            </a:r>
          </a:p>
          <a:p>
            <a:r>
              <a:rPr lang="en-US" dirty="0"/>
              <a:t>Differentiate Operator Flow vs. Part Flow</a:t>
            </a:r>
          </a:p>
          <a:p>
            <a:r>
              <a:rPr lang="en-US" dirty="0"/>
              <a:t>Determine work sequence </a:t>
            </a:r>
          </a:p>
          <a:p>
            <a:r>
              <a:rPr lang="en-US" dirty="0"/>
              <a:t>Calculating number of operators</a:t>
            </a:r>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C87A7FF0-98F8-9B45-43F5-1EE0B5702A07}"/>
              </a:ext>
            </a:extLst>
          </p:cNvPr>
          <p:cNvGrpSpPr/>
          <p:nvPr/>
        </p:nvGrpSpPr>
        <p:grpSpPr>
          <a:xfrm>
            <a:off x="699911" y="837132"/>
            <a:ext cx="5850075" cy="659880"/>
            <a:chOff x="699911" y="837132"/>
            <a:chExt cx="5850075" cy="659880"/>
          </a:xfrm>
        </p:grpSpPr>
        <p:sp>
          <p:nvSpPr>
            <p:cNvPr id="4" name="AutoShape 9">
              <a:extLst>
                <a:ext uri="{FF2B5EF4-FFF2-40B4-BE49-F238E27FC236}">
                  <a16:creationId xmlns:a16="http://schemas.microsoft.com/office/drawing/2014/main" id="{717DD1F3-5C6B-CA24-C474-C85FEE3DF5E7}"/>
                </a:ext>
              </a:extLst>
            </p:cNvPr>
            <p:cNvSpPr>
              <a:spLocks noChangeArrowheads="1"/>
            </p:cNvSpPr>
            <p:nvPr/>
          </p:nvSpPr>
          <p:spPr bwMode="auto">
            <a:xfrm>
              <a:off x="4971710" y="837132"/>
              <a:ext cx="1578276" cy="659879"/>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Documentation</a:t>
              </a:r>
            </a:p>
          </p:txBody>
        </p:sp>
        <p:grpSp>
          <p:nvGrpSpPr>
            <p:cNvPr id="13" name="Group 12">
              <a:extLst>
                <a:ext uri="{FF2B5EF4-FFF2-40B4-BE49-F238E27FC236}">
                  <a16:creationId xmlns:a16="http://schemas.microsoft.com/office/drawing/2014/main" id="{DADE2756-B973-0064-D4DD-52D3744FBA6B}"/>
                </a:ext>
              </a:extLst>
            </p:cNvPr>
            <p:cNvGrpSpPr/>
            <p:nvPr/>
          </p:nvGrpSpPr>
          <p:grpSpPr>
            <a:xfrm>
              <a:off x="699911" y="837133"/>
              <a:ext cx="4425950" cy="659879"/>
              <a:chOff x="5627530" y="641179"/>
              <a:chExt cx="6564470" cy="804977"/>
            </a:xfrm>
          </p:grpSpPr>
          <p:sp>
            <p:nvSpPr>
              <p:cNvPr id="14" name="AutoShape 9">
                <a:extLst>
                  <a:ext uri="{FF2B5EF4-FFF2-40B4-BE49-F238E27FC236}">
                    <a16:creationId xmlns:a16="http://schemas.microsoft.com/office/drawing/2014/main" id="{FF83B6EB-BAFE-C193-44C8-50C54ED609A3}"/>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Standard WIP</a:t>
                </a:r>
              </a:p>
            </p:txBody>
          </p:sp>
          <p:sp>
            <p:nvSpPr>
              <p:cNvPr id="15" name="AutoShape 10">
                <a:extLst>
                  <a:ext uri="{FF2B5EF4-FFF2-40B4-BE49-F238E27FC236}">
                    <a16:creationId xmlns:a16="http://schemas.microsoft.com/office/drawing/2014/main" id="{386767CB-AD12-A8CE-F49D-60EB435EC2D3}"/>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Work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Sequence</a:t>
                </a:r>
              </a:p>
            </p:txBody>
          </p:sp>
          <p:sp>
            <p:nvSpPr>
              <p:cNvPr id="16" name="AutoShape 11">
                <a:extLst>
                  <a:ext uri="{FF2B5EF4-FFF2-40B4-BE49-F238E27FC236}">
                    <a16:creationId xmlns:a16="http://schemas.microsoft.com/office/drawing/2014/main" id="{C2EFD1F9-72F5-1220-34C5-1283C9247686}"/>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Takt Time vs.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Cycle Time</a:t>
                </a:r>
              </a:p>
            </p:txBody>
          </p:sp>
        </p:grpSp>
      </p:grpSp>
    </p:spTree>
    <p:extLst>
      <p:ext uri="{BB962C8B-B14F-4D97-AF65-F5344CB8AC3E}">
        <p14:creationId xmlns:p14="http://schemas.microsoft.com/office/powerpoint/2010/main" val="3262280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Work Sequence Defined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26</a:t>
            </a:fld>
            <a:endParaRPr lang="en-US"/>
          </a:p>
        </p:txBody>
      </p:sp>
      <p:grpSp>
        <p:nvGrpSpPr>
          <p:cNvPr id="3" name="Group 2">
            <a:extLst>
              <a:ext uri="{FF2B5EF4-FFF2-40B4-BE49-F238E27FC236}">
                <a16:creationId xmlns:a16="http://schemas.microsoft.com/office/drawing/2014/main" id="{9138D14C-88B7-B6DC-1004-6D348D00700A}"/>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E4F8554-3FAC-719F-3CE3-69F13FD35F7A}"/>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4C8ADEDF-B63A-ACAE-B2E8-800155B7C3C7}"/>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A1741378-9B7F-423B-0AFB-C314EBB23C54}"/>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A6F453CD-EAE5-B87F-2F2C-9C8C8D0D0D5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C7DAA629-FE32-A150-364F-84B516B305D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953754D6-828D-706F-52E3-52314898559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9680AC0D-A01C-67C4-FCD6-DD79D30CCA94}"/>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sp>
        <p:nvSpPr>
          <p:cNvPr id="18" name="Rectangle 3">
            <a:extLst>
              <a:ext uri="{FF2B5EF4-FFF2-40B4-BE49-F238E27FC236}">
                <a16:creationId xmlns:a16="http://schemas.microsoft.com/office/drawing/2014/main" id="{BC5B9727-9890-779E-AD6B-5889D77DE160}"/>
              </a:ext>
            </a:extLst>
          </p:cNvPr>
          <p:cNvSpPr>
            <a:spLocks noChangeArrowheads="1"/>
          </p:cNvSpPr>
          <p:nvPr/>
        </p:nvSpPr>
        <p:spPr bwMode="auto">
          <a:xfrm>
            <a:off x="7554418" y="1923934"/>
            <a:ext cx="3452812" cy="4014818"/>
          </a:xfrm>
          <a:prstGeom prst="rect">
            <a:avLst/>
          </a:prstGeom>
          <a:noFill/>
          <a:ln w="9525">
            <a:noFill/>
            <a:miter lim="800000"/>
            <a:headEnd/>
            <a:tailEnd/>
          </a:ln>
          <a:effectLst/>
        </p:spPr>
        <p:txBody>
          <a:bodyPr wrap="square" lIns="71438" tIns="36513" rIns="71438" bIns="36513">
            <a:spAutoFit/>
          </a:bodyPr>
          <a:lstStyle/>
          <a:p>
            <a:pPr marL="285750" indent="-285750" defTabSz="708025">
              <a:lnSpc>
                <a:spcPct val="115000"/>
              </a:lnSpc>
              <a:spcBef>
                <a:spcPct val="20000"/>
              </a:spcBef>
              <a:spcAft>
                <a:spcPct val="20000"/>
              </a:spcAft>
              <a:buClr>
                <a:schemeClr val="tx1"/>
              </a:buClr>
              <a:buSzPct val="90000"/>
              <a:buFont typeface="Arial" panose="020B0604020202020204" pitchFamily="34" charset="0"/>
              <a:buChar char="•"/>
              <a:defRPr/>
            </a:pPr>
            <a:r>
              <a:rPr lang="en-US" sz="2400" dirty="0">
                <a:solidFill>
                  <a:schemeClr val="tx1"/>
                </a:solidFill>
                <a:latin typeface="Roboto" panose="02000000000000000000" pitchFamily="2" charset="0"/>
                <a:ea typeface="Roboto" panose="02000000000000000000" pitchFamily="2" charset="0"/>
              </a:rPr>
              <a:t>The specific order in which an operator performs the manual steps of a process for </a:t>
            </a:r>
            <a:br>
              <a:rPr lang="en-US" sz="2400" dirty="0">
                <a:solidFill>
                  <a:schemeClr val="tx1"/>
                </a:solidFill>
                <a:latin typeface="Roboto" panose="02000000000000000000" pitchFamily="2" charset="0"/>
                <a:ea typeface="Roboto" panose="02000000000000000000" pitchFamily="2" charset="0"/>
              </a:rPr>
            </a:br>
            <a:r>
              <a:rPr lang="en-US" sz="2400" dirty="0">
                <a:solidFill>
                  <a:schemeClr val="tx1"/>
                </a:solidFill>
                <a:latin typeface="Roboto" panose="02000000000000000000" pitchFamily="2" charset="0"/>
                <a:ea typeface="Roboto" panose="02000000000000000000" pitchFamily="2" charset="0"/>
              </a:rPr>
              <a:t>one part</a:t>
            </a:r>
          </a:p>
          <a:p>
            <a:pPr marL="285750" indent="-285750" defTabSz="708025">
              <a:lnSpc>
                <a:spcPct val="115000"/>
              </a:lnSpc>
              <a:spcBef>
                <a:spcPct val="20000"/>
              </a:spcBef>
              <a:spcAft>
                <a:spcPct val="20000"/>
              </a:spcAft>
              <a:buClr>
                <a:schemeClr val="tx1"/>
              </a:buClr>
              <a:buSzPct val="90000"/>
              <a:buFont typeface="Arial" panose="020B0604020202020204" pitchFamily="34" charset="0"/>
              <a:buChar char="•"/>
              <a:defRPr/>
            </a:pPr>
            <a:r>
              <a:rPr lang="en-US" sz="2400" dirty="0">
                <a:solidFill>
                  <a:schemeClr val="tx1"/>
                </a:solidFill>
                <a:latin typeface="Roboto" panose="02000000000000000000" pitchFamily="2" charset="0"/>
                <a:ea typeface="Roboto" panose="02000000000000000000" pitchFamily="2" charset="0"/>
              </a:rPr>
              <a:t>Example: Operations </a:t>
            </a:r>
            <a:br>
              <a:rPr lang="en-US" sz="2400" dirty="0">
                <a:solidFill>
                  <a:schemeClr val="tx1"/>
                </a:solidFill>
                <a:latin typeface="Roboto" panose="02000000000000000000" pitchFamily="2" charset="0"/>
                <a:ea typeface="Roboto" panose="02000000000000000000" pitchFamily="2" charset="0"/>
              </a:rPr>
            </a:br>
            <a:r>
              <a:rPr lang="en-US" sz="2400" dirty="0">
                <a:solidFill>
                  <a:schemeClr val="tx1"/>
                </a:solidFill>
                <a:latin typeface="Roboto" panose="02000000000000000000" pitchFamily="2" charset="0"/>
                <a:ea typeface="Roboto" panose="02000000000000000000" pitchFamily="2" charset="0"/>
              </a:rPr>
              <a:t>1-2-10-11 and back to 1 is one work sequence</a:t>
            </a:r>
          </a:p>
        </p:txBody>
      </p:sp>
      <p:grpSp>
        <p:nvGrpSpPr>
          <p:cNvPr id="43" name="Group 42">
            <a:extLst>
              <a:ext uri="{FF2B5EF4-FFF2-40B4-BE49-F238E27FC236}">
                <a16:creationId xmlns:a16="http://schemas.microsoft.com/office/drawing/2014/main" id="{39E7E874-CCDC-E147-5180-223CA5F4D7FA}"/>
              </a:ext>
            </a:extLst>
          </p:cNvPr>
          <p:cNvGrpSpPr/>
          <p:nvPr/>
        </p:nvGrpSpPr>
        <p:grpSpPr>
          <a:xfrm>
            <a:off x="371802" y="2757375"/>
            <a:ext cx="6505257" cy="2128383"/>
            <a:chOff x="371802" y="2757375"/>
            <a:chExt cx="6505257" cy="2128383"/>
          </a:xfrm>
        </p:grpSpPr>
        <p:grpSp>
          <p:nvGrpSpPr>
            <p:cNvPr id="33" name="Group 32">
              <a:extLst>
                <a:ext uri="{FF2B5EF4-FFF2-40B4-BE49-F238E27FC236}">
                  <a16:creationId xmlns:a16="http://schemas.microsoft.com/office/drawing/2014/main" id="{ED8E2CE1-62D2-BEEC-2413-4F4ABB0A4654}"/>
                </a:ext>
              </a:extLst>
            </p:cNvPr>
            <p:cNvGrpSpPr/>
            <p:nvPr/>
          </p:nvGrpSpPr>
          <p:grpSpPr>
            <a:xfrm>
              <a:off x="371802" y="2757375"/>
              <a:ext cx="6505257" cy="2128383"/>
              <a:chOff x="398463" y="2790825"/>
              <a:chExt cx="5465762" cy="1862138"/>
            </a:xfrm>
          </p:grpSpPr>
          <p:sp>
            <p:nvSpPr>
              <p:cNvPr id="12" name="Line 5">
                <a:extLst>
                  <a:ext uri="{FF2B5EF4-FFF2-40B4-BE49-F238E27FC236}">
                    <a16:creationId xmlns:a16="http://schemas.microsoft.com/office/drawing/2014/main" id="{1E95BE60-DB78-1799-2C6E-AD96A983BF00}"/>
                  </a:ext>
                </a:extLst>
              </p:cNvPr>
              <p:cNvSpPr>
                <a:spLocks noChangeShapeType="1"/>
              </p:cNvSpPr>
              <p:nvPr/>
            </p:nvSpPr>
            <p:spPr bwMode="auto">
              <a:xfrm>
                <a:off x="398463" y="4460875"/>
                <a:ext cx="43989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Line 4">
                <a:extLst>
                  <a:ext uri="{FF2B5EF4-FFF2-40B4-BE49-F238E27FC236}">
                    <a16:creationId xmlns:a16="http://schemas.microsoft.com/office/drawing/2014/main" id="{5408A81B-2DC2-8339-E969-96F114A4A971}"/>
                  </a:ext>
                </a:extLst>
              </p:cNvPr>
              <p:cNvSpPr>
                <a:spLocks noChangeShapeType="1"/>
              </p:cNvSpPr>
              <p:nvPr/>
            </p:nvSpPr>
            <p:spPr bwMode="auto">
              <a:xfrm>
                <a:off x="398463" y="2984500"/>
                <a:ext cx="4265612" cy="0"/>
              </a:xfrm>
              <a:prstGeom prst="line">
                <a:avLst/>
              </a:prstGeom>
              <a:noFill/>
              <a:ln w="9525">
                <a:solidFill>
                  <a:schemeClr val="tx1"/>
                </a:solidFill>
                <a:round/>
                <a:headEnd type="triangle" w="lg" len="lg"/>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 name="Line 2">
                <a:extLst>
                  <a:ext uri="{FF2B5EF4-FFF2-40B4-BE49-F238E27FC236}">
                    <a16:creationId xmlns:a16="http://schemas.microsoft.com/office/drawing/2014/main" id="{868E313B-1215-FAE4-62EF-7E7C54A6A606}"/>
                  </a:ext>
                </a:extLst>
              </p:cNvPr>
              <p:cNvSpPr>
                <a:spLocks noChangeShapeType="1"/>
              </p:cNvSpPr>
              <p:nvPr/>
            </p:nvSpPr>
            <p:spPr bwMode="auto">
              <a:xfrm>
                <a:off x="4953000" y="2919413"/>
                <a:ext cx="800100" cy="7699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Line 3">
                <a:extLst>
                  <a:ext uri="{FF2B5EF4-FFF2-40B4-BE49-F238E27FC236}">
                    <a16:creationId xmlns:a16="http://schemas.microsoft.com/office/drawing/2014/main" id="{79171EC6-8B37-8A43-FA74-A87CE4435831}"/>
                  </a:ext>
                </a:extLst>
              </p:cNvPr>
              <p:cNvSpPr>
                <a:spLocks noChangeShapeType="1"/>
              </p:cNvSpPr>
              <p:nvPr/>
            </p:nvSpPr>
            <p:spPr bwMode="auto">
              <a:xfrm flipV="1">
                <a:off x="4864100" y="3817938"/>
                <a:ext cx="800100" cy="771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Rectangle 8">
                <a:extLst>
                  <a:ext uri="{FF2B5EF4-FFF2-40B4-BE49-F238E27FC236}">
                    <a16:creationId xmlns:a16="http://schemas.microsoft.com/office/drawing/2014/main" id="{333FC022-4AA4-F403-1E35-3E027C53DAFE}"/>
                  </a:ext>
                </a:extLst>
              </p:cNvPr>
              <p:cNvSpPr>
                <a:spLocks noChangeArrowheads="1"/>
              </p:cNvSpPr>
              <p:nvPr/>
            </p:nvSpPr>
            <p:spPr bwMode="auto">
              <a:xfrm>
                <a:off x="5330825" y="3519488"/>
                <a:ext cx="533400" cy="384175"/>
              </a:xfrm>
              <a:prstGeom prst="rect">
                <a:avLst/>
              </a:prstGeom>
              <a:solidFill>
                <a:schemeClr val="accent1"/>
              </a:solidFill>
              <a:ln w="9525">
                <a:solidFill>
                  <a:schemeClr val="tx1"/>
                </a:solidFill>
                <a:miter lim="800000"/>
                <a:headEnd/>
                <a:tailEnd/>
              </a:ln>
            </p:spPr>
            <p:txBody>
              <a:bodyPr wrap="none" anchor="ctr"/>
              <a:lstStyle/>
              <a:p>
                <a:pPr algn="ctr">
                  <a:lnSpc>
                    <a:spcPct val="80000"/>
                  </a:lnSpc>
                  <a:spcBef>
                    <a:spcPct val="20000"/>
                  </a:spcBef>
                  <a:defRPr/>
                </a:pPr>
                <a:r>
                  <a:rPr lang="en-US" sz="2400" dirty="0">
                    <a:solidFill>
                      <a:schemeClr val="bg1"/>
                    </a:solidFill>
                    <a:latin typeface="+mn-lt"/>
                    <a:ea typeface="+mn-ea"/>
                    <a:cs typeface="Arial" pitchFamily="34" charset="0"/>
                  </a:rPr>
                  <a:t>6</a:t>
                </a:r>
              </a:p>
            </p:txBody>
          </p:sp>
          <p:sp>
            <p:nvSpPr>
              <p:cNvPr id="22" name="Rectangle 12">
                <a:extLst>
                  <a:ext uri="{FF2B5EF4-FFF2-40B4-BE49-F238E27FC236}">
                    <a16:creationId xmlns:a16="http://schemas.microsoft.com/office/drawing/2014/main" id="{F7A787FE-6D76-1778-6D59-787742EF94FF}"/>
                  </a:ext>
                </a:extLst>
              </p:cNvPr>
              <p:cNvSpPr>
                <a:spLocks noChangeArrowheads="1"/>
              </p:cNvSpPr>
              <p:nvPr/>
            </p:nvSpPr>
            <p:spPr bwMode="auto">
              <a:xfrm>
                <a:off x="4464050" y="4267200"/>
                <a:ext cx="533400" cy="385763"/>
              </a:xfrm>
              <a:prstGeom prst="rect">
                <a:avLst/>
              </a:prstGeom>
              <a:solidFill>
                <a:schemeClr val="accent1"/>
              </a:solidFill>
              <a:ln w="9525">
                <a:solidFill>
                  <a:schemeClr val="tx1"/>
                </a:solidFill>
                <a:miter lim="800000"/>
                <a:headEnd/>
                <a:tailEnd/>
              </a:ln>
            </p:spPr>
            <p:txBody>
              <a:bodyPr wrap="none" anchor="ctr"/>
              <a:lstStyle/>
              <a:p>
                <a:pPr algn="ctr">
                  <a:lnSpc>
                    <a:spcPct val="80000"/>
                  </a:lnSpc>
                  <a:spcBef>
                    <a:spcPct val="20000"/>
                  </a:spcBef>
                  <a:defRPr/>
                </a:pPr>
                <a:r>
                  <a:rPr lang="en-US" sz="2400" dirty="0">
                    <a:solidFill>
                      <a:schemeClr val="bg1"/>
                    </a:solidFill>
                    <a:latin typeface="+mn-lt"/>
                    <a:ea typeface="+mn-ea"/>
                    <a:cs typeface="Arial" pitchFamily="34" charset="0"/>
                  </a:rPr>
                  <a:t>5</a:t>
                </a:r>
              </a:p>
            </p:txBody>
          </p:sp>
          <p:sp>
            <p:nvSpPr>
              <p:cNvPr id="23" name="Rectangle 17">
                <a:extLst>
                  <a:ext uri="{FF2B5EF4-FFF2-40B4-BE49-F238E27FC236}">
                    <a16:creationId xmlns:a16="http://schemas.microsoft.com/office/drawing/2014/main" id="{6412E842-34CB-B7E1-E145-05D1998377FD}"/>
                  </a:ext>
                </a:extLst>
              </p:cNvPr>
              <p:cNvSpPr>
                <a:spLocks noChangeArrowheads="1"/>
              </p:cNvSpPr>
              <p:nvPr/>
            </p:nvSpPr>
            <p:spPr bwMode="auto">
              <a:xfrm>
                <a:off x="4464050" y="2790825"/>
                <a:ext cx="533400" cy="385763"/>
              </a:xfrm>
              <a:prstGeom prst="rect">
                <a:avLst/>
              </a:prstGeom>
              <a:solidFill>
                <a:schemeClr val="accent1"/>
              </a:solidFill>
              <a:ln w="9525">
                <a:solidFill>
                  <a:schemeClr val="tx1"/>
                </a:solidFill>
                <a:miter lim="800000"/>
                <a:headEnd/>
                <a:tailEnd/>
              </a:ln>
            </p:spPr>
            <p:txBody>
              <a:bodyPr wrap="none" anchor="ctr"/>
              <a:lstStyle/>
              <a:p>
                <a:pPr algn="ctr">
                  <a:lnSpc>
                    <a:spcPct val="80000"/>
                  </a:lnSpc>
                  <a:spcBef>
                    <a:spcPct val="20000"/>
                  </a:spcBef>
                  <a:defRPr/>
                </a:pPr>
                <a:r>
                  <a:rPr lang="en-US" sz="2400" dirty="0">
                    <a:solidFill>
                      <a:schemeClr val="bg1"/>
                    </a:solidFill>
                    <a:latin typeface="+mn-lt"/>
                    <a:ea typeface="+mn-ea"/>
                    <a:cs typeface="Arial" pitchFamily="34" charset="0"/>
                  </a:rPr>
                  <a:t>7</a:t>
                </a:r>
              </a:p>
            </p:txBody>
          </p:sp>
          <p:sp>
            <p:nvSpPr>
              <p:cNvPr id="24" name="Rectangle 9">
                <a:extLst>
                  <a:ext uri="{FF2B5EF4-FFF2-40B4-BE49-F238E27FC236}">
                    <a16:creationId xmlns:a16="http://schemas.microsoft.com/office/drawing/2014/main" id="{C28C6751-E6CA-65E2-7EEE-EE82F23E2C15}"/>
                  </a:ext>
                </a:extLst>
              </p:cNvPr>
              <p:cNvSpPr>
                <a:spLocks noChangeArrowheads="1"/>
              </p:cNvSpPr>
              <p:nvPr/>
            </p:nvSpPr>
            <p:spPr bwMode="auto">
              <a:xfrm>
                <a:off x="1565275" y="4267200"/>
                <a:ext cx="533400" cy="385763"/>
              </a:xfrm>
              <a:prstGeom prst="rect">
                <a:avLst/>
              </a:prstGeom>
              <a:solidFill>
                <a:schemeClr val="accent5"/>
              </a:solidFill>
              <a:ln w="9525">
                <a:solidFill>
                  <a:schemeClr val="tx1"/>
                </a:solidFill>
                <a:miter lim="800000"/>
                <a:headEnd/>
                <a:tailEnd/>
              </a:ln>
              <a:effectLst/>
            </p:spPr>
            <p:txBody>
              <a:bodyPr wrap="none" anchor="ctr"/>
              <a:lstStyle/>
              <a:p>
                <a:pPr algn="ctr">
                  <a:lnSpc>
                    <a:spcPct val="80000"/>
                  </a:lnSpc>
                  <a:spcBef>
                    <a:spcPct val="20000"/>
                  </a:spcBef>
                  <a:defRPr/>
                </a:pPr>
                <a:r>
                  <a:rPr lang="en-US" sz="2400" dirty="0">
                    <a:latin typeface="+mn-lt"/>
                    <a:ea typeface="+mn-ea"/>
                  </a:rPr>
                  <a:t>2</a:t>
                </a:r>
              </a:p>
            </p:txBody>
          </p:sp>
          <p:sp>
            <p:nvSpPr>
              <p:cNvPr id="25" name="Rectangle 10">
                <a:extLst>
                  <a:ext uri="{FF2B5EF4-FFF2-40B4-BE49-F238E27FC236}">
                    <a16:creationId xmlns:a16="http://schemas.microsoft.com/office/drawing/2014/main" id="{2D435348-03E3-75FE-E369-EE79D853DCDB}"/>
                  </a:ext>
                </a:extLst>
              </p:cNvPr>
              <p:cNvSpPr>
                <a:spLocks noChangeArrowheads="1"/>
              </p:cNvSpPr>
              <p:nvPr/>
            </p:nvSpPr>
            <p:spPr bwMode="auto">
              <a:xfrm>
                <a:off x="2532063" y="4267200"/>
                <a:ext cx="533400" cy="385763"/>
              </a:xfrm>
              <a:prstGeom prst="rect">
                <a:avLst/>
              </a:prstGeom>
              <a:solidFill>
                <a:schemeClr val="accent2"/>
              </a:solidFill>
              <a:ln w="9525">
                <a:solidFill>
                  <a:schemeClr val="tx1"/>
                </a:solidFill>
                <a:miter lim="800000"/>
                <a:headEnd/>
                <a:tailEnd/>
              </a:ln>
            </p:spPr>
            <p:txBody>
              <a:bodyPr wrap="none" anchor="ctr"/>
              <a:lstStyle/>
              <a:p>
                <a:pPr algn="ctr">
                  <a:lnSpc>
                    <a:spcPct val="80000"/>
                  </a:lnSpc>
                  <a:spcBef>
                    <a:spcPct val="20000"/>
                  </a:spcBef>
                  <a:defRPr/>
                </a:pPr>
                <a:r>
                  <a:rPr lang="en-US" sz="2400" dirty="0">
                    <a:latin typeface="+mn-lt"/>
                    <a:ea typeface="+mn-ea"/>
                    <a:cs typeface="Arial" pitchFamily="34" charset="0"/>
                  </a:rPr>
                  <a:t>3</a:t>
                </a:r>
              </a:p>
            </p:txBody>
          </p:sp>
          <p:sp>
            <p:nvSpPr>
              <p:cNvPr id="26" name="Rectangle 11">
                <a:extLst>
                  <a:ext uri="{FF2B5EF4-FFF2-40B4-BE49-F238E27FC236}">
                    <a16:creationId xmlns:a16="http://schemas.microsoft.com/office/drawing/2014/main" id="{D76F16DF-4C5D-A423-3F52-1730760810D0}"/>
                  </a:ext>
                </a:extLst>
              </p:cNvPr>
              <p:cNvSpPr>
                <a:spLocks noChangeArrowheads="1"/>
              </p:cNvSpPr>
              <p:nvPr/>
            </p:nvSpPr>
            <p:spPr bwMode="auto">
              <a:xfrm>
                <a:off x="3497263" y="4267200"/>
                <a:ext cx="533400" cy="385763"/>
              </a:xfrm>
              <a:prstGeom prst="rect">
                <a:avLst/>
              </a:prstGeom>
              <a:solidFill>
                <a:schemeClr val="accent2"/>
              </a:solidFill>
              <a:ln w="9525">
                <a:solidFill>
                  <a:schemeClr val="tx1"/>
                </a:solidFill>
                <a:miter lim="800000"/>
                <a:headEnd/>
                <a:tailEnd/>
              </a:ln>
            </p:spPr>
            <p:txBody>
              <a:bodyPr wrap="none" anchor="ctr"/>
              <a:lstStyle/>
              <a:p>
                <a:pPr algn="ctr">
                  <a:lnSpc>
                    <a:spcPct val="80000"/>
                  </a:lnSpc>
                  <a:spcBef>
                    <a:spcPct val="20000"/>
                  </a:spcBef>
                  <a:defRPr/>
                </a:pPr>
                <a:r>
                  <a:rPr lang="en-US" sz="2400" dirty="0">
                    <a:latin typeface="+mn-lt"/>
                    <a:ea typeface="+mn-ea"/>
                    <a:cs typeface="Arial" pitchFamily="34" charset="0"/>
                  </a:rPr>
                  <a:t>4</a:t>
                </a:r>
              </a:p>
            </p:txBody>
          </p:sp>
          <p:sp>
            <p:nvSpPr>
              <p:cNvPr id="27" name="Rectangle 13">
                <a:extLst>
                  <a:ext uri="{FF2B5EF4-FFF2-40B4-BE49-F238E27FC236}">
                    <a16:creationId xmlns:a16="http://schemas.microsoft.com/office/drawing/2014/main" id="{CD264369-DB6D-4CFB-7473-D321680BF300}"/>
                  </a:ext>
                </a:extLst>
              </p:cNvPr>
              <p:cNvSpPr>
                <a:spLocks noChangeArrowheads="1"/>
              </p:cNvSpPr>
              <p:nvPr/>
            </p:nvSpPr>
            <p:spPr bwMode="auto">
              <a:xfrm>
                <a:off x="598488" y="4267200"/>
                <a:ext cx="533400" cy="385763"/>
              </a:xfrm>
              <a:prstGeom prst="rect">
                <a:avLst/>
              </a:prstGeom>
              <a:solidFill>
                <a:schemeClr val="accent5"/>
              </a:solidFill>
              <a:ln w="9525">
                <a:solidFill>
                  <a:schemeClr val="tx1"/>
                </a:solidFill>
                <a:miter lim="800000"/>
                <a:headEnd/>
                <a:tailEnd/>
              </a:ln>
              <a:effectLst/>
            </p:spPr>
            <p:txBody>
              <a:bodyPr wrap="none" anchor="ctr"/>
              <a:lstStyle/>
              <a:p>
                <a:pPr algn="ctr">
                  <a:lnSpc>
                    <a:spcPct val="80000"/>
                  </a:lnSpc>
                  <a:spcBef>
                    <a:spcPct val="20000"/>
                  </a:spcBef>
                  <a:defRPr/>
                </a:pPr>
                <a:r>
                  <a:rPr lang="en-US" sz="2400" dirty="0">
                    <a:latin typeface="+mn-lt"/>
                    <a:ea typeface="+mn-ea"/>
                  </a:rPr>
                  <a:t>1</a:t>
                </a:r>
              </a:p>
            </p:txBody>
          </p:sp>
          <p:sp>
            <p:nvSpPr>
              <p:cNvPr id="28" name="Rectangle 14">
                <a:extLst>
                  <a:ext uri="{FF2B5EF4-FFF2-40B4-BE49-F238E27FC236}">
                    <a16:creationId xmlns:a16="http://schemas.microsoft.com/office/drawing/2014/main" id="{F4278B22-60A9-921A-503D-770DE30E1CAB}"/>
                  </a:ext>
                </a:extLst>
              </p:cNvPr>
              <p:cNvSpPr>
                <a:spLocks noChangeArrowheads="1"/>
              </p:cNvSpPr>
              <p:nvPr/>
            </p:nvSpPr>
            <p:spPr bwMode="auto">
              <a:xfrm>
                <a:off x="1565275" y="2790825"/>
                <a:ext cx="533400" cy="385763"/>
              </a:xfrm>
              <a:prstGeom prst="rect">
                <a:avLst/>
              </a:prstGeom>
              <a:solidFill>
                <a:schemeClr val="accent5"/>
              </a:solidFill>
              <a:ln w="9525">
                <a:solidFill>
                  <a:schemeClr val="tx1"/>
                </a:solidFill>
                <a:miter lim="800000"/>
                <a:headEnd/>
                <a:tailEnd/>
              </a:ln>
              <a:effectLst/>
            </p:spPr>
            <p:txBody>
              <a:bodyPr wrap="none" anchor="ctr"/>
              <a:lstStyle/>
              <a:p>
                <a:pPr algn="ctr">
                  <a:lnSpc>
                    <a:spcPct val="80000"/>
                  </a:lnSpc>
                  <a:spcBef>
                    <a:spcPct val="20000"/>
                  </a:spcBef>
                  <a:defRPr/>
                </a:pPr>
                <a:r>
                  <a:rPr lang="en-US" sz="2400" dirty="0">
                    <a:latin typeface="+mn-lt"/>
                    <a:ea typeface="+mn-ea"/>
                  </a:rPr>
                  <a:t>10</a:t>
                </a:r>
              </a:p>
            </p:txBody>
          </p:sp>
          <p:sp>
            <p:nvSpPr>
              <p:cNvPr id="29" name="Rectangle 15">
                <a:extLst>
                  <a:ext uri="{FF2B5EF4-FFF2-40B4-BE49-F238E27FC236}">
                    <a16:creationId xmlns:a16="http://schemas.microsoft.com/office/drawing/2014/main" id="{508CC325-6ADD-E5CA-D387-7EB34F76EFA7}"/>
                  </a:ext>
                </a:extLst>
              </p:cNvPr>
              <p:cNvSpPr>
                <a:spLocks noChangeArrowheads="1"/>
              </p:cNvSpPr>
              <p:nvPr/>
            </p:nvSpPr>
            <p:spPr bwMode="auto">
              <a:xfrm>
                <a:off x="2532063" y="2790825"/>
                <a:ext cx="533400" cy="385763"/>
              </a:xfrm>
              <a:prstGeom prst="rect">
                <a:avLst/>
              </a:prstGeom>
              <a:solidFill>
                <a:schemeClr val="accent2"/>
              </a:solidFill>
              <a:ln w="9525">
                <a:solidFill>
                  <a:schemeClr val="tx1"/>
                </a:solidFill>
                <a:miter lim="800000"/>
                <a:headEnd/>
                <a:tailEnd/>
              </a:ln>
            </p:spPr>
            <p:txBody>
              <a:bodyPr wrap="none" anchor="ctr"/>
              <a:lstStyle/>
              <a:p>
                <a:pPr algn="ctr">
                  <a:lnSpc>
                    <a:spcPct val="80000"/>
                  </a:lnSpc>
                  <a:spcBef>
                    <a:spcPct val="20000"/>
                  </a:spcBef>
                  <a:defRPr/>
                </a:pPr>
                <a:r>
                  <a:rPr lang="en-US" sz="2400" dirty="0">
                    <a:latin typeface="+mn-lt"/>
                    <a:ea typeface="+mn-ea"/>
                    <a:cs typeface="Arial" pitchFamily="34" charset="0"/>
                  </a:rPr>
                  <a:t>9</a:t>
                </a:r>
              </a:p>
            </p:txBody>
          </p:sp>
          <p:sp>
            <p:nvSpPr>
              <p:cNvPr id="30" name="Rectangle 16">
                <a:extLst>
                  <a:ext uri="{FF2B5EF4-FFF2-40B4-BE49-F238E27FC236}">
                    <a16:creationId xmlns:a16="http://schemas.microsoft.com/office/drawing/2014/main" id="{58A8CB08-C550-59C7-EA85-09C526995581}"/>
                  </a:ext>
                </a:extLst>
              </p:cNvPr>
              <p:cNvSpPr>
                <a:spLocks noChangeArrowheads="1"/>
              </p:cNvSpPr>
              <p:nvPr/>
            </p:nvSpPr>
            <p:spPr bwMode="auto">
              <a:xfrm>
                <a:off x="3497263" y="2790825"/>
                <a:ext cx="533400" cy="385763"/>
              </a:xfrm>
              <a:prstGeom prst="rect">
                <a:avLst/>
              </a:prstGeom>
              <a:solidFill>
                <a:schemeClr val="accent2"/>
              </a:solidFill>
              <a:ln w="9525">
                <a:solidFill>
                  <a:schemeClr val="tx1"/>
                </a:solidFill>
                <a:miter lim="800000"/>
                <a:headEnd/>
                <a:tailEnd/>
              </a:ln>
            </p:spPr>
            <p:txBody>
              <a:bodyPr wrap="none" anchor="ctr"/>
              <a:lstStyle/>
              <a:p>
                <a:pPr algn="ctr">
                  <a:lnSpc>
                    <a:spcPct val="80000"/>
                  </a:lnSpc>
                  <a:spcBef>
                    <a:spcPct val="20000"/>
                  </a:spcBef>
                  <a:defRPr/>
                </a:pPr>
                <a:r>
                  <a:rPr lang="en-US" sz="2400" dirty="0">
                    <a:latin typeface="+mn-lt"/>
                    <a:ea typeface="+mn-ea"/>
                    <a:cs typeface="Arial" pitchFamily="34" charset="0"/>
                  </a:rPr>
                  <a:t>8</a:t>
                </a:r>
              </a:p>
            </p:txBody>
          </p:sp>
          <p:sp>
            <p:nvSpPr>
              <p:cNvPr id="31" name="Rectangle 18">
                <a:extLst>
                  <a:ext uri="{FF2B5EF4-FFF2-40B4-BE49-F238E27FC236}">
                    <a16:creationId xmlns:a16="http://schemas.microsoft.com/office/drawing/2014/main" id="{567BE228-D8A1-98D5-F36E-0E11D8F88EF5}"/>
                  </a:ext>
                </a:extLst>
              </p:cNvPr>
              <p:cNvSpPr>
                <a:spLocks noChangeArrowheads="1"/>
              </p:cNvSpPr>
              <p:nvPr/>
            </p:nvSpPr>
            <p:spPr bwMode="auto">
              <a:xfrm>
                <a:off x="598488" y="2790825"/>
                <a:ext cx="533400" cy="385763"/>
              </a:xfrm>
              <a:prstGeom prst="rect">
                <a:avLst/>
              </a:prstGeom>
              <a:solidFill>
                <a:schemeClr val="accent5"/>
              </a:solidFill>
              <a:ln w="9525">
                <a:solidFill>
                  <a:schemeClr val="tx1"/>
                </a:solidFill>
                <a:miter lim="800000"/>
                <a:headEnd/>
                <a:tailEnd/>
              </a:ln>
              <a:effectLst/>
            </p:spPr>
            <p:txBody>
              <a:bodyPr wrap="none" anchor="ctr"/>
              <a:lstStyle/>
              <a:p>
                <a:pPr algn="ctr">
                  <a:lnSpc>
                    <a:spcPct val="80000"/>
                  </a:lnSpc>
                  <a:spcBef>
                    <a:spcPct val="20000"/>
                  </a:spcBef>
                  <a:defRPr/>
                </a:pPr>
                <a:r>
                  <a:rPr lang="en-US" sz="2400" dirty="0">
                    <a:latin typeface="+mn-lt"/>
                    <a:ea typeface="+mn-ea"/>
                  </a:rPr>
                  <a:t>11</a:t>
                </a:r>
              </a:p>
            </p:txBody>
          </p:sp>
        </p:grpSp>
        <p:sp>
          <p:nvSpPr>
            <p:cNvPr id="34" name="Freeform 86">
              <a:extLst>
                <a:ext uri="{FF2B5EF4-FFF2-40B4-BE49-F238E27FC236}">
                  <a16:creationId xmlns:a16="http://schemas.microsoft.com/office/drawing/2014/main" id="{A182B6A6-D59B-3E9E-2D0D-4BD0FDB5BC1D}"/>
                </a:ext>
              </a:extLst>
            </p:cNvPr>
            <p:cNvSpPr>
              <a:spLocks/>
            </p:cNvSpPr>
            <p:nvPr/>
          </p:nvSpPr>
          <p:spPr bwMode="auto">
            <a:xfrm>
              <a:off x="1271017" y="3534433"/>
              <a:ext cx="401909" cy="689652"/>
            </a:xfrm>
            <a:custGeom>
              <a:avLst/>
              <a:gdLst>
                <a:gd name="T0" fmla="*/ 151 w 386"/>
                <a:gd name="T1" fmla="*/ 0 h 902"/>
                <a:gd name="T2" fmla="*/ 222 w 386"/>
                <a:gd name="T3" fmla="*/ 0 h 902"/>
                <a:gd name="T4" fmla="*/ 234 w 386"/>
                <a:gd name="T5" fmla="*/ 0 h 902"/>
                <a:gd name="T6" fmla="*/ 253 w 386"/>
                <a:gd name="T7" fmla="*/ 0 h 902"/>
                <a:gd name="T8" fmla="*/ 269 w 386"/>
                <a:gd name="T9" fmla="*/ 7 h 902"/>
                <a:gd name="T10" fmla="*/ 295 w 386"/>
                <a:gd name="T11" fmla="*/ 39 h 902"/>
                <a:gd name="T12" fmla="*/ 318 w 386"/>
                <a:gd name="T13" fmla="*/ 160 h 902"/>
                <a:gd name="T14" fmla="*/ 318 w 386"/>
                <a:gd name="T15" fmla="*/ 172 h 902"/>
                <a:gd name="T16" fmla="*/ 318 w 386"/>
                <a:gd name="T17" fmla="*/ 510 h 902"/>
                <a:gd name="T18" fmla="*/ 318 w 386"/>
                <a:gd name="T19" fmla="*/ 514 h 902"/>
                <a:gd name="T20" fmla="*/ 311 w 386"/>
                <a:gd name="T21" fmla="*/ 548 h 902"/>
                <a:gd name="T22" fmla="*/ 287 w 386"/>
                <a:gd name="T23" fmla="*/ 564 h 902"/>
                <a:gd name="T24" fmla="*/ 263 w 386"/>
                <a:gd name="T25" fmla="*/ 543 h 902"/>
                <a:gd name="T26" fmla="*/ 259 w 386"/>
                <a:gd name="T27" fmla="*/ 514 h 902"/>
                <a:gd name="T28" fmla="*/ 258 w 386"/>
                <a:gd name="T29" fmla="*/ 508 h 902"/>
                <a:gd name="T30" fmla="*/ 258 w 386"/>
                <a:gd name="T31" fmla="*/ 199 h 902"/>
                <a:gd name="T32" fmla="*/ 243 w 386"/>
                <a:gd name="T33" fmla="*/ 199 h 902"/>
                <a:gd name="T34" fmla="*/ 243 w 386"/>
                <a:gd name="T35" fmla="*/ 1071 h 902"/>
                <a:gd name="T36" fmla="*/ 243 w 386"/>
                <a:gd name="T37" fmla="*/ 1089 h 902"/>
                <a:gd name="T38" fmla="*/ 237 w 386"/>
                <a:gd name="T39" fmla="*/ 1135 h 902"/>
                <a:gd name="T40" fmla="*/ 207 w 386"/>
                <a:gd name="T41" fmla="*/ 1166 h 902"/>
                <a:gd name="T42" fmla="*/ 181 w 386"/>
                <a:gd name="T43" fmla="*/ 1148 h 902"/>
                <a:gd name="T44" fmla="*/ 171 w 386"/>
                <a:gd name="T45" fmla="*/ 1090 h 902"/>
                <a:gd name="T46" fmla="*/ 171 w 386"/>
                <a:gd name="T47" fmla="*/ 1073 h 902"/>
                <a:gd name="T48" fmla="*/ 171 w 386"/>
                <a:gd name="T49" fmla="*/ 562 h 902"/>
                <a:gd name="T50" fmla="*/ 156 w 386"/>
                <a:gd name="T51" fmla="*/ 561 h 902"/>
                <a:gd name="T52" fmla="*/ 161 w 386"/>
                <a:gd name="T53" fmla="*/ 561 h 902"/>
                <a:gd name="T54" fmla="*/ 145 w 386"/>
                <a:gd name="T55" fmla="*/ 562 h 902"/>
                <a:gd name="T56" fmla="*/ 145 w 386"/>
                <a:gd name="T57" fmla="*/ 1073 h 902"/>
                <a:gd name="T58" fmla="*/ 145 w 386"/>
                <a:gd name="T59" fmla="*/ 1090 h 902"/>
                <a:gd name="T60" fmla="*/ 143 w 386"/>
                <a:gd name="T61" fmla="*/ 1124 h 902"/>
                <a:gd name="T62" fmla="*/ 137 w 386"/>
                <a:gd name="T63" fmla="*/ 1148 h 902"/>
                <a:gd name="T64" fmla="*/ 110 w 386"/>
                <a:gd name="T65" fmla="*/ 1166 h 902"/>
                <a:gd name="T66" fmla="*/ 82 w 386"/>
                <a:gd name="T67" fmla="*/ 1139 h 902"/>
                <a:gd name="T68" fmla="*/ 75 w 386"/>
                <a:gd name="T69" fmla="*/ 1089 h 902"/>
                <a:gd name="T70" fmla="*/ 75 w 386"/>
                <a:gd name="T71" fmla="*/ 1071 h 902"/>
                <a:gd name="T72" fmla="*/ 75 w 386"/>
                <a:gd name="T73" fmla="*/ 199 h 902"/>
                <a:gd name="T74" fmla="*/ 58 w 386"/>
                <a:gd name="T75" fmla="*/ 199 h 902"/>
                <a:gd name="T76" fmla="*/ 58 w 386"/>
                <a:gd name="T77" fmla="*/ 508 h 902"/>
                <a:gd name="T78" fmla="*/ 58 w 386"/>
                <a:gd name="T79" fmla="*/ 514 h 902"/>
                <a:gd name="T80" fmla="*/ 54 w 386"/>
                <a:gd name="T81" fmla="*/ 542 h 902"/>
                <a:gd name="T82" fmla="*/ 47 w 386"/>
                <a:gd name="T83" fmla="*/ 558 h 902"/>
                <a:gd name="T84" fmla="*/ 30 w 386"/>
                <a:gd name="T85" fmla="*/ 564 h 902"/>
                <a:gd name="T86" fmla="*/ 9 w 386"/>
                <a:gd name="T87" fmla="*/ 548 h 902"/>
                <a:gd name="T88" fmla="*/ 0 w 386"/>
                <a:gd name="T89" fmla="*/ 514 h 902"/>
                <a:gd name="T90" fmla="*/ 0 w 386"/>
                <a:gd name="T91" fmla="*/ 510 h 902"/>
                <a:gd name="T92" fmla="*/ 0 w 386"/>
                <a:gd name="T93" fmla="*/ 172 h 902"/>
                <a:gd name="T94" fmla="*/ 0 w 386"/>
                <a:gd name="T95" fmla="*/ 160 h 902"/>
                <a:gd name="T96" fmla="*/ 23 w 386"/>
                <a:gd name="T97" fmla="*/ 41 h 902"/>
                <a:gd name="T98" fmla="*/ 48 w 386"/>
                <a:gd name="T99" fmla="*/ 7 h 902"/>
                <a:gd name="T100" fmla="*/ 64 w 386"/>
                <a:gd name="T101" fmla="*/ 1 h 902"/>
                <a:gd name="T102" fmla="*/ 84 w 386"/>
                <a:gd name="T103" fmla="*/ 0 h 902"/>
                <a:gd name="T104" fmla="*/ 97 w 386"/>
                <a:gd name="T105" fmla="*/ 0 h 902"/>
                <a:gd name="T106" fmla="*/ 167 w 386"/>
                <a:gd name="T107" fmla="*/ 0 h 902"/>
                <a:gd name="T108" fmla="*/ 151 w 386"/>
                <a:gd name="T109" fmla="*/ 0 h 90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86"/>
                <a:gd name="T166" fmla="*/ 0 h 902"/>
                <a:gd name="T167" fmla="*/ 386 w 386"/>
                <a:gd name="T168" fmla="*/ 902 h 90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86" h="902">
                  <a:moveTo>
                    <a:pt x="183" y="0"/>
                  </a:moveTo>
                  <a:lnTo>
                    <a:pt x="269" y="0"/>
                  </a:lnTo>
                  <a:lnTo>
                    <a:pt x="283" y="0"/>
                  </a:lnTo>
                  <a:lnTo>
                    <a:pt x="306" y="0"/>
                  </a:lnTo>
                  <a:lnTo>
                    <a:pt x="326" y="7"/>
                  </a:lnTo>
                  <a:lnTo>
                    <a:pt x="357" y="31"/>
                  </a:lnTo>
                  <a:lnTo>
                    <a:pt x="385" y="124"/>
                  </a:lnTo>
                  <a:lnTo>
                    <a:pt x="385" y="133"/>
                  </a:lnTo>
                  <a:lnTo>
                    <a:pt x="385" y="394"/>
                  </a:lnTo>
                  <a:lnTo>
                    <a:pt x="385" y="398"/>
                  </a:lnTo>
                  <a:lnTo>
                    <a:pt x="377" y="424"/>
                  </a:lnTo>
                  <a:lnTo>
                    <a:pt x="347" y="436"/>
                  </a:lnTo>
                  <a:lnTo>
                    <a:pt x="318" y="419"/>
                  </a:lnTo>
                  <a:lnTo>
                    <a:pt x="314" y="398"/>
                  </a:lnTo>
                  <a:lnTo>
                    <a:pt x="313" y="392"/>
                  </a:lnTo>
                  <a:lnTo>
                    <a:pt x="313" y="154"/>
                  </a:lnTo>
                  <a:lnTo>
                    <a:pt x="294" y="154"/>
                  </a:lnTo>
                  <a:lnTo>
                    <a:pt x="294" y="827"/>
                  </a:lnTo>
                  <a:lnTo>
                    <a:pt x="294" y="841"/>
                  </a:lnTo>
                  <a:lnTo>
                    <a:pt x="287" y="878"/>
                  </a:lnTo>
                  <a:lnTo>
                    <a:pt x="251" y="901"/>
                  </a:lnTo>
                  <a:lnTo>
                    <a:pt x="219" y="887"/>
                  </a:lnTo>
                  <a:lnTo>
                    <a:pt x="207" y="842"/>
                  </a:lnTo>
                  <a:lnTo>
                    <a:pt x="207" y="829"/>
                  </a:lnTo>
                  <a:lnTo>
                    <a:pt x="207" y="434"/>
                  </a:lnTo>
                  <a:lnTo>
                    <a:pt x="189" y="433"/>
                  </a:lnTo>
                  <a:lnTo>
                    <a:pt x="195" y="433"/>
                  </a:lnTo>
                  <a:lnTo>
                    <a:pt x="175" y="434"/>
                  </a:lnTo>
                  <a:lnTo>
                    <a:pt x="175" y="829"/>
                  </a:lnTo>
                  <a:lnTo>
                    <a:pt x="175" y="842"/>
                  </a:lnTo>
                  <a:lnTo>
                    <a:pt x="173" y="868"/>
                  </a:lnTo>
                  <a:lnTo>
                    <a:pt x="166" y="887"/>
                  </a:lnTo>
                  <a:lnTo>
                    <a:pt x="133" y="901"/>
                  </a:lnTo>
                  <a:lnTo>
                    <a:pt x="99" y="880"/>
                  </a:lnTo>
                  <a:lnTo>
                    <a:pt x="91" y="841"/>
                  </a:lnTo>
                  <a:lnTo>
                    <a:pt x="91" y="827"/>
                  </a:lnTo>
                  <a:lnTo>
                    <a:pt x="91" y="154"/>
                  </a:lnTo>
                  <a:lnTo>
                    <a:pt x="70" y="154"/>
                  </a:lnTo>
                  <a:lnTo>
                    <a:pt x="70" y="392"/>
                  </a:lnTo>
                  <a:lnTo>
                    <a:pt x="70" y="398"/>
                  </a:lnTo>
                  <a:lnTo>
                    <a:pt x="66" y="418"/>
                  </a:lnTo>
                  <a:lnTo>
                    <a:pt x="57" y="430"/>
                  </a:lnTo>
                  <a:lnTo>
                    <a:pt x="37" y="436"/>
                  </a:lnTo>
                  <a:lnTo>
                    <a:pt x="9" y="424"/>
                  </a:lnTo>
                  <a:lnTo>
                    <a:pt x="0" y="398"/>
                  </a:lnTo>
                  <a:lnTo>
                    <a:pt x="0" y="394"/>
                  </a:lnTo>
                  <a:lnTo>
                    <a:pt x="0" y="133"/>
                  </a:lnTo>
                  <a:lnTo>
                    <a:pt x="0" y="124"/>
                  </a:lnTo>
                  <a:lnTo>
                    <a:pt x="27" y="32"/>
                  </a:lnTo>
                  <a:lnTo>
                    <a:pt x="58" y="7"/>
                  </a:lnTo>
                  <a:lnTo>
                    <a:pt x="77" y="1"/>
                  </a:lnTo>
                  <a:lnTo>
                    <a:pt x="101" y="0"/>
                  </a:lnTo>
                  <a:lnTo>
                    <a:pt x="117" y="0"/>
                  </a:lnTo>
                  <a:lnTo>
                    <a:pt x="202" y="0"/>
                  </a:lnTo>
                  <a:lnTo>
                    <a:pt x="183" y="0"/>
                  </a:lnTo>
                </a:path>
              </a:pathLst>
            </a:custGeom>
            <a:solidFill>
              <a:schemeClr val="tx2"/>
            </a:solidFill>
            <a:ln w="3175" cap="rnd">
              <a:solidFill>
                <a:schemeClr val="tx1"/>
              </a:solidFill>
              <a:round/>
              <a:headEnd/>
              <a:tailEnd/>
            </a:ln>
          </p:spPr>
          <p:txBody>
            <a:bodyPr/>
            <a:lstStyle/>
            <a:p>
              <a:endParaRPr lang="en-US"/>
            </a:p>
          </p:txBody>
        </p:sp>
        <p:sp>
          <p:nvSpPr>
            <p:cNvPr id="35" name="Oval 87">
              <a:extLst>
                <a:ext uri="{FF2B5EF4-FFF2-40B4-BE49-F238E27FC236}">
                  <a16:creationId xmlns:a16="http://schemas.microsoft.com/office/drawing/2014/main" id="{32790667-6A47-4253-2349-AC00493B8902}"/>
                </a:ext>
              </a:extLst>
            </p:cNvPr>
            <p:cNvSpPr>
              <a:spLocks noChangeArrowheads="1"/>
            </p:cNvSpPr>
            <p:nvPr/>
          </p:nvSpPr>
          <p:spPr bwMode="auto">
            <a:xfrm>
              <a:off x="1400982" y="3389621"/>
              <a:ext cx="139794" cy="112552"/>
            </a:xfrm>
            <a:prstGeom prst="ellipse">
              <a:avLst/>
            </a:prstGeom>
            <a:solidFill>
              <a:schemeClr val="tx2"/>
            </a:solidFill>
            <a:ln w="317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6" name="Freeform 86">
              <a:extLst>
                <a:ext uri="{FF2B5EF4-FFF2-40B4-BE49-F238E27FC236}">
                  <a16:creationId xmlns:a16="http://schemas.microsoft.com/office/drawing/2014/main" id="{688E83FA-A786-BEFA-CE32-BCD6E13A6510}"/>
                </a:ext>
              </a:extLst>
            </p:cNvPr>
            <p:cNvSpPr>
              <a:spLocks/>
            </p:cNvSpPr>
            <p:nvPr/>
          </p:nvSpPr>
          <p:spPr bwMode="auto">
            <a:xfrm>
              <a:off x="3608373" y="3550054"/>
              <a:ext cx="401909" cy="689652"/>
            </a:xfrm>
            <a:custGeom>
              <a:avLst/>
              <a:gdLst>
                <a:gd name="T0" fmla="*/ 151 w 386"/>
                <a:gd name="T1" fmla="*/ 0 h 902"/>
                <a:gd name="T2" fmla="*/ 222 w 386"/>
                <a:gd name="T3" fmla="*/ 0 h 902"/>
                <a:gd name="T4" fmla="*/ 234 w 386"/>
                <a:gd name="T5" fmla="*/ 0 h 902"/>
                <a:gd name="T6" fmla="*/ 253 w 386"/>
                <a:gd name="T7" fmla="*/ 0 h 902"/>
                <a:gd name="T8" fmla="*/ 269 w 386"/>
                <a:gd name="T9" fmla="*/ 7 h 902"/>
                <a:gd name="T10" fmla="*/ 295 w 386"/>
                <a:gd name="T11" fmla="*/ 39 h 902"/>
                <a:gd name="T12" fmla="*/ 318 w 386"/>
                <a:gd name="T13" fmla="*/ 160 h 902"/>
                <a:gd name="T14" fmla="*/ 318 w 386"/>
                <a:gd name="T15" fmla="*/ 172 h 902"/>
                <a:gd name="T16" fmla="*/ 318 w 386"/>
                <a:gd name="T17" fmla="*/ 510 h 902"/>
                <a:gd name="T18" fmla="*/ 318 w 386"/>
                <a:gd name="T19" fmla="*/ 514 h 902"/>
                <a:gd name="T20" fmla="*/ 311 w 386"/>
                <a:gd name="T21" fmla="*/ 548 h 902"/>
                <a:gd name="T22" fmla="*/ 287 w 386"/>
                <a:gd name="T23" fmla="*/ 564 h 902"/>
                <a:gd name="T24" fmla="*/ 263 w 386"/>
                <a:gd name="T25" fmla="*/ 543 h 902"/>
                <a:gd name="T26" fmla="*/ 259 w 386"/>
                <a:gd name="T27" fmla="*/ 514 h 902"/>
                <a:gd name="T28" fmla="*/ 258 w 386"/>
                <a:gd name="T29" fmla="*/ 508 h 902"/>
                <a:gd name="T30" fmla="*/ 258 w 386"/>
                <a:gd name="T31" fmla="*/ 199 h 902"/>
                <a:gd name="T32" fmla="*/ 243 w 386"/>
                <a:gd name="T33" fmla="*/ 199 h 902"/>
                <a:gd name="T34" fmla="*/ 243 w 386"/>
                <a:gd name="T35" fmla="*/ 1071 h 902"/>
                <a:gd name="T36" fmla="*/ 243 w 386"/>
                <a:gd name="T37" fmla="*/ 1089 h 902"/>
                <a:gd name="T38" fmla="*/ 237 w 386"/>
                <a:gd name="T39" fmla="*/ 1135 h 902"/>
                <a:gd name="T40" fmla="*/ 207 w 386"/>
                <a:gd name="T41" fmla="*/ 1166 h 902"/>
                <a:gd name="T42" fmla="*/ 181 w 386"/>
                <a:gd name="T43" fmla="*/ 1148 h 902"/>
                <a:gd name="T44" fmla="*/ 171 w 386"/>
                <a:gd name="T45" fmla="*/ 1090 h 902"/>
                <a:gd name="T46" fmla="*/ 171 w 386"/>
                <a:gd name="T47" fmla="*/ 1073 h 902"/>
                <a:gd name="T48" fmla="*/ 171 w 386"/>
                <a:gd name="T49" fmla="*/ 562 h 902"/>
                <a:gd name="T50" fmla="*/ 156 w 386"/>
                <a:gd name="T51" fmla="*/ 561 h 902"/>
                <a:gd name="T52" fmla="*/ 161 w 386"/>
                <a:gd name="T53" fmla="*/ 561 h 902"/>
                <a:gd name="T54" fmla="*/ 145 w 386"/>
                <a:gd name="T55" fmla="*/ 562 h 902"/>
                <a:gd name="T56" fmla="*/ 145 w 386"/>
                <a:gd name="T57" fmla="*/ 1073 h 902"/>
                <a:gd name="T58" fmla="*/ 145 w 386"/>
                <a:gd name="T59" fmla="*/ 1090 h 902"/>
                <a:gd name="T60" fmla="*/ 143 w 386"/>
                <a:gd name="T61" fmla="*/ 1124 h 902"/>
                <a:gd name="T62" fmla="*/ 137 w 386"/>
                <a:gd name="T63" fmla="*/ 1148 h 902"/>
                <a:gd name="T64" fmla="*/ 110 w 386"/>
                <a:gd name="T65" fmla="*/ 1166 h 902"/>
                <a:gd name="T66" fmla="*/ 82 w 386"/>
                <a:gd name="T67" fmla="*/ 1139 h 902"/>
                <a:gd name="T68" fmla="*/ 75 w 386"/>
                <a:gd name="T69" fmla="*/ 1089 h 902"/>
                <a:gd name="T70" fmla="*/ 75 w 386"/>
                <a:gd name="T71" fmla="*/ 1071 h 902"/>
                <a:gd name="T72" fmla="*/ 75 w 386"/>
                <a:gd name="T73" fmla="*/ 199 h 902"/>
                <a:gd name="T74" fmla="*/ 58 w 386"/>
                <a:gd name="T75" fmla="*/ 199 h 902"/>
                <a:gd name="T76" fmla="*/ 58 w 386"/>
                <a:gd name="T77" fmla="*/ 508 h 902"/>
                <a:gd name="T78" fmla="*/ 58 w 386"/>
                <a:gd name="T79" fmla="*/ 514 h 902"/>
                <a:gd name="T80" fmla="*/ 54 w 386"/>
                <a:gd name="T81" fmla="*/ 542 h 902"/>
                <a:gd name="T82" fmla="*/ 47 w 386"/>
                <a:gd name="T83" fmla="*/ 558 h 902"/>
                <a:gd name="T84" fmla="*/ 30 w 386"/>
                <a:gd name="T85" fmla="*/ 564 h 902"/>
                <a:gd name="T86" fmla="*/ 9 w 386"/>
                <a:gd name="T87" fmla="*/ 548 h 902"/>
                <a:gd name="T88" fmla="*/ 0 w 386"/>
                <a:gd name="T89" fmla="*/ 514 h 902"/>
                <a:gd name="T90" fmla="*/ 0 w 386"/>
                <a:gd name="T91" fmla="*/ 510 h 902"/>
                <a:gd name="T92" fmla="*/ 0 w 386"/>
                <a:gd name="T93" fmla="*/ 172 h 902"/>
                <a:gd name="T94" fmla="*/ 0 w 386"/>
                <a:gd name="T95" fmla="*/ 160 h 902"/>
                <a:gd name="T96" fmla="*/ 23 w 386"/>
                <a:gd name="T97" fmla="*/ 41 h 902"/>
                <a:gd name="T98" fmla="*/ 48 w 386"/>
                <a:gd name="T99" fmla="*/ 7 h 902"/>
                <a:gd name="T100" fmla="*/ 64 w 386"/>
                <a:gd name="T101" fmla="*/ 1 h 902"/>
                <a:gd name="T102" fmla="*/ 84 w 386"/>
                <a:gd name="T103" fmla="*/ 0 h 902"/>
                <a:gd name="T104" fmla="*/ 97 w 386"/>
                <a:gd name="T105" fmla="*/ 0 h 902"/>
                <a:gd name="T106" fmla="*/ 167 w 386"/>
                <a:gd name="T107" fmla="*/ 0 h 902"/>
                <a:gd name="T108" fmla="*/ 151 w 386"/>
                <a:gd name="T109" fmla="*/ 0 h 90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86"/>
                <a:gd name="T166" fmla="*/ 0 h 902"/>
                <a:gd name="T167" fmla="*/ 386 w 386"/>
                <a:gd name="T168" fmla="*/ 902 h 90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86" h="902">
                  <a:moveTo>
                    <a:pt x="183" y="0"/>
                  </a:moveTo>
                  <a:lnTo>
                    <a:pt x="269" y="0"/>
                  </a:lnTo>
                  <a:lnTo>
                    <a:pt x="283" y="0"/>
                  </a:lnTo>
                  <a:lnTo>
                    <a:pt x="306" y="0"/>
                  </a:lnTo>
                  <a:lnTo>
                    <a:pt x="326" y="7"/>
                  </a:lnTo>
                  <a:lnTo>
                    <a:pt x="357" y="31"/>
                  </a:lnTo>
                  <a:lnTo>
                    <a:pt x="385" y="124"/>
                  </a:lnTo>
                  <a:lnTo>
                    <a:pt x="385" y="133"/>
                  </a:lnTo>
                  <a:lnTo>
                    <a:pt x="385" y="394"/>
                  </a:lnTo>
                  <a:lnTo>
                    <a:pt x="385" y="398"/>
                  </a:lnTo>
                  <a:lnTo>
                    <a:pt x="377" y="424"/>
                  </a:lnTo>
                  <a:lnTo>
                    <a:pt x="347" y="436"/>
                  </a:lnTo>
                  <a:lnTo>
                    <a:pt x="318" y="419"/>
                  </a:lnTo>
                  <a:lnTo>
                    <a:pt x="314" y="398"/>
                  </a:lnTo>
                  <a:lnTo>
                    <a:pt x="313" y="392"/>
                  </a:lnTo>
                  <a:lnTo>
                    <a:pt x="313" y="154"/>
                  </a:lnTo>
                  <a:lnTo>
                    <a:pt x="294" y="154"/>
                  </a:lnTo>
                  <a:lnTo>
                    <a:pt x="294" y="827"/>
                  </a:lnTo>
                  <a:lnTo>
                    <a:pt x="294" y="841"/>
                  </a:lnTo>
                  <a:lnTo>
                    <a:pt x="287" y="878"/>
                  </a:lnTo>
                  <a:lnTo>
                    <a:pt x="251" y="901"/>
                  </a:lnTo>
                  <a:lnTo>
                    <a:pt x="219" y="887"/>
                  </a:lnTo>
                  <a:lnTo>
                    <a:pt x="207" y="842"/>
                  </a:lnTo>
                  <a:lnTo>
                    <a:pt x="207" y="829"/>
                  </a:lnTo>
                  <a:lnTo>
                    <a:pt x="207" y="434"/>
                  </a:lnTo>
                  <a:lnTo>
                    <a:pt x="189" y="433"/>
                  </a:lnTo>
                  <a:lnTo>
                    <a:pt x="195" y="433"/>
                  </a:lnTo>
                  <a:lnTo>
                    <a:pt x="175" y="434"/>
                  </a:lnTo>
                  <a:lnTo>
                    <a:pt x="175" y="829"/>
                  </a:lnTo>
                  <a:lnTo>
                    <a:pt x="175" y="842"/>
                  </a:lnTo>
                  <a:lnTo>
                    <a:pt x="173" y="868"/>
                  </a:lnTo>
                  <a:lnTo>
                    <a:pt x="166" y="887"/>
                  </a:lnTo>
                  <a:lnTo>
                    <a:pt x="133" y="901"/>
                  </a:lnTo>
                  <a:lnTo>
                    <a:pt x="99" y="880"/>
                  </a:lnTo>
                  <a:lnTo>
                    <a:pt x="91" y="841"/>
                  </a:lnTo>
                  <a:lnTo>
                    <a:pt x="91" y="827"/>
                  </a:lnTo>
                  <a:lnTo>
                    <a:pt x="91" y="154"/>
                  </a:lnTo>
                  <a:lnTo>
                    <a:pt x="70" y="154"/>
                  </a:lnTo>
                  <a:lnTo>
                    <a:pt x="70" y="392"/>
                  </a:lnTo>
                  <a:lnTo>
                    <a:pt x="70" y="398"/>
                  </a:lnTo>
                  <a:lnTo>
                    <a:pt x="66" y="418"/>
                  </a:lnTo>
                  <a:lnTo>
                    <a:pt x="57" y="430"/>
                  </a:lnTo>
                  <a:lnTo>
                    <a:pt x="37" y="436"/>
                  </a:lnTo>
                  <a:lnTo>
                    <a:pt x="9" y="424"/>
                  </a:lnTo>
                  <a:lnTo>
                    <a:pt x="0" y="398"/>
                  </a:lnTo>
                  <a:lnTo>
                    <a:pt x="0" y="394"/>
                  </a:lnTo>
                  <a:lnTo>
                    <a:pt x="0" y="133"/>
                  </a:lnTo>
                  <a:lnTo>
                    <a:pt x="0" y="124"/>
                  </a:lnTo>
                  <a:lnTo>
                    <a:pt x="27" y="32"/>
                  </a:lnTo>
                  <a:lnTo>
                    <a:pt x="58" y="7"/>
                  </a:lnTo>
                  <a:lnTo>
                    <a:pt x="77" y="1"/>
                  </a:lnTo>
                  <a:lnTo>
                    <a:pt x="101" y="0"/>
                  </a:lnTo>
                  <a:lnTo>
                    <a:pt x="117" y="0"/>
                  </a:lnTo>
                  <a:lnTo>
                    <a:pt x="202" y="0"/>
                  </a:lnTo>
                  <a:lnTo>
                    <a:pt x="183" y="0"/>
                  </a:lnTo>
                </a:path>
              </a:pathLst>
            </a:custGeom>
            <a:solidFill>
              <a:schemeClr val="tx2"/>
            </a:solidFill>
            <a:ln w="3175" cap="rnd">
              <a:solidFill>
                <a:schemeClr val="tx1"/>
              </a:solidFill>
              <a:round/>
              <a:headEnd/>
              <a:tailEnd/>
            </a:ln>
          </p:spPr>
          <p:txBody>
            <a:bodyPr/>
            <a:lstStyle/>
            <a:p>
              <a:endParaRPr lang="en-US"/>
            </a:p>
          </p:txBody>
        </p:sp>
        <p:sp>
          <p:nvSpPr>
            <p:cNvPr id="37" name="Oval 87">
              <a:extLst>
                <a:ext uri="{FF2B5EF4-FFF2-40B4-BE49-F238E27FC236}">
                  <a16:creationId xmlns:a16="http://schemas.microsoft.com/office/drawing/2014/main" id="{7B1C97FD-5242-6008-026C-1DD0C3796001}"/>
                </a:ext>
              </a:extLst>
            </p:cNvPr>
            <p:cNvSpPr>
              <a:spLocks noChangeArrowheads="1"/>
            </p:cNvSpPr>
            <p:nvPr/>
          </p:nvSpPr>
          <p:spPr bwMode="auto">
            <a:xfrm>
              <a:off x="3738338" y="3405242"/>
              <a:ext cx="139794" cy="112552"/>
            </a:xfrm>
            <a:prstGeom prst="ellipse">
              <a:avLst/>
            </a:prstGeom>
            <a:solidFill>
              <a:schemeClr val="tx2"/>
            </a:solidFill>
            <a:ln w="317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8" name="Freeform 86">
              <a:extLst>
                <a:ext uri="{FF2B5EF4-FFF2-40B4-BE49-F238E27FC236}">
                  <a16:creationId xmlns:a16="http://schemas.microsoft.com/office/drawing/2014/main" id="{F6882A92-C81F-4B71-3931-542CFE6290B2}"/>
                </a:ext>
              </a:extLst>
            </p:cNvPr>
            <p:cNvSpPr>
              <a:spLocks/>
            </p:cNvSpPr>
            <p:nvPr/>
          </p:nvSpPr>
          <p:spPr bwMode="auto">
            <a:xfrm>
              <a:off x="5344335" y="3572098"/>
              <a:ext cx="401909" cy="689652"/>
            </a:xfrm>
            <a:custGeom>
              <a:avLst/>
              <a:gdLst>
                <a:gd name="T0" fmla="*/ 151 w 386"/>
                <a:gd name="T1" fmla="*/ 0 h 902"/>
                <a:gd name="T2" fmla="*/ 222 w 386"/>
                <a:gd name="T3" fmla="*/ 0 h 902"/>
                <a:gd name="T4" fmla="*/ 234 w 386"/>
                <a:gd name="T5" fmla="*/ 0 h 902"/>
                <a:gd name="T6" fmla="*/ 253 w 386"/>
                <a:gd name="T7" fmla="*/ 0 h 902"/>
                <a:gd name="T8" fmla="*/ 269 w 386"/>
                <a:gd name="T9" fmla="*/ 7 h 902"/>
                <a:gd name="T10" fmla="*/ 295 w 386"/>
                <a:gd name="T11" fmla="*/ 39 h 902"/>
                <a:gd name="T12" fmla="*/ 318 w 386"/>
                <a:gd name="T13" fmla="*/ 160 h 902"/>
                <a:gd name="T14" fmla="*/ 318 w 386"/>
                <a:gd name="T15" fmla="*/ 172 h 902"/>
                <a:gd name="T16" fmla="*/ 318 w 386"/>
                <a:gd name="T17" fmla="*/ 510 h 902"/>
                <a:gd name="T18" fmla="*/ 318 w 386"/>
                <a:gd name="T19" fmla="*/ 514 h 902"/>
                <a:gd name="T20" fmla="*/ 311 w 386"/>
                <a:gd name="T21" fmla="*/ 548 h 902"/>
                <a:gd name="T22" fmla="*/ 287 w 386"/>
                <a:gd name="T23" fmla="*/ 564 h 902"/>
                <a:gd name="T24" fmla="*/ 263 w 386"/>
                <a:gd name="T25" fmla="*/ 543 h 902"/>
                <a:gd name="T26" fmla="*/ 259 w 386"/>
                <a:gd name="T27" fmla="*/ 514 h 902"/>
                <a:gd name="T28" fmla="*/ 258 w 386"/>
                <a:gd name="T29" fmla="*/ 508 h 902"/>
                <a:gd name="T30" fmla="*/ 258 w 386"/>
                <a:gd name="T31" fmla="*/ 199 h 902"/>
                <a:gd name="T32" fmla="*/ 243 w 386"/>
                <a:gd name="T33" fmla="*/ 199 h 902"/>
                <a:gd name="T34" fmla="*/ 243 w 386"/>
                <a:gd name="T35" fmla="*/ 1071 h 902"/>
                <a:gd name="T36" fmla="*/ 243 w 386"/>
                <a:gd name="T37" fmla="*/ 1089 h 902"/>
                <a:gd name="T38" fmla="*/ 237 w 386"/>
                <a:gd name="T39" fmla="*/ 1135 h 902"/>
                <a:gd name="T40" fmla="*/ 207 w 386"/>
                <a:gd name="T41" fmla="*/ 1166 h 902"/>
                <a:gd name="T42" fmla="*/ 181 w 386"/>
                <a:gd name="T43" fmla="*/ 1148 h 902"/>
                <a:gd name="T44" fmla="*/ 171 w 386"/>
                <a:gd name="T45" fmla="*/ 1090 h 902"/>
                <a:gd name="T46" fmla="*/ 171 w 386"/>
                <a:gd name="T47" fmla="*/ 1073 h 902"/>
                <a:gd name="T48" fmla="*/ 171 w 386"/>
                <a:gd name="T49" fmla="*/ 562 h 902"/>
                <a:gd name="T50" fmla="*/ 156 w 386"/>
                <a:gd name="T51" fmla="*/ 561 h 902"/>
                <a:gd name="T52" fmla="*/ 161 w 386"/>
                <a:gd name="T53" fmla="*/ 561 h 902"/>
                <a:gd name="T54" fmla="*/ 145 w 386"/>
                <a:gd name="T55" fmla="*/ 562 h 902"/>
                <a:gd name="T56" fmla="*/ 145 w 386"/>
                <a:gd name="T57" fmla="*/ 1073 h 902"/>
                <a:gd name="T58" fmla="*/ 145 w 386"/>
                <a:gd name="T59" fmla="*/ 1090 h 902"/>
                <a:gd name="T60" fmla="*/ 143 w 386"/>
                <a:gd name="T61" fmla="*/ 1124 h 902"/>
                <a:gd name="T62" fmla="*/ 137 w 386"/>
                <a:gd name="T63" fmla="*/ 1148 h 902"/>
                <a:gd name="T64" fmla="*/ 110 w 386"/>
                <a:gd name="T65" fmla="*/ 1166 h 902"/>
                <a:gd name="T66" fmla="*/ 82 w 386"/>
                <a:gd name="T67" fmla="*/ 1139 h 902"/>
                <a:gd name="T68" fmla="*/ 75 w 386"/>
                <a:gd name="T69" fmla="*/ 1089 h 902"/>
                <a:gd name="T70" fmla="*/ 75 w 386"/>
                <a:gd name="T71" fmla="*/ 1071 h 902"/>
                <a:gd name="T72" fmla="*/ 75 w 386"/>
                <a:gd name="T73" fmla="*/ 199 h 902"/>
                <a:gd name="T74" fmla="*/ 58 w 386"/>
                <a:gd name="T75" fmla="*/ 199 h 902"/>
                <a:gd name="T76" fmla="*/ 58 w 386"/>
                <a:gd name="T77" fmla="*/ 508 h 902"/>
                <a:gd name="T78" fmla="*/ 58 w 386"/>
                <a:gd name="T79" fmla="*/ 514 h 902"/>
                <a:gd name="T80" fmla="*/ 54 w 386"/>
                <a:gd name="T81" fmla="*/ 542 h 902"/>
                <a:gd name="T82" fmla="*/ 47 w 386"/>
                <a:gd name="T83" fmla="*/ 558 h 902"/>
                <a:gd name="T84" fmla="*/ 30 w 386"/>
                <a:gd name="T85" fmla="*/ 564 h 902"/>
                <a:gd name="T86" fmla="*/ 9 w 386"/>
                <a:gd name="T87" fmla="*/ 548 h 902"/>
                <a:gd name="T88" fmla="*/ 0 w 386"/>
                <a:gd name="T89" fmla="*/ 514 h 902"/>
                <a:gd name="T90" fmla="*/ 0 w 386"/>
                <a:gd name="T91" fmla="*/ 510 h 902"/>
                <a:gd name="T92" fmla="*/ 0 w 386"/>
                <a:gd name="T93" fmla="*/ 172 h 902"/>
                <a:gd name="T94" fmla="*/ 0 w 386"/>
                <a:gd name="T95" fmla="*/ 160 h 902"/>
                <a:gd name="T96" fmla="*/ 23 w 386"/>
                <a:gd name="T97" fmla="*/ 41 h 902"/>
                <a:gd name="T98" fmla="*/ 48 w 386"/>
                <a:gd name="T99" fmla="*/ 7 h 902"/>
                <a:gd name="T100" fmla="*/ 64 w 386"/>
                <a:gd name="T101" fmla="*/ 1 h 902"/>
                <a:gd name="T102" fmla="*/ 84 w 386"/>
                <a:gd name="T103" fmla="*/ 0 h 902"/>
                <a:gd name="T104" fmla="*/ 97 w 386"/>
                <a:gd name="T105" fmla="*/ 0 h 902"/>
                <a:gd name="T106" fmla="*/ 167 w 386"/>
                <a:gd name="T107" fmla="*/ 0 h 902"/>
                <a:gd name="T108" fmla="*/ 151 w 386"/>
                <a:gd name="T109" fmla="*/ 0 h 90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86"/>
                <a:gd name="T166" fmla="*/ 0 h 902"/>
                <a:gd name="T167" fmla="*/ 386 w 386"/>
                <a:gd name="T168" fmla="*/ 902 h 90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86" h="902">
                  <a:moveTo>
                    <a:pt x="183" y="0"/>
                  </a:moveTo>
                  <a:lnTo>
                    <a:pt x="269" y="0"/>
                  </a:lnTo>
                  <a:lnTo>
                    <a:pt x="283" y="0"/>
                  </a:lnTo>
                  <a:lnTo>
                    <a:pt x="306" y="0"/>
                  </a:lnTo>
                  <a:lnTo>
                    <a:pt x="326" y="7"/>
                  </a:lnTo>
                  <a:lnTo>
                    <a:pt x="357" y="31"/>
                  </a:lnTo>
                  <a:lnTo>
                    <a:pt x="385" y="124"/>
                  </a:lnTo>
                  <a:lnTo>
                    <a:pt x="385" y="133"/>
                  </a:lnTo>
                  <a:lnTo>
                    <a:pt x="385" y="394"/>
                  </a:lnTo>
                  <a:lnTo>
                    <a:pt x="385" y="398"/>
                  </a:lnTo>
                  <a:lnTo>
                    <a:pt x="377" y="424"/>
                  </a:lnTo>
                  <a:lnTo>
                    <a:pt x="347" y="436"/>
                  </a:lnTo>
                  <a:lnTo>
                    <a:pt x="318" y="419"/>
                  </a:lnTo>
                  <a:lnTo>
                    <a:pt x="314" y="398"/>
                  </a:lnTo>
                  <a:lnTo>
                    <a:pt x="313" y="392"/>
                  </a:lnTo>
                  <a:lnTo>
                    <a:pt x="313" y="154"/>
                  </a:lnTo>
                  <a:lnTo>
                    <a:pt x="294" y="154"/>
                  </a:lnTo>
                  <a:lnTo>
                    <a:pt x="294" y="827"/>
                  </a:lnTo>
                  <a:lnTo>
                    <a:pt x="294" y="841"/>
                  </a:lnTo>
                  <a:lnTo>
                    <a:pt x="287" y="878"/>
                  </a:lnTo>
                  <a:lnTo>
                    <a:pt x="251" y="901"/>
                  </a:lnTo>
                  <a:lnTo>
                    <a:pt x="219" y="887"/>
                  </a:lnTo>
                  <a:lnTo>
                    <a:pt x="207" y="842"/>
                  </a:lnTo>
                  <a:lnTo>
                    <a:pt x="207" y="829"/>
                  </a:lnTo>
                  <a:lnTo>
                    <a:pt x="207" y="434"/>
                  </a:lnTo>
                  <a:lnTo>
                    <a:pt x="189" y="433"/>
                  </a:lnTo>
                  <a:lnTo>
                    <a:pt x="195" y="433"/>
                  </a:lnTo>
                  <a:lnTo>
                    <a:pt x="175" y="434"/>
                  </a:lnTo>
                  <a:lnTo>
                    <a:pt x="175" y="829"/>
                  </a:lnTo>
                  <a:lnTo>
                    <a:pt x="175" y="842"/>
                  </a:lnTo>
                  <a:lnTo>
                    <a:pt x="173" y="868"/>
                  </a:lnTo>
                  <a:lnTo>
                    <a:pt x="166" y="887"/>
                  </a:lnTo>
                  <a:lnTo>
                    <a:pt x="133" y="901"/>
                  </a:lnTo>
                  <a:lnTo>
                    <a:pt x="99" y="880"/>
                  </a:lnTo>
                  <a:lnTo>
                    <a:pt x="91" y="841"/>
                  </a:lnTo>
                  <a:lnTo>
                    <a:pt x="91" y="827"/>
                  </a:lnTo>
                  <a:lnTo>
                    <a:pt x="91" y="154"/>
                  </a:lnTo>
                  <a:lnTo>
                    <a:pt x="70" y="154"/>
                  </a:lnTo>
                  <a:lnTo>
                    <a:pt x="70" y="392"/>
                  </a:lnTo>
                  <a:lnTo>
                    <a:pt x="70" y="398"/>
                  </a:lnTo>
                  <a:lnTo>
                    <a:pt x="66" y="418"/>
                  </a:lnTo>
                  <a:lnTo>
                    <a:pt x="57" y="430"/>
                  </a:lnTo>
                  <a:lnTo>
                    <a:pt x="37" y="436"/>
                  </a:lnTo>
                  <a:lnTo>
                    <a:pt x="9" y="424"/>
                  </a:lnTo>
                  <a:lnTo>
                    <a:pt x="0" y="398"/>
                  </a:lnTo>
                  <a:lnTo>
                    <a:pt x="0" y="394"/>
                  </a:lnTo>
                  <a:lnTo>
                    <a:pt x="0" y="133"/>
                  </a:lnTo>
                  <a:lnTo>
                    <a:pt x="0" y="124"/>
                  </a:lnTo>
                  <a:lnTo>
                    <a:pt x="27" y="32"/>
                  </a:lnTo>
                  <a:lnTo>
                    <a:pt x="58" y="7"/>
                  </a:lnTo>
                  <a:lnTo>
                    <a:pt x="77" y="1"/>
                  </a:lnTo>
                  <a:lnTo>
                    <a:pt x="101" y="0"/>
                  </a:lnTo>
                  <a:lnTo>
                    <a:pt x="117" y="0"/>
                  </a:lnTo>
                  <a:lnTo>
                    <a:pt x="202" y="0"/>
                  </a:lnTo>
                  <a:lnTo>
                    <a:pt x="183" y="0"/>
                  </a:lnTo>
                </a:path>
              </a:pathLst>
            </a:custGeom>
            <a:solidFill>
              <a:schemeClr val="tx2"/>
            </a:solidFill>
            <a:ln w="3175" cap="rnd">
              <a:solidFill>
                <a:schemeClr val="tx1"/>
              </a:solidFill>
              <a:round/>
              <a:headEnd/>
              <a:tailEnd/>
            </a:ln>
          </p:spPr>
          <p:txBody>
            <a:bodyPr/>
            <a:lstStyle/>
            <a:p>
              <a:endParaRPr lang="en-US"/>
            </a:p>
          </p:txBody>
        </p:sp>
        <p:sp>
          <p:nvSpPr>
            <p:cNvPr id="39" name="Oval 87">
              <a:extLst>
                <a:ext uri="{FF2B5EF4-FFF2-40B4-BE49-F238E27FC236}">
                  <a16:creationId xmlns:a16="http://schemas.microsoft.com/office/drawing/2014/main" id="{8643DBC9-6DC4-842F-5C72-EBBB5D9F6883}"/>
                </a:ext>
              </a:extLst>
            </p:cNvPr>
            <p:cNvSpPr>
              <a:spLocks noChangeArrowheads="1"/>
            </p:cNvSpPr>
            <p:nvPr/>
          </p:nvSpPr>
          <p:spPr bwMode="auto">
            <a:xfrm>
              <a:off x="5474300" y="3427286"/>
              <a:ext cx="139794" cy="112552"/>
            </a:xfrm>
            <a:prstGeom prst="ellipse">
              <a:avLst/>
            </a:prstGeom>
            <a:solidFill>
              <a:schemeClr val="tx2"/>
            </a:solidFill>
            <a:ln w="317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0" name="Oval 39">
              <a:extLst>
                <a:ext uri="{FF2B5EF4-FFF2-40B4-BE49-F238E27FC236}">
                  <a16:creationId xmlns:a16="http://schemas.microsoft.com/office/drawing/2014/main" id="{B08F4665-6851-6A44-6062-BAF1BAC9367D}"/>
                </a:ext>
              </a:extLst>
            </p:cNvPr>
            <p:cNvSpPr/>
            <p:nvPr/>
          </p:nvSpPr>
          <p:spPr>
            <a:xfrm>
              <a:off x="872014" y="2869123"/>
              <a:ext cx="1220643" cy="192234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91B8F24B-BCAE-E6E5-93A6-DCBBE9C8E276}"/>
                </a:ext>
              </a:extLst>
            </p:cNvPr>
            <p:cNvSpPr/>
            <p:nvPr/>
          </p:nvSpPr>
          <p:spPr>
            <a:xfrm>
              <a:off x="3183684" y="2888416"/>
              <a:ext cx="1220643" cy="192234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877FC269-A412-09BE-6611-B227C8BEC93E}"/>
                </a:ext>
              </a:extLst>
            </p:cNvPr>
            <p:cNvSpPr/>
            <p:nvPr/>
          </p:nvSpPr>
          <p:spPr>
            <a:xfrm>
              <a:off x="4927061" y="2860396"/>
              <a:ext cx="1220643" cy="192234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80247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Work Sequence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27</a:t>
            </a:fld>
            <a:endParaRPr lang="en-US"/>
          </a:p>
        </p:txBody>
      </p:sp>
      <p:grpSp>
        <p:nvGrpSpPr>
          <p:cNvPr id="3" name="Group 2">
            <a:extLst>
              <a:ext uri="{FF2B5EF4-FFF2-40B4-BE49-F238E27FC236}">
                <a16:creationId xmlns:a16="http://schemas.microsoft.com/office/drawing/2014/main" id="{9138D14C-88B7-B6DC-1004-6D348D00700A}"/>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E4F8554-3FAC-719F-3CE3-69F13FD35F7A}"/>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4C8ADEDF-B63A-ACAE-B2E8-800155B7C3C7}"/>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A1741378-9B7F-423B-0AFB-C314EBB23C54}"/>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A6F453CD-EAE5-B87F-2F2C-9C8C8D0D0D5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C7DAA629-FE32-A150-364F-84B516B305D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953754D6-828D-706F-52E3-52314898559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9680AC0D-A01C-67C4-FCD6-DD79D30CCA94}"/>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sp>
        <p:nvSpPr>
          <p:cNvPr id="18" name="Rectangle 3">
            <a:extLst>
              <a:ext uri="{FF2B5EF4-FFF2-40B4-BE49-F238E27FC236}">
                <a16:creationId xmlns:a16="http://schemas.microsoft.com/office/drawing/2014/main" id="{BC5B9727-9890-779E-AD6B-5889D77DE160}"/>
              </a:ext>
            </a:extLst>
          </p:cNvPr>
          <p:cNvSpPr>
            <a:spLocks noChangeArrowheads="1"/>
          </p:cNvSpPr>
          <p:nvPr/>
        </p:nvSpPr>
        <p:spPr bwMode="auto">
          <a:xfrm>
            <a:off x="7554418" y="3126144"/>
            <a:ext cx="3452812" cy="1526188"/>
          </a:xfrm>
          <a:prstGeom prst="rect">
            <a:avLst/>
          </a:prstGeom>
          <a:noFill/>
          <a:ln w="9525">
            <a:noFill/>
            <a:miter lim="800000"/>
            <a:headEnd/>
            <a:tailEnd/>
          </a:ln>
          <a:effectLst/>
        </p:spPr>
        <p:txBody>
          <a:bodyPr wrap="square" lIns="71438" tIns="36513" rIns="71438" bIns="36513">
            <a:spAutoFit/>
          </a:bodyPr>
          <a:lstStyle/>
          <a:p>
            <a:pPr marL="285750" indent="-285750" defTabSz="708025">
              <a:lnSpc>
                <a:spcPct val="115000"/>
              </a:lnSpc>
              <a:spcBef>
                <a:spcPct val="20000"/>
              </a:spcBef>
              <a:spcAft>
                <a:spcPct val="20000"/>
              </a:spcAft>
              <a:buClr>
                <a:schemeClr val="tx1"/>
              </a:buClr>
              <a:buSzPct val="90000"/>
              <a:buFont typeface="Arial" panose="020B0604020202020204" pitchFamily="34" charset="0"/>
              <a:buChar char="•"/>
              <a:defRPr/>
            </a:pPr>
            <a:r>
              <a:rPr lang="en-US" sz="2800" dirty="0">
                <a:solidFill>
                  <a:schemeClr val="tx1"/>
                </a:solidFill>
                <a:latin typeface="Roboto" panose="02000000000000000000" pitchFamily="2" charset="0"/>
                <a:ea typeface="Roboto" panose="02000000000000000000" pitchFamily="2" charset="0"/>
              </a:rPr>
              <a:t>Operator and part follow the same sequence</a:t>
            </a:r>
          </a:p>
        </p:txBody>
      </p:sp>
      <p:sp>
        <p:nvSpPr>
          <p:cNvPr id="13" name="Text Box 5">
            <a:extLst>
              <a:ext uri="{FF2B5EF4-FFF2-40B4-BE49-F238E27FC236}">
                <a16:creationId xmlns:a16="http://schemas.microsoft.com/office/drawing/2014/main" id="{C6BCFAB9-FA19-2BD5-6A58-99B13FEFD878}"/>
              </a:ext>
            </a:extLst>
          </p:cNvPr>
          <p:cNvSpPr txBox="1">
            <a:spLocks noChangeArrowheads="1"/>
          </p:cNvSpPr>
          <p:nvPr/>
        </p:nvSpPr>
        <p:spPr bwMode="auto">
          <a:xfrm>
            <a:off x="884695" y="2035346"/>
            <a:ext cx="3044423" cy="31624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Operator Flow vs. Part Flow</a:t>
            </a:r>
          </a:p>
        </p:txBody>
      </p:sp>
      <p:sp>
        <p:nvSpPr>
          <p:cNvPr id="59" name="AutoShape 4">
            <a:extLst>
              <a:ext uri="{FF2B5EF4-FFF2-40B4-BE49-F238E27FC236}">
                <a16:creationId xmlns:a16="http://schemas.microsoft.com/office/drawing/2014/main" id="{97553E8B-D7A1-8BEE-E5D2-E3942E28958D}"/>
              </a:ext>
            </a:extLst>
          </p:cNvPr>
          <p:cNvSpPr>
            <a:spLocks noChangeArrowheads="1"/>
          </p:cNvSpPr>
          <p:nvPr/>
        </p:nvSpPr>
        <p:spPr bwMode="auto">
          <a:xfrm>
            <a:off x="6689231" y="2641792"/>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86" name="Group 85">
            <a:extLst>
              <a:ext uri="{FF2B5EF4-FFF2-40B4-BE49-F238E27FC236}">
                <a16:creationId xmlns:a16="http://schemas.microsoft.com/office/drawing/2014/main" id="{ECC32785-5BCC-90BF-B56E-450ED68301FB}"/>
              </a:ext>
            </a:extLst>
          </p:cNvPr>
          <p:cNvGrpSpPr/>
          <p:nvPr/>
        </p:nvGrpSpPr>
        <p:grpSpPr>
          <a:xfrm>
            <a:off x="1036637" y="2707674"/>
            <a:ext cx="4733925" cy="2573337"/>
            <a:chOff x="1036637" y="2707674"/>
            <a:chExt cx="4733925" cy="2573337"/>
          </a:xfrm>
        </p:grpSpPr>
        <p:sp>
          <p:nvSpPr>
            <p:cNvPr id="14" name="Oval 32">
              <a:extLst>
                <a:ext uri="{FF2B5EF4-FFF2-40B4-BE49-F238E27FC236}">
                  <a16:creationId xmlns:a16="http://schemas.microsoft.com/office/drawing/2014/main" id="{59C3513D-5CA8-053C-C414-24985DB09408}"/>
                </a:ext>
              </a:extLst>
            </p:cNvPr>
            <p:cNvSpPr>
              <a:spLocks noChangeArrowheads="1"/>
            </p:cNvSpPr>
            <p:nvPr/>
          </p:nvSpPr>
          <p:spPr bwMode="auto">
            <a:xfrm>
              <a:off x="1530350" y="3374424"/>
              <a:ext cx="503237" cy="444500"/>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6" name="Oval 33">
              <a:extLst>
                <a:ext uri="{FF2B5EF4-FFF2-40B4-BE49-F238E27FC236}">
                  <a16:creationId xmlns:a16="http://schemas.microsoft.com/office/drawing/2014/main" id="{F87FD91E-B568-D760-2147-53631B7DAFA0}"/>
                </a:ext>
              </a:extLst>
            </p:cNvPr>
            <p:cNvSpPr>
              <a:spLocks noChangeArrowheads="1"/>
            </p:cNvSpPr>
            <p:nvPr/>
          </p:nvSpPr>
          <p:spPr bwMode="auto">
            <a:xfrm>
              <a:off x="2386012" y="3417286"/>
              <a:ext cx="503238" cy="444500"/>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7" name="Oval 34">
              <a:extLst>
                <a:ext uri="{FF2B5EF4-FFF2-40B4-BE49-F238E27FC236}">
                  <a16:creationId xmlns:a16="http://schemas.microsoft.com/office/drawing/2014/main" id="{D048D28B-88DA-9BB9-1F4F-9560ADBCC604}"/>
                </a:ext>
              </a:extLst>
            </p:cNvPr>
            <p:cNvSpPr>
              <a:spLocks noChangeArrowheads="1"/>
            </p:cNvSpPr>
            <p:nvPr/>
          </p:nvSpPr>
          <p:spPr bwMode="auto">
            <a:xfrm>
              <a:off x="3225800" y="3401411"/>
              <a:ext cx="503237" cy="444500"/>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 name="Oval 35">
              <a:extLst>
                <a:ext uri="{FF2B5EF4-FFF2-40B4-BE49-F238E27FC236}">
                  <a16:creationId xmlns:a16="http://schemas.microsoft.com/office/drawing/2014/main" id="{DF9E9E66-8CB0-6F7F-72A3-2F26DE642853}"/>
                </a:ext>
              </a:extLst>
            </p:cNvPr>
            <p:cNvSpPr>
              <a:spLocks noChangeArrowheads="1"/>
            </p:cNvSpPr>
            <p:nvPr/>
          </p:nvSpPr>
          <p:spPr bwMode="auto">
            <a:xfrm>
              <a:off x="3983037" y="3402999"/>
              <a:ext cx="503238" cy="444500"/>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3" name="Oval 36">
              <a:extLst>
                <a:ext uri="{FF2B5EF4-FFF2-40B4-BE49-F238E27FC236}">
                  <a16:creationId xmlns:a16="http://schemas.microsoft.com/office/drawing/2014/main" id="{B099D631-4F4A-91CD-529A-691DBD504D1B}"/>
                </a:ext>
              </a:extLst>
            </p:cNvPr>
            <p:cNvSpPr>
              <a:spLocks noChangeArrowheads="1"/>
            </p:cNvSpPr>
            <p:nvPr/>
          </p:nvSpPr>
          <p:spPr bwMode="auto">
            <a:xfrm>
              <a:off x="4956175" y="3444274"/>
              <a:ext cx="503237" cy="444500"/>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4" name="Oval 37">
              <a:extLst>
                <a:ext uri="{FF2B5EF4-FFF2-40B4-BE49-F238E27FC236}">
                  <a16:creationId xmlns:a16="http://schemas.microsoft.com/office/drawing/2014/main" id="{46CEB85A-8F6E-E658-9E1D-BE58C0A42937}"/>
                </a:ext>
              </a:extLst>
            </p:cNvPr>
            <p:cNvSpPr>
              <a:spLocks noChangeArrowheads="1"/>
            </p:cNvSpPr>
            <p:nvPr/>
          </p:nvSpPr>
          <p:spPr bwMode="auto">
            <a:xfrm>
              <a:off x="1485900" y="4069749"/>
              <a:ext cx="503237" cy="444500"/>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5" name="Oval 38">
              <a:extLst>
                <a:ext uri="{FF2B5EF4-FFF2-40B4-BE49-F238E27FC236}">
                  <a16:creationId xmlns:a16="http://schemas.microsoft.com/office/drawing/2014/main" id="{3A7F9A29-37BD-791F-8275-E7D4F4EFA744}"/>
                </a:ext>
              </a:extLst>
            </p:cNvPr>
            <p:cNvSpPr>
              <a:spLocks noChangeArrowheads="1"/>
            </p:cNvSpPr>
            <p:nvPr/>
          </p:nvSpPr>
          <p:spPr bwMode="auto">
            <a:xfrm>
              <a:off x="2371725" y="4071336"/>
              <a:ext cx="503237" cy="444500"/>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6" name="Oval 39">
              <a:extLst>
                <a:ext uri="{FF2B5EF4-FFF2-40B4-BE49-F238E27FC236}">
                  <a16:creationId xmlns:a16="http://schemas.microsoft.com/office/drawing/2014/main" id="{B236CDED-60F7-F4C1-828E-6BB137560A69}"/>
                </a:ext>
              </a:extLst>
            </p:cNvPr>
            <p:cNvSpPr>
              <a:spLocks noChangeArrowheads="1"/>
            </p:cNvSpPr>
            <p:nvPr/>
          </p:nvSpPr>
          <p:spPr bwMode="auto">
            <a:xfrm>
              <a:off x="3184525" y="4085624"/>
              <a:ext cx="503237" cy="444500"/>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7" name="Oval 40">
              <a:extLst>
                <a:ext uri="{FF2B5EF4-FFF2-40B4-BE49-F238E27FC236}">
                  <a16:creationId xmlns:a16="http://schemas.microsoft.com/office/drawing/2014/main" id="{DB347026-E0F1-7F5C-1C71-DC4E18036E70}"/>
                </a:ext>
              </a:extLst>
            </p:cNvPr>
            <p:cNvSpPr>
              <a:spLocks noChangeArrowheads="1"/>
            </p:cNvSpPr>
            <p:nvPr/>
          </p:nvSpPr>
          <p:spPr bwMode="auto">
            <a:xfrm>
              <a:off x="4040187" y="4072924"/>
              <a:ext cx="503238" cy="444500"/>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8" name="Oval 41">
              <a:extLst>
                <a:ext uri="{FF2B5EF4-FFF2-40B4-BE49-F238E27FC236}">
                  <a16:creationId xmlns:a16="http://schemas.microsoft.com/office/drawing/2014/main" id="{BCAE99CD-F63D-9DC2-B013-16A6A7646D3E}"/>
                </a:ext>
              </a:extLst>
            </p:cNvPr>
            <p:cNvSpPr>
              <a:spLocks noChangeArrowheads="1"/>
            </p:cNvSpPr>
            <p:nvPr/>
          </p:nvSpPr>
          <p:spPr bwMode="auto">
            <a:xfrm>
              <a:off x="4926012" y="4071336"/>
              <a:ext cx="503238" cy="444500"/>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9" name="Rectangle 48">
              <a:extLst>
                <a:ext uri="{FF2B5EF4-FFF2-40B4-BE49-F238E27FC236}">
                  <a16:creationId xmlns:a16="http://schemas.microsoft.com/office/drawing/2014/main" id="{3E70DB7B-EB44-65A7-D010-7C7B55248C3E}"/>
                </a:ext>
              </a:extLst>
            </p:cNvPr>
            <p:cNvSpPr>
              <a:spLocks noChangeArrowheads="1"/>
            </p:cNvSpPr>
            <p:nvPr/>
          </p:nvSpPr>
          <p:spPr bwMode="auto">
            <a:xfrm>
              <a:off x="1587500" y="3349024"/>
              <a:ext cx="365485" cy="47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500" b="0">
                  <a:latin typeface="Roboto" panose="02000000000000000000" pitchFamily="2" charset="0"/>
                  <a:ea typeface="Roboto" panose="02000000000000000000" pitchFamily="2" charset="0"/>
                </a:rPr>
                <a:t>5</a:t>
              </a:r>
            </a:p>
          </p:txBody>
        </p:sp>
        <p:sp>
          <p:nvSpPr>
            <p:cNvPr id="50" name="Rectangle 51">
              <a:extLst>
                <a:ext uri="{FF2B5EF4-FFF2-40B4-BE49-F238E27FC236}">
                  <a16:creationId xmlns:a16="http://schemas.microsoft.com/office/drawing/2014/main" id="{53E2B012-ECA6-C010-B07E-B408A4B04E43}"/>
                </a:ext>
              </a:extLst>
            </p:cNvPr>
            <p:cNvSpPr>
              <a:spLocks noChangeArrowheads="1"/>
            </p:cNvSpPr>
            <p:nvPr/>
          </p:nvSpPr>
          <p:spPr bwMode="auto">
            <a:xfrm>
              <a:off x="2463800" y="3383949"/>
              <a:ext cx="365485" cy="47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500" b="0">
                  <a:latin typeface="Roboto" panose="02000000000000000000" pitchFamily="2" charset="0"/>
                  <a:ea typeface="Roboto" panose="02000000000000000000" pitchFamily="2" charset="0"/>
                </a:rPr>
                <a:t>4</a:t>
              </a:r>
            </a:p>
          </p:txBody>
        </p:sp>
        <p:sp>
          <p:nvSpPr>
            <p:cNvPr id="51" name="Rectangle 52">
              <a:extLst>
                <a:ext uri="{FF2B5EF4-FFF2-40B4-BE49-F238E27FC236}">
                  <a16:creationId xmlns:a16="http://schemas.microsoft.com/office/drawing/2014/main" id="{CB7884A7-BE54-D6D4-7A04-359D953B1D19}"/>
                </a:ext>
              </a:extLst>
            </p:cNvPr>
            <p:cNvSpPr>
              <a:spLocks noChangeArrowheads="1"/>
            </p:cNvSpPr>
            <p:nvPr/>
          </p:nvSpPr>
          <p:spPr bwMode="auto">
            <a:xfrm>
              <a:off x="3305175" y="3380774"/>
              <a:ext cx="365485" cy="47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500" b="0">
                  <a:latin typeface="Roboto" panose="02000000000000000000" pitchFamily="2" charset="0"/>
                  <a:ea typeface="Roboto" panose="02000000000000000000" pitchFamily="2" charset="0"/>
                </a:rPr>
                <a:t>3</a:t>
              </a:r>
            </a:p>
          </p:txBody>
        </p:sp>
        <p:sp>
          <p:nvSpPr>
            <p:cNvPr id="52" name="Rectangle 53">
              <a:extLst>
                <a:ext uri="{FF2B5EF4-FFF2-40B4-BE49-F238E27FC236}">
                  <a16:creationId xmlns:a16="http://schemas.microsoft.com/office/drawing/2014/main" id="{EB6FEF47-7D2A-1809-B4A8-372275CBFD46}"/>
                </a:ext>
              </a:extLst>
            </p:cNvPr>
            <p:cNvSpPr>
              <a:spLocks noChangeArrowheads="1"/>
            </p:cNvSpPr>
            <p:nvPr/>
          </p:nvSpPr>
          <p:spPr bwMode="auto">
            <a:xfrm>
              <a:off x="4056062" y="3369661"/>
              <a:ext cx="374650" cy="47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500" b="0">
                  <a:latin typeface="Roboto" panose="02000000000000000000" pitchFamily="2" charset="0"/>
                  <a:ea typeface="Roboto" panose="02000000000000000000" pitchFamily="2" charset="0"/>
                </a:rPr>
                <a:t>2</a:t>
              </a:r>
            </a:p>
          </p:txBody>
        </p:sp>
        <p:sp>
          <p:nvSpPr>
            <p:cNvPr id="53" name="Rectangle 54">
              <a:extLst>
                <a:ext uri="{FF2B5EF4-FFF2-40B4-BE49-F238E27FC236}">
                  <a16:creationId xmlns:a16="http://schemas.microsoft.com/office/drawing/2014/main" id="{D4262130-57E0-E160-BBFB-F73A3E483944}"/>
                </a:ext>
              </a:extLst>
            </p:cNvPr>
            <p:cNvSpPr>
              <a:spLocks noChangeArrowheads="1"/>
            </p:cNvSpPr>
            <p:nvPr/>
          </p:nvSpPr>
          <p:spPr bwMode="auto">
            <a:xfrm>
              <a:off x="5033962" y="3390299"/>
              <a:ext cx="365485" cy="47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500" b="0">
                  <a:latin typeface="Roboto" panose="02000000000000000000" pitchFamily="2" charset="0"/>
                  <a:ea typeface="Roboto" panose="02000000000000000000" pitchFamily="2" charset="0"/>
                </a:rPr>
                <a:t>1</a:t>
              </a:r>
            </a:p>
          </p:txBody>
        </p:sp>
        <p:sp>
          <p:nvSpPr>
            <p:cNvPr id="54" name="Rectangle 55">
              <a:extLst>
                <a:ext uri="{FF2B5EF4-FFF2-40B4-BE49-F238E27FC236}">
                  <a16:creationId xmlns:a16="http://schemas.microsoft.com/office/drawing/2014/main" id="{00B5517D-69AC-F3D9-D117-5ACA9FFF5575}"/>
                </a:ext>
              </a:extLst>
            </p:cNvPr>
            <p:cNvSpPr>
              <a:spLocks noChangeArrowheads="1"/>
            </p:cNvSpPr>
            <p:nvPr/>
          </p:nvSpPr>
          <p:spPr bwMode="auto">
            <a:xfrm>
              <a:off x="4900612" y="4050699"/>
              <a:ext cx="545021" cy="47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500" b="0">
                  <a:latin typeface="Roboto" panose="02000000000000000000" pitchFamily="2" charset="0"/>
                  <a:ea typeface="Roboto" panose="02000000000000000000" pitchFamily="2" charset="0"/>
                </a:rPr>
                <a:t>10</a:t>
              </a:r>
            </a:p>
          </p:txBody>
        </p:sp>
        <p:sp>
          <p:nvSpPr>
            <p:cNvPr id="55" name="Rectangle 56">
              <a:extLst>
                <a:ext uri="{FF2B5EF4-FFF2-40B4-BE49-F238E27FC236}">
                  <a16:creationId xmlns:a16="http://schemas.microsoft.com/office/drawing/2014/main" id="{1774F221-297F-1450-F1E3-B880E0EAD154}"/>
                </a:ext>
              </a:extLst>
            </p:cNvPr>
            <p:cNvSpPr>
              <a:spLocks noChangeArrowheads="1"/>
            </p:cNvSpPr>
            <p:nvPr/>
          </p:nvSpPr>
          <p:spPr bwMode="auto">
            <a:xfrm>
              <a:off x="4138612" y="4026886"/>
              <a:ext cx="365485" cy="47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500" b="0">
                  <a:latin typeface="Roboto" panose="02000000000000000000" pitchFamily="2" charset="0"/>
                  <a:ea typeface="Roboto" panose="02000000000000000000" pitchFamily="2" charset="0"/>
                </a:rPr>
                <a:t>9</a:t>
              </a:r>
            </a:p>
          </p:txBody>
        </p:sp>
        <p:sp>
          <p:nvSpPr>
            <p:cNvPr id="56" name="Rectangle 58">
              <a:extLst>
                <a:ext uri="{FF2B5EF4-FFF2-40B4-BE49-F238E27FC236}">
                  <a16:creationId xmlns:a16="http://schemas.microsoft.com/office/drawing/2014/main" id="{30F0AFB6-7303-FB93-192C-9DE72F923CBF}"/>
                </a:ext>
              </a:extLst>
            </p:cNvPr>
            <p:cNvSpPr>
              <a:spLocks noChangeArrowheads="1"/>
            </p:cNvSpPr>
            <p:nvPr/>
          </p:nvSpPr>
          <p:spPr bwMode="auto">
            <a:xfrm>
              <a:off x="3265487" y="4047524"/>
              <a:ext cx="365485" cy="47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500" b="0">
                  <a:latin typeface="Roboto" panose="02000000000000000000" pitchFamily="2" charset="0"/>
                  <a:ea typeface="Roboto" panose="02000000000000000000" pitchFamily="2" charset="0"/>
                </a:rPr>
                <a:t>8</a:t>
              </a:r>
            </a:p>
          </p:txBody>
        </p:sp>
        <p:sp>
          <p:nvSpPr>
            <p:cNvPr id="57" name="Rectangle 59">
              <a:extLst>
                <a:ext uri="{FF2B5EF4-FFF2-40B4-BE49-F238E27FC236}">
                  <a16:creationId xmlns:a16="http://schemas.microsoft.com/office/drawing/2014/main" id="{9B5C48C7-19CD-A321-4C76-6A7E3B64E917}"/>
                </a:ext>
              </a:extLst>
            </p:cNvPr>
            <p:cNvSpPr>
              <a:spLocks noChangeArrowheads="1"/>
            </p:cNvSpPr>
            <p:nvPr/>
          </p:nvSpPr>
          <p:spPr bwMode="auto">
            <a:xfrm>
              <a:off x="2459037" y="4042761"/>
              <a:ext cx="365485" cy="47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500" b="0">
                  <a:latin typeface="Roboto" panose="02000000000000000000" pitchFamily="2" charset="0"/>
                  <a:ea typeface="Roboto" panose="02000000000000000000" pitchFamily="2" charset="0"/>
                </a:rPr>
                <a:t>7</a:t>
              </a:r>
            </a:p>
          </p:txBody>
        </p:sp>
        <p:sp>
          <p:nvSpPr>
            <p:cNvPr id="58" name="Rectangle 60">
              <a:extLst>
                <a:ext uri="{FF2B5EF4-FFF2-40B4-BE49-F238E27FC236}">
                  <a16:creationId xmlns:a16="http://schemas.microsoft.com/office/drawing/2014/main" id="{B16EBC28-8897-21D1-2DF0-B7E0FC5969DA}"/>
                </a:ext>
              </a:extLst>
            </p:cNvPr>
            <p:cNvSpPr>
              <a:spLocks noChangeArrowheads="1"/>
            </p:cNvSpPr>
            <p:nvPr/>
          </p:nvSpPr>
          <p:spPr bwMode="auto">
            <a:xfrm>
              <a:off x="1546225" y="4055461"/>
              <a:ext cx="365485" cy="47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500" b="0">
                  <a:latin typeface="Roboto" panose="02000000000000000000" pitchFamily="2" charset="0"/>
                  <a:ea typeface="Roboto" panose="02000000000000000000" pitchFamily="2" charset="0"/>
                </a:rPr>
                <a:t>6</a:t>
              </a:r>
            </a:p>
          </p:txBody>
        </p:sp>
        <p:sp>
          <p:nvSpPr>
            <p:cNvPr id="60" name="Rectangle 15">
              <a:extLst>
                <a:ext uri="{FF2B5EF4-FFF2-40B4-BE49-F238E27FC236}">
                  <a16:creationId xmlns:a16="http://schemas.microsoft.com/office/drawing/2014/main" id="{E396FF82-E95D-F1DE-E32A-3B581CE879AC}"/>
                </a:ext>
              </a:extLst>
            </p:cNvPr>
            <p:cNvSpPr>
              <a:spLocks noChangeArrowheads="1"/>
            </p:cNvSpPr>
            <p:nvPr/>
          </p:nvSpPr>
          <p:spPr bwMode="auto">
            <a:xfrm>
              <a:off x="1485900" y="2715611"/>
              <a:ext cx="642937" cy="635000"/>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1" name="Rectangle 23">
              <a:extLst>
                <a:ext uri="{FF2B5EF4-FFF2-40B4-BE49-F238E27FC236}">
                  <a16:creationId xmlns:a16="http://schemas.microsoft.com/office/drawing/2014/main" id="{3E819331-A96B-33E5-471C-FCA11909E760}"/>
                </a:ext>
              </a:extLst>
            </p:cNvPr>
            <p:cNvSpPr>
              <a:spLocks noChangeArrowheads="1"/>
            </p:cNvSpPr>
            <p:nvPr/>
          </p:nvSpPr>
          <p:spPr bwMode="auto">
            <a:xfrm>
              <a:off x="2292350" y="2707674"/>
              <a:ext cx="642937" cy="635000"/>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2" name="Rectangle 24">
              <a:extLst>
                <a:ext uri="{FF2B5EF4-FFF2-40B4-BE49-F238E27FC236}">
                  <a16:creationId xmlns:a16="http://schemas.microsoft.com/office/drawing/2014/main" id="{82FA9D91-6F78-E24D-68AF-D0A5ECDD4B17}"/>
                </a:ext>
              </a:extLst>
            </p:cNvPr>
            <p:cNvSpPr>
              <a:spLocks noChangeArrowheads="1"/>
            </p:cNvSpPr>
            <p:nvPr/>
          </p:nvSpPr>
          <p:spPr bwMode="auto">
            <a:xfrm>
              <a:off x="3060700" y="2736249"/>
              <a:ext cx="642937" cy="635000"/>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3" name="Rectangle 25">
              <a:extLst>
                <a:ext uri="{FF2B5EF4-FFF2-40B4-BE49-F238E27FC236}">
                  <a16:creationId xmlns:a16="http://schemas.microsoft.com/office/drawing/2014/main" id="{405CCA42-2823-97FB-28F3-7C72A5DF4A9A}"/>
                </a:ext>
              </a:extLst>
            </p:cNvPr>
            <p:cNvSpPr>
              <a:spLocks noChangeArrowheads="1"/>
            </p:cNvSpPr>
            <p:nvPr/>
          </p:nvSpPr>
          <p:spPr bwMode="auto">
            <a:xfrm>
              <a:off x="3859212" y="2736249"/>
              <a:ext cx="642938" cy="635000"/>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4" name="Rectangle 26">
              <a:extLst>
                <a:ext uri="{FF2B5EF4-FFF2-40B4-BE49-F238E27FC236}">
                  <a16:creationId xmlns:a16="http://schemas.microsoft.com/office/drawing/2014/main" id="{8BFE5C88-033B-2F53-273D-A2F2F683FE0D}"/>
                </a:ext>
              </a:extLst>
            </p:cNvPr>
            <p:cNvSpPr>
              <a:spLocks noChangeArrowheads="1"/>
            </p:cNvSpPr>
            <p:nvPr/>
          </p:nvSpPr>
          <p:spPr bwMode="auto">
            <a:xfrm>
              <a:off x="4852987" y="2785461"/>
              <a:ext cx="642938" cy="635000"/>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5" name="Rectangle 27">
              <a:extLst>
                <a:ext uri="{FF2B5EF4-FFF2-40B4-BE49-F238E27FC236}">
                  <a16:creationId xmlns:a16="http://schemas.microsoft.com/office/drawing/2014/main" id="{98F25C88-0BFF-6FE4-50DB-87087D502D26}"/>
                </a:ext>
              </a:extLst>
            </p:cNvPr>
            <p:cNvSpPr>
              <a:spLocks noChangeArrowheads="1"/>
            </p:cNvSpPr>
            <p:nvPr/>
          </p:nvSpPr>
          <p:spPr bwMode="auto">
            <a:xfrm>
              <a:off x="1443037" y="4601561"/>
              <a:ext cx="642938" cy="635000"/>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6" name="Rectangle 28">
              <a:extLst>
                <a:ext uri="{FF2B5EF4-FFF2-40B4-BE49-F238E27FC236}">
                  <a16:creationId xmlns:a16="http://schemas.microsoft.com/office/drawing/2014/main" id="{0FBFC4E3-7B01-CB34-0E41-6B89C07D04D3}"/>
                </a:ext>
              </a:extLst>
            </p:cNvPr>
            <p:cNvSpPr>
              <a:spLocks noChangeArrowheads="1"/>
            </p:cNvSpPr>
            <p:nvPr/>
          </p:nvSpPr>
          <p:spPr bwMode="auto">
            <a:xfrm>
              <a:off x="2298700" y="4630136"/>
              <a:ext cx="642937" cy="635000"/>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7" name="Rectangle 29">
              <a:extLst>
                <a:ext uri="{FF2B5EF4-FFF2-40B4-BE49-F238E27FC236}">
                  <a16:creationId xmlns:a16="http://schemas.microsoft.com/office/drawing/2014/main" id="{87C40E7B-04C9-2CB5-6F3D-59EB379B28CA}"/>
                </a:ext>
              </a:extLst>
            </p:cNvPr>
            <p:cNvSpPr>
              <a:spLocks noChangeArrowheads="1"/>
            </p:cNvSpPr>
            <p:nvPr/>
          </p:nvSpPr>
          <p:spPr bwMode="auto">
            <a:xfrm>
              <a:off x="3125787" y="4646011"/>
              <a:ext cx="642938" cy="635000"/>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8" name="Rectangle 30">
              <a:extLst>
                <a:ext uri="{FF2B5EF4-FFF2-40B4-BE49-F238E27FC236}">
                  <a16:creationId xmlns:a16="http://schemas.microsoft.com/office/drawing/2014/main" id="{3C7646CF-BB96-40CB-3033-CD3D5D0B5327}"/>
                </a:ext>
              </a:extLst>
            </p:cNvPr>
            <p:cNvSpPr>
              <a:spLocks noChangeArrowheads="1"/>
            </p:cNvSpPr>
            <p:nvPr/>
          </p:nvSpPr>
          <p:spPr bwMode="auto">
            <a:xfrm>
              <a:off x="3968750" y="4631724"/>
              <a:ext cx="642937" cy="635000"/>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9" name="Rectangle 31">
              <a:extLst>
                <a:ext uri="{FF2B5EF4-FFF2-40B4-BE49-F238E27FC236}">
                  <a16:creationId xmlns:a16="http://schemas.microsoft.com/office/drawing/2014/main" id="{FB53A7C5-28D8-7D49-CDE0-51770CE5F651}"/>
                </a:ext>
              </a:extLst>
            </p:cNvPr>
            <p:cNvSpPr>
              <a:spLocks noChangeArrowheads="1"/>
            </p:cNvSpPr>
            <p:nvPr/>
          </p:nvSpPr>
          <p:spPr bwMode="auto">
            <a:xfrm>
              <a:off x="4810125" y="4526949"/>
              <a:ext cx="642937" cy="635000"/>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0" name="Line 42">
              <a:extLst>
                <a:ext uri="{FF2B5EF4-FFF2-40B4-BE49-F238E27FC236}">
                  <a16:creationId xmlns:a16="http://schemas.microsoft.com/office/drawing/2014/main" id="{9ACF9573-222A-447D-8D03-A2F506C40EAF}"/>
                </a:ext>
              </a:extLst>
            </p:cNvPr>
            <p:cNvSpPr>
              <a:spLocks noChangeShapeType="1"/>
            </p:cNvSpPr>
            <p:nvPr/>
          </p:nvSpPr>
          <p:spPr bwMode="auto">
            <a:xfrm flipH="1" flipV="1">
              <a:off x="1266825" y="3052161"/>
              <a:ext cx="3590925" cy="3016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71" name="Freeform 43">
              <a:extLst>
                <a:ext uri="{FF2B5EF4-FFF2-40B4-BE49-F238E27FC236}">
                  <a16:creationId xmlns:a16="http://schemas.microsoft.com/office/drawing/2014/main" id="{0098569E-5EA6-8317-E6F0-A0F251C59552}"/>
                </a:ext>
              </a:extLst>
            </p:cNvPr>
            <p:cNvSpPr>
              <a:spLocks/>
            </p:cNvSpPr>
            <p:nvPr/>
          </p:nvSpPr>
          <p:spPr bwMode="auto">
            <a:xfrm>
              <a:off x="1036637" y="3053749"/>
              <a:ext cx="244475" cy="1825625"/>
            </a:xfrm>
            <a:custGeom>
              <a:avLst/>
              <a:gdLst>
                <a:gd name="T0" fmla="*/ 2147483646 w 327"/>
                <a:gd name="T1" fmla="*/ 0 h 1259"/>
                <a:gd name="T2" fmla="*/ 2147483646 w 327"/>
                <a:gd name="T3" fmla="*/ 2147483646 h 1259"/>
                <a:gd name="T4" fmla="*/ 2147483646 w 327"/>
                <a:gd name="T5" fmla="*/ 2147483646 h 1259"/>
                <a:gd name="T6" fmla="*/ 2147483646 w 327"/>
                <a:gd name="T7" fmla="*/ 2147483646 h 1259"/>
                <a:gd name="T8" fmla="*/ 2147483646 w 327"/>
                <a:gd name="T9" fmla="*/ 2147483646 h 1259"/>
                <a:gd name="T10" fmla="*/ 2147483646 w 327"/>
                <a:gd name="T11" fmla="*/ 2147483646 h 1259"/>
                <a:gd name="T12" fmla="*/ 2147483646 w 327"/>
                <a:gd name="T13" fmla="*/ 2147483646 h 1259"/>
                <a:gd name="T14" fmla="*/ 2147483646 w 327"/>
                <a:gd name="T15" fmla="*/ 2147483646 h 1259"/>
                <a:gd name="T16" fmla="*/ 0 w 327"/>
                <a:gd name="T17" fmla="*/ 2147483646 h 1259"/>
                <a:gd name="T18" fmla="*/ 2147483646 w 327"/>
                <a:gd name="T19" fmla="*/ 2147483646 h 1259"/>
                <a:gd name="T20" fmla="*/ 2147483646 w 327"/>
                <a:gd name="T21" fmla="*/ 2147483646 h 1259"/>
                <a:gd name="T22" fmla="*/ 2147483646 w 327"/>
                <a:gd name="T23" fmla="*/ 2147483646 h 1259"/>
                <a:gd name="T24" fmla="*/ 2147483646 w 327"/>
                <a:gd name="T25" fmla="*/ 2147483646 h 1259"/>
                <a:gd name="T26" fmla="*/ 2147483646 w 327"/>
                <a:gd name="T27" fmla="*/ 2147483646 h 1259"/>
                <a:gd name="T28" fmla="*/ 2147483646 w 327"/>
                <a:gd name="T29" fmla="*/ 2147483646 h 1259"/>
                <a:gd name="T30" fmla="*/ 2147483646 w 327"/>
                <a:gd name="T31" fmla="*/ 2147483646 h 1259"/>
                <a:gd name="T32" fmla="*/ 2147483646 w 327"/>
                <a:gd name="T33" fmla="*/ 2147483646 h 12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27"/>
                <a:gd name="T52" fmla="*/ 0 h 1259"/>
                <a:gd name="T53" fmla="*/ 327 w 327"/>
                <a:gd name="T54" fmla="*/ 1259 h 125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27" h="1259">
                  <a:moveTo>
                    <a:pt x="326" y="0"/>
                  </a:moveTo>
                  <a:lnTo>
                    <a:pt x="251" y="61"/>
                  </a:lnTo>
                  <a:lnTo>
                    <a:pt x="184" y="130"/>
                  </a:lnTo>
                  <a:lnTo>
                    <a:pt x="128" y="204"/>
                  </a:lnTo>
                  <a:lnTo>
                    <a:pt x="81" y="283"/>
                  </a:lnTo>
                  <a:lnTo>
                    <a:pt x="46" y="365"/>
                  </a:lnTo>
                  <a:lnTo>
                    <a:pt x="21" y="452"/>
                  </a:lnTo>
                  <a:lnTo>
                    <a:pt x="6" y="539"/>
                  </a:lnTo>
                  <a:lnTo>
                    <a:pt x="0" y="628"/>
                  </a:lnTo>
                  <a:lnTo>
                    <a:pt x="4" y="716"/>
                  </a:lnTo>
                  <a:lnTo>
                    <a:pt x="20" y="805"/>
                  </a:lnTo>
                  <a:lnTo>
                    <a:pt x="45" y="890"/>
                  </a:lnTo>
                  <a:lnTo>
                    <a:pt x="81" y="973"/>
                  </a:lnTo>
                  <a:lnTo>
                    <a:pt x="127" y="1051"/>
                  </a:lnTo>
                  <a:lnTo>
                    <a:pt x="183" y="1127"/>
                  </a:lnTo>
                  <a:lnTo>
                    <a:pt x="249" y="1195"/>
                  </a:lnTo>
                  <a:lnTo>
                    <a:pt x="326" y="1258"/>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72" name="Line 44">
              <a:extLst>
                <a:ext uri="{FF2B5EF4-FFF2-40B4-BE49-F238E27FC236}">
                  <a16:creationId xmlns:a16="http://schemas.microsoft.com/office/drawing/2014/main" id="{9859859B-C749-B3C6-7DC5-405B5FEBBD2A}"/>
                </a:ext>
              </a:extLst>
            </p:cNvPr>
            <p:cNvSpPr>
              <a:spLocks noChangeShapeType="1"/>
            </p:cNvSpPr>
            <p:nvPr/>
          </p:nvSpPr>
          <p:spPr bwMode="auto">
            <a:xfrm flipV="1">
              <a:off x="1279525" y="4876199"/>
              <a:ext cx="4351337"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73" name="Freeform 45">
              <a:extLst>
                <a:ext uri="{FF2B5EF4-FFF2-40B4-BE49-F238E27FC236}">
                  <a16:creationId xmlns:a16="http://schemas.microsoft.com/office/drawing/2014/main" id="{74E6428C-BCED-3394-05EE-5972619A536B}"/>
                </a:ext>
              </a:extLst>
            </p:cNvPr>
            <p:cNvSpPr>
              <a:spLocks/>
            </p:cNvSpPr>
            <p:nvPr/>
          </p:nvSpPr>
          <p:spPr bwMode="auto">
            <a:xfrm>
              <a:off x="5534025" y="4817461"/>
              <a:ext cx="236537" cy="117475"/>
            </a:xfrm>
            <a:custGeom>
              <a:avLst/>
              <a:gdLst>
                <a:gd name="T0" fmla="*/ 0 w 149"/>
                <a:gd name="T1" fmla="*/ 0 h 74"/>
                <a:gd name="T2" fmla="*/ 2147483646 w 149"/>
                <a:gd name="T3" fmla="*/ 2147483646 h 74"/>
                <a:gd name="T4" fmla="*/ 0 w 149"/>
                <a:gd name="T5" fmla="*/ 2147483646 h 74"/>
                <a:gd name="T6" fmla="*/ 0 w 149"/>
                <a:gd name="T7" fmla="*/ 0 h 74"/>
                <a:gd name="T8" fmla="*/ 0 60000 65536"/>
                <a:gd name="T9" fmla="*/ 0 60000 65536"/>
                <a:gd name="T10" fmla="*/ 0 60000 65536"/>
                <a:gd name="T11" fmla="*/ 0 60000 65536"/>
                <a:gd name="T12" fmla="*/ 0 w 149"/>
                <a:gd name="T13" fmla="*/ 0 h 74"/>
                <a:gd name="T14" fmla="*/ 149 w 149"/>
                <a:gd name="T15" fmla="*/ 74 h 74"/>
              </a:gdLst>
              <a:ahLst/>
              <a:cxnLst>
                <a:cxn ang="T8">
                  <a:pos x="T0" y="T1"/>
                </a:cxn>
                <a:cxn ang="T9">
                  <a:pos x="T2" y="T3"/>
                </a:cxn>
                <a:cxn ang="T10">
                  <a:pos x="T4" y="T5"/>
                </a:cxn>
                <a:cxn ang="T11">
                  <a:pos x="T6" y="T7"/>
                </a:cxn>
              </a:cxnLst>
              <a:rect l="T12" t="T13" r="T14" b="T15"/>
              <a:pathLst>
                <a:path w="149" h="74">
                  <a:moveTo>
                    <a:pt x="0" y="0"/>
                  </a:moveTo>
                  <a:lnTo>
                    <a:pt x="148" y="37"/>
                  </a:lnTo>
                  <a:lnTo>
                    <a:pt x="0" y="73"/>
                  </a:lnTo>
                  <a:lnTo>
                    <a:pt x="0" y="0"/>
                  </a:lnTo>
                </a:path>
              </a:pathLst>
            </a:custGeom>
            <a:solidFill>
              <a:srgbClr val="000000"/>
            </a:solidFill>
            <a:ln w="12700" cap="rnd">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sp>
          <p:nvSpPr>
            <p:cNvPr id="74" name="Rectangle 46">
              <a:extLst>
                <a:ext uri="{FF2B5EF4-FFF2-40B4-BE49-F238E27FC236}">
                  <a16:creationId xmlns:a16="http://schemas.microsoft.com/office/drawing/2014/main" id="{5ACF017D-05E0-C2BD-93BB-39CD4C44787A}"/>
                </a:ext>
              </a:extLst>
            </p:cNvPr>
            <p:cNvSpPr>
              <a:spLocks noChangeArrowheads="1"/>
            </p:cNvSpPr>
            <p:nvPr/>
          </p:nvSpPr>
          <p:spPr bwMode="auto">
            <a:xfrm>
              <a:off x="5000625" y="2834674"/>
              <a:ext cx="383118" cy="47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500" b="0">
                  <a:solidFill>
                    <a:schemeClr val="bg1"/>
                  </a:solidFill>
                  <a:latin typeface="Roboto" panose="02000000000000000000" pitchFamily="2" charset="0"/>
                  <a:ea typeface="Roboto" panose="02000000000000000000" pitchFamily="2" charset="0"/>
                </a:rPr>
                <a:t>R</a:t>
              </a:r>
            </a:p>
          </p:txBody>
        </p:sp>
        <p:sp>
          <p:nvSpPr>
            <p:cNvPr id="75" name="Rectangle 47">
              <a:extLst>
                <a:ext uri="{FF2B5EF4-FFF2-40B4-BE49-F238E27FC236}">
                  <a16:creationId xmlns:a16="http://schemas.microsoft.com/office/drawing/2014/main" id="{51833736-3CA4-5046-8090-452E5E460325}"/>
                </a:ext>
              </a:extLst>
            </p:cNvPr>
            <p:cNvSpPr>
              <a:spLocks noChangeArrowheads="1"/>
            </p:cNvSpPr>
            <p:nvPr/>
          </p:nvSpPr>
          <p:spPr bwMode="auto">
            <a:xfrm>
              <a:off x="4967287" y="4606324"/>
              <a:ext cx="363882" cy="47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500" b="0">
                  <a:solidFill>
                    <a:schemeClr val="bg1"/>
                  </a:solidFill>
                  <a:latin typeface="Roboto" panose="02000000000000000000" pitchFamily="2" charset="0"/>
                  <a:ea typeface="Roboto" panose="02000000000000000000" pitchFamily="2" charset="0"/>
                </a:rPr>
                <a:t>F</a:t>
              </a:r>
            </a:p>
          </p:txBody>
        </p:sp>
        <p:sp>
          <p:nvSpPr>
            <p:cNvPr id="76" name="Line 92">
              <a:extLst>
                <a:ext uri="{FF2B5EF4-FFF2-40B4-BE49-F238E27FC236}">
                  <a16:creationId xmlns:a16="http://schemas.microsoft.com/office/drawing/2014/main" id="{74ACC8B5-6543-649E-21C6-CC8EF94DABA0}"/>
                </a:ext>
              </a:extLst>
            </p:cNvPr>
            <p:cNvSpPr>
              <a:spLocks noChangeShapeType="1"/>
            </p:cNvSpPr>
            <p:nvPr/>
          </p:nvSpPr>
          <p:spPr bwMode="auto">
            <a:xfrm flipV="1">
              <a:off x="1992312" y="4271361"/>
              <a:ext cx="363538" cy="14288"/>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77" name="Line 93">
              <a:extLst>
                <a:ext uri="{FF2B5EF4-FFF2-40B4-BE49-F238E27FC236}">
                  <a16:creationId xmlns:a16="http://schemas.microsoft.com/office/drawing/2014/main" id="{A3523F25-49D8-D4DA-0DF6-0060B5CEA0C7}"/>
                </a:ext>
              </a:extLst>
            </p:cNvPr>
            <p:cNvSpPr>
              <a:spLocks noChangeShapeType="1"/>
            </p:cNvSpPr>
            <p:nvPr/>
          </p:nvSpPr>
          <p:spPr bwMode="auto">
            <a:xfrm>
              <a:off x="2878137" y="4285649"/>
              <a:ext cx="304800" cy="1587"/>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78" name="Line 94">
              <a:extLst>
                <a:ext uri="{FF2B5EF4-FFF2-40B4-BE49-F238E27FC236}">
                  <a16:creationId xmlns:a16="http://schemas.microsoft.com/office/drawing/2014/main" id="{8011341A-29B8-758D-47E6-A82E24ABDCC9}"/>
                </a:ext>
              </a:extLst>
            </p:cNvPr>
            <p:cNvSpPr>
              <a:spLocks noChangeShapeType="1"/>
            </p:cNvSpPr>
            <p:nvPr/>
          </p:nvSpPr>
          <p:spPr bwMode="auto">
            <a:xfrm flipV="1">
              <a:off x="3705225" y="4299936"/>
              <a:ext cx="349250" cy="14288"/>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79" name="Line 95">
              <a:extLst>
                <a:ext uri="{FF2B5EF4-FFF2-40B4-BE49-F238E27FC236}">
                  <a16:creationId xmlns:a16="http://schemas.microsoft.com/office/drawing/2014/main" id="{94F733CE-F1F5-F8FD-7319-A81BB9045612}"/>
                </a:ext>
              </a:extLst>
            </p:cNvPr>
            <p:cNvSpPr>
              <a:spLocks noChangeShapeType="1"/>
            </p:cNvSpPr>
            <p:nvPr/>
          </p:nvSpPr>
          <p:spPr bwMode="auto">
            <a:xfrm flipV="1">
              <a:off x="4546600" y="4271361"/>
              <a:ext cx="406400" cy="1270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0" name="Line 96">
              <a:extLst>
                <a:ext uri="{FF2B5EF4-FFF2-40B4-BE49-F238E27FC236}">
                  <a16:creationId xmlns:a16="http://schemas.microsoft.com/office/drawing/2014/main" id="{0907DC82-0E2B-EF6D-41A9-9596706AE637}"/>
                </a:ext>
              </a:extLst>
            </p:cNvPr>
            <p:cNvSpPr>
              <a:spLocks noChangeShapeType="1"/>
            </p:cNvSpPr>
            <p:nvPr/>
          </p:nvSpPr>
          <p:spPr bwMode="auto">
            <a:xfrm flipH="1">
              <a:off x="4460875" y="3631599"/>
              <a:ext cx="492125"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1" name="Line 97">
              <a:extLst>
                <a:ext uri="{FF2B5EF4-FFF2-40B4-BE49-F238E27FC236}">
                  <a16:creationId xmlns:a16="http://schemas.microsoft.com/office/drawing/2014/main" id="{BAA6A150-D6FB-7766-2AAD-0422A9816FE8}"/>
                </a:ext>
              </a:extLst>
            </p:cNvPr>
            <p:cNvSpPr>
              <a:spLocks noChangeShapeType="1"/>
            </p:cNvSpPr>
            <p:nvPr/>
          </p:nvSpPr>
          <p:spPr bwMode="auto">
            <a:xfrm flipH="1">
              <a:off x="3719512" y="3588736"/>
              <a:ext cx="247650"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2" name="Line 98">
              <a:extLst>
                <a:ext uri="{FF2B5EF4-FFF2-40B4-BE49-F238E27FC236}">
                  <a16:creationId xmlns:a16="http://schemas.microsoft.com/office/drawing/2014/main" id="{85215A7A-755A-AD4E-3586-AB5394A7CAB6}"/>
                </a:ext>
              </a:extLst>
            </p:cNvPr>
            <p:cNvSpPr>
              <a:spLocks noChangeShapeType="1"/>
            </p:cNvSpPr>
            <p:nvPr/>
          </p:nvSpPr>
          <p:spPr bwMode="auto">
            <a:xfrm flipH="1">
              <a:off x="2878137" y="3588736"/>
              <a:ext cx="319088"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3" name="Line 99">
              <a:extLst>
                <a:ext uri="{FF2B5EF4-FFF2-40B4-BE49-F238E27FC236}">
                  <a16:creationId xmlns:a16="http://schemas.microsoft.com/office/drawing/2014/main" id="{FA229022-259E-833C-3B40-A0B65062CAC3}"/>
                </a:ext>
              </a:extLst>
            </p:cNvPr>
            <p:cNvSpPr>
              <a:spLocks noChangeShapeType="1"/>
            </p:cNvSpPr>
            <p:nvPr/>
          </p:nvSpPr>
          <p:spPr bwMode="auto">
            <a:xfrm flipH="1">
              <a:off x="2006600" y="3560161"/>
              <a:ext cx="349250"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4" name="Line 100">
              <a:extLst>
                <a:ext uri="{FF2B5EF4-FFF2-40B4-BE49-F238E27FC236}">
                  <a16:creationId xmlns:a16="http://schemas.microsoft.com/office/drawing/2014/main" id="{D2B0609D-13CA-AAC6-BFBA-A93C71065194}"/>
                </a:ext>
              </a:extLst>
            </p:cNvPr>
            <p:cNvSpPr>
              <a:spLocks noChangeShapeType="1"/>
            </p:cNvSpPr>
            <p:nvPr/>
          </p:nvSpPr>
          <p:spPr bwMode="auto">
            <a:xfrm flipH="1" flipV="1">
              <a:off x="5214937" y="3864961"/>
              <a:ext cx="0" cy="188913"/>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5" name="Line 101">
              <a:extLst>
                <a:ext uri="{FF2B5EF4-FFF2-40B4-BE49-F238E27FC236}">
                  <a16:creationId xmlns:a16="http://schemas.microsoft.com/office/drawing/2014/main" id="{131372CC-F1B0-B413-54A1-2443AF29563E}"/>
                </a:ext>
              </a:extLst>
            </p:cNvPr>
            <p:cNvSpPr>
              <a:spLocks noChangeShapeType="1"/>
            </p:cNvSpPr>
            <p:nvPr/>
          </p:nvSpPr>
          <p:spPr bwMode="auto">
            <a:xfrm>
              <a:off x="1746250" y="3820511"/>
              <a:ext cx="0" cy="276225"/>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4005037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Work Sequence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grpSp>
        <p:nvGrpSpPr>
          <p:cNvPr id="3" name="Group 2">
            <a:extLst>
              <a:ext uri="{FF2B5EF4-FFF2-40B4-BE49-F238E27FC236}">
                <a16:creationId xmlns:a16="http://schemas.microsoft.com/office/drawing/2014/main" id="{9138D14C-88B7-B6DC-1004-6D348D00700A}"/>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E4F8554-3FAC-719F-3CE3-69F13FD35F7A}"/>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4C8ADEDF-B63A-ACAE-B2E8-800155B7C3C7}"/>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A1741378-9B7F-423B-0AFB-C314EBB23C54}"/>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A6F453CD-EAE5-B87F-2F2C-9C8C8D0D0D5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C7DAA629-FE32-A150-364F-84B516B305D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953754D6-828D-706F-52E3-52314898559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9680AC0D-A01C-67C4-FCD6-DD79D30CCA94}"/>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sp>
        <p:nvSpPr>
          <p:cNvPr id="18" name="Rectangle 3">
            <a:extLst>
              <a:ext uri="{FF2B5EF4-FFF2-40B4-BE49-F238E27FC236}">
                <a16:creationId xmlns:a16="http://schemas.microsoft.com/office/drawing/2014/main" id="{BC5B9727-9890-779E-AD6B-5889D77DE160}"/>
              </a:ext>
            </a:extLst>
          </p:cNvPr>
          <p:cNvSpPr>
            <a:spLocks noChangeArrowheads="1"/>
          </p:cNvSpPr>
          <p:nvPr/>
        </p:nvSpPr>
        <p:spPr bwMode="auto">
          <a:xfrm>
            <a:off x="7554418" y="3126144"/>
            <a:ext cx="3452812" cy="1526188"/>
          </a:xfrm>
          <a:prstGeom prst="rect">
            <a:avLst/>
          </a:prstGeom>
          <a:noFill/>
          <a:ln w="9525">
            <a:noFill/>
            <a:miter lim="800000"/>
            <a:headEnd/>
            <a:tailEnd/>
          </a:ln>
          <a:effectLst/>
        </p:spPr>
        <p:txBody>
          <a:bodyPr wrap="square" lIns="71438" tIns="36513" rIns="71438" bIns="36513">
            <a:spAutoFit/>
          </a:bodyPr>
          <a:lstStyle/>
          <a:p>
            <a:pPr marL="285750" indent="-285750" defTabSz="708025">
              <a:lnSpc>
                <a:spcPct val="115000"/>
              </a:lnSpc>
              <a:spcBef>
                <a:spcPct val="20000"/>
              </a:spcBef>
              <a:spcAft>
                <a:spcPct val="20000"/>
              </a:spcAft>
              <a:buClr>
                <a:schemeClr val="tx1"/>
              </a:buClr>
              <a:buSzPct val="90000"/>
              <a:buFont typeface="Arial" panose="020B0604020202020204" pitchFamily="34" charset="0"/>
              <a:buChar char="•"/>
              <a:defRPr/>
            </a:pPr>
            <a:r>
              <a:rPr lang="en-US" sz="2800" dirty="0">
                <a:solidFill>
                  <a:schemeClr val="tx1"/>
                </a:solidFill>
                <a:latin typeface="Roboto" panose="02000000000000000000" pitchFamily="2" charset="0"/>
                <a:ea typeface="Roboto" panose="02000000000000000000" pitchFamily="2" charset="0"/>
              </a:rPr>
              <a:t>Operator does not flow the same as the part</a:t>
            </a:r>
          </a:p>
        </p:txBody>
      </p:sp>
      <p:sp>
        <p:nvSpPr>
          <p:cNvPr id="13" name="Text Box 5">
            <a:extLst>
              <a:ext uri="{FF2B5EF4-FFF2-40B4-BE49-F238E27FC236}">
                <a16:creationId xmlns:a16="http://schemas.microsoft.com/office/drawing/2014/main" id="{C6BCFAB9-FA19-2BD5-6A58-99B13FEFD878}"/>
              </a:ext>
            </a:extLst>
          </p:cNvPr>
          <p:cNvSpPr txBox="1">
            <a:spLocks noChangeArrowheads="1"/>
          </p:cNvSpPr>
          <p:nvPr/>
        </p:nvSpPr>
        <p:spPr bwMode="auto">
          <a:xfrm>
            <a:off x="884695" y="2035346"/>
            <a:ext cx="3044423" cy="31624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Operator Flow vs. Part Flow</a:t>
            </a:r>
          </a:p>
        </p:txBody>
      </p:sp>
      <p:sp>
        <p:nvSpPr>
          <p:cNvPr id="59" name="AutoShape 4">
            <a:extLst>
              <a:ext uri="{FF2B5EF4-FFF2-40B4-BE49-F238E27FC236}">
                <a16:creationId xmlns:a16="http://schemas.microsoft.com/office/drawing/2014/main" id="{97553E8B-D7A1-8BEE-E5D2-E3942E28958D}"/>
              </a:ext>
            </a:extLst>
          </p:cNvPr>
          <p:cNvSpPr>
            <a:spLocks noChangeArrowheads="1"/>
          </p:cNvSpPr>
          <p:nvPr/>
        </p:nvSpPr>
        <p:spPr bwMode="auto">
          <a:xfrm>
            <a:off x="6689231" y="2641792"/>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114" name="Group 113">
            <a:extLst>
              <a:ext uri="{FF2B5EF4-FFF2-40B4-BE49-F238E27FC236}">
                <a16:creationId xmlns:a16="http://schemas.microsoft.com/office/drawing/2014/main" id="{EDC2B0D0-2B3D-D1F7-4117-99D840C8CD8F}"/>
              </a:ext>
            </a:extLst>
          </p:cNvPr>
          <p:cNvGrpSpPr/>
          <p:nvPr/>
        </p:nvGrpSpPr>
        <p:grpSpPr>
          <a:xfrm>
            <a:off x="1054608" y="2790500"/>
            <a:ext cx="4376737" cy="2400300"/>
            <a:chOff x="671513" y="2165350"/>
            <a:chExt cx="4376737" cy="2400300"/>
          </a:xfrm>
        </p:grpSpPr>
        <p:sp>
          <p:nvSpPr>
            <p:cNvPr id="12" name="Oval 25">
              <a:extLst>
                <a:ext uri="{FF2B5EF4-FFF2-40B4-BE49-F238E27FC236}">
                  <a16:creationId xmlns:a16="http://schemas.microsoft.com/office/drawing/2014/main" id="{4C604C3A-307F-D222-EDFB-7CF857E153CA}"/>
                </a:ext>
              </a:extLst>
            </p:cNvPr>
            <p:cNvSpPr>
              <a:spLocks noChangeArrowheads="1"/>
            </p:cNvSpPr>
            <p:nvPr/>
          </p:nvSpPr>
          <p:spPr bwMode="auto">
            <a:xfrm>
              <a:off x="752475" y="2828925"/>
              <a:ext cx="431800" cy="382588"/>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5" name="Oval 26">
              <a:extLst>
                <a:ext uri="{FF2B5EF4-FFF2-40B4-BE49-F238E27FC236}">
                  <a16:creationId xmlns:a16="http://schemas.microsoft.com/office/drawing/2014/main" id="{56F8033E-E624-BD0F-2E7D-5E1016D756BB}"/>
                </a:ext>
              </a:extLst>
            </p:cNvPr>
            <p:cNvSpPr>
              <a:spLocks noChangeArrowheads="1"/>
            </p:cNvSpPr>
            <p:nvPr/>
          </p:nvSpPr>
          <p:spPr bwMode="auto">
            <a:xfrm>
              <a:off x="1689100" y="2851150"/>
              <a:ext cx="431800" cy="382588"/>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9" name="Oval 27">
              <a:extLst>
                <a:ext uri="{FF2B5EF4-FFF2-40B4-BE49-F238E27FC236}">
                  <a16:creationId xmlns:a16="http://schemas.microsoft.com/office/drawing/2014/main" id="{06E54B8D-7202-4A28-8D50-E52A725C5E77}"/>
                </a:ext>
              </a:extLst>
            </p:cNvPr>
            <p:cNvSpPr>
              <a:spLocks noChangeArrowheads="1"/>
            </p:cNvSpPr>
            <p:nvPr/>
          </p:nvSpPr>
          <p:spPr bwMode="auto">
            <a:xfrm>
              <a:off x="2835275" y="2879725"/>
              <a:ext cx="431800" cy="382588"/>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0" name="Oval 28">
              <a:extLst>
                <a:ext uri="{FF2B5EF4-FFF2-40B4-BE49-F238E27FC236}">
                  <a16:creationId xmlns:a16="http://schemas.microsoft.com/office/drawing/2014/main" id="{15BB31FF-E99B-33AF-3988-DB0BF10B3435}"/>
                </a:ext>
              </a:extLst>
            </p:cNvPr>
            <p:cNvSpPr>
              <a:spLocks noChangeArrowheads="1"/>
            </p:cNvSpPr>
            <p:nvPr/>
          </p:nvSpPr>
          <p:spPr bwMode="auto">
            <a:xfrm>
              <a:off x="3719513" y="2924175"/>
              <a:ext cx="431800" cy="382588"/>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1" name="Oval 29">
              <a:extLst>
                <a:ext uri="{FF2B5EF4-FFF2-40B4-BE49-F238E27FC236}">
                  <a16:creationId xmlns:a16="http://schemas.microsoft.com/office/drawing/2014/main" id="{0282747A-501F-8349-B91E-272A9CE0D317}"/>
                </a:ext>
              </a:extLst>
            </p:cNvPr>
            <p:cNvSpPr>
              <a:spLocks noChangeArrowheads="1"/>
            </p:cNvSpPr>
            <p:nvPr/>
          </p:nvSpPr>
          <p:spPr bwMode="auto">
            <a:xfrm>
              <a:off x="773113" y="3475038"/>
              <a:ext cx="431800" cy="382587"/>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2" name="Oval 30">
              <a:extLst>
                <a:ext uri="{FF2B5EF4-FFF2-40B4-BE49-F238E27FC236}">
                  <a16:creationId xmlns:a16="http://schemas.microsoft.com/office/drawing/2014/main" id="{407AC861-5741-9333-F38B-6CF3FAD704EA}"/>
                </a:ext>
              </a:extLst>
            </p:cNvPr>
            <p:cNvSpPr>
              <a:spLocks noChangeArrowheads="1"/>
            </p:cNvSpPr>
            <p:nvPr/>
          </p:nvSpPr>
          <p:spPr bwMode="auto">
            <a:xfrm>
              <a:off x="1703388" y="3460750"/>
              <a:ext cx="431800" cy="382588"/>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3" name="Oval 31">
              <a:extLst>
                <a:ext uri="{FF2B5EF4-FFF2-40B4-BE49-F238E27FC236}">
                  <a16:creationId xmlns:a16="http://schemas.microsoft.com/office/drawing/2014/main" id="{81AC87AC-4583-B171-40EE-61F9361DA2D7}"/>
                </a:ext>
              </a:extLst>
            </p:cNvPr>
            <p:cNvSpPr>
              <a:spLocks noChangeArrowheads="1"/>
            </p:cNvSpPr>
            <p:nvPr/>
          </p:nvSpPr>
          <p:spPr bwMode="auto">
            <a:xfrm>
              <a:off x="2820988" y="3475038"/>
              <a:ext cx="431800" cy="382587"/>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 name="Oval 32">
              <a:extLst>
                <a:ext uri="{FF2B5EF4-FFF2-40B4-BE49-F238E27FC236}">
                  <a16:creationId xmlns:a16="http://schemas.microsoft.com/office/drawing/2014/main" id="{D69F7108-CC0B-9814-58A8-A7D2F4060524}"/>
                </a:ext>
              </a:extLst>
            </p:cNvPr>
            <p:cNvSpPr>
              <a:spLocks noChangeArrowheads="1"/>
            </p:cNvSpPr>
            <p:nvPr/>
          </p:nvSpPr>
          <p:spPr bwMode="auto">
            <a:xfrm>
              <a:off x="3749675" y="3489325"/>
              <a:ext cx="431800" cy="382588"/>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 name="Oval 33">
              <a:extLst>
                <a:ext uri="{FF2B5EF4-FFF2-40B4-BE49-F238E27FC236}">
                  <a16:creationId xmlns:a16="http://schemas.microsoft.com/office/drawing/2014/main" id="{1405DD88-8A6B-F3A8-FFFE-545271737A52}"/>
                </a:ext>
              </a:extLst>
            </p:cNvPr>
            <p:cNvSpPr>
              <a:spLocks noChangeArrowheads="1"/>
            </p:cNvSpPr>
            <p:nvPr/>
          </p:nvSpPr>
          <p:spPr bwMode="auto">
            <a:xfrm>
              <a:off x="4519613" y="2981325"/>
              <a:ext cx="431800" cy="382588"/>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 name="Oval 34">
              <a:extLst>
                <a:ext uri="{FF2B5EF4-FFF2-40B4-BE49-F238E27FC236}">
                  <a16:creationId xmlns:a16="http://schemas.microsoft.com/office/drawing/2014/main" id="{231C81F1-C761-C69B-2B5D-1F3AD0929E96}"/>
                </a:ext>
              </a:extLst>
            </p:cNvPr>
            <p:cNvSpPr>
              <a:spLocks noChangeArrowheads="1"/>
            </p:cNvSpPr>
            <p:nvPr/>
          </p:nvSpPr>
          <p:spPr bwMode="auto">
            <a:xfrm>
              <a:off x="4532313" y="3402013"/>
              <a:ext cx="431800" cy="382587"/>
            </a:xfrm>
            <a:prstGeom prst="ellipse">
              <a:avLst/>
            </a:prstGeom>
            <a:solidFill>
              <a:schemeClr val="bg2"/>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7" name="Rectangle 35">
              <a:extLst>
                <a:ext uri="{FF2B5EF4-FFF2-40B4-BE49-F238E27FC236}">
                  <a16:creationId xmlns:a16="http://schemas.microsoft.com/office/drawing/2014/main" id="{8D02BA52-10F0-44F6-2CC2-4EC158081848}"/>
                </a:ext>
              </a:extLst>
            </p:cNvPr>
            <p:cNvSpPr>
              <a:spLocks noChangeArrowheads="1"/>
            </p:cNvSpPr>
            <p:nvPr/>
          </p:nvSpPr>
          <p:spPr bwMode="auto">
            <a:xfrm>
              <a:off x="800100" y="2811463"/>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latin typeface="Roboto" panose="02000000000000000000" pitchFamily="2" charset="0"/>
                  <a:ea typeface="Roboto" panose="02000000000000000000" pitchFamily="2" charset="0"/>
                </a:rPr>
                <a:t>2</a:t>
              </a:r>
            </a:p>
          </p:txBody>
        </p:sp>
        <p:sp>
          <p:nvSpPr>
            <p:cNvPr id="28" name="Rectangle 36">
              <a:extLst>
                <a:ext uri="{FF2B5EF4-FFF2-40B4-BE49-F238E27FC236}">
                  <a16:creationId xmlns:a16="http://schemas.microsoft.com/office/drawing/2014/main" id="{29868A93-B172-C9A9-4F56-71B402D6149C}"/>
                </a:ext>
              </a:extLst>
            </p:cNvPr>
            <p:cNvSpPr>
              <a:spLocks noChangeArrowheads="1"/>
            </p:cNvSpPr>
            <p:nvPr/>
          </p:nvSpPr>
          <p:spPr bwMode="auto">
            <a:xfrm>
              <a:off x="1744663" y="2833688"/>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latin typeface="Roboto" panose="02000000000000000000" pitchFamily="2" charset="0"/>
                  <a:ea typeface="Roboto" panose="02000000000000000000" pitchFamily="2" charset="0"/>
                </a:rPr>
                <a:t>1</a:t>
              </a:r>
            </a:p>
          </p:txBody>
        </p:sp>
        <p:sp>
          <p:nvSpPr>
            <p:cNvPr id="29" name="Rectangle 37">
              <a:extLst>
                <a:ext uri="{FF2B5EF4-FFF2-40B4-BE49-F238E27FC236}">
                  <a16:creationId xmlns:a16="http://schemas.microsoft.com/office/drawing/2014/main" id="{63C63E6F-477B-EBB1-1B85-C3F743435644}"/>
                </a:ext>
              </a:extLst>
            </p:cNvPr>
            <p:cNvSpPr>
              <a:spLocks noChangeArrowheads="1"/>
            </p:cNvSpPr>
            <p:nvPr/>
          </p:nvSpPr>
          <p:spPr bwMode="auto">
            <a:xfrm>
              <a:off x="822325" y="3457575"/>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latin typeface="Roboto" panose="02000000000000000000" pitchFamily="2" charset="0"/>
                  <a:ea typeface="Roboto" panose="02000000000000000000" pitchFamily="2" charset="0"/>
                </a:rPr>
                <a:t>3</a:t>
              </a:r>
            </a:p>
          </p:txBody>
        </p:sp>
        <p:sp>
          <p:nvSpPr>
            <p:cNvPr id="30" name="Rectangle 38">
              <a:extLst>
                <a:ext uri="{FF2B5EF4-FFF2-40B4-BE49-F238E27FC236}">
                  <a16:creationId xmlns:a16="http://schemas.microsoft.com/office/drawing/2014/main" id="{E7A26A0A-2338-B86D-AC55-E246B208B292}"/>
                </a:ext>
              </a:extLst>
            </p:cNvPr>
            <p:cNvSpPr>
              <a:spLocks noChangeArrowheads="1"/>
            </p:cNvSpPr>
            <p:nvPr/>
          </p:nvSpPr>
          <p:spPr bwMode="auto">
            <a:xfrm>
              <a:off x="1768475" y="3457575"/>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latin typeface="Roboto" panose="02000000000000000000" pitchFamily="2" charset="0"/>
                  <a:ea typeface="Roboto" panose="02000000000000000000" pitchFamily="2" charset="0"/>
                </a:rPr>
                <a:t>4</a:t>
              </a:r>
            </a:p>
          </p:txBody>
        </p:sp>
        <p:sp>
          <p:nvSpPr>
            <p:cNvPr id="31" name="Rectangle 49">
              <a:extLst>
                <a:ext uri="{FF2B5EF4-FFF2-40B4-BE49-F238E27FC236}">
                  <a16:creationId xmlns:a16="http://schemas.microsoft.com/office/drawing/2014/main" id="{3D21AB7C-654D-3A49-74D7-5667505FECEB}"/>
                </a:ext>
              </a:extLst>
            </p:cNvPr>
            <p:cNvSpPr>
              <a:spLocks noChangeArrowheads="1"/>
            </p:cNvSpPr>
            <p:nvPr/>
          </p:nvSpPr>
          <p:spPr bwMode="auto">
            <a:xfrm>
              <a:off x="2886075" y="2863850"/>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latin typeface="Roboto" panose="02000000000000000000" pitchFamily="2" charset="0"/>
                  <a:ea typeface="Roboto" panose="02000000000000000000" pitchFamily="2" charset="0"/>
                </a:rPr>
                <a:t>3</a:t>
              </a:r>
            </a:p>
          </p:txBody>
        </p:sp>
        <p:sp>
          <p:nvSpPr>
            <p:cNvPr id="33" name="Rectangle 50">
              <a:extLst>
                <a:ext uri="{FF2B5EF4-FFF2-40B4-BE49-F238E27FC236}">
                  <a16:creationId xmlns:a16="http://schemas.microsoft.com/office/drawing/2014/main" id="{C4768A0A-7F9B-C5E3-5A2E-A61542EDE1A5}"/>
                </a:ext>
              </a:extLst>
            </p:cNvPr>
            <p:cNvSpPr>
              <a:spLocks noChangeArrowheads="1"/>
            </p:cNvSpPr>
            <p:nvPr/>
          </p:nvSpPr>
          <p:spPr bwMode="auto">
            <a:xfrm>
              <a:off x="3773488" y="2892425"/>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latin typeface="Roboto" panose="02000000000000000000" pitchFamily="2" charset="0"/>
                  <a:ea typeface="Roboto" panose="02000000000000000000" pitchFamily="2" charset="0"/>
                </a:rPr>
                <a:t>2</a:t>
              </a:r>
            </a:p>
          </p:txBody>
        </p:sp>
        <p:sp>
          <p:nvSpPr>
            <p:cNvPr id="34" name="Rectangle 51">
              <a:extLst>
                <a:ext uri="{FF2B5EF4-FFF2-40B4-BE49-F238E27FC236}">
                  <a16:creationId xmlns:a16="http://schemas.microsoft.com/office/drawing/2014/main" id="{7AB349C8-3353-F5D2-DEAA-EEC570BB5DDC}"/>
                </a:ext>
              </a:extLst>
            </p:cNvPr>
            <p:cNvSpPr>
              <a:spLocks noChangeArrowheads="1"/>
            </p:cNvSpPr>
            <p:nvPr/>
          </p:nvSpPr>
          <p:spPr bwMode="auto">
            <a:xfrm>
              <a:off x="4598988" y="2960688"/>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latin typeface="Roboto" panose="02000000000000000000" pitchFamily="2" charset="0"/>
                  <a:ea typeface="Roboto" panose="02000000000000000000" pitchFamily="2" charset="0"/>
                </a:rPr>
                <a:t>1</a:t>
              </a:r>
            </a:p>
          </p:txBody>
        </p:sp>
        <p:sp>
          <p:nvSpPr>
            <p:cNvPr id="35" name="Rectangle 52">
              <a:extLst>
                <a:ext uri="{FF2B5EF4-FFF2-40B4-BE49-F238E27FC236}">
                  <a16:creationId xmlns:a16="http://schemas.microsoft.com/office/drawing/2014/main" id="{5DFFF713-5A6E-96A5-75F6-B0CE96DFC83D}"/>
                </a:ext>
              </a:extLst>
            </p:cNvPr>
            <p:cNvSpPr>
              <a:spLocks noChangeArrowheads="1"/>
            </p:cNvSpPr>
            <p:nvPr/>
          </p:nvSpPr>
          <p:spPr bwMode="auto">
            <a:xfrm>
              <a:off x="2889250" y="3452813"/>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latin typeface="Roboto" panose="02000000000000000000" pitchFamily="2" charset="0"/>
                  <a:ea typeface="Roboto" panose="02000000000000000000" pitchFamily="2" charset="0"/>
                </a:rPr>
                <a:t>4</a:t>
              </a:r>
            </a:p>
          </p:txBody>
        </p:sp>
        <p:sp>
          <p:nvSpPr>
            <p:cNvPr id="36" name="Rectangle 53">
              <a:extLst>
                <a:ext uri="{FF2B5EF4-FFF2-40B4-BE49-F238E27FC236}">
                  <a16:creationId xmlns:a16="http://schemas.microsoft.com/office/drawing/2014/main" id="{39B0EC3D-4706-4B44-DAF9-BA78C89033AC}"/>
                </a:ext>
              </a:extLst>
            </p:cNvPr>
            <p:cNvSpPr>
              <a:spLocks noChangeArrowheads="1"/>
            </p:cNvSpPr>
            <p:nvPr/>
          </p:nvSpPr>
          <p:spPr bwMode="auto">
            <a:xfrm>
              <a:off x="3795713" y="3473450"/>
              <a:ext cx="334962"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latin typeface="Roboto" panose="02000000000000000000" pitchFamily="2" charset="0"/>
                  <a:ea typeface="Roboto" panose="02000000000000000000" pitchFamily="2" charset="0"/>
                </a:rPr>
                <a:t>5</a:t>
              </a:r>
            </a:p>
          </p:txBody>
        </p:sp>
        <p:sp>
          <p:nvSpPr>
            <p:cNvPr id="37" name="Rectangle 54">
              <a:extLst>
                <a:ext uri="{FF2B5EF4-FFF2-40B4-BE49-F238E27FC236}">
                  <a16:creationId xmlns:a16="http://schemas.microsoft.com/office/drawing/2014/main" id="{59E607AB-0688-86AE-5BFB-34AF29B95B79}"/>
                </a:ext>
              </a:extLst>
            </p:cNvPr>
            <p:cNvSpPr>
              <a:spLocks noChangeArrowheads="1"/>
            </p:cNvSpPr>
            <p:nvPr/>
          </p:nvSpPr>
          <p:spPr bwMode="auto">
            <a:xfrm>
              <a:off x="4598988" y="3398838"/>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latin typeface="Roboto" panose="02000000000000000000" pitchFamily="2" charset="0"/>
                  <a:ea typeface="Roboto" panose="02000000000000000000" pitchFamily="2" charset="0"/>
                </a:rPr>
                <a:t>6</a:t>
              </a:r>
            </a:p>
          </p:txBody>
        </p:sp>
        <p:sp>
          <p:nvSpPr>
            <p:cNvPr id="38" name="Rectangle 15">
              <a:extLst>
                <a:ext uri="{FF2B5EF4-FFF2-40B4-BE49-F238E27FC236}">
                  <a16:creationId xmlns:a16="http://schemas.microsoft.com/office/drawing/2014/main" id="{B981A2FE-06B9-2395-2EEC-8FC36EAEC056}"/>
                </a:ext>
              </a:extLst>
            </p:cNvPr>
            <p:cNvSpPr>
              <a:spLocks noChangeArrowheads="1"/>
            </p:cNvSpPr>
            <p:nvPr/>
          </p:nvSpPr>
          <p:spPr bwMode="auto">
            <a:xfrm>
              <a:off x="671513" y="2165350"/>
              <a:ext cx="603250" cy="585788"/>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9" name="Rectangle 16">
              <a:extLst>
                <a:ext uri="{FF2B5EF4-FFF2-40B4-BE49-F238E27FC236}">
                  <a16:creationId xmlns:a16="http://schemas.microsoft.com/office/drawing/2014/main" id="{BBE2D80C-6DA0-5300-B8B4-6E4A9D99B336}"/>
                </a:ext>
              </a:extLst>
            </p:cNvPr>
            <p:cNvSpPr>
              <a:spLocks noChangeArrowheads="1"/>
            </p:cNvSpPr>
            <p:nvPr/>
          </p:nvSpPr>
          <p:spPr bwMode="auto">
            <a:xfrm>
              <a:off x="1606550" y="2187575"/>
              <a:ext cx="603250" cy="585788"/>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0" name="Rectangle 17">
              <a:extLst>
                <a:ext uri="{FF2B5EF4-FFF2-40B4-BE49-F238E27FC236}">
                  <a16:creationId xmlns:a16="http://schemas.microsoft.com/office/drawing/2014/main" id="{450E139A-EDF4-6F4A-E555-35C90A82CCCF}"/>
                </a:ext>
              </a:extLst>
            </p:cNvPr>
            <p:cNvSpPr>
              <a:spLocks noChangeArrowheads="1"/>
            </p:cNvSpPr>
            <p:nvPr/>
          </p:nvSpPr>
          <p:spPr bwMode="auto">
            <a:xfrm>
              <a:off x="2751138" y="2201863"/>
              <a:ext cx="603250" cy="585787"/>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1" name="Rectangle 18">
              <a:extLst>
                <a:ext uri="{FF2B5EF4-FFF2-40B4-BE49-F238E27FC236}">
                  <a16:creationId xmlns:a16="http://schemas.microsoft.com/office/drawing/2014/main" id="{70EB571A-AE1C-8665-A3BB-7294EB334273}"/>
                </a:ext>
              </a:extLst>
            </p:cNvPr>
            <p:cNvSpPr>
              <a:spLocks noChangeArrowheads="1"/>
            </p:cNvSpPr>
            <p:nvPr/>
          </p:nvSpPr>
          <p:spPr bwMode="auto">
            <a:xfrm>
              <a:off x="3654425" y="2216150"/>
              <a:ext cx="603250" cy="585788"/>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2" name="Rectangle 19">
              <a:extLst>
                <a:ext uri="{FF2B5EF4-FFF2-40B4-BE49-F238E27FC236}">
                  <a16:creationId xmlns:a16="http://schemas.microsoft.com/office/drawing/2014/main" id="{5773858A-B96B-6FE4-21CD-7ADDFAE8D2C3}"/>
                </a:ext>
              </a:extLst>
            </p:cNvPr>
            <p:cNvSpPr>
              <a:spLocks noChangeArrowheads="1"/>
            </p:cNvSpPr>
            <p:nvPr/>
          </p:nvSpPr>
          <p:spPr bwMode="auto">
            <a:xfrm>
              <a:off x="4437063" y="2319338"/>
              <a:ext cx="603250" cy="585787"/>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7" name="Rectangle 20">
              <a:extLst>
                <a:ext uri="{FF2B5EF4-FFF2-40B4-BE49-F238E27FC236}">
                  <a16:creationId xmlns:a16="http://schemas.microsoft.com/office/drawing/2014/main" id="{239C74E0-8AEB-2037-8509-B0D3FFD1FEEE}"/>
                </a:ext>
              </a:extLst>
            </p:cNvPr>
            <p:cNvSpPr>
              <a:spLocks noChangeArrowheads="1"/>
            </p:cNvSpPr>
            <p:nvPr/>
          </p:nvSpPr>
          <p:spPr bwMode="auto">
            <a:xfrm>
              <a:off x="742950" y="3937000"/>
              <a:ext cx="603250" cy="585788"/>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8" name="Rectangle 21">
              <a:extLst>
                <a:ext uri="{FF2B5EF4-FFF2-40B4-BE49-F238E27FC236}">
                  <a16:creationId xmlns:a16="http://schemas.microsoft.com/office/drawing/2014/main" id="{EA4891C1-77F6-13DD-2D6E-34079AD02DA3}"/>
                </a:ext>
              </a:extLst>
            </p:cNvPr>
            <p:cNvSpPr>
              <a:spLocks noChangeArrowheads="1"/>
            </p:cNvSpPr>
            <p:nvPr/>
          </p:nvSpPr>
          <p:spPr bwMode="auto">
            <a:xfrm>
              <a:off x="1657350" y="3922713"/>
              <a:ext cx="603250" cy="585787"/>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9" name="Rectangle 22">
              <a:extLst>
                <a:ext uri="{FF2B5EF4-FFF2-40B4-BE49-F238E27FC236}">
                  <a16:creationId xmlns:a16="http://schemas.microsoft.com/office/drawing/2014/main" id="{587B1A08-7A1A-A6C3-1748-E20DB484E701}"/>
                </a:ext>
              </a:extLst>
            </p:cNvPr>
            <p:cNvSpPr>
              <a:spLocks noChangeArrowheads="1"/>
            </p:cNvSpPr>
            <p:nvPr/>
          </p:nvSpPr>
          <p:spPr bwMode="auto">
            <a:xfrm>
              <a:off x="2760663" y="3951288"/>
              <a:ext cx="603250" cy="585787"/>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90" name="Rectangle 23">
              <a:extLst>
                <a:ext uri="{FF2B5EF4-FFF2-40B4-BE49-F238E27FC236}">
                  <a16:creationId xmlns:a16="http://schemas.microsoft.com/office/drawing/2014/main" id="{CD3C9331-126E-F19A-22E8-3F7E2732F075}"/>
                </a:ext>
              </a:extLst>
            </p:cNvPr>
            <p:cNvSpPr>
              <a:spLocks noChangeArrowheads="1"/>
            </p:cNvSpPr>
            <p:nvPr/>
          </p:nvSpPr>
          <p:spPr bwMode="auto">
            <a:xfrm>
              <a:off x="3648075" y="3979863"/>
              <a:ext cx="603250" cy="585787"/>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91" name="Rectangle 24">
              <a:extLst>
                <a:ext uri="{FF2B5EF4-FFF2-40B4-BE49-F238E27FC236}">
                  <a16:creationId xmlns:a16="http://schemas.microsoft.com/office/drawing/2014/main" id="{FC616703-8F1F-4B27-9B35-BBF3E108996F}"/>
                </a:ext>
              </a:extLst>
            </p:cNvPr>
            <p:cNvSpPr>
              <a:spLocks noChangeArrowheads="1"/>
            </p:cNvSpPr>
            <p:nvPr/>
          </p:nvSpPr>
          <p:spPr bwMode="auto">
            <a:xfrm>
              <a:off x="4445000" y="3849688"/>
              <a:ext cx="603250" cy="585787"/>
            </a:xfrm>
            <a:prstGeom prst="rect">
              <a:avLst/>
            </a:prstGeom>
            <a:solidFill>
              <a:schemeClr val="accent4"/>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92" name="Rectangle 39">
              <a:extLst>
                <a:ext uri="{FF2B5EF4-FFF2-40B4-BE49-F238E27FC236}">
                  <a16:creationId xmlns:a16="http://schemas.microsoft.com/office/drawing/2014/main" id="{970E27B1-37FD-E6B4-ED64-E896BA134DE9}"/>
                </a:ext>
              </a:extLst>
            </p:cNvPr>
            <p:cNvSpPr>
              <a:spLocks noChangeArrowheads="1"/>
            </p:cNvSpPr>
            <p:nvPr/>
          </p:nvSpPr>
          <p:spPr bwMode="auto">
            <a:xfrm>
              <a:off x="806450" y="2251075"/>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dirty="0">
                  <a:solidFill>
                    <a:schemeClr val="bg1"/>
                  </a:solidFill>
                  <a:latin typeface="Roboto" panose="02000000000000000000" pitchFamily="2" charset="0"/>
                  <a:ea typeface="Roboto" panose="02000000000000000000" pitchFamily="2" charset="0"/>
                </a:rPr>
                <a:t>4</a:t>
              </a:r>
            </a:p>
          </p:txBody>
        </p:sp>
        <p:sp>
          <p:nvSpPr>
            <p:cNvPr id="93" name="Rectangle 40">
              <a:extLst>
                <a:ext uri="{FF2B5EF4-FFF2-40B4-BE49-F238E27FC236}">
                  <a16:creationId xmlns:a16="http://schemas.microsoft.com/office/drawing/2014/main" id="{8FBBCB76-13B3-704D-D554-F74FEC236108}"/>
                </a:ext>
              </a:extLst>
            </p:cNvPr>
            <p:cNvSpPr>
              <a:spLocks noChangeArrowheads="1"/>
            </p:cNvSpPr>
            <p:nvPr/>
          </p:nvSpPr>
          <p:spPr bwMode="auto">
            <a:xfrm>
              <a:off x="1768475" y="2281238"/>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solidFill>
                    <a:schemeClr val="bg1"/>
                  </a:solidFill>
                  <a:latin typeface="Roboto" panose="02000000000000000000" pitchFamily="2" charset="0"/>
                  <a:ea typeface="Roboto" panose="02000000000000000000" pitchFamily="2" charset="0"/>
                </a:rPr>
                <a:t>3</a:t>
              </a:r>
            </a:p>
          </p:txBody>
        </p:sp>
        <p:sp>
          <p:nvSpPr>
            <p:cNvPr id="94" name="Rectangle 41">
              <a:extLst>
                <a:ext uri="{FF2B5EF4-FFF2-40B4-BE49-F238E27FC236}">
                  <a16:creationId xmlns:a16="http://schemas.microsoft.com/office/drawing/2014/main" id="{E249CC47-2E7D-4466-A6EB-12935ACC7810}"/>
                </a:ext>
              </a:extLst>
            </p:cNvPr>
            <p:cNvSpPr>
              <a:spLocks noChangeArrowheads="1"/>
            </p:cNvSpPr>
            <p:nvPr/>
          </p:nvSpPr>
          <p:spPr bwMode="auto">
            <a:xfrm>
              <a:off x="2908300" y="2295525"/>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solidFill>
                    <a:schemeClr val="bg1"/>
                  </a:solidFill>
                  <a:latin typeface="Roboto" panose="02000000000000000000" pitchFamily="2" charset="0"/>
                  <a:ea typeface="Roboto" panose="02000000000000000000" pitchFamily="2" charset="0"/>
                </a:rPr>
                <a:t>2</a:t>
              </a:r>
            </a:p>
          </p:txBody>
        </p:sp>
        <p:sp>
          <p:nvSpPr>
            <p:cNvPr id="95" name="Rectangle 42">
              <a:extLst>
                <a:ext uri="{FF2B5EF4-FFF2-40B4-BE49-F238E27FC236}">
                  <a16:creationId xmlns:a16="http://schemas.microsoft.com/office/drawing/2014/main" id="{AD54AA23-4FBE-8019-8542-821F77F5F79C}"/>
                </a:ext>
              </a:extLst>
            </p:cNvPr>
            <p:cNvSpPr>
              <a:spLocks noChangeArrowheads="1"/>
            </p:cNvSpPr>
            <p:nvPr/>
          </p:nvSpPr>
          <p:spPr bwMode="auto">
            <a:xfrm>
              <a:off x="3790950" y="2295525"/>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solidFill>
                    <a:schemeClr val="bg1"/>
                  </a:solidFill>
                  <a:latin typeface="Roboto" panose="02000000000000000000" pitchFamily="2" charset="0"/>
                  <a:ea typeface="Roboto" panose="02000000000000000000" pitchFamily="2" charset="0"/>
                </a:rPr>
                <a:t>1</a:t>
              </a:r>
            </a:p>
          </p:txBody>
        </p:sp>
        <p:sp>
          <p:nvSpPr>
            <p:cNvPr id="96" name="Rectangle 43">
              <a:extLst>
                <a:ext uri="{FF2B5EF4-FFF2-40B4-BE49-F238E27FC236}">
                  <a16:creationId xmlns:a16="http://schemas.microsoft.com/office/drawing/2014/main" id="{ECE10D43-5296-A8A6-573C-10B887B20362}"/>
                </a:ext>
              </a:extLst>
            </p:cNvPr>
            <p:cNvSpPr>
              <a:spLocks noChangeArrowheads="1"/>
            </p:cNvSpPr>
            <p:nvPr/>
          </p:nvSpPr>
          <p:spPr bwMode="auto">
            <a:xfrm>
              <a:off x="4551363" y="2401888"/>
              <a:ext cx="351058"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solidFill>
                    <a:schemeClr val="bg1"/>
                  </a:solidFill>
                  <a:latin typeface="Roboto" panose="02000000000000000000" pitchFamily="2" charset="0"/>
                  <a:ea typeface="Roboto" panose="02000000000000000000" pitchFamily="2" charset="0"/>
                </a:rPr>
                <a:t>R</a:t>
              </a:r>
            </a:p>
          </p:txBody>
        </p:sp>
        <p:sp>
          <p:nvSpPr>
            <p:cNvPr id="97" name="Rectangle 44">
              <a:extLst>
                <a:ext uri="{FF2B5EF4-FFF2-40B4-BE49-F238E27FC236}">
                  <a16:creationId xmlns:a16="http://schemas.microsoft.com/office/drawing/2014/main" id="{521FA3BF-324E-6988-88E5-25C009815098}"/>
                </a:ext>
              </a:extLst>
            </p:cNvPr>
            <p:cNvSpPr>
              <a:spLocks noChangeArrowheads="1"/>
            </p:cNvSpPr>
            <p:nvPr/>
          </p:nvSpPr>
          <p:spPr bwMode="auto">
            <a:xfrm>
              <a:off x="865188" y="4027488"/>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solidFill>
                    <a:schemeClr val="bg1"/>
                  </a:solidFill>
                  <a:latin typeface="Roboto" panose="02000000000000000000" pitchFamily="2" charset="0"/>
                  <a:ea typeface="Roboto" panose="02000000000000000000" pitchFamily="2" charset="0"/>
                </a:rPr>
                <a:t>5</a:t>
              </a:r>
            </a:p>
          </p:txBody>
        </p:sp>
        <p:sp>
          <p:nvSpPr>
            <p:cNvPr id="98" name="Rectangle 45">
              <a:extLst>
                <a:ext uri="{FF2B5EF4-FFF2-40B4-BE49-F238E27FC236}">
                  <a16:creationId xmlns:a16="http://schemas.microsoft.com/office/drawing/2014/main" id="{AE3B3DF2-72EE-44E4-9286-62428B5FB087}"/>
                </a:ext>
              </a:extLst>
            </p:cNvPr>
            <p:cNvSpPr>
              <a:spLocks noChangeArrowheads="1"/>
            </p:cNvSpPr>
            <p:nvPr/>
          </p:nvSpPr>
          <p:spPr bwMode="auto">
            <a:xfrm>
              <a:off x="1811338" y="4027488"/>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solidFill>
                    <a:schemeClr val="bg1"/>
                  </a:solidFill>
                  <a:latin typeface="Roboto" panose="02000000000000000000" pitchFamily="2" charset="0"/>
                  <a:ea typeface="Roboto" panose="02000000000000000000" pitchFamily="2" charset="0"/>
                </a:rPr>
                <a:t>6</a:t>
              </a:r>
            </a:p>
          </p:txBody>
        </p:sp>
        <p:sp>
          <p:nvSpPr>
            <p:cNvPr id="99" name="Rectangle 46">
              <a:extLst>
                <a:ext uri="{FF2B5EF4-FFF2-40B4-BE49-F238E27FC236}">
                  <a16:creationId xmlns:a16="http://schemas.microsoft.com/office/drawing/2014/main" id="{2444DD36-4C6A-EC36-C965-6161FDAE5629}"/>
                </a:ext>
              </a:extLst>
            </p:cNvPr>
            <p:cNvSpPr>
              <a:spLocks noChangeArrowheads="1"/>
            </p:cNvSpPr>
            <p:nvPr/>
          </p:nvSpPr>
          <p:spPr bwMode="auto">
            <a:xfrm>
              <a:off x="2908300" y="4056063"/>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solidFill>
                    <a:schemeClr val="bg1"/>
                  </a:solidFill>
                  <a:latin typeface="Roboto" panose="02000000000000000000" pitchFamily="2" charset="0"/>
                  <a:ea typeface="Roboto" panose="02000000000000000000" pitchFamily="2" charset="0"/>
                </a:rPr>
                <a:t>7</a:t>
              </a:r>
            </a:p>
          </p:txBody>
        </p:sp>
        <p:sp>
          <p:nvSpPr>
            <p:cNvPr id="100" name="Rectangle 47">
              <a:extLst>
                <a:ext uri="{FF2B5EF4-FFF2-40B4-BE49-F238E27FC236}">
                  <a16:creationId xmlns:a16="http://schemas.microsoft.com/office/drawing/2014/main" id="{B34D62B5-AA3F-BD70-CA87-E4C69669EF83}"/>
                </a:ext>
              </a:extLst>
            </p:cNvPr>
            <p:cNvSpPr>
              <a:spLocks noChangeArrowheads="1"/>
            </p:cNvSpPr>
            <p:nvPr/>
          </p:nvSpPr>
          <p:spPr bwMode="auto">
            <a:xfrm>
              <a:off x="3776663" y="4086225"/>
              <a:ext cx="336631"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solidFill>
                    <a:schemeClr val="bg1"/>
                  </a:solidFill>
                  <a:latin typeface="Roboto" panose="02000000000000000000" pitchFamily="2" charset="0"/>
                  <a:ea typeface="Roboto" panose="02000000000000000000" pitchFamily="2" charset="0"/>
                </a:rPr>
                <a:t>8</a:t>
              </a:r>
            </a:p>
          </p:txBody>
        </p:sp>
        <p:sp>
          <p:nvSpPr>
            <p:cNvPr id="101" name="Rectangle 48">
              <a:extLst>
                <a:ext uri="{FF2B5EF4-FFF2-40B4-BE49-F238E27FC236}">
                  <a16:creationId xmlns:a16="http://schemas.microsoft.com/office/drawing/2014/main" id="{3035FA7B-756E-05D7-2C59-9D67F90CA279}"/>
                </a:ext>
              </a:extLst>
            </p:cNvPr>
            <p:cNvSpPr>
              <a:spLocks noChangeArrowheads="1"/>
            </p:cNvSpPr>
            <p:nvPr/>
          </p:nvSpPr>
          <p:spPr bwMode="auto">
            <a:xfrm>
              <a:off x="4598988" y="3952875"/>
              <a:ext cx="347662"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100" b="0">
                  <a:solidFill>
                    <a:schemeClr val="bg1"/>
                  </a:solidFill>
                  <a:latin typeface="Roboto" panose="02000000000000000000" pitchFamily="2" charset="0"/>
                  <a:ea typeface="Roboto" panose="02000000000000000000" pitchFamily="2" charset="0"/>
                </a:rPr>
                <a:t>F</a:t>
              </a:r>
            </a:p>
          </p:txBody>
        </p:sp>
        <p:sp>
          <p:nvSpPr>
            <p:cNvPr id="102" name="Line 55">
              <a:extLst>
                <a:ext uri="{FF2B5EF4-FFF2-40B4-BE49-F238E27FC236}">
                  <a16:creationId xmlns:a16="http://schemas.microsoft.com/office/drawing/2014/main" id="{0FD653CB-015A-E984-EC87-6729B7F573A4}"/>
                </a:ext>
              </a:extLst>
            </p:cNvPr>
            <p:cNvSpPr>
              <a:spLocks noChangeShapeType="1"/>
            </p:cNvSpPr>
            <p:nvPr/>
          </p:nvSpPr>
          <p:spPr bwMode="auto">
            <a:xfrm flipH="1">
              <a:off x="1146175" y="3005138"/>
              <a:ext cx="538163"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3" name="Line 56">
              <a:extLst>
                <a:ext uri="{FF2B5EF4-FFF2-40B4-BE49-F238E27FC236}">
                  <a16:creationId xmlns:a16="http://schemas.microsoft.com/office/drawing/2014/main" id="{6842659C-A500-4DC5-B2CD-A8A84FE2457E}"/>
                </a:ext>
              </a:extLst>
            </p:cNvPr>
            <p:cNvSpPr>
              <a:spLocks noChangeShapeType="1"/>
            </p:cNvSpPr>
            <p:nvPr/>
          </p:nvSpPr>
          <p:spPr bwMode="auto">
            <a:xfrm>
              <a:off x="957263" y="3222625"/>
              <a:ext cx="0" cy="274638"/>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4" name="Line 57">
              <a:extLst>
                <a:ext uri="{FF2B5EF4-FFF2-40B4-BE49-F238E27FC236}">
                  <a16:creationId xmlns:a16="http://schemas.microsoft.com/office/drawing/2014/main" id="{F139792A-B8BE-0C40-FFEA-2B25952D4FF9}"/>
                </a:ext>
              </a:extLst>
            </p:cNvPr>
            <p:cNvSpPr>
              <a:spLocks noChangeShapeType="1"/>
            </p:cNvSpPr>
            <p:nvPr/>
          </p:nvSpPr>
          <p:spPr bwMode="auto">
            <a:xfrm>
              <a:off x="1219200" y="3657600"/>
              <a:ext cx="479425"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5" name="Line 59">
              <a:extLst>
                <a:ext uri="{FF2B5EF4-FFF2-40B4-BE49-F238E27FC236}">
                  <a16:creationId xmlns:a16="http://schemas.microsoft.com/office/drawing/2014/main" id="{16219D49-535A-89C3-D8DD-0C0A0F3A9201}"/>
                </a:ext>
              </a:extLst>
            </p:cNvPr>
            <p:cNvSpPr>
              <a:spLocks noChangeShapeType="1"/>
            </p:cNvSpPr>
            <p:nvPr/>
          </p:nvSpPr>
          <p:spPr bwMode="auto">
            <a:xfrm flipH="1">
              <a:off x="3249613" y="3076575"/>
              <a:ext cx="466725"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6" name="Line 60">
              <a:extLst>
                <a:ext uri="{FF2B5EF4-FFF2-40B4-BE49-F238E27FC236}">
                  <a16:creationId xmlns:a16="http://schemas.microsoft.com/office/drawing/2014/main" id="{66A09D73-2487-C4B7-A3A1-DCE944EA5BCD}"/>
                </a:ext>
              </a:extLst>
            </p:cNvPr>
            <p:cNvSpPr>
              <a:spLocks noChangeShapeType="1"/>
            </p:cNvSpPr>
            <p:nvPr/>
          </p:nvSpPr>
          <p:spPr bwMode="auto">
            <a:xfrm>
              <a:off x="3033713" y="3251200"/>
              <a:ext cx="14287" cy="217488"/>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7" name="Line 61">
              <a:extLst>
                <a:ext uri="{FF2B5EF4-FFF2-40B4-BE49-F238E27FC236}">
                  <a16:creationId xmlns:a16="http://schemas.microsoft.com/office/drawing/2014/main" id="{82569530-FFB8-B07E-D9FF-32E1D79CD8A7}"/>
                </a:ext>
              </a:extLst>
            </p:cNvPr>
            <p:cNvSpPr>
              <a:spLocks noChangeShapeType="1"/>
            </p:cNvSpPr>
            <p:nvPr/>
          </p:nvSpPr>
          <p:spPr bwMode="auto">
            <a:xfrm>
              <a:off x="3251200" y="3671888"/>
              <a:ext cx="508000"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8" name="Line 62">
              <a:extLst>
                <a:ext uri="{FF2B5EF4-FFF2-40B4-BE49-F238E27FC236}">
                  <a16:creationId xmlns:a16="http://schemas.microsoft.com/office/drawing/2014/main" id="{42DB72C9-5C80-B020-7E4A-8015C92DDD30}"/>
                </a:ext>
              </a:extLst>
            </p:cNvPr>
            <p:cNvSpPr>
              <a:spLocks noChangeShapeType="1"/>
            </p:cNvSpPr>
            <p:nvPr/>
          </p:nvSpPr>
          <p:spPr bwMode="auto">
            <a:xfrm flipV="1">
              <a:off x="4165600" y="3598863"/>
              <a:ext cx="406400" cy="58737"/>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9" name="Freeform 67">
              <a:extLst>
                <a:ext uri="{FF2B5EF4-FFF2-40B4-BE49-F238E27FC236}">
                  <a16:creationId xmlns:a16="http://schemas.microsoft.com/office/drawing/2014/main" id="{F800631A-874B-698D-8870-92FEDDCE2574}"/>
                </a:ext>
              </a:extLst>
            </p:cNvPr>
            <p:cNvSpPr>
              <a:spLocks/>
            </p:cNvSpPr>
            <p:nvPr/>
          </p:nvSpPr>
          <p:spPr bwMode="auto">
            <a:xfrm>
              <a:off x="4398963" y="3294063"/>
              <a:ext cx="120650" cy="347662"/>
            </a:xfrm>
            <a:custGeom>
              <a:avLst/>
              <a:gdLst>
                <a:gd name="T0" fmla="*/ 2147483646 w 67"/>
                <a:gd name="T1" fmla="*/ 2147483646 h 201"/>
                <a:gd name="T2" fmla="*/ 2147483646 w 67"/>
                <a:gd name="T3" fmla="*/ 2147483646 h 201"/>
                <a:gd name="T4" fmla="*/ 0 w 67"/>
                <a:gd name="T5" fmla="*/ 2147483646 h 201"/>
                <a:gd name="T6" fmla="*/ 2147483646 w 67"/>
                <a:gd name="T7" fmla="*/ 0 h 201"/>
                <a:gd name="T8" fmla="*/ 0 60000 65536"/>
                <a:gd name="T9" fmla="*/ 0 60000 65536"/>
                <a:gd name="T10" fmla="*/ 0 60000 65536"/>
                <a:gd name="T11" fmla="*/ 0 60000 65536"/>
                <a:gd name="T12" fmla="*/ 0 w 67"/>
                <a:gd name="T13" fmla="*/ 0 h 201"/>
                <a:gd name="T14" fmla="*/ 67 w 67"/>
                <a:gd name="T15" fmla="*/ 201 h 201"/>
              </a:gdLst>
              <a:ahLst/>
              <a:cxnLst>
                <a:cxn ang="T8">
                  <a:pos x="T0" y="T1"/>
                </a:cxn>
                <a:cxn ang="T9">
                  <a:pos x="T2" y="T3"/>
                </a:cxn>
                <a:cxn ang="T10">
                  <a:pos x="T4" y="T5"/>
                </a:cxn>
                <a:cxn ang="T11">
                  <a:pos x="T6" y="T7"/>
                </a:cxn>
              </a:cxnLst>
              <a:rect l="T12" t="T13" r="T14" b="T15"/>
              <a:pathLst>
                <a:path w="67" h="201">
                  <a:moveTo>
                    <a:pt x="64" y="201"/>
                  </a:moveTo>
                  <a:cubicBezTo>
                    <a:pt x="46" y="148"/>
                    <a:pt x="67" y="197"/>
                    <a:pt x="36" y="155"/>
                  </a:cubicBezTo>
                  <a:cubicBezTo>
                    <a:pt x="23" y="137"/>
                    <a:pt x="0" y="100"/>
                    <a:pt x="0" y="100"/>
                  </a:cubicBezTo>
                  <a:cubicBezTo>
                    <a:pt x="7" y="53"/>
                    <a:pt x="2" y="22"/>
                    <a:pt x="45" y="0"/>
                  </a:cubicBezTo>
                </a:path>
              </a:pathLst>
            </a:cu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10" name="Freeform 69">
              <a:extLst>
                <a:ext uri="{FF2B5EF4-FFF2-40B4-BE49-F238E27FC236}">
                  <a16:creationId xmlns:a16="http://schemas.microsoft.com/office/drawing/2014/main" id="{BDB4FC1D-5BD8-9ADD-35FE-1AA232152939}"/>
                </a:ext>
              </a:extLst>
            </p:cNvPr>
            <p:cNvSpPr>
              <a:spLocks/>
            </p:cNvSpPr>
            <p:nvPr/>
          </p:nvSpPr>
          <p:spPr bwMode="auto">
            <a:xfrm>
              <a:off x="4468813" y="3267075"/>
              <a:ext cx="136525" cy="57150"/>
            </a:xfrm>
            <a:custGeom>
              <a:avLst/>
              <a:gdLst>
                <a:gd name="T0" fmla="*/ 0 w 132"/>
                <a:gd name="T1" fmla="*/ 0 h 63"/>
                <a:gd name="T2" fmla="*/ 2147483646 w 132"/>
                <a:gd name="T3" fmla="*/ 2147483646 h 63"/>
                <a:gd name="T4" fmla="*/ 2147483646 w 132"/>
                <a:gd name="T5" fmla="*/ 2147483646 h 63"/>
                <a:gd name="T6" fmla="*/ 0 w 132"/>
                <a:gd name="T7" fmla="*/ 0 h 63"/>
                <a:gd name="T8" fmla="*/ 0 60000 65536"/>
                <a:gd name="T9" fmla="*/ 0 60000 65536"/>
                <a:gd name="T10" fmla="*/ 0 60000 65536"/>
                <a:gd name="T11" fmla="*/ 0 60000 65536"/>
                <a:gd name="T12" fmla="*/ 0 w 132"/>
                <a:gd name="T13" fmla="*/ 0 h 63"/>
                <a:gd name="T14" fmla="*/ 132 w 132"/>
                <a:gd name="T15" fmla="*/ 63 h 63"/>
              </a:gdLst>
              <a:ahLst/>
              <a:cxnLst>
                <a:cxn ang="T8">
                  <a:pos x="T0" y="T1"/>
                </a:cxn>
                <a:cxn ang="T9">
                  <a:pos x="T2" y="T3"/>
                </a:cxn>
                <a:cxn ang="T10">
                  <a:pos x="T4" y="T5"/>
                </a:cxn>
                <a:cxn ang="T11">
                  <a:pos x="T6" y="T7"/>
                </a:cxn>
              </a:cxnLst>
              <a:rect l="T12" t="T13" r="T14" b="T15"/>
              <a:pathLst>
                <a:path w="132" h="63">
                  <a:moveTo>
                    <a:pt x="0" y="0"/>
                  </a:moveTo>
                  <a:lnTo>
                    <a:pt x="131" y="13"/>
                  </a:lnTo>
                  <a:lnTo>
                    <a:pt x="8" y="62"/>
                  </a:lnTo>
                  <a:lnTo>
                    <a:pt x="0" y="0"/>
                  </a:lnTo>
                </a:path>
              </a:pathLst>
            </a:custGeom>
            <a:solidFill>
              <a:srgbClr val="000000"/>
            </a:solidFill>
            <a:ln w="12700" cap="rnd">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sp>
          <p:nvSpPr>
            <p:cNvPr id="111" name="Line 70">
              <a:extLst>
                <a:ext uri="{FF2B5EF4-FFF2-40B4-BE49-F238E27FC236}">
                  <a16:creationId xmlns:a16="http://schemas.microsoft.com/office/drawing/2014/main" id="{9540F385-E518-7572-4219-F3DDADA407E8}"/>
                </a:ext>
              </a:extLst>
            </p:cNvPr>
            <p:cNvSpPr>
              <a:spLocks noChangeShapeType="1"/>
            </p:cNvSpPr>
            <p:nvPr/>
          </p:nvSpPr>
          <p:spPr bwMode="auto">
            <a:xfrm flipH="1" flipV="1">
              <a:off x="4122738" y="3090863"/>
              <a:ext cx="420687" cy="117475"/>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12" name="Freeform 71">
              <a:extLst>
                <a:ext uri="{FF2B5EF4-FFF2-40B4-BE49-F238E27FC236}">
                  <a16:creationId xmlns:a16="http://schemas.microsoft.com/office/drawing/2014/main" id="{A4993AAD-EDD4-0081-A9A8-27690827C7F8}"/>
                </a:ext>
              </a:extLst>
            </p:cNvPr>
            <p:cNvSpPr>
              <a:spLocks/>
            </p:cNvSpPr>
            <p:nvPr/>
          </p:nvSpPr>
          <p:spPr bwMode="auto">
            <a:xfrm>
              <a:off x="1536700" y="3135313"/>
              <a:ext cx="146050" cy="449262"/>
            </a:xfrm>
            <a:custGeom>
              <a:avLst/>
              <a:gdLst>
                <a:gd name="T0" fmla="*/ 2147483646 w 92"/>
                <a:gd name="T1" fmla="*/ 2147483646 h 283"/>
                <a:gd name="T2" fmla="*/ 0 w 92"/>
                <a:gd name="T3" fmla="*/ 2147483646 h 283"/>
                <a:gd name="T4" fmla="*/ 2147483646 w 92"/>
                <a:gd name="T5" fmla="*/ 2147483646 h 283"/>
                <a:gd name="T6" fmla="*/ 2147483646 w 92"/>
                <a:gd name="T7" fmla="*/ 0 h 283"/>
                <a:gd name="T8" fmla="*/ 0 60000 65536"/>
                <a:gd name="T9" fmla="*/ 0 60000 65536"/>
                <a:gd name="T10" fmla="*/ 0 60000 65536"/>
                <a:gd name="T11" fmla="*/ 0 60000 65536"/>
                <a:gd name="T12" fmla="*/ 0 w 92"/>
                <a:gd name="T13" fmla="*/ 0 h 283"/>
                <a:gd name="T14" fmla="*/ 92 w 92"/>
                <a:gd name="T15" fmla="*/ 283 h 283"/>
              </a:gdLst>
              <a:ahLst/>
              <a:cxnLst>
                <a:cxn ang="T8">
                  <a:pos x="T0" y="T1"/>
                </a:cxn>
                <a:cxn ang="T9">
                  <a:pos x="T2" y="T3"/>
                </a:cxn>
                <a:cxn ang="T10">
                  <a:pos x="T4" y="T5"/>
                </a:cxn>
                <a:cxn ang="T11">
                  <a:pos x="T6" y="T7"/>
                </a:cxn>
              </a:cxnLst>
              <a:rect l="T12" t="T13" r="T14" b="T15"/>
              <a:pathLst>
                <a:path w="92" h="283">
                  <a:moveTo>
                    <a:pt x="92" y="283"/>
                  </a:moveTo>
                  <a:cubicBezTo>
                    <a:pt x="12" y="257"/>
                    <a:pt x="53" y="272"/>
                    <a:pt x="0" y="219"/>
                  </a:cubicBezTo>
                  <a:cubicBezTo>
                    <a:pt x="8" y="120"/>
                    <a:pt x="3" y="103"/>
                    <a:pt x="55" y="36"/>
                  </a:cubicBezTo>
                  <a:cubicBezTo>
                    <a:pt x="83" y="0"/>
                    <a:pt x="59" y="15"/>
                    <a:pt x="92" y="0"/>
                  </a:cubicBezTo>
                </a:path>
              </a:pathLst>
            </a:cu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13" name="Freeform 72">
              <a:extLst>
                <a:ext uri="{FF2B5EF4-FFF2-40B4-BE49-F238E27FC236}">
                  <a16:creationId xmlns:a16="http://schemas.microsoft.com/office/drawing/2014/main" id="{3469B2F1-A35B-A724-A9BC-F1AE41D5C8A9}"/>
                </a:ext>
              </a:extLst>
            </p:cNvPr>
            <p:cNvSpPr>
              <a:spLocks/>
            </p:cNvSpPr>
            <p:nvPr/>
          </p:nvSpPr>
          <p:spPr bwMode="auto">
            <a:xfrm>
              <a:off x="1630363" y="3114675"/>
              <a:ext cx="136525" cy="57150"/>
            </a:xfrm>
            <a:custGeom>
              <a:avLst/>
              <a:gdLst>
                <a:gd name="T0" fmla="*/ 0 w 132"/>
                <a:gd name="T1" fmla="*/ 0 h 63"/>
                <a:gd name="T2" fmla="*/ 2147483646 w 132"/>
                <a:gd name="T3" fmla="*/ 2147483646 h 63"/>
                <a:gd name="T4" fmla="*/ 2147483646 w 132"/>
                <a:gd name="T5" fmla="*/ 2147483646 h 63"/>
                <a:gd name="T6" fmla="*/ 0 w 132"/>
                <a:gd name="T7" fmla="*/ 0 h 63"/>
                <a:gd name="T8" fmla="*/ 0 60000 65536"/>
                <a:gd name="T9" fmla="*/ 0 60000 65536"/>
                <a:gd name="T10" fmla="*/ 0 60000 65536"/>
                <a:gd name="T11" fmla="*/ 0 60000 65536"/>
                <a:gd name="T12" fmla="*/ 0 w 132"/>
                <a:gd name="T13" fmla="*/ 0 h 63"/>
                <a:gd name="T14" fmla="*/ 132 w 132"/>
                <a:gd name="T15" fmla="*/ 63 h 63"/>
              </a:gdLst>
              <a:ahLst/>
              <a:cxnLst>
                <a:cxn ang="T8">
                  <a:pos x="T0" y="T1"/>
                </a:cxn>
                <a:cxn ang="T9">
                  <a:pos x="T2" y="T3"/>
                </a:cxn>
                <a:cxn ang="T10">
                  <a:pos x="T4" y="T5"/>
                </a:cxn>
                <a:cxn ang="T11">
                  <a:pos x="T6" y="T7"/>
                </a:cxn>
              </a:cxnLst>
              <a:rect l="T12" t="T13" r="T14" b="T15"/>
              <a:pathLst>
                <a:path w="132" h="63">
                  <a:moveTo>
                    <a:pt x="0" y="0"/>
                  </a:moveTo>
                  <a:lnTo>
                    <a:pt x="131" y="13"/>
                  </a:lnTo>
                  <a:lnTo>
                    <a:pt x="8" y="62"/>
                  </a:lnTo>
                  <a:lnTo>
                    <a:pt x="0" y="0"/>
                  </a:lnTo>
                </a:path>
              </a:pathLst>
            </a:custGeom>
            <a:solidFill>
              <a:srgbClr val="000000"/>
            </a:solidFill>
            <a:ln w="12700" cap="rnd">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13735112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Work Sequence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Demonstrate understanding of work sequence.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class, discuss the answers to the following:</a:t>
            </a:r>
          </a:p>
          <a:p>
            <a:pPr marL="342900" marR="0" indent="-34290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Should operator flow always follow part flow?</a:t>
            </a:r>
          </a:p>
          <a:p>
            <a:pPr marL="800100" lvl="1" indent="-342900" defTabSz="584200" hangingPunct="0">
              <a:buFont typeface="Arial" panose="020B0604020202020204" pitchFamily="34" charset="0"/>
              <a:buChar char="•"/>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Why?</a:t>
            </a:r>
          </a:p>
          <a:p>
            <a:pPr marL="800100" lvl="1" indent="-342900" defTabSz="584200" hangingPunct="0">
              <a:buFont typeface="Arial" panose="020B0604020202020204" pitchFamily="34" charset="0"/>
              <a:buChar char="•"/>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Why not?</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Discuss answers as a</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class</a:t>
            </a:r>
          </a:p>
        </p:txBody>
      </p:sp>
      <p:grpSp>
        <p:nvGrpSpPr>
          <p:cNvPr id="20" name="Group 19">
            <a:extLst>
              <a:ext uri="{FF2B5EF4-FFF2-40B4-BE49-F238E27FC236}">
                <a16:creationId xmlns:a16="http://schemas.microsoft.com/office/drawing/2014/main" id="{D7279C89-E6D6-8A8F-904B-ED22289F6FD8}"/>
              </a:ext>
            </a:extLst>
          </p:cNvPr>
          <p:cNvGrpSpPr/>
          <p:nvPr/>
        </p:nvGrpSpPr>
        <p:grpSpPr>
          <a:xfrm>
            <a:off x="838200" y="297639"/>
            <a:ext cx="4220210" cy="301303"/>
            <a:chOff x="838200" y="297639"/>
            <a:chExt cx="4220210" cy="301303"/>
          </a:xfrm>
        </p:grpSpPr>
        <p:sp>
          <p:nvSpPr>
            <p:cNvPr id="21" name="AutoShape 9">
              <a:extLst>
                <a:ext uri="{FF2B5EF4-FFF2-40B4-BE49-F238E27FC236}">
                  <a16:creationId xmlns:a16="http://schemas.microsoft.com/office/drawing/2014/main" id="{A2CF2D1A-B280-2188-48CA-3F5BFC124FFD}"/>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2" name="Group 21">
              <a:extLst>
                <a:ext uri="{FF2B5EF4-FFF2-40B4-BE49-F238E27FC236}">
                  <a16:creationId xmlns:a16="http://schemas.microsoft.com/office/drawing/2014/main" id="{99FE207C-53B5-D7FA-C500-D03F10658059}"/>
                </a:ext>
              </a:extLst>
            </p:cNvPr>
            <p:cNvGrpSpPr/>
            <p:nvPr/>
          </p:nvGrpSpPr>
          <p:grpSpPr>
            <a:xfrm>
              <a:off x="838200" y="297639"/>
              <a:ext cx="4220210" cy="301303"/>
              <a:chOff x="838200" y="297639"/>
              <a:chExt cx="4220210" cy="301303"/>
            </a:xfrm>
          </p:grpSpPr>
          <p:grpSp>
            <p:nvGrpSpPr>
              <p:cNvPr id="23" name="Group 22">
                <a:extLst>
                  <a:ext uri="{FF2B5EF4-FFF2-40B4-BE49-F238E27FC236}">
                    <a16:creationId xmlns:a16="http://schemas.microsoft.com/office/drawing/2014/main" id="{7B916310-E2BA-3C15-6A72-4A284848EE45}"/>
                  </a:ext>
                </a:extLst>
              </p:cNvPr>
              <p:cNvGrpSpPr/>
              <p:nvPr/>
            </p:nvGrpSpPr>
            <p:grpSpPr>
              <a:xfrm>
                <a:off x="838200" y="297639"/>
                <a:ext cx="1060167" cy="290657"/>
                <a:chOff x="826426" y="4041857"/>
                <a:chExt cx="1060167" cy="290657"/>
              </a:xfrm>
            </p:grpSpPr>
            <p:sp>
              <p:nvSpPr>
                <p:cNvPr id="25" name="AutoShape 9">
                  <a:extLst>
                    <a:ext uri="{FF2B5EF4-FFF2-40B4-BE49-F238E27FC236}">
                      <a16:creationId xmlns:a16="http://schemas.microsoft.com/office/drawing/2014/main" id="{DC87D0E3-B779-0AD1-B749-3F06BE54902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6" name="AutoShape 11">
                  <a:extLst>
                    <a:ext uri="{FF2B5EF4-FFF2-40B4-BE49-F238E27FC236}">
                      <a16:creationId xmlns:a16="http://schemas.microsoft.com/office/drawing/2014/main" id="{B5B75ED1-DC31-33E5-6826-CB6C236A140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7" name="AutoShape 10">
                  <a:extLst>
                    <a:ext uri="{FF2B5EF4-FFF2-40B4-BE49-F238E27FC236}">
                      <a16:creationId xmlns:a16="http://schemas.microsoft.com/office/drawing/2014/main" id="{9024CCF3-AEB1-51F4-F018-0F7B45AB48C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4" name="TextBox 23">
                <a:extLst>
                  <a:ext uri="{FF2B5EF4-FFF2-40B4-BE49-F238E27FC236}">
                    <a16:creationId xmlns:a16="http://schemas.microsoft.com/office/drawing/2014/main" id="{304168D0-7C34-540F-48FE-13A0658FD0C2}"/>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spTree>
    <p:extLst>
      <p:ext uri="{BB962C8B-B14F-4D97-AF65-F5344CB8AC3E}">
        <p14:creationId xmlns:p14="http://schemas.microsoft.com/office/powerpoint/2010/main" val="37553130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200" dirty="0"/>
              <a:t>Determining Total Number of Operators Needed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grpSp>
        <p:nvGrpSpPr>
          <p:cNvPr id="3" name="Group 2">
            <a:extLst>
              <a:ext uri="{FF2B5EF4-FFF2-40B4-BE49-F238E27FC236}">
                <a16:creationId xmlns:a16="http://schemas.microsoft.com/office/drawing/2014/main" id="{9138D14C-88B7-B6DC-1004-6D348D00700A}"/>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E4F8554-3FAC-719F-3CE3-69F13FD35F7A}"/>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4C8ADEDF-B63A-ACAE-B2E8-800155B7C3C7}"/>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A1741378-9B7F-423B-0AFB-C314EBB23C54}"/>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A6F453CD-EAE5-B87F-2F2C-9C8C8D0D0D5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C7DAA629-FE32-A150-364F-84B516B305D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953754D6-828D-706F-52E3-52314898559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9680AC0D-A01C-67C4-FCD6-DD79D30CCA94}"/>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grpSp>
        <p:nvGrpSpPr>
          <p:cNvPr id="53" name="Group 52">
            <a:extLst>
              <a:ext uri="{FF2B5EF4-FFF2-40B4-BE49-F238E27FC236}">
                <a16:creationId xmlns:a16="http://schemas.microsoft.com/office/drawing/2014/main" id="{53CD746A-53F0-7DB2-20B6-D070648130D4}"/>
              </a:ext>
            </a:extLst>
          </p:cNvPr>
          <p:cNvGrpSpPr/>
          <p:nvPr/>
        </p:nvGrpSpPr>
        <p:grpSpPr>
          <a:xfrm>
            <a:off x="1271017" y="1902460"/>
            <a:ext cx="9370313" cy="4109720"/>
            <a:chOff x="457200" y="1536700"/>
            <a:chExt cx="8264525" cy="3765550"/>
          </a:xfrm>
        </p:grpSpPr>
        <p:sp>
          <p:nvSpPr>
            <p:cNvPr id="34" name="Rectangle 4">
              <a:extLst>
                <a:ext uri="{FF2B5EF4-FFF2-40B4-BE49-F238E27FC236}">
                  <a16:creationId xmlns:a16="http://schemas.microsoft.com/office/drawing/2014/main" id="{EECB2929-2157-71C1-62A9-11582488494A}"/>
                </a:ext>
              </a:extLst>
            </p:cNvPr>
            <p:cNvSpPr>
              <a:spLocks noChangeArrowheads="1"/>
            </p:cNvSpPr>
            <p:nvPr/>
          </p:nvSpPr>
          <p:spPr bwMode="auto">
            <a:xfrm>
              <a:off x="1196975" y="1971675"/>
              <a:ext cx="1908175" cy="568325"/>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dirty="0">
                  <a:latin typeface="Roboto" panose="02000000000000000000" pitchFamily="2" charset="0"/>
                  <a:ea typeface="Roboto" panose="02000000000000000000" pitchFamily="2" charset="0"/>
                </a:rPr>
                <a:t>Calculation for</a:t>
              </a: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Total # of Operators</a:t>
              </a:r>
            </a:p>
          </p:txBody>
        </p:sp>
        <p:sp>
          <p:nvSpPr>
            <p:cNvPr id="35" name="Rectangle 5">
              <a:extLst>
                <a:ext uri="{FF2B5EF4-FFF2-40B4-BE49-F238E27FC236}">
                  <a16:creationId xmlns:a16="http://schemas.microsoft.com/office/drawing/2014/main" id="{43972F31-0DA5-569E-0F73-B5A4703CC358}"/>
                </a:ext>
              </a:extLst>
            </p:cNvPr>
            <p:cNvSpPr>
              <a:spLocks noChangeArrowheads="1"/>
            </p:cNvSpPr>
            <p:nvPr/>
          </p:nvSpPr>
          <p:spPr bwMode="auto">
            <a:xfrm>
              <a:off x="1196975" y="2894013"/>
              <a:ext cx="1908175" cy="568325"/>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dirty="0">
                  <a:latin typeface="Roboto" panose="02000000000000000000" pitchFamily="2" charset="0"/>
                  <a:ea typeface="Roboto" panose="02000000000000000000" pitchFamily="2" charset="0"/>
                </a:rPr>
                <a:t>Example</a:t>
              </a:r>
            </a:p>
          </p:txBody>
        </p:sp>
        <p:sp>
          <p:nvSpPr>
            <p:cNvPr id="36" name="Line 8">
              <a:extLst>
                <a:ext uri="{FF2B5EF4-FFF2-40B4-BE49-F238E27FC236}">
                  <a16:creationId xmlns:a16="http://schemas.microsoft.com/office/drawing/2014/main" id="{4357CA27-F723-86C4-5BEC-16BEE6E5D5FF}"/>
                </a:ext>
              </a:extLst>
            </p:cNvPr>
            <p:cNvSpPr>
              <a:spLocks noChangeShapeType="1"/>
            </p:cNvSpPr>
            <p:nvPr/>
          </p:nvSpPr>
          <p:spPr bwMode="auto">
            <a:xfrm>
              <a:off x="471488" y="2792413"/>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7" name="Line 9">
              <a:extLst>
                <a:ext uri="{FF2B5EF4-FFF2-40B4-BE49-F238E27FC236}">
                  <a16:creationId xmlns:a16="http://schemas.microsoft.com/office/drawing/2014/main" id="{749A5652-D6F5-2D64-4774-8217BF0E63A6}"/>
                </a:ext>
              </a:extLst>
            </p:cNvPr>
            <p:cNvSpPr>
              <a:spLocks noChangeShapeType="1"/>
            </p:cNvSpPr>
            <p:nvPr/>
          </p:nvSpPr>
          <p:spPr bwMode="auto">
            <a:xfrm>
              <a:off x="487363" y="4240213"/>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8" name="Rectangle 12">
              <a:extLst>
                <a:ext uri="{FF2B5EF4-FFF2-40B4-BE49-F238E27FC236}">
                  <a16:creationId xmlns:a16="http://schemas.microsoft.com/office/drawing/2014/main" id="{EB58748A-1A58-B071-269A-27BA5588CB5A}"/>
                </a:ext>
              </a:extLst>
            </p:cNvPr>
            <p:cNvSpPr>
              <a:spLocks noChangeArrowheads="1"/>
            </p:cNvSpPr>
            <p:nvPr/>
          </p:nvSpPr>
          <p:spPr bwMode="auto">
            <a:xfrm>
              <a:off x="3638550" y="1954213"/>
              <a:ext cx="4970463" cy="264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Sum of the Total Operator Cycle Times</a:t>
              </a:r>
            </a:p>
          </p:txBody>
        </p:sp>
        <p:sp>
          <p:nvSpPr>
            <p:cNvPr id="39" name="Rectangle 13">
              <a:extLst>
                <a:ext uri="{FF2B5EF4-FFF2-40B4-BE49-F238E27FC236}">
                  <a16:creationId xmlns:a16="http://schemas.microsoft.com/office/drawing/2014/main" id="{966F2B8D-47B2-9C90-8BC4-C535C6C57077}"/>
                </a:ext>
              </a:extLst>
            </p:cNvPr>
            <p:cNvSpPr>
              <a:spLocks noChangeArrowheads="1"/>
            </p:cNvSpPr>
            <p:nvPr/>
          </p:nvSpPr>
          <p:spPr bwMode="auto">
            <a:xfrm>
              <a:off x="3641725" y="2898775"/>
              <a:ext cx="4981575" cy="264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Total Cycle Time = 270 seconds</a:t>
              </a:r>
            </a:p>
          </p:txBody>
        </p:sp>
        <p:sp>
          <p:nvSpPr>
            <p:cNvPr id="40" name="Rectangle 14">
              <a:extLst>
                <a:ext uri="{FF2B5EF4-FFF2-40B4-BE49-F238E27FC236}">
                  <a16:creationId xmlns:a16="http://schemas.microsoft.com/office/drawing/2014/main" id="{08BA108C-4349-CDD2-7826-077E3CDC7BEF}"/>
                </a:ext>
              </a:extLst>
            </p:cNvPr>
            <p:cNvSpPr>
              <a:spLocks noChangeArrowheads="1"/>
            </p:cNvSpPr>
            <p:nvPr/>
          </p:nvSpPr>
          <p:spPr bwMode="auto">
            <a:xfrm>
              <a:off x="3641725" y="3790950"/>
              <a:ext cx="4970463" cy="264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Total Number of Operators Needed = 3.5 Operators</a:t>
              </a:r>
            </a:p>
          </p:txBody>
        </p:sp>
        <p:sp>
          <p:nvSpPr>
            <p:cNvPr id="41" name="Line 16">
              <a:extLst>
                <a:ext uri="{FF2B5EF4-FFF2-40B4-BE49-F238E27FC236}">
                  <a16:creationId xmlns:a16="http://schemas.microsoft.com/office/drawing/2014/main" id="{B4A59831-46AA-BD0D-4AE1-EA3A0AD13FA6}"/>
                </a:ext>
              </a:extLst>
            </p:cNvPr>
            <p:cNvSpPr>
              <a:spLocks noChangeShapeType="1"/>
            </p:cNvSpPr>
            <p:nvPr/>
          </p:nvSpPr>
          <p:spPr bwMode="auto">
            <a:xfrm flipV="1">
              <a:off x="461963" y="1824038"/>
              <a:ext cx="8250237" cy="15875"/>
            </a:xfrm>
            <a:prstGeom prst="line">
              <a:avLst/>
            </a:prstGeom>
            <a:noFill/>
            <a:ln w="38100">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2" name="Text Box 17">
              <a:extLst>
                <a:ext uri="{FF2B5EF4-FFF2-40B4-BE49-F238E27FC236}">
                  <a16:creationId xmlns:a16="http://schemas.microsoft.com/office/drawing/2014/main" id="{E7877A12-1DFA-E611-27C4-DDB6ACAC640B}"/>
                </a:ext>
              </a:extLst>
            </p:cNvPr>
            <p:cNvSpPr txBox="1">
              <a:spLocks noChangeArrowheads="1"/>
            </p:cNvSpPr>
            <p:nvPr/>
          </p:nvSpPr>
          <p:spPr bwMode="auto">
            <a:xfrm>
              <a:off x="471488" y="1536700"/>
              <a:ext cx="4574032" cy="33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Points		           	             Descriptions</a:t>
              </a:r>
            </a:p>
          </p:txBody>
        </p:sp>
        <p:sp>
          <p:nvSpPr>
            <p:cNvPr id="43" name="Oval 18">
              <a:extLst>
                <a:ext uri="{FF2B5EF4-FFF2-40B4-BE49-F238E27FC236}">
                  <a16:creationId xmlns:a16="http://schemas.microsoft.com/office/drawing/2014/main" id="{68759855-EA97-0FF8-BFD0-CB1C47EE322A}"/>
                </a:ext>
              </a:extLst>
            </p:cNvPr>
            <p:cNvSpPr>
              <a:spLocks noChangeArrowheads="1"/>
            </p:cNvSpPr>
            <p:nvPr/>
          </p:nvSpPr>
          <p:spPr bwMode="auto">
            <a:xfrm>
              <a:off x="519113" y="2079625"/>
              <a:ext cx="400050" cy="366713"/>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1</a:t>
              </a:r>
            </a:p>
          </p:txBody>
        </p:sp>
        <p:sp>
          <p:nvSpPr>
            <p:cNvPr id="44" name="Oval 19">
              <a:extLst>
                <a:ext uri="{FF2B5EF4-FFF2-40B4-BE49-F238E27FC236}">
                  <a16:creationId xmlns:a16="http://schemas.microsoft.com/office/drawing/2014/main" id="{78E4804F-3D13-53CA-8F32-D5AE1FAD829B}"/>
                </a:ext>
              </a:extLst>
            </p:cNvPr>
            <p:cNvSpPr>
              <a:spLocks noChangeArrowheads="1"/>
            </p:cNvSpPr>
            <p:nvPr/>
          </p:nvSpPr>
          <p:spPr bwMode="auto">
            <a:xfrm>
              <a:off x="519113" y="3005138"/>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2</a:t>
              </a:r>
            </a:p>
          </p:txBody>
        </p:sp>
        <p:sp>
          <p:nvSpPr>
            <p:cNvPr id="45" name="Text Box 23">
              <a:extLst>
                <a:ext uri="{FF2B5EF4-FFF2-40B4-BE49-F238E27FC236}">
                  <a16:creationId xmlns:a16="http://schemas.microsoft.com/office/drawing/2014/main" id="{BE145ECB-34B5-ABB3-EC65-E0323B3FE970}"/>
                </a:ext>
              </a:extLst>
            </p:cNvPr>
            <p:cNvSpPr txBox="1">
              <a:spLocks noChangeArrowheads="1"/>
            </p:cNvSpPr>
            <p:nvPr/>
          </p:nvSpPr>
          <p:spPr bwMode="auto">
            <a:xfrm>
              <a:off x="4995863" y="2281238"/>
              <a:ext cx="886756" cy="282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Takt Time</a:t>
              </a:r>
            </a:p>
          </p:txBody>
        </p:sp>
        <p:sp>
          <p:nvSpPr>
            <p:cNvPr id="46" name="Line 24">
              <a:extLst>
                <a:ext uri="{FF2B5EF4-FFF2-40B4-BE49-F238E27FC236}">
                  <a16:creationId xmlns:a16="http://schemas.microsoft.com/office/drawing/2014/main" id="{52254BB5-49F6-B055-FC4D-20BC80D99804}"/>
                </a:ext>
              </a:extLst>
            </p:cNvPr>
            <p:cNvSpPr>
              <a:spLocks noChangeShapeType="1"/>
            </p:cNvSpPr>
            <p:nvPr/>
          </p:nvSpPr>
          <p:spPr bwMode="auto">
            <a:xfrm>
              <a:off x="3946525" y="2273300"/>
              <a:ext cx="3208338"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7" name="Text Box 25">
              <a:extLst>
                <a:ext uri="{FF2B5EF4-FFF2-40B4-BE49-F238E27FC236}">
                  <a16:creationId xmlns:a16="http://schemas.microsoft.com/office/drawing/2014/main" id="{7F7FA764-2778-D2E0-9836-ABC1630529B1}"/>
                </a:ext>
              </a:extLst>
            </p:cNvPr>
            <p:cNvSpPr txBox="1">
              <a:spLocks noChangeArrowheads="1"/>
            </p:cNvSpPr>
            <p:nvPr/>
          </p:nvSpPr>
          <p:spPr bwMode="auto">
            <a:xfrm>
              <a:off x="4440238" y="3205163"/>
              <a:ext cx="1876439" cy="282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Takt Time = 77 seconds</a:t>
              </a:r>
            </a:p>
          </p:txBody>
        </p:sp>
        <p:sp>
          <p:nvSpPr>
            <p:cNvPr id="48" name="Line 26">
              <a:extLst>
                <a:ext uri="{FF2B5EF4-FFF2-40B4-BE49-F238E27FC236}">
                  <a16:creationId xmlns:a16="http://schemas.microsoft.com/office/drawing/2014/main" id="{4D9CBD2F-936C-1649-29B1-A7F6550D6F94}"/>
                </a:ext>
              </a:extLst>
            </p:cNvPr>
            <p:cNvSpPr>
              <a:spLocks noChangeShapeType="1"/>
            </p:cNvSpPr>
            <p:nvPr/>
          </p:nvSpPr>
          <p:spPr bwMode="auto">
            <a:xfrm>
              <a:off x="3970338" y="3197225"/>
              <a:ext cx="3208337"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9" name="Rectangle 27">
              <a:extLst>
                <a:ext uri="{FF2B5EF4-FFF2-40B4-BE49-F238E27FC236}">
                  <a16:creationId xmlns:a16="http://schemas.microsoft.com/office/drawing/2014/main" id="{FBC0B67F-E59B-0F0C-8DF5-13110B4B7197}"/>
                </a:ext>
              </a:extLst>
            </p:cNvPr>
            <p:cNvSpPr>
              <a:spLocks noChangeArrowheads="1"/>
            </p:cNvSpPr>
            <p:nvPr/>
          </p:nvSpPr>
          <p:spPr bwMode="auto">
            <a:xfrm>
              <a:off x="1196975" y="4443413"/>
              <a:ext cx="1908175" cy="568325"/>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Question</a:t>
              </a:r>
            </a:p>
          </p:txBody>
        </p:sp>
        <p:sp>
          <p:nvSpPr>
            <p:cNvPr id="50" name="Line 28">
              <a:extLst>
                <a:ext uri="{FF2B5EF4-FFF2-40B4-BE49-F238E27FC236}">
                  <a16:creationId xmlns:a16="http://schemas.microsoft.com/office/drawing/2014/main" id="{A385E6BC-399A-0251-0F45-7692076B5B56}"/>
                </a:ext>
              </a:extLst>
            </p:cNvPr>
            <p:cNvSpPr>
              <a:spLocks noChangeShapeType="1"/>
            </p:cNvSpPr>
            <p:nvPr/>
          </p:nvSpPr>
          <p:spPr bwMode="auto">
            <a:xfrm>
              <a:off x="457200" y="5302250"/>
              <a:ext cx="823595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1" name="Rectangle 29">
              <a:extLst>
                <a:ext uri="{FF2B5EF4-FFF2-40B4-BE49-F238E27FC236}">
                  <a16:creationId xmlns:a16="http://schemas.microsoft.com/office/drawing/2014/main" id="{E9FC029F-3138-5F7A-4B2D-DE45A03AF78B}"/>
                </a:ext>
              </a:extLst>
            </p:cNvPr>
            <p:cNvSpPr>
              <a:spLocks noChangeArrowheads="1"/>
            </p:cNvSpPr>
            <p:nvPr/>
          </p:nvSpPr>
          <p:spPr bwMode="auto">
            <a:xfrm>
              <a:off x="3641725" y="4448175"/>
              <a:ext cx="4970463" cy="264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How do you staff for 3.5 Operators?</a:t>
              </a:r>
            </a:p>
          </p:txBody>
        </p:sp>
        <p:sp>
          <p:nvSpPr>
            <p:cNvPr id="52" name="Oval 30">
              <a:extLst>
                <a:ext uri="{FF2B5EF4-FFF2-40B4-BE49-F238E27FC236}">
                  <a16:creationId xmlns:a16="http://schemas.microsoft.com/office/drawing/2014/main" id="{F253A955-D58B-27ED-F9E3-1F9280B56EB3}"/>
                </a:ext>
              </a:extLst>
            </p:cNvPr>
            <p:cNvSpPr>
              <a:spLocks noChangeArrowheads="1"/>
            </p:cNvSpPr>
            <p:nvPr/>
          </p:nvSpPr>
          <p:spPr bwMode="auto">
            <a:xfrm>
              <a:off x="519113" y="4551363"/>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3</a:t>
              </a:r>
            </a:p>
          </p:txBody>
        </p:sp>
      </p:grpSp>
    </p:spTree>
    <p:extLst>
      <p:ext uri="{BB962C8B-B14F-4D97-AF65-F5344CB8AC3E}">
        <p14:creationId xmlns:p14="http://schemas.microsoft.com/office/powerpoint/2010/main" val="56120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Partial Operator—Guidelines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31</a:t>
            </a:fld>
            <a:endParaRPr lang="en-US"/>
          </a:p>
        </p:txBody>
      </p:sp>
      <p:grpSp>
        <p:nvGrpSpPr>
          <p:cNvPr id="3" name="Group 2">
            <a:extLst>
              <a:ext uri="{FF2B5EF4-FFF2-40B4-BE49-F238E27FC236}">
                <a16:creationId xmlns:a16="http://schemas.microsoft.com/office/drawing/2014/main" id="{E59B3CBF-5ABE-A498-69B8-907927981904}"/>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FA2C170-C446-6B5B-AAB0-CE615D97A889}"/>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9C2BB869-711E-EDCF-3E70-9D220EA50D3A}"/>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2610C34F-6578-4FE5-65A3-F08C785B5BBF}"/>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4BAC9EF-B7C5-7987-4E79-A6A74B4DFB2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A747822C-FF49-93E1-752C-68C5CBA2D38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F7978C6F-E01F-648B-74C4-F93F25FFC58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16C8119E-347B-1271-DC3C-C23ABFB31C8E}"/>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graphicFrame>
        <p:nvGraphicFramePr>
          <p:cNvPr id="12" name="Group 11">
            <a:extLst>
              <a:ext uri="{FF2B5EF4-FFF2-40B4-BE49-F238E27FC236}">
                <a16:creationId xmlns:a16="http://schemas.microsoft.com/office/drawing/2014/main" id="{E968F98E-4F5F-4941-71A4-DB7EFEF0AA7E}"/>
              </a:ext>
            </a:extLst>
          </p:cNvPr>
          <p:cNvGraphicFramePr>
            <a:graphicFrameLocks/>
          </p:cNvGraphicFramePr>
          <p:nvPr>
            <p:extLst>
              <p:ext uri="{D42A27DB-BD31-4B8C-83A1-F6EECF244321}">
                <p14:modId xmlns:p14="http://schemas.microsoft.com/office/powerpoint/2010/main" val="3365400227"/>
              </p:ext>
            </p:extLst>
          </p:nvPr>
        </p:nvGraphicFramePr>
        <p:xfrm>
          <a:off x="2013744" y="1795767"/>
          <a:ext cx="8164513" cy="4432301"/>
        </p:xfrm>
        <a:graphic>
          <a:graphicData uri="http://schemas.openxmlformats.org/drawingml/2006/table">
            <a:tbl>
              <a:tblPr/>
              <a:tblGrid>
                <a:gridCol w="1843088">
                  <a:extLst>
                    <a:ext uri="{9D8B030D-6E8A-4147-A177-3AD203B41FA5}">
                      <a16:colId xmlns:a16="http://schemas.microsoft.com/office/drawing/2014/main" val="20000"/>
                    </a:ext>
                  </a:extLst>
                </a:gridCol>
                <a:gridCol w="6321425">
                  <a:extLst>
                    <a:ext uri="{9D8B030D-6E8A-4147-A177-3AD203B41FA5}">
                      <a16:colId xmlns:a16="http://schemas.microsoft.com/office/drawing/2014/main" val="20001"/>
                    </a:ext>
                  </a:extLst>
                </a:gridCol>
              </a:tblGrid>
              <a:tr h="1035050">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cs typeface="Arial" charset="0"/>
                        </a:rPr>
                        <a:t>Remainder in # of operators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cs typeface="Arial" charset="0"/>
                        </a:rPr>
                        <a:t>Guideline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0"/>
                  </a:ext>
                </a:extLst>
              </a:tr>
              <a:tr h="1131888">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cs typeface="Arial" charset="0"/>
                        </a:rPr>
                        <a:t>&lt;.3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Do not add another operator. Look for waste and kaizen opportunities to eliminate this work.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33475">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cs typeface="Arial" charset="0"/>
                        </a:rPr>
                        <a:t>.3 - .5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Do not add another operator yet. Run area for two weeks and evaluate if enough waste exists to reduce the operator cycle time.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31888">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cs typeface="Arial" charset="0"/>
                        </a:rPr>
                        <a:t>&gt;.5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charset="0"/>
                        </a:rPr>
                        <a:t>Add another operator if necessary and continue to reduce waste and operator cycle time which will eventually eliminate the need for this operator.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449422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Putting it all together</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36637"/>
            <a:ext cx="9722342" cy="718145"/>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Calculate the takt time, number of operators, and determine the best </a:t>
            </a:r>
            <a:b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work sequence for each operator.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small groups, calculate takt time, number of operators, and determine the work sequence for each of the examples on the following three slides.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59513"/>
            <a:ext cx="4681292" cy="157992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For each example,</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determine takt time,</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number of operators,</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and work sequence</a:t>
            </a:r>
          </a:p>
        </p:txBody>
      </p:sp>
      <p:grpSp>
        <p:nvGrpSpPr>
          <p:cNvPr id="20" name="Group 19">
            <a:extLst>
              <a:ext uri="{FF2B5EF4-FFF2-40B4-BE49-F238E27FC236}">
                <a16:creationId xmlns:a16="http://schemas.microsoft.com/office/drawing/2014/main" id="{D7279C89-E6D6-8A8F-904B-ED22289F6FD8}"/>
              </a:ext>
            </a:extLst>
          </p:cNvPr>
          <p:cNvGrpSpPr/>
          <p:nvPr/>
        </p:nvGrpSpPr>
        <p:grpSpPr>
          <a:xfrm>
            <a:off x="838200" y="297639"/>
            <a:ext cx="4220210" cy="301303"/>
            <a:chOff x="838200" y="297639"/>
            <a:chExt cx="4220210" cy="301303"/>
          </a:xfrm>
        </p:grpSpPr>
        <p:sp>
          <p:nvSpPr>
            <p:cNvPr id="21" name="AutoShape 9">
              <a:extLst>
                <a:ext uri="{FF2B5EF4-FFF2-40B4-BE49-F238E27FC236}">
                  <a16:creationId xmlns:a16="http://schemas.microsoft.com/office/drawing/2014/main" id="{A2CF2D1A-B280-2188-48CA-3F5BFC124FFD}"/>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2" name="Group 21">
              <a:extLst>
                <a:ext uri="{FF2B5EF4-FFF2-40B4-BE49-F238E27FC236}">
                  <a16:creationId xmlns:a16="http://schemas.microsoft.com/office/drawing/2014/main" id="{99FE207C-53B5-D7FA-C500-D03F10658059}"/>
                </a:ext>
              </a:extLst>
            </p:cNvPr>
            <p:cNvGrpSpPr/>
            <p:nvPr/>
          </p:nvGrpSpPr>
          <p:grpSpPr>
            <a:xfrm>
              <a:off x="838200" y="297639"/>
              <a:ext cx="4220210" cy="301303"/>
              <a:chOff x="838200" y="297639"/>
              <a:chExt cx="4220210" cy="301303"/>
            </a:xfrm>
          </p:grpSpPr>
          <p:grpSp>
            <p:nvGrpSpPr>
              <p:cNvPr id="23" name="Group 22">
                <a:extLst>
                  <a:ext uri="{FF2B5EF4-FFF2-40B4-BE49-F238E27FC236}">
                    <a16:creationId xmlns:a16="http://schemas.microsoft.com/office/drawing/2014/main" id="{7B916310-E2BA-3C15-6A72-4A284848EE45}"/>
                  </a:ext>
                </a:extLst>
              </p:cNvPr>
              <p:cNvGrpSpPr/>
              <p:nvPr/>
            </p:nvGrpSpPr>
            <p:grpSpPr>
              <a:xfrm>
                <a:off x="838200" y="297639"/>
                <a:ext cx="1060167" cy="290657"/>
                <a:chOff x="826426" y="4041857"/>
                <a:chExt cx="1060167" cy="290657"/>
              </a:xfrm>
            </p:grpSpPr>
            <p:sp>
              <p:nvSpPr>
                <p:cNvPr id="25" name="AutoShape 9">
                  <a:extLst>
                    <a:ext uri="{FF2B5EF4-FFF2-40B4-BE49-F238E27FC236}">
                      <a16:creationId xmlns:a16="http://schemas.microsoft.com/office/drawing/2014/main" id="{DC87D0E3-B779-0AD1-B749-3F06BE54902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6" name="AutoShape 11">
                  <a:extLst>
                    <a:ext uri="{FF2B5EF4-FFF2-40B4-BE49-F238E27FC236}">
                      <a16:creationId xmlns:a16="http://schemas.microsoft.com/office/drawing/2014/main" id="{B5B75ED1-DC31-33E5-6826-CB6C236A140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7" name="AutoShape 10">
                  <a:extLst>
                    <a:ext uri="{FF2B5EF4-FFF2-40B4-BE49-F238E27FC236}">
                      <a16:creationId xmlns:a16="http://schemas.microsoft.com/office/drawing/2014/main" id="{9024CCF3-AEB1-51F4-F018-0F7B45AB48C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4" name="TextBox 23">
                <a:extLst>
                  <a:ext uri="{FF2B5EF4-FFF2-40B4-BE49-F238E27FC236}">
                    <a16:creationId xmlns:a16="http://schemas.microsoft.com/office/drawing/2014/main" id="{304168D0-7C34-540F-48FE-13A0658FD0C2}"/>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spTree>
    <p:extLst>
      <p:ext uri="{BB962C8B-B14F-4D97-AF65-F5344CB8AC3E}">
        <p14:creationId xmlns:p14="http://schemas.microsoft.com/office/powerpoint/2010/main" val="426254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Exercise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33</a:t>
            </a:fld>
            <a:endParaRPr lang="en-US"/>
          </a:p>
        </p:txBody>
      </p:sp>
      <p:grpSp>
        <p:nvGrpSpPr>
          <p:cNvPr id="3" name="Group 2">
            <a:extLst>
              <a:ext uri="{FF2B5EF4-FFF2-40B4-BE49-F238E27FC236}">
                <a16:creationId xmlns:a16="http://schemas.microsoft.com/office/drawing/2014/main" id="{E59B3CBF-5ABE-A498-69B8-907927981904}"/>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FA2C170-C446-6B5B-AAB0-CE615D97A889}"/>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9C2BB869-711E-EDCF-3E70-9D220EA50D3A}"/>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2610C34F-6578-4FE5-65A3-F08C785B5BBF}"/>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4BAC9EF-B7C5-7987-4E79-A6A74B4DFB2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A747822C-FF49-93E1-752C-68C5CBA2D38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F7978C6F-E01F-648B-74C4-F93F25FFC58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16C8119E-347B-1271-DC3C-C23ABFB31C8E}"/>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sp>
        <p:nvSpPr>
          <p:cNvPr id="22" name="Text Box 91">
            <a:extLst>
              <a:ext uri="{FF2B5EF4-FFF2-40B4-BE49-F238E27FC236}">
                <a16:creationId xmlns:a16="http://schemas.microsoft.com/office/drawing/2014/main" id="{7E925B36-8BE5-6D78-AE90-A08E106AEAE2}"/>
              </a:ext>
            </a:extLst>
          </p:cNvPr>
          <p:cNvSpPr txBox="1">
            <a:spLocks noChangeArrowheads="1"/>
          </p:cNvSpPr>
          <p:nvPr/>
        </p:nvSpPr>
        <p:spPr bwMode="auto">
          <a:xfrm>
            <a:off x="838200" y="1854875"/>
            <a:ext cx="4766048"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Daily Demand: 270 pieces</a:t>
            </a: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Available Time: 450 minutes</a:t>
            </a:r>
          </a:p>
          <a:p>
            <a:pPr eaLnBrk="1" hangingPunct="1">
              <a:lnSpc>
                <a:spcPct val="100000"/>
              </a:lnSpc>
              <a:spcBef>
                <a:spcPct val="0"/>
              </a:spcBef>
              <a:spcAft>
                <a:spcPct val="0"/>
              </a:spcAft>
              <a:buClrTx/>
              <a:buSzTx/>
              <a:buFontTx/>
              <a:buNone/>
            </a:pPr>
            <a:endParaRPr lang="en-US" altLang="en-US" sz="1800" dirty="0">
              <a:latin typeface="Roboto" panose="02000000000000000000" pitchFamily="2" charset="0"/>
              <a:ea typeface="Roboto" panose="02000000000000000000" pitchFamily="2" charset="0"/>
            </a:endParaRP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Takt Time: _________________</a:t>
            </a: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Number of Operators: _______</a:t>
            </a:r>
          </a:p>
          <a:p>
            <a:pPr eaLnBrk="1" hangingPunct="1">
              <a:lnSpc>
                <a:spcPct val="100000"/>
              </a:lnSpc>
              <a:spcBef>
                <a:spcPct val="0"/>
              </a:spcBef>
              <a:spcAft>
                <a:spcPct val="0"/>
              </a:spcAft>
              <a:buClrTx/>
              <a:buSzTx/>
              <a:buFontTx/>
              <a:buNone/>
            </a:pPr>
            <a:endParaRPr lang="en-US" altLang="en-US" sz="1800" dirty="0">
              <a:latin typeface="Roboto" panose="02000000000000000000" pitchFamily="2" charset="0"/>
              <a:ea typeface="Roboto" panose="02000000000000000000" pitchFamily="2" charset="0"/>
            </a:endParaRP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Draw the work sequence for each operator:</a:t>
            </a:r>
          </a:p>
        </p:txBody>
      </p:sp>
      <p:grpSp>
        <p:nvGrpSpPr>
          <p:cNvPr id="12" name="Group 89">
            <a:extLst>
              <a:ext uri="{FF2B5EF4-FFF2-40B4-BE49-F238E27FC236}">
                <a16:creationId xmlns:a16="http://schemas.microsoft.com/office/drawing/2014/main" id="{F55CB6CA-8713-EAA6-17A3-615135B3B9C2}"/>
              </a:ext>
            </a:extLst>
          </p:cNvPr>
          <p:cNvGrpSpPr>
            <a:grpSpLocks/>
          </p:cNvGrpSpPr>
          <p:nvPr/>
        </p:nvGrpSpPr>
        <p:grpSpPr bwMode="auto">
          <a:xfrm>
            <a:off x="3086100" y="3690938"/>
            <a:ext cx="6019800" cy="2389187"/>
            <a:chOff x="912" y="2501"/>
            <a:chExt cx="3792" cy="1505"/>
          </a:xfrm>
        </p:grpSpPr>
        <p:sp>
          <p:nvSpPr>
            <p:cNvPr id="13" name="AutoShape 5">
              <a:extLst>
                <a:ext uri="{FF2B5EF4-FFF2-40B4-BE49-F238E27FC236}">
                  <a16:creationId xmlns:a16="http://schemas.microsoft.com/office/drawing/2014/main" id="{E6E13EBE-1561-9999-A50E-3B42A85AF704}"/>
                </a:ext>
              </a:extLst>
            </p:cNvPr>
            <p:cNvSpPr>
              <a:spLocks noChangeAspect="1" noChangeArrowheads="1" noTextEdit="1"/>
            </p:cNvSpPr>
            <p:nvPr/>
          </p:nvSpPr>
          <p:spPr bwMode="auto">
            <a:xfrm>
              <a:off x="912" y="2501"/>
              <a:ext cx="3792" cy="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 name="Rectangle 7">
              <a:extLst>
                <a:ext uri="{FF2B5EF4-FFF2-40B4-BE49-F238E27FC236}">
                  <a16:creationId xmlns:a16="http://schemas.microsoft.com/office/drawing/2014/main" id="{36A8831D-60F8-DB55-BE3A-B0616F70C430}"/>
                </a:ext>
              </a:extLst>
            </p:cNvPr>
            <p:cNvSpPr>
              <a:spLocks noChangeArrowheads="1"/>
            </p:cNvSpPr>
            <p:nvPr/>
          </p:nvSpPr>
          <p:spPr bwMode="auto">
            <a:xfrm>
              <a:off x="3648"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5" name="Rectangle 8">
              <a:extLst>
                <a:ext uri="{FF2B5EF4-FFF2-40B4-BE49-F238E27FC236}">
                  <a16:creationId xmlns:a16="http://schemas.microsoft.com/office/drawing/2014/main" id="{7CFA9515-7D5D-1558-F24A-7160471405B5}"/>
                </a:ext>
              </a:extLst>
            </p:cNvPr>
            <p:cNvSpPr>
              <a:spLocks noChangeArrowheads="1"/>
            </p:cNvSpPr>
            <p:nvPr/>
          </p:nvSpPr>
          <p:spPr bwMode="auto">
            <a:xfrm>
              <a:off x="1176"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6" name="Rectangle 9">
              <a:extLst>
                <a:ext uri="{FF2B5EF4-FFF2-40B4-BE49-F238E27FC236}">
                  <a16:creationId xmlns:a16="http://schemas.microsoft.com/office/drawing/2014/main" id="{41B3A663-64F7-481D-EB0C-27CDFB7A4767}"/>
                </a:ext>
              </a:extLst>
            </p:cNvPr>
            <p:cNvSpPr>
              <a:spLocks noChangeArrowheads="1"/>
            </p:cNvSpPr>
            <p:nvPr/>
          </p:nvSpPr>
          <p:spPr bwMode="auto">
            <a:xfrm>
              <a:off x="2041"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7" name="Rectangle 10">
              <a:extLst>
                <a:ext uri="{FF2B5EF4-FFF2-40B4-BE49-F238E27FC236}">
                  <a16:creationId xmlns:a16="http://schemas.microsoft.com/office/drawing/2014/main" id="{6FC4AF6F-3CC4-B508-04F9-D6A5FBFB4636}"/>
                </a:ext>
              </a:extLst>
            </p:cNvPr>
            <p:cNvSpPr>
              <a:spLocks noChangeArrowheads="1"/>
            </p:cNvSpPr>
            <p:nvPr/>
          </p:nvSpPr>
          <p:spPr bwMode="auto">
            <a:xfrm>
              <a:off x="2824"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8" name="Rectangle 11">
              <a:extLst>
                <a:ext uri="{FF2B5EF4-FFF2-40B4-BE49-F238E27FC236}">
                  <a16:creationId xmlns:a16="http://schemas.microsoft.com/office/drawing/2014/main" id="{7DCB60CC-7C39-A12F-9DD7-136CB4D1551D}"/>
                </a:ext>
              </a:extLst>
            </p:cNvPr>
            <p:cNvSpPr>
              <a:spLocks noChangeArrowheads="1"/>
            </p:cNvSpPr>
            <p:nvPr/>
          </p:nvSpPr>
          <p:spPr bwMode="auto">
            <a:xfrm>
              <a:off x="3648"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9" name="Rectangle 12">
              <a:extLst>
                <a:ext uri="{FF2B5EF4-FFF2-40B4-BE49-F238E27FC236}">
                  <a16:creationId xmlns:a16="http://schemas.microsoft.com/office/drawing/2014/main" id="{3F33B4A9-F283-AE5F-F021-6B49CE159496}"/>
                </a:ext>
              </a:extLst>
            </p:cNvPr>
            <p:cNvSpPr>
              <a:spLocks noChangeArrowheads="1"/>
            </p:cNvSpPr>
            <p:nvPr/>
          </p:nvSpPr>
          <p:spPr bwMode="auto">
            <a:xfrm>
              <a:off x="1176"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0" name="Rectangle 13">
              <a:extLst>
                <a:ext uri="{FF2B5EF4-FFF2-40B4-BE49-F238E27FC236}">
                  <a16:creationId xmlns:a16="http://schemas.microsoft.com/office/drawing/2014/main" id="{5A576E3D-1847-79F2-F4DB-0A6A02FE289F}"/>
                </a:ext>
              </a:extLst>
            </p:cNvPr>
            <p:cNvSpPr>
              <a:spLocks noChangeArrowheads="1"/>
            </p:cNvSpPr>
            <p:nvPr/>
          </p:nvSpPr>
          <p:spPr bwMode="auto">
            <a:xfrm>
              <a:off x="2041"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 name="Rectangle 14">
              <a:extLst>
                <a:ext uri="{FF2B5EF4-FFF2-40B4-BE49-F238E27FC236}">
                  <a16:creationId xmlns:a16="http://schemas.microsoft.com/office/drawing/2014/main" id="{AF3441F8-CE49-37D3-6570-750124868130}"/>
                </a:ext>
              </a:extLst>
            </p:cNvPr>
            <p:cNvSpPr>
              <a:spLocks noChangeArrowheads="1"/>
            </p:cNvSpPr>
            <p:nvPr/>
          </p:nvSpPr>
          <p:spPr bwMode="auto">
            <a:xfrm>
              <a:off x="2824"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 name="Rectangle 15">
              <a:extLst>
                <a:ext uri="{FF2B5EF4-FFF2-40B4-BE49-F238E27FC236}">
                  <a16:creationId xmlns:a16="http://schemas.microsoft.com/office/drawing/2014/main" id="{10CD374E-8CBC-CEC6-CD73-A6D5CD6860E7}"/>
                </a:ext>
              </a:extLst>
            </p:cNvPr>
            <p:cNvSpPr>
              <a:spLocks noChangeArrowheads="1"/>
            </p:cNvSpPr>
            <p:nvPr/>
          </p:nvSpPr>
          <p:spPr bwMode="auto">
            <a:xfrm>
              <a:off x="4348" y="2718"/>
              <a:ext cx="330"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 name="Rectangle 16">
              <a:extLst>
                <a:ext uri="{FF2B5EF4-FFF2-40B4-BE49-F238E27FC236}">
                  <a16:creationId xmlns:a16="http://schemas.microsoft.com/office/drawing/2014/main" id="{85229465-7069-55CD-2451-E2696F475385}"/>
                </a:ext>
              </a:extLst>
            </p:cNvPr>
            <p:cNvSpPr>
              <a:spLocks noChangeArrowheads="1"/>
            </p:cNvSpPr>
            <p:nvPr/>
          </p:nvSpPr>
          <p:spPr bwMode="auto">
            <a:xfrm>
              <a:off x="4348" y="3624"/>
              <a:ext cx="330" cy="247"/>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4" name="Rectangle 17">
              <a:extLst>
                <a:ext uri="{FF2B5EF4-FFF2-40B4-BE49-F238E27FC236}">
                  <a16:creationId xmlns:a16="http://schemas.microsoft.com/office/drawing/2014/main" id="{55CC207D-2CDE-36FE-F374-D85CBD2EB8CC}"/>
                </a:ext>
              </a:extLst>
            </p:cNvPr>
            <p:cNvSpPr>
              <a:spLocks noChangeArrowheads="1"/>
            </p:cNvSpPr>
            <p:nvPr/>
          </p:nvSpPr>
          <p:spPr bwMode="auto">
            <a:xfrm>
              <a:off x="1342" y="267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5s</a:t>
              </a:r>
              <a:endParaRPr lang="en-US" altLang="en-US">
                <a:solidFill>
                  <a:schemeClr val="bg1"/>
                </a:solidFill>
                <a:latin typeface="Roboto" panose="02000000000000000000" pitchFamily="2" charset="0"/>
                <a:ea typeface="Roboto" panose="02000000000000000000" pitchFamily="2" charset="0"/>
              </a:endParaRPr>
            </a:p>
          </p:txBody>
        </p:sp>
        <p:sp>
          <p:nvSpPr>
            <p:cNvPr id="35" name="Rectangle 18">
              <a:extLst>
                <a:ext uri="{FF2B5EF4-FFF2-40B4-BE49-F238E27FC236}">
                  <a16:creationId xmlns:a16="http://schemas.microsoft.com/office/drawing/2014/main" id="{1F2E2B15-BBA9-6A0D-D537-28E9437E8922}"/>
                </a:ext>
              </a:extLst>
            </p:cNvPr>
            <p:cNvSpPr>
              <a:spLocks noChangeArrowheads="1"/>
            </p:cNvSpPr>
            <p:nvPr/>
          </p:nvSpPr>
          <p:spPr bwMode="auto">
            <a:xfrm>
              <a:off x="2166"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22s</a:t>
              </a:r>
              <a:endParaRPr lang="en-US" altLang="en-US">
                <a:solidFill>
                  <a:schemeClr val="bg1"/>
                </a:solidFill>
                <a:latin typeface="Roboto" panose="02000000000000000000" pitchFamily="2" charset="0"/>
                <a:ea typeface="Roboto" panose="02000000000000000000" pitchFamily="2" charset="0"/>
              </a:endParaRPr>
            </a:p>
          </p:txBody>
        </p:sp>
        <p:sp>
          <p:nvSpPr>
            <p:cNvPr id="36" name="Rectangle 19">
              <a:extLst>
                <a:ext uri="{FF2B5EF4-FFF2-40B4-BE49-F238E27FC236}">
                  <a16:creationId xmlns:a16="http://schemas.microsoft.com/office/drawing/2014/main" id="{E7DFF96B-7F5D-1E27-70E5-C708175A2CEF}"/>
                </a:ext>
              </a:extLst>
            </p:cNvPr>
            <p:cNvSpPr>
              <a:spLocks noChangeArrowheads="1"/>
            </p:cNvSpPr>
            <p:nvPr/>
          </p:nvSpPr>
          <p:spPr bwMode="auto">
            <a:xfrm>
              <a:off x="2907"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10s</a:t>
              </a:r>
              <a:endParaRPr lang="en-US" altLang="en-US">
                <a:solidFill>
                  <a:schemeClr val="bg1"/>
                </a:solidFill>
                <a:latin typeface="Roboto" panose="02000000000000000000" pitchFamily="2" charset="0"/>
                <a:ea typeface="Roboto" panose="02000000000000000000" pitchFamily="2" charset="0"/>
              </a:endParaRPr>
            </a:p>
          </p:txBody>
        </p:sp>
        <p:sp>
          <p:nvSpPr>
            <p:cNvPr id="37" name="Rectangle 20">
              <a:extLst>
                <a:ext uri="{FF2B5EF4-FFF2-40B4-BE49-F238E27FC236}">
                  <a16:creationId xmlns:a16="http://schemas.microsoft.com/office/drawing/2014/main" id="{748767A6-1F4F-453E-4343-6415F8BADF36}"/>
                </a:ext>
              </a:extLst>
            </p:cNvPr>
            <p:cNvSpPr>
              <a:spLocks noChangeArrowheads="1"/>
            </p:cNvSpPr>
            <p:nvPr/>
          </p:nvSpPr>
          <p:spPr bwMode="auto">
            <a:xfrm>
              <a:off x="3741"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25s</a:t>
              </a:r>
              <a:endParaRPr lang="en-US" altLang="en-US">
                <a:solidFill>
                  <a:schemeClr val="bg1"/>
                </a:solidFill>
                <a:latin typeface="Roboto" panose="02000000000000000000" pitchFamily="2" charset="0"/>
                <a:ea typeface="Roboto" panose="02000000000000000000" pitchFamily="2" charset="0"/>
              </a:endParaRPr>
            </a:p>
          </p:txBody>
        </p:sp>
        <p:sp>
          <p:nvSpPr>
            <p:cNvPr id="38" name="Rectangle 21">
              <a:extLst>
                <a:ext uri="{FF2B5EF4-FFF2-40B4-BE49-F238E27FC236}">
                  <a16:creationId xmlns:a16="http://schemas.microsoft.com/office/drawing/2014/main" id="{C00390C9-59AA-4DD2-C429-E5A7128B7B3B}"/>
                </a:ext>
              </a:extLst>
            </p:cNvPr>
            <p:cNvSpPr>
              <a:spLocks noChangeArrowheads="1"/>
            </p:cNvSpPr>
            <p:nvPr/>
          </p:nvSpPr>
          <p:spPr bwMode="auto">
            <a:xfrm>
              <a:off x="1342" y="374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8s</a:t>
              </a:r>
              <a:endParaRPr lang="en-US" altLang="en-US">
                <a:solidFill>
                  <a:schemeClr val="bg1"/>
                </a:solidFill>
                <a:latin typeface="Roboto" panose="02000000000000000000" pitchFamily="2" charset="0"/>
                <a:ea typeface="Roboto" panose="02000000000000000000" pitchFamily="2" charset="0"/>
              </a:endParaRPr>
            </a:p>
          </p:txBody>
        </p:sp>
        <p:sp>
          <p:nvSpPr>
            <p:cNvPr id="39" name="Rectangle 22">
              <a:extLst>
                <a:ext uri="{FF2B5EF4-FFF2-40B4-BE49-F238E27FC236}">
                  <a16:creationId xmlns:a16="http://schemas.microsoft.com/office/drawing/2014/main" id="{9DC4158E-3EB7-3AAF-C082-9CE34EE154CB}"/>
                </a:ext>
              </a:extLst>
            </p:cNvPr>
            <p:cNvSpPr>
              <a:spLocks noChangeArrowheads="1"/>
            </p:cNvSpPr>
            <p:nvPr/>
          </p:nvSpPr>
          <p:spPr bwMode="auto">
            <a:xfrm>
              <a:off x="2166" y="374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15s</a:t>
              </a:r>
              <a:endParaRPr lang="en-US" altLang="en-US">
                <a:solidFill>
                  <a:schemeClr val="bg1"/>
                </a:solidFill>
                <a:latin typeface="Roboto" panose="02000000000000000000" pitchFamily="2" charset="0"/>
                <a:ea typeface="Roboto" panose="02000000000000000000" pitchFamily="2" charset="0"/>
              </a:endParaRPr>
            </a:p>
          </p:txBody>
        </p:sp>
        <p:sp>
          <p:nvSpPr>
            <p:cNvPr id="40" name="Rectangle 23">
              <a:extLst>
                <a:ext uri="{FF2B5EF4-FFF2-40B4-BE49-F238E27FC236}">
                  <a16:creationId xmlns:a16="http://schemas.microsoft.com/office/drawing/2014/main" id="{AF1E6C44-885C-4A02-983C-676B2508454C}"/>
                </a:ext>
              </a:extLst>
            </p:cNvPr>
            <p:cNvSpPr>
              <a:spLocks noChangeArrowheads="1"/>
            </p:cNvSpPr>
            <p:nvPr/>
          </p:nvSpPr>
          <p:spPr bwMode="auto">
            <a:xfrm>
              <a:off x="2948" y="374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5s</a:t>
              </a:r>
              <a:endParaRPr lang="en-US" altLang="en-US">
                <a:solidFill>
                  <a:schemeClr val="bg1"/>
                </a:solidFill>
                <a:latin typeface="Roboto" panose="02000000000000000000" pitchFamily="2" charset="0"/>
                <a:ea typeface="Roboto" panose="02000000000000000000" pitchFamily="2" charset="0"/>
              </a:endParaRPr>
            </a:p>
          </p:txBody>
        </p:sp>
        <p:sp>
          <p:nvSpPr>
            <p:cNvPr id="41" name="Rectangle 24">
              <a:extLst>
                <a:ext uri="{FF2B5EF4-FFF2-40B4-BE49-F238E27FC236}">
                  <a16:creationId xmlns:a16="http://schemas.microsoft.com/office/drawing/2014/main" id="{B271D277-95A5-FD2B-0A18-E5746C42BC7A}"/>
                </a:ext>
              </a:extLst>
            </p:cNvPr>
            <p:cNvSpPr>
              <a:spLocks noChangeArrowheads="1"/>
            </p:cNvSpPr>
            <p:nvPr/>
          </p:nvSpPr>
          <p:spPr bwMode="auto">
            <a:xfrm>
              <a:off x="3741" y="374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10s</a:t>
              </a:r>
              <a:endParaRPr lang="en-US" altLang="en-US">
                <a:solidFill>
                  <a:schemeClr val="bg1"/>
                </a:solidFill>
                <a:latin typeface="Roboto" panose="02000000000000000000" pitchFamily="2" charset="0"/>
                <a:ea typeface="Roboto" panose="02000000000000000000" pitchFamily="2" charset="0"/>
              </a:endParaRPr>
            </a:p>
          </p:txBody>
        </p:sp>
        <p:sp>
          <p:nvSpPr>
            <p:cNvPr id="42" name="Rectangle 25">
              <a:extLst>
                <a:ext uri="{FF2B5EF4-FFF2-40B4-BE49-F238E27FC236}">
                  <a16:creationId xmlns:a16="http://schemas.microsoft.com/office/drawing/2014/main" id="{E18E17EF-2616-317F-61BA-9845FF903DA5}"/>
                </a:ext>
              </a:extLst>
            </p:cNvPr>
            <p:cNvSpPr>
              <a:spLocks noChangeArrowheads="1"/>
            </p:cNvSpPr>
            <p:nvPr/>
          </p:nvSpPr>
          <p:spPr bwMode="auto">
            <a:xfrm>
              <a:off x="4430" y="2735"/>
              <a:ext cx="25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RM</a:t>
              </a:r>
              <a:endParaRPr lang="en-US" altLang="en-US">
                <a:solidFill>
                  <a:schemeClr val="bg1"/>
                </a:solidFill>
                <a:latin typeface="Roboto" panose="02000000000000000000" pitchFamily="2" charset="0"/>
                <a:ea typeface="Roboto" panose="02000000000000000000" pitchFamily="2" charset="0"/>
              </a:endParaRPr>
            </a:p>
          </p:txBody>
        </p:sp>
        <p:sp>
          <p:nvSpPr>
            <p:cNvPr id="43" name="Rectangle 26">
              <a:extLst>
                <a:ext uri="{FF2B5EF4-FFF2-40B4-BE49-F238E27FC236}">
                  <a16:creationId xmlns:a16="http://schemas.microsoft.com/office/drawing/2014/main" id="{21A9FC38-A97A-1A65-63B0-2C9A0B96030A}"/>
                </a:ext>
              </a:extLst>
            </p:cNvPr>
            <p:cNvSpPr>
              <a:spLocks noChangeArrowheads="1"/>
            </p:cNvSpPr>
            <p:nvPr/>
          </p:nvSpPr>
          <p:spPr bwMode="auto">
            <a:xfrm>
              <a:off x="4437" y="3641"/>
              <a:ext cx="20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FG</a:t>
              </a:r>
              <a:endParaRPr lang="en-US" altLang="en-US">
                <a:solidFill>
                  <a:schemeClr val="bg1"/>
                </a:solidFill>
                <a:latin typeface="Roboto" panose="02000000000000000000" pitchFamily="2" charset="0"/>
                <a:ea typeface="Roboto" panose="02000000000000000000" pitchFamily="2" charset="0"/>
              </a:endParaRPr>
            </a:p>
          </p:txBody>
        </p:sp>
        <p:sp>
          <p:nvSpPr>
            <p:cNvPr id="44" name="Rectangle 38">
              <a:extLst>
                <a:ext uri="{FF2B5EF4-FFF2-40B4-BE49-F238E27FC236}">
                  <a16:creationId xmlns:a16="http://schemas.microsoft.com/office/drawing/2014/main" id="{5CE50050-05A5-0829-FBA8-69A3591204A0}"/>
                </a:ext>
              </a:extLst>
            </p:cNvPr>
            <p:cNvSpPr>
              <a:spLocks noChangeArrowheads="1"/>
            </p:cNvSpPr>
            <p:nvPr/>
          </p:nvSpPr>
          <p:spPr bwMode="auto">
            <a:xfrm>
              <a:off x="4317" y="308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1</a:t>
              </a:r>
              <a:endParaRPr lang="en-US" altLang="en-US">
                <a:solidFill>
                  <a:schemeClr val="bg1"/>
                </a:solidFill>
                <a:latin typeface="Roboto" panose="02000000000000000000" pitchFamily="2" charset="0"/>
                <a:ea typeface="Roboto" panose="02000000000000000000" pitchFamily="2" charset="0"/>
              </a:endParaRPr>
            </a:p>
          </p:txBody>
        </p:sp>
        <p:sp>
          <p:nvSpPr>
            <p:cNvPr id="45" name="Rectangle 39">
              <a:extLst>
                <a:ext uri="{FF2B5EF4-FFF2-40B4-BE49-F238E27FC236}">
                  <a16:creationId xmlns:a16="http://schemas.microsoft.com/office/drawing/2014/main" id="{D410703F-5377-4C6F-A81F-57736FD7F921}"/>
                </a:ext>
              </a:extLst>
            </p:cNvPr>
            <p:cNvSpPr>
              <a:spLocks noChangeArrowheads="1"/>
            </p:cNvSpPr>
            <p:nvPr/>
          </p:nvSpPr>
          <p:spPr bwMode="auto">
            <a:xfrm>
              <a:off x="3864"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2</a:t>
              </a:r>
              <a:endParaRPr lang="en-US" altLang="en-US">
                <a:solidFill>
                  <a:schemeClr val="bg1"/>
                </a:solidFill>
                <a:latin typeface="Roboto" panose="02000000000000000000" pitchFamily="2" charset="0"/>
                <a:ea typeface="Roboto" panose="02000000000000000000" pitchFamily="2" charset="0"/>
              </a:endParaRPr>
            </a:p>
          </p:txBody>
        </p:sp>
        <p:sp>
          <p:nvSpPr>
            <p:cNvPr id="46" name="Rectangle 40">
              <a:extLst>
                <a:ext uri="{FF2B5EF4-FFF2-40B4-BE49-F238E27FC236}">
                  <a16:creationId xmlns:a16="http://schemas.microsoft.com/office/drawing/2014/main" id="{79ED8540-EE56-5440-EF41-23F28F54E698}"/>
                </a:ext>
              </a:extLst>
            </p:cNvPr>
            <p:cNvSpPr>
              <a:spLocks noChangeArrowheads="1"/>
            </p:cNvSpPr>
            <p:nvPr/>
          </p:nvSpPr>
          <p:spPr bwMode="auto">
            <a:xfrm>
              <a:off x="3040"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3</a:t>
              </a:r>
              <a:endParaRPr lang="en-US" altLang="en-US">
                <a:solidFill>
                  <a:schemeClr val="bg1"/>
                </a:solidFill>
                <a:latin typeface="Roboto" panose="02000000000000000000" pitchFamily="2" charset="0"/>
                <a:ea typeface="Roboto" panose="02000000000000000000" pitchFamily="2" charset="0"/>
              </a:endParaRPr>
            </a:p>
          </p:txBody>
        </p:sp>
        <p:sp>
          <p:nvSpPr>
            <p:cNvPr id="47" name="Rectangle 41">
              <a:extLst>
                <a:ext uri="{FF2B5EF4-FFF2-40B4-BE49-F238E27FC236}">
                  <a16:creationId xmlns:a16="http://schemas.microsoft.com/office/drawing/2014/main" id="{4DD96812-9C02-C000-F6C4-68E21425EB68}"/>
                </a:ext>
              </a:extLst>
            </p:cNvPr>
            <p:cNvSpPr>
              <a:spLocks noChangeArrowheads="1"/>
            </p:cNvSpPr>
            <p:nvPr/>
          </p:nvSpPr>
          <p:spPr bwMode="auto">
            <a:xfrm>
              <a:off x="2257"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4</a:t>
              </a:r>
              <a:endParaRPr lang="en-US" altLang="en-US">
                <a:solidFill>
                  <a:schemeClr val="bg1"/>
                </a:solidFill>
                <a:latin typeface="Roboto" panose="02000000000000000000" pitchFamily="2" charset="0"/>
                <a:ea typeface="Roboto" panose="02000000000000000000" pitchFamily="2" charset="0"/>
              </a:endParaRPr>
            </a:p>
          </p:txBody>
        </p:sp>
        <p:sp>
          <p:nvSpPr>
            <p:cNvPr id="48" name="Rectangle 42">
              <a:extLst>
                <a:ext uri="{FF2B5EF4-FFF2-40B4-BE49-F238E27FC236}">
                  <a16:creationId xmlns:a16="http://schemas.microsoft.com/office/drawing/2014/main" id="{39FCC63E-79D4-E4C4-FD03-6A8BE2E90100}"/>
                </a:ext>
              </a:extLst>
            </p:cNvPr>
            <p:cNvSpPr>
              <a:spLocks noChangeArrowheads="1"/>
            </p:cNvSpPr>
            <p:nvPr/>
          </p:nvSpPr>
          <p:spPr bwMode="auto">
            <a:xfrm>
              <a:off x="1392" y="3001"/>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5</a:t>
              </a:r>
              <a:endParaRPr lang="en-US" altLang="en-US">
                <a:solidFill>
                  <a:schemeClr val="bg1"/>
                </a:solidFill>
                <a:latin typeface="Roboto" panose="02000000000000000000" pitchFamily="2" charset="0"/>
                <a:ea typeface="Roboto" panose="02000000000000000000" pitchFamily="2" charset="0"/>
              </a:endParaRPr>
            </a:p>
          </p:txBody>
        </p:sp>
        <p:sp>
          <p:nvSpPr>
            <p:cNvPr id="49" name="Rectangle 43">
              <a:extLst>
                <a:ext uri="{FF2B5EF4-FFF2-40B4-BE49-F238E27FC236}">
                  <a16:creationId xmlns:a16="http://schemas.microsoft.com/office/drawing/2014/main" id="{76F57DD0-DEFC-3E44-8634-F6FDFA187644}"/>
                </a:ext>
              </a:extLst>
            </p:cNvPr>
            <p:cNvSpPr>
              <a:spLocks noChangeArrowheads="1"/>
            </p:cNvSpPr>
            <p:nvPr/>
          </p:nvSpPr>
          <p:spPr bwMode="auto">
            <a:xfrm>
              <a:off x="1383"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6</a:t>
              </a:r>
              <a:endParaRPr lang="en-US" altLang="en-US">
                <a:solidFill>
                  <a:schemeClr val="bg1"/>
                </a:solidFill>
                <a:latin typeface="Roboto" panose="02000000000000000000" pitchFamily="2" charset="0"/>
                <a:ea typeface="Roboto" panose="02000000000000000000" pitchFamily="2" charset="0"/>
              </a:endParaRPr>
            </a:p>
          </p:txBody>
        </p:sp>
        <p:sp>
          <p:nvSpPr>
            <p:cNvPr id="50" name="Rectangle 44">
              <a:extLst>
                <a:ext uri="{FF2B5EF4-FFF2-40B4-BE49-F238E27FC236}">
                  <a16:creationId xmlns:a16="http://schemas.microsoft.com/office/drawing/2014/main" id="{158F517D-BB50-E5D2-08BC-7949122A7A46}"/>
                </a:ext>
              </a:extLst>
            </p:cNvPr>
            <p:cNvSpPr>
              <a:spLocks noChangeArrowheads="1"/>
            </p:cNvSpPr>
            <p:nvPr/>
          </p:nvSpPr>
          <p:spPr bwMode="auto">
            <a:xfrm>
              <a:off x="2249"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7</a:t>
              </a:r>
              <a:endParaRPr lang="en-US" altLang="en-US">
                <a:solidFill>
                  <a:schemeClr val="bg1"/>
                </a:solidFill>
                <a:latin typeface="Roboto" panose="02000000000000000000" pitchFamily="2" charset="0"/>
                <a:ea typeface="Roboto" panose="02000000000000000000" pitchFamily="2" charset="0"/>
              </a:endParaRPr>
            </a:p>
          </p:txBody>
        </p:sp>
        <p:sp>
          <p:nvSpPr>
            <p:cNvPr id="51" name="Rectangle 45">
              <a:extLst>
                <a:ext uri="{FF2B5EF4-FFF2-40B4-BE49-F238E27FC236}">
                  <a16:creationId xmlns:a16="http://schemas.microsoft.com/office/drawing/2014/main" id="{08CB3154-2B49-7797-20EE-21D99299F995}"/>
                </a:ext>
              </a:extLst>
            </p:cNvPr>
            <p:cNvSpPr>
              <a:spLocks noChangeArrowheads="1"/>
            </p:cNvSpPr>
            <p:nvPr/>
          </p:nvSpPr>
          <p:spPr bwMode="auto">
            <a:xfrm>
              <a:off x="2998" y="3494"/>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8</a:t>
              </a:r>
              <a:endParaRPr lang="en-US" altLang="en-US">
                <a:solidFill>
                  <a:schemeClr val="bg1"/>
                </a:solidFill>
                <a:latin typeface="Roboto" panose="02000000000000000000" pitchFamily="2" charset="0"/>
                <a:ea typeface="Roboto" panose="02000000000000000000" pitchFamily="2" charset="0"/>
              </a:endParaRPr>
            </a:p>
          </p:txBody>
        </p:sp>
        <p:sp>
          <p:nvSpPr>
            <p:cNvPr id="52" name="Rectangle 46">
              <a:extLst>
                <a:ext uri="{FF2B5EF4-FFF2-40B4-BE49-F238E27FC236}">
                  <a16:creationId xmlns:a16="http://schemas.microsoft.com/office/drawing/2014/main" id="{98175603-1F26-F18B-6E21-48DAE8015E6B}"/>
                </a:ext>
              </a:extLst>
            </p:cNvPr>
            <p:cNvSpPr>
              <a:spLocks noChangeArrowheads="1"/>
            </p:cNvSpPr>
            <p:nvPr/>
          </p:nvSpPr>
          <p:spPr bwMode="auto">
            <a:xfrm>
              <a:off x="3814"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9</a:t>
              </a:r>
              <a:endParaRPr lang="en-US" altLang="en-US">
                <a:solidFill>
                  <a:schemeClr val="bg1"/>
                </a:solidFill>
                <a:latin typeface="Roboto" panose="02000000000000000000" pitchFamily="2" charset="0"/>
                <a:ea typeface="Roboto" panose="02000000000000000000" pitchFamily="2" charset="0"/>
              </a:endParaRPr>
            </a:p>
          </p:txBody>
        </p:sp>
        <p:sp>
          <p:nvSpPr>
            <p:cNvPr id="53" name="Rectangle 47">
              <a:extLst>
                <a:ext uri="{FF2B5EF4-FFF2-40B4-BE49-F238E27FC236}">
                  <a16:creationId xmlns:a16="http://schemas.microsoft.com/office/drawing/2014/main" id="{F347BBE1-C723-6B39-7984-883F587E30BE}"/>
                </a:ext>
              </a:extLst>
            </p:cNvPr>
            <p:cNvSpPr>
              <a:spLocks noChangeArrowheads="1"/>
            </p:cNvSpPr>
            <p:nvPr/>
          </p:nvSpPr>
          <p:spPr bwMode="auto">
            <a:xfrm>
              <a:off x="4317" y="3411"/>
              <a:ext cx="153"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10</a:t>
              </a:r>
              <a:endParaRPr lang="en-US" altLang="en-US">
                <a:solidFill>
                  <a:schemeClr val="bg1"/>
                </a:solidFill>
                <a:latin typeface="Roboto" panose="02000000000000000000" pitchFamily="2" charset="0"/>
                <a:ea typeface="Roboto" panose="02000000000000000000" pitchFamily="2" charset="0"/>
              </a:endParaRPr>
            </a:p>
          </p:txBody>
        </p:sp>
        <p:sp>
          <p:nvSpPr>
            <p:cNvPr id="54" name="Rectangle 48">
              <a:extLst>
                <a:ext uri="{FF2B5EF4-FFF2-40B4-BE49-F238E27FC236}">
                  <a16:creationId xmlns:a16="http://schemas.microsoft.com/office/drawing/2014/main" id="{2EE58193-21CC-5F0E-2F2B-0172960503B2}"/>
                </a:ext>
              </a:extLst>
            </p:cNvPr>
            <p:cNvSpPr>
              <a:spLocks noChangeArrowheads="1"/>
            </p:cNvSpPr>
            <p:nvPr/>
          </p:nvSpPr>
          <p:spPr bwMode="auto">
            <a:xfrm>
              <a:off x="3648"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5" name="Rectangle 49">
              <a:extLst>
                <a:ext uri="{FF2B5EF4-FFF2-40B4-BE49-F238E27FC236}">
                  <a16:creationId xmlns:a16="http://schemas.microsoft.com/office/drawing/2014/main" id="{16619557-01D8-FAE4-6F63-920557CD9145}"/>
                </a:ext>
              </a:extLst>
            </p:cNvPr>
            <p:cNvSpPr>
              <a:spLocks noChangeArrowheads="1"/>
            </p:cNvSpPr>
            <p:nvPr/>
          </p:nvSpPr>
          <p:spPr bwMode="auto">
            <a:xfrm>
              <a:off x="1176"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6" name="Rectangle 50">
              <a:extLst>
                <a:ext uri="{FF2B5EF4-FFF2-40B4-BE49-F238E27FC236}">
                  <a16:creationId xmlns:a16="http://schemas.microsoft.com/office/drawing/2014/main" id="{8532B859-C50D-0C15-2E06-6C63D04A2822}"/>
                </a:ext>
              </a:extLst>
            </p:cNvPr>
            <p:cNvSpPr>
              <a:spLocks noChangeArrowheads="1"/>
            </p:cNvSpPr>
            <p:nvPr/>
          </p:nvSpPr>
          <p:spPr bwMode="auto">
            <a:xfrm>
              <a:off x="2041"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7" name="Rectangle 51">
              <a:extLst>
                <a:ext uri="{FF2B5EF4-FFF2-40B4-BE49-F238E27FC236}">
                  <a16:creationId xmlns:a16="http://schemas.microsoft.com/office/drawing/2014/main" id="{1A2C7094-DFDE-FE9A-8334-6A17DE3277A1}"/>
                </a:ext>
              </a:extLst>
            </p:cNvPr>
            <p:cNvSpPr>
              <a:spLocks noChangeArrowheads="1"/>
            </p:cNvSpPr>
            <p:nvPr/>
          </p:nvSpPr>
          <p:spPr bwMode="auto">
            <a:xfrm>
              <a:off x="2824"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8" name="Rectangle 52">
              <a:extLst>
                <a:ext uri="{FF2B5EF4-FFF2-40B4-BE49-F238E27FC236}">
                  <a16:creationId xmlns:a16="http://schemas.microsoft.com/office/drawing/2014/main" id="{BD6C0049-7E75-013E-89CC-E0B5F2F5B367}"/>
                </a:ext>
              </a:extLst>
            </p:cNvPr>
            <p:cNvSpPr>
              <a:spLocks noChangeArrowheads="1"/>
            </p:cNvSpPr>
            <p:nvPr/>
          </p:nvSpPr>
          <p:spPr bwMode="auto">
            <a:xfrm>
              <a:off x="3648"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9" name="Rectangle 53">
              <a:extLst>
                <a:ext uri="{FF2B5EF4-FFF2-40B4-BE49-F238E27FC236}">
                  <a16:creationId xmlns:a16="http://schemas.microsoft.com/office/drawing/2014/main" id="{0CA5BC26-06D0-0702-4FD2-9920FDFA56D0}"/>
                </a:ext>
              </a:extLst>
            </p:cNvPr>
            <p:cNvSpPr>
              <a:spLocks noChangeArrowheads="1"/>
            </p:cNvSpPr>
            <p:nvPr/>
          </p:nvSpPr>
          <p:spPr bwMode="auto">
            <a:xfrm>
              <a:off x="1176"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0" name="Rectangle 54">
              <a:extLst>
                <a:ext uri="{FF2B5EF4-FFF2-40B4-BE49-F238E27FC236}">
                  <a16:creationId xmlns:a16="http://schemas.microsoft.com/office/drawing/2014/main" id="{D067980B-1961-8619-97A6-0A93563E157A}"/>
                </a:ext>
              </a:extLst>
            </p:cNvPr>
            <p:cNvSpPr>
              <a:spLocks noChangeArrowheads="1"/>
            </p:cNvSpPr>
            <p:nvPr/>
          </p:nvSpPr>
          <p:spPr bwMode="auto">
            <a:xfrm>
              <a:off x="2041"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1" name="Rectangle 55">
              <a:extLst>
                <a:ext uri="{FF2B5EF4-FFF2-40B4-BE49-F238E27FC236}">
                  <a16:creationId xmlns:a16="http://schemas.microsoft.com/office/drawing/2014/main" id="{1988C24B-F3E9-5304-804E-7FFEA2870DCA}"/>
                </a:ext>
              </a:extLst>
            </p:cNvPr>
            <p:cNvSpPr>
              <a:spLocks noChangeArrowheads="1"/>
            </p:cNvSpPr>
            <p:nvPr/>
          </p:nvSpPr>
          <p:spPr bwMode="auto">
            <a:xfrm>
              <a:off x="2824"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2" name="Rectangle 56">
              <a:extLst>
                <a:ext uri="{FF2B5EF4-FFF2-40B4-BE49-F238E27FC236}">
                  <a16:creationId xmlns:a16="http://schemas.microsoft.com/office/drawing/2014/main" id="{0878B540-668D-0C79-5561-AC65111F7D6A}"/>
                </a:ext>
              </a:extLst>
            </p:cNvPr>
            <p:cNvSpPr>
              <a:spLocks noChangeArrowheads="1"/>
            </p:cNvSpPr>
            <p:nvPr/>
          </p:nvSpPr>
          <p:spPr bwMode="auto">
            <a:xfrm>
              <a:off x="4348" y="2718"/>
              <a:ext cx="330"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3" name="Rectangle 57">
              <a:extLst>
                <a:ext uri="{FF2B5EF4-FFF2-40B4-BE49-F238E27FC236}">
                  <a16:creationId xmlns:a16="http://schemas.microsoft.com/office/drawing/2014/main" id="{02614E5D-FF7E-FAD6-F752-9B5138BF80BB}"/>
                </a:ext>
              </a:extLst>
            </p:cNvPr>
            <p:cNvSpPr>
              <a:spLocks noChangeArrowheads="1"/>
            </p:cNvSpPr>
            <p:nvPr/>
          </p:nvSpPr>
          <p:spPr bwMode="auto">
            <a:xfrm>
              <a:off x="4348" y="3624"/>
              <a:ext cx="330" cy="247"/>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4" name="Rectangle 58">
              <a:extLst>
                <a:ext uri="{FF2B5EF4-FFF2-40B4-BE49-F238E27FC236}">
                  <a16:creationId xmlns:a16="http://schemas.microsoft.com/office/drawing/2014/main" id="{748E6280-3DF4-140E-63BC-3785B3E0C72D}"/>
                </a:ext>
              </a:extLst>
            </p:cNvPr>
            <p:cNvSpPr>
              <a:spLocks noChangeArrowheads="1"/>
            </p:cNvSpPr>
            <p:nvPr/>
          </p:nvSpPr>
          <p:spPr bwMode="auto">
            <a:xfrm>
              <a:off x="1342" y="267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5s</a:t>
              </a:r>
              <a:endParaRPr lang="en-US" altLang="en-US">
                <a:solidFill>
                  <a:schemeClr val="bg1"/>
                </a:solidFill>
                <a:latin typeface="Roboto" panose="02000000000000000000" pitchFamily="2" charset="0"/>
                <a:ea typeface="Roboto" panose="02000000000000000000" pitchFamily="2" charset="0"/>
              </a:endParaRPr>
            </a:p>
          </p:txBody>
        </p:sp>
        <p:sp>
          <p:nvSpPr>
            <p:cNvPr id="65" name="Rectangle 59">
              <a:extLst>
                <a:ext uri="{FF2B5EF4-FFF2-40B4-BE49-F238E27FC236}">
                  <a16:creationId xmlns:a16="http://schemas.microsoft.com/office/drawing/2014/main" id="{F2514BC5-16B5-2DA7-1478-1A1FADEFE644}"/>
                </a:ext>
              </a:extLst>
            </p:cNvPr>
            <p:cNvSpPr>
              <a:spLocks noChangeArrowheads="1"/>
            </p:cNvSpPr>
            <p:nvPr/>
          </p:nvSpPr>
          <p:spPr bwMode="auto">
            <a:xfrm>
              <a:off x="2166"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22s</a:t>
              </a:r>
              <a:endParaRPr lang="en-US" altLang="en-US">
                <a:solidFill>
                  <a:schemeClr val="bg1"/>
                </a:solidFill>
                <a:latin typeface="Roboto" panose="02000000000000000000" pitchFamily="2" charset="0"/>
                <a:ea typeface="Roboto" panose="02000000000000000000" pitchFamily="2" charset="0"/>
              </a:endParaRPr>
            </a:p>
          </p:txBody>
        </p:sp>
        <p:sp>
          <p:nvSpPr>
            <p:cNvPr id="66" name="Rectangle 60">
              <a:extLst>
                <a:ext uri="{FF2B5EF4-FFF2-40B4-BE49-F238E27FC236}">
                  <a16:creationId xmlns:a16="http://schemas.microsoft.com/office/drawing/2014/main" id="{7DE4ABC5-7175-7142-6819-EE2BA259CFB2}"/>
                </a:ext>
              </a:extLst>
            </p:cNvPr>
            <p:cNvSpPr>
              <a:spLocks noChangeArrowheads="1"/>
            </p:cNvSpPr>
            <p:nvPr/>
          </p:nvSpPr>
          <p:spPr bwMode="auto">
            <a:xfrm>
              <a:off x="2907"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10s</a:t>
              </a:r>
              <a:endParaRPr lang="en-US" altLang="en-US">
                <a:solidFill>
                  <a:schemeClr val="bg1"/>
                </a:solidFill>
                <a:latin typeface="Roboto" panose="02000000000000000000" pitchFamily="2" charset="0"/>
                <a:ea typeface="Roboto" panose="02000000000000000000" pitchFamily="2" charset="0"/>
              </a:endParaRPr>
            </a:p>
          </p:txBody>
        </p:sp>
        <p:sp>
          <p:nvSpPr>
            <p:cNvPr id="67" name="Rectangle 61">
              <a:extLst>
                <a:ext uri="{FF2B5EF4-FFF2-40B4-BE49-F238E27FC236}">
                  <a16:creationId xmlns:a16="http://schemas.microsoft.com/office/drawing/2014/main" id="{716AED00-75D0-D67C-47C9-C07EAE708602}"/>
                </a:ext>
              </a:extLst>
            </p:cNvPr>
            <p:cNvSpPr>
              <a:spLocks noChangeArrowheads="1"/>
            </p:cNvSpPr>
            <p:nvPr/>
          </p:nvSpPr>
          <p:spPr bwMode="auto">
            <a:xfrm>
              <a:off x="3741"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25s</a:t>
              </a:r>
              <a:endParaRPr lang="en-US" altLang="en-US">
                <a:solidFill>
                  <a:schemeClr val="bg1"/>
                </a:solidFill>
                <a:latin typeface="Roboto" panose="02000000000000000000" pitchFamily="2" charset="0"/>
                <a:ea typeface="Roboto" panose="02000000000000000000" pitchFamily="2" charset="0"/>
              </a:endParaRPr>
            </a:p>
          </p:txBody>
        </p:sp>
        <p:sp>
          <p:nvSpPr>
            <p:cNvPr id="68" name="Rectangle 62">
              <a:extLst>
                <a:ext uri="{FF2B5EF4-FFF2-40B4-BE49-F238E27FC236}">
                  <a16:creationId xmlns:a16="http://schemas.microsoft.com/office/drawing/2014/main" id="{DD330A15-6CB3-B8DB-4421-CF6A50BA496E}"/>
                </a:ext>
              </a:extLst>
            </p:cNvPr>
            <p:cNvSpPr>
              <a:spLocks noChangeArrowheads="1"/>
            </p:cNvSpPr>
            <p:nvPr/>
          </p:nvSpPr>
          <p:spPr bwMode="auto">
            <a:xfrm>
              <a:off x="1342" y="374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8s</a:t>
              </a:r>
              <a:endParaRPr lang="en-US" altLang="en-US">
                <a:solidFill>
                  <a:schemeClr val="bg1"/>
                </a:solidFill>
                <a:latin typeface="Roboto" panose="02000000000000000000" pitchFamily="2" charset="0"/>
                <a:ea typeface="Roboto" panose="02000000000000000000" pitchFamily="2" charset="0"/>
              </a:endParaRPr>
            </a:p>
          </p:txBody>
        </p:sp>
        <p:sp>
          <p:nvSpPr>
            <p:cNvPr id="69" name="Rectangle 63">
              <a:extLst>
                <a:ext uri="{FF2B5EF4-FFF2-40B4-BE49-F238E27FC236}">
                  <a16:creationId xmlns:a16="http://schemas.microsoft.com/office/drawing/2014/main" id="{1BDD8764-3278-E39F-1DEF-77D424B4B20E}"/>
                </a:ext>
              </a:extLst>
            </p:cNvPr>
            <p:cNvSpPr>
              <a:spLocks noChangeArrowheads="1"/>
            </p:cNvSpPr>
            <p:nvPr/>
          </p:nvSpPr>
          <p:spPr bwMode="auto">
            <a:xfrm>
              <a:off x="2166" y="374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15s</a:t>
              </a:r>
              <a:endParaRPr lang="en-US" altLang="en-US">
                <a:solidFill>
                  <a:schemeClr val="bg1"/>
                </a:solidFill>
                <a:latin typeface="Roboto" panose="02000000000000000000" pitchFamily="2" charset="0"/>
                <a:ea typeface="Roboto" panose="02000000000000000000" pitchFamily="2" charset="0"/>
              </a:endParaRPr>
            </a:p>
          </p:txBody>
        </p:sp>
        <p:sp>
          <p:nvSpPr>
            <p:cNvPr id="70" name="Rectangle 64">
              <a:extLst>
                <a:ext uri="{FF2B5EF4-FFF2-40B4-BE49-F238E27FC236}">
                  <a16:creationId xmlns:a16="http://schemas.microsoft.com/office/drawing/2014/main" id="{0A79291F-AF33-E525-655D-743C954E9943}"/>
                </a:ext>
              </a:extLst>
            </p:cNvPr>
            <p:cNvSpPr>
              <a:spLocks noChangeArrowheads="1"/>
            </p:cNvSpPr>
            <p:nvPr/>
          </p:nvSpPr>
          <p:spPr bwMode="auto">
            <a:xfrm>
              <a:off x="2948" y="374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5s</a:t>
              </a:r>
              <a:endParaRPr lang="en-US" altLang="en-US">
                <a:solidFill>
                  <a:schemeClr val="bg1"/>
                </a:solidFill>
                <a:latin typeface="Roboto" panose="02000000000000000000" pitchFamily="2" charset="0"/>
                <a:ea typeface="Roboto" panose="02000000000000000000" pitchFamily="2" charset="0"/>
              </a:endParaRPr>
            </a:p>
          </p:txBody>
        </p:sp>
        <p:sp>
          <p:nvSpPr>
            <p:cNvPr id="71" name="Rectangle 65">
              <a:extLst>
                <a:ext uri="{FF2B5EF4-FFF2-40B4-BE49-F238E27FC236}">
                  <a16:creationId xmlns:a16="http://schemas.microsoft.com/office/drawing/2014/main" id="{4BEBB060-45E6-9428-DBA6-3A8AF81D7F8E}"/>
                </a:ext>
              </a:extLst>
            </p:cNvPr>
            <p:cNvSpPr>
              <a:spLocks noChangeArrowheads="1"/>
            </p:cNvSpPr>
            <p:nvPr/>
          </p:nvSpPr>
          <p:spPr bwMode="auto">
            <a:xfrm>
              <a:off x="3741" y="374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10s</a:t>
              </a:r>
              <a:endParaRPr lang="en-US" altLang="en-US">
                <a:solidFill>
                  <a:schemeClr val="bg1"/>
                </a:solidFill>
                <a:latin typeface="Roboto" panose="02000000000000000000" pitchFamily="2" charset="0"/>
                <a:ea typeface="Roboto" panose="02000000000000000000" pitchFamily="2" charset="0"/>
              </a:endParaRPr>
            </a:p>
          </p:txBody>
        </p:sp>
        <p:sp>
          <p:nvSpPr>
            <p:cNvPr id="72" name="Rectangle 66">
              <a:extLst>
                <a:ext uri="{FF2B5EF4-FFF2-40B4-BE49-F238E27FC236}">
                  <a16:creationId xmlns:a16="http://schemas.microsoft.com/office/drawing/2014/main" id="{B1D9CC0A-7881-D803-57C6-D0F8FCD61181}"/>
                </a:ext>
              </a:extLst>
            </p:cNvPr>
            <p:cNvSpPr>
              <a:spLocks noChangeArrowheads="1"/>
            </p:cNvSpPr>
            <p:nvPr/>
          </p:nvSpPr>
          <p:spPr bwMode="auto">
            <a:xfrm>
              <a:off x="4430" y="2735"/>
              <a:ext cx="25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dirty="0">
                  <a:solidFill>
                    <a:srgbClr val="000000"/>
                  </a:solidFill>
                  <a:latin typeface="Roboto" panose="02000000000000000000" pitchFamily="2" charset="0"/>
                  <a:ea typeface="Roboto" panose="02000000000000000000" pitchFamily="2" charset="0"/>
                </a:rPr>
                <a:t>RM</a:t>
              </a:r>
              <a:endParaRPr lang="en-US" altLang="en-US" dirty="0">
                <a:solidFill>
                  <a:schemeClr val="bg1"/>
                </a:solidFill>
                <a:latin typeface="Roboto" panose="02000000000000000000" pitchFamily="2" charset="0"/>
                <a:ea typeface="Roboto" panose="02000000000000000000" pitchFamily="2" charset="0"/>
              </a:endParaRPr>
            </a:p>
          </p:txBody>
        </p:sp>
        <p:sp>
          <p:nvSpPr>
            <p:cNvPr id="73" name="Rectangle 67">
              <a:extLst>
                <a:ext uri="{FF2B5EF4-FFF2-40B4-BE49-F238E27FC236}">
                  <a16:creationId xmlns:a16="http://schemas.microsoft.com/office/drawing/2014/main" id="{2BB71122-3899-94C6-5062-32BD580651A6}"/>
                </a:ext>
              </a:extLst>
            </p:cNvPr>
            <p:cNvSpPr>
              <a:spLocks noChangeArrowheads="1"/>
            </p:cNvSpPr>
            <p:nvPr/>
          </p:nvSpPr>
          <p:spPr bwMode="auto">
            <a:xfrm>
              <a:off x="4437" y="3641"/>
              <a:ext cx="20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FG</a:t>
              </a:r>
              <a:endParaRPr lang="en-US" altLang="en-US">
                <a:solidFill>
                  <a:schemeClr val="bg1"/>
                </a:solidFill>
                <a:latin typeface="Roboto" panose="02000000000000000000" pitchFamily="2" charset="0"/>
                <a:ea typeface="Roboto" panose="02000000000000000000" pitchFamily="2" charset="0"/>
              </a:endParaRPr>
            </a:p>
          </p:txBody>
        </p:sp>
        <p:sp>
          <p:nvSpPr>
            <p:cNvPr id="74" name="Rectangle 79">
              <a:extLst>
                <a:ext uri="{FF2B5EF4-FFF2-40B4-BE49-F238E27FC236}">
                  <a16:creationId xmlns:a16="http://schemas.microsoft.com/office/drawing/2014/main" id="{83BED60D-6F42-2168-9BDC-B10544D3AF8F}"/>
                </a:ext>
              </a:extLst>
            </p:cNvPr>
            <p:cNvSpPr>
              <a:spLocks noChangeArrowheads="1"/>
            </p:cNvSpPr>
            <p:nvPr/>
          </p:nvSpPr>
          <p:spPr bwMode="auto">
            <a:xfrm>
              <a:off x="4317" y="308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1</a:t>
              </a:r>
              <a:endParaRPr lang="en-US" altLang="en-US">
                <a:solidFill>
                  <a:schemeClr val="bg1"/>
                </a:solidFill>
                <a:latin typeface="Roboto" panose="02000000000000000000" pitchFamily="2" charset="0"/>
                <a:ea typeface="Roboto" panose="02000000000000000000" pitchFamily="2" charset="0"/>
              </a:endParaRPr>
            </a:p>
          </p:txBody>
        </p:sp>
        <p:sp>
          <p:nvSpPr>
            <p:cNvPr id="75" name="Rectangle 80">
              <a:extLst>
                <a:ext uri="{FF2B5EF4-FFF2-40B4-BE49-F238E27FC236}">
                  <a16:creationId xmlns:a16="http://schemas.microsoft.com/office/drawing/2014/main" id="{D98CAE6F-E29F-B303-4979-BCD51A3E82A0}"/>
                </a:ext>
              </a:extLst>
            </p:cNvPr>
            <p:cNvSpPr>
              <a:spLocks noChangeArrowheads="1"/>
            </p:cNvSpPr>
            <p:nvPr/>
          </p:nvSpPr>
          <p:spPr bwMode="auto">
            <a:xfrm>
              <a:off x="3864"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2</a:t>
              </a:r>
              <a:endParaRPr lang="en-US" altLang="en-US">
                <a:solidFill>
                  <a:schemeClr val="bg1"/>
                </a:solidFill>
                <a:latin typeface="Roboto" panose="02000000000000000000" pitchFamily="2" charset="0"/>
                <a:ea typeface="Roboto" panose="02000000000000000000" pitchFamily="2" charset="0"/>
              </a:endParaRPr>
            </a:p>
          </p:txBody>
        </p:sp>
        <p:sp>
          <p:nvSpPr>
            <p:cNvPr id="76" name="Rectangle 81">
              <a:extLst>
                <a:ext uri="{FF2B5EF4-FFF2-40B4-BE49-F238E27FC236}">
                  <a16:creationId xmlns:a16="http://schemas.microsoft.com/office/drawing/2014/main" id="{F3D93878-7527-0FBD-9E85-5F59BF1CEEBE}"/>
                </a:ext>
              </a:extLst>
            </p:cNvPr>
            <p:cNvSpPr>
              <a:spLocks noChangeArrowheads="1"/>
            </p:cNvSpPr>
            <p:nvPr/>
          </p:nvSpPr>
          <p:spPr bwMode="auto">
            <a:xfrm>
              <a:off x="3040"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3</a:t>
              </a:r>
              <a:endParaRPr lang="en-US" altLang="en-US">
                <a:solidFill>
                  <a:schemeClr val="bg1"/>
                </a:solidFill>
                <a:latin typeface="Roboto" panose="02000000000000000000" pitchFamily="2" charset="0"/>
                <a:ea typeface="Roboto" panose="02000000000000000000" pitchFamily="2" charset="0"/>
              </a:endParaRPr>
            </a:p>
          </p:txBody>
        </p:sp>
        <p:sp>
          <p:nvSpPr>
            <p:cNvPr id="77" name="Rectangle 82">
              <a:extLst>
                <a:ext uri="{FF2B5EF4-FFF2-40B4-BE49-F238E27FC236}">
                  <a16:creationId xmlns:a16="http://schemas.microsoft.com/office/drawing/2014/main" id="{27E113D7-EC82-5EE7-36E6-EBB3913A4AB9}"/>
                </a:ext>
              </a:extLst>
            </p:cNvPr>
            <p:cNvSpPr>
              <a:spLocks noChangeArrowheads="1"/>
            </p:cNvSpPr>
            <p:nvPr/>
          </p:nvSpPr>
          <p:spPr bwMode="auto">
            <a:xfrm>
              <a:off x="2257"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4</a:t>
              </a:r>
              <a:endParaRPr lang="en-US" altLang="en-US">
                <a:solidFill>
                  <a:schemeClr val="bg1"/>
                </a:solidFill>
                <a:latin typeface="Roboto" panose="02000000000000000000" pitchFamily="2" charset="0"/>
                <a:ea typeface="Roboto" panose="02000000000000000000" pitchFamily="2" charset="0"/>
              </a:endParaRPr>
            </a:p>
          </p:txBody>
        </p:sp>
        <p:sp>
          <p:nvSpPr>
            <p:cNvPr id="78" name="Rectangle 83">
              <a:extLst>
                <a:ext uri="{FF2B5EF4-FFF2-40B4-BE49-F238E27FC236}">
                  <a16:creationId xmlns:a16="http://schemas.microsoft.com/office/drawing/2014/main" id="{2EA7FE43-88D0-795E-0D00-5907F9D8ED7D}"/>
                </a:ext>
              </a:extLst>
            </p:cNvPr>
            <p:cNvSpPr>
              <a:spLocks noChangeArrowheads="1"/>
            </p:cNvSpPr>
            <p:nvPr/>
          </p:nvSpPr>
          <p:spPr bwMode="auto">
            <a:xfrm>
              <a:off x="1392" y="3001"/>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5</a:t>
              </a:r>
              <a:endParaRPr lang="en-US" altLang="en-US">
                <a:solidFill>
                  <a:schemeClr val="bg1"/>
                </a:solidFill>
                <a:latin typeface="Roboto" panose="02000000000000000000" pitchFamily="2" charset="0"/>
                <a:ea typeface="Roboto" panose="02000000000000000000" pitchFamily="2" charset="0"/>
              </a:endParaRPr>
            </a:p>
          </p:txBody>
        </p:sp>
        <p:sp>
          <p:nvSpPr>
            <p:cNvPr id="79" name="Rectangle 84">
              <a:extLst>
                <a:ext uri="{FF2B5EF4-FFF2-40B4-BE49-F238E27FC236}">
                  <a16:creationId xmlns:a16="http://schemas.microsoft.com/office/drawing/2014/main" id="{1326E493-D949-57FB-A868-30BB779F96C8}"/>
                </a:ext>
              </a:extLst>
            </p:cNvPr>
            <p:cNvSpPr>
              <a:spLocks noChangeArrowheads="1"/>
            </p:cNvSpPr>
            <p:nvPr/>
          </p:nvSpPr>
          <p:spPr bwMode="auto">
            <a:xfrm>
              <a:off x="1383"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6</a:t>
              </a:r>
              <a:endParaRPr lang="en-US" altLang="en-US">
                <a:solidFill>
                  <a:schemeClr val="bg1"/>
                </a:solidFill>
                <a:latin typeface="Roboto" panose="02000000000000000000" pitchFamily="2" charset="0"/>
                <a:ea typeface="Roboto" panose="02000000000000000000" pitchFamily="2" charset="0"/>
              </a:endParaRPr>
            </a:p>
          </p:txBody>
        </p:sp>
        <p:sp>
          <p:nvSpPr>
            <p:cNvPr id="80" name="Rectangle 85">
              <a:extLst>
                <a:ext uri="{FF2B5EF4-FFF2-40B4-BE49-F238E27FC236}">
                  <a16:creationId xmlns:a16="http://schemas.microsoft.com/office/drawing/2014/main" id="{E73014F3-F48B-21CF-2509-3AC29BFCB00C}"/>
                </a:ext>
              </a:extLst>
            </p:cNvPr>
            <p:cNvSpPr>
              <a:spLocks noChangeArrowheads="1"/>
            </p:cNvSpPr>
            <p:nvPr/>
          </p:nvSpPr>
          <p:spPr bwMode="auto">
            <a:xfrm>
              <a:off x="2249"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7</a:t>
              </a:r>
              <a:endParaRPr lang="en-US" altLang="en-US">
                <a:solidFill>
                  <a:schemeClr val="bg1"/>
                </a:solidFill>
                <a:latin typeface="Roboto" panose="02000000000000000000" pitchFamily="2" charset="0"/>
                <a:ea typeface="Roboto" panose="02000000000000000000" pitchFamily="2" charset="0"/>
              </a:endParaRPr>
            </a:p>
          </p:txBody>
        </p:sp>
        <p:sp>
          <p:nvSpPr>
            <p:cNvPr id="81" name="Rectangle 86">
              <a:extLst>
                <a:ext uri="{FF2B5EF4-FFF2-40B4-BE49-F238E27FC236}">
                  <a16:creationId xmlns:a16="http://schemas.microsoft.com/office/drawing/2014/main" id="{AC956848-6222-6C43-D660-E9B7C6485265}"/>
                </a:ext>
              </a:extLst>
            </p:cNvPr>
            <p:cNvSpPr>
              <a:spLocks noChangeArrowheads="1"/>
            </p:cNvSpPr>
            <p:nvPr/>
          </p:nvSpPr>
          <p:spPr bwMode="auto">
            <a:xfrm>
              <a:off x="2998" y="3494"/>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8</a:t>
              </a:r>
              <a:endParaRPr lang="en-US" altLang="en-US">
                <a:solidFill>
                  <a:schemeClr val="bg1"/>
                </a:solidFill>
                <a:latin typeface="Roboto" panose="02000000000000000000" pitchFamily="2" charset="0"/>
                <a:ea typeface="Roboto" panose="02000000000000000000" pitchFamily="2" charset="0"/>
              </a:endParaRPr>
            </a:p>
          </p:txBody>
        </p:sp>
        <p:sp>
          <p:nvSpPr>
            <p:cNvPr id="82" name="Rectangle 87">
              <a:extLst>
                <a:ext uri="{FF2B5EF4-FFF2-40B4-BE49-F238E27FC236}">
                  <a16:creationId xmlns:a16="http://schemas.microsoft.com/office/drawing/2014/main" id="{9A88BCA6-EF7B-06A1-7D3F-6DC2F31512AB}"/>
                </a:ext>
              </a:extLst>
            </p:cNvPr>
            <p:cNvSpPr>
              <a:spLocks noChangeArrowheads="1"/>
            </p:cNvSpPr>
            <p:nvPr/>
          </p:nvSpPr>
          <p:spPr bwMode="auto">
            <a:xfrm>
              <a:off x="3814"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9</a:t>
              </a:r>
              <a:endParaRPr lang="en-US" altLang="en-US">
                <a:solidFill>
                  <a:schemeClr val="bg1"/>
                </a:solidFill>
                <a:latin typeface="Roboto" panose="02000000000000000000" pitchFamily="2" charset="0"/>
                <a:ea typeface="Roboto" panose="02000000000000000000" pitchFamily="2" charset="0"/>
              </a:endParaRPr>
            </a:p>
          </p:txBody>
        </p:sp>
        <p:sp>
          <p:nvSpPr>
            <p:cNvPr id="83" name="Rectangle 88">
              <a:extLst>
                <a:ext uri="{FF2B5EF4-FFF2-40B4-BE49-F238E27FC236}">
                  <a16:creationId xmlns:a16="http://schemas.microsoft.com/office/drawing/2014/main" id="{66CF7F38-AC84-0E88-15D4-794902323161}"/>
                </a:ext>
              </a:extLst>
            </p:cNvPr>
            <p:cNvSpPr>
              <a:spLocks noChangeArrowheads="1"/>
            </p:cNvSpPr>
            <p:nvPr/>
          </p:nvSpPr>
          <p:spPr bwMode="auto">
            <a:xfrm>
              <a:off x="4317" y="3411"/>
              <a:ext cx="153"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10</a:t>
              </a:r>
              <a:endParaRPr lang="en-US" altLang="en-US">
                <a:solidFill>
                  <a:schemeClr val="bg1"/>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41843203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Exercise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34</a:t>
            </a:fld>
            <a:endParaRPr lang="en-US"/>
          </a:p>
        </p:txBody>
      </p:sp>
      <p:grpSp>
        <p:nvGrpSpPr>
          <p:cNvPr id="3" name="Group 2">
            <a:extLst>
              <a:ext uri="{FF2B5EF4-FFF2-40B4-BE49-F238E27FC236}">
                <a16:creationId xmlns:a16="http://schemas.microsoft.com/office/drawing/2014/main" id="{E59B3CBF-5ABE-A498-69B8-907927981904}"/>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FA2C170-C446-6B5B-AAB0-CE615D97A889}"/>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9C2BB869-711E-EDCF-3E70-9D220EA50D3A}"/>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2610C34F-6578-4FE5-65A3-F08C785B5BBF}"/>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4BAC9EF-B7C5-7987-4E79-A6A74B4DFB2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A747822C-FF49-93E1-752C-68C5CBA2D38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F7978C6F-E01F-648B-74C4-F93F25FFC58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16C8119E-347B-1271-DC3C-C23ABFB31C8E}"/>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sp>
        <p:nvSpPr>
          <p:cNvPr id="22" name="Text Box 91">
            <a:extLst>
              <a:ext uri="{FF2B5EF4-FFF2-40B4-BE49-F238E27FC236}">
                <a16:creationId xmlns:a16="http://schemas.microsoft.com/office/drawing/2014/main" id="{7E925B36-8BE5-6D78-AE90-A08E106AEAE2}"/>
              </a:ext>
            </a:extLst>
          </p:cNvPr>
          <p:cNvSpPr txBox="1">
            <a:spLocks noChangeArrowheads="1"/>
          </p:cNvSpPr>
          <p:nvPr/>
        </p:nvSpPr>
        <p:spPr bwMode="auto">
          <a:xfrm>
            <a:off x="838200" y="1854875"/>
            <a:ext cx="4766048"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Daily Demand: 540 pieces</a:t>
            </a: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Available Time: 450 minutes</a:t>
            </a:r>
          </a:p>
          <a:p>
            <a:pPr eaLnBrk="1" hangingPunct="1">
              <a:lnSpc>
                <a:spcPct val="100000"/>
              </a:lnSpc>
              <a:spcBef>
                <a:spcPct val="0"/>
              </a:spcBef>
              <a:spcAft>
                <a:spcPct val="0"/>
              </a:spcAft>
              <a:buClrTx/>
              <a:buSzTx/>
              <a:buFontTx/>
              <a:buNone/>
            </a:pPr>
            <a:endParaRPr lang="en-US" altLang="en-US" sz="1800" dirty="0">
              <a:latin typeface="Roboto" panose="02000000000000000000" pitchFamily="2" charset="0"/>
              <a:ea typeface="Roboto" panose="02000000000000000000" pitchFamily="2" charset="0"/>
            </a:endParaRP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Takt Time: _________________</a:t>
            </a: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Number of Operators: _______</a:t>
            </a:r>
          </a:p>
          <a:p>
            <a:pPr eaLnBrk="1" hangingPunct="1">
              <a:lnSpc>
                <a:spcPct val="100000"/>
              </a:lnSpc>
              <a:spcBef>
                <a:spcPct val="0"/>
              </a:spcBef>
              <a:spcAft>
                <a:spcPct val="0"/>
              </a:spcAft>
              <a:buClrTx/>
              <a:buSzTx/>
              <a:buFontTx/>
              <a:buNone/>
            </a:pPr>
            <a:endParaRPr lang="en-US" altLang="en-US" sz="1800" dirty="0">
              <a:latin typeface="Roboto" panose="02000000000000000000" pitchFamily="2" charset="0"/>
              <a:ea typeface="Roboto" panose="02000000000000000000" pitchFamily="2" charset="0"/>
            </a:endParaRP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Draw the work sequence for each operator:</a:t>
            </a:r>
          </a:p>
        </p:txBody>
      </p:sp>
      <p:grpSp>
        <p:nvGrpSpPr>
          <p:cNvPr id="12" name="Group 89">
            <a:extLst>
              <a:ext uri="{FF2B5EF4-FFF2-40B4-BE49-F238E27FC236}">
                <a16:creationId xmlns:a16="http://schemas.microsoft.com/office/drawing/2014/main" id="{F55CB6CA-8713-EAA6-17A3-615135B3B9C2}"/>
              </a:ext>
            </a:extLst>
          </p:cNvPr>
          <p:cNvGrpSpPr>
            <a:grpSpLocks/>
          </p:cNvGrpSpPr>
          <p:nvPr/>
        </p:nvGrpSpPr>
        <p:grpSpPr bwMode="auto">
          <a:xfrm>
            <a:off x="3086100" y="3690938"/>
            <a:ext cx="6019800" cy="2389187"/>
            <a:chOff x="912" y="2501"/>
            <a:chExt cx="3792" cy="1505"/>
          </a:xfrm>
        </p:grpSpPr>
        <p:sp>
          <p:nvSpPr>
            <p:cNvPr id="13" name="AutoShape 5">
              <a:extLst>
                <a:ext uri="{FF2B5EF4-FFF2-40B4-BE49-F238E27FC236}">
                  <a16:creationId xmlns:a16="http://schemas.microsoft.com/office/drawing/2014/main" id="{E6E13EBE-1561-9999-A50E-3B42A85AF704}"/>
                </a:ext>
              </a:extLst>
            </p:cNvPr>
            <p:cNvSpPr>
              <a:spLocks noChangeAspect="1" noChangeArrowheads="1" noTextEdit="1"/>
            </p:cNvSpPr>
            <p:nvPr/>
          </p:nvSpPr>
          <p:spPr bwMode="auto">
            <a:xfrm>
              <a:off x="912" y="2501"/>
              <a:ext cx="3792" cy="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 name="Rectangle 7">
              <a:extLst>
                <a:ext uri="{FF2B5EF4-FFF2-40B4-BE49-F238E27FC236}">
                  <a16:creationId xmlns:a16="http://schemas.microsoft.com/office/drawing/2014/main" id="{36A8831D-60F8-DB55-BE3A-B0616F70C430}"/>
                </a:ext>
              </a:extLst>
            </p:cNvPr>
            <p:cNvSpPr>
              <a:spLocks noChangeArrowheads="1"/>
            </p:cNvSpPr>
            <p:nvPr/>
          </p:nvSpPr>
          <p:spPr bwMode="auto">
            <a:xfrm>
              <a:off x="3648"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5" name="Rectangle 8">
              <a:extLst>
                <a:ext uri="{FF2B5EF4-FFF2-40B4-BE49-F238E27FC236}">
                  <a16:creationId xmlns:a16="http://schemas.microsoft.com/office/drawing/2014/main" id="{7CFA9515-7D5D-1558-F24A-7160471405B5}"/>
                </a:ext>
              </a:extLst>
            </p:cNvPr>
            <p:cNvSpPr>
              <a:spLocks noChangeArrowheads="1"/>
            </p:cNvSpPr>
            <p:nvPr/>
          </p:nvSpPr>
          <p:spPr bwMode="auto">
            <a:xfrm>
              <a:off x="1176"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6" name="Rectangle 9">
              <a:extLst>
                <a:ext uri="{FF2B5EF4-FFF2-40B4-BE49-F238E27FC236}">
                  <a16:creationId xmlns:a16="http://schemas.microsoft.com/office/drawing/2014/main" id="{41B3A663-64F7-481D-EB0C-27CDFB7A4767}"/>
                </a:ext>
              </a:extLst>
            </p:cNvPr>
            <p:cNvSpPr>
              <a:spLocks noChangeArrowheads="1"/>
            </p:cNvSpPr>
            <p:nvPr/>
          </p:nvSpPr>
          <p:spPr bwMode="auto">
            <a:xfrm>
              <a:off x="2041"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7" name="Rectangle 10">
              <a:extLst>
                <a:ext uri="{FF2B5EF4-FFF2-40B4-BE49-F238E27FC236}">
                  <a16:creationId xmlns:a16="http://schemas.microsoft.com/office/drawing/2014/main" id="{6FC4AF6F-3CC4-B508-04F9-D6A5FBFB4636}"/>
                </a:ext>
              </a:extLst>
            </p:cNvPr>
            <p:cNvSpPr>
              <a:spLocks noChangeArrowheads="1"/>
            </p:cNvSpPr>
            <p:nvPr/>
          </p:nvSpPr>
          <p:spPr bwMode="auto">
            <a:xfrm>
              <a:off x="2824"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8" name="Rectangle 11">
              <a:extLst>
                <a:ext uri="{FF2B5EF4-FFF2-40B4-BE49-F238E27FC236}">
                  <a16:creationId xmlns:a16="http://schemas.microsoft.com/office/drawing/2014/main" id="{7DCB60CC-7C39-A12F-9DD7-136CB4D1551D}"/>
                </a:ext>
              </a:extLst>
            </p:cNvPr>
            <p:cNvSpPr>
              <a:spLocks noChangeArrowheads="1"/>
            </p:cNvSpPr>
            <p:nvPr/>
          </p:nvSpPr>
          <p:spPr bwMode="auto">
            <a:xfrm>
              <a:off x="3648"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9" name="Rectangle 12">
              <a:extLst>
                <a:ext uri="{FF2B5EF4-FFF2-40B4-BE49-F238E27FC236}">
                  <a16:creationId xmlns:a16="http://schemas.microsoft.com/office/drawing/2014/main" id="{3F33B4A9-F283-AE5F-F021-6B49CE159496}"/>
                </a:ext>
              </a:extLst>
            </p:cNvPr>
            <p:cNvSpPr>
              <a:spLocks noChangeArrowheads="1"/>
            </p:cNvSpPr>
            <p:nvPr/>
          </p:nvSpPr>
          <p:spPr bwMode="auto">
            <a:xfrm>
              <a:off x="1176"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0" name="Rectangle 13">
              <a:extLst>
                <a:ext uri="{FF2B5EF4-FFF2-40B4-BE49-F238E27FC236}">
                  <a16:creationId xmlns:a16="http://schemas.microsoft.com/office/drawing/2014/main" id="{5A576E3D-1847-79F2-F4DB-0A6A02FE289F}"/>
                </a:ext>
              </a:extLst>
            </p:cNvPr>
            <p:cNvSpPr>
              <a:spLocks noChangeArrowheads="1"/>
            </p:cNvSpPr>
            <p:nvPr/>
          </p:nvSpPr>
          <p:spPr bwMode="auto">
            <a:xfrm>
              <a:off x="2041"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 name="Rectangle 14">
              <a:extLst>
                <a:ext uri="{FF2B5EF4-FFF2-40B4-BE49-F238E27FC236}">
                  <a16:creationId xmlns:a16="http://schemas.microsoft.com/office/drawing/2014/main" id="{AF3441F8-CE49-37D3-6570-750124868130}"/>
                </a:ext>
              </a:extLst>
            </p:cNvPr>
            <p:cNvSpPr>
              <a:spLocks noChangeArrowheads="1"/>
            </p:cNvSpPr>
            <p:nvPr/>
          </p:nvSpPr>
          <p:spPr bwMode="auto">
            <a:xfrm>
              <a:off x="2824"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 name="Rectangle 15">
              <a:extLst>
                <a:ext uri="{FF2B5EF4-FFF2-40B4-BE49-F238E27FC236}">
                  <a16:creationId xmlns:a16="http://schemas.microsoft.com/office/drawing/2014/main" id="{10CD374E-8CBC-CEC6-CD73-A6D5CD6860E7}"/>
                </a:ext>
              </a:extLst>
            </p:cNvPr>
            <p:cNvSpPr>
              <a:spLocks noChangeArrowheads="1"/>
            </p:cNvSpPr>
            <p:nvPr/>
          </p:nvSpPr>
          <p:spPr bwMode="auto">
            <a:xfrm>
              <a:off x="4348" y="2718"/>
              <a:ext cx="330"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 name="Rectangle 16">
              <a:extLst>
                <a:ext uri="{FF2B5EF4-FFF2-40B4-BE49-F238E27FC236}">
                  <a16:creationId xmlns:a16="http://schemas.microsoft.com/office/drawing/2014/main" id="{85229465-7069-55CD-2451-E2696F475385}"/>
                </a:ext>
              </a:extLst>
            </p:cNvPr>
            <p:cNvSpPr>
              <a:spLocks noChangeArrowheads="1"/>
            </p:cNvSpPr>
            <p:nvPr/>
          </p:nvSpPr>
          <p:spPr bwMode="auto">
            <a:xfrm>
              <a:off x="4348" y="3624"/>
              <a:ext cx="330" cy="247"/>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4" name="Rectangle 17">
              <a:extLst>
                <a:ext uri="{FF2B5EF4-FFF2-40B4-BE49-F238E27FC236}">
                  <a16:creationId xmlns:a16="http://schemas.microsoft.com/office/drawing/2014/main" id="{55CC207D-2CDE-36FE-F374-D85CBD2EB8CC}"/>
                </a:ext>
              </a:extLst>
            </p:cNvPr>
            <p:cNvSpPr>
              <a:spLocks noChangeArrowheads="1"/>
            </p:cNvSpPr>
            <p:nvPr/>
          </p:nvSpPr>
          <p:spPr bwMode="auto">
            <a:xfrm>
              <a:off x="1342" y="267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5s</a:t>
              </a:r>
              <a:endParaRPr lang="en-US" altLang="en-US">
                <a:solidFill>
                  <a:schemeClr val="bg1"/>
                </a:solidFill>
                <a:latin typeface="Roboto" panose="02000000000000000000" pitchFamily="2" charset="0"/>
                <a:ea typeface="Roboto" panose="02000000000000000000" pitchFamily="2" charset="0"/>
              </a:endParaRPr>
            </a:p>
          </p:txBody>
        </p:sp>
        <p:sp>
          <p:nvSpPr>
            <p:cNvPr id="35" name="Rectangle 18">
              <a:extLst>
                <a:ext uri="{FF2B5EF4-FFF2-40B4-BE49-F238E27FC236}">
                  <a16:creationId xmlns:a16="http://schemas.microsoft.com/office/drawing/2014/main" id="{1F2E2B15-BBA9-6A0D-D537-28E9437E8922}"/>
                </a:ext>
              </a:extLst>
            </p:cNvPr>
            <p:cNvSpPr>
              <a:spLocks noChangeArrowheads="1"/>
            </p:cNvSpPr>
            <p:nvPr/>
          </p:nvSpPr>
          <p:spPr bwMode="auto">
            <a:xfrm>
              <a:off x="2166"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22s</a:t>
              </a:r>
              <a:endParaRPr lang="en-US" altLang="en-US">
                <a:solidFill>
                  <a:schemeClr val="bg1"/>
                </a:solidFill>
                <a:latin typeface="Roboto" panose="02000000000000000000" pitchFamily="2" charset="0"/>
                <a:ea typeface="Roboto" panose="02000000000000000000" pitchFamily="2" charset="0"/>
              </a:endParaRPr>
            </a:p>
          </p:txBody>
        </p:sp>
        <p:sp>
          <p:nvSpPr>
            <p:cNvPr id="36" name="Rectangle 19">
              <a:extLst>
                <a:ext uri="{FF2B5EF4-FFF2-40B4-BE49-F238E27FC236}">
                  <a16:creationId xmlns:a16="http://schemas.microsoft.com/office/drawing/2014/main" id="{E7DFF96B-7F5D-1E27-70E5-C708175A2CEF}"/>
                </a:ext>
              </a:extLst>
            </p:cNvPr>
            <p:cNvSpPr>
              <a:spLocks noChangeArrowheads="1"/>
            </p:cNvSpPr>
            <p:nvPr/>
          </p:nvSpPr>
          <p:spPr bwMode="auto">
            <a:xfrm>
              <a:off x="2907"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10s</a:t>
              </a:r>
              <a:endParaRPr lang="en-US" altLang="en-US">
                <a:solidFill>
                  <a:schemeClr val="bg1"/>
                </a:solidFill>
                <a:latin typeface="Roboto" panose="02000000000000000000" pitchFamily="2" charset="0"/>
                <a:ea typeface="Roboto" panose="02000000000000000000" pitchFamily="2" charset="0"/>
              </a:endParaRPr>
            </a:p>
          </p:txBody>
        </p:sp>
        <p:sp>
          <p:nvSpPr>
            <p:cNvPr id="37" name="Rectangle 20">
              <a:extLst>
                <a:ext uri="{FF2B5EF4-FFF2-40B4-BE49-F238E27FC236}">
                  <a16:creationId xmlns:a16="http://schemas.microsoft.com/office/drawing/2014/main" id="{748767A6-1F4F-453E-4343-6415F8BADF36}"/>
                </a:ext>
              </a:extLst>
            </p:cNvPr>
            <p:cNvSpPr>
              <a:spLocks noChangeArrowheads="1"/>
            </p:cNvSpPr>
            <p:nvPr/>
          </p:nvSpPr>
          <p:spPr bwMode="auto">
            <a:xfrm>
              <a:off x="3741"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25s</a:t>
              </a:r>
              <a:endParaRPr lang="en-US" altLang="en-US">
                <a:solidFill>
                  <a:schemeClr val="bg1"/>
                </a:solidFill>
                <a:latin typeface="Roboto" panose="02000000000000000000" pitchFamily="2" charset="0"/>
                <a:ea typeface="Roboto" panose="02000000000000000000" pitchFamily="2" charset="0"/>
              </a:endParaRPr>
            </a:p>
          </p:txBody>
        </p:sp>
        <p:sp>
          <p:nvSpPr>
            <p:cNvPr id="38" name="Rectangle 21">
              <a:extLst>
                <a:ext uri="{FF2B5EF4-FFF2-40B4-BE49-F238E27FC236}">
                  <a16:creationId xmlns:a16="http://schemas.microsoft.com/office/drawing/2014/main" id="{C00390C9-59AA-4DD2-C429-E5A7128B7B3B}"/>
                </a:ext>
              </a:extLst>
            </p:cNvPr>
            <p:cNvSpPr>
              <a:spLocks noChangeArrowheads="1"/>
            </p:cNvSpPr>
            <p:nvPr/>
          </p:nvSpPr>
          <p:spPr bwMode="auto">
            <a:xfrm>
              <a:off x="1342" y="374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8s</a:t>
              </a:r>
              <a:endParaRPr lang="en-US" altLang="en-US">
                <a:solidFill>
                  <a:schemeClr val="bg1"/>
                </a:solidFill>
                <a:latin typeface="Roboto" panose="02000000000000000000" pitchFamily="2" charset="0"/>
                <a:ea typeface="Roboto" panose="02000000000000000000" pitchFamily="2" charset="0"/>
              </a:endParaRPr>
            </a:p>
          </p:txBody>
        </p:sp>
        <p:sp>
          <p:nvSpPr>
            <p:cNvPr id="39" name="Rectangle 22">
              <a:extLst>
                <a:ext uri="{FF2B5EF4-FFF2-40B4-BE49-F238E27FC236}">
                  <a16:creationId xmlns:a16="http://schemas.microsoft.com/office/drawing/2014/main" id="{9DC4158E-3EB7-3AAF-C082-9CE34EE154CB}"/>
                </a:ext>
              </a:extLst>
            </p:cNvPr>
            <p:cNvSpPr>
              <a:spLocks noChangeArrowheads="1"/>
            </p:cNvSpPr>
            <p:nvPr/>
          </p:nvSpPr>
          <p:spPr bwMode="auto">
            <a:xfrm>
              <a:off x="2166" y="374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15s</a:t>
              </a:r>
              <a:endParaRPr lang="en-US" altLang="en-US">
                <a:solidFill>
                  <a:schemeClr val="bg1"/>
                </a:solidFill>
                <a:latin typeface="Roboto" panose="02000000000000000000" pitchFamily="2" charset="0"/>
                <a:ea typeface="Roboto" panose="02000000000000000000" pitchFamily="2" charset="0"/>
              </a:endParaRPr>
            </a:p>
          </p:txBody>
        </p:sp>
        <p:sp>
          <p:nvSpPr>
            <p:cNvPr id="40" name="Rectangle 23">
              <a:extLst>
                <a:ext uri="{FF2B5EF4-FFF2-40B4-BE49-F238E27FC236}">
                  <a16:creationId xmlns:a16="http://schemas.microsoft.com/office/drawing/2014/main" id="{AF1E6C44-885C-4A02-983C-676B2508454C}"/>
                </a:ext>
              </a:extLst>
            </p:cNvPr>
            <p:cNvSpPr>
              <a:spLocks noChangeArrowheads="1"/>
            </p:cNvSpPr>
            <p:nvPr/>
          </p:nvSpPr>
          <p:spPr bwMode="auto">
            <a:xfrm>
              <a:off x="2948" y="374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5s</a:t>
              </a:r>
              <a:endParaRPr lang="en-US" altLang="en-US">
                <a:solidFill>
                  <a:schemeClr val="bg1"/>
                </a:solidFill>
                <a:latin typeface="Roboto" panose="02000000000000000000" pitchFamily="2" charset="0"/>
                <a:ea typeface="Roboto" panose="02000000000000000000" pitchFamily="2" charset="0"/>
              </a:endParaRPr>
            </a:p>
          </p:txBody>
        </p:sp>
        <p:sp>
          <p:nvSpPr>
            <p:cNvPr id="41" name="Rectangle 24">
              <a:extLst>
                <a:ext uri="{FF2B5EF4-FFF2-40B4-BE49-F238E27FC236}">
                  <a16:creationId xmlns:a16="http://schemas.microsoft.com/office/drawing/2014/main" id="{B271D277-95A5-FD2B-0A18-E5746C42BC7A}"/>
                </a:ext>
              </a:extLst>
            </p:cNvPr>
            <p:cNvSpPr>
              <a:spLocks noChangeArrowheads="1"/>
            </p:cNvSpPr>
            <p:nvPr/>
          </p:nvSpPr>
          <p:spPr bwMode="auto">
            <a:xfrm>
              <a:off x="3741" y="374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10s</a:t>
              </a:r>
              <a:endParaRPr lang="en-US" altLang="en-US">
                <a:solidFill>
                  <a:schemeClr val="bg1"/>
                </a:solidFill>
                <a:latin typeface="Roboto" panose="02000000000000000000" pitchFamily="2" charset="0"/>
                <a:ea typeface="Roboto" panose="02000000000000000000" pitchFamily="2" charset="0"/>
              </a:endParaRPr>
            </a:p>
          </p:txBody>
        </p:sp>
        <p:sp>
          <p:nvSpPr>
            <p:cNvPr id="42" name="Rectangle 25">
              <a:extLst>
                <a:ext uri="{FF2B5EF4-FFF2-40B4-BE49-F238E27FC236}">
                  <a16:creationId xmlns:a16="http://schemas.microsoft.com/office/drawing/2014/main" id="{E18E17EF-2616-317F-61BA-9845FF903DA5}"/>
                </a:ext>
              </a:extLst>
            </p:cNvPr>
            <p:cNvSpPr>
              <a:spLocks noChangeArrowheads="1"/>
            </p:cNvSpPr>
            <p:nvPr/>
          </p:nvSpPr>
          <p:spPr bwMode="auto">
            <a:xfrm>
              <a:off x="4430" y="2735"/>
              <a:ext cx="25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RM</a:t>
              </a:r>
              <a:endParaRPr lang="en-US" altLang="en-US">
                <a:solidFill>
                  <a:schemeClr val="bg1"/>
                </a:solidFill>
                <a:latin typeface="Roboto" panose="02000000000000000000" pitchFamily="2" charset="0"/>
                <a:ea typeface="Roboto" panose="02000000000000000000" pitchFamily="2" charset="0"/>
              </a:endParaRPr>
            </a:p>
          </p:txBody>
        </p:sp>
        <p:sp>
          <p:nvSpPr>
            <p:cNvPr id="43" name="Rectangle 26">
              <a:extLst>
                <a:ext uri="{FF2B5EF4-FFF2-40B4-BE49-F238E27FC236}">
                  <a16:creationId xmlns:a16="http://schemas.microsoft.com/office/drawing/2014/main" id="{21A9FC38-A97A-1A65-63B0-2C9A0B96030A}"/>
                </a:ext>
              </a:extLst>
            </p:cNvPr>
            <p:cNvSpPr>
              <a:spLocks noChangeArrowheads="1"/>
            </p:cNvSpPr>
            <p:nvPr/>
          </p:nvSpPr>
          <p:spPr bwMode="auto">
            <a:xfrm>
              <a:off x="4437" y="3641"/>
              <a:ext cx="20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FG</a:t>
              </a:r>
              <a:endParaRPr lang="en-US" altLang="en-US">
                <a:solidFill>
                  <a:schemeClr val="bg1"/>
                </a:solidFill>
                <a:latin typeface="Roboto" panose="02000000000000000000" pitchFamily="2" charset="0"/>
                <a:ea typeface="Roboto" panose="02000000000000000000" pitchFamily="2" charset="0"/>
              </a:endParaRPr>
            </a:p>
          </p:txBody>
        </p:sp>
        <p:sp>
          <p:nvSpPr>
            <p:cNvPr id="44" name="Rectangle 38">
              <a:extLst>
                <a:ext uri="{FF2B5EF4-FFF2-40B4-BE49-F238E27FC236}">
                  <a16:creationId xmlns:a16="http://schemas.microsoft.com/office/drawing/2014/main" id="{5CE50050-05A5-0829-FBA8-69A3591204A0}"/>
                </a:ext>
              </a:extLst>
            </p:cNvPr>
            <p:cNvSpPr>
              <a:spLocks noChangeArrowheads="1"/>
            </p:cNvSpPr>
            <p:nvPr/>
          </p:nvSpPr>
          <p:spPr bwMode="auto">
            <a:xfrm>
              <a:off x="4317" y="308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1</a:t>
              </a:r>
              <a:endParaRPr lang="en-US" altLang="en-US">
                <a:solidFill>
                  <a:schemeClr val="bg1"/>
                </a:solidFill>
                <a:latin typeface="Roboto" panose="02000000000000000000" pitchFamily="2" charset="0"/>
                <a:ea typeface="Roboto" panose="02000000000000000000" pitchFamily="2" charset="0"/>
              </a:endParaRPr>
            </a:p>
          </p:txBody>
        </p:sp>
        <p:sp>
          <p:nvSpPr>
            <p:cNvPr id="45" name="Rectangle 39">
              <a:extLst>
                <a:ext uri="{FF2B5EF4-FFF2-40B4-BE49-F238E27FC236}">
                  <a16:creationId xmlns:a16="http://schemas.microsoft.com/office/drawing/2014/main" id="{D410703F-5377-4C6F-A81F-57736FD7F921}"/>
                </a:ext>
              </a:extLst>
            </p:cNvPr>
            <p:cNvSpPr>
              <a:spLocks noChangeArrowheads="1"/>
            </p:cNvSpPr>
            <p:nvPr/>
          </p:nvSpPr>
          <p:spPr bwMode="auto">
            <a:xfrm>
              <a:off x="3864"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2</a:t>
              </a:r>
              <a:endParaRPr lang="en-US" altLang="en-US">
                <a:solidFill>
                  <a:schemeClr val="bg1"/>
                </a:solidFill>
                <a:latin typeface="Roboto" panose="02000000000000000000" pitchFamily="2" charset="0"/>
                <a:ea typeface="Roboto" panose="02000000000000000000" pitchFamily="2" charset="0"/>
              </a:endParaRPr>
            </a:p>
          </p:txBody>
        </p:sp>
        <p:sp>
          <p:nvSpPr>
            <p:cNvPr id="46" name="Rectangle 40">
              <a:extLst>
                <a:ext uri="{FF2B5EF4-FFF2-40B4-BE49-F238E27FC236}">
                  <a16:creationId xmlns:a16="http://schemas.microsoft.com/office/drawing/2014/main" id="{79ED8540-EE56-5440-EF41-23F28F54E698}"/>
                </a:ext>
              </a:extLst>
            </p:cNvPr>
            <p:cNvSpPr>
              <a:spLocks noChangeArrowheads="1"/>
            </p:cNvSpPr>
            <p:nvPr/>
          </p:nvSpPr>
          <p:spPr bwMode="auto">
            <a:xfrm>
              <a:off x="3040"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3</a:t>
              </a:r>
              <a:endParaRPr lang="en-US" altLang="en-US">
                <a:solidFill>
                  <a:schemeClr val="bg1"/>
                </a:solidFill>
                <a:latin typeface="Roboto" panose="02000000000000000000" pitchFamily="2" charset="0"/>
                <a:ea typeface="Roboto" panose="02000000000000000000" pitchFamily="2" charset="0"/>
              </a:endParaRPr>
            </a:p>
          </p:txBody>
        </p:sp>
        <p:sp>
          <p:nvSpPr>
            <p:cNvPr id="47" name="Rectangle 41">
              <a:extLst>
                <a:ext uri="{FF2B5EF4-FFF2-40B4-BE49-F238E27FC236}">
                  <a16:creationId xmlns:a16="http://schemas.microsoft.com/office/drawing/2014/main" id="{4DD96812-9C02-C000-F6C4-68E21425EB68}"/>
                </a:ext>
              </a:extLst>
            </p:cNvPr>
            <p:cNvSpPr>
              <a:spLocks noChangeArrowheads="1"/>
            </p:cNvSpPr>
            <p:nvPr/>
          </p:nvSpPr>
          <p:spPr bwMode="auto">
            <a:xfrm>
              <a:off x="2257"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4</a:t>
              </a:r>
              <a:endParaRPr lang="en-US" altLang="en-US">
                <a:solidFill>
                  <a:schemeClr val="bg1"/>
                </a:solidFill>
                <a:latin typeface="Roboto" panose="02000000000000000000" pitchFamily="2" charset="0"/>
                <a:ea typeface="Roboto" panose="02000000000000000000" pitchFamily="2" charset="0"/>
              </a:endParaRPr>
            </a:p>
          </p:txBody>
        </p:sp>
        <p:sp>
          <p:nvSpPr>
            <p:cNvPr id="48" name="Rectangle 42">
              <a:extLst>
                <a:ext uri="{FF2B5EF4-FFF2-40B4-BE49-F238E27FC236}">
                  <a16:creationId xmlns:a16="http://schemas.microsoft.com/office/drawing/2014/main" id="{39FCC63E-79D4-E4C4-FD03-6A8BE2E90100}"/>
                </a:ext>
              </a:extLst>
            </p:cNvPr>
            <p:cNvSpPr>
              <a:spLocks noChangeArrowheads="1"/>
            </p:cNvSpPr>
            <p:nvPr/>
          </p:nvSpPr>
          <p:spPr bwMode="auto">
            <a:xfrm>
              <a:off x="1392" y="3001"/>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5</a:t>
              </a:r>
              <a:endParaRPr lang="en-US" altLang="en-US">
                <a:solidFill>
                  <a:schemeClr val="bg1"/>
                </a:solidFill>
                <a:latin typeface="Roboto" panose="02000000000000000000" pitchFamily="2" charset="0"/>
                <a:ea typeface="Roboto" panose="02000000000000000000" pitchFamily="2" charset="0"/>
              </a:endParaRPr>
            </a:p>
          </p:txBody>
        </p:sp>
        <p:sp>
          <p:nvSpPr>
            <p:cNvPr id="49" name="Rectangle 43">
              <a:extLst>
                <a:ext uri="{FF2B5EF4-FFF2-40B4-BE49-F238E27FC236}">
                  <a16:creationId xmlns:a16="http://schemas.microsoft.com/office/drawing/2014/main" id="{76F57DD0-DEFC-3E44-8634-F6FDFA187644}"/>
                </a:ext>
              </a:extLst>
            </p:cNvPr>
            <p:cNvSpPr>
              <a:spLocks noChangeArrowheads="1"/>
            </p:cNvSpPr>
            <p:nvPr/>
          </p:nvSpPr>
          <p:spPr bwMode="auto">
            <a:xfrm>
              <a:off x="1383"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6</a:t>
              </a:r>
              <a:endParaRPr lang="en-US" altLang="en-US">
                <a:solidFill>
                  <a:schemeClr val="bg1"/>
                </a:solidFill>
                <a:latin typeface="Roboto" panose="02000000000000000000" pitchFamily="2" charset="0"/>
                <a:ea typeface="Roboto" panose="02000000000000000000" pitchFamily="2" charset="0"/>
              </a:endParaRPr>
            </a:p>
          </p:txBody>
        </p:sp>
        <p:sp>
          <p:nvSpPr>
            <p:cNvPr id="50" name="Rectangle 44">
              <a:extLst>
                <a:ext uri="{FF2B5EF4-FFF2-40B4-BE49-F238E27FC236}">
                  <a16:creationId xmlns:a16="http://schemas.microsoft.com/office/drawing/2014/main" id="{158F517D-BB50-E5D2-08BC-7949122A7A46}"/>
                </a:ext>
              </a:extLst>
            </p:cNvPr>
            <p:cNvSpPr>
              <a:spLocks noChangeArrowheads="1"/>
            </p:cNvSpPr>
            <p:nvPr/>
          </p:nvSpPr>
          <p:spPr bwMode="auto">
            <a:xfrm>
              <a:off x="2249"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7</a:t>
              </a:r>
              <a:endParaRPr lang="en-US" altLang="en-US">
                <a:solidFill>
                  <a:schemeClr val="bg1"/>
                </a:solidFill>
                <a:latin typeface="Roboto" panose="02000000000000000000" pitchFamily="2" charset="0"/>
                <a:ea typeface="Roboto" panose="02000000000000000000" pitchFamily="2" charset="0"/>
              </a:endParaRPr>
            </a:p>
          </p:txBody>
        </p:sp>
        <p:sp>
          <p:nvSpPr>
            <p:cNvPr id="51" name="Rectangle 45">
              <a:extLst>
                <a:ext uri="{FF2B5EF4-FFF2-40B4-BE49-F238E27FC236}">
                  <a16:creationId xmlns:a16="http://schemas.microsoft.com/office/drawing/2014/main" id="{08CB3154-2B49-7797-20EE-21D99299F995}"/>
                </a:ext>
              </a:extLst>
            </p:cNvPr>
            <p:cNvSpPr>
              <a:spLocks noChangeArrowheads="1"/>
            </p:cNvSpPr>
            <p:nvPr/>
          </p:nvSpPr>
          <p:spPr bwMode="auto">
            <a:xfrm>
              <a:off x="2998" y="3494"/>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8</a:t>
              </a:r>
              <a:endParaRPr lang="en-US" altLang="en-US">
                <a:solidFill>
                  <a:schemeClr val="bg1"/>
                </a:solidFill>
                <a:latin typeface="Roboto" panose="02000000000000000000" pitchFamily="2" charset="0"/>
                <a:ea typeface="Roboto" panose="02000000000000000000" pitchFamily="2" charset="0"/>
              </a:endParaRPr>
            </a:p>
          </p:txBody>
        </p:sp>
        <p:sp>
          <p:nvSpPr>
            <p:cNvPr id="52" name="Rectangle 46">
              <a:extLst>
                <a:ext uri="{FF2B5EF4-FFF2-40B4-BE49-F238E27FC236}">
                  <a16:creationId xmlns:a16="http://schemas.microsoft.com/office/drawing/2014/main" id="{98175603-1F26-F18B-6E21-48DAE8015E6B}"/>
                </a:ext>
              </a:extLst>
            </p:cNvPr>
            <p:cNvSpPr>
              <a:spLocks noChangeArrowheads="1"/>
            </p:cNvSpPr>
            <p:nvPr/>
          </p:nvSpPr>
          <p:spPr bwMode="auto">
            <a:xfrm>
              <a:off x="3814"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9</a:t>
              </a:r>
              <a:endParaRPr lang="en-US" altLang="en-US">
                <a:solidFill>
                  <a:schemeClr val="bg1"/>
                </a:solidFill>
                <a:latin typeface="Roboto" panose="02000000000000000000" pitchFamily="2" charset="0"/>
                <a:ea typeface="Roboto" panose="02000000000000000000" pitchFamily="2" charset="0"/>
              </a:endParaRPr>
            </a:p>
          </p:txBody>
        </p:sp>
        <p:sp>
          <p:nvSpPr>
            <p:cNvPr id="53" name="Rectangle 47">
              <a:extLst>
                <a:ext uri="{FF2B5EF4-FFF2-40B4-BE49-F238E27FC236}">
                  <a16:creationId xmlns:a16="http://schemas.microsoft.com/office/drawing/2014/main" id="{F347BBE1-C723-6B39-7984-883F587E30BE}"/>
                </a:ext>
              </a:extLst>
            </p:cNvPr>
            <p:cNvSpPr>
              <a:spLocks noChangeArrowheads="1"/>
            </p:cNvSpPr>
            <p:nvPr/>
          </p:nvSpPr>
          <p:spPr bwMode="auto">
            <a:xfrm>
              <a:off x="4317" y="3411"/>
              <a:ext cx="153"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10</a:t>
              </a:r>
              <a:endParaRPr lang="en-US" altLang="en-US">
                <a:solidFill>
                  <a:schemeClr val="bg1"/>
                </a:solidFill>
                <a:latin typeface="Roboto" panose="02000000000000000000" pitchFamily="2" charset="0"/>
                <a:ea typeface="Roboto" panose="02000000000000000000" pitchFamily="2" charset="0"/>
              </a:endParaRPr>
            </a:p>
          </p:txBody>
        </p:sp>
        <p:sp>
          <p:nvSpPr>
            <p:cNvPr id="54" name="Rectangle 48">
              <a:extLst>
                <a:ext uri="{FF2B5EF4-FFF2-40B4-BE49-F238E27FC236}">
                  <a16:creationId xmlns:a16="http://schemas.microsoft.com/office/drawing/2014/main" id="{2EE58193-21CC-5F0E-2F2B-0172960503B2}"/>
                </a:ext>
              </a:extLst>
            </p:cNvPr>
            <p:cNvSpPr>
              <a:spLocks noChangeArrowheads="1"/>
            </p:cNvSpPr>
            <p:nvPr/>
          </p:nvSpPr>
          <p:spPr bwMode="auto">
            <a:xfrm>
              <a:off x="3648"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5" name="Rectangle 49">
              <a:extLst>
                <a:ext uri="{FF2B5EF4-FFF2-40B4-BE49-F238E27FC236}">
                  <a16:creationId xmlns:a16="http://schemas.microsoft.com/office/drawing/2014/main" id="{16619557-01D8-FAE4-6F63-920557CD9145}"/>
                </a:ext>
              </a:extLst>
            </p:cNvPr>
            <p:cNvSpPr>
              <a:spLocks noChangeArrowheads="1"/>
            </p:cNvSpPr>
            <p:nvPr/>
          </p:nvSpPr>
          <p:spPr bwMode="auto">
            <a:xfrm>
              <a:off x="1176"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6" name="Rectangle 50">
              <a:extLst>
                <a:ext uri="{FF2B5EF4-FFF2-40B4-BE49-F238E27FC236}">
                  <a16:creationId xmlns:a16="http://schemas.microsoft.com/office/drawing/2014/main" id="{8532B859-C50D-0C15-2E06-6C63D04A2822}"/>
                </a:ext>
              </a:extLst>
            </p:cNvPr>
            <p:cNvSpPr>
              <a:spLocks noChangeArrowheads="1"/>
            </p:cNvSpPr>
            <p:nvPr/>
          </p:nvSpPr>
          <p:spPr bwMode="auto">
            <a:xfrm>
              <a:off x="2041"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7" name="Rectangle 51">
              <a:extLst>
                <a:ext uri="{FF2B5EF4-FFF2-40B4-BE49-F238E27FC236}">
                  <a16:creationId xmlns:a16="http://schemas.microsoft.com/office/drawing/2014/main" id="{1A2C7094-DFDE-FE9A-8334-6A17DE3277A1}"/>
                </a:ext>
              </a:extLst>
            </p:cNvPr>
            <p:cNvSpPr>
              <a:spLocks noChangeArrowheads="1"/>
            </p:cNvSpPr>
            <p:nvPr/>
          </p:nvSpPr>
          <p:spPr bwMode="auto">
            <a:xfrm>
              <a:off x="2824"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8" name="Rectangle 52">
              <a:extLst>
                <a:ext uri="{FF2B5EF4-FFF2-40B4-BE49-F238E27FC236}">
                  <a16:creationId xmlns:a16="http://schemas.microsoft.com/office/drawing/2014/main" id="{BD6C0049-7E75-013E-89CC-E0B5F2F5B367}"/>
                </a:ext>
              </a:extLst>
            </p:cNvPr>
            <p:cNvSpPr>
              <a:spLocks noChangeArrowheads="1"/>
            </p:cNvSpPr>
            <p:nvPr/>
          </p:nvSpPr>
          <p:spPr bwMode="auto">
            <a:xfrm>
              <a:off x="3648"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9" name="Rectangle 53">
              <a:extLst>
                <a:ext uri="{FF2B5EF4-FFF2-40B4-BE49-F238E27FC236}">
                  <a16:creationId xmlns:a16="http://schemas.microsoft.com/office/drawing/2014/main" id="{0CA5BC26-06D0-0702-4FD2-9920FDFA56D0}"/>
                </a:ext>
              </a:extLst>
            </p:cNvPr>
            <p:cNvSpPr>
              <a:spLocks noChangeArrowheads="1"/>
            </p:cNvSpPr>
            <p:nvPr/>
          </p:nvSpPr>
          <p:spPr bwMode="auto">
            <a:xfrm>
              <a:off x="1176"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0" name="Rectangle 54">
              <a:extLst>
                <a:ext uri="{FF2B5EF4-FFF2-40B4-BE49-F238E27FC236}">
                  <a16:creationId xmlns:a16="http://schemas.microsoft.com/office/drawing/2014/main" id="{D067980B-1961-8619-97A6-0A93563E157A}"/>
                </a:ext>
              </a:extLst>
            </p:cNvPr>
            <p:cNvSpPr>
              <a:spLocks noChangeArrowheads="1"/>
            </p:cNvSpPr>
            <p:nvPr/>
          </p:nvSpPr>
          <p:spPr bwMode="auto">
            <a:xfrm>
              <a:off x="2041"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1" name="Rectangle 55">
              <a:extLst>
                <a:ext uri="{FF2B5EF4-FFF2-40B4-BE49-F238E27FC236}">
                  <a16:creationId xmlns:a16="http://schemas.microsoft.com/office/drawing/2014/main" id="{1988C24B-F3E9-5304-804E-7FFEA2870DCA}"/>
                </a:ext>
              </a:extLst>
            </p:cNvPr>
            <p:cNvSpPr>
              <a:spLocks noChangeArrowheads="1"/>
            </p:cNvSpPr>
            <p:nvPr/>
          </p:nvSpPr>
          <p:spPr bwMode="auto">
            <a:xfrm>
              <a:off x="2824"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2" name="Rectangle 56">
              <a:extLst>
                <a:ext uri="{FF2B5EF4-FFF2-40B4-BE49-F238E27FC236}">
                  <a16:creationId xmlns:a16="http://schemas.microsoft.com/office/drawing/2014/main" id="{0878B540-668D-0C79-5561-AC65111F7D6A}"/>
                </a:ext>
              </a:extLst>
            </p:cNvPr>
            <p:cNvSpPr>
              <a:spLocks noChangeArrowheads="1"/>
            </p:cNvSpPr>
            <p:nvPr/>
          </p:nvSpPr>
          <p:spPr bwMode="auto">
            <a:xfrm>
              <a:off x="4348" y="2718"/>
              <a:ext cx="330"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3" name="Rectangle 57">
              <a:extLst>
                <a:ext uri="{FF2B5EF4-FFF2-40B4-BE49-F238E27FC236}">
                  <a16:creationId xmlns:a16="http://schemas.microsoft.com/office/drawing/2014/main" id="{02614E5D-FF7E-FAD6-F752-9B5138BF80BB}"/>
                </a:ext>
              </a:extLst>
            </p:cNvPr>
            <p:cNvSpPr>
              <a:spLocks noChangeArrowheads="1"/>
            </p:cNvSpPr>
            <p:nvPr/>
          </p:nvSpPr>
          <p:spPr bwMode="auto">
            <a:xfrm>
              <a:off x="4348" y="3624"/>
              <a:ext cx="330" cy="247"/>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4" name="Rectangle 58">
              <a:extLst>
                <a:ext uri="{FF2B5EF4-FFF2-40B4-BE49-F238E27FC236}">
                  <a16:creationId xmlns:a16="http://schemas.microsoft.com/office/drawing/2014/main" id="{748E6280-3DF4-140E-63BC-3785B3E0C72D}"/>
                </a:ext>
              </a:extLst>
            </p:cNvPr>
            <p:cNvSpPr>
              <a:spLocks noChangeArrowheads="1"/>
            </p:cNvSpPr>
            <p:nvPr/>
          </p:nvSpPr>
          <p:spPr bwMode="auto">
            <a:xfrm>
              <a:off x="1342" y="267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5s</a:t>
              </a:r>
              <a:endParaRPr lang="en-US" altLang="en-US">
                <a:solidFill>
                  <a:schemeClr val="bg1"/>
                </a:solidFill>
                <a:latin typeface="Roboto" panose="02000000000000000000" pitchFamily="2" charset="0"/>
                <a:ea typeface="Roboto" panose="02000000000000000000" pitchFamily="2" charset="0"/>
              </a:endParaRPr>
            </a:p>
          </p:txBody>
        </p:sp>
        <p:sp>
          <p:nvSpPr>
            <p:cNvPr id="65" name="Rectangle 59">
              <a:extLst>
                <a:ext uri="{FF2B5EF4-FFF2-40B4-BE49-F238E27FC236}">
                  <a16:creationId xmlns:a16="http://schemas.microsoft.com/office/drawing/2014/main" id="{F2514BC5-16B5-2DA7-1478-1A1FADEFE644}"/>
                </a:ext>
              </a:extLst>
            </p:cNvPr>
            <p:cNvSpPr>
              <a:spLocks noChangeArrowheads="1"/>
            </p:cNvSpPr>
            <p:nvPr/>
          </p:nvSpPr>
          <p:spPr bwMode="auto">
            <a:xfrm>
              <a:off x="2166"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22s</a:t>
              </a:r>
              <a:endParaRPr lang="en-US" altLang="en-US">
                <a:solidFill>
                  <a:schemeClr val="bg1"/>
                </a:solidFill>
                <a:latin typeface="Roboto" panose="02000000000000000000" pitchFamily="2" charset="0"/>
                <a:ea typeface="Roboto" panose="02000000000000000000" pitchFamily="2" charset="0"/>
              </a:endParaRPr>
            </a:p>
          </p:txBody>
        </p:sp>
        <p:sp>
          <p:nvSpPr>
            <p:cNvPr id="66" name="Rectangle 60">
              <a:extLst>
                <a:ext uri="{FF2B5EF4-FFF2-40B4-BE49-F238E27FC236}">
                  <a16:creationId xmlns:a16="http://schemas.microsoft.com/office/drawing/2014/main" id="{7DE4ABC5-7175-7142-6819-EE2BA259CFB2}"/>
                </a:ext>
              </a:extLst>
            </p:cNvPr>
            <p:cNvSpPr>
              <a:spLocks noChangeArrowheads="1"/>
            </p:cNvSpPr>
            <p:nvPr/>
          </p:nvSpPr>
          <p:spPr bwMode="auto">
            <a:xfrm>
              <a:off x="2907"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10s</a:t>
              </a:r>
              <a:endParaRPr lang="en-US" altLang="en-US">
                <a:solidFill>
                  <a:schemeClr val="bg1"/>
                </a:solidFill>
                <a:latin typeface="Roboto" panose="02000000000000000000" pitchFamily="2" charset="0"/>
                <a:ea typeface="Roboto" panose="02000000000000000000" pitchFamily="2" charset="0"/>
              </a:endParaRPr>
            </a:p>
          </p:txBody>
        </p:sp>
        <p:sp>
          <p:nvSpPr>
            <p:cNvPr id="67" name="Rectangle 61">
              <a:extLst>
                <a:ext uri="{FF2B5EF4-FFF2-40B4-BE49-F238E27FC236}">
                  <a16:creationId xmlns:a16="http://schemas.microsoft.com/office/drawing/2014/main" id="{716AED00-75D0-D67C-47C9-C07EAE708602}"/>
                </a:ext>
              </a:extLst>
            </p:cNvPr>
            <p:cNvSpPr>
              <a:spLocks noChangeArrowheads="1"/>
            </p:cNvSpPr>
            <p:nvPr/>
          </p:nvSpPr>
          <p:spPr bwMode="auto">
            <a:xfrm>
              <a:off x="3741"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25s</a:t>
              </a:r>
              <a:endParaRPr lang="en-US" altLang="en-US">
                <a:solidFill>
                  <a:schemeClr val="bg1"/>
                </a:solidFill>
                <a:latin typeface="Roboto" panose="02000000000000000000" pitchFamily="2" charset="0"/>
                <a:ea typeface="Roboto" panose="02000000000000000000" pitchFamily="2" charset="0"/>
              </a:endParaRPr>
            </a:p>
          </p:txBody>
        </p:sp>
        <p:sp>
          <p:nvSpPr>
            <p:cNvPr id="68" name="Rectangle 62">
              <a:extLst>
                <a:ext uri="{FF2B5EF4-FFF2-40B4-BE49-F238E27FC236}">
                  <a16:creationId xmlns:a16="http://schemas.microsoft.com/office/drawing/2014/main" id="{DD330A15-6CB3-B8DB-4421-CF6A50BA496E}"/>
                </a:ext>
              </a:extLst>
            </p:cNvPr>
            <p:cNvSpPr>
              <a:spLocks noChangeArrowheads="1"/>
            </p:cNvSpPr>
            <p:nvPr/>
          </p:nvSpPr>
          <p:spPr bwMode="auto">
            <a:xfrm>
              <a:off x="1342" y="374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8s</a:t>
              </a:r>
              <a:endParaRPr lang="en-US" altLang="en-US">
                <a:solidFill>
                  <a:schemeClr val="bg1"/>
                </a:solidFill>
                <a:latin typeface="Roboto" panose="02000000000000000000" pitchFamily="2" charset="0"/>
                <a:ea typeface="Roboto" panose="02000000000000000000" pitchFamily="2" charset="0"/>
              </a:endParaRPr>
            </a:p>
          </p:txBody>
        </p:sp>
        <p:sp>
          <p:nvSpPr>
            <p:cNvPr id="69" name="Rectangle 63">
              <a:extLst>
                <a:ext uri="{FF2B5EF4-FFF2-40B4-BE49-F238E27FC236}">
                  <a16:creationId xmlns:a16="http://schemas.microsoft.com/office/drawing/2014/main" id="{1BDD8764-3278-E39F-1DEF-77D424B4B20E}"/>
                </a:ext>
              </a:extLst>
            </p:cNvPr>
            <p:cNvSpPr>
              <a:spLocks noChangeArrowheads="1"/>
            </p:cNvSpPr>
            <p:nvPr/>
          </p:nvSpPr>
          <p:spPr bwMode="auto">
            <a:xfrm>
              <a:off x="2166" y="374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15s</a:t>
              </a:r>
              <a:endParaRPr lang="en-US" altLang="en-US">
                <a:solidFill>
                  <a:schemeClr val="bg1"/>
                </a:solidFill>
                <a:latin typeface="Roboto" panose="02000000000000000000" pitchFamily="2" charset="0"/>
                <a:ea typeface="Roboto" panose="02000000000000000000" pitchFamily="2" charset="0"/>
              </a:endParaRPr>
            </a:p>
          </p:txBody>
        </p:sp>
        <p:sp>
          <p:nvSpPr>
            <p:cNvPr id="70" name="Rectangle 64">
              <a:extLst>
                <a:ext uri="{FF2B5EF4-FFF2-40B4-BE49-F238E27FC236}">
                  <a16:creationId xmlns:a16="http://schemas.microsoft.com/office/drawing/2014/main" id="{0A79291F-AF33-E525-655D-743C954E9943}"/>
                </a:ext>
              </a:extLst>
            </p:cNvPr>
            <p:cNvSpPr>
              <a:spLocks noChangeArrowheads="1"/>
            </p:cNvSpPr>
            <p:nvPr/>
          </p:nvSpPr>
          <p:spPr bwMode="auto">
            <a:xfrm>
              <a:off x="2948" y="374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5s</a:t>
              </a:r>
              <a:endParaRPr lang="en-US" altLang="en-US">
                <a:solidFill>
                  <a:schemeClr val="bg1"/>
                </a:solidFill>
                <a:latin typeface="Roboto" panose="02000000000000000000" pitchFamily="2" charset="0"/>
                <a:ea typeface="Roboto" panose="02000000000000000000" pitchFamily="2" charset="0"/>
              </a:endParaRPr>
            </a:p>
          </p:txBody>
        </p:sp>
        <p:sp>
          <p:nvSpPr>
            <p:cNvPr id="71" name="Rectangle 65">
              <a:extLst>
                <a:ext uri="{FF2B5EF4-FFF2-40B4-BE49-F238E27FC236}">
                  <a16:creationId xmlns:a16="http://schemas.microsoft.com/office/drawing/2014/main" id="{4BEBB060-45E6-9428-DBA6-3A8AF81D7F8E}"/>
                </a:ext>
              </a:extLst>
            </p:cNvPr>
            <p:cNvSpPr>
              <a:spLocks noChangeArrowheads="1"/>
            </p:cNvSpPr>
            <p:nvPr/>
          </p:nvSpPr>
          <p:spPr bwMode="auto">
            <a:xfrm>
              <a:off x="3741" y="374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10s</a:t>
              </a:r>
              <a:endParaRPr lang="en-US" altLang="en-US">
                <a:solidFill>
                  <a:schemeClr val="bg1"/>
                </a:solidFill>
                <a:latin typeface="Roboto" panose="02000000000000000000" pitchFamily="2" charset="0"/>
                <a:ea typeface="Roboto" panose="02000000000000000000" pitchFamily="2" charset="0"/>
              </a:endParaRPr>
            </a:p>
          </p:txBody>
        </p:sp>
        <p:sp>
          <p:nvSpPr>
            <p:cNvPr id="72" name="Rectangle 66">
              <a:extLst>
                <a:ext uri="{FF2B5EF4-FFF2-40B4-BE49-F238E27FC236}">
                  <a16:creationId xmlns:a16="http://schemas.microsoft.com/office/drawing/2014/main" id="{B1D9CC0A-7881-D803-57C6-D0F8FCD61181}"/>
                </a:ext>
              </a:extLst>
            </p:cNvPr>
            <p:cNvSpPr>
              <a:spLocks noChangeArrowheads="1"/>
            </p:cNvSpPr>
            <p:nvPr/>
          </p:nvSpPr>
          <p:spPr bwMode="auto">
            <a:xfrm>
              <a:off x="4430" y="2735"/>
              <a:ext cx="25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dirty="0">
                  <a:solidFill>
                    <a:srgbClr val="000000"/>
                  </a:solidFill>
                  <a:latin typeface="Roboto" panose="02000000000000000000" pitchFamily="2" charset="0"/>
                  <a:ea typeface="Roboto" panose="02000000000000000000" pitchFamily="2" charset="0"/>
                </a:rPr>
                <a:t>RM</a:t>
              </a:r>
              <a:endParaRPr lang="en-US" altLang="en-US" dirty="0">
                <a:solidFill>
                  <a:schemeClr val="bg1"/>
                </a:solidFill>
                <a:latin typeface="Roboto" panose="02000000000000000000" pitchFamily="2" charset="0"/>
                <a:ea typeface="Roboto" panose="02000000000000000000" pitchFamily="2" charset="0"/>
              </a:endParaRPr>
            </a:p>
          </p:txBody>
        </p:sp>
        <p:sp>
          <p:nvSpPr>
            <p:cNvPr id="73" name="Rectangle 67">
              <a:extLst>
                <a:ext uri="{FF2B5EF4-FFF2-40B4-BE49-F238E27FC236}">
                  <a16:creationId xmlns:a16="http://schemas.microsoft.com/office/drawing/2014/main" id="{2BB71122-3899-94C6-5062-32BD580651A6}"/>
                </a:ext>
              </a:extLst>
            </p:cNvPr>
            <p:cNvSpPr>
              <a:spLocks noChangeArrowheads="1"/>
            </p:cNvSpPr>
            <p:nvPr/>
          </p:nvSpPr>
          <p:spPr bwMode="auto">
            <a:xfrm>
              <a:off x="4437" y="3641"/>
              <a:ext cx="20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FG</a:t>
              </a:r>
              <a:endParaRPr lang="en-US" altLang="en-US">
                <a:solidFill>
                  <a:schemeClr val="bg1"/>
                </a:solidFill>
                <a:latin typeface="Roboto" panose="02000000000000000000" pitchFamily="2" charset="0"/>
                <a:ea typeface="Roboto" panose="02000000000000000000" pitchFamily="2" charset="0"/>
              </a:endParaRPr>
            </a:p>
          </p:txBody>
        </p:sp>
        <p:sp>
          <p:nvSpPr>
            <p:cNvPr id="74" name="Rectangle 79">
              <a:extLst>
                <a:ext uri="{FF2B5EF4-FFF2-40B4-BE49-F238E27FC236}">
                  <a16:creationId xmlns:a16="http://schemas.microsoft.com/office/drawing/2014/main" id="{83BED60D-6F42-2168-9BDC-B10544D3AF8F}"/>
                </a:ext>
              </a:extLst>
            </p:cNvPr>
            <p:cNvSpPr>
              <a:spLocks noChangeArrowheads="1"/>
            </p:cNvSpPr>
            <p:nvPr/>
          </p:nvSpPr>
          <p:spPr bwMode="auto">
            <a:xfrm>
              <a:off x="4317" y="308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1</a:t>
              </a:r>
              <a:endParaRPr lang="en-US" altLang="en-US">
                <a:solidFill>
                  <a:schemeClr val="bg1"/>
                </a:solidFill>
                <a:latin typeface="Roboto" panose="02000000000000000000" pitchFamily="2" charset="0"/>
                <a:ea typeface="Roboto" panose="02000000000000000000" pitchFamily="2" charset="0"/>
              </a:endParaRPr>
            </a:p>
          </p:txBody>
        </p:sp>
        <p:sp>
          <p:nvSpPr>
            <p:cNvPr id="75" name="Rectangle 80">
              <a:extLst>
                <a:ext uri="{FF2B5EF4-FFF2-40B4-BE49-F238E27FC236}">
                  <a16:creationId xmlns:a16="http://schemas.microsoft.com/office/drawing/2014/main" id="{D98CAE6F-E29F-B303-4979-BCD51A3E82A0}"/>
                </a:ext>
              </a:extLst>
            </p:cNvPr>
            <p:cNvSpPr>
              <a:spLocks noChangeArrowheads="1"/>
            </p:cNvSpPr>
            <p:nvPr/>
          </p:nvSpPr>
          <p:spPr bwMode="auto">
            <a:xfrm>
              <a:off x="3864"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2</a:t>
              </a:r>
              <a:endParaRPr lang="en-US" altLang="en-US">
                <a:solidFill>
                  <a:schemeClr val="bg1"/>
                </a:solidFill>
                <a:latin typeface="Roboto" panose="02000000000000000000" pitchFamily="2" charset="0"/>
                <a:ea typeface="Roboto" panose="02000000000000000000" pitchFamily="2" charset="0"/>
              </a:endParaRPr>
            </a:p>
          </p:txBody>
        </p:sp>
        <p:sp>
          <p:nvSpPr>
            <p:cNvPr id="76" name="Rectangle 81">
              <a:extLst>
                <a:ext uri="{FF2B5EF4-FFF2-40B4-BE49-F238E27FC236}">
                  <a16:creationId xmlns:a16="http://schemas.microsoft.com/office/drawing/2014/main" id="{F3D93878-7527-0FBD-9E85-5F59BF1CEEBE}"/>
                </a:ext>
              </a:extLst>
            </p:cNvPr>
            <p:cNvSpPr>
              <a:spLocks noChangeArrowheads="1"/>
            </p:cNvSpPr>
            <p:nvPr/>
          </p:nvSpPr>
          <p:spPr bwMode="auto">
            <a:xfrm>
              <a:off x="3040"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3</a:t>
              </a:r>
              <a:endParaRPr lang="en-US" altLang="en-US">
                <a:solidFill>
                  <a:schemeClr val="bg1"/>
                </a:solidFill>
                <a:latin typeface="Roboto" panose="02000000000000000000" pitchFamily="2" charset="0"/>
                <a:ea typeface="Roboto" panose="02000000000000000000" pitchFamily="2" charset="0"/>
              </a:endParaRPr>
            </a:p>
          </p:txBody>
        </p:sp>
        <p:sp>
          <p:nvSpPr>
            <p:cNvPr id="77" name="Rectangle 82">
              <a:extLst>
                <a:ext uri="{FF2B5EF4-FFF2-40B4-BE49-F238E27FC236}">
                  <a16:creationId xmlns:a16="http://schemas.microsoft.com/office/drawing/2014/main" id="{27E113D7-EC82-5EE7-36E6-EBB3913A4AB9}"/>
                </a:ext>
              </a:extLst>
            </p:cNvPr>
            <p:cNvSpPr>
              <a:spLocks noChangeArrowheads="1"/>
            </p:cNvSpPr>
            <p:nvPr/>
          </p:nvSpPr>
          <p:spPr bwMode="auto">
            <a:xfrm>
              <a:off x="2257"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4</a:t>
              </a:r>
              <a:endParaRPr lang="en-US" altLang="en-US">
                <a:solidFill>
                  <a:schemeClr val="bg1"/>
                </a:solidFill>
                <a:latin typeface="Roboto" panose="02000000000000000000" pitchFamily="2" charset="0"/>
                <a:ea typeface="Roboto" panose="02000000000000000000" pitchFamily="2" charset="0"/>
              </a:endParaRPr>
            </a:p>
          </p:txBody>
        </p:sp>
        <p:sp>
          <p:nvSpPr>
            <p:cNvPr id="78" name="Rectangle 83">
              <a:extLst>
                <a:ext uri="{FF2B5EF4-FFF2-40B4-BE49-F238E27FC236}">
                  <a16:creationId xmlns:a16="http://schemas.microsoft.com/office/drawing/2014/main" id="{2EA7FE43-88D0-795E-0D00-5907F9D8ED7D}"/>
                </a:ext>
              </a:extLst>
            </p:cNvPr>
            <p:cNvSpPr>
              <a:spLocks noChangeArrowheads="1"/>
            </p:cNvSpPr>
            <p:nvPr/>
          </p:nvSpPr>
          <p:spPr bwMode="auto">
            <a:xfrm>
              <a:off x="1392" y="3001"/>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5</a:t>
              </a:r>
              <a:endParaRPr lang="en-US" altLang="en-US">
                <a:solidFill>
                  <a:schemeClr val="bg1"/>
                </a:solidFill>
                <a:latin typeface="Roboto" panose="02000000000000000000" pitchFamily="2" charset="0"/>
                <a:ea typeface="Roboto" panose="02000000000000000000" pitchFamily="2" charset="0"/>
              </a:endParaRPr>
            </a:p>
          </p:txBody>
        </p:sp>
        <p:sp>
          <p:nvSpPr>
            <p:cNvPr id="79" name="Rectangle 84">
              <a:extLst>
                <a:ext uri="{FF2B5EF4-FFF2-40B4-BE49-F238E27FC236}">
                  <a16:creationId xmlns:a16="http://schemas.microsoft.com/office/drawing/2014/main" id="{1326E493-D949-57FB-A868-30BB779F96C8}"/>
                </a:ext>
              </a:extLst>
            </p:cNvPr>
            <p:cNvSpPr>
              <a:spLocks noChangeArrowheads="1"/>
            </p:cNvSpPr>
            <p:nvPr/>
          </p:nvSpPr>
          <p:spPr bwMode="auto">
            <a:xfrm>
              <a:off x="1383"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6</a:t>
              </a:r>
              <a:endParaRPr lang="en-US" altLang="en-US">
                <a:solidFill>
                  <a:schemeClr val="bg1"/>
                </a:solidFill>
                <a:latin typeface="Roboto" panose="02000000000000000000" pitchFamily="2" charset="0"/>
                <a:ea typeface="Roboto" panose="02000000000000000000" pitchFamily="2" charset="0"/>
              </a:endParaRPr>
            </a:p>
          </p:txBody>
        </p:sp>
        <p:sp>
          <p:nvSpPr>
            <p:cNvPr id="80" name="Rectangle 85">
              <a:extLst>
                <a:ext uri="{FF2B5EF4-FFF2-40B4-BE49-F238E27FC236}">
                  <a16:creationId xmlns:a16="http://schemas.microsoft.com/office/drawing/2014/main" id="{E73014F3-F48B-21CF-2509-3AC29BFCB00C}"/>
                </a:ext>
              </a:extLst>
            </p:cNvPr>
            <p:cNvSpPr>
              <a:spLocks noChangeArrowheads="1"/>
            </p:cNvSpPr>
            <p:nvPr/>
          </p:nvSpPr>
          <p:spPr bwMode="auto">
            <a:xfrm>
              <a:off x="2249"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7</a:t>
              </a:r>
              <a:endParaRPr lang="en-US" altLang="en-US">
                <a:solidFill>
                  <a:schemeClr val="bg1"/>
                </a:solidFill>
                <a:latin typeface="Roboto" panose="02000000000000000000" pitchFamily="2" charset="0"/>
                <a:ea typeface="Roboto" panose="02000000000000000000" pitchFamily="2" charset="0"/>
              </a:endParaRPr>
            </a:p>
          </p:txBody>
        </p:sp>
        <p:sp>
          <p:nvSpPr>
            <p:cNvPr id="81" name="Rectangle 86">
              <a:extLst>
                <a:ext uri="{FF2B5EF4-FFF2-40B4-BE49-F238E27FC236}">
                  <a16:creationId xmlns:a16="http://schemas.microsoft.com/office/drawing/2014/main" id="{AC956848-6222-6C43-D660-E9B7C6485265}"/>
                </a:ext>
              </a:extLst>
            </p:cNvPr>
            <p:cNvSpPr>
              <a:spLocks noChangeArrowheads="1"/>
            </p:cNvSpPr>
            <p:nvPr/>
          </p:nvSpPr>
          <p:spPr bwMode="auto">
            <a:xfrm>
              <a:off x="2998" y="3494"/>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8</a:t>
              </a:r>
              <a:endParaRPr lang="en-US" altLang="en-US">
                <a:solidFill>
                  <a:schemeClr val="bg1"/>
                </a:solidFill>
                <a:latin typeface="Roboto" panose="02000000000000000000" pitchFamily="2" charset="0"/>
                <a:ea typeface="Roboto" panose="02000000000000000000" pitchFamily="2" charset="0"/>
              </a:endParaRPr>
            </a:p>
          </p:txBody>
        </p:sp>
        <p:sp>
          <p:nvSpPr>
            <p:cNvPr id="82" name="Rectangle 87">
              <a:extLst>
                <a:ext uri="{FF2B5EF4-FFF2-40B4-BE49-F238E27FC236}">
                  <a16:creationId xmlns:a16="http://schemas.microsoft.com/office/drawing/2014/main" id="{9A88BCA6-EF7B-06A1-7D3F-6DC2F31512AB}"/>
                </a:ext>
              </a:extLst>
            </p:cNvPr>
            <p:cNvSpPr>
              <a:spLocks noChangeArrowheads="1"/>
            </p:cNvSpPr>
            <p:nvPr/>
          </p:nvSpPr>
          <p:spPr bwMode="auto">
            <a:xfrm>
              <a:off x="3814"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9</a:t>
              </a:r>
              <a:endParaRPr lang="en-US" altLang="en-US">
                <a:solidFill>
                  <a:schemeClr val="bg1"/>
                </a:solidFill>
                <a:latin typeface="Roboto" panose="02000000000000000000" pitchFamily="2" charset="0"/>
                <a:ea typeface="Roboto" panose="02000000000000000000" pitchFamily="2" charset="0"/>
              </a:endParaRPr>
            </a:p>
          </p:txBody>
        </p:sp>
        <p:sp>
          <p:nvSpPr>
            <p:cNvPr id="83" name="Rectangle 88">
              <a:extLst>
                <a:ext uri="{FF2B5EF4-FFF2-40B4-BE49-F238E27FC236}">
                  <a16:creationId xmlns:a16="http://schemas.microsoft.com/office/drawing/2014/main" id="{66CF7F38-AC84-0E88-15D4-794902323161}"/>
                </a:ext>
              </a:extLst>
            </p:cNvPr>
            <p:cNvSpPr>
              <a:spLocks noChangeArrowheads="1"/>
            </p:cNvSpPr>
            <p:nvPr/>
          </p:nvSpPr>
          <p:spPr bwMode="auto">
            <a:xfrm>
              <a:off x="4317" y="3411"/>
              <a:ext cx="153"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10</a:t>
              </a:r>
              <a:endParaRPr lang="en-US" altLang="en-US">
                <a:solidFill>
                  <a:schemeClr val="bg1"/>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8916009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Exercise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35</a:t>
            </a:fld>
            <a:endParaRPr lang="en-US"/>
          </a:p>
        </p:txBody>
      </p:sp>
      <p:grpSp>
        <p:nvGrpSpPr>
          <p:cNvPr id="3" name="Group 2">
            <a:extLst>
              <a:ext uri="{FF2B5EF4-FFF2-40B4-BE49-F238E27FC236}">
                <a16:creationId xmlns:a16="http://schemas.microsoft.com/office/drawing/2014/main" id="{E59B3CBF-5ABE-A498-69B8-907927981904}"/>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FA2C170-C446-6B5B-AAB0-CE615D97A889}"/>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9C2BB869-711E-EDCF-3E70-9D220EA50D3A}"/>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2610C34F-6578-4FE5-65A3-F08C785B5BBF}"/>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4BAC9EF-B7C5-7987-4E79-A6A74B4DFB2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A747822C-FF49-93E1-752C-68C5CBA2D38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F7978C6F-E01F-648B-74C4-F93F25FFC58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16C8119E-347B-1271-DC3C-C23ABFB31C8E}"/>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Work Sequence</a:t>
                </a:r>
              </a:p>
            </p:txBody>
          </p:sp>
        </p:grpSp>
      </p:grpSp>
      <p:sp>
        <p:nvSpPr>
          <p:cNvPr id="22" name="Text Box 91">
            <a:extLst>
              <a:ext uri="{FF2B5EF4-FFF2-40B4-BE49-F238E27FC236}">
                <a16:creationId xmlns:a16="http://schemas.microsoft.com/office/drawing/2014/main" id="{7E925B36-8BE5-6D78-AE90-A08E106AEAE2}"/>
              </a:ext>
            </a:extLst>
          </p:cNvPr>
          <p:cNvSpPr txBox="1">
            <a:spLocks noChangeArrowheads="1"/>
          </p:cNvSpPr>
          <p:nvPr/>
        </p:nvSpPr>
        <p:spPr bwMode="auto">
          <a:xfrm>
            <a:off x="838200" y="1854875"/>
            <a:ext cx="4766048"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Daily Demand: 1080 pieces</a:t>
            </a: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Available Time: 450 minutes</a:t>
            </a:r>
          </a:p>
          <a:p>
            <a:pPr eaLnBrk="1" hangingPunct="1">
              <a:lnSpc>
                <a:spcPct val="100000"/>
              </a:lnSpc>
              <a:spcBef>
                <a:spcPct val="0"/>
              </a:spcBef>
              <a:spcAft>
                <a:spcPct val="0"/>
              </a:spcAft>
              <a:buClrTx/>
              <a:buSzTx/>
              <a:buFontTx/>
              <a:buNone/>
            </a:pPr>
            <a:endParaRPr lang="en-US" altLang="en-US" sz="1800" dirty="0">
              <a:latin typeface="Roboto" panose="02000000000000000000" pitchFamily="2" charset="0"/>
              <a:ea typeface="Roboto" panose="02000000000000000000" pitchFamily="2" charset="0"/>
            </a:endParaRP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Takt Time: _________________</a:t>
            </a: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Number of Operators: _______</a:t>
            </a:r>
          </a:p>
          <a:p>
            <a:pPr eaLnBrk="1" hangingPunct="1">
              <a:lnSpc>
                <a:spcPct val="100000"/>
              </a:lnSpc>
              <a:spcBef>
                <a:spcPct val="0"/>
              </a:spcBef>
              <a:spcAft>
                <a:spcPct val="0"/>
              </a:spcAft>
              <a:buClrTx/>
              <a:buSzTx/>
              <a:buFontTx/>
              <a:buNone/>
            </a:pPr>
            <a:endParaRPr lang="en-US" altLang="en-US" sz="1800" dirty="0">
              <a:latin typeface="Roboto" panose="02000000000000000000" pitchFamily="2" charset="0"/>
              <a:ea typeface="Roboto" panose="02000000000000000000" pitchFamily="2" charset="0"/>
            </a:endParaRPr>
          </a:p>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Draw the work sequence for each operator:</a:t>
            </a:r>
          </a:p>
        </p:txBody>
      </p:sp>
      <p:grpSp>
        <p:nvGrpSpPr>
          <p:cNvPr id="12" name="Group 89">
            <a:extLst>
              <a:ext uri="{FF2B5EF4-FFF2-40B4-BE49-F238E27FC236}">
                <a16:creationId xmlns:a16="http://schemas.microsoft.com/office/drawing/2014/main" id="{F55CB6CA-8713-EAA6-17A3-615135B3B9C2}"/>
              </a:ext>
            </a:extLst>
          </p:cNvPr>
          <p:cNvGrpSpPr>
            <a:grpSpLocks/>
          </p:cNvGrpSpPr>
          <p:nvPr/>
        </p:nvGrpSpPr>
        <p:grpSpPr bwMode="auto">
          <a:xfrm>
            <a:off x="3086100" y="3690938"/>
            <a:ext cx="6019800" cy="2389187"/>
            <a:chOff x="912" y="2501"/>
            <a:chExt cx="3792" cy="1505"/>
          </a:xfrm>
        </p:grpSpPr>
        <p:sp>
          <p:nvSpPr>
            <p:cNvPr id="13" name="AutoShape 5">
              <a:extLst>
                <a:ext uri="{FF2B5EF4-FFF2-40B4-BE49-F238E27FC236}">
                  <a16:creationId xmlns:a16="http://schemas.microsoft.com/office/drawing/2014/main" id="{E6E13EBE-1561-9999-A50E-3B42A85AF704}"/>
                </a:ext>
              </a:extLst>
            </p:cNvPr>
            <p:cNvSpPr>
              <a:spLocks noChangeAspect="1" noChangeArrowheads="1" noTextEdit="1"/>
            </p:cNvSpPr>
            <p:nvPr/>
          </p:nvSpPr>
          <p:spPr bwMode="auto">
            <a:xfrm>
              <a:off x="912" y="2501"/>
              <a:ext cx="3792" cy="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 name="Rectangle 7">
              <a:extLst>
                <a:ext uri="{FF2B5EF4-FFF2-40B4-BE49-F238E27FC236}">
                  <a16:creationId xmlns:a16="http://schemas.microsoft.com/office/drawing/2014/main" id="{36A8831D-60F8-DB55-BE3A-B0616F70C430}"/>
                </a:ext>
              </a:extLst>
            </p:cNvPr>
            <p:cNvSpPr>
              <a:spLocks noChangeArrowheads="1"/>
            </p:cNvSpPr>
            <p:nvPr/>
          </p:nvSpPr>
          <p:spPr bwMode="auto">
            <a:xfrm>
              <a:off x="3648"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5" name="Rectangle 8">
              <a:extLst>
                <a:ext uri="{FF2B5EF4-FFF2-40B4-BE49-F238E27FC236}">
                  <a16:creationId xmlns:a16="http://schemas.microsoft.com/office/drawing/2014/main" id="{7CFA9515-7D5D-1558-F24A-7160471405B5}"/>
                </a:ext>
              </a:extLst>
            </p:cNvPr>
            <p:cNvSpPr>
              <a:spLocks noChangeArrowheads="1"/>
            </p:cNvSpPr>
            <p:nvPr/>
          </p:nvSpPr>
          <p:spPr bwMode="auto">
            <a:xfrm>
              <a:off x="1176"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6" name="Rectangle 9">
              <a:extLst>
                <a:ext uri="{FF2B5EF4-FFF2-40B4-BE49-F238E27FC236}">
                  <a16:creationId xmlns:a16="http://schemas.microsoft.com/office/drawing/2014/main" id="{41B3A663-64F7-481D-EB0C-27CDFB7A4767}"/>
                </a:ext>
              </a:extLst>
            </p:cNvPr>
            <p:cNvSpPr>
              <a:spLocks noChangeArrowheads="1"/>
            </p:cNvSpPr>
            <p:nvPr/>
          </p:nvSpPr>
          <p:spPr bwMode="auto">
            <a:xfrm>
              <a:off x="2041"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7" name="Rectangle 10">
              <a:extLst>
                <a:ext uri="{FF2B5EF4-FFF2-40B4-BE49-F238E27FC236}">
                  <a16:creationId xmlns:a16="http://schemas.microsoft.com/office/drawing/2014/main" id="{6FC4AF6F-3CC4-B508-04F9-D6A5FBFB4636}"/>
                </a:ext>
              </a:extLst>
            </p:cNvPr>
            <p:cNvSpPr>
              <a:spLocks noChangeArrowheads="1"/>
            </p:cNvSpPr>
            <p:nvPr/>
          </p:nvSpPr>
          <p:spPr bwMode="auto">
            <a:xfrm>
              <a:off x="2824"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8" name="Rectangle 11">
              <a:extLst>
                <a:ext uri="{FF2B5EF4-FFF2-40B4-BE49-F238E27FC236}">
                  <a16:creationId xmlns:a16="http://schemas.microsoft.com/office/drawing/2014/main" id="{7DCB60CC-7C39-A12F-9DD7-136CB4D1551D}"/>
                </a:ext>
              </a:extLst>
            </p:cNvPr>
            <p:cNvSpPr>
              <a:spLocks noChangeArrowheads="1"/>
            </p:cNvSpPr>
            <p:nvPr/>
          </p:nvSpPr>
          <p:spPr bwMode="auto">
            <a:xfrm>
              <a:off x="3648"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9" name="Rectangle 12">
              <a:extLst>
                <a:ext uri="{FF2B5EF4-FFF2-40B4-BE49-F238E27FC236}">
                  <a16:creationId xmlns:a16="http://schemas.microsoft.com/office/drawing/2014/main" id="{3F33B4A9-F283-AE5F-F021-6B49CE159496}"/>
                </a:ext>
              </a:extLst>
            </p:cNvPr>
            <p:cNvSpPr>
              <a:spLocks noChangeArrowheads="1"/>
            </p:cNvSpPr>
            <p:nvPr/>
          </p:nvSpPr>
          <p:spPr bwMode="auto">
            <a:xfrm>
              <a:off x="1176"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0" name="Rectangle 13">
              <a:extLst>
                <a:ext uri="{FF2B5EF4-FFF2-40B4-BE49-F238E27FC236}">
                  <a16:creationId xmlns:a16="http://schemas.microsoft.com/office/drawing/2014/main" id="{5A576E3D-1847-79F2-F4DB-0A6A02FE289F}"/>
                </a:ext>
              </a:extLst>
            </p:cNvPr>
            <p:cNvSpPr>
              <a:spLocks noChangeArrowheads="1"/>
            </p:cNvSpPr>
            <p:nvPr/>
          </p:nvSpPr>
          <p:spPr bwMode="auto">
            <a:xfrm>
              <a:off x="2041"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 name="Rectangle 14">
              <a:extLst>
                <a:ext uri="{FF2B5EF4-FFF2-40B4-BE49-F238E27FC236}">
                  <a16:creationId xmlns:a16="http://schemas.microsoft.com/office/drawing/2014/main" id="{AF3441F8-CE49-37D3-6570-750124868130}"/>
                </a:ext>
              </a:extLst>
            </p:cNvPr>
            <p:cNvSpPr>
              <a:spLocks noChangeArrowheads="1"/>
            </p:cNvSpPr>
            <p:nvPr/>
          </p:nvSpPr>
          <p:spPr bwMode="auto">
            <a:xfrm>
              <a:off x="2824"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 name="Rectangle 15">
              <a:extLst>
                <a:ext uri="{FF2B5EF4-FFF2-40B4-BE49-F238E27FC236}">
                  <a16:creationId xmlns:a16="http://schemas.microsoft.com/office/drawing/2014/main" id="{10CD374E-8CBC-CEC6-CD73-A6D5CD6860E7}"/>
                </a:ext>
              </a:extLst>
            </p:cNvPr>
            <p:cNvSpPr>
              <a:spLocks noChangeArrowheads="1"/>
            </p:cNvSpPr>
            <p:nvPr/>
          </p:nvSpPr>
          <p:spPr bwMode="auto">
            <a:xfrm>
              <a:off x="4348" y="2718"/>
              <a:ext cx="330"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 name="Rectangle 16">
              <a:extLst>
                <a:ext uri="{FF2B5EF4-FFF2-40B4-BE49-F238E27FC236}">
                  <a16:creationId xmlns:a16="http://schemas.microsoft.com/office/drawing/2014/main" id="{85229465-7069-55CD-2451-E2696F475385}"/>
                </a:ext>
              </a:extLst>
            </p:cNvPr>
            <p:cNvSpPr>
              <a:spLocks noChangeArrowheads="1"/>
            </p:cNvSpPr>
            <p:nvPr/>
          </p:nvSpPr>
          <p:spPr bwMode="auto">
            <a:xfrm>
              <a:off x="4348" y="3624"/>
              <a:ext cx="330" cy="247"/>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4" name="Rectangle 17">
              <a:extLst>
                <a:ext uri="{FF2B5EF4-FFF2-40B4-BE49-F238E27FC236}">
                  <a16:creationId xmlns:a16="http://schemas.microsoft.com/office/drawing/2014/main" id="{55CC207D-2CDE-36FE-F374-D85CBD2EB8CC}"/>
                </a:ext>
              </a:extLst>
            </p:cNvPr>
            <p:cNvSpPr>
              <a:spLocks noChangeArrowheads="1"/>
            </p:cNvSpPr>
            <p:nvPr/>
          </p:nvSpPr>
          <p:spPr bwMode="auto">
            <a:xfrm>
              <a:off x="1342" y="267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5s</a:t>
              </a:r>
              <a:endParaRPr lang="en-US" altLang="en-US">
                <a:solidFill>
                  <a:schemeClr val="bg1"/>
                </a:solidFill>
                <a:latin typeface="Roboto" panose="02000000000000000000" pitchFamily="2" charset="0"/>
                <a:ea typeface="Roboto" panose="02000000000000000000" pitchFamily="2" charset="0"/>
              </a:endParaRPr>
            </a:p>
          </p:txBody>
        </p:sp>
        <p:sp>
          <p:nvSpPr>
            <p:cNvPr id="35" name="Rectangle 18">
              <a:extLst>
                <a:ext uri="{FF2B5EF4-FFF2-40B4-BE49-F238E27FC236}">
                  <a16:creationId xmlns:a16="http://schemas.microsoft.com/office/drawing/2014/main" id="{1F2E2B15-BBA9-6A0D-D537-28E9437E8922}"/>
                </a:ext>
              </a:extLst>
            </p:cNvPr>
            <p:cNvSpPr>
              <a:spLocks noChangeArrowheads="1"/>
            </p:cNvSpPr>
            <p:nvPr/>
          </p:nvSpPr>
          <p:spPr bwMode="auto">
            <a:xfrm>
              <a:off x="2166"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22s</a:t>
              </a:r>
              <a:endParaRPr lang="en-US" altLang="en-US">
                <a:solidFill>
                  <a:schemeClr val="bg1"/>
                </a:solidFill>
                <a:latin typeface="Roboto" panose="02000000000000000000" pitchFamily="2" charset="0"/>
                <a:ea typeface="Roboto" panose="02000000000000000000" pitchFamily="2" charset="0"/>
              </a:endParaRPr>
            </a:p>
          </p:txBody>
        </p:sp>
        <p:sp>
          <p:nvSpPr>
            <p:cNvPr id="36" name="Rectangle 19">
              <a:extLst>
                <a:ext uri="{FF2B5EF4-FFF2-40B4-BE49-F238E27FC236}">
                  <a16:creationId xmlns:a16="http://schemas.microsoft.com/office/drawing/2014/main" id="{E7DFF96B-7F5D-1E27-70E5-C708175A2CEF}"/>
                </a:ext>
              </a:extLst>
            </p:cNvPr>
            <p:cNvSpPr>
              <a:spLocks noChangeArrowheads="1"/>
            </p:cNvSpPr>
            <p:nvPr/>
          </p:nvSpPr>
          <p:spPr bwMode="auto">
            <a:xfrm>
              <a:off x="2907"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10s</a:t>
              </a:r>
              <a:endParaRPr lang="en-US" altLang="en-US">
                <a:solidFill>
                  <a:schemeClr val="bg1"/>
                </a:solidFill>
                <a:latin typeface="Roboto" panose="02000000000000000000" pitchFamily="2" charset="0"/>
                <a:ea typeface="Roboto" panose="02000000000000000000" pitchFamily="2" charset="0"/>
              </a:endParaRPr>
            </a:p>
          </p:txBody>
        </p:sp>
        <p:sp>
          <p:nvSpPr>
            <p:cNvPr id="37" name="Rectangle 20">
              <a:extLst>
                <a:ext uri="{FF2B5EF4-FFF2-40B4-BE49-F238E27FC236}">
                  <a16:creationId xmlns:a16="http://schemas.microsoft.com/office/drawing/2014/main" id="{748767A6-1F4F-453E-4343-6415F8BADF36}"/>
                </a:ext>
              </a:extLst>
            </p:cNvPr>
            <p:cNvSpPr>
              <a:spLocks noChangeArrowheads="1"/>
            </p:cNvSpPr>
            <p:nvPr/>
          </p:nvSpPr>
          <p:spPr bwMode="auto">
            <a:xfrm>
              <a:off x="3741"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25s</a:t>
              </a:r>
              <a:endParaRPr lang="en-US" altLang="en-US">
                <a:solidFill>
                  <a:schemeClr val="bg1"/>
                </a:solidFill>
                <a:latin typeface="Roboto" panose="02000000000000000000" pitchFamily="2" charset="0"/>
                <a:ea typeface="Roboto" panose="02000000000000000000" pitchFamily="2" charset="0"/>
              </a:endParaRPr>
            </a:p>
          </p:txBody>
        </p:sp>
        <p:sp>
          <p:nvSpPr>
            <p:cNvPr id="38" name="Rectangle 21">
              <a:extLst>
                <a:ext uri="{FF2B5EF4-FFF2-40B4-BE49-F238E27FC236}">
                  <a16:creationId xmlns:a16="http://schemas.microsoft.com/office/drawing/2014/main" id="{C00390C9-59AA-4DD2-C429-E5A7128B7B3B}"/>
                </a:ext>
              </a:extLst>
            </p:cNvPr>
            <p:cNvSpPr>
              <a:spLocks noChangeArrowheads="1"/>
            </p:cNvSpPr>
            <p:nvPr/>
          </p:nvSpPr>
          <p:spPr bwMode="auto">
            <a:xfrm>
              <a:off x="1342" y="374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8s</a:t>
              </a:r>
              <a:endParaRPr lang="en-US" altLang="en-US">
                <a:solidFill>
                  <a:schemeClr val="bg1"/>
                </a:solidFill>
                <a:latin typeface="Roboto" panose="02000000000000000000" pitchFamily="2" charset="0"/>
                <a:ea typeface="Roboto" panose="02000000000000000000" pitchFamily="2" charset="0"/>
              </a:endParaRPr>
            </a:p>
          </p:txBody>
        </p:sp>
        <p:sp>
          <p:nvSpPr>
            <p:cNvPr id="39" name="Rectangle 22">
              <a:extLst>
                <a:ext uri="{FF2B5EF4-FFF2-40B4-BE49-F238E27FC236}">
                  <a16:creationId xmlns:a16="http://schemas.microsoft.com/office/drawing/2014/main" id="{9DC4158E-3EB7-3AAF-C082-9CE34EE154CB}"/>
                </a:ext>
              </a:extLst>
            </p:cNvPr>
            <p:cNvSpPr>
              <a:spLocks noChangeArrowheads="1"/>
            </p:cNvSpPr>
            <p:nvPr/>
          </p:nvSpPr>
          <p:spPr bwMode="auto">
            <a:xfrm>
              <a:off x="2166" y="374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15s</a:t>
              </a:r>
              <a:endParaRPr lang="en-US" altLang="en-US">
                <a:solidFill>
                  <a:schemeClr val="bg1"/>
                </a:solidFill>
                <a:latin typeface="Roboto" panose="02000000000000000000" pitchFamily="2" charset="0"/>
                <a:ea typeface="Roboto" panose="02000000000000000000" pitchFamily="2" charset="0"/>
              </a:endParaRPr>
            </a:p>
          </p:txBody>
        </p:sp>
        <p:sp>
          <p:nvSpPr>
            <p:cNvPr id="40" name="Rectangle 23">
              <a:extLst>
                <a:ext uri="{FF2B5EF4-FFF2-40B4-BE49-F238E27FC236}">
                  <a16:creationId xmlns:a16="http://schemas.microsoft.com/office/drawing/2014/main" id="{AF1E6C44-885C-4A02-983C-676B2508454C}"/>
                </a:ext>
              </a:extLst>
            </p:cNvPr>
            <p:cNvSpPr>
              <a:spLocks noChangeArrowheads="1"/>
            </p:cNvSpPr>
            <p:nvPr/>
          </p:nvSpPr>
          <p:spPr bwMode="auto">
            <a:xfrm>
              <a:off x="2948" y="374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5s</a:t>
              </a:r>
              <a:endParaRPr lang="en-US" altLang="en-US">
                <a:solidFill>
                  <a:schemeClr val="bg1"/>
                </a:solidFill>
                <a:latin typeface="Roboto" panose="02000000000000000000" pitchFamily="2" charset="0"/>
                <a:ea typeface="Roboto" panose="02000000000000000000" pitchFamily="2" charset="0"/>
              </a:endParaRPr>
            </a:p>
          </p:txBody>
        </p:sp>
        <p:sp>
          <p:nvSpPr>
            <p:cNvPr id="41" name="Rectangle 24">
              <a:extLst>
                <a:ext uri="{FF2B5EF4-FFF2-40B4-BE49-F238E27FC236}">
                  <a16:creationId xmlns:a16="http://schemas.microsoft.com/office/drawing/2014/main" id="{B271D277-95A5-FD2B-0A18-E5746C42BC7A}"/>
                </a:ext>
              </a:extLst>
            </p:cNvPr>
            <p:cNvSpPr>
              <a:spLocks noChangeArrowheads="1"/>
            </p:cNvSpPr>
            <p:nvPr/>
          </p:nvSpPr>
          <p:spPr bwMode="auto">
            <a:xfrm>
              <a:off x="3741" y="374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10s</a:t>
              </a:r>
              <a:endParaRPr lang="en-US" altLang="en-US">
                <a:solidFill>
                  <a:schemeClr val="bg1"/>
                </a:solidFill>
                <a:latin typeface="Roboto" panose="02000000000000000000" pitchFamily="2" charset="0"/>
                <a:ea typeface="Roboto" panose="02000000000000000000" pitchFamily="2" charset="0"/>
              </a:endParaRPr>
            </a:p>
          </p:txBody>
        </p:sp>
        <p:sp>
          <p:nvSpPr>
            <p:cNvPr id="42" name="Rectangle 25">
              <a:extLst>
                <a:ext uri="{FF2B5EF4-FFF2-40B4-BE49-F238E27FC236}">
                  <a16:creationId xmlns:a16="http://schemas.microsoft.com/office/drawing/2014/main" id="{E18E17EF-2616-317F-61BA-9845FF903DA5}"/>
                </a:ext>
              </a:extLst>
            </p:cNvPr>
            <p:cNvSpPr>
              <a:spLocks noChangeArrowheads="1"/>
            </p:cNvSpPr>
            <p:nvPr/>
          </p:nvSpPr>
          <p:spPr bwMode="auto">
            <a:xfrm>
              <a:off x="4430" y="2735"/>
              <a:ext cx="25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RM</a:t>
              </a:r>
              <a:endParaRPr lang="en-US" altLang="en-US">
                <a:solidFill>
                  <a:schemeClr val="bg1"/>
                </a:solidFill>
                <a:latin typeface="Roboto" panose="02000000000000000000" pitchFamily="2" charset="0"/>
                <a:ea typeface="Roboto" panose="02000000000000000000" pitchFamily="2" charset="0"/>
              </a:endParaRPr>
            </a:p>
          </p:txBody>
        </p:sp>
        <p:sp>
          <p:nvSpPr>
            <p:cNvPr id="43" name="Rectangle 26">
              <a:extLst>
                <a:ext uri="{FF2B5EF4-FFF2-40B4-BE49-F238E27FC236}">
                  <a16:creationId xmlns:a16="http://schemas.microsoft.com/office/drawing/2014/main" id="{21A9FC38-A97A-1A65-63B0-2C9A0B96030A}"/>
                </a:ext>
              </a:extLst>
            </p:cNvPr>
            <p:cNvSpPr>
              <a:spLocks noChangeArrowheads="1"/>
            </p:cNvSpPr>
            <p:nvPr/>
          </p:nvSpPr>
          <p:spPr bwMode="auto">
            <a:xfrm>
              <a:off x="4437" y="3641"/>
              <a:ext cx="20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FG</a:t>
              </a:r>
              <a:endParaRPr lang="en-US" altLang="en-US">
                <a:solidFill>
                  <a:schemeClr val="bg1"/>
                </a:solidFill>
                <a:latin typeface="Roboto" panose="02000000000000000000" pitchFamily="2" charset="0"/>
                <a:ea typeface="Roboto" panose="02000000000000000000" pitchFamily="2" charset="0"/>
              </a:endParaRPr>
            </a:p>
          </p:txBody>
        </p:sp>
        <p:sp>
          <p:nvSpPr>
            <p:cNvPr id="44" name="Rectangle 38">
              <a:extLst>
                <a:ext uri="{FF2B5EF4-FFF2-40B4-BE49-F238E27FC236}">
                  <a16:creationId xmlns:a16="http://schemas.microsoft.com/office/drawing/2014/main" id="{5CE50050-05A5-0829-FBA8-69A3591204A0}"/>
                </a:ext>
              </a:extLst>
            </p:cNvPr>
            <p:cNvSpPr>
              <a:spLocks noChangeArrowheads="1"/>
            </p:cNvSpPr>
            <p:nvPr/>
          </p:nvSpPr>
          <p:spPr bwMode="auto">
            <a:xfrm>
              <a:off x="4317" y="308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1</a:t>
              </a:r>
              <a:endParaRPr lang="en-US" altLang="en-US">
                <a:solidFill>
                  <a:schemeClr val="bg1"/>
                </a:solidFill>
                <a:latin typeface="Roboto" panose="02000000000000000000" pitchFamily="2" charset="0"/>
                <a:ea typeface="Roboto" panose="02000000000000000000" pitchFamily="2" charset="0"/>
              </a:endParaRPr>
            </a:p>
          </p:txBody>
        </p:sp>
        <p:sp>
          <p:nvSpPr>
            <p:cNvPr id="45" name="Rectangle 39">
              <a:extLst>
                <a:ext uri="{FF2B5EF4-FFF2-40B4-BE49-F238E27FC236}">
                  <a16:creationId xmlns:a16="http://schemas.microsoft.com/office/drawing/2014/main" id="{D410703F-5377-4C6F-A81F-57736FD7F921}"/>
                </a:ext>
              </a:extLst>
            </p:cNvPr>
            <p:cNvSpPr>
              <a:spLocks noChangeArrowheads="1"/>
            </p:cNvSpPr>
            <p:nvPr/>
          </p:nvSpPr>
          <p:spPr bwMode="auto">
            <a:xfrm>
              <a:off x="3864"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2</a:t>
              </a:r>
              <a:endParaRPr lang="en-US" altLang="en-US">
                <a:solidFill>
                  <a:schemeClr val="bg1"/>
                </a:solidFill>
                <a:latin typeface="Roboto" panose="02000000000000000000" pitchFamily="2" charset="0"/>
                <a:ea typeface="Roboto" panose="02000000000000000000" pitchFamily="2" charset="0"/>
              </a:endParaRPr>
            </a:p>
          </p:txBody>
        </p:sp>
        <p:sp>
          <p:nvSpPr>
            <p:cNvPr id="46" name="Rectangle 40">
              <a:extLst>
                <a:ext uri="{FF2B5EF4-FFF2-40B4-BE49-F238E27FC236}">
                  <a16:creationId xmlns:a16="http://schemas.microsoft.com/office/drawing/2014/main" id="{79ED8540-EE56-5440-EF41-23F28F54E698}"/>
                </a:ext>
              </a:extLst>
            </p:cNvPr>
            <p:cNvSpPr>
              <a:spLocks noChangeArrowheads="1"/>
            </p:cNvSpPr>
            <p:nvPr/>
          </p:nvSpPr>
          <p:spPr bwMode="auto">
            <a:xfrm>
              <a:off x="3040"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3</a:t>
              </a:r>
              <a:endParaRPr lang="en-US" altLang="en-US">
                <a:solidFill>
                  <a:schemeClr val="bg1"/>
                </a:solidFill>
                <a:latin typeface="Roboto" panose="02000000000000000000" pitchFamily="2" charset="0"/>
                <a:ea typeface="Roboto" panose="02000000000000000000" pitchFamily="2" charset="0"/>
              </a:endParaRPr>
            </a:p>
          </p:txBody>
        </p:sp>
        <p:sp>
          <p:nvSpPr>
            <p:cNvPr id="47" name="Rectangle 41">
              <a:extLst>
                <a:ext uri="{FF2B5EF4-FFF2-40B4-BE49-F238E27FC236}">
                  <a16:creationId xmlns:a16="http://schemas.microsoft.com/office/drawing/2014/main" id="{4DD96812-9C02-C000-F6C4-68E21425EB68}"/>
                </a:ext>
              </a:extLst>
            </p:cNvPr>
            <p:cNvSpPr>
              <a:spLocks noChangeArrowheads="1"/>
            </p:cNvSpPr>
            <p:nvPr/>
          </p:nvSpPr>
          <p:spPr bwMode="auto">
            <a:xfrm>
              <a:off x="2257"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4</a:t>
              </a:r>
              <a:endParaRPr lang="en-US" altLang="en-US">
                <a:solidFill>
                  <a:schemeClr val="bg1"/>
                </a:solidFill>
                <a:latin typeface="Roboto" panose="02000000000000000000" pitchFamily="2" charset="0"/>
                <a:ea typeface="Roboto" panose="02000000000000000000" pitchFamily="2" charset="0"/>
              </a:endParaRPr>
            </a:p>
          </p:txBody>
        </p:sp>
        <p:sp>
          <p:nvSpPr>
            <p:cNvPr id="48" name="Rectangle 42">
              <a:extLst>
                <a:ext uri="{FF2B5EF4-FFF2-40B4-BE49-F238E27FC236}">
                  <a16:creationId xmlns:a16="http://schemas.microsoft.com/office/drawing/2014/main" id="{39FCC63E-79D4-E4C4-FD03-6A8BE2E90100}"/>
                </a:ext>
              </a:extLst>
            </p:cNvPr>
            <p:cNvSpPr>
              <a:spLocks noChangeArrowheads="1"/>
            </p:cNvSpPr>
            <p:nvPr/>
          </p:nvSpPr>
          <p:spPr bwMode="auto">
            <a:xfrm>
              <a:off x="1392" y="3001"/>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5</a:t>
              </a:r>
              <a:endParaRPr lang="en-US" altLang="en-US">
                <a:solidFill>
                  <a:schemeClr val="bg1"/>
                </a:solidFill>
                <a:latin typeface="Roboto" panose="02000000000000000000" pitchFamily="2" charset="0"/>
                <a:ea typeface="Roboto" panose="02000000000000000000" pitchFamily="2" charset="0"/>
              </a:endParaRPr>
            </a:p>
          </p:txBody>
        </p:sp>
        <p:sp>
          <p:nvSpPr>
            <p:cNvPr id="49" name="Rectangle 43">
              <a:extLst>
                <a:ext uri="{FF2B5EF4-FFF2-40B4-BE49-F238E27FC236}">
                  <a16:creationId xmlns:a16="http://schemas.microsoft.com/office/drawing/2014/main" id="{76F57DD0-DEFC-3E44-8634-F6FDFA187644}"/>
                </a:ext>
              </a:extLst>
            </p:cNvPr>
            <p:cNvSpPr>
              <a:spLocks noChangeArrowheads="1"/>
            </p:cNvSpPr>
            <p:nvPr/>
          </p:nvSpPr>
          <p:spPr bwMode="auto">
            <a:xfrm>
              <a:off x="1383"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6</a:t>
              </a:r>
              <a:endParaRPr lang="en-US" altLang="en-US">
                <a:solidFill>
                  <a:schemeClr val="bg1"/>
                </a:solidFill>
                <a:latin typeface="Roboto" panose="02000000000000000000" pitchFamily="2" charset="0"/>
                <a:ea typeface="Roboto" panose="02000000000000000000" pitchFamily="2" charset="0"/>
              </a:endParaRPr>
            </a:p>
          </p:txBody>
        </p:sp>
        <p:sp>
          <p:nvSpPr>
            <p:cNvPr id="50" name="Rectangle 44">
              <a:extLst>
                <a:ext uri="{FF2B5EF4-FFF2-40B4-BE49-F238E27FC236}">
                  <a16:creationId xmlns:a16="http://schemas.microsoft.com/office/drawing/2014/main" id="{158F517D-BB50-E5D2-08BC-7949122A7A46}"/>
                </a:ext>
              </a:extLst>
            </p:cNvPr>
            <p:cNvSpPr>
              <a:spLocks noChangeArrowheads="1"/>
            </p:cNvSpPr>
            <p:nvPr/>
          </p:nvSpPr>
          <p:spPr bwMode="auto">
            <a:xfrm>
              <a:off x="2249"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7</a:t>
              </a:r>
              <a:endParaRPr lang="en-US" altLang="en-US">
                <a:solidFill>
                  <a:schemeClr val="bg1"/>
                </a:solidFill>
                <a:latin typeface="Roboto" panose="02000000000000000000" pitchFamily="2" charset="0"/>
                <a:ea typeface="Roboto" panose="02000000000000000000" pitchFamily="2" charset="0"/>
              </a:endParaRPr>
            </a:p>
          </p:txBody>
        </p:sp>
        <p:sp>
          <p:nvSpPr>
            <p:cNvPr id="51" name="Rectangle 45">
              <a:extLst>
                <a:ext uri="{FF2B5EF4-FFF2-40B4-BE49-F238E27FC236}">
                  <a16:creationId xmlns:a16="http://schemas.microsoft.com/office/drawing/2014/main" id="{08CB3154-2B49-7797-20EE-21D99299F995}"/>
                </a:ext>
              </a:extLst>
            </p:cNvPr>
            <p:cNvSpPr>
              <a:spLocks noChangeArrowheads="1"/>
            </p:cNvSpPr>
            <p:nvPr/>
          </p:nvSpPr>
          <p:spPr bwMode="auto">
            <a:xfrm>
              <a:off x="2998" y="3494"/>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8</a:t>
              </a:r>
              <a:endParaRPr lang="en-US" altLang="en-US">
                <a:solidFill>
                  <a:schemeClr val="bg1"/>
                </a:solidFill>
                <a:latin typeface="Roboto" panose="02000000000000000000" pitchFamily="2" charset="0"/>
                <a:ea typeface="Roboto" panose="02000000000000000000" pitchFamily="2" charset="0"/>
              </a:endParaRPr>
            </a:p>
          </p:txBody>
        </p:sp>
        <p:sp>
          <p:nvSpPr>
            <p:cNvPr id="52" name="Rectangle 46">
              <a:extLst>
                <a:ext uri="{FF2B5EF4-FFF2-40B4-BE49-F238E27FC236}">
                  <a16:creationId xmlns:a16="http://schemas.microsoft.com/office/drawing/2014/main" id="{98175603-1F26-F18B-6E21-48DAE8015E6B}"/>
                </a:ext>
              </a:extLst>
            </p:cNvPr>
            <p:cNvSpPr>
              <a:spLocks noChangeArrowheads="1"/>
            </p:cNvSpPr>
            <p:nvPr/>
          </p:nvSpPr>
          <p:spPr bwMode="auto">
            <a:xfrm>
              <a:off x="3814"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9</a:t>
              </a:r>
              <a:endParaRPr lang="en-US" altLang="en-US">
                <a:solidFill>
                  <a:schemeClr val="bg1"/>
                </a:solidFill>
                <a:latin typeface="Roboto" panose="02000000000000000000" pitchFamily="2" charset="0"/>
                <a:ea typeface="Roboto" panose="02000000000000000000" pitchFamily="2" charset="0"/>
              </a:endParaRPr>
            </a:p>
          </p:txBody>
        </p:sp>
        <p:sp>
          <p:nvSpPr>
            <p:cNvPr id="53" name="Rectangle 47">
              <a:extLst>
                <a:ext uri="{FF2B5EF4-FFF2-40B4-BE49-F238E27FC236}">
                  <a16:creationId xmlns:a16="http://schemas.microsoft.com/office/drawing/2014/main" id="{F347BBE1-C723-6B39-7984-883F587E30BE}"/>
                </a:ext>
              </a:extLst>
            </p:cNvPr>
            <p:cNvSpPr>
              <a:spLocks noChangeArrowheads="1"/>
            </p:cNvSpPr>
            <p:nvPr/>
          </p:nvSpPr>
          <p:spPr bwMode="auto">
            <a:xfrm>
              <a:off x="4317" y="3411"/>
              <a:ext cx="153"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10</a:t>
              </a:r>
              <a:endParaRPr lang="en-US" altLang="en-US">
                <a:solidFill>
                  <a:schemeClr val="bg1"/>
                </a:solidFill>
                <a:latin typeface="Roboto" panose="02000000000000000000" pitchFamily="2" charset="0"/>
                <a:ea typeface="Roboto" panose="02000000000000000000" pitchFamily="2" charset="0"/>
              </a:endParaRPr>
            </a:p>
          </p:txBody>
        </p:sp>
        <p:sp>
          <p:nvSpPr>
            <p:cNvPr id="54" name="Rectangle 48">
              <a:extLst>
                <a:ext uri="{FF2B5EF4-FFF2-40B4-BE49-F238E27FC236}">
                  <a16:creationId xmlns:a16="http://schemas.microsoft.com/office/drawing/2014/main" id="{2EE58193-21CC-5F0E-2F2B-0172960503B2}"/>
                </a:ext>
              </a:extLst>
            </p:cNvPr>
            <p:cNvSpPr>
              <a:spLocks noChangeArrowheads="1"/>
            </p:cNvSpPr>
            <p:nvPr/>
          </p:nvSpPr>
          <p:spPr bwMode="auto">
            <a:xfrm>
              <a:off x="3648"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5" name="Rectangle 49">
              <a:extLst>
                <a:ext uri="{FF2B5EF4-FFF2-40B4-BE49-F238E27FC236}">
                  <a16:creationId xmlns:a16="http://schemas.microsoft.com/office/drawing/2014/main" id="{16619557-01D8-FAE4-6F63-920557CD9145}"/>
                </a:ext>
              </a:extLst>
            </p:cNvPr>
            <p:cNvSpPr>
              <a:spLocks noChangeArrowheads="1"/>
            </p:cNvSpPr>
            <p:nvPr/>
          </p:nvSpPr>
          <p:spPr bwMode="auto">
            <a:xfrm>
              <a:off x="1176"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6" name="Rectangle 50">
              <a:extLst>
                <a:ext uri="{FF2B5EF4-FFF2-40B4-BE49-F238E27FC236}">
                  <a16:creationId xmlns:a16="http://schemas.microsoft.com/office/drawing/2014/main" id="{8532B859-C50D-0C15-2E06-6C63D04A2822}"/>
                </a:ext>
              </a:extLst>
            </p:cNvPr>
            <p:cNvSpPr>
              <a:spLocks noChangeArrowheads="1"/>
            </p:cNvSpPr>
            <p:nvPr/>
          </p:nvSpPr>
          <p:spPr bwMode="auto">
            <a:xfrm>
              <a:off x="2041"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7" name="Rectangle 51">
              <a:extLst>
                <a:ext uri="{FF2B5EF4-FFF2-40B4-BE49-F238E27FC236}">
                  <a16:creationId xmlns:a16="http://schemas.microsoft.com/office/drawing/2014/main" id="{1A2C7094-DFDE-FE9A-8334-6A17DE3277A1}"/>
                </a:ext>
              </a:extLst>
            </p:cNvPr>
            <p:cNvSpPr>
              <a:spLocks noChangeArrowheads="1"/>
            </p:cNvSpPr>
            <p:nvPr/>
          </p:nvSpPr>
          <p:spPr bwMode="auto">
            <a:xfrm>
              <a:off x="2824"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8" name="Rectangle 52">
              <a:extLst>
                <a:ext uri="{FF2B5EF4-FFF2-40B4-BE49-F238E27FC236}">
                  <a16:creationId xmlns:a16="http://schemas.microsoft.com/office/drawing/2014/main" id="{BD6C0049-7E75-013E-89CC-E0B5F2F5B367}"/>
                </a:ext>
              </a:extLst>
            </p:cNvPr>
            <p:cNvSpPr>
              <a:spLocks noChangeArrowheads="1"/>
            </p:cNvSpPr>
            <p:nvPr/>
          </p:nvSpPr>
          <p:spPr bwMode="auto">
            <a:xfrm>
              <a:off x="3648" y="370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9" name="Rectangle 53">
              <a:extLst>
                <a:ext uri="{FF2B5EF4-FFF2-40B4-BE49-F238E27FC236}">
                  <a16:creationId xmlns:a16="http://schemas.microsoft.com/office/drawing/2014/main" id="{0CA5BC26-06D0-0702-4FD2-9920FDFA56D0}"/>
                </a:ext>
              </a:extLst>
            </p:cNvPr>
            <p:cNvSpPr>
              <a:spLocks noChangeArrowheads="1"/>
            </p:cNvSpPr>
            <p:nvPr/>
          </p:nvSpPr>
          <p:spPr bwMode="auto">
            <a:xfrm>
              <a:off x="1176"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0" name="Rectangle 54">
              <a:extLst>
                <a:ext uri="{FF2B5EF4-FFF2-40B4-BE49-F238E27FC236}">
                  <a16:creationId xmlns:a16="http://schemas.microsoft.com/office/drawing/2014/main" id="{D067980B-1961-8619-97A6-0A93563E157A}"/>
                </a:ext>
              </a:extLst>
            </p:cNvPr>
            <p:cNvSpPr>
              <a:spLocks noChangeArrowheads="1"/>
            </p:cNvSpPr>
            <p:nvPr/>
          </p:nvSpPr>
          <p:spPr bwMode="auto">
            <a:xfrm>
              <a:off x="2041"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1" name="Rectangle 55">
              <a:extLst>
                <a:ext uri="{FF2B5EF4-FFF2-40B4-BE49-F238E27FC236}">
                  <a16:creationId xmlns:a16="http://schemas.microsoft.com/office/drawing/2014/main" id="{1988C24B-F3E9-5304-804E-7FFEA2870DCA}"/>
                </a:ext>
              </a:extLst>
            </p:cNvPr>
            <p:cNvSpPr>
              <a:spLocks noChangeArrowheads="1"/>
            </p:cNvSpPr>
            <p:nvPr/>
          </p:nvSpPr>
          <p:spPr bwMode="auto">
            <a:xfrm>
              <a:off x="2824" y="2636"/>
              <a:ext cx="412"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2" name="Rectangle 56">
              <a:extLst>
                <a:ext uri="{FF2B5EF4-FFF2-40B4-BE49-F238E27FC236}">
                  <a16:creationId xmlns:a16="http://schemas.microsoft.com/office/drawing/2014/main" id="{0878B540-668D-0C79-5561-AC65111F7D6A}"/>
                </a:ext>
              </a:extLst>
            </p:cNvPr>
            <p:cNvSpPr>
              <a:spLocks noChangeArrowheads="1"/>
            </p:cNvSpPr>
            <p:nvPr/>
          </p:nvSpPr>
          <p:spPr bwMode="auto">
            <a:xfrm>
              <a:off x="4348" y="2718"/>
              <a:ext cx="330" cy="28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3" name="Rectangle 57">
              <a:extLst>
                <a:ext uri="{FF2B5EF4-FFF2-40B4-BE49-F238E27FC236}">
                  <a16:creationId xmlns:a16="http://schemas.microsoft.com/office/drawing/2014/main" id="{02614E5D-FF7E-FAD6-F752-9B5138BF80BB}"/>
                </a:ext>
              </a:extLst>
            </p:cNvPr>
            <p:cNvSpPr>
              <a:spLocks noChangeArrowheads="1"/>
            </p:cNvSpPr>
            <p:nvPr/>
          </p:nvSpPr>
          <p:spPr bwMode="auto">
            <a:xfrm>
              <a:off x="4348" y="3624"/>
              <a:ext cx="330" cy="247"/>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4" name="Rectangle 58">
              <a:extLst>
                <a:ext uri="{FF2B5EF4-FFF2-40B4-BE49-F238E27FC236}">
                  <a16:creationId xmlns:a16="http://schemas.microsoft.com/office/drawing/2014/main" id="{748E6280-3DF4-140E-63BC-3785B3E0C72D}"/>
                </a:ext>
              </a:extLst>
            </p:cNvPr>
            <p:cNvSpPr>
              <a:spLocks noChangeArrowheads="1"/>
            </p:cNvSpPr>
            <p:nvPr/>
          </p:nvSpPr>
          <p:spPr bwMode="auto">
            <a:xfrm>
              <a:off x="1342" y="267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5s</a:t>
              </a:r>
              <a:endParaRPr lang="en-US" altLang="en-US">
                <a:solidFill>
                  <a:schemeClr val="bg1"/>
                </a:solidFill>
                <a:latin typeface="Roboto" panose="02000000000000000000" pitchFamily="2" charset="0"/>
                <a:ea typeface="Roboto" panose="02000000000000000000" pitchFamily="2" charset="0"/>
              </a:endParaRPr>
            </a:p>
          </p:txBody>
        </p:sp>
        <p:sp>
          <p:nvSpPr>
            <p:cNvPr id="65" name="Rectangle 59">
              <a:extLst>
                <a:ext uri="{FF2B5EF4-FFF2-40B4-BE49-F238E27FC236}">
                  <a16:creationId xmlns:a16="http://schemas.microsoft.com/office/drawing/2014/main" id="{F2514BC5-16B5-2DA7-1478-1A1FADEFE644}"/>
                </a:ext>
              </a:extLst>
            </p:cNvPr>
            <p:cNvSpPr>
              <a:spLocks noChangeArrowheads="1"/>
            </p:cNvSpPr>
            <p:nvPr/>
          </p:nvSpPr>
          <p:spPr bwMode="auto">
            <a:xfrm>
              <a:off x="2166"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22s</a:t>
              </a:r>
              <a:endParaRPr lang="en-US" altLang="en-US">
                <a:solidFill>
                  <a:schemeClr val="bg1"/>
                </a:solidFill>
                <a:latin typeface="Roboto" panose="02000000000000000000" pitchFamily="2" charset="0"/>
                <a:ea typeface="Roboto" panose="02000000000000000000" pitchFamily="2" charset="0"/>
              </a:endParaRPr>
            </a:p>
          </p:txBody>
        </p:sp>
        <p:sp>
          <p:nvSpPr>
            <p:cNvPr id="66" name="Rectangle 60">
              <a:extLst>
                <a:ext uri="{FF2B5EF4-FFF2-40B4-BE49-F238E27FC236}">
                  <a16:creationId xmlns:a16="http://schemas.microsoft.com/office/drawing/2014/main" id="{7DE4ABC5-7175-7142-6819-EE2BA259CFB2}"/>
                </a:ext>
              </a:extLst>
            </p:cNvPr>
            <p:cNvSpPr>
              <a:spLocks noChangeArrowheads="1"/>
            </p:cNvSpPr>
            <p:nvPr/>
          </p:nvSpPr>
          <p:spPr bwMode="auto">
            <a:xfrm>
              <a:off x="2907"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10s</a:t>
              </a:r>
              <a:endParaRPr lang="en-US" altLang="en-US">
                <a:solidFill>
                  <a:schemeClr val="bg1"/>
                </a:solidFill>
                <a:latin typeface="Roboto" panose="02000000000000000000" pitchFamily="2" charset="0"/>
                <a:ea typeface="Roboto" panose="02000000000000000000" pitchFamily="2" charset="0"/>
              </a:endParaRPr>
            </a:p>
          </p:txBody>
        </p:sp>
        <p:sp>
          <p:nvSpPr>
            <p:cNvPr id="67" name="Rectangle 61">
              <a:extLst>
                <a:ext uri="{FF2B5EF4-FFF2-40B4-BE49-F238E27FC236}">
                  <a16:creationId xmlns:a16="http://schemas.microsoft.com/office/drawing/2014/main" id="{716AED00-75D0-D67C-47C9-C07EAE708602}"/>
                </a:ext>
              </a:extLst>
            </p:cNvPr>
            <p:cNvSpPr>
              <a:spLocks noChangeArrowheads="1"/>
            </p:cNvSpPr>
            <p:nvPr/>
          </p:nvSpPr>
          <p:spPr bwMode="auto">
            <a:xfrm>
              <a:off x="3741" y="267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25s</a:t>
              </a:r>
              <a:endParaRPr lang="en-US" altLang="en-US">
                <a:solidFill>
                  <a:schemeClr val="bg1"/>
                </a:solidFill>
                <a:latin typeface="Roboto" panose="02000000000000000000" pitchFamily="2" charset="0"/>
                <a:ea typeface="Roboto" panose="02000000000000000000" pitchFamily="2" charset="0"/>
              </a:endParaRPr>
            </a:p>
          </p:txBody>
        </p:sp>
        <p:sp>
          <p:nvSpPr>
            <p:cNvPr id="68" name="Rectangle 62">
              <a:extLst>
                <a:ext uri="{FF2B5EF4-FFF2-40B4-BE49-F238E27FC236}">
                  <a16:creationId xmlns:a16="http://schemas.microsoft.com/office/drawing/2014/main" id="{DD330A15-6CB3-B8DB-4421-CF6A50BA496E}"/>
                </a:ext>
              </a:extLst>
            </p:cNvPr>
            <p:cNvSpPr>
              <a:spLocks noChangeArrowheads="1"/>
            </p:cNvSpPr>
            <p:nvPr/>
          </p:nvSpPr>
          <p:spPr bwMode="auto">
            <a:xfrm>
              <a:off x="1342" y="374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8s</a:t>
              </a:r>
              <a:endParaRPr lang="en-US" altLang="en-US">
                <a:solidFill>
                  <a:schemeClr val="bg1"/>
                </a:solidFill>
                <a:latin typeface="Roboto" panose="02000000000000000000" pitchFamily="2" charset="0"/>
                <a:ea typeface="Roboto" panose="02000000000000000000" pitchFamily="2" charset="0"/>
              </a:endParaRPr>
            </a:p>
          </p:txBody>
        </p:sp>
        <p:sp>
          <p:nvSpPr>
            <p:cNvPr id="69" name="Rectangle 63">
              <a:extLst>
                <a:ext uri="{FF2B5EF4-FFF2-40B4-BE49-F238E27FC236}">
                  <a16:creationId xmlns:a16="http://schemas.microsoft.com/office/drawing/2014/main" id="{1BDD8764-3278-E39F-1DEF-77D424B4B20E}"/>
                </a:ext>
              </a:extLst>
            </p:cNvPr>
            <p:cNvSpPr>
              <a:spLocks noChangeArrowheads="1"/>
            </p:cNvSpPr>
            <p:nvPr/>
          </p:nvSpPr>
          <p:spPr bwMode="auto">
            <a:xfrm>
              <a:off x="2166" y="374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15s</a:t>
              </a:r>
              <a:endParaRPr lang="en-US" altLang="en-US">
                <a:solidFill>
                  <a:schemeClr val="bg1"/>
                </a:solidFill>
                <a:latin typeface="Roboto" panose="02000000000000000000" pitchFamily="2" charset="0"/>
                <a:ea typeface="Roboto" panose="02000000000000000000" pitchFamily="2" charset="0"/>
              </a:endParaRPr>
            </a:p>
          </p:txBody>
        </p:sp>
        <p:sp>
          <p:nvSpPr>
            <p:cNvPr id="70" name="Rectangle 64">
              <a:extLst>
                <a:ext uri="{FF2B5EF4-FFF2-40B4-BE49-F238E27FC236}">
                  <a16:creationId xmlns:a16="http://schemas.microsoft.com/office/drawing/2014/main" id="{0A79291F-AF33-E525-655D-743C954E9943}"/>
                </a:ext>
              </a:extLst>
            </p:cNvPr>
            <p:cNvSpPr>
              <a:spLocks noChangeArrowheads="1"/>
            </p:cNvSpPr>
            <p:nvPr/>
          </p:nvSpPr>
          <p:spPr bwMode="auto">
            <a:xfrm>
              <a:off x="2948" y="3741"/>
              <a:ext cx="18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5s</a:t>
              </a:r>
              <a:endParaRPr lang="en-US" altLang="en-US">
                <a:solidFill>
                  <a:schemeClr val="bg1"/>
                </a:solidFill>
                <a:latin typeface="Roboto" panose="02000000000000000000" pitchFamily="2" charset="0"/>
                <a:ea typeface="Roboto" panose="02000000000000000000" pitchFamily="2" charset="0"/>
              </a:endParaRPr>
            </a:p>
          </p:txBody>
        </p:sp>
        <p:sp>
          <p:nvSpPr>
            <p:cNvPr id="71" name="Rectangle 65">
              <a:extLst>
                <a:ext uri="{FF2B5EF4-FFF2-40B4-BE49-F238E27FC236}">
                  <a16:creationId xmlns:a16="http://schemas.microsoft.com/office/drawing/2014/main" id="{4BEBB060-45E6-9428-DBA6-3A8AF81D7F8E}"/>
                </a:ext>
              </a:extLst>
            </p:cNvPr>
            <p:cNvSpPr>
              <a:spLocks noChangeArrowheads="1"/>
            </p:cNvSpPr>
            <p:nvPr/>
          </p:nvSpPr>
          <p:spPr bwMode="auto">
            <a:xfrm>
              <a:off x="3741" y="3741"/>
              <a:ext cx="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10s</a:t>
              </a:r>
              <a:endParaRPr lang="en-US" altLang="en-US">
                <a:solidFill>
                  <a:schemeClr val="bg1"/>
                </a:solidFill>
                <a:latin typeface="Roboto" panose="02000000000000000000" pitchFamily="2" charset="0"/>
                <a:ea typeface="Roboto" panose="02000000000000000000" pitchFamily="2" charset="0"/>
              </a:endParaRPr>
            </a:p>
          </p:txBody>
        </p:sp>
        <p:sp>
          <p:nvSpPr>
            <p:cNvPr id="72" name="Rectangle 66">
              <a:extLst>
                <a:ext uri="{FF2B5EF4-FFF2-40B4-BE49-F238E27FC236}">
                  <a16:creationId xmlns:a16="http://schemas.microsoft.com/office/drawing/2014/main" id="{B1D9CC0A-7881-D803-57C6-D0F8FCD61181}"/>
                </a:ext>
              </a:extLst>
            </p:cNvPr>
            <p:cNvSpPr>
              <a:spLocks noChangeArrowheads="1"/>
            </p:cNvSpPr>
            <p:nvPr/>
          </p:nvSpPr>
          <p:spPr bwMode="auto">
            <a:xfrm>
              <a:off x="4430" y="2735"/>
              <a:ext cx="25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dirty="0">
                  <a:solidFill>
                    <a:srgbClr val="000000"/>
                  </a:solidFill>
                  <a:latin typeface="Roboto" panose="02000000000000000000" pitchFamily="2" charset="0"/>
                  <a:ea typeface="Roboto" panose="02000000000000000000" pitchFamily="2" charset="0"/>
                </a:rPr>
                <a:t>RM</a:t>
              </a:r>
              <a:endParaRPr lang="en-US" altLang="en-US" dirty="0">
                <a:solidFill>
                  <a:schemeClr val="bg1"/>
                </a:solidFill>
                <a:latin typeface="Roboto" panose="02000000000000000000" pitchFamily="2" charset="0"/>
                <a:ea typeface="Roboto" panose="02000000000000000000" pitchFamily="2" charset="0"/>
              </a:endParaRPr>
            </a:p>
          </p:txBody>
        </p:sp>
        <p:sp>
          <p:nvSpPr>
            <p:cNvPr id="73" name="Rectangle 67">
              <a:extLst>
                <a:ext uri="{FF2B5EF4-FFF2-40B4-BE49-F238E27FC236}">
                  <a16:creationId xmlns:a16="http://schemas.microsoft.com/office/drawing/2014/main" id="{2BB71122-3899-94C6-5062-32BD580651A6}"/>
                </a:ext>
              </a:extLst>
            </p:cNvPr>
            <p:cNvSpPr>
              <a:spLocks noChangeArrowheads="1"/>
            </p:cNvSpPr>
            <p:nvPr/>
          </p:nvSpPr>
          <p:spPr bwMode="auto">
            <a:xfrm>
              <a:off x="4437" y="3641"/>
              <a:ext cx="20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100" b="0">
                  <a:solidFill>
                    <a:srgbClr val="000000"/>
                  </a:solidFill>
                  <a:latin typeface="Roboto" panose="02000000000000000000" pitchFamily="2" charset="0"/>
                  <a:ea typeface="Roboto" panose="02000000000000000000" pitchFamily="2" charset="0"/>
                </a:rPr>
                <a:t>FG</a:t>
              </a:r>
              <a:endParaRPr lang="en-US" altLang="en-US">
                <a:solidFill>
                  <a:schemeClr val="bg1"/>
                </a:solidFill>
                <a:latin typeface="Roboto" panose="02000000000000000000" pitchFamily="2" charset="0"/>
                <a:ea typeface="Roboto" panose="02000000000000000000" pitchFamily="2" charset="0"/>
              </a:endParaRPr>
            </a:p>
          </p:txBody>
        </p:sp>
        <p:sp>
          <p:nvSpPr>
            <p:cNvPr id="74" name="Rectangle 79">
              <a:extLst>
                <a:ext uri="{FF2B5EF4-FFF2-40B4-BE49-F238E27FC236}">
                  <a16:creationId xmlns:a16="http://schemas.microsoft.com/office/drawing/2014/main" id="{83BED60D-6F42-2168-9BDC-B10544D3AF8F}"/>
                </a:ext>
              </a:extLst>
            </p:cNvPr>
            <p:cNvSpPr>
              <a:spLocks noChangeArrowheads="1"/>
            </p:cNvSpPr>
            <p:nvPr/>
          </p:nvSpPr>
          <p:spPr bwMode="auto">
            <a:xfrm>
              <a:off x="4317" y="308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1</a:t>
              </a:r>
              <a:endParaRPr lang="en-US" altLang="en-US">
                <a:solidFill>
                  <a:schemeClr val="bg1"/>
                </a:solidFill>
                <a:latin typeface="Roboto" panose="02000000000000000000" pitchFamily="2" charset="0"/>
                <a:ea typeface="Roboto" panose="02000000000000000000" pitchFamily="2" charset="0"/>
              </a:endParaRPr>
            </a:p>
          </p:txBody>
        </p:sp>
        <p:sp>
          <p:nvSpPr>
            <p:cNvPr id="75" name="Rectangle 80">
              <a:extLst>
                <a:ext uri="{FF2B5EF4-FFF2-40B4-BE49-F238E27FC236}">
                  <a16:creationId xmlns:a16="http://schemas.microsoft.com/office/drawing/2014/main" id="{D98CAE6F-E29F-B303-4979-BCD51A3E82A0}"/>
                </a:ext>
              </a:extLst>
            </p:cNvPr>
            <p:cNvSpPr>
              <a:spLocks noChangeArrowheads="1"/>
            </p:cNvSpPr>
            <p:nvPr/>
          </p:nvSpPr>
          <p:spPr bwMode="auto">
            <a:xfrm>
              <a:off x="3864"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2</a:t>
              </a:r>
              <a:endParaRPr lang="en-US" altLang="en-US">
                <a:solidFill>
                  <a:schemeClr val="bg1"/>
                </a:solidFill>
                <a:latin typeface="Roboto" panose="02000000000000000000" pitchFamily="2" charset="0"/>
                <a:ea typeface="Roboto" panose="02000000000000000000" pitchFamily="2" charset="0"/>
              </a:endParaRPr>
            </a:p>
          </p:txBody>
        </p:sp>
        <p:sp>
          <p:nvSpPr>
            <p:cNvPr id="76" name="Rectangle 81">
              <a:extLst>
                <a:ext uri="{FF2B5EF4-FFF2-40B4-BE49-F238E27FC236}">
                  <a16:creationId xmlns:a16="http://schemas.microsoft.com/office/drawing/2014/main" id="{F3D93878-7527-0FBD-9E85-5F59BF1CEEBE}"/>
                </a:ext>
              </a:extLst>
            </p:cNvPr>
            <p:cNvSpPr>
              <a:spLocks noChangeArrowheads="1"/>
            </p:cNvSpPr>
            <p:nvPr/>
          </p:nvSpPr>
          <p:spPr bwMode="auto">
            <a:xfrm>
              <a:off x="3040"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3</a:t>
              </a:r>
              <a:endParaRPr lang="en-US" altLang="en-US">
                <a:solidFill>
                  <a:schemeClr val="bg1"/>
                </a:solidFill>
                <a:latin typeface="Roboto" panose="02000000000000000000" pitchFamily="2" charset="0"/>
                <a:ea typeface="Roboto" panose="02000000000000000000" pitchFamily="2" charset="0"/>
              </a:endParaRPr>
            </a:p>
          </p:txBody>
        </p:sp>
        <p:sp>
          <p:nvSpPr>
            <p:cNvPr id="77" name="Rectangle 82">
              <a:extLst>
                <a:ext uri="{FF2B5EF4-FFF2-40B4-BE49-F238E27FC236}">
                  <a16:creationId xmlns:a16="http://schemas.microsoft.com/office/drawing/2014/main" id="{27E113D7-EC82-5EE7-36E6-EBB3913A4AB9}"/>
                </a:ext>
              </a:extLst>
            </p:cNvPr>
            <p:cNvSpPr>
              <a:spLocks noChangeArrowheads="1"/>
            </p:cNvSpPr>
            <p:nvPr/>
          </p:nvSpPr>
          <p:spPr bwMode="auto">
            <a:xfrm>
              <a:off x="2257" y="3000"/>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4</a:t>
              </a:r>
              <a:endParaRPr lang="en-US" altLang="en-US">
                <a:solidFill>
                  <a:schemeClr val="bg1"/>
                </a:solidFill>
                <a:latin typeface="Roboto" panose="02000000000000000000" pitchFamily="2" charset="0"/>
                <a:ea typeface="Roboto" panose="02000000000000000000" pitchFamily="2" charset="0"/>
              </a:endParaRPr>
            </a:p>
          </p:txBody>
        </p:sp>
        <p:sp>
          <p:nvSpPr>
            <p:cNvPr id="78" name="Rectangle 83">
              <a:extLst>
                <a:ext uri="{FF2B5EF4-FFF2-40B4-BE49-F238E27FC236}">
                  <a16:creationId xmlns:a16="http://schemas.microsoft.com/office/drawing/2014/main" id="{2EA7FE43-88D0-795E-0D00-5907F9D8ED7D}"/>
                </a:ext>
              </a:extLst>
            </p:cNvPr>
            <p:cNvSpPr>
              <a:spLocks noChangeArrowheads="1"/>
            </p:cNvSpPr>
            <p:nvPr/>
          </p:nvSpPr>
          <p:spPr bwMode="auto">
            <a:xfrm>
              <a:off x="1392" y="3001"/>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5</a:t>
              </a:r>
              <a:endParaRPr lang="en-US" altLang="en-US">
                <a:solidFill>
                  <a:schemeClr val="bg1"/>
                </a:solidFill>
                <a:latin typeface="Roboto" panose="02000000000000000000" pitchFamily="2" charset="0"/>
                <a:ea typeface="Roboto" panose="02000000000000000000" pitchFamily="2" charset="0"/>
              </a:endParaRPr>
            </a:p>
          </p:txBody>
        </p:sp>
        <p:sp>
          <p:nvSpPr>
            <p:cNvPr id="79" name="Rectangle 84">
              <a:extLst>
                <a:ext uri="{FF2B5EF4-FFF2-40B4-BE49-F238E27FC236}">
                  <a16:creationId xmlns:a16="http://schemas.microsoft.com/office/drawing/2014/main" id="{1326E493-D949-57FB-A868-30BB779F96C8}"/>
                </a:ext>
              </a:extLst>
            </p:cNvPr>
            <p:cNvSpPr>
              <a:spLocks noChangeArrowheads="1"/>
            </p:cNvSpPr>
            <p:nvPr/>
          </p:nvSpPr>
          <p:spPr bwMode="auto">
            <a:xfrm>
              <a:off x="1383"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6</a:t>
              </a:r>
              <a:endParaRPr lang="en-US" altLang="en-US">
                <a:solidFill>
                  <a:schemeClr val="bg1"/>
                </a:solidFill>
                <a:latin typeface="Roboto" panose="02000000000000000000" pitchFamily="2" charset="0"/>
                <a:ea typeface="Roboto" panose="02000000000000000000" pitchFamily="2" charset="0"/>
              </a:endParaRPr>
            </a:p>
          </p:txBody>
        </p:sp>
        <p:sp>
          <p:nvSpPr>
            <p:cNvPr id="80" name="Rectangle 85">
              <a:extLst>
                <a:ext uri="{FF2B5EF4-FFF2-40B4-BE49-F238E27FC236}">
                  <a16:creationId xmlns:a16="http://schemas.microsoft.com/office/drawing/2014/main" id="{E73014F3-F48B-21CF-2509-3AC29BFCB00C}"/>
                </a:ext>
              </a:extLst>
            </p:cNvPr>
            <p:cNvSpPr>
              <a:spLocks noChangeArrowheads="1"/>
            </p:cNvSpPr>
            <p:nvPr/>
          </p:nvSpPr>
          <p:spPr bwMode="auto">
            <a:xfrm>
              <a:off x="2249"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7</a:t>
              </a:r>
              <a:endParaRPr lang="en-US" altLang="en-US">
                <a:solidFill>
                  <a:schemeClr val="bg1"/>
                </a:solidFill>
                <a:latin typeface="Roboto" panose="02000000000000000000" pitchFamily="2" charset="0"/>
                <a:ea typeface="Roboto" panose="02000000000000000000" pitchFamily="2" charset="0"/>
              </a:endParaRPr>
            </a:p>
          </p:txBody>
        </p:sp>
        <p:sp>
          <p:nvSpPr>
            <p:cNvPr id="81" name="Rectangle 86">
              <a:extLst>
                <a:ext uri="{FF2B5EF4-FFF2-40B4-BE49-F238E27FC236}">
                  <a16:creationId xmlns:a16="http://schemas.microsoft.com/office/drawing/2014/main" id="{AC956848-6222-6C43-D660-E9B7C6485265}"/>
                </a:ext>
              </a:extLst>
            </p:cNvPr>
            <p:cNvSpPr>
              <a:spLocks noChangeArrowheads="1"/>
            </p:cNvSpPr>
            <p:nvPr/>
          </p:nvSpPr>
          <p:spPr bwMode="auto">
            <a:xfrm>
              <a:off x="2998" y="3494"/>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8</a:t>
              </a:r>
              <a:endParaRPr lang="en-US" altLang="en-US">
                <a:solidFill>
                  <a:schemeClr val="bg1"/>
                </a:solidFill>
                <a:latin typeface="Roboto" panose="02000000000000000000" pitchFamily="2" charset="0"/>
                <a:ea typeface="Roboto" panose="02000000000000000000" pitchFamily="2" charset="0"/>
              </a:endParaRPr>
            </a:p>
          </p:txBody>
        </p:sp>
        <p:sp>
          <p:nvSpPr>
            <p:cNvPr id="82" name="Rectangle 87">
              <a:extLst>
                <a:ext uri="{FF2B5EF4-FFF2-40B4-BE49-F238E27FC236}">
                  <a16:creationId xmlns:a16="http://schemas.microsoft.com/office/drawing/2014/main" id="{9A88BCA6-EF7B-06A1-7D3F-6DC2F31512AB}"/>
                </a:ext>
              </a:extLst>
            </p:cNvPr>
            <p:cNvSpPr>
              <a:spLocks noChangeArrowheads="1"/>
            </p:cNvSpPr>
            <p:nvPr/>
          </p:nvSpPr>
          <p:spPr bwMode="auto">
            <a:xfrm>
              <a:off x="3814" y="3502"/>
              <a:ext cx="7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9</a:t>
              </a:r>
              <a:endParaRPr lang="en-US" altLang="en-US">
                <a:solidFill>
                  <a:schemeClr val="bg1"/>
                </a:solidFill>
                <a:latin typeface="Roboto" panose="02000000000000000000" pitchFamily="2" charset="0"/>
                <a:ea typeface="Roboto" panose="02000000000000000000" pitchFamily="2" charset="0"/>
              </a:endParaRPr>
            </a:p>
          </p:txBody>
        </p:sp>
        <p:sp>
          <p:nvSpPr>
            <p:cNvPr id="83" name="Rectangle 88">
              <a:extLst>
                <a:ext uri="{FF2B5EF4-FFF2-40B4-BE49-F238E27FC236}">
                  <a16:creationId xmlns:a16="http://schemas.microsoft.com/office/drawing/2014/main" id="{66CF7F38-AC84-0E88-15D4-794902323161}"/>
                </a:ext>
              </a:extLst>
            </p:cNvPr>
            <p:cNvSpPr>
              <a:spLocks noChangeArrowheads="1"/>
            </p:cNvSpPr>
            <p:nvPr/>
          </p:nvSpPr>
          <p:spPr bwMode="auto">
            <a:xfrm>
              <a:off x="4317" y="3411"/>
              <a:ext cx="153"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700" b="0">
                  <a:solidFill>
                    <a:srgbClr val="000000"/>
                  </a:solidFill>
                  <a:latin typeface="Roboto" panose="02000000000000000000" pitchFamily="2" charset="0"/>
                  <a:ea typeface="Roboto" panose="02000000000000000000" pitchFamily="2" charset="0"/>
                </a:rPr>
                <a:t>10</a:t>
              </a:r>
              <a:endParaRPr lang="en-US" altLang="en-US">
                <a:solidFill>
                  <a:schemeClr val="bg1"/>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6431666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36</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Standard Work In Process (WIP)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Standard Work in Process (WIP) </a:t>
            </a:r>
          </a:p>
          <a:p>
            <a:r>
              <a:rPr lang="en-US" dirty="0"/>
              <a:t>Define Curtain Effect</a:t>
            </a:r>
          </a:p>
          <a:p>
            <a:r>
              <a:rPr lang="en-US" dirty="0"/>
              <a:t>Calculate Standard WIP and Curtain Quantities</a:t>
            </a:r>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C87A7FF0-98F8-9B45-43F5-1EE0B5702A07}"/>
              </a:ext>
            </a:extLst>
          </p:cNvPr>
          <p:cNvGrpSpPr/>
          <p:nvPr/>
        </p:nvGrpSpPr>
        <p:grpSpPr>
          <a:xfrm>
            <a:off x="699911" y="837132"/>
            <a:ext cx="5850075" cy="659880"/>
            <a:chOff x="699911" y="837132"/>
            <a:chExt cx="5850075" cy="659880"/>
          </a:xfrm>
        </p:grpSpPr>
        <p:sp>
          <p:nvSpPr>
            <p:cNvPr id="4" name="AutoShape 9">
              <a:extLst>
                <a:ext uri="{FF2B5EF4-FFF2-40B4-BE49-F238E27FC236}">
                  <a16:creationId xmlns:a16="http://schemas.microsoft.com/office/drawing/2014/main" id="{717DD1F3-5C6B-CA24-C474-C85FEE3DF5E7}"/>
                </a:ext>
              </a:extLst>
            </p:cNvPr>
            <p:cNvSpPr>
              <a:spLocks noChangeArrowheads="1"/>
            </p:cNvSpPr>
            <p:nvPr/>
          </p:nvSpPr>
          <p:spPr bwMode="auto">
            <a:xfrm>
              <a:off x="4971710" y="837132"/>
              <a:ext cx="1578276" cy="659879"/>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Documentation</a:t>
              </a:r>
            </a:p>
          </p:txBody>
        </p:sp>
        <p:grpSp>
          <p:nvGrpSpPr>
            <p:cNvPr id="13" name="Group 12">
              <a:extLst>
                <a:ext uri="{FF2B5EF4-FFF2-40B4-BE49-F238E27FC236}">
                  <a16:creationId xmlns:a16="http://schemas.microsoft.com/office/drawing/2014/main" id="{DADE2756-B973-0064-D4DD-52D3744FBA6B}"/>
                </a:ext>
              </a:extLst>
            </p:cNvPr>
            <p:cNvGrpSpPr/>
            <p:nvPr/>
          </p:nvGrpSpPr>
          <p:grpSpPr>
            <a:xfrm>
              <a:off x="699911" y="837133"/>
              <a:ext cx="4425950" cy="659879"/>
              <a:chOff x="5627530" y="641179"/>
              <a:chExt cx="6564470" cy="804977"/>
            </a:xfrm>
          </p:grpSpPr>
          <p:sp>
            <p:nvSpPr>
              <p:cNvPr id="14" name="AutoShape 9">
                <a:extLst>
                  <a:ext uri="{FF2B5EF4-FFF2-40B4-BE49-F238E27FC236}">
                    <a16:creationId xmlns:a16="http://schemas.microsoft.com/office/drawing/2014/main" id="{FF83B6EB-BAFE-C193-44C8-50C54ED609A3}"/>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Standard WIP</a:t>
                </a:r>
              </a:p>
            </p:txBody>
          </p:sp>
          <p:sp>
            <p:nvSpPr>
              <p:cNvPr id="15" name="AutoShape 10">
                <a:extLst>
                  <a:ext uri="{FF2B5EF4-FFF2-40B4-BE49-F238E27FC236}">
                    <a16:creationId xmlns:a16="http://schemas.microsoft.com/office/drawing/2014/main" id="{386767CB-AD12-A8CE-F49D-60EB435EC2D3}"/>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Work </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Sequence</a:t>
                </a:r>
              </a:p>
            </p:txBody>
          </p:sp>
          <p:sp>
            <p:nvSpPr>
              <p:cNvPr id="16" name="AutoShape 11">
                <a:extLst>
                  <a:ext uri="{FF2B5EF4-FFF2-40B4-BE49-F238E27FC236}">
                    <a16:creationId xmlns:a16="http://schemas.microsoft.com/office/drawing/2014/main" id="{C2EFD1F9-72F5-1220-34C5-1283C9247686}"/>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Takt Time vs.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Cycle Time</a:t>
                </a:r>
              </a:p>
            </p:txBody>
          </p:sp>
        </p:grpSp>
      </p:grpSp>
    </p:spTree>
    <p:extLst>
      <p:ext uri="{BB962C8B-B14F-4D97-AF65-F5344CB8AC3E}">
        <p14:creationId xmlns:p14="http://schemas.microsoft.com/office/powerpoint/2010/main" val="19414841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Standard WIP</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37</a:t>
            </a:fld>
            <a:endParaRPr lang="en-US"/>
          </a:p>
        </p:txBody>
      </p:sp>
      <p:grpSp>
        <p:nvGrpSpPr>
          <p:cNvPr id="35" name="Group 34">
            <a:extLst>
              <a:ext uri="{FF2B5EF4-FFF2-40B4-BE49-F238E27FC236}">
                <a16:creationId xmlns:a16="http://schemas.microsoft.com/office/drawing/2014/main" id="{463D7A64-6747-6E5F-428D-0B875C41310E}"/>
              </a:ext>
            </a:extLst>
          </p:cNvPr>
          <p:cNvGrpSpPr/>
          <p:nvPr/>
        </p:nvGrpSpPr>
        <p:grpSpPr>
          <a:xfrm>
            <a:off x="838200" y="1879600"/>
            <a:ext cx="9517380" cy="4121150"/>
            <a:chOff x="457200" y="1536700"/>
            <a:chExt cx="8255000" cy="3754438"/>
          </a:xfrm>
        </p:grpSpPr>
        <p:sp>
          <p:nvSpPr>
            <p:cNvPr id="12" name="Rectangle 4">
              <a:extLst>
                <a:ext uri="{FF2B5EF4-FFF2-40B4-BE49-F238E27FC236}">
                  <a16:creationId xmlns:a16="http://schemas.microsoft.com/office/drawing/2014/main" id="{6C69E0A4-C882-5FDA-1DDB-B398AB677ABE}"/>
                </a:ext>
              </a:extLst>
            </p:cNvPr>
            <p:cNvSpPr>
              <a:spLocks noChangeArrowheads="1"/>
            </p:cNvSpPr>
            <p:nvPr/>
          </p:nvSpPr>
          <p:spPr bwMode="auto">
            <a:xfrm>
              <a:off x="1196975" y="2200275"/>
              <a:ext cx="1908175" cy="663575"/>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400" dirty="0">
                  <a:latin typeface="Roboto" panose="02000000000000000000" pitchFamily="2" charset="0"/>
                  <a:ea typeface="Roboto" panose="02000000000000000000" pitchFamily="2" charset="0"/>
                </a:rPr>
                <a:t>Standard Work</a:t>
              </a: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In Process</a:t>
              </a: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(WIP)</a:t>
              </a:r>
            </a:p>
          </p:txBody>
        </p:sp>
        <p:sp>
          <p:nvSpPr>
            <p:cNvPr id="13" name="Line 9">
              <a:extLst>
                <a:ext uri="{FF2B5EF4-FFF2-40B4-BE49-F238E27FC236}">
                  <a16:creationId xmlns:a16="http://schemas.microsoft.com/office/drawing/2014/main" id="{E30D93A9-DBAF-3842-F0AA-52F708CAAAAC}"/>
                </a:ext>
              </a:extLst>
            </p:cNvPr>
            <p:cNvSpPr>
              <a:spLocks noChangeShapeType="1"/>
            </p:cNvSpPr>
            <p:nvPr/>
          </p:nvSpPr>
          <p:spPr bwMode="auto">
            <a:xfrm>
              <a:off x="487363" y="3721100"/>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4" name="Line 10">
              <a:extLst>
                <a:ext uri="{FF2B5EF4-FFF2-40B4-BE49-F238E27FC236}">
                  <a16:creationId xmlns:a16="http://schemas.microsoft.com/office/drawing/2014/main" id="{09B07DD6-8C79-4D6D-87C0-4048F3B755D5}"/>
                </a:ext>
              </a:extLst>
            </p:cNvPr>
            <p:cNvSpPr>
              <a:spLocks noChangeShapeType="1"/>
            </p:cNvSpPr>
            <p:nvPr/>
          </p:nvSpPr>
          <p:spPr bwMode="auto">
            <a:xfrm>
              <a:off x="457200" y="5291138"/>
              <a:ext cx="823595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5" name="Rectangle 12">
              <a:extLst>
                <a:ext uri="{FF2B5EF4-FFF2-40B4-BE49-F238E27FC236}">
                  <a16:creationId xmlns:a16="http://schemas.microsoft.com/office/drawing/2014/main" id="{CDC511ED-7F22-7A26-9F7F-0317455CAB8B}"/>
                </a:ext>
              </a:extLst>
            </p:cNvPr>
            <p:cNvSpPr>
              <a:spLocks noChangeArrowheads="1"/>
            </p:cNvSpPr>
            <p:nvPr/>
          </p:nvSpPr>
          <p:spPr bwMode="auto">
            <a:xfrm>
              <a:off x="3641725" y="1921934"/>
              <a:ext cx="4970463" cy="1694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45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Minimum amount of parts on the line that will allow the operator to flow product efficiently</a:t>
              </a:r>
            </a:p>
            <a:p>
              <a:pPr eaLnBrk="1" hangingPunct="1">
                <a:lnSpc>
                  <a:spcPct val="100000"/>
                </a:lnSpc>
                <a:spcBef>
                  <a:spcPct val="45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Any time the cycle time of a process or the lead time of an external process is longer than TAKT time inventory is needed in the form of Standard WIP</a:t>
              </a:r>
            </a:p>
          </p:txBody>
        </p:sp>
        <p:sp>
          <p:nvSpPr>
            <p:cNvPr id="16" name="Line 16">
              <a:extLst>
                <a:ext uri="{FF2B5EF4-FFF2-40B4-BE49-F238E27FC236}">
                  <a16:creationId xmlns:a16="http://schemas.microsoft.com/office/drawing/2014/main" id="{5F1756A4-9DAA-A7DC-7735-C41E37B2ADA5}"/>
                </a:ext>
              </a:extLst>
            </p:cNvPr>
            <p:cNvSpPr>
              <a:spLocks noChangeShapeType="1"/>
            </p:cNvSpPr>
            <p:nvPr/>
          </p:nvSpPr>
          <p:spPr bwMode="auto">
            <a:xfrm flipV="1">
              <a:off x="461963" y="1809750"/>
              <a:ext cx="8250237" cy="158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7" name="Text Box 17">
              <a:extLst>
                <a:ext uri="{FF2B5EF4-FFF2-40B4-BE49-F238E27FC236}">
                  <a16:creationId xmlns:a16="http://schemas.microsoft.com/office/drawing/2014/main" id="{EDDE1E8E-38B2-613B-DC0D-F36BC03DCBF4}"/>
                </a:ext>
              </a:extLst>
            </p:cNvPr>
            <p:cNvSpPr txBox="1">
              <a:spLocks noChangeArrowheads="1"/>
            </p:cNvSpPr>
            <p:nvPr/>
          </p:nvSpPr>
          <p:spPr bwMode="auto">
            <a:xfrm>
              <a:off x="471488" y="1536700"/>
              <a:ext cx="3997625" cy="336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Points		           	      Descriptions</a:t>
              </a:r>
            </a:p>
          </p:txBody>
        </p:sp>
        <p:sp>
          <p:nvSpPr>
            <p:cNvPr id="18" name="Oval 18">
              <a:extLst>
                <a:ext uri="{FF2B5EF4-FFF2-40B4-BE49-F238E27FC236}">
                  <a16:creationId xmlns:a16="http://schemas.microsoft.com/office/drawing/2014/main" id="{423F8424-8ADF-BC24-A30B-3C73A31717E0}"/>
                </a:ext>
              </a:extLst>
            </p:cNvPr>
            <p:cNvSpPr>
              <a:spLocks noChangeArrowheads="1"/>
            </p:cNvSpPr>
            <p:nvPr/>
          </p:nvSpPr>
          <p:spPr bwMode="auto">
            <a:xfrm>
              <a:off x="519113" y="2308225"/>
              <a:ext cx="400050" cy="366713"/>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1</a:t>
              </a:r>
            </a:p>
          </p:txBody>
        </p:sp>
        <p:grpSp>
          <p:nvGrpSpPr>
            <p:cNvPr id="19" name="Group 26">
              <a:extLst>
                <a:ext uri="{FF2B5EF4-FFF2-40B4-BE49-F238E27FC236}">
                  <a16:creationId xmlns:a16="http://schemas.microsoft.com/office/drawing/2014/main" id="{D434ADF6-E79E-5B98-3394-87D639DCA204}"/>
                </a:ext>
              </a:extLst>
            </p:cNvPr>
            <p:cNvGrpSpPr>
              <a:grpSpLocks/>
            </p:cNvGrpSpPr>
            <p:nvPr/>
          </p:nvGrpSpPr>
          <p:grpSpPr bwMode="auto">
            <a:xfrm>
              <a:off x="519113" y="4191000"/>
              <a:ext cx="8093075" cy="631743"/>
              <a:chOff x="519113" y="3457575"/>
              <a:chExt cx="8093075" cy="631743"/>
            </a:xfrm>
          </p:grpSpPr>
          <p:sp>
            <p:nvSpPr>
              <p:cNvPr id="20" name="Rectangle 6">
                <a:extLst>
                  <a:ext uri="{FF2B5EF4-FFF2-40B4-BE49-F238E27FC236}">
                    <a16:creationId xmlns:a16="http://schemas.microsoft.com/office/drawing/2014/main" id="{1459CA23-0E0A-05A6-33AD-D1C859364F05}"/>
                  </a:ext>
                </a:extLst>
              </p:cNvPr>
              <p:cNvSpPr>
                <a:spLocks noChangeArrowheads="1"/>
              </p:cNvSpPr>
              <p:nvPr/>
            </p:nvSpPr>
            <p:spPr bwMode="auto">
              <a:xfrm>
                <a:off x="1196975" y="3457575"/>
                <a:ext cx="1908175" cy="568325"/>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Standard WIP</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Calculation</a:t>
                </a:r>
              </a:p>
            </p:txBody>
          </p:sp>
          <p:sp>
            <p:nvSpPr>
              <p:cNvPr id="31" name="Rectangle 14">
                <a:extLst>
                  <a:ext uri="{FF2B5EF4-FFF2-40B4-BE49-F238E27FC236}">
                    <a16:creationId xmlns:a16="http://schemas.microsoft.com/office/drawing/2014/main" id="{243806A5-E883-5A07-ED69-0D6E13051F44}"/>
                  </a:ext>
                </a:extLst>
              </p:cNvPr>
              <p:cNvSpPr>
                <a:spLocks noChangeArrowheads="1"/>
              </p:cNvSpPr>
              <p:nvPr/>
            </p:nvSpPr>
            <p:spPr bwMode="auto">
              <a:xfrm>
                <a:off x="3641725" y="3462338"/>
                <a:ext cx="4970463" cy="319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indent="0" eaLnBrk="1" hangingPunct="1">
                  <a:lnSpc>
                    <a:spcPct val="100000"/>
                  </a:lnSpc>
                  <a:spcBef>
                    <a:spcPct val="45000"/>
                  </a:spcBef>
                  <a:spcAft>
                    <a:spcPct val="0"/>
                  </a:spcAft>
                  <a:buClr>
                    <a:schemeClr val="tx1"/>
                  </a:buClr>
                  <a:buNone/>
                </a:pPr>
                <a:r>
                  <a:rPr lang="en-US" altLang="en-US" sz="1800" dirty="0">
                    <a:latin typeface="Roboto" panose="02000000000000000000" pitchFamily="2" charset="0"/>
                    <a:ea typeface="Roboto" panose="02000000000000000000" pitchFamily="2" charset="0"/>
                  </a:rPr>
                  <a:t>     Cycle Time</a:t>
                </a:r>
                <a:endParaRPr lang="en-US" altLang="en-US" sz="1800" b="0" dirty="0">
                  <a:latin typeface="Roboto" panose="02000000000000000000" pitchFamily="2" charset="0"/>
                  <a:ea typeface="Roboto" panose="02000000000000000000" pitchFamily="2" charset="0"/>
                </a:endParaRPr>
              </a:p>
            </p:txBody>
          </p:sp>
          <p:sp>
            <p:nvSpPr>
              <p:cNvPr id="32" name="Oval 20">
                <a:extLst>
                  <a:ext uri="{FF2B5EF4-FFF2-40B4-BE49-F238E27FC236}">
                    <a16:creationId xmlns:a16="http://schemas.microsoft.com/office/drawing/2014/main" id="{13833759-17E0-9E71-1607-0889B49119F9}"/>
                  </a:ext>
                </a:extLst>
              </p:cNvPr>
              <p:cNvSpPr>
                <a:spLocks noChangeArrowheads="1"/>
              </p:cNvSpPr>
              <p:nvPr/>
            </p:nvSpPr>
            <p:spPr bwMode="auto">
              <a:xfrm>
                <a:off x="519113" y="3565525"/>
                <a:ext cx="400050" cy="366713"/>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2</a:t>
                </a:r>
              </a:p>
            </p:txBody>
          </p:sp>
          <p:sp>
            <p:nvSpPr>
              <p:cNvPr id="33" name="Text Box 26">
                <a:extLst>
                  <a:ext uri="{FF2B5EF4-FFF2-40B4-BE49-F238E27FC236}">
                    <a16:creationId xmlns:a16="http://schemas.microsoft.com/office/drawing/2014/main" id="{1B6D7700-C21D-B857-EA7B-0B9167D614AD}"/>
                  </a:ext>
                </a:extLst>
              </p:cNvPr>
              <p:cNvSpPr txBox="1">
                <a:spLocks noChangeArrowheads="1"/>
              </p:cNvSpPr>
              <p:nvPr/>
            </p:nvSpPr>
            <p:spPr bwMode="auto">
              <a:xfrm>
                <a:off x="3895725" y="3752850"/>
                <a:ext cx="1075043" cy="336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Takt Time</a:t>
                </a:r>
              </a:p>
            </p:txBody>
          </p:sp>
          <p:sp>
            <p:nvSpPr>
              <p:cNvPr id="34" name="Line 27">
                <a:extLst>
                  <a:ext uri="{FF2B5EF4-FFF2-40B4-BE49-F238E27FC236}">
                    <a16:creationId xmlns:a16="http://schemas.microsoft.com/office/drawing/2014/main" id="{1C9E8085-EA3E-62F9-1727-6009294A2A2C}"/>
                  </a:ext>
                </a:extLst>
              </p:cNvPr>
              <p:cNvSpPr>
                <a:spLocks noChangeShapeType="1"/>
              </p:cNvSpPr>
              <p:nvPr/>
            </p:nvSpPr>
            <p:spPr bwMode="auto">
              <a:xfrm>
                <a:off x="3931744" y="3781866"/>
                <a:ext cx="1074737"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grpSp>
        <p:nvGrpSpPr>
          <p:cNvPr id="21" name="Group 20">
            <a:extLst>
              <a:ext uri="{FF2B5EF4-FFF2-40B4-BE49-F238E27FC236}">
                <a16:creationId xmlns:a16="http://schemas.microsoft.com/office/drawing/2014/main" id="{4C594360-F859-DDCD-9F93-058651F8D46A}"/>
              </a:ext>
            </a:extLst>
          </p:cNvPr>
          <p:cNvGrpSpPr/>
          <p:nvPr/>
        </p:nvGrpSpPr>
        <p:grpSpPr>
          <a:xfrm>
            <a:off x="838200" y="297639"/>
            <a:ext cx="4220210" cy="301303"/>
            <a:chOff x="838200" y="297639"/>
            <a:chExt cx="4220210" cy="301303"/>
          </a:xfrm>
        </p:grpSpPr>
        <p:sp>
          <p:nvSpPr>
            <p:cNvPr id="22" name="AutoShape 9">
              <a:extLst>
                <a:ext uri="{FF2B5EF4-FFF2-40B4-BE49-F238E27FC236}">
                  <a16:creationId xmlns:a16="http://schemas.microsoft.com/office/drawing/2014/main" id="{57A8649C-319B-3F78-3F0E-13EB909E1930}"/>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3" name="Group 22">
              <a:extLst>
                <a:ext uri="{FF2B5EF4-FFF2-40B4-BE49-F238E27FC236}">
                  <a16:creationId xmlns:a16="http://schemas.microsoft.com/office/drawing/2014/main" id="{E6758519-FED0-060E-C3B8-2D07B2C2BE28}"/>
                </a:ext>
              </a:extLst>
            </p:cNvPr>
            <p:cNvGrpSpPr/>
            <p:nvPr/>
          </p:nvGrpSpPr>
          <p:grpSpPr>
            <a:xfrm>
              <a:off x="838200" y="297639"/>
              <a:ext cx="4220210" cy="301303"/>
              <a:chOff x="838200" y="297639"/>
              <a:chExt cx="4220210" cy="301303"/>
            </a:xfrm>
          </p:grpSpPr>
          <p:grpSp>
            <p:nvGrpSpPr>
              <p:cNvPr id="24" name="Group 23">
                <a:extLst>
                  <a:ext uri="{FF2B5EF4-FFF2-40B4-BE49-F238E27FC236}">
                    <a16:creationId xmlns:a16="http://schemas.microsoft.com/office/drawing/2014/main" id="{DFD2F196-4630-9953-A517-E7FC5A5954C2}"/>
                  </a:ext>
                </a:extLst>
              </p:cNvPr>
              <p:cNvGrpSpPr/>
              <p:nvPr/>
            </p:nvGrpSpPr>
            <p:grpSpPr>
              <a:xfrm>
                <a:off x="838200" y="297639"/>
                <a:ext cx="1060167" cy="290657"/>
                <a:chOff x="826426" y="4041857"/>
                <a:chExt cx="1060167" cy="290657"/>
              </a:xfrm>
            </p:grpSpPr>
            <p:sp>
              <p:nvSpPr>
                <p:cNvPr id="26" name="AutoShape 9">
                  <a:extLst>
                    <a:ext uri="{FF2B5EF4-FFF2-40B4-BE49-F238E27FC236}">
                      <a16:creationId xmlns:a16="http://schemas.microsoft.com/office/drawing/2014/main" id="{D99D1B9C-1D79-D75E-6BC0-4F2A24A959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7" name="AutoShape 11">
                  <a:extLst>
                    <a:ext uri="{FF2B5EF4-FFF2-40B4-BE49-F238E27FC236}">
                      <a16:creationId xmlns:a16="http://schemas.microsoft.com/office/drawing/2014/main" id="{5C9D18A6-814B-0341-54A5-1DEBBDCFDEF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0">
                  <a:extLst>
                    <a:ext uri="{FF2B5EF4-FFF2-40B4-BE49-F238E27FC236}">
                      <a16:creationId xmlns:a16="http://schemas.microsoft.com/office/drawing/2014/main" id="{4CC9CE90-0D56-DBE5-DF6D-AEF51488AB2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5" name="TextBox 24">
                <a:extLst>
                  <a:ext uri="{FF2B5EF4-FFF2-40B4-BE49-F238E27FC236}">
                    <a16:creationId xmlns:a16="http://schemas.microsoft.com/office/drawing/2014/main" id="{7FA3A7C4-3CAC-7087-F64F-4CE18C781E0F}"/>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WIP</a:t>
                </a:r>
              </a:p>
            </p:txBody>
          </p:sp>
        </p:grpSp>
      </p:grpSp>
    </p:spTree>
    <p:extLst>
      <p:ext uri="{BB962C8B-B14F-4D97-AF65-F5344CB8AC3E}">
        <p14:creationId xmlns:p14="http://schemas.microsoft.com/office/powerpoint/2010/main" val="22520102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Standard WIP</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grpSp>
        <p:nvGrpSpPr>
          <p:cNvPr id="3" name="Group 2">
            <a:extLst>
              <a:ext uri="{FF2B5EF4-FFF2-40B4-BE49-F238E27FC236}">
                <a16:creationId xmlns:a16="http://schemas.microsoft.com/office/drawing/2014/main" id="{E59B3CBF-5ABE-A498-69B8-907927981904}"/>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FA2C170-C446-6B5B-AAB0-CE615D97A889}"/>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9C2BB869-711E-EDCF-3E70-9D220EA50D3A}"/>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2610C34F-6578-4FE5-65A3-F08C785B5BBF}"/>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4BAC9EF-B7C5-7987-4E79-A6A74B4DFB2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1">
                  <a:extLst>
                    <a:ext uri="{FF2B5EF4-FFF2-40B4-BE49-F238E27FC236}">
                      <a16:creationId xmlns:a16="http://schemas.microsoft.com/office/drawing/2014/main" id="{A747822C-FF49-93E1-752C-68C5CBA2D38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F7978C6F-E01F-648B-74C4-F93F25FFC58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16C8119E-347B-1271-DC3C-C23ABFB31C8E}"/>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WIP</a:t>
                </a:r>
              </a:p>
            </p:txBody>
          </p:sp>
        </p:grpSp>
      </p:grpSp>
      <p:grpSp>
        <p:nvGrpSpPr>
          <p:cNvPr id="35" name="Group 34">
            <a:extLst>
              <a:ext uri="{FF2B5EF4-FFF2-40B4-BE49-F238E27FC236}">
                <a16:creationId xmlns:a16="http://schemas.microsoft.com/office/drawing/2014/main" id="{3468F1DD-C881-826B-F0BD-99E8F233A7C3}"/>
              </a:ext>
            </a:extLst>
          </p:cNvPr>
          <p:cNvGrpSpPr/>
          <p:nvPr/>
        </p:nvGrpSpPr>
        <p:grpSpPr>
          <a:xfrm>
            <a:off x="4102894" y="2030413"/>
            <a:ext cx="3986213" cy="3941762"/>
            <a:chOff x="2644775" y="2030413"/>
            <a:chExt cx="3986213" cy="3941762"/>
          </a:xfrm>
        </p:grpSpPr>
        <p:sp>
          <p:nvSpPr>
            <p:cNvPr id="12" name="Rectangle 2">
              <a:extLst>
                <a:ext uri="{FF2B5EF4-FFF2-40B4-BE49-F238E27FC236}">
                  <a16:creationId xmlns:a16="http://schemas.microsoft.com/office/drawing/2014/main" id="{62705301-3F14-382D-5402-1A737B38BEF0}"/>
                </a:ext>
              </a:extLst>
            </p:cNvPr>
            <p:cNvSpPr>
              <a:spLocks noChangeArrowheads="1"/>
            </p:cNvSpPr>
            <p:nvPr/>
          </p:nvSpPr>
          <p:spPr bwMode="auto">
            <a:xfrm>
              <a:off x="2649538" y="4686300"/>
              <a:ext cx="3981450" cy="1281113"/>
            </a:xfrm>
            <a:prstGeom prst="rect">
              <a:avLst/>
            </a:prstGeom>
            <a:solidFill>
              <a:schemeClr val="bg2"/>
            </a:solidFill>
            <a:ln w="19050">
              <a:solidFill>
                <a:schemeClr val="tx1"/>
              </a:solidFill>
              <a:prstDash val="sysDot"/>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3" name="Rectangle 3">
              <a:extLst>
                <a:ext uri="{FF2B5EF4-FFF2-40B4-BE49-F238E27FC236}">
                  <a16:creationId xmlns:a16="http://schemas.microsoft.com/office/drawing/2014/main" id="{F9A8DDB5-20F1-B9D0-2EAD-5D137C650678}"/>
                </a:ext>
              </a:extLst>
            </p:cNvPr>
            <p:cNvSpPr>
              <a:spLocks noChangeArrowheads="1"/>
            </p:cNvSpPr>
            <p:nvPr/>
          </p:nvSpPr>
          <p:spPr bwMode="auto">
            <a:xfrm>
              <a:off x="2665413" y="4702175"/>
              <a:ext cx="3935412"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Machine #1 (Single Spindle)</a:t>
              </a:r>
            </a:p>
            <a:p>
              <a:pPr>
                <a:lnSpc>
                  <a:spcPct val="100000"/>
                </a:lnSpc>
                <a:spcBef>
                  <a:spcPct val="45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Machine #2 (Multi-station Machine)</a:t>
              </a:r>
              <a:endParaRPr lang="en-US" altLang="en-US" b="0" dirty="0">
                <a:latin typeface="Roboto" panose="02000000000000000000" pitchFamily="2" charset="0"/>
                <a:ea typeface="Roboto" panose="02000000000000000000" pitchFamily="2" charset="0"/>
              </a:endParaRPr>
            </a:p>
            <a:p>
              <a:pPr>
                <a:lnSpc>
                  <a:spcPct val="100000"/>
                </a:lnSpc>
                <a:spcBef>
                  <a:spcPct val="45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Machine #3 (Single Spindle with no Standard WIP)</a:t>
              </a:r>
            </a:p>
          </p:txBody>
        </p:sp>
        <p:sp>
          <p:nvSpPr>
            <p:cNvPr id="14" name="Rectangle 4">
              <a:extLst>
                <a:ext uri="{FF2B5EF4-FFF2-40B4-BE49-F238E27FC236}">
                  <a16:creationId xmlns:a16="http://schemas.microsoft.com/office/drawing/2014/main" id="{922F0312-BA10-DA73-C703-85643E5070C5}"/>
                </a:ext>
              </a:extLst>
            </p:cNvPr>
            <p:cNvSpPr>
              <a:spLocks noChangeArrowheads="1"/>
            </p:cNvSpPr>
            <p:nvPr/>
          </p:nvSpPr>
          <p:spPr bwMode="auto">
            <a:xfrm>
              <a:off x="2644775" y="2030413"/>
              <a:ext cx="3976688" cy="2536825"/>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5" name="Rectangle 11">
              <a:extLst>
                <a:ext uri="{FF2B5EF4-FFF2-40B4-BE49-F238E27FC236}">
                  <a16:creationId xmlns:a16="http://schemas.microsoft.com/office/drawing/2014/main" id="{9F88D6CD-3B17-6B4F-986A-B60BD41A5257}"/>
                </a:ext>
              </a:extLst>
            </p:cNvPr>
            <p:cNvSpPr>
              <a:spLocks noChangeArrowheads="1"/>
            </p:cNvSpPr>
            <p:nvPr/>
          </p:nvSpPr>
          <p:spPr bwMode="auto">
            <a:xfrm>
              <a:off x="3632200" y="4189413"/>
              <a:ext cx="1851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Standard WIP = 9</a:t>
              </a:r>
            </a:p>
          </p:txBody>
        </p:sp>
        <p:sp>
          <p:nvSpPr>
            <p:cNvPr id="16" name="Oval 13">
              <a:extLst>
                <a:ext uri="{FF2B5EF4-FFF2-40B4-BE49-F238E27FC236}">
                  <a16:creationId xmlns:a16="http://schemas.microsoft.com/office/drawing/2014/main" id="{097072D6-45A9-07D3-6154-3E79F58B554B}"/>
                </a:ext>
              </a:extLst>
            </p:cNvPr>
            <p:cNvSpPr>
              <a:spLocks noChangeArrowheads="1"/>
            </p:cNvSpPr>
            <p:nvPr/>
          </p:nvSpPr>
          <p:spPr bwMode="auto">
            <a:xfrm>
              <a:off x="3578225" y="3636963"/>
              <a:ext cx="530225" cy="547687"/>
            </a:xfrm>
            <a:prstGeom prst="ellipse">
              <a:avLst/>
            </a:prstGeom>
            <a:solidFill>
              <a:schemeClr val="accent5"/>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7" name="Rectangle 14">
              <a:extLst>
                <a:ext uri="{FF2B5EF4-FFF2-40B4-BE49-F238E27FC236}">
                  <a16:creationId xmlns:a16="http://schemas.microsoft.com/office/drawing/2014/main" id="{96AB5DBC-5081-2D1B-9ED5-B4DA492DC050}"/>
                </a:ext>
              </a:extLst>
            </p:cNvPr>
            <p:cNvSpPr>
              <a:spLocks noChangeArrowheads="1"/>
            </p:cNvSpPr>
            <p:nvPr/>
          </p:nvSpPr>
          <p:spPr bwMode="auto">
            <a:xfrm>
              <a:off x="3576253" y="3696970"/>
              <a:ext cx="532197"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200" dirty="0">
                  <a:solidFill>
                    <a:schemeClr val="bg1"/>
                  </a:solidFill>
                  <a:latin typeface="Roboto" panose="02000000000000000000" pitchFamily="2" charset="0"/>
                  <a:ea typeface="Roboto" panose="02000000000000000000" pitchFamily="2" charset="0"/>
                </a:rPr>
                <a:t>FG</a:t>
              </a:r>
            </a:p>
          </p:txBody>
        </p:sp>
        <p:sp>
          <p:nvSpPr>
            <p:cNvPr id="18" name="Rectangle 15">
              <a:extLst>
                <a:ext uri="{FF2B5EF4-FFF2-40B4-BE49-F238E27FC236}">
                  <a16:creationId xmlns:a16="http://schemas.microsoft.com/office/drawing/2014/main" id="{C444318F-029C-5CA9-1D26-2C73C386CE07}"/>
                </a:ext>
              </a:extLst>
            </p:cNvPr>
            <p:cNvSpPr>
              <a:spLocks noChangeArrowheads="1"/>
            </p:cNvSpPr>
            <p:nvPr/>
          </p:nvSpPr>
          <p:spPr bwMode="auto">
            <a:xfrm>
              <a:off x="5056188" y="3636963"/>
              <a:ext cx="515937" cy="514350"/>
            </a:xfrm>
            <a:prstGeom prst="rect">
              <a:avLst/>
            </a:prstGeom>
            <a:solidFill>
              <a:schemeClr val="accent5"/>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9" name="Rectangle 16">
              <a:extLst>
                <a:ext uri="{FF2B5EF4-FFF2-40B4-BE49-F238E27FC236}">
                  <a16:creationId xmlns:a16="http://schemas.microsoft.com/office/drawing/2014/main" id="{720BA996-BAA5-57ED-44BB-8284A9EE444B}"/>
                </a:ext>
              </a:extLst>
            </p:cNvPr>
            <p:cNvSpPr>
              <a:spLocks noChangeArrowheads="1"/>
            </p:cNvSpPr>
            <p:nvPr/>
          </p:nvSpPr>
          <p:spPr bwMode="auto">
            <a:xfrm>
              <a:off x="5023064" y="3684588"/>
              <a:ext cx="612347"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200">
                  <a:solidFill>
                    <a:schemeClr val="bg1"/>
                  </a:solidFill>
                  <a:latin typeface="Roboto" panose="02000000000000000000" pitchFamily="2" charset="0"/>
                  <a:ea typeface="Roboto" panose="02000000000000000000" pitchFamily="2" charset="0"/>
                </a:rPr>
                <a:t>RM</a:t>
              </a:r>
            </a:p>
          </p:txBody>
        </p:sp>
        <p:sp>
          <p:nvSpPr>
            <p:cNvPr id="20" name="Rectangle 17">
              <a:extLst>
                <a:ext uri="{FF2B5EF4-FFF2-40B4-BE49-F238E27FC236}">
                  <a16:creationId xmlns:a16="http://schemas.microsoft.com/office/drawing/2014/main" id="{E7A6FB0B-81A4-257E-6AC6-A4A815AC662C}"/>
                </a:ext>
              </a:extLst>
            </p:cNvPr>
            <p:cNvSpPr>
              <a:spLocks noChangeArrowheads="1"/>
            </p:cNvSpPr>
            <p:nvPr/>
          </p:nvSpPr>
          <p:spPr bwMode="auto">
            <a:xfrm>
              <a:off x="3298825" y="2789238"/>
              <a:ext cx="809625" cy="804862"/>
            </a:xfrm>
            <a:prstGeom prst="rect">
              <a:avLst/>
            </a:prstGeom>
            <a:solidFill>
              <a:schemeClr val="accent5"/>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1" name="Rectangle 18">
              <a:extLst>
                <a:ext uri="{FF2B5EF4-FFF2-40B4-BE49-F238E27FC236}">
                  <a16:creationId xmlns:a16="http://schemas.microsoft.com/office/drawing/2014/main" id="{85AB880B-92A3-4513-B917-939A85BC0E51}"/>
                </a:ext>
              </a:extLst>
            </p:cNvPr>
            <p:cNvSpPr>
              <a:spLocks noChangeArrowheads="1"/>
            </p:cNvSpPr>
            <p:nvPr/>
          </p:nvSpPr>
          <p:spPr bwMode="auto">
            <a:xfrm>
              <a:off x="5019675" y="2781300"/>
              <a:ext cx="823913" cy="804863"/>
            </a:xfrm>
            <a:prstGeom prst="rect">
              <a:avLst/>
            </a:prstGeom>
            <a:solidFill>
              <a:schemeClr val="accent5"/>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2" name="Rectangle 19">
              <a:extLst>
                <a:ext uri="{FF2B5EF4-FFF2-40B4-BE49-F238E27FC236}">
                  <a16:creationId xmlns:a16="http://schemas.microsoft.com/office/drawing/2014/main" id="{E1F4B001-369B-15F4-55BD-15B403AFB4D1}"/>
                </a:ext>
              </a:extLst>
            </p:cNvPr>
            <p:cNvSpPr>
              <a:spLocks noChangeArrowheads="1"/>
            </p:cNvSpPr>
            <p:nvPr/>
          </p:nvSpPr>
          <p:spPr bwMode="auto">
            <a:xfrm>
              <a:off x="3532925" y="2989263"/>
              <a:ext cx="339838"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100">
                  <a:solidFill>
                    <a:schemeClr val="bg1"/>
                  </a:solidFill>
                  <a:latin typeface="Roboto" panose="02000000000000000000" pitchFamily="2" charset="0"/>
                  <a:ea typeface="Roboto" panose="02000000000000000000" pitchFamily="2" charset="0"/>
                </a:rPr>
                <a:t>3</a:t>
              </a:r>
            </a:p>
          </p:txBody>
        </p:sp>
        <p:sp>
          <p:nvSpPr>
            <p:cNvPr id="23" name="Rectangle 20">
              <a:extLst>
                <a:ext uri="{FF2B5EF4-FFF2-40B4-BE49-F238E27FC236}">
                  <a16:creationId xmlns:a16="http://schemas.microsoft.com/office/drawing/2014/main" id="{85A2D3D4-8E71-6C1D-B28E-DF6E54C27595}"/>
                </a:ext>
              </a:extLst>
            </p:cNvPr>
            <p:cNvSpPr>
              <a:spLocks noChangeArrowheads="1"/>
            </p:cNvSpPr>
            <p:nvPr/>
          </p:nvSpPr>
          <p:spPr bwMode="auto">
            <a:xfrm>
              <a:off x="5122013" y="2857500"/>
              <a:ext cx="339837"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100">
                  <a:solidFill>
                    <a:schemeClr val="bg1"/>
                  </a:solidFill>
                  <a:latin typeface="Roboto" panose="02000000000000000000" pitchFamily="2" charset="0"/>
                  <a:ea typeface="Roboto" panose="02000000000000000000" pitchFamily="2" charset="0"/>
                </a:rPr>
                <a:t>1</a:t>
              </a:r>
            </a:p>
          </p:txBody>
        </p:sp>
        <p:sp>
          <p:nvSpPr>
            <p:cNvPr id="24" name="Oval 21" descr="Wide downward diagonal">
              <a:extLst>
                <a:ext uri="{FF2B5EF4-FFF2-40B4-BE49-F238E27FC236}">
                  <a16:creationId xmlns:a16="http://schemas.microsoft.com/office/drawing/2014/main" id="{20540973-ACDA-941F-2C0E-E280CB168CFA}"/>
                </a:ext>
              </a:extLst>
            </p:cNvPr>
            <p:cNvSpPr>
              <a:spLocks noChangeArrowheads="1"/>
            </p:cNvSpPr>
            <p:nvPr/>
          </p:nvSpPr>
          <p:spPr bwMode="auto">
            <a:xfrm>
              <a:off x="5453063" y="3206750"/>
              <a:ext cx="373062" cy="355600"/>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 name="Oval 22">
              <a:extLst>
                <a:ext uri="{FF2B5EF4-FFF2-40B4-BE49-F238E27FC236}">
                  <a16:creationId xmlns:a16="http://schemas.microsoft.com/office/drawing/2014/main" id="{843E31F2-C3F3-C265-4290-C19E0C88B70C}"/>
                </a:ext>
              </a:extLst>
            </p:cNvPr>
            <p:cNvSpPr>
              <a:spLocks noChangeArrowheads="1"/>
            </p:cNvSpPr>
            <p:nvPr/>
          </p:nvSpPr>
          <p:spPr bwMode="auto">
            <a:xfrm>
              <a:off x="4086225" y="2176463"/>
              <a:ext cx="949325" cy="903287"/>
            </a:xfrm>
            <a:prstGeom prst="ellipse">
              <a:avLst/>
            </a:prstGeom>
            <a:solidFill>
              <a:schemeClr val="accent5"/>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 name="Rectangle 23">
              <a:extLst>
                <a:ext uri="{FF2B5EF4-FFF2-40B4-BE49-F238E27FC236}">
                  <a16:creationId xmlns:a16="http://schemas.microsoft.com/office/drawing/2014/main" id="{DD84E1A3-143D-64A1-D8E0-9EEB8AAC1BFF}"/>
                </a:ext>
              </a:extLst>
            </p:cNvPr>
            <p:cNvSpPr>
              <a:spLocks noChangeArrowheads="1"/>
            </p:cNvSpPr>
            <p:nvPr/>
          </p:nvSpPr>
          <p:spPr bwMode="auto">
            <a:xfrm>
              <a:off x="4391763" y="2414588"/>
              <a:ext cx="339837"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100" dirty="0">
                  <a:solidFill>
                    <a:schemeClr val="bg1"/>
                  </a:solidFill>
                  <a:latin typeface="Roboto" panose="02000000000000000000" pitchFamily="2" charset="0"/>
                  <a:ea typeface="Roboto" panose="02000000000000000000" pitchFamily="2" charset="0"/>
                </a:rPr>
                <a:t>2</a:t>
              </a:r>
            </a:p>
          </p:txBody>
        </p:sp>
        <p:sp>
          <p:nvSpPr>
            <p:cNvPr id="27" name="Oval 24" descr="Wide downward diagonal">
              <a:extLst>
                <a:ext uri="{FF2B5EF4-FFF2-40B4-BE49-F238E27FC236}">
                  <a16:creationId xmlns:a16="http://schemas.microsoft.com/office/drawing/2014/main" id="{538E0F67-703E-9955-96CF-84F0E6C109BC}"/>
                </a:ext>
              </a:extLst>
            </p:cNvPr>
            <p:cNvSpPr>
              <a:spLocks noChangeArrowheads="1"/>
            </p:cNvSpPr>
            <p:nvPr/>
          </p:nvSpPr>
          <p:spPr bwMode="auto">
            <a:xfrm>
              <a:off x="4486275" y="2214563"/>
              <a:ext cx="180975" cy="182562"/>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8" name="Oval 25" descr="Wide downward diagonal">
              <a:extLst>
                <a:ext uri="{FF2B5EF4-FFF2-40B4-BE49-F238E27FC236}">
                  <a16:creationId xmlns:a16="http://schemas.microsoft.com/office/drawing/2014/main" id="{54B08B1D-EFB5-5BE3-0254-A09A072EC108}"/>
                </a:ext>
              </a:extLst>
            </p:cNvPr>
            <p:cNvSpPr>
              <a:spLocks noChangeArrowheads="1"/>
            </p:cNvSpPr>
            <p:nvPr/>
          </p:nvSpPr>
          <p:spPr bwMode="auto">
            <a:xfrm>
              <a:off x="4725988" y="2293938"/>
              <a:ext cx="180975" cy="182562"/>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9" name="Oval 26" descr="Wide downward diagonal">
              <a:extLst>
                <a:ext uri="{FF2B5EF4-FFF2-40B4-BE49-F238E27FC236}">
                  <a16:creationId xmlns:a16="http://schemas.microsoft.com/office/drawing/2014/main" id="{13FBEA31-31FE-3114-2968-2759C6C1B42D}"/>
                </a:ext>
              </a:extLst>
            </p:cNvPr>
            <p:cNvSpPr>
              <a:spLocks noChangeArrowheads="1"/>
            </p:cNvSpPr>
            <p:nvPr/>
          </p:nvSpPr>
          <p:spPr bwMode="auto">
            <a:xfrm>
              <a:off x="4813300" y="2525713"/>
              <a:ext cx="180975" cy="182562"/>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0" name="Oval 27" descr="Wide downward diagonal">
              <a:extLst>
                <a:ext uri="{FF2B5EF4-FFF2-40B4-BE49-F238E27FC236}">
                  <a16:creationId xmlns:a16="http://schemas.microsoft.com/office/drawing/2014/main" id="{4ABD259D-F91A-0CE6-0E94-58FFA32386E2}"/>
                </a:ext>
              </a:extLst>
            </p:cNvPr>
            <p:cNvSpPr>
              <a:spLocks noChangeArrowheads="1"/>
            </p:cNvSpPr>
            <p:nvPr/>
          </p:nvSpPr>
          <p:spPr bwMode="auto">
            <a:xfrm>
              <a:off x="4754563" y="2743200"/>
              <a:ext cx="180975" cy="182563"/>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 name="Oval 28" descr="Wide downward diagonal">
              <a:extLst>
                <a:ext uri="{FF2B5EF4-FFF2-40B4-BE49-F238E27FC236}">
                  <a16:creationId xmlns:a16="http://schemas.microsoft.com/office/drawing/2014/main" id="{1CDEBE87-148C-E6AA-2D81-95F7F2A23643}"/>
                </a:ext>
              </a:extLst>
            </p:cNvPr>
            <p:cNvSpPr>
              <a:spLocks noChangeArrowheads="1"/>
            </p:cNvSpPr>
            <p:nvPr/>
          </p:nvSpPr>
          <p:spPr bwMode="auto">
            <a:xfrm>
              <a:off x="4508500" y="2844800"/>
              <a:ext cx="180975" cy="182563"/>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 name="Oval 29" descr="Wide downward diagonal">
              <a:extLst>
                <a:ext uri="{FF2B5EF4-FFF2-40B4-BE49-F238E27FC236}">
                  <a16:creationId xmlns:a16="http://schemas.microsoft.com/office/drawing/2014/main" id="{7FAAD80B-9137-E62A-C458-47A6076DDE3F}"/>
                </a:ext>
              </a:extLst>
            </p:cNvPr>
            <p:cNvSpPr>
              <a:spLocks noChangeArrowheads="1"/>
            </p:cNvSpPr>
            <p:nvPr/>
          </p:nvSpPr>
          <p:spPr bwMode="auto">
            <a:xfrm>
              <a:off x="4260850" y="2817813"/>
              <a:ext cx="180975" cy="182562"/>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 name="Oval 30" descr="Wide downward diagonal">
              <a:extLst>
                <a:ext uri="{FF2B5EF4-FFF2-40B4-BE49-F238E27FC236}">
                  <a16:creationId xmlns:a16="http://schemas.microsoft.com/office/drawing/2014/main" id="{38D13BFB-C02C-DBDA-6064-EFB168984811}"/>
                </a:ext>
              </a:extLst>
            </p:cNvPr>
            <p:cNvSpPr>
              <a:spLocks noChangeArrowheads="1"/>
            </p:cNvSpPr>
            <p:nvPr/>
          </p:nvSpPr>
          <p:spPr bwMode="auto">
            <a:xfrm>
              <a:off x="4159250" y="2570163"/>
              <a:ext cx="180975" cy="182562"/>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4" name="Oval 31" descr="Wide downward diagonal">
              <a:extLst>
                <a:ext uri="{FF2B5EF4-FFF2-40B4-BE49-F238E27FC236}">
                  <a16:creationId xmlns:a16="http://schemas.microsoft.com/office/drawing/2014/main" id="{27906051-A817-A96E-3BC3-3AB858122D8B}"/>
                </a:ext>
              </a:extLst>
            </p:cNvPr>
            <p:cNvSpPr>
              <a:spLocks noChangeArrowheads="1"/>
            </p:cNvSpPr>
            <p:nvPr/>
          </p:nvSpPr>
          <p:spPr bwMode="auto">
            <a:xfrm>
              <a:off x="4232275" y="2308225"/>
              <a:ext cx="180975" cy="182563"/>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18169174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Standard WIP</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Demonstrate understanding of Standard WIP.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example on the following slides to determine the following:</a:t>
            </a:r>
            <a:b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endPar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342900" marR="0" indent="-342900" algn="l" defTabSz="584200" rtl="0" fontAlgn="auto" latinLnBrk="0" hangingPunct="0">
              <a:lnSpc>
                <a:spcPct val="100000"/>
              </a:lnSpc>
              <a:spcBef>
                <a:spcPts val="0"/>
              </a:spcBef>
              <a:spcAft>
                <a:spcPts val="0"/>
              </a:spcAft>
              <a:buClrTx/>
              <a:buSzTx/>
              <a:buFontTx/>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TAKT Time</a:t>
            </a:r>
          </a:p>
          <a:p>
            <a:pPr marL="342900" marR="0" indent="-342900" algn="l" defTabSz="584200" rtl="0" fontAlgn="auto" latinLnBrk="0" hangingPunct="0">
              <a:lnSpc>
                <a:spcPct val="100000"/>
              </a:lnSpc>
              <a:spcBef>
                <a:spcPts val="0"/>
              </a:spcBef>
              <a:spcAft>
                <a:spcPts val="0"/>
              </a:spcAft>
              <a:buClrTx/>
              <a:buSzTx/>
              <a:buFontTx/>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SWIP (Potting – Station 4)</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 SWIP (RTV – Station 7)</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Discuss answers as a class</a:t>
            </a:r>
          </a:p>
        </p:txBody>
      </p:sp>
      <p:grpSp>
        <p:nvGrpSpPr>
          <p:cNvPr id="3" name="Group 2">
            <a:extLst>
              <a:ext uri="{FF2B5EF4-FFF2-40B4-BE49-F238E27FC236}">
                <a16:creationId xmlns:a16="http://schemas.microsoft.com/office/drawing/2014/main" id="{7EC75C38-0B22-52EA-5CAB-1CC267F624A7}"/>
              </a:ext>
            </a:extLst>
          </p:cNvPr>
          <p:cNvGrpSpPr/>
          <p:nvPr/>
        </p:nvGrpSpPr>
        <p:grpSpPr>
          <a:xfrm>
            <a:off x="838200" y="297639"/>
            <a:ext cx="4220210" cy="301303"/>
            <a:chOff x="838200" y="297639"/>
            <a:chExt cx="4220210" cy="301303"/>
          </a:xfrm>
        </p:grpSpPr>
        <p:sp>
          <p:nvSpPr>
            <p:cNvPr id="4" name="AutoShape 9">
              <a:extLst>
                <a:ext uri="{FF2B5EF4-FFF2-40B4-BE49-F238E27FC236}">
                  <a16:creationId xmlns:a16="http://schemas.microsoft.com/office/drawing/2014/main" id="{9DE83D8D-1B12-B005-D6F9-F877368FC984}"/>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4AB64776-CD5B-7136-533F-E1EE5F7FDC4E}"/>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67153A8C-A3E1-1E15-6E43-2454AD72A156}"/>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9CE0B470-A31A-E615-B2EA-85095F3CAD5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1">
                  <a:extLst>
                    <a:ext uri="{FF2B5EF4-FFF2-40B4-BE49-F238E27FC236}">
                      <a16:creationId xmlns:a16="http://schemas.microsoft.com/office/drawing/2014/main" id="{493D6C6B-136B-7A53-A755-FDC6EAAA1AB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0">
                  <a:extLst>
                    <a:ext uri="{FF2B5EF4-FFF2-40B4-BE49-F238E27FC236}">
                      <a16:creationId xmlns:a16="http://schemas.microsoft.com/office/drawing/2014/main" id="{B2C3C970-50BD-CF98-2D8D-94B468200C5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975E25F0-4BF8-9FFA-4527-5C057D240D5F}"/>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WIP</a:t>
                </a:r>
              </a:p>
            </p:txBody>
          </p:sp>
        </p:grpSp>
      </p:grpSp>
    </p:spTree>
    <p:extLst>
      <p:ext uri="{BB962C8B-B14F-4D97-AF65-F5344CB8AC3E}">
        <p14:creationId xmlns:p14="http://schemas.microsoft.com/office/powerpoint/2010/main" val="41496824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Exercise: Standard WIP</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40</a:t>
            </a:fld>
            <a:endParaRPr lang="en-US"/>
          </a:p>
        </p:txBody>
      </p:sp>
      <p:grpSp>
        <p:nvGrpSpPr>
          <p:cNvPr id="3" name="Group 2">
            <a:extLst>
              <a:ext uri="{FF2B5EF4-FFF2-40B4-BE49-F238E27FC236}">
                <a16:creationId xmlns:a16="http://schemas.microsoft.com/office/drawing/2014/main" id="{E59B3CBF-5ABE-A498-69B8-907927981904}"/>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FA2C170-C446-6B5B-AAB0-CE615D97A889}"/>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9C2BB869-711E-EDCF-3E70-9D220EA50D3A}"/>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2610C34F-6578-4FE5-65A3-F08C785B5BBF}"/>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4BAC9EF-B7C5-7987-4E79-A6A74B4DFB2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1">
                  <a:extLst>
                    <a:ext uri="{FF2B5EF4-FFF2-40B4-BE49-F238E27FC236}">
                      <a16:creationId xmlns:a16="http://schemas.microsoft.com/office/drawing/2014/main" id="{A747822C-FF49-93E1-752C-68C5CBA2D38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F7978C6F-E01F-648B-74C4-F93F25FFC58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16C8119E-347B-1271-DC3C-C23ABFB31C8E}"/>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WIP</a:t>
                </a:r>
              </a:p>
            </p:txBody>
          </p:sp>
        </p:grpSp>
      </p:grpSp>
      <p:pic>
        <p:nvPicPr>
          <p:cNvPr id="36" name="Picture 3" descr="SW Example">
            <a:extLst>
              <a:ext uri="{FF2B5EF4-FFF2-40B4-BE49-F238E27FC236}">
                <a16:creationId xmlns:a16="http://schemas.microsoft.com/office/drawing/2014/main" id="{DA0B93F5-8E69-8AAC-438B-D7817C21BD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6480" y="1875949"/>
            <a:ext cx="5670550" cy="423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Rectangle 4">
            <a:extLst>
              <a:ext uri="{FF2B5EF4-FFF2-40B4-BE49-F238E27FC236}">
                <a16:creationId xmlns:a16="http://schemas.microsoft.com/office/drawing/2014/main" id="{99E5E515-8903-C13E-9769-D21E3C03E8AA}"/>
              </a:ext>
            </a:extLst>
          </p:cNvPr>
          <p:cNvSpPr>
            <a:spLocks noChangeArrowheads="1"/>
          </p:cNvSpPr>
          <p:nvPr/>
        </p:nvSpPr>
        <p:spPr bwMode="auto">
          <a:xfrm>
            <a:off x="587394" y="1924174"/>
            <a:ext cx="4228446" cy="1957705"/>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dirty="0">
                <a:latin typeface="Roboto" panose="02000000000000000000" pitchFamily="2" charset="0"/>
                <a:ea typeface="Roboto" panose="02000000000000000000" pitchFamily="2" charset="0"/>
              </a:rPr>
              <a:t>Daily Demand = 7 units</a:t>
            </a:r>
          </a:p>
          <a:p>
            <a:pPr>
              <a:lnSpc>
                <a:spcPct val="80000"/>
              </a:lnSpc>
              <a:spcBef>
                <a:spcPct val="20000"/>
              </a:spcBef>
              <a:spcAft>
                <a:spcPct val="0"/>
              </a:spcAft>
              <a:buClrTx/>
              <a:buSzTx/>
              <a:buFontTx/>
              <a:buNone/>
            </a:pPr>
            <a:r>
              <a:rPr lang="en-US" altLang="en-US" dirty="0">
                <a:latin typeface="Roboto" panose="02000000000000000000" pitchFamily="2" charset="0"/>
                <a:ea typeface="Roboto" panose="02000000000000000000" pitchFamily="2" charset="0"/>
              </a:rPr>
              <a:t>Available Time = 450 min</a:t>
            </a:r>
          </a:p>
          <a:p>
            <a:pPr>
              <a:lnSpc>
                <a:spcPct val="80000"/>
              </a:lnSpc>
              <a:spcBef>
                <a:spcPct val="20000"/>
              </a:spcBef>
              <a:spcAft>
                <a:spcPct val="0"/>
              </a:spcAft>
              <a:buClrTx/>
              <a:buSzTx/>
              <a:buFontTx/>
              <a:buNone/>
            </a:pPr>
            <a:r>
              <a:rPr lang="en-US" altLang="en-US" dirty="0">
                <a:latin typeface="Roboto" panose="02000000000000000000" pitchFamily="2" charset="0"/>
                <a:ea typeface="Roboto" panose="02000000000000000000" pitchFamily="2" charset="0"/>
              </a:rPr>
              <a:t>Potting curing = 21 hours</a:t>
            </a:r>
          </a:p>
          <a:p>
            <a:pPr>
              <a:lnSpc>
                <a:spcPct val="80000"/>
              </a:lnSpc>
              <a:spcBef>
                <a:spcPct val="20000"/>
              </a:spcBef>
              <a:spcAft>
                <a:spcPct val="0"/>
              </a:spcAft>
              <a:buClrTx/>
              <a:buSzTx/>
              <a:buFontTx/>
              <a:buNone/>
            </a:pPr>
            <a:r>
              <a:rPr lang="en-US" altLang="en-US" dirty="0">
                <a:latin typeface="Roboto" panose="02000000000000000000" pitchFamily="2" charset="0"/>
                <a:ea typeface="Roboto" panose="02000000000000000000" pitchFamily="2" charset="0"/>
              </a:rPr>
              <a:t>RTV curing time = 10 hours</a:t>
            </a:r>
          </a:p>
          <a:p>
            <a:pPr>
              <a:lnSpc>
                <a:spcPct val="80000"/>
              </a:lnSpc>
              <a:spcBef>
                <a:spcPct val="20000"/>
              </a:spcBef>
              <a:spcAft>
                <a:spcPct val="0"/>
              </a:spcAft>
              <a:buClrTx/>
              <a:buSzTx/>
              <a:buFontTx/>
              <a:buNone/>
            </a:pPr>
            <a:r>
              <a:rPr lang="en-US" altLang="en-US" dirty="0">
                <a:latin typeface="Roboto" panose="02000000000000000000" pitchFamily="2" charset="0"/>
                <a:ea typeface="Roboto" panose="02000000000000000000" pitchFamily="2" charset="0"/>
              </a:rPr>
              <a:t>LT for Paint = 24 hours</a:t>
            </a:r>
          </a:p>
          <a:p>
            <a:pPr>
              <a:lnSpc>
                <a:spcPct val="80000"/>
              </a:lnSpc>
              <a:spcBef>
                <a:spcPct val="20000"/>
              </a:spcBef>
              <a:spcAft>
                <a:spcPct val="0"/>
              </a:spcAft>
              <a:buClrTx/>
              <a:buSzTx/>
              <a:buFontTx/>
              <a:buNone/>
            </a:pPr>
            <a:r>
              <a:rPr lang="en-US" altLang="en-US" dirty="0">
                <a:latin typeface="Roboto" panose="02000000000000000000" pitchFamily="2" charset="0"/>
                <a:ea typeface="Roboto" panose="02000000000000000000" pitchFamily="2" charset="0"/>
              </a:rPr>
              <a:t>Sum of Operator Cycle Times = 248 min</a:t>
            </a:r>
            <a:endParaRPr lang="en-US" altLang="en-US"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0767908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200" dirty="0"/>
              <a:t>Exercise: Description of Cell Operations, Stations 1-6</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41</a:t>
            </a:fld>
            <a:endParaRPr lang="en-US"/>
          </a:p>
        </p:txBody>
      </p:sp>
      <p:grpSp>
        <p:nvGrpSpPr>
          <p:cNvPr id="3" name="Group 2">
            <a:extLst>
              <a:ext uri="{FF2B5EF4-FFF2-40B4-BE49-F238E27FC236}">
                <a16:creationId xmlns:a16="http://schemas.microsoft.com/office/drawing/2014/main" id="{E59B3CBF-5ABE-A498-69B8-907927981904}"/>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FA2C170-C446-6B5B-AAB0-CE615D97A889}"/>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9C2BB869-711E-EDCF-3E70-9D220EA50D3A}"/>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2610C34F-6578-4FE5-65A3-F08C785B5BBF}"/>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4BAC9EF-B7C5-7987-4E79-A6A74B4DFB2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1">
                  <a:extLst>
                    <a:ext uri="{FF2B5EF4-FFF2-40B4-BE49-F238E27FC236}">
                      <a16:creationId xmlns:a16="http://schemas.microsoft.com/office/drawing/2014/main" id="{A747822C-FF49-93E1-752C-68C5CBA2D38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F7978C6F-E01F-648B-74C4-F93F25FFC58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16C8119E-347B-1271-DC3C-C23ABFB31C8E}"/>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WIP</a:t>
                </a:r>
              </a:p>
            </p:txBody>
          </p:sp>
        </p:grpSp>
      </p:grpSp>
      <p:sp>
        <p:nvSpPr>
          <p:cNvPr id="12" name="Rectangle 13">
            <a:extLst>
              <a:ext uri="{FF2B5EF4-FFF2-40B4-BE49-F238E27FC236}">
                <a16:creationId xmlns:a16="http://schemas.microsoft.com/office/drawing/2014/main" id="{439EDE3F-1D22-C2FF-7604-7A390B509F0E}"/>
              </a:ext>
            </a:extLst>
          </p:cNvPr>
          <p:cNvSpPr txBox="1">
            <a:spLocks noChangeArrowheads="1"/>
          </p:cNvSpPr>
          <p:nvPr/>
        </p:nvSpPr>
        <p:spPr>
          <a:xfrm>
            <a:off x="5325428" y="1900848"/>
            <a:ext cx="5891212" cy="4432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5000"/>
              </a:lnSpc>
            </a:pPr>
            <a:r>
              <a:rPr lang="en-US" altLang="en-US" sz="1800" dirty="0"/>
              <a:t>Station 1: Operator starts with raw material and performs assembly work</a:t>
            </a:r>
          </a:p>
          <a:p>
            <a:pPr>
              <a:lnSpc>
                <a:spcPct val="105000"/>
              </a:lnSpc>
            </a:pPr>
            <a:r>
              <a:rPr lang="en-US" altLang="en-US" sz="1800" dirty="0"/>
              <a:t>Station 2: Operator builds a sub-assembly and inserts it into product</a:t>
            </a:r>
          </a:p>
          <a:p>
            <a:pPr>
              <a:lnSpc>
                <a:spcPct val="105000"/>
              </a:lnSpc>
            </a:pPr>
            <a:r>
              <a:rPr lang="en-US" altLang="en-US" sz="1800" dirty="0"/>
              <a:t>Station 3: Operator builds a sub-assembly and inserts it into product</a:t>
            </a:r>
          </a:p>
          <a:p>
            <a:pPr>
              <a:lnSpc>
                <a:spcPct val="105000"/>
              </a:lnSpc>
            </a:pPr>
            <a:r>
              <a:rPr lang="en-US" altLang="en-US" sz="1800" dirty="0"/>
              <a:t>Station 4: Operator inserts circuit board, adds potting compound and  puts product on carousel, indexing the carousel by one position.</a:t>
            </a:r>
          </a:p>
          <a:p>
            <a:pPr>
              <a:lnSpc>
                <a:spcPct val="105000"/>
              </a:lnSpc>
            </a:pPr>
            <a:r>
              <a:rPr lang="en-US" altLang="en-US" sz="1800" dirty="0"/>
              <a:t>Station 5: Operator removes product from carousel and tests functionality</a:t>
            </a:r>
          </a:p>
          <a:p>
            <a:pPr>
              <a:lnSpc>
                <a:spcPct val="105000"/>
              </a:lnSpc>
            </a:pPr>
            <a:r>
              <a:rPr lang="en-US" altLang="en-US" sz="1800" dirty="0"/>
              <a:t>Station 6: Assembly work</a:t>
            </a:r>
          </a:p>
          <a:p>
            <a:pPr>
              <a:lnSpc>
                <a:spcPct val="105000"/>
              </a:lnSpc>
            </a:pPr>
            <a:endParaRPr lang="en-US" altLang="en-US" sz="1800" dirty="0"/>
          </a:p>
        </p:txBody>
      </p:sp>
      <p:pic>
        <p:nvPicPr>
          <p:cNvPr id="13" name="Picture 15" descr="SW Example">
            <a:extLst>
              <a:ext uri="{FF2B5EF4-FFF2-40B4-BE49-F238E27FC236}">
                <a16:creationId xmlns:a16="http://schemas.microsoft.com/office/drawing/2014/main" id="{155BEA84-D8A7-0AD5-E03B-58166BAC77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0162" t="8887"/>
          <a:stretch>
            <a:fillRect/>
          </a:stretch>
        </p:blipFill>
        <p:spPr bwMode="auto">
          <a:xfrm>
            <a:off x="1898367" y="1782615"/>
            <a:ext cx="2588861" cy="4420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AutoShape 16">
            <a:extLst>
              <a:ext uri="{FF2B5EF4-FFF2-40B4-BE49-F238E27FC236}">
                <a16:creationId xmlns:a16="http://schemas.microsoft.com/office/drawing/2014/main" id="{895BF49A-D8AB-1683-EFCC-D5402AC85A87}"/>
              </a:ext>
            </a:extLst>
          </p:cNvPr>
          <p:cNvSpPr>
            <a:spLocks noChangeArrowheads="1"/>
          </p:cNvSpPr>
          <p:nvPr/>
        </p:nvSpPr>
        <p:spPr bwMode="auto">
          <a:xfrm>
            <a:off x="4763453" y="2999398"/>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Tree>
    <p:extLst>
      <p:ext uri="{BB962C8B-B14F-4D97-AF65-F5344CB8AC3E}">
        <p14:creationId xmlns:p14="http://schemas.microsoft.com/office/powerpoint/2010/main" val="20068678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200" dirty="0"/>
              <a:t>Exercise: Description of Cell Operations, Stations 7-11</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42</a:t>
            </a:fld>
            <a:endParaRPr lang="en-US"/>
          </a:p>
        </p:txBody>
      </p:sp>
      <p:grpSp>
        <p:nvGrpSpPr>
          <p:cNvPr id="3" name="Group 2">
            <a:extLst>
              <a:ext uri="{FF2B5EF4-FFF2-40B4-BE49-F238E27FC236}">
                <a16:creationId xmlns:a16="http://schemas.microsoft.com/office/drawing/2014/main" id="{E59B3CBF-5ABE-A498-69B8-907927981904}"/>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FA2C170-C446-6B5B-AAB0-CE615D97A889}"/>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9C2BB869-711E-EDCF-3E70-9D220EA50D3A}"/>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2610C34F-6578-4FE5-65A3-F08C785B5BBF}"/>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4BAC9EF-B7C5-7987-4E79-A6A74B4DFB2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1">
                  <a:extLst>
                    <a:ext uri="{FF2B5EF4-FFF2-40B4-BE49-F238E27FC236}">
                      <a16:creationId xmlns:a16="http://schemas.microsoft.com/office/drawing/2014/main" id="{A747822C-FF49-93E1-752C-68C5CBA2D38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F7978C6F-E01F-648B-74C4-F93F25FFC58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16C8119E-347B-1271-DC3C-C23ABFB31C8E}"/>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WIP</a:t>
                </a:r>
              </a:p>
            </p:txBody>
          </p:sp>
        </p:grpSp>
      </p:grpSp>
      <p:sp>
        <p:nvSpPr>
          <p:cNvPr id="12" name="Rectangle 13">
            <a:extLst>
              <a:ext uri="{FF2B5EF4-FFF2-40B4-BE49-F238E27FC236}">
                <a16:creationId xmlns:a16="http://schemas.microsoft.com/office/drawing/2014/main" id="{439EDE3F-1D22-C2FF-7604-7A390B509F0E}"/>
              </a:ext>
            </a:extLst>
          </p:cNvPr>
          <p:cNvSpPr txBox="1">
            <a:spLocks noChangeArrowheads="1"/>
          </p:cNvSpPr>
          <p:nvPr/>
        </p:nvSpPr>
        <p:spPr>
          <a:xfrm>
            <a:off x="5325428" y="1900848"/>
            <a:ext cx="5891212" cy="4432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5000"/>
              </a:lnSpc>
            </a:pPr>
            <a:r>
              <a:rPr lang="en-US" altLang="en-US" sz="1800" dirty="0"/>
              <a:t>Station 7: Operator installs an RTV Silicon and hangs the product on the carousel, indexing the carousel by one position.</a:t>
            </a:r>
          </a:p>
          <a:p>
            <a:pPr>
              <a:lnSpc>
                <a:spcPct val="105000"/>
              </a:lnSpc>
            </a:pPr>
            <a:r>
              <a:rPr lang="en-US" altLang="en-US" sz="1800" dirty="0"/>
              <a:t>Station 8: Operator removes product from carousel and does some assembly work</a:t>
            </a:r>
          </a:p>
          <a:p>
            <a:pPr>
              <a:lnSpc>
                <a:spcPct val="105000"/>
              </a:lnSpc>
            </a:pPr>
            <a:r>
              <a:rPr lang="en-US" altLang="en-US" sz="1800" dirty="0"/>
              <a:t>Station 9: Operator does assembly work and puts product on the cart to be painted</a:t>
            </a:r>
          </a:p>
          <a:p>
            <a:pPr>
              <a:lnSpc>
                <a:spcPct val="105000"/>
              </a:lnSpc>
            </a:pPr>
            <a:r>
              <a:rPr lang="en-US" altLang="en-US" sz="1800" dirty="0"/>
              <a:t>Station 10: Operator removes painted product from cart, tests functionality and does some assembly work</a:t>
            </a:r>
          </a:p>
          <a:p>
            <a:pPr>
              <a:lnSpc>
                <a:spcPct val="105000"/>
              </a:lnSpc>
            </a:pPr>
            <a:r>
              <a:rPr lang="en-US" altLang="en-US" sz="1800" dirty="0"/>
              <a:t>Station 11: Operator packages the product and places package on Finished Goods cart</a:t>
            </a:r>
          </a:p>
        </p:txBody>
      </p:sp>
      <p:sp>
        <p:nvSpPr>
          <p:cNvPr id="14" name="AutoShape 16">
            <a:extLst>
              <a:ext uri="{FF2B5EF4-FFF2-40B4-BE49-F238E27FC236}">
                <a16:creationId xmlns:a16="http://schemas.microsoft.com/office/drawing/2014/main" id="{895BF49A-D8AB-1683-EFCC-D5402AC85A87}"/>
              </a:ext>
            </a:extLst>
          </p:cNvPr>
          <p:cNvSpPr>
            <a:spLocks noChangeArrowheads="1"/>
          </p:cNvSpPr>
          <p:nvPr/>
        </p:nvSpPr>
        <p:spPr bwMode="auto">
          <a:xfrm>
            <a:off x="4763453" y="2999398"/>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pic>
        <p:nvPicPr>
          <p:cNvPr id="15" name="Picture 18" descr="SW Example">
            <a:extLst>
              <a:ext uri="{FF2B5EF4-FFF2-40B4-BE49-F238E27FC236}">
                <a16:creationId xmlns:a16="http://schemas.microsoft.com/office/drawing/2014/main" id="{B0596602-B071-870B-8782-20ADF6193E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9418"/>
          <a:stretch>
            <a:fillRect/>
          </a:stretch>
        </p:blipFill>
        <p:spPr bwMode="auto">
          <a:xfrm>
            <a:off x="838200" y="1943101"/>
            <a:ext cx="3435350" cy="423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10234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200" dirty="0"/>
              <a:t>Curtain Quantity Calculation</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43</a:t>
            </a:fld>
            <a:endParaRPr lang="en-US"/>
          </a:p>
        </p:txBody>
      </p:sp>
      <p:grpSp>
        <p:nvGrpSpPr>
          <p:cNvPr id="3" name="Group 2">
            <a:extLst>
              <a:ext uri="{FF2B5EF4-FFF2-40B4-BE49-F238E27FC236}">
                <a16:creationId xmlns:a16="http://schemas.microsoft.com/office/drawing/2014/main" id="{E59B3CBF-5ABE-A498-69B8-907927981904}"/>
              </a:ext>
            </a:extLst>
          </p:cNvPr>
          <p:cNvGrpSpPr/>
          <p:nvPr/>
        </p:nvGrpSpPr>
        <p:grpSpPr>
          <a:xfrm>
            <a:off x="838200" y="297639"/>
            <a:ext cx="4220210" cy="301303"/>
            <a:chOff x="838200" y="297639"/>
            <a:chExt cx="4220210" cy="301303"/>
          </a:xfrm>
        </p:grpSpPr>
        <p:sp>
          <p:nvSpPr>
            <p:cNvPr id="5" name="AutoShape 9">
              <a:extLst>
                <a:ext uri="{FF2B5EF4-FFF2-40B4-BE49-F238E27FC236}">
                  <a16:creationId xmlns:a16="http://schemas.microsoft.com/office/drawing/2014/main" id="{2FA2C170-C446-6B5B-AAB0-CE615D97A889}"/>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9C2BB869-711E-EDCF-3E70-9D220EA50D3A}"/>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2610C34F-6578-4FE5-65A3-F08C785B5BBF}"/>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C4BAC9EF-B7C5-7987-4E79-A6A74B4DFB2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1">
                  <a:extLst>
                    <a:ext uri="{FF2B5EF4-FFF2-40B4-BE49-F238E27FC236}">
                      <a16:creationId xmlns:a16="http://schemas.microsoft.com/office/drawing/2014/main" id="{A747822C-FF49-93E1-752C-68C5CBA2D38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F7978C6F-E01F-648B-74C4-F93F25FFC58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16C8119E-347B-1271-DC3C-C23ABFB31C8E}"/>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WIP</a:t>
                </a:r>
              </a:p>
            </p:txBody>
          </p:sp>
        </p:grpSp>
      </p:grpSp>
      <p:grpSp>
        <p:nvGrpSpPr>
          <p:cNvPr id="38" name="Group 37">
            <a:extLst>
              <a:ext uri="{FF2B5EF4-FFF2-40B4-BE49-F238E27FC236}">
                <a16:creationId xmlns:a16="http://schemas.microsoft.com/office/drawing/2014/main" id="{8B95F24A-9F28-22F2-4926-244FBDC39C2F}"/>
              </a:ext>
            </a:extLst>
          </p:cNvPr>
          <p:cNvGrpSpPr/>
          <p:nvPr/>
        </p:nvGrpSpPr>
        <p:grpSpPr>
          <a:xfrm>
            <a:off x="1966119" y="1782615"/>
            <a:ext cx="8259762" cy="4475162"/>
            <a:chOff x="461963" y="1455738"/>
            <a:chExt cx="8259762" cy="4475162"/>
          </a:xfrm>
        </p:grpSpPr>
        <p:sp>
          <p:nvSpPr>
            <p:cNvPr id="13" name="Rectangle 3">
              <a:extLst>
                <a:ext uri="{FF2B5EF4-FFF2-40B4-BE49-F238E27FC236}">
                  <a16:creationId xmlns:a16="http://schemas.microsoft.com/office/drawing/2014/main" id="{2BB8C533-3D4F-0D58-04D9-FB8355BBEBA5}"/>
                </a:ext>
              </a:extLst>
            </p:cNvPr>
            <p:cNvSpPr>
              <a:spLocks noChangeArrowheads="1"/>
            </p:cNvSpPr>
            <p:nvPr/>
          </p:nvSpPr>
          <p:spPr bwMode="auto">
            <a:xfrm>
              <a:off x="1196975" y="2890838"/>
              <a:ext cx="1908175" cy="568325"/>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Curtain Quantity</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Calculation</a:t>
              </a:r>
            </a:p>
          </p:txBody>
        </p:sp>
        <p:sp>
          <p:nvSpPr>
            <p:cNvPr id="16" name="Rectangle 4">
              <a:extLst>
                <a:ext uri="{FF2B5EF4-FFF2-40B4-BE49-F238E27FC236}">
                  <a16:creationId xmlns:a16="http://schemas.microsoft.com/office/drawing/2014/main" id="{892E8013-662F-BD69-6E2C-EA2A7532F107}"/>
                </a:ext>
              </a:extLst>
            </p:cNvPr>
            <p:cNvSpPr>
              <a:spLocks noChangeArrowheads="1"/>
            </p:cNvSpPr>
            <p:nvPr/>
          </p:nvSpPr>
          <p:spPr bwMode="auto">
            <a:xfrm>
              <a:off x="1196975" y="3913188"/>
              <a:ext cx="1908175" cy="568325"/>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Example</a:t>
              </a:r>
            </a:p>
          </p:txBody>
        </p:sp>
        <p:sp>
          <p:nvSpPr>
            <p:cNvPr id="17" name="Line 5">
              <a:extLst>
                <a:ext uri="{FF2B5EF4-FFF2-40B4-BE49-F238E27FC236}">
                  <a16:creationId xmlns:a16="http://schemas.microsoft.com/office/drawing/2014/main" id="{768A890E-E6BF-BB7E-210E-75D76B03E727}"/>
                </a:ext>
              </a:extLst>
            </p:cNvPr>
            <p:cNvSpPr>
              <a:spLocks noChangeShapeType="1"/>
            </p:cNvSpPr>
            <p:nvPr/>
          </p:nvSpPr>
          <p:spPr bwMode="auto">
            <a:xfrm>
              <a:off x="471488" y="3711575"/>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8" name="Line 6">
              <a:extLst>
                <a:ext uri="{FF2B5EF4-FFF2-40B4-BE49-F238E27FC236}">
                  <a16:creationId xmlns:a16="http://schemas.microsoft.com/office/drawing/2014/main" id="{2CD87387-F543-8E91-2720-A546094D4B8D}"/>
                </a:ext>
              </a:extLst>
            </p:cNvPr>
            <p:cNvSpPr>
              <a:spLocks noChangeShapeType="1"/>
            </p:cNvSpPr>
            <p:nvPr/>
          </p:nvSpPr>
          <p:spPr bwMode="auto">
            <a:xfrm>
              <a:off x="487363" y="5159375"/>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9" name="Rectangle 7">
              <a:extLst>
                <a:ext uri="{FF2B5EF4-FFF2-40B4-BE49-F238E27FC236}">
                  <a16:creationId xmlns:a16="http://schemas.microsoft.com/office/drawing/2014/main" id="{61B84B5D-E2F6-5028-1FE9-905CAC75D6F9}"/>
                </a:ext>
              </a:extLst>
            </p:cNvPr>
            <p:cNvSpPr>
              <a:spLocks noChangeArrowheads="1"/>
            </p:cNvSpPr>
            <p:nvPr/>
          </p:nvSpPr>
          <p:spPr bwMode="auto">
            <a:xfrm>
              <a:off x="3638550" y="2873375"/>
              <a:ext cx="49704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Lead Time of Process</a:t>
              </a:r>
            </a:p>
          </p:txBody>
        </p:sp>
        <p:sp>
          <p:nvSpPr>
            <p:cNvPr id="20" name="Rectangle 8">
              <a:extLst>
                <a:ext uri="{FF2B5EF4-FFF2-40B4-BE49-F238E27FC236}">
                  <a16:creationId xmlns:a16="http://schemas.microsoft.com/office/drawing/2014/main" id="{DAD4E8B6-4DD6-0F79-535C-76EBB8F28040}"/>
                </a:ext>
              </a:extLst>
            </p:cNvPr>
            <p:cNvSpPr>
              <a:spLocks noChangeArrowheads="1"/>
            </p:cNvSpPr>
            <p:nvPr/>
          </p:nvSpPr>
          <p:spPr bwMode="auto">
            <a:xfrm>
              <a:off x="3641725" y="3817938"/>
              <a:ext cx="49815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Total Lead Time = 20 minutes</a:t>
              </a:r>
              <a:endParaRPr lang="en-US" altLang="en-US" sz="1400" b="0">
                <a:latin typeface="Roboto" panose="02000000000000000000" pitchFamily="2" charset="0"/>
                <a:ea typeface="Roboto" panose="02000000000000000000" pitchFamily="2" charset="0"/>
              </a:endParaRPr>
            </a:p>
          </p:txBody>
        </p:sp>
        <p:sp>
          <p:nvSpPr>
            <p:cNvPr id="21" name="Rectangle 9">
              <a:extLst>
                <a:ext uri="{FF2B5EF4-FFF2-40B4-BE49-F238E27FC236}">
                  <a16:creationId xmlns:a16="http://schemas.microsoft.com/office/drawing/2014/main" id="{766E7135-8BA9-6BA4-690E-3E7F3AA842E2}"/>
                </a:ext>
              </a:extLst>
            </p:cNvPr>
            <p:cNvSpPr>
              <a:spLocks noChangeArrowheads="1"/>
            </p:cNvSpPr>
            <p:nvPr/>
          </p:nvSpPr>
          <p:spPr bwMode="auto">
            <a:xfrm>
              <a:off x="3641725" y="4710113"/>
              <a:ext cx="49704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Curtain Quantity = 15.6 or 16 pieces (always round up)</a:t>
              </a:r>
              <a:endParaRPr lang="en-US" altLang="en-US" sz="1400" b="0">
                <a:latin typeface="Roboto" panose="02000000000000000000" pitchFamily="2" charset="0"/>
                <a:ea typeface="Roboto" panose="02000000000000000000" pitchFamily="2" charset="0"/>
              </a:endParaRPr>
            </a:p>
          </p:txBody>
        </p:sp>
        <p:sp>
          <p:nvSpPr>
            <p:cNvPr id="22" name="Line 10">
              <a:extLst>
                <a:ext uri="{FF2B5EF4-FFF2-40B4-BE49-F238E27FC236}">
                  <a16:creationId xmlns:a16="http://schemas.microsoft.com/office/drawing/2014/main" id="{A309260A-F193-DAD2-9E00-2A5EEAEC9505}"/>
                </a:ext>
              </a:extLst>
            </p:cNvPr>
            <p:cNvSpPr>
              <a:spLocks noChangeShapeType="1"/>
            </p:cNvSpPr>
            <p:nvPr/>
          </p:nvSpPr>
          <p:spPr bwMode="auto">
            <a:xfrm flipV="1">
              <a:off x="461963" y="1743075"/>
              <a:ext cx="8250237" cy="158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3" name="Text Box 11">
              <a:extLst>
                <a:ext uri="{FF2B5EF4-FFF2-40B4-BE49-F238E27FC236}">
                  <a16:creationId xmlns:a16="http://schemas.microsoft.com/office/drawing/2014/main" id="{2DDF76BA-9942-F177-A902-79CD0DD42EDB}"/>
                </a:ext>
              </a:extLst>
            </p:cNvPr>
            <p:cNvSpPr txBox="1">
              <a:spLocks noChangeArrowheads="1"/>
            </p:cNvSpPr>
            <p:nvPr/>
          </p:nvSpPr>
          <p:spPr bwMode="auto">
            <a:xfrm>
              <a:off x="513336" y="1455738"/>
              <a:ext cx="4608954" cy="3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Points		           	      Descriptions</a:t>
              </a:r>
            </a:p>
          </p:txBody>
        </p:sp>
        <p:sp>
          <p:nvSpPr>
            <p:cNvPr id="24" name="Oval 12">
              <a:extLst>
                <a:ext uri="{FF2B5EF4-FFF2-40B4-BE49-F238E27FC236}">
                  <a16:creationId xmlns:a16="http://schemas.microsoft.com/office/drawing/2014/main" id="{9F2B65AD-2F91-3112-1810-CCFFA77025F2}"/>
                </a:ext>
              </a:extLst>
            </p:cNvPr>
            <p:cNvSpPr>
              <a:spLocks noChangeArrowheads="1"/>
            </p:cNvSpPr>
            <p:nvPr/>
          </p:nvSpPr>
          <p:spPr bwMode="auto">
            <a:xfrm>
              <a:off x="519113" y="2998788"/>
              <a:ext cx="400050" cy="366712"/>
            </a:xfrm>
            <a:prstGeom prst="ellipse">
              <a:avLst/>
            </a:prstGeom>
            <a:solidFill>
              <a:schemeClr val="accent1"/>
            </a:solidFill>
            <a:ln w="12700" cap="sq">
              <a:no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2</a:t>
              </a:r>
            </a:p>
          </p:txBody>
        </p:sp>
        <p:sp>
          <p:nvSpPr>
            <p:cNvPr id="25" name="Oval 13">
              <a:extLst>
                <a:ext uri="{FF2B5EF4-FFF2-40B4-BE49-F238E27FC236}">
                  <a16:creationId xmlns:a16="http://schemas.microsoft.com/office/drawing/2014/main" id="{7E4680D1-E4D5-EEA9-AEB6-A3E5F868CD49}"/>
                </a:ext>
              </a:extLst>
            </p:cNvPr>
            <p:cNvSpPr>
              <a:spLocks noChangeArrowheads="1"/>
            </p:cNvSpPr>
            <p:nvPr/>
          </p:nvSpPr>
          <p:spPr bwMode="auto">
            <a:xfrm>
              <a:off x="519113" y="3924300"/>
              <a:ext cx="400050" cy="366713"/>
            </a:xfrm>
            <a:prstGeom prst="ellipse">
              <a:avLst/>
            </a:prstGeom>
            <a:solidFill>
              <a:schemeClr val="accent1"/>
            </a:solidFill>
            <a:ln w="12700" cap="sq">
              <a:no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3</a:t>
              </a:r>
            </a:p>
          </p:txBody>
        </p:sp>
        <p:sp>
          <p:nvSpPr>
            <p:cNvPr id="26" name="Text Box 14">
              <a:extLst>
                <a:ext uri="{FF2B5EF4-FFF2-40B4-BE49-F238E27FC236}">
                  <a16:creationId xmlns:a16="http://schemas.microsoft.com/office/drawing/2014/main" id="{CB3D95E6-AB1D-9336-6D9E-1907E57CE31F}"/>
                </a:ext>
              </a:extLst>
            </p:cNvPr>
            <p:cNvSpPr txBox="1">
              <a:spLocks noChangeArrowheads="1"/>
            </p:cNvSpPr>
            <p:nvPr/>
          </p:nvSpPr>
          <p:spPr bwMode="auto">
            <a:xfrm>
              <a:off x="4295775" y="3200400"/>
              <a:ext cx="1114425"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
                  <a:schemeClr val="accent1"/>
                </a:buClr>
                <a:buFontTx/>
                <a:buNone/>
              </a:pPr>
              <a:r>
                <a:rPr lang="en-US" altLang="en-US" sz="1400">
                  <a:latin typeface="Roboto" panose="02000000000000000000" pitchFamily="2" charset="0"/>
                  <a:ea typeface="Roboto" panose="02000000000000000000" pitchFamily="2" charset="0"/>
                </a:rPr>
                <a:t>TAKT Time</a:t>
              </a:r>
            </a:p>
          </p:txBody>
        </p:sp>
        <p:sp>
          <p:nvSpPr>
            <p:cNvPr id="27" name="Line 15">
              <a:extLst>
                <a:ext uri="{FF2B5EF4-FFF2-40B4-BE49-F238E27FC236}">
                  <a16:creationId xmlns:a16="http://schemas.microsoft.com/office/drawing/2014/main" id="{06EF2138-C995-F7E5-C9FE-3CC475438655}"/>
                </a:ext>
              </a:extLst>
            </p:cNvPr>
            <p:cNvSpPr>
              <a:spLocks noChangeShapeType="1"/>
            </p:cNvSpPr>
            <p:nvPr/>
          </p:nvSpPr>
          <p:spPr bwMode="auto">
            <a:xfrm>
              <a:off x="3946525" y="3192463"/>
              <a:ext cx="182880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8" name="Text Box 16">
              <a:extLst>
                <a:ext uri="{FF2B5EF4-FFF2-40B4-BE49-F238E27FC236}">
                  <a16:creationId xmlns:a16="http://schemas.microsoft.com/office/drawing/2014/main" id="{54642CD3-D245-F147-E994-6E30F1109A46}"/>
                </a:ext>
              </a:extLst>
            </p:cNvPr>
            <p:cNvSpPr txBox="1">
              <a:spLocks noChangeArrowheads="1"/>
            </p:cNvSpPr>
            <p:nvPr/>
          </p:nvSpPr>
          <p:spPr bwMode="auto">
            <a:xfrm>
              <a:off x="4387850" y="4124325"/>
              <a:ext cx="2218877"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
                  <a:schemeClr val="accent1"/>
                </a:buClr>
                <a:buFontTx/>
                <a:buNone/>
              </a:pPr>
              <a:r>
                <a:rPr lang="en-US" altLang="en-US" sz="1400">
                  <a:latin typeface="Roboto" panose="02000000000000000000" pitchFamily="2" charset="0"/>
                  <a:ea typeface="Roboto" panose="02000000000000000000" pitchFamily="2" charset="0"/>
                </a:rPr>
                <a:t>TAKT Time = 77 seconds</a:t>
              </a:r>
            </a:p>
          </p:txBody>
        </p:sp>
        <p:sp>
          <p:nvSpPr>
            <p:cNvPr id="29" name="Line 17">
              <a:extLst>
                <a:ext uri="{FF2B5EF4-FFF2-40B4-BE49-F238E27FC236}">
                  <a16:creationId xmlns:a16="http://schemas.microsoft.com/office/drawing/2014/main" id="{C8A0C782-0D3D-2819-1386-7F733C695726}"/>
                </a:ext>
              </a:extLst>
            </p:cNvPr>
            <p:cNvSpPr>
              <a:spLocks noChangeShapeType="1"/>
            </p:cNvSpPr>
            <p:nvPr/>
          </p:nvSpPr>
          <p:spPr bwMode="auto">
            <a:xfrm>
              <a:off x="3970338" y="4116388"/>
              <a:ext cx="3208337"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0" name="Rectangle 18">
              <a:extLst>
                <a:ext uri="{FF2B5EF4-FFF2-40B4-BE49-F238E27FC236}">
                  <a16:creationId xmlns:a16="http://schemas.microsoft.com/office/drawing/2014/main" id="{0B0EC89E-DCF2-2771-C58E-35B1787FD4B9}"/>
                </a:ext>
              </a:extLst>
            </p:cNvPr>
            <p:cNvSpPr>
              <a:spLocks noChangeArrowheads="1"/>
            </p:cNvSpPr>
            <p:nvPr/>
          </p:nvSpPr>
          <p:spPr bwMode="auto">
            <a:xfrm>
              <a:off x="1196975" y="5362575"/>
              <a:ext cx="1908175" cy="568325"/>
            </a:xfrm>
            <a:prstGeom prst="rect">
              <a:avLst/>
            </a:prstGeom>
            <a:solidFill>
              <a:schemeClr val="tx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Important Note</a:t>
              </a:r>
            </a:p>
          </p:txBody>
        </p:sp>
        <p:sp>
          <p:nvSpPr>
            <p:cNvPr id="31" name="Rectangle 20">
              <a:extLst>
                <a:ext uri="{FF2B5EF4-FFF2-40B4-BE49-F238E27FC236}">
                  <a16:creationId xmlns:a16="http://schemas.microsoft.com/office/drawing/2014/main" id="{AB359C5D-A2A3-FF5E-A089-3E699FEF95AB}"/>
                </a:ext>
              </a:extLst>
            </p:cNvPr>
            <p:cNvSpPr>
              <a:spLocks noChangeArrowheads="1"/>
            </p:cNvSpPr>
            <p:nvPr/>
          </p:nvSpPr>
          <p:spPr bwMode="auto">
            <a:xfrm>
              <a:off x="3641725" y="5367338"/>
              <a:ext cx="49704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Curtain Quantity must be doubled if FIFO (first-in first-out) is not possible</a:t>
              </a:r>
              <a:endParaRPr lang="en-US" altLang="en-US" sz="1400" b="0">
                <a:latin typeface="Roboto" panose="02000000000000000000" pitchFamily="2" charset="0"/>
                <a:ea typeface="Roboto" panose="02000000000000000000" pitchFamily="2" charset="0"/>
              </a:endParaRPr>
            </a:p>
          </p:txBody>
        </p:sp>
        <p:sp>
          <p:nvSpPr>
            <p:cNvPr id="32" name="Oval 21">
              <a:extLst>
                <a:ext uri="{FF2B5EF4-FFF2-40B4-BE49-F238E27FC236}">
                  <a16:creationId xmlns:a16="http://schemas.microsoft.com/office/drawing/2014/main" id="{829DCF38-71A7-B119-838C-0528B552062E}"/>
                </a:ext>
              </a:extLst>
            </p:cNvPr>
            <p:cNvSpPr>
              <a:spLocks noChangeArrowheads="1"/>
            </p:cNvSpPr>
            <p:nvPr/>
          </p:nvSpPr>
          <p:spPr bwMode="auto">
            <a:xfrm>
              <a:off x="519113" y="5470525"/>
              <a:ext cx="400050" cy="366713"/>
            </a:xfrm>
            <a:prstGeom prst="ellipse">
              <a:avLst/>
            </a:prstGeom>
            <a:solidFill>
              <a:schemeClr val="accent1"/>
            </a:solidFill>
            <a:ln w="12700" cap="sq">
              <a:no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4</a:t>
              </a:r>
            </a:p>
          </p:txBody>
        </p:sp>
        <p:sp>
          <p:nvSpPr>
            <p:cNvPr id="33" name="Text Box 22">
              <a:extLst>
                <a:ext uri="{FF2B5EF4-FFF2-40B4-BE49-F238E27FC236}">
                  <a16:creationId xmlns:a16="http://schemas.microsoft.com/office/drawing/2014/main" id="{BDC20E93-FCB9-C8D2-3C6E-42966A13473E}"/>
                </a:ext>
              </a:extLst>
            </p:cNvPr>
            <p:cNvSpPr txBox="1">
              <a:spLocks noChangeArrowheads="1"/>
            </p:cNvSpPr>
            <p:nvPr/>
          </p:nvSpPr>
          <p:spPr bwMode="auto">
            <a:xfrm>
              <a:off x="5846763" y="3071813"/>
              <a:ext cx="2170787"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
                  <a:schemeClr val="accent1"/>
                </a:buClr>
                <a:buFontTx/>
                <a:buNone/>
              </a:pPr>
              <a:r>
                <a:rPr lang="en-US" altLang="en-US" sz="1400">
                  <a:latin typeface="Roboto" panose="02000000000000000000" pitchFamily="2" charset="0"/>
                  <a:ea typeface="Roboto" panose="02000000000000000000" pitchFamily="2" charset="0"/>
                </a:rPr>
                <a:t>= # of pieces in a curtain</a:t>
              </a:r>
            </a:p>
          </p:txBody>
        </p:sp>
        <p:sp>
          <p:nvSpPr>
            <p:cNvPr id="34" name="Rectangle 5">
              <a:extLst>
                <a:ext uri="{FF2B5EF4-FFF2-40B4-BE49-F238E27FC236}">
                  <a16:creationId xmlns:a16="http://schemas.microsoft.com/office/drawing/2014/main" id="{04CF2FDD-4952-6204-2C2D-E133F1C7CF90}"/>
                </a:ext>
              </a:extLst>
            </p:cNvPr>
            <p:cNvSpPr>
              <a:spLocks noChangeArrowheads="1"/>
            </p:cNvSpPr>
            <p:nvPr/>
          </p:nvSpPr>
          <p:spPr bwMode="auto">
            <a:xfrm>
              <a:off x="1196975" y="1958975"/>
              <a:ext cx="1908175" cy="568325"/>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
                  <a:srgbClr val="FF0000"/>
                </a:buClr>
                <a:buSzTx/>
                <a:buFontTx/>
                <a:buNone/>
              </a:pPr>
              <a:r>
                <a:rPr lang="en-US" altLang="en-US" sz="1400">
                  <a:latin typeface="Roboto" panose="02000000000000000000" pitchFamily="2" charset="0"/>
                  <a:ea typeface="Roboto" panose="02000000000000000000" pitchFamily="2" charset="0"/>
                </a:rPr>
                <a:t>Curtain Effect</a:t>
              </a:r>
            </a:p>
          </p:txBody>
        </p:sp>
        <p:sp>
          <p:nvSpPr>
            <p:cNvPr id="35" name="Line 8">
              <a:extLst>
                <a:ext uri="{FF2B5EF4-FFF2-40B4-BE49-F238E27FC236}">
                  <a16:creationId xmlns:a16="http://schemas.microsoft.com/office/drawing/2014/main" id="{9B3FA2CD-7F90-FAF9-4B7D-974B98C4F36C}"/>
                </a:ext>
              </a:extLst>
            </p:cNvPr>
            <p:cNvSpPr>
              <a:spLocks noChangeShapeType="1"/>
            </p:cNvSpPr>
            <p:nvPr/>
          </p:nvSpPr>
          <p:spPr bwMode="auto">
            <a:xfrm>
              <a:off x="463550" y="2678113"/>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6" name="Rectangle 11">
              <a:extLst>
                <a:ext uri="{FF2B5EF4-FFF2-40B4-BE49-F238E27FC236}">
                  <a16:creationId xmlns:a16="http://schemas.microsoft.com/office/drawing/2014/main" id="{47E2ED19-F868-5836-B6E1-A8866C6311F2}"/>
                </a:ext>
              </a:extLst>
            </p:cNvPr>
            <p:cNvSpPr>
              <a:spLocks noChangeArrowheads="1"/>
            </p:cNvSpPr>
            <p:nvPr/>
          </p:nvSpPr>
          <p:spPr bwMode="auto">
            <a:xfrm>
              <a:off x="3641725" y="1965325"/>
              <a:ext cx="49704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The result of an outside process needed to facilitate the cell operation</a:t>
              </a:r>
              <a:endParaRPr lang="en-US" altLang="en-US" sz="1400" b="0" dirty="0">
                <a:latin typeface="Roboto" panose="02000000000000000000" pitchFamily="2" charset="0"/>
                <a:ea typeface="Roboto" panose="02000000000000000000" pitchFamily="2" charset="0"/>
              </a:endParaRPr>
            </a:p>
          </p:txBody>
        </p:sp>
        <p:sp>
          <p:nvSpPr>
            <p:cNvPr id="37" name="Oval 16">
              <a:extLst>
                <a:ext uri="{FF2B5EF4-FFF2-40B4-BE49-F238E27FC236}">
                  <a16:creationId xmlns:a16="http://schemas.microsoft.com/office/drawing/2014/main" id="{30DC0369-56ED-AEF6-468C-AF4C6243718C}"/>
                </a:ext>
              </a:extLst>
            </p:cNvPr>
            <p:cNvSpPr>
              <a:spLocks noChangeArrowheads="1"/>
            </p:cNvSpPr>
            <p:nvPr/>
          </p:nvSpPr>
          <p:spPr bwMode="auto">
            <a:xfrm>
              <a:off x="519113" y="2070100"/>
              <a:ext cx="400050" cy="366713"/>
            </a:xfrm>
            <a:prstGeom prst="ellipse">
              <a:avLst/>
            </a:prstGeom>
            <a:solidFill>
              <a:schemeClr val="accent1"/>
            </a:solidFill>
            <a:ln w="12700" cap="sq">
              <a:no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
                  <a:srgbClr val="FF0000"/>
                </a:buClr>
                <a:buSzTx/>
                <a:buFontTx/>
                <a:buNone/>
              </a:pPr>
              <a:r>
                <a:rPr lang="en-US" altLang="en-US" sz="1400">
                  <a:solidFill>
                    <a:schemeClr val="bg1"/>
                  </a:solidFill>
                  <a:latin typeface="Roboto" panose="02000000000000000000" pitchFamily="2" charset="0"/>
                  <a:ea typeface="Roboto" panose="02000000000000000000" pitchFamily="2" charset="0"/>
                </a:rPr>
                <a:t>1</a:t>
              </a:r>
            </a:p>
          </p:txBody>
        </p:sp>
      </p:grpSp>
    </p:spTree>
    <p:extLst>
      <p:ext uri="{BB962C8B-B14F-4D97-AF65-F5344CB8AC3E}">
        <p14:creationId xmlns:p14="http://schemas.microsoft.com/office/powerpoint/2010/main" val="22027624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BDFBA-79BC-6CFF-4B13-3CE812C650FA}"/>
              </a:ext>
            </a:extLst>
          </p:cNvPr>
          <p:cNvSpPr>
            <a:spLocks noGrp="1"/>
          </p:cNvSpPr>
          <p:nvPr>
            <p:ph type="title"/>
          </p:nvPr>
        </p:nvSpPr>
        <p:spPr/>
        <p:txBody>
          <a:bodyPr/>
          <a:lstStyle/>
          <a:p>
            <a:r>
              <a:rPr lang="en-US" dirty="0"/>
              <a:t>Standard WIP with Curtain Effect</a:t>
            </a:r>
          </a:p>
        </p:txBody>
      </p:sp>
      <p:sp>
        <p:nvSpPr>
          <p:cNvPr id="3" name="Text Placeholder 2">
            <a:extLst>
              <a:ext uri="{FF2B5EF4-FFF2-40B4-BE49-F238E27FC236}">
                <a16:creationId xmlns:a16="http://schemas.microsoft.com/office/drawing/2014/main" id="{AADAE67F-C5B4-CEDE-1300-67EB5813E19D}"/>
              </a:ext>
            </a:extLst>
          </p:cNvPr>
          <p:cNvSpPr>
            <a:spLocks noGrp="1"/>
          </p:cNvSpPr>
          <p:nvPr>
            <p:ph type="body" idx="1"/>
          </p:nvPr>
        </p:nvSpPr>
        <p:spPr/>
        <p:txBody>
          <a:bodyPr/>
          <a:lstStyle/>
          <a:p>
            <a:r>
              <a:rPr lang="en-US" dirty="0"/>
              <a:t>Standard WIP</a:t>
            </a:r>
          </a:p>
        </p:txBody>
      </p:sp>
      <p:sp>
        <p:nvSpPr>
          <p:cNvPr id="4" name="Content Placeholder 3">
            <a:extLst>
              <a:ext uri="{FF2B5EF4-FFF2-40B4-BE49-F238E27FC236}">
                <a16:creationId xmlns:a16="http://schemas.microsoft.com/office/drawing/2014/main" id="{035C1125-D7EA-7CCB-64F2-3EF2905966F6}"/>
              </a:ext>
            </a:extLst>
          </p:cNvPr>
          <p:cNvSpPr>
            <a:spLocks noGrp="1"/>
          </p:cNvSpPr>
          <p:nvPr>
            <p:ph sz="half" idx="2"/>
          </p:nvPr>
        </p:nvSpPr>
        <p:spPr/>
        <p:txBody>
          <a:bodyPr>
            <a:normAutofit/>
          </a:bodyPr>
          <a:lstStyle/>
          <a:p>
            <a:r>
              <a:rPr lang="en-US" sz="1600" dirty="0"/>
              <a:t>Machine #1 (Single Spindle)</a:t>
            </a:r>
          </a:p>
          <a:p>
            <a:r>
              <a:rPr lang="en-US" sz="1600" dirty="0"/>
              <a:t>Machine #2 (Multi-station Machine)</a:t>
            </a:r>
          </a:p>
          <a:p>
            <a:r>
              <a:rPr lang="en-US" sz="1600" dirty="0"/>
              <a:t>Machine #3 (Single Spindle with no Standard WIP)</a:t>
            </a:r>
          </a:p>
          <a:p>
            <a:endParaRPr lang="en-US" sz="1600" dirty="0"/>
          </a:p>
        </p:txBody>
      </p:sp>
      <p:sp>
        <p:nvSpPr>
          <p:cNvPr id="5" name="Text Placeholder 4">
            <a:extLst>
              <a:ext uri="{FF2B5EF4-FFF2-40B4-BE49-F238E27FC236}">
                <a16:creationId xmlns:a16="http://schemas.microsoft.com/office/drawing/2014/main" id="{A5778426-9F30-E717-962D-FBF10568DC99}"/>
              </a:ext>
            </a:extLst>
          </p:cNvPr>
          <p:cNvSpPr>
            <a:spLocks noGrp="1"/>
          </p:cNvSpPr>
          <p:nvPr>
            <p:ph type="body" sz="quarter" idx="3"/>
          </p:nvPr>
        </p:nvSpPr>
        <p:spPr/>
        <p:txBody>
          <a:bodyPr/>
          <a:lstStyle/>
          <a:p>
            <a:r>
              <a:rPr lang="en-US" dirty="0"/>
              <a:t>Standard WIP w/Curtain Effect</a:t>
            </a:r>
          </a:p>
        </p:txBody>
      </p:sp>
      <p:sp>
        <p:nvSpPr>
          <p:cNvPr id="6" name="Content Placeholder 5">
            <a:extLst>
              <a:ext uri="{FF2B5EF4-FFF2-40B4-BE49-F238E27FC236}">
                <a16:creationId xmlns:a16="http://schemas.microsoft.com/office/drawing/2014/main" id="{76852FC8-9902-75CC-5349-DB691E58A78A}"/>
              </a:ext>
            </a:extLst>
          </p:cNvPr>
          <p:cNvSpPr>
            <a:spLocks noGrp="1"/>
          </p:cNvSpPr>
          <p:nvPr>
            <p:ph sz="quarter" idx="4"/>
          </p:nvPr>
        </p:nvSpPr>
        <p:spPr/>
        <p:txBody>
          <a:bodyPr>
            <a:normAutofit/>
          </a:bodyPr>
          <a:lstStyle/>
          <a:p>
            <a:r>
              <a:rPr lang="en-US" sz="1600" dirty="0"/>
              <a:t>Machine #1 (Single Spindle)</a:t>
            </a:r>
          </a:p>
          <a:p>
            <a:r>
              <a:rPr lang="en-US" sz="1600" dirty="0"/>
              <a:t>Machine #2 (Monument)</a:t>
            </a:r>
          </a:p>
          <a:p>
            <a:r>
              <a:rPr lang="en-US" sz="1600" dirty="0"/>
              <a:t>Machine #3 (Multi-station Machine)</a:t>
            </a:r>
          </a:p>
          <a:p>
            <a:endParaRPr lang="en-US" sz="1600" dirty="0"/>
          </a:p>
        </p:txBody>
      </p:sp>
      <p:grpSp>
        <p:nvGrpSpPr>
          <p:cNvPr id="7" name="Group 6">
            <a:extLst>
              <a:ext uri="{FF2B5EF4-FFF2-40B4-BE49-F238E27FC236}">
                <a16:creationId xmlns:a16="http://schemas.microsoft.com/office/drawing/2014/main" id="{41340D52-4F89-C71D-AAE6-1121AE002062}"/>
              </a:ext>
            </a:extLst>
          </p:cNvPr>
          <p:cNvGrpSpPr/>
          <p:nvPr/>
        </p:nvGrpSpPr>
        <p:grpSpPr>
          <a:xfrm>
            <a:off x="838200" y="297639"/>
            <a:ext cx="4220210" cy="301303"/>
            <a:chOff x="838200" y="297639"/>
            <a:chExt cx="4220210" cy="301303"/>
          </a:xfrm>
        </p:grpSpPr>
        <p:sp>
          <p:nvSpPr>
            <p:cNvPr id="8" name="AutoShape 9">
              <a:extLst>
                <a:ext uri="{FF2B5EF4-FFF2-40B4-BE49-F238E27FC236}">
                  <a16:creationId xmlns:a16="http://schemas.microsoft.com/office/drawing/2014/main" id="{1009E88D-46EF-A5C7-F6A8-C832E0CCBEDE}"/>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8C4FB605-B576-C5E7-AED9-BCDDE085D0BB}"/>
                </a:ext>
              </a:extLst>
            </p:cNvPr>
            <p:cNvGrpSpPr/>
            <p:nvPr/>
          </p:nvGrpSpPr>
          <p:grpSpPr>
            <a:xfrm>
              <a:off x="838200" y="297639"/>
              <a:ext cx="4220210" cy="301303"/>
              <a:chOff x="838200" y="297639"/>
              <a:chExt cx="4220210" cy="301303"/>
            </a:xfrm>
          </p:grpSpPr>
          <p:grpSp>
            <p:nvGrpSpPr>
              <p:cNvPr id="10" name="Group 9">
                <a:extLst>
                  <a:ext uri="{FF2B5EF4-FFF2-40B4-BE49-F238E27FC236}">
                    <a16:creationId xmlns:a16="http://schemas.microsoft.com/office/drawing/2014/main" id="{17C699C7-6CE2-4C66-CFA6-D37BC1B60B91}"/>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40BCE624-63BA-E350-DF51-248B1C842E4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268B3D6B-E69C-37BF-3B5B-BCE6BD9DD8A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64BCFC63-BF8B-DE9E-1018-0F875A785A5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1" name="TextBox 10">
                <a:extLst>
                  <a:ext uri="{FF2B5EF4-FFF2-40B4-BE49-F238E27FC236}">
                    <a16:creationId xmlns:a16="http://schemas.microsoft.com/office/drawing/2014/main" id="{B98AB4F5-BE96-DFEF-8E4F-4369C5AE811E}"/>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WIP</a:t>
                </a:r>
              </a:p>
            </p:txBody>
          </p:sp>
        </p:grpSp>
      </p:grpSp>
      <p:grpSp>
        <p:nvGrpSpPr>
          <p:cNvPr id="17" name="Group 16">
            <a:extLst>
              <a:ext uri="{FF2B5EF4-FFF2-40B4-BE49-F238E27FC236}">
                <a16:creationId xmlns:a16="http://schemas.microsoft.com/office/drawing/2014/main" id="{7464B6BD-0604-97E8-EC57-EE25394141D7}"/>
              </a:ext>
            </a:extLst>
          </p:cNvPr>
          <p:cNvGrpSpPr/>
          <p:nvPr/>
        </p:nvGrpSpPr>
        <p:grpSpPr>
          <a:xfrm>
            <a:off x="1227361" y="3579814"/>
            <a:ext cx="3976688" cy="2536825"/>
            <a:chOff x="2644775" y="2030413"/>
            <a:chExt cx="3976688" cy="2536825"/>
          </a:xfrm>
        </p:grpSpPr>
        <p:sp>
          <p:nvSpPr>
            <p:cNvPr id="20" name="Rectangle 4">
              <a:extLst>
                <a:ext uri="{FF2B5EF4-FFF2-40B4-BE49-F238E27FC236}">
                  <a16:creationId xmlns:a16="http://schemas.microsoft.com/office/drawing/2014/main" id="{058C3D67-2F76-E993-4DBE-0FB80610C4FA}"/>
                </a:ext>
              </a:extLst>
            </p:cNvPr>
            <p:cNvSpPr>
              <a:spLocks noChangeArrowheads="1"/>
            </p:cNvSpPr>
            <p:nvPr/>
          </p:nvSpPr>
          <p:spPr bwMode="auto">
            <a:xfrm>
              <a:off x="2644775" y="2030413"/>
              <a:ext cx="3976688" cy="2536825"/>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1" name="Rectangle 11">
              <a:extLst>
                <a:ext uri="{FF2B5EF4-FFF2-40B4-BE49-F238E27FC236}">
                  <a16:creationId xmlns:a16="http://schemas.microsoft.com/office/drawing/2014/main" id="{A1A893B6-25D2-0C6C-97C7-28A25489F26F}"/>
                </a:ext>
              </a:extLst>
            </p:cNvPr>
            <p:cNvSpPr>
              <a:spLocks noChangeArrowheads="1"/>
            </p:cNvSpPr>
            <p:nvPr/>
          </p:nvSpPr>
          <p:spPr bwMode="auto">
            <a:xfrm>
              <a:off x="3632200" y="4189413"/>
              <a:ext cx="1851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Standard WIP = 9</a:t>
              </a:r>
            </a:p>
          </p:txBody>
        </p:sp>
        <p:sp>
          <p:nvSpPr>
            <p:cNvPr id="22" name="Oval 13">
              <a:extLst>
                <a:ext uri="{FF2B5EF4-FFF2-40B4-BE49-F238E27FC236}">
                  <a16:creationId xmlns:a16="http://schemas.microsoft.com/office/drawing/2014/main" id="{C2023403-D2B8-F77E-3B0B-2F03DF27CCC4}"/>
                </a:ext>
              </a:extLst>
            </p:cNvPr>
            <p:cNvSpPr>
              <a:spLocks noChangeArrowheads="1"/>
            </p:cNvSpPr>
            <p:nvPr/>
          </p:nvSpPr>
          <p:spPr bwMode="auto">
            <a:xfrm>
              <a:off x="3578225" y="3636963"/>
              <a:ext cx="530225" cy="547687"/>
            </a:xfrm>
            <a:prstGeom prst="ellipse">
              <a:avLst/>
            </a:prstGeom>
            <a:solidFill>
              <a:schemeClr val="accent5"/>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3" name="Rectangle 14">
              <a:extLst>
                <a:ext uri="{FF2B5EF4-FFF2-40B4-BE49-F238E27FC236}">
                  <a16:creationId xmlns:a16="http://schemas.microsoft.com/office/drawing/2014/main" id="{DC25095D-24C9-7FF5-2D4E-C3D4F7365FEF}"/>
                </a:ext>
              </a:extLst>
            </p:cNvPr>
            <p:cNvSpPr>
              <a:spLocks noChangeArrowheads="1"/>
            </p:cNvSpPr>
            <p:nvPr/>
          </p:nvSpPr>
          <p:spPr bwMode="auto">
            <a:xfrm>
              <a:off x="3576253" y="3696970"/>
              <a:ext cx="532197"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200" dirty="0">
                  <a:solidFill>
                    <a:schemeClr val="bg1"/>
                  </a:solidFill>
                  <a:latin typeface="Roboto" panose="02000000000000000000" pitchFamily="2" charset="0"/>
                  <a:ea typeface="Roboto" panose="02000000000000000000" pitchFamily="2" charset="0"/>
                </a:rPr>
                <a:t>FG</a:t>
              </a:r>
            </a:p>
          </p:txBody>
        </p:sp>
        <p:sp>
          <p:nvSpPr>
            <p:cNvPr id="24" name="Rectangle 15">
              <a:extLst>
                <a:ext uri="{FF2B5EF4-FFF2-40B4-BE49-F238E27FC236}">
                  <a16:creationId xmlns:a16="http://schemas.microsoft.com/office/drawing/2014/main" id="{58F8928A-0696-AFF2-015F-83D52B1CF7C3}"/>
                </a:ext>
              </a:extLst>
            </p:cNvPr>
            <p:cNvSpPr>
              <a:spLocks noChangeArrowheads="1"/>
            </p:cNvSpPr>
            <p:nvPr/>
          </p:nvSpPr>
          <p:spPr bwMode="auto">
            <a:xfrm>
              <a:off x="5056188" y="3636963"/>
              <a:ext cx="515937" cy="514350"/>
            </a:xfrm>
            <a:prstGeom prst="rect">
              <a:avLst/>
            </a:prstGeom>
            <a:solidFill>
              <a:schemeClr val="accent5"/>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 name="Rectangle 16">
              <a:extLst>
                <a:ext uri="{FF2B5EF4-FFF2-40B4-BE49-F238E27FC236}">
                  <a16:creationId xmlns:a16="http://schemas.microsoft.com/office/drawing/2014/main" id="{4F436D55-605C-E89B-CECB-6B211B8D51A0}"/>
                </a:ext>
              </a:extLst>
            </p:cNvPr>
            <p:cNvSpPr>
              <a:spLocks noChangeArrowheads="1"/>
            </p:cNvSpPr>
            <p:nvPr/>
          </p:nvSpPr>
          <p:spPr bwMode="auto">
            <a:xfrm>
              <a:off x="5023064" y="3684588"/>
              <a:ext cx="612347"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200">
                  <a:solidFill>
                    <a:schemeClr val="bg1"/>
                  </a:solidFill>
                  <a:latin typeface="Roboto" panose="02000000000000000000" pitchFamily="2" charset="0"/>
                  <a:ea typeface="Roboto" panose="02000000000000000000" pitchFamily="2" charset="0"/>
                </a:rPr>
                <a:t>RM</a:t>
              </a:r>
            </a:p>
          </p:txBody>
        </p:sp>
        <p:sp>
          <p:nvSpPr>
            <p:cNvPr id="26" name="Rectangle 17">
              <a:extLst>
                <a:ext uri="{FF2B5EF4-FFF2-40B4-BE49-F238E27FC236}">
                  <a16:creationId xmlns:a16="http://schemas.microsoft.com/office/drawing/2014/main" id="{FB0B0C1D-7C9F-EE70-433E-28CF4C7A96D7}"/>
                </a:ext>
              </a:extLst>
            </p:cNvPr>
            <p:cNvSpPr>
              <a:spLocks noChangeArrowheads="1"/>
            </p:cNvSpPr>
            <p:nvPr/>
          </p:nvSpPr>
          <p:spPr bwMode="auto">
            <a:xfrm>
              <a:off x="3298825" y="2789238"/>
              <a:ext cx="809625" cy="804862"/>
            </a:xfrm>
            <a:prstGeom prst="rect">
              <a:avLst/>
            </a:prstGeom>
            <a:solidFill>
              <a:schemeClr val="accent5"/>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7" name="Rectangle 18">
              <a:extLst>
                <a:ext uri="{FF2B5EF4-FFF2-40B4-BE49-F238E27FC236}">
                  <a16:creationId xmlns:a16="http://schemas.microsoft.com/office/drawing/2014/main" id="{8F656405-FC5F-1316-4D13-3B6790DAD564}"/>
                </a:ext>
              </a:extLst>
            </p:cNvPr>
            <p:cNvSpPr>
              <a:spLocks noChangeArrowheads="1"/>
            </p:cNvSpPr>
            <p:nvPr/>
          </p:nvSpPr>
          <p:spPr bwMode="auto">
            <a:xfrm>
              <a:off x="5019675" y="2781300"/>
              <a:ext cx="823913" cy="804863"/>
            </a:xfrm>
            <a:prstGeom prst="rect">
              <a:avLst/>
            </a:prstGeom>
            <a:solidFill>
              <a:schemeClr val="accent5"/>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8" name="Rectangle 19">
              <a:extLst>
                <a:ext uri="{FF2B5EF4-FFF2-40B4-BE49-F238E27FC236}">
                  <a16:creationId xmlns:a16="http://schemas.microsoft.com/office/drawing/2014/main" id="{C0BC78AD-D8DA-17E8-3187-0F1B6B78C65F}"/>
                </a:ext>
              </a:extLst>
            </p:cNvPr>
            <p:cNvSpPr>
              <a:spLocks noChangeArrowheads="1"/>
            </p:cNvSpPr>
            <p:nvPr/>
          </p:nvSpPr>
          <p:spPr bwMode="auto">
            <a:xfrm>
              <a:off x="3532925" y="2989263"/>
              <a:ext cx="339838"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100">
                  <a:solidFill>
                    <a:schemeClr val="bg1"/>
                  </a:solidFill>
                  <a:latin typeface="Roboto" panose="02000000000000000000" pitchFamily="2" charset="0"/>
                  <a:ea typeface="Roboto" panose="02000000000000000000" pitchFamily="2" charset="0"/>
                </a:rPr>
                <a:t>3</a:t>
              </a:r>
            </a:p>
          </p:txBody>
        </p:sp>
        <p:sp>
          <p:nvSpPr>
            <p:cNvPr id="29" name="Rectangle 20">
              <a:extLst>
                <a:ext uri="{FF2B5EF4-FFF2-40B4-BE49-F238E27FC236}">
                  <a16:creationId xmlns:a16="http://schemas.microsoft.com/office/drawing/2014/main" id="{8F9E0BAB-5218-9D94-C571-3DFFB32F6109}"/>
                </a:ext>
              </a:extLst>
            </p:cNvPr>
            <p:cNvSpPr>
              <a:spLocks noChangeArrowheads="1"/>
            </p:cNvSpPr>
            <p:nvPr/>
          </p:nvSpPr>
          <p:spPr bwMode="auto">
            <a:xfrm>
              <a:off x="5122013" y="2857500"/>
              <a:ext cx="339837"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100">
                  <a:solidFill>
                    <a:schemeClr val="bg1"/>
                  </a:solidFill>
                  <a:latin typeface="Roboto" panose="02000000000000000000" pitchFamily="2" charset="0"/>
                  <a:ea typeface="Roboto" panose="02000000000000000000" pitchFamily="2" charset="0"/>
                </a:rPr>
                <a:t>1</a:t>
              </a:r>
            </a:p>
          </p:txBody>
        </p:sp>
        <p:sp>
          <p:nvSpPr>
            <p:cNvPr id="30" name="Oval 21" descr="Wide downward diagonal">
              <a:extLst>
                <a:ext uri="{FF2B5EF4-FFF2-40B4-BE49-F238E27FC236}">
                  <a16:creationId xmlns:a16="http://schemas.microsoft.com/office/drawing/2014/main" id="{BA5318B4-79AC-39A6-9B9C-6B4B4F956469}"/>
                </a:ext>
              </a:extLst>
            </p:cNvPr>
            <p:cNvSpPr>
              <a:spLocks noChangeArrowheads="1"/>
            </p:cNvSpPr>
            <p:nvPr/>
          </p:nvSpPr>
          <p:spPr bwMode="auto">
            <a:xfrm>
              <a:off x="5453063" y="3206750"/>
              <a:ext cx="373062" cy="355600"/>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 name="Oval 22">
              <a:extLst>
                <a:ext uri="{FF2B5EF4-FFF2-40B4-BE49-F238E27FC236}">
                  <a16:creationId xmlns:a16="http://schemas.microsoft.com/office/drawing/2014/main" id="{077531F3-1143-FFAB-AA85-37BE20D62BE5}"/>
                </a:ext>
              </a:extLst>
            </p:cNvPr>
            <p:cNvSpPr>
              <a:spLocks noChangeArrowheads="1"/>
            </p:cNvSpPr>
            <p:nvPr/>
          </p:nvSpPr>
          <p:spPr bwMode="auto">
            <a:xfrm>
              <a:off x="4086225" y="2176463"/>
              <a:ext cx="949325" cy="903287"/>
            </a:xfrm>
            <a:prstGeom prst="ellipse">
              <a:avLst/>
            </a:prstGeom>
            <a:solidFill>
              <a:schemeClr val="accent5"/>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 name="Rectangle 23">
              <a:extLst>
                <a:ext uri="{FF2B5EF4-FFF2-40B4-BE49-F238E27FC236}">
                  <a16:creationId xmlns:a16="http://schemas.microsoft.com/office/drawing/2014/main" id="{C726E271-3492-D004-6452-5A221670BC52}"/>
                </a:ext>
              </a:extLst>
            </p:cNvPr>
            <p:cNvSpPr>
              <a:spLocks noChangeArrowheads="1"/>
            </p:cNvSpPr>
            <p:nvPr/>
          </p:nvSpPr>
          <p:spPr bwMode="auto">
            <a:xfrm>
              <a:off x="4391763" y="2414588"/>
              <a:ext cx="339837"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100" dirty="0">
                  <a:solidFill>
                    <a:schemeClr val="bg1"/>
                  </a:solidFill>
                  <a:latin typeface="Roboto" panose="02000000000000000000" pitchFamily="2" charset="0"/>
                  <a:ea typeface="Roboto" panose="02000000000000000000" pitchFamily="2" charset="0"/>
                </a:rPr>
                <a:t>2</a:t>
              </a:r>
            </a:p>
          </p:txBody>
        </p:sp>
        <p:sp>
          <p:nvSpPr>
            <p:cNvPr id="33" name="Oval 24" descr="Wide downward diagonal">
              <a:extLst>
                <a:ext uri="{FF2B5EF4-FFF2-40B4-BE49-F238E27FC236}">
                  <a16:creationId xmlns:a16="http://schemas.microsoft.com/office/drawing/2014/main" id="{21D42FBF-3A19-14B3-FD8F-06FCD7D24796}"/>
                </a:ext>
              </a:extLst>
            </p:cNvPr>
            <p:cNvSpPr>
              <a:spLocks noChangeArrowheads="1"/>
            </p:cNvSpPr>
            <p:nvPr/>
          </p:nvSpPr>
          <p:spPr bwMode="auto">
            <a:xfrm>
              <a:off x="4486275" y="2214563"/>
              <a:ext cx="180975" cy="182562"/>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4" name="Oval 25" descr="Wide downward diagonal">
              <a:extLst>
                <a:ext uri="{FF2B5EF4-FFF2-40B4-BE49-F238E27FC236}">
                  <a16:creationId xmlns:a16="http://schemas.microsoft.com/office/drawing/2014/main" id="{268FF421-6296-835A-3011-7088B0E2DA7A}"/>
                </a:ext>
              </a:extLst>
            </p:cNvPr>
            <p:cNvSpPr>
              <a:spLocks noChangeArrowheads="1"/>
            </p:cNvSpPr>
            <p:nvPr/>
          </p:nvSpPr>
          <p:spPr bwMode="auto">
            <a:xfrm>
              <a:off x="4725988" y="2293938"/>
              <a:ext cx="180975" cy="182562"/>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5" name="Oval 26" descr="Wide downward diagonal">
              <a:extLst>
                <a:ext uri="{FF2B5EF4-FFF2-40B4-BE49-F238E27FC236}">
                  <a16:creationId xmlns:a16="http://schemas.microsoft.com/office/drawing/2014/main" id="{F861A32D-711B-24CC-AD77-7D08CA17B9D0}"/>
                </a:ext>
              </a:extLst>
            </p:cNvPr>
            <p:cNvSpPr>
              <a:spLocks noChangeArrowheads="1"/>
            </p:cNvSpPr>
            <p:nvPr/>
          </p:nvSpPr>
          <p:spPr bwMode="auto">
            <a:xfrm>
              <a:off x="4813300" y="2525713"/>
              <a:ext cx="180975" cy="182562"/>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6" name="Oval 27" descr="Wide downward diagonal">
              <a:extLst>
                <a:ext uri="{FF2B5EF4-FFF2-40B4-BE49-F238E27FC236}">
                  <a16:creationId xmlns:a16="http://schemas.microsoft.com/office/drawing/2014/main" id="{FFCF9A54-9CCA-E47E-4047-8FAACD7457C0}"/>
                </a:ext>
              </a:extLst>
            </p:cNvPr>
            <p:cNvSpPr>
              <a:spLocks noChangeArrowheads="1"/>
            </p:cNvSpPr>
            <p:nvPr/>
          </p:nvSpPr>
          <p:spPr bwMode="auto">
            <a:xfrm>
              <a:off x="4754563" y="2743200"/>
              <a:ext cx="180975" cy="182563"/>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7" name="Oval 28" descr="Wide downward diagonal">
              <a:extLst>
                <a:ext uri="{FF2B5EF4-FFF2-40B4-BE49-F238E27FC236}">
                  <a16:creationId xmlns:a16="http://schemas.microsoft.com/office/drawing/2014/main" id="{AD670C26-45F7-0A6E-F230-844FEC477CBF}"/>
                </a:ext>
              </a:extLst>
            </p:cNvPr>
            <p:cNvSpPr>
              <a:spLocks noChangeArrowheads="1"/>
            </p:cNvSpPr>
            <p:nvPr/>
          </p:nvSpPr>
          <p:spPr bwMode="auto">
            <a:xfrm>
              <a:off x="4508500" y="2844800"/>
              <a:ext cx="180975" cy="182563"/>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8" name="Oval 29" descr="Wide downward diagonal">
              <a:extLst>
                <a:ext uri="{FF2B5EF4-FFF2-40B4-BE49-F238E27FC236}">
                  <a16:creationId xmlns:a16="http://schemas.microsoft.com/office/drawing/2014/main" id="{9651DF92-E10A-8F2B-8DAE-A005DCC2212F}"/>
                </a:ext>
              </a:extLst>
            </p:cNvPr>
            <p:cNvSpPr>
              <a:spLocks noChangeArrowheads="1"/>
            </p:cNvSpPr>
            <p:nvPr/>
          </p:nvSpPr>
          <p:spPr bwMode="auto">
            <a:xfrm>
              <a:off x="4260850" y="2817813"/>
              <a:ext cx="180975" cy="182562"/>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9" name="Oval 30" descr="Wide downward diagonal">
              <a:extLst>
                <a:ext uri="{FF2B5EF4-FFF2-40B4-BE49-F238E27FC236}">
                  <a16:creationId xmlns:a16="http://schemas.microsoft.com/office/drawing/2014/main" id="{DF615EDF-DF7F-8413-0B49-04371D0CED99}"/>
                </a:ext>
              </a:extLst>
            </p:cNvPr>
            <p:cNvSpPr>
              <a:spLocks noChangeArrowheads="1"/>
            </p:cNvSpPr>
            <p:nvPr/>
          </p:nvSpPr>
          <p:spPr bwMode="auto">
            <a:xfrm>
              <a:off x="4159250" y="2570163"/>
              <a:ext cx="180975" cy="182562"/>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0" name="Oval 31" descr="Wide downward diagonal">
              <a:extLst>
                <a:ext uri="{FF2B5EF4-FFF2-40B4-BE49-F238E27FC236}">
                  <a16:creationId xmlns:a16="http://schemas.microsoft.com/office/drawing/2014/main" id="{0BD442BA-135C-EEC9-780A-FA884C8350C7}"/>
                </a:ext>
              </a:extLst>
            </p:cNvPr>
            <p:cNvSpPr>
              <a:spLocks noChangeArrowheads="1"/>
            </p:cNvSpPr>
            <p:nvPr/>
          </p:nvSpPr>
          <p:spPr bwMode="auto">
            <a:xfrm>
              <a:off x="4232275" y="2308225"/>
              <a:ext cx="180975" cy="182563"/>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75" name="Group 74">
            <a:extLst>
              <a:ext uri="{FF2B5EF4-FFF2-40B4-BE49-F238E27FC236}">
                <a16:creationId xmlns:a16="http://schemas.microsoft.com/office/drawing/2014/main" id="{BA32C52B-44C7-89A1-5D09-96740FD6A5C1}"/>
              </a:ext>
            </a:extLst>
          </p:cNvPr>
          <p:cNvGrpSpPr/>
          <p:nvPr/>
        </p:nvGrpSpPr>
        <p:grpSpPr>
          <a:xfrm>
            <a:off x="6385148" y="3579814"/>
            <a:ext cx="3937000" cy="2536825"/>
            <a:chOff x="6385148" y="3579814"/>
            <a:chExt cx="3937000" cy="2536825"/>
          </a:xfrm>
        </p:grpSpPr>
        <p:sp>
          <p:nvSpPr>
            <p:cNvPr id="41" name="Rectangle 6">
              <a:extLst>
                <a:ext uri="{FF2B5EF4-FFF2-40B4-BE49-F238E27FC236}">
                  <a16:creationId xmlns:a16="http://schemas.microsoft.com/office/drawing/2014/main" id="{DC7C6A47-F6BA-3FDD-C2E8-94A9560985F8}"/>
                </a:ext>
              </a:extLst>
            </p:cNvPr>
            <p:cNvSpPr>
              <a:spLocks noChangeArrowheads="1"/>
            </p:cNvSpPr>
            <p:nvPr/>
          </p:nvSpPr>
          <p:spPr bwMode="auto">
            <a:xfrm>
              <a:off x="6385148" y="3579814"/>
              <a:ext cx="3932238" cy="2536825"/>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2" name="Rectangle 12">
              <a:extLst>
                <a:ext uri="{FF2B5EF4-FFF2-40B4-BE49-F238E27FC236}">
                  <a16:creationId xmlns:a16="http://schemas.microsoft.com/office/drawing/2014/main" id="{C158195D-143B-8B55-FE49-F098DB4D04FA}"/>
                </a:ext>
              </a:extLst>
            </p:cNvPr>
            <p:cNvSpPr>
              <a:spLocks noChangeArrowheads="1"/>
            </p:cNvSpPr>
            <p:nvPr/>
          </p:nvSpPr>
          <p:spPr bwMode="auto">
            <a:xfrm>
              <a:off x="7329711" y="5765801"/>
              <a:ext cx="19637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solidFill>
                    <a:schemeClr val="bg1"/>
                  </a:solidFill>
                </a:rPr>
                <a:t>Standard WIP = 13</a:t>
              </a:r>
            </a:p>
          </p:txBody>
        </p:sp>
        <p:sp>
          <p:nvSpPr>
            <p:cNvPr id="43" name="Oval 32">
              <a:extLst>
                <a:ext uri="{FF2B5EF4-FFF2-40B4-BE49-F238E27FC236}">
                  <a16:creationId xmlns:a16="http://schemas.microsoft.com/office/drawing/2014/main" id="{7EF2FF05-AA85-E9E5-14D2-89CE704DFBEC}"/>
                </a:ext>
              </a:extLst>
            </p:cNvPr>
            <p:cNvSpPr>
              <a:spLocks noChangeArrowheads="1"/>
            </p:cNvSpPr>
            <p:nvPr/>
          </p:nvSpPr>
          <p:spPr bwMode="auto">
            <a:xfrm>
              <a:off x="7231286" y="5195889"/>
              <a:ext cx="530225" cy="547687"/>
            </a:xfrm>
            <a:prstGeom prst="ellipse">
              <a:avLst/>
            </a:prstGeom>
            <a:solidFill>
              <a:schemeClr val="accent5"/>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4" name="Rectangle 33">
              <a:extLst>
                <a:ext uri="{FF2B5EF4-FFF2-40B4-BE49-F238E27FC236}">
                  <a16:creationId xmlns:a16="http://schemas.microsoft.com/office/drawing/2014/main" id="{14FE8D4B-B4B5-6633-375B-F20AAC1693B8}"/>
                </a:ext>
              </a:extLst>
            </p:cNvPr>
            <p:cNvSpPr>
              <a:spLocks noChangeArrowheads="1"/>
            </p:cNvSpPr>
            <p:nvPr/>
          </p:nvSpPr>
          <p:spPr bwMode="auto">
            <a:xfrm>
              <a:off x="7213920" y="5243514"/>
              <a:ext cx="578685"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200" dirty="0">
                  <a:solidFill>
                    <a:schemeClr val="bg1"/>
                  </a:solidFill>
                </a:rPr>
                <a:t>FG</a:t>
              </a:r>
            </a:p>
          </p:txBody>
        </p:sp>
        <p:sp>
          <p:nvSpPr>
            <p:cNvPr id="45" name="Rectangle 34">
              <a:extLst>
                <a:ext uri="{FF2B5EF4-FFF2-40B4-BE49-F238E27FC236}">
                  <a16:creationId xmlns:a16="http://schemas.microsoft.com/office/drawing/2014/main" id="{94327FE3-0BFD-BD7F-ED9E-85EBD833790A}"/>
                </a:ext>
              </a:extLst>
            </p:cNvPr>
            <p:cNvSpPr>
              <a:spLocks noChangeArrowheads="1"/>
            </p:cNvSpPr>
            <p:nvPr/>
          </p:nvSpPr>
          <p:spPr bwMode="auto">
            <a:xfrm>
              <a:off x="9128348" y="5243514"/>
              <a:ext cx="515938" cy="514350"/>
            </a:xfrm>
            <a:prstGeom prst="rect">
              <a:avLst/>
            </a:prstGeom>
            <a:solidFill>
              <a:schemeClr val="accent5"/>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6" name="Rectangle 35">
              <a:extLst>
                <a:ext uri="{FF2B5EF4-FFF2-40B4-BE49-F238E27FC236}">
                  <a16:creationId xmlns:a16="http://schemas.microsoft.com/office/drawing/2014/main" id="{7599C750-541B-FBFA-E28D-9F05E1C13B95}"/>
                </a:ext>
              </a:extLst>
            </p:cNvPr>
            <p:cNvSpPr>
              <a:spLocks noChangeArrowheads="1"/>
            </p:cNvSpPr>
            <p:nvPr/>
          </p:nvSpPr>
          <p:spPr bwMode="auto">
            <a:xfrm>
              <a:off x="9083256" y="5279996"/>
              <a:ext cx="625171"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200" dirty="0">
                  <a:solidFill>
                    <a:schemeClr val="bg1"/>
                  </a:solidFill>
                </a:rPr>
                <a:t>RM</a:t>
              </a:r>
            </a:p>
          </p:txBody>
        </p:sp>
        <p:sp>
          <p:nvSpPr>
            <p:cNvPr id="47" name="Rectangle 36">
              <a:extLst>
                <a:ext uri="{FF2B5EF4-FFF2-40B4-BE49-F238E27FC236}">
                  <a16:creationId xmlns:a16="http://schemas.microsoft.com/office/drawing/2014/main" id="{1A7A81AA-199E-53D1-BDDF-F3D5D50245C6}"/>
                </a:ext>
              </a:extLst>
            </p:cNvPr>
            <p:cNvSpPr>
              <a:spLocks noChangeArrowheads="1"/>
            </p:cNvSpPr>
            <p:nvPr/>
          </p:nvSpPr>
          <p:spPr bwMode="auto">
            <a:xfrm>
              <a:off x="6716936" y="4438651"/>
              <a:ext cx="823912" cy="774700"/>
            </a:xfrm>
            <a:prstGeom prst="rect">
              <a:avLst/>
            </a:prstGeom>
            <a:solidFill>
              <a:schemeClr val="accent5"/>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8" name="Rectangle 37">
              <a:extLst>
                <a:ext uri="{FF2B5EF4-FFF2-40B4-BE49-F238E27FC236}">
                  <a16:creationId xmlns:a16="http://schemas.microsoft.com/office/drawing/2014/main" id="{6298C3EF-B0D8-9622-C358-EE113F9420F8}"/>
                </a:ext>
              </a:extLst>
            </p:cNvPr>
            <p:cNvSpPr>
              <a:spLocks noChangeArrowheads="1"/>
            </p:cNvSpPr>
            <p:nvPr/>
          </p:nvSpPr>
          <p:spPr bwMode="auto">
            <a:xfrm>
              <a:off x="6949397" y="4602412"/>
              <a:ext cx="335028"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100" dirty="0">
                  <a:solidFill>
                    <a:schemeClr val="bg1"/>
                  </a:solidFill>
                </a:rPr>
                <a:t>4</a:t>
              </a:r>
            </a:p>
          </p:txBody>
        </p:sp>
        <p:sp>
          <p:nvSpPr>
            <p:cNvPr id="49" name="Rectangle 38">
              <a:extLst>
                <a:ext uri="{FF2B5EF4-FFF2-40B4-BE49-F238E27FC236}">
                  <a16:creationId xmlns:a16="http://schemas.microsoft.com/office/drawing/2014/main" id="{CB0F45BC-021F-6101-5486-44E75C8CE139}"/>
                </a:ext>
              </a:extLst>
            </p:cNvPr>
            <p:cNvSpPr>
              <a:spLocks noChangeArrowheads="1"/>
            </p:cNvSpPr>
            <p:nvPr/>
          </p:nvSpPr>
          <p:spPr bwMode="auto">
            <a:xfrm>
              <a:off x="9136286" y="4457701"/>
              <a:ext cx="795337" cy="749300"/>
            </a:xfrm>
            <a:prstGeom prst="rect">
              <a:avLst/>
            </a:prstGeom>
            <a:solidFill>
              <a:schemeClr val="accent5"/>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0" name="Rectangle 39">
              <a:extLst>
                <a:ext uri="{FF2B5EF4-FFF2-40B4-BE49-F238E27FC236}">
                  <a16:creationId xmlns:a16="http://schemas.microsoft.com/office/drawing/2014/main" id="{2AABAB94-37CA-9E3F-93F4-9B62D3B82ADF}"/>
                </a:ext>
              </a:extLst>
            </p:cNvPr>
            <p:cNvSpPr>
              <a:spLocks noChangeArrowheads="1"/>
            </p:cNvSpPr>
            <p:nvPr/>
          </p:nvSpPr>
          <p:spPr bwMode="auto">
            <a:xfrm>
              <a:off x="9229948" y="4521201"/>
              <a:ext cx="331788"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100">
                  <a:solidFill>
                    <a:schemeClr val="bg1"/>
                  </a:solidFill>
                </a:rPr>
                <a:t>1</a:t>
              </a:r>
            </a:p>
          </p:txBody>
        </p:sp>
        <p:sp>
          <p:nvSpPr>
            <p:cNvPr id="51" name="Oval 40" descr="Wide downward diagonal">
              <a:extLst>
                <a:ext uri="{FF2B5EF4-FFF2-40B4-BE49-F238E27FC236}">
                  <a16:creationId xmlns:a16="http://schemas.microsoft.com/office/drawing/2014/main" id="{2C6DF8C3-59B0-21FC-AB24-FC0E64008DFE}"/>
                </a:ext>
              </a:extLst>
            </p:cNvPr>
            <p:cNvSpPr>
              <a:spLocks noChangeArrowheads="1"/>
            </p:cNvSpPr>
            <p:nvPr/>
          </p:nvSpPr>
          <p:spPr bwMode="auto">
            <a:xfrm>
              <a:off x="9612536" y="4864101"/>
              <a:ext cx="244475" cy="231775"/>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2" name="Oval 41">
              <a:extLst>
                <a:ext uri="{FF2B5EF4-FFF2-40B4-BE49-F238E27FC236}">
                  <a16:creationId xmlns:a16="http://schemas.microsoft.com/office/drawing/2014/main" id="{B76DB143-31D0-DF6E-D701-2C7E2F0CFD0B}"/>
                </a:ext>
              </a:extLst>
            </p:cNvPr>
            <p:cNvSpPr>
              <a:spLocks noChangeArrowheads="1"/>
            </p:cNvSpPr>
            <p:nvPr/>
          </p:nvSpPr>
          <p:spPr bwMode="auto">
            <a:xfrm>
              <a:off x="7618636" y="3671889"/>
              <a:ext cx="962025" cy="890587"/>
            </a:xfrm>
            <a:prstGeom prst="ellipse">
              <a:avLst/>
            </a:prstGeom>
            <a:solidFill>
              <a:schemeClr val="accent5"/>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3" name="Rectangle 42">
              <a:extLst>
                <a:ext uri="{FF2B5EF4-FFF2-40B4-BE49-F238E27FC236}">
                  <a16:creationId xmlns:a16="http://schemas.microsoft.com/office/drawing/2014/main" id="{E9CEB581-5B66-9769-95EF-A798B94D8811}"/>
                </a:ext>
              </a:extLst>
            </p:cNvPr>
            <p:cNvSpPr>
              <a:spLocks noChangeArrowheads="1"/>
            </p:cNvSpPr>
            <p:nvPr/>
          </p:nvSpPr>
          <p:spPr bwMode="auto">
            <a:xfrm>
              <a:off x="7937691" y="3892551"/>
              <a:ext cx="335028" cy="41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100">
                  <a:solidFill>
                    <a:schemeClr val="bg1"/>
                  </a:solidFill>
                </a:rPr>
                <a:t>3</a:t>
              </a:r>
            </a:p>
          </p:txBody>
        </p:sp>
        <p:sp>
          <p:nvSpPr>
            <p:cNvPr id="54" name="Oval 43" descr="Wide downward diagonal">
              <a:extLst>
                <a:ext uri="{FF2B5EF4-FFF2-40B4-BE49-F238E27FC236}">
                  <a16:creationId xmlns:a16="http://schemas.microsoft.com/office/drawing/2014/main" id="{0AF97051-6EFD-D029-0B2B-6AE0D4976E8D}"/>
                </a:ext>
              </a:extLst>
            </p:cNvPr>
            <p:cNvSpPr>
              <a:spLocks noChangeArrowheads="1"/>
            </p:cNvSpPr>
            <p:nvPr/>
          </p:nvSpPr>
          <p:spPr bwMode="auto">
            <a:xfrm>
              <a:off x="8002811" y="3697289"/>
              <a:ext cx="182562" cy="180975"/>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5" name="Oval 44" descr="Wide downward diagonal">
              <a:extLst>
                <a:ext uri="{FF2B5EF4-FFF2-40B4-BE49-F238E27FC236}">
                  <a16:creationId xmlns:a16="http://schemas.microsoft.com/office/drawing/2014/main" id="{A86ED516-6AC6-0547-A676-E7824206F262}"/>
                </a:ext>
              </a:extLst>
            </p:cNvPr>
            <p:cNvSpPr>
              <a:spLocks noChangeArrowheads="1"/>
            </p:cNvSpPr>
            <p:nvPr/>
          </p:nvSpPr>
          <p:spPr bwMode="auto">
            <a:xfrm>
              <a:off x="8226648" y="3778251"/>
              <a:ext cx="182563" cy="180975"/>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6" name="Oval 45" descr="Wide downward diagonal">
              <a:extLst>
                <a:ext uri="{FF2B5EF4-FFF2-40B4-BE49-F238E27FC236}">
                  <a16:creationId xmlns:a16="http://schemas.microsoft.com/office/drawing/2014/main" id="{1B792EA4-3CF6-77AE-5F46-7B09730DB02B}"/>
                </a:ext>
              </a:extLst>
            </p:cNvPr>
            <p:cNvSpPr>
              <a:spLocks noChangeArrowheads="1"/>
            </p:cNvSpPr>
            <p:nvPr/>
          </p:nvSpPr>
          <p:spPr bwMode="auto">
            <a:xfrm>
              <a:off x="8358411" y="3979864"/>
              <a:ext cx="182562" cy="180975"/>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7" name="Oval 46" descr="Wide downward diagonal">
              <a:extLst>
                <a:ext uri="{FF2B5EF4-FFF2-40B4-BE49-F238E27FC236}">
                  <a16:creationId xmlns:a16="http://schemas.microsoft.com/office/drawing/2014/main" id="{5457D67B-44F5-F280-6A2E-243B1B3CC4E0}"/>
                </a:ext>
              </a:extLst>
            </p:cNvPr>
            <p:cNvSpPr>
              <a:spLocks noChangeArrowheads="1"/>
            </p:cNvSpPr>
            <p:nvPr/>
          </p:nvSpPr>
          <p:spPr bwMode="auto">
            <a:xfrm>
              <a:off x="8067898" y="4298951"/>
              <a:ext cx="182563" cy="180975"/>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8" name="Oval 47" descr="Wide downward diagonal">
              <a:extLst>
                <a:ext uri="{FF2B5EF4-FFF2-40B4-BE49-F238E27FC236}">
                  <a16:creationId xmlns:a16="http://schemas.microsoft.com/office/drawing/2014/main" id="{C41B9132-2A25-EDDF-5F75-FFAFFF63DD59}"/>
                </a:ext>
              </a:extLst>
            </p:cNvPr>
            <p:cNvSpPr>
              <a:spLocks noChangeArrowheads="1"/>
            </p:cNvSpPr>
            <p:nvPr/>
          </p:nvSpPr>
          <p:spPr bwMode="auto">
            <a:xfrm>
              <a:off x="7778973" y="4270376"/>
              <a:ext cx="182563" cy="180975"/>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9" name="Oval 48" descr="Wide downward diagonal">
              <a:extLst>
                <a:ext uri="{FF2B5EF4-FFF2-40B4-BE49-F238E27FC236}">
                  <a16:creationId xmlns:a16="http://schemas.microsoft.com/office/drawing/2014/main" id="{CAC3581C-09EC-4879-6C16-75BAA2824C46}"/>
                </a:ext>
              </a:extLst>
            </p:cNvPr>
            <p:cNvSpPr>
              <a:spLocks noChangeArrowheads="1"/>
            </p:cNvSpPr>
            <p:nvPr/>
          </p:nvSpPr>
          <p:spPr bwMode="auto">
            <a:xfrm>
              <a:off x="7675786" y="4052889"/>
              <a:ext cx="182562" cy="180975"/>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0" name="Oval 49" descr="Wide downward diagonal">
              <a:extLst>
                <a:ext uri="{FF2B5EF4-FFF2-40B4-BE49-F238E27FC236}">
                  <a16:creationId xmlns:a16="http://schemas.microsoft.com/office/drawing/2014/main" id="{9D4DF6C2-596A-BA97-396D-1D7949E3412E}"/>
                </a:ext>
              </a:extLst>
            </p:cNvPr>
            <p:cNvSpPr>
              <a:spLocks noChangeArrowheads="1"/>
            </p:cNvSpPr>
            <p:nvPr/>
          </p:nvSpPr>
          <p:spPr bwMode="auto">
            <a:xfrm>
              <a:off x="7748811" y="3821114"/>
              <a:ext cx="182562" cy="180975"/>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1" name="Oval 50" descr="Wide downward diagonal">
              <a:extLst>
                <a:ext uri="{FF2B5EF4-FFF2-40B4-BE49-F238E27FC236}">
                  <a16:creationId xmlns:a16="http://schemas.microsoft.com/office/drawing/2014/main" id="{9D81A36A-1116-10A0-7098-F6BB3CF9566D}"/>
                </a:ext>
              </a:extLst>
            </p:cNvPr>
            <p:cNvSpPr>
              <a:spLocks noChangeArrowheads="1"/>
            </p:cNvSpPr>
            <p:nvPr/>
          </p:nvSpPr>
          <p:spPr bwMode="auto">
            <a:xfrm>
              <a:off x="8315548" y="4227514"/>
              <a:ext cx="182563" cy="180975"/>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62" name="Group 67">
              <a:extLst>
                <a:ext uri="{FF2B5EF4-FFF2-40B4-BE49-F238E27FC236}">
                  <a16:creationId xmlns:a16="http://schemas.microsoft.com/office/drawing/2014/main" id="{8E350C0B-3DA0-C13A-A759-6B6102A4E392}"/>
                </a:ext>
              </a:extLst>
            </p:cNvPr>
            <p:cNvGrpSpPr>
              <a:grpSpLocks/>
            </p:cNvGrpSpPr>
            <p:nvPr/>
          </p:nvGrpSpPr>
          <p:grpSpPr bwMode="auto">
            <a:xfrm>
              <a:off x="8775923" y="3821114"/>
              <a:ext cx="760413" cy="504825"/>
              <a:chOff x="4292" y="1677"/>
              <a:chExt cx="479" cy="318"/>
            </a:xfrm>
          </p:grpSpPr>
          <p:sp>
            <p:nvSpPr>
              <p:cNvPr id="63" name="Rectangle 51">
                <a:extLst>
                  <a:ext uri="{FF2B5EF4-FFF2-40B4-BE49-F238E27FC236}">
                    <a16:creationId xmlns:a16="http://schemas.microsoft.com/office/drawing/2014/main" id="{4A5453B1-DEE0-19BF-9B37-30225A8289D9}"/>
                  </a:ext>
                </a:extLst>
              </p:cNvPr>
              <p:cNvSpPr>
                <a:spLocks noChangeArrowheads="1"/>
              </p:cNvSpPr>
              <p:nvPr/>
            </p:nvSpPr>
            <p:spPr bwMode="auto">
              <a:xfrm rot="-2340000">
                <a:off x="4292" y="1840"/>
                <a:ext cx="328" cy="155"/>
              </a:xfrm>
              <a:prstGeom prst="rect">
                <a:avLst/>
              </a:prstGeom>
              <a:solidFill>
                <a:schemeClr val="accent6"/>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4" name="Oval 52" descr="Wide downward diagonal">
                <a:extLst>
                  <a:ext uri="{FF2B5EF4-FFF2-40B4-BE49-F238E27FC236}">
                    <a16:creationId xmlns:a16="http://schemas.microsoft.com/office/drawing/2014/main" id="{861D2B3C-1414-3DD2-F555-2161D12EDE81}"/>
                  </a:ext>
                </a:extLst>
              </p:cNvPr>
              <p:cNvSpPr>
                <a:spLocks noChangeArrowheads="1"/>
              </p:cNvSpPr>
              <p:nvPr/>
            </p:nvSpPr>
            <p:spPr bwMode="auto">
              <a:xfrm>
                <a:off x="4388" y="1859"/>
                <a:ext cx="127" cy="128"/>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5" name="AutoShape 55">
                <a:extLst>
                  <a:ext uri="{FF2B5EF4-FFF2-40B4-BE49-F238E27FC236}">
                    <a16:creationId xmlns:a16="http://schemas.microsoft.com/office/drawing/2014/main" id="{33316F52-1B2D-C72E-740D-C707A7692871}"/>
                  </a:ext>
                </a:extLst>
              </p:cNvPr>
              <p:cNvSpPr>
                <a:spLocks noChangeArrowheads="1"/>
              </p:cNvSpPr>
              <p:nvPr/>
            </p:nvSpPr>
            <p:spPr bwMode="auto">
              <a:xfrm rot="-2100000">
                <a:off x="4572" y="1677"/>
                <a:ext cx="199" cy="95"/>
              </a:xfrm>
              <a:prstGeom prst="leftArrow">
                <a:avLst>
                  <a:gd name="adj1" fmla="val 50000"/>
                  <a:gd name="adj2" fmla="val 104727"/>
                </a:avLst>
              </a:prstGeom>
              <a:solidFill>
                <a:schemeClr val="accent6"/>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grpSp>
          <p:nvGrpSpPr>
            <p:cNvPr id="66" name="Group 66">
              <a:extLst>
                <a:ext uri="{FF2B5EF4-FFF2-40B4-BE49-F238E27FC236}">
                  <a16:creationId xmlns:a16="http://schemas.microsoft.com/office/drawing/2014/main" id="{FC66AEAC-805C-8278-0FBB-99DFEBEB3501}"/>
                </a:ext>
              </a:extLst>
            </p:cNvPr>
            <p:cNvGrpSpPr>
              <a:grpSpLocks/>
            </p:cNvGrpSpPr>
            <p:nvPr/>
          </p:nvGrpSpPr>
          <p:grpSpPr bwMode="auto">
            <a:xfrm>
              <a:off x="8593361" y="4418014"/>
              <a:ext cx="750887" cy="539750"/>
              <a:chOff x="4405" y="1834"/>
              <a:chExt cx="473" cy="340"/>
            </a:xfrm>
          </p:grpSpPr>
          <p:sp>
            <p:nvSpPr>
              <p:cNvPr id="67" name="Rectangle 53">
                <a:extLst>
                  <a:ext uri="{FF2B5EF4-FFF2-40B4-BE49-F238E27FC236}">
                    <a16:creationId xmlns:a16="http://schemas.microsoft.com/office/drawing/2014/main" id="{874DD77F-1F54-37A5-5BEE-04CDFF19AF96}"/>
                  </a:ext>
                </a:extLst>
              </p:cNvPr>
              <p:cNvSpPr>
                <a:spLocks noChangeArrowheads="1"/>
              </p:cNvSpPr>
              <p:nvPr/>
            </p:nvSpPr>
            <p:spPr bwMode="auto">
              <a:xfrm rot="-2340000">
                <a:off x="4405" y="2012"/>
                <a:ext cx="328" cy="162"/>
              </a:xfrm>
              <a:prstGeom prst="rect">
                <a:avLst/>
              </a:prstGeom>
              <a:solidFill>
                <a:schemeClr val="accent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8" name="Oval 54" descr="Wide downward diagonal">
                <a:extLst>
                  <a:ext uri="{FF2B5EF4-FFF2-40B4-BE49-F238E27FC236}">
                    <a16:creationId xmlns:a16="http://schemas.microsoft.com/office/drawing/2014/main" id="{D388ADF7-CB64-7A9F-18D0-3418D9C13D16}"/>
                  </a:ext>
                </a:extLst>
              </p:cNvPr>
              <p:cNvSpPr>
                <a:spLocks noChangeArrowheads="1"/>
              </p:cNvSpPr>
              <p:nvPr/>
            </p:nvSpPr>
            <p:spPr bwMode="auto">
              <a:xfrm>
                <a:off x="4500" y="2032"/>
                <a:ext cx="124" cy="125"/>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9" name="AutoShape 56">
                <a:extLst>
                  <a:ext uri="{FF2B5EF4-FFF2-40B4-BE49-F238E27FC236}">
                    <a16:creationId xmlns:a16="http://schemas.microsoft.com/office/drawing/2014/main" id="{C807BFF3-D8F0-F734-1346-760DABD3BB1F}"/>
                  </a:ext>
                </a:extLst>
              </p:cNvPr>
              <p:cNvSpPr>
                <a:spLocks noChangeArrowheads="1"/>
              </p:cNvSpPr>
              <p:nvPr/>
            </p:nvSpPr>
            <p:spPr bwMode="auto">
              <a:xfrm rot="-2040000">
                <a:off x="4677" y="1834"/>
                <a:ext cx="201" cy="95"/>
              </a:xfrm>
              <a:prstGeom prst="rightArrow">
                <a:avLst>
                  <a:gd name="adj1" fmla="val 50000"/>
                  <a:gd name="adj2" fmla="val 105799"/>
                </a:avLst>
              </a:prstGeom>
              <a:solidFill>
                <a:schemeClr val="accent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
          <p:nvSpPr>
            <p:cNvPr id="70" name="AutoShape 57">
              <a:extLst>
                <a:ext uri="{FF2B5EF4-FFF2-40B4-BE49-F238E27FC236}">
                  <a16:creationId xmlns:a16="http://schemas.microsoft.com/office/drawing/2014/main" id="{69CF5E43-3C4A-4198-0D24-4240770F576B}"/>
                </a:ext>
              </a:extLst>
            </p:cNvPr>
            <p:cNvSpPr>
              <a:spLocks noChangeArrowheads="1"/>
            </p:cNvSpPr>
            <p:nvPr/>
          </p:nvSpPr>
          <p:spPr bwMode="auto">
            <a:xfrm>
              <a:off x="9375998" y="3589339"/>
              <a:ext cx="946150" cy="731837"/>
            </a:xfrm>
            <a:prstGeom prst="star16">
              <a:avLst>
                <a:gd name="adj" fmla="val 37500"/>
              </a:avLst>
            </a:prstGeom>
            <a:solidFill>
              <a:schemeClr val="accent2"/>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1" name="Rectangle 58">
              <a:extLst>
                <a:ext uri="{FF2B5EF4-FFF2-40B4-BE49-F238E27FC236}">
                  <a16:creationId xmlns:a16="http://schemas.microsoft.com/office/drawing/2014/main" id="{87AE6AB5-900C-C453-8EFD-CD88E2056684}"/>
                </a:ext>
              </a:extLst>
            </p:cNvPr>
            <p:cNvSpPr>
              <a:spLocks noChangeArrowheads="1"/>
            </p:cNvSpPr>
            <p:nvPr/>
          </p:nvSpPr>
          <p:spPr bwMode="auto">
            <a:xfrm>
              <a:off x="9690323" y="3740151"/>
              <a:ext cx="24606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100" b="0"/>
                <a:t>2</a:t>
              </a:r>
            </a:p>
          </p:txBody>
        </p:sp>
        <p:sp>
          <p:nvSpPr>
            <p:cNvPr id="72" name="Oval 59" descr="Wide downward diagonal">
              <a:extLst>
                <a:ext uri="{FF2B5EF4-FFF2-40B4-BE49-F238E27FC236}">
                  <a16:creationId xmlns:a16="http://schemas.microsoft.com/office/drawing/2014/main" id="{74EDC631-8DD4-B505-1AF5-C0295FED0578}"/>
                </a:ext>
              </a:extLst>
            </p:cNvPr>
            <p:cNvSpPr>
              <a:spLocks noChangeArrowheads="1"/>
            </p:cNvSpPr>
            <p:nvPr/>
          </p:nvSpPr>
          <p:spPr bwMode="auto">
            <a:xfrm>
              <a:off x="9576023" y="3987801"/>
              <a:ext cx="182563" cy="184150"/>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3" name="Oval 60" descr="Wide downward diagonal">
              <a:extLst>
                <a:ext uri="{FF2B5EF4-FFF2-40B4-BE49-F238E27FC236}">
                  <a16:creationId xmlns:a16="http://schemas.microsoft.com/office/drawing/2014/main" id="{10EB02C9-C52D-97E2-DB52-685363757F38}"/>
                </a:ext>
              </a:extLst>
            </p:cNvPr>
            <p:cNvSpPr>
              <a:spLocks noChangeArrowheads="1"/>
            </p:cNvSpPr>
            <p:nvPr/>
          </p:nvSpPr>
          <p:spPr bwMode="auto">
            <a:xfrm>
              <a:off x="9941148" y="3973514"/>
              <a:ext cx="196850" cy="198437"/>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4" name="Line 65">
              <a:extLst>
                <a:ext uri="{FF2B5EF4-FFF2-40B4-BE49-F238E27FC236}">
                  <a16:creationId xmlns:a16="http://schemas.microsoft.com/office/drawing/2014/main" id="{0A232966-55C4-CDEE-F086-FBEDC4582DAB}"/>
                </a:ext>
              </a:extLst>
            </p:cNvPr>
            <p:cNvSpPr>
              <a:spLocks noChangeShapeType="1"/>
            </p:cNvSpPr>
            <p:nvPr/>
          </p:nvSpPr>
          <p:spPr bwMode="auto">
            <a:xfrm>
              <a:off x="8872761" y="3625851"/>
              <a:ext cx="1160462" cy="1160463"/>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7813567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fontScale="90000"/>
          </a:bodyPr>
          <a:lstStyle/>
          <a:p>
            <a:r>
              <a:rPr lang="en-US" sz="4000" dirty="0">
                <a:latin typeface="Roboto Medium"/>
                <a:ea typeface="Roboto Medium"/>
                <a:cs typeface="Roboto Medium"/>
              </a:rPr>
              <a:t>Exercise: Standard WIP and Curtain Quantities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Demonstrate understanding of Standard WIP and Curtain Quantity calculations.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example for previous exercise to determine the following:</a:t>
            </a:r>
          </a:p>
          <a:p>
            <a:pPr marL="342900" marR="0" indent="-34290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Curtain Quantity </a:t>
            </a:r>
          </a:p>
          <a:p>
            <a:pPr marL="342900" marR="0" indent="-34290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of Operators</a:t>
            </a:r>
          </a:p>
          <a:p>
            <a:pPr marL="342900" marR="0" indent="-34290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Operator Work Sequence</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Discuss answers as a class</a:t>
            </a:r>
          </a:p>
        </p:txBody>
      </p:sp>
      <p:grpSp>
        <p:nvGrpSpPr>
          <p:cNvPr id="3" name="Group 2">
            <a:extLst>
              <a:ext uri="{FF2B5EF4-FFF2-40B4-BE49-F238E27FC236}">
                <a16:creationId xmlns:a16="http://schemas.microsoft.com/office/drawing/2014/main" id="{7EC75C38-0B22-52EA-5CAB-1CC267F624A7}"/>
              </a:ext>
            </a:extLst>
          </p:cNvPr>
          <p:cNvGrpSpPr/>
          <p:nvPr/>
        </p:nvGrpSpPr>
        <p:grpSpPr>
          <a:xfrm>
            <a:off x="838200" y="297639"/>
            <a:ext cx="4220210" cy="301303"/>
            <a:chOff x="838200" y="297639"/>
            <a:chExt cx="4220210" cy="301303"/>
          </a:xfrm>
        </p:grpSpPr>
        <p:sp>
          <p:nvSpPr>
            <p:cNvPr id="4" name="AutoShape 9">
              <a:extLst>
                <a:ext uri="{FF2B5EF4-FFF2-40B4-BE49-F238E27FC236}">
                  <a16:creationId xmlns:a16="http://schemas.microsoft.com/office/drawing/2014/main" id="{9DE83D8D-1B12-B005-D6F9-F877368FC984}"/>
                </a:ext>
              </a:extLst>
            </p:cNvPr>
            <p:cNvSpPr>
              <a:spLocks noChangeArrowheads="1"/>
            </p:cNvSpPr>
            <p:nvPr/>
          </p:nvSpPr>
          <p:spPr bwMode="auto">
            <a:xfrm>
              <a:off x="1779225" y="298454"/>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4AB64776-CD5B-7136-533F-E1EE5F7FDC4E}"/>
                </a:ext>
              </a:extLst>
            </p:cNvPr>
            <p:cNvGrpSpPr/>
            <p:nvPr/>
          </p:nvGrpSpPr>
          <p:grpSpPr>
            <a:xfrm>
              <a:off x="838200" y="297639"/>
              <a:ext cx="4220210" cy="301303"/>
              <a:chOff x="838200" y="297639"/>
              <a:chExt cx="4220210" cy="301303"/>
            </a:xfrm>
          </p:grpSpPr>
          <p:grpSp>
            <p:nvGrpSpPr>
              <p:cNvPr id="7" name="Group 6">
                <a:extLst>
                  <a:ext uri="{FF2B5EF4-FFF2-40B4-BE49-F238E27FC236}">
                    <a16:creationId xmlns:a16="http://schemas.microsoft.com/office/drawing/2014/main" id="{67153A8C-A3E1-1E15-6E43-2454AD72A156}"/>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9CE0B470-A31A-E615-B2EA-85095F3CAD5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1">
                  <a:extLst>
                    <a:ext uri="{FF2B5EF4-FFF2-40B4-BE49-F238E27FC236}">
                      <a16:creationId xmlns:a16="http://schemas.microsoft.com/office/drawing/2014/main" id="{493D6C6B-136B-7A53-A755-FDC6EAAA1AB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0">
                  <a:extLst>
                    <a:ext uri="{FF2B5EF4-FFF2-40B4-BE49-F238E27FC236}">
                      <a16:creationId xmlns:a16="http://schemas.microsoft.com/office/drawing/2014/main" id="{B2C3C970-50BD-CF98-2D8D-94B468200C5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975E25F0-4BF8-9FFA-4527-5C057D240D5F}"/>
                  </a:ext>
                </a:extLst>
              </p:cNvPr>
              <p:cNvSpPr txBox="1"/>
              <p:nvPr/>
            </p:nvSpPr>
            <p:spPr>
              <a:xfrm>
                <a:off x="219045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WIP</a:t>
                </a:r>
              </a:p>
            </p:txBody>
          </p:sp>
        </p:grpSp>
      </p:grpSp>
    </p:spTree>
    <p:extLst>
      <p:ext uri="{BB962C8B-B14F-4D97-AF65-F5344CB8AC3E}">
        <p14:creationId xmlns:p14="http://schemas.microsoft.com/office/powerpoint/2010/main" val="11540004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46</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Standard Work Documentation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000" dirty="0"/>
              <a:t>Identify components and use of the Standard Work Documentation:</a:t>
            </a:r>
          </a:p>
          <a:p>
            <a:pPr lvl="1"/>
            <a:r>
              <a:rPr lang="en-US" sz="1800" dirty="0"/>
              <a:t>Time Observation Form</a:t>
            </a:r>
          </a:p>
          <a:p>
            <a:pPr lvl="1"/>
            <a:r>
              <a:rPr lang="en-US" sz="1800" dirty="0"/>
              <a:t>Process Capacity Sheet</a:t>
            </a:r>
          </a:p>
          <a:p>
            <a:pPr lvl="1"/>
            <a:r>
              <a:rPr lang="en-US" sz="1800" dirty="0"/>
              <a:t>Standard Work Combination Sheet</a:t>
            </a:r>
          </a:p>
          <a:p>
            <a:pPr lvl="1"/>
            <a:r>
              <a:rPr lang="en-US" sz="1800" dirty="0"/>
              <a:t>Standard Work Sheet</a:t>
            </a:r>
          </a:p>
          <a:p>
            <a:pPr lvl="1"/>
            <a:r>
              <a:rPr lang="en-US" sz="1800" dirty="0"/>
              <a:t>Operator Loading Chart</a:t>
            </a:r>
          </a:p>
          <a:p>
            <a:r>
              <a:rPr lang="en-US" sz="2000" dirty="0"/>
              <a:t>Define purpose of Standard Work Playbook</a:t>
            </a:r>
          </a:p>
          <a:p>
            <a:r>
              <a:rPr lang="en-US" sz="2000" dirty="0"/>
              <a:t>Review Document logistics</a:t>
            </a:r>
          </a:p>
          <a:p>
            <a:r>
              <a:rPr lang="en-US" sz="2000" dirty="0"/>
              <a:t>Identify components of the Kaizen Results Form</a:t>
            </a:r>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C87A7FF0-98F8-9B45-43F5-1EE0B5702A07}"/>
              </a:ext>
            </a:extLst>
          </p:cNvPr>
          <p:cNvGrpSpPr/>
          <p:nvPr/>
        </p:nvGrpSpPr>
        <p:grpSpPr>
          <a:xfrm>
            <a:off x="699911" y="837132"/>
            <a:ext cx="5850075" cy="659880"/>
            <a:chOff x="699911" y="837132"/>
            <a:chExt cx="5850075" cy="659880"/>
          </a:xfrm>
        </p:grpSpPr>
        <p:sp>
          <p:nvSpPr>
            <p:cNvPr id="4" name="AutoShape 9">
              <a:extLst>
                <a:ext uri="{FF2B5EF4-FFF2-40B4-BE49-F238E27FC236}">
                  <a16:creationId xmlns:a16="http://schemas.microsoft.com/office/drawing/2014/main" id="{717DD1F3-5C6B-CA24-C474-C85FEE3DF5E7}"/>
                </a:ext>
              </a:extLst>
            </p:cNvPr>
            <p:cNvSpPr>
              <a:spLocks noChangeArrowheads="1"/>
            </p:cNvSpPr>
            <p:nvPr/>
          </p:nvSpPr>
          <p:spPr bwMode="auto">
            <a:xfrm>
              <a:off x="4971710" y="837132"/>
              <a:ext cx="1578276" cy="659879"/>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Documentation</a:t>
              </a:r>
            </a:p>
          </p:txBody>
        </p:sp>
        <p:grpSp>
          <p:nvGrpSpPr>
            <p:cNvPr id="13" name="Group 12">
              <a:extLst>
                <a:ext uri="{FF2B5EF4-FFF2-40B4-BE49-F238E27FC236}">
                  <a16:creationId xmlns:a16="http://schemas.microsoft.com/office/drawing/2014/main" id="{DADE2756-B973-0064-D4DD-52D3744FBA6B}"/>
                </a:ext>
              </a:extLst>
            </p:cNvPr>
            <p:cNvGrpSpPr/>
            <p:nvPr/>
          </p:nvGrpSpPr>
          <p:grpSpPr>
            <a:xfrm>
              <a:off x="699911" y="837133"/>
              <a:ext cx="4425950" cy="659879"/>
              <a:chOff x="5627530" y="641179"/>
              <a:chExt cx="6564470" cy="804977"/>
            </a:xfrm>
          </p:grpSpPr>
          <p:sp>
            <p:nvSpPr>
              <p:cNvPr id="14" name="AutoShape 9">
                <a:extLst>
                  <a:ext uri="{FF2B5EF4-FFF2-40B4-BE49-F238E27FC236}">
                    <a16:creationId xmlns:a16="http://schemas.microsoft.com/office/drawing/2014/main" id="{FF83B6EB-BAFE-C193-44C8-50C54ED609A3}"/>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Standard WIP</a:t>
                </a:r>
              </a:p>
            </p:txBody>
          </p:sp>
          <p:sp>
            <p:nvSpPr>
              <p:cNvPr id="15" name="AutoShape 10">
                <a:extLst>
                  <a:ext uri="{FF2B5EF4-FFF2-40B4-BE49-F238E27FC236}">
                    <a16:creationId xmlns:a16="http://schemas.microsoft.com/office/drawing/2014/main" id="{386767CB-AD12-A8CE-F49D-60EB435EC2D3}"/>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Work </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Sequence</a:t>
                </a:r>
              </a:p>
            </p:txBody>
          </p:sp>
          <p:sp>
            <p:nvSpPr>
              <p:cNvPr id="16" name="AutoShape 11">
                <a:extLst>
                  <a:ext uri="{FF2B5EF4-FFF2-40B4-BE49-F238E27FC236}">
                    <a16:creationId xmlns:a16="http://schemas.microsoft.com/office/drawing/2014/main" id="{C2EFD1F9-72F5-1220-34C5-1283C9247686}"/>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Takt Time vs.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Cycle Time</a:t>
                </a:r>
              </a:p>
            </p:txBody>
          </p:sp>
        </p:grpSp>
      </p:grpSp>
    </p:spTree>
    <p:extLst>
      <p:ext uri="{BB962C8B-B14F-4D97-AF65-F5344CB8AC3E}">
        <p14:creationId xmlns:p14="http://schemas.microsoft.com/office/powerpoint/2010/main" val="20020714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Standard Work Documentation Forms are Management Tools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Time Observation Form</a:t>
            </a:r>
          </a:p>
          <a:p>
            <a:r>
              <a:rPr lang="en-US" dirty="0"/>
              <a:t>Process Capacity Form</a:t>
            </a:r>
          </a:p>
          <a:p>
            <a:r>
              <a:rPr lang="en-US" dirty="0"/>
              <a:t>Standard Work Combination Sheet</a:t>
            </a:r>
          </a:p>
          <a:p>
            <a:r>
              <a:rPr lang="en-US" dirty="0"/>
              <a:t>Standard Work Sheet</a:t>
            </a:r>
          </a:p>
          <a:p>
            <a:r>
              <a:rPr lang="en-US" dirty="0"/>
              <a:t>Operator Loading Chart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47</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39756380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Time Observation Form</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Used to document cycle time of an operator and his/her complete work sequence</a:t>
            </a:r>
          </a:p>
          <a:p>
            <a:r>
              <a:rPr lang="en-US" dirty="0"/>
              <a:t>7-10 observations typically taken</a:t>
            </a:r>
          </a:p>
          <a:p>
            <a:r>
              <a:rPr lang="en-US" dirty="0"/>
              <a:t>Lowest observable cycle used</a:t>
            </a:r>
          </a:p>
          <a:p>
            <a:r>
              <a:rPr lang="en-US" dirty="0"/>
              <a:t>Key input to Standard Work Combination Sheet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48</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18697162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Time Observation Form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49</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pic>
        <p:nvPicPr>
          <p:cNvPr id="15" name="Picture 39" descr="time obs1">
            <a:extLst>
              <a:ext uri="{FF2B5EF4-FFF2-40B4-BE49-F238E27FC236}">
                <a16:creationId xmlns:a16="http://schemas.microsoft.com/office/drawing/2014/main" id="{A232932B-CC1D-41F7-F313-70FBB0D1CA3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167096" y="1825625"/>
            <a:ext cx="5857809"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25">
            <a:extLst>
              <a:ext uri="{FF2B5EF4-FFF2-40B4-BE49-F238E27FC236}">
                <a16:creationId xmlns:a16="http://schemas.microsoft.com/office/drawing/2014/main" id="{4AC7BF44-2228-39AF-9E1C-F57A296E7691}"/>
              </a:ext>
            </a:extLst>
          </p:cNvPr>
          <p:cNvSpPr txBox="1">
            <a:spLocks noChangeArrowheads="1"/>
          </p:cNvSpPr>
          <p:nvPr/>
        </p:nvSpPr>
        <p:spPr bwMode="auto">
          <a:xfrm>
            <a:off x="3429000" y="5526393"/>
            <a:ext cx="5334000" cy="461665"/>
          </a:xfrm>
          <a:prstGeom prst="rect">
            <a:avLst/>
          </a:prstGeom>
          <a:solidFill>
            <a:schemeClr val="accent1"/>
          </a:solidFill>
          <a:ln w="28575">
            <a:solidFill>
              <a:schemeClr val="tx1"/>
            </a:solidFill>
            <a:miter lim="800000"/>
            <a:headEnd/>
            <a:tailEnd/>
          </a:ln>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2400" b="0" dirty="0">
                <a:solidFill>
                  <a:schemeClr val="bg1"/>
                </a:solidFill>
                <a:latin typeface="Roboto" panose="02000000000000000000" pitchFamily="2" charset="0"/>
                <a:ea typeface="Roboto" panose="02000000000000000000" pitchFamily="2" charset="0"/>
              </a:rPr>
              <a:t>Step 1: List the process sequence.</a:t>
            </a:r>
          </a:p>
        </p:txBody>
      </p:sp>
    </p:spTree>
    <p:extLst>
      <p:ext uri="{BB962C8B-B14F-4D97-AF65-F5344CB8AC3E}">
        <p14:creationId xmlns:p14="http://schemas.microsoft.com/office/powerpoint/2010/main" val="41866313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Time Observation Form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50</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pic>
        <p:nvPicPr>
          <p:cNvPr id="18" name="Picture 38" descr="time obs2">
            <a:extLst>
              <a:ext uri="{FF2B5EF4-FFF2-40B4-BE49-F238E27FC236}">
                <a16:creationId xmlns:a16="http://schemas.microsoft.com/office/drawing/2014/main" id="{634AD5BA-223E-201E-8B8A-C808F022AC9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167095" y="1825625"/>
            <a:ext cx="5857809"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25">
            <a:extLst>
              <a:ext uri="{FF2B5EF4-FFF2-40B4-BE49-F238E27FC236}">
                <a16:creationId xmlns:a16="http://schemas.microsoft.com/office/drawing/2014/main" id="{695B6C9E-DAEF-489F-7788-642E1437E7CD}"/>
              </a:ext>
            </a:extLst>
          </p:cNvPr>
          <p:cNvSpPr txBox="1">
            <a:spLocks noChangeArrowheads="1"/>
          </p:cNvSpPr>
          <p:nvPr/>
        </p:nvSpPr>
        <p:spPr bwMode="auto">
          <a:xfrm>
            <a:off x="2895600" y="5376228"/>
            <a:ext cx="6400800" cy="461665"/>
          </a:xfrm>
          <a:prstGeom prst="rect">
            <a:avLst/>
          </a:prstGeom>
          <a:solidFill>
            <a:schemeClr val="accent1"/>
          </a:solidFill>
          <a:ln w="28575">
            <a:solidFill>
              <a:schemeClr val="tx1"/>
            </a:solidFill>
            <a:miter lim="800000"/>
            <a:headEnd/>
            <a:tailEnd/>
          </a:ln>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2400" b="0">
                <a:solidFill>
                  <a:schemeClr val="bg1"/>
                </a:solidFill>
                <a:latin typeface="Roboto" panose="02000000000000000000" pitchFamily="2" charset="0"/>
                <a:ea typeface="Roboto" panose="02000000000000000000" pitchFamily="2" charset="0"/>
              </a:rPr>
              <a:t>Step 2: Record time with a running stopwatch</a:t>
            </a:r>
          </a:p>
        </p:txBody>
      </p:sp>
    </p:spTree>
    <p:extLst>
      <p:ext uri="{BB962C8B-B14F-4D97-AF65-F5344CB8AC3E}">
        <p14:creationId xmlns:p14="http://schemas.microsoft.com/office/powerpoint/2010/main" val="16179642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Time Observation Form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51</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pic>
        <p:nvPicPr>
          <p:cNvPr id="13" name="Picture 2" descr="time obs3">
            <a:extLst>
              <a:ext uri="{FF2B5EF4-FFF2-40B4-BE49-F238E27FC236}">
                <a16:creationId xmlns:a16="http://schemas.microsoft.com/office/drawing/2014/main" id="{4E41C8F5-7615-4AB8-5557-F46795E3441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898367" y="1825625"/>
            <a:ext cx="8525793"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13">
            <a:extLst>
              <a:ext uri="{FF2B5EF4-FFF2-40B4-BE49-F238E27FC236}">
                <a16:creationId xmlns:a16="http://schemas.microsoft.com/office/drawing/2014/main" id="{DA85486F-6860-FAFC-FDC0-7ED7006754A2}"/>
              </a:ext>
            </a:extLst>
          </p:cNvPr>
          <p:cNvSpPr txBox="1">
            <a:spLocks noChangeArrowheads="1"/>
          </p:cNvSpPr>
          <p:nvPr/>
        </p:nvSpPr>
        <p:spPr bwMode="auto">
          <a:xfrm>
            <a:off x="4320699" y="5177473"/>
            <a:ext cx="3550602" cy="461665"/>
          </a:xfrm>
          <a:prstGeom prst="rect">
            <a:avLst/>
          </a:prstGeom>
          <a:solidFill>
            <a:schemeClr val="accent1"/>
          </a:solidFill>
          <a:ln w="28575">
            <a:solidFill>
              <a:schemeClr val="tx1"/>
            </a:solidFill>
            <a:miter lim="800000"/>
            <a:headEnd/>
            <a:tailEnd/>
          </a:ln>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2400" b="0">
                <a:solidFill>
                  <a:schemeClr val="bg1"/>
                </a:solidFill>
                <a:latin typeface="Roboto" panose="02000000000000000000" pitchFamily="2" charset="0"/>
                <a:ea typeface="Roboto" panose="02000000000000000000" pitchFamily="2" charset="0"/>
              </a:rPr>
              <a:t>Step 3: Do calculations.</a:t>
            </a:r>
          </a:p>
        </p:txBody>
      </p:sp>
      <p:sp>
        <p:nvSpPr>
          <p:cNvPr id="15" name="Oval 6">
            <a:extLst>
              <a:ext uri="{FF2B5EF4-FFF2-40B4-BE49-F238E27FC236}">
                <a16:creationId xmlns:a16="http://schemas.microsoft.com/office/drawing/2014/main" id="{5998F384-CE4C-5985-9EA3-DE817ABD6966}"/>
              </a:ext>
            </a:extLst>
          </p:cNvPr>
          <p:cNvSpPr>
            <a:spLocks noChangeArrowheads="1"/>
          </p:cNvSpPr>
          <p:nvPr/>
        </p:nvSpPr>
        <p:spPr bwMode="auto">
          <a:xfrm>
            <a:off x="4674680" y="2638933"/>
            <a:ext cx="223391" cy="20180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16" name="Oval 6">
            <a:extLst>
              <a:ext uri="{FF2B5EF4-FFF2-40B4-BE49-F238E27FC236}">
                <a16:creationId xmlns:a16="http://schemas.microsoft.com/office/drawing/2014/main" id="{6C3B6429-DBA8-22C3-A6C5-63F53BE52390}"/>
              </a:ext>
            </a:extLst>
          </p:cNvPr>
          <p:cNvSpPr>
            <a:spLocks noChangeArrowheads="1"/>
          </p:cNvSpPr>
          <p:nvPr/>
        </p:nvSpPr>
        <p:spPr bwMode="auto">
          <a:xfrm>
            <a:off x="5937872" y="2882488"/>
            <a:ext cx="223391" cy="20180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17" name="Oval 6">
            <a:extLst>
              <a:ext uri="{FF2B5EF4-FFF2-40B4-BE49-F238E27FC236}">
                <a16:creationId xmlns:a16="http://schemas.microsoft.com/office/drawing/2014/main" id="{AAF9E557-9E3B-3130-16C1-42B5F5E606DD}"/>
              </a:ext>
            </a:extLst>
          </p:cNvPr>
          <p:cNvSpPr>
            <a:spLocks noChangeArrowheads="1"/>
          </p:cNvSpPr>
          <p:nvPr/>
        </p:nvSpPr>
        <p:spPr bwMode="auto">
          <a:xfrm>
            <a:off x="4674680" y="3138805"/>
            <a:ext cx="223391" cy="20180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0" name="Oval 6">
            <a:extLst>
              <a:ext uri="{FF2B5EF4-FFF2-40B4-BE49-F238E27FC236}">
                <a16:creationId xmlns:a16="http://schemas.microsoft.com/office/drawing/2014/main" id="{835D8CDF-6C2D-B5A3-EC7D-11C49415A0BA}"/>
              </a:ext>
            </a:extLst>
          </p:cNvPr>
          <p:cNvSpPr>
            <a:spLocks noChangeArrowheads="1"/>
          </p:cNvSpPr>
          <p:nvPr/>
        </p:nvSpPr>
        <p:spPr bwMode="auto">
          <a:xfrm>
            <a:off x="5095304" y="3400648"/>
            <a:ext cx="223391" cy="20180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1" name="Oval 6">
            <a:extLst>
              <a:ext uri="{FF2B5EF4-FFF2-40B4-BE49-F238E27FC236}">
                <a16:creationId xmlns:a16="http://schemas.microsoft.com/office/drawing/2014/main" id="{1E59141F-6A13-0588-1EF9-FF52846E01EB}"/>
              </a:ext>
            </a:extLst>
          </p:cNvPr>
          <p:cNvSpPr>
            <a:spLocks noChangeArrowheads="1"/>
          </p:cNvSpPr>
          <p:nvPr/>
        </p:nvSpPr>
        <p:spPr bwMode="auto">
          <a:xfrm>
            <a:off x="4674680" y="3638677"/>
            <a:ext cx="223391" cy="20180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2" name="Oval 6">
            <a:extLst>
              <a:ext uri="{FF2B5EF4-FFF2-40B4-BE49-F238E27FC236}">
                <a16:creationId xmlns:a16="http://schemas.microsoft.com/office/drawing/2014/main" id="{4C911851-C5C6-ED21-6071-35642CC7D5B0}"/>
              </a:ext>
            </a:extLst>
          </p:cNvPr>
          <p:cNvSpPr>
            <a:spLocks noChangeArrowheads="1"/>
          </p:cNvSpPr>
          <p:nvPr/>
        </p:nvSpPr>
        <p:spPr bwMode="auto">
          <a:xfrm>
            <a:off x="5095304" y="3900392"/>
            <a:ext cx="223391" cy="20180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3" name="Oval 6">
            <a:extLst>
              <a:ext uri="{FF2B5EF4-FFF2-40B4-BE49-F238E27FC236}">
                <a16:creationId xmlns:a16="http://schemas.microsoft.com/office/drawing/2014/main" id="{4BFC68BE-58AB-9E4B-F0C3-75BA6AE2BAF0}"/>
              </a:ext>
            </a:extLst>
          </p:cNvPr>
          <p:cNvSpPr>
            <a:spLocks noChangeArrowheads="1"/>
          </p:cNvSpPr>
          <p:nvPr/>
        </p:nvSpPr>
        <p:spPr bwMode="auto">
          <a:xfrm>
            <a:off x="6777800" y="4122058"/>
            <a:ext cx="223391" cy="20180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4" name="Oval 6">
            <a:extLst>
              <a:ext uri="{FF2B5EF4-FFF2-40B4-BE49-F238E27FC236}">
                <a16:creationId xmlns:a16="http://schemas.microsoft.com/office/drawing/2014/main" id="{4350C6D3-123B-53FF-B271-603A3C19A932}"/>
              </a:ext>
            </a:extLst>
          </p:cNvPr>
          <p:cNvSpPr>
            <a:spLocks noChangeArrowheads="1"/>
          </p:cNvSpPr>
          <p:nvPr/>
        </p:nvSpPr>
        <p:spPr bwMode="auto">
          <a:xfrm>
            <a:off x="4571652" y="5933662"/>
            <a:ext cx="326419" cy="294875"/>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5" name="Oval 6">
            <a:extLst>
              <a:ext uri="{FF2B5EF4-FFF2-40B4-BE49-F238E27FC236}">
                <a16:creationId xmlns:a16="http://schemas.microsoft.com/office/drawing/2014/main" id="{6FE077CB-A8C5-6E0D-1BC5-65F3B4D297E4}"/>
              </a:ext>
            </a:extLst>
          </p:cNvPr>
          <p:cNvSpPr>
            <a:spLocks noChangeArrowheads="1"/>
          </p:cNvSpPr>
          <p:nvPr/>
        </p:nvSpPr>
        <p:spPr bwMode="auto">
          <a:xfrm>
            <a:off x="9576468" y="3340608"/>
            <a:ext cx="326419" cy="294875"/>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6" name="Oval 6">
            <a:extLst>
              <a:ext uri="{FF2B5EF4-FFF2-40B4-BE49-F238E27FC236}">
                <a16:creationId xmlns:a16="http://schemas.microsoft.com/office/drawing/2014/main" id="{DBB42943-7E86-98AB-31FA-2FD7345E5D24}"/>
              </a:ext>
            </a:extLst>
          </p:cNvPr>
          <p:cNvSpPr>
            <a:spLocks noChangeArrowheads="1"/>
          </p:cNvSpPr>
          <p:nvPr/>
        </p:nvSpPr>
        <p:spPr bwMode="auto">
          <a:xfrm>
            <a:off x="10130423" y="3340034"/>
            <a:ext cx="326419" cy="294875"/>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7" name="Oval 6">
            <a:extLst>
              <a:ext uri="{FF2B5EF4-FFF2-40B4-BE49-F238E27FC236}">
                <a16:creationId xmlns:a16="http://schemas.microsoft.com/office/drawing/2014/main" id="{383855F9-6553-9462-0B84-82BFBB0EEFBF}"/>
              </a:ext>
            </a:extLst>
          </p:cNvPr>
          <p:cNvSpPr>
            <a:spLocks noChangeArrowheads="1"/>
          </p:cNvSpPr>
          <p:nvPr/>
        </p:nvSpPr>
        <p:spPr bwMode="auto">
          <a:xfrm>
            <a:off x="10130423" y="5933661"/>
            <a:ext cx="326419" cy="294875"/>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
        <p:nvSpPr>
          <p:cNvPr id="28" name="Oval 6">
            <a:extLst>
              <a:ext uri="{FF2B5EF4-FFF2-40B4-BE49-F238E27FC236}">
                <a16:creationId xmlns:a16="http://schemas.microsoft.com/office/drawing/2014/main" id="{71C6118A-2658-5559-474C-2EE63CB63564}"/>
              </a:ext>
            </a:extLst>
          </p:cNvPr>
          <p:cNvSpPr>
            <a:spLocks noChangeArrowheads="1"/>
          </p:cNvSpPr>
          <p:nvPr/>
        </p:nvSpPr>
        <p:spPr bwMode="auto">
          <a:xfrm>
            <a:off x="8995617" y="2545861"/>
            <a:ext cx="326419" cy="1989563"/>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200">
              <a:solidFill>
                <a:schemeClr val="bg1"/>
              </a:solidFill>
            </a:endParaRPr>
          </a:p>
        </p:txBody>
      </p:sp>
    </p:spTree>
    <p:extLst>
      <p:ext uri="{BB962C8B-B14F-4D97-AF65-F5344CB8AC3E}">
        <p14:creationId xmlns:p14="http://schemas.microsoft.com/office/powerpoint/2010/main" val="41763362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Time Observation Tips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altLang="en-US" dirty="0"/>
              <a:t>One form per operator</a:t>
            </a:r>
          </a:p>
          <a:p>
            <a:r>
              <a:rPr lang="en-US" altLang="en-US" dirty="0"/>
              <a:t>Let operators do the time observation</a:t>
            </a:r>
          </a:p>
          <a:p>
            <a:r>
              <a:rPr lang="en-US" altLang="en-US" dirty="0"/>
              <a:t>If you miss a time, keep going – don</a:t>
            </a:r>
            <a:r>
              <a:rPr lang="ja-JP" altLang="en-US" dirty="0"/>
              <a:t>’</a:t>
            </a:r>
            <a:r>
              <a:rPr lang="en-US" altLang="ja-JP" dirty="0"/>
              <a:t>t stop</a:t>
            </a:r>
          </a:p>
          <a:p>
            <a:r>
              <a:rPr lang="en-US" altLang="en-US" dirty="0"/>
              <a:t>Make sure your observation points are logical</a:t>
            </a:r>
          </a:p>
          <a:p>
            <a:r>
              <a:rPr lang="en-US" altLang="en-US" dirty="0"/>
              <a:t>Note any areas for kaizen as you are taking times</a:t>
            </a:r>
          </a:p>
          <a:p>
            <a:r>
              <a:rPr lang="en-US" altLang="en-US" dirty="0"/>
              <a:t>Note abnormalities</a:t>
            </a:r>
          </a:p>
          <a:p>
            <a:pPr>
              <a:buFont typeface="Wingdings" panose="05000000000000000000" pitchFamily="2" charset="2"/>
              <a:buNone/>
            </a:pPr>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52</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16053384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Process Capacity Sheet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altLang="en-US" dirty="0"/>
              <a:t>Used to calculate the capacity of all equipment</a:t>
            </a:r>
          </a:p>
          <a:p>
            <a:r>
              <a:rPr lang="en-US" altLang="en-US" dirty="0"/>
              <a:t>Uses Processing Cycle Time</a:t>
            </a:r>
          </a:p>
          <a:p>
            <a:r>
              <a:rPr lang="en-US" altLang="en-US" dirty="0"/>
              <a:t>Highlights processes that are bottlenecks (where Processing Cycle Time &gt; TAKT Time)</a:t>
            </a:r>
          </a:p>
          <a:p>
            <a:r>
              <a:rPr lang="en-US" altLang="en-US" dirty="0"/>
              <a:t> Proactive tool – allows for “what-if?” scenarios</a:t>
            </a:r>
          </a:p>
          <a:p>
            <a:r>
              <a:rPr lang="en-US" altLang="en-US" dirty="0"/>
              <a:t> One sheet per cell</a:t>
            </a:r>
          </a:p>
          <a:p>
            <a:r>
              <a:rPr lang="en-US" altLang="en-US" dirty="0"/>
              <a:t>Equation: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53</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grpSp>
        <p:nvGrpSpPr>
          <p:cNvPr id="13" name="Group 9">
            <a:extLst>
              <a:ext uri="{FF2B5EF4-FFF2-40B4-BE49-F238E27FC236}">
                <a16:creationId xmlns:a16="http://schemas.microsoft.com/office/drawing/2014/main" id="{DC79DE29-B927-1FE8-EBF7-6C0CD282FE7C}"/>
              </a:ext>
            </a:extLst>
          </p:cNvPr>
          <p:cNvGrpSpPr>
            <a:grpSpLocks/>
          </p:cNvGrpSpPr>
          <p:nvPr/>
        </p:nvGrpSpPr>
        <p:grpSpPr bwMode="auto">
          <a:xfrm>
            <a:off x="3817937" y="5050473"/>
            <a:ext cx="4556125" cy="987425"/>
            <a:chOff x="1445" y="2935"/>
            <a:chExt cx="2870" cy="622"/>
          </a:xfrm>
        </p:grpSpPr>
        <p:sp>
          <p:nvSpPr>
            <p:cNvPr id="14" name="Rectangle 7">
              <a:extLst>
                <a:ext uri="{FF2B5EF4-FFF2-40B4-BE49-F238E27FC236}">
                  <a16:creationId xmlns:a16="http://schemas.microsoft.com/office/drawing/2014/main" id="{A65CD925-6BEB-708C-B460-64D6FA4077C8}"/>
                </a:ext>
              </a:extLst>
            </p:cNvPr>
            <p:cNvSpPr>
              <a:spLocks noChangeArrowheads="1"/>
            </p:cNvSpPr>
            <p:nvPr/>
          </p:nvSpPr>
          <p:spPr bwMode="auto">
            <a:xfrm>
              <a:off x="1445" y="2935"/>
              <a:ext cx="2870" cy="622"/>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solidFill>
                    <a:schemeClr val="bg1"/>
                  </a:solidFill>
                </a:rPr>
                <a:t>Operating time per shift</a:t>
              </a:r>
              <a:br>
                <a:rPr lang="en-US" altLang="en-US" sz="1800">
                  <a:solidFill>
                    <a:schemeClr val="bg1"/>
                  </a:solidFill>
                </a:rPr>
              </a:br>
              <a:endParaRPr lang="en-US" altLang="en-US" sz="1800">
                <a:solidFill>
                  <a:schemeClr val="bg1"/>
                </a:solidFill>
              </a:endParaRPr>
            </a:p>
            <a:p>
              <a:pPr algn="ctr">
                <a:lnSpc>
                  <a:spcPct val="80000"/>
                </a:lnSpc>
                <a:spcBef>
                  <a:spcPct val="20000"/>
                </a:spcBef>
                <a:spcAft>
                  <a:spcPct val="0"/>
                </a:spcAft>
                <a:buClrTx/>
                <a:buSzTx/>
                <a:buFontTx/>
                <a:buNone/>
              </a:pPr>
              <a:r>
                <a:rPr lang="en-US" altLang="en-US" sz="1800">
                  <a:solidFill>
                    <a:schemeClr val="bg1"/>
                  </a:solidFill>
                </a:rPr>
                <a:t>Total time to complete</a:t>
              </a:r>
            </a:p>
          </p:txBody>
        </p:sp>
        <p:sp>
          <p:nvSpPr>
            <p:cNvPr id="15" name="Line 8">
              <a:extLst>
                <a:ext uri="{FF2B5EF4-FFF2-40B4-BE49-F238E27FC236}">
                  <a16:creationId xmlns:a16="http://schemas.microsoft.com/office/drawing/2014/main" id="{32692E0B-A06D-21E5-8EEA-31AE7B0A9407}"/>
                </a:ext>
              </a:extLst>
            </p:cNvPr>
            <p:cNvSpPr>
              <a:spLocks noChangeShapeType="1"/>
            </p:cNvSpPr>
            <p:nvPr/>
          </p:nvSpPr>
          <p:spPr bwMode="auto">
            <a:xfrm>
              <a:off x="1966" y="3227"/>
              <a:ext cx="1837" cy="0"/>
            </a:xfrm>
            <a:prstGeom prst="line">
              <a:avLst/>
            </a:prstGeom>
            <a:noFill/>
            <a:ln w="38100" cap="sq">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17000409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46" descr="process capacity">
            <a:extLst>
              <a:ext uri="{FF2B5EF4-FFF2-40B4-BE49-F238E27FC236}">
                <a16:creationId xmlns:a16="http://schemas.microsoft.com/office/drawing/2014/main" id="{9AEF40FC-9492-7E3D-60A1-CD314DDB207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r="2939" b="13959"/>
          <a:stretch>
            <a:fillRect/>
          </a:stretch>
        </p:blipFill>
        <p:spPr bwMode="auto">
          <a:xfrm>
            <a:off x="2791965" y="1825625"/>
            <a:ext cx="6608069"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Process Capacity Sheet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54</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
        <p:nvSpPr>
          <p:cNvPr id="19" name="Text Box 25">
            <a:extLst>
              <a:ext uri="{FF2B5EF4-FFF2-40B4-BE49-F238E27FC236}">
                <a16:creationId xmlns:a16="http://schemas.microsoft.com/office/drawing/2014/main" id="{695B6C9E-DAEF-489F-7788-642E1437E7CD}"/>
              </a:ext>
            </a:extLst>
          </p:cNvPr>
          <p:cNvSpPr txBox="1">
            <a:spLocks noChangeArrowheads="1"/>
          </p:cNvSpPr>
          <p:nvPr/>
        </p:nvSpPr>
        <p:spPr bwMode="auto">
          <a:xfrm>
            <a:off x="2895600" y="5376228"/>
            <a:ext cx="6400800" cy="461665"/>
          </a:xfrm>
          <a:prstGeom prst="rect">
            <a:avLst/>
          </a:prstGeom>
          <a:solidFill>
            <a:schemeClr val="accent1"/>
          </a:solidFill>
          <a:ln w="28575">
            <a:solidFill>
              <a:schemeClr val="tx1"/>
            </a:solidFill>
            <a:miter lim="800000"/>
            <a:headEnd/>
            <a:tailEnd/>
          </a:ln>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2400" b="0" dirty="0">
                <a:solidFill>
                  <a:schemeClr val="bg1"/>
                </a:solidFill>
                <a:latin typeface="Roboto" panose="02000000000000000000" pitchFamily="2" charset="0"/>
                <a:ea typeface="Roboto" panose="02000000000000000000" pitchFamily="2" charset="0"/>
              </a:rPr>
              <a:t>Capacity Problem</a:t>
            </a:r>
          </a:p>
        </p:txBody>
      </p:sp>
      <p:sp>
        <p:nvSpPr>
          <p:cNvPr id="14" name="Oval 30">
            <a:extLst>
              <a:ext uri="{FF2B5EF4-FFF2-40B4-BE49-F238E27FC236}">
                <a16:creationId xmlns:a16="http://schemas.microsoft.com/office/drawing/2014/main" id="{8C8A527C-60DD-A2F2-4111-18E5F4D38AB7}"/>
              </a:ext>
            </a:extLst>
          </p:cNvPr>
          <p:cNvSpPr>
            <a:spLocks noChangeArrowheads="1"/>
          </p:cNvSpPr>
          <p:nvPr/>
        </p:nvSpPr>
        <p:spPr bwMode="auto">
          <a:xfrm>
            <a:off x="7661910" y="3478518"/>
            <a:ext cx="574675" cy="355600"/>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cxnSp>
        <p:nvCxnSpPr>
          <p:cNvPr id="16" name="Straight Arrow Connector 15">
            <a:extLst>
              <a:ext uri="{FF2B5EF4-FFF2-40B4-BE49-F238E27FC236}">
                <a16:creationId xmlns:a16="http://schemas.microsoft.com/office/drawing/2014/main" id="{5E734D06-6281-32F1-0948-75FA8F1185F9}"/>
              </a:ext>
            </a:extLst>
          </p:cNvPr>
          <p:cNvCxnSpPr>
            <a:stCxn id="19" idx="0"/>
          </p:cNvCxnSpPr>
          <p:nvPr/>
        </p:nvCxnSpPr>
        <p:spPr>
          <a:xfrm flipV="1">
            <a:off x="6096000" y="3834118"/>
            <a:ext cx="1562100" cy="15421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56674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Standard Work Combination Sheet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Graphically “combines” the interaction of the operator and equipment</a:t>
            </a:r>
          </a:p>
          <a:p>
            <a:r>
              <a:rPr lang="en-US" dirty="0"/>
              <a:t>Provides for a repeatable standard to follow </a:t>
            </a:r>
          </a:p>
          <a:p>
            <a:r>
              <a:rPr lang="en-US" dirty="0"/>
              <a:t>Compares relative cycle times with TAKT Times</a:t>
            </a:r>
          </a:p>
          <a:p>
            <a:r>
              <a:rPr lang="en-US" dirty="0"/>
              <a:t>Used to identify areas for improvement</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55</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24465325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Standard Work Combination Sheet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56</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grpSp>
        <p:nvGrpSpPr>
          <p:cNvPr id="65" name="Group 83">
            <a:extLst>
              <a:ext uri="{FF2B5EF4-FFF2-40B4-BE49-F238E27FC236}">
                <a16:creationId xmlns:a16="http://schemas.microsoft.com/office/drawing/2014/main" id="{5D8D030B-5D79-7B63-E8F9-91DAF17DBAF7}"/>
              </a:ext>
            </a:extLst>
          </p:cNvPr>
          <p:cNvGrpSpPr>
            <a:grpSpLocks/>
          </p:cNvGrpSpPr>
          <p:nvPr/>
        </p:nvGrpSpPr>
        <p:grpSpPr bwMode="auto">
          <a:xfrm>
            <a:off x="1118234" y="1797281"/>
            <a:ext cx="9955531" cy="4429273"/>
            <a:chOff x="302" y="849"/>
            <a:chExt cx="5193" cy="3064"/>
          </a:xfrm>
        </p:grpSpPr>
        <p:pic>
          <p:nvPicPr>
            <p:cNvPr id="66" name="Picture 81" descr="sw combo">
              <a:extLst>
                <a:ext uri="{FF2B5EF4-FFF2-40B4-BE49-F238E27FC236}">
                  <a16:creationId xmlns:a16="http://schemas.microsoft.com/office/drawing/2014/main" id="{4390214B-A1C7-F915-3565-B0B28E6FCF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 y="849"/>
              <a:ext cx="5193" cy="3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 name="Line 46">
              <a:extLst>
                <a:ext uri="{FF2B5EF4-FFF2-40B4-BE49-F238E27FC236}">
                  <a16:creationId xmlns:a16="http://schemas.microsoft.com/office/drawing/2014/main" id="{27429A00-9B95-58D4-F6EF-78C203C4EF8C}"/>
                </a:ext>
              </a:extLst>
            </p:cNvPr>
            <p:cNvSpPr>
              <a:spLocks noChangeShapeType="1"/>
            </p:cNvSpPr>
            <p:nvPr/>
          </p:nvSpPr>
          <p:spPr bwMode="auto">
            <a:xfrm>
              <a:off x="2260" y="1568"/>
              <a:ext cx="63"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 name="Line 47">
              <a:extLst>
                <a:ext uri="{FF2B5EF4-FFF2-40B4-BE49-F238E27FC236}">
                  <a16:creationId xmlns:a16="http://schemas.microsoft.com/office/drawing/2014/main" id="{FFC8A0B3-7E4D-C219-0172-6D4B9536F8BA}"/>
                </a:ext>
              </a:extLst>
            </p:cNvPr>
            <p:cNvSpPr>
              <a:spLocks noChangeShapeType="1"/>
            </p:cNvSpPr>
            <p:nvPr/>
          </p:nvSpPr>
          <p:spPr bwMode="auto">
            <a:xfrm>
              <a:off x="2531" y="1835"/>
              <a:ext cx="82"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 name="Line 48">
              <a:extLst>
                <a:ext uri="{FF2B5EF4-FFF2-40B4-BE49-F238E27FC236}">
                  <a16:creationId xmlns:a16="http://schemas.microsoft.com/office/drawing/2014/main" id="{BA8E6D95-ED74-DB86-5239-90EF8DEE028F}"/>
                </a:ext>
              </a:extLst>
            </p:cNvPr>
            <p:cNvSpPr>
              <a:spLocks noChangeShapeType="1"/>
            </p:cNvSpPr>
            <p:nvPr/>
          </p:nvSpPr>
          <p:spPr bwMode="auto">
            <a:xfrm rot="1090681" flipV="1">
              <a:off x="2321" y="1687"/>
              <a:ext cx="124" cy="32"/>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 name="Freeform 49">
              <a:extLst>
                <a:ext uri="{FF2B5EF4-FFF2-40B4-BE49-F238E27FC236}">
                  <a16:creationId xmlns:a16="http://schemas.microsoft.com/office/drawing/2014/main" id="{9FDB9B9C-D6B3-F58E-D102-408F0AD43BBA}"/>
                </a:ext>
              </a:extLst>
            </p:cNvPr>
            <p:cNvSpPr>
              <a:spLocks/>
            </p:cNvSpPr>
            <p:nvPr/>
          </p:nvSpPr>
          <p:spPr bwMode="auto">
            <a:xfrm>
              <a:off x="2413" y="1687"/>
              <a:ext cx="133" cy="173"/>
            </a:xfrm>
            <a:custGeom>
              <a:avLst/>
              <a:gdLst>
                <a:gd name="T0" fmla="*/ 0 w 144"/>
                <a:gd name="T1" fmla="*/ 16 h 192"/>
                <a:gd name="T2" fmla="*/ 70 w 144"/>
                <a:gd name="T3" fmla="*/ 16 h 192"/>
                <a:gd name="T4" fmla="*/ 35 w 144"/>
                <a:gd name="T5" fmla="*/ 111 h 192"/>
                <a:gd name="T6" fmla="*/ 105 w 144"/>
                <a:gd name="T7" fmla="*/ 111 h 192"/>
                <a:gd name="T8" fmla="*/ 0 60000 65536"/>
                <a:gd name="T9" fmla="*/ 0 60000 65536"/>
                <a:gd name="T10" fmla="*/ 0 60000 65536"/>
                <a:gd name="T11" fmla="*/ 0 60000 65536"/>
                <a:gd name="T12" fmla="*/ 0 w 144"/>
                <a:gd name="T13" fmla="*/ 0 h 192"/>
                <a:gd name="T14" fmla="*/ 144 w 144"/>
                <a:gd name="T15" fmla="*/ 192 h 192"/>
              </a:gdLst>
              <a:ahLst/>
              <a:cxnLst>
                <a:cxn ang="T8">
                  <a:pos x="T0" y="T1"/>
                </a:cxn>
                <a:cxn ang="T9">
                  <a:pos x="T2" y="T3"/>
                </a:cxn>
                <a:cxn ang="T10">
                  <a:pos x="T4" y="T5"/>
                </a:cxn>
                <a:cxn ang="T11">
                  <a:pos x="T6" y="T7"/>
                </a:cxn>
              </a:cxnLst>
              <a:rect l="T12" t="T13" r="T14" b="T15"/>
              <a:pathLst>
                <a:path w="144" h="192">
                  <a:moveTo>
                    <a:pt x="0" y="24"/>
                  </a:moveTo>
                  <a:cubicBezTo>
                    <a:pt x="44" y="12"/>
                    <a:pt x="88" y="0"/>
                    <a:pt x="96" y="24"/>
                  </a:cubicBezTo>
                  <a:cubicBezTo>
                    <a:pt x="104" y="48"/>
                    <a:pt x="40" y="144"/>
                    <a:pt x="48" y="168"/>
                  </a:cubicBezTo>
                  <a:cubicBezTo>
                    <a:pt x="56" y="192"/>
                    <a:pt x="136" y="160"/>
                    <a:pt x="144" y="168"/>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 name="Line 50">
              <a:extLst>
                <a:ext uri="{FF2B5EF4-FFF2-40B4-BE49-F238E27FC236}">
                  <a16:creationId xmlns:a16="http://schemas.microsoft.com/office/drawing/2014/main" id="{16424538-3AC3-0D17-A1D0-BD3EED9271A0}"/>
                </a:ext>
              </a:extLst>
            </p:cNvPr>
            <p:cNvSpPr>
              <a:spLocks noChangeShapeType="1"/>
            </p:cNvSpPr>
            <p:nvPr/>
          </p:nvSpPr>
          <p:spPr bwMode="auto">
            <a:xfrm>
              <a:off x="2579" y="1837"/>
              <a:ext cx="63"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 name="Freeform 51">
              <a:extLst>
                <a:ext uri="{FF2B5EF4-FFF2-40B4-BE49-F238E27FC236}">
                  <a16:creationId xmlns:a16="http://schemas.microsoft.com/office/drawing/2014/main" id="{645F9D98-2E2A-AA42-20B8-D2581B99566E}"/>
                </a:ext>
              </a:extLst>
            </p:cNvPr>
            <p:cNvSpPr>
              <a:spLocks/>
            </p:cNvSpPr>
            <p:nvPr/>
          </p:nvSpPr>
          <p:spPr bwMode="auto">
            <a:xfrm>
              <a:off x="2609" y="1827"/>
              <a:ext cx="133" cy="174"/>
            </a:xfrm>
            <a:custGeom>
              <a:avLst/>
              <a:gdLst>
                <a:gd name="T0" fmla="*/ 0 w 144"/>
                <a:gd name="T1" fmla="*/ 16 h 192"/>
                <a:gd name="T2" fmla="*/ 70 w 144"/>
                <a:gd name="T3" fmla="*/ 16 h 192"/>
                <a:gd name="T4" fmla="*/ 35 w 144"/>
                <a:gd name="T5" fmla="*/ 113 h 192"/>
                <a:gd name="T6" fmla="*/ 105 w 144"/>
                <a:gd name="T7" fmla="*/ 113 h 192"/>
                <a:gd name="T8" fmla="*/ 0 60000 65536"/>
                <a:gd name="T9" fmla="*/ 0 60000 65536"/>
                <a:gd name="T10" fmla="*/ 0 60000 65536"/>
                <a:gd name="T11" fmla="*/ 0 60000 65536"/>
                <a:gd name="T12" fmla="*/ 0 w 144"/>
                <a:gd name="T13" fmla="*/ 0 h 192"/>
                <a:gd name="T14" fmla="*/ 144 w 144"/>
                <a:gd name="T15" fmla="*/ 192 h 192"/>
              </a:gdLst>
              <a:ahLst/>
              <a:cxnLst>
                <a:cxn ang="T8">
                  <a:pos x="T0" y="T1"/>
                </a:cxn>
                <a:cxn ang="T9">
                  <a:pos x="T2" y="T3"/>
                </a:cxn>
                <a:cxn ang="T10">
                  <a:pos x="T4" y="T5"/>
                </a:cxn>
                <a:cxn ang="T11">
                  <a:pos x="T6" y="T7"/>
                </a:cxn>
              </a:cxnLst>
              <a:rect l="T12" t="T13" r="T14" b="T15"/>
              <a:pathLst>
                <a:path w="144" h="192">
                  <a:moveTo>
                    <a:pt x="0" y="24"/>
                  </a:moveTo>
                  <a:cubicBezTo>
                    <a:pt x="44" y="12"/>
                    <a:pt x="88" y="0"/>
                    <a:pt x="96" y="24"/>
                  </a:cubicBezTo>
                  <a:cubicBezTo>
                    <a:pt x="104" y="48"/>
                    <a:pt x="40" y="144"/>
                    <a:pt x="48" y="168"/>
                  </a:cubicBezTo>
                  <a:cubicBezTo>
                    <a:pt x="56" y="192"/>
                    <a:pt x="136" y="160"/>
                    <a:pt x="144" y="168"/>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3" name="Line 52">
              <a:extLst>
                <a:ext uri="{FF2B5EF4-FFF2-40B4-BE49-F238E27FC236}">
                  <a16:creationId xmlns:a16="http://schemas.microsoft.com/office/drawing/2014/main" id="{D4BEFF30-C534-7458-F97E-91F56C44BF52}"/>
                </a:ext>
              </a:extLst>
            </p:cNvPr>
            <p:cNvSpPr>
              <a:spLocks noChangeShapeType="1"/>
            </p:cNvSpPr>
            <p:nvPr/>
          </p:nvSpPr>
          <p:spPr bwMode="auto">
            <a:xfrm rot="1090681" flipV="1">
              <a:off x="2750" y="1941"/>
              <a:ext cx="315" cy="83"/>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4" name="Freeform 53">
              <a:extLst>
                <a:ext uri="{FF2B5EF4-FFF2-40B4-BE49-F238E27FC236}">
                  <a16:creationId xmlns:a16="http://schemas.microsoft.com/office/drawing/2014/main" id="{4827EBA2-082F-A0BA-E821-9110B5FB4A42}"/>
                </a:ext>
              </a:extLst>
            </p:cNvPr>
            <p:cNvSpPr>
              <a:spLocks/>
            </p:cNvSpPr>
            <p:nvPr/>
          </p:nvSpPr>
          <p:spPr bwMode="auto">
            <a:xfrm>
              <a:off x="3063" y="1956"/>
              <a:ext cx="133" cy="234"/>
            </a:xfrm>
            <a:custGeom>
              <a:avLst/>
              <a:gdLst>
                <a:gd name="T0" fmla="*/ 0 w 144"/>
                <a:gd name="T1" fmla="*/ 52 h 192"/>
                <a:gd name="T2" fmla="*/ 70 w 144"/>
                <a:gd name="T3" fmla="*/ 52 h 192"/>
                <a:gd name="T4" fmla="*/ 35 w 144"/>
                <a:gd name="T5" fmla="*/ 372 h 192"/>
                <a:gd name="T6" fmla="*/ 105 w 144"/>
                <a:gd name="T7" fmla="*/ 372 h 192"/>
                <a:gd name="T8" fmla="*/ 0 60000 65536"/>
                <a:gd name="T9" fmla="*/ 0 60000 65536"/>
                <a:gd name="T10" fmla="*/ 0 60000 65536"/>
                <a:gd name="T11" fmla="*/ 0 60000 65536"/>
                <a:gd name="T12" fmla="*/ 0 w 144"/>
                <a:gd name="T13" fmla="*/ 0 h 192"/>
                <a:gd name="T14" fmla="*/ 144 w 144"/>
                <a:gd name="T15" fmla="*/ 192 h 192"/>
              </a:gdLst>
              <a:ahLst/>
              <a:cxnLst>
                <a:cxn ang="T8">
                  <a:pos x="T0" y="T1"/>
                </a:cxn>
                <a:cxn ang="T9">
                  <a:pos x="T2" y="T3"/>
                </a:cxn>
                <a:cxn ang="T10">
                  <a:pos x="T4" y="T5"/>
                </a:cxn>
                <a:cxn ang="T11">
                  <a:pos x="T6" y="T7"/>
                </a:cxn>
              </a:cxnLst>
              <a:rect l="T12" t="T13" r="T14" b="T15"/>
              <a:pathLst>
                <a:path w="144" h="192">
                  <a:moveTo>
                    <a:pt x="0" y="24"/>
                  </a:moveTo>
                  <a:cubicBezTo>
                    <a:pt x="44" y="12"/>
                    <a:pt x="88" y="0"/>
                    <a:pt x="96" y="24"/>
                  </a:cubicBezTo>
                  <a:cubicBezTo>
                    <a:pt x="104" y="48"/>
                    <a:pt x="40" y="144"/>
                    <a:pt x="48" y="168"/>
                  </a:cubicBezTo>
                  <a:cubicBezTo>
                    <a:pt x="56" y="192"/>
                    <a:pt x="136" y="160"/>
                    <a:pt x="144" y="168"/>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 name="Line 54">
              <a:extLst>
                <a:ext uri="{FF2B5EF4-FFF2-40B4-BE49-F238E27FC236}">
                  <a16:creationId xmlns:a16="http://schemas.microsoft.com/office/drawing/2014/main" id="{E961B421-D773-4783-B21A-E0F9B41A7FF3}"/>
                </a:ext>
              </a:extLst>
            </p:cNvPr>
            <p:cNvSpPr>
              <a:spLocks noChangeShapeType="1"/>
            </p:cNvSpPr>
            <p:nvPr/>
          </p:nvSpPr>
          <p:spPr bwMode="auto">
            <a:xfrm rot="1090681" flipV="1">
              <a:off x="3199" y="2142"/>
              <a:ext cx="124" cy="32"/>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 name="Freeform 55">
              <a:extLst>
                <a:ext uri="{FF2B5EF4-FFF2-40B4-BE49-F238E27FC236}">
                  <a16:creationId xmlns:a16="http://schemas.microsoft.com/office/drawing/2014/main" id="{3904C978-C785-9077-5405-6B87891F75D0}"/>
                </a:ext>
              </a:extLst>
            </p:cNvPr>
            <p:cNvSpPr>
              <a:spLocks/>
            </p:cNvSpPr>
            <p:nvPr/>
          </p:nvSpPr>
          <p:spPr bwMode="auto">
            <a:xfrm>
              <a:off x="3520" y="2271"/>
              <a:ext cx="133" cy="234"/>
            </a:xfrm>
            <a:custGeom>
              <a:avLst/>
              <a:gdLst>
                <a:gd name="T0" fmla="*/ 0 w 144"/>
                <a:gd name="T1" fmla="*/ 52 h 192"/>
                <a:gd name="T2" fmla="*/ 70 w 144"/>
                <a:gd name="T3" fmla="*/ 52 h 192"/>
                <a:gd name="T4" fmla="*/ 35 w 144"/>
                <a:gd name="T5" fmla="*/ 372 h 192"/>
                <a:gd name="T6" fmla="*/ 105 w 144"/>
                <a:gd name="T7" fmla="*/ 372 h 192"/>
                <a:gd name="T8" fmla="*/ 0 60000 65536"/>
                <a:gd name="T9" fmla="*/ 0 60000 65536"/>
                <a:gd name="T10" fmla="*/ 0 60000 65536"/>
                <a:gd name="T11" fmla="*/ 0 60000 65536"/>
                <a:gd name="T12" fmla="*/ 0 w 144"/>
                <a:gd name="T13" fmla="*/ 0 h 192"/>
                <a:gd name="T14" fmla="*/ 144 w 144"/>
                <a:gd name="T15" fmla="*/ 192 h 192"/>
              </a:gdLst>
              <a:ahLst/>
              <a:cxnLst>
                <a:cxn ang="T8">
                  <a:pos x="T0" y="T1"/>
                </a:cxn>
                <a:cxn ang="T9">
                  <a:pos x="T2" y="T3"/>
                </a:cxn>
                <a:cxn ang="T10">
                  <a:pos x="T4" y="T5"/>
                </a:cxn>
                <a:cxn ang="T11">
                  <a:pos x="T6" y="T7"/>
                </a:cxn>
              </a:cxnLst>
              <a:rect l="T12" t="T13" r="T14" b="T15"/>
              <a:pathLst>
                <a:path w="144" h="192">
                  <a:moveTo>
                    <a:pt x="0" y="24"/>
                  </a:moveTo>
                  <a:cubicBezTo>
                    <a:pt x="44" y="12"/>
                    <a:pt x="88" y="0"/>
                    <a:pt x="96" y="24"/>
                  </a:cubicBezTo>
                  <a:cubicBezTo>
                    <a:pt x="104" y="48"/>
                    <a:pt x="40" y="144"/>
                    <a:pt x="48" y="168"/>
                  </a:cubicBezTo>
                  <a:cubicBezTo>
                    <a:pt x="56" y="192"/>
                    <a:pt x="136" y="160"/>
                    <a:pt x="144" y="168"/>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7" name="Line 56">
              <a:extLst>
                <a:ext uri="{FF2B5EF4-FFF2-40B4-BE49-F238E27FC236}">
                  <a16:creationId xmlns:a16="http://schemas.microsoft.com/office/drawing/2014/main" id="{182F9DD3-BC17-8194-C39F-23317552CDE5}"/>
                </a:ext>
              </a:extLst>
            </p:cNvPr>
            <p:cNvSpPr>
              <a:spLocks noChangeShapeType="1"/>
            </p:cNvSpPr>
            <p:nvPr/>
          </p:nvSpPr>
          <p:spPr bwMode="auto">
            <a:xfrm rot="1090681" flipV="1">
              <a:off x="3426" y="2284"/>
              <a:ext cx="124" cy="32"/>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8" name="Freeform 57">
              <a:extLst>
                <a:ext uri="{FF2B5EF4-FFF2-40B4-BE49-F238E27FC236}">
                  <a16:creationId xmlns:a16="http://schemas.microsoft.com/office/drawing/2014/main" id="{23758325-7EF2-91EA-8093-22D23810FC81}"/>
                </a:ext>
              </a:extLst>
            </p:cNvPr>
            <p:cNvSpPr>
              <a:spLocks/>
            </p:cNvSpPr>
            <p:nvPr/>
          </p:nvSpPr>
          <p:spPr bwMode="auto">
            <a:xfrm>
              <a:off x="3291" y="2149"/>
              <a:ext cx="133" cy="174"/>
            </a:xfrm>
            <a:custGeom>
              <a:avLst/>
              <a:gdLst>
                <a:gd name="T0" fmla="*/ 0 w 144"/>
                <a:gd name="T1" fmla="*/ 16 h 192"/>
                <a:gd name="T2" fmla="*/ 70 w 144"/>
                <a:gd name="T3" fmla="*/ 16 h 192"/>
                <a:gd name="T4" fmla="*/ 35 w 144"/>
                <a:gd name="T5" fmla="*/ 113 h 192"/>
                <a:gd name="T6" fmla="*/ 105 w 144"/>
                <a:gd name="T7" fmla="*/ 113 h 192"/>
                <a:gd name="T8" fmla="*/ 0 60000 65536"/>
                <a:gd name="T9" fmla="*/ 0 60000 65536"/>
                <a:gd name="T10" fmla="*/ 0 60000 65536"/>
                <a:gd name="T11" fmla="*/ 0 60000 65536"/>
                <a:gd name="T12" fmla="*/ 0 w 144"/>
                <a:gd name="T13" fmla="*/ 0 h 192"/>
                <a:gd name="T14" fmla="*/ 144 w 144"/>
                <a:gd name="T15" fmla="*/ 192 h 192"/>
              </a:gdLst>
              <a:ahLst/>
              <a:cxnLst>
                <a:cxn ang="T8">
                  <a:pos x="T0" y="T1"/>
                </a:cxn>
                <a:cxn ang="T9">
                  <a:pos x="T2" y="T3"/>
                </a:cxn>
                <a:cxn ang="T10">
                  <a:pos x="T4" y="T5"/>
                </a:cxn>
                <a:cxn ang="T11">
                  <a:pos x="T6" y="T7"/>
                </a:cxn>
              </a:cxnLst>
              <a:rect l="T12" t="T13" r="T14" b="T15"/>
              <a:pathLst>
                <a:path w="144" h="192">
                  <a:moveTo>
                    <a:pt x="0" y="24"/>
                  </a:moveTo>
                  <a:cubicBezTo>
                    <a:pt x="44" y="12"/>
                    <a:pt x="88" y="0"/>
                    <a:pt x="96" y="24"/>
                  </a:cubicBezTo>
                  <a:cubicBezTo>
                    <a:pt x="104" y="48"/>
                    <a:pt x="40" y="144"/>
                    <a:pt x="48" y="168"/>
                  </a:cubicBezTo>
                  <a:cubicBezTo>
                    <a:pt x="56" y="192"/>
                    <a:pt x="136" y="160"/>
                    <a:pt x="144" y="168"/>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9" name="Line 58">
              <a:extLst>
                <a:ext uri="{FF2B5EF4-FFF2-40B4-BE49-F238E27FC236}">
                  <a16:creationId xmlns:a16="http://schemas.microsoft.com/office/drawing/2014/main" id="{E2D4972D-F499-7CA9-B531-2721B1B3F9AC}"/>
                </a:ext>
              </a:extLst>
            </p:cNvPr>
            <p:cNvSpPr>
              <a:spLocks noChangeShapeType="1"/>
            </p:cNvSpPr>
            <p:nvPr/>
          </p:nvSpPr>
          <p:spPr bwMode="auto">
            <a:xfrm>
              <a:off x="3648" y="2472"/>
              <a:ext cx="787"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 name="Line 59">
              <a:extLst>
                <a:ext uri="{FF2B5EF4-FFF2-40B4-BE49-F238E27FC236}">
                  <a16:creationId xmlns:a16="http://schemas.microsoft.com/office/drawing/2014/main" id="{793C62AE-68B7-DA22-3F78-F8589842FBC6}"/>
                </a:ext>
              </a:extLst>
            </p:cNvPr>
            <p:cNvSpPr>
              <a:spLocks noChangeShapeType="1"/>
            </p:cNvSpPr>
            <p:nvPr/>
          </p:nvSpPr>
          <p:spPr bwMode="auto">
            <a:xfrm>
              <a:off x="2314" y="1568"/>
              <a:ext cx="0" cy="1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1" name="Freeform 61">
              <a:extLst>
                <a:ext uri="{FF2B5EF4-FFF2-40B4-BE49-F238E27FC236}">
                  <a16:creationId xmlns:a16="http://schemas.microsoft.com/office/drawing/2014/main" id="{F22B21B6-630B-6613-BF07-852AABF0B845}"/>
                </a:ext>
              </a:extLst>
            </p:cNvPr>
            <p:cNvSpPr>
              <a:spLocks/>
            </p:cNvSpPr>
            <p:nvPr/>
          </p:nvSpPr>
          <p:spPr bwMode="auto">
            <a:xfrm>
              <a:off x="4397" y="1550"/>
              <a:ext cx="140" cy="937"/>
            </a:xfrm>
            <a:custGeom>
              <a:avLst/>
              <a:gdLst>
                <a:gd name="T0" fmla="*/ 104 w 152"/>
                <a:gd name="T1" fmla="*/ 0 h 1296"/>
                <a:gd name="T2" fmla="*/ 35 w 152"/>
                <a:gd name="T3" fmla="*/ 52 h 1296"/>
                <a:gd name="T4" fmla="*/ 69 w 152"/>
                <a:gd name="T5" fmla="*/ 118 h 1296"/>
                <a:gd name="T6" fmla="*/ 104 w 152"/>
                <a:gd name="T7" fmla="*/ 171 h 1296"/>
                <a:gd name="T8" fmla="*/ 35 w 152"/>
                <a:gd name="T9" fmla="*/ 249 h 1296"/>
                <a:gd name="T10" fmla="*/ 104 w 152"/>
                <a:gd name="T11" fmla="*/ 288 h 1296"/>
                <a:gd name="T12" fmla="*/ 0 w 152"/>
                <a:gd name="T13" fmla="*/ 354 h 1296"/>
                <a:gd name="T14" fmla="*/ 0 60000 65536"/>
                <a:gd name="T15" fmla="*/ 0 60000 65536"/>
                <a:gd name="T16" fmla="*/ 0 60000 65536"/>
                <a:gd name="T17" fmla="*/ 0 60000 65536"/>
                <a:gd name="T18" fmla="*/ 0 60000 65536"/>
                <a:gd name="T19" fmla="*/ 0 60000 65536"/>
                <a:gd name="T20" fmla="*/ 0 60000 65536"/>
                <a:gd name="T21" fmla="*/ 0 w 152"/>
                <a:gd name="T22" fmla="*/ 0 h 1296"/>
                <a:gd name="T23" fmla="*/ 152 w 152"/>
                <a:gd name="T24" fmla="*/ 1296 h 12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2" h="1296">
                  <a:moveTo>
                    <a:pt x="144" y="0"/>
                  </a:moveTo>
                  <a:cubicBezTo>
                    <a:pt x="100" y="60"/>
                    <a:pt x="56" y="120"/>
                    <a:pt x="48" y="192"/>
                  </a:cubicBezTo>
                  <a:cubicBezTo>
                    <a:pt x="40" y="264"/>
                    <a:pt x="80" y="360"/>
                    <a:pt x="96" y="432"/>
                  </a:cubicBezTo>
                  <a:cubicBezTo>
                    <a:pt x="112" y="504"/>
                    <a:pt x="152" y="544"/>
                    <a:pt x="144" y="624"/>
                  </a:cubicBezTo>
                  <a:cubicBezTo>
                    <a:pt x="136" y="704"/>
                    <a:pt x="48" y="840"/>
                    <a:pt x="48" y="912"/>
                  </a:cubicBezTo>
                  <a:cubicBezTo>
                    <a:pt x="48" y="984"/>
                    <a:pt x="152" y="992"/>
                    <a:pt x="144" y="1056"/>
                  </a:cubicBezTo>
                  <a:cubicBezTo>
                    <a:pt x="136" y="1120"/>
                    <a:pt x="68" y="1208"/>
                    <a:pt x="0" y="1296"/>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 name="Line 62">
              <a:extLst>
                <a:ext uri="{FF2B5EF4-FFF2-40B4-BE49-F238E27FC236}">
                  <a16:creationId xmlns:a16="http://schemas.microsoft.com/office/drawing/2014/main" id="{D070FCCF-342B-2E38-D134-6348AAAE55EB}"/>
                </a:ext>
              </a:extLst>
            </p:cNvPr>
            <p:cNvSpPr>
              <a:spLocks noChangeShapeType="1"/>
            </p:cNvSpPr>
            <p:nvPr/>
          </p:nvSpPr>
          <p:spPr bwMode="auto">
            <a:xfrm>
              <a:off x="4777" y="1464"/>
              <a:ext cx="0" cy="2289"/>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 name="Line 63">
              <a:extLst>
                <a:ext uri="{FF2B5EF4-FFF2-40B4-BE49-F238E27FC236}">
                  <a16:creationId xmlns:a16="http://schemas.microsoft.com/office/drawing/2014/main" id="{CC0B82C2-EAE2-624B-C15D-E62603D7EC4F}"/>
                </a:ext>
              </a:extLst>
            </p:cNvPr>
            <p:cNvSpPr>
              <a:spLocks noChangeShapeType="1"/>
            </p:cNvSpPr>
            <p:nvPr/>
          </p:nvSpPr>
          <p:spPr bwMode="auto">
            <a:xfrm>
              <a:off x="4507" y="1556"/>
              <a:ext cx="292" cy="0"/>
            </a:xfrm>
            <a:prstGeom prst="line">
              <a:avLst/>
            </a:prstGeom>
            <a:noFill/>
            <a:ln w="38100" cmpd="dbl">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en-US"/>
            </a:p>
          </p:txBody>
        </p:sp>
        <p:sp>
          <p:nvSpPr>
            <p:cNvPr id="84" name="Line 64">
              <a:extLst>
                <a:ext uri="{FF2B5EF4-FFF2-40B4-BE49-F238E27FC236}">
                  <a16:creationId xmlns:a16="http://schemas.microsoft.com/office/drawing/2014/main" id="{5435DFB6-33CD-DC5D-8ACA-5902BD104BFB}"/>
                </a:ext>
              </a:extLst>
            </p:cNvPr>
            <p:cNvSpPr>
              <a:spLocks noChangeShapeType="1"/>
            </p:cNvSpPr>
            <p:nvPr/>
          </p:nvSpPr>
          <p:spPr bwMode="auto">
            <a:xfrm>
              <a:off x="2360" y="1706"/>
              <a:ext cx="2169" cy="0"/>
            </a:xfrm>
            <a:prstGeom prst="line">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 name="Line 65">
              <a:extLst>
                <a:ext uri="{FF2B5EF4-FFF2-40B4-BE49-F238E27FC236}">
                  <a16:creationId xmlns:a16="http://schemas.microsoft.com/office/drawing/2014/main" id="{ACFF0F6B-CC0D-C080-166E-CFDC2103498F}"/>
                </a:ext>
              </a:extLst>
            </p:cNvPr>
            <p:cNvSpPr>
              <a:spLocks noChangeShapeType="1"/>
            </p:cNvSpPr>
            <p:nvPr/>
          </p:nvSpPr>
          <p:spPr bwMode="auto">
            <a:xfrm>
              <a:off x="2537" y="1834"/>
              <a:ext cx="1240" cy="5"/>
            </a:xfrm>
            <a:prstGeom prst="line">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 name="Line 66">
              <a:extLst>
                <a:ext uri="{FF2B5EF4-FFF2-40B4-BE49-F238E27FC236}">
                  <a16:creationId xmlns:a16="http://schemas.microsoft.com/office/drawing/2014/main" id="{4C2A3147-A5F9-0E3B-EC05-271F5CD14E07}"/>
                </a:ext>
              </a:extLst>
            </p:cNvPr>
            <p:cNvSpPr>
              <a:spLocks noChangeShapeType="1"/>
            </p:cNvSpPr>
            <p:nvPr/>
          </p:nvSpPr>
          <p:spPr bwMode="auto">
            <a:xfrm>
              <a:off x="3223" y="2155"/>
              <a:ext cx="886" cy="2"/>
            </a:xfrm>
            <a:prstGeom prst="line">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7" name="Line 67">
              <a:extLst>
                <a:ext uri="{FF2B5EF4-FFF2-40B4-BE49-F238E27FC236}">
                  <a16:creationId xmlns:a16="http://schemas.microsoft.com/office/drawing/2014/main" id="{9C65847A-5425-754E-E6E0-654B24BC616F}"/>
                </a:ext>
              </a:extLst>
            </p:cNvPr>
            <p:cNvSpPr>
              <a:spLocks noChangeShapeType="1"/>
            </p:cNvSpPr>
            <p:nvPr/>
          </p:nvSpPr>
          <p:spPr bwMode="auto">
            <a:xfrm>
              <a:off x="3529" y="2296"/>
              <a:ext cx="1229" cy="0"/>
            </a:xfrm>
            <a:prstGeom prst="line">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 name="Line 68">
              <a:extLst>
                <a:ext uri="{FF2B5EF4-FFF2-40B4-BE49-F238E27FC236}">
                  <a16:creationId xmlns:a16="http://schemas.microsoft.com/office/drawing/2014/main" id="{7A329CBB-96E3-B5C8-22F7-D36D40521630}"/>
                </a:ext>
              </a:extLst>
            </p:cNvPr>
            <p:cNvSpPr>
              <a:spLocks noChangeShapeType="1"/>
            </p:cNvSpPr>
            <p:nvPr/>
          </p:nvSpPr>
          <p:spPr bwMode="auto">
            <a:xfrm>
              <a:off x="2260" y="2293"/>
              <a:ext cx="380" cy="3"/>
            </a:xfrm>
            <a:prstGeom prst="line">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7115125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Standard Work Combination Tips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One sheet per operator</a:t>
            </a:r>
          </a:p>
          <a:p>
            <a:r>
              <a:rPr lang="en-US" dirty="0"/>
              <a:t>Post at the operator’s workstation</a:t>
            </a:r>
          </a:p>
          <a:p>
            <a:r>
              <a:rPr lang="en-US" dirty="0"/>
              <a:t>Create “playbook” with various TAKT Times</a:t>
            </a:r>
          </a:p>
          <a:p>
            <a:r>
              <a:rPr lang="en-US" dirty="0"/>
              <a:t>Always date your documentation</a:t>
            </a:r>
          </a:p>
          <a:p>
            <a:r>
              <a:rPr lang="en-US" dirty="0"/>
              <a:t>Combination Sheets do not replace more detailed work instructions</a:t>
            </a:r>
          </a:p>
          <a:p>
            <a:r>
              <a:rPr lang="en-US" dirty="0"/>
              <a:t>Use Combo Sheets to highlight kaizen opportunities</a:t>
            </a:r>
          </a:p>
          <a:p>
            <a:r>
              <a:rPr lang="en-US" dirty="0"/>
              <a:t>Always draw TAKT Time in </a:t>
            </a:r>
            <a:r>
              <a:rPr lang="en-US" dirty="0">
                <a:solidFill>
                  <a:schemeClr val="accent1"/>
                </a:solidFill>
              </a:rPr>
              <a:t>red</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57</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16204981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Standard Work Playbook</a:t>
            </a:r>
          </a:p>
        </p:txBody>
      </p:sp>
      <p:sp>
        <p:nvSpPr>
          <p:cNvPr id="3" name="Content Placeholder 2">
            <a:extLst>
              <a:ext uri="{FF2B5EF4-FFF2-40B4-BE49-F238E27FC236}">
                <a16:creationId xmlns:a16="http://schemas.microsoft.com/office/drawing/2014/main" id="{23C83347-F741-264E-7C36-00DE92F01451}"/>
              </a:ext>
            </a:extLst>
          </p:cNvPr>
          <p:cNvSpPr>
            <a:spLocks noGrp="1"/>
          </p:cNvSpPr>
          <p:nvPr>
            <p:ph sz="half" idx="1"/>
          </p:nvPr>
        </p:nvSpPr>
        <p:spPr/>
        <p:txBody>
          <a:bodyPr/>
          <a:lstStyle/>
          <a:p>
            <a:r>
              <a:rPr lang="en-US" dirty="0"/>
              <a:t>Each Demand level has a “Play”</a:t>
            </a:r>
          </a:p>
          <a:p>
            <a:endParaRPr lang="en-US" dirty="0"/>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lstStyle/>
          <a:p>
            <a:r>
              <a:rPr lang="en-US" dirty="0"/>
              <a:t>For each Play:</a:t>
            </a:r>
          </a:p>
          <a:p>
            <a:pPr lvl="1"/>
            <a:r>
              <a:rPr lang="en-US" dirty="0"/>
              <a:t>Operator Loading Chart</a:t>
            </a:r>
          </a:p>
          <a:p>
            <a:pPr lvl="1"/>
            <a:r>
              <a:rPr lang="en-US" dirty="0"/>
              <a:t>Standard Work Combination Sheets </a:t>
            </a:r>
          </a:p>
          <a:p>
            <a:pPr lvl="1"/>
            <a:r>
              <a:rPr lang="en-US" dirty="0"/>
              <a:t>Standard Work Sheets</a:t>
            </a:r>
          </a:p>
          <a:p>
            <a:pPr lvl="1"/>
            <a:r>
              <a:rPr lang="en-US" dirty="0"/>
              <a:t>Daily Production Goals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58</a:t>
            </a:fld>
            <a:endParaRPr lang="en-US"/>
          </a:p>
        </p:txBody>
      </p:sp>
      <p:grpSp>
        <p:nvGrpSpPr>
          <p:cNvPr id="5" name="Group 4">
            <a:extLst>
              <a:ext uri="{FF2B5EF4-FFF2-40B4-BE49-F238E27FC236}">
                <a16:creationId xmlns:a16="http://schemas.microsoft.com/office/drawing/2014/main" id="{98D0D9C8-EBE6-EE7C-03A9-09868283B1C5}"/>
              </a:ext>
            </a:extLst>
          </p:cNvPr>
          <p:cNvGrpSpPr/>
          <p:nvPr/>
        </p:nvGrpSpPr>
        <p:grpSpPr>
          <a:xfrm>
            <a:off x="838200" y="297639"/>
            <a:ext cx="4545330" cy="301303"/>
            <a:chOff x="838200" y="297639"/>
            <a:chExt cx="4545330" cy="301303"/>
          </a:xfrm>
        </p:grpSpPr>
        <p:sp>
          <p:nvSpPr>
            <p:cNvPr id="7" name="AutoShape 9">
              <a:extLst>
                <a:ext uri="{FF2B5EF4-FFF2-40B4-BE49-F238E27FC236}">
                  <a16:creationId xmlns:a16="http://schemas.microsoft.com/office/drawing/2014/main" id="{79FB64E1-3EC2-C028-6C96-CFD37AED296C}"/>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8" name="Group 7">
              <a:extLst>
                <a:ext uri="{FF2B5EF4-FFF2-40B4-BE49-F238E27FC236}">
                  <a16:creationId xmlns:a16="http://schemas.microsoft.com/office/drawing/2014/main" id="{D1211650-977B-9EC5-49CC-3E9A9A5B2B11}"/>
                </a:ext>
              </a:extLst>
            </p:cNvPr>
            <p:cNvGrpSpPr/>
            <p:nvPr/>
          </p:nvGrpSpPr>
          <p:grpSpPr>
            <a:xfrm>
              <a:off x="838200" y="297639"/>
              <a:ext cx="4545330" cy="301303"/>
              <a:chOff x="838200" y="297639"/>
              <a:chExt cx="4545330" cy="301303"/>
            </a:xfrm>
          </p:grpSpPr>
          <p:grpSp>
            <p:nvGrpSpPr>
              <p:cNvPr id="9" name="Group 8">
                <a:extLst>
                  <a:ext uri="{FF2B5EF4-FFF2-40B4-BE49-F238E27FC236}">
                    <a16:creationId xmlns:a16="http://schemas.microsoft.com/office/drawing/2014/main" id="{2763C8F8-1817-50DB-FA17-31565A6FC0D1}"/>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28C87C84-C666-DA7E-428F-35313BD797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6A9DD5BF-4E99-9384-A4C8-C761ACD8C3A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A9B60A7-620E-373B-6CF8-72CE151623F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BADE92BD-4497-A318-87C0-4849A561368E}"/>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grpSp>
        <p:nvGrpSpPr>
          <p:cNvPr id="20" name="Group 16">
            <a:extLst>
              <a:ext uri="{FF2B5EF4-FFF2-40B4-BE49-F238E27FC236}">
                <a16:creationId xmlns:a16="http://schemas.microsoft.com/office/drawing/2014/main" id="{9A395EE5-C5E3-70E8-5122-4BE02B63534F}"/>
              </a:ext>
            </a:extLst>
          </p:cNvPr>
          <p:cNvGrpSpPr>
            <a:grpSpLocks/>
          </p:cNvGrpSpPr>
          <p:nvPr/>
        </p:nvGrpSpPr>
        <p:grpSpPr bwMode="auto">
          <a:xfrm>
            <a:off x="1034256" y="2630487"/>
            <a:ext cx="5181600" cy="3278823"/>
            <a:chOff x="199" y="1015"/>
            <a:chExt cx="5413" cy="3256"/>
          </a:xfrm>
        </p:grpSpPr>
        <p:sp>
          <p:nvSpPr>
            <p:cNvPr id="21" name="Rectangle 17">
              <a:extLst>
                <a:ext uri="{FF2B5EF4-FFF2-40B4-BE49-F238E27FC236}">
                  <a16:creationId xmlns:a16="http://schemas.microsoft.com/office/drawing/2014/main" id="{A40A3F03-BA51-02B0-9355-644A5BB9E1B5}"/>
                </a:ext>
              </a:extLst>
            </p:cNvPr>
            <p:cNvSpPr>
              <a:spLocks noChangeArrowheads="1"/>
            </p:cNvSpPr>
            <p:nvPr/>
          </p:nvSpPr>
          <p:spPr bwMode="auto">
            <a:xfrm>
              <a:off x="432" y="3936"/>
              <a:ext cx="1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5" name="Rectangle 18">
              <a:extLst>
                <a:ext uri="{FF2B5EF4-FFF2-40B4-BE49-F238E27FC236}">
                  <a16:creationId xmlns:a16="http://schemas.microsoft.com/office/drawing/2014/main" id="{E1FC8A1E-C11D-D33D-B6A2-56C3EE3498AF}"/>
                </a:ext>
              </a:extLst>
            </p:cNvPr>
            <p:cNvSpPr>
              <a:spLocks noChangeArrowheads="1"/>
            </p:cNvSpPr>
            <p:nvPr/>
          </p:nvSpPr>
          <p:spPr bwMode="auto">
            <a:xfrm>
              <a:off x="1968" y="3936"/>
              <a:ext cx="18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26" name="Group 19">
              <a:extLst>
                <a:ext uri="{FF2B5EF4-FFF2-40B4-BE49-F238E27FC236}">
                  <a16:creationId xmlns:a16="http://schemas.microsoft.com/office/drawing/2014/main" id="{A803931C-82C8-3430-4176-B9E87DFE556C}"/>
                </a:ext>
              </a:extLst>
            </p:cNvPr>
            <p:cNvGrpSpPr>
              <a:grpSpLocks/>
            </p:cNvGrpSpPr>
            <p:nvPr/>
          </p:nvGrpSpPr>
          <p:grpSpPr bwMode="auto">
            <a:xfrm>
              <a:off x="2130" y="2179"/>
              <a:ext cx="417" cy="888"/>
              <a:chOff x="2130" y="2179"/>
              <a:chExt cx="417" cy="888"/>
            </a:xfrm>
          </p:grpSpPr>
          <p:sp>
            <p:nvSpPr>
              <p:cNvPr id="166" name="AutoShape 20">
                <a:extLst>
                  <a:ext uri="{FF2B5EF4-FFF2-40B4-BE49-F238E27FC236}">
                    <a16:creationId xmlns:a16="http://schemas.microsoft.com/office/drawing/2014/main" id="{680165A3-C73F-2019-3668-8F1FCE7A4A88}"/>
                  </a:ext>
                </a:extLst>
              </p:cNvPr>
              <p:cNvSpPr>
                <a:spLocks noChangeArrowheads="1"/>
              </p:cNvSpPr>
              <p:nvPr/>
            </p:nvSpPr>
            <p:spPr bwMode="auto">
              <a:xfrm>
                <a:off x="2130" y="2458"/>
                <a:ext cx="417" cy="609"/>
              </a:xfrm>
              <a:prstGeom prst="roundRect">
                <a:avLst>
                  <a:gd name="adj" fmla="val 12495"/>
                </a:avLst>
              </a:prstGeom>
              <a:solidFill>
                <a:schemeClr val="accent4"/>
              </a:solidFill>
              <a:ln w="12700">
                <a:solidFill>
                  <a:schemeClr val="tx2"/>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7" name="Oval 21">
                <a:extLst>
                  <a:ext uri="{FF2B5EF4-FFF2-40B4-BE49-F238E27FC236}">
                    <a16:creationId xmlns:a16="http://schemas.microsoft.com/office/drawing/2014/main" id="{0344473D-9EC8-1F02-8D0A-61FB3B9409E4}"/>
                  </a:ext>
                </a:extLst>
              </p:cNvPr>
              <p:cNvSpPr>
                <a:spLocks noChangeArrowheads="1"/>
              </p:cNvSpPr>
              <p:nvPr/>
            </p:nvSpPr>
            <p:spPr bwMode="auto">
              <a:xfrm>
                <a:off x="2177" y="2179"/>
                <a:ext cx="321" cy="311"/>
              </a:xfrm>
              <a:prstGeom prst="ellipse">
                <a:avLst/>
              </a:prstGeom>
              <a:solidFill>
                <a:schemeClr val="accent4"/>
              </a:solidFill>
              <a:ln w="12700">
                <a:solidFill>
                  <a:schemeClr val="tx2"/>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
          <p:nvSpPr>
            <p:cNvPr id="27" name="Rectangle 22">
              <a:extLst>
                <a:ext uri="{FF2B5EF4-FFF2-40B4-BE49-F238E27FC236}">
                  <a16:creationId xmlns:a16="http://schemas.microsoft.com/office/drawing/2014/main" id="{2C811573-1F45-6EE4-AD99-BEF387C50034}"/>
                </a:ext>
              </a:extLst>
            </p:cNvPr>
            <p:cNvSpPr>
              <a:spLocks noChangeArrowheads="1"/>
            </p:cNvSpPr>
            <p:nvPr/>
          </p:nvSpPr>
          <p:spPr bwMode="auto">
            <a:xfrm>
              <a:off x="1392" y="1912"/>
              <a:ext cx="1485" cy="1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8" name="Rectangle 23">
              <a:extLst>
                <a:ext uri="{FF2B5EF4-FFF2-40B4-BE49-F238E27FC236}">
                  <a16:creationId xmlns:a16="http://schemas.microsoft.com/office/drawing/2014/main" id="{2D56A9DB-7B35-1B59-5260-37A864A1294B}"/>
                </a:ext>
              </a:extLst>
            </p:cNvPr>
            <p:cNvSpPr>
              <a:spLocks noChangeArrowheads="1"/>
            </p:cNvSpPr>
            <p:nvPr/>
          </p:nvSpPr>
          <p:spPr bwMode="auto">
            <a:xfrm>
              <a:off x="2215" y="1207"/>
              <a:ext cx="756" cy="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9" name="AutoShape 24" descr="Wide downward diagonal">
              <a:extLst>
                <a:ext uri="{FF2B5EF4-FFF2-40B4-BE49-F238E27FC236}">
                  <a16:creationId xmlns:a16="http://schemas.microsoft.com/office/drawing/2014/main" id="{C2CA9247-7E76-7251-2564-A251BBA93DB1}"/>
                </a:ext>
              </a:extLst>
            </p:cNvPr>
            <p:cNvSpPr>
              <a:spLocks noChangeArrowheads="1"/>
            </p:cNvSpPr>
            <p:nvPr/>
          </p:nvSpPr>
          <p:spPr bwMode="auto">
            <a:xfrm>
              <a:off x="2250" y="1668"/>
              <a:ext cx="215" cy="59"/>
            </a:xfrm>
            <a:prstGeom prst="parallelogram">
              <a:avLst>
                <a:gd name="adj" fmla="val 91085"/>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0" name="AutoShape 25" descr="Wide downward diagonal">
              <a:extLst>
                <a:ext uri="{FF2B5EF4-FFF2-40B4-BE49-F238E27FC236}">
                  <a16:creationId xmlns:a16="http://schemas.microsoft.com/office/drawing/2014/main" id="{CEE942F1-004B-AB5A-A3A2-EA172C5A66D2}"/>
                </a:ext>
              </a:extLst>
            </p:cNvPr>
            <p:cNvSpPr>
              <a:spLocks noChangeArrowheads="1"/>
            </p:cNvSpPr>
            <p:nvPr/>
          </p:nvSpPr>
          <p:spPr bwMode="auto">
            <a:xfrm>
              <a:off x="2424" y="1317"/>
              <a:ext cx="333" cy="809"/>
            </a:xfrm>
            <a:prstGeom prst="cube">
              <a:avLst>
                <a:gd name="adj" fmla="val 13398"/>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1" name="Oval 26" descr="Wide downward diagonal">
              <a:extLst>
                <a:ext uri="{FF2B5EF4-FFF2-40B4-BE49-F238E27FC236}">
                  <a16:creationId xmlns:a16="http://schemas.microsoft.com/office/drawing/2014/main" id="{E67BADC7-B449-28C0-8FD5-C1B7D4731E11}"/>
                </a:ext>
              </a:extLst>
            </p:cNvPr>
            <p:cNvSpPr>
              <a:spLocks noChangeArrowheads="1"/>
            </p:cNvSpPr>
            <p:nvPr/>
          </p:nvSpPr>
          <p:spPr bwMode="auto">
            <a:xfrm>
              <a:off x="2527" y="1432"/>
              <a:ext cx="131" cy="165"/>
            </a:xfrm>
            <a:prstGeom prst="ellipse">
              <a:avLst/>
            </a:prstGeom>
            <a:blipFill dpi="0" rotWithShape="0">
              <a:blip r:embed="rId3"/>
              <a:srcRect/>
              <a:tile tx="0" ty="0" sx="100000" sy="100000" flip="none" algn="tl"/>
            </a:blipFill>
            <a:ln w="12700">
              <a:solidFill>
                <a:srgbClr val="676767"/>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2" name="AutoShape 27" descr="Wide downward diagonal">
              <a:extLst>
                <a:ext uri="{FF2B5EF4-FFF2-40B4-BE49-F238E27FC236}">
                  <a16:creationId xmlns:a16="http://schemas.microsoft.com/office/drawing/2014/main" id="{07C192DD-380D-BA39-3AF1-D4D675D35B91}"/>
                </a:ext>
              </a:extLst>
            </p:cNvPr>
            <p:cNvSpPr>
              <a:spLocks noChangeArrowheads="1"/>
            </p:cNvSpPr>
            <p:nvPr/>
          </p:nvSpPr>
          <p:spPr bwMode="auto">
            <a:xfrm>
              <a:off x="2334" y="1591"/>
              <a:ext cx="50" cy="102"/>
            </a:xfrm>
            <a:prstGeom prst="cube">
              <a:avLst>
                <a:gd name="adj" fmla="val 24995"/>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3" name="Rectangle 28">
              <a:extLst>
                <a:ext uri="{FF2B5EF4-FFF2-40B4-BE49-F238E27FC236}">
                  <a16:creationId xmlns:a16="http://schemas.microsoft.com/office/drawing/2014/main" id="{58BC573D-9879-7B49-0566-F004AA3A29D1}"/>
                </a:ext>
              </a:extLst>
            </p:cNvPr>
            <p:cNvSpPr>
              <a:spLocks noChangeArrowheads="1"/>
            </p:cNvSpPr>
            <p:nvPr/>
          </p:nvSpPr>
          <p:spPr bwMode="auto">
            <a:xfrm>
              <a:off x="199" y="2887"/>
              <a:ext cx="756" cy="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4" name="AutoShape 29" descr="Wide downward diagonal">
              <a:extLst>
                <a:ext uri="{FF2B5EF4-FFF2-40B4-BE49-F238E27FC236}">
                  <a16:creationId xmlns:a16="http://schemas.microsoft.com/office/drawing/2014/main" id="{C28DB341-E287-7C47-3572-95D1DF2F1FAF}"/>
                </a:ext>
              </a:extLst>
            </p:cNvPr>
            <p:cNvSpPr>
              <a:spLocks noChangeArrowheads="1"/>
            </p:cNvSpPr>
            <p:nvPr/>
          </p:nvSpPr>
          <p:spPr bwMode="auto">
            <a:xfrm>
              <a:off x="234" y="3348"/>
              <a:ext cx="215" cy="59"/>
            </a:xfrm>
            <a:prstGeom prst="parallelogram">
              <a:avLst>
                <a:gd name="adj" fmla="val 91085"/>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5" name="AutoShape 30" descr="Wide downward diagonal">
              <a:extLst>
                <a:ext uri="{FF2B5EF4-FFF2-40B4-BE49-F238E27FC236}">
                  <a16:creationId xmlns:a16="http://schemas.microsoft.com/office/drawing/2014/main" id="{6CAFF520-7BC8-98D6-3EAB-C0DCE63EE220}"/>
                </a:ext>
              </a:extLst>
            </p:cNvPr>
            <p:cNvSpPr>
              <a:spLocks noChangeArrowheads="1"/>
            </p:cNvSpPr>
            <p:nvPr/>
          </p:nvSpPr>
          <p:spPr bwMode="auto">
            <a:xfrm>
              <a:off x="408" y="2997"/>
              <a:ext cx="333" cy="809"/>
            </a:xfrm>
            <a:prstGeom prst="cube">
              <a:avLst>
                <a:gd name="adj" fmla="val 13398"/>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6" name="Oval 31" descr="Wide downward diagonal">
              <a:extLst>
                <a:ext uri="{FF2B5EF4-FFF2-40B4-BE49-F238E27FC236}">
                  <a16:creationId xmlns:a16="http://schemas.microsoft.com/office/drawing/2014/main" id="{2495EA97-29CA-6D72-1BEA-778952A2104A}"/>
                </a:ext>
              </a:extLst>
            </p:cNvPr>
            <p:cNvSpPr>
              <a:spLocks noChangeArrowheads="1"/>
            </p:cNvSpPr>
            <p:nvPr/>
          </p:nvSpPr>
          <p:spPr bwMode="auto">
            <a:xfrm>
              <a:off x="511" y="3112"/>
              <a:ext cx="131" cy="165"/>
            </a:xfrm>
            <a:prstGeom prst="ellipse">
              <a:avLst/>
            </a:prstGeom>
            <a:blipFill dpi="0" rotWithShape="0">
              <a:blip r:embed="rId3"/>
              <a:srcRect/>
              <a:tile tx="0" ty="0" sx="100000" sy="100000" flip="none" algn="tl"/>
            </a:blipFill>
            <a:ln w="12700">
              <a:solidFill>
                <a:srgbClr val="676767"/>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7" name="AutoShape 32" descr="Wide downward diagonal">
              <a:extLst>
                <a:ext uri="{FF2B5EF4-FFF2-40B4-BE49-F238E27FC236}">
                  <a16:creationId xmlns:a16="http://schemas.microsoft.com/office/drawing/2014/main" id="{38DAADE3-CE77-D792-3856-9F82AAAAAFA7}"/>
                </a:ext>
              </a:extLst>
            </p:cNvPr>
            <p:cNvSpPr>
              <a:spLocks noChangeArrowheads="1"/>
            </p:cNvSpPr>
            <p:nvPr/>
          </p:nvSpPr>
          <p:spPr bwMode="auto">
            <a:xfrm>
              <a:off x="318" y="3271"/>
              <a:ext cx="50" cy="102"/>
            </a:xfrm>
            <a:prstGeom prst="cube">
              <a:avLst>
                <a:gd name="adj" fmla="val 24995"/>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8" name="Rectangle 33">
              <a:extLst>
                <a:ext uri="{FF2B5EF4-FFF2-40B4-BE49-F238E27FC236}">
                  <a16:creationId xmlns:a16="http://schemas.microsoft.com/office/drawing/2014/main" id="{51CDCB8C-26DE-B55D-E138-C823C943106A}"/>
                </a:ext>
              </a:extLst>
            </p:cNvPr>
            <p:cNvSpPr>
              <a:spLocks noChangeArrowheads="1"/>
            </p:cNvSpPr>
            <p:nvPr/>
          </p:nvSpPr>
          <p:spPr bwMode="auto">
            <a:xfrm>
              <a:off x="2647" y="2887"/>
              <a:ext cx="756" cy="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9" name="AutoShape 34" descr="Wide downward diagonal">
              <a:extLst>
                <a:ext uri="{FF2B5EF4-FFF2-40B4-BE49-F238E27FC236}">
                  <a16:creationId xmlns:a16="http://schemas.microsoft.com/office/drawing/2014/main" id="{35284746-2877-2986-874D-214C6E749726}"/>
                </a:ext>
              </a:extLst>
            </p:cNvPr>
            <p:cNvSpPr>
              <a:spLocks noChangeArrowheads="1"/>
            </p:cNvSpPr>
            <p:nvPr/>
          </p:nvSpPr>
          <p:spPr bwMode="auto">
            <a:xfrm>
              <a:off x="2682" y="3348"/>
              <a:ext cx="215" cy="59"/>
            </a:xfrm>
            <a:prstGeom prst="parallelogram">
              <a:avLst>
                <a:gd name="adj" fmla="val 91085"/>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0" name="AutoShape 35" descr="Wide downward diagonal">
              <a:extLst>
                <a:ext uri="{FF2B5EF4-FFF2-40B4-BE49-F238E27FC236}">
                  <a16:creationId xmlns:a16="http://schemas.microsoft.com/office/drawing/2014/main" id="{0480175A-EFF7-83F0-75CF-0CC2EC936D86}"/>
                </a:ext>
              </a:extLst>
            </p:cNvPr>
            <p:cNvSpPr>
              <a:spLocks noChangeArrowheads="1"/>
            </p:cNvSpPr>
            <p:nvPr/>
          </p:nvSpPr>
          <p:spPr bwMode="auto">
            <a:xfrm>
              <a:off x="2856" y="2997"/>
              <a:ext cx="333" cy="809"/>
            </a:xfrm>
            <a:prstGeom prst="cube">
              <a:avLst>
                <a:gd name="adj" fmla="val 13398"/>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1" name="Oval 36" descr="Wide downward diagonal">
              <a:extLst>
                <a:ext uri="{FF2B5EF4-FFF2-40B4-BE49-F238E27FC236}">
                  <a16:creationId xmlns:a16="http://schemas.microsoft.com/office/drawing/2014/main" id="{EAA4B0DE-3A18-F04F-D3B1-68901325D766}"/>
                </a:ext>
              </a:extLst>
            </p:cNvPr>
            <p:cNvSpPr>
              <a:spLocks noChangeArrowheads="1"/>
            </p:cNvSpPr>
            <p:nvPr/>
          </p:nvSpPr>
          <p:spPr bwMode="auto">
            <a:xfrm>
              <a:off x="2959" y="3112"/>
              <a:ext cx="131" cy="165"/>
            </a:xfrm>
            <a:prstGeom prst="ellipse">
              <a:avLst/>
            </a:prstGeom>
            <a:blipFill dpi="0" rotWithShape="0">
              <a:blip r:embed="rId3"/>
              <a:srcRect/>
              <a:tile tx="0" ty="0" sx="100000" sy="100000" flip="none" algn="tl"/>
            </a:blipFill>
            <a:ln w="12700">
              <a:solidFill>
                <a:srgbClr val="676767"/>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2" name="AutoShape 37" descr="Wide downward diagonal">
              <a:extLst>
                <a:ext uri="{FF2B5EF4-FFF2-40B4-BE49-F238E27FC236}">
                  <a16:creationId xmlns:a16="http://schemas.microsoft.com/office/drawing/2014/main" id="{A7C395C2-0640-B48F-2D82-B051E2302896}"/>
                </a:ext>
              </a:extLst>
            </p:cNvPr>
            <p:cNvSpPr>
              <a:spLocks noChangeArrowheads="1"/>
            </p:cNvSpPr>
            <p:nvPr/>
          </p:nvSpPr>
          <p:spPr bwMode="auto">
            <a:xfrm>
              <a:off x="2766" y="3271"/>
              <a:ext cx="50" cy="102"/>
            </a:xfrm>
            <a:prstGeom prst="cube">
              <a:avLst>
                <a:gd name="adj" fmla="val 24995"/>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3" name="Rectangle 38">
              <a:extLst>
                <a:ext uri="{FF2B5EF4-FFF2-40B4-BE49-F238E27FC236}">
                  <a16:creationId xmlns:a16="http://schemas.microsoft.com/office/drawing/2014/main" id="{D678304A-8B34-69EB-1E14-838E09048507}"/>
                </a:ext>
              </a:extLst>
            </p:cNvPr>
            <p:cNvSpPr>
              <a:spLocks noChangeArrowheads="1"/>
            </p:cNvSpPr>
            <p:nvPr/>
          </p:nvSpPr>
          <p:spPr bwMode="auto">
            <a:xfrm>
              <a:off x="2647" y="1927"/>
              <a:ext cx="756" cy="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4" name="AutoShape 39" descr="Wide downward diagonal">
              <a:extLst>
                <a:ext uri="{FF2B5EF4-FFF2-40B4-BE49-F238E27FC236}">
                  <a16:creationId xmlns:a16="http://schemas.microsoft.com/office/drawing/2014/main" id="{74FE733B-8635-0ED7-E641-AC716200279A}"/>
                </a:ext>
              </a:extLst>
            </p:cNvPr>
            <p:cNvSpPr>
              <a:spLocks noChangeArrowheads="1"/>
            </p:cNvSpPr>
            <p:nvPr/>
          </p:nvSpPr>
          <p:spPr bwMode="auto">
            <a:xfrm>
              <a:off x="2682" y="2388"/>
              <a:ext cx="215" cy="59"/>
            </a:xfrm>
            <a:prstGeom prst="parallelogram">
              <a:avLst>
                <a:gd name="adj" fmla="val 91085"/>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5" name="AutoShape 40" descr="Wide downward diagonal">
              <a:extLst>
                <a:ext uri="{FF2B5EF4-FFF2-40B4-BE49-F238E27FC236}">
                  <a16:creationId xmlns:a16="http://schemas.microsoft.com/office/drawing/2014/main" id="{5C02A507-07EF-0E11-390E-F6B504B2C57B}"/>
                </a:ext>
              </a:extLst>
            </p:cNvPr>
            <p:cNvSpPr>
              <a:spLocks noChangeArrowheads="1"/>
            </p:cNvSpPr>
            <p:nvPr/>
          </p:nvSpPr>
          <p:spPr bwMode="auto">
            <a:xfrm>
              <a:off x="2856" y="2037"/>
              <a:ext cx="333" cy="809"/>
            </a:xfrm>
            <a:prstGeom prst="cube">
              <a:avLst>
                <a:gd name="adj" fmla="val 13398"/>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6" name="Oval 41" descr="Wide downward diagonal">
              <a:extLst>
                <a:ext uri="{FF2B5EF4-FFF2-40B4-BE49-F238E27FC236}">
                  <a16:creationId xmlns:a16="http://schemas.microsoft.com/office/drawing/2014/main" id="{D8DEF348-FA81-B546-F25B-4CF4CBDB613C}"/>
                </a:ext>
              </a:extLst>
            </p:cNvPr>
            <p:cNvSpPr>
              <a:spLocks noChangeArrowheads="1"/>
            </p:cNvSpPr>
            <p:nvPr/>
          </p:nvSpPr>
          <p:spPr bwMode="auto">
            <a:xfrm>
              <a:off x="2959" y="2152"/>
              <a:ext cx="131" cy="165"/>
            </a:xfrm>
            <a:prstGeom prst="ellipse">
              <a:avLst/>
            </a:prstGeom>
            <a:blipFill dpi="0" rotWithShape="0">
              <a:blip r:embed="rId3"/>
              <a:srcRect/>
              <a:tile tx="0" ty="0" sx="100000" sy="100000" flip="none" algn="tl"/>
            </a:blipFill>
            <a:ln w="12700">
              <a:solidFill>
                <a:srgbClr val="676767"/>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7" name="AutoShape 42" descr="Wide downward diagonal">
              <a:extLst>
                <a:ext uri="{FF2B5EF4-FFF2-40B4-BE49-F238E27FC236}">
                  <a16:creationId xmlns:a16="http://schemas.microsoft.com/office/drawing/2014/main" id="{F1A0030F-17F1-F6A7-7DDF-13AE1E534C26}"/>
                </a:ext>
              </a:extLst>
            </p:cNvPr>
            <p:cNvSpPr>
              <a:spLocks noChangeArrowheads="1"/>
            </p:cNvSpPr>
            <p:nvPr/>
          </p:nvSpPr>
          <p:spPr bwMode="auto">
            <a:xfrm>
              <a:off x="2766" y="2311"/>
              <a:ext cx="50" cy="102"/>
            </a:xfrm>
            <a:prstGeom prst="cube">
              <a:avLst>
                <a:gd name="adj" fmla="val 24995"/>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8" name="Rectangle 43">
              <a:extLst>
                <a:ext uri="{FF2B5EF4-FFF2-40B4-BE49-F238E27FC236}">
                  <a16:creationId xmlns:a16="http://schemas.microsoft.com/office/drawing/2014/main" id="{378043C3-8AD4-43E1-268F-B0686F3FDBCC}"/>
                </a:ext>
              </a:extLst>
            </p:cNvPr>
            <p:cNvSpPr>
              <a:spLocks noChangeArrowheads="1"/>
            </p:cNvSpPr>
            <p:nvPr/>
          </p:nvSpPr>
          <p:spPr bwMode="auto">
            <a:xfrm>
              <a:off x="1447" y="1015"/>
              <a:ext cx="756" cy="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9" name="AutoShape 44" descr="Wide downward diagonal">
              <a:extLst>
                <a:ext uri="{FF2B5EF4-FFF2-40B4-BE49-F238E27FC236}">
                  <a16:creationId xmlns:a16="http://schemas.microsoft.com/office/drawing/2014/main" id="{C962A49A-8A6B-8863-0300-DBFEA41A83B5}"/>
                </a:ext>
              </a:extLst>
            </p:cNvPr>
            <p:cNvSpPr>
              <a:spLocks noChangeArrowheads="1"/>
            </p:cNvSpPr>
            <p:nvPr/>
          </p:nvSpPr>
          <p:spPr bwMode="auto">
            <a:xfrm>
              <a:off x="1482" y="1476"/>
              <a:ext cx="215" cy="59"/>
            </a:xfrm>
            <a:prstGeom prst="parallelogram">
              <a:avLst>
                <a:gd name="adj" fmla="val 91085"/>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0" name="AutoShape 45" descr="Wide downward diagonal">
              <a:extLst>
                <a:ext uri="{FF2B5EF4-FFF2-40B4-BE49-F238E27FC236}">
                  <a16:creationId xmlns:a16="http://schemas.microsoft.com/office/drawing/2014/main" id="{DF9F153D-A576-7BB3-DDC4-C8A14579D00B}"/>
                </a:ext>
              </a:extLst>
            </p:cNvPr>
            <p:cNvSpPr>
              <a:spLocks noChangeArrowheads="1"/>
            </p:cNvSpPr>
            <p:nvPr/>
          </p:nvSpPr>
          <p:spPr bwMode="auto">
            <a:xfrm>
              <a:off x="1656" y="1125"/>
              <a:ext cx="333" cy="809"/>
            </a:xfrm>
            <a:prstGeom prst="cube">
              <a:avLst>
                <a:gd name="adj" fmla="val 13398"/>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1" name="Oval 46" descr="Wide downward diagonal">
              <a:extLst>
                <a:ext uri="{FF2B5EF4-FFF2-40B4-BE49-F238E27FC236}">
                  <a16:creationId xmlns:a16="http://schemas.microsoft.com/office/drawing/2014/main" id="{9E095E67-5453-CD4D-CCEA-B19916B2A702}"/>
                </a:ext>
              </a:extLst>
            </p:cNvPr>
            <p:cNvSpPr>
              <a:spLocks noChangeArrowheads="1"/>
            </p:cNvSpPr>
            <p:nvPr/>
          </p:nvSpPr>
          <p:spPr bwMode="auto">
            <a:xfrm>
              <a:off x="1759" y="1240"/>
              <a:ext cx="131" cy="165"/>
            </a:xfrm>
            <a:prstGeom prst="ellipse">
              <a:avLst/>
            </a:prstGeom>
            <a:blipFill dpi="0" rotWithShape="0">
              <a:blip r:embed="rId3"/>
              <a:srcRect/>
              <a:tile tx="0" ty="0" sx="100000" sy="100000" flip="none" algn="tl"/>
            </a:blipFill>
            <a:ln w="12700">
              <a:solidFill>
                <a:srgbClr val="676767"/>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2" name="AutoShape 47" descr="Wide downward diagonal">
              <a:extLst>
                <a:ext uri="{FF2B5EF4-FFF2-40B4-BE49-F238E27FC236}">
                  <a16:creationId xmlns:a16="http://schemas.microsoft.com/office/drawing/2014/main" id="{D9764B72-34AF-CA2D-3541-CFED5AF84E3F}"/>
                </a:ext>
              </a:extLst>
            </p:cNvPr>
            <p:cNvSpPr>
              <a:spLocks noChangeArrowheads="1"/>
            </p:cNvSpPr>
            <p:nvPr/>
          </p:nvSpPr>
          <p:spPr bwMode="auto">
            <a:xfrm>
              <a:off x="1566" y="1399"/>
              <a:ext cx="50" cy="102"/>
            </a:xfrm>
            <a:prstGeom prst="cube">
              <a:avLst>
                <a:gd name="adj" fmla="val 24995"/>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3" name="Rectangle 48">
              <a:extLst>
                <a:ext uri="{FF2B5EF4-FFF2-40B4-BE49-F238E27FC236}">
                  <a16:creationId xmlns:a16="http://schemas.microsoft.com/office/drawing/2014/main" id="{078A9E4D-2BF2-E494-3164-11186B7FD9CA}"/>
                </a:ext>
              </a:extLst>
            </p:cNvPr>
            <p:cNvSpPr>
              <a:spLocks noChangeArrowheads="1"/>
            </p:cNvSpPr>
            <p:nvPr/>
          </p:nvSpPr>
          <p:spPr bwMode="auto">
            <a:xfrm>
              <a:off x="679" y="1207"/>
              <a:ext cx="756" cy="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4" name="AutoShape 49" descr="Wide downward diagonal">
              <a:extLst>
                <a:ext uri="{FF2B5EF4-FFF2-40B4-BE49-F238E27FC236}">
                  <a16:creationId xmlns:a16="http://schemas.microsoft.com/office/drawing/2014/main" id="{AD5629C2-5A94-F2FD-4F0A-73B3C585E098}"/>
                </a:ext>
              </a:extLst>
            </p:cNvPr>
            <p:cNvSpPr>
              <a:spLocks noChangeArrowheads="1"/>
            </p:cNvSpPr>
            <p:nvPr/>
          </p:nvSpPr>
          <p:spPr bwMode="auto">
            <a:xfrm>
              <a:off x="714" y="1668"/>
              <a:ext cx="215" cy="59"/>
            </a:xfrm>
            <a:prstGeom prst="parallelogram">
              <a:avLst>
                <a:gd name="adj" fmla="val 91085"/>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5" name="AutoShape 50" descr="Wide downward diagonal">
              <a:extLst>
                <a:ext uri="{FF2B5EF4-FFF2-40B4-BE49-F238E27FC236}">
                  <a16:creationId xmlns:a16="http://schemas.microsoft.com/office/drawing/2014/main" id="{7D5F2FC0-D1A4-9E54-A5FA-60B94A77EE9A}"/>
                </a:ext>
              </a:extLst>
            </p:cNvPr>
            <p:cNvSpPr>
              <a:spLocks noChangeArrowheads="1"/>
            </p:cNvSpPr>
            <p:nvPr/>
          </p:nvSpPr>
          <p:spPr bwMode="auto">
            <a:xfrm>
              <a:off x="888" y="1317"/>
              <a:ext cx="333" cy="809"/>
            </a:xfrm>
            <a:prstGeom prst="cube">
              <a:avLst>
                <a:gd name="adj" fmla="val 13398"/>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6" name="Oval 51" descr="Wide downward diagonal">
              <a:extLst>
                <a:ext uri="{FF2B5EF4-FFF2-40B4-BE49-F238E27FC236}">
                  <a16:creationId xmlns:a16="http://schemas.microsoft.com/office/drawing/2014/main" id="{7617A5F3-D7CC-F316-12CE-8EE5E6926F44}"/>
                </a:ext>
              </a:extLst>
            </p:cNvPr>
            <p:cNvSpPr>
              <a:spLocks noChangeArrowheads="1"/>
            </p:cNvSpPr>
            <p:nvPr/>
          </p:nvSpPr>
          <p:spPr bwMode="auto">
            <a:xfrm>
              <a:off x="991" y="1432"/>
              <a:ext cx="131" cy="165"/>
            </a:xfrm>
            <a:prstGeom prst="ellipse">
              <a:avLst/>
            </a:prstGeom>
            <a:blipFill dpi="0" rotWithShape="0">
              <a:blip r:embed="rId3"/>
              <a:srcRect/>
              <a:tile tx="0" ty="0" sx="100000" sy="100000" flip="none" algn="tl"/>
            </a:blipFill>
            <a:ln w="12700">
              <a:solidFill>
                <a:srgbClr val="676767"/>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7" name="AutoShape 52" descr="Wide downward diagonal">
              <a:extLst>
                <a:ext uri="{FF2B5EF4-FFF2-40B4-BE49-F238E27FC236}">
                  <a16:creationId xmlns:a16="http://schemas.microsoft.com/office/drawing/2014/main" id="{116CFCF3-D900-1D3D-930A-C4554558AA16}"/>
                </a:ext>
              </a:extLst>
            </p:cNvPr>
            <p:cNvSpPr>
              <a:spLocks noChangeArrowheads="1"/>
            </p:cNvSpPr>
            <p:nvPr/>
          </p:nvSpPr>
          <p:spPr bwMode="auto">
            <a:xfrm>
              <a:off x="798" y="1591"/>
              <a:ext cx="50" cy="102"/>
            </a:xfrm>
            <a:prstGeom prst="cube">
              <a:avLst>
                <a:gd name="adj" fmla="val 24995"/>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8" name="Rectangle 53">
              <a:extLst>
                <a:ext uri="{FF2B5EF4-FFF2-40B4-BE49-F238E27FC236}">
                  <a16:creationId xmlns:a16="http://schemas.microsoft.com/office/drawing/2014/main" id="{43E82EC7-4CAA-BBF1-0E7B-A940A6045E53}"/>
                </a:ext>
              </a:extLst>
            </p:cNvPr>
            <p:cNvSpPr>
              <a:spLocks noChangeArrowheads="1"/>
            </p:cNvSpPr>
            <p:nvPr/>
          </p:nvSpPr>
          <p:spPr bwMode="auto">
            <a:xfrm>
              <a:off x="199" y="1927"/>
              <a:ext cx="756" cy="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9" name="AutoShape 54" descr="Wide downward diagonal">
              <a:extLst>
                <a:ext uri="{FF2B5EF4-FFF2-40B4-BE49-F238E27FC236}">
                  <a16:creationId xmlns:a16="http://schemas.microsoft.com/office/drawing/2014/main" id="{6CE0B785-FF28-4D25-27EA-C2C9D934D841}"/>
                </a:ext>
              </a:extLst>
            </p:cNvPr>
            <p:cNvSpPr>
              <a:spLocks noChangeArrowheads="1"/>
            </p:cNvSpPr>
            <p:nvPr/>
          </p:nvSpPr>
          <p:spPr bwMode="auto">
            <a:xfrm>
              <a:off x="234" y="2388"/>
              <a:ext cx="215" cy="59"/>
            </a:xfrm>
            <a:prstGeom prst="parallelogram">
              <a:avLst>
                <a:gd name="adj" fmla="val 91085"/>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0" name="AutoShape 55" descr="Wide downward diagonal">
              <a:extLst>
                <a:ext uri="{FF2B5EF4-FFF2-40B4-BE49-F238E27FC236}">
                  <a16:creationId xmlns:a16="http://schemas.microsoft.com/office/drawing/2014/main" id="{A3FFAA5B-47EC-C97B-12A6-7356B16615C4}"/>
                </a:ext>
              </a:extLst>
            </p:cNvPr>
            <p:cNvSpPr>
              <a:spLocks noChangeArrowheads="1"/>
            </p:cNvSpPr>
            <p:nvPr/>
          </p:nvSpPr>
          <p:spPr bwMode="auto">
            <a:xfrm>
              <a:off x="408" y="2037"/>
              <a:ext cx="333" cy="809"/>
            </a:xfrm>
            <a:prstGeom prst="cube">
              <a:avLst>
                <a:gd name="adj" fmla="val 13398"/>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1" name="Oval 56" descr="Wide downward diagonal">
              <a:extLst>
                <a:ext uri="{FF2B5EF4-FFF2-40B4-BE49-F238E27FC236}">
                  <a16:creationId xmlns:a16="http://schemas.microsoft.com/office/drawing/2014/main" id="{1C97AC33-6B94-BD59-B1D0-2F710B3E93D2}"/>
                </a:ext>
              </a:extLst>
            </p:cNvPr>
            <p:cNvSpPr>
              <a:spLocks noChangeArrowheads="1"/>
            </p:cNvSpPr>
            <p:nvPr/>
          </p:nvSpPr>
          <p:spPr bwMode="auto">
            <a:xfrm>
              <a:off x="511" y="2152"/>
              <a:ext cx="131" cy="165"/>
            </a:xfrm>
            <a:prstGeom prst="ellipse">
              <a:avLst/>
            </a:prstGeom>
            <a:blipFill dpi="0" rotWithShape="0">
              <a:blip r:embed="rId3"/>
              <a:srcRect/>
              <a:tile tx="0" ty="0" sx="100000" sy="100000" flip="none" algn="tl"/>
            </a:blipFill>
            <a:ln w="12700">
              <a:solidFill>
                <a:srgbClr val="676767"/>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2" name="AutoShape 57" descr="Wide downward diagonal">
              <a:extLst>
                <a:ext uri="{FF2B5EF4-FFF2-40B4-BE49-F238E27FC236}">
                  <a16:creationId xmlns:a16="http://schemas.microsoft.com/office/drawing/2014/main" id="{E2CA5A39-1BCE-0BA7-000B-70A652FC830F}"/>
                </a:ext>
              </a:extLst>
            </p:cNvPr>
            <p:cNvSpPr>
              <a:spLocks noChangeArrowheads="1"/>
            </p:cNvSpPr>
            <p:nvPr/>
          </p:nvSpPr>
          <p:spPr bwMode="auto">
            <a:xfrm>
              <a:off x="318" y="2311"/>
              <a:ext cx="50" cy="102"/>
            </a:xfrm>
            <a:prstGeom prst="cube">
              <a:avLst>
                <a:gd name="adj" fmla="val 24995"/>
              </a:avLst>
            </a:prstGeom>
            <a:blipFill dpi="0" rotWithShape="0">
              <a:blip r:embed="rId3"/>
              <a:srcRect/>
              <a:tile tx="0" ty="0" sx="100000" sy="100000" flip="none" algn="tl"/>
            </a:blipFill>
            <a:ln w="12700">
              <a:solidFill>
                <a:srgbClr val="676767"/>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3" name="Line 58">
              <a:extLst>
                <a:ext uri="{FF2B5EF4-FFF2-40B4-BE49-F238E27FC236}">
                  <a16:creationId xmlns:a16="http://schemas.microsoft.com/office/drawing/2014/main" id="{697FB26C-3C37-A95A-E3D6-F195B2F81992}"/>
                </a:ext>
              </a:extLst>
            </p:cNvPr>
            <p:cNvSpPr>
              <a:spLocks noChangeShapeType="1"/>
            </p:cNvSpPr>
            <p:nvPr/>
          </p:nvSpPr>
          <p:spPr bwMode="auto">
            <a:xfrm>
              <a:off x="4824" y="1852"/>
              <a:ext cx="0" cy="181"/>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4" name="Line 59">
              <a:extLst>
                <a:ext uri="{FF2B5EF4-FFF2-40B4-BE49-F238E27FC236}">
                  <a16:creationId xmlns:a16="http://schemas.microsoft.com/office/drawing/2014/main" id="{B6A1EBA7-6034-BD46-B158-97939EFA1291}"/>
                </a:ext>
              </a:extLst>
            </p:cNvPr>
            <p:cNvSpPr>
              <a:spLocks noChangeShapeType="1"/>
            </p:cNvSpPr>
            <p:nvPr/>
          </p:nvSpPr>
          <p:spPr bwMode="auto">
            <a:xfrm>
              <a:off x="4161" y="1798"/>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5" name="Line 60">
              <a:extLst>
                <a:ext uri="{FF2B5EF4-FFF2-40B4-BE49-F238E27FC236}">
                  <a16:creationId xmlns:a16="http://schemas.microsoft.com/office/drawing/2014/main" id="{C3F36FD6-93F2-449F-E398-2FEFA34A7F27}"/>
                </a:ext>
              </a:extLst>
            </p:cNvPr>
            <p:cNvSpPr>
              <a:spLocks noChangeShapeType="1"/>
            </p:cNvSpPr>
            <p:nvPr/>
          </p:nvSpPr>
          <p:spPr bwMode="auto">
            <a:xfrm>
              <a:off x="4205"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6" name="Line 61">
              <a:extLst>
                <a:ext uri="{FF2B5EF4-FFF2-40B4-BE49-F238E27FC236}">
                  <a16:creationId xmlns:a16="http://schemas.microsoft.com/office/drawing/2014/main" id="{60F46D6C-8375-409D-380A-26AA19A4191F}"/>
                </a:ext>
              </a:extLst>
            </p:cNvPr>
            <p:cNvSpPr>
              <a:spLocks noChangeShapeType="1"/>
            </p:cNvSpPr>
            <p:nvPr/>
          </p:nvSpPr>
          <p:spPr bwMode="auto">
            <a:xfrm>
              <a:off x="4412"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7" name="Line 62">
              <a:extLst>
                <a:ext uri="{FF2B5EF4-FFF2-40B4-BE49-F238E27FC236}">
                  <a16:creationId xmlns:a16="http://schemas.microsoft.com/office/drawing/2014/main" id="{C2D347B8-8025-509A-B078-F35D7E6B7CDF}"/>
                </a:ext>
              </a:extLst>
            </p:cNvPr>
            <p:cNvSpPr>
              <a:spLocks noChangeShapeType="1"/>
            </p:cNvSpPr>
            <p:nvPr/>
          </p:nvSpPr>
          <p:spPr bwMode="auto">
            <a:xfrm>
              <a:off x="4463"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 name="Line 63">
              <a:extLst>
                <a:ext uri="{FF2B5EF4-FFF2-40B4-BE49-F238E27FC236}">
                  <a16:creationId xmlns:a16="http://schemas.microsoft.com/office/drawing/2014/main" id="{860C9376-71D3-D6BB-0C28-FDF3D2C1FEBD}"/>
                </a:ext>
              </a:extLst>
            </p:cNvPr>
            <p:cNvSpPr>
              <a:spLocks noChangeShapeType="1"/>
            </p:cNvSpPr>
            <p:nvPr/>
          </p:nvSpPr>
          <p:spPr bwMode="auto">
            <a:xfrm>
              <a:off x="4515"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9" name="Line 64">
              <a:extLst>
                <a:ext uri="{FF2B5EF4-FFF2-40B4-BE49-F238E27FC236}">
                  <a16:creationId xmlns:a16="http://schemas.microsoft.com/office/drawing/2014/main" id="{A6FD332F-BB8B-D4FC-4FB1-B29A1AB3BC7F}"/>
                </a:ext>
              </a:extLst>
            </p:cNvPr>
            <p:cNvSpPr>
              <a:spLocks noChangeShapeType="1"/>
            </p:cNvSpPr>
            <p:nvPr/>
          </p:nvSpPr>
          <p:spPr bwMode="auto">
            <a:xfrm>
              <a:off x="4567"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0" name="Line 65">
              <a:extLst>
                <a:ext uri="{FF2B5EF4-FFF2-40B4-BE49-F238E27FC236}">
                  <a16:creationId xmlns:a16="http://schemas.microsoft.com/office/drawing/2014/main" id="{B55A9508-FBC2-EC60-0D78-8B154CBF8829}"/>
                </a:ext>
              </a:extLst>
            </p:cNvPr>
            <p:cNvSpPr>
              <a:spLocks noChangeShapeType="1"/>
            </p:cNvSpPr>
            <p:nvPr/>
          </p:nvSpPr>
          <p:spPr bwMode="auto">
            <a:xfrm>
              <a:off x="4618"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 name="Line 66">
              <a:extLst>
                <a:ext uri="{FF2B5EF4-FFF2-40B4-BE49-F238E27FC236}">
                  <a16:creationId xmlns:a16="http://schemas.microsoft.com/office/drawing/2014/main" id="{E8C2A3CF-F86D-8CE6-A323-FEF40CF10042}"/>
                </a:ext>
              </a:extLst>
            </p:cNvPr>
            <p:cNvSpPr>
              <a:spLocks noChangeShapeType="1"/>
            </p:cNvSpPr>
            <p:nvPr/>
          </p:nvSpPr>
          <p:spPr bwMode="auto">
            <a:xfrm>
              <a:off x="4669"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 name="Line 67">
              <a:extLst>
                <a:ext uri="{FF2B5EF4-FFF2-40B4-BE49-F238E27FC236}">
                  <a16:creationId xmlns:a16="http://schemas.microsoft.com/office/drawing/2014/main" id="{70B89640-28AC-EB18-53BC-86658CBB8A5D}"/>
                </a:ext>
              </a:extLst>
            </p:cNvPr>
            <p:cNvSpPr>
              <a:spLocks noChangeShapeType="1"/>
            </p:cNvSpPr>
            <p:nvPr/>
          </p:nvSpPr>
          <p:spPr bwMode="auto">
            <a:xfrm>
              <a:off x="4721"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3" name="Line 68">
              <a:extLst>
                <a:ext uri="{FF2B5EF4-FFF2-40B4-BE49-F238E27FC236}">
                  <a16:creationId xmlns:a16="http://schemas.microsoft.com/office/drawing/2014/main" id="{9B1E569C-A2AC-67B9-7F81-ECEED217D7BE}"/>
                </a:ext>
              </a:extLst>
            </p:cNvPr>
            <p:cNvSpPr>
              <a:spLocks noChangeShapeType="1"/>
            </p:cNvSpPr>
            <p:nvPr/>
          </p:nvSpPr>
          <p:spPr bwMode="auto">
            <a:xfrm>
              <a:off x="4772"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4" name="Line 69">
              <a:extLst>
                <a:ext uri="{FF2B5EF4-FFF2-40B4-BE49-F238E27FC236}">
                  <a16:creationId xmlns:a16="http://schemas.microsoft.com/office/drawing/2014/main" id="{23D1D6F4-2D4B-5AA1-42CB-BF9F74236BB7}"/>
                </a:ext>
              </a:extLst>
            </p:cNvPr>
            <p:cNvSpPr>
              <a:spLocks noChangeShapeType="1"/>
            </p:cNvSpPr>
            <p:nvPr/>
          </p:nvSpPr>
          <p:spPr bwMode="auto">
            <a:xfrm>
              <a:off x="4824"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 name="Line 70">
              <a:extLst>
                <a:ext uri="{FF2B5EF4-FFF2-40B4-BE49-F238E27FC236}">
                  <a16:creationId xmlns:a16="http://schemas.microsoft.com/office/drawing/2014/main" id="{28813EC5-E232-9FD6-D193-0C1F4AD7A8C2}"/>
                </a:ext>
              </a:extLst>
            </p:cNvPr>
            <p:cNvSpPr>
              <a:spLocks noChangeShapeType="1"/>
            </p:cNvSpPr>
            <p:nvPr/>
          </p:nvSpPr>
          <p:spPr bwMode="auto">
            <a:xfrm>
              <a:off x="4978"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6" name="Line 71">
              <a:extLst>
                <a:ext uri="{FF2B5EF4-FFF2-40B4-BE49-F238E27FC236}">
                  <a16:creationId xmlns:a16="http://schemas.microsoft.com/office/drawing/2014/main" id="{20F07C5D-CA86-294F-9C4F-83E2124A55E2}"/>
                </a:ext>
              </a:extLst>
            </p:cNvPr>
            <p:cNvSpPr>
              <a:spLocks noChangeShapeType="1"/>
            </p:cNvSpPr>
            <p:nvPr/>
          </p:nvSpPr>
          <p:spPr bwMode="auto">
            <a:xfrm>
              <a:off x="4161" y="1232"/>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7" name="Line 72">
              <a:extLst>
                <a:ext uri="{FF2B5EF4-FFF2-40B4-BE49-F238E27FC236}">
                  <a16:creationId xmlns:a16="http://schemas.microsoft.com/office/drawing/2014/main" id="{C6A73063-E134-80D0-4FAB-2CC0FC79528E}"/>
                </a:ext>
              </a:extLst>
            </p:cNvPr>
            <p:cNvSpPr>
              <a:spLocks noChangeShapeType="1"/>
            </p:cNvSpPr>
            <p:nvPr/>
          </p:nvSpPr>
          <p:spPr bwMode="auto">
            <a:xfrm>
              <a:off x="4161" y="1283"/>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8" name="Line 73">
              <a:extLst>
                <a:ext uri="{FF2B5EF4-FFF2-40B4-BE49-F238E27FC236}">
                  <a16:creationId xmlns:a16="http://schemas.microsoft.com/office/drawing/2014/main" id="{AB7E16AA-8A5D-5B4F-0788-8F0424FFD115}"/>
                </a:ext>
              </a:extLst>
            </p:cNvPr>
            <p:cNvSpPr>
              <a:spLocks noChangeShapeType="1"/>
            </p:cNvSpPr>
            <p:nvPr/>
          </p:nvSpPr>
          <p:spPr bwMode="auto">
            <a:xfrm>
              <a:off x="4161" y="1335"/>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9" name="Line 74">
              <a:extLst>
                <a:ext uri="{FF2B5EF4-FFF2-40B4-BE49-F238E27FC236}">
                  <a16:creationId xmlns:a16="http://schemas.microsoft.com/office/drawing/2014/main" id="{B2EAD2A5-6B6D-3C57-3B37-D9FF1E68AD5F}"/>
                </a:ext>
              </a:extLst>
            </p:cNvPr>
            <p:cNvSpPr>
              <a:spLocks noChangeShapeType="1"/>
            </p:cNvSpPr>
            <p:nvPr/>
          </p:nvSpPr>
          <p:spPr bwMode="auto">
            <a:xfrm>
              <a:off x="4161" y="1387"/>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80" name="Line 75">
              <a:extLst>
                <a:ext uri="{FF2B5EF4-FFF2-40B4-BE49-F238E27FC236}">
                  <a16:creationId xmlns:a16="http://schemas.microsoft.com/office/drawing/2014/main" id="{CD4A7F20-0097-76BA-EA87-C15DA0A313B8}"/>
                </a:ext>
              </a:extLst>
            </p:cNvPr>
            <p:cNvSpPr>
              <a:spLocks noChangeShapeType="1"/>
            </p:cNvSpPr>
            <p:nvPr/>
          </p:nvSpPr>
          <p:spPr bwMode="auto">
            <a:xfrm>
              <a:off x="4161" y="1438"/>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81" name="Line 76">
              <a:extLst>
                <a:ext uri="{FF2B5EF4-FFF2-40B4-BE49-F238E27FC236}">
                  <a16:creationId xmlns:a16="http://schemas.microsoft.com/office/drawing/2014/main" id="{3410B0E3-4A84-84EB-7A99-1FCF43862A43}"/>
                </a:ext>
              </a:extLst>
            </p:cNvPr>
            <p:cNvSpPr>
              <a:spLocks noChangeShapeType="1"/>
            </p:cNvSpPr>
            <p:nvPr/>
          </p:nvSpPr>
          <p:spPr bwMode="auto">
            <a:xfrm>
              <a:off x="4161" y="1490"/>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82" name="Line 77">
              <a:extLst>
                <a:ext uri="{FF2B5EF4-FFF2-40B4-BE49-F238E27FC236}">
                  <a16:creationId xmlns:a16="http://schemas.microsoft.com/office/drawing/2014/main" id="{5195D9C2-EA33-0D01-EB1B-1B4E994CB9F3}"/>
                </a:ext>
              </a:extLst>
            </p:cNvPr>
            <p:cNvSpPr>
              <a:spLocks noChangeShapeType="1"/>
            </p:cNvSpPr>
            <p:nvPr/>
          </p:nvSpPr>
          <p:spPr bwMode="auto">
            <a:xfrm>
              <a:off x="4161" y="1541"/>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83" name="Line 78">
              <a:extLst>
                <a:ext uri="{FF2B5EF4-FFF2-40B4-BE49-F238E27FC236}">
                  <a16:creationId xmlns:a16="http://schemas.microsoft.com/office/drawing/2014/main" id="{5DE88303-306B-42C3-4DB8-6C24D56BF07F}"/>
                </a:ext>
              </a:extLst>
            </p:cNvPr>
            <p:cNvSpPr>
              <a:spLocks noChangeShapeType="1"/>
            </p:cNvSpPr>
            <p:nvPr/>
          </p:nvSpPr>
          <p:spPr bwMode="auto">
            <a:xfrm>
              <a:off x="4161" y="1592"/>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84" name="Line 79">
              <a:extLst>
                <a:ext uri="{FF2B5EF4-FFF2-40B4-BE49-F238E27FC236}">
                  <a16:creationId xmlns:a16="http://schemas.microsoft.com/office/drawing/2014/main" id="{5F639DA6-40FE-89BC-8917-1FD0BEED2D7C}"/>
                </a:ext>
              </a:extLst>
            </p:cNvPr>
            <p:cNvSpPr>
              <a:spLocks noChangeShapeType="1"/>
            </p:cNvSpPr>
            <p:nvPr/>
          </p:nvSpPr>
          <p:spPr bwMode="auto">
            <a:xfrm>
              <a:off x="4161" y="1644"/>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85" name="Line 80">
              <a:extLst>
                <a:ext uri="{FF2B5EF4-FFF2-40B4-BE49-F238E27FC236}">
                  <a16:creationId xmlns:a16="http://schemas.microsoft.com/office/drawing/2014/main" id="{FF51B99B-EDC8-FB10-892B-B310621E317D}"/>
                </a:ext>
              </a:extLst>
            </p:cNvPr>
            <p:cNvSpPr>
              <a:spLocks noChangeShapeType="1"/>
            </p:cNvSpPr>
            <p:nvPr/>
          </p:nvSpPr>
          <p:spPr bwMode="auto">
            <a:xfrm>
              <a:off x="4161" y="1695"/>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86" name="Line 81">
              <a:extLst>
                <a:ext uri="{FF2B5EF4-FFF2-40B4-BE49-F238E27FC236}">
                  <a16:creationId xmlns:a16="http://schemas.microsoft.com/office/drawing/2014/main" id="{F8F83D4C-D7A3-A43C-FAFC-583121CCC26A}"/>
                </a:ext>
              </a:extLst>
            </p:cNvPr>
            <p:cNvSpPr>
              <a:spLocks noChangeShapeType="1"/>
            </p:cNvSpPr>
            <p:nvPr/>
          </p:nvSpPr>
          <p:spPr bwMode="auto">
            <a:xfrm>
              <a:off x="4161" y="1746"/>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87" name="Rectangle 82">
              <a:extLst>
                <a:ext uri="{FF2B5EF4-FFF2-40B4-BE49-F238E27FC236}">
                  <a16:creationId xmlns:a16="http://schemas.microsoft.com/office/drawing/2014/main" id="{4DDD3CB0-5E51-9040-9C4A-F37D2B8ABAD6}"/>
                </a:ext>
              </a:extLst>
            </p:cNvPr>
            <p:cNvSpPr>
              <a:spLocks noChangeArrowheads="1"/>
            </p:cNvSpPr>
            <p:nvPr/>
          </p:nvSpPr>
          <p:spPr bwMode="auto">
            <a:xfrm>
              <a:off x="4162" y="1189"/>
              <a:ext cx="851" cy="84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8" name="Line 83">
              <a:extLst>
                <a:ext uri="{FF2B5EF4-FFF2-40B4-BE49-F238E27FC236}">
                  <a16:creationId xmlns:a16="http://schemas.microsoft.com/office/drawing/2014/main" id="{7B6EC40E-5B10-EF45-930D-0FBEBBA6504B}"/>
                </a:ext>
              </a:extLst>
            </p:cNvPr>
            <p:cNvSpPr>
              <a:spLocks noChangeShapeType="1"/>
            </p:cNvSpPr>
            <p:nvPr/>
          </p:nvSpPr>
          <p:spPr bwMode="auto">
            <a:xfrm>
              <a:off x="4309" y="1888"/>
              <a:ext cx="0" cy="78"/>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89" name="Line 84">
              <a:extLst>
                <a:ext uri="{FF2B5EF4-FFF2-40B4-BE49-F238E27FC236}">
                  <a16:creationId xmlns:a16="http://schemas.microsoft.com/office/drawing/2014/main" id="{F77C2930-BDBF-1E5D-8013-94A8BB69DA0E}"/>
                </a:ext>
              </a:extLst>
            </p:cNvPr>
            <p:cNvSpPr>
              <a:spLocks noChangeShapeType="1"/>
            </p:cNvSpPr>
            <p:nvPr/>
          </p:nvSpPr>
          <p:spPr bwMode="auto">
            <a:xfrm>
              <a:off x="4360" y="1886"/>
              <a:ext cx="0" cy="77"/>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0" name="Line 85">
              <a:extLst>
                <a:ext uri="{FF2B5EF4-FFF2-40B4-BE49-F238E27FC236}">
                  <a16:creationId xmlns:a16="http://schemas.microsoft.com/office/drawing/2014/main" id="{0EF8883D-21C2-6437-771D-D71367AFCC01}"/>
                </a:ext>
              </a:extLst>
            </p:cNvPr>
            <p:cNvSpPr>
              <a:spLocks noChangeShapeType="1"/>
            </p:cNvSpPr>
            <p:nvPr/>
          </p:nvSpPr>
          <p:spPr bwMode="auto">
            <a:xfrm>
              <a:off x="4412" y="1886"/>
              <a:ext cx="0" cy="77"/>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1" name="Line 86">
              <a:extLst>
                <a:ext uri="{FF2B5EF4-FFF2-40B4-BE49-F238E27FC236}">
                  <a16:creationId xmlns:a16="http://schemas.microsoft.com/office/drawing/2014/main" id="{B201A102-E91C-1411-7560-FDECC64669E3}"/>
                </a:ext>
              </a:extLst>
            </p:cNvPr>
            <p:cNvSpPr>
              <a:spLocks noChangeShapeType="1"/>
            </p:cNvSpPr>
            <p:nvPr/>
          </p:nvSpPr>
          <p:spPr bwMode="auto">
            <a:xfrm>
              <a:off x="4463" y="1886"/>
              <a:ext cx="0" cy="77"/>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2" name="Line 87">
              <a:extLst>
                <a:ext uri="{FF2B5EF4-FFF2-40B4-BE49-F238E27FC236}">
                  <a16:creationId xmlns:a16="http://schemas.microsoft.com/office/drawing/2014/main" id="{B54B161A-21D3-A3B9-EB66-DC34FCE858EA}"/>
                </a:ext>
              </a:extLst>
            </p:cNvPr>
            <p:cNvSpPr>
              <a:spLocks noChangeShapeType="1"/>
            </p:cNvSpPr>
            <p:nvPr/>
          </p:nvSpPr>
          <p:spPr bwMode="auto">
            <a:xfrm>
              <a:off x="4515" y="1888"/>
              <a:ext cx="0" cy="78"/>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3" name="Line 88">
              <a:extLst>
                <a:ext uri="{FF2B5EF4-FFF2-40B4-BE49-F238E27FC236}">
                  <a16:creationId xmlns:a16="http://schemas.microsoft.com/office/drawing/2014/main" id="{D4327323-B82C-8E33-CF92-EFAAEAB6A883}"/>
                </a:ext>
              </a:extLst>
            </p:cNvPr>
            <p:cNvSpPr>
              <a:spLocks noChangeShapeType="1"/>
            </p:cNvSpPr>
            <p:nvPr/>
          </p:nvSpPr>
          <p:spPr bwMode="auto">
            <a:xfrm>
              <a:off x="4567" y="1888"/>
              <a:ext cx="0" cy="78"/>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4" name="Line 89">
              <a:extLst>
                <a:ext uri="{FF2B5EF4-FFF2-40B4-BE49-F238E27FC236}">
                  <a16:creationId xmlns:a16="http://schemas.microsoft.com/office/drawing/2014/main" id="{0A18E0AE-C54C-8829-08C8-F35D59642F5F}"/>
                </a:ext>
              </a:extLst>
            </p:cNvPr>
            <p:cNvSpPr>
              <a:spLocks noChangeShapeType="1"/>
            </p:cNvSpPr>
            <p:nvPr/>
          </p:nvSpPr>
          <p:spPr bwMode="auto">
            <a:xfrm>
              <a:off x="4618" y="1888"/>
              <a:ext cx="0" cy="78"/>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5" name="Line 90">
              <a:extLst>
                <a:ext uri="{FF2B5EF4-FFF2-40B4-BE49-F238E27FC236}">
                  <a16:creationId xmlns:a16="http://schemas.microsoft.com/office/drawing/2014/main" id="{981CCF99-0619-CE17-976E-6173D8353098}"/>
                </a:ext>
              </a:extLst>
            </p:cNvPr>
            <p:cNvSpPr>
              <a:spLocks noChangeShapeType="1"/>
            </p:cNvSpPr>
            <p:nvPr/>
          </p:nvSpPr>
          <p:spPr bwMode="auto">
            <a:xfrm>
              <a:off x="4669" y="1888"/>
              <a:ext cx="0" cy="78"/>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6" name="Line 91">
              <a:extLst>
                <a:ext uri="{FF2B5EF4-FFF2-40B4-BE49-F238E27FC236}">
                  <a16:creationId xmlns:a16="http://schemas.microsoft.com/office/drawing/2014/main" id="{285490EE-C532-D442-B732-CAA0C55190E2}"/>
                </a:ext>
              </a:extLst>
            </p:cNvPr>
            <p:cNvSpPr>
              <a:spLocks noChangeShapeType="1"/>
            </p:cNvSpPr>
            <p:nvPr/>
          </p:nvSpPr>
          <p:spPr bwMode="auto">
            <a:xfrm>
              <a:off x="4721" y="1888"/>
              <a:ext cx="0" cy="78"/>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7" name="Line 92">
              <a:extLst>
                <a:ext uri="{FF2B5EF4-FFF2-40B4-BE49-F238E27FC236}">
                  <a16:creationId xmlns:a16="http://schemas.microsoft.com/office/drawing/2014/main" id="{9FA4E464-F45E-18DF-3BE3-76C728653023}"/>
                </a:ext>
              </a:extLst>
            </p:cNvPr>
            <p:cNvSpPr>
              <a:spLocks noChangeShapeType="1"/>
            </p:cNvSpPr>
            <p:nvPr/>
          </p:nvSpPr>
          <p:spPr bwMode="auto">
            <a:xfrm>
              <a:off x="4772" y="1886"/>
              <a:ext cx="0" cy="77"/>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8" name="Line 93">
              <a:extLst>
                <a:ext uri="{FF2B5EF4-FFF2-40B4-BE49-F238E27FC236}">
                  <a16:creationId xmlns:a16="http://schemas.microsoft.com/office/drawing/2014/main" id="{5BCB8EED-2FFF-3250-38F9-DB16FA130EF0}"/>
                </a:ext>
              </a:extLst>
            </p:cNvPr>
            <p:cNvSpPr>
              <a:spLocks noChangeShapeType="1"/>
            </p:cNvSpPr>
            <p:nvPr/>
          </p:nvSpPr>
          <p:spPr bwMode="auto">
            <a:xfrm>
              <a:off x="4824" y="1895"/>
              <a:ext cx="0" cy="77"/>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9" name="Line 94">
              <a:extLst>
                <a:ext uri="{FF2B5EF4-FFF2-40B4-BE49-F238E27FC236}">
                  <a16:creationId xmlns:a16="http://schemas.microsoft.com/office/drawing/2014/main" id="{74725780-4AA0-11D0-0F7F-1E31FE0888F2}"/>
                </a:ext>
              </a:extLst>
            </p:cNvPr>
            <p:cNvSpPr>
              <a:spLocks noChangeShapeType="1"/>
            </p:cNvSpPr>
            <p:nvPr/>
          </p:nvSpPr>
          <p:spPr bwMode="auto">
            <a:xfrm>
              <a:off x="4210" y="1953"/>
              <a:ext cx="749"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0" name="Rectangle 95">
              <a:extLst>
                <a:ext uri="{FF2B5EF4-FFF2-40B4-BE49-F238E27FC236}">
                  <a16:creationId xmlns:a16="http://schemas.microsoft.com/office/drawing/2014/main" id="{429F06F8-84F0-213C-9A95-803888E66276}"/>
                </a:ext>
              </a:extLst>
            </p:cNvPr>
            <p:cNvSpPr>
              <a:spLocks noChangeArrowheads="1"/>
            </p:cNvSpPr>
            <p:nvPr/>
          </p:nvSpPr>
          <p:spPr bwMode="auto">
            <a:xfrm>
              <a:off x="4164" y="2059"/>
              <a:ext cx="854"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b="0" i="1">
                  <a:solidFill>
                    <a:srgbClr val="000000"/>
                  </a:solidFill>
                  <a:latin typeface="Times New Roman" panose="02020603050405020304" pitchFamily="18" charset="0"/>
                </a:rPr>
                <a:t>Standard Work Sheet</a:t>
              </a:r>
            </a:p>
          </p:txBody>
        </p:sp>
        <p:sp>
          <p:nvSpPr>
            <p:cNvPr id="101" name="AutoShape 96">
              <a:extLst>
                <a:ext uri="{FF2B5EF4-FFF2-40B4-BE49-F238E27FC236}">
                  <a16:creationId xmlns:a16="http://schemas.microsoft.com/office/drawing/2014/main" id="{965458E1-B2E5-8877-BD1D-02A57B0C145B}"/>
                </a:ext>
              </a:extLst>
            </p:cNvPr>
            <p:cNvSpPr>
              <a:spLocks noChangeArrowheads="1"/>
            </p:cNvSpPr>
            <p:nvPr/>
          </p:nvSpPr>
          <p:spPr bwMode="auto">
            <a:xfrm>
              <a:off x="4436" y="1260"/>
              <a:ext cx="362" cy="726"/>
            </a:xfrm>
            <a:prstGeom prst="roundRect">
              <a:avLst>
                <a:gd name="adj" fmla="val 12495"/>
              </a:avLst>
            </a:prstGeom>
            <a:noFill/>
            <a:ln w="508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02" name="Rectangle 97">
              <a:extLst>
                <a:ext uri="{FF2B5EF4-FFF2-40B4-BE49-F238E27FC236}">
                  <a16:creationId xmlns:a16="http://schemas.microsoft.com/office/drawing/2014/main" id="{ED622BE2-A7CC-0BBC-793F-C8527C03B797}"/>
                </a:ext>
              </a:extLst>
            </p:cNvPr>
            <p:cNvSpPr>
              <a:spLocks noChangeArrowheads="1"/>
            </p:cNvSpPr>
            <p:nvPr/>
          </p:nvSpPr>
          <p:spPr bwMode="auto">
            <a:xfrm>
              <a:off x="4237" y="1847"/>
              <a:ext cx="717" cy="466"/>
            </a:xfrm>
            <a:prstGeom prst="rect">
              <a:avLst/>
            </a:prstGeom>
            <a:solidFill>
              <a:schemeClr val="bg1"/>
            </a:solidFill>
            <a:ln w="12700">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03" name="Oval 98">
              <a:extLst>
                <a:ext uri="{FF2B5EF4-FFF2-40B4-BE49-F238E27FC236}">
                  <a16:creationId xmlns:a16="http://schemas.microsoft.com/office/drawing/2014/main" id="{9D67273C-052B-E7A1-45A3-FE54954AF828}"/>
                </a:ext>
              </a:extLst>
            </p:cNvPr>
            <p:cNvSpPr>
              <a:spLocks noChangeArrowheads="1"/>
            </p:cNvSpPr>
            <p:nvPr/>
          </p:nvSpPr>
          <p:spPr bwMode="auto">
            <a:xfrm>
              <a:off x="4568" y="1280"/>
              <a:ext cx="93" cy="110"/>
            </a:xfrm>
            <a:prstGeom prst="ellipse">
              <a:avLst/>
            </a:prstGeom>
            <a:solidFill>
              <a:schemeClr val="tx1"/>
            </a:solidFill>
            <a:ln w="12700">
              <a:solidFill>
                <a:schemeClr val="tx2"/>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04" name="Oval 99">
              <a:extLst>
                <a:ext uri="{FF2B5EF4-FFF2-40B4-BE49-F238E27FC236}">
                  <a16:creationId xmlns:a16="http://schemas.microsoft.com/office/drawing/2014/main" id="{17AD7E67-D7C1-4AC9-F78A-3D0850944075}"/>
                </a:ext>
              </a:extLst>
            </p:cNvPr>
            <p:cNvSpPr>
              <a:spLocks noChangeArrowheads="1"/>
            </p:cNvSpPr>
            <p:nvPr/>
          </p:nvSpPr>
          <p:spPr bwMode="auto">
            <a:xfrm>
              <a:off x="4458" y="1348"/>
              <a:ext cx="95" cy="110"/>
            </a:xfrm>
            <a:prstGeom prst="ellipse">
              <a:avLst/>
            </a:prstGeom>
            <a:solidFill>
              <a:schemeClr val="tx1"/>
            </a:solidFill>
            <a:ln w="12700">
              <a:solidFill>
                <a:schemeClr val="tx2"/>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05" name="Oval 100">
              <a:extLst>
                <a:ext uri="{FF2B5EF4-FFF2-40B4-BE49-F238E27FC236}">
                  <a16:creationId xmlns:a16="http://schemas.microsoft.com/office/drawing/2014/main" id="{54DCCCF2-511A-5344-4245-880EB30514FE}"/>
                </a:ext>
              </a:extLst>
            </p:cNvPr>
            <p:cNvSpPr>
              <a:spLocks noChangeArrowheads="1"/>
            </p:cNvSpPr>
            <p:nvPr/>
          </p:nvSpPr>
          <p:spPr bwMode="auto">
            <a:xfrm>
              <a:off x="4458" y="1486"/>
              <a:ext cx="95" cy="109"/>
            </a:xfrm>
            <a:prstGeom prst="ellipse">
              <a:avLst/>
            </a:prstGeom>
            <a:solidFill>
              <a:schemeClr val="tx1"/>
            </a:solidFill>
            <a:ln w="12700">
              <a:solidFill>
                <a:schemeClr val="tx2"/>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06" name="Oval 101">
              <a:extLst>
                <a:ext uri="{FF2B5EF4-FFF2-40B4-BE49-F238E27FC236}">
                  <a16:creationId xmlns:a16="http://schemas.microsoft.com/office/drawing/2014/main" id="{498120A8-1A7B-C1B3-1327-7F715FCC7936}"/>
                </a:ext>
              </a:extLst>
            </p:cNvPr>
            <p:cNvSpPr>
              <a:spLocks noChangeArrowheads="1"/>
            </p:cNvSpPr>
            <p:nvPr/>
          </p:nvSpPr>
          <p:spPr bwMode="auto">
            <a:xfrm>
              <a:off x="4458" y="1625"/>
              <a:ext cx="95" cy="110"/>
            </a:xfrm>
            <a:prstGeom prst="ellipse">
              <a:avLst/>
            </a:prstGeom>
            <a:solidFill>
              <a:schemeClr val="tx1"/>
            </a:solidFill>
            <a:ln w="12700">
              <a:solidFill>
                <a:schemeClr val="tx2"/>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07" name="Oval 102">
              <a:extLst>
                <a:ext uri="{FF2B5EF4-FFF2-40B4-BE49-F238E27FC236}">
                  <a16:creationId xmlns:a16="http://schemas.microsoft.com/office/drawing/2014/main" id="{F896BB4E-46E7-4800-3BAD-1E6A0CB66AFD}"/>
                </a:ext>
              </a:extLst>
            </p:cNvPr>
            <p:cNvSpPr>
              <a:spLocks noChangeArrowheads="1"/>
            </p:cNvSpPr>
            <p:nvPr/>
          </p:nvSpPr>
          <p:spPr bwMode="auto">
            <a:xfrm>
              <a:off x="4681" y="1348"/>
              <a:ext cx="95" cy="110"/>
            </a:xfrm>
            <a:prstGeom prst="ellipse">
              <a:avLst/>
            </a:prstGeom>
            <a:solidFill>
              <a:schemeClr val="tx1"/>
            </a:solidFill>
            <a:ln w="12700">
              <a:solidFill>
                <a:schemeClr val="tx2"/>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08" name="Oval 103">
              <a:extLst>
                <a:ext uri="{FF2B5EF4-FFF2-40B4-BE49-F238E27FC236}">
                  <a16:creationId xmlns:a16="http://schemas.microsoft.com/office/drawing/2014/main" id="{96974663-87EE-569F-288D-DFA074AFCB47}"/>
                </a:ext>
              </a:extLst>
            </p:cNvPr>
            <p:cNvSpPr>
              <a:spLocks noChangeArrowheads="1"/>
            </p:cNvSpPr>
            <p:nvPr/>
          </p:nvSpPr>
          <p:spPr bwMode="auto">
            <a:xfrm>
              <a:off x="4681" y="1486"/>
              <a:ext cx="95" cy="109"/>
            </a:xfrm>
            <a:prstGeom prst="ellipse">
              <a:avLst/>
            </a:prstGeom>
            <a:solidFill>
              <a:schemeClr val="tx1"/>
            </a:solidFill>
            <a:ln w="12700">
              <a:solidFill>
                <a:schemeClr val="tx2"/>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09" name="Oval 104">
              <a:extLst>
                <a:ext uri="{FF2B5EF4-FFF2-40B4-BE49-F238E27FC236}">
                  <a16:creationId xmlns:a16="http://schemas.microsoft.com/office/drawing/2014/main" id="{E123491A-88F8-74AC-5538-2DD638EDD4CD}"/>
                </a:ext>
              </a:extLst>
            </p:cNvPr>
            <p:cNvSpPr>
              <a:spLocks noChangeArrowheads="1"/>
            </p:cNvSpPr>
            <p:nvPr/>
          </p:nvSpPr>
          <p:spPr bwMode="auto">
            <a:xfrm>
              <a:off x="4681" y="1625"/>
              <a:ext cx="95" cy="110"/>
            </a:xfrm>
            <a:prstGeom prst="ellipse">
              <a:avLst/>
            </a:prstGeom>
            <a:solidFill>
              <a:schemeClr val="tx1"/>
            </a:solidFill>
            <a:ln w="12700">
              <a:solidFill>
                <a:schemeClr val="tx2"/>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10" name="Line 105">
              <a:extLst>
                <a:ext uri="{FF2B5EF4-FFF2-40B4-BE49-F238E27FC236}">
                  <a16:creationId xmlns:a16="http://schemas.microsoft.com/office/drawing/2014/main" id="{B6B164E3-A285-B42E-476C-1EA48AE848B0}"/>
                </a:ext>
              </a:extLst>
            </p:cNvPr>
            <p:cNvSpPr>
              <a:spLocks noChangeShapeType="1"/>
            </p:cNvSpPr>
            <p:nvPr/>
          </p:nvSpPr>
          <p:spPr bwMode="auto">
            <a:xfrm>
              <a:off x="4161" y="1901"/>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1" name="Line 106">
              <a:extLst>
                <a:ext uri="{FF2B5EF4-FFF2-40B4-BE49-F238E27FC236}">
                  <a16:creationId xmlns:a16="http://schemas.microsoft.com/office/drawing/2014/main" id="{F9D80CB9-C9DE-B71B-5A65-162ECF609A91}"/>
                </a:ext>
              </a:extLst>
            </p:cNvPr>
            <p:cNvSpPr>
              <a:spLocks noChangeShapeType="1"/>
            </p:cNvSpPr>
            <p:nvPr/>
          </p:nvSpPr>
          <p:spPr bwMode="auto">
            <a:xfrm>
              <a:off x="4161" y="1953"/>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2" name="Line 107">
              <a:extLst>
                <a:ext uri="{FF2B5EF4-FFF2-40B4-BE49-F238E27FC236}">
                  <a16:creationId xmlns:a16="http://schemas.microsoft.com/office/drawing/2014/main" id="{A0B4601C-EB32-7213-5D57-3E5AD7060D38}"/>
                </a:ext>
              </a:extLst>
            </p:cNvPr>
            <p:cNvSpPr>
              <a:spLocks noChangeShapeType="1"/>
            </p:cNvSpPr>
            <p:nvPr/>
          </p:nvSpPr>
          <p:spPr bwMode="auto">
            <a:xfrm>
              <a:off x="4161" y="2004"/>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3" name="Line 108">
              <a:extLst>
                <a:ext uri="{FF2B5EF4-FFF2-40B4-BE49-F238E27FC236}">
                  <a16:creationId xmlns:a16="http://schemas.microsoft.com/office/drawing/2014/main" id="{404CFB07-3FEE-8D20-52B1-BBC406A0A2B5}"/>
                </a:ext>
              </a:extLst>
            </p:cNvPr>
            <p:cNvSpPr>
              <a:spLocks noChangeShapeType="1"/>
            </p:cNvSpPr>
            <p:nvPr/>
          </p:nvSpPr>
          <p:spPr bwMode="auto">
            <a:xfrm>
              <a:off x="4360"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4" name="Line 109">
              <a:extLst>
                <a:ext uri="{FF2B5EF4-FFF2-40B4-BE49-F238E27FC236}">
                  <a16:creationId xmlns:a16="http://schemas.microsoft.com/office/drawing/2014/main" id="{2372E972-1B80-332E-12FF-BEE1D92DA556}"/>
                </a:ext>
              </a:extLst>
            </p:cNvPr>
            <p:cNvSpPr>
              <a:spLocks noChangeShapeType="1"/>
            </p:cNvSpPr>
            <p:nvPr/>
          </p:nvSpPr>
          <p:spPr bwMode="auto">
            <a:xfrm>
              <a:off x="4161" y="1849"/>
              <a:ext cx="852" cy="0"/>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5" name="Line 110">
              <a:extLst>
                <a:ext uri="{FF2B5EF4-FFF2-40B4-BE49-F238E27FC236}">
                  <a16:creationId xmlns:a16="http://schemas.microsoft.com/office/drawing/2014/main" id="{909D548C-894F-DC4B-F3C0-8E95FE416000}"/>
                </a:ext>
              </a:extLst>
            </p:cNvPr>
            <p:cNvSpPr>
              <a:spLocks noChangeShapeType="1"/>
            </p:cNvSpPr>
            <p:nvPr/>
          </p:nvSpPr>
          <p:spPr bwMode="auto">
            <a:xfrm>
              <a:off x="4339" y="1765"/>
              <a:ext cx="93" cy="97"/>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6" name="Line 111">
              <a:extLst>
                <a:ext uri="{FF2B5EF4-FFF2-40B4-BE49-F238E27FC236}">
                  <a16:creationId xmlns:a16="http://schemas.microsoft.com/office/drawing/2014/main" id="{2A7D9E6A-D926-A654-CBCF-5578D4A29647}"/>
                </a:ext>
              </a:extLst>
            </p:cNvPr>
            <p:cNvSpPr>
              <a:spLocks noChangeShapeType="1"/>
            </p:cNvSpPr>
            <p:nvPr/>
          </p:nvSpPr>
          <p:spPr bwMode="auto">
            <a:xfrm flipH="1">
              <a:off x="4424" y="1762"/>
              <a:ext cx="92" cy="97"/>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7" name="Oval 112">
              <a:extLst>
                <a:ext uri="{FF2B5EF4-FFF2-40B4-BE49-F238E27FC236}">
                  <a16:creationId xmlns:a16="http://schemas.microsoft.com/office/drawing/2014/main" id="{14BDB63A-28E1-F8B6-0157-8FF51BA057F7}"/>
                </a:ext>
              </a:extLst>
            </p:cNvPr>
            <p:cNvSpPr>
              <a:spLocks noChangeArrowheads="1"/>
            </p:cNvSpPr>
            <p:nvPr/>
          </p:nvSpPr>
          <p:spPr bwMode="auto">
            <a:xfrm>
              <a:off x="4571" y="1681"/>
              <a:ext cx="93" cy="99"/>
            </a:xfrm>
            <a:prstGeom prst="ellipse">
              <a:avLst/>
            </a:prstGeom>
            <a:solidFill>
              <a:srgbClr val="114FFB"/>
            </a:solidFill>
            <a:ln w="12700">
              <a:solidFill>
                <a:schemeClr val="tx2"/>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18" name="Line 113">
              <a:extLst>
                <a:ext uri="{FF2B5EF4-FFF2-40B4-BE49-F238E27FC236}">
                  <a16:creationId xmlns:a16="http://schemas.microsoft.com/office/drawing/2014/main" id="{DCE5FB7C-953F-E071-F80C-70AB95AD872F}"/>
                </a:ext>
              </a:extLst>
            </p:cNvPr>
            <p:cNvSpPr>
              <a:spLocks noChangeShapeType="1"/>
            </p:cNvSpPr>
            <p:nvPr/>
          </p:nvSpPr>
          <p:spPr bwMode="auto">
            <a:xfrm>
              <a:off x="4257"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9" name="Line 114">
              <a:extLst>
                <a:ext uri="{FF2B5EF4-FFF2-40B4-BE49-F238E27FC236}">
                  <a16:creationId xmlns:a16="http://schemas.microsoft.com/office/drawing/2014/main" id="{76DD46AC-75D9-1616-B7F3-7AB68FEFF099}"/>
                </a:ext>
              </a:extLst>
            </p:cNvPr>
            <p:cNvSpPr>
              <a:spLocks noChangeShapeType="1"/>
            </p:cNvSpPr>
            <p:nvPr/>
          </p:nvSpPr>
          <p:spPr bwMode="auto">
            <a:xfrm>
              <a:off x="4309"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0" name="Line 115">
              <a:extLst>
                <a:ext uri="{FF2B5EF4-FFF2-40B4-BE49-F238E27FC236}">
                  <a16:creationId xmlns:a16="http://schemas.microsoft.com/office/drawing/2014/main" id="{93E3E78C-23C9-CAE4-0159-F4F4C49A861C}"/>
                </a:ext>
              </a:extLst>
            </p:cNvPr>
            <p:cNvSpPr>
              <a:spLocks noChangeShapeType="1"/>
            </p:cNvSpPr>
            <p:nvPr/>
          </p:nvSpPr>
          <p:spPr bwMode="auto">
            <a:xfrm>
              <a:off x="4876"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1" name="Line 116">
              <a:extLst>
                <a:ext uri="{FF2B5EF4-FFF2-40B4-BE49-F238E27FC236}">
                  <a16:creationId xmlns:a16="http://schemas.microsoft.com/office/drawing/2014/main" id="{6FB9D75F-18A2-5F58-616E-BD9C90953A1E}"/>
                </a:ext>
              </a:extLst>
            </p:cNvPr>
            <p:cNvSpPr>
              <a:spLocks noChangeShapeType="1"/>
            </p:cNvSpPr>
            <p:nvPr/>
          </p:nvSpPr>
          <p:spPr bwMode="auto">
            <a:xfrm>
              <a:off x="4927" y="1187"/>
              <a:ext cx="0" cy="845"/>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2" name="Line 117">
              <a:extLst>
                <a:ext uri="{FF2B5EF4-FFF2-40B4-BE49-F238E27FC236}">
                  <a16:creationId xmlns:a16="http://schemas.microsoft.com/office/drawing/2014/main" id="{63EE71B7-4645-0B65-2445-D434822D74A0}"/>
                </a:ext>
              </a:extLst>
            </p:cNvPr>
            <p:cNvSpPr>
              <a:spLocks noChangeShapeType="1"/>
            </p:cNvSpPr>
            <p:nvPr/>
          </p:nvSpPr>
          <p:spPr bwMode="auto">
            <a:xfrm>
              <a:off x="4414" y="1862"/>
              <a:ext cx="0" cy="172"/>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 name="Line 118">
              <a:extLst>
                <a:ext uri="{FF2B5EF4-FFF2-40B4-BE49-F238E27FC236}">
                  <a16:creationId xmlns:a16="http://schemas.microsoft.com/office/drawing/2014/main" id="{D42BCCA4-7B9C-5182-4046-3EC22AC7A1FD}"/>
                </a:ext>
              </a:extLst>
            </p:cNvPr>
            <p:cNvSpPr>
              <a:spLocks noChangeShapeType="1"/>
            </p:cNvSpPr>
            <p:nvPr/>
          </p:nvSpPr>
          <p:spPr bwMode="auto">
            <a:xfrm>
              <a:off x="4464" y="1842"/>
              <a:ext cx="0" cy="191"/>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4" name="Line 119">
              <a:extLst>
                <a:ext uri="{FF2B5EF4-FFF2-40B4-BE49-F238E27FC236}">
                  <a16:creationId xmlns:a16="http://schemas.microsoft.com/office/drawing/2014/main" id="{06561E81-39D5-701E-97D8-D2261EC67F4D}"/>
                </a:ext>
              </a:extLst>
            </p:cNvPr>
            <p:cNvSpPr>
              <a:spLocks noChangeShapeType="1"/>
            </p:cNvSpPr>
            <p:nvPr/>
          </p:nvSpPr>
          <p:spPr bwMode="auto">
            <a:xfrm flipH="1">
              <a:off x="4513" y="1841"/>
              <a:ext cx="2" cy="188"/>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5" name="Line 120">
              <a:extLst>
                <a:ext uri="{FF2B5EF4-FFF2-40B4-BE49-F238E27FC236}">
                  <a16:creationId xmlns:a16="http://schemas.microsoft.com/office/drawing/2014/main" id="{F6158DBA-6C67-FDE4-145A-A4D82287B706}"/>
                </a:ext>
              </a:extLst>
            </p:cNvPr>
            <p:cNvSpPr>
              <a:spLocks noChangeShapeType="1"/>
            </p:cNvSpPr>
            <p:nvPr/>
          </p:nvSpPr>
          <p:spPr bwMode="auto">
            <a:xfrm flipH="1">
              <a:off x="4565" y="1843"/>
              <a:ext cx="2" cy="189"/>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6" name="Line 121">
              <a:extLst>
                <a:ext uri="{FF2B5EF4-FFF2-40B4-BE49-F238E27FC236}">
                  <a16:creationId xmlns:a16="http://schemas.microsoft.com/office/drawing/2014/main" id="{39B8F871-4D82-810A-384A-D958D1EF3CC0}"/>
                </a:ext>
              </a:extLst>
            </p:cNvPr>
            <p:cNvSpPr>
              <a:spLocks noChangeShapeType="1"/>
            </p:cNvSpPr>
            <p:nvPr/>
          </p:nvSpPr>
          <p:spPr bwMode="auto">
            <a:xfrm>
              <a:off x="4618" y="1847"/>
              <a:ext cx="0" cy="183"/>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7" name="Line 122">
              <a:extLst>
                <a:ext uri="{FF2B5EF4-FFF2-40B4-BE49-F238E27FC236}">
                  <a16:creationId xmlns:a16="http://schemas.microsoft.com/office/drawing/2014/main" id="{2AE13F3D-23B4-63B0-AD9D-E9E920F7D3DA}"/>
                </a:ext>
              </a:extLst>
            </p:cNvPr>
            <p:cNvSpPr>
              <a:spLocks noChangeShapeType="1"/>
            </p:cNvSpPr>
            <p:nvPr/>
          </p:nvSpPr>
          <p:spPr bwMode="auto">
            <a:xfrm>
              <a:off x="4673" y="1843"/>
              <a:ext cx="0" cy="187"/>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8" name="Line 123">
              <a:extLst>
                <a:ext uri="{FF2B5EF4-FFF2-40B4-BE49-F238E27FC236}">
                  <a16:creationId xmlns:a16="http://schemas.microsoft.com/office/drawing/2014/main" id="{147A9F00-99CD-0AB4-AD7E-26E7770460D6}"/>
                </a:ext>
              </a:extLst>
            </p:cNvPr>
            <p:cNvSpPr>
              <a:spLocks noChangeShapeType="1"/>
            </p:cNvSpPr>
            <p:nvPr/>
          </p:nvSpPr>
          <p:spPr bwMode="auto">
            <a:xfrm>
              <a:off x="4721" y="1838"/>
              <a:ext cx="0" cy="192"/>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9" name="Line 124">
              <a:extLst>
                <a:ext uri="{FF2B5EF4-FFF2-40B4-BE49-F238E27FC236}">
                  <a16:creationId xmlns:a16="http://schemas.microsoft.com/office/drawing/2014/main" id="{10AF3285-A896-690E-D4F8-8858AEA641AF}"/>
                </a:ext>
              </a:extLst>
            </p:cNvPr>
            <p:cNvSpPr>
              <a:spLocks noChangeShapeType="1"/>
            </p:cNvSpPr>
            <p:nvPr/>
          </p:nvSpPr>
          <p:spPr bwMode="auto">
            <a:xfrm>
              <a:off x="4773" y="1848"/>
              <a:ext cx="0" cy="184"/>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0" name="AutoShape 125">
              <a:extLst>
                <a:ext uri="{FF2B5EF4-FFF2-40B4-BE49-F238E27FC236}">
                  <a16:creationId xmlns:a16="http://schemas.microsoft.com/office/drawing/2014/main" id="{1E8B38E6-C119-F9C7-24F8-5A1440A4581F}"/>
                </a:ext>
              </a:extLst>
            </p:cNvPr>
            <p:cNvSpPr>
              <a:spLocks noChangeArrowheads="1"/>
            </p:cNvSpPr>
            <p:nvPr/>
          </p:nvSpPr>
          <p:spPr bwMode="auto">
            <a:xfrm>
              <a:off x="4556" y="1784"/>
              <a:ext cx="123" cy="175"/>
            </a:xfrm>
            <a:prstGeom prst="roundRect">
              <a:avLst>
                <a:gd name="adj" fmla="val 12495"/>
              </a:avLst>
            </a:prstGeom>
            <a:solidFill>
              <a:srgbClr val="114FFB"/>
            </a:solidFill>
            <a:ln w="12700">
              <a:solidFill>
                <a:schemeClr val="tx2"/>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31" name="Rectangle 126">
              <a:extLst>
                <a:ext uri="{FF2B5EF4-FFF2-40B4-BE49-F238E27FC236}">
                  <a16:creationId xmlns:a16="http://schemas.microsoft.com/office/drawing/2014/main" id="{3A5AF922-0594-8D54-A1F5-A11E84293CBA}"/>
                </a:ext>
              </a:extLst>
            </p:cNvPr>
            <p:cNvSpPr>
              <a:spLocks noChangeArrowheads="1"/>
            </p:cNvSpPr>
            <p:nvPr/>
          </p:nvSpPr>
          <p:spPr bwMode="auto">
            <a:xfrm>
              <a:off x="4331" y="1845"/>
              <a:ext cx="208" cy="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000" b="0">
                  <a:solidFill>
                    <a:srgbClr val="000000"/>
                  </a:solidFill>
                </a:rPr>
                <a:t>FG</a:t>
              </a:r>
            </a:p>
          </p:txBody>
        </p:sp>
        <p:sp>
          <p:nvSpPr>
            <p:cNvPr id="132" name="Line 127">
              <a:extLst>
                <a:ext uri="{FF2B5EF4-FFF2-40B4-BE49-F238E27FC236}">
                  <a16:creationId xmlns:a16="http://schemas.microsoft.com/office/drawing/2014/main" id="{F197E42D-CACB-0192-5C9C-B39BE522AB39}"/>
                </a:ext>
              </a:extLst>
            </p:cNvPr>
            <p:cNvSpPr>
              <a:spLocks noChangeShapeType="1"/>
            </p:cNvSpPr>
            <p:nvPr/>
          </p:nvSpPr>
          <p:spPr bwMode="auto">
            <a:xfrm>
              <a:off x="4825" y="1852"/>
              <a:ext cx="0" cy="181"/>
            </a:xfrm>
            <a:prstGeom prst="line">
              <a:avLst/>
            </a:prstGeom>
            <a:noFill/>
            <a:ln w="127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3" name="Rectangle 128">
              <a:extLst>
                <a:ext uri="{FF2B5EF4-FFF2-40B4-BE49-F238E27FC236}">
                  <a16:creationId xmlns:a16="http://schemas.microsoft.com/office/drawing/2014/main" id="{C6381D5B-B116-22A9-72AA-53434D947F17}"/>
                </a:ext>
              </a:extLst>
            </p:cNvPr>
            <p:cNvSpPr>
              <a:spLocks noChangeArrowheads="1"/>
            </p:cNvSpPr>
            <p:nvPr/>
          </p:nvSpPr>
          <p:spPr bwMode="auto">
            <a:xfrm>
              <a:off x="4162" y="1189"/>
              <a:ext cx="851" cy="84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34" name="Rectangle 129">
              <a:extLst>
                <a:ext uri="{FF2B5EF4-FFF2-40B4-BE49-F238E27FC236}">
                  <a16:creationId xmlns:a16="http://schemas.microsoft.com/office/drawing/2014/main" id="{A94588CF-808F-5032-B69E-B72928D296BC}"/>
                </a:ext>
              </a:extLst>
            </p:cNvPr>
            <p:cNvSpPr>
              <a:spLocks noChangeArrowheads="1"/>
            </p:cNvSpPr>
            <p:nvPr/>
          </p:nvSpPr>
          <p:spPr bwMode="auto">
            <a:xfrm>
              <a:off x="4711" y="1843"/>
              <a:ext cx="208" cy="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000" b="0">
                  <a:solidFill>
                    <a:srgbClr val="000000"/>
                  </a:solidFill>
                </a:rPr>
                <a:t>RM</a:t>
              </a:r>
            </a:p>
          </p:txBody>
        </p:sp>
        <p:sp>
          <p:nvSpPr>
            <p:cNvPr id="135" name="Line 130">
              <a:extLst>
                <a:ext uri="{FF2B5EF4-FFF2-40B4-BE49-F238E27FC236}">
                  <a16:creationId xmlns:a16="http://schemas.microsoft.com/office/drawing/2014/main" id="{51808AEE-57D4-A2CF-CBE0-1384CC63BE7B}"/>
                </a:ext>
              </a:extLst>
            </p:cNvPr>
            <p:cNvSpPr>
              <a:spLocks noChangeShapeType="1"/>
            </p:cNvSpPr>
            <p:nvPr/>
          </p:nvSpPr>
          <p:spPr bwMode="auto">
            <a:xfrm>
              <a:off x="4742" y="1851"/>
              <a:ext cx="122" cy="0"/>
            </a:xfrm>
            <a:prstGeom prst="line">
              <a:avLst/>
            </a:prstGeom>
            <a:noFill/>
            <a:ln w="508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6" name="Rectangle 131" descr="Light horizontal">
              <a:extLst>
                <a:ext uri="{FF2B5EF4-FFF2-40B4-BE49-F238E27FC236}">
                  <a16:creationId xmlns:a16="http://schemas.microsoft.com/office/drawing/2014/main" id="{E828DD54-BE5F-6F7F-1045-7D61F5D49F8D}"/>
                </a:ext>
              </a:extLst>
            </p:cNvPr>
            <p:cNvSpPr>
              <a:spLocks noChangeArrowheads="1"/>
            </p:cNvSpPr>
            <p:nvPr/>
          </p:nvSpPr>
          <p:spPr bwMode="auto">
            <a:xfrm>
              <a:off x="4553" y="2194"/>
              <a:ext cx="656" cy="573"/>
            </a:xfrm>
            <a:prstGeom prst="rect">
              <a:avLst/>
            </a:prstGeom>
            <a:blipFill dpi="0" rotWithShape="0">
              <a:blip r:embed="rId4"/>
              <a:srcRect/>
              <a:tile tx="0" ty="0" sx="100000" sy="100000" flip="none" algn="tl"/>
            </a:blip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37" name="Rectangle 132">
              <a:extLst>
                <a:ext uri="{FF2B5EF4-FFF2-40B4-BE49-F238E27FC236}">
                  <a16:creationId xmlns:a16="http://schemas.microsoft.com/office/drawing/2014/main" id="{6B1FA1C6-FA83-96D7-AE89-188D60FB596D}"/>
                </a:ext>
              </a:extLst>
            </p:cNvPr>
            <p:cNvSpPr>
              <a:spLocks noChangeArrowheads="1"/>
            </p:cNvSpPr>
            <p:nvPr/>
          </p:nvSpPr>
          <p:spPr bwMode="auto">
            <a:xfrm>
              <a:off x="4123" y="2194"/>
              <a:ext cx="424" cy="5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38" name="Line 133">
              <a:extLst>
                <a:ext uri="{FF2B5EF4-FFF2-40B4-BE49-F238E27FC236}">
                  <a16:creationId xmlns:a16="http://schemas.microsoft.com/office/drawing/2014/main" id="{E0A5C8D5-32B5-1772-D025-CF7FC66A7AAC}"/>
                </a:ext>
              </a:extLst>
            </p:cNvPr>
            <p:cNvSpPr>
              <a:spLocks noChangeShapeType="1"/>
            </p:cNvSpPr>
            <p:nvPr/>
          </p:nvSpPr>
          <p:spPr bwMode="auto">
            <a:xfrm>
              <a:off x="4122" y="2280"/>
              <a:ext cx="42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9" name="Line 134">
              <a:extLst>
                <a:ext uri="{FF2B5EF4-FFF2-40B4-BE49-F238E27FC236}">
                  <a16:creationId xmlns:a16="http://schemas.microsoft.com/office/drawing/2014/main" id="{F8150D2F-E23A-97D5-F03E-76F680B1B632}"/>
                </a:ext>
              </a:extLst>
            </p:cNvPr>
            <p:cNvSpPr>
              <a:spLocks noChangeShapeType="1"/>
            </p:cNvSpPr>
            <p:nvPr/>
          </p:nvSpPr>
          <p:spPr bwMode="auto">
            <a:xfrm>
              <a:off x="4122" y="2365"/>
              <a:ext cx="42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40" name="Line 135">
              <a:extLst>
                <a:ext uri="{FF2B5EF4-FFF2-40B4-BE49-F238E27FC236}">
                  <a16:creationId xmlns:a16="http://schemas.microsoft.com/office/drawing/2014/main" id="{4B651A0E-9B4D-01AB-3C25-257A68AC614F}"/>
                </a:ext>
              </a:extLst>
            </p:cNvPr>
            <p:cNvSpPr>
              <a:spLocks noChangeShapeType="1"/>
            </p:cNvSpPr>
            <p:nvPr/>
          </p:nvSpPr>
          <p:spPr bwMode="auto">
            <a:xfrm>
              <a:off x="4122" y="2451"/>
              <a:ext cx="42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41" name="Line 136">
              <a:extLst>
                <a:ext uri="{FF2B5EF4-FFF2-40B4-BE49-F238E27FC236}">
                  <a16:creationId xmlns:a16="http://schemas.microsoft.com/office/drawing/2014/main" id="{354E679F-E4AE-AC43-F27D-A0C00D99588C}"/>
                </a:ext>
              </a:extLst>
            </p:cNvPr>
            <p:cNvSpPr>
              <a:spLocks noChangeShapeType="1"/>
            </p:cNvSpPr>
            <p:nvPr/>
          </p:nvSpPr>
          <p:spPr bwMode="auto">
            <a:xfrm>
              <a:off x="4122" y="2536"/>
              <a:ext cx="42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42" name="Line 137">
              <a:extLst>
                <a:ext uri="{FF2B5EF4-FFF2-40B4-BE49-F238E27FC236}">
                  <a16:creationId xmlns:a16="http://schemas.microsoft.com/office/drawing/2014/main" id="{A2A621B0-CFCB-9525-5ABC-898795AA28D5}"/>
                </a:ext>
              </a:extLst>
            </p:cNvPr>
            <p:cNvSpPr>
              <a:spLocks noChangeShapeType="1"/>
            </p:cNvSpPr>
            <p:nvPr/>
          </p:nvSpPr>
          <p:spPr bwMode="auto">
            <a:xfrm>
              <a:off x="4122" y="2624"/>
              <a:ext cx="42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43" name="Line 138">
              <a:extLst>
                <a:ext uri="{FF2B5EF4-FFF2-40B4-BE49-F238E27FC236}">
                  <a16:creationId xmlns:a16="http://schemas.microsoft.com/office/drawing/2014/main" id="{85CE4CCD-04C6-49CE-45B9-9C221CA9D53C}"/>
                </a:ext>
              </a:extLst>
            </p:cNvPr>
            <p:cNvSpPr>
              <a:spLocks noChangeShapeType="1"/>
            </p:cNvSpPr>
            <p:nvPr/>
          </p:nvSpPr>
          <p:spPr bwMode="auto">
            <a:xfrm>
              <a:off x="4122" y="2709"/>
              <a:ext cx="42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44" name="Freeform 139">
              <a:extLst>
                <a:ext uri="{FF2B5EF4-FFF2-40B4-BE49-F238E27FC236}">
                  <a16:creationId xmlns:a16="http://schemas.microsoft.com/office/drawing/2014/main" id="{36FDC73D-B165-32EE-9953-E5F638A2660C}"/>
                </a:ext>
              </a:extLst>
            </p:cNvPr>
            <p:cNvSpPr>
              <a:spLocks/>
            </p:cNvSpPr>
            <p:nvPr/>
          </p:nvSpPr>
          <p:spPr bwMode="auto">
            <a:xfrm>
              <a:off x="4554" y="2242"/>
              <a:ext cx="567" cy="460"/>
            </a:xfrm>
            <a:custGeom>
              <a:avLst/>
              <a:gdLst>
                <a:gd name="T0" fmla="*/ 0 w 567"/>
                <a:gd name="T1" fmla="*/ 2 h 460"/>
                <a:gd name="T2" fmla="*/ 5 w 567"/>
                <a:gd name="T3" fmla="*/ 0 h 460"/>
                <a:gd name="T4" fmla="*/ 10 w 567"/>
                <a:gd name="T5" fmla="*/ 0 h 460"/>
                <a:gd name="T6" fmla="*/ 15 w 567"/>
                <a:gd name="T7" fmla="*/ 0 h 460"/>
                <a:gd name="T8" fmla="*/ 21 w 567"/>
                <a:gd name="T9" fmla="*/ 0 h 460"/>
                <a:gd name="T10" fmla="*/ 26 w 567"/>
                <a:gd name="T11" fmla="*/ 0 h 460"/>
                <a:gd name="T12" fmla="*/ 31 w 567"/>
                <a:gd name="T13" fmla="*/ 0 h 460"/>
                <a:gd name="T14" fmla="*/ 37 w 567"/>
                <a:gd name="T15" fmla="*/ 2 h 460"/>
                <a:gd name="T16" fmla="*/ 42 w 567"/>
                <a:gd name="T17" fmla="*/ 51 h 460"/>
                <a:gd name="T18" fmla="*/ 96 w 567"/>
                <a:gd name="T19" fmla="*/ 54 h 460"/>
                <a:gd name="T20" fmla="*/ 109 w 567"/>
                <a:gd name="T21" fmla="*/ 101 h 460"/>
                <a:gd name="T22" fmla="*/ 152 w 567"/>
                <a:gd name="T23" fmla="*/ 105 h 460"/>
                <a:gd name="T24" fmla="*/ 170 w 567"/>
                <a:gd name="T25" fmla="*/ 155 h 460"/>
                <a:gd name="T26" fmla="*/ 229 w 567"/>
                <a:gd name="T27" fmla="*/ 153 h 460"/>
                <a:gd name="T28" fmla="*/ 245 w 567"/>
                <a:gd name="T29" fmla="*/ 223 h 460"/>
                <a:gd name="T30" fmla="*/ 288 w 567"/>
                <a:gd name="T31" fmla="*/ 248 h 460"/>
                <a:gd name="T32" fmla="*/ 325 w 567"/>
                <a:gd name="T33" fmla="*/ 245 h 460"/>
                <a:gd name="T34" fmla="*/ 331 w 567"/>
                <a:gd name="T35" fmla="*/ 293 h 460"/>
                <a:gd name="T36" fmla="*/ 373 w 567"/>
                <a:gd name="T37" fmla="*/ 293 h 460"/>
                <a:gd name="T38" fmla="*/ 384 w 567"/>
                <a:gd name="T39" fmla="*/ 353 h 460"/>
                <a:gd name="T40" fmla="*/ 424 w 567"/>
                <a:gd name="T41" fmla="*/ 353 h 460"/>
                <a:gd name="T42" fmla="*/ 427 w 567"/>
                <a:gd name="T43" fmla="*/ 404 h 460"/>
                <a:gd name="T44" fmla="*/ 478 w 567"/>
                <a:gd name="T45" fmla="*/ 404 h 460"/>
                <a:gd name="T46" fmla="*/ 480 w 567"/>
                <a:gd name="T47" fmla="*/ 430 h 460"/>
                <a:gd name="T48" fmla="*/ 515 w 567"/>
                <a:gd name="T49" fmla="*/ 430 h 460"/>
                <a:gd name="T50" fmla="*/ 525 w 567"/>
                <a:gd name="T51" fmla="*/ 459 h 460"/>
                <a:gd name="T52" fmla="*/ 557 w 567"/>
                <a:gd name="T53" fmla="*/ 459 h 460"/>
                <a:gd name="T54" fmla="*/ 557 w 567"/>
                <a:gd name="T55" fmla="*/ 420 h 460"/>
                <a:gd name="T56" fmla="*/ 566 w 567"/>
                <a:gd name="T57" fmla="*/ 401 h 46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67"/>
                <a:gd name="T88" fmla="*/ 0 h 460"/>
                <a:gd name="T89" fmla="*/ 567 w 567"/>
                <a:gd name="T90" fmla="*/ 460 h 46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67" h="460">
                  <a:moveTo>
                    <a:pt x="0" y="2"/>
                  </a:moveTo>
                  <a:lnTo>
                    <a:pt x="5" y="0"/>
                  </a:lnTo>
                  <a:lnTo>
                    <a:pt x="10" y="0"/>
                  </a:lnTo>
                  <a:lnTo>
                    <a:pt x="15" y="0"/>
                  </a:lnTo>
                  <a:lnTo>
                    <a:pt x="21" y="0"/>
                  </a:lnTo>
                  <a:lnTo>
                    <a:pt x="26" y="0"/>
                  </a:lnTo>
                  <a:lnTo>
                    <a:pt x="31" y="0"/>
                  </a:lnTo>
                  <a:lnTo>
                    <a:pt x="37" y="2"/>
                  </a:lnTo>
                  <a:lnTo>
                    <a:pt x="42" y="51"/>
                  </a:lnTo>
                  <a:lnTo>
                    <a:pt x="96" y="54"/>
                  </a:lnTo>
                  <a:lnTo>
                    <a:pt x="109" y="101"/>
                  </a:lnTo>
                  <a:lnTo>
                    <a:pt x="152" y="105"/>
                  </a:lnTo>
                  <a:lnTo>
                    <a:pt x="170" y="155"/>
                  </a:lnTo>
                  <a:lnTo>
                    <a:pt x="229" y="153"/>
                  </a:lnTo>
                  <a:lnTo>
                    <a:pt x="245" y="223"/>
                  </a:lnTo>
                  <a:lnTo>
                    <a:pt x="288" y="248"/>
                  </a:lnTo>
                  <a:lnTo>
                    <a:pt x="325" y="245"/>
                  </a:lnTo>
                  <a:lnTo>
                    <a:pt x="331" y="293"/>
                  </a:lnTo>
                  <a:lnTo>
                    <a:pt x="373" y="293"/>
                  </a:lnTo>
                  <a:lnTo>
                    <a:pt x="384" y="353"/>
                  </a:lnTo>
                  <a:lnTo>
                    <a:pt x="424" y="353"/>
                  </a:lnTo>
                  <a:lnTo>
                    <a:pt x="427" y="404"/>
                  </a:lnTo>
                  <a:lnTo>
                    <a:pt x="478" y="404"/>
                  </a:lnTo>
                  <a:lnTo>
                    <a:pt x="480" y="430"/>
                  </a:lnTo>
                  <a:lnTo>
                    <a:pt x="515" y="430"/>
                  </a:lnTo>
                  <a:lnTo>
                    <a:pt x="525" y="459"/>
                  </a:lnTo>
                  <a:lnTo>
                    <a:pt x="557" y="459"/>
                  </a:lnTo>
                  <a:lnTo>
                    <a:pt x="557" y="420"/>
                  </a:lnTo>
                  <a:lnTo>
                    <a:pt x="566" y="401"/>
                  </a:lnTo>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5" name="Line 140">
              <a:extLst>
                <a:ext uri="{FF2B5EF4-FFF2-40B4-BE49-F238E27FC236}">
                  <a16:creationId xmlns:a16="http://schemas.microsoft.com/office/drawing/2014/main" id="{459567C9-7DEE-1C34-9550-2D60C0D16F96}"/>
                </a:ext>
              </a:extLst>
            </p:cNvPr>
            <p:cNvSpPr>
              <a:spLocks noChangeShapeType="1"/>
            </p:cNvSpPr>
            <p:nvPr/>
          </p:nvSpPr>
          <p:spPr bwMode="auto">
            <a:xfrm flipV="1">
              <a:off x="5119" y="2193"/>
              <a:ext cx="27" cy="44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46" name="Line 141">
              <a:extLst>
                <a:ext uri="{FF2B5EF4-FFF2-40B4-BE49-F238E27FC236}">
                  <a16:creationId xmlns:a16="http://schemas.microsoft.com/office/drawing/2014/main" id="{1D38EB88-E76E-47BB-1C48-89564612AAB4}"/>
                </a:ext>
              </a:extLst>
            </p:cNvPr>
            <p:cNvSpPr>
              <a:spLocks noChangeShapeType="1"/>
            </p:cNvSpPr>
            <p:nvPr/>
          </p:nvSpPr>
          <p:spPr bwMode="auto">
            <a:xfrm flipV="1">
              <a:off x="5153" y="2193"/>
              <a:ext cx="0" cy="574"/>
            </a:xfrm>
            <a:prstGeom prst="line">
              <a:avLst/>
            </a:prstGeom>
            <a:noFill/>
            <a:ln w="25400">
              <a:solidFill>
                <a:srgbClr val="FC0128"/>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47" name="Rectangle 142">
              <a:extLst>
                <a:ext uri="{FF2B5EF4-FFF2-40B4-BE49-F238E27FC236}">
                  <a16:creationId xmlns:a16="http://schemas.microsoft.com/office/drawing/2014/main" id="{2AB76ADE-4E71-6B72-BF36-9A24F3DBBFEF}"/>
                </a:ext>
              </a:extLst>
            </p:cNvPr>
            <p:cNvSpPr>
              <a:spLocks noChangeArrowheads="1"/>
            </p:cNvSpPr>
            <p:nvPr/>
          </p:nvSpPr>
          <p:spPr bwMode="auto">
            <a:xfrm>
              <a:off x="5079" y="2090"/>
              <a:ext cx="4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a:t>T T</a:t>
              </a:r>
            </a:p>
          </p:txBody>
        </p:sp>
        <p:sp>
          <p:nvSpPr>
            <p:cNvPr id="148" name="Rectangle 143">
              <a:extLst>
                <a:ext uri="{FF2B5EF4-FFF2-40B4-BE49-F238E27FC236}">
                  <a16:creationId xmlns:a16="http://schemas.microsoft.com/office/drawing/2014/main" id="{C0E45CB5-049B-A5F1-E6FB-2C4BD4DDC416}"/>
                </a:ext>
              </a:extLst>
            </p:cNvPr>
            <p:cNvSpPr>
              <a:spLocks noChangeArrowheads="1"/>
            </p:cNvSpPr>
            <p:nvPr/>
          </p:nvSpPr>
          <p:spPr bwMode="auto">
            <a:xfrm>
              <a:off x="4117" y="2195"/>
              <a:ext cx="903"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700" b="0">
                  <a:latin typeface="Symbol" panose="05050102010706020507" pitchFamily="18" charset="2"/>
                </a:rPr>
                <a:t>abddjdj  vnvm</a:t>
              </a:r>
            </a:p>
          </p:txBody>
        </p:sp>
        <p:sp>
          <p:nvSpPr>
            <p:cNvPr id="149" name="Rectangle 144">
              <a:extLst>
                <a:ext uri="{FF2B5EF4-FFF2-40B4-BE49-F238E27FC236}">
                  <a16:creationId xmlns:a16="http://schemas.microsoft.com/office/drawing/2014/main" id="{AD3673A5-C75C-CFF9-5294-E17A3D1AC1CD}"/>
                </a:ext>
              </a:extLst>
            </p:cNvPr>
            <p:cNvSpPr>
              <a:spLocks noChangeArrowheads="1"/>
            </p:cNvSpPr>
            <p:nvPr/>
          </p:nvSpPr>
          <p:spPr bwMode="auto">
            <a:xfrm>
              <a:off x="4117" y="2276"/>
              <a:ext cx="903"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700" b="0">
                  <a:latin typeface="Symbol" panose="05050102010706020507" pitchFamily="18" charset="2"/>
                </a:rPr>
                <a:t>abddjdj  vnvm</a:t>
              </a:r>
            </a:p>
          </p:txBody>
        </p:sp>
        <p:sp>
          <p:nvSpPr>
            <p:cNvPr id="150" name="Rectangle 145">
              <a:extLst>
                <a:ext uri="{FF2B5EF4-FFF2-40B4-BE49-F238E27FC236}">
                  <a16:creationId xmlns:a16="http://schemas.microsoft.com/office/drawing/2014/main" id="{53249116-89D4-9518-C4F8-A911AD3A6B91}"/>
                </a:ext>
              </a:extLst>
            </p:cNvPr>
            <p:cNvSpPr>
              <a:spLocks noChangeArrowheads="1"/>
            </p:cNvSpPr>
            <p:nvPr/>
          </p:nvSpPr>
          <p:spPr bwMode="auto">
            <a:xfrm>
              <a:off x="4117" y="2359"/>
              <a:ext cx="903"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700" b="0">
                  <a:latin typeface="Symbol" panose="05050102010706020507" pitchFamily="18" charset="2"/>
                </a:rPr>
                <a:t>abddjdj  vnvm</a:t>
              </a:r>
            </a:p>
          </p:txBody>
        </p:sp>
        <p:sp>
          <p:nvSpPr>
            <p:cNvPr id="151" name="Rectangle 146">
              <a:extLst>
                <a:ext uri="{FF2B5EF4-FFF2-40B4-BE49-F238E27FC236}">
                  <a16:creationId xmlns:a16="http://schemas.microsoft.com/office/drawing/2014/main" id="{B98FFAEC-092A-D9C8-2492-85DF6673780F}"/>
                </a:ext>
              </a:extLst>
            </p:cNvPr>
            <p:cNvSpPr>
              <a:spLocks noChangeArrowheads="1"/>
            </p:cNvSpPr>
            <p:nvPr/>
          </p:nvSpPr>
          <p:spPr bwMode="auto">
            <a:xfrm>
              <a:off x="4117" y="2452"/>
              <a:ext cx="903"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700" b="0">
                  <a:latin typeface="Symbol" panose="05050102010706020507" pitchFamily="18" charset="2"/>
                </a:rPr>
                <a:t>abddjdj  vnvm</a:t>
              </a:r>
            </a:p>
          </p:txBody>
        </p:sp>
        <p:sp>
          <p:nvSpPr>
            <p:cNvPr id="152" name="Rectangle 147">
              <a:extLst>
                <a:ext uri="{FF2B5EF4-FFF2-40B4-BE49-F238E27FC236}">
                  <a16:creationId xmlns:a16="http://schemas.microsoft.com/office/drawing/2014/main" id="{7E78486B-3AEB-B3B2-5FFB-49FF86A4E019}"/>
                </a:ext>
              </a:extLst>
            </p:cNvPr>
            <p:cNvSpPr>
              <a:spLocks noChangeArrowheads="1"/>
            </p:cNvSpPr>
            <p:nvPr/>
          </p:nvSpPr>
          <p:spPr bwMode="auto">
            <a:xfrm>
              <a:off x="4117" y="2535"/>
              <a:ext cx="903"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700" b="0">
                  <a:latin typeface="Symbol" panose="05050102010706020507" pitchFamily="18" charset="2"/>
                </a:rPr>
                <a:t>abddjdj  vnvm</a:t>
              </a:r>
            </a:p>
          </p:txBody>
        </p:sp>
        <p:sp>
          <p:nvSpPr>
            <p:cNvPr id="153" name="Rectangle 148">
              <a:extLst>
                <a:ext uri="{FF2B5EF4-FFF2-40B4-BE49-F238E27FC236}">
                  <a16:creationId xmlns:a16="http://schemas.microsoft.com/office/drawing/2014/main" id="{44AEB6AD-28D6-8A9A-4848-08CC04A2F6D6}"/>
                </a:ext>
              </a:extLst>
            </p:cNvPr>
            <p:cNvSpPr>
              <a:spLocks noChangeArrowheads="1"/>
            </p:cNvSpPr>
            <p:nvPr/>
          </p:nvSpPr>
          <p:spPr bwMode="auto">
            <a:xfrm>
              <a:off x="4117" y="2618"/>
              <a:ext cx="903"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700" b="0">
                  <a:latin typeface="Symbol" panose="05050102010706020507" pitchFamily="18" charset="2"/>
                </a:rPr>
                <a:t>abddjdj  vnvm</a:t>
              </a:r>
            </a:p>
          </p:txBody>
        </p:sp>
        <p:sp>
          <p:nvSpPr>
            <p:cNvPr id="154" name="Oval 149">
              <a:extLst>
                <a:ext uri="{FF2B5EF4-FFF2-40B4-BE49-F238E27FC236}">
                  <a16:creationId xmlns:a16="http://schemas.microsoft.com/office/drawing/2014/main" id="{11A1CB96-7B00-901F-66B9-71298CA33B28}"/>
                </a:ext>
              </a:extLst>
            </p:cNvPr>
            <p:cNvSpPr>
              <a:spLocks noChangeArrowheads="1"/>
            </p:cNvSpPr>
            <p:nvPr/>
          </p:nvSpPr>
          <p:spPr bwMode="auto">
            <a:xfrm>
              <a:off x="3652" y="1060"/>
              <a:ext cx="1960" cy="1909"/>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55" name="Line 150">
              <a:extLst>
                <a:ext uri="{FF2B5EF4-FFF2-40B4-BE49-F238E27FC236}">
                  <a16:creationId xmlns:a16="http://schemas.microsoft.com/office/drawing/2014/main" id="{F808D0DF-3485-9ABD-EBFB-FA9979314E5D}"/>
                </a:ext>
              </a:extLst>
            </p:cNvPr>
            <p:cNvSpPr>
              <a:spLocks noChangeShapeType="1"/>
            </p:cNvSpPr>
            <p:nvPr/>
          </p:nvSpPr>
          <p:spPr bwMode="auto">
            <a:xfrm flipV="1">
              <a:off x="2976" y="1536"/>
              <a:ext cx="816" cy="96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6" name="Line 151">
              <a:extLst>
                <a:ext uri="{FF2B5EF4-FFF2-40B4-BE49-F238E27FC236}">
                  <a16:creationId xmlns:a16="http://schemas.microsoft.com/office/drawing/2014/main" id="{419B3FF5-2141-674F-774C-9A1E8BF0D8D7}"/>
                </a:ext>
              </a:extLst>
            </p:cNvPr>
            <p:cNvSpPr>
              <a:spLocks noChangeShapeType="1"/>
            </p:cNvSpPr>
            <p:nvPr/>
          </p:nvSpPr>
          <p:spPr bwMode="auto">
            <a:xfrm>
              <a:off x="2976" y="2496"/>
              <a:ext cx="1248"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7" name="Rectangle 152">
              <a:extLst>
                <a:ext uri="{FF2B5EF4-FFF2-40B4-BE49-F238E27FC236}">
                  <a16:creationId xmlns:a16="http://schemas.microsoft.com/office/drawing/2014/main" id="{2F2739D8-D00E-3C69-A86B-7C9D5D722BAB}"/>
                </a:ext>
              </a:extLst>
            </p:cNvPr>
            <p:cNvSpPr>
              <a:spLocks noChangeArrowheads="1"/>
            </p:cNvSpPr>
            <p:nvPr/>
          </p:nvSpPr>
          <p:spPr bwMode="auto">
            <a:xfrm>
              <a:off x="1643" y="4192"/>
              <a:ext cx="224"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58" name="Line 153">
              <a:extLst>
                <a:ext uri="{FF2B5EF4-FFF2-40B4-BE49-F238E27FC236}">
                  <a16:creationId xmlns:a16="http://schemas.microsoft.com/office/drawing/2014/main" id="{ECAE74C7-8F82-FB2E-6DD0-C03A9F80E4E4}"/>
                </a:ext>
              </a:extLst>
            </p:cNvPr>
            <p:cNvSpPr>
              <a:spLocks noChangeShapeType="1"/>
            </p:cNvSpPr>
            <p:nvPr/>
          </p:nvSpPr>
          <p:spPr bwMode="auto">
            <a:xfrm>
              <a:off x="1354" y="3440"/>
              <a:ext cx="0" cy="741"/>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9" name="Rectangle 154">
              <a:extLst>
                <a:ext uri="{FF2B5EF4-FFF2-40B4-BE49-F238E27FC236}">
                  <a16:creationId xmlns:a16="http://schemas.microsoft.com/office/drawing/2014/main" id="{EF371DFD-A4DC-A85A-1C33-71976AFB8D3D}"/>
                </a:ext>
              </a:extLst>
            </p:cNvPr>
            <p:cNvSpPr>
              <a:spLocks noChangeArrowheads="1"/>
            </p:cNvSpPr>
            <p:nvPr/>
          </p:nvSpPr>
          <p:spPr bwMode="auto">
            <a:xfrm>
              <a:off x="1415" y="3645"/>
              <a:ext cx="148" cy="534"/>
            </a:xfrm>
            <a:prstGeom prst="rect">
              <a:avLst/>
            </a:prstGeom>
            <a:solidFill>
              <a:schemeClr val="accent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0" name="Rectangle 155">
              <a:extLst>
                <a:ext uri="{FF2B5EF4-FFF2-40B4-BE49-F238E27FC236}">
                  <a16:creationId xmlns:a16="http://schemas.microsoft.com/office/drawing/2014/main" id="{6C479E24-0F95-614E-858C-BF5A3418EFA3}"/>
                </a:ext>
              </a:extLst>
            </p:cNvPr>
            <p:cNvSpPr>
              <a:spLocks noChangeArrowheads="1"/>
            </p:cNvSpPr>
            <p:nvPr/>
          </p:nvSpPr>
          <p:spPr bwMode="auto">
            <a:xfrm>
              <a:off x="1679" y="3645"/>
              <a:ext cx="147" cy="534"/>
            </a:xfrm>
            <a:prstGeom prst="rect">
              <a:avLst/>
            </a:prstGeom>
            <a:solidFill>
              <a:schemeClr val="accent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1" name="Rectangle 156">
              <a:extLst>
                <a:ext uri="{FF2B5EF4-FFF2-40B4-BE49-F238E27FC236}">
                  <a16:creationId xmlns:a16="http://schemas.microsoft.com/office/drawing/2014/main" id="{676BDFBE-DDB4-5892-916A-3BA3A93F0FBA}"/>
                </a:ext>
              </a:extLst>
            </p:cNvPr>
            <p:cNvSpPr>
              <a:spLocks noChangeArrowheads="1"/>
            </p:cNvSpPr>
            <p:nvPr/>
          </p:nvSpPr>
          <p:spPr bwMode="auto">
            <a:xfrm>
              <a:off x="1951" y="3855"/>
              <a:ext cx="147" cy="324"/>
            </a:xfrm>
            <a:prstGeom prst="rect">
              <a:avLst/>
            </a:prstGeom>
            <a:solidFill>
              <a:schemeClr val="accent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2" name="Rectangle 157">
              <a:extLst>
                <a:ext uri="{FF2B5EF4-FFF2-40B4-BE49-F238E27FC236}">
                  <a16:creationId xmlns:a16="http://schemas.microsoft.com/office/drawing/2014/main" id="{BF65C9D9-487A-75B9-64AD-76754A1AC97C}"/>
                </a:ext>
              </a:extLst>
            </p:cNvPr>
            <p:cNvSpPr>
              <a:spLocks noChangeArrowheads="1"/>
            </p:cNvSpPr>
            <p:nvPr/>
          </p:nvSpPr>
          <p:spPr bwMode="auto">
            <a:xfrm>
              <a:off x="2153" y="3594"/>
              <a:ext cx="208" cy="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b="0"/>
                <a:t>TT</a:t>
              </a:r>
            </a:p>
          </p:txBody>
        </p:sp>
        <p:sp>
          <p:nvSpPr>
            <p:cNvPr id="163" name="Line 158">
              <a:extLst>
                <a:ext uri="{FF2B5EF4-FFF2-40B4-BE49-F238E27FC236}">
                  <a16:creationId xmlns:a16="http://schemas.microsoft.com/office/drawing/2014/main" id="{CF7B0C9E-31FB-8774-AD8D-F032BBC9CDFC}"/>
                </a:ext>
              </a:extLst>
            </p:cNvPr>
            <p:cNvSpPr>
              <a:spLocks noChangeShapeType="1"/>
            </p:cNvSpPr>
            <p:nvPr/>
          </p:nvSpPr>
          <p:spPr bwMode="auto">
            <a:xfrm>
              <a:off x="1350" y="4182"/>
              <a:ext cx="844" cy="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4" name="Line 159">
              <a:extLst>
                <a:ext uri="{FF2B5EF4-FFF2-40B4-BE49-F238E27FC236}">
                  <a16:creationId xmlns:a16="http://schemas.microsoft.com/office/drawing/2014/main" id="{E59B406F-98B4-9695-B457-82B27D4476FA}"/>
                </a:ext>
              </a:extLst>
            </p:cNvPr>
            <p:cNvSpPr>
              <a:spLocks noChangeShapeType="1"/>
            </p:cNvSpPr>
            <p:nvPr/>
          </p:nvSpPr>
          <p:spPr bwMode="auto">
            <a:xfrm>
              <a:off x="1359" y="3643"/>
              <a:ext cx="837" cy="0"/>
            </a:xfrm>
            <a:prstGeom prst="line">
              <a:avLst/>
            </a:prstGeom>
            <a:noFill/>
            <a:ln w="50800">
              <a:solidFill>
                <a:srgbClr val="FC0128"/>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65" name="Rectangle 160">
              <a:extLst>
                <a:ext uri="{FF2B5EF4-FFF2-40B4-BE49-F238E27FC236}">
                  <a16:creationId xmlns:a16="http://schemas.microsoft.com/office/drawing/2014/main" id="{123EDF2D-7416-0247-1344-55D8B9A16AAC}"/>
                </a:ext>
              </a:extLst>
            </p:cNvPr>
            <p:cNvSpPr>
              <a:spLocks noChangeArrowheads="1"/>
            </p:cNvSpPr>
            <p:nvPr/>
          </p:nvSpPr>
          <p:spPr bwMode="auto">
            <a:xfrm>
              <a:off x="1252" y="3389"/>
              <a:ext cx="1096" cy="86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Tree>
    <p:extLst>
      <p:ext uri="{BB962C8B-B14F-4D97-AF65-F5344CB8AC3E}">
        <p14:creationId xmlns:p14="http://schemas.microsoft.com/office/powerpoint/2010/main" val="26155469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Standard Work Sheet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Details the work sequence of an operator visually</a:t>
            </a:r>
          </a:p>
          <a:p>
            <a:r>
              <a:rPr lang="en-US" dirty="0"/>
              <a:t>Shows the operator’s work sequence in respect to the physical work area</a:t>
            </a:r>
          </a:p>
          <a:p>
            <a:r>
              <a:rPr lang="en-US" dirty="0"/>
              <a:t>Highlights Standard WIP requirements, gage, and safety precautions</a:t>
            </a:r>
          </a:p>
          <a:p>
            <a:r>
              <a:rPr lang="en-US" dirty="0"/>
              <a:t>Useful in visually detailing operator assignments</a:t>
            </a:r>
          </a:p>
          <a:p>
            <a:r>
              <a:rPr lang="en-US" dirty="0"/>
              <a:t>Also used as an audit tool for supervisors</a:t>
            </a:r>
          </a:p>
          <a:p>
            <a:r>
              <a:rPr lang="en-US" dirty="0"/>
              <a:t>Helpful when new operators are assigned to the work area</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59</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4584592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Standard Work Sheet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60</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grpSp>
        <p:nvGrpSpPr>
          <p:cNvPr id="210" name="Group 209">
            <a:extLst>
              <a:ext uri="{FF2B5EF4-FFF2-40B4-BE49-F238E27FC236}">
                <a16:creationId xmlns:a16="http://schemas.microsoft.com/office/drawing/2014/main" id="{A37BBD30-7C35-3055-6D9D-1588FB27D4F8}"/>
              </a:ext>
            </a:extLst>
          </p:cNvPr>
          <p:cNvGrpSpPr/>
          <p:nvPr/>
        </p:nvGrpSpPr>
        <p:grpSpPr>
          <a:xfrm>
            <a:off x="925974" y="1874520"/>
            <a:ext cx="10412304" cy="4458628"/>
            <a:chOff x="914400" y="1447800"/>
            <a:chExt cx="7932738" cy="5098099"/>
          </a:xfrm>
        </p:grpSpPr>
        <p:sp>
          <p:nvSpPr>
            <p:cNvPr id="211" name="Line 2">
              <a:extLst>
                <a:ext uri="{FF2B5EF4-FFF2-40B4-BE49-F238E27FC236}">
                  <a16:creationId xmlns:a16="http://schemas.microsoft.com/office/drawing/2014/main" id="{7827BFB2-9D25-0EE9-EB9A-2FFA9EA0B47F}"/>
                </a:ext>
              </a:extLst>
            </p:cNvPr>
            <p:cNvSpPr>
              <a:spLocks noChangeShapeType="1"/>
            </p:cNvSpPr>
            <p:nvPr/>
          </p:nvSpPr>
          <p:spPr bwMode="auto">
            <a:xfrm>
              <a:off x="923925" y="1466850"/>
              <a:ext cx="29051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2" name="Rectangle 211">
              <a:extLst>
                <a:ext uri="{FF2B5EF4-FFF2-40B4-BE49-F238E27FC236}">
                  <a16:creationId xmlns:a16="http://schemas.microsoft.com/office/drawing/2014/main" id="{DF66545A-2CCF-D43B-3FD3-0704DB880EF9}"/>
                </a:ext>
              </a:extLst>
            </p:cNvPr>
            <p:cNvSpPr>
              <a:spLocks noChangeArrowheads="1"/>
            </p:cNvSpPr>
            <p:nvPr/>
          </p:nvSpPr>
          <p:spPr bwMode="auto">
            <a:xfrm>
              <a:off x="923925" y="1466850"/>
              <a:ext cx="290512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13" name="Line 4">
              <a:extLst>
                <a:ext uri="{FF2B5EF4-FFF2-40B4-BE49-F238E27FC236}">
                  <a16:creationId xmlns:a16="http://schemas.microsoft.com/office/drawing/2014/main" id="{01840FD7-E24D-16B5-48EC-8BF73D499A38}"/>
                </a:ext>
              </a:extLst>
            </p:cNvPr>
            <p:cNvSpPr>
              <a:spLocks noChangeShapeType="1"/>
            </p:cNvSpPr>
            <p:nvPr/>
          </p:nvSpPr>
          <p:spPr bwMode="auto">
            <a:xfrm>
              <a:off x="1452563" y="1628775"/>
              <a:ext cx="237648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4" name="Rectangle 213">
              <a:extLst>
                <a:ext uri="{FF2B5EF4-FFF2-40B4-BE49-F238E27FC236}">
                  <a16:creationId xmlns:a16="http://schemas.microsoft.com/office/drawing/2014/main" id="{B449AF0E-634C-2552-4B5E-969277B7C798}"/>
                </a:ext>
              </a:extLst>
            </p:cNvPr>
            <p:cNvSpPr>
              <a:spLocks noChangeArrowheads="1"/>
            </p:cNvSpPr>
            <p:nvPr/>
          </p:nvSpPr>
          <p:spPr bwMode="auto">
            <a:xfrm>
              <a:off x="1452563" y="1628775"/>
              <a:ext cx="23764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15" name="Line 6">
              <a:extLst>
                <a:ext uri="{FF2B5EF4-FFF2-40B4-BE49-F238E27FC236}">
                  <a16:creationId xmlns:a16="http://schemas.microsoft.com/office/drawing/2014/main" id="{93CB719A-3E53-C100-CCE1-F7862CFCA35E}"/>
                </a:ext>
              </a:extLst>
            </p:cNvPr>
            <p:cNvSpPr>
              <a:spLocks noChangeShapeType="1"/>
            </p:cNvSpPr>
            <p:nvPr/>
          </p:nvSpPr>
          <p:spPr bwMode="auto">
            <a:xfrm>
              <a:off x="923925" y="1789113"/>
              <a:ext cx="29051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6" name="Rectangle 215">
              <a:extLst>
                <a:ext uri="{FF2B5EF4-FFF2-40B4-BE49-F238E27FC236}">
                  <a16:creationId xmlns:a16="http://schemas.microsoft.com/office/drawing/2014/main" id="{3860B746-0EA6-E08A-D55C-2A1004E688B1}"/>
                </a:ext>
              </a:extLst>
            </p:cNvPr>
            <p:cNvSpPr>
              <a:spLocks noChangeArrowheads="1"/>
            </p:cNvSpPr>
            <p:nvPr/>
          </p:nvSpPr>
          <p:spPr bwMode="auto">
            <a:xfrm>
              <a:off x="923925" y="1789113"/>
              <a:ext cx="2905125"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17" name="Line 8">
              <a:extLst>
                <a:ext uri="{FF2B5EF4-FFF2-40B4-BE49-F238E27FC236}">
                  <a16:creationId xmlns:a16="http://schemas.microsoft.com/office/drawing/2014/main" id="{69D5B328-9FE6-0350-0F2B-3384BEB2B8A9}"/>
                </a:ext>
              </a:extLst>
            </p:cNvPr>
            <p:cNvSpPr>
              <a:spLocks noChangeShapeType="1"/>
            </p:cNvSpPr>
            <p:nvPr/>
          </p:nvSpPr>
          <p:spPr bwMode="auto">
            <a:xfrm>
              <a:off x="6734175" y="1466850"/>
              <a:ext cx="211296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8" name="Rectangle 217">
              <a:extLst>
                <a:ext uri="{FF2B5EF4-FFF2-40B4-BE49-F238E27FC236}">
                  <a16:creationId xmlns:a16="http://schemas.microsoft.com/office/drawing/2014/main" id="{F2BEFFE9-A420-2AA9-F694-0C1835CA5602}"/>
                </a:ext>
              </a:extLst>
            </p:cNvPr>
            <p:cNvSpPr>
              <a:spLocks noChangeArrowheads="1"/>
            </p:cNvSpPr>
            <p:nvPr/>
          </p:nvSpPr>
          <p:spPr bwMode="auto">
            <a:xfrm>
              <a:off x="6734175" y="1466850"/>
              <a:ext cx="21129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19" name="Line 10">
              <a:extLst>
                <a:ext uri="{FF2B5EF4-FFF2-40B4-BE49-F238E27FC236}">
                  <a16:creationId xmlns:a16="http://schemas.microsoft.com/office/drawing/2014/main" id="{31515DDC-BE76-EFB8-F451-50D178D68748}"/>
                </a:ext>
              </a:extLst>
            </p:cNvPr>
            <p:cNvSpPr>
              <a:spLocks noChangeShapeType="1"/>
            </p:cNvSpPr>
            <p:nvPr/>
          </p:nvSpPr>
          <p:spPr bwMode="auto">
            <a:xfrm>
              <a:off x="6734175" y="1628775"/>
              <a:ext cx="211296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0" name="Rectangle 219">
              <a:extLst>
                <a:ext uri="{FF2B5EF4-FFF2-40B4-BE49-F238E27FC236}">
                  <a16:creationId xmlns:a16="http://schemas.microsoft.com/office/drawing/2014/main" id="{395FDE05-FCBE-863B-FE96-0954FE0A0C8D}"/>
                </a:ext>
              </a:extLst>
            </p:cNvPr>
            <p:cNvSpPr>
              <a:spLocks noChangeArrowheads="1"/>
            </p:cNvSpPr>
            <p:nvPr/>
          </p:nvSpPr>
          <p:spPr bwMode="auto">
            <a:xfrm>
              <a:off x="6734175" y="1628775"/>
              <a:ext cx="21129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21" name="Line 12">
              <a:extLst>
                <a:ext uri="{FF2B5EF4-FFF2-40B4-BE49-F238E27FC236}">
                  <a16:creationId xmlns:a16="http://schemas.microsoft.com/office/drawing/2014/main" id="{18FB48B6-9B41-D936-B08E-24C307B5DEDB}"/>
                </a:ext>
              </a:extLst>
            </p:cNvPr>
            <p:cNvSpPr>
              <a:spLocks noChangeShapeType="1"/>
            </p:cNvSpPr>
            <p:nvPr/>
          </p:nvSpPr>
          <p:spPr bwMode="auto">
            <a:xfrm>
              <a:off x="6734175" y="1789113"/>
              <a:ext cx="211296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2" name="Rectangle 221">
              <a:extLst>
                <a:ext uri="{FF2B5EF4-FFF2-40B4-BE49-F238E27FC236}">
                  <a16:creationId xmlns:a16="http://schemas.microsoft.com/office/drawing/2014/main" id="{4254325A-88B4-3357-A1BE-062E0726B247}"/>
                </a:ext>
              </a:extLst>
            </p:cNvPr>
            <p:cNvSpPr>
              <a:spLocks noChangeArrowheads="1"/>
            </p:cNvSpPr>
            <p:nvPr/>
          </p:nvSpPr>
          <p:spPr bwMode="auto">
            <a:xfrm>
              <a:off x="6734175" y="1789113"/>
              <a:ext cx="2112963"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23" name="Line 14">
              <a:extLst>
                <a:ext uri="{FF2B5EF4-FFF2-40B4-BE49-F238E27FC236}">
                  <a16:creationId xmlns:a16="http://schemas.microsoft.com/office/drawing/2014/main" id="{33FE7B51-212F-D039-63BF-2AACFB8C98DA}"/>
                </a:ext>
              </a:extLst>
            </p:cNvPr>
            <p:cNvSpPr>
              <a:spLocks noChangeShapeType="1"/>
            </p:cNvSpPr>
            <p:nvPr/>
          </p:nvSpPr>
          <p:spPr bwMode="auto">
            <a:xfrm>
              <a:off x="923925" y="1984375"/>
              <a:ext cx="79232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4" name="Rectangle 223">
              <a:extLst>
                <a:ext uri="{FF2B5EF4-FFF2-40B4-BE49-F238E27FC236}">
                  <a16:creationId xmlns:a16="http://schemas.microsoft.com/office/drawing/2014/main" id="{62003323-2960-87A1-AD4B-780C9320D915}"/>
                </a:ext>
              </a:extLst>
            </p:cNvPr>
            <p:cNvSpPr>
              <a:spLocks noChangeArrowheads="1"/>
            </p:cNvSpPr>
            <p:nvPr/>
          </p:nvSpPr>
          <p:spPr bwMode="auto">
            <a:xfrm>
              <a:off x="923925" y="1984375"/>
              <a:ext cx="79232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25" name="Line 16">
              <a:extLst>
                <a:ext uri="{FF2B5EF4-FFF2-40B4-BE49-F238E27FC236}">
                  <a16:creationId xmlns:a16="http://schemas.microsoft.com/office/drawing/2014/main" id="{7C8C6EDA-93E4-F41A-C2FC-662029CAE434}"/>
                </a:ext>
              </a:extLst>
            </p:cNvPr>
            <p:cNvSpPr>
              <a:spLocks noChangeShapeType="1"/>
            </p:cNvSpPr>
            <p:nvPr/>
          </p:nvSpPr>
          <p:spPr bwMode="auto">
            <a:xfrm>
              <a:off x="923925" y="2200275"/>
              <a:ext cx="79232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6" name="Rectangle 225">
              <a:extLst>
                <a:ext uri="{FF2B5EF4-FFF2-40B4-BE49-F238E27FC236}">
                  <a16:creationId xmlns:a16="http://schemas.microsoft.com/office/drawing/2014/main" id="{E2C767EF-1C5D-6874-D75F-9A33AE6E2BF5}"/>
                </a:ext>
              </a:extLst>
            </p:cNvPr>
            <p:cNvSpPr>
              <a:spLocks noChangeArrowheads="1"/>
            </p:cNvSpPr>
            <p:nvPr/>
          </p:nvSpPr>
          <p:spPr bwMode="auto">
            <a:xfrm>
              <a:off x="923925" y="2200275"/>
              <a:ext cx="79232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27" name="Line 18">
              <a:extLst>
                <a:ext uri="{FF2B5EF4-FFF2-40B4-BE49-F238E27FC236}">
                  <a16:creationId xmlns:a16="http://schemas.microsoft.com/office/drawing/2014/main" id="{8D266C3F-C088-4C81-4694-4A6515E13DCF}"/>
                </a:ext>
              </a:extLst>
            </p:cNvPr>
            <p:cNvSpPr>
              <a:spLocks noChangeShapeType="1"/>
            </p:cNvSpPr>
            <p:nvPr/>
          </p:nvSpPr>
          <p:spPr bwMode="auto">
            <a:xfrm>
              <a:off x="923925" y="2416175"/>
              <a:ext cx="79232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8" name="Rectangle 227">
              <a:extLst>
                <a:ext uri="{FF2B5EF4-FFF2-40B4-BE49-F238E27FC236}">
                  <a16:creationId xmlns:a16="http://schemas.microsoft.com/office/drawing/2014/main" id="{49F5A26F-385C-8EA4-A285-D8EBA188F0C5}"/>
                </a:ext>
              </a:extLst>
            </p:cNvPr>
            <p:cNvSpPr>
              <a:spLocks noChangeArrowheads="1"/>
            </p:cNvSpPr>
            <p:nvPr/>
          </p:nvSpPr>
          <p:spPr bwMode="auto">
            <a:xfrm>
              <a:off x="923925" y="2416175"/>
              <a:ext cx="79232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29" name="Line 20">
              <a:extLst>
                <a:ext uri="{FF2B5EF4-FFF2-40B4-BE49-F238E27FC236}">
                  <a16:creationId xmlns:a16="http://schemas.microsoft.com/office/drawing/2014/main" id="{24D4A0F2-5EB0-434C-958B-98B2FC7E2CDD}"/>
                </a:ext>
              </a:extLst>
            </p:cNvPr>
            <p:cNvSpPr>
              <a:spLocks noChangeShapeType="1"/>
            </p:cNvSpPr>
            <p:nvPr/>
          </p:nvSpPr>
          <p:spPr bwMode="auto">
            <a:xfrm>
              <a:off x="923925" y="2632075"/>
              <a:ext cx="79232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0" name="Rectangle 21">
              <a:extLst>
                <a:ext uri="{FF2B5EF4-FFF2-40B4-BE49-F238E27FC236}">
                  <a16:creationId xmlns:a16="http://schemas.microsoft.com/office/drawing/2014/main" id="{77C75718-A3F1-564D-100D-98C64F9A8CC3}"/>
                </a:ext>
              </a:extLst>
            </p:cNvPr>
            <p:cNvSpPr>
              <a:spLocks noChangeArrowheads="1"/>
            </p:cNvSpPr>
            <p:nvPr/>
          </p:nvSpPr>
          <p:spPr bwMode="auto">
            <a:xfrm>
              <a:off x="923925" y="2632075"/>
              <a:ext cx="7923213"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31" name="Line 22">
              <a:extLst>
                <a:ext uri="{FF2B5EF4-FFF2-40B4-BE49-F238E27FC236}">
                  <a16:creationId xmlns:a16="http://schemas.microsoft.com/office/drawing/2014/main" id="{E119F210-9B7A-E974-7CCB-31232F18ED26}"/>
                </a:ext>
              </a:extLst>
            </p:cNvPr>
            <p:cNvSpPr>
              <a:spLocks noChangeShapeType="1"/>
            </p:cNvSpPr>
            <p:nvPr/>
          </p:nvSpPr>
          <p:spPr bwMode="auto">
            <a:xfrm>
              <a:off x="923925" y="2846388"/>
              <a:ext cx="79232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2" name="Rectangle 23">
              <a:extLst>
                <a:ext uri="{FF2B5EF4-FFF2-40B4-BE49-F238E27FC236}">
                  <a16:creationId xmlns:a16="http://schemas.microsoft.com/office/drawing/2014/main" id="{00B660CB-FFED-328C-D7A9-6E8C1A02D740}"/>
                </a:ext>
              </a:extLst>
            </p:cNvPr>
            <p:cNvSpPr>
              <a:spLocks noChangeArrowheads="1"/>
            </p:cNvSpPr>
            <p:nvPr/>
          </p:nvSpPr>
          <p:spPr bwMode="auto">
            <a:xfrm>
              <a:off x="923925" y="2846388"/>
              <a:ext cx="79232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33" name="Line 24">
              <a:extLst>
                <a:ext uri="{FF2B5EF4-FFF2-40B4-BE49-F238E27FC236}">
                  <a16:creationId xmlns:a16="http://schemas.microsoft.com/office/drawing/2014/main" id="{B6EA0078-AA2C-46AA-F4F6-601BD7583D57}"/>
                </a:ext>
              </a:extLst>
            </p:cNvPr>
            <p:cNvSpPr>
              <a:spLocks noChangeShapeType="1"/>
            </p:cNvSpPr>
            <p:nvPr/>
          </p:nvSpPr>
          <p:spPr bwMode="auto">
            <a:xfrm>
              <a:off x="923925" y="3062288"/>
              <a:ext cx="79232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4" name="Rectangle 25">
              <a:extLst>
                <a:ext uri="{FF2B5EF4-FFF2-40B4-BE49-F238E27FC236}">
                  <a16:creationId xmlns:a16="http://schemas.microsoft.com/office/drawing/2014/main" id="{0837AA74-E911-9E81-AE11-55DE0AB46F46}"/>
                </a:ext>
              </a:extLst>
            </p:cNvPr>
            <p:cNvSpPr>
              <a:spLocks noChangeArrowheads="1"/>
            </p:cNvSpPr>
            <p:nvPr/>
          </p:nvSpPr>
          <p:spPr bwMode="auto">
            <a:xfrm>
              <a:off x="923925" y="3062288"/>
              <a:ext cx="79232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35" name="Line 26">
              <a:extLst>
                <a:ext uri="{FF2B5EF4-FFF2-40B4-BE49-F238E27FC236}">
                  <a16:creationId xmlns:a16="http://schemas.microsoft.com/office/drawing/2014/main" id="{4503082A-9B14-E4EE-4421-66F502FA2845}"/>
                </a:ext>
              </a:extLst>
            </p:cNvPr>
            <p:cNvSpPr>
              <a:spLocks noChangeShapeType="1"/>
            </p:cNvSpPr>
            <p:nvPr/>
          </p:nvSpPr>
          <p:spPr bwMode="auto">
            <a:xfrm>
              <a:off x="923925" y="3278188"/>
              <a:ext cx="79232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6" name="Rectangle 27">
              <a:extLst>
                <a:ext uri="{FF2B5EF4-FFF2-40B4-BE49-F238E27FC236}">
                  <a16:creationId xmlns:a16="http://schemas.microsoft.com/office/drawing/2014/main" id="{37D82CA2-F7B0-62F3-1EC5-F55895F9B229}"/>
                </a:ext>
              </a:extLst>
            </p:cNvPr>
            <p:cNvSpPr>
              <a:spLocks noChangeArrowheads="1"/>
            </p:cNvSpPr>
            <p:nvPr/>
          </p:nvSpPr>
          <p:spPr bwMode="auto">
            <a:xfrm>
              <a:off x="923925" y="3278188"/>
              <a:ext cx="792321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37" name="Line 28">
              <a:extLst>
                <a:ext uri="{FF2B5EF4-FFF2-40B4-BE49-F238E27FC236}">
                  <a16:creationId xmlns:a16="http://schemas.microsoft.com/office/drawing/2014/main" id="{2AE81D27-B993-9216-CFDE-4A3AC2A627A0}"/>
                </a:ext>
              </a:extLst>
            </p:cNvPr>
            <p:cNvSpPr>
              <a:spLocks noChangeShapeType="1"/>
            </p:cNvSpPr>
            <p:nvPr/>
          </p:nvSpPr>
          <p:spPr bwMode="auto">
            <a:xfrm>
              <a:off x="923925" y="3494088"/>
              <a:ext cx="792321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8" name="Rectangle 29">
              <a:extLst>
                <a:ext uri="{FF2B5EF4-FFF2-40B4-BE49-F238E27FC236}">
                  <a16:creationId xmlns:a16="http://schemas.microsoft.com/office/drawing/2014/main" id="{1FF2EC60-AC21-A008-5946-40B030F0F2A3}"/>
                </a:ext>
              </a:extLst>
            </p:cNvPr>
            <p:cNvSpPr>
              <a:spLocks noChangeArrowheads="1"/>
            </p:cNvSpPr>
            <p:nvPr/>
          </p:nvSpPr>
          <p:spPr bwMode="auto">
            <a:xfrm>
              <a:off x="923925" y="3494088"/>
              <a:ext cx="792321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39" name="Line 30">
              <a:extLst>
                <a:ext uri="{FF2B5EF4-FFF2-40B4-BE49-F238E27FC236}">
                  <a16:creationId xmlns:a16="http://schemas.microsoft.com/office/drawing/2014/main" id="{C2E3BD88-6907-33D9-9593-B55C69832D32}"/>
                </a:ext>
              </a:extLst>
            </p:cNvPr>
            <p:cNvSpPr>
              <a:spLocks noChangeShapeType="1"/>
            </p:cNvSpPr>
            <p:nvPr/>
          </p:nvSpPr>
          <p:spPr bwMode="auto">
            <a:xfrm>
              <a:off x="923925" y="3709988"/>
              <a:ext cx="792321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0" name="Rectangle 31">
              <a:extLst>
                <a:ext uri="{FF2B5EF4-FFF2-40B4-BE49-F238E27FC236}">
                  <a16:creationId xmlns:a16="http://schemas.microsoft.com/office/drawing/2014/main" id="{8D797771-B130-AD25-536A-E9F2EA70F7F2}"/>
                </a:ext>
              </a:extLst>
            </p:cNvPr>
            <p:cNvSpPr>
              <a:spLocks noChangeArrowheads="1"/>
            </p:cNvSpPr>
            <p:nvPr/>
          </p:nvSpPr>
          <p:spPr bwMode="auto">
            <a:xfrm>
              <a:off x="923925" y="3709988"/>
              <a:ext cx="792321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41" name="Line 32">
              <a:extLst>
                <a:ext uri="{FF2B5EF4-FFF2-40B4-BE49-F238E27FC236}">
                  <a16:creationId xmlns:a16="http://schemas.microsoft.com/office/drawing/2014/main" id="{6F759C12-A595-DFCC-26C2-FB4F9DA9FD32}"/>
                </a:ext>
              </a:extLst>
            </p:cNvPr>
            <p:cNvSpPr>
              <a:spLocks noChangeShapeType="1"/>
            </p:cNvSpPr>
            <p:nvPr/>
          </p:nvSpPr>
          <p:spPr bwMode="auto">
            <a:xfrm>
              <a:off x="923925" y="3924300"/>
              <a:ext cx="79232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2" name="Rectangle 33">
              <a:extLst>
                <a:ext uri="{FF2B5EF4-FFF2-40B4-BE49-F238E27FC236}">
                  <a16:creationId xmlns:a16="http://schemas.microsoft.com/office/drawing/2014/main" id="{5C5271D4-BE8E-099F-71F7-3A02563412E4}"/>
                </a:ext>
              </a:extLst>
            </p:cNvPr>
            <p:cNvSpPr>
              <a:spLocks noChangeArrowheads="1"/>
            </p:cNvSpPr>
            <p:nvPr/>
          </p:nvSpPr>
          <p:spPr bwMode="auto">
            <a:xfrm>
              <a:off x="923925" y="3924300"/>
              <a:ext cx="79232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43" name="Line 34">
              <a:extLst>
                <a:ext uri="{FF2B5EF4-FFF2-40B4-BE49-F238E27FC236}">
                  <a16:creationId xmlns:a16="http://schemas.microsoft.com/office/drawing/2014/main" id="{16254496-39B1-7479-354C-1006405CA672}"/>
                </a:ext>
              </a:extLst>
            </p:cNvPr>
            <p:cNvSpPr>
              <a:spLocks noChangeShapeType="1"/>
            </p:cNvSpPr>
            <p:nvPr/>
          </p:nvSpPr>
          <p:spPr bwMode="auto">
            <a:xfrm>
              <a:off x="923925" y="4140200"/>
              <a:ext cx="792321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4" name="Rectangle 35">
              <a:extLst>
                <a:ext uri="{FF2B5EF4-FFF2-40B4-BE49-F238E27FC236}">
                  <a16:creationId xmlns:a16="http://schemas.microsoft.com/office/drawing/2014/main" id="{B17816EC-87EB-9614-1552-0E510F71CFB4}"/>
                </a:ext>
              </a:extLst>
            </p:cNvPr>
            <p:cNvSpPr>
              <a:spLocks noChangeArrowheads="1"/>
            </p:cNvSpPr>
            <p:nvPr/>
          </p:nvSpPr>
          <p:spPr bwMode="auto">
            <a:xfrm>
              <a:off x="923925" y="4140200"/>
              <a:ext cx="79232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45" name="Line 36">
              <a:extLst>
                <a:ext uri="{FF2B5EF4-FFF2-40B4-BE49-F238E27FC236}">
                  <a16:creationId xmlns:a16="http://schemas.microsoft.com/office/drawing/2014/main" id="{7887933B-89AB-66C5-76E5-176E7820DC9D}"/>
                </a:ext>
              </a:extLst>
            </p:cNvPr>
            <p:cNvSpPr>
              <a:spLocks noChangeShapeType="1"/>
            </p:cNvSpPr>
            <p:nvPr/>
          </p:nvSpPr>
          <p:spPr bwMode="auto">
            <a:xfrm>
              <a:off x="923925" y="4356100"/>
              <a:ext cx="792321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6" name="Rectangle 37">
              <a:extLst>
                <a:ext uri="{FF2B5EF4-FFF2-40B4-BE49-F238E27FC236}">
                  <a16:creationId xmlns:a16="http://schemas.microsoft.com/office/drawing/2014/main" id="{E3B98608-B915-ADBD-7463-6B7B07846027}"/>
                </a:ext>
              </a:extLst>
            </p:cNvPr>
            <p:cNvSpPr>
              <a:spLocks noChangeArrowheads="1"/>
            </p:cNvSpPr>
            <p:nvPr/>
          </p:nvSpPr>
          <p:spPr bwMode="auto">
            <a:xfrm>
              <a:off x="923925" y="4356100"/>
              <a:ext cx="7923213"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47" name="Line 38">
              <a:extLst>
                <a:ext uri="{FF2B5EF4-FFF2-40B4-BE49-F238E27FC236}">
                  <a16:creationId xmlns:a16="http://schemas.microsoft.com/office/drawing/2014/main" id="{AD17CD3C-CFB7-9C10-9BE5-83C777FE81FF}"/>
                </a:ext>
              </a:extLst>
            </p:cNvPr>
            <p:cNvSpPr>
              <a:spLocks noChangeShapeType="1"/>
            </p:cNvSpPr>
            <p:nvPr/>
          </p:nvSpPr>
          <p:spPr bwMode="auto">
            <a:xfrm>
              <a:off x="923925" y="4572000"/>
              <a:ext cx="792321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8" name="Rectangle 39">
              <a:extLst>
                <a:ext uri="{FF2B5EF4-FFF2-40B4-BE49-F238E27FC236}">
                  <a16:creationId xmlns:a16="http://schemas.microsoft.com/office/drawing/2014/main" id="{BBFAB04A-8227-B4C8-5F50-AA8E3688E460}"/>
                </a:ext>
              </a:extLst>
            </p:cNvPr>
            <p:cNvSpPr>
              <a:spLocks noChangeArrowheads="1"/>
            </p:cNvSpPr>
            <p:nvPr/>
          </p:nvSpPr>
          <p:spPr bwMode="auto">
            <a:xfrm>
              <a:off x="923925" y="4572000"/>
              <a:ext cx="7923213"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49" name="Line 40">
              <a:extLst>
                <a:ext uri="{FF2B5EF4-FFF2-40B4-BE49-F238E27FC236}">
                  <a16:creationId xmlns:a16="http://schemas.microsoft.com/office/drawing/2014/main" id="{63292CE0-738B-1AC9-E9C5-E655733C02A5}"/>
                </a:ext>
              </a:extLst>
            </p:cNvPr>
            <p:cNvSpPr>
              <a:spLocks noChangeShapeType="1"/>
            </p:cNvSpPr>
            <p:nvPr/>
          </p:nvSpPr>
          <p:spPr bwMode="auto">
            <a:xfrm>
              <a:off x="923925" y="4786313"/>
              <a:ext cx="792321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0" name="Rectangle 41">
              <a:extLst>
                <a:ext uri="{FF2B5EF4-FFF2-40B4-BE49-F238E27FC236}">
                  <a16:creationId xmlns:a16="http://schemas.microsoft.com/office/drawing/2014/main" id="{D133A3C8-D332-9FFA-E303-0D42F146ABA1}"/>
                </a:ext>
              </a:extLst>
            </p:cNvPr>
            <p:cNvSpPr>
              <a:spLocks noChangeArrowheads="1"/>
            </p:cNvSpPr>
            <p:nvPr/>
          </p:nvSpPr>
          <p:spPr bwMode="auto">
            <a:xfrm>
              <a:off x="923925" y="4786313"/>
              <a:ext cx="79232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51" name="Line 42">
              <a:extLst>
                <a:ext uri="{FF2B5EF4-FFF2-40B4-BE49-F238E27FC236}">
                  <a16:creationId xmlns:a16="http://schemas.microsoft.com/office/drawing/2014/main" id="{026C7AC3-B18E-7B67-257A-42FE48B2B3AE}"/>
                </a:ext>
              </a:extLst>
            </p:cNvPr>
            <p:cNvSpPr>
              <a:spLocks noChangeShapeType="1"/>
            </p:cNvSpPr>
            <p:nvPr/>
          </p:nvSpPr>
          <p:spPr bwMode="auto">
            <a:xfrm>
              <a:off x="923925" y="5002213"/>
              <a:ext cx="792321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2" name="Rectangle 43">
              <a:extLst>
                <a:ext uri="{FF2B5EF4-FFF2-40B4-BE49-F238E27FC236}">
                  <a16:creationId xmlns:a16="http://schemas.microsoft.com/office/drawing/2014/main" id="{A0E3D13D-BBD4-410C-1B8B-F786B457C19C}"/>
                </a:ext>
              </a:extLst>
            </p:cNvPr>
            <p:cNvSpPr>
              <a:spLocks noChangeArrowheads="1"/>
            </p:cNvSpPr>
            <p:nvPr/>
          </p:nvSpPr>
          <p:spPr bwMode="auto">
            <a:xfrm>
              <a:off x="923925" y="5002213"/>
              <a:ext cx="79232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53" name="Line 44">
              <a:extLst>
                <a:ext uri="{FF2B5EF4-FFF2-40B4-BE49-F238E27FC236}">
                  <a16:creationId xmlns:a16="http://schemas.microsoft.com/office/drawing/2014/main" id="{F9EB1C91-BBD0-6FBE-E951-D800B7BEEA21}"/>
                </a:ext>
              </a:extLst>
            </p:cNvPr>
            <p:cNvSpPr>
              <a:spLocks noChangeShapeType="1"/>
            </p:cNvSpPr>
            <p:nvPr/>
          </p:nvSpPr>
          <p:spPr bwMode="auto">
            <a:xfrm>
              <a:off x="923925" y="5218113"/>
              <a:ext cx="792321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4" name="Rectangle 45">
              <a:extLst>
                <a:ext uri="{FF2B5EF4-FFF2-40B4-BE49-F238E27FC236}">
                  <a16:creationId xmlns:a16="http://schemas.microsoft.com/office/drawing/2014/main" id="{89ECA90B-FF16-7095-0027-778F529D3428}"/>
                </a:ext>
              </a:extLst>
            </p:cNvPr>
            <p:cNvSpPr>
              <a:spLocks noChangeArrowheads="1"/>
            </p:cNvSpPr>
            <p:nvPr/>
          </p:nvSpPr>
          <p:spPr bwMode="auto">
            <a:xfrm>
              <a:off x="923925" y="5218113"/>
              <a:ext cx="792321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55" name="Line 46">
              <a:extLst>
                <a:ext uri="{FF2B5EF4-FFF2-40B4-BE49-F238E27FC236}">
                  <a16:creationId xmlns:a16="http://schemas.microsoft.com/office/drawing/2014/main" id="{64DBC26E-32FC-255E-B473-85B41D2BF1C5}"/>
                </a:ext>
              </a:extLst>
            </p:cNvPr>
            <p:cNvSpPr>
              <a:spLocks noChangeShapeType="1"/>
            </p:cNvSpPr>
            <p:nvPr/>
          </p:nvSpPr>
          <p:spPr bwMode="auto">
            <a:xfrm>
              <a:off x="923925" y="5432425"/>
              <a:ext cx="79232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6" name="Rectangle 47">
              <a:extLst>
                <a:ext uri="{FF2B5EF4-FFF2-40B4-BE49-F238E27FC236}">
                  <a16:creationId xmlns:a16="http://schemas.microsoft.com/office/drawing/2014/main" id="{E3B3057E-0F8D-423A-1AB3-29A492FC8A7C}"/>
                </a:ext>
              </a:extLst>
            </p:cNvPr>
            <p:cNvSpPr>
              <a:spLocks noChangeArrowheads="1"/>
            </p:cNvSpPr>
            <p:nvPr/>
          </p:nvSpPr>
          <p:spPr bwMode="auto">
            <a:xfrm>
              <a:off x="923925" y="5432425"/>
              <a:ext cx="79232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57" name="Line 48">
              <a:extLst>
                <a:ext uri="{FF2B5EF4-FFF2-40B4-BE49-F238E27FC236}">
                  <a16:creationId xmlns:a16="http://schemas.microsoft.com/office/drawing/2014/main" id="{6CAB5CFB-3EF3-9BBF-96DE-6F442B2CD2DD}"/>
                </a:ext>
              </a:extLst>
            </p:cNvPr>
            <p:cNvSpPr>
              <a:spLocks noChangeShapeType="1"/>
            </p:cNvSpPr>
            <p:nvPr/>
          </p:nvSpPr>
          <p:spPr bwMode="auto">
            <a:xfrm>
              <a:off x="923925" y="5648325"/>
              <a:ext cx="79232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8" name="Rectangle 49">
              <a:extLst>
                <a:ext uri="{FF2B5EF4-FFF2-40B4-BE49-F238E27FC236}">
                  <a16:creationId xmlns:a16="http://schemas.microsoft.com/office/drawing/2014/main" id="{82DCA221-58B3-8ABE-E740-4F40D49FFF53}"/>
                </a:ext>
              </a:extLst>
            </p:cNvPr>
            <p:cNvSpPr>
              <a:spLocks noChangeArrowheads="1"/>
            </p:cNvSpPr>
            <p:nvPr/>
          </p:nvSpPr>
          <p:spPr bwMode="auto">
            <a:xfrm>
              <a:off x="923925" y="5648325"/>
              <a:ext cx="79232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59" name="Line 50">
              <a:extLst>
                <a:ext uri="{FF2B5EF4-FFF2-40B4-BE49-F238E27FC236}">
                  <a16:creationId xmlns:a16="http://schemas.microsoft.com/office/drawing/2014/main" id="{997D1C36-DAEF-C8D1-DA12-4ACABB9F4DF9}"/>
                </a:ext>
              </a:extLst>
            </p:cNvPr>
            <p:cNvSpPr>
              <a:spLocks noChangeShapeType="1"/>
            </p:cNvSpPr>
            <p:nvPr/>
          </p:nvSpPr>
          <p:spPr bwMode="auto">
            <a:xfrm>
              <a:off x="923925" y="5864225"/>
              <a:ext cx="792321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0" name="Rectangle 51">
              <a:extLst>
                <a:ext uri="{FF2B5EF4-FFF2-40B4-BE49-F238E27FC236}">
                  <a16:creationId xmlns:a16="http://schemas.microsoft.com/office/drawing/2014/main" id="{1384EB91-C893-FC2D-2D34-361FD1B97448}"/>
                </a:ext>
              </a:extLst>
            </p:cNvPr>
            <p:cNvSpPr>
              <a:spLocks noChangeArrowheads="1"/>
            </p:cNvSpPr>
            <p:nvPr/>
          </p:nvSpPr>
          <p:spPr bwMode="auto">
            <a:xfrm>
              <a:off x="923925" y="5864225"/>
              <a:ext cx="792321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61" name="Line 52">
              <a:extLst>
                <a:ext uri="{FF2B5EF4-FFF2-40B4-BE49-F238E27FC236}">
                  <a16:creationId xmlns:a16="http://schemas.microsoft.com/office/drawing/2014/main" id="{E95B1E43-CB01-16C3-8A43-88C02B9D94FE}"/>
                </a:ext>
              </a:extLst>
            </p:cNvPr>
            <p:cNvSpPr>
              <a:spLocks noChangeShapeType="1"/>
            </p:cNvSpPr>
            <p:nvPr/>
          </p:nvSpPr>
          <p:spPr bwMode="auto">
            <a:xfrm>
              <a:off x="923925" y="6078538"/>
              <a:ext cx="79232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2" name="Rectangle 53">
              <a:extLst>
                <a:ext uri="{FF2B5EF4-FFF2-40B4-BE49-F238E27FC236}">
                  <a16:creationId xmlns:a16="http://schemas.microsoft.com/office/drawing/2014/main" id="{FC63006F-ABB7-9659-71C9-BB5AB6C2A770}"/>
                </a:ext>
              </a:extLst>
            </p:cNvPr>
            <p:cNvSpPr>
              <a:spLocks noChangeArrowheads="1"/>
            </p:cNvSpPr>
            <p:nvPr/>
          </p:nvSpPr>
          <p:spPr bwMode="auto">
            <a:xfrm>
              <a:off x="923925" y="6078538"/>
              <a:ext cx="7923213"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63" name="Line 54">
              <a:extLst>
                <a:ext uri="{FF2B5EF4-FFF2-40B4-BE49-F238E27FC236}">
                  <a16:creationId xmlns:a16="http://schemas.microsoft.com/office/drawing/2014/main" id="{F6980692-BB2F-A3EF-85C6-AEAFE4CCA534}"/>
                </a:ext>
              </a:extLst>
            </p:cNvPr>
            <p:cNvSpPr>
              <a:spLocks noChangeShapeType="1"/>
            </p:cNvSpPr>
            <p:nvPr/>
          </p:nvSpPr>
          <p:spPr bwMode="auto">
            <a:xfrm>
              <a:off x="923925" y="6210300"/>
              <a:ext cx="79232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4" name="Rectangle 55">
              <a:extLst>
                <a:ext uri="{FF2B5EF4-FFF2-40B4-BE49-F238E27FC236}">
                  <a16:creationId xmlns:a16="http://schemas.microsoft.com/office/drawing/2014/main" id="{6A803CB6-118E-794D-21C1-895AFDFA7CEA}"/>
                </a:ext>
              </a:extLst>
            </p:cNvPr>
            <p:cNvSpPr>
              <a:spLocks noChangeArrowheads="1"/>
            </p:cNvSpPr>
            <p:nvPr/>
          </p:nvSpPr>
          <p:spPr bwMode="auto">
            <a:xfrm>
              <a:off x="923925" y="6210300"/>
              <a:ext cx="7923213"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65" name="Line 56">
              <a:extLst>
                <a:ext uri="{FF2B5EF4-FFF2-40B4-BE49-F238E27FC236}">
                  <a16:creationId xmlns:a16="http://schemas.microsoft.com/office/drawing/2014/main" id="{42C71ADB-DF22-35BD-847B-34FBFBE64B0F}"/>
                </a:ext>
              </a:extLst>
            </p:cNvPr>
            <p:cNvSpPr>
              <a:spLocks noChangeShapeType="1"/>
            </p:cNvSpPr>
            <p:nvPr/>
          </p:nvSpPr>
          <p:spPr bwMode="auto">
            <a:xfrm>
              <a:off x="923925" y="6481763"/>
              <a:ext cx="792321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6" name="Rectangle 57">
              <a:extLst>
                <a:ext uri="{FF2B5EF4-FFF2-40B4-BE49-F238E27FC236}">
                  <a16:creationId xmlns:a16="http://schemas.microsoft.com/office/drawing/2014/main" id="{F9348096-3838-C967-98E7-A0FE6DF3CBA0}"/>
                </a:ext>
              </a:extLst>
            </p:cNvPr>
            <p:cNvSpPr>
              <a:spLocks noChangeArrowheads="1"/>
            </p:cNvSpPr>
            <p:nvPr/>
          </p:nvSpPr>
          <p:spPr bwMode="auto">
            <a:xfrm>
              <a:off x="923925" y="6481763"/>
              <a:ext cx="792321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67" name="Rectangle 58">
              <a:extLst>
                <a:ext uri="{FF2B5EF4-FFF2-40B4-BE49-F238E27FC236}">
                  <a16:creationId xmlns:a16="http://schemas.microsoft.com/office/drawing/2014/main" id="{DC6B7A20-4428-4B49-2B43-46F3C7144844}"/>
                </a:ext>
              </a:extLst>
            </p:cNvPr>
            <p:cNvSpPr>
              <a:spLocks noChangeArrowheads="1"/>
            </p:cNvSpPr>
            <p:nvPr/>
          </p:nvSpPr>
          <p:spPr bwMode="auto">
            <a:xfrm>
              <a:off x="1008063" y="1500188"/>
              <a:ext cx="4381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900">
                  <a:latin typeface="Roboto" panose="02000000000000000000" pitchFamily="2" charset="0"/>
                  <a:ea typeface="Roboto" panose="02000000000000000000" pitchFamily="2" charset="0"/>
                </a:rPr>
                <a:t>Operation </a:t>
              </a:r>
              <a:endParaRPr lang="en-US" altLang="en-US" sz="2400">
                <a:solidFill>
                  <a:schemeClr val="tx1"/>
                </a:solidFill>
                <a:latin typeface="Roboto" panose="02000000000000000000" pitchFamily="2" charset="0"/>
                <a:ea typeface="Roboto" panose="02000000000000000000" pitchFamily="2" charset="0"/>
              </a:endParaRPr>
            </a:p>
          </p:txBody>
        </p:sp>
        <p:sp>
          <p:nvSpPr>
            <p:cNvPr id="268" name="Rectangle 59">
              <a:extLst>
                <a:ext uri="{FF2B5EF4-FFF2-40B4-BE49-F238E27FC236}">
                  <a16:creationId xmlns:a16="http://schemas.microsoft.com/office/drawing/2014/main" id="{C35205EE-3695-96A7-D13A-45F3306B13EA}"/>
                </a:ext>
              </a:extLst>
            </p:cNvPr>
            <p:cNvSpPr>
              <a:spLocks noChangeArrowheads="1"/>
            </p:cNvSpPr>
            <p:nvPr/>
          </p:nvSpPr>
          <p:spPr bwMode="auto">
            <a:xfrm>
              <a:off x="1465263" y="1500188"/>
              <a:ext cx="24447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900">
                  <a:latin typeface="Roboto" panose="02000000000000000000" pitchFamily="2" charset="0"/>
                  <a:ea typeface="Roboto" panose="02000000000000000000" pitchFamily="2" charset="0"/>
                </a:rPr>
                <a:t>From:</a:t>
              </a:r>
              <a:endParaRPr lang="en-US" altLang="en-US" sz="2400">
                <a:solidFill>
                  <a:schemeClr val="tx1"/>
                </a:solidFill>
                <a:latin typeface="Roboto" panose="02000000000000000000" pitchFamily="2" charset="0"/>
                <a:ea typeface="Roboto" panose="02000000000000000000" pitchFamily="2" charset="0"/>
              </a:endParaRPr>
            </a:p>
          </p:txBody>
        </p:sp>
        <p:sp>
          <p:nvSpPr>
            <p:cNvPr id="269" name="Rectangle 60">
              <a:extLst>
                <a:ext uri="{FF2B5EF4-FFF2-40B4-BE49-F238E27FC236}">
                  <a16:creationId xmlns:a16="http://schemas.microsoft.com/office/drawing/2014/main" id="{5EC075FA-59A7-E001-AD27-D6B8F1995324}"/>
                </a:ext>
              </a:extLst>
            </p:cNvPr>
            <p:cNvSpPr>
              <a:spLocks noChangeArrowheads="1"/>
            </p:cNvSpPr>
            <p:nvPr/>
          </p:nvSpPr>
          <p:spPr bwMode="auto">
            <a:xfrm>
              <a:off x="4432300" y="1503363"/>
              <a:ext cx="1460029" cy="175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200" b="1">
                  <a:latin typeface="Roboto" panose="02000000000000000000" pitchFamily="2" charset="0"/>
                  <a:ea typeface="Roboto" panose="02000000000000000000" pitchFamily="2" charset="0"/>
                </a:rPr>
                <a:t>STANDARD WORK SHEET</a:t>
              </a:r>
              <a:endParaRPr lang="en-US" altLang="en-US" sz="2400">
                <a:solidFill>
                  <a:schemeClr val="tx1"/>
                </a:solidFill>
                <a:latin typeface="Roboto" panose="02000000000000000000" pitchFamily="2" charset="0"/>
                <a:ea typeface="Roboto" panose="02000000000000000000" pitchFamily="2" charset="0"/>
              </a:endParaRPr>
            </a:p>
          </p:txBody>
        </p:sp>
        <p:sp>
          <p:nvSpPr>
            <p:cNvPr id="270" name="Rectangle 61">
              <a:extLst>
                <a:ext uri="{FF2B5EF4-FFF2-40B4-BE49-F238E27FC236}">
                  <a16:creationId xmlns:a16="http://schemas.microsoft.com/office/drawing/2014/main" id="{EDAF2458-6463-35BE-945B-C35895E37FB2}"/>
                </a:ext>
              </a:extLst>
            </p:cNvPr>
            <p:cNvSpPr>
              <a:spLocks noChangeArrowheads="1"/>
            </p:cNvSpPr>
            <p:nvPr/>
          </p:nvSpPr>
          <p:spPr bwMode="auto">
            <a:xfrm>
              <a:off x="6746875" y="1500188"/>
              <a:ext cx="3683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900">
                  <a:latin typeface="Roboto" panose="02000000000000000000" pitchFamily="2" charset="0"/>
                  <a:ea typeface="Roboto" panose="02000000000000000000" pitchFamily="2" charset="0"/>
                </a:rPr>
                <a:t>Part No. </a:t>
              </a:r>
              <a:endParaRPr lang="en-US" altLang="en-US" sz="2400">
                <a:solidFill>
                  <a:schemeClr val="tx1"/>
                </a:solidFill>
                <a:latin typeface="Roboto" panose="02000000000000000000" pitchFamily="2" charset="0"/>
                <a:ea typeface="Roboto" panose="02000000000000000000" pitchFamily="2" charset="0"/>
              </a:endParaRPr>
            </a:p>
          </p:txBody>
        </p:sp>
        <p:sp>
          <p:nvSpPr>
            <p:cNvPr id="271" name="Rectangle 62">
              <a:extLst>
                <a:ext uri="{FF2B5EF4-FFF2-40B4-BE49-F238E27FC236}">
                  <a16:creationId xmlns:a16="http://schemas.microsoft.com/office/drawing/2014/main" id="{7C1DFBF6-14CB-D177-150B-071A109E60F3}"/>
                </a:ext>
              </a:extLst>
            </p:cNvPr>
            <p:cNvSpPr>
              <a:spLocks noChangeArrowheads="1"/>
            </p:cNvSpPr>
            <p:nvPr/>
          </p:nvSpPr>
          <p:spPr bwMode="auto">
            <a:xfrm>
              <a:off x="1004888" y="1663700"/>
              <a:ext cx="42386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900">
                  <a:latin typeface="Roboto" panose="02000000000000000000" pitchFamily="2" charset="0"/>
                  <a:ea typeface="Roboto" panose="02000000000000000000" pitchFamily="2" charset="0"/>
                </a:rPr>
                <a:t>Sequence</a:t>
              </a:r>
              <a:endParaRPr lang="en-US" altLang="en-US" sz="2400">
                <a:solidFill>
                  <a:schemeClr val="tx1"/>
                </a:solidFill>
                <a:latin typeface="Roboto" panose="02000000000000000000" pitchFamily="2" charset="0"/>
                <a:ea typeface="Roboto" panose="02000000000000000000" pitchFamily="2" charset="0"/>
              </a:endParaRPr>
            </a:p>
          </p:txBody>
        </p:sp>
        <p:sp>
          <p:nvSpPr>
            <p:cNvPr id="272" name="Rectangle 63">
              <a:extLst>
                <a:ext uri="{FF2B5EF4-FFF2-40B4-BE49-F238E27FC236}">
                  <a16:creationId xmlns:a16="http://schemas.microsoft.com/office/drawing/2014/main" id="{09041AF0-1B28-711E-7167-8B89AF37D567}"/>
                </a:ext>
              </a:extLst>
            </p:cNvPr>
            <p:cNvSpPr>
              <a:spLocks noChangeArrowheads="1"/>
            </p:cNvSpPr>
            <p:nvPr/>
          </p:nvSpPr>
          <p:spPr bwMode="auto">
            <a:xfrm>
              <a:off x="1465263" y="1663700"/>
              <a:ext cx="1349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900">
                  <a:latin typeface="Roboto" panose="02000000000000000000" pitchFamily="2" charset="0"/>
                  <a:ea typeface="Roboto" panose="02000000000000000000" pitchFamily="2" charset="0"/>
                </a:rPr>
                <a:t>To:</a:t>
              </a:r>
              <a:endParaRPr lang="en-US" altLang="en-US" sz="2400">
                <a:solidFill>
                  <a:schemeClr val="tx1"/>
                </a:solidFill>
                <a:latin typeface="Roboto" panose="02000000000000000000" pitchFamily="2" charset="0"/>
                <a:ea typeface="Roboto" panose="02000000000000000000" pitchFamily="2" charset="0"/>
              </a:endParaRPr>
            </a:p>
          </p:txBody>
        </p:sp>
        <p:sp>
          <p:nvSpPr>
            <p:cNvPr id="273" name="Rectangle 64">
              <a:extLst>
                <a:ext uri="{FF2B5EF4-FFF2-40B4-BE49-F238E27FC236}">
                  <a16:creationId xmlns:a16="http://schemas.microsoft.com/office/drawing/2014/main" id="{72574CE1-CBCA-13F8-6A03-953A40248550}"/>
                </a:ext>
              </a:extLst>
            </p:cNvPr>
            <p:cNvSpPr>
              <a:spLocks noChangeArrowheads="1"/>
            </p:cNvSpPr>
            <p:nvPr/>
          </p:nvSpPr>
          <p:spPr bwMode="auto">
            <a:xfrm>
              <a:off x="6746875" y="1663700"/>
              <a:ext cx="47307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900">
                  <a:latin typeface="Roboto" panose="02000000000000000000" pitchFamily="2" charset="0"/>
                  <a:ea typeface="Roboto" panose="02000000000000000000" pitchFamily="2" charset="0"/>
                </a:rPr>
                <a:t>Part Name:</a:t>
              </a:r>
              <a:endParaRPr lang="en-US" altLang="en-US" sz="2400">
                <a:solidFill>
                  <a:schemeClr val="tx1"/>
                </a:solidFill>
                <a:latin typeface="Roboto" panose="02000000000000000000" pitchFamily="2" charset="0"/>
                <a:ea typeface="Roboto" panose="02000000000000000000" pitchFamily="2" charset="0"/>
              </a:endParaRPr>
            </a:p>
          </p:txBody>
        </p:sp>
        <p:sp>
          <p:nvSpPr>
            <p:cNvPr id="274" name="Line 65">
              <a:extLst>
                <a:ext uri="{FF2B5EF4-FFF2-40B4-BE49-F238E27FC236}">
                  <a16:creationId xmlns:a16="http://schemas.microsoft.com/office/drawing/2014/main" id="{7552133F-D394-720A-8153-05C456D33436}"/>
                </a:ext>
              </a:extLst>
            </p:cNvPr>
            <p:cNvSpPr>
              <a:spLocks noChangeShapeType="1"/>
            </p:cNvSpPr>
            <p:nvPr/>
          </p:nvSpPr>
          <p:spPr bwMode="auto">
            <a:xfrm>
              <a:off x="914400" y="1466850"/>
              <a:ext cx="1588" cy="3333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5" name="Rectangle 66">
              <a:extLst>
                <a:ext uri="{FF2B5EF4-FFF2-40B4-BE49-F238E27FC236}">
                  <a16:creationId xmlns:a16="http://schemas.microsoft.com/office/drawing/2014/main" id="{7B712779-8B15-1238-A07B-016E7BC139C5}"/>
                </a:ext>
              </a:extLst>
            </p:cNvPr>
            <p:cNvSpPr>
              <a:spLocks noChangeArrowheads="1"/>
            </p:cNvSpPr>
            <p:nvPr/>
          </p:nvSpPr>
          <p:spPr bwMode="auto">
            <a:xfrm>
              <a:off x="914400" y="1466850"/>
              <a:ext cx="9525" cy="3333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76" name="Line 67">
              <a:extLst>
                <a:ext uri="{FF2B5EF4-FFF2-40B4-BE49-F238E27FC236}">
                  <a16:creationId xmlns:a16="http://schemas.microsoft.com/office/drawing/2014/main" id="{02AF66C7-6DF7-877D-B2C4-1DA78D985C6E}"/>
                </a:ext>
              </a:extLst>
            </p:cNvPr>
            <p:cNvSpPr>
              <a:spLocks noChangeShapeType="1"/>
            </p:cNvSpPr>
            <p:nvPr/>
          </p:nvSpPr>
          <p:spPr bwMode="auto">
            <a:xfrm>
              <a:off x="1443038" y="1466850"/>
              <a:ext cx="1587" cy="3333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7" name="Rectangle 68">
              <a:extLst>
                <a:ext uri="{FF2B5EF4-FFF2-40B4-BE49-F238E27FC236}">
                  <a16:creationId xmlns:a16="http://schemas.microsoft.com/office/drawing/2014/main" id="{55D7594B-1A56-B5D1-23A2-39ED8B327636}"/>
                </a:ext>
              </a:extLst>
            </p:cNvPr>
            <p:cNvSpPr>
              <a:spLocks noChangeArrowheads="1"/>
            </p:cNvSpPr>
            <p:nvPr/>
          </p:nvSpPr>
          <p:spPr bwMode="auto">
            <a:xfrm>
              <a:off x="1443038" y="1466850"/>
              <a:ext cx="9525" cy="3333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78" name="Line 69">
              <a:extLst>
                <a:ext uri="{FF2B5EF4-FFF2-40B4-BE49-F238E27FC236}">
                  <a16:creationId xmlns:a16="http://schemas.microsoft.com/office/drawing/2014/main" id="{05D5382F-C846-CAC3-39DC-642162E33589}"/>
                </a:ext>
              </a:extLst>
            </p:cNvPr>
            <p:cNvSpPr>
              <a:spLocks noChangeShapeType="1"/>
            </p:cNvSpPr>
            <p:nvPr/>
          </p:nvSpPr>
          <p:spPr bwMode="auto">
            <a:xfrm>
              <a:off x="1706563" y="1466850"/>
              <a:ext cx="1587" cy="3333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9" name="Rectangle 70">
              <a:extLst>
                <a:ext uri="{FF2B5EF4-FFF2-40B4-BE49-F238E27FC236}">
                  <a16:creationId xmlns:a16="http://schemas.microsoft.com/office/drawing/2014/main" id="{4AE66982-42ED-8C10-7D7F-73DC1BFF989C}"/>
                </a:ext>
              </a:extLst>
            </p:cNvPr>
            <p:cNvSpPr>
              <a:spLocks noChangeArrowheads="1"/>
            </p:cNvSpPr>
            <p:nvPr/>
          </p:nvSpPr>
          <p:spPr bwMode="auto">
            <a:xfrm>
              <a:off x="1706563" y="1466850"/>
              <a:ext cx="11112" cy="3333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80" name="Line 71">
              <a:extLst>
                <a:ext uri="{FF2B5EF4-FFF2-40B4-BE49-F238E27FC236}">
                  <a16:creationId xmlns:a16="http://schemas.microsoft.com/office/drawing/2014/main" id="{796643F4-3358-60AF-C531-C8728C198553}"/>
                </a:ext>
              </a:extLst>
            </p:cNvPr>
            <p:cNvSpPr>
              <a:spLocks noChangeShapeType="1"/>
            </p:cNvSpPr>
            <p:nvPr/>
          </p:nvSpPr>
          <p:spPr bwMode="auto">
            <a:xfrm>
              <a:off x="3819525" y="1466850"/>
              <a:ext cx="1588" cy="3333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1" name="Rectangle 72">
              <a:extLst>
                <a:ext uri="{FF2B5EF4-FFF2-40B4-BE49-F238E27FC236}">
                  <a16:creationId xmlns:a16="http://schemas.microsoft.com/office/drawing/2014/main" id="{FD462B21-B056-B851-24AE-C37919C6FA1B}"/>
                </a:ext>
              </a:extLst>
            </p:cNvPr>
            <p:cNvSpPr>
              <a:spLocks noChangeArrowheads="1"/>
            </p:cNvSpPr>
            <p:nvPr/>
          </p:nvSpPr>
          <p:spPr bwMode="auto">
            <a:xfrm>
              <a:off x="3819525" y="1466850"/>
              <a:ext cx="9525" cy="3333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82" name="Line 73">
              <a:extLst>
                <a:ext uri="{FF2B5EF4-FFF2-40B4-BE49-F238E27FC236}">
                  <a16:creationId xmlns:a16="http://schemas.microsoft.com/office/drawing/2014/main" id="{885C3162-5925-5468-CBF6-167F9412F76A}"/>
                </a:ext>
              </a:extLst>
            </p:cNvPr>
            <p:cNvSpPr>
              <a:spLocks noChangeShapeType="1"/>
            </p:cNvSpPr>
            <p:nvPr/>
          </p:nvSpPr>
          <p:spPr bwMode="auto">
            <a:xfrm>
              <a:off x="6723063" y="1466850"/>
              <a:ext cx="1587" cy="3333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3" name="Rectangle 74">
              <a:extLst>
                <a:ext uri="{FF2B5EF4-FFF2-40B4-BE49-F238E27FC236}">
                  <a16:creationId xmlns:a16="http://schemas.microsoft.com/office/drawing/2014/main" id="{93649403-B938-1582-624B-C8ED4C972DFE}"/>
                </a:ext>
              </a:extLst>
            </p:cNvPr>
            <p:cNvSpPr>
              <a:spLocks noChangeArrowheads="1"/>
            </p:cNvSpPr>
            <p:nvPr/>
          </p:nvSpPr>
          <p:spPr bwMode="auto">
            <a:xfrm>
              <a:off x="6723063" y="1466850"/>
              <a:ext cx="11112" cy="3333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84" name="Line 75">
              <a:extLst>
                <a:ext uri="{FF2B5EF4-FFF2-40B4-BE49-F238E27FC236}">
                  <a16:creationId xmlns:a16="http://schemas.microsoft.com/office/drawing/2014/main" id="{EE2A24D8-1C09-8DE2-EE9C-20B21471D320}"/>
                </a:ext>
              </a:extLst>
            </p:cNvPr>
            <p:cNvSpPr>
              <a:spLocks noChangeShapeType="1"/>
            </p:cNvSpPr>
            <p:nvPr/>
          </p:nvSpPr>
          <p:spPr bwMode="auto">
            <a:xfrm>
              <a:off x="7251700" y="1466850"/>
              <a:ext cx="1588" cy="3333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5" name="Rectangle 76">
              <a:extLst>
                <a:ext uri="{FF2B5EF4-FFF2-40B4-BE49-F238E27FC236}">
                  <a16:creationId xmlns:a16="http://schemas.microsoft.com/office/drawing/2014/main" id="{FC72F104-05FC-5890-593F-93A6E1ECF50F}"/>
                </a:ext>
              </a:extLst>
            </p:cNvPr>
            <p:cNvSpPr>
              <a:spLocks noChangeArrowheads="1"/>
            </p:cNvSpPr>
            <p:nvPr/>
          </p:nvSpPr>
          <p:spPr bwMode="auto">
            <a:xfrm>
              <a:off x="7251700" y="1466850"/>
              <a:ext cx="11113" cy="3333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86" name="Line 77">
              <a:extLst>
                <a:ext uri="{FF2B5EF4-FFF2-40B4-BE49-F238E27FC236}">
                  <a16:creationId xmlns:a16="http://schemas.microsoft.com/office/drawing/2014/main" id="{3BAAF461-EA99-2352-EB73-389903EC6233}"/>
                </a:ext>
              </a:extLst>
            </p:cNvPr>
            <p:cNvSpPr>
              <a:spLocks noChangeShapeType="1"/>
            </p:cNvSpPr>
            <p:nvPr/>
          </p:nvSpPr>
          <p:spPr bwMode="auto">
            <a:xfrm>
              <a:off x="8837613" y="1466850"/>
              <a:ext cx="1587" cy="3333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7" name="Rectangle 78">
              <a:extLst>
                <a:ext uri="{FF2B5EF4-FFF2-40B4-BE49-F238E27FC236}">
                  <a16:creationId xmlns:a16="http://schemas.microsoft.com/office/drawing/2014/main" id="{58B82CD2-3844-830F-3271-81777A54765F}"/>
                </a:ext>
              </a:extLst>
            </p:cNvPr>
            <p:cNvSpPr>
              <a:spLocks noChangeArrowheads="1"/>
            </p:cNvSpPr>
            <p:nvPr/>
          </p:nvSpPr>
          <p:spPr bwMode="auto">
            <a:xfrm>
              <a:off x="8837613" y="1466850"/>
              <a:ext cx="9525" cy="3333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88" name="Rectangle 79">
              <a:extLst>
                <a:ext uri="{FF2B5EF4-FFF2-40B4-BE49-F238E27FC236}">
                  <a16:creationId xmlns:a16="http://schemas.microsoft.com/office/drawing/2014/main" id="{A0FF42CA-989E-D006-CE5F-4CEC3DA9CCA6}"/>
                </a:ext>
              </a:extLst>
            </p:cNvPr>
            <p:cNvSpPr>
              <a:spLocks noChangeArrowheads="1"/>
            </p:cNvSpPr>
            <p:nvPr/>
          </p:nvSpPr>
          <p:spPr bwMode="auto">
            <a:xfrm>
              <a:off x="1300163" y="6088063"/>
              <a:ext cx="636389" cy="14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000">
                  <a:latin typeface="Roboto" panose="02000000000000000000" pitchFamily="2" charset="0"/>
                  <a:ea typeface="Roboto" panose="02000000000000000000" pitchFamily="2" charset="0"/>
                </a:rPr>
                <a:t>Quality Check</a:t>
              </a:r>
              <a:endParaRPr lang="en-US" altLang="en-US" sz="2400">
                <a:solidFill>
                  <a:schemeClr val="tx1"/>
                </a:solidFill>
                <a:latin typeface="Roboto" panose="02000000000000000000" pitchFamily="2" charset="0"/>
                <a:ea typeface="Roboto" panose="02000000000000000000" pitchFamily="2" charset="0"/>
              </a:endParaRPr>
            </a:p>
          </p:txBody>
        </p:sp>
        <p:sp>
          <p:nvSpPr>
            <p:cNvPr id="289" name="Rectangle 80">
              <a:extLst>
                <a:ext uri="{FF2B5EF4-FFF2-40B4-BE49-F238E27FC236}">
                  <a16:creationId xmlns:a16="http://schemas.microsoft.com/office/drawing/2014/main" id="{8F025D28-6C15-0272-5F7A-712C70ABA158}"/>
                </a:ext>
              </a:extLst>
            </p:cNvPr>
            <p:cNvSpPr>
              <a:spLocks noChangeArrowheads="1"/>
            </p:cNvSpPr>
            <p:nvPr/>
          </p:nvSpPr>
          <p:spPr bwMode="auto">
            <a:xfrm>
              <a:off x="2544763" y="6088063"/>
              <a:ext cx="823639" cy="14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000">
                  <a:latin typeface="Roboto" panose="02000000000000000000" pitchFamily="2" charset="0"/>
                  <a:ea typeface="Roboto" panose="02000000000000000000" pitchFamily="2" charset="0"/>
                </a:rPr>
                <a:t>Safety Precaution</a:t>
              </a:r>
              <a:endParaRPr lang="en-US" altLang="en-US" sz="2400">
                <a:solidFill>
                  <a:schemeClr val="tx1"/>
                </a:solidFill>
                <a:latin typeface="Roboto" panose="02000000000000000000" pitchFamily="2" charset="0"/>
                <a:ea typeface="Roboto" panose="02000000000000000000" pitchFamily="2" charset="0"/>
              </a:endParaRPr>
            </a:p>
          </p:txBody>
        </p:sp>
        <p:sp>
          <p:nvSpPr>
            <p:cNvPr id="290" name="Rectangle 81">
              <a:extLst>
                <a:ext uri="{FF2B5EF4-FFF2-40B4-BE49-F238E27FC236}">
                  <a16:creationId xmlns:a16="http://schemas.microsoft.com/office/drawing/2014/main" id="{EF444B68-C73B-BE74-832E-6B13BA41EAD5}"/>
                </a:ext>
              </a:extLst>
            </p:cNvPr>
            <p:cNvSpPr>
              <a:spLocks noChangeArrowheads="1"/>
            </p:cNvSpPr>
            <p:nvPr/>
          </p:nvSpPr>
          <p:spPr bwMode="auto">
            <a:xfrm>
              <a:off x="3941763" y="6088063"/>
              <a:ext cx="635080" cy="14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000">
                  <a:latin typeface="Roboto" panose="02000000000000000000" pitchFamily="2" charset="0"/>
                  <a:ea typeface="Roboto" panose="02000000000000000000" pitchFamily="2" charset="0"/>
                </a:rPr>
                <a:t>Standard WIP</a:t>
              </a:r>
              <a:endParaRPr lang="en-US" altLang="en-US" sz="2400">
                <a:solidFill>
                  <a:schemeClr val="tx1"/>
                </a:solidFill>
                <a:latin typeface="Roboto" panose="02000000000000000000" pitchFamily="2" charset="0"/>
                <a:ea typeface="Roboto" panose="02000000000000000000" pitchFamily="2" charset="0"/>
              </a:endParaRPr>
            </a:p>
          </p:txBody>
        </p:sp>
        <p:sp>
          <p:nvSpPr>
            <p:cNvPr id="291" name="Rectangle 82">
              <a:extLst>
                <a:ext uri="{FF2B5EF4-FFF2-40B4-BE49-F238E27FC236}">
                  <a16:creationId xmlns:a16="http://schemas.microsoft.com/office/drawing/2014/main" id="{406F85BA-4DDC-3D35-7412-AB66EFE73790}"/>
                </a:ext>
              </a:extLst>
            </p:cNvPr>
            <p:cNvSpPr>
              <a:spLocks noChangeArrowheads="1"/>
            </p:cNvSpPr>
            <p:nvPr/>
          </p:nvSpPr>
          <p:spPr bwMode="auto">
            <a:xfrm>
              <a:off x="5273675" y="6088063"/>
              <a:ext cx="612819" cy="14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000">
                  <a:latin typeface="Roboto" panose="02000000000000000000" pitchFamily="2" charset="0"/>
                  <a:ea typeface="Roboto" panose="02000000000000000000" pitchFamily="2" charset="0"/>
                </a:rPr>
                <a:t># Pieces WIP</a:t>
              </a:r>
              <a:endParaRPr lang="en-US" altLang="en-US" sz="2400">
                <a:solidFill>
                  <a:schemeClr val="tx1"/>
                </a:solidFill>
                <a:latin typeface="Roboto" panose="02000000000000000000" pitchFamily="2" charset="0"/>
                <a:ea typeface="Roboto" panose="02000000000000000000" pitchFamily="2" charset="0"/>
              </a:endParaRPr>
            </a:p>
          </p:txBody>
        </p:sp>
        <p:sp>
          <p:nvSpPr>
            <p:cNvPr id="292" name="Rectangle 83">
              <a:extLst>
                <a:ext uri="{FF2B5EF4-FFF2-40B4-BE49-F238E27FC236}">
                  <a16:creationId xmlns:a16="http://schemas.microsoft.com/office/drawing/2014/main" id="{7AB9CEC1-71B1-0E1A-E31A-31A0533AADDF}"/>
                </a:ext>
              </a:extLst>
            </p:cNvPr>
            <p:cNvSpPr>
              <a:spLocks noChangeArrowheads="1"/>
            </p:cNvSpPr>
            <p:nvPr/>
          </p:nvSpPr>
          <p:spPr bwMode="auto">
            <a:xfrm>
              <a:off x="6635750" y="6088063"/>
              <a:ext cx="519849" cy="14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000">
                  <a:latin typeface="Roboto" panose="02000000000000000000" pitchFamily="2" charset="0"/>
                  <a:ea typeface="Roboto" panose="02000000000000000000" pitchFamily="2" charset="0"/>
                </a:rPr>
                <a:t>TAKT Time</a:t>
              </a:r>
              <a:endParaRPr lang="en-US" altLang="en-US" sz="2400">
                <a:solidFill>
                  <a:schemeClr val="tx1"/>
                </a:solidFill>
                <a:latin typeface="Roboto" panose="02000000000000000000" pitchFamily="2" charset="0"/>
                <a:ea typeface="Roboto" panose="02000000000000000000" pitchFamily="2" charset="0"/>
              </a:endParaRPr>
            </a:p>
          </p:txBody>
        </p:sp>
        <p:sp>
          <p:nvSpPr>
            <p:cNvPr id="293" name="Rectangle 84">
              <a:extLst>
                <a:ext uri="{FF2B5EF4-FFF2-40B4-BE49-F238E27FC236}">
                  <a16:creationId xmlns:a16="http://schemas.microsoft.com/office/drawing/2014/main" id="{239274E2-8BC6-EBE6-5242-5C164A0B52EB}"/>
                </a:ext>
              </a:extLst>
            </p:cNvPr>
            <p:cNvSpPr>
              <a:spLocks noChangeArrowheads="1"/>
            </p:cNvSpPr>
            <p:nvPr/>
          </p:nvSpPr>
          <p:spPr bwMode="auto">
            <a:xfrm>
              <a:off x="7958138" y="6088063"/>
              <a:ext cx="513301" cy="14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000">
                  <a:latin typeface="Roboto" panose="02000000000000000000" pitchFamily="2" charset="0"/>
                  <a:ea typeface="Roboto" panose="02000000000000000000" pitchFamily="2" charset="0"/>
                </a:rPr>
                <a:t>Cycle Time</a:t>
              </a:r>
              <a:endParaRPr lang="en-US" altLang="en-US" sz="2400">
                <a:solidFill>
                  <a:schemeClr val="tx1"/>
                </a:solidFill>
                <a:latin typeface="Roboto" panose="02000000000000000000" pitchFamily="2" charset="0"/>
                <a:ea typeface="Roboto" panose="02000000000000000000" pitchFamily="2" charset="0"/>
              </a:endParaRPr>
            </a:p>
          </p:txBody>
        </p:sp>
        <p:sp>
          <p:nvSpPr>
            <p:cNvPr id="294" name="Rectangle 85">
              <a:extLst>
                <a:ext uri="{FF2B5EF4-FFF2-40B4-BE49-F238E27FC236}">
                  <a16:creationId xmlns:a16="http://schemas.microsoft.com/office/drawing/2014/main" id="{EEF69C21-F45F-AB53-156A-51956A61662C}"/>
                </a:ext>
              </a:extLst>
            </p:cNvPr>
            <p:cNvSpPr>
              <a:spLocks noChangeArrowheads="1"/>
            </p:cNvSpPr>
            <p:nvPr/>
          </p:nvSpPr>
          <p:spPr bwMode="auto">
            <a:xfrm>
              <a:off x="2827338" y="6210300"/>
              <a:ext cx="136182" cy="33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2300">
                  <a:latin typeface="Roboto" panose="02000000000000000000" pitchFamily="2" charset="0"/>
                  <a:ea typeface="Roboto" panose="02000000000000000000" pitchFamily="2" charset="0"/>
                </a:rPr>
                <a:t>+</a:t>
              </a:r>
              <a:endParaRPr lang="en-US" altLang="en-US" sz="2400">
                <a:solidFill>
                  <a:schemeClr val="tx1"/>
                </a:solidFill>
                <a:latin typeface="Roboto" panose="02000000000000000000" pitchFamily="2" charset="0"/>
                <a:ea typeface="Roboto" panose="02000000000000000000" pitchFamily="2" charset="0"/>
              </a:endParaRPr>
            </a:p>
          </p:txBody>
        </p:sp>
        <p:sp>
          <p:nvSpPr>
            <p:cNvPr id="295" name="Line 87">
              <a:extLst>
                <a:ext uri="{FF2B5EF4-FFF2-40B4-BE49-F238E27FC236}">
                  <a16:creationId xmlns:a16="http://schemas.microsoft.com/office/drawing/2014/main" id="{C217C84A-E7CF-09EA-547C-3879A02B9877}"/>
                </a:ext>
              </a:extLst>
            </p:cNvPr>
            <p:cNvSpPr>
              <a:spLocks noChangeShapeType="1"/>
            </p:cNvSpPr>
            <p:nvPr/>
          </p:nvSpPr>
          <p:spPr bwMode="auto">
            <a:xfrm>
              <a:off x="914400" y="1984375"/>
              <a:ext cx="1588" cy="45053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6" name="Rectangle 88">
              <a:extLst>
                <a:ext uri="{FF2B5EF4-FFF2-40B4-BE49-F238E27FC236}">
                  <a16:creationId xmlns:a16="http://schemas.microsoft.com/office/drawing/2014/main" id="{E0E8D25C-B06D-4F26-E34D-2A263748CBC9}"/>
                </a:ext>
              </a:extLst>
            </p:cNvPr>
            <p:cNvSpPr>
              <a:spLocks noChangeArrowheads="1"/>
            </p:cNvSpPr>
            <p:nvPr/>
          </p:nvSpPr>
          <p:spPr bwMode="auto">
            <a:xfrm>
              <a:off x="914400" y="1984375"/>
              <a:ext cx="9525" cy="45053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97" name="Line 89">
              <a:extLst>
                <a:ext uri="{FF2B5EF4-FFF2-40B4-BE49-F238E27FC236}">
                  <a16:creationId xmlns:a16="http://schemas.microsoft.com/office/drawing/2014/main" id="{6F47B6E4-77F3-3B4A-2086-BFC7A51BEE31}"/>
                </a:ext>
              </a:extLst>
            </p:cNvPr>
            <p:cNvSpPr>
              <a:spLocks noChangeShapeType="1"/>
            </p:cNvSpPr>
            <p:nvPr/>
          </p:nvSpPr>
          <p:spPr bwMode="auto">
            <a:xfrm>
              <a:off x="1443038" y="1984375"/>
              <a:ext cx="1587"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8" name="Rectangle 90">
              <a:extLst>
                <a:ext uri="{FF2B5EF4-FFF2-40B4-BE49-F238E27FC236}">
                  <a16:creationId xmlns:a16="http://schemas.microsoft.com/office/drawing/2014/main" id="{A0A8B24E-CE9C-3674-D7E5-0650C8009E12}"/>
                </a:ext>
              </a:extLst>
            </p:cNvPr>
            <p:cNvSpPr>
              <a:spLocks noChangeArrowheads="1"/>
            </p:cNvSpPr>
            <p:nvPr/>
          </p:nvSpPr>
          <p:spPr bwMode="auto">
            <a:xfrm>
              <a:off x="1443038" y="1984375"/>
              <a:ext cx="9525"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299" name="Line 91">
              <a:extLst>
                <a:ext uri="{FF2B5EF4-FFF2-40B4-BE49-F238E27FC236}">
                  <a16:creationId xmlns:a16="http://schemas.microsoft.com/office/drawing/2014/main" id="{8D1E0E4B-5824-A7A4-80AB-16A41C6E711A}"/>
                </a:ext>
              </a:extLst>
            </p:cNvPr>
            <p:cNvSpPr>
              <a:spLocks noChangeShapeType="1"/>
            </p:cNvSpPr>
            <p:nvPr/>
          </p:nvSpPr>
          <p:spPr bwMode="auto">
            <a:xfrm>
              <a:off x="1706563" y="1984375"/>
              <a:ext cx="1587"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0" name="Rectangle 92">
              <a:extLst>
                <a:ext uri="{FF2B5EF4-FFF2-40B4-BE49-F238E27FC236}">
                  <a16:creationId xmlns:a16="http://schemas.microsoft.com/office/drawing/2014/main" id="{F5EF560A-8D7C-D296-7C81-9BCF23493D94}"/>
                </a:ext>
              </a:extLst>
            </p:cNvPr>
            <p:cNvSpPr>
              <a:spLocks noChangeArrowheads="1"/>
            </p:cNvSpPr>
            <p:nvPr/>
          </p:nvSpPr>
          <p:spPr bwMode="auto">
            <a:xfrm>
              <a:off x="1706563" y="1984375"/>
              <a:ext cx="11112"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01" name="Line 93">
              <a:extLst>
                <a:ext uri="{FF2B5EF4-FFF2-40B4-BE49-F238E27FC236}">
                  <a16:creationId xmlns:a16="http://schemas.microsoft.com/office/drawing/2014/main" id="{16C7CB05-8A16-5258-B453-82A946D92D6F}"/>
                </a:ext>
              </a:extLst>
            </p:cNvPr>
            <p:cNvSpPr>
              <a:spLocks noChangeShapeType="1"/>
            </p:cNvSpPr>
            <p:nvPr/>
          </p:nvSpPr>
          <p:spPr bwMode="auto">
            <a:xfrm>
              <a:off x="3819525" y="1984375"/>
              <a:ext cx="1588"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2" name="Rectangle 94">
              <a:extLst>
                <a:ext uri="{FF2B5EF4-FFF2-40B4-BE49-F238E27FC236}">
                  <a16:creationId xmlns:a16="http://schemas.microsoft.com/office/drawing/2014/main" id="{F8157E3C-3194-D9EF-C2FF-E075B58AB432}"/>
                </a:ext>
              </a:extLst>
            </p:cNvPr>
            <p:cNvSpPr>
              <a:spLocks noChangeArrowheads="1"/>
            </p:cNvSpPr>
            <p:nvPr/>
          </p:nvSpPr>
          <p:spPr bwMode="auto">
            <a:xfrm>
              <a:off x="3819525" y="1984375"/>
              <a:ext cx="9525"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03" name="Line 95">
              <a:extLst>
                <a:ext uri="{FF2B5EF4-FFF2-40B4-BE49-F238E27FC236}">
                  <a16:creationId xmlns:a16="http://schemas.microsoft.com/office/drawing/2014/main" id="{FEFC4C3C-14E5-F540-C498-64BB4D79B00A}"/>
                </a:ext>
              </a:extLst>
            </p:cNvPr>
            <p:cNvSpPr>
              <a:spLocks noChangeShapeType="1"/>
            </p:cNvSpPr>
            <p:nvPr/>
          </p:nvSpPr>
          <p:spPr bwMode="auto">
            <a:xfrm>
              <a:off x="6723063" y="1984375"/>
              <a:ext cx="1587"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4" name="Rectangle 96">
              <a:extLst>
                <a:ext uri="{FF2B5EF4-FFF2-40B4-BE49-F238E27FC236}">
                  <a16:creationId xmlns:a16="http://schemas.microsoft.com/office/drawing/2014/main" id="{8D050B47-6AF2-C5D4-E9F3-DD2634338BDB}"/>
                </a:ext>
              </a:extLst>
            </p:cNvPr>
            <p:cNvSpPr>
              <a:spLocks noChangeArrowheads="1"/>
            </p:cNvSpPr>
            <p:nvPr/>
          </p:nvSpPr>
          <p:spPr bwMode="auto">
            <a:xfrm>
              <a:off x="6723063" y="1984375"/>
              <a:ext cx="11112"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05" name="Line 97">
              <a:extLst>
                <a:ext uri="{FF2B5EF4-FFF2-40B4-BE49-F238E27FC236}">
                  <a16:creationId xmlns:a16="http://schemas.microsoft.com/office/drawing/2014/main" id="{3183326C-702F-FA54-5942-B44DD49A9930}"/>
                </a:ext>
              </a:extLst>
            </p:cNvPr>
            <p:cNvSpPr>
              <a:spLocks noChangeShapeType="1"/>
            </p:cNvSpPr>
            <p:nvPr/>
          </p:nvSpPr>
          <p:spPr bwMode="auto">
            <a:xfrm>
              <a:off x="7251700" y="1984375"/>
              <a:ext cx="1588"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6" name="Rectangle 98">
              <a:extLst>
                <a:ext uri="{FF2B5EF4-FFF2-40B4-BE49-F238E27FC236}">
                  <a16:creationId xmlns:a16="http://schemas.microsoft.com/office/drawing/2014/main" id="{BE628200-FDEC-4BB0-B76F-0B70F44C1929}"/>
                </a:ext>
              </a:extLst>
            </p:cNvPr>
            <p:cNvSpPr>
              <a:spLocks noChangeArrowheads="1"/>
            </p:cNvSpPr>
            <p:nvPr/>
          </p:nvSpPr>
          <p:spPr bwMode="auto">
            <a:xfrm>
              <a:off x="7251700" y="1984375"/>
              <a:ext cx="11113"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07" name="Line 99">
              <a:extLst>
                <a:ext uri="{FF2B5EF4-FFF2-40B4-BE49-F238E27FC236}">
                  <a16:creationId xmlns:a16="http://schemas.microsoft.com/office/drawing/2014/main" id="{0BAD5840-B20F-6F76-18C7-DAECBC39AB02}"/>
                </a:ext>
              </a:extLst>
            </p:cNvPr>
            <p:cNvSpPr>
              <a:spLocks noChangeShapeType="1"/>
            </p:cNvSpPr>
            <p:nvPr/>
          </p:nvSpPr>
          <p:spPr bwMode="auto">
            <a:xfrm>
              <a:off x="8837613" y="1984375"/>
              <a:ext cx="1587" cy="45053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8" name="Rectangle 100">
              <a:extLst>
                <a:ext uri="{FF2B5EF4-FFF2-40B4-BE49-F238E27FC236}">
                  <a16:creationId xmlns:a16="http://schemas.microsoft.com/office/drawing/2014/main" id="{BCC23C34-34A2-AA7B-80C9-F0174F124155}"/>
                </a:ext>
              </a:extLst>
            </p:cNvPr>
            <p:cNvSpPr>
              <a:spLocks noChangeArrowheads="1"/>
            </p:cNvSpPr>
            <p:nvPr/>
          </p:nvSpPr>
          <p:spPr bwMode="auto">
            <a:xfrm>
              <a:off x="8837613" y="1984375"/>
              <a:ext cx="9525" cy="45053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09" name="Line 101">
              <a:extLst>
                <a:ext uri="{FF2B5EF4-FFF2-40B4-BE49-F238E27FC236}">
                  <a16:creationId xmlns:a16="http://schemas.microsoft.com/office/drawing/2014/main" id="{B3A6727F-FBAC-B6B7-F5B3-F067EC8F126E}"/>
                </a:ext>
              </a:extLst>
            </p:cNvPr>
            <p:cNvSpPr>
              <a:spLocks noChangeShapeType="1"/>
            </p:cNvSpPr>
            <p:nvPr/>
          </p:nvSpPr>
          <p:spPr bwMode="auto">
            <a:xfrm>
              <a:off x="1179513" y="1984375"/>
              <a:ext cx="1587"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0" name="Rectangle 102">
              <a:extLst>
                <a:ext uri="{FF2B5EF4-FFF2-40B4-BE49-F238E27FC236}">
                  <a16:creationId xmlns:a16="http://schemas.microsoft.com/office/drawing/2014/main" id="{724A6822-C138-4369-67CC-87B4CF5E6077}"/>
                </a:ext>
              </a:extLst>
            </p:cNvPr>
            <p:cNvSpPr>
              <a:spLocks noChangeArrowheads="1"/>
            </p:cNvSpPr>
            <p:nvPr/>
          </p:nvSpPr>
          <p:spPr bwMode="auto">
            <a:xfrm>
              <a:off x="1179513" y="1984375"/>
              <a:ext cx="9525"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11" name="Line 103">
              <a:extLst>
                <a:ext uri="{FF2B5EF4-FFF2-40B4-BE49-F238E27FC236}">
                  <a16:creationId xmlns:a16="http://schemas.microsoft.com/office/drawing/2014/main" id="{3D8C89D9-9CD1-E15B-FE32-4A3533897710}"/>
                </a:ext>
              </a:extLst>
            </p:cNvPr>
            <p:cNvSpPr>
              <a:spLocks noChangeShapeType="1"/>
            </p:cNvSpPr>
            <p:nvPr/>
          </p:nvSpPr>
          <p:spPr bwMode="auto">
            <a:xfrm>
              <a:off x="1970088" y="1984375"/>
              <a:ext cx="1587"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2" name="Rectangle 104">
              <a:extLst>
                <a:ext uri="{FF2B5EF4-FFF2-40B4-BE49-F238E27FC236}">
                  <a16:creationId xmlns:a16="http://schemas.microsoft.com/office/drawing/2014/main" id="{F02AEAA3-8B86-AF26-97F1-1D8B8B6A1A33}"/>
                </a:ext>
              </a:extLst>
            </p:cNvPr>
            <p:cNvSpPr>
              <a:spLocks noChangeArrowheads="1"/>
            </p:cNvSpPr>
            <p:nvPr/>
          </p:nvSpPr>
          <p:spPr bwMode="auto">
            <a:xfrm>
              <a:off x="1970088" y="1984375"/>
              <a:ext cx="11112"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13" name="Line 105">
              <a:extLst>
                <a:ext uri="{FF2B5EF4-FFF2-40B4-BE49-F238E27FC236}">
                  <a16:creationId xmlns:a16="http://schemas.microsoft.com/office/drawing/2014/main" id="{E04BEF61-1995-C282-4E5D-6D810AC60368}"/>
                </a:ext>
              </a:extLst>
            </p:cNvPr>
            <p:cNvSpPr>
              <a:spLocks noChangeShapeType="1"/>
            </p:cNvSpPr>
            <p:nvPr/>
          </p:nvSpPr>
          <p:spPr bwMode="auto">
            <a:xfrm>
              <a:off x="2235200" y="1984375"/>
              <a:ext cx="1588" cy="45053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4" name="Rectangle 106">
              <a:extLst>
                <a:ext uri="{FF2B5EF4-FFF2-40B4-BE49-F238E27FC236}">
                  <a16:creationId xmlns:a16="http://schemas.microsoft.com/office/drawing/2014/main" id="{D27DC60D-4B13-563D-300C-7C24AA19A8A2}"/>
                </a:ext>
              </a:extLst>
            </p:cNvPr>
            <p:cNvSpPr>
              <a:spLocks noChangeArrowheads="1"/>
            </p:cNvSpPr>
            <p:nvPr/>
          </p:nvSpPr>
          <p:spPr bwMode="auto">
            <a:xfrm>
              <a:off x="2235200" y="1984375"/>
              <a:ext cx="9525" cy="45053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15" name="Line 107">
              <a:extLst>
                <a:ext uri="{FF2B5EF4-FFF2-40B4-BE49-F238E27FC236}">
                  <a16:creationId xmlns:a16="http://schemas.microsoft.com/office/drawing/2014/main" id="{3AB1C6DA-6DEF-B74F-54B9-D996C1C15F50}"/>
                </a:ext>
              </a:extLst>
            </p:cNvPr>
            <p:cNvSpPr>
              <a:spLocks noChangeShapeType="1"/>
            </p:cNvSpPr>
            <p:nvPr/>
          </p:nvSpPr>
          <p:spPr bwMode="auto">
            <a:xfrm>
              <a:off x="2498725" y="1984375"/>
              <a:ext cx="1588"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6" name="Rectangle 108">
              <a:extLst>
                <a:ext uri="{FF2B5EF4-FFF2-40B4-BE49-F238E27FC236}">
                  <a16:creationId xmlns:a16="http://schemas.microsoft.com/office/drawing/2014/main" id="{F4026421-2281-7B7C-DCF5-25E631194FAB}"/>
                </a:ext>
              </a:extLst>
            </p:cNvPr>
            <p:cNvSpPr>
              <a:spLocks noChangeArrowheads="1"/>
            </p:cNvSpPr>
            <p:nvPr/>
          </p:nvSpPr>
          <p:spPr bwMode="auto">
            <a:xfrm>
              <a:off x="2498725" y="1984375"/>
              <a:ext cx="11113"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17" name="Line 109">
              <a:extLst>
                <a:ext uri="{FF2B5EF4-FFF2-40B4-BE49-F238E27FC236}">
                  <a16:creationId xmlns:a16="http://schemas.microsoft.com/office/drawing/2014/main" id="{AB1AFBD8-66D3-86A8-AFB8-54F012B12304}"/>
                </a:ext>
              </a:extLst>
            </p:cNvPr>
            <p:cNvSpPr>
              <a:spLocks noChangeShapeType="1"/>
            </p:cNvSpPr>
            <p:nvPr/>
          </p:nvSpPr>
          <p:spPr bwMode="auto">
            <a:xfrm>
              <a:off x="2763838" y="1984375"/>
              <a:ext cx="1587"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8" name="Rectangle 110">
              <a:extLst>
                <a:ext uri="{FF2B5EF4-FFF2-40B4-BE49-F238E27FC236}">
                  <a16:creationId xmlns:a16="http://schemas.microsoft.com/office/drawing/2014/main" id="{FEC501AF-6BC6-E747-BFDC-3BA68BE6D216}"/>
                </a:ext>
              </a:extLst>
            </p:cNvPr>
            <p:cNvSpPr>
              <a:spLocks noChangeArrowheads="1"/>
            </p:cNvSpPr>
            <p:nvPr/>
          </p:nvSpPr>
          <p:spPr bwMode="auto">
            <a:xfrm>
              <a:off x="2763838" y="1984375"/>
              <a:ext cx="9525"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19" name="Line 111">
              <a:extLst>
                <a:ext uri="{FF2B5EF4-FFF2-40B4-BE49-F238E27FC236}">
                  <a16:creationId xmlns:a16="http://schemas.microsoft.com/office/drawing/2014/main" id="{2683BBE0-8EA6-CD29-D9FD-D3E26D751F94}"/>
                </a:ext>
              </a:extLst>
            </p:cNvPr>
            <p:cNvSpPr>
              <a:spLocks noChangeShapeType="1"/>
            </p:cNvSpPr>
            <p:nvPr/>
          </p:nvSpPr>
          <p:spPr bwMode="auto">
            <a:xfrm>
              <a:off x="3027363" y="1984375"/>
              <a:ext cx="1587"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0" name="Rectangle 112">
              <a:extLst>
                <a:ext uri="{FF2B5EF4-FFF2-40B4-BE49-F238E27FC236}">
                  <a16:creationId xmlns:a16="http://schemas.microsoft.com/office/drawing/2014/main" id="{04CB3878-0B50-58C0-94FF-B7AD664B69AA}"/>
                </a:ext>
              </a:extLst>
            </p:cNvPr>
            <p:cNvSpPr>
              <a:spLocks noChangeArrowheads="1"/>
            </p:cNvSpPr>
            <p:nvPr/>
          </p:nvSpPr>
          <p:spPr bwMode="auto">
            <a:xfrm>
              <a:off x="3027363" y="1984375"/>
              <a:ext cx="11112"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21" name="Line 113">
              <a:extLst>
                <a:ext uri="{FF2B5EF4-FFF2-40B4-BE49-F238E27FC236}">
                  <a16:creationId xmlns:a16="http://schemas.microsoft.com/office/drawing/2014/main" id="{8B215332-D0C6-F8F4-D882-E1B22354F2FD}"/>
                </a:ext>
              </a:extLst>
            </p:cNvPr>
            <p:cNvSpPr>
              <a:spLocks noChangeShapeType="1"/>
            </p:cNvSpPr>
            <p:nvPr/>
          </p:nvSpPr>
          <p:spPr bwMode="auto">
            <a:xfrm>
              <a:off x="3290888" y="1984375"/>
              <a:ext cx="1587"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2" name="Rectangle 114">
              <a:extLst>
                <a:ext uri="{FF2B5EF4-FFF2-40B4-BE49-F238E27FC236}">
                  <a16:creationId xmlns:a16="http://schemas.microsoft.com/office/drawing/2014/main" id="{8F2BBF22-0778-2D4D-1F04-9073DBEE0D24}"/>
                </a:ext>
              </a:extLst>
            </p:cNvPr>
            <p:cNvSpPr>
              <a:spLocks noChangeArrowheads="1"/>
            </p:cNvSpPr>
            <p:nvPr/>
          </p:nvSpPr>
          <p:spPr bwMode="auto">
            <a:xfrm>
              <a:off x="3290888" y="1984375"/>
              <a:ext cx="11112"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23" name="Line 115">
              <a:extLst>
                <a:ext uri="{FF2B5EF4-FFF2-40B4-BE49-F238E27FC236}">
                  <a16:creationId xmlns:a16="http://schemas.microsoft.com/office/drawing/2014/main" id="{045A4D35-1B3C-DD71-87CE-5F232DEBF3A3}"/>
                </a:ext>
              </a:extLst>
            </p:cNvPr>
            <p:cNvSpPr>
              <a:spLocks noChangeShapeType="1"/>
            </p:cNvSpPr>
            <p:nvPr/>
          </p:nvSpPr>
          <p:spPr bwMode="auto">
            <a:xfrm>
              <a:off x="3554413" y="1984375"/>
              <a:ext cx="1587" cy="45053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4" name="Rectangle 116">
              <a:extLst>
                <a:ext uri="{FF2B5EF4-FFF2-40B4-BE49-F238E27FC236}">
                  <a16:creationId xmlns:a16="http://schemas.microsoft.com/office/drawing/2014/main" id="{18CD38FB-A732-995A-120D-DC431487DB29}"/>
                </a:ext>
              </a:extLst>
            </p:cNvPr>
            <p:cNvSpPr>
              <a:spLocks noChangeArrowheads="1"/>
            </p:cNvSpPr>
            <p:nvPr/>
          </p:nvSpPr>
          <p:spPr bwMode="auto">
            <a:xfrm>
              <a:off x="3554413" y="1984375"/>
              <a:ext cx="12700" cy="45053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25" name="Line 117">
              <a:extLst>
                <a:ext uri="{FF2B5EF4-FFF2-40B4-BE49-F238E27FC236}">
                  <a16:creationId xmlns:a16="http://schemas.microsoft.com/office/drawing/2014/main" id="{EF960893-2863-D3C0-2BE0-850640E6528D}"/>
                </a:ext>
              </a:extLst>
            </p:cNvPr>
            <p:cNvSpPr>
              <a:spLocks noChangeShapeType="1"/>
            </p:cNvSpPr>
            <p:nvPr/>
          </p:nvSpPr>
          <p:spPr bwMode="auto">
            <a:xfrm>
              <a:off x="4083050" y="1984375"/>
              <a:ext cx="1588"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6" name="Rectangle 118">
              <a:extLst>
                <a:ext uri="{FF2B5EF4-FFF2-40B4-BE49-F238E27FC236}">
                  <a16:creationId xmlns:a16="http://schemas.microsoft.com/office/drawing/2014/main" id="{875F5AC4-4BCF-1378-DB30-D716C6700E47}"/>
                </a:ext>
              </a:extLst>
            </p:cNvPr>
            <p:cNvSpPr>
              <a:spLocks noChangeArrowheads="1"/>
            </p:cNvSpPr>
            <p:nvPr/>
          </p:nvSpPr>
          <p:spPr bwMode="auto">
            <a:xfrm>
              <a:off x="4083050" y="1984375"/>
              <a:ext cx="11113"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27" name="Line 119">
              <a:extLst>
                <a:ext uri="{FF2B5EF4-FFF2-40B4-BE49-F238E27FC236}">
                  <a16:creationId xmlns:a16="http://schemas.microsoft.com/office/drawing/2014/main" id="{509A1EA6-8119-DE6D-0A45-2259AD1F0255}"/>
                </a:ext>
              </a:extLst>
            </p:cNvPr>
            <p:cNvSpPr>
              <a:spLocks noChangeShapeType="1"/>
            </p:cNvSpPr>
            <p:nvPr/>
          </p:nvSpPr>
          <p:spPr bwMode="auto">
            <a:xfrm>
              <a:off x="4348163" y="1984375"/>
              <a:ext cx="1587"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8" name="Rectangle 120">
              <a:extLst>
                <a:ext uri="{FF2B5EF4-FFF2-40B4-BE49-F238E27FC236}">
                  <a16:creationId xmlns:a16="http://schemas.microsoft.com/office/drawing/2014/main" id="{1B8190EA-9091-B6E1-5E61-06350AD27089}"/>
                </a:ext>
              </a:extLst>
            </p:cNvPr>
            <p:cNvSpPr>
              <a:spLocks noChangeArrowheads="1"/>
            </p:cNvSpPr>
            <p:nvPr/>
          </p:nvSpPr>
          <p:spPr bwMode="auto">
            <a:xfrm>
              <a:off x="4348163" y="1984375"/>
              <a:ext cx="9525"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29" name="Line 121">
              <a:extLst>
                <a:ext uri="{FF2B5EF4-FFF2-40B4-BE49-F238E27FC236}">
                  <a16:creationId xmlns:a16="http://schemas.microsoft.com/office/drawing/2014/main" id="{3409072F-A79E-22EB-CD57-CBC2CA96B097}"/>
                </a:ext>
              </a:extLst>
            </p:cNvPr>
            <p:cNvSpPr>
              <a:spLocks noChangeShapeType="1"/>
            </p:cNvSpPr>
            <p:nvPr/>
          </p:nvSpPr>
          <p:spPr bwMode="auto">
            <a:xfrm>
              <a:off x="4611688" y="1984375"/>
              <a:ext cx="0"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0" name="Rectangle 122">
              <a:extLst>
                <a:ext uri="{FF2B5EF4-FFF2-40B4-BE49-F238E27FC236}">
                  <a16:creationId xmlns:a16="http://schemas.microsoft.com/office/drawing/2014/main" id="{0EC29B72-124C-0559-F462-BFA6E197EC9C}"/>
                </a:ext>
              </a:extLst>
            </p:cNvPr>
            <p:cNvSpPr>
              <a:spLocks noChangeArrowheads="1"/>
            </p:cNvSpPr>
            <p:nvPr/>
          </p:nvSpPr>
          <p:spPr bwMode="auto">
            <a:xfrm>
              <a:off x="4611688" y="1984375"/>
              <a:ext cx="11112"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31" name="Line 123">
              <a:extLst>
                <a:ext uri="{FF2B5EF4-FFF2-40B4-BE49-F238E27FC236}">
                  <a16:creationId xmlns:a16="http://schemas.microsoft.com/office/drawing/2014/main" id="{3E174858-5C4B-7151-6016-2DC24700D696}"/>
                </a:ext>
              </a:extLst>
            </p:cNvPr>
            <p:cNvSpPr>
              <a:spLocks noChangeShapeType="1"/>
            </p:cNvSpPr>
            <p:nvPr/>
          </p:nvSpPr>
          <p:spPr bwMode="auto">
            <a:xfrm>
              <a:off x="4875213" y="1984375"/>
              <a:ext cx="1587" cy="45053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2" name="Rectangle 124">
              <a:extLst>
                <a:ext uri="{FF2B5EF4-FFF2-40B4-BE49-F238E27FC236}">
                  <a16:creationId xmlns:a16="http://schemas.microsoft.com/office/drawing/2014/main" id="{02D2068C-5E56-C2AF-821A-A1572DE3AEAC}"/>
                </a:ext>
              </a:extLst>
            </p:cNvPr>
            <p:cNvSpPr>
              <a:spLocks noChangeArrowheads="1"/>
            </p:cNvSpPr>
            <p:nvPr/>
          </p:nvSpPr>
          <p:spPr bwMode="auto">
            <a:xfrm>
              <a:off x="4875213" y="1984375"/>
              <a:ext cx="11112" cy="45053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33" name="Line 125">
              <a:extLst>
                <a:ext uri="{FF2B5EF4-FFF2-40B4-BE49-F238E27FC236}">
                  <a16:creationId xmlns:a16="http://schemas.microsoft.com/office/drawing/2014/main" id="{009A9481-CBB2-35CE-63AE-2106AB530CA2}"/>
                </a:ext>
              </a:extLst>
            </p:cNvPr>
            <p:cNvSpPr>
              <a:spLocks noChangeShapeType="1"/>
            </p:cNvSpPr>
            <p:nvPr/>
          </p:nvSpPr>
          <p:spPr bwMode="auto">
            <a:xfrm>
              <a:off x="5138738" y="1984375"/>
              <a:ext cx="1587"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4" name="Rectangle 126">
              <a:extLst>
                <a:ext uri="{FF2B5EF4-FFF2-40B4-BE49-F238E27FC236}">
                  <a16:creationId xmlns:a16="http://schemas.microsoft.com/office/drawing/2014/main" id="{63DC2D34-1E5D-E06A-CD84-58FA76EB3415}"/>
                </a:ext>
              </a:extLst>
            </p:cNvPr>
            <p:cNvSpPr>
              <a:spLocks noChangeArrowheads="1"/>
            </p:cNvSpPr>
            <p:nvPr/>
          </p:nvSpPr>
          <p:spPr bwMode="auto">
            <a:xfrm>
              <a:off x="5138738" y="1984375"/>
              <a:ext cx="11112"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35" name="Line 127">
              <a:extLst>
                <a:ext uri="{FF2B5EF4-FFF2-40B4-BE49-F238E27FC236}">
                  <a16:creationId xmlns:a16="http://schemas.microsoft.com/office/drawing/2014/main" id="{7B20FF20-7858-AD1E-9891-15AD34393468}"/>
                </a:ext>
              </a:extLst>
            </p:cNvPr>
            <p:cNvSpPr>
              <a:spLocks noChangeShapeType="1"/>
            </p:cNvSpPr>
            <p:nvPr/>
          </p:nvSpPr>
          <p:spPr bwMode="auto">
            <a:xfrm>
              <a:off x="5403850" y="1984375"/>
              <a:ext cx="1588"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6" name="Rectangle 128">
              <a:extLst>
                <a:ext uri="{FF2B5EF4-FFF2-40B4-BE49-F238E27FC236}">
                  <a16:creationId xmlns:a16="http://schemas.microsoft.com/office/drawing/2014/main" id="{550920A6-A252-5549-A1E6-F260CA803A8A}"/>
                </a:ext>
              </a:extLst>
            </p:cNvPr>
            <p:cNvSpPr>
              <a:spLocks noChangeArrowheads="1"/>
            </p:cNvSpPr>
            <p:nvPr/>
          </p:nvSpPr>
          <p:spPr bwMode="auto">
            <a:xfrm>
              <a:off x="5403850" y="1984375"/>
              <a:ext cx="9525"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37" name="Line 129">
              <a:extLst>
                <a:ext uri="{FF2B5EF4-FFF2-40B4-BE49-F238E27FC236}">
                  <a16:creationId xmlns:a16="http://schemas.microsoft.com/office/drawing/2014/main" id="{84F72E47-8859-2B58-D239-6B2388F685E7}"/>
                </a:ext>
              </a:extLst>
            </p:cNvPr>
            <p:cNvSpPr>
              <a:spLocks noChangeShapeType="1"/>
            </p:cNvSpPr>
            <p:nvPr/>
          </p:nvSpPr>
          <p:spPr bwMode="auto">
            <a:xfrm>
              <a:off x="5667375" y="1984375"/>
              <a:ext cx="1588"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8" name="Rectangle 130">
              <a:extLst>
                <a:ext uri="{FF2B5EF4-FFF2-40B4-BE49-F238E27FC236}">
                  <a16:creationId xmlns:a16="http://schemas.microsoft.com/office/drawing/2014/main" id="{25AE7D02-F0CE-5BAD-0AF1-D59B959902CC}"/>
                </a:ext>
              </a:extLst>
            </p:cNvPr>
            <p:cNvSpPr>
              <a:spLocks noChangeArrowheads="1"/>
            </p:cNvSpPr>
            <p:nvPr/>
          </p:nvSpPr>
          <p:spPr bwMode="auto">
            <a:xfrm>
              <a:off x="5667375" y="1984375"/>
              <a:ext cx="11113"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39" name="Line 131">
              <a:extLst>
                <a:ext uri="{FF2B5EF4-FFF2-40B4-BE49-F238E27FC236}">
                  <a16:creationId xmlns:a16="http://schemas.microsoft.com/office/drawing/2014/main" id="{E41D53A4-D8C6-9C70-24A0-4D68127A05D8}"/>
                </a:ext>
              </a:extLst>
            </p:cNvPr>
            <p:cNvSpPr>
              <a:spLocks noChangeShapeType="1"/>
            </p:cNvSpPr>
            <p:nvPr/>
          </p:nvSpPr>
          <p:spPr bwMode="auto">
            <a:xfrm>
              <a:off x="5932488" y="1984375"/>
              <a:ext cx="1587"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0" name="Rectangle 132">
              <a:extLst>
                <a:ext uri="{FF2B5EF4-FFF2-40B4-BE49-F238E27FC236}">
                  <a16:creationId xmlns:a16="http://schemas.microsoft.com/office/drawing/2014/main" id="{BDA6C506-B328-EB3C-9CD0-C0EDBD6273DF}"/>
                </a:ext>
              </a:extLst>
            </p:cNvPr>
            <p:cNvSpPr>
              <a:spLocks noChangeArrowheads="1"/>
            </p:cNvSpPr>
            <p:nvPr/>
          </p:nvSpPr>
          <p:spPr bwMode="auto">
            <a:xfrm>
              <a:off x="5932488" y="1984375"/>
              <a:ext cx="9525"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41" name="Line 133">
              <a:extLst>
                <a:ext uri="{FF2B5EF4-FFF2-40B4-BE49-F238E27FC236}">
                  <a16:creationId xmlns:a16="http://schemas.microsoft.com/office/drawing/2014/main" id="{BC72344F-BA6A-278E-ADC1-A4B435D058F2}"/>
                </a:ext>
              </a:extLst>
            </p:cNvPr>
            <p:cNvSpPr>
              <a:spLocks noChangeShapeType="1"/>
            </p:cNvSpPr>
            <p:nvPr/>
          </p:nvSpPr>
          <p:spPr bwMode="auto">
            <a:xfrm>
              <a:off x="6194425" y="1984375"/>
              <a:ext cx="1588" cy="45053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2" name="Rectangle 134">
              <a:extLst>
                <a:ext uri="{FF2B5EF4-FFF2-40B4-BE49-F238E27FC236}">
                  <a16:creationId xmlns:a16="http://schemas.microsoft.com/office/drawing/2014/main" id="{2A8584B9-AFDD-0D38-E695-80A20FBCEAFC}"/>
                </a:ext>
              </a:extLst>
            </p:cNvPr>
            <p:cNvSpPr>
              <a:spLocks noChangeArrowheads="1"/>
            </p:cNvSpPr>
            <p:nvPr/>
          </p:nvSpPr>
          <p:spPr bwMode="auto">
            <a:xfrm>
              <a:off x="6194425" y="1984375"/>
              <a:ext cx="12700" cy="45053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43" name="Line 135">
              <a:extLst>
                <a:ext uri="{FF2B5EF4-FFF2-40B4-BE49-F238E27FC236}">
                  <a16:creationId xmlns:a16="http://schemas.microsoft.com/office/drawing/2014/main" id="{89DCA9CF-A30E-4B25-A4D2-2C1FDE60BE67}"/>
                </a:ext>
              </a:extLst>
            </p:cNvPr>
            <p:cNvSpPr>
              <a:spLocks noChangeShapeType="1"/>
            </p:cNvSpPr>
            <p:nvPr/>
          </p:nvSpPr>
          <p:spPr bwMode="auto">
            <a:xfrm>
              <a:off x="6459538" y="1984375"/>
              <a:ext cx="1587"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4" name="Rectangle 136">
              <a:extLst>
                <a:ext uri="{FF2B5EF4-FFF2-40B4-BE49-F238E27FC236}">
                  <a16:creationId xmlns:a16="http://schemas.microsoft.com/office/drawing/2014/main" id="{A572BAC9-0880-DBC1-B99F-10FDDEB1E533}"/>
                </a:ext>
              </a:extLst>
            </p:cNvPr>
            <p:cNvSpPr>
              <a:spLocks noChangeArrowheads="1"/>
            </p:cNvSpPr>
            <p:nvPr/>
          </p:nvSpPr>
          <p:spPr bwMode="auto">
            <a:xfrm>
              <a:off x="6459538" y="1984375"/>
              <a:ext cx="11112"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45" name="Line 137">
              <a:extLst>
                <a:ext uri="{FF2B5EF4-FFF2-40B4-BE49-F238E27FC236}">
                  <a16:creationId xmlns:a16="http://schemas.microsoft.com/office/drawing/2014/main" id="{F972E930-FE1F-04E8-4180-F207E8E9E8C6}"/>
                </a:ext>
              </a:extLst>
            </p:cNvPr>
            <p:cNvSpPr>
              <a:spLocks noChangeShapeType="1"/>
            </p:cNvSpPr>
            <p:nvPr/>
          </p:nvSpPr>
          <p:spPr bwMode="auto">
            <a:xfrm>
              <a:off x="6988175" y="1984375"/>
              <a:ext cx="1588"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6" name="Rectangle 138">
              <a:extLst>
                <a:ext uri="{FF2B5EF4-FFF2-40B4-BE49-F238E27FC236}">
                  <a16:creationId xmlns:a16="http://schemas.microsoft.com/office/drawing/2014/main" id="{875D9CB2-0978-AB23-ABE2-75DDCFD9AC3B}"/>
                </a:ext>
              </a:extLst>
            </p:cNvPr>
            <p:cNvSpPr>
              <a:spLocks noChangeArrowheads="1"/>
            </p:cNvSpPr>
            <p:nvPr/>
          </p:nvSpPr>
          <p:spPr bwMode="auto">
            <a:xfrm>
              <a:off x="6988175" y="1984375"/>
              <a:ext cx="9525"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47" name="Line 139">
              <a:extLst>
                <a:ext uri="{FF2B5EF4-FFF2-40B4-BE49-F238E27FC236}">
                  <a16:creationId xmlns:a16="http://schemas.microsoft.com/office/drawing/2014/main" id="{19124A46-ADC2-9514-40E3-461E8DBF1CF0}"/>
                </a:ext>
              </a:extLst>
            </p:cNvPr>
            <p:cNvSpPr>
              <a:spLocks noChangeShapeType="1"/>
            </p:cNvSpPr>
            <p:nvPr/>
          </p:nvSpPr>
          <p:spPr bwMode="auto">
            <a:xfrm>
              <a:off x="7516813" y="1984375"/>
              <a:ext cx="0" cy="45053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8" name="Rectangle 140">
              <a:extLst>
                <a:ext uri="{FF2B5EF4-FFF2-40B4-BE49-F238E27FC236}">
                  <a16:creationId xmlns:a16="http://schemas.microsoft.com/office/drawing/2014/main" id="{1D6CFD96-EA56-5476-4C37-77D2C7E78B35}"/>
                </a:ext>
              </a:extLst>
            </p:cNvPr>
            <p:cNvSpPr>
              <a:spLocks noChangeArrowheads="1"/>
            </p:cNvSpPr>
            <p:nvPr/>
          </p:nvSpPr>
          <p:spPr bwMode="auto">
            <a:xfrm>
              <a:off x="7516813" y="1984375"/>
              <a:ext cx="9525" cy="45053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49" name="Line 141">
              <a:extLst>
                <a:ext uri="{FF2B5EF4-FFF2-40B4-BE49-F238E27FC236}">
                  <a16:creationId xmlns:a16="http://schemas.microsoft.com/office/drawing/2014/main" id="{4DEED56C-24AB-521C-6D6A-A890CB125272}"/>
                </a:ext>
              </a:extLst>
            </p:cNvPr>
            <p:cNvSpPr>
              <a:spLocks noChangeShapeType="1"/>
            </p:cNvSpPr>
            <p:nvPr/>
          </p:nvSpPr>
          <p:spPr bwMode="auto">
            <a:xfrm>
              <a:off x="7780338" y="1984375"/>
              <a:ext cx="1587"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0" name="Rectangle 142">
              <a:extLst>
                <a:ext uri="{FF2B5EF4-FFF2-40B4-BE49-F238E27FC236}">
                  <a16:creationId xmlns:a16="http://schemas.microsoft.com/office/drawing/2014/main" id="{6777C7C4-843E-6977-1D19-2054B257A440}"/>
                </a:ext>
              </a:extLst>
            </p:cNvPr>
            <p:cNvSpPr>
              <a:spLocks noChangeArrowheads="1"/>
            </p:cNvSpPr>
            <p:nvPr/>
          </p:nvSpPr>
          <p:spPr bwMode="auto">
            <a:xfrm>
              <a:off x="7780338" y="1984375"/>
              <a:ext cx="11112"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51" name="Line 143">
              <a:extLst>
                <a:ext uri="{FF2B5EF4-FFF2-40B4-BE49-F238E27FC236}">
                  <a16:creationId xmlns:a16="http://schemas.microsoft.com/office/drawing/2014/main" id="{13B7288B-40FB-0C3D-AACE-0D6787D08AC5}"/>
                </a:ext>
              </a:extLst>
            </p:cNvPr>
            <p:cNvSpPr>
              <a:spLocks noChangeShapeType="1"/>
            </p:cNvSpPr>
            <p:nvPr/>
          </p:nvSpPr>
          <p:spPr bwMode="auto">
            <a:xfrm>
              <a:off x="8043863" y="1984375"/>
              <a:ext cx="1587"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2" name="Rectangle 144">
              <a:extLst>
                <a:ext uri="{FF2B5EF4-FFF2-40B4-BE49-F238E27FC236}">
                  <a16:creationId xmlns:a16="http://schemas.microsoft.com/office/drawing/2014/main" id="{B4D9DF52-1AF3-5272-8EDA-8A4400A2FD9D}"/>
                </a:ext>
              </a:extLst>
            </p:cNvPr>
            <p:cNvSpPr>
              <a:spLocks noChangeArrowheads="1"/>
            </p:cNvSpPr>
            <p:nvPr/>
          </p:nvSpPr>
          <p:spPr bwMode="auto">
            <a:xfrm>
              <a:off x="8043863" y="1984375"/>
              <a:ext cx="11112"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53" name="Line 145">
              <a:extLst>
                <a:ext uri="{FF2B5EF4-FFF2-40B4-BE49-F238E27FC236}">
                  <a16:creationId xmlns:a16="http://schemas.microsoft.com/office/drawing/2014/main" id="{BF732299-3C3D-1398-0B69-29D3F0A72874}"/>
                </a:ext>
              </a:extLst>
            </p:cNvPr>
            <p:cNvSpPr>
              <a:spLocks noChangeShapeType="1"/>
            </p:cNvSpPr>
            <p:nvPr/>
          </p:nvSpPr>
          <p:spPr bwMode="auto">
            <a:xfrm>
              <a:off x="8308975" y="1984375"/>
              <a:ext cx="1588"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4" name="Rectangle 146">
              <a:extLst>
                <a:ext uri="{FF2B5EF4-FFF2-40B4-BE49-F238E27FC236}">
                  <a16:creationId xmlns:a16="http://schemas.microsoft.com/office/drawing/2014/main" id="{6361348D-0F10-AD49-74EB-A9DB3053CDA0}"/>
                </a:ext>
              </a:extLst>
            </p:cNvPr>
            <p:cNvSpPr>
              <a:spLocks noChangeArrowheads="1"/>
            </p:cNvSpPr>
            <p:nvPr/>
          </p:nvSpPr>
          <p:spPr bwMode="auto">
            <a:xfrm>
              <a:off x="8308975" y="1984375"/>
              <a:ext cx="9525"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55" name="Line 147">
              <a:extLst>
                <a:ext uri="{FF2B5EF4-FFF2-40B4-BE49-F238E27FC236}">
                  <a16:creationId xmlns:a16="http://schemas.microsoft.com/office/drawing/2014/main" id="{CC3B1091-B26E-4749-2BE8-0C97DD058BCF}"/>
                </a:ext>
              </a:extLst>
            </p:cNvPr>
            <p:cNvSpPr>
              <a:spLocks noChangeShapeType="1"/>
            </p:cNvSpPr>
            <p:nvPr/>
          </p:nvSpPr>
          <p:spPr bwMode="auto">
            <a:xfrm>
              <a:off x="8572500" y="1984375"/>
              <a:ext cx="1588" cy="4105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6" name="Rectangle 148">
              <a:extLst>
                <a:ext uri="{FF2B5EF4-FFF2-40B4-BE49-F238E27FC236}">
                  <a16:creationId xmlns:a16="http://schemas.microsoft.com/office/drawing/2014/main" id="{4DB980B3-5659-AEE9-1C44-DD8CE4311EE9}"/>
                </a:ext>
              </a:extLst>
            </p:cNvPr>
            <p:cNvSpPr>
              <a:spLocks noChangeArrowheads="1"/>
            </p:cNvSpPr>
            <p:nvPr/>
          </p:nvSpPr>
          <p:spPr bwMode="auto">
            <a:xfrm>
              <a:off x="8572500" y="1984375"/>
              <a:ext cx="9525" cy="41052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57" name="Oval 149" descr="Narrow horizontal">
              <a:extLst>
                <a:ext uri="{FF2B5EF4-FFF2-40B4-BE49-F238E27FC236}">
                  <a16:creationId xmlns:a16="http://schemas.microsoft.com/office/drawing/2014/main" id="{F6DBA747-E1C7-48BD-1D27-B7858140D703}"/>
                </a:ext>
              </a:extLst>
            </p:cNvPr>
            <p:cNvSpPr>
              <a:spLocks noChangeArrowheads="1"/>
            </p:cNvSpPr>
            <p:nvPr/>
          </p:nvSpPr>
          <p:spPr bwMode="auto">
            <a:xfrm>
              <a:off x="4060825" y="6275388"/>
              <a:ext cx="404813" cy="177800"/>
            </a:xfrm>
            <a:prstGeom prst="ellipse">
              <a:avLst/>
            </a:prstGeom>
            <a:solidFill>
              <a:schemeClr val="accent4"/>
            </a:solidFill>
            <a:ln w="12700">
              <a:solidFill>
                <a:schemeClr val="tx1"/>
              </a:solidFill>
              <a:round/>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grpSp>
          <p:nvGrpSpPr>
            <p:cNvPr id="358" name="Group 150">
              <a:extLst>
                <a:ext uri="{FF2B5EF4-FFF2-40B4-BE49-F238E27FC236}">
                  <a16:creationId xmlns:a16="http://schemas.microsoft.com/office/drawing/2014/main" id="{818155A8-6EA0-A205-8168-A3B38E8ECA45}"/>
                </a:ext>
              </a:extLst>
            </p:cNvPr>
            <p:cNvGrpSpPr>
              <a:grpSpLocks/>
            </p:cNvGrpSpPr>
            <p:nvPr/>
          </p:nvGrpSpPr>
          <p:grpSpPr bwMode="auto">
            <a:xfrm>
              <a:off x="1439863" y="6275388"/>
              <a:ext cx="249237" cy="192087"/>
              <a:chOff x="496" y="3892"/>
              <a:chExt cx="172" cy="148"/>
            </a:xfrm>
          </p:grpSpPr>
          <p:sp>
            <p:nvSpPr>
              <p:cNvPr id="403" name="Rectangle 151">
                <a:extLst>
                  <a:ext uri="{FF2B5EF4-FFF2-40B4-BE49-F238E27FC236}">
                    <a16:creationId xmlns:a16="http://schemas.microsoft.com/office/drawing/2014/main" id="{C588F444-4AF2-3642-981E-5E82846477E0}"/>
                  </a:ext>
                </a:extLst>
              </p:cNvPr>
              <p:cNvSpPr>
                <a:spLocks noChangeArrowheads="1"/>
              </p:cNvSpPr>
              <p:nvPr/>
            </p:nvSpPr>
            <p:spPr bwMode="auto">
              <a:xfrm>
                <a:off x="496" y="3892"/>
                <a:ext cx="172" cy="148"/>
              </a:xfrm>
              <a:prstGeom prst="rect">
                <a:avLst/>
              </a:prstGeom>
              <a:solidFill>
                <a:schemeClr val="accent2"/>
              </a:solidFill>
              <a:ln w="12700">
                <a:solidFill>
                  <a:schemeClr val="tx1"/>
                </a:solidFill>
                <a:miter lim="800000"/>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404" name="AutoShape 152">
                <a:extLst>
                  <a:ext uri="{FF2B5EF4-FFF2-40B4-BE49-F238E27FC236}">
                    <a16:creationId xmlns:a16="http://schemas.microsoft.com/office/drawing/2014/main" id="{5986705F-AEF5-4C12-D6B4-1985EE95FB39}"/>
                  </a:ext>
                </a:extLst>
              </p:cNvPr>
              <p:cNvSpPr>
                <a:spLocks noChangeArrowheads="1"/>
              </p:cNvSpPr>
              <p:nvPr/>
            </p:nvSpPr>
            <p:spPr bwMode="auto">
              <a:xfrm>
                <a:off x="519" y="3892"/>
                <a:ext cx="137" cy="148"/>
              </a:xfrm>
              <a:prstGeom prst="diamond">
                <a:avLst/>
              </a:prstGeom>
              <a:solidFill>
                <a:schemeClr val="accent2"/>
              </a:solidFill>
              <a:ln w="12700">
                <a:solidFill>
                  <a:schemeClr val="tx1"/>
                </a:solidFill>
                <a:miter lim="800000"/>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grpSp>
        <p:sp>
          <p:nvSpPr>
            <p:cNvPr id="359" name="Text Box 153">
              <a:extLst>
                <a:ext uri="{FF2B5EF4-FFF2-40B4-BE49-F238E27FC236}">
                  <a16:creationId xmlns:a16="http://schemas.microsoft.com/office/drawing/2014/main" id="{C051DDFC-3273-0ABA-23C8-B0F88D85B2F3}"/>
                </a:ext>
              </a:extLst>
            </p:cNvPr>
            <p:cNvSpPr txBox="1">
              <a:spLocks noChangeArrowheads="1"/>
            </p:cNvSpPr>
            <p:nvPr/>
          </p:nvSpPr>
          <p:spPr bwMode="auto">
            <a:xfrm>
              <a:off x="2043113" y="1447800"/>
              <a:ext cx="886755" cy="262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200" b="1">
                  <a:solidFill>
                    <a:schemeClr val="tx1"/>
                  </a:solidFill>
                  <a:latin typeface="Roboto" panose="02000000000000000000" pitchFamily="2" charset="0"/>
                  <a:ea typeface="Roboto" panose="02000000000000000000" pitchFamily="2" charset="0"/>
                </a:rPr>
                <a:t>Raw Material</a:t>
              </a:r>
            </a:p>
          </p:txBody>
        </p:sp>
        <p:sp>
          <p:nvSpPr>
            <p:cNvPr id="360" name="Text Box 154">
              <a:extLst>
                <a:ext uri="{FF2B5EF4-FFF2-40B4-BE49-F238E27FC236}">
                  <a16:creationId xmlns:a16="http://schemas.microsoft.com/office/drawing/2014/main" id="{330A1CCC-765B-37F2-3E0F-DEAF007D466C}"/>
                </a:ext>
              </a:extLst>
            </p:cNvPr>
            <p:cNvSpPr txBox="1">
              <a:spLocks noChangeArrowheads="1"/>
            </p:cNvSpPr>
            <p:nvPr/>
          </p:nvSpPr>
          <p:spPr bwMode="auto">
            <a:xfrm>
              <a:off x="2133600" y="1600200"/>
              <a:ext cx="707361" cy="262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200" b="1">
                  <a:solidFill>
                    <a:schemeClr val="tx1"/>
                  </a:solidFill>
                  <a:latin typeface="Roboto" panose="02000000000000000000" pitchFamily="2" charset="0"/>
                  <a:ea typeface="Roboto" panose="02000000000000000000" pitchFamily="2" charset="0"/>
                </a:rPr>
                <a:t>Assembly</a:t>
              </a:r>
            </a:p>
          </p:txBody>
        </p:sp>
        <p:sp>
          <p:nvSpPr>
            <p:cNvPr id="361" name="Text Box 155">
              <a:extLst>
                <a:ext uri="{FF2B5EF4-FFF2-40B4-BE49-F238E27FC236}">
                  <a16:creationId xmlns:a16="http://schemas.microsoft.com/office/drawing/2014/main" id="{7EA5D10B-3665-6511-DE99-D22CCBD8C856}"/>
                </a:ext>
              </a:extLst>
            </p:cNvPr>
            <p:cNvSpPr txBox="1">
              <a:spLocks noChangeArrowheads="1"/>
            </p:cNvSpPr>
            <p:nvPr/>
          </p:nvSpPr>
          <p:spPr bwMode="auto">
            <a:xfrm>
              <a:off x="7239000" y="1447800"/>
              <a:ext cx="500469" cy="262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200" b="1">
                  <a:solidFill>
                    <a:schemeClr val="tx1"/>
                  </a:solidFill>
                  <a:latin typeface="Roboto" panose="02000000000000000000" pitchFamily="2" charset="0"/>
                  <a:ea typeface="Roboto" panose="02000000000000000000" pitchFamily="2" charset="0"/>
                </a:rPr>
                <a:t>123-A</a:t>
              </a:r>
            </a:p>
          </p:txBody>
        </p:sp>
        <p:sp>
          <p:nvSpPr>
            <p:cNvPr id="362" name="Text Box 156">
              <a:extLst>
                <a:ext uri="{FF2B5EF4-FFF2-40B4-BE49-F238E27FC236}">
                  <a16:creationId xmlns:a16="http://schemas.microsoft.com/office/drawing/2014/main" id="{550A3C66-E1F0-EB67-3A2F-9DD2D885B7D9}"/>
                </a:ext>
              </a:extLst>
            </p:cNvPr>
            <p:cNvSpPr txBox="1">
              <a:spLocks noChangeArrowheads="1"/>
            </p:cNvSpPr>
            <p:nvPr/>
          </p:nvSpPr>
          <p:spPr bwMode="auto">
            <a:xfrm>
              <a:off x="7242175" y="1600200"/>
              <a:ext cx="585583" cy="262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200" b="1">
                  <a:solidFill>
                    <a:schemeClr val="tx1"/>
                  </a:solidFill>
                  <a:latin typeface="Roboto" panose="02000000000000000000" pitchFamily="2" charset="0"/>
                  <a:ea typeface="Roboto" panose="02000000000000000000" pitchFamily="2" charset="0"/>
                </a:rPr>
                <a:t>Bracket</a:t>
              </a:r>
            </a:p>
          </p:txBody>
        </p:sp>
        <p:sp>
          <p:nvSpPr>
            <p:cNvPr id="363" name="Rectangle 157">
              <a:extLst>
                <a:ext uri="{FF2B5EF4-FFF2-40B4-BE49-F238E27FC236}">
                  <a16:creationId xmlns:a16="http://schemas.microsoft.com/office/drawing/2014/main" id="{739222A0-1723-0E8F-99DC-70438A7FF4F9}"/>
                </a:ext>
              </a:extLst>
            </p:cNvPr>
            <p:cNvSpPr>
              <a:spLocks noChangeArrowheads="1"/>
            </p:cNvSpPr>
            <p:nvPr/>
          </p:nvSpPr>
          <p:spPr bwMode="auto">
            <a:xfrm>
              <a:off x="5922963" y="2733675"/>
              <a:ext cx="1111250" cy="811213"/>
            </a:xfrm>
            <a:prstGeom prst="rect">
              <a:avLst/>
            </a:prstGeom>
            <a:solidFill>
              <a:schemeClr val="accent2"/>
            </a:solidFill>
            <a:ln w="28575">
              <a:solidFill>
                <a:schemeClr val="tx1"/>
              </a:solidFill>
              <a:miter lim="800000"/>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1400" b="1">
                  <a:solidFill>
                    <a:schemeClr val="tx1"/>
                  </a:solidFill>
                  <a:latin typeface="Roboto" panose="02000000000000000000" pitchFamily="2" charset="0"/>
                  <a:ea typeface="Roboto" panose="02000000000000000000" pitchFamily="2" charset="0"/>
                </a:rPr>
                <a:t>Mill</a:t>
              </a:r>
            </a:p>
          </p:txBody>
        </p:sp>
        <p:sp>
          <p:nvSpPr>
            <p:cNvPr id="364" name="Rectangle 158">
              <a:extLst>
                <a:ext uri="{FF2B5EF4-FFF2-40B4-BE49-F238E27FC236}">
                  <a16:creationId xmlns:a16="http://schemas.microsoft.com/office/drawing/2014/main" id="{20192090-166C-10C3-ECB8-68560F6AF05A}"/>
                </a:ext>
              </a:extLst>
            </p:cNvPr>
            <p:cNvSpPr>
              <a:spLocks noChangeArrowheads="1"/>
            </p:cNvSpPr>
            <p:nvPr/>
          </p:nvSpPr>
          <p:spPr bwMode="auto">
            <a:xfrm>
              <a:off x="4325938" y="2733675"/>
              <a:ext cx="1111250" cy="811213"/>
            </a:xfrm>
            <a:prstGeom prst="rect">
              <a:avLst/>
            </a:prstGeom>
            <a:solidFill>
              <a:schemeClr val="accent2"/>
            </a:solidFill>
            <a:ln w="28575">
              <a:solidFill>
                <a:schemeClr val="tx1"/>
              </a:solidFill>
              <a:miter lim="800000"/>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1400" b="1">
                  <a:solidFill>
                    <a:schemeClr val="tx1"/>
                  </a:solidFill>
                  <a:latin typeface="Roboto" panose="02000000000000000000" pitchFamily="2" charset="0"/>
                  <a:ea typeface="Roboto" panose="02000000000000000000" pitchFamily="2" charset="0"/>
                </a:rPr>
                <a:t>Drill</a:t>
              </a:r>
            </a:p>
          </p:txBody>
        </p:sp>
        <p:sp>
          <p:nvSpPr>
            <p:cNvPr id="365" name="Rectangle 159">
              <a:extLst>
                <a:ext uri="{FF2B5EF4-FFF2-40B4-BE49-F238E27FC236}">
                  <a16:creationId xmlns:a16="http://schemas.microsoft.com/office/drawing/2014/main" id="{E28D5D15-DCE7-EC29-0218-7A6661A4F1BA}"/>
                </a:ext>
              </a:extLst>
            </p:cNvPr>
            <p:cNvSpPr>
              <a:spLocks noChangeArrowheads="1"/>
            </p:cNvSpPr>
            <p:nvPr/>
          </p:nvSpPr>
          <p:spPr bwMode="auto">
            <a:xfrm>
              <a:off x="2589213" y="2733675"/>
              <a:ext cx="1111250" cy="811213"/>
            </a:xfrm>
            <a:prstGeom prst="rect">
              <a:avLst/>
            </a:prstGeom>
            <a:solidFill>
              <a:schemeClr val="accent2"/>
            </a:solidFill>
            <a:ln w="28575">
              <a:solidFill>
                <a:schemeClr val="tx1"/>
              </a:solidFill>
              <a:miter lim="800000"/>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1400" b="1">
                  <a:solidFill>
                    <a:schemeClr val="tx1"/>
                  </a:solidFill>
                  <a:latin typeface="Roboto" panose="02000000000000000000" pitchFamily="2" charset="0"/>
                  <a:ea typeface="Roboto" panose="02000000000000000000" pitchFamily="2" charset="0"/>
                </a:rPr>
                <a:t>Tap</a:t>
              </a:r>
            </a:p>
          </p:txBody>
        </p:sp>
        <p:sp>
          <p:nvSpPr>
            <p:cNvPr id="366" name="Rectangle 160">
              <a:extLst>
                <a:ext uri="{FF2B5EF4-FFF2-40B4-BE49-F238E27FC236}">
                  <a16:creationId xmlns:a16="http://schemas.microsoft.com/office/drawing/2014/main" id="{1B447EDF-F3CF-98DF-D1F5-34721CA5D337}"/>
                </a:ext>
              </a:extLst>
            </p:cNvPr>
            <p:cNvSpPr>
              <a:spLocks noChangeArrowheads="1"/>
            </p:cNvSpPr>
            <p:nvPr/>
          </p:nvSpPr>
          <p:spPr bwMode="auto">
            <a:xfrm>
              <a:off x="1200150" y="3857625"/>
              <a:ext cx="1111250" cy="811213"/>
            </a:xfrm>
            <a:prstGeom prst="rect">
              <a:avLst/>
            </a:prstGeom>
            <a:solidFill>
              <a:schemeClr val="accent2"/>
            </a:solidFill>
            <a:ln w="28575">
              <a:solidFill>
                <a:schemeClr val="tx1"/>
              </a:solidFill>
              <a:miter lim="800000"/>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1400" b="1">
                  <a:solidFill>
                    <a:schemeClr val="tx1"/>
                  </a:solidFill>
                  <a:latin typeface="Roboto" panose="02000000000000000000" pitchFamily="2" charset="0"/>
                  <a:ea typeface="Roboto" panose="02000000000000000000" pitchFamily="2" charset="0"/>
                </a:rPr>
                <a:t>Grind</a:t>
              </a:r>
            </a:p>
          </p:txBody>
        </p:sp>
        <p:sp>
          <p:nvSpPr>
            <p:cNvPr id="367" name="Rectangle 161">
              <a:extLst>
                <a:ext uri="{FF2B5EF4-FFF2-40B4-BE49-F238E27FC236}">
                  <a16:creationId xmlns:a16="http://schemas.microsoft.com/office/drawing/2014/main" id="{1A743B70-08CD-41C2-939E-5F1AE966940F}"/>
                </a:ext>
              </a:extLst>
            </p:cNvPr>
            <p:cNvSpPr>
              <a:spLocks noChangeArrowheads="1"/>
            </p:cNvSpPr>
            <p:nvPr/>
          </p:nvSpPr>
          <p:spPr bwMode="auto">
            <a:xfrm>
              <a:off x="2520950" y="5043488"/>
              <a:ext cx="1527175" cy="561975"/>
            </a:xfrm>
            <a:prstGeom prst="rect">
              <a:avLst/>
            </a:prstGeom>
            <a:solidFill>
              <a:schemeClr val="accent2"/>
            </a:solidFill>
            <a:ln w="28575">
              <a:solidFill>
                <a:schemeClr val="tx1"/>
              </a:solidFill>
              <a:miter lim="800000"/>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1400" b="1">
                  <a:solidFill>
                    <a:schemeClr val="tx1"/>
                  </a:solidFill>
                  <a:latin typeface="Roboto" panose="02000000000000000000" pitchFamily="2" charset="0"/>
                  <a:ea typeface="Roboto" panose="02000000000000000000" pitchFamily="2" charset="0"/>
                </a:rPr>
                <a:t>Assembly</a:t>
              </a:r>
            </a:p>
          </p:txBody>
        </p:sp>
        <p:sp>
          <p:nvSpPr>
            <p:cNvPr id="368" name="Rectangle 162">
              <a:extLst>
                <a:ext uri="{FF2B5EF4-FFF2-40B4-BE49-F238E27FC236}">
                  <a16:creationId xmlns:a16="http://schemas.microsoft.com/office/drawing/2014/main" id="{FD912EFC-959A-7A83-B4E0-F193C68C4F38}"/>
                </a:ext>
              </a:extLst>
            </p:cNvPr>
            <p:cNvSpPr>
              <a:spLocks noChangeArrowheads="1"/>
            </p:cNvSpPr>
            <p:nvPr/>
          </p:nvSpPr>
          <p:spPr bwMode="auto">
            <a:xfrm>
              <a:off x="4614863" y="4981575"/>
              <a:ext cx="903287" cy="623888"/>
            </a:xfrm>
            <a:prstGeom prst="rect">
              <a:avLst/>
            </a:prstGeom>
            <a:solidFill>
              <a:schemeClr val="accent2"/>
            </a:solidFill>
            <a:ln w="28575">
              <a:solidFill>
                <a:schemeClr val="tx1"/>
              </a:solidFill>
              <a:miter lim="800000"/>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1400" b="1">
                  <a:solidFill>
                    <a:schemeClr val="tx1"/>
                  </a:solidFill>
                  <a:latin typeface="Roboto" panose="02000000000000000000" pitchFamily="2" charset="0"/>
                  <a:ea typeface="Roboto" panose="02000000000000000000" pitchFamily="2" charset="0"/>
                </a:rPr>
                <a:t>Test</a:t>
              </a:r>
            </a:p>
          </p:txBody>
        </p:sp>
        <p:sp>
          <p:nvSpPr>
            <p:cNvPr id="369" name="Rectangle 163">
              <a:extLst>
                <a:ext uri="{FF2B5EF4-FFF2-40B4-BE49-F238E27FC236}">
                  <a16:creationId xmlns:a16="http://schemas.microsoft.com/office/drawing/2014/main" id="{FA554449-5587-2369-494D-EE92C61FC5CB}"/>
                </a:ext>
              </a:extLst>
            </p:cNvPr>
            <p:cNvSpPr>
              <a:spLocks noChangeArrowheads="1"/>
            </p:cNvSpPr>
            <p:nvPr/>
          </p:nvSpPr>
          <p:spPr bwMode="auto">
            <a:xfrm>
              <a:off x="6200775" y="4991100"/>
              <a:ext cx="763588" cy="561975"/>
            </a:xfrm>
            <a:prstGeom prst="rect">
              <a:avLst/>
            </a:prstGeom>
            <a:solidFill>
              <a:schemeClr val="accent2"/>
            </a:solidFill>
            <a:ln w="28575">
              <a:solidFill>
                <a:schemeClr val="tx1"/>
              </a:solidFill>
              <a:miter lim="800000"/>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1400" b="1">
                  <a:solidFill>
                    <a:schemeClr val="tx1"/>
                  </a:solidFill>
                  <a:latin typeface="Roboto" panose="02000000000000000000" pitchFamily="2" charset="0"/>
                  <a:ea typeface="Roboto" panose="02000000000000000000" pitchFamily="2" charset="0"/>
                </a:rPr>
                <a:t>Pack</a:t>
              </a:r>
            </a:p>
          </p:txBody>
        </p:sp>
        <p:sp>
          <p:nvSpPr>
            <p:cNvPr id="370" name="AutoShape 164">
              <a:extLst>
                <a:ext uri="{FF2B5EF4-FFF2-40B4-BE49-F238E27FC236}">
                  <a16:creationId xmlns:a16="http://schemas.microsoft.com/office/drawing/2014/main" id="{D43AD1C8-2C7B-A89B-F434-98E95A4FA719}"/>
                </a:ext>
              </a:extLst>
            </p:cNvPr>
            <p:cNvSpPr>
              <a:spLocks noChangeArrowheads="1"/>
            </p:cNvSpPr>
            <p:nvPr/>
          </p:nvSpPr>
          <p:spPr bwMode="auto">
            <a:xfrm>
              <a:off x="7242175" y="2671763"/>
              <a:ext cx="1111250" cy="936625"/>
            </a:xfrm>
            <a:prstGeom prst="flowChartDecision">
              <a:avLst/>
            </a:prstGeom>
            <a:solidFill>
              <a:schemeClr val="accent5"/>
            </a:solidFill>
            <a:ln w="57150">
              <a:solidFill>
                <a:schemeClr val="tx1"/>
              </a:solidFill>
              <a:miter lim="800000"/>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1400" b="1">
                  <a:solidFill>
                    <a:schemeClr val="tx1"/>
                  </a:solidFill>
                  <a:latin typeface="Roboto" panose="02000000000000000000" pitchFamily="2" charset="0"/>
                  <a:ea typeface="Roboto" panose="02000000000000000000" pitchFamily="2" charset="0"/>
                </a:rPr>
                <a:t>Raw</a:t>
              </a:r>
            </a:p>
            <a:p>
              <a:pPr algn="ctr">
                <a:spcBef>
                  <a:spcPct val="0"/>
                </a:spcBef>
                <a:buClrTx/>
                <a:buSzTx/>
                <a:buFontTx/>
                <a:buNone/>
              </a:pPr>
              <a:r>
                <a:rPr lang="en-US" altLang="en-US" sz="1400" b="1">
                  <a:solidFill>
                    <a:schemeClr val="tx1"/>
                  </a:solidFill>
                  <a:latin typeface="Roboto" panose="02000000000000000000" pitchFamily="2" charset="0"/>
                  <a:ea typeface="Roboto" panose="02000000000000000000" pitchFamily="2" charset="0"/>
                </a:rPr>
                <a:t>Material</a:t>
              </a:r>
            </a:p>
          </p:txBody>
        </p:sp>
        <p:sp>
          <p:nvSpPr>
            <p:cNvPr id="371" name="AutoShape 165">
              <a:extLst>
                <a:ext uri="{FF2B5EF4-FFF2-40B4-BE49-F238E27FC236}">
                  <a16:creationId xmlns:a16="http://schemas.microsoft.com/office/drawing/2014/main" id="{FFA9701E-DE7D-F10A-C3B2-18855E087C27}"/>
                </a:ext>
              </a:extLst>
            </p:cNvPr>
            <p:cNvSpPr>
              <a:spLocks noChangeArrowheads="1"/>
            </p:cNvSpPr>
            <p:nvPr/>
          </p:nvSpPr>
          <p:spPr bwMode="auto">
            <a:xfrm>
              <a:off x="7242175" y="4794250"/>
              <a:ext cx="1111250" cy="935038"/>
            </a:xfrm>
            <a:prstGeom prst="flowChartDecision">
              <a:avLst/>
            </a:prstGeom>
            <a:solidFill>
              <a:schemeClr val="accent5"/>
            </a:solidFill>
            <a:ln w="57150">
              <a:solidFill>
                <a:schemeClr val="tx1"/>
              </a:solidFill>
              <a:miter lim="800000"/>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1400" b="1">
                  <a:solidFill>
                    <a:schemeClr val="tx1"/>
                  </a:solidFill>
                  <a:latin typeface="Roboto" panose="02000000000000000000" pitchFamily="2" charset="0"/>
                  <a:ea typeface="Roboto" panose="02000000000000000000" pitchFamily="2" charset="0"/>
                </a:rPr>
                <a:t>Finished</a:t>
              </a:r>
            </a:p>
            <a:p>
              <a:pPr algn="ctr">
                <a:spcBef>
                  <a:spcPct val="0"/>
                </a:spcBef>
                <a:buClrTx/>
                <a:buSzTx/>
                <a:buFontTx/>
                <a:buNone/>
              </a:pPr>
              <a:r>
                <a:rPr lang="en-US" altLang="en-US" sz="1400" b="1">
                  <a:solidFill>
                    <a:schemeClr val="tx1"/>
                  </a:solidFill>
                  <a:latin typeface="Roboto" panose="02000000000000000000" pitchFamily="2" charset="0"/>
                  <a:ea typeface="Roboto" panose="02000000000000000000" pitchFamily="2" charset="0"/>
                </a:rPr>
                <a:t>Goods</a:t>
              </a:r>
            </a:p>
          </p:txBody>
        </p:sp>
        <p:sp>
          <p:nvSpPr>
            <p:cNvPr id="372" name="Oval 166" descr="Narrow horizontal">
              <a:extLst>
                <a:ext uri="{FF2B5EF4-FFF2-40B4-BE49-F238E27FC236}">
                  <a16:creationId xmlns:a16="http://schemas.microsoft.com/office/drawing/2014/main" id="{C4FAD792-2892-5D41-D664-9927839895E0}"/>
                </a:ext>
              </a:extLst>
            </p:cNvPr>
            <p:cNvSpPr>
              <a:spLocks noChangeArrowheads="1"/>
            </p:cNvSpPr>
            <p:nvPr/>
          </p:nvSpPr>
          <p:spPr bwMode="auto">
            <a:xfrm>
              <a:off x="6062663" y="3295650"/>
              <a:ext cx="404812" cy="177800"/>
            </a:xfrm>
            <a:prstGeom prst="ellipse">
              <a:avLst/>
            </a:prstGeom>
            <a:solidFill>
              <a:schemeClr val="accent4"/>
            </a:solidFill>
            <a:ln w="12700">
              <a:solidFill>
                <a:schemeClr val="tx1"/>
              </a:solidFill>
              <a:round/>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73" name="Oval 167" descr="Narrow horizontal">
              <a:extLst>
                <a:ext uri="{FF2B5EF4-FFF2-40B4-BE49-F238E27FC236}">
                  <a16:creationId xmlns:a16="http://schemas.microsoft.com/office/drawing/2014/main" id="{2D7EFA15-BFD8-6832-64A9-D87A22779F88}"/>
                </a:ext>
              </a:extLst>
            </p:cNvPr>
            <p:cNvSpPr>
              <a:spLocks noChangeArrowheads="1"/>
            </p:cNvSpPr>
            <p:nvPr/>
          </p:nvSpPr>
          <p:spPr bwMode="auto">
            <a:xfrm>
              <a:off x="4441825" y="3295650"/>
              <a:ext cx="404813" cy="177800"/>
            </a:xfrm>
            <a:prstGeom prst="ellipse">
              <a:avLst/>
            </a:prstGeom>
            <a:solidFill>
              <a:schemeClr val="accent4"/>
            </a:solidFill>
            <a:ln w="12700">
              <a:solidFill>
                <a:schemeClr val="tx1"/>
              </a:solidFill>
              <a:round/>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74" name="Oval 168" descr="Narrow horizontal">
              <a:extLst>
                <a:ext uri="{FF2B5EF4-FFF2-40B4-BE49-F238E27FC236}">
                  <a16:creationId xmlns:a16="http://schemas.microsoft.com/office/drawing/2014/main" id="{EA153608-098A-BE5A-F009-7900445864B5}"/>
                </a:ext>
              </a:extLst>
            </p:cNvPr>
            <p:cNvSpPr>
              <a:spLocks noChangeArrowheads="1"/>
            </p:cNvSpPr>
            <p:nvPr/>
          </p:nvSpPr>
          <p:spPr bwMode="auto">
            <a:xfrm>
              <a:off x="2659063" y="3295650"/>
              <a:ext cx="404812" cy="177800"/>
            </a:xfrm>
            <a:prstGeom prst="ellipse">
              <a:avLst/>
            </a:prstGeom>
            <a:solidFill>
              <a:schemeClr val="accent4"/>
            </a:solidFill>
            <a:ln w="12700">
              <a:solidFill>
                <a:schemeClr val="tx1"/>
              </a:solidFill>
              <a:round/>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75" name="Oval 169" descr="Narrow horizontal">
              <a:extLst>
                <a:ext uri="{FF2B5EF4-FFF2-40B4-BE49-F238E27FC236}">
                  <a16:creationId xmlns:a16="http://schemas.microsoft.com/office/drawing/2014/main" id="{BBFAFD60-BB47-7FF7-C8AD-106837D54775}"/>
                </a:ext>
              </a:extLst>
            </p:cNvPr>
            <p:cNvSpPr>
              <a:spLocks noChangeArrowheads="1"/>
            </p:cNvSpPr>
            <p:nvPr/>
          </p:nvSpPr>
          <p:spPr bwMode="auto">
            <a:xfrm>
              <a:off x="1339850" y="4419600"/>
              <a:ext cx="404813" cy="176213"/>
            </a:xfrm>
            <a:prstGeom prst="ellipse">
              <a:avLst/>
            </a:prstGeom>
            <a:solidFill>
              <a:schemeClr val="accent4"/>
            </a:solidFill>
            <a:ln w="12700">
              <a:solidFill>
                <a:schemeClr val="tx1"/>
              </a:solidFill>
              <a:round/>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376" name="Text Box 170">
              <a:extLst>
                <a:ext uri="{FF2B5EF4-FFF2-40B4-BE49-F238E27FC236}">
                  <a16:creationId xmlns:a16="http://schemas.microsoft.com/office/drawing/2014/main" id="{9D499DF8-9915-AE18-B59B-198A0E2462C7}"/>
                </a:ext>
              </a:extLst>
            </p:cNvPr>
            <p:cNvSpPr txBox="1">
              <a:spLocks noChangeArrowheads="1"/>
            </p:cNvSpPr>
            <p:nvPr/>
          </p:nvSpPr>
          <p:spPr bwMode="auto">
            <a:xfrm>
              <a:off x="3302000" y="3171825"/>
              <a:ext cx="288340" cy="43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2400" b="1">
                  <a:solidFill>
                    <a:schemeClr val="tx1"/>
                  </a:solidFill>
                  <a:latin typeface="Roboto" panose="02000000000000000000" pitchFamily="2" charset="0"/>
                  <a:ea typeface="Roboto" panose="02000000000000000000" pitchFamily="2" charset="0"/>
                </a:rPr>
                <a:t>+</a:t>
              </a:r>
            </a:p>
          </p:txBody>
        </p:sp>
        <p:sp>
          <p:nvSpPr>
            <p:cNvPr id="377" name="Text Box 171">
              <a:extLst>
                <a:ext uri="{FF2B5EF4-FFF2-40B4-BE49-F238E27FC236}">
                  <a16:creationId xmlns:a16="http://schemas.microsoft.com/office/drawing/2014/main" id="{B263E199-823A-9D85-4969-7D20748D33DF}"/>
                </a:ext>
              </a:extLst>
            </p:cNvPr>
            <p:cNvSpPr txBox="1">
              <a:spLocks noChangeArrowheads="1"/>
            </p:cNvSpPr>
            <p:nvPr/>
          </p:nvSpPr>
          <p:spPr bwMode="auto">
            <a:xfrm>
              <a:off x="5089525" y="3171825"/>
              <a:ext cx="288340" cy="43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2400" b="1">
                  <a:solidFill>
                    <a:schemeClr val="tx1"/>
                  </a:solidFill>
                  <a:latin typeface="Roboto" panose="02000000000000000000" pitchFamily="2" charset="0"/>
                  <a:ea typeface="Roboto" panose="02000000000000000000" pitchFamily="2" charset="0"/>
                </a:rPr>
                <a:t>+</a:t>
              </a:r>
            </a:p>
          </p:txBody>
        </p:sp>
        <p:sp>
          <p:nvSpPr>
            <p:cNvPr id="378" name="Text Box 172">
              <a:extLst>
                <a:ext uri="{FF2B5EF4-FFF2-40B4-BE49-F238E27FC236}">
                  <a16:creationId xmlns:a16="http://schemas.microsoft.com/office/drawing/2014/main" id="{BFAFA7BF-1AFE-9F2A-204A-6AD24B0A0D8B}"/>
                </a:ext>
              </a:extLst>
            </p:cNvPr>
            <p:cNvSpPr txBox="1">
              <a:spLocks noChangeArrowheads="1"/>
            </p:cNvSpPr>
            <p:nvPr/>
          </p:nvSpPr>
          <p:spPr bwMode="auto">
            <a:xfrm>
              <a:off x="6635750" y="3171825"/>
              <a:ext cx="288340" cy="43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2400" b="1">
                  <a:solidFill>
                    <a:schemeClr val="tx1"/>
                  </a:solidFill>
                  <a:latin typeface="Roboto" panose="02000000000000000000" pitchFamily="2" charset="0"/>
                  <a:ea typeface="Roboto" panose="02000000000000000000" pitchFamily="2" charset="0"/>
                </a:rPr>
                <a:t>+</a:t>
              </a:r>
            </a:p>
          </p:txBody>
        </p:sp>
        <p:sp>
          <p:nvSpPr>
            <p:cNvPr id="379" name="Text Box 173">
              <a:extLst>
                <a:ext uri="{FF2B5EF4-FFF2-40B4-BE49-F238E27FC236}">
                  <a16:creationId xmlns:a16="http://schemas.microsoft.com/office/drawing/2014/main" id="{C9B31FE9-21A8-100B-C3E4-4A94BB32C26C}"/>
                </a:ext>
              </a:extLst>
            </p:cNvPr>
            <p:cNvSpPr txBox="1">
              <a:spLocks noChangeArrowheads="1"/>
            </p:cNvSpPr>
            <p:nvPr/>
          </p:nvSpPr>
          <p:spPr bwMode="auto">
            <a:xfrm>
              <a:off x="1982788" y="4325938"/>
              <a:ext cx="288340" cy="43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2400" b="1">
                  <a:solidFill>
                    <a:schemeClr val="tx1"/>
                  </a:solidFill>
                  <a:latin typeface="Roboto" panose="02000000000000000000" pitchFamily="2" charset="0"/>
                  <a:ea typeface="Roboto" panose="02000000000000000000" pitchFamily="2" charset="0"/>
                </a:rPr>
                <a:t>+</a:t>
              </a:r>
            </a:p>
          </p:txBody>
        </p:sp>
        <p:grpSp>
          <p:nvGrpSpPr>
            <p:cNvPr id="380" name="Group 174">
              <a:extLst>
                <a:ext uri="{FF2B5EF4-FFF2-40B4-BE49-F238E27FC236}">
                  <a16:creationId xmlns:a16="http://schemas.microsoft.com/office/drawing/2014/main" id="{B852B7DA-D073-92B5-2362-5531F4B4A578}"/>
                </a:ext>
              </a:extLst>
            </p:cNvPr>
            <p:cNvGrpSpPr>
              <a:grpSpLocks/>
            </p:cNvGrpSpPr>
            <p:nvPr/>
          </p:nvGrpSpPr>
          <p:grpSpPr bwMode="auto">
            <a:xfrm>
              <a:off x="3910013" y="3171825"/>
              <a:ext cx="247650" cy="192088"/>
              <a:chOff x="496" y="3892"/>
              <a:chExt cx="172" cy="148"/>
            </a:xfrm>
          </p:grpSpPr>
          <p:sp>
            <p:nvSpPr>
              <p:cNvPr id="401" name="Rectangle 175">
                <a:extLst>
                  <a:ext uri="{FF2B5EF4-FFF2-40B4-BE49-F238E27FC236}">
                    <a16:creationId xmlns:a16="http://schemas.microsoft.com/office/drawing/2014/main" id="{4246A067-D16E-857E-245E-B73995307ABF}"/>
                  </a:ext>
                </a:extLst>
              </p:cNvPr>
              <p:cNvSpPr>
                <a:spLocks noChangeArrowheads="1"/>
              </p:cNvSpPr>
              <p:nvPr/>
            </p:nvSpPr>
            <p:spPr bwMode="auto">
              <a:xfrm>
                <a:off x="496" y="3892"/>
                <a:ext cx="172" cy="148"/>
              </a:xfrm>
              <a:prstGeom prst="rect">
                <a:avLst/>
              </a:prstGeom>
              <a:solidFill>
                <a:schemeClr val="accent2"/>
              </a:solidFill>
              <a:ln w="12700">
                <a:solidFill>
                  <a:schemeClr val="tx1"/>
                </a:solidFill>
                <a:miter lim="800000"/>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402" name="AutoShape 176">
                <a:extLst>
                  <a:ext uri="{FF2B5EF4-FFF2-40B4-BE49-F238E27FC236}">
                    <a16:creationId xmlns:a16="http://schemas.microsoft.com/office/drawing/2014/main" id="{332B0663-E6C0-92E5-07A1-D10D7C45659C}"/>
                  </a:ext>
                </a:extLst>
              </p:cNvPr>
              <p:cNvSpPr>
                <a:spLocks noChangeArrowheads="1"/>
              </p:cNvSpPr>
              <p:nvPr/>
            </p:nvSpPr>
            <p:spPr bwMode="auto">
              <a:xfrm>
                <a:off x="519" y="3892"/>
                <a:ext cx="137" cy="148"/>
              </a:xfrm>
              <a:prstGeom prst="diamond">
                <a:avLst/>
              </a:prstGeom>
              <a:solidFill>
                <a:schemeClr val="accent2"/>
              </a:solidFill>
              <a:ln w="12700">
                <a:solidFill>
                  <a:schemeClr val="tx1"/>
                </a:solidFill>
                <a:miter lim="800000"/>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grpSp>
        <p:sp>
          <p:nvSpPr>
            <p:cNvPr id="381" name="Oval 177">
              <a:extLst>
                <a:ext uri="{FF2B5EF4-FFF2-40B4-BE49-F238E27FC236}">
                  <a16:creationId xmlns:a16="http://schemas.microsoft.com/office/drawing/2014/main" id="{4F21DB98-FEFE-3A66-0480-4F2F758CCA24}"/>
                </a:ext>
              </a:extLst>
            </p:cNvPr>
            <p:cNvSpPr>
              <a:spLocks noChangeArrowheads="1"/>
            </p:cNvSpPr>
            <p:nvPr/>
          </p:nvSpPr>
          <p:spPr bwMode="auto">
            <a:xfrm>
              <a:off x="7624763" y="3722688"/>
              <a:ext cx="347662" cy="311150"/>
            </a:xfrm>
            <a:prstGeom prst="ellipse">
              <a:avLst/>
            </a:prstGeom>
            <a:solidFill>
              <a:schemeClr val="bg1"/>
            </a:solidFill>
            <a:ln w="19050">
              <a:solidFill>
                <a:schemeClr val="tx1"/>
              </a:solidFill>
              <a:round/>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2400">
                  <a:solidFill>
                    <a:schemeClr val="tx1"/>
                  </a:solidFill>
                  <a:latin typeface="Roboto" panose="02000000000000000000" pitchFamily="2" charset="0"/>
                  <a:ea typeface="Roboto" panose="02000000000000000000" pitchFamily="2" charset="0"/>
                </a:rPr>
                <a:t>1</a:t>
              </a:r>
            </a:p>
          </p:txBody>
        </p:sp>
        <p:sp>
          <p:nvSpPr>
            <p:cNvPr id="382" name="Oval 178">
              <a:extLst>
                <a:ext uri="{FF2B5EF4-FFF2-40B4-BE49-F238E27FC236}">
                  <a16:creationId xmlns:a16="http://schemas.microsoft.com/office/drawing/2014/main" id="{AE71B6F4-3109-3D63-75A1-0FDAC940CECF}"/>
                </a:ext>
              </a:extLst>
            </p:cNvPr>
            <p:cNvSpPr>
              <a:spLocks noChangeArrowheads="1"/>
            </p:cNvSpPr>
            <p:nvPr/>
          </p:nvSpPr>
          <p:spPr bwMode="auto">
            <a:xfrm>
              <a:off x="6305550" y="3722688"/>
              <a:ext cx="346075" cy="311150"/>
            </a:xfrm>
            <a:prstGeom prst="ellipse">
              <a:avLst/>
            </a:prstGeom>
            <a:solidFill>
              <a:schemeClr val="bg1"/>
            </a:solidFill>
            <a:ln w="19050">
              <a:solidFill>
                <a:schemeClr val="tx1"/>
              </a:solidFill>
              <a:round/>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2400">
                  <a:solidFill>
                    <a:schemeClr val="tx1"/>
                  </a:solidFill>
                  <a:latin typeface="Roboto" panose="02000000000000000000" pitchFamily="2" charset="0"/>
                  <a:ea typeface="Roboto" panose="02000000000000000000" pitchFamily="2" charset="0"/>
                </a:rPr>
                <a:t>2</a:t>
              </a:r>
            </a:p>
          </p:txBody>
        </p:sp>
        <p:sp>
          <p:nvSpPr>
            <p:cNvPr id="383" name="Oval 179">
              <a:extLst>
                <a:ext uri="{FF2B5EF4-FFF2-40B4-BE49-F238E27FC236}">
                  <a16:creationId xmlns:a16="http://schemas.microsoft.com/office/drawing/2014/main" id="{BFA81E47-32D4-BBAA-E683-1FCEEB0FB870}"/>
                </a:ext>
              </a:extLst>
            </p:cNvPr>
            <p:cNvSpPr>
              <a:spLocks noChangeArrowheads="1"/>
            </p:cNvSpPr>
            <p:nvPr/>
          </p:nvSpPr>
          <p:spPr bwMode="auto">
            <a:xfrm>
              <a:off x="4708525" y="3722688"/>
              <a:ext cx="346075" cy="311150"/>
            </a:xfrm>
            <a:prstGeom prst="ellipse">
              <a:avLst/>
            </a:prstGeom>
            <a:solidFill>
              <a:schemeClr val="bg1"/>
            </a:solidFill>
            <a:ln w="19050">
              <a:solidFill>
                <a:schemeClr val="tx1"/>
              </a:solidFill>
              <a:round/>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2400">
                  <a:solidFill>
                    <a:schemeClr val="tx1"/>
                  </a:solidFill>
                  <a:latin typeface="Roboto" panose="02000000000000000000" pitchFamily="2" charset="0"/>
                  <a:ea typeface="Roboto" panose="02000000000000000000" pitchFamily="2" charset="0"/>
                </a:rPr>
                <a:t>3</a:t>
              </a:r>
            </a:p>
          </p:txBody>
        </p:sp>
        <p:sp>
          <p:nvSpPr>
            <p:cNvPr id="384" name="Oval 180">
              <a:extLst>
                <a:ext uri="{FF2B5EF4-FFF2-40B4-BE49-F238E27FC236}">
                  <a16:creationId xmlns:a16="http://schemas.microsoft.com/office/drawing/2014/main" id="{1565433A-C7E5-0F8E-C7C9-360ACA70BD7C}"/>
                </a:ext>
              </a:extLst>
            </p:cNvPr>
            <p:cNvSpPr>
              <a:spLocks noChangeArrowheads="1"/>
            </p:cNvSpPr>
            <p:nvPr/>
          </p:nvSpPr>
          <p:spPr bwMode="auto">
            <a:xfrm>
              <a:off x="3910013" y="3722688"/>
              <a:ext cx="346075" cy="311150"/>
            </a:xfrm>
            <a:prstGeom prst="ellipse">
              <a:avLst/>
            </a:prstGeom>
            <a:solidFill>
              <a:schemeClr val="bg1"/>
            </a:solidFill>
            <a:ln w="19050">
              <a:solidFill>
                <a:schemeClr val="tx1"/>
              </a:solidFill>
              <a:round/>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2400">
                  <a:solidFill>
                    <a:schemeClr val="tx1"/>
                  </a:solidFill>
                  <a:latin typeface="Roboto" panose="02000000000000000000" pitchFamily="2" charset="0"/>
                  <a:ea typeface="Roboto" panose="02000000000000000000" pitchFamily="2" charset="0"/>
                </a:rPr>
                <a:t>4</a:t>
              </a:r>
            </a:p>
          </p:txBody>
        </p:sp>
        <p:sp>
          <p:nvSpPr>
            <p:cNvPr id="385" name="Oval 181">
              <a:extLst>
                <a:ext uri="{FF2B5EF4-FFF2-40B4-BE49-F238E27FC236}">
                  <a16:creationId xmlns:a16="http://schemas.microsoft.com/office/drawing/2014/main" id="{D8F9D453-1E89-8AB8-B401-D8A7D6DFF661}"/>
                </a:ext>
              </a:extLst>
            </p:cNvPr>
            <p:cNvSpPr>
              <a:spLocks noChangeArrowheads="1"/>
            </p:cNvSpPr>
            <p:nvPr/>
          </p:nvSpPr>
          <p:spPr bwMode="auto">
            <a:xfrm>
              <a:off x="2936875" y="3722688"/>
              <a:ext cx="347663" cy="311150"/>
            </a:xfrm>
            <a:prstGeom prst="ellipse">
              <a:avLst/>
            </a:prstGeom>
            <a:solidFill>
              <a:schemeClr val="bg1"/>
            </a:solidFill>
            <a:ln w="19050">
              <a:solidFill>
                <a:schemeClr val="tx1"/>
              </a:solidFill>
              <a:round/>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2400">
                  <a:solidFill>
                    <a:schemeClr val="tx1"/>
                  </a:solidFill>
                  <a:latin typeface="Roboto" panose="02000000000000000000" pitchFamily="2" charset="0"/>
                  <a:ea typeface="Roboto" panose="02000000000000000000" pitchFamily="2" charset="0"/>
                </a:rPr>
                <a:t>5</a:t>
              </a:r>
            </a:p>
          </p:txBody>
        </p:sp>
        <p:sp>
          <p:nvSpPr>
            <p:cNvPr id="386" name="Oval 182">
              <a:extLst>
                <a:ext uri="{FF2B5EF4-FFF2-40B4-BE49-F238E27FC236}">
                  <a16:creationId xmlns:a16="http://schemas.microsoft.com/office/drawing/2014/main" id="{6F6B1F64-69B0-9D60-1E3E-995027877BD7}"/>
                </a:ext>
              </a:extLst>
            </p:cNvPr>
            <p:cNvSpPr>
              <a:spLocks noChangeArrowheads="1"/>
            </p:cNvSpPr>
            <p:nvPr/>
          </p:nvSpPr>
          <p:spPr bwMode="auto">
            <a:xfrm>
              <a:off x="3076575" y="4606925"/>
              <a:ext cx="346075" cy="311150"/>
            </a:xfrm>
            <a:prstGeom prst="ellipse">
              <a:avLst/>
            </a:prstGeom>
            <a:solidFill>
              <a:schemeClr val="bg1"/>
            </a:solidFill>
            <a:ln w="19050">
              <a:solidFill>
                <a:schemeClr val="tx1"/>
              </a:solidFill>
              <a:round/>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2400">
                  <a:solidFill>
                    <a:schemeClr val="tx1"/>
                  </a:solidFill>
                  <a:latin typeface="Roboto" panose="02000000000000000000" pitchFamily="2" charset="0"/>
                  <a:ea typeface="Roboto" panose="02000000000000000000" pitchFamily="2" charset="0"/>
                </a:rPr>
                <a:t>7</a:t>
              </a:r>
            </a:p>
          </p:txBody>
        </p:sp>
        <p:sp>
          <p:nvSpPr>
            <p:cNvPr id="387" name="Oval 183">
              <a:extLst>
                <a:ext uri="{FF2B5EF4-FFF2-40B4-BE49-F238E27FC236}">
                  <a16:creationId xmlns:a16="http://schemas.microsoft.com/office/drawing/2014/main" id="{42D430C1-7A7A-477A-A355-1910CB1E91BD}"/>
                </a:ext>
              </a:extLst>
            </p:cNvPr>
            <p:cNvSpPr>
              <a:spLocks noChangeArrowheads="1"/>
            </p:cNvSpPr>
            <p:nvPr/>
          </p:nvSpPr>
          <p:spPr bwMode="auto">
            <a:xfrm>
              <a:off x="2416175" y="4086225"/>
              <a:ext cx="347663" cy="312738"/>
            </a:xfrm>
            <a:prstGeom prst="ellipse">
              <a:avLst/>
            </a:prstGeom>
            <a:solidFill>
              <a:schemeClr val="bg1"/>
            </a:solidFill>
            <a:ln w="19050">
              <a:solidFill>
                <a:schemeClr val="tx1"/>
              </a:solidFill>
              <a:round/>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2400">
                  <a:solidFill>
                    <a:schemeClr val="tx1"/>
                  </a:solidFill>
                  <a:latin typeface="Roboto" panose="02000000000000000000" pitchFamily="2" charset="0"/>
                  <a:ea typeface="Roboto" panose="02000000000000000000" pitchFamily="2" charset="0"/>
                </a:rPr>
                <a:t>6</a:t>
              </a:r>
            </a:p>
          </p:txBody>
        </p:sp>
        <p:sp>
          <p:nvSpPr>
            <p:cNvPr id="388" name="Freeform 184">
              <a:extLst>
                <a:ext uri="{FF2B5EF4-FFF2-40B4-BE49-F238E27FC236}">
                  <a16:creationId xmlns:a16="http://schemas.microsoft.com/office/drawing/2014/main" id="{1FED8168-E623-05CD-9768-2122446C6EAB}"/>
                </a:ext>
              </a:extLst>
            </p:cNvPr>
            <p:cNvSpPr>
              <a:spLocks/>
            </p:cNvSpPr>
            <p:nvPr/>
          </p:nvSpPr>
          <p:spPr bwMode="auto">
            <a:xfrm>
              <a:off x="6686550" y="3857625"/>
              <a:ext cx="973138" cy="249238"/>
            </a:xfrm>
            <a:custGeom>
              <a:avLst/>
              <a:gdLst>
                <a:gd name="T0" fmla="*/ 1409222570 w 672"/>
                <a:gd name="T1" fmla="*/ 0 h 192"/>
                <a:gd name="T2" fmla="*/ 805270247 w 672"/>
                <a:gd name="T3" fmla="*/ 323539483 h 192"/>
                <a:gd name="T4" fmla="*/ 0 w 672"/>
                <a:gd name="T5" fmla="*/ 0 h 192"/>
                <a:gd name="T6" fmla="*/ 0 60000 65536"/>
                <a:gd name="T7" fmla="*/ 0 60000 65536"/>
                <a:gd name="T8" fmla="*/ 0 60000 65536"/>
              </a:gdLst>
              <a:ahLst/>
              <a:cxnLst>
                <a:cxn ang="T6">
                  <a:pos x="T0" y="T1"/>
                </a:cxn>
                <a:cxn ang="T7">
                  <a:pos x="T2" y="T3"/>
                </a:cxn>
                <a:cxn ang="T8">
                  <a:pos x="T4" y="T5"/>
                </a:cxn>
              </a:cxnLst>
              <a:rect l="0" t="0" r="r" b="b"/>
              <a:pathLst>
                <a:path w="672" h="192">
                  <a:moveTo>
                    <a:pt x="672" y="0"/>
                  </a:moveTo>
                  <a:cubicBezTo>
                    <a:pt x="584" y="96"/>
                    <a:pt x="496" y="192"/>
                    <a:pt x="384" y="192"/>
                  </a:cubicBezTo>
                  <a:cubicBezTo>
                    <a:pt x="272" y="192"/>
                    <a:pt x="64" y="32"/>
                    <a:pt x="0" y="0"/>
                  </a:cubicBezTo>
                </a:path>
              </a:pathLst>
            </a:custGeom>
            <a:noFill/>
            <a:ln w="57150" cap="flat" cmpd="sng">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89" name="Freeform 185">
              <a:extLst>
                <a:ext uri="{FF2B5EF4-FFF2-40B4-BE49-F238E27FC236}">
                  <a16:creationId xmlns:a16="http://schemas.microsoft.com/office/drawing/2014/main" id="{2038BBF8-DD04-0D9F-1639-0471CC72CC2D}"/>
                </a:ext>
              </a:extLst>
            </p:cNvPr>
            <p:cNvSpPr>
              <a:spLocks/>
            </p:cNvSpPr>
            <p:nvPr/>
          </p:nvSpPr>
          <p:spPr bwMode="auto">
            <a:xfrm>
              <a:off x="5089525" y="3857625"/>
              <a:ext cx="1181100" cy="249238"/>
            </a:xfrm>
            <a:custGeom>
              <a:avLst/>
              <a:gdLst>
                <a:gd name="T0" fmla="*/ 1709555404 w 816"/>
                <a:gd name="T1" fmla="*/ 0 h 192"/>
                <a:gd name="T2" fmla="*/ 905058403 w 816"/>
                <a:gd name="T3" fmla="*/ 323539483 h 192"/>
                <a:gd name="T4" fmla="*/ 0 w 816"/>
                <a:gd name="T5" fmla="*/ 0 h 192"/>
                <a:gd name="T6" fmla="*/ 0 60000 65536"/>
                <a:gd name="T7" fmla="*/ 0 60000 65536"/>
                <a:gd name="T8" fmla="*/ 0 60000 65536"/>
              </a:gdLst>
              <a:ahLst/>
              <a:cxnLst>
                <a:cxn ang="T6">
                  <a:pos x="T0" y="T1"/>
                </a:cxn>
                <a:cxn ang="T7">
                  <a:pos x="T2" y="T3"/>
                </a:cxn>
                <a:cxn ang="T8">
                  <a:pos x="T4" y="T5"/>
                </a:cxn>
              </a:cxnLst>
              <a:rect l="0" t="0" r="r" b="b"/>
              <a:pathLst>
                <a:path w="816" h="192">
                  <a:moveTo>
                    <a:pt x="816" y="0"/>
                  </a:moveTo>
                  <a:cubicBezTo>
                    <a:pt x="692" y="96"/>
                    <a:pt x="568" y="192"/>
                    <a:pt x="432" y="192"/>
                  </a:cubicBezTo>
                  <a:cubicBezTo>
                    <a:pt x="296" y="192"/>
                    <a:pt x="148" y="96"/>
                    <a:pt x="0" y="0"/>
                  </a:cubicBezTo>
                </a:path>
              </a:pathLst>
            </a:custGeom>
            <a:noFill/>
            <a:ln w="57150" cap="flat" cmpd="sng">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90" name="Freeform 186">
              <a:extLst>
                <a:ext uri="{FF2B5EF4-FFF2-40B4-BE49-F238E27FC236}">
                  <a16:creationId xmlns:a16="http://schemas.microsoft.com/office/drawing/2014/main" id="{36DCCD13-2DA2-8176-A6F9-7E0AB5D8EBBC}"/>
                </a:ext>
              </a:extLst>
            </p:cNvPr>
            <p:cNvSpPr>
              <a:spLocks/>
            </p:cNvSpPr>
            <p:nvPr/>
          </p:nvSpPr>
          <p:spPr bwMode="auto">
            <a:xfrm>
              <a:off x="4268788" y="3919538"/>
              <a:ext cx="415925" cy="250825"/>
            </a:xfrm>
            <a:custGeom>
              <a:avLst/>
              <a:gdLst>
                <a:gd name="T0" fmla="*/ 600672242 w 288"/>
                <a:gd name="T1" fmla="*/ 0 h 192"/>
                <a:gd name="T2" fmla="*/ 300336843 w 288"/>
                <a:gd name="T3" fmla="*/ 327672816 h 192"/>
                <a:gd name="T4" fmla="*/ 0 w 288"/>
                <a:gd name="T5" fmla="*/ 0 h 192"/>
                <a:gd name="T6" fmla="*/ 0 60000 65536"/>
                <a:gd name="T7" fmla="*/ 0 60000 65536"/>
                <a:gd name="T8" fmla="*/ 0 60000 65536"/>
              </a:gdLst>
              <a:ahLst/>
              <a:cxnLst>
                <a:cxn ang="T6">
                  <a:pos x="T0" y="T1"/>
                </a:cxn>
                <a:cxn ang="T7">
                  <a:pos x="T2" y="T3"/>
                </a:cxn>
                <a:cxn ang="T8">
                  <a:pos x="T4" y="T5"/>
                </a:cxn>
              </a:cxnLst>
              <a:rect l="0" t="0" r="r" b="b"/>
              <a:pathLst>
                <a:path w="288" h="192">
                  <a:moveTo>
                    <a:pt x="288" y="0"/>
                  </a:moveTo>
                  <a:cubicBezTo>
                    <a:pt x="240" y="96"/>
                    <a:pt x="192" y="192"/>
                    <a:pt x="144" y="192"/>
                  </a:cubicBezTo>
                  <a:cubicBezTo>
                    <a:pt x="96" y="192"/>
                    <a:pt x="48" y="96"/>
                    <a:pt x="0" y="0"/>
                  </a:cubicBezTo>
                </a:path>
              </a:pathLst>
            </a:custGeom>
            <a:noFill/>
            <a:ln w="57150" cap="flat" cmpd="sng">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91" name="Freeform 187">
              <a:extLst>
                <a:ext uri="{FF2B5EF4-FFF2-40B4-BE49-F238E27FC236}">
                  <a16:creationId xmlns:a16="http://schemas.microsoft.com/office/drawing/2014/main" id="{469F6A4D-C03D-6446-64AC-C20B2A441707}"/>
                </a:ext>
              </a:extLst>
            </p:cNvPr>
            <p:cNvSpPr>
              <a:spLocks/>
            </p:cNvSpPr>
            <p:nvPr/>
          </p:nvSpPr>
          <p:spPr bwMode="auto">
            <a:xfrm>
              <a:off x="3295650" y="3857625"/>
              <a:ext cx="614363" cy="342900"/>
            </a:xfrm>
            <a:custGeom>
              <a:avLst/>
              <a:gdLst>
                <a:gd name="T0" fmla="*/ 1310562138 w 288"/>
                <a:gd name="T1" fmla="*/ 0 h 192"/>
                <a:gd name="T2" fmla="*/ 655282136 w 288"/>
                <a:gd name="T3" fmla="*/ 612397969 h 192"/>
                <a:gd name="T4" fmla="*/ 0 w 288"/>
                <a:gd name="T5" fmla="*/ 0 h 192"/>
                <a:gd name="T6" fmla="*/ 0 60000 65536"/>
                <a:gd name="T7" fmla="*/ 0 60000 65536"/>
                <a:gd name="T8" fmla="*/ 0 60000 65536"/>
              </a:gdLst>
              <a:ahLst/>
              <a:cxnLst>
                <a:cxn ang="T6">
                  <a:pos x="T0" y="T1"/>
                </a:cxn>
                <a:cxn ang="T7">
                  <a:pos x="T2" y="T3"/>
                </a:cxn>
                <a:cxn ang="T8">
                  <a:pos x="T4" y="T5"/>
                </a:cxn>
              </a:cxnLst>
              <a:rect l="0" t="0" r="r" b="b"/>
              <a:pathLst>
                <a:path w="288" h="192">
                  <a:moveTo>
                    <a:pt x="288" y="0"/>
                  </a:moveTo>
                  <a:cubicBezTo>
                    <a:pt x="240" y="96"/>
                    <a:pt x="192" y="192"/>
                    <a:pt x="144" y="192"/>
                  </a:cubicBezTo>
                  <a:cubicBezTo>
                    <a:pt x="96" y="192"/>
                    <a:pt x="48" y="96"/>
                    <a:pt x="0" y="0"/>
                  </a:cubicBezTo>
                </a:path>
              </a:pathLst>
            </a:custGeom>
            <a:noFill/>
            <a:ln w="57150" cap="flat" cmpd="sng">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92" name="Freeform 188">
              <a:extLst>
                <a:ext uri="{FF2B5EF4-FFF2-40B4-BE49-F238E27FC236}">
                  <a16:creationId xmlns:a16="http://schemas.microsoft.com/office/drawing/2014/main" id="{D606A43D-3567-8A6A-0707-DB54673984F3}"/>
                </a:ext>
              </a:extLst>
            </p:cNvPr>
            <p:cNvSpPr>
              <a:spLocks/>
            </p:cNvSpPr>
            <p:nvPr/>
          </p:nvSpPr>
          <p:spPr bwMode="auto">
            <a:xfrm rot="19473941">
              <a:off x="2809875" y="4170363"/>
              <a:ext cx="612775" cy="249237"/>
            </a:xfrm>
            <a:custGeom>
              <a:avLst/>
              <a:gdLst>
                <a:gd name="T0" fmla="*/ 1303795836 w 288"/>
                <a:gd name="T1" fmla="*/ 0 h 192"/>
                <a:gd name="T2" fmla="*/ 651898982 w 288"/>
                <a:gd name="T3" fmla="*/ 323536886 h 192"/>
                <a:gd name="T4" fmla="*/ 0 w 288"/>
                <a:gd name="T5" fmla="*/ 0 h 192"/>
                <a:gd name="T6" fmla="*/ 0 60000 65536"/>
                <a:gd name="T7" fmla="*/ 0 60000 65536"/>
                <a:gd name="T8" fmla="*/ 0 60000 65536"/>
              </a:gdLst>
              <a:ahLst/>
              <a:cxnLst>
                <a:cxn ang="T6">
                  <a:pos x="T0" y="T1"/>
                </a:cxn>
                <a:cxn ang="T7">
                  <a:pos x="T2" y="T3"/>
                </a:cxn>
                <a:cxn ang="T8">
                  <a:pos x="T4" y="T5"/>
                </a:cxn>
              </a:cxnLst>
              <a:rect l="0" t="0" r="r" b="b"/>
              <a:pathLst>
                <a:path w="288" h="192">
                  <a:moveTo>
                    <a:pt x="288" y="0"/>
                  </a:moveTo>
                  <a:cubicBezTo>
                    <a:pt x="240" y="96"/>
                    <a:pt x="192" y="192"/>
                    <a:pt x="144" y="192"/>
                  </a:cubicBezTo>
                  <a:cubicBezTo>
                    <a:pt x="96" y="192"/>
                    <a:pt x="48" y="96"/>
                    <a:pt x="0" y="0"/>
                  </a:cubicBezTo>
                </a:path>
              </a:pathLst>
            </a:custGeom>
            <a:noFill/>
            <a:ln w="57150" cap="flat" cmpd="sng">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93" name="Freeform 189">
              <a:extLst>
                <a:ext uri="{FF2B5EF4-FFF2-40B4-BE49-F238E27FC236}">
                  <a16:creationId xmlns:a16="http://schemas.microsoft.com/office/drawing/2014/main" id="{0DA43F77-9543-0C5D-C611-617BCF9AF793}"/>
                </a:ext>
              </a:extLst>
            </p:cNvPr>
            <p:cNvSpPr>
              <a:spLocks/>
            </p:cNvSpPr>
            <p:nvPr/>
          </p:nvSpPr>
          <p:spPr bwMode="auto">
            <a:xfrm rot="2490185">
              <a:off x="2392363" y="4543425"/>
              <a:ext cx="614362" cy="344488"/>
            </a:xfrm>
            <a:custGeom>
              <a:avLst/>
              <a:gdLst>
                <a:gd name="T0" fmla="*/ 1310557872 w 288"/>
                <a:gd name="T1" fmla="*/ 0 h 192"/>
                <a:gd name="T2" fmla="*/ 655278936 w 288"/>
                <a:gd name="T3" fmla="*/ 618083240 h 192"/>
                <a:gd name="T4" fmla="*/ 0 w 288"/>
                <a:gd name="T5" fmla="*/ 0 h 192"/>
                <a:gd name="T6" fmla="*/ 0 60000 65536"/>
                <a:gd name="T7" fmla="*/ 0 60000 65536"/>
                <a:gd name="T8" fmla="*/ 0 60000 65536"/>
              </a:gdLst>
              <a:ahLst/>
              <a:cxnLst>
                <a:cxn ang="T6">
                  <a:pos x="T0" y="T1"/>
                </a:cxn>
                <a:cxn ang="T7">
                  <a:pos x="T2" y="T3"/>
                </a:cxn>
                <a:cxn ang="T8">
                  <a:pos x="T4" y="T5"/>
                </a:cxn>
              </a:cxnLst>
              <a:rect l="0" t="0" r="r" b="b"/>
              <a:pathLst>
                <a:path w="288" h="192">
                  <a:moveTo>
                    <a:pt x="288" y="0"/>
                  </a:moveTo>
                  <a:cubicBezTo>
                    <a:pt x="240" y="96"/>
                    <a:pt x="192" y="192"/>
                    <a:pt x="144" y="192"/>
                  </a:cubicBezTo>
                  <a:cubicBezTo>
                    <a:pt x="96" y="192"/>
                    <a:pt x="48" y="96"/>
                    <a:pt x="0" y="0"/>
                  </a:cubicBezTo>
                </a:path>
              </a:pathLst>
            </a:custGeom>
            <a:noFill/>
            <a:ln w="57150" cap="flat" cmpd="sng">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94" name="Line 190">
              <a:extLst>
                <a:ext uri="{FF2B5EF4-FFF2-40B4-BE49-F238E27FC236}">
                  <a16:creationId xmlns:a16="http://schemas.microsoft.com/office/drawing/2014/main" id="{A7A860FE-2A6C-F6EB-7482-48AB63D2DEFF}"/>
                </a:ext>
              </a:extLst>
            </p:cNvPr>
            <p:cNvSpPr>
              <a:spLocks noChangeShapeType="1"/>
            </p:cNvSpPr>
            <p:nvPr/>
          </p:nvSpPr>
          <p:spPr bwMode="auto">
            <a:xfrm flipV="1">
              <a:off x="3492500" y="4044950"/>
              <a:ext cx="4305300" cy="685800"/>
            </a:xfrm>
            <a:prstGeom prst="line">
              <a:avLst/>
            </a:prstGeom>
            <a:noFill/>
            <a:ln w="57150">
              <a:solidFill>
                <a:schemeClr val="accent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95" name="Text Box 191">
              <a:extLst>
                <a:ext uri="{FF2B5EF4-FFF2-40B4-BE49-F238E27FC236}">
                  <a16:creationId xmlns:a16="http://schemas.microsoft.com/office/drawing/2014/main" id="{89E27D2C-2A62-E6BD-3121-EE055F7A67AC}"/>
                </a:ext>
              </a:extLst>
            </p:cNvPr>
            <p:cNvSpPr txBox="1">
              <a:spLocks noChangeArrowheads="1"/>
            </p:cNvSpPr>
            <p:nvPr/>
          </p:nvSpPr>
          <p:spPr bwMode="auto">
            <a:xfrm>
              <a:off x="5387975" y="6227763"/>
              <a:ext cx="234652" cy="291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solidFill>
                    <a:schemeClr val="tx1"/>
                  </a:solidFill>
                  <a:latin typeface="Roboto" panose="02000000000000000000" pitchFamily="2" charset="0"/>
                  <a:ea typeface="Roboto" panose="02000000000000000000" pitchFamily="2" charset="0"/>
                </a:rPr>
                <a:t>4</a:t>
              </a:r>
            </a:p>
          </p:txBody>
        </p:sp>
        <p:sp>
          <p:nvSpPr>
            <p:cNvPr id="396" name="Text Box 192">
              <a:extLst>
                <a:ext uri="{FF2B5EF4-FFF2-40B4-BE49-F238E27FC236}">
                  <a16:creationId xmlns:a16="http://schemas.microsoft.com/office/drawing/2014/main" id="{55904161-8ABD-D787-0103-6748C976ECA5}"/>
                </a:ext>
              </a:extLst>
            </p:cNvPr>
            <p:cNvSpPr txBox="1">
              <a:spLocks noChangeArrowheads="1"/>
            </p:cNvSpPr>
            <p:nvPr/>
          </p:nvSpPr>
          <p:spPr bwMode="auto">
            <a:xfrm>
              <a:off x="6686550" y="6227763"/>
              <a:ext cx="391785" cy="291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dirty="0">
                  <a:solidFill>
                    <a:schemeClr val="accent1"/>
                  </a:solidFill>
                  <a:latin typeface="Roboto" panose="02000000000000000000" pitchFamily="2" charset="0"/>
                  <a:ea typeface="Roboto" panose="02000000000000000000" pitchFamily="2" charset="0"/>
                </a:rPr>
                <a:t>77</a:t>
              </a:r>
              <a:r>
                <a:rPr lang="ja-JP" altLang="en-US" sz="1400" b="1" dirty="0">
                  <a:solidFill>
                    <a:schemeClr val="accent1"/>
                  </a:solidFill>
                  <a:latin typeface="Roboto" panose="02000000000000000000" pitchFamily="2" charset="0"/>
                </a:rPr>
                <a:t>”</a:t>
              </a:r>
              <a:endParaRPr lang="en-US" altLang="en-US" sz="1400" b="1" dirty="0">
                <a:solidFill>
                  <a:schemeClr val="accent1"/>
                </a:solidFill>
                <a:latin typeface="Roboto" panose="02000000000000000000" pitchFamily="2" charset="0"/>
                <a:ea typeface="Roboto" panose="02000000000000000000" pitchFamily="2" charset="0"/>
              </a:endParaRPr>
            </a:p>
          </p:txBody>
        </p:sp>
        <p:sp>
          <p:nvSpPr>
            <p:cNvPr id="397" name="Text Box 193">
              <a:extLst>
                <a:ext uri="{FF2B5EF4-FFF2-40B4-BE49-F238E27FC236}">
                  <a16:creationId xmlns:a16="http://schemas.microsoft.com/office/drawing/2014/main" id="{8B60E827-2217-DA83-8D96-84E2D608D8A7}"/>
                </a:ext>
              </a:extLst>
            </p:cNvPr>
            <p:cNvSpPr txBox="1">
              <a:spLocks noChangeArrowheads="1"/>
            </p:cNvSpPr>
            <p:nvPr/>
          </p:nvSpPr>
          <p:spPr bwMode="auto">
            <a:xfrm>
              <a:off x="7937500" y="6227763"/>
              <a:ext cx="391785" cy="291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solidFill>
                    <a:schemeClr val="tx1"/>
                  </a:solidFill>
                  <a:latin typeface="Roboto" panose="02000000000000000000" pitchFamily="2" charset="0"/>
                  <a:ea typeface="Roboto" panose="02000000000000000000" pitchFamily="2" charset="0"/>
                </a:rPr>
                <a:t>70</a:t>
              </a:r>
              <a:r>
                <a:rPr lang="ja-JP" altLang="en-US" sz="1400" b="1">
                  <a:solidFill>
                    <a:schemeClr val="tx1"/>
                  </a:solidFill>
                  <a:latin typeface="Roboto" panose="02000000000000000000" pitchFamily="2" charset="0"/>
                </a:rPr>
                <a:t>”</a:t>
              </a:r>
              <a:endParaRPr lang="en-US" altLang="en-US" sz="1400" b="1">
                <a:solidFill>
                  <a:schemeClr val="tx1"/>
                </a:solidFill>
                <a:latin typeface="Roboto" panose="02000000000000000000" pitchFamily="2" charset="0"/>
                <a:ea typeface="Roboto" panose="02000000000000000000" pitchFamily="2" charset="0"/>
              </a:endParaRPr>
            </a:p>
          </p:txBody>
        </p:sp>
        <p:grpSp>
          <p:nvGrpSpPr>
            <p:cNvPr id="398" name="Group 194">
              <a:extLst>
                <a:ext uri="{FF2B5EF4-FFF2-40B4-BE49-F238E27FC236}">
                  <a16:creationId xmlns:a16="http://schemas.microsoft.com/office/drawing/2014/main" id="{C33D0AD1-2381-AA79-2090-6BE9835FD34A}"/>
                </a:ext>
              </a:extLst>
            </p:cNvPr>
            <p:cNvGrpSpPr>
              <a:grpSpLocks/>
            </p:cNvGrpSpPr>
            <p:nvPr/>
          </p:nvGrpSpPr>
          <p:grpSpPr bwMode="auto">
            <a:xfrm>
              <a:off x="3840163" y="4170363"/>
              <a:ext cx="485775" cy="311150"/>
              <a:chOff x="3519" y="2637"/>
              <a:chExt cx="534" cy="345"/>
            </a:xfrm>
          </p:grpSpPr>
          <p:sp>
            <p:nvSpPr>
              <p:cNvPr id="399" name="Oval 195">
                <a:extLst>
                  <a:ext uri="{FF2B5EF4-FFF2-40B4-BE49-F238E27FC236}">
                    <a16:creationId xmlns:a16="http://schemas.microsoft.com/office/drawing/2014/main" id="{8DF89A18-7919-C44A-F00F-E6BD066AABC0}"/>
                  </a:ext>
                </a:extLst>
              </p:cNvPr>
              <p:cNvSpPr>
                <a:spLocks noChangeArrowheads="1"/>
              </p:cNvSpPr>
              <p:nvPr/>
            </p:nvSpPr>
            <p:spPr bwMode="auto">
              <a:xfrm>
                <a:off x="3620" y="2637"/>
                <a:ext cx="342" cy="341"/>
              </a:xfrm>
              <a:prstGeom prst="ellipse">
                <a:avLst/>
              </a:prstGeom>
              <a:solidFill>
                <a:schemeClr val="accent3"/>
              </a:solidFill>
              <a:ln w="28575">
                <a:solidFill>
                  <a:srgbClr val="000000"/>
                </a:solidFill>
                <a:round/>
                <a:headEnd/>
                <a:tailEnd/>
              </a:ln>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latin typeface="Roboto" panose="02000000000000000000" pitchFamily="2" charset="0"/>
                  <a:ea typeface="Roboto" panose="02000000000000000000" pitchFamily="2" charset="0"/>
                </a:endParaRPr>
              </a:p>
            </p:txBody>
          </p:sp>
          <p:sp>
            <p:nvSpPr>
              <p:cNvPr id="400" name="Freeform 196">
                <a:extLst>
                  <a:ext uri="{FF2B5EF4-FFF2-40B4-BE49-F238E27FC236}">
                    <a16:creationId xmlns:a16="http://schemas.microsoft.com/office/drawing/2014/main" id="{8290A5B4-FD45-643F-BB17-4B8D3C4EFBCC}"/>
                  </a:ext>
                </a:extLst>
              </p:cNvPr>
              <p:cNvSpPr>
                <a:spLocks/>
              </p:cNvSpPr>
              <p:nvPr/>
            </p:nvSpPr>
            <p:spPr bwMode="auto">
              <a:xfrm>
                <a:off x="3519" y="2683"/>
                <a:ext cx="534" cy="299"/>
              </a:xfrm>
              <a:custGeom>
                <a:avLst/>
                <a:gdLst>
                  <a:gd name="T0" fmla="*/ 1 w 534"/>
                  <a:gd name="T1" fmla="*/ 12 h 300"/>
                  <a:gd name="T2" fmla="*/ 0 w 534"/>
                  <a:gd name="T3" fmla="*/ 40 h 300"/>
                  <a:gd name="T4" fmla="*/ 2 w 534"/>
                  <a:gd name="T5" fmla="*/ 69 h 300"/>
                  <a:gd name="T6" fmla="*/ 15 w 534"/>
                  <a:gd name="T7" fmla="*/ 123 h 300"/>
                  <a:gd name="T8" fmla="*/ 38 w 534"/>
                  <a:gd name="T9" fmla="*/ 169 h 300"/>
                  <a:gd name="T10" fmla="*/ 72 w 534"/>
                  <a:gd name="T11" fmla="*/ 213 h 300"/>
                  <a:gd name="T12" fmla="*/ 113 w 534"/>
                  <a:gd name="T13" fmla="*/ 248 h 300"/>
                  <a:gd name="T14" fmla="*/ 161 w 534"/>
                  <a:gd name="T15" fmla="*/ 275 h 300"/>
                  <a:gd name="T16" fmla="*/ 214 w 534"/>
                  <a:gd name="T17" fmla="*/ 292 h 300"/>
                  <a:gd name="T18" fmla="*/ 243 w 534"/>
                  <a:gd name="T19" fmla="*/ 296 h 300"/>
                  <a:gd name="T20" fmla="*/ 258 w 534"/>
                  <a:gd name="T21" fmla="*/ 296 h 300"/>
                  <a:gd name="T22" fmla="*/ 272 w 534"/>
                  <a:gd name="T23" fmla="*/ 297 h 300"/>
                  <a:gd name="T24" fmla="*/ 329 w 534"/>
                  <a:gd name="T25" fmla="*/ 290 h 300"/>
                  <a:gd name="T26" fmla="*/ 382 w 534"/>
                  <a:gd name="T27" fmla="*/ 271 h 300"/>
                  <a:gd name="T28" fmla="*/ 428 w 534"/>
                  <a:gd name="T29" fmla="*/ 243 h 300"/>
                  <a:gd name="T30" fmla="*/ 468 w 534"/>
                  <a:gd name="T31" fmla="*/ 205 h 300"/>
                  <a:gd name="T32" fmla="*/ 499 w 534"/>
                  <a:gd name="T33" fmla="*/ 161 h 300"/>
                  <a:gd name="T34" fmla="*/ 521 w 534"/>
                  <a:gd name="T35" fmla="*/ 113 h 300"/>
                  <a:gd name="T36" fmla="*/ 532 w 534"/>
                  <a:gd name="T37" fmla="*/ 59 h 300"/>
                  <a:gd name="T38" fmla="*/ 533 w 534"/>
                  <a:gd name="T39" fmla="*/ 30 h 300"/>
                  <a:gd name="T40" fmla="*/ 533 w 534"/>
                  <a:gd name="T41" fmla="*/ 15 h 300"/>
                  <a:gd name="T42" fmla="*/ 531 w 534"/>
                  <a:gd name="T43" fmla="*/ 0 h 3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34" h="300">
                    <a:moveTo>
                      <a:pt x="1" y="12"/>
                    </a:moveTo>
                    <a:lnTo>
                      <a:pt x="0" y="40"/>
                    </a:lnTo>
                    <a:lnTo>
                      <a:pt x="2" y="69"/>
                    </a:lnTo>
                    <a:lnTo>
                      <a:pt x="15" y="123"/>
                    </a:lnTo>
                    <a:lnTo>
                      <a:pt x="38" y="171"/>
                    </a:lnTo>
                    <a:lnTo>
                      <a:pt x="72" y="215"/>
                    </a:lnTo>
                    <a:lnTo>
                      <a:pt x="113" y="250"/>
                    </a:lnTo>
                    <a:lnTo>
                      <a:pt x="161" y="277"/>
                    </a:lnTo>
                    <a:lnTo>
                      <a:pt x="214" y="294"/>
                    </a:lnTo>
                    <a:lnTo>
                      <a:pt x="243" y="298"/>
                    </a:lnTo>
                    <a:lnTo>
                      <a:pt x="258" y="298"/>
                    </a:lnTo>
                    <a:lnTo>
                      <a:pt x="272" y="299"/>
                    </a:lnTo>
                    <a:lnTo>
                      <a:pt x="329" y="292"/>
                    </a:lnTo>
                    <a:lnTo>
                      <a:pt x="382" y="273"/>
                    </a:lnTo>
                    <a:lnTo>
                      <a:pt x="428" y="245"/>
                    </a:lnTo>
                    <a:lnTo>
                      <a:pt x="468" y="207"/>
                    </a:lnTo>
                    <a:lnTo>
                      <a:pt x="499" y="163"/>
                    </a:lnTo>
                    <a:lnTo>
                      <a:pt x="521" y="113"/>
                    </a:lnTo>
                    <a:lnTo>
                      <a:pt x="532" y="59"/>
                    </a:lnTo>
                    <a:lnTo>
                      <a:pt x="533" y="30"/>
                    </a:lnTo>
                    <a:lnTo>
                      <a:pt x="533" y="15"/>
                    </a:lnTo>
                    <a:lnTo>
                      <a:pt x="531" y="0"/>
                    </a:lnTo>
                  </a:path>
                </a:pathLst>
              </a:custGeom>
              <a:noFill/>
              <a:ln w="28575"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grpSp>
      </p:grpSp>
    </p:spTree>
    <p:extLst>
      <p:ext uri="{BB962C8B-B14F-4D97-AF65-F5344CB8AC3E}">
        <p14:creationId xmlns:p14="http://schemas.microsoft.com/office/powerpoint/2010/main" val="24029811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Operator Loading Chart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Details the cycle time for all operators in a cell</a:t>
            </a:r>
          </a:p>
          <a:p>
            <a:r>
              <a:rPr lang="en-US" dirty="0"/>
              <a:t>Compares operator cycle times to TAKT time</a:t>
            </a:r>
          </a:p>
          <a:p>
            <a:r>
              <a:rPr lang="en-US" dirty="0"/>
              <a:t>Allows supervisor to understand manning requirements at a glance</a:t>
            </a:r>
          </a:p>
          <a:p>
            <a:r>
              <a:rPr lang="en-US" dirty="0"/>
              <a:t>Facilitates the kaizen opportunities that may exist in a cell </a:t>
            </a:r>
          </a:p>
          <a:p>
            <a:r>
              <a:rPr lang="en-US" dirty="0"/>
              <a:t>Incorporates “Least Operator” concept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61</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29111828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Operator Loading Chart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62</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grpSp>
        <p:nvGrpSpPr>
          <p:cNvPr id="3" name="Group 2">
            <a:extLst>
              <a:ext uri="{FF2B5EF4-FFF2-40B4-BE49-F238E27FC236}">
                <a16:creationId xmlns:a16="http://schemas.microsoft.com/office/drawing/2014/main" id="{D7CFDA26-8679-11D6-E7A3-B222DF6F82F9}"/>
              </a:ext>
            </a:extLst>
          </p:cNvPr>
          <p:cNvGrpSpPr/>
          <p:nvPr/>
        </p:nvGrpSpPr>
        <p:grpSpPr>
          <a:xfrm>
            <a:off x="1207497" y="1943100"/>
            <a:ext cx="9777007" cy="4003636"/>
            <a:chOff x="1146175" y="768668"/>
            <a:chExt cx="8642352" cy="5214942"/>
          </a:xfrm>
        </p:grpSpPr>
        <p:sp>
          <p:nvSpPr>
            <p:cNvPr id="13" name="Line 7">
              <a:extLst>
                <a:ext uri="{FF2B5EF4-FFF2-40B4-BE49-F238E27FC236}">
                  <a16:creationId xmlns:a16="http://schemas.microsoft.com/office/drawing/2014/main" id="{1A3F393E-079E-4277-C6C7-1BA265845050}"/>
                </a:ext>
              </a:extLst>
            </p:cNvPr>
            <p:cNvSpPr>
              <a:spLocks noChangeShapeType="1"/>
            </p:cNvSpPr>
            <p:nvPr/>
          </p:nvSpPr>
          <p:spPr bwMode="auto">
            <a:xfrm>
              <a:off x="1146175" y="911543"/>
              <a:ext cx="0" cy="120491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000">
                <a:latin typeface="Roboto" panose="02000000000000000000" pitchFamily="2" charset="0"/>
                <a:ea typeface="Roboto" panose="02000000000000000000" pitchFamily="2" charset="0"/>
              </a:endParaRPr>
            </a:p>
          </p:txBody>
        </p:sp>
        <p:sp>
          <p:nvSpPr>
            <p:cNvPr id="14" name="Line 8">
              <a:extLst>
                <a:ext uri="{FF2B5EF4-FFF2-40B4-BE49-F238E27FC236}">
                  <a16:creationId xmlns:a16="http://schemas.microsoft.com/office/drawing/2014/main" id="{3CCEE0AA-D70C-2A64-0149-1690DFED60D9}"/>
                </a:ext>
              </a:extLst>
            </p:cNvPr>
            <p:cNvSpPr>
              <a:spLocks noChangeShapeType="1"/>
            </p:cNvSpPr>
            <p:nvPr/>
          </p:nvSpPr>
          <p:spPr bwMode="auto">
            <a:xfrm>
              <a:off x="1150938" y="2118043"/>
              <a:ext cx="244951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000">
                <a:latin typeface="Roboto" panose="02000000000000000000" pitchFamily="2" charset="0"/>
                <a:ea typeface="Roboto" panose="02000000000000000000" pitchFamily="2" charset="0"/>
              </a:endParaRPr>
            </a:p>
          </p:txBody>
        </p:sp>
        <p:sp>
          <p:nvSpPr>
            <p:cNvPr id="15" name="Rectangle 9">
              <a:extLst>
                <a:ext uri="{FF2B5EF4-FFF2-40B4-BE49-F238E27FC236}">
                  <a16:creationId xmlns:a16="http://schemas.microsoft.com/office/drawing/2014/main" id="{682BA060-97E9-6096-85F5-DC49BF747D7B}"/>
                </a:ext>
              </a:extLst>
            </p:cNvPr>
            <p:cNvSpPr>
              <a:spLocks noChangeArrowheads="1"/>
            </p:cNvSpPr>
            <p:nvPr/>
          </p:nvSpPr>
          <p:spPr bwMode="auto">
            <a:xfrm>
              <a:off x="1284288" y="846455"/>
              <a:ext cx="322262" cy="12636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800">
                <a:solidFill>
                  <a:schemeClr val="tx1"/>
                </a:solidFill>
                <a:latin typeface="Roboto" panose="02000000000000000000" pitchFamily="2" charset="0"/>
                <a:ea typeface="Roboto" panose="02000000000000000000" pitchFamily="2" charset="0"/>
              </a:endParaRPr>
            </a:p>
          </p:txBody>
        </p:sp>
        <p:sp>
          <p:nvSpPr>
            <p:cNvPr id="16" name="Rectangle 10">
              <a:extLst>
                <a:ext uri="{FF2B5EF4-FFF2-40B4-BE49-F238E27FC236}">
                  <a16:creationId xmlns:a16="http://schemas.microsoft.com/office/drawing/2014/main" id="{4E460842-73DC-6EE3-08A2-73B964CB1276}"/>
                </a:ext>
              </a:extLst>
            </p:cNvPr>
            <p:cNvSpPr>
              <a:spLocks noChangeArrowheads="1"/>
            </p:cNvSpPr>
            <p:nvPr/>
          </p:nvSpPr>
          <p:spPr bwMode="auto">
            <a:xfrm>
              <a:off x="3251200" y="1154430"/>
              <a:ext cx="301625" cy="95726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800">
                <a:solidFill>
                  <a:schemeClr val="tx1"/>
                </a:solidFill>
                <a:latin typeface="Roboto" panose="02000000000000000000" pitchFamily="2" charset="0"/>
                <a:ea typeface="Roboto" panose="02000000000000000000" pitchFamily="2" charset="0"/>
              </a:endParaRPr>
            </a:p>
          </p:txBody>
        </p:sp>
        <p:sp>
          <p:nvSpPr>
            <p:cNvPr id="17" name="Rectangle 11">
              <a:extLst>
                <a:ext uri="{FF2B5EF4-FFF2-40B4-BE49-F238E27FC236}">
                  <a16:creationId xmlns:a16="http://schemas.microsoft.com/office/drawing/2014/main" id="{B34DAB02-0A83-2B98-763A-E502018C5FD5}"/>
                </a:ext>
              </a:extLst>
            </p:cNvPr>
            <p:cNvSpPr>
              <a:spLocks noChangeArrowheads="1"/>
            </p:cNvSpPr>
            <p:nvPr/>
          </p:nvSpPr>
          <p:spPr bwMode="auto">
            <a:xfrm>
              <a:off x="2760663" y="1641793"/>
              <a:ext cx="323850" cy="4619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800">
                <a:solidFill>
                  <a:schemeClr val="tx1"/>
                </a:solidFill>
                <a:latin typeface="Roboto" panose="02000000000000000000" pitchFamily="2" charset="0"/>
                <a:ea typeface="Roboto" panose="02000000000000000000" pitchFamily="2" charset="0"/>
              </a:endParaRPr>
            </a:p>
          </p:txBody>
        </p:sp>
        <p:sp>
          <p:nvSpPr>
            <p:cNvPr id="18" name="Rectangle 12">
              <a:extLst>
                <a:ext uri="{FF2B5EF4-FFF2-40B4-BE49-F238E27FC236}">
                  <a16:creationId xmlns:a16="http://schemas.microsoft.com/office/drawing/2014/main" id="{5A0D26E4-063B-2B2E-C385-9DCD6D3F37B0}"/>
                </a:ext>
              </a:extLst>
            </p:cNvPr>
            <p:cNvSpPr>
              <a:spLocks noChangeArrowheads="1"/>
            </p:cNvSpPr>
            <p:nvPr/>
          </p:nvSpPr>
          <p:spPr bwMode="auto">
            <a:xfrm>
              <a:off x="2281238" y="768668"/>
              <a:ext cx="323850" cy="13398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800">
                <a:solidFill>
                  <a:schemeClr val="tx1"/>
                </a:solidFill>
                <a:latin typeface="Roboto" panose="02000000000000000000" pitchFamily="2" charset="0"/>
                <a:ea typeface="Roboto" panose="02000000000000000000" pitchFamily="2" charset="0"/>
              </a:endParaRPr>
            </a:p>
          </p:txBody>
        </p:sp>
        <p:sp>
          <p:nvSpPr>
            <p:cNvPr id="19" name="Rectangle 13">
              <a:extLst>
                <a:ext uri="{FF2B5EF4-FFF2-40B4-BE49-F238E27FC236}">
                  <a16:creationId xmlns:a16="http://schemas.microsoft.com/office/drawing/2014/main" id="{AA521400-B843-64F0-7625-4970BB69FB26}"/>
                </a:ext>
              </a:extLst>
            </p:cNvPr>
            <p:cNvSpPr>
              <a:spLocks noChangeArrowheads="1"/>
            </p:cNvSpPr>
            <p:nvPr/>
          </p:nvSpPr>
          <p:spPr bwMode="auto">
            <a:xfrm>
              <a:off x="1770063" y="1246505"/>
              <a:ext cx="347662" cy="8572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800">
                <a:solidFill>
                  <a:schemeClr val="tx1"/>
                </a:solidFill>
                <a:latin typeface="Roboto" panose="02000000000000000000" pitchFamily="2" charset="0"/>
                <a:ea typeface="Roboto" panose="02000000000000000000" pitchFamily="2" charset="0"/>
              </a:endParaRPr>
            </a:p>
          </p:txBody>
        </p:sp>
        <p:sp>
          <p:nvSpPr>
            <p:cNvPr id="20" name="Rectangle 14">
              <a:extLst>
                <a:ext uri="{FF2B5EF4-FFF2-40B4-BE49-F238E27FC236}">
                  <a16:creationId xmlns:a16="http://schemas.microsoft.com/office/drawing/2014/main" id="{20526F1D-00FD-B16A-D547-7859C6249B95}"/>
                </a:ext>
              </a:extLst>
            </p:cNvPr>
            <p:cNvSpPr>
              <a:spLocks noChangeArrowheads="1"/>
            </p:cNvSpPr>
            <p:nvPr/>
          </p:nvSpPr>
          <p:spPr bwMode="auto">
            <a:xfrm>
              <a:off x="1803400" y="1783106"/>
              <a:ext cx="264974"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latin typeface="Roboto" panose="02000000000000000000" pitchFamily="2" charset="0"/>
                  <a:ea typeface="Roboto" panose="02000000000000000000" pitchFamily="2" charset="0"/>
                </a:rPr>
                <a:t>B</a:t>
              </a:r>
            </a:p>
          </p:txBody>
        </p:sp>
        <p:sp>
          <p:nvSpPr>
            <p:cNvPr id="21" name="Rectangle 15">
              <a:extLst>
                <a:ext uri="{FF2B5EF4-FFF2-40B4-BE49-F238E27FC236}">
                  <a16:creationId xmlns:a16="http://schemas.microsoft.com/office/drawing/2014/main" id="{C6CB40FB-F4FF-66ED-09D8-2400A0BD1915}"/>
                </a:ext>
              </a:extLst>
            </p:cNvPr>
            <p:cNvSpPr>
              <a:spLocks noChangeArrowheads="1"/>
            </p:cNvSpPr>
            <p:nvPr/>
          </p:nvSpPr>
          <p:spPr bwMode="auto">
            <a:xfrm>
              <a:off x="2297113" y="1783106"/>
              <a:ext cx="267808"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latin typeface="Roboto" panose="02000000000000000000" pitchFamily="2" charset="0"/>
                  <a:ea typeface="Roboto" panose="02000000000000000000" pitchFamily="2" charset="0"/>
                </a:rPr>
                <a:t>C</a:t>
              </a:r>
            </a:p>
          </p:txBody>
        </p:sp>
        <p:sp>
          <p:nvSpPr>
            <p:cNvPr id="22" name="Rectangle 16">
              <a:extLst>
                <a:ext uri="{FF2B5EF4-FFF2-40B4-BE49-F238E27FC236}">
                  <a16:creationId xmlns:a16="http://schemas.microsoft.com/office/drawing/2014/main" id="{25C3C4FF-1833-DA1A-D26B-0EA7A7BA3B24}"/>
                </a:ext>
              </a:extLst>
            </p:cNvPr>
            <p:cNvSpPr>
              <a:spLocks noChangeArrowheads="1"/>
            </p:cNvSpPr>
            <p:nvPr/>
          </p:nvSpPr>
          <p:spPr bwMode="auto">
            <a:xfrm>
              <a:off x="2776538" y="1783106"/>
              <a:ext cx="267808"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latin typeface="Roboto" panose="02000000000000000000" pitchFamily="2" charset="0"/>
                  <a:ea typeface="Roboto" panose="02000000000000000000" pitchFamily="2" charset="0"/>
                </a:rPr>
                <a:t>D</a:t>
              </a:r>
            </a:p>
          </p:txBody>
        </p:sp>
        <p:sp>
          <p:nvSpPr>
            <p:cNvPr id="23" name="Rectangle 17">
              <a:extLst>
                <a:ext uri="{FF2B5EF4-FFF2-40B4-BE49-F238E27FC236}">
                  <a16:creationId xmlns:a16="http://schemas.microsoft.com/office/drawing/2014/main" id="{5330C10B-F70A-5353-C54E-62CC8B943D27}"/>
                </a:ext>
              </a:extLst>
            </p:cNvPr>
            <p:cNvSpPr>
              <a:spLocks noChangeArrowheads="1"/>
            </p:cNvSpPr>
            <p:nvPr/>
          </p:nvSpPr>
          <p:spPr bwMode="auto">
            <a:xfrm>
              <a:off x="3267075" y="1783106"/>
              <a:ext cx="253638"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latin typeface="Roboto" panose="02000000000000000000" pitchFamily="2" charset="0"/>
                  <a:ea typeface="Roboto" panose="02000000000000000000" pitchFamily="2" charset="0"/>
                </a:rPr>
                <a:t>E</a:t>
              </a:r>
            </a:p>
          </p:txBody>
        </p:sp>
        <p:sp>
          <p:nvSpPr>
            <p:cNvPr id="24" name="Rectangle 18">
              <a:extLst>
                <a:ext uri="{FF2B5EF4-FFF2-40B4-BE49-F238E27FC236}">
                  <a16:creationId xmlns:a16="http://schemas.microsoft.com/office/drawing/2014/main" id="{8423DF91-7ACC-2641-0B81-F3E5321BEF1A}"/>
                </a:ext>
              </a:extLst>
            </p:cNvPr>
            <p:cNvSpPr>
              <a:spLocks noChangeArrowheads="1"/>
            </p:cNvSpPr>
            <p:nvPr/>
          </p:nvSpPr>
          <p:spPr bwMode="auto">
            <a:xfrm>
              <a:off x="1296988" y="1783106"/>
              <a:ext cx="270641"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dirty="0">
                  <a:latin typeface="Roboto" panose="02000000000000000000" pitchFamily="2" charset="0"/>
                  <a:ea typeface="Roboto" panose="02000000000000000000" pitchFamily="2" charset="0"/>
                </a:rPr>
                <a:t>A</a:t>
              </a:r>
            </a:p>
          </p:txBody>
        </p:sp>
        <p:sp>
          <p:nvSpPr>
            <p:cNvPr id="25" name="Rectangle 19">
              <a:extLst>
                <a:ext uri="{FF2B5EF4-FFF2-40B4-BE49-F238E27FC236}">
                  <a16:creationId xmlns:a16="http://schemas.microsoft.com/office/drawing/2014/main" id="{6C3ED7DB-0853-2BF9-721D-6EDD5FC79411}"/>
                </a:ext>
              </a:extLst>
            </p:cNvPr>
            <p:cNvSpPr>
              <a:spLocks noChangeArrowheads="1"/>
            </p:cNvSpPr>
            <p:nvPr/>
          </p:nvSpPr>
          <p:spPr bwMode="auto">
            <a:xfrm>
              <a:off x="3511550" y="884555"/>
              <a:ext cx="1064144"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a:latin typeface="Roboto" panose="02000000000000000000" pitchFamily="2" charset="0"/>
                  <a:ea typeface="Roboto" panose="02000000000000000000" pitchFamily="2" charset="0"/>
                </a:rPr>
                <a:t>TAKT Time</a:t>
              </a:r>
            </a:p>
          </p:txBody>
        </p:sp>
        <p:sp>
          <p:nvSpPr>
            <p:cNvPr id="26" name="Rectangle 20">
              <a:extLst>
                <a:ext uri="{FF2B5EF4-FFF2-40B4-BE49-F238E27FC236}">
                  <a16:creationId xmlns:a16="http://schemas.microsoft.com/office/drawing/2014/main" id="{0015F51B-5B21-8247-013B-F7C91DAC093D}"/>
                </a:ext>
              </a:extLst>
            </p:cNvPr>
            <p:cNvSpPr>
              <a:spLocks noChangeArrowheads="1"/>
            </p:cNvSpPr>
            <p:nvPr/>
          </p:nvSpPr>
          <p:spPr bwMode="auto">
            <a:xfrm>
              <a:off x="1603337" y="2179955"/>
              <a:ext cx="1212926" cy="682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2800" b="1" dirty="0">
                  <a:solidFill>
                    <a:schemeClr val="tx1"/>
                  </a:solidFill>
                  <a:latin typeface="Roboto" panose="02000000000000000000" pitchFamily="2" charset="0"/>
                  <a:ea typeface="Roboto" panose="02000000000000000000" pitchFamily="2" charset="0"/>
                </a:rPr>
                <a:t>Natural</a:t>
              </a:r>
            </a:p>
          </p:txBody>
        </p:sp>
        <p:sp>
          <p:nvSpPr>
            <p:cNvPr id="27" name="Line 21">
              <a:extLst>
                <a:ext uri="{FF2B5EF4-FFF2-40B4-BE49-F238E27FC236}">
                  <a16:creationId xmlns:a16="http://schemas.microsoft.com/office/drawing/2014/main" id="{0824B59E-23EF-BDDB-9408-CACD2FFAF6B9}"/>
                </a:ext>
              </a:extLst>
            </p:cNvPr>
            <p:cNvSpPr>
              <a:spLocks noChangeShapeType="1"/>
            </p:cNvSpPr>
            <p:nvPr/>
          </p:nvSpPr>
          <p:spPr bwMode="auto">
            <a:xfrm>
              <a:off x="1146175" y="998855"/>
              <a:ext cx="2392363" cy="0"/>
            </a:xfrm>
            <a:prstGeom prst="line">
              <a:avLst/>
            </a:prstGeom>
            <a:noFill/>
            <a:ln w="508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000">
                <a:latin typeface="Roboto" panose="02000000000000000000" pitchFamily="2" charset="0"/>
                <a:ea typeface="Roboto" panose="02000000000000000000" pitchFamily="2" charset="0"/>
              </a:endParaRPr>
            </a:p>
          </p:txBody>
        </p:sp>
        <p:grpSp>
          <p:nvGrpSpPr>
            <p:cNvPr id="28" name="Group 22">
              <a:extLst>
                <a:ext uri="{FF2B5EF4-FFF2-40B4-BE49-F238E27FC236}">
                  <a16:creationId xmlns:a16="http://schemas.microsoft.com/office/drawing/2014/main" id="{DC170710-1502-78C2-EF1D-F589A5B03239}"/>
                </a:ext>
              </a:extLst>
            </p:cNvPr>
            <p:cNvGrpSpPr>
              <a:grpSpLocks/>
            </p:cNvGrpSpPr>
            <p:nvPr/>
          </p:nvGrpSpPr>
          <p:grpSpPr bwMode="auto">
            <a:xfrm>
              <a:off x="5980114" y="4161159"/>
              <a:ext cx="3808413" cy="1822451"/>
              <a:chOff x="3255" y="3306"/>
              <a:chExt cx="2399" cy="1148"/>
            </a:xfrm>
          </p:grpSpPr>
          <p:sp>
            <p:nvSpPr>
              <p:cNvPr id="45" name="Rectangle 23">
                <a:extLst>
                  <a:ext uri="{FF2B5EF4-FFF2-40B4-BE49-F238E27FC236}">
                    <a16:creationId xmlns:a16="http://schemas.microsoft.com/office/drawing/2014/main" id="{7582DAB4-99B7-9317-2573-80CE9F7C287A}"/>
                  </a:ext>
                </a:extLst>
              </p:cNvPr>
              <p:cNvSpPr>
                <a:spLocks noChangeArrowheads="1"/>
              </p:cNvSpPr>
              <p:nvPr/>
            </p:nvSpPr>
            <p:spPr bwMode="auto">
              <a:xfrm>
                <a:off x="3655" y="3786"/>
                <a:ext cx="16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latin typeface="Roboto" panose="02000000000000000000" pitchFamily="2" charset="0"/>
                    <a:ea typeface="Roboto" panose="02000000000000000000" pitchFamily="2" charset="0"/>
                  </a:rPr>
                  <a:t>B</a:t>
                </a:r>
              </a:p>
            </p:txBody>
          </p:sp>
          <p:sp>
            <p:nvSpPr>
              <p:cNvPr id="46" name="Rectangle 24">
                <a:extLst>
                  <a:ext uri="{FF2B5EF4-FFF2-40B4-BE49-F238E27FC236}">
                    <a16:creationId xmlns:a16="http://schemas.microsoft.com/office/drawing/2014/main" id="{B3CF1B3F-457E-D7F5-9073-95F61B3A6B78}"/>
                  </a:ext>
                </a:extLst>
              </p:cNvPr>
              <p:cNvSpPr>
                <a:spLocks noChangeArrowheads="1"/>
              </p:cNvSpPr>
              <p:nvPr/>
            </p:nvSpPr>
            <p:spPr bwMode="auto">
              <a:xfrm>
                <a:off x="3956" y="3786"/>
                <a:ext cx="1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latin typeface="Roboto" panose="02000000000000000000" pitchFamily="2" charset="0"/>
                    <a:ea typeface="Roboto" panose="02000000000000000000" pitchFamily="2" charset="0"/>
                  </a:rPr>
                  <a:t>C</a:t>
                </a:r>
              </a:p>
            </p:txBody>
          </p:sp>
          <p:sp>
            <p:nvSpPr>
              <p:cNvPr id="47" name="Rectangle 25">
                <a:extLst>
                  <a:ext uri="{FF2B5EF4-FFF2-40B4-BE49-F238E27FC236}">
                    <a16:creationId xmlns:a16="http://schemas.microsoft.com/office/drawing/2014/main" id="{31CFAA0F-BC54-7EF1-FF5B-E64E87F842B0}"/>
                  </a:ext>
                </a:extLst>
              </p:cNvPr>
              <p:cNvSpPr>
                <a:spLocks noChangeArrowheads="1"/>
              </p:cNvSpPr>
              <p:nvPr/>
            </p:nvSpPr>
            <p:spPr bwMode="auto">
              <a:xfrm>
                <a:off x="4247" y="3786"/>
                <a:ext cx="1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latin typeface="Roboto" panose="02000000000000000000" pitchFamily="2" charset="0"/>
                    <a:ea typeface="Roboto" panose="02000000000000000000" pitchFamily="2" charset="0"/>
                  </a:rPr>
                  <a:t>D</a:t>
                </a:r>
              </a:p>
            </p:txBody>
          </p:sp>
          <p:sp>
            <p:nvSpPr>
              <p:cNvPr id="48" name="Rectangle 26">
                <a:extLst>
                  <a:ext uri="{FF2B5EF4-FFF2-40B4-BE49-F238E27FC236}">
                    <a16:creationId xmlns:a16="http://schemas.microsoft.com/office/drawing/2014/main" id="{E2313E22-EF56-0815-1C40-4A10EC9680EB}"/>
                  </a:ext>
                </a:extLst>
              </p:cNvPr>
              <p:cNvSpPr>
                <a:spLocks noChangeArrowheads="1"/>
              </p:cNvSpPr>
              <p:nvPr/>
            </p:nvSpPr>
            <p:spPr bwMode="auto">
              <a:xfrm>
                <a:off x="4541" y="3786"/>
                <a:ext cx="16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latin typeface="Roboto" panose="02000000000000000000" pitchFamily="2" charset="0"/>
                    <a:ea typeface="Roboto" panose="02000000000000000000" pitchFamily="2" charset="0"/>
                  </a:rPr>
                  <a:t>E</a:t>
                </a:r>
              </a:p>
            </p:txBody>
          </p:sp>
          <p:sp>
            <p:nvSpPr>
              <p:cNvPr id="49" name="Rectangle 27">
                <a:extLst>
                  <a:ext uri="{FF2B5EF4-FFF2-40B4-BE49-F238E27FC236}">
                    <a16:creationId xmlns:a16="http://schemas.microsoft.com/office/drawing/2014/main" id="{EDB76456-2828-9B85-8613-3338BD2B8D15}"/>
                  </a:ext>
                </a:extLst>
              </p:cNvPr>
              <p:cNvSpPr>
                <a:spLocks noChangeArrowheads="1"/>
              </p:cNvSpPr>
              <p:nvPr/>
            </p:nvSpPr>
            <p:spPr bwMode="auto">
              <a:xfrm>
                <a:off x="3344" y="3786"/>
                <a:ext cx="17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latin typeface="Roboto" panose="02000000000000000000" pitchFamily="2" charset="0"/>
                    <a:ea typeface="Roboto" panose="02000000000000000000" pitchFamily="2" charset="0"/>
                  </a:rPr>
                  <a:t>A</a:t>
                </a:r>
              </a:p>
            </p:txBody>
          </p:sp>
          <p:sp>
            <p:nvSpPr>
              <p:cNvPr id="50" name="Line 28">
                <a:extLst>
                  <a:ext uri="{FF2B5EF4-FFF2-40B4-BE49-F238E27FC236}">
                    <a16:creationId xmlns:a16="http://schemas.microsoft.com/office/drawing/2014/main" id="{AECA4705-C2C9-CE47-2688-A32D895AAAC0}"/>
                  </a:ext>
                </a:extLst>
              </p:cNvPr>
              <p:cNvSpPr>
                <a:spLocks noChangeShapeType="1"/>
              </p:cNvSpPr>
              <p:nvPr/>
            </p:nvSpPr>
            <p:spPr bwMode="auto">
              <a:xfrm>
                <a:off x="3255" y="3306"/>
                <a:ext cx="0" cy="67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000">
                  <a:latin typeface="Roboto" panose="02000000000000000000" pitchFamily="2" charset="0"/>
                  <a:ea typeface="Roboto" panose="02000000000000000000" pitchFamily="2" charset="0"/>
                </a:endParaRPr>
              </a:p>
            </p:txBody>
          </p:sp>
          <p:sp>
            <p:nvSpPr>
              <p:cNvPr id="51" name="Line 29">
                <a:extLst>
                  <a:ext uri="{FF2B5EF4-FFF2-40B4-BE49-F238E27FC236}">
                    <a16:creationId xmlns:a16="http://schemas.microsoft.com/office/drawing/2014/main" id="{6A7A3EBC-CAA4-D8D3-8071-F1E872F51018}"/>
                  </a:ext>
                </a:extLst>
              </p:cNvPr>
              <p:cNvSpPr>
                <a:spLocks noChangeShapeType="1"/>
              </p:cNvSpPr>
              <p:nvPr/>
            </p:nvSpPr>
            <p:spPr bwMode="auto">
              <a:xfrm>
                <a:off x="3258" y="3984"/>
                <a:ext cx="149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000">
                  <a:latin typeface="Roboto" panose="02000000000000000000" pitchFamily="2" charset="0"/>
                  <a:ea typeface="Roboto" panose="02000000000000000000" pitchFamily="2" charset="0"/>
                </a:endParaRPr>
              </a:p>
            </p:txBody>
          </p:sp>
          <p:sp>
            <p:nvSpPr>
              <p:cNvPr id="52" name="Rectangle 30">
                <a:extLst>
                  <a:ext uri="{FF2B5EF4-FFF2-40B4-BE49-F238E27FC236}">
                    <a16:creationId xmlns:a16="http://schemas.microsoft.com/office/drawing/2014/main" id="{D7484E40-24D2-C499-B849-27FE750BCA3E}"/>
                  </a:ext>
                </a:extLst>
              </p:cNvPr>
              <p:cNvSpPr>
                <a:spLocks noChangeArrowheads="1"/>
              </p:cNvSpPr>
              <p:nvPr/>
            </p:nvSpPr>
            <p:spPr bwMode="auto">
              <a:xfrm>
                <a:off x="3339" y="3409"/>
                <a:ext cx="196" cy="57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800">
                  <a:solidFill>
                    <a:schemeClr val="tx1"/>
                  </a:solidFill>
                  <a:latin typeface="Roboto" panose="02000000000000000000" pitchFamily="2" charset="0"/>
                  <a:ea typeface="Roboto" panose="02000000000000000000" pitchFamily="2" charset="0"/>
                </a:endParaRPr>
              </a:p>
            </p:txBody>
          </p:sp>
          <p:sp>
            <p:nvSpPr>
              <p:cNvPr id="53" name="Rectangle 31">
                <a:extLst>
                  <a:ext uri="{FF2B5EF4-FFF2-40B4-BE49-F238E27FC236}">
                    <a16:creationId xmlns:a16="http://schemas.microsoft.com/office/drawing/2014/main" id="{03E250CE-6265-16D7-9C2A-74841F9A85FD}"/>
                  </a:ext>
                </a:extLst>
              </p:cNvPr>
              <p:cNvSpPr>
                <a:spLocks noChangeArrowheads="1"/>
              </p:cNvSpPr>
              <p:nvPr/>
            </p:nvSpPr>
            <p:spPr bwMode="auto">
              <a:xfrm>
                <a:off x="4518" y="3707"/>
                <a:ext cx="216" cy="27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800">
                  <a:solidFill>
                    <a:schemeClr val="tx1"/>
                  </a:solidFill>
                  <a:latin typeface="Roboto" panose="02000000000000000000" pitchFamily="2" charset="0"/>
                  <a:ea typeface="Roboto" panose="02000000000000000000" pitchFamily="2" charset="0"/>
                </a:endParaRPr>
              </a:p>
            </p:txBody>
          </p:sp>
          <p:sp>
            <p:nvSpPr>
              <p:cNvPr id="54" name="Rectangle 32">
                <a:extLst>
                  <a:ext uri="{FF2B5EF4-FFF2-40B4-BE49-F238E27FC236}">
                    <a16:creationId xmlns:a16="http://schemas.microsoft.com/office/drawing/2014/main" id="{BD2C07C2-9BA3-3F29-9A37-05C4312E3AE3}"/>
                  </a:ext>
                </a:extLst>
              </p:cNvPr>
              <p:cNvSpPr>
                <a:spLocks noChangeArrowheads="1"/>
              </p:cNvSpPr>
              <p:nvPr/>
            </p:nvSpPr>
            <p:spPr bwMode="auto">
              <a:xfrm>
                <a:off x="4241" y="3409"/>
                <a:ext cx="197" cy="57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800">
                  <a:solidFill>
                    <a:schemeClr val="tx1"/>
                  </a:solidFill>
                  <a:latin typeface="Roboto" panose="02000000000000000000" pitchFamily="2" charset="0"/>
                  <a:ea typeface="Roboto" panose="02000000000000000000" pitchFamily="2" charset="0"/>
                </a:endParaRPr>
              </a:p>
            </p:txBody>
          </p:sp>
          <p:sp>
            <p:nvSpPr>
              <p:cNvPr id="55" name="Rectangle 33">
                <a:extLst>
                  <a:ext uri="{FF2B5EF4-FFF2-40B4-BE49-F238E27FC236}">
                    <a16:creationId xmlns:a16="http://schemas.microsoft.com/office/drawing/2014/main" id="{45756553-8C36-D2A8-DD17-49CA65FBF7D4}"/>
                  </a:ext>
                </a:extLst>
              </p:cNvPr>
              <p:cNvSpPr>
                <a:spLocks noChangeArrowheads="1"/>
              </p:cNvSpPr>
              <p:nvPr/>
            </p:nvSpPr>
            <p:spPr bwMode="auto">
              <a:xfrm>
                <a:off x="3950" y="3409"/>
                <a:ext cx="196" cy="57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800">
                  <a:solidFill>
                    <a:schemeClr val="tx1"/>
                  </a:solidFill>
                  <a:latin typeface="Roboto" panose="02000000000000000000" pitchFamily="2" charset="0"/>
                  <a:ea typeface="Roboto" panose="02000000000000000000" pitchFamily="2" charset="0"/>
                </a:endParaRPr>
              </a:p>
            </p:txBody>
          </p:sp>
          <p:sp>
            <p:nvSpPr>
              <p:cNvPr id="56" name="Rectangle 34">
                <a:extLst>
                  <a:ext uri="{FF2B5EF4-FFF2-40B4-BE49-F238E27FC236}">
                    <a16:creationId xmlns:a16="http://schemas.microsoft.com/office/drawing/2014/main" id="{697EF94E-5EE9-56B7-481F-B1266941BEE4}"/>
                  </a:ext>
                </a:extLst>
              </p:cNvPr>
              <p:cNvSpPr>
                <a:spLocks noChangeArrowheads="1"/>
              </p:cNvSpPr>
              <p:nvPr/>
            </p:nvSpPr>
            <p:spPr bwMode="auto">
              <a:xfrm>
                <a:off x="4705" y="3355"/>
                <a:ext cx="6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a:latin typeface="Roboto" panose="02000000000000000000" pitchFamily="2" charset="0"/>
                    <a:ea typeface="Roboto" panose="02000000000000000000" pitchFamily="2" charset="0"/>
                  </a:rPr>
                  <a:t>TAKT Time</a:t>
                </a:r>
              </a:p>
            </p:txBody>
          </p:sp>
          <p:sp>
            <p:nvSpPr>
              <p:cNvPr id="57" name="Rectangle 35">
                <a:extLst>
                  <a:ext uri="{FF2B5EF4-FFF2-40B4-BE49-F238E27FC236}">
                    <a16:creationId xmlns:a16="http://schemas.microsoft.com/office/drawing/2014/main" id="{C4B7D4A3-3799-8940-B226-AA1CDA42C5E2}"/>
                  </a:ext>
                </a:extLst>
              </p:cNvPr>
              <p:cNvSpPr>
                <a:spLocks noChangeArrowheads="1"/>
              </p:cNvSpPr>
              <p:nvPr/>
            </p:nvSpPr>
            <p:spPr bwMode="auto">
              <a:xfrm>
                <a:off x="4722" y="3643"/>
                <a:ext cx="93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dirty="0">
                    <a:solidFill>
                      <a:schemeClr val="accent5"/>
                    </a:solidFill>
                    <a:latin typeface="Roboto" panose="02000000000000000000" pitchFamily="2" charset="0"/>
                    <a:ea typeface="Roboto" panose="02000000000000000000" pitchFamily="2" charset="0"/>
                  </a:rPr>
                  <a:t>"Least Operator"</a:t>
                </a:r>
              </a:p>
            </p:txBody>
          </p:sp>
          <p:sp>
            <p:nvSpPr>
              <p:cNvPr id="58" name="Rectangle 36">
                <a:extLst>
                  <a:ext uri="{FF2B5EF4-FFF2-40B4-BE49-F238E27FC236}">
                    <a16:creationId xmlns:a16="http://schemas.microsoft.com/office/drawing/2014/main" id="{C80720EB-2146-F037-4D5C-DF3CEA218913}"/>
                  </a:ext>
                </a:extLst>
              </p:cNvPr>
              <p:cNvSpPr>
                <a:spLocks noChangeArrowheads="1"/>
              </p:cNvSpPr>
              <p:nvPr/>
            </p:nvSpPr>
            <p:spPr bwMode="auto">
              <a:xfrm>
                <a:off x="3645" y="3409"/>
                <a:ext cx="197" cy="57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800">
                  <a:solidFill>
                    <a:schemeClr val="tx1"/>
                  </a:solidFill>
                  <a:latin typeface="Roboto" panose="02000000000000000000" pitchFamily="2" charset="0"/>
                  <a:ea typeface="Roboto" panose="02000000000000000000" pitchFamily="2" charset="0"/>
                </a:endParaRPr>
              </a:p>
            </p:txBody>
          </p:sp>
          <p:sp>
            <p:nvSpPr>
              <p:cNvPr id="59" name="Rectangle 37">
                <a:extLst>
                  <a:ext uri="{FF2B5EF4-FFF2-40B4-BE49-F238E27FC236}">
                    <a16:creationId xmlns:a16="http://schemas.microsoft.com/office/drawing/2014/main" id="{85F88CA1-EB43-EF25-44FF-7498E9195BF2}"/>
                  </a:ext>
                </a:extLst>
              </p:cNvPr>
              <p:cNvSpPr>
                <a:spLocks noChangeArrowheads="1"/>
              </p:cNvSpPr>
              <p:nvPr/>
            </p:nvSpPr>
            <p:spPr bwMode="auto">
              <a:xfrm>
                <a:off x="3370" y="4024"/>
                <a:ext cx="1291" cy="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2800" b="1" dirty="0">
                    <a:solidFill>
                      <a:schemeClr val="tx1"/>
                    </a:solidFill>
                    <a:latin typeface="Roboto" panose="02000000000000000000" pitchFamily="2" charset="0"/>
                    <a:ea typeface="Roboto" panose="02000000000000000000" pitchFamily="2" charset="0"/>
                  </a:rPr>
                  <a:t>Front Loaded</a:t>
                </a:r>
              </a:p>
            </p:txBody>
          </p:sp>
          <p:sp>
            <p:nvSpPr>
              <p:cNvPr id="60" name="Line 38">
                <a:extLst>
                  <a:ext uri="{FF2B5EF4-FFF2-40B4-BE49-F238E27FC236}">
                    <a16:creationId xmlns:a16="http://schemas.microsoft.com/office/drawing/2014/main" id="{98B5D3D4-AA92-9BB3-D03E-046780BD5A00}"/>
                  </a:ext>
                </a:extLst>
              </p:cNvPr>
              <p:cNvSpPr>
                <a:spLocks noChangeShapeType="1"/>
              </p:cNvSpPr>
              <p:nvPr/>
            </p:nvSpPr>
            <p:spPr bwMode="auto">
              <a:xfrm>
                <a:off x="3255" y="3410"/>
                <a:ext cx="1455" cy="0"/>
              </a:xfrm>
              <a:prstGeom prst="line">
                <a:avLst/>
              </a:prstGeom>
              <a:noFill/>
              <a:ln w="508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000">
                  <a:latin typeface="Roboto" panose="02000000000000000000" pitchFamily="2" charset="0"/>
                  <a:ea typeface="Roboto" panose="02000000000000000000" pitchFamily="2" charset="0"/>
                </a:endParaRPr>
              </a:p>
            </p:txBody>
          </p:sp>
        </p:grpSp>
        <p:grpSp>
          <p:nvGrpSpPr>
            <p:cNvPr id="29" name="Group 39">
              <a:extLst>
                <a:ext uri="{FF2B5EF4-FFF2-40B4-BE49-F238E27FC236}">
                  <a16:creationId xmlns:a16="http://schemas.microsoft.com/office/drawing/2014/main" id="{A52881DE-69A9-3BEB-7468-B063E8672CFA}"/>
                </a:ext>
              </a:extLst>
            </p:cNvPr>
            <p:cNvGrpSpPr>
              <a:grpSpLocks/>
            </p:cNvGrpSpPr>
            <p:nvPr/>
          </p:nvGrpSpPr>
          <p:grpSpPr bwMode="auto">
            <a:xfrm>
              <a:off x="3659188" y="2543495"/>
              <a:ext cx="3365500" cy="1812926"/>
              <a:chOff x="1793" y="2287"/>
              <a:chExt cx="2120" cy="1142"/>
            </a:xfrm>
          </p:grpSpPr>
          <p:sp>
            <p:nvSpPr>
              <p:cNvPr id="30" name="Line 40">
                <a:extLst>
                  <a:ext uri="{FF2B5EF4-FFF2-40B4-BE49-F238E27FC236}">
                    <a16:creationId xmlns:a16="http://schemas.microsoft.com/office/drawing/2014/main" id="{27B33FED-AC5A-96F6-AEBD-B646F0A036B9}"/>
                  </a:ext>
                </a:extLst>
              </p:cNvPr>
              <p:cNvSpPr>
                <a:spLocks noChangeShapeType="1"/>
              </p:cNvSpPr>
              <p:nvPr/>
            </p:nvSpPr>
            <p:spPr bwMode="auto">
              <a:xfrm>
                <a:off x="1793" y="2287"/>
                <a:ext cx="0" cy="67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000">
                  <a:latin typeface="Roboto" panose="02000000000000000000" pitchFamily="2" charset="0"/>
                  <a:ea typeface="Roboto" panose="02000000000000000000" pitchFamily="2" charset="0"/>
                </a:endParaRPr>
              </a:p>
            </p:txBody>
          </p:sp>
          <p:sp>
            <p:nvSpPr>
              <p:cNvPr id="31" name="Line 41">
                <a:extLst>
                  <a:ext uri="{FF2B5EF4-FFF2-40B4-BE49-F238E27FC236}">
                    <a16:creationId xmlns:a16="http://schemas.microsoft.com/office/drawing/2014/main" id="{E69D0088-4230-FB78-6075-A4836BC3A528}"/>
                  </a:ext>
                </a:extLst>
              </p:cNvPr>
              <p:cNvSpPr>
                <a:spLocks noChangeShapeType="1"/>
              </p:cNvSpPr>
              <p:nvPr/>
            </p:nvSpPr>
            <p:spPr bwMode="auto">
              <a:xfrm>
                <a:off x="1796" y="2965"/>
                <a:ext cx="1490"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000">
                  <a:latin typeface="Roboto" panose="02000000000000000000" pitchFamily="2" charset="0"/>
                  <a:ea typeface="Roboto" panose="02000000000000000000" pitchFamily="2" charset="0"/>
                </a:endParaRPr>
              </a:p>
            </p:txBody>
          </p:sp>
          <p:sp>
            <p:nvSpPr>
              <p:cNvPr id="32" name="Rectangle 42">
                <a:extLst>
                  <a:ext uri="{FF2B5EF4-FFF2-40B4-BE49-F238E27FC236}">
                    <a16:creationId xmlns:a16="http://schemas.microsoft.com/office/drawing/2014/main" id="{73AF3875-8E3F-E1D0-9660-B23B73C6A5EB}"/>
                  </a:ext>
                </a:extLst>
              </p:cNvPr>
              <p:cNvSpPr>
                <a:spLocks noChangeArrowheads="1"/>
              </p:cNvSpPr>
              <p:nvPr/>
            </p:nvSpPr>
            <p:spPr bwMode="auto">
              <a:xfrm>
                <a:off x="1875" y="2481"/>
                <a:ext cx="201" cy="479"/>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800">
                  <a:solidFill>
                    <a:schemeClr val="tx1"/>
                  </a:solidFill>
                  <a:latin typeface="Roboto" panose="02000000000000000000" pitchFamily="2" charset="0"/>
                  <a:ea typeface="Roboto" panose="02000000000000000000" pitchFamily="2" charset="0"/>
                </a:endParaRPr>
              </a:p>
            </p:txBody>
          </p:sp>
          <p:sp>
            <p:nvSpPr>
              <p:cNvPr id="33" name="Rectangle 43">
                <a:extLst>
                  <a:ext uri="{FF2B5EF4-FFF2-40B4-BE49-F238E27FC236}">
                    <a16:creationId xmlns:a16="http://schemas.microsoft.com/office/drawing/2014/main" id="{FE762D18-D015-0369-B102-35BBE5747D0E}"/>
                  </a:ext>
                </a:extLst>
              </p:cNvPr>
              <p:cNvSpPr>
                <a:spLocks noChangeArrowheads="1"/>
              </p:cNvSpPr>
              <p:nvPr/>
            </p:nvSpPr>
            <p:spPr bwMode="auto">
              <a:xfrm>
                <a:off x="3072" y="2481"/>
                <a:ext cx="193" cy="47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800">
                  <a:solidFill>
                    <a:schemeClr val="tx1"/>
                  </a:solidFill>
                  <a:latin typeface="Roboto" panose="02000000000000000000" pitchFamily="2" charset="0"/>
                  <a:ea typeface="Roboto" panose="02000000000000000000" pitchFamily="2" charset="0"/>
                </a:endParaRPr>
              </a:p>
            </p:txBody>
          </p:sp>
          <p:sp>
            <p:nvSpPr>
              <p:cNvPr id="34" name="Rectangle 44">
                <a:extLst>
                  <a:ext uri="{FF2B5EF4-FFF2-40B4-BE49-F238E27FC236}">
                    <a16:creationId xmlns:a16="http://schemas.microsoft.com/office/drawing/2014/main" id="{89C81F7B-1B86-3018-4854-3B158775716F}"/>
                  </a:ext>
                </a:extLst>
              </p:cNvPr>
              <p:cNvSpPr>
                <a:spLocks noChangeArrowheads="1"/>
              </p:cNvSpPr>
              <p:nvPr/>
            </p:nvSpPr>
            <p:spPr bwMode="auto">
              <a:xfrm>
                <a:off x="2485" y="2481"/>
                <a:ext cx="202" cy="479"/>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800">
                  <a:solidFill>
                    <a:schemeClr val="tx1"/>
                  </a:solidFill>
                  <a:latin typeface="Roboto" panose="02000000000000000000" pitchFamily="2" charset="0"/>
                  <a:ea typeface="Roboto" panose="02000000000000000000" pitchFamily="2" charset="0"/>
                </a:endParaRPr>
              </a:p>
            </p:txBody>
          </p:sp>
          <p:sp>
            <p:nvSpPr>
              <p:cNvPr id="35" name="Rectangle 45">
                <a:extLst>
                  <a:ext uri="{FF2B5EF4-FFF2-40B4-BE49-F238E27FC236}">
                    <a16:creationId xmlns:a16="http://schemas.microsoft.com/office/drawing/2014/main" id="{ABDE7E1F-BEC9-EB1A-6001-E565FBBFF5F1}"/>
                  </a:ext>
                </a:extLst>
              </p:cNvPr>
              <p:cNvSpPr>
                <a:spLocks noChangeArrowheads="1"/>
              </p:cNvSpPr>
              <p:nvPr/>
            </p:nvSpPr>
            <p:spPr bwMode="auto">
              <a:xfrm>
                <a:off x="2193" y="2766"/>
                <a:ext cx="16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latin typeface="Roboto" panose="02000000000000000000" pitchFamily="2" charset="0"/>
                    <a:ea typeface="Roboto" panose="02000000000000000000" pitchFamily="2" charset="0"/>
                  </a:rPr>
                  <a:t>B</a:t>
                </a:r>
              </a:p>
            </p:txBody>
          </p:sp>
          <p:sp>
            <p:nvSpPr>
              <p:cNvPr id="36" name="Rectangle 46">
                <a:extLst>
                  <a:ext uri="{FF2B5EF4-FFF2-40B4-BE49-F238E27FC236}">
                    <a16:creationId xmlns:a16="http://schemas.microsoft.com/office/drawing/2014/main" id="{5A067848-F0AA-9986-70EA-7513F71E5593}"/>
                  </a:ext>
                </a:extLst>
              </p:cNvPr>
              <p:cNvSpPr>
                <a:spLocks noChangeArrowheads="1"/>
              </p:cNvSpPr>
              <p:nvPr/>
            </p:nvSpPr>
            <p:spPr bwMode="auto">
              <a:xfrm>
                <a:off x="2494" y="2766"/>
                <a:ext cx="1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latin typeface="Roboto" panose="02000000000000000000" pitchFamily="2" charset="0"/>
                    <a:ea typeface="Roboto" panose="02000000000000000000" pitchFamily="2" charset="0"/>
                  </a:rPr>
                  <a:t>C</a:t>
                </a:r>
              </a:p>
            </p:txBody>
          </p:sp>
          <p:sp>
            <p:nvSpPr>
              <p:cNvPr id="37" name="Rectangle 47">
                <a:extLst>
                  <a:ext uri="{FF2B5EF4-FFF2-40B4-BE49-F238E27FC236}">
                    <a16:creationId xmlns:a16="http://schemas.microsoft.com/office/drawing/2014/main" id="{84F404E1-6D5B-7E54-9044-58D4F5FF4827}"/>
                  </a:ext>
                </a:extLst>
              </p:cNvPr>
              <p:cNvSpPr>
                <a:spLocks noChangeArrowheads="1"/>
              </p:cNvSpPr>
              <p:nvPr/>
            </p:nvSpPr>
            <p:spPr bwMode="auto">
              <a:xfrm>
                <a:off x="2770" y="2766"/>
                <a:ext cx="1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latin typeface="Roboto" panose="02000000000000000000" pitchFamily="2" charset="0"/>
                    <a:ea typeface="Roboto" panose="02000000000000000000" pitchFamily="2" charset="0"/>
                  </a:rPr>
                  <a:t>D</a:t>
                </a:r>
              </a:p>
            </p:txBody>
          </p:sp>
          <p:sp>
            <p:nvSpPr>
              <p:cNvPr id="38" name="Rectangle 48">
                <a:extLst>
                  <a:ext uri="{FF2B5EF4-FFF2-40B4-BE49-F238E27FC236}">
                    <a16:creationId xmlns:a16="http://schemas.microsoft.com/office/drawing/2014/main" id="{9C00E5CF-4509-5BF1-A8D9-484E1A56791F}"/>
                  </a:ext>
                </a:extLst>
              </p:cNvPr>
              <p:cNvSpPr>
                <a:spLocks noChangeArrowheads="1"/>
              </p:cNvSpPr>
              <p:nvPr/>
            </p:nvSpPr>
            <p:spPr bwMode="auto">
              <a:xfrm>
                <a:off x="3083" y="2766"/>
                <a:ext cx="16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latin typeface="Roboto" panose="02000000000000000000" pitchFamily="2" charset="0"/>
                    <a:ea typeface="Roboto" panose="02000000000000000000" pitchFamily="2" charset="0"/>
                  </a:rPr>
                  <a:t>E</a:t>
                </a:r>
              </a:p>
            </p:txBody>
          </p:sp>
          <p:sp>
            <p:nvSpPr>
              <p:cNvPr id="39" name="Rectangle 49">
                <a:extLst>
                  <a:ext uri="{FF2B5EF4-FFF2-40B4-BE49-F238E27FC236}">
                    <a16:creationId xmlns:a16="http://schemas.microsoft.com/office/drawing/2014/main" id="{7172480E-1CD5-E01E-98E1-37217B303952}"/>
                  </a:ext>
                </a:extLst>
              </p:cNvPr>
              <p:cNvSpPr>
                <a:spLocks noChangeArrowheads="1"/>
              </p:cNvSpPr>
              <p:nvPr/>
            </p:nvSpPr>
            <p:spPr bwMode="auto">
              <a:xfrm>
                <a:off x="1882" y="2766"/>
                <a:ext cx="17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b="1">
                    <a:latin typeface="Roboto" panose="02000000000000000000" pitchFamily="2" charset="0"/>
                    <a:ea typeface="Roboto" panose="02000000000000000000" pitchFamily="2" charset="0"/>
                  </a:rPr>
                  <a:t>A</a:t>
                </a:r>
              </a:p>
            </p:txBody>
          </p:sp>
          <p:sp>
            <p:nvSpPr>
              <p:cNvPr id="40" name="Rectangle 50">
                <a:extLst>
                  <a:ext uri="{FF2B5EF4-FFF2-40B4-BE49-F238E27FC236}">
                    <a16:creationId xmlns:a16="http://schemas.microsoft.com/office/drawing/2014/main" id="{97489C1D-32A8-6DCC-5840-F2FBB3A412AD}"/>
                  </a:ext>
                </a:extLst>
              </p:cNvPr>
              <p:cNvSpPr>
                <a:spLocks noChangeArrowheads="1"/>
              </p:cNvSpPr>
              <p:nvPr/>
            </p:nvSpPr>
            <p:spPr bwMode="auto">
              <a:xfrm>
                <a:off x="3243" y="2336"/>
                <a:ext cx="6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a:latin typeface="Roboto" panose="02000000000000000000" pitchFamily="2" charset="0"/>
                    <a:ea typeface="Roboto" panose="02000000000000000000" pitchFamily="2" charset="0"/>
                  </a:rPr>
                  <a:t>TAKT Time</a:t>
                </a:r>
              </a:p>
            </p:txBody>
          </p:sp>
          <p:sp>
            <p:nvSpPr>
              <p:cNvPr id="41" name="Rectangle 51">
                <a:extLst>
                  <a:ext uri="{FF2B5EF4-FFF2-40B4-BE49-F238E27FC236}">
                    <a16:creationId xmlns:a16="http://schemas.microsoft.com/office/drawing/2014/main" id="{906DA3CA-8C48-5F6B-89F6-F028CCCECB64}"/>
                  </a:ext>
                </a:extLst>
              </p:cNvPr>
              <p:cNvSpPr>
                <a:spLocks noChangeArrowheads="1"/>
              </p:cNvSpPr>
              <p:nvPr/>
            </p:nvSpPr>
            <p:spPr bwMode="auto">
              <a:xfrm>
                <a:off x="2182" y="2481"/>
                <a:ext cx="199" cy="479"/>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800">
                  <a:solidFill>
                    <a:schemeClr val="tx1"/>
                  </a:solidFill>
                  <a:latin typeface="Roboto" panose="02000000000000000000" pitchFamily="2" charset="0"/>
                  <a:ea typeface="Roboto" panose="02000000000000000000" pitchFamily="2" charset="0"/>
                </a:endParaRPr>
              </a:p>
            </p:txBody>
          </p:sp>
          <p:sp>
            <p:nvSpPr>
              <p:cNvPr id="42" name="Rectangle 52">
                <a:extLst>
                  <a:ext uri="{FF2B5EF4-FFF2-40B4-BE49-F238E27FC236}">
                    <a16:creationId xmlns:a16="http://schemas.microsoft.com/office/drawing/2014/main" id="{EF5A1075-1C66-D2C6-9B57-907D483D364C}"/>
                  </a:ext>
                </a:extLst>
              </p:cNvPr>
              <p:cNvSpPr>
                <a:spLocks noChangeArrowheads="1"/>
              </p:cNvSpPr>
              <p:nvPr/>
            </p:nvSpPr>
            <p:spPr bwMode="auto">
              <a:xfrm>
                <a:off x="2044" y="2999"/>
                <a:ext cx="1078" cy="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a:spcBef>
                    <a:spcPct val="0"/>
                  </a:spcBef>
                  <a:buClrTx/>
                  <a:buSzTx/>
                  <a:buFontTx/>
                  <a:buNone/>
                </a:pPr>
                <a:r>
                  <a:rPr lang="en-US" altLang="en-US" sz="2800" b="1" dirty="0">
                    <a:solidFill>
                      <a:schemeClr val="tx1"/>
                    </a:solidFill>
                    <a:latin typeface="Roboto" panose="02000000000000000000" pitchFamily="2" charset="0"/>
                    <a:ea typeface="Roboto" panose="02000000000000000000" pitchFamily="2" charset="0"/>
                  </a:rPr>
                  <a:t>Traditional</a:t>
                </a:r>
              </a:p>
            </p:txBody>
          </p:sp>
          <p:sp>
            <p:nvSpPr>
              <p:cNvPr id="43" name="Rectangle 53">
                <a:extLst>
                  <a:ext uri="{FF2B5EF4-FFF2-40B4-BE49-F238E27FC236}">
                    <a16:creationId xmlns:a16="http://schemas.microsoft.com/office/drawing/2014/main" id="{76A92296-F3C4-125E-C698-6904559AE84B}"/>
                  </a:ext>
                </a:extLst>
              </p:cNvPr>
              <p:cNvSpPr>
                <a:spLocks noChangeArrowheads="1"/>
              </p:cNvSpPr>
              <p:nvPr/>
            </p:nvSpPr>
            <p:spPr bwMode="auto">
              <a:xfrm>
                <a:off x="2761" y="2481"/>
                <a:ext cx="202" cy="479"/>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99"/>
                  </a:buClr>
                  <a:buSzPct val="80000"/>
                  <a:buFont typeface="Wingdings 2" panose="05020102010507070707" pitchFamily="18" charset="2"/>
                  <a:buChar char="¢"/>
                  <a:defRPr sz="1600">
                    <a:solidFill>
                      <a:srgbClr val="000000"/>
                    </a:solidFill>
                    <a:latin typeface="Arial" panose="020B0604020202020204" pitchFamily="34" charset="0"/>
                    <a:ea typeface="MS PGothic" panose="020B0600070205080204" pitchFamily="34" charset="-128"/>
                  </a:defRPr>
                </a:lvl1pPr>
                <a:lvl2pPr marL="742950" indent="-285750">
                  <a:spcBef>
                    <a:spcPct val="20000"/>
                  </a:spcBef>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800">
                  <a:solidFill>
                    <a:schemeClr val="tx1"/>
                  </a:solidFill>
                  <a:latin typeface="Roboto" panose="02000000000000000000" pitchFamily="2" charset="0"/>
                  <a:ea typeface="Roboto" panose="02000000000000000000" pitchFamily="2" charset="0"/>
                </a:endParaRPr>
              </a:p>
            </p:txBody>
          </p:sp>
          <p:sp>
            <p:nvSpPr>
              <p:cNvPr id="44" name="Line 54">
                <a:extLst>
                  <a:ext uri="{FF2B5EF4-FFF2-40B4-BE49-F238E27FC236}">
                    <a16:creationId xmlns:a16="http://schemas.microsoft.com/office/drawing/2014/main" id="{1D10C51E-B6CB-4F0E-0500-330CAA39CE8C}"/>
                  </a:ext>
                </a:extLst>
              </p:cNvPr>
              <p:cNvSpPr>
                <a:spLocks noChangeShapeType="1"/>
              </p:cNvSpPr>
              <p:nvPr/>
            </p:nvSpPr>
            <p:spPr bwMode="auto">
              <a:xfrm>
                <a:off x="1793" y="2379"/>
                <a:ext cx="1455" cy="0"/>
              </a:xfrm>
              <a:prstGeom prst="line">
                <a:avLst/>
              </a:prstGeom>
              <a:noFill/>
              <a:ln w="508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000">
                  <a:latin typeface="Roboto" panose="02000000000000000000" pitchFamily="2" charset="0"/>
                  <a:ea typeface="Roboto" panose="02000000000000000000" pitchFamily="2" charset="0"/>
                </a:endParaRPr>
              </a:p>
            </p:txBody>
          </p:sp>
        </p:grpSp>
      </p:grpSp>
    </p:spTree>
    <p:extLst>
      <p:ext uri="{BB962C8B-B14F-4D97-AF65-F5344CB8AC3E}">
        <p14:creationId xmlns:p14="http://schemas.microsoft.com/office/powerpoint/2010/main" val="42773810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Document Logistics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63</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graphicFrame>
        <p:nvGraphicFramePr>
          <p:cNvPr id="3" name="Table 2">
            <a:extLst>
              <a:ext uri="{FF2B5EF4-FFF2-40B4-BE49-F238E27FC236}">
                <a16:creationId xmlns:a16="http://schemas.microsoft.com/office/drawing/2014/main" id="{A3FDD88A-4325-E49F-025E-083C2A7D49A6}"/>
              </a:ext>
            </a:extLst>
          </p:cNvPr>
          <p:cNvGraphicFramePr>
            <a:graphicFrameLocks noGrp="1"/>
          </p:cNvGraphicFramePr>
          <p:nvPr>
            <p:extLst>
              <p:ext uri="{D42A27DB-BD31-4B8C-83A1-F6EECF244321}">
                <p14:modId xmlns:p14="http://schemas.microsoft.com/office/powerpoint/2010/main" val="98076245"/>
              </p:ext>
            </p:extLst>
          </p:nvPr>
        </p:nvGraphicFramePr>
        <p:xfrm>
          <a:off x="838198" y="2271197"/>
          <a:ext cx="10289148" cy="3588690"/>
        </p:xfrm>
        <a:graphic>
          <a:graphicData uri="http://schemas.openxmlformats.org/drawingml/2006/table">
            <a:tbl>
              <a:tblPr firstRow="1" bandRow="1">
                <a:tableStyleId>{5C22544A-7EE6-4342-B048-85BDC9FD1C3A}</a:tableStyleId>
              </a:tblPr>
              <a:tblGrid>
                <a:gridCol w="2572287">
                  <a:extLst>
                    <a:ext uri="{9D8B030D-6E8A-4147-A177-3AD203B41FA5}">
                      <a16:colId xmlns:a16="http://schemas.microsoft.com/office/drawing/2014/main" val="3687956861"/>
                    </a:ext>
                  </a:extLst>
                </a:gridCol>
                <a:gridCol w="2572287">
                  <a:extLst>
                    <a:ext uri="{9D8B030D-6E8A-4147-A177-3AD203B41FA5}">
                      <a16:colId xmlns:a16="http://schemas.microsoft.com/office/drawing/2014/main" val="561486038"/>
                    </a:ext>
                  </a:extLst>
                </a:gridCol>
                <a:gridCol w="2572287">
                  <a:extLst>
                    <a:ext uri="{9D8B030D-6E8A-4147-A177-3AD203B41FA5}">
                      <a16:colId xmlns:a16="http://schemas.microsoft.com/office/drawing/2014/main" val="3120620727"/>
                    </a:ext>
                  </a:extLst>
                </a:gridCol>
                <a:gridCol w="2572287">
                  <a:extLst>
                    <a:ext uri="{9D8B030D-6E8A-4147-A177-3AD203B41FA5}">
                      <a16:colId xmlns:a16="http://schemas.microsoft.com/office/drawing/2014/main" val="3513365088"/>
                    </a:ext>
                  </a:extLst>
                </a:gridCol>
              </a:tblGrid>
              <a:tr h="598115">
                <a:tc>
                  <a:txBody>
                    <a:bodyPr/>
                    <a:lstStyle/>
                    <a:p>
                      <a:pPr algn="ctr"/>
                      <a:r>
                        <a:rPr lang="en-US" sz="2000" b="1" dirty="0"/>
                        <a:t>Document Name</a:t>
                      </a:r>
                    </a:p>
                  </a:txBody>
                  <a:tcPr anchor="ctr">
                    <a:lnL w="12700" cmpd="sng">
                      <a:noFill/>
                    </a:lnL>
                    <a:lnT w="12700" cmpd="sng">
                      <a:noFill/>
                    </a:lnT>
                  </a:tcPr>
                </a:tc>
                <a:tc>
                  <a:txBody>
                    <a:bodyPr/>
                    <a:lstStyle/>
                    <a:p>
                      <a:pPr algn="ctr"/>
                      <a:r>
                        <a:rPr lang="en-US" sz="2000" dirty="0"/>
                        <a:t>On File</a:t>
                      </a:r>
                    </a:p>
                  </a:txBody>
                  <a:tcPr anchor="ctr">
                    <a:lnT w="12700" cmpd="sng">
                      <a:noFill/>
                    </a:lnT>
                  </a:tcPr>
                </a:tc>
                <a:tc>
                  <a:txBody>
                    <a:bodyPr/>
                    <a:lstStyle/>
                    <a:p>
                      <a:pPr algn="ctr"/>
                      <a:r>
                        <a:rPr lang="en-US" sz="2000" dirty="0"/>
                        <a:t>Work Station</a:t>
                      </a:r>
                    </a:p>
                  </a:txBody>
                  <a:tcPr anchor="ctr">
                    <a:lnT w="12700" cmpd="sng">
                      <a:noFill/>
                    </a:lnT>
                  </a:tcPr>
                </a:tc>
                <a:tc>
                  <a:txBody>
                    <a:bodyPr/>
                    <a:lstStyle/>
                    <a:p>
                      <a:pPr algn="ctr"/>
                      <a:r>
                        <a:rPr lang="en-US" sz="2000" dirty="0"/>
                        <a:t>Mouth of Cell</a:t>
                      </a:r>
                    </a:p>
                  </a:txBody>
                  <a:tcPr anchor="ctr">
                    <a:lnR w="12700" cmpd="sng">
                      <a:noFill/>
                    </a:lnR>
                    <a:lnT w="12700" cmpd="sng">
                      <a:noFill/>
                    </a:lnT>
                  </a:tcPr>
                </a:tc>
                <a:extLst>
                  <a:ext uri="{0D108BD9-81ED-4DB2-BD59-A6C34878D82A}">
                    <a16:rowId xmlns:a16="http://schemas.microsoft.com/office/drawing/2014/main" val="1838414622"/>
                  </a:ext>
                </a:extLst>
              </a:tr>
              <a:tr h="598115">
                <a:tc>
                  <a:txBody>
                    <a:bodyPr/>
                    <a:lstStyle/>
                    <a:p>
                      <a:r>
                        <a:rPr lang="en-US" sz="2000" b="1" dirty="0"/>
                        <a:t>Time Observation</a:t>
                      </a:r>
                    </a:p>
                  </a:txBody>
                  <a:tcPr anchor="ctr">
                    <a:lnL w="12700" cmpd="sng">
                      <a:noFill/>
                    </a:lnL>
                  </a:tcPr>
                </a:tc>
                <a:tc>
                  <a:txBody>
                    <a:bodyPr/>
                    <a:lstStyle/>
                    <a:p>
                      <a:pPr algn="ctr"/>
                      <a:r>
                        <a:rPr lang="en-US" sz="2400" dirty="0">
                          <a:latin typeface="Wingdings" pitchFamily="2" charset="2"/>
                        </a:rPr>
                        <a:t>l</a:t>
                      </a:r>
                    </a:p>
                  </a:txBody>
                  <a:tcPr anchor="ctr"/>
                </a:tc>
                <a:tc>
                  <a:txBody>
                    <a:bodyPr/>
                    <a:lstStyle/>
                    <a:p>
                      <a:pPr algn="ctr"/>
                      <a:endParaRPr lang="en-US" sz="2400">
                        <a:latin typeface="Wingdings" pitchFamily="2" charset="2"/>
                      </a:endParaRPr>
                    </a:p>
                  </a:txBody>
                  <a:tcPr anchor="ctr"/>
                </a:tc>
                <a:tc>
                  <a:txBody>
                    <a:bodyPr/>
                    <a:lstStyle/>
                    <a:p>
                      <a:pPr algn="ctr"/>
                      <a:endParaRPr lang="en-US" sz="2400">
                        <a:latin typeface="Wingdings" pitchFamily="2" charset="2"/>
                      </a:endParaRPr>
                    </a:p>
                  </a:txBody>
                  <a:tcPr anchor="ctr">
                    <a:lnR w="12700" cmpd="sng">
                      <a:noFill/>
                    </a:lnR>
                  </a:tcPr>
                </a:tc>
                <a:extLst>
                  <a:ext uri="{0D108BD9-81ED-4DB2-BD59-A6C34878D82A}">
                    <a16:rowId xmlns:a16="http://schemas.microsoft.com/office/drawing/2014/main" val="2679631383"/>
                  </a:ext>
                </a:extLst>
              </a:tr>
              <a:tr h="598115">
                <a:tc>
                  <a:txBody>
                    <a:bodyPr/>
                    <a:lstStyle/>
                    <a:p>
                      <a:r>
                        <a:rPr lang="en-US" sz="2000" b="1" dirty="0"/>
                        <a:t>Process Capacity</a:t>
                      </a:r>
                    </a:p>
                  </a:txBody>
                  <a:tcPr anchor="ctr">
                    <a:lnL w="12700" cmpd="sng">
                      <a:noFill/>
                    </a:lnL>
                  </a:tcPr>
                </a:tc>
                <a:tc>
                  <a:txBody>
                    <a:bodyPr/>
                    <a:lstStyle/>
                    <a:p>
                      <a:pPr algn="ctr"/>
                      <a:endParaRPr lang="en-US" sz="2400" dirty="0">
                        <a:latin typeface="Wingdings" pitchFamily="2" charset="2"/>
                      </a:endParaRPr>
                    </a:p>
                  </a:txBody>
                  <a:tcPr anchor="ctr"/>
                </a:tc>
                <a:tc>
                  <a:txBody>
                    <a:bodyPr/>
                    <a:lstStyle/>
                    <a:p>
                      <a:pPr algn="ctr"/>
                      <a:endParaRPr lang="en-US" sz="2400" dirty="0">
                        <a:latin typeface="Wingdings" pitchFamily="2" charset="2"/>
                      </a:endParaRPr>
                    </a:p>
                  </a:txBody>
                  <a:tcPr anchor="ctr"/>
                </a:tc>
                <a:tc>
                  <a:txBody>
                    <a:bodyPr/>
                    <a:lstStyle/>
                    <a:p>
                      <a:pPr algn="ctr"/>
                      <a:r>
                        <a:rPr lang="en-US" sz="2400" dirty="0">
                          <a:latin typeface="Wingdings" pitchFamily="2" charset="2"/>
                        </a:rPr>
                        <a:t>l</a:t>
                      </a:r>
                    </a:p>
                  </a:txBody>
                  <a:tcPr anchor="ctr">
                    <a:lnR w="12700" cmpd="sng">
                      <a:noFill/>
                    </a:lnR>
                  </a:tcPr>
                </a:tc>
                <a:extLst>
                  <a:ext uri="{0D108BD9-81ED-4DB2-BD59-A6C34878D82A}">
                    <a16:rowId xmlns:a16="http://schemas.microsoft.com/office/drawing/2014/main" val="1676489553"/>
                  </a:ext>
                </a:extLst>
              </a:tr>
              <a:tr h="598115">
                <a:tc>
                  <a:txBody>
                    <a:bodyPr/>
                    <a:lstStyle/>
                    <a:p>
                      <a:r>
                        <a:rPr lang="en-US" sz="2000" b="1" dirty="0"/>
                        <a:t>SW Combination</a:t>
                      </a:r>
                    </a:p>
                  </a:txBody>
                  <a:tcPr anchor="ctr">
                    <a:lnL w="12700" cmpd="sng">
                      <a:noFill/>
                    </a:lnL>
                  </a:tcPr>
                </a:tc>
                <a:tc>
                  <a:txBody>
                    <a:bodyPr/>
                    <a:lstStyle/>
                    <a:p>
                      <a:pPr algn="ctr"/>
                      <a:endParaRPr lang="en-US" sz="2400" dirty="0">
                        <a:latin typeface="Wingdings" pitchFamily="2" charset="2"/>
                      </a:endParaRPr>
                    </a:p>
                  </a:txBody>
                  <a:tcPr anchor="ctr"/>
                </a:tc>
                <a:tc>
                  <a:txBody>
                    <a:bodyPr/>
                    <a:lstStyle/>
                    <a:p>
                      <a:pPr algn="ctr"/>
                      <a:r>
                        <a:rPr lang="en-US" sz="2400" dirty="0">
                          <a:latin typeface="Wingdings" pitchFamily="2" charset="2"/>
                        </a:rPr>
                        <a:t>l</a:t>
                      </a:r>
                    </a:p>
                  </a:txBody>
                  <a:tcPr anchor="ctr"/>
                </a:tc>
                <a:tc>
                  <a:txBody>
                    <a:bodyPr/>
                    <a:lstStyle/>
                    <a:p>
                      <a:pPr algn="ctr"/>
                      <a:endParaRPr lang="en-US" sz="2400" dirty="0">
                        <a:latin typeface="Wingdings" pitchFamily="2" charset="2"/>
                      </a:endParaRPr>
                    </a:p>
                  </a:txBody>
                  <a:tcPr anchor="ctr">
                    <a:lnR w="12700" cmpd="sng">
                      <a:noFill/>
                    </a:lnR>
                  </a:tcPr>
                </a:tc>
                <a:extLst>
                  <a:ext uri="{0D108BD9-81ED-4DB2-BD59-A6C34878D82A}">
                    <a16:rowId xmlns:a16="http://schemas.microsoft.com/office/drawing/2014/main" val="1430369513"/>
                  </a:ext>
                </a:extLst>
              </a:tr>
              <a:tr h="598115">
                <a:tc>
                  <a:txBody>
                    <a:bodyPr/>
                    <a:lstStyle/>
                    <a:p>
                      <a:r>
                        <a:rPr lang="en-US" sz="2000" b="1" dirty="0"/>
                        <a:t>SW Sheet (Layout)</a:t>
                      </a:r>
                    </a:p>
                  </a:txBody>
                  <a:tcPr anchor="ctr">
                    <a:lnL w="12700" cmpd="sng">
                      <a:noFill/>
                    </a:lnL>
                  </a:tcPr>
                </a:tc>
                <a:tc>
                  <a:txBody>
                    <a:bodyPr/>
                    <a:lstStyle/>
                    <a:p>
                      <a:pPr algn="ctr"/>
                      <a:endParaRPr lang="en-US" sz="2400" dirty="0">
                        <a:latin typeface="Wingdings" pitchFamily="2" charset="2"/>
                      </a:endParaRPr>
                    </a:p>
                  </a:txBody>
                  <a:tcPr anchor="ctr"/>
                </a:tc>
                <a:tc>
                  <a:txBody>
                    <a:bodyPr/>
                    <a:lstStyle/>
                    <a:p>
                      <a:pPr algn="ctr"/>
                      <a:r>
                        <a:rPr lang="en-US" sz="2400" dirty="0">
                          <a:latin typeface="Wingdings" pitchFamily="2" charset="2"/>
                        </a:rPr>
                        <a:t>l</a:t>
                      </a:r>
                    </a:p>
                  </a:txBody>
                  <a:tcPr anchor="ctr"/>
                </a:tc>
                <a:tc>
                  <a:txBody>
                    <a:bodyPr/>
                    <a:lstStyle/>
                    <a:p>
                      <a:pPr algn="ctr"/>
                      <a:endParaRPr lang="en-US" sz="2400" dirty="0">
                        <a:latin typeface="Wingdings" pitchFamily="2" charset="2"/>
                      </a:endParaRPr>
                    </a:p>
                  </a:txBody>
                  <a:tcPr anchor="ctr">
                    <a:lnR w="12700" cmpd="sng">
                      <a:noFill/>
                    </a:lnR>
                  </a:tcPr>
                </a:tc>
                <a:extLst>
                  <a:ext uri="{0D108BD9-81ED-4DB2-BD59-A6C34878D82A}">
                    <a16:rowId xmlns:a16="http://schemas.microsoft.com/office/drawing/2014/main" val="439836837"/>
                  </a:ext>
                </a:extLst>
              </a:tr>
              <a:tr h="598115">
                <a:tc>
                  <a:txBody>
                    <a:bodyPr/>
                    <a:lstStyle/>
                    <a:p>
                      <a:r>
                        <a:rPr lang="en-US" sz="2000" b="1" dirty="0"/>
                        <a:t>Operator Loading</a:t>
                      </a:r>
                    </a:p>
                  </a:txBody>
                  <a:tcPr anchor="ctr">
                    <a:lnL w="12700" cmpd="sng">
                      <a:noFill/>
                    </a:lnL>
                    <a:lnB w="12700" cmpd="sng">
                      <a:noFill/>
                    </a:lnB>
                  </a:tcPr>
                </a:tc>
                <a:tc>
                  <a:txBody>
                    <a:bodyPr/>
                    <a:lstStyle/>
                    <a:p>
                      <a:pPr algn="ctr"/>
                      <a:endParaRPr lang="en-US" sz="2400" dirty="0">
                        <a:latin typeface="Wingdings" pitchFamily="2" charset="2"/>
                      </a:endParaRPr>
                    </a:p>
                  </a:txBody>
                  <a:tcPr anchor="ctr">
                    <a:lnB w="12700" cmpd="sng">
                      <a:noFill/>
                    </a:lnB>
                  </a:tcPr>
                </a:tc>
                <a:tc>
                  <a:txBody>
                    <a:bodyPr/>
                    <a:lstStyle/>
                    <a:p>
                      <a:pPr algn="ctr"/>
                      <a:endParaRPr lang="en-US" sz="2400" dirty="0">
                        <a:latin typeface="Wingdings" pitchFamily="2" charset="2"/>
                      </a:endParaRPr>
                    </a:p>
                  </a:txBody>
                  <a:tcPr anchor="ctr">
                    <a:lnB w="12700" cmpd="sng">
                      <a:noFill/>
                    </a:lnB>
                  </a:tcPr>
                </a:tc>
                <a:tc>
                  <a:txBody>
                    <a:bodyPr/>
                    <a:lstStyle/>
                    <a:p>
                      <a:pPr algn="ctr"/>
                      <a:r>
                        <a:rPr lang="en-US" sz="2400" dirty="0">
                          <a:latin typeface="Wingdings" pitchFamily="2" charset="2"/>
                        </a:rPr>
                        <a:t>l</a:t>
                      </a:r>
                    </a:p>
                  </a:txBody>
                  <a:tcPr anchor="ctr">
                    <a:lnR w="12700" cmpd="sng">
                      <a:noFill/>
                    </a:lnR>
                    <a:lnB w="12700" cmpd="sng">
                      <a:noFill/>
                    </a:lnB>
                  </a:tcPr>
                </a:tc>
                <a:extLst>
                  <a:ext uri="{0D108BD9-81ED-4DB2-BD59-A6C34878D82A}">
                    <a16:rowId xmlns:a16="http://schemas.microsoft.com/office/drawing/2014/main" val="1610577560"/>
                  </a:ext>
                </a:extLst>
              </a:tr>
            </a:tbl>
          </a:graphicData>
        </a:graphic>
      </p:graphicFrame>
    </p:spTree>
    <p:extLst>
      <p:ext uri="{BB962C8B-B14F-4D97-AF65-F5344CB8AC3E}">
        <p14:creationId xmlns:p14="http://schemas.microsoft.com/office/powerpoint/2010/main" val="26057801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Kaizen Results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64</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pic>
        <p:nvPicPr>
          <p:cNvPr id="3" name="Picture 30" descr="Kaizen Results Form">
            <a:extLst>
              <a:ext uri="{FF2B5EF4-FFF2-40B4-BE49-F238E27FC236}">
                <a16:creationId xmlns:a16="http://schemas.microsoft.com/office/drawing/2014/main" id="{1BA6A918-289E-24D7-AD93-0CAEDBF762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1950" y="1782615"/>
            <a:ext cx="6388100" cy="4550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54279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Prepare for Final Report-Out to Management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All team members should contribute to the final report-out presentation to management</a:t>
            </a:r>
          </a:p>
          <a:p>
            <a:r>
              <a:rPr lang="en-US" dirty="0"/>
              <a:t>Report-out should include</a:t>
            </a:r>
          </a:p>
          <a:p>
            <a:pPr lvl="1"/>
            <a:r>
              <a:rPr lang="en-US" dirty="0"/>
              <a:t>Introduction of Team</a:t>
            </a:r>
          </a:p>
          <a:p>
            <a:pPr lvl="1"/>
            <a:r>
              <a:rPr lang="en-US" dirty="0"/>
              <a:t>Review of Event Charter</a:t>
            </a:r>
          </a:p>
          <a:p>
            <a:pPr lvl="1"/>
            <a:r>
              <a:rPr lang="en-US" dirty="0"/>
              <a:t>Review of Former Process and Documentation Forms</a:t>
            </a:r>
          </a:p>
          <a:p>
            <a:pPr lvl="1"/>
            <a:r>
              <a:rPr lang="en-US" dirty="0"/>
              <a:t>Review of Improvement Opportunities Identified and Implemented</a:t>
            </a:r>
          </a:p>
          <a:p>
            <a:pPr lvl="1"/>
            <a:r>
              <a:rPr lang="en-US" dirty="0"/>
              <a:t>Review of Standard Work Documentation and Kaizen Results Form</a:t>
            </a:r>
          </a:p>
          <a:p>
            <a:pPr lvl="1"/>
            <a:r>
              <a:rPr lang="en-US" dirty="0"/>
              <a:t>Review of Kaizen Newspaper</a:t>
            </a:r>
          </a:p>
          <a:p>
            <a:r>
              <a:rPr lang="en-US" dirty="0"/>
              <a:t>Typical Report-Out times are 15 minutes for presentation and 15 minutes for questions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65</a:t>
            </a:fld>
            <a:endParaRPr lang="en-US"/>
          </a:p>
        </p:txBody>
      </p:sp>
      <p:grpSp>
        <p:nvGrpSpPr>
          <p:cNvPr id="4" name="Group 3">
            <a:extLst>
              <a:ext uri="{FF2B5EF4-FFF2-40B4-BE49-F238E27FC236}">
                <a16:creationId xmlns:a16="http://schemas.microsoft.com/office/drawing/2014/main" id="{68B43806-C085-B892-8E50-7696A18CD9F0}"/>
              </a:ext>
            </a:extLst>
          </p:cNvPr>
          <p:cNvGrpSpPr/>
          <p:nvPr/>
        </p:nvGrpSpPr>
        <p:grpSpPr>
          <a:xfrm>
            <a:off x="838200" y="297639"/>
            <a:ext cx="4545330" cy="301303"/>
            <a:chOff x="838200" y="297639"/>
            <a:chExt cx="4545330" cy="301303"/>
          </a:xfrm>
        </p:grpSpPr>
        <p:sp>
          <p:nvSpPr>
            <p:cNvPr id="6" name="AutoShape 9">
              <a:extLst>
                <a:ext uri="{FF2B5EF4-FFF2-40B4-BE49-F238E27FC236}">
                  <a16:creationId xmlns:a16="http://schemas.microsoft.com/office/drawing/2014/main" id="{0B27A768-EE8C-8FFD-7782-F5A549A977AA}"/>
                </a:ext>
              </a:extLst>
            </p:cNvPr>
            <p:cNvSpPr>
              <a:spLocks noChangeArrowheads="1"/>
            </p:cNvSpPr>
            <p:nvPr/>
          </p:nvSpPr>
          <p:spPr bwMode="auto">
            <a:xfrm>
              <a:off x="1779225" y="298454"/>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663992D9-BF0C-A952-1DDD-B669A9932737}"/>
                </a:ext>
              </a:extLst>
            </p:cNvPr>
            <p:cNvGrpSpPr/>
            <p:nvPr/>
          </p:nvGrpSpPr>
          <p:grpSpPr>
            <a:xfrm>
              <a:off x="838200" y="297639"/>
              <a:ext cx="4545330" cy="301303"/>
              <a:chOff x="838200" y="297639"/>
              <a:chExt cx="4545330" cy="301303"/>
            </a:xfrm>
          </p:grpSpPr>
          <p:grpSp>
            <p:nvGrpSpPr>
              <p:cNvPr id="8" name="Group 7">
                <a:extLst>
                  <a:ext uri="{FF2B5EF4-FFF2-40B4-BE49-F238E27FC236}">
                    <a16:creationId xmlns:a16="http://schemas.microsoft.com/office/drawing/2014/main" id="{3D989A41-542C-35CD-AF4A-CB43CD262BD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56BF4DA-50EB-E510-F1A7-DA29C2D84C6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711F63DC-1CB9-178B-C803-D3EAFF7E3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B75C5D4F-D63F-B68C-2CD1-F542E984CD7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0E3936B2-5343-B810-B777-5AD66D5FB9C6}"/>
                  </a:ext>
                </a:extLst>
              </p:cNvPr>
              <p:cNvSpPr txBox="1"/>
              <p:nvPr/>
            </p:nvSpPr>
            <p:spPr>
              <a:xfrm>
                <a:off x="2190452" y="307580"/>
                <a:ext cx="319307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Standard Work Documentation</a:t>
                </a:r>
              </a:p>
            </p:txBody>
          </p:sp>
        </p:grpSp>
      </p:grpSp>
    </p:spTree>
    <p:extLst>
      <p:ext uri="{BB962C8B-B14F-4D97-AF65-F5344CB8AC3E}">
        <p14:creationId xmlns:p14="http://schemas.microsoft.com/office/powerpoint/2010/main" val="24457659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Review Exercise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b="1" dirty="0"/>
              <a:t>2 Minute Review</a:t>
            </a:r>
          </a:p>
          <a:p>
            <a:r>
              <a:rPr lang="en-US" dirty="0"/>
              <a:t>In pairs, or in small groups, spend 2 minutes discussing key learnings and take-aways from this Standard Work Event thus far</a:t>
            </a:r>
          </a:p>
          <a:p>
            <a:r>
              <a:rPr lang="en-US" dirty="0"/>
              <a:t>One person from each group will share one learning that was discussed with the rest of the class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66</a:t>
            </a:fld>
            <a:endParaRPr lang="en-US"/>
          </a:p>
        </p:txBody>
      </p:sp>
    </p:spTree>
    <p:extLst>
      <p:ext uri="{BB962C8B-B14F-4D97-AF65-F5344CB8AC3E}">
        <p14:creationId xmlns:p14="http://schemas.microsoft.com/office/powerpoint/2010/main" val="41157165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Standard Work Summary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Quality products produced at TAKT time</a:t>
            </a:r>
          </a:p>
          <a:p>
            <a:r>
              <a:rPr lang="en-US" dirty="0"/>
              <a:t>Productive utilization of people</a:t>
            </a:r>
          </a:p>
          <a:p>
            <a:pPr lvl="1"/>
            <a:r>
              <a:rPr lang="en-US" dirty="0"/>
              <a:t>Operators should operate</a:t>
            </a:r>
          </a:p>
          <a:p>
            <a:pPr lvl="1"/>
            <a:r>
              <a:rPr lang="en-US" dirty="0"/>
              <a:t>High operator productivity through loading to TAKT time</a:t>
            </a:r>
          </a:p>
          <a:p>
            <a:pPr lvl="1"/>
            <a:r>
              <a:rPr lang="en-US" dirty="0"/>
              <a:t>Designed for minimum and maximum manning</a:t>
            </a:r>
          </a:p>
          <a:p>
            <a:r>
              <a:rPr lang="en-US" dirty="0"/>
              <a:t>Continuous flow of material and operators</a:t>
            </a:r>
          </a:p>
          <a:p>
            <a:pPr lvl="1"/>
            <a:r>
              <a:rPr lang="en-US" dirty="0"/>
              <a:t>Workstation optimized for presentation of parts, materials, and tools; design supports continuous operator movement but minimizes wasted motion</a:t>
            </a:r>
          </a:p>
          <a:p>
            <a:r>
              <a:rPr lang="en-US" dirty="0"/>
              <a:t>Immediate flow information/feedback</a:t>
            </a:r>
          </a:p>
          <a:p>
            <a:r>
              <a:rPr lang="en-US" dirty="0"/>
              <a:t>Expose problems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67</a:t>
            </a:fld>
            <a:endParaRPr lang="en-US"/>
          </a:p>
        </p:txBody>
      </p:sp>
    </p:spTree>
    <p:extLst>
      <p:ext uri="{BB962C8B-B14F-4D97-AF65-F5344CB8AC3E}">
        <p14:creationId xmlns:p14="http://schemas.microsoft.com/office/powerpoint/2010/main" val="23822808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Standard Work Summary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If a process is not documented, there is no process</a:t>
            </a:r>
          </a:p>
          <a:p>
            <a:r>
              <a:rPr lang="en-US" dirty="0"/>
              <a:t>Consistency in operations = improved quality</a:t>
            </a:r>
          </a:p>
          <a:p>
            <a:r>
              <a:rPr lang="en-US" dirty="0"/>
              <a:t>Without a standard, there can be no consistent improvement</a:t>
            </a:r>
          </a:p>
          <a:p>
            <a:r>
              <a:rPr lang="en-US" dirty="0"/>
              <a:t>Standard Work is dynamic, not stagnant</a:t>
            </a:r>
          </a:p>
          <a:p>
            <a:r>
              <a:rPr lang="en-US" dirty="0"/>
              <a:t>Standard Work is a management tool</a:t>
            </a:r>
          </a:p>
          <a:p>
            <a:r>
              <a:rPr lang="en-US" dirty="0"/>
              <a:t>Do not use Standard Work to lay off operators</a:t>
            </a:r>
          </a:p>
          <a:p>
            <a:r>
              <a:rPr lang="en-US" dirty="0"/>
              <a:t>If Standard Work is &gt;30 days old, ask questions</a:t>
            </a:r>
          </a:p>
          <a:p>
            <a:pPr lvl="1"/>
            <a:r>
              <a:rPr lang="en-US" dirty="0"/>
              <a:t> Has demand changed?</a:t>
            </a:r>
          </a:p>
          <a:p>
            <a:pPr lvl="1"/>
            <a:r>
              <a:rPr lang="en-US" dirty="0"/>
              <a:t> Have improvements been made?</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68</a:t>
            </a:fld>
            <a:endParaRPr lang="en-US"/>
          </a:p>
        </p:txBody>
      </p:sp>
    </p:spTree>
    <p:extLst>
      <p:ext uri="{BB962C8B-B14F-4D97-AF65-F5344CB8AC3E}">
        <p14:creationId xmlns:p14="http://schemas.microsoft.com/office/powerpoint/2010/main" val="13294464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Standard Work Summary</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69</a:t>
            </a:fld>
            <a:endParaRPr lang="en-US"/>
          </a:p>
        </p:txBody>
      </p:sp>
      <p:sp>
        <p:nvSpPr>
          <p:cNvPr id="12" name="Rectangle 3">
            <a:extLst>
              <a:ext uri="{FF2B5EF4-FFF2-40B4-BE49-F238E27FC236}">
                <a16:creationId xmlns:a16="http://schemas.microsoft.com/office/drawing/2014/main" id="{09BDA70E-1372-22B4-70C9-B41E9A682F43}"/>
              </a:ext>
            </a:extLst>
          </p:cNvPr>
          <p:cNvSpPr txBox="1">
            <a:spLocks noChangeArrowheads="1"/>
          </p:cNvSpPr>
          <p:nvPr/>
        </p:nvSpPr>
        <p:spPr>
          <a:xfrm>
            <a:off x="2013744" y="2788603"/>
            <a:ext cx="8164513" cy="2036762"/>
          </a:xfrm>
          <a:prstGeom prst="rect">
            <a:avLst/>
          </a:prstGeom>
          <a:solidFill>
            <a:schemeClr val="accent1"/>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ja-JP" altLang="en-US" sz="3200" dirty="0">
                <a:solidFill>
                  <a:schemeClr val="bg1"/>
                </a:solidFill>
              </a:rPr>
              <a:t>“</a:t>
            </a:r>
            <a:r>
              <a:rPr lang="en-US" altLang="ja-JP" sz="3200" dirty="0">
                <a:solidFill>
                  <a:schemeClr val="bg1"/>
                </a:solidFill>
              </a:rPr>
              <a:t>If you don</a:t>
            </a:r>
            <a:r>
              <a:rPr lang="ja-JP" altLang="en-US" sz="3200" dirty="0">
                <a:solidFill>
                  <a:schemeClr val="bg1"/>
                </a:solidFill>
              </a:rPr>
              <a:t>’</a:t>
            </a:r>
            <a:r>
              <a:rPr lang="en-US" altLang="ja-JP" sz="3200" dirty="0">
                <a:solidFill>
                  <a:schemeClr val="bg1"/>
                </a:solidFill>
              </a:rPr>
              <a:t>t understand Standard Work, you don</a:t>
            </a:r>
            <a:r>
              <a:rPr lang="ja-JP" altLang="en-US" sz="3200" dirty="0">
                <a:solidFill>
                  <a:schemeClr val="bg1"/>
                </a:solidFill>
              </a:rPr>
              <a:t>’</a:t>
            </a:r>
            <a:r>
              <a:rPr lang="en-US" altLang="ja-JP" sz="3200" dirty="0">
                <a:solidFill>
                  <a:schemeClr val="bg1"/>
                </a:solidFill>
              </a:rPr>
              <a:t>t understand the Toyota Production System.</a:t>
            </a:r>
            <a:r>
              <a:rPr lang="ja-JP" altLang="en-US" sz="3200" dirty="0">
                <a:solidFill>
                  <a:schemeClr val="bg1"/>
                </a:solidFill>
              </a:rPr>
              <a:t>”</a:t>
            </a:r>
            <a:endParaRPr lang="en-US" altLang="ja-JP" sz="3200" dirty="0">
              <a:solidFill>
                <a:schemeClr val="bg1"/>
              </a:solidFill>
            </a:endParaRPr>
          </a:p>
          <a:p>
            <a:pPr>
              <a:buFont typeface="Wingdings" panose="05000000000000000000" pitchFamily="2" charset="2"/>
              <a:buNone/>
            </a:pPr>
            <a:r>
              <a:rPr lang="en-US" altLang="en-US" sz="1800" dirty="0">
                <a:solidFill>
                  <a:schemeClr val="bg1"/>
                </a:solidFill>
              </a:rPr>
              <a:t>						</a:t>
            </a:r>
            <a:r>
              <a:rPr lang="en-US" altLang="en-US" sz="1800" dirty="0" err="1">
                <a:solidFill>
                  <a:schemeClr val="bg1"/>
                </a:solidFill>
              </a:rPr>
              <a:t>Senji</a:t>
            </a:r>
            <a:r>
              <a:rPr lang="en-US" altLang="en-US" sz="1800" dirty="0">
                <a:solidFill>
                  <a:schemeClr val="bg1"/>
                </a:solidFill>
              </a:rPr>
              <a:t> </a:t>
            </a:r>
            <a:r>
              <a:rPr lang="en-US" altLang="en-US" sz="1800" dirty="0" err="1">
                <a:solidFill>
                  <a:schemeClr val="bg1"/>
                </a:solidFill>
              </a:rPr>
              <a:t>Niwa</a:t>
            </a:r>
            <a:r>
              <a:rPr lang="en-US" altLang="en-US" sz="1800" dirty="0">
                <a:solidFill>
                  <a:schemeClr val="bg1"/>
                </a:solidFill>
              </a:rPr>
              <a:t> (1989)                    					</a:t>
            </a:r>
            <a:r>
              <a:rPr lang="en-US" altLang="en-US" sz="1800" dirty="0" err="1">
                <a:solidFill>
                  <a:schemeClr val="bg1"/>
                </a:solidFill>
              </a:rPr>
              <a:t>Shingijutsu</a:t>
            </a:r>
            <a:r>
              <a:rPr lang="en-US" altLang="en-US" sz="1800" dirty="0">
                <a:solidFill>
                  <a:schemeClr val="bg1"/>
                </a:solidFill>
              </a:rPr>
              <a:t> Co., Ltd.</a:t>
            </a:r>
          </a:p>
          <a:p>
            <a:endParaRPr lang="en-US" altLang="en-US" sz="1800" dirty="0">
              <a:solidFill>
                <a:schemeClr val="bg1"/>
              </a:solidFill>
            </a:endParaRPr>
          </a:p>
          <a:p>
            <a:endParaRPr lang="en-US" altLang="en-US" sz="1800" dirty="0"/>
          </a:p>
        </p:txBody>
      </p:sp>
    </p:spTree>
    <p:extLst>
      <p:ext uri="{BB962C8B-B14F-4D97-AF65-F5344CB8AC3E}">
        <p14:creationId xmlns:p14="http://schemas.microsoft.com/office/powerpoint/2010/main" val="32609403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70</a:t>
            </a:fld>
            <a:endParaRPr lang="en-US" dirty="0"/>
          </a:p>
        </p:txBody>
      </p:sp>
    </p:spTree>
    <p:extLst>
      <p:ext uri="{BB962C8B-B14F-4D97-AF65-F5344CB8AC3E}">
        <p14:creationId xmlns:p14="http://schemas.microsoft.com/office/powerpoint/2010/main" val="987190569"/>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14210</TotalTime>
  <Words>8672</Words>
  <Application>Microsoft Macintosh PowerPoint</Application>
  <PresentationFormat>Widescreen</PresentationFormat>
  <Paragraphs>1215</Paragraphs>
  <Slides>70</Slides>
  <Notes>70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70</vt:i4>
      </vt:variant>
    </vt:vector>
  </HeadingPairs>
  <TitlesOfParts>
    <vt:vector size="79" baseType="lpstr">
      <vt:lpstr>Arial</vt:lpstr>
      <vt:lpstr>Arial Black</vt:lpstr>
      <vt:lpstr>Calibri</vt:lpstr>
      <vt:lpstr>Roboto</vt:lpstr>
      <vt:lpstr>Roboto Medium</vt:lpstr>
      <vt:lpstr>Symbol</vt:lpstr>
      <vt:lpstr>Times New Roman</vt:lpstr>
      <vt:lpstr>Wingdings</vt:lpstr>
      <vt:lpstr>Office Theme</vt:lpstr>
      <vt:lpstr>PowerPoint Presentation</vt:lpstr>
      <vt:lpstr>PowerPoint Presentation</vt:lpstr>
      <vt:lpstr>PowerPoint Presentation</vt:lpstr>
      <vt:lpstr>Ground Rules for Event</vt:lpstr>
      <vt:lpstr>Goal of Standard Work Module</vt:lpstr>
      <vt:lpstr>Standard Work: Improvement Cannot Be Made Without a Standard</vt:lpstr>
      <vt:lpstr>Standard Work Characteristics</vt:lpstr>
      <vt:lpstr>Standard Work Improves Productivity</vt:lpstr>
      <vt:lpstr>Value Added vs. Non-Value Added</vt:lpstr>
      <vt:lpstr>Value Added vs. Non-Value Added</vt:lpstr>
      <vt:lpstr>Value Added vs. Non-Value Added</vt:lpstr>
      <vt:lpstr>Exercise: Standard Work Charter Review</vt:lpstr>
      <vt:lpstr>TAKT Time vs. Cycle Time</vt:lpstr>
      <vt:lpstr>Origin of Takt Time</vt:lpstr>
      <vt:lpstr>TAKT Time</vt:lpstr>
      <vt:lpstr>TAKT Time Example</vt:lpstr>
      <vt:lpstr>TAKT Time Example</vt:lpstr>
      <vt:lpstr>Three Types of Cycle Time</vt:lpstr>
      <vt:lpstr>Operator Cycle Time Defined</vt:lpstr>
      <vt:lpstr>Machine Cycle Time Defined</vt:lpstr>
      <vt:lpstr>Processing Cycle Time Defined</vt:lpstr>
      <vt:lpstr>Exercise: Cycle Time</vt:lpstr>
      <vt:lpstr>Exercise: Cycle Time</vt:lpstr>
      <vt:lpstr>Exercise: Takt Time</vt:lpstr>
      <vt:lpstr>Work Sequence </vt:lpstr>
      <vt:lpstr>Work Sequence Defined</vt:lpstr>
      <vt:lpstr>Work Sequence</vt:lpstr>
      <vt:lpstr>Work Sequence</vt:lpstr>
      <vt:lpstr>Exercise: Work Sequence</vt:lpstr>
      <vt:lpstr>Determining Total Number of Operators Needed</vt:lpstr>
      <vt:lpstr>Partial Operator—Guidelines </vt:lpstr>
      <vt:lpstr>Exercise: Putting it all together</vt:lpstr>
      <vt:lpstr>Exercise</vt:lpstr>
      <vt:lpstr>Exercise</vt:lpstr>
      <vt:lpstr>Exercise</vt:lpstr>
      <vt:lpstr>Standard Work In Process (WIP) </vt:lpstr>
      <vt:lpstr>Standard WIP</vt:lpstr>
      <vt:lpstr>Standard WIP</vt:lpstr>
      <vt:lpstr>Exercise: Standard WIP</vt:lpstr>
      <vt:lpstr>Exercise: Standard WIP</vt:lpstr>
      <vt:lpstr>Exercise: Description of Cell Operations, Stations 1-6</vt:lpstr>
      <vt:lpstr>Exercise: Description of Cell Operations, Stations 7-11</vt:lpstr>
      <vt:lpstr>Curtain Quantity Calculation</vt:lpstr>
      <vt:lpstr>Standard WIP with Curtain Effect</vt:lpstr>
      <vt:lpstr>Exercise: Standard WIP and Curtain Quantities</vt:lpstr>
      <vt:lpstr>Standard Work Documentation </vt:lpstr>
      <vt:lpstr>Standard Work Documentation Forms are Management Tools</vt:lpstr>
      <vt:lpstr>Time Observation Form</vt:lpstr>
      <vt:lpstr>Time Observation Form</vt:lpstr>
      <vt:lpstr>Time Observation Form</vt:lpstr>
      <vt:lpstr>Time Observation Form</vt:lpstr>
      <vt:lpstr>Time Observation Tips</vt:lpstr>
      <vt:lpstr>Process Capacity Sheet</vt:lpstr>
      <vt:lpstr>Process Capacity Sheet </vt:lpstr>
      <vt:lpstr>Standard Work Combination Sheet</vt:lpstr>
      <vt:lpstr>Standard Work Combination Sheet </vt:lpstr>
      <vt:lpstr>Standard Work Combination Tips</vt:lpstr>
      <vt:lpstr>Standard Work Playbook</vt:lpstr>
      <vt:lpstr>Standard Work Sheet</vt:lpstr>
      <vt:lpstr>Standard Work Sheet</vt:lpstr>
      <vt:lpstr>Operator Loading Chart</vt:lpstr>
      <vt:lpstr>Operator Loading Chart </vt:lpstr>
      <vt:lpstr>Document Logistics </vt:lpstr>
      <vt:lpstr>Kaizen Results </vt:lpstr>
      <vt:lpstr>Prepare for Final Report-Out to Management</vt:lpstr>
      <vt:lpstr>Review Exercise</vt:lpstr>
      <vt:lpstr>Standard Work Summary</vt:lpstr>
      <vt:lpstr>Standard Work Summary</vt:lpstr>
      <vt:lpstr>Standard Work 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Mark DeLuzio</cp:lastModifiedBy>
  <cp:revision>486</cp:revision>
  <dcterms:created xsi:type="dcterms:W3CDTF">2023-02-08T22:10:20Z</dcterms:created>
  <dcterms:modified xsi:type="dcterms:W3CDTF">2025-05-15T13:33:10Z</dcterms:modified>
</cp:coreProperties>
</file>