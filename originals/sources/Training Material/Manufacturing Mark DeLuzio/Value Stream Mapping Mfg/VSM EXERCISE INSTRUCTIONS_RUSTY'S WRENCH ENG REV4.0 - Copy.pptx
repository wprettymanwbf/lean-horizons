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352" r:id="rId2"/>
    <p:sldId id="353" r:id="rId3"/>
    <p:sldId id="354" r:id="rId4"/>
    <p:sldId id="355" r:id="rId5"/>
    <p:sldId id="356" r:id="rId6"/>
    <p:sldId id="357" r:id="rId7"/>
    <p:sldId id="358" r:id="rId8"/>
    <p:sldId id="359" r:id="rId9"/>
    <p:sldId id="3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90" d="100"/>
          <a:sy n="90" d="100"/>
        </p:scale>
        <p:origin x="1380" y="96"/>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Pass out flip chart paper, markers, calculators, and post-it notes. Pass out the Data Sheet Handouts for Rusty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Wrench. Read the instructions of the exercise. They are to complete the Current State Map in small groups.</a:t>
            </a:r>
          </a:p>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Emphasize after the exercise that they will need these maps for a later exercise – do not discard or erase.  </a:t>
            </a:r>
          </a:p>
          <a:p>
            <a:endParaRPr lang="en-US" altLang="en-US" dirty="0">
              <a:latin typeface="Arial" panose="020B0604020202020204" pitchFamily="34" charset="0"/>
              <a:ea typeface="ＭＳ Ｐゴシック" panose="020B0600070205080204" pitchFamily="34" charset="-128"/>
            </a:endParaRPr>
          </a:p>
          <a:p>
            <a:endParaRPr lang="en-US" altLang="en-US" b="1"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266743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HANDOUT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567236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HANDOUT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018236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Explain that this chart summarizes the key data points and can be used to help map out the current state.  </a:t>
            </a:r>
          </a:p>
          <a:p>
            <a:r>
              <a:rPr lang="en-US" altLang="en-US" dirty="0">
                <a:latin typeface="Arial" panose="020B0604020202020204" pitchFamily="34" charset="0"/>
                <a:ea typeface="ＭＳ Ｐゴシック" panose="020B0600070205080204" pitchFamily="34" charset="-128"/>
              </a:rPr>
              <a:t>This data is the result of </a:t>
            </a:r>
            <a:r>
              <a:rPr lang="en-US" altLang="en-US" u="sng" dirty="0">
                <a:latin typeface="Arial" panose="020B0604020202020204" pitchFamily="34" charset="0"/>
                <a:ea typeface="ＭＳ Ｐゴシック" panose="020B0600070205080204" pitchFamily="34" charset="-128"/>
              </a:rPr>
              <a:t>observation</a:t>
            </a:r>
            <a:r>
              <a:rPr lang="en-US" altLang="en-US" dirty="0">
                <a:latin typeface="Arial" panose="020B0604020202020204" pitchFamily="34" charset="0"/>
                <a:ea typeface="ＭＳ Ｐゴシック" panose="020B0600070205080204" pitchFamily="34" charset="-128"/>
              </a:rPr>
              <a:t> and data-gathering activity.</a:t>
            </a:r>
          </a:p>
          <a:p>
            <a:r>
              <a:rPr lang="en-US" altLang="en-US" dirty="0">
                <a:latin typeface="Arial" panose="020B0604020202020204" pitchFamily="34" charset="0"/>
                <a:ea typeface="ＭＳ Ｐゴシック" panose="020B0600070205080204" pitchFamily="34" charset="-128"/>
              </a:rPr>
              <a:t>Note: Pause here and allow students to work in teams to create their maps – the following slides are the </a:t>
            </a:r>
            <a:r>
              <a:rPr lang="en-US" altLang="en-US" u="sng" dirty="0">
                <a:latin typeface="Arial" panose="020B0604020202020204" pitchFamily="34" charset="0"/>
                <a:ea typeface="ＭＳ Ｐゴシック" panose="020B0600070205080204" pitchFamily="34" charset="-128"/>
              </a:rPr>
              <a:t>Answers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256692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Reinforce the importance of Takt time to VSM in understanding demand.</a:t>
            </a:r>
          </a:p>
          <a:p>
            <a:r>
              <a:rPr lang="en-US" altLang="en-US" dirty="0">
                <a:latin typeface="Arial" panose="020B0604020202020204" pitchFamily="34" charset="0"/>
                <a:ea typeface="ＭＳ Ｐゴシック" panose="020B0600070205080204" pitchFamily="34" charset="-128"/>
              </a:rPr>
              <a:t>Review the calculation, based on Rusty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Wrench Factory example.</a:t>
            </a:r>
          </a:p>
          <a:p>
            <a:endParaRPr lang="en-US" altLang="en-US" dirty="0">
              <a:latin typeface="Arial" panose="020B0604020202020204" pitchFamily="34" charset="0"/>
              <a:ea typeface="ＭＳ Ｐゴシック" panose="020B0600070205080204" pitchFamily="34" charset="-128"/>
            </a:endParaRPr>
          </a:p>
          <a:p>
            <a:endParaRPr lang="en-US" altLang="en-US" i="1"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240041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u="sng"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550125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Now we will repeat this exercise again in your small groups for Rusty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Wrench. Please take 10 minutes to review your current state maps and mark up with improvement opportunities. Use the Interrogation Questions (in order) on the slide as your guide.</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920932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u="sng"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304575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u="sng"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0193098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VSM EXERCISE INSTRUCTIONS_RUSTY’S WRENCH ENG REV4.0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a:t>
            </a:r>
            <a:r>
              <a:rPr lang="en-US" sz="4000" dirty="0" err="1">
                <a:latin typeface="Roboto Medium"/>
                <a:ea typeface="Roboto Medium"/>
                <a:cs typeface="Roboto Medium"/>
              </a:rPr>
              <a:t>Rusty’s</a:t>
            </a:r>
            <a:r>
              <a:rPr lang="en-US" sz="4000" dirty="0">
                <a:latin typeface="Roboto Medium"/>
                <a:ea typeface="Roboto Medium"/>
                <a:cs typeface="Roboto Medium"/>
              </a:rPr>
              <a:t> Wrench</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an accurate Current State Value Stream Map from case study example data.</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Read through the case study data handout for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Rusty’s</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Wrench. Make notes where needed.</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create the Current State Map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chart paper and post-it notes. </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NOTE: KEEP YOUR COMPLETED MAP FOR</a:t>
            </a:r>
            <a:b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LATER EXERCISE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157992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person from each group will present map to the class. </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Comments and feedback encouraged. </a:t>
            </a:r>
          </a:p>
        </p:txBody>
      </p:sp>
      <p:grpSp>
        <p:nvGrpSpPr>
          <p:cNvPr id="3" name="Group 2">
            <a:extLst>
              <a:ext uri="{FF2B5EF4-FFF2-40B4-BE49-F238E27FC236}">
                <a16:creationId xmlns:a16="http://schemas.microsoft.com/office/drawing/2014/main" id="{D399B5AC-75DF-6BE1-7719-D65E7BAC787F}"/>
              </a:ext>
            </a:extLst>
          </p:cNvPr>
          <p:cNvGrpSpPr/>
          <p:nvPr/>
        </p:nvGrpSpPr>
        <p:grpSpPr>
          <a:xfrm>
            <a:off x="838200" y="297639"/>
            <a:ext cx="4202430" cy="307138"/>
            <a:chOff x="838200" y="297639"/>
            <a:chExt cx="4202430" cy="307138"/>
          </a:xfrm>
        </p:grpSpPr>
        <p:grpSp>
          <p:nvGrpSpPr>
            <p:cNvPr id="4" name="Group 3">
              <a:extLst>
                <a:ext uri="{FF2B5EF4-FFF2-40B4-BE49-F238E27FC236}">
                  <a16:creationId xmlns:a16="http://schemas.microsoft.com/office/drawing/2014/main" id="{2C461F05-AC64-1505-7AEC-B1DF38B0677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F84F73FF-90A1-B5FC-6C43-EB4861373A2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0472D2B-DFC8-712E-C11F-42066792646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34275155-8341-12EA-AA20-09C03E9293A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324D2F7-C8AE-6968-8EA7-5B2AA60E500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A5D9CBC9-85D1-2F2E-1F6F-5A963DC75EF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E8B3564-25AC-9B26-DACB-7383CC03C94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77DAD77C-32A5-7F31-0C54-F3228D1D5ED3}"/>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spTree>
    <p:extLst>
      <p:ext uri="{BB962C8B-B14F-4D97-AF65-F5344CB8AC3E}">
        <p14:creationId xmlns:p14="http://schemas.microsoft.com/office/powerpoint/2010/main" val="2495757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Case Study Example: </a:t>
            </a:r>
            <a:r>
              <a:rPr lang="en-US" dirty="0" err="1"/>
              <a:t>Rusty’s</a:t>
            </a:r>
            <a:r>
              <a:rPr lang="en-US" dirty="0"/>
              <a:t> Wrench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77500" lnSpcReduction="20000"/>
          </a:bodyPr>
          <a:lstStyle/>
          <a:p>
            <a:r>
              <a:rPr lang="en-US" dirty="0"/>
              <a:t>Background</a:t>
            </a:r>
          </a:p>
          <a:p>
            <a:pPr lvl="1"/>
            <a:r>
              <a:rPr lang="en-US" dirty="0" err="1"/>
              <a:t>Rusty’s</a:t>
            </a:r>
            <a:r>
              <a:rPr lang="en-US" dirty="0"/>
              <a:t> Wrench Factory produces several types of wrenches and is the sole supplier to Giant Tool Supply, the nation’s largest supplier of tools to the industrial community. Rusty produces metric and SAE sizes of open-end wrenches.   </a:t>
            </a:r>
          </a:p>
          <a:p>
            <a:r>
              <a:rPr lang="en-US" dirty="0"/>
              <a:t>Customer Requirements</a:t>
            </a:r>
          </a:p>
          <a:p>
            <a:pPr lvl="1"/>
            <a:r>
              <a:rPr lang="en-US" dirty="0"/>
              <a:t>3,200 sets per month: 2,200 SAE/1,000 metric</a:t>
            </a:r>
          </a:p>
          <a:p>
            <a:pPr lvl="1"/>
            <a:r>
              <a:rPr lang="en-US" dirty="0"/>
              <a:t>Customer operates on one shift</a:t>
            </a:r>
          </a:p>
          <a:p>
            <a:pPr lvl="1"/>
            <a:r>
              <a:rPr lang="en-US" dirty="0"/>
              <a:t>Wrenches are packed in sets of 25</a:t>
            </a:r>
          </a:p>
          <a:p>
            <a:pPr lvl="1"/>
            <a:r>
              <a:rPr lang="en-US" dirty="0"/>
              <a:t>The customer orders by sets</a:t>
            </a:r>
          </a:p>
          <a:p>
            <a:pPr lvl="1"/>
            <a:r>
              <a:rPr lang="en-US" dirty="0" err="1"/>
              <a:t>Rusty’s</a:t>
            </a:r>
            <a:r>
              <a:rPr lang="en-US" dirty="0"/>
              <a:t> Wrench provides a daily shipment by truckload to Giant Tool Supply</a:t>
            </a:r>
          </a:p>
          <a:p>
            <a:r>
              <a:rPr lang="en-US" dirty="0" err="1"/>
              <a:t>Rusty’s</a:t>
            </a:r>
            <a:r>
              <a:rPr lang="en-US" dirty="0"/>
              <a:t> Wrench Work Time</a:t>
            </a:r>
          </a:p>
          <a:p>
            <a:pPr lvl="1"/>
            <a:r>
              <a:rPr lang="en-US" dirty="0"/>
              <a:t>20 days in a month</a:t>
            </a:r>
          </a:p>
          <a:p>
            <a:pPr lvl="1"/>
            <a:r>
              <a:rPr lang="en-US" dirty="0"/>
              <a:t>Two shift operation in all departments</a:t>
            </a:r>
          </a:p>
          <a:p>
            <a:pPr lvl="1"/>
            <a:r>
              <a:rPr lang="en-US" dirty="0"/>
              <a:t>Eight (8) hour shifts</a:t>
            </a:r>
          </a:p>
          <a:p>
            <a:pPr lvl="1"/>
            <a:r>
              <a:rPr lang="en-US" dirty="0"/>
              <a:t>Two 10- minute breaks during each shift, 10- minute cleanup allowed during each shift, unpaid lunch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spTree>
    <p:extLst>
      <p:ext uri="{BB962C8B-B14F-4D97-AF65-F5344CB8AC3E}">
        <p14:creationId xmlns:p14="http://schemas.microsoft.com/office/powerpoint/2010/main" val="3478145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Case Study Example: </a:t>
            </a:r>
            <a:r>
              <a:rPr lang="en-US" dirty="0" err="1"/>
              <a:t>Rusty’s</a:t>
            </a:r>
            <a:r>
              <a:rPr lang="en-US" dirty="0"/>
              <a:t> Wrench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Production Processes</a:t>
            </a:r>
          </a:p>
          <a:p>
            <a:pPr lvl="1"/>
            <a:r>
              <a:rPr lang="en-US" dirty="0" err="1"/>
              <a:t>Rusty’s</a:t>
            </a:r>
            <a:r>
              <a:rPr lang="en-US" dirty="0"/>
              <a:t> process begins with hot forging (drop forge) a wrench, followed by machining, polishing, plating, and packing into sets. The sets are then staged and shipped to Giant Tool Supply on a daily basis.</a:t>
            </a:r>
          </a:p>
          <a:p>
            <a:pPr lvl="1"/>
            <a:r>
              <a:rPr lang="en-US" dirty="0"/>
              <a:t>Changing over between SAE and Metric requires 1 hour changeover in Forging, and 20 minutes in Machining</a:t>
            </a:r>
          </a:p>
          <a:p>
            <a:pPr lvl="1"/>
            <a:r>
              <a:rPr lang="en-US" dirty="0"/>
              <a:t>Steel bar stock is supplied by Lean Steel Company, delivering twice a week on Monday and Thursday</a:t>
            </a:r>
          </a:p>
          <a:p>
            <a:r>
              <a:rPr lang="en-US" dirty="0" err="1"/>
              <a:t>Rusty’s</a:t>
            </a:r>
            <a:r>
              <a:rPr lang="en-US" dirty="0"/>
              <a:t> Production Control Department</a:t>
            </a:r>
          </a:p>
          <a:p>
            <a:pPr lvl="1"/>
            <a:r>
              <a:rPr lang="en-US" dirty="0"/>
              <a:t>Receives Giant’s 90/60/30 day forecast and enters into MRP</a:t>
            </a:r>
          </a:p>
          <a:p>
            <a:pPr lvl="1"/>
            <a:r>
              <a:rPr lang="en-US" dirty="0"/>
              <a:t>Issues an 8 week forecast to Lean Steel via MRP</a:t>
            </a:r>
          </a:p>
          <a:p>
            <a:pPr lvl="1"/>
            <a:r>
              <a:rPr lang="en-US" dirty="0"/>
              <a:t>Releases for cut bar stock via weekly faxed orders to Lean Steel</a:t>
            </a:r>
          </a:p>
          <a:p>
            <a:pPr lvl="1"/>
            <a:r>
              <a:rPr lang="en-US" dirty="0"/>
              <a:t>Receives daily firm order from Giant Tool Supply</a:t>
            </a:r>
          </a:p>
          <a:p>
            <a:pPr lvl="1"/>
            <a:r>
              <a:rPr lang="en-US" dirty="0"/>
              <a:t>Generates weekly MRP-based build schedules to all manufacturing departments</a:t>
            </a:r>
          </a:p>
          <a:p>
            <a:pPr lvl="1"/>
            <a:r>
              <a:rPr lang="en-US" dirty="0"/>
              <a:t>Issues daily shipping schedule to Shipping Department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spTree>
    <p:extLst>
      <p:ext uri="{BB962C8B-B14F-4D97-AF65-F5344CB8AC3E}">
        <p14:creationId xmlns:p14="http://schemas.microsoft.com/office/powerpoint/2010/main" val="2969410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err="1"/>
              <a:t>Rusty’s</a:t>
            </a:r>
            <a:r>
              <a:rPr lang="en-US" dirty="0"/>
              <a:t> Wrench Factory – Data Set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graphicFrame>
        <p:nvGraphicFramePr>
          <p:cNvPr id="16" name="Group 81">
            <a:extLst>
              <a:ext uri="{FF2B5EF4-FFF2-40B4-BE49-F238E27FC236}">
                <a16:creationId xmlns:a16="http://schemas.microsoft.com/office/drawing/2014/main" id="{E3BFAB97-929D-FC91-58D0-C8B7920D78F1}"/>
              </a:ext>
            </a:extLst>
          </p:cNvPr>
          <p:cNvGraphicFramePr>
            <a:graphicFrameLocks noGrp="1"/>
          </p:cNvGraphicFramePr>
          <p:nvPr>
            <p:extLst>
              <p:ext uri="{D42A27DB-BD31-4B8C-83A1-F6EECF244321}">
                <p14:modId xmlns:p14="http://schemas.microsoft.com/office/powerpoint/2010/main" val="2389197098"/>
              </p:ext>
            </p:extLst>
          </p:nvPr>
        </p:nvGraphicFramePr>
        <p:xfrm>
          <a:off x="2431479" y="2027298"/>
          <a:ext cx="7129463" cy="4237026"/>
        </p:xfrm>
        <a:graphic>
          <a:graphicData uri="http://schemas.openxmlformats.org/drawingml/2006/table">
            <a:tbl>
              <a:tblPr/>
              <a:tblGrid>
                <a:gridCol w="1187450">
                  <a:extLst>
                    <a:ext uri="{9D8B030D-6E8A-4147-A177-3AD203B41FA5}">
                      <a16:colId xmlns:a16="http://schemas.microsoft.com/office/drawing/2014/main" val="20000"/>
                    </a:ext>
                  </a:extLst>
                </a:gridCol>
                <a:gridCol w="1189038">
                  <a:extLst>
                    <a:ext uri="{9D8B030D-6E8A-4147-A177-3AD203B41FA5}">
                      <a16:colId xmlns:a16="http://schemas.microsoft.com/office/drawing/2014/main" val="20001"/>
                    </a:ext>
                  </a:extLst>
                </a:gridCol>
                <a:gridCol w="1189037">
                  <a:extLst>
                    <a:ext uri="{9D8B030D-6E8A-4147-A177-3AD203B41FA5}">
                      <a16:colId xmlns:a16="http://schemas.microsoft.com/office/drawing/2014/main" val="20002"/>
                    </a:ext>
                  </a:extLst>
                </a:gridCol>
                <a:gridCol w="1187450">
                  <a:extLst>
                    <a:ext uri="{9D8B030D-6E8A-4147-A177-3AD203B41FA5}">
                      <a16:colId xmlns:a16="http://schemas.microsoft.com/office/drawing/2014/main" val="20003"/>
                    </a:ext>
                  </a:extLst>
                </a:gridCol>
                <a:gridCol w="1189038">
                  <a:extLst>
                    <a:ext uri="{9D8B030D-6E8A-4147-A177-3AD203B41FA5}">
                      <a16:colId xmlns:a16="http://schemas.microsoft.com/office/drawing/2014/main" val="20004"/>
                    </a:ext>
                  </a:extLst>
                </a:gridCol>
                <a:gridCol w="1187450">
                  <a:extLst>
                    <a:ext uri="{9D8B030D-6E8A-4147-A177-3AD203B41FA5}">
                      <a16:colId xmlns:a16="http://schemas.microsoft.com/office/drawing/2014/main" val="20005"/>
                    </a:ext>
                  </a:extLst>
                </a:gridCol>
              </a:tblGrid>
              <a:tr h="1028201">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Drop Forge Press and Trimming. Process includes trim after forge.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(6 operators)</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process w/continuously running machines.Needs to be processed thru 6 machines.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(6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polish operation.  Operator relies on visual inspection of parts.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 operator)</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Parts are manually hung on a rack and processed through the plating process.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Operators manually pack wrenches into sets.  </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Removes sets from Pack and stages for daily truck shipment to the customer.</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0003">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16</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90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(Per Set)</a:t>
                      </a: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225</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450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95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I Hour from SAE to Metric</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20 Minutes (entire cell)</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541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100 %</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1439">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95%, all rejected parts are scrapped.</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94%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99.5% first pass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40651">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6000 pcs of cut bar stock before forge.  18000 after forge (12k SAE, 6k Metric)</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18k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 7k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35k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20k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6000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All SAE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75000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50k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25k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None – just daily ship quantities.</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7" name="Text Box 53">
            <a:extLst>
              <a:ext uri="{FF2B5EF4-FFF2-40B4-BE49-F238E27FC236}">
                <a16:creationId xmlns:a16="http://schemas.microsoft.com/office/drawing/2014/main" id="{8D225CC8-0ACE-BF1F-AC7E-9D5A5C8302C4}"/>
              </a:ext>
            </a:extLst>
          </p:cNvPr>
          <p:cNvSpPr txBox="1">
            <a:spLocks noChangeArrowheads="1"/>
          </p:cNvSpPr>
          <p:nvPr/>
        </p:nvSpPr>
        <p:spPr bwMode="auto">
          <a:xfrm>
            <a:off x="2697011" y="1709798"/>
            <a:ext cx="6495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dirty="0">
                <a:solidFill>
                  <a:schemeClr val="tx1"/>
                </a:solidFill>
                <a:latin typeface="Roboto" panose="02000000000000000000" pitchFamily="2" charset="0"/>
                <a:ea typeface="Roboto" panose="02000000000000000000" pitchFamily="2" charset="0"/>
              </a:rPr>
              <a:t>Forge</a:t>
            </a:r>
          </a:p>
        </p:txBody>
      </p:sp>
      <p:sp>
        <p:nvSpPr>
          <p:cNvPr id="18" name="Text Box 54">
            <a:extLst>
              <a:ext uri="{FF2B5EF4-FFF2-40B4-BE49-F238E27FC236}">
                <a16:creationId xmlns:a16="http://schemas.microsoft.com/office/drawing/2014/main" id="{AD7D38E9-1790-28AC-AFCC-D9E54B26B7D5}"/>
              </a:ext>
            </a:extLst>
          </p:cNvPr>
          <p:cNvSpPr txBox="1">
            <a:spLocks noChangeArrowheads="1"/>
          </p:cNvSpPr>
          <p:nvPr/>
        </p:nvSpPr>
        <p:spPr bwMode="auto">
          <a:xfrm>
            <a:off x="3837587" y="1709798"/>
            <a:ext cx="892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Machine</a:t>
            </a:r>
          </a:p>
        </p:txBody>
      </p:sp>
      <p:sp>
        <p:nvSpPr>
          <p:cNvPr id="19" name="Text Box 55">
            <a:extLst>
              <a:ext uri="{FF2B5EF4-FFF2-40B4-BE49-F238E27FC236}">
                <a16:creationId xmlns:a16="http://schemas.microsoft.com/office/drawing/2014/main" id="{6B8DCAC0-5666-2781-9380-2157F47B4850}"/>
              </a:ext>
            </a:extLst>
          </p:cNvPr>
          <p:cNvSpPr txBox="1">
            <a:spLocks noChangeArrowheads="1"/>
          </p:cNvSpPr>
          <p:nvPr/>
        </p:nvSpPr>
        <p:spPr bwMode="auto">
          <a:xfrm>
            <a:off x="5220801" y="1709798"/>
            <a:ext cx="715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Polish</a:t>
            </a:r>
          </a:p>
        </p:txBody>
      </p:sp>
      <p:sp>
        <p:nvSpPr>
          <p:cNvPr id="20" name="Text Box 56">
            <a:extLst>
              <a:ext uri="{FF2B5EF4-FFF2-40B4-BE49-F238E27FC236}">
                <a16:creationId xmlns:a16="http://schemas.microsoft.com/office/drawing/2014/main" id="{A2B59F5D-BC19-B5A8-D41B-B56E65E935C6}"/>
              </a:ext>
            </a:extLst>
          </p:cNvPr>
          <p:cNvSpPr txBox="1">
            <a:spLocks noChangeArrowheads="1"/>
          </p:cNvSpPr>
          <p:nvPr/>
        </p:nvSpPr>
        <p:spPr bwMode="auto">
          <a:xfrm>
            <a:off x="6427803" y="1724086"/>
            <a:ext cx="608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Plate</a:t>
            </a:r>
          </a:p>
        </p:txBody>
      </p:sp>
      <p:sp>
        <p:nvSpPr>
          <p:cNvPr id="21" name="Text Box 57">
            <a:extLst>
              <a:ext uri="{FF2B5EF4-FFF2-40B4-BE49-F238E27FC236}">
                <a16:creationId xmlns:a16="http://schemas.microsoft.com/office/drawing/2014/main" id="{9B262CA8-4052-FA43-929E-5CDA4249BF0E}"/>
              </a:ext>
            </a:extLst>
          </p:cNvPr>
          <p:cNvSpPr txBox="1">
            <a:spLocks noChangeArrowheads="1"/>
          </p:cNvSpPr>
          <p:nvPr/>
        </p:nvSpPr>
        <p:spPr bwMode="auto">
          <a:xfrm>
            <a:off x="7526855" y="1716148"/>
            <a:ext cx="598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Pack</a:t>
            </a:r>
          </a:p>
        </p:txBody>
      </p:sp>
      <p:sp>
        <p:nvSpPr>
          <p:cNvPr id="22" name="Text Box 58">
            <a:extLst>
              <a:ext uri="{FF2B5EF4-FFF2-40B4-BE49-F238E27FC236}">
                <a16:creationId xmlns:a16="http://schemas.microsoft.com/office/drawing/2014/main" id="{28369F1B-BBEB-981C-2812-24C0C4032C6A}"/>
              </a:ext>
            </a:extLst>
          </p:cNvPr>
          <p:cNvSpPr txBox="1">
            <a:spLocks noChangeArrowheads="1"/>
          </p:cNvSpPr>
          <p:nvPr/>
        </p:nvSpPr>
        <p:spPr bwMode="auto">
          <a:xfrm>
            <a:off x="8616379" y="1724086"/>
            <a:ext cx="5453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dirty="0">
                <a:solidFill>
                  <a:schemeClr val="tx1"/>
                </a:solidFill>
                <a:latin typeface="Roboto" panose="02000000000000000000" pitchFamily="2" charset="0"/>
                <a:ea typeface="Roboto" panose="02000000000000000000" pitchFamily="2" charset="0"/>
              </a:rPr>
              <a:t>Ship</a:t>
            </a:r>
          </a:p>
        </p:txBody>
      </p:sp>
      <p:sp>
        <p:nvSpPr>
          <p:cNvPr id="23" name="Text Box 59">
            <a:extLst>
              <a:ext uri="{FF2B5EF4-FFF2-40B4-BE49-F238E27FC236}">
                <a16:creationId xmlns:a16="http://schemas.microsoft.com/office/drawing/2014/main" id="{DA03CF9D-5B05-C647-6C01-6D0D5E31C0C8}"/>
              </a:ext>
            </a:extLst>
          </p:cNvPr>
          <p:cNvSpPr txBox="1">
            <a:spLocks noChangeArrowheads="1"/>
          </p:cNvSpPr>
          <p:nvPr/>
        </p:nvSpPr>
        <p:spPr bwMode="auto">
          <a:xfrm>
            <a:off x="1272604" y="2206686"/>
            <a:ext cx="9733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Operation</a:t>
            </a:r>
          </a:p>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Description</a:t>
            </a:r>
          </a:p>
        </p:txBody>
      </p:sp>
      <p:sp>
        <p:nvSpPr>
          <p:cNvPr id="24" name="Text Box 60">
            <a:extLst>
              <a:ext uri="{FF2B5EF4-FFF2-40B4-BE49-F238E27FC236}">
                <a16:creationId xmlns:a16="http://schemas.microsoft.com/office/drawing/2014/main" id="{70D8682F-545D-524F-F644-FCA9E66938A4}"/>
              </a:ext>
            </a:extLst>
          </p:cNvPr>
          <p:cNvSpPr txBox="1">
            <a:spLocks noChangeArrowheads="1"/>
          </p:cNvSpPr>
          <p:nvPr/>
        </p:nvSpPr>
        <p:spPr bwMode="auto">
          <a:xfrm>
            <a:off x="1029075" y="3184349"/>
            <a:ext cx="14603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DOI Observed &amp;</a:t>
            </a:r>
          </a:p>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Processing Time</a:t>
            </a:r>
          </a:p>
        </p:txBody>
      </p:sp>
      <p:sp>
        <p:nvSpPr>
          <p:cNvPr id="25" name="Text Box 61">
            <a:extLst>
              <a:ext uri="{FF2B5EF4-FFF2-40B4-BE49-F238E27FC236}">
                <a16:creationId xmlns:a16="http://schemas.microsoft.com/office/drawing/2014/main" id="{2B74C3FD-9E56-45FD-E746-232679387ABC}"/>
              </a:ext>
            </a:extLst>
          </p:cNvPr>
          <p:cNvSpPr txBox="1">
            <a:spLocks noChangeArrowheads="1"/>
          </p:cNvSpPr>
          <p:nvPr/>
        </p:nvSpPr>
        <p:spPr bwMode="auto">
          <a:xfrm>
            <a:off x="1250961" y="3866908"/>
            <a:ext cx="101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Changeover</a:t>
            </a:r>
          </a:p>
        </p:txBody>
      </p:sp>
      <p:sp>
        <p:nvSpPr>
          <p:cNvPr id="26" name="Text Box 62">
            <a:extLst>
              <a:ext uri="{FF2B5EF4-FFF2-40B4-BE49-F238E27FC236}">
                <a16:creationId xmlns:a16="http://schemas.microsoft.com/office/drawing/2014/main" id="{8948E103-EC45-E66A-824B-92AF2927B4CE}"/>
              </a:ext>
            </a:extLst>
          </p:cNvPr>
          <p:cNvSpPr txBox="1">
            <a:spLocks noChangeArrowheads="1"/>
          </p:cNvSpPr>
          <p:nvPr/>
        </p:nvSpPr>
        <p:spPr bwMode="auto">
          <a:xfrm>
            <a:off x="1327904" y="4375378"/>
            <a:ext cx="862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Machine</a:t>
            </a:r>
          </a:p>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Reliability</a:t>
            </a:r>
          </a:p>
        </p:txBody>
      </p:sp>
      <p:sp>
        <p:nvSpPr>
          <p:cNvPr id="27" name="Text Box 63">
            <a:extLst>
              <a:ext uri="{FF2B5EF4-FFF2-40B4-BE49-F238E27FC236}">
                <a16:creationId xmlns:a16="http://schemas.microsoft.com/office/drawing/2014/main" id="{5C8A817A-2E15-6B3F-E1B9-3FBBD454A96E}"/>
              </a:ext>
            </a:extLst>
          </p:cNvPr>
          <p:cNvSpPr txBox="1">
            <a:spLocks noChangeArrowheads="1"/>
          </p:cNvSpPr>
          <p:nvPr/>
        </p:nvSpPr>
        <p:spPr bwMode="auto">
          <a:xfrm>
            <a:off x="1348373" y="5206608"/>
            <a:ext cx="66717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Quality</a:t>
            </a:r>
          </a:p>
        </p:txBody>
      </p:sp>
      <p:sp>
        <p:nvSpPr>
          <p:cNvPr id="28" name="Text Box 64">
            <a:extLst>
              <a:ext uri="{FF2B5EF4-FFF2-40B4-BE49-F238E27FC236}">
                <a16:creationId xmlns:a16="http://schemas.microsoft.com/office/drawing/2014/main" id="{33B73AC0-C787-DD21-2A1E-F0FA197E7E16}"/>
              </a:ext>
            </a:extLst>
          </p:cNvPr>
          <p:cNvSpPr txBox="1">
            <a:spLocks noChangeArrowheads="1"/>
          </p:cNvSpPr>
          <p:nvPr/>
        </p:nvSpPr>
        <p:spPr bwMode="auto">
          <a:xfrm>
            <a:off x="1341529" y="5714672"/>
            <a:ext cx="8354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Inventory</a:t>
            </a:r>
          </a:p>
        </p:txBody>
      </p:sp>
    </p:spTree>
    <p:extLst>
      <p:ext uri="{BB962C8B-B14F-4D97-AF65-F5344CB8AC3E}">
        <p14:creationId xmlns:p14="http://schemas.microsoft.com/office/powerpoint/2010/main" val="719792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err="1"/>
              <a:t>Rusty’s</a:t>
            </a:r>
            <a:r>
              <a:rPr lang="en-US" dirty="0"/>
              <a:t> Wrench Factory – TAKT Time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TAKT Time - How often you should produce one part, based on the rate of sales to meet customer requirements.</a:t>
            </a:r>
          </a:p>
          <a:p>
            <a:r>
              <a:rPr lang="en-US" dirty="0"/>
              <a:t>Calculation</a:t>
            </a:r>
          </a:p>
          <a:p>
            <a:r>
              <a:rPr lang="en-US" dirty="0"/>
              <a:t>Example</a:t>
            </a:r>
          </a:p>
          <a:p>
            <a:pPr lvl="1"/>
            <a:r>
              <a:rPr lang="en-US" dirty="0"/>
              <a:t>1 shift x 8hrs 	28,800 seconds</a:t>
            </a:r>
          </a:p>
          <a:p>
            <a:pPr lvl="1"/>
            <a:r>
              <a:rPr lang="en-US" dirty="0"/>
              <a:t>2 - 10 min breaks / shift	- 1,200 seconds</a:t>
            </a:r>
          </a:p>
          <a:p>
            <a:pPr lvl="1"/>
            <a:r>
              <a:rPr lang="en-US" dirty="0"/>
              <a:t>1 - 10 min cleanup /shift	-    600 seconds</a:t>
            </a:r>
          </a:p>
          <a:p>
            <a:pPr lvl="1"/>
            <a:r>
              <a:rPr lang="en-US" dirty="0">
                <a:solidFill>
                  <a:schemeClr val="accent1"/>
                </a:solidFill>
              </a:rPr>
              <a:t>Available working time =  27,000 seconds</a:t>
            </a:r>
          </a:p>
          <a:p>
            <a:pPr lvl="1"/>
            <a:endParaRPr lang="en-US" dirty="0"/>
          </a:p>
          <a:p>
            <a:pPr lvl="1"/>
            <a:r>
              <a:rPr lang="en-US" dirty="0"/>
              <a:t>Customer demand /month  3,200 sets/month</a:t>
            </a:r>
          </a:p>
          <a:p>
            <a:pPr lvl="1"/>
            <a:r>
              <a:rPr lang="en-US" dirty="0"/>
              <a:t>20 days/month x 2 shifts = 3,200   ÷   40 = 80 sets </a:t>
            </a:r>
          </a:p>
          <a:p>
            <a:pPr lvl="1"/>
            <a:r>
              <a:rPr lang="en-US" dirty="0"/>
              <a:t>Sets required per shift =   80 sets</a:t>
            </a:r>
          </a:p>
          <a:p>
            <a:pPr lvl="1"/>
            <a:r>
              <a:rPr lang="en-US" dirty="0"/>
              <a:t>25 pieces in a set = 80 sets x  25 pcs/set</a:t>
            </a:r>
          </a:p>
          <a:p>
            <a:pPr lvl="1"/>
            <a:r>
              <a:rPr lang="en-US" dirty="0">
                <a:solidFill>
                  <a:schemeClr val="accent1"/>
                </a:solidFill>
              </a:rPr>
              <a:t>Pieces required per shift =    2,000 pieces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grpSp>
        <p:nvGrpSpPr>
          <p:cNvPr id="14" name="Group 3">
            <a:extLst>
              <a:ext uri="{FF2B5EF4-FFF2-40B4-BE49-F238E27FC236}">
                <a16:creationId xmlns:a16="http://schemas.microsoft.com/office/drawing/2014/main" id="{64EE05EC-1042-202C-A536-58DA4D40671E}"/>
              </a:ext>
            </a:extLst>
          </p:cNvPr>
          <p:cNvGrpSpPr>
            <a:grpSpLocks/>
          </p:cNvGrpSpPr>
          <p:nvPr/>
        </p:nvGrpSpPr>
        <p:grpSpPr bwMode="auto">
          <a:xfrm>
            <a:off x="3525838" y="2380931"/>
            <a:ext cx="2492375" cy="634644"/>
            <a:chOff x="894" y="3181"/>
            <a:chExt cx="1570" cy="432"/>
          </a:xfrm>
        </p:grpSpPr>
        <p:sp>
          <p:nvSpPr>
            <p:cNvPr id="15" name="Text Box 4">
              <a:extLst>
                <a:ext uri="{FF2B5EF4-FFF2-40B4-BE49-F238E27FC236}">
                  <a16:creationId xmlns:a16="http://schemas.microsoft.com/office/drawing/2014/main" id="{ABAB3A47-5CFD-71F3-0528-622C16E94A43}"/>
                </a:ext>
              </a:extLst>
            </p:cNvPr>
            <p:cNvSpPr txBox="1">
              <a:spLocks noChangeArrowheads="1"/>
            </p:cNvSpPr>
            <p:nvPr/>
          </p:nvSpPr>
          <p:spPr bwMode="auto">
            <a:xfrm>
              <a:off x="894" y="3181"/>
              <a:ext cx="157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eaLnBrk="1" hangingPunct="1">
                <a:lnSpc>
                  <a:spcPct val="100000"/>
                </a:lnSpc>
              </a:pPr>
              <a:r>
                <a:rPr lang="en-US" altLang="en-US" sz="1600" i="1">
                  <a:solidFill>
                    <a:schemeClr val="tx1"/>
                  </a:solidFill>
                  <a:latin typeface="Roboto" panose="02000000000000000000" pitchFamily="2" charset="0"/>
                  <a:ea typeface="Roboto" panose="02000000000000000000" pitchFamily="2" charset="0"/>
                </a:rPr>
                <a:t>Available working time</a:t>
              </a:r>
            </a:p>
            <a:p>
              <a:pPr eaLnBrk="1" hangingPunct="1">
                <a:lnSpc>
                  <a:spcPct val="100000"/>
                </a:lnSpc>
              </a:pPr>
              <a:r>
                <a:rPr lang="en-US" altLang="en-US" sz="1600" i="1">
                  <a:solidFill>
                    <a:schemeClr val="tx1"/>
                  </a:solidFill>
                  <a:latin typeface="Roboto" panose="02000000000000000000" pitchFamily="2" charset="0"/>
                  <a:ea typeface="Roboto" panose="02000000000000000000" pitchFamily="2" charset="0"/>
                </a:rPr>
                <a:t>Customer demand (units</a:t>
              </a:r>
              <a:r>
                <a:rPr lang="en-US" altLang="en-US" sz="1600" b="0" i="1">
                  <a:solidFill>
                    <a:schemeClr val="tx1"/>
                  </a:solidFill>
                  <a:latin typeface="Roboto" panose="02000000000000000000" pitchFamily="2" charset="0"/>
                  <a:ea typeface="Roboto" panose="02000000000000000000" pitchFamily="2" charset="0"/>
                </a:rPr>
                <a:t>)</a:t>
              </a:r>
            </a:p>
          </p:txBody>
        </p:sp>
        <p:sp>
          <p:nvSpPr>
            <p:cNvPr id="16" name="Line 5">
              <a:extLst>
                <a:ext uri="{FF2B5EF4-FFF2-40B4-BE49-F238E27FC236}">
                  <a16:creationId xmlns:a16="http://schemas.microsoft.com/office/drawing/2014/main" id="{5B483020-3220-B04B-CC3C-9D38C2CAA9F3}"/>
                </a:ext>
              </a:extLst>
            </p:cNvPr>
            <p:cNvSpPr>
              <a:spLocks noChangeShapeType="1"/>
            </p:cNvSpPr>
            <p:nvPr/>
          </p:nvSpPr>
          <p:spPr bwMode="auto">
            <a:xfrm>
              <a:off x="912" y="3388"/>
              <a:ext cx="15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7" name="Group 6">
            <a:extLst>
              <a:ext uri="{FF2B5EF4-FFF2-40B4-BE49-F238E27FC236}">
                <a16:creationId xmlns:a16="http://schemas.microsoft.com/office/drawing/2014/main" id="{4C86732A-5526-C834-CAA5-B7844E1EF4A3}"/>
              </a:ext>
            </a:extLst>
          </p:cNvPr>
          <p:cNvGrpSpPr>
            <a:grpSpLocks/>
          </p:cNvGrpSpPr>
          <p:nvPr/>
        </p:nvGrpSpPr>
        <p:grpSpPr bwMode="auto">
          <a:xfrm>
            <a:off x="6096000" y="2382520"/>
            <a:ext cx="3516313" cy="630238"/>
            <a:chOff x="1249" y="3744"/>
            <a:chExt cx="2215" cy="397"/>
          </a:xfrm>
        </p:grpSpPr>
        <p:sp>
          <p:nvSpPr>
            <p:cNvPr id="18" name="Text Box 7">
              <a:extLst>
                <a:ext uri="{FF2B5EF4-FFF2-40B4-BE49-F238E27FC236}">
                  <a16:creationId xmlns:a16="http://schemas.microsoft.com/office/drawing/2014/main" id="{46B4EEDB-0F3D-853B-EFE7-78C8B42E8444}"/>
                </a:ext>
              </a:extLst>
            </p:cNvPr>
            <p:cNvSpPr txBox="1">
              <a:spLocks noChangeArrowheads="1"/>
            </p:cNvSpPr>
            <p:nvPr/>
          </p:nvSpPr>
          <p:spPr bwMode="auto">
            <a:xfrm>
              <a:off x="1396" y="3744"/>
              <a:ext cx="1061" cy="3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eaLnBrk="1" hangingPunct="1">
                <a:lnSpc>
                  <a:spcPct val="100000"/>
                </a:lnSpc>
              </a:pPr>
              <a:r>
                <a:rPr lang="en-US" altLang="en-US" sz="1600">
                  <a:solidFill>
                    <a:schemeClr val="tx1"/>
                  </a:solidFill>
                  <a:latin typeface="Roboto" panose="02000000000000000000" pitchFamily="2" charset="0"/>
                  <a:ea typeface="Roboto" panose="02000000000000000000" pitchFamily="2" charset="0"/>
                </a:rPr>
                <a:t>27,000 seconds</a:t>
              </a:r>
            </a:p>
            <a:p>
              <a:pPr eaLnBrk="1" hangingPunct="1">
                <a:lnSpc>
                  <a:spcPct val="100000"/>
                </a:lnSpc>
              </a:pPr>
              <a:r>
                <a:rPr lang="en-US" altLang="en-US" sz="1600">
                  <a:solidFill>
                    <a:schemeClr val="tx1"/>
                  </a:solidFill>
                  <a:latin typeface="Roboto" panose="02000000000000000000" pitchFamily="2" charset="0"/>
                  <a:ea typeface="Roboto" panose="02000000000000000000" pitchFamily="2" charset="0"/>
                </a:rPr>
                <a:t>2,000 pieces</a:t>
              </a:r>
            </a:p>
          </p:txBody>
        </p:sp>
        <p:sp>
          <p:nvSpPr>
            <p:cNvPr id="19" name="Line 8">
              <a:extLst>
                <a:ext uri="{FF2B5EF4-FFF2-40B4-BE49-F238E27FC236}">
                  <a16:creationId xmlns:a16="http://schemas.microsoft.com/office/drawing/2014/main" id="{262B0913-F329-7894-AB22-767E8F5BB372}"/>
                </a:ext>
              </a:extLst>
            </p:cNvPr>
            <p:cNvSpPr>
              <a:spLocks noChangeShapeType="1"/>
            </p:cNvSpPr>
            <p:nvPr/>
          </p:nvSpPr>
          <p:spPr bwMode="auto">
            <a:xfrm flipV="1">
              <a:off x="1440" y="3950"/>
              <a:ext cx="10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 name="Rectangle 9">
              <a:extLst>
                <a:ext uri="{FF2B5EF4-FFF2-40B4-BE49-F238E27FC236}">
                  <a16:creationId xmlns:a16="http://schemas.microsoft.com/office/drawing/2014/main" id="{31937AF0-9258-2A93-EBE4-F4A66F66AD85}"/>
                </a:ext>
              </a:extLst>
            </p:cNvPr>
            <p:cNvSpPr>
              <a:spLocks noChangeArrowheads="1"/>
            </p:cNvSpPr>
            <p:nvPr/>
          </p:nvSpPr>
          <p:spPr bwMode="auto">
            <a:xfrm>
              <a:off x="2434" y="3847"/>
              <a:ext cx="1030" cy="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pPr>
              <a:r>
                <a:rPr lang="en-US" altLang="en-US" sz="1600" dirty="0">
                  <a:solidFill>
                    <a:schemeClr val="tx1"/>
                  </a:solidFill>
                  <a:latin typeface="Roboto" panose="02000000000000000000" pitchFamily="2" charset="0"/>
                  <a:ea typeface="Roboto" panose="02000000000000000000" pitchFamily="2" charset="0"/>
                </a:rPr>
                <a:t>=</a:t>
              </a:r>
              <a:r>
                <a:rPr lang="en-US" altLang="en-US" sz="1600" b="0" i="1" dirty="0">
                  <a:solidFill>
                    <a:schemeClr val="tx1"/>
                  </a:solidFill>
                  <a:latin typeface="Roboto" panose="02000000000000000000" pitchFamily="2" charset="0"/>
                  <a:ea typeface="Roboto" panose="02000000000000000000" pitchFamily="2" charset="0"/>
                </a:rPr>
                <a:t> </a:t>
              </a:r>
              <a:r>
                <a:rPr lang="en-US" altLang="en-US" sz="1600" dirty="0">
                  <a:solidFill>
                    <a:schemeClr val="accent1"/>
                  </a:solidFill>
                  <a:latin typeface="Roboto" panose="02000000000000000000" pitchFamily="2" charset="0"/>
                  <a:ea typeface="Roboto" panose="02000000000000000000" pitchFamily="2" charset="0"/>
                </a:rPr>
                <a:t>13.5</a:t>
              </a:r>
              <a:r>
                <a:rPr lang="en-US" altLang="en-US" sz="1600" dirty="0">
                  <a:solidFill>
                    <a:schemeClr val="tx1"/>
                  </a:solidFill>
                  <a:latin typeface="Roboto" panose="02000000000000000000" pitchFamily="2" charset="0"/>
                  <a:ea typeface="Roboto" panose="02000000000000000000" pitchFamily="2" charset="0"/>
                </a:rPr>
                <a:t> seconds</a:t>
              </a:r>
            </a:p>
          </p:txBody>
        </p:sp>
        <p:sp>
          <p:nvSpPr>
            <p:cNvPr id="21" name="Rectangle 10">
              <a:extLst>
                <a:ext uri="{FF2B5EF4-FFF2-40B4-BE49-F238E27FC236}">
                  <a16:creationId xmlns:a16="http://schemas.microsoft.com/office/drawing/2014/main" id="{C35A103A-E926-BA25-78B0-6FA51937F576}"/>
                </a:ext>
              </a:extLst>
            </p:cNvPr>
            <p:cNvSpPr>
              <a:spLocks noChangeArrowheads="1"/>
            </p:cNvSpPr>
            <p:nvPr/>
          </p:nvSpPr>
          <p:spPr bwMode="auto">
            <a:xfrm>
              <a:off x="1249" y="3840"/>
              <a:ext cx="191" cy="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pPr>
              <a:r>
                <a:rPr lang="en-US" altLang="en-US" sz="1600">
                  <a:solidFill>
                    <a:schemeClr val="tx1"/>
                  </a:solidFill>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200797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Case Study Example: </a:t>
            </a:r>
            <a:r>
              <a:rPr lang="en-US" dirty="0" err="1"/>
              <a:t>Rusty’s</a:t>
            </a:r>
            <a:r>
              <a:rPr lang="en-US" dirty="0"/>
              <a:t> Wrench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grpSp>
        <p:nvGrpSpPr>
          <p:cNvPr id="220" name="Group 219">
            <a:extLst>
              <a:ext uri="{FF2B5EF4-FFF2-40B4-BE49-F238E27FC236}">
                <a16:creationId xmlns:a16="http://schemas.microsoft.com/office/drawing/2014/main" id="{7355C678-8C34-E117-5E87-63E1EC719472}"/>
              </a:ext>
            </a:extLst>
          </p:cNvPr>
          <p:cNvGrpSpPr/>
          <p:nvPr/>
        </p:nvGrpSpPr>
        <p:grpSpPr>
          <a:xfrm>
            <a:off x="624682" y="1766948"/>
            <a:ext cx="10942637" cy="4566200"/>
            <a:chOff x="411163" y="1335088"/>
            <a:chExt cx="8270875" cy="4632325"/>
          </a:xfrm>
        </p:grpSpPr>
        <p:sp>
          <p:nvSpPr>
            <p:cNvPr id="3" name="Rectangle 2">
              <a:extLst>
                <a:ext uri="{FF2B5EF4-FFF2-40B4-BE49-F238E27FC236}">
                  <a16:creationId xmlns:a16="http://schemas.microsoft.com/office/drawing/2014/main" id="{73435ADD-AB55-5661-F15B-B6D21A38D547}"/>
                </a:ext>
              </a:extLst>
            </p:cNvPr>
            <p:cNvSpPr>
              <a:spLocks noChangeArrowheads="1"/>
            </p:cNvSpPr>
            <p:nvPr/>
          </p:nvSpPr>
          <p:spPr bwMode="auto">
            <a:xfrm>
              <a:off x="474663" y="1335088"/>
              <a:ext cx="8207375" cy="4632325"/>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14" name="Rectangle 227">
              <a:extLst>
                <a:ext uri="{FF2B5EF4-FFF2-40B4-BE49-F238E27FC236}">
                  <a16:creationId xmlns:a16="http://schemas.microsoft.com/office/drawing/2014/main" id="{1F719959-BA78-2785-A1B7-62FFC8E46F7D}"/>
                </a:ext>
              </a:extLst>
            </p:cNvPr>
            <p:cNvSpPr>
              <a:spLocks noChangeArrowheads="1"/>
            </p:cNvSpPr>
            <p:nvPr/>
          </p:nvSpPr>
          <p:spPr bwMode="auto">
            <a:xfrm>
              <a:off x="6296025" y="5618163"/>
              <a:ext cx="900113"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450 sec</a:t>
              </a:r>
            </a:p>
          </p:txBody>
        </p:sp>
        <p:sp>
          <p:nvSpPr>
            <p:cNvPr id="15" name="Rectangle 223">
              <a:extLst>
                <a:ext uri="{FF2B5EF4-FFF2-40B4-BE49-F238E27FC236}">
                  <a16:creationId xmlns:a16="http://schemas.microsoft.com/office/drawing/2014/main" id="{8D2C41CB-D54A-CC18-10FD-26066A444F04}"/>
                </a:ext>
              </a:extLst>
            </p:cNvPr>
            <p:cNvSpPr>
              <a:spLocks noChangeArrowheads="1"/>
            </p:cNvSpPr>
            <p:nvPr/>
          </p:nvSpPr>
          <p:spPr bwMode="auto">
            <a:xfrm>
              <a:off x="5575300" y="5400675"/>
              <a:ext cx="968375"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1.5 days</a:t>
              </a:r>
            </a:p>
          </p:txBody>
        </p:sp>
        <p:sp>
          <p:nvSpPr>
            <p:cNvPr id="29" name="Rectangle 226">
              <a:extLst>
                <a:ext uri="{FF2B5EF4-FFF2-40B4-BE49-F238E27FC236}">
                  <a16:creationId xmlns:a16="http://schemas.microsoft.com/office/drawing/2014/main" id="{80DD8F77-FB45-5C64-C3FA-9D6B10BC6799}"/>
                </a:ext>
              </a:extLst>
            </p:cNvPr>
            <p:cNvSpPr>
              <a:spLocks noChangeArrowheads="1"/>
            </p:cNvSpPr>
            <p:nvPr/>
          </p:nvSpPr>
          <p:spPr bwMode="auto">
            <a:xfrm>
              <a:off x="4906963" y="5592763"/>
              <a:ext cx="1039812"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5400 sec </a:t>
              </a:r>
              <a:r>
                <a:rPr lang="en-US" altLang="en-US" sz="600" b="0">
                  <a:solidFill>
                    <a:schemeClr val="tx1"/>
                  </a:solidFill>
                  <a:latin typeface="Roboto" panose="02000000000000000000" pitchFamily="2" charset="0"/>
                  <a:ea typeface="Roboto" panose="02000000000000000000" pitchFamily="2" charset="0"/>
                </a:rPr>
                <a:t>(or 90 min)</a:t>
              </a:r>
            </a:p>
          </p:txBody>
        </p:sp>
        <p:sp>
          <p:nvSpPr>
            <p:cNvPr id="30" name="Rectangle 109">
              <a:extLst>
                <a:ext uri="{FF2B5EF4-FFF2-40B4-BE49-F238E27FC236}">
                  <a16:creationId xmlns:a16="http://schemas.microsoft.com/office/drawing/2014/main" id="{D14F870E-019F-EF5B-A947-A58AC9B4A9BE}"/>
                </a:ext>
              </a:extLst>
            </p:cNvPr>
            <p:cNvSpPr>
              <a:spLocks noChangeArrowheads="1"/>
            </p:cNvSpPr>
            <p:nvPr/>
          </p:nvSpPr>
          <p:spPr bwMode="auto">
            <a:xfrm>
              <a:off x="4275138" y="5384800"/>
              <a:ext cx="1065212"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13.8 days</a:t>
              </a:r>
            </a:p>
          </p:txBody>
        </p:sp>
        <p:sp>
          <p:nvSpPr>
            <p:cNvPr id="31" name="Rectangle 112">
              <a:extLst>
                <a:ext uri="{FF2B5EF4-FFF2-40B4-BE49-F238E27FC236}">
                  <a16:creationId xmlns:a16="http://schemas.microsoft.com/office/drawing/2014/main" id="{AD8C49FD-05BE-A262-791E-8D418571505A}"/>
                </a:ext>
              </a:extLst>
            </p:cNvPr>
            <p:cNvSpPr>
              <a:spLocks noChangeArrowheads="1"/>
            </p:cNvSpPr>
            <p:nvPr/>
          </p:nvSpPr>
          <p:spPr bwMode="auto">
            <a:xfrm>
              <a:off x="3717925" y="5592763"/>
              <a:ext cx="795338"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10 sec</a:t>
              </a:r>
            </a:p>
          </p:txBody>
        </p:sp>
        <p:sp>
          <p:nvSpPr>
            <p:cNvPr id="32" name="Rectangle 108">
              <a:extLst>
                <a:ext uri="{FF2B5EF4-FFF2-40B4-BE49-F238E27FC236}">
                  <a16:creationId xmlns:a16="http://schemas.microsoft.com/office/drawing/2014/main" id="{5F8FECF2-329F-6966-5CEE-200951990936}"/>
                </a:ext>
              </a:extLst>
            </p:cNvPr>
            <p:cNvSpPr>
              <a:spLocks noChangeArrowheads="1"/>
            </p:cNvSpPr>
            <p:nvPr/>
          </p:nvSpPr>
          <p:spPr bwMode="auto">
            <a:xfrm>
              <a:off x="2994025" y="5384800"/>
              <a:ext cx="985838"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6.3 days</a:t>
              </a:r>
            </a:p>
          </p:txBody>
        </p:sp>
        <p:sp>
          <p:nvSpPr>
            <p:cNvPr id="33" name="Rectangle 111">
              <a:extLst>
                <a:ext uri="{FF2B5EF4-FFF2-40B4-BE49-F238E27FC236}">
                  <a16:creationId xmlns:a16="http://schemas.microsoft.com/office/drawing/2014/main" id="{E49E3BBA-26C3-E619-9084-C4BDBB7DB252}"/>
                </a:ext>
              </a:extLst>
            </p:cNvPr>
            <p:cNvSpPr>
              <a:spLocks noChangeArrowheads="1"/>
            </p:cNvSpPr>
            <p:nvPr/>
          </p:nvSpPr>
          <p:spPr bwMode="auto">
            <a:xfrm>
              <a:off x="2371725" y="5592763"/>
              <a:ext cx="877888"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 sec</a:t>
              </a:r>
            </a:p>
          </p:txBody>
        </p:sp>
        <p:sp>
          <p:nvSpPr>
            <p:cNvPr id="34" name="Rectangle 107">
              <a:extLst>
                <a:ext uri="{FF2B5EF4-FFF2-40B4-BE49-F238E27FC236}">
                  <a16:creationId xmlns:a16="http://schemas.microsoft.com/office/drawing/2014/main" id="{E95BC3F0-94B0-B942-1261-F8D2D286183E}"/>
                </a:ext>
              </a:extLst>
            </p:cNvPr>
            <p:cNvSpPr>
              <a:spLocks noChangeArrowheads="1"/>
            </p:cNvSpPr>
            <p:nvPr/>
          </p:nvSpPr>
          <p:spPr bwMode="auto">
            <a:xfrm>
              <a:off x="1671638" y="5384800"/>
              <a:ext cx="944562"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4.5 days</a:t>
              </a:r>
            </a:p>
          </p:txBody>
        </p:sp>
        <p:sp>
          <p:nvSpPr>
            <p:cNvPr id="35" name="Rectangle 110">
              <a:extLst>
                <a:ext uri="{FF2B5EF4-FFF2-40B4-BE49-F238E27FC236}">
                  <a16:creationId xmlns:a16="http://schemas.microsoft.com/office/drawing/2014/main" id="{BDEC1496-2D00-CBD0-AD0B-77023A4CABB8}"/>
                </a:ext>
              </a:extLst>
            </p:cNvPr>
            <p:cNvSpPr>
              <a:spLocks noChangeArrowheads="1"/>
            </p:cNvSpPr>
            <p:nvPr/>
          </p:nvSpPr>
          <p:spPr bwMode="auto">
            <a:xfrm>
              <a:off x="1028700" y="5592763"/>
              <a:ext cx="855663"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 sec</a:t>
              </a:r>
            </a:p>
          </p:txBody>
        </p:sp>
        <p:sp>
          <p:nvSpPr>
            <p:cNvPr id="36" name="Rectangle 106">
              <a:extLst>
                <a:ext uri="{FF2B5EF4-FFF2-40B4-BE49-F238E27FC236}">
                  <a16:creationId xmlns:a16="http://schemas.microsoft.com/office/drawing/2014/main" id="{3A1B2200-5CCA-2AB4-D5A3-FB7E2722534D}"/>
                </a:ext>
              </a:extLst>
            </p:cNvPr>
            <p:cNvSpPr>
              <a:spLocks noChangeArrowheads="1"/>
            </p:cNvSpPr>
            <p:nvPr/>
          </p:nvSpPr>
          <p:spPr bwMode="auto">
            <a:xfrm>
              <a:off x="412750" y="5384800"/>
              <a:ext cx="712788"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1.5 days</a:t>
              </a:r>
            </a:p>
          </p:txBody>
        </p:sp>
        <p:sp>
          <p:nvSpPr>
            <p:cNvPr id="37" name="Line 12">
              <a:extLst>
                <a:ext uri="{FF2B5EF4-FFF2-40B4-BE49-F238E27FC236}">
                  <a16:creationId xmlns:a16="http://schemas.microsoft.com/office/drawing/2014/main" id="{8F1AB582-B2AC-8A3B-C6F6-D09648E88550}"/>
                </a:ext>
              </a:extLst>
            </p:cNvPr>
            <p:cNvSpPr>
              <a:spLocks noChangeShapeType="1"/>
            </p:cNvSpPr>
            <p:nvPr/>
          </p:nvSpPr>
          <p:spPr bwMode="auto">
            <a:xfrm flipH="1" flipV="1">
              <a:off x="8272463" y="2492375"/>
              <a:ext cx="1587" cy="1298575"/>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Text Box 3">
              <a:extLst>
                <a:ext uri="{FF2B5EF4-FFF2-40B4-BE49-F238E27FC236}">
                  <a16:creationId xmlns:a16="http://schemas.microsoft.com/office/drawing/2014/main" id="{20868AE0-6D77-45DE-A698-DC35B8155143}"/>
                </a:ext>
              </a:extLst>
            </p:cNvPr>
            <p:cNvSpPr txBox="1">
              <a:spLocks noChangeArrowheads="1"/>
            </p:cNvSpPr>
            <p:nvPr/>
          </p:nvSpPr>
          <p:spPr bwMode="auto">
            <a:xfrm>
              <a:off x="7640638" y="2624138"/>
              <a:ext cx="963612" cy="473075"/>
            </a:xfrm>
            <a:prstGeom prst="rect">
              <a:avLst/>
            </a:prstGeom>
            <a:solidFill>
              <a:schemeClr val="bg1"/>
            </a:solidFill>
            <a:ln w="12700" cap="sq">
              <a:solidFill>
                <a:schemeClr val="tx1"/>
              </a:solidFill>
              <a:miter lim="800000"/>
              <a:headEnd type="none" w="sm" len="sm"/>
              <a:tailEnd type="none" w="sm" len="sm"/>
            </a:ln>
          </p:spPr>
          <p:txBody>
            <a:bodyPr lIns="18288" rIns="0">
              <a:spAutoFit/>
            </a:bodyPr>
            <a:lstStyle>
              <a:lvl1pPr marL="58738" indent="-58738">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685800" indent="-22860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Demand = 3200 sets/mo</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2200 SAE, 1000 Metric</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2 Shifts</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Set = 25 pcs</a:t>
              </a:r>
            </a:p>
          </p:txBody>
        </p:sp>
        <p:sp>
          <p:nvSpPr>
            <p:cNvPr id="39" name="Text Box 6">
              <a:extLst>
                <a:ext uri="{FF2B5EF4-FFF2-40B4-BE49-F238E27FC236}">
                  <a16:creationId xmlns:a16="http://schemas.microsoft.com/office/drawing/2014/main" id="{1B007E44-A534-AE8A-A879-F4CA51400410}"/>
                </a:ext>
              </a:extLst>
            </p:cNvPr>
            <p:cNvSpPr txBox="1">
              <a:spLocks noChangeArrowheads="1"/>
            </p:cNvSpPr>
            <p:nvPr/>
          </p:nvSpPr>
          <p:spPr bwMode="auto">
            <a:xfrm>
              <a:off x="7658100" y="5289550"/>
              <a:ext cx="761135" cy="563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a:lnSpc>
                  <a:spcPct val="100000"/>
                </a:lnSpc>
                <a:spcBef>
                  <a:spcPct val="30000"/>
                </a:spcBef>
              </a:pPr>
              <a:r>
                <a:rPr lang="en-US" altLang="en-US" sz="700" b="0">
                  <a:solidFill>
                    <a:schemeClr val="tx1"/>
                  </a:solidFill>
                  <a:latin typeface="Roboto" panose="02000000000000000000" pitchFamily="2" charset="0"/>
                  <a:ea typeface="Roboto" panose="02000000000000000000" pitchFamily="2" charset="0"/>
                </a:rPr>
                <a:t>Production L.T. =  </a:t>
              </a:r>
              <a:br>
                <a:rPr lang="en-US" altLang="en-US" sz="700" b="0">
                  <a:solidFill>
                    <a:schemeClr val="tx1"/>
                  </a:solidFill>
                  <a:latin typeface="Roboto" panose="02000000000000000000" pitchFamily="2" charset="0"/>
                  <a:ea typeface="Roboto" panose="02000000000000000000" pitchFamily="2" charset="0"/>
                </a:rPr>
              </a:br>
              <a:r>
                <a:rPr lang="en-US" altLang="en-US" sz="700" b="0">
                  <a:solidFill>
                    <a:schemeClr val="tx1"/>
                  </a:solidFill>
                  <a:latin typeface="Roboto" panose="02000000000000000000" pitchFamily="2" charset="0"/>
                  <a:ea typeface="Roboto" panose="02000000000000000000" pitchFamily="2" charset="0"/>
                </a:rPr>
                <a:t>46.4 days    </a:t>
              </a:r>
            </a:p>
            <a:p>
              <a:pPr algn="l">
                <a:lnSpc>
                  <a:spcPct val="100000"/>
                </a:lnSpc>
                <a:spcBef>
                  <a:spcPct val="30000"/>
                </a:spcBef>
              </a:pPr>
              <a:r>
                <a:rPr lang="en-US" altLang="en-US" sz="700" b="0">
                  <a:solidFill>
                    <a:schemeClr val="tx1"/>
                  </a:solidFill>
                  <a:latin typeface="Roboto" panose="02000000000000000000" pitchFamily="2" charset="0"/>
                  <a:ea typeface="Roboto" panose="02000000000000000000" pitchFamily="2" charset="0"/>
                </a:rPr>
                <a:t>Proc. Time = </a:t>
              </a:r>
              <a:br>
                <a:rPr lang="en-US" altLang="en-US" sz="700" b="0">
                  <a:solidFill>
                    <a:schemeClr val="tx1"/>
                  </a:solidFill>
                  <a:latin typeface="Roboto" panose="02000000000000000000" pitchFamily="2" charset="0"/>
                  <a:ea typeface="Roboto" panose="02000000000000000000" pitchFamily="2" charset="0"/>
                </a:rPr>
              </a:br>
              <a:r>
                <a:rPr lang="en-US" altLang="en-US" sz="700" b="0">
                  <a:solidFill>
                    <a:schemeClr val="tx1"/>
                  </a:solidFill>
                  <a:latin typeface="Roboto" panose="02000000000000000000" pitchFamily="2" charset="0"/>
                  <a:ea typeface="Roboto" panose="02000000000000000000" pitchFamily="2" charset="0"/>
                </a:rPr>
                <a:t>5884 sec (or 98 min)</a:t>
              </a:r>
            </a:p>
          </p:txBody>
        </p:sp>
        <p:sp>
          <p:nvSpPr>
            <p:cNvPr id="40" name="Line 7">
              <a:extLst>
                <a:ext uri="{FF2B5EF4-FFF2-40B4-BE49-F238E27FC236}">
                  <a16:creationId xmlns:a16="http://schemas.microsoft.com/office/drawing/2014/main" id="{3240DD78-4876-C4F9-87EB-4CC6554A5252}"/>
                </a:ext>
              </a:extLst>
            </p:cNvPr>
            <p:cNvSpPr>
              <a:spLocks noChangeShapeType="1"/>
            </p:cNvSpPr>
            <p:nvPr/>
          </p:nvSpPr>
          <p:spPr bwMode="auto">
            <a:xfrm flipV="1">
              <a:off x="7735888" y="5559425"/>
              <a:ext cx="803275" cy="476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1" name="Rectangle 8">
              <a:extLst>
                <a:ext uri="{FF2B5EF4-FFF2-40B4-BE49-F238E27FC236}">
                  <a16:creationId xmlns:a16="http://schemas.microsoft.com/office/drawing/2014/main" id="{0E033846-F002-F80A-7CFB-7D6E6F20305B}"/>
                </a:ext>
              </a:extLst>
            </p:cNvPr>
            <p:cNvSpPr>
              <a:spLocks noChangeArrowheads="1"/>
            </p:cNvSpPr>
            <p:nvPr/>
          </p:nvSpPr>
          <p:spPr bwMode="auto">
            <a:xfrm>
              <a:off x="7697788" y="5251450"/>
              <a:ext cx="931862" cy="60801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Line 9">
              <a:extLst>
                <a:ext uri="{FF2B5EF4-FFF2-40B4-BE49-F238E27FC236}">
                  <a16:creationId xmlns:a16="http://schemas.microsoft.com/office/drawing/2014/main" id="{6AD0A85E-D2EE-E95F-A90F-D6C916CE8EAA}"/>
                </a:ext>
              </a:extLst>
            </p:cNvPr>
            <p:cNvSpPr>
              <a:spLocks noChangeShapeType="1"/>
            </p:cNvSpPr>
            <p:nvPr/>
          </p:nvSpPr>
          <p:spPr bwMode="auto">
            <a:xfrm flipV="1">
              <a:off x="1903413" y="4137025"/>
              <a:ext cx="504825" cy="95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3" name="AutoShape 10">
              <a:extLst>
                <a:ext uri="{FF2B5EF4-FFF2-40B4-BE49-F238E27FC236}">
                  <a16:creationId xmlns:a16="http://schemas.microsoft.com/office/drawing/2014/main" id="{8D8129FA-4242-CD3D-259B-8AFD362438BB}"/>
                </a:ext>
              </a:extLst>
            </p:cNvPr>
            <p:cNvSpPr>
              <a:spLocks noChangeArrowheads="1"/>
            </p:cNvSpPr>
            <p:nvPr/>
          </p:nvSpPr>
          <p:spPr bwMode="auto">
            <a:xfrm>
              <a:off x="1951038"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44" name="Line 11">
              <a:extLst>
                <a:ext uri="{FF2B5EF4-FFF2-40B4-BE49-F238E27FC236}">
                  <a16:creationId xmlns:a16="http://schemas.microsoft.com/office/drawing/2014/main" id="{E180C610-7979-6DD6-49AA-31DF3D2010D3}"/>
                </a:ext>
              </a:extLst>
            </p:cNvPr>
            <p:cNvSpPr>
              <a:spLocks noChangeShapeType="1"/>
            </p:cNvSpPr>
            <p:nvPr/>
          </p:nvSpPr>
          <p:spPr bwMode="auto">
            <a:xfrm>
              <a:off x="704850" y="2543175"/>
              <a:ext cx="7938" cy="1389063"/>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45" name="Group 13">
              <a:extLst>
                <a:ext uri="{FF2B5EF4-FFF2-40B4-BE49-F238E27FC236}">
                  <a16:creationId xmlns:a16="http://schemas.microsoft.com/office/drawing/2014/main" id="{C78A2C7E-5B49-0C66-FD06-67FCE7144F3D}"/>
                </a:ext>
              </a:extLst>
            </p:cNvPr>
            <p:cNvGrpSpPr>
              <a:grpSpLocks/>
            </p:cNvGrpSpPr>
            <p:nvPr/>
          </p:nvGrpSpPr>
          <p:grpSpPr bwMode="auto">
            <a:xfrm>
              <a:off x="2355850" y="3770313"/>
              <a:ext cx="890588" cy="1327150"/>
              <a:chOff x="2155" y="2375"/>
              <a:chExt cx="561" cy="836"/>
            </a:xfrm>
          </p:grpSpPr>
          <p:sp>
            <p:nvSpPr>
              <p:cNvPr id="46" name="Rectangle 14">
                <a:extLst>
                  <a:ext uri="{FF2B5EF4-FFF2-40B4-BE49-F238E27FC236}">
                    <a16:creationId xmlns:a16="http://schemas.microsoft.com/office/drawing/2014/main" id="{EC18FBFB-CF32-F52F-4154-D41BA602D9D8}"/>
                  </a:ext>
                </a:extLst>
              </p:cNvPr>
              <p:cNvSpPr>
                <a:spLocks noChangeArrowheads="1"/>
              </p:cNvSpPr>
              <p:nvPr/>
            </p:nvSpPr>
            <p:spPr bwMode="auto">
              <a:xfrm>
                <a:off x="2191" y="2827"/>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47" name="Group 15">
                <a:extLst>
                  <a:ext uri="{FF2B5EF4-FFF2-40B4-BE49-F238E27FC236}">
                    <a16:creationId xmlns:a16="http://schemas.microsoft.com/office/drawing/2014/main" id="{B0132624-C1C9-A2B1-3E94-3DAC154C4D71}"/>
                  </a:ext>
                </a:extLst>
              </p:cNvPr>
              <p:cNvGrpSpPr>
                <a:grpSpLocks/>
              </p:cNvGrpSpPr>
              <p:nvPr/>
            </p:nvGrpSpPr>
            <p:grpSpPr bwMode="auto">
              <a:xfrm>
                <a:off x="2187" y="2375"/>
                <a:ext cx="525" cy="390"/>
                <a:chOff x="1367" y="2370"/>
                <a:chExt cx="434" cy="390"/>
              </a:xfrm>
            </p:grpSpPr>
            <p:grpSp>
              <p:nvGrpSpPr>
                <p:cNvPr id="49" name="Group 16">
                  <a:extLst>
                    <a:ext uri="{FF2B5EF4-FFF2-40B4-BE49-F238E27FC236}">
                      <a16:creationId xmlns:a16="http://schemas.microsoft.com/office/drawing/2014/main" id="{F911F039-0423-F288-6A54-2C593672D105}"/>
                    </a:ext>
                  </a:extLst>
                </p:cNvPr>
                <p:cNvGrpSpPr>
                  <a:grpSpLocks/>
                </p:cNvGrpSpPr>
                <p:nvPr/>
              </p:nvGrpSpPr>
              <p:grpSpPr bwMode="auto">
                <a:xfrm>
                  <a:off x="1367" y="2395"/>
                  <a:ext cx="434" cy="365"/>
                  <a:chOff x="418" y="2981"/>
                  <a:chExt cx="352" cy="365"/>
                </a:xfrm>
              </p:grpSpPr>
              <p:sp>
                <p:nvSpPr>
                  <p:cNvPr id="55" name="Rectangle 17">
                    <a:extLst>
                      <a:ext uri="{FF2B5EF4-FFF2-40B4-BE49-F238E27FC236}">
                        <a16:creationId xmlns:a16="http://schemas.microsoft.com/office/drawing/2014/main" id="{B22EAAB6-B897-C67E-0F16-8B1A0C9717E7}"/>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6" name="Line 18">
                    <a:extLst>
                      <a:ext uri="{FF2B5EF4-FFF2-40B4-BE49-F238E27FC236}">
                        <a16:creationId xmlns:a16="http://schemas.microsoft.com/office/drawing/2014/main" id="{A2281315-63C0-E763-6966-DABBAB1839C0}"/>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50" name="Group 19">
                  <a:extLst>
                    <a:ext uri="{FF2B5EF4-FFF2-40B4-BE49-F238E27FC236}">
                      <a16:creationId xmlns:a16="http://schemas.microsoft.com/office/drawing/2014/main" id="{98683E0A-073E-86FE-8158-CCB013FE48AB}"/>
                    </a:ext>
                  </a:extLst>
                </p:cNvPr>
                <p:cNvGrpSpPr>
                  <a:grpSpLocks/>
                </p:cNvGrpSpPr>
                <p:nvPr/>
              </p:nvGrpSpPr>
              <p:grpSpPr bwMode="auto">
                <a:xfrm flipV="1">
                  <a:off x="1462" y="2586"/>
                  <a:ext cx="96" cy="112"/>
                  <a:chOff x="720" y="3354"/>
                  <a:chExt cx="192" cy="198"/>
                </a:xfrm>
              </p:grpSpPr>
              <p:sp>
                <p:nvSpPr>
                  <p:cNvPr id="53" name="Oval 20">
                    <a:extLst>
                      <a:ext uri="{FF2B5EF4-FFF2-40B4-BE49-F238E27FC236}">
                        <a16:creationId xmlns:a16="http://schemas.microsoft.com/office/drawing/2014/main" id="{BFC6BD2A-46D3-387D-B4E7-6E23F18D40CF}"/>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4" name="AutoShape 21">
                    <a:extLst>
                      <a:ext uri="{FF2B5EF4-FFF2-40B4-BE49-F238E27FC236}">
                        <a16:creationId xmlns:a16="http://schemas.microsoft.com/office/drawing/2014/main" id="{A05B7BAA-5E8F-D657-2D30-17569DA81005}"/>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51" name="Text Box 22">
                  <a:extLst>
                    <a:ext uri="{FF2B5EF4-FFF2-40B4-BE49-F238E27FC236}">
                      <a16:creationId xmlns:a16="http://schemas.microsoft.com/office/drawing/2014/main" id="{F26142E7-2153-E7A9-9400-D3E7646CC125}"/>
                    </a:ext>
                  </a:extLst>
                </p:cNvPr>
                <p:cNvSpPr txBox="1">
                  <a:spLocks noChangeArrowheads="1"/>
                </p:cNvSpPr>
                <p:nvPr/>
              </p:nvSpPr>
              <p:spPr bwMode="auto">
                <a:xfrm>
                  <a:off x="1585" y="2584"/>
                  <a:ext cx="135"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6</a:t>
                  </a:r>
                </a:p>
              </p:txBody>
            </p:sp>
            <p:sp>
              <p:nvSpPr>
                <p:cNvPr id="52" name="Text Box 23">
                  <a:extLst>
                    <a:ext uri="{FF2B5EF4-FFF2-40B4-BE49-F238E27FC236}">
                      <a16:creationId xmlns:a16="http://schemas.microsoft.com/office/drawing/2014/main" id="{50F501E6-AB8D-35B4-EC45-A2C4172B0944}"/>
                    </a:ext>
                  </a:extLst>
                </p:cNvPr>
                <p:cNvSpPr txBox="1">
                  <a:spLocks noChangeArrowheads="1"/>
                </p:cNvSpPr>
                <p:nvPr/>
              </p:nvSpPr>
              <p:spPr bwMode="auto">
                <a:xfrm>
                  <a:off x="1382" y="2370"/>
                  <a:ext cx="40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Machine</a:t>
                  </a:r>
                </a:p>
              </p:txBody>
            </p:sp>
          </p:grpSp>
          <p:sp>
            <p:nvSpPr>
              <p:cNvPr id="48" name="Text Box 24">
                <a:extLst>
                  <a:ext uri="{FF2B5EF4-FFF2-40B4-BE49-F238E27FC236}">
                    <a16:creationId xmlns:a16="http://schemas.microsoft.com/office/drawing/2014/main" id="{17E1A759-6A82-48C2-77F7-0B7B15E449F4}"/>
                  </a:ext>
                </a:extLst>
              </p:cNvPr>
              <p:cNvSpPr txBox="1">
                <a:spLocks noChangeArrowheads="1"/>
              </p:cNvSpPr>
              <p:nvPr/>
            </p:nvSpPr>
            <p:spPr bwMode="auto">
              <a:xfrm>
                <a:off x="2155" y="2837"/>
                <a:ext cx="553"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12</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20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98%</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98%</a:t>
                </a:r>
              </a:p>
            </p:txBody>
          </p:sp>
        </p:grpSp>
        <p:grpSp>
          <p:nvGrpSpPr>
            <p:cNvPr id="57" name="Group 232">
              <a:extLst>
                <a:ext uri="{FF2B5EF4-FFF2-40B4-BE49-F238E27FC236}">
                  <a16:creationId xmlns:a16="http://schemas.microsoft.com/office/drawing/2014/main" id="{A195AB33-6D4F-00D3-6396-89F42BE0C5C7}"/>
                </a:ext>
              </a:extLst>
            </p:cNvPr>
            <p:cNvGrpSpPr>
              <a:grpSpLocks/>
            </p:cNvGrpSpPr>
            <p:nvPr/>
          </p:nvGrpSpPr>
          <p:grpSpPr bwMode="auto">
            <a:xfrm>
              <a:off x="3640138" y="3762375"/>
              <a:ext cx="960437" cy="1327150"/>
              <a:chOff x="2659" y="2370"/>
              <a:chExt cx="605" cy="836"/>
            </a:xfrm>
          </p:grpSpPr>
          <p:sp>
            <p:nvSpPr>
              <p:cNvPr id="58" name="Rectangle 26">
                <a:extLst>
                  <a:ext uri="{FF2B5EF4-FFF2-40B4-BE49-F238E27FC236}">
                    <a16:creationId xmlns:a16="http://schemas.microsoft.com/office/drawing/2014/main" id="{9949B876-E2C3-19D6-07CC-1366FC341909}"/>
                  </a:ext>
                </a:extLst>
              </p:cNvPr>
              <p:cNvSpPr>
                <a:spLocks noChangeArrowheads="1"/>
              </p:cNvSpPr>
              <p:nvPr/>
            </p:nvSpPr>
            <p:spPr bwMode="auto">
              <a:xfrm>
                <a:off x="2686" y="2822"/>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59" name="Group 231">
                <a:extLst>
                  <a:ext uri="{FF2B5EF4-FFF2-40B4-BE49-F238E27FC236}">
                    <a16:creationId xmlns:a16="http://schemas.microsoft.com/office/drawing/2014/main" id="{D3742441-FAD6-2D96-E27C-FF0EABAEA2B6}"/>
                  </a:ext>
                </a:extLst>
              </p:cNvPr>
              <p:cNvGrpSpPr>
                <a:grpSpLocks/>
              </p:cNvGrpSpPr>
              <p:nvPr/>
            </p:nvGrpSpPr>
            <p:grpSpPr bwMode="auto">
              <a:xfrm>
                <a:off x="2659" y="2370"/>
                <a:ext cx="605" cy="836"/>
                <a:chOff x="3253" y="2370"/>
                <a:chExt cx="605" cy="836"/>
              </a:xfrm>
            </p:grpSpPr>
            <p:grpSp>
              <p:nvGrpSpPr>
                <p:cNvPr id="60" name="Group 28">
                  <a:extLst>
                    <a:ext uri="{FF2B5EF4-FFF2-40B4-BE49-F238E27FC236}">
                      <a16:creationId xmlns:a16="http://schemas.microsoft.com/office/drawing/2014/main" id="{C59ACF53-5DED-7B79-83FE-6C8755A61EB6}"/>
                    </a:ext>
                  </a:extLst>
                </p:cNvPr>
                <p:cNvGrpSpPr>
                  <a:grpSpLocks/>
                </p:cNvGrpSpPr>
                <p:nvPr/>
              </p:nvGrpSpPr>
              <p:grpSpPr bwMode="auto">
                <a:xfrm>
                  <a:off x="3285" y="2395"/>
                  <a:ext cx="525" cy="365"/>
                  <a:chOff x="418" y="2981"/>
                  <a:chExt cx="352" cy="365"/>
                </a:xfrm>
              </p:grpSpPr>
              <p:sp>
                <p:nvSpPr>
                  <p:cNvPr id="67" name="Rectangle 29">
                    <a:extLst>
                      <a:ext uri="{FF2B5EF4-FFF2-40B4-BE49-F238E27FC236}">
                        <a16:creationId xmlns:a16="http://schemas.microsoft.com/office/drawing/2014/main" id="{DC93FC32-CF91-8BD8-79D7-0300ABE65B52}"/>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8" name="Line 30">
                    <a:extLst>
                      <a:ext uri="{FF2B5EF4-FFF2-40B4-BE49-F238E27FC236}">
                        <a16:creationId xmlns:a16="http://schemas.microsoft.com/office/drawing/2014/main" id="{772D2FF1-2161-41F9-267E-715597986B2B}"/>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61" name="Group 31">
                  <a:extLst>
                    <a:ext uri="{FF2B5EF4-FFF2-40B4-BE49-F238E27FC236}">
                      <a16:creationId xmlns:a16="http://schemas.microsoft.com/office/drawing/2014/main" id="{105D9FD7-896D-A9DF-5452-71DE384629E9}"/>
                    </a:ext>
                  </a:extLst>
                </p:cNvPr>
                <p:cNvGrpSpPr>
                  <a:grpSpLocks/>
                </p:cNvGrpSpPr>
                <p:nvPr/>
              </p:nvGrpSpPr>
              <p:grpSpPr bwMode="auto">
                <a:xfrm flipV="1">
                  <a:off x="3400" y="2586"/>
                  <a:ext cx="116" cy="112"/>
                  <a:chOff x="720" y="3354"/>
                  <a:chExt cx="192" cy="198"/>
                </a:xfrm>
              </p:grpSpPr>
              <p:sp>
                <p:nvSpPr>
                  <p:cNvPr id="65" name="Oval 32">
                    <a:extLst>
                      <a:ext uri="{FF2B5EF4-FFF2-40B4-BE49-F238E27FC236}">
                        <a16:creationId xmlns:a16="http://schemas.microsoft.com/office/drawing/2014/main" id="{474D2D61-B00B-8D0F-A037-EC5EC62D865B}"/>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6" name="AutoShape 33">
                    <a:extLst>
                      <a:ext uri="{FF2B5EF4-FFF2-40B4-BE49-F238E27FC236}">
                        <a16:creationId xmlns:a16="http://schemas.microsoft.com/office/drawing/2014/main" id="{9F7279A8-CF71-5945-A714-DD6A25139092}"/>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62" name="Text Box 34">
                  <a:extLst>
                    <a:ext uri="{FF2B5EF4-FFF2-40B4-BE49-F238E27FC236}">
                      <a16:creationId xmlns:a16="http://schemas.microsoft.com/office/drawing/2014/main" id="{9374EB06-1309-5DB2-E85F-00B699C5CBCA}"/>
                    </a:ext>
                  </a:extLst>
                </p:cNvPr>
                <p:cNvSpPr txBox="1">
                  <a:spLocks noChangeArrowheads="1"/>
                </p:cNvSpPr>
                <p:nvPr/>
              </p:nvSpPr>
              <p:spPr bwMode="auto">
                <a:xfrm>
                  <a:off x="3549" y="2584"/>
                  <a:ext cx="16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1</a:t>
                  </a:r>
                </a:p>
              </p:txBody>
            </p:sp>
            <p:sp>
              <p:nvSpPr>
                <p:cNvPr id="63" name="Text Box 35">
                  <a:extLst>
                    <a:ext uri="{FF2B5EF4-FFF2-40B4-BE49-F238E27FC236}">
                      <a16:creationId xmlns:a16="http://schemas.microsoft.com/office/drawing/2014/main" id="{AD8E381B-E46B-1586-8FEB-B4F2A1E94F4D}"/>
                    </a:ext>
                  </a:extLst>
                </p:cNvPr>
                <p:cNvSpPr txBox="1">
                  <a:spLocks noChangeArrowheads="1"/>
                </p:cNvSpPr>
                <p:nvPr/>
              </p:nvSpPr>
              <p:spPr bwMode="auto">
                <a:xfrm>
                  <a:off x="3303" y="2370"/>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Polish</a:t>
                  </a:r>
                </a:p>
              </p:txBody>
            </p:sp>
            <p:sp>
              <p:nvSpPr>
                <p:cNvPr id="64" name="Text Box 36">
                  <a:extLst>
                    <a:ext uri="{FF2B5EF4-FFF2-40B4-BE49-F238E27FC236}">
                      <a16:creationId xmlns:a16="http://schemas.microsoft.com/office/drawing/2014/main" id="{B9753B88-C658-AC14-428B-0835ECCB1464}"/>
                    </a:ext>
                  </a:extLst>
                </p:cNvPr>
                <p:cNvSpPr txBox="1">
                  <a:spLocks noChangeArrowheads="1"/>
                </p:cNvSpPr>
                <p:nvPr/>
              </p:nvSpPr>
              <p:spPr bwMode="auto">
                <a:xfrm>
                  <a:off x="3253" y="2832"/>
                  <a:ext cx="60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94%</a:t>
                  </a:r>
                </a:p>
              </p:txBody>
            </p:sp>
          </p:grpSp>
        </p:grpSp>
        <p:sp>
          <p:nvSpPr>
            <p:cNvPr id="69" name="Line 42">
              <a:extLst>
                <a:ext uri="{FF2B5EF4-FFF2-40B4-BE49-F238E27FC236}">
                  <a16:creationId xmlns:a16="http://schemas.microsoft.com/office/drawing/2014/main" id="{3FB653F8-7895-1B37-9419-ADBC3CA912B0}"/>
                </a:ext>
              </a:extLst>
            </p:cNvPr>
            <p:cNvSpPr>
              <a:spLocks noChangeShapeType="1"/>
            </p:cNvSpPr>
            <p:nvPr/>
          </p:nvSpPr>
          <p:spPr bwMode="auto">
            <a:xfrm flipV="1">
              <a:off x="3271838" y="4137025"/>
              <a:ext cx="430212" cy="95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70" name="Line 43">
              <a:extLst>
                <a:ext uri="{FF2B5EF4-FFF2-40B4-BE49-F238E27FC236}">
                  <a16:creationId xmlns:a16="http://schemas.microsoft.com/office/drawing/2014/main" id="{ECA32019-0721-6D8F-9576-147107CCEFC7}"/>
                </a:ext>
              </a:extLst>
            </p:cNvPr>
            <p:cNvSpPr>
              <a:spLocks noChangeShapeType="1"/>
            </p:cNvSpPr>
            <p:nvPr/>
          </p:nvSpPr>
          <p:spPr bwMode="auto">
            <a:xfrm flipV="1">
              <a:off x="4549775" y="4140200"/>
              <a:ext cx="473075"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71" name="Group 44">
              <a:extLst>
                <a:ext uri="{FF2B5EF4-FFF2-40B4-BE49-F238E27FC236}">
                  <a16:creationId xmlns:a16="http://schemas.microsoft.com/office/drawing/2014/main" id="{E84A34A9-5D94-21AA-E1AD-20711C248DB5}"/>
                </a:ext>
              </a:extLst>
            </p:cNvPr>
            <p:cNvGrpSpPr>
              <a:grpSpLocks/>
            </p:cNvGrpSpPr>
            <p:nvPr/>
          </p:nvGrpSpPr>
          <p:grpSpPr bwMode="auto">
            <a:xfrm>
              <a:off x="461963" y="1979613"/>
              <a:ext cx="925512" cy="552450"/>
              <a:chOff x="435" y="1322"/>
              <a:chExt cx="583" cy="348"/>
            </a:xfrm>
          </p:grpSpPr>
          <p:grpSp>
            <p:nvGrpSpPr>
              <p:cNvPr id="72" name="Group 45">
                <a:extLst>
                  <a:ext uri="{FF2B5EF4-FFF2-40B4-BE49-F238E27FC236}">
                    <a16:creationId xmlns:a16="http://schemas.microsoft.com/office/drawing/2014/main" id="{1AF96FDC-7BC2-0C8D-77BF-B8BE538FD445}"/>
                  </a:ext>
                </a:extLst>
              </p:cNvPr>
              <p:cNvGrpSpPr>
                <a:grpSpLocks/>
              </p:cNvGrpSpPr>
              <p:nvPr/>
            </p:nvGrpSpPr>
            <p:grpSpPr bwMode="auto">
              <a:xfrm>
                <a:off x="474" y="1322"/>
                <a:ext cx="508" cy="348"/>
                <a:chOff x="536" y="1322"/>
                <a:chExt cx="446" cy="348"/>
              </a:xfrm>
            </p:grpSpPr>
            <p:sp>
              <p:nvSpPr>
                <p:cNvPr id="74" name="Rectangle 46">
                  <a:extLst>
                    <a:ext uri="{FF2B5EF4-FFF2-40B4-BE49-F238E27FC236}">
                      <a16:creationId xmlns:a16="http://schemas.microsoft.com/office/drawing/2014/main" id="{C4E6C934-6520-71CA-D983-AA9336F1B2C9}"/>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5" name="Rectangle 47">
                  <a:extLst>
                    <a:ext uri="{FF2B5EF4-FFF2-40B4-BE49-F238E27FC236}">
                      <a16:creationId xmlns:a16="http://schemas.microsoft.com/office/drawing/2014/main" id="{7515575B-4EF0-0325-A776-24C4E48BC0BA}"/>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latin typeface="Roboto" panose="02000000000000000000" pitchFamily="2" charset="0"/>
                    <a:ea typeface="Roboto" panose="02000000000000000000" pitchFamily="2" charset="0"/>
                  </a:endParaRPr>
                </a:p>
              </p:txBody>
            </p:sp>
            <p:sp>
              <p:nvSpPr>
                <p:cNvPr id="76" name="AutoShape 48">
                  <a:extLst>
                    <a:ext uri="{FF2B5EF4-FFF2-40B4-BE49-F238E27FC236}">
                      <a16:creationId xmlns:a16="http://schemas.microsoft.com/office/drawing/2014/main" id="{F1F16455-8CE6-D6B7-8909-DA2E938C51B4}"/>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7" name="AutoShape 49">
                  <a:extLst>
                    <a:ext uri="{FF2B5EF4-FFF2-40B4-BE49-F238E27FC236}">
                      <a16:creationId xmlns:a16="http://schemas.microsoft.com/office/drawing/2014/main" id="{81118C34-CDE0-3B06-1AA6-17FECDE53D47}"/>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8" name="AutoShape 50">
                  <a:extLst>
                    <a:ext uri="{FF2B5EF4-FFF2-40B4-BE49-F238E27FC236}">
                      <a16:creationId xmlns:a16="http://schemas.microsoft.com/office/drawing/2014/main" id="{58E3E3F3-D3CC-4AE2-0A92-E6662E56FCB6}"/>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9" name="Rectangle 51">
                  <a:extLst>
                    <a:ext uri="{FF2B5EF4-FFF2-40B4-BE49-F238E27FC236}">
                      <a16:creationId xmlns:a16="http://schemas.microsoft.com/office/drawing/2014/main" id="{86FFC404-8929-EC1F-14B3-A81CD787CF02}"/>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0" name="Rectangle 52">
                  <a:extLst>
                    <a:ext uri="{FF2B5EF4-FFF2-40B4-BE49-F238E27FC236}">
                      <a16:creationId xmlns:a16="http://schemas.microsoft.com/office/drawing/2014/main" id="{3A48E1D0-D83D-32CD-51DE-6A1FDCE673E0}"/>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1" name="Rectangle 53">
                  <a:extLst>
                    <a:ext uri="{FF2B5EF4-FFF2-40B4-BE49-F238E27FC236}">
                      <a16:creationId xmlns:a16="http://schemas.microsoft.com/office/drawing/2014/main" id="{66986C79-AB6F-EE79-978E-AF431DFB932C}"/>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73" name="Text Box 54">
                <a:extLst>
                  <a:ext uri="{FF2B5EF4-FFF2-40B4-BE49-F238E27FC236}">
                    <a16:creationId xmlns:a16="http://schemas.microsoft.com/office/drawing/2014/main" id="{FFC937A4-D29A-9ABB-2DB5-03019346AAE6}"/>
                  </a:ext>
                </a:extLst>
              </p:cNvPr>
              <p:cNvSpPr txBox="1">
                <a:spLocks noChangeArrowheads="1"/>
              </p:cNvSpPr>
              <p:nvPr/>
            </p:nvSpPr>
            <p:spPr bwMode="auto">
              <a:xfrm>
                <a:off x="435" y="1494"/>
                <a:ext cx="58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Lean Steel</a:t>
                </a:r>
              </a:p>
            </p:txBody>
          </p:sp>
        </p:grpSp>
        <p:grpSp>
          <p:nvGrpSpPr>
            <p:cNvPr id="82" name="Group 55">
              <a:extLst>
                <a:ext uri="{FF2B5EF4-FFF2-40B4-BE49-F238E27FC236}">
                  <a16:creationId xmlns:a16="http://schemas.microsoft.com/office/drawing/2014/main" id="{0918593D-A83A-9D55-0F5E-F98F365D147E}"/>
                </a:ext>
              </a:extLst>
            </p:cNvPr>
            <p:cNvGrpSpPr>
              <a:grpSpLocks/>
            </p:cNvGrpSpPr>
            <p:nvPr/>
          </p:nvGrpSpPr>
          <p:grpSpPr bwMode="auto">
            <a:xfrm>
              <a:off x="7683500" y="1939925"/>
              <a:ext cx="925513" cy="552450"/>
              <a:chOff x="435" y="1322"/>
              <a:chExt cx="583" cy="348"/>
            </a:xfrm>
          </p:grpSpPr>
          <p:grpSp>
            <p:nvGrpSpPr>
              <p:cNvPr id="83" name="Group 56">
                <a:extLst>
                  <a:ext uri="{FF2B5EF4-FFF2-40B4-BE49-F238E27FC236}">
                    <a16:creationId xmlns:a16="http://schemas.microsoft.com/office/drawing/2014/main" id="{C740971A-7FD4-8C14-A662-6D3E5DF0F1A3}"/>
                  </a:ext>
                </a:extLst>
              </p:cNvPr>
              <p:cNvGrpSpPr>
                <a:grpSpLocks/>
              </p:cNvGrpSpPr>
              <p:nvPr/>
            </p:nvGrpSpPr>
            <p:grpSpPr bwMode="auto">
              <a:xfrm>
                <a:off x="474" y="1322"/>
                <a:ext cx="508" cy="348"/>
                <a:chOff x="536" y="1322"/>
                <a:chExt cx="446" cy="348"/>
              </a:xfrm>
            </p:grpSpPr>
            <p:sp>
              <p:nvSpPr>
                <p:cNvPr id="85" name="Rectangle 57">
                  <a:extLst>
                    <a:ext uri="{FF2B5EF4-FFF2-40B4-BE49-F238E27FC236}">
                      <a16:creationId xmlns:a16="http://schemas.microsoft.com/office/drawing/2014/main" id="{71867670-E9E9-0867-808B-271B69D3DBBF}"/>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6" name="Rectangle 58">
                  <a:extLst>
                    <a:ext uri="{FF2B5EF4-FFF2-40B4-BE49-F238E27FC236}">
                      <a16:creationId xmlns:a16="http://schemas.microsoft.com/office/drawing/2014/main" id="{D223B8AA-07C7-953D-799C-868A8048312F}"/>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latin typeface="Roboto" panose="02000000000000000000" pitchFamily="2" charset="0"/>
                    <a:ea typeface="Roboto" panose="02000000000000000000" pitchFamily="2" charset="0"/>
                  </a:endParaRPr>
                </a:p>
              </p:txBody>
            </p:sp>
            <p:sp>
              <p:nvSpPr>
                <p:cNvPr id="87" name="AutoShape 59">
                  <a:extLst>
                    <a:ext uri="{FF2B5EF4-FFF2-40B4-BE49-F238E27FC236}">
                      <a16:creationId xmlns:a16="http://schemas.microsoft.com/office/drawing/2014/main" id="{08EF5566-80AD-D415-DB96-D158E5D144AE}"/>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8" name="AutoShape 60">
                  <a:extLst>
                    <a:ext uri="{FF2B5EF4-FFF2-40B4-BE49-F238E27FC236}">
                      <a16:creationId xmlns:a16="http://schemas.microsoft.com/office/drawing/2014/main" id="{E9868490-6444-9F10-1A27-0DC903C5A402}"/>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89" name="AutoShape 61">
                  <a:extLst>
                    <a:ext uri="{FF2B5EF4-FFF2-40B4-BE49-F238E27FC236}">
                      <a16:creationId xmlns:a16="http://schemas.microsoft.com/office/drawing/2014/main" id="{F119FEB9-3449-DE7B-8409-C292AC0DE23E}"/>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90" name="Rectangle 62">
                  <a:extLst>
                    <a:ext uri="{FF2B5EF4-FFF2-40B4-BE49-F238E27FC236}">
                      <a16:creationId xmlns:a16="http://schemas.microsoft.com/office/drawing/2014/main" id="{777CA903-2B52-0096-C455-0F06D78CB1C0}"/>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91" name="Rectangle 63">
                  <a:extLst>
                    <a:ext uri="{FF2B5EF4-FFF2-40B4-BE49-F238E27FC236}">
                      <a16:creationId xmlns:a16="http://schemas.microsoft.com/office/drawing/2014/main" id="{94D0157B-C04E-5E7B-AD60-F8374140E29A}"/>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92" name="Rectangle 64">
                  <a:extLst>
                    <a:ext uri="{FF2B5EF4-FFF2-40B4-BE49-F238E27FC236}">
                      <a16:creationId xmlns:a16="http://schemas.microsoft.com/office/drawing/2014/main" id="{055FED1F-783B-E66F-BB31-8CABFE05D600}"/>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84" name="Text Box 65">
                <a:extLst>
                  <a:ext uri="{FF2B5EF4-FFF2-40B4-BE49-F238E27FC236}">
                    <a16:creationId xmlns:a16="http://schemas.microsoft.com/office/drawing/2014/main" id="{603047BE-13C9-69D9-F394-E711267B0485}"/>
                  </a:ext>
                </a:extLst>
              </p:cNvPr>
              <p:cNvSpPr txBox="1">
                <a:spLocks noChangeArrowheads="1"/>
              </p:cNvSpPr>
              <p:nvPr/>
            </p:nvSpPr>
            <p:spPr bwMode="auto">
              <a:xfrm>
                <a:off x="435" y="1494"/>
                <a:ext cx="58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Giant Tool</a:t>
                </a:r>
              </a:p>
            </p:txBody>
          </p:sp>
        </p:grpSp>
        <p:sp>
          <p:nvSpPr>
            <p:cNvPr id="93" name="Text Box 66">
              <a:extLst>
                <a:ext uri="{FF2B5EF4-FFF2-40B4-BE49-F238E27FC236}">
                  <a16:creationId xmlns:a16="http://schemas.microsoft.com/office/drawing/2014/main" id="{461B457F-D9CB-6E2C-37DC-01C5508FFDC8}"/>
                </a:ext>
              </a:extLst>
            </p:cNvPr>
            <p:cNvSpPr txBox="1">
              <a:spLocks noChangeArrowheads="1"/>
            </p:cNvSpPr>
            <p:nvPr/>
          </p:nvSpPr>
          <p:spPr bwMode="auto">
            <a:xfrm>
              <a:off x="3250818" y="1493838"/>
              <a:ext cx="2275651" cy="312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latin typeface="Roboto" panose="02000000000000000000" pitchFamily="2" charset="0"/>
                  <a:ea typeface="Roboto" panose="02000000000000000000" pitchFamily="2" charset="0"/>
                </a:rPr>
                <a:t>Rusty</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 Wrench Current State Map</a:t>
              </a:r>
              <a:endParaRPr lang="en-US" altLang="en-US" sz="1400">
                <a:latin typeface="Roboto" panose="02000000000000000000" pitchFamily="2" charset="0"/>
                <a:ea typeface="Roboto" panose="02000000000000000000" pitchFamily="2" charset="0"/>
              </a:endParaRPr>
            </a:p>
          </p:txBody>
        </p:sp>
        <p:sp>
          <p:nvSpPr>
            <p:cNvPr id="94" name="AutoShape 67">
              <a:extLst>
                <a:ext uri="{FF2B5EF4-FFF2-40B4-BE49-F238E27FC236}">
                  <a16:creationId xmlns:a16="http://schemas.microsoft.com/office/drawing/2014/main" id="{CE7518C4-18DD-8F0E-E9EC-E3689F0911A4}"/>
                </a:ext>
              </a:extLst>
            </p:cNvPr>
            <p:cNvSpPr>
              <a:spLocks noChangeArrowheads="1"/>
            </p:cNvSpPr>
            <p:nvPr/>
          </p:nvSpPr>
          <p:spPr bwMode="auto">
            <a:xfrm>
              <a:off x="3276600"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95" name="AutoShape 68">
              <a:extLst>
                <a:ext uri="{FF2B5EF4-FFF2-40B4-BE49-F238E27FC236}">
                  <a16:creationId xmlns:a16="http://schemas.microsoft.com/office/drawing/2014/main" id="{FA938ED2-7C58-A988-5CC1-8042EEF3CA8F}"/>
                </a:ext>
              </a:extLst>
            </p:cNvPr>
            <p:cNvSpPr>
              <a:spLocks noChangeArrowheads="1"/>
            </p:cNvSpPr>
            <p:nvPr/>
          </p:nvSpPr>
          <p:spPr bwMode="auto">
            <a:xfrm>
              <a:off x="4568825"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96" name="Line 69">
              <a:extLst>
                <a:ext uri="{FF2B5EF4-FFF2-40B4-BE49-F238E27FC236}">
                  <a16:creationId xmlns:a16="http://schemas.microsoft.com/office/drawing/2014/main" id="{B7453F41-8CAE-963A-D0C3-B6A5F12FA8F0}"/>
                </a:ext>
              </a:extLst>
            </p:cNvPr>
            <p:cNvSpPr>
              <a:spLocks noChangeShapeType="1"/>
            </p:cNvSpPr>
            <p:nvPr/>
          </p:nvSpPr>
          <p:spPr bwMode="auto">
            <a:xfrm flipV="1">
              <a:off x="873125" y="4138613"/>
              <a:ext cx="193675" cy="317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97" name="AutoShape 70">
              <a:extLst>
                <a:ext uri="{FF2B5EF4-FFF2-40B4-BE49-F238E27FC236}">
                  <a16:creationId xmlns:a16="http://schemas.microsoft.com/office/drawing/2014/main" id="{7710A15E-A3C8-5456-9AAB-86873AA85B8D}"/>
                </a:ext>
              </a:extLst>
            </p:cNvPr>
            <p:cNvSpPr>
              <a:spLocks noChangeArrowheads="1"/>
            </p:cNvSpPr>
            <p:nvPr/>
          </p:nvSpPr>
          <p:spPr bwMode="auto">
            <a:xfrm>
              <a:off x="547688" y="394493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grpSp>
          <p:nvGrpSpPr>
            <p:cNvPr id="98" name="Group 71">
              <a:extLst>
                <a:ext uri="{FF2B5EF4-FFF2-40B4-BE49-F238E27FC236}">
                  <a16:creationId xmlns:a16="http://schemas.microsoft.com/office/drawing/2014/main" id="{F06FF355-4BC1-5151-711C-D0179F2A8096}"/>
                </a:ext>
              </a:extLst>
            </p:cNvPr>
            <p:cNvGrpSpPr>
              <a:grpSpLocks/>
            </p:cNvGrpSpPr>
            <p:nvPr/>
          </p:nvGrpSpPr>
          <p:grpSpPr bwMode="auto">
            <a:xfrm>
              <a:off x="411163" y="3022600"/>
              <a:ext cx="593725" cy="409575"/>
              <a:chOff x="513" y="2099"/>
              <a:chExt cx="374" cy="258"/>
            </a:xfrm>
          </p:grpSpPr>
          <p:grpSp>
            <p:nvGrpSpPr>
              <p:cNvPr id="99" name="Group 72">
                <a:extLst>
                  <a:ext uri="{FF2B5EF4-FFF2-40B4-BE49-F238E27FC236}">
                    <a16:creationId xmlns:a16="http://schemas.microsoft.com/office/drawing/2014/main" id="{B6F8FEBA-79EC-36CB-72ED-904CEF634DFF}"/>
                  </a:ext>
                </a:extLst>
              </p:cNvPr>
              <p:cNvGrpSpPr>
                <a:grpSpLocks/>
              </p:cNvGrpSpPr>
              <p:nvPr/>
            </p:nvGrpSpPr>
            <p:grpSpPr bwMode="auto">
              <a:xfrm>
                <a:off x="550" y="2121"/>
                <a:ext cx="337" cy="236"/>
                <a:chOff x="536" y="3744"/>
                <a:chExt cx="415" cy="261"/>
              </a:xfrm>
            </p:grpSpPr>
            <p:sp>
              <p:nvSpPr>
                <p:cNvPr id="101" name="Rectangle 73">
                  <a:extLst>
                    <a:ext uri="{FF2B5EF4-FFF2-40B4-BE49-F238E27FC236}">
                      <a16:creationId xmlns:a16="http://schemas.microsoft.com/office/drawing/2014/main" id="{A476D28A-FFF9-5C70-F91E-07CC69E1BFDD}"/>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2" name="Rectangle 74">
                  <a:extLst>
                    <a:ext uri="{FF2B5EF4-FFF2-40B4-BE49-F238E27FC236}">
                      <a16:creationId xmlns:a16="http://schemas.microsoft.com/office/drawing/2014/main" id="{572758BE-8FB9-C0B9-C88A-2B5E5299344D}"/>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3" name="Oval 75">
                  <a:extLst>
                    <a:ext uri="{FF2B5EF4-FFF2-40B4-BE49-F238E27FC236}">
                      <a16:creationId xmlns:a16="http://schemas.microsoft.com/office/drawing/2014/main" id="{1FE8A4DC-1C72-10A9-351A-1738B497BB24}"/>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4" name="Oval 76">
                  <a:extLst>
                    <a:ext uri="{FF2B5EF4-FFF2-40B4-BE49-F238E27FC236}">
                      <a16:creationId xmlns:a16="http://schemas.microsoft.com/office/drawing/2014/main" id="{F6D5C740-7F53-0C81-BA5B-BCD04C3680A8}"/>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00" name="Text Box 77">
                <a:extLst>
                  <a:ext uri="{FF2B5EF4-FFF2-40B4-BE49-F238E27FC236}">
                    <a16:creationId xmlns:a16="http://schemas.microsoft.com/office/drawing/2014/main" id="{3EA6BAD0-3837-E7BA-AE06-053CCD0C94D4}"/>
                  </a:ext>
                </a:extLst>
              </p:cNvPr>
              <p:cNvSpPr txBox="1">
                <a:spLocks noChangeArrowheads="1"/>
              </p:cNvSpPr>
              <p:nvPr/>
            </p:nvSpPr>
            <p:spPr bwMode="auto">
              <a:xfrm>
                <a:off x="513" y="2099"/>
                <a:ext cx="30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rPr>
                  <a:t>2X</a:t>
                </a:r>
                <a:br>
                  <a:rPr lang="en-US" altLang="en-US" sz="600" b="0">
                    <a:solidFill>
                      <a:schemeClr val="tx1"/>
                    </a:solidFill>
                    <a:latin typeface="Roboto" panose="02000000000000000000" pitchFamily="2" charset="0"/>
                    <a:ea typeface="Roboto" panose="02000000000000000000" pitchFamily="2" charset="0"/>
                  </a:rPr>
                </a:br>
                <a:r>
                  <a:rPr lang="en-US" altLang="en-US" sz="600" b="0">
                    <a:solidFill>
                      <a:schemeClr val="tx1"/>
                    </a:solidFill>
                    <a:latin typeface="Roboto" panose="02000000000000000000" pitchFamily="2" charset="0"/>
                    <a:ea typeface="Roboto" panose="02000000000000000000" pitchFamily="2" charset="0"/>
                  </a:rPr>
                  <a:t>Mon &amp; Thurs</a:t>
                </a:r>
              </a:p>
            </p:txBody>
          </p:sp>
        </p:grpSp>
        <p:grpSp>
          <p:nvGrpSpPr>
            <p:cNvPr id="105" name="Group 78">
              <a:extLst>
                <a:ext uri="{FF2B5EF4-FFF2-40B4-BE49-F238E27FC236}">
                  <a16:creationId xmlns:a16="http://schemas.microsoft.com/office/drawing/2014/main" id="{00121C2A-2F44-F3BC-3717-BEA78B5A3EA4}"/>
                </a:ext>
              </a:extLst>
            </p:cNvPr>
            <p:cNvGrpSpPr>
              <a:grpSpLocks/>
            </p:cNvGrpSpPr>
            <p:nvPr/>
          </p:nvGrpSpPr>
          <p:grpSpPr bwMode="auto">
            <a:xfrm>
              <a:off x="7958138" y="3190875"/>
              <a:ext cx="593725" cy="409575"/>
              <a:chOff x="513" y="2099"/>
              <a:chExt cx="374" cy="258"/>
            </a:xfrm>
          </p:grpSpPr>
          <p:grpSp>
            <p:nvGrpSpPr>
              <p:cNvPr id="106" name="Group 79">
                <a:extLst>
                  <a:ext uri="{FF2B5EF4-FFF2-40B4-BE49-F238E27FC236}">
                    <a16:creationId xmlns:a16="http://schemas.microsoft.com/office/drawing/2014/main" id="{5FC6A6E2-6BDF-22B0-3439-3C51641440BD}"/>
                  </a:ext>
                </a:extLst>
              </p:cNvPr>
              <p:cNvGrpSpPr>
                <a:grpSpLocks/>
              </p:cNvGrpSpPr>
              <p:nvPr/>
            </p:nvGrpSpPr>
            <p:grpSpPr bwMode="auto">
              <a:xfrm>
                <a:off x="550" y="2121"/>
                <a:ext cx="337" cy="236"/>
                <a:chOff x="536" y="3744"/>
                <a:chExt cx="415" cy="261"/>
              </a:xfrm>
            </p:grpSpPr>
            <p:sp>
              <p:nvSpPr>
                <p:cNvPr id="108" name="Rectangle 80">
                  <a:extLst>
                    <a:ext uri="{FF2B5EF4-FFF2-40B4-BE49-F238E27FC236}">
                      <a16:creationId xmlns:a16="http://schemas.microsoft.com/office/drawing/2014/main" id="{37C3C9A3-41FC-A76C-3758-3655459D9908}"/>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9" name="Rectangle 81">
                  <a:extLst>
                    <a:ext uri="{FF2B5EF4-FFF2-40B4-BE49-F238E27FC236}">
                      <a16:creationId xmlns:a16="http://schemas.microsoft.com/office/drawing/2014/main" id="{4764A37A-9B59-3003-ECDC-C3AE6ECEF73B}"/>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0" name="Oval 82">
                  <a:extLst>
                    <a:ext uri="{FF2B5EF4-FFF2-40B4-BE49-F238E27FC236}">
                      <a16:creationId xmlns:a16="http://schemas.microsoft.com/office/drawing/2014/main" id="{CFB76A50-B24F-F0D8-5C16-44B237D32D1E}"/>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1" name="Oval 83">
                  <a:extLst>
                    <a:ext uri="{FF2B5EF4-FFF2-40B4-BE49-F238E27FC236}">
                      <a16:creationId xmlns:a16="http://schemas.microsoft.com/office/drawing/2014/main" id="{54438019-CB51-772D-BD80-199FC8EF483A}"/>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107" name="Text Box 84">
                <a:extLst>
                  <a:ext uri="{FF2B5EF4-FFF2-40B4-BE49-F238E27FC236}">
                    <a16:creationId xmlns:a16="http://schemas.microsoft.com/office/drawing/2014/main" id="{D39766DE-B7CF-756E-9EE5-8A6A72DB4138}"/>
                  </a:ext>
                </a:extLst>
              </p:cNvPr>
              <p:cNvSpPr txBox="1">
                <a:spLocks noChangeArrowheads="1"/>
              </p:cNvSpPr>
              <p:nvPr/>
            </p:nvSpPr>
            <p:spPr bwMode="auto">
              <a:xfrm>
                <a:off x="513" y="2099"/>
                <a:ext cx="308"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Daily</a:t>
                </a:r>
              </a:p>
            </p:txBody>
          </p:sp>
        </p:grpSp>
        <p:grpSp>
          <p:nvGrpSpPr>
            <p:cNvPr id="112" name="Group 85">
              <a:extLst>
                <a:ext uri="{FF2B5EF4-FFF2-40B4-BE49-F238E27FC236}">
                  <a16:creationId xmlns:a16="http://schemas.microsoft.com/office/drawing/2014/main" id="{68BB23C1-2A7C-47C8-F38D-A81151E26277}"/>
                </a:ext>
              </a:extLst>
            </p:cNvPr>
            <p:cNvGrpSpPr>
              <a:grpSpLocks/>
            </p:cNvGrpSpPr>
            <p:nvPr/>
          </p:nvGrpSpPr>
          <p:grpSpPr bwMode="auto">
            <a:xfrm>
              <a:off x="5853113" y="2524125"/>
              <a:ext cx="1741487" cy="582613"/>
              <a:chOff x="3444" y="1578"/>
              <a:chExt cx="1097" cy="367"/>
            </a:xfrm>
          </p:grpSpPr>
          <p:sp>
            <p:nvSpPr>
              <p:cNvPr id="113" name="Rectangle 86">
                <a:extLst>
                  <a:ext uri="{FF2B5EF4-FFF2-40B4-BE49-F238E27FC236}">
                    <a16:creationId xmlns:a16="http://schemas.microsoft.com/office/drawing/2014/main" id="{E70AA6C6-16B3-2A70-B970-127102088BCD}"/>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4" name="Text Box 87">
                <a:extLst>
                  <a:ext uri="{FF2B5EF4-FFF2-40B4-BE49-F238E27FC236}">
                    <a16:creationId xmlns:a16="http://schemas.microsoft.com/office/drawing/2014/main" id="{40B37033-2F27-143D-ACA9-F997E22A48E3}"/>
                  </a:ext>
                </a:extLst>
              </p:cNvPr>
              <p:cNvSpPr txBox="1">
                <a:spLocks noChangeArrowheads="1"/>
              </p:cNvSpPr>
              <p:nvPr/>
            </p:nvSpPr>
            <p:spPr bwMode="auto">
              <a:xfrm>
                <a:off x="3444" y="1689"/>
                <a:ext cx="63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5000"/>
                  </a:spcBef>
                </a:pPr>
                <a:r>
                  <a:rPr lang="en-US" altLang="en-US" sz="800" b="0">
                    <a:solidFill>
                      <a:schemeClr val="tx1"/>
                    </a:solidFill>
                    <a:latin typeface="Roboto" panose="02000000000000000000" pitchFamily="2" charset="0"/>
                    <a:ea typeface="Roboto" panose="02000000000000000000" pitchFamily="2" charset="0"/>
                  </a:rPr>
                  <a:t>27,000 Seconds</a:t>
                </a:r>
              </a:p>
              <a:p>
                <a:pPr>
                  <a:lnSpc>
                    <a:spcPct val="100000"/>
                  </a:lnSpc>
                  <a:spcBef>
                    <a:spcPct val="35000"/>
                  </a:spcBef>
                </a:pPr>
                <a:r>
                  <a:rPr lang="en-US" altLang="en-US" sz="800" b="0">
                    <a:solidFill>
                      <a:schemeClr val="tx1"/>
                    </a:solidFill>
                    <a:latin typeface="Roboto" panose="02000000000000000000" pitchFamily="2" charset="0"/>
                    <a:ea typeface="Roboto" panose="02000000000000000000" pitchFamily="2" charset="0"/>
                  </a:rPr>
                  <a:t>2,000 Pieces</a:t>
                </a:r>
              </a:p>
            </p:txBody>
          </p:sp>
          <p:sp>
            <p:nvSpPr>
              <p:cNvPr id="115" name="Line 88">
                <a:extLst>
                  <a:ext uri="{FF2B5EF4-FFF2-40B4-BE49-F238E27FC236}">
                    <a16:creationId xmlns:a16="http://schemas.microsoft.com/office/drawing/2014/main" id="{6EAA345E-C973-777D-DF42-834CC505B2E8}"/>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16" name="Rectangle 89">
                <a:extLst>
                  <a:ext uri="{FF2B5EF4-FFF2-40B4-BE49-F238E27FC236}">
                    <a16:creationId xmlns:a16="http://schemas.microsoft.com/office/drawing/2014/main" id="{025192C7-A566-49ED-AC6A-D48889CF91AD}"/>
                  </a:ext>
                </a:extLst>
              </p:cNvPr>
              <p:cNvSpPr>
                <a:spLocks noChangeArrowheads="1"/>
              </p:cNvSpPr>
              <p:nvPr/>
            </p:nvSpPr>
            <p:spPr bwMode="auto">
              <a:xfrm>
                <a:off x="3729" y="1578"/>
                <a:ext cx="52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a:solidFill>
                      <a:schemeClr val="tx1"/>
                    </a:solidFill>
                    <a:latin typeface="Roboto" panose="02000000000000000000" pitchFamily="2" charset="0"/>
                    <a:ea typeface="Roboto" panose="02000000000000000000" pitchFamily="2" charset="0"/>
                  </a:rPr>
                  <a:t>Takt Time</a:t>
                </a:r>
              </a:p>
            </p:txBody>
          </p:sp>
          <p:sp>
            <p:nvSpPr>
              <p:cNvPr id="117" name="Text Box 90">
                <a:extLst>
                  <a:ext uri="{FF2B5EF4-FFF2-40B4-BE49-F238E27FC236}">
                    <a16:creationId xmlns:a16="http://schemas.microsoft.com/office/drawing/2014/main" id="{9DDE684B-D247-0CF1-E634-B020C77A528E}"/>
                  </a:ext>
                </a:extLst>
              </p:cNvPr>
              <p:cNvSpPr txBox="1">
                <a:spLocks noChangeArrowheads="1"/>
              </p:cNvSpPr>
              <p:nvPr/>
            </p:nvSpPr>
            <p:spPr bwMode="auto">
              <a:xfrm>
                <a:off x="3949" y="1713"/>
                <a:ext cx="59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 </a:t>
                </a:r>
                <a:r>
                  <a:rPr lang="en-US" altLang="en-US" sz="800">
                    <a:solidFill>
                      <a:srgbClr val="FF0000"/>
                    </a:solidFill>
                    <a:latin typeface="Roboto" panose="02000000000000000000" pitchFamily="2" charset="0"/>
                    <a:ea typeface="Roboto" panose="02000000000000000000" pitchFamily="2" charset="0"/>
                  </a:rPr>
                  <a:t>13.5 seconds</a:t>
                </a:r>
              </a:p>
            </p:txBody>
          </p:sp>
        </p:grpSp>
        <p:sp>
          <p:nvSpPr>
            <p:cNvPr id="118" name="Line 93">
              <a:extLst>
                <a:ext uri="{FF2B5EF4-FFF2-40B4-BE49-F238E27FC236}">
                  <a16:creationId xmlns:a16="http://schemas.microsoft.com/office/drawing/2014/main" id="{3B5B1321-5E94-FD26-CBC1-17BDE4380F71}"/>
                </a:ext>
              </a:extLst>
            </p:cNvPr>
            <p:cNvSpPr>
              <a:spLocks noChangeShapeType="1"/>
            </p:cNvSpPr>
            <p:nvPr/>
          </p:nvSpPr>
          <p:spPr bwMode="auto">
            <a:xfrm flipV="1">
              <a:off x="544513" y="5562600"/>
              <a:ext cx="5286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9" name="Line 94">
              <a:extLst>
                <a:ext uri="{FF2B5EF4-FFF2-40B4-BE49-F238E27FC236}">
                  <a16:creationId xmlns:a16="http://schemas.microsoft.com/office/drawing/2014/main" id="{D603E0F5-40C4-3A80-0B14-AA5A8527303E}"/>
                </a:ext>
              </a:extLst>
            </p:cNvPr>
            <p:cNvSpPr>
              <a:spLocks noChangeShapeType="1"/>
            </p:cNvSpPr>
            <p:nvPr/>
          </p:nvSpPr>
          <p:spPr bwMode="auto">
            <a:xfrm>
              <a:off x="108743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0" name="Line 95">
              <a:extLst>
                <a:ext uri="{FF2B5EF4-FFF2-40B4-BE49-F238E27FC236}">
                  <a16:creationId xmlns:a16="http://schemas.microsoft.com/office/drawing/2014/main" id="{E380F7F7-0378-2CAB-08A8-3FBBE64AAD2B}"/>
                </a:ext>
              </a:extLst>
            </p:cNvPr>
            <p:cNvSpPr>
              <a:spLocks noChangeShapeType="1"/>
            </p:cNvSpPr>
            <p:nvPr/>
          </p:nvSpPr>
          <p:spPr bwMode="auto">
            <a:xfrm flipV="1">
              <a:off x="10795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96">
              <a:extLst>
                <a:ext uri="{FF2B5EF4-FFF2-40B4-BE49-F238E27FC236}">
                  <a16:creationId xmlns:a16="http://schemas.microsoft.com/office/drawing/2014/main" id="{6D2185C5-5C4D-2126-B956-EB1EC4446CEF}"/>
                </a:ext>
              </a:extLst>
            </p:cNvPr>
            <p:cNvSpPr>
              <a:spLocks noChangeShapeType="1"/>
            </p:cNvSpPr>
            <p:nvPr/>
          </p:nvSpPr>
          <p:spPr bwMode="auto">
            <a:xfrm>
              <a:off x="1905000"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2" name="Line 97">
              <a:extLst>
                <a:ext uri="{FF2B5EF4-FFF2-40B4-BE49-F238E27FC236}">
                  <a16:creationId xmlns:a16="http://schemas.microsoft.com/office/drawing/2014/main" id="{CCD4D85F-8F6A-ADA8-1CB3-B25B0DD60066}"/>
                </a:ext>
              </a:extLst>
            </p:cNvPr>
            <p:cNvSpPr>
              <a:spLocks noChangeShapeType="1"/>
            </p:cNvSpPr>
            <p:nvPr/>
          </p:nvSpPr>
          <p:spPr bwMode="auto">
            <a:xfrm>
              <a:off x="2403475"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3" name="Line 98">
              <a:extLst>
                <a:ext uri="{FF2B5EF4-FFF2-40B4-BE49-F238E27FC236}">
                  <a16:creationId xmlns:a16="http://schemas.microsoft.com/office/drawing/2014/main" id="{BEDF67F9-C494-23F2-046E-4FC800420777}"/>
                </a:ext>
              </a:extLst>
            </p:cNvPr>
            <p:cNvSpPr>
              <a:spLocks noChangeShapeType="1"/>
            </p:cNvSpPr>
            <p:nvPr/>
          </p:nvSpPr>
          <p:spPr bwMode="auto">
            <a:xfrm>
              <a:off x="1917700" y="5562600"/>
              <a:ext cx="48895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4" name="Line 99">
              <a:extLst>
                <a:ext uri="{FF2B5EF4-FFF2-40B4-BE49-F238E27FC236}">
                  <a16:creationId xmlns:a16="http://schemas.microsoft.com/office/drawing/2014/main" id="{D0427B81-C1DB-2E12-7DDF-5BE3C0D24C42}"/>
                </a:ext>
              </a:extLst>
            </p:cNvPr>
            <p:cNvSpPr>
              <a:spLocks noChangeShapeType="1"/>
            </p:cNvSpPr>
            <p:nvPr/>
          </p:nvSpPr>
          <p:spPr bwMode="auto">
            <a:xfrm>
              <a:off x="3235325"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5" name="Line 100">
              <a:extLst>
                <a:ext uri="{FF2B5EF4-FFF2-40B4-BE49-F238E27FC236}">
                  <a16:creationId xmlns:a16="http://schemas.microsoft.com/office/drawing/2014/main" id="{D95FEAA8-8577-31B1-959C-F5020C19A542}"/>
                </a:ext>
              </a:extLst>
            </p:cNvPr>
            <p:cNvSpPr>
              <a:spLocks noChangeShapeType="1"/>
            </p:cNvSpPr>
            <p:nvPr/>
          </p:nvSpPr>
          <p:spPr bwMode="auto">
            <a:xfrm>
              <a:off x="371633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6" name="Line 101">
              <a:extLst>
                <a:ext uri="{FF2B5EF4-FFF2-40B4-BE49-F238E27FC236}">
                  <a16:creationId xmlns:a16="http://schemas.microsoft.com/office/drawing/2014/main" id="{D74C5114-1833-8D48-0F65-CA1D62365135}"/>
                </a:ext>
              </a:extLst>
            </p:cNvPr>
            <p:cNvSpPr>
              <a:spLocks noChangeShapeType="1"/>
            </p:cNvSpPr>
            <p:nvPr/>
          </p:nvSpPr>
          <p:spPr bwMode="auto">
            <a:xfrm>
              <a:off x="4570413"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Line 102">
              <a:extLst>
                <a:ext uri="{FF2B5EF4-FFF2-40B4-BE49-F238E27FC236}">
                  <a16:creationId xmlns:a16="http://schemas.microsoft.com/office/drawing/2014/main" id="{D56D04E8-229D-93C1-0829-6408982F2114}"/>
                </a:ext>
              </a:extLst>
            </p:cNvPr>
            <p:cNvSpPr>
              <a:spLocks noChangeShapeType="1"/>
            </p:cNvSpPr>
            <p:nvPr/>
          </p:nvSpPr>
          <p:spPr bwMode="auto">
            <a:xfrm flipV="1">
              <a:off x="2409825"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8" name="Line 103">
              <a:extLst>
                <a:ext uri="{FF2B5EF4-FFF2-40B4-BE49-F238E27FC236}">
                  <a16:creationId xmlns:a16="http://schemas.microsoft.com/office/drawing/2014/main" id="{48866793-6961-26A0-317E-E41D7A16F6A3}"/>
                </a:ext>
              </a:extLst>
            </p:cNvPr>
            <p:cNvSpPr>
              <a:spLocks noChangeShapeType="1"/>
            </p:cNvSpPr>
            <p:nvPr/>
          </p:nvSpPr>
          <p:spPr bwMode="auto">
            <a:xfrm flipV="1">
              <a:off x="37211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9" name="Line 104">
              <a:extLst>
                <a:ext uri="{FF2B5EF4-FFF2-40B4-BE49-F238E27FC236}">
                  <a16:creationId xmlns:a16="http://schemas.microsoft.com/office/drawing/2014/main" id="{82118690-CA38-BE22-045E-41C53572F6F8}"/>
                </a:ext>
              </a:extLst>
            </p:cNvPr>
            <p:cNvSpPr>
              <a:spLocks noChangeShapeType="1"/>
            </p:cNvSpPr>
            <p:nvPr/>
          </p:nvSpPr>
          <p:spPr bwMode="auto">
            <a:xfrm>
              <a:off x="3251200" y="5562600"/>
              <a:ext cx="4413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0" name="Line 105">
              <a:extLst>
                <a:ext uri="{FF2B5EF4-FFF2-40B4-BE49-F238E27FC236}">
                  <a16:creationId xmlns:a16="http://schemas.microsoft.com/office/drawing/2014/main" id="{D9F0E750-C6F2-1D2C-FA9E-A9A9F1F28C4D}"/>
                </a:ext>
              </a:extLst>
            </p:cNvPr>
            <p:cNvSpPr>
              <a:spLocks noChangeShapeType="1"/>
            </p:cNvSpPr>
            <p:nvPr/>
          </p:nvSpPr>
          <p:spPr bwMode="auto">
            <a:xfrm>
              <a:off x="4570413" y="5562600"/>
              <a:ext cx="442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31" name="Group 113">
              <a:extLst>
                <a:ext uri="{FF2B5EF4-FFF2-40B4-BE49-F238E27FC236}">
                  <a16:creationId xmlns:a16="http://schemas.microsoft.com/office/drawing/2014/main" id="{C711010B-ADD5-9E82-B702-289DF142CD65}"/>
                </a:ext>
              </a:extLst>
            </p:cNvPr>
            <p:cNvGrpSpPr>
              <a:grpSpLocks/>
            </p:cNvGrpSpPr>
            <p:nvPr/>
          </p:nvGrpSpPr>
          <p:grpSpPr bwMode="auto">
            <a:xfrm>
              <a:off x="1346200" y="2274888"/>
              <a:ext cx="2368550" cy="271462"/>
              <a:chOff x="947" y="1433"/>
              <a:chExt cx="1492" cy="171"/>
            </a:xfrm>
          </p:grpSpPr>
          <p:grpSp>
            <p:nvGrpSpPr>
              <p:cNvPr id="132" name="Group 114">
                <a:extLst>
                  <a:ext uri="{FF2B5EF4-FFF2-40B4-BE49-F238E27FC236}">
                    <a16:creationId xmlns:a16="http://schemas.microsoft.com/office/drawing/2014/main" id="{8BCA9287-807E-1F08-2158-70A7A1798B1C}"/>
                  </a:ext>
                </a:extLst>
              </p:cNvPr>
              <p:cNvGrpSpPr>
                <a:grpSpLocks/>
              </p:cNvGrpSpPr>
              <p:nvPr/>
            </p:nvGrpSpPr>
            <p:grpSpPr bwMode="auto">
              <a:xfrm>
                <a:off x="947" y="1481"/>
                <a:ext cx="1492" cy="51"/>
                <a:chOff x="947" y="1576"/>
                <a:chExt cx="1492" cy="51"/>
              </a:xfrm>
            </p:grpSpPr>
            <p:sp>
              <p:nvSpPr>
                <p:cNvPr id="134" name="Line 115">
                  <a:extLst>
                    <a:ext uri="{FF2B5EF4-FFF2-40B4-BE49-F238E27FC236}">
                      <a16:creationId xmlns:a16="http://schemas.microsoft.com/office/drawing/2014/main" id="{BD700D25-25E7-A0B9-1E22-8FFCC387CECB}"/>
                    </a:ext>
                  </a:extLst>
                </p:cNvPr>
                <p:cNvSpPr>
                  <a:spLocks noChangeShapeType="1"/>
                </p:cNvSpPr>
                <p:nvPr/>
              </p:nvSpPr>
              <p:spPr bwMode="auto">
                <a:xfrm flipH="1">
                  <a:off x="947" y="1576"/>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5" name="Line 116">
                  <a:extLst>
                    <a:ext uri="{FF2B5EF4-FFF2-40B4-BE49-F238E27FC236}">
                      <a16:creationId xmlns:a16="http://schemas.microsoft.com/office/drawing/2014/main" id="{28C2CB1E-3139-ABDC-FC1E-A06021D91A64}"/>
                    </a:ext>
                  </a:extLst>
                </p:cNvPr>
                <p:cNvSpPr>
                  <a:spLocks noChangeShapeType="1"/>
                </p:cNvSpPr>
                <p:nvPr/>
              </p:nvSpPr>
              <p:spPr bwMode="auto">
                <a:xfrm flipV="1">
                  <a:off x="1556" y="1626"/>
                  <a:ext cx="883"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6" name="Line 117">
                  <a:extLst>
                    <a:ext uri="{FF2B5EF4-FFF2-40B4-BE49-F238E27FC236}">
                      <a16:creationId xmlns:a16="http://schemas.microsoft.com/office/drawing/2014/main" id="{22E8B93B-11F7-85CA-8A27-434042D4B24E}"/>
                    </a:ext>
                  </a:extLst>
                </p:cNvPr>
                <p:cNvSpPr>
                  <a:spLocks noChangeShapeType="1"/>
                </p:cNvSpPr>
                <p:nvPr/>
              </p:nvSpPr>
              <p:spPr bwMode="auto">
                <a:xfrm flipV="1">
                  <a:off x="1551" y="1584"/>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33" name="Rectangle 118">
                <a:extLst>
                  <a:ext uri="{FF2B5EF4-FFF2-40B4-BE49-F238E27FC236}">
                    <a16:creationId xmlns:a16="http://schemas.microsoft.com/office/drawing/2014/main" id="{E376D044-6537-43E2-C7EB-DB4549531722}"/>
                  </a:ext>
                </a:extLst>
              </p:cNvPr>
              <p:cNvSpPr>
                <a:spLocks noChangeArrowheads="1"/>
              </p:cNvSpPr>
              <p:nvPr/>
            </p:nvSpPr>
            <p:spPr bwMode="auto">
              <a:xfrm>
                <a:off x="1700" y="1433"/>
                <a:ext cx="395" cy="171"/>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Weekly</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Fax</a:t>
                </a:r>
              </a:p>
            </p:txBody>
          </p:sp>
        </p:grpSp>
        <p:grpSp>
          <p:nvGrpSpPr>
            <p:cNvPr id="137" name="Group 119">
              <a:extLst>
                <a:ext uri="{FF2B5EF4-FFF2-40B4-BE49-F238E27FC236}">
                  <a16:creationId xmlns:a16="http://schemas.microsoft.com/office/drawing/2014/main" id="{C39EA8C4-35D5-D7E8-ACA4-B009BAF591E0}"/>
                </a:ext>
              </a:extLst>
            </p:cNvPr>
            <p:cNvGrpSpPr>
              <a:grpSpLocks/>
            </p:cNvGrpSpPr>
            <p:nvPr/>
          </p:nvGrpSpPr>
          <p:grpSpPr bwMode="auto">
            <a:xfrm>
              <a:off x="4683125" y="2251075"/>
              <a:ext cx="3052763" cy="260350"/>
              <a:chOff x="3049" y="1390"/>
              <a:chExt cx="1329" cy="164"/>
            </a:xfrm>
          </p:grpSpPr>
          <p:grpSp>
            <p:nvGrpSpPr>
              <p:cNvPr id="138" name="Group 120">
                <a:extLst>
                  <a:ext uri="{FF2B5EF4-FFF2-40B4-BE49-F238E27FC236}">
                    <a16:creationId xmlns:a16="http://schemas.microsoft.com/office/drawing/2014/main" id="{D038094F-3E70-FC4F-6C38-885746B76274}"/>
                  </a:ext>
                </a:extLst>
              </p:cNvPr>
              <p:cNvGrpSpPr>
                <a:grpSpLocks/>
              </p:cNvGrpSpPr>
              <p:nvPr/>
            </p:nvGrpSpPr>
            <p:grpSpPr bwMode="auto">
              <a:xfrm>
                <a:off x="3049" y="1442"/>
                <a:ext cx="1329" cy="51"/>
                <a:chOff x="3049" y="1442"/>
                <a:chExt cx="1329" cy="51"/>
              </a:xfrm>
            </p:grpSpPr>
            <p:sp>
              <p:nvSpPr>
                <p:cNvPr id="140" name="Line 121">
                  <a:extLst>
                    <a:ext uri="{FF2B5EF4-FFF2-40B4-BE49-F238E27FC236}">
                      <a16:creationId xmlns:a16="http://schemas.microsoft.com/office/drawing/2014/main" id="{B984AC10-509B-C06B-C120-5AE8D8B867EB}"/>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1" name="Line 122">
                  <a:extLst>
                    <a:ext uri="{FF2B5EF4-FFF2-40B4-BE49-F238E27FC236}">
                      <a16:creationId xmlns:a16="http://schemas.microsoft.com/office/drawing/2014/main" id="{2BD0C18C-0980-48C1-45AB-442DF7516746}"/>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2" name="Line 123">
                  <a:extLst>
                    <a:ext uri="{FF2B5EF4-FFF2-40B4-BE49-F238E27FC236}">
                      <a16:creationId xmlns:a16="http://schemas.microsoft.com/office/drawing/2014/main" id="{EFAECD30-AF06-18FA-DA36-D19FB2917354}"/>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39" name="Rectangle 124">
                <a:extLst>
                  <a:ext uri="{FF2B5EF4-FFF2-40B4-BE49-F238E27FC236}">
                    <a16:creationId xmlns:a16="http://schemas.microsoft.com/office/drawing/2014/main" id="{692BE3C1-7DCF-F1E5-412C-64D08312F36A}"/>
                  </a:ext>
                </a:extLst>
              </p:cNvPr>
              <p:cNvSpPr>
                <a:spLocks noChangeArrowheads="1"/>
              </p:cNvSpPr>
              <p:nvPr/>
            </p:nvSpPr>
            <p:spPr bwMode="auto">
              <a:xfrm>
                <a:off x="3784" y="1390"/>
                <a:ext cx="404"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Daily Orders</a:t>
                </a:r>
              </a:p>
            </p:txBody>
          </p:sp>
        </p:grpSp>
        <p:grpSp>
          <p:nvGrpSpPr>
            <p:cNvPr id="143" name="Group 125">
              <a:extLst>
                <a:ext uri="{FF2B5EF4-FFF2-40B4-BE49-F238E27FC236}">
                  <a16:creationId xmlns:a16="http://schemas.microsoft.com/office/drawing/2014/main" id="{53470C43-1C4F-0A8B-80CA-56220DBCCD09}"/>
                </a:ext>
              </a:extLst>
            </p:cNvPr>
            <p:cNvGrpSpPr>
              <a:grpSpLocks/>
            </p:cNvGrpSpPr>
            <p:nvPr/>
          </p:nvGrpSpPr>
          <p:grpSpPr bwMode="auto">
            <a:xfrm>
              <a:off x="3716338" y="2027238"/>
              <a:ext cx="974725" cy="711200"/>
              <a:chOff x="2440" y="1277"/>
              <a:chExt cx="614" cy="448"/>
            </a:xfrm>
          </p:grpSpPr>
          <p:sp>
            <p:nvSpPr>
              <p:cNvPr id="144" name="Rectangle 126">
                <a:extLst>
                  <a:ext uri="{FF2B5EF4-FFF2-40B4-BE49-F238E27FC236}">
                    <a16:creationId xmlns:a16="http://schemas.microsoft.com/office/drawing/2014/main" id="{A780847E-A222-ECE0-616A-DB701EE48611}"/>
                  </a:ext>
                </a:extLst>
              </p:cNvPr>
              <p:cNvSpPr>
                <a:spLocks noChangeArrowheads="1"/>
              </p:cNvSpPr>
              <p:nvPr/>
            </p:nvSpPr>
            <p:spPr bwMode="auto">
              <a:xfrm>
                <a:off x="2440" y="1277"/>
                <a:ext cx="614" cy="447"/>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200" b="0">
                  <a:solidFill>
                    <a:schemeClr val="tx1"/>
                  </a:solidFill>
                  <a:latin typeface="Roboto" panose="02000000000000000000" pitchFamily="2" charset="0"/>
                  <a:ea typeface="Roboto" panose="02000000000000000000" pitchFamily="2" charset="0"/>
                </a:endParaRPr>
              </a:p>
            </p:txBody>
          </p:sp>
          <p:sp>
            <p:nvSpPr>
              <p:cNvPr id="145" name="Rectangle 127">
                <a:extLst>
                  <a:ext uri="{FF2B5EF4-FFF2-40B4-BE49-F238E27FC236}">
                    <a16:creationId xmlns:a16="http://schemas.microsoft.com/office/drawing/2014/main" id="{C598AF8E-514D-EB13-7871-3C5C88F07679}"/>
                  </a:ext>
                </a:extLst>
              </p:cNvPr>
              <p:cNvSpPr>
                <a:spLocks noChangeArrowheads="1"/>
              </p:cNvSpPr>
              <p:nvPr/>
            </p:nvSpPr>
            <p:spPr bwMode="auto">
              <a:xfrm>
                <a:off x="2501" y="1566"/>
                <a:ext cx="490" cy="159"/>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b="0">
                    <a:solidFill>
                      <a:schemeClr val="tx1"/>
                    </a:solidFill>
                    <a:latin typeface="Roboto" panose="02000000000000000000" pitchFamily="2" charset="0"/>
                    <a:ea typeface="Roboto" panose="02000000000000000000" pitchFamily="2" charset="0"/>
                  </a:rPr>
                  <a:t>MRP</a:t>
                </a:r>
              </a:p>
              <a:p>
                <a:pPr>
                  <a:lnSpc>
                    <a:spcPct val="90000"/>
                  </a:lnSpc>
                  <a:spcBef>
                    <a:spcPct val="0"/>
                  </a:spcBef>
                </a:pPr>
                <a:r>
                  <a:rPr lang="en-US" altLang="en-US" b="0">
                    <a:solidFill>
                      <a:schemeClr val="tx1"/>
                    </a:solidFill>
                    <a:latin typeface="Roboto" panose="02000000000000000000" pitchFamily="2" charset="0"/>
                    <a:ea typeface="Roboto" panose="02000000000000000000" pitchFamily="2" charset="0"/>
                  </a:rPr>
                  <a:t>System</a:t>
                </a:r>
              </a:p>
            </p:txBody>
          </p:sp>
          <p:sp>
            <p:nvSpPr>
              <p:cNvPr id="146" name="Text Box 128">
                <a:extLst>
                  <a:ext uri="{FF2B5EF4-FFF2-40B4-BE49-F238E27FC236}">
                    <a16:creationId xmlns:a16="http://schemas.microsoft.com/office/drawing/2014/main" id="{A17E2C87-AEE1-F259-C0D8-74B2F613673A}"/>
                  </a:ext>
                </a:extLst>
              </p:cNvPr>
              <p:cNvSpPr txBox="1">
                <a:spLocks noChangeArrowheads="1"/>
              </p:cNvSpPr>
              <p:nvPr/>
            </p:nvSpPr>
            <p:spPr bwMode="auto">
              <a:xfrm>
                <a:off x="2471" y="1283"/>
                <a:ext cx="54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Production Control</a:t>
                </a:r>
              </a:p>
            </p:txBody>
          </p:sp>
        </p:grpSp>
        <p:sp>
          <p:nvSpPr>
            <p:cNvPr id="147" name="Line 137">
              <a:extLst>
                <a:ext uri="{FF2B5EF4-FFF2-40B4-BE49-F238E27FC236}">
                  <a16:creationId xmlns:a16="http://schemas.microsoft.com/office/drawing/2014/main" id="{4187F3F0-7214-1C6C-6AF4-39B277F808A7}"/>
                </a:ext>
              </a:extLst>
            </p:cNvPr>
            <p:cNvSpPr>
              <a:spLocks noChangeShapeType="1"/>
            </p:cNvSpPr>
            <p:nvPr/>
          </p:nvSpPr>
          <p:spPr bwMode="auto">
            <a:xfrm>
              <a:off x="4565650" y="2740025"/>
              <a:ext cx="3149600" cy="1057275"/>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8" name="Rectangle 138">
              <a:extLst>
                <a:ext uri="{FF2B5EF4-FFF2-40B4-BE49-F238E27FC236}">
                  <a16:creationId xmlns:a16="http://schemas.microsoft.com/office/drawing/2014/main" id="{EF0054AB-C64C-8014-5963-4D545E9CDA7A}"/>
                </a:ext>
              </a:extLst>
            </p:cNvPr>
            <p:cNvSpPr>
              <a:spLocks noChangeArrowheads="1"/>
            </p:cNvSpPr>
            <p:nvPr/>
          </p:nvSpPr>
          <p:spPr bwMode="auto">
            <a:xfrm>
              <a:off x="6281738" y="3240088"/>
              <a:ext cx="627062" cy="311150"/>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Daily Ship</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Schedule</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(Paper)</a:t>
              </a:r>
            </a:p>
          </p:txBody>
        </p:sp>
        <p:sp>
          <p:nvSpPr>
            <p:cNvPr id="149" name="Rectangle 139">
              <a:extLst>
                <a:ext uri="{FF2B5EF4-FFF2-40B4-BE49-F238E27FC236}">
                  <a16:creationId xmlns:a16="http://schemas.microsoft.com/office/drawing/2014/main" id="{804C896A-D38E-6FD5-20AF-4A92D5435DEC}"/>
                </a:ext>
              </a:extLst>
            </p:cNvPr>
            <p:cNvSpPr>
              <a:spLocks noChangeArrowheads="1"/>
            </p:cNvSpPr>
            <p:nvPr/>
          </p:nvSpPr>
          <p:spPr bwMode="auto">
            <a:xfrm>
              <a:off x="525345" y="4233863"/>
              <a:ext cx="435212" cy="34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6,000 </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Cut Bars</a:t>
              </a:r>
              <a:endParaRPr lang="en-US" altLang="en-US" sz="800" b="0">
                <a:solidFill>
                  <a:srgbClr val="FF0000"/>
                </a:solidFill>
                <a:latin typeface="Roboto" panose="02000000000000000000" pitchFamily="2" charset="0"/>
                <a:ea typeface="Roboto" panose="02000000000000000000" pitchFamily="2" charset="0"/>
              </a:endParaRPr>
            </a:p>
          </p:txBody>
        </p:sp>
        <p:sp>
          <p:nvSpPr>
            <p:cNvPr id="150" name="Rectangle 140">
              <a:extLst>
                <a:ext uri="{FF2B5EF4-FFF2-40B4-BE49-F238E27FC236}">
                  <a16:creationId xmlns:a16="http://schemas.microsoft.com/office/drawing/2014/main" id="{5D4AD792-225E-A301-2FCA-9DB644A53F8B}"/>
                </a:ext>
              </a:extLst>
            </p:cNvPr>
            <p:cNvSpPr>
              <a:spLocks noChangeArrowheads="1"/>
            </p:cNvSpPr>
            <p:nvPr/>
          </p:nvSpPr>
          <p:spPr bwMode="auto">
            <a:xfrm>
              <a:off x="1894123" y="4233863"/>
              <a:ext cx="463078" cy="468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6k Metric</a:t>
              </a:r>
              <a:endParaRPr lang="en-US" altLang="en-US" sz="800" b="0">
                <a:solidFill>
                  <a:srgbClr val="FF0000"/>
                </a:solidFill>
                <a:latin typeface="Roboto" panose="02000000000000000000" pitchFamily="2" charset="0"/>
                <a:ea typeface="Roboto" panose="02000000000000000000" pitchFamily="2" charset="0"/>
              </a:endParaRPr>
            </a:p>
          </p:txBody>
        </p:sp>
        <p:sp>
          <p:nvSpPr>
            <p:cNvPr id="151" name="Rectangle 141">
              <a:extLst>
                <a:ext uri="{FF2B5EF4-FFF2-40B4-BE49-F238E27FC236}">
                  <a16:creationId xmlns:a16="http://schemas.microsoft.com/office/drawing/2014/main" id="{C745EF9B-4667-1BEC-C893-7A60FCD2E4EE}"/>
                </a:ext>
              </a:extLst>
            </p:cNvPr>
            <p:cNvSpPr>
              <a:spLocks noChangeArrowheads="1"/>
            </p:cNvSpPr>
            <p:nvPr/>
          </p:nvSpPr>
          <p:spPr bwMode="auto">
            <a:xfrm>
              <a:off x="3218098" y="4233863"/>
              <a:ext cx="463078" cy="468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7k Metric</a:t>
              </a:r>
              <a:endParaRPr lang="en-US" altLang="en-US" sz="800" b="0">
                <a:solidFill>
                  <a:srgbClr val="FF0000"/>
                </a:solidFill>
                <a:latin typeface="Roboto" panose="02000000000000000000" pitchFamily="2" charset="0"/>
                <a:ea typeface="Roboto" panose="02000000000000000000" pitchFamily="2" charset="0"/>
              </a:endParaRPr>
            </a:p>
          </p:txBody>
        </p:sp>
        <p:sp>
          <p:nvSpPr>
            <p:cNvPr id="152" name="Rectangle 142">
              <a:extLst>
                <a:ext uri="{FF2B5EF4-FFF2-40B4-BE49-F238E27FC236}">
                  <a16:creationId xmlns:a16="http://schemas.microsoft.com/office/drawing/2014/main" id="{EFA5CCEE-7E74-799B-9DD2-D4792939805A}"/>
                </a:ext>
              </a:extLst>
            </p:cNvPr>
            <p:cNvSpPr>
              <a:spLocks noChangeArrowheads="1"/>
            </p:cNvSpPr>
            <p:nvPr/>
          </p:nvSpPr>
          <p:spPr bwMode="auto">
            <a:xfrm>
              <a:off x="4512327" y="4233863"/>
              <a:ext cx="506696" cy="468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35k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20k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153" name="Group 172">
              <a:extLst>
                <a:ext uri="{FF2B5EF4-FFF2-40B4-BE49-F238E27FC236}">
                  <a16:creationId xmlns:a16="http://schemas.microsoft.com/office/drawing/2014/main" id="{C9701566-1ECA-4661-1D8B-5F2937650788}"/>
                </a:ext>
              </a:extLst>
            </p:cNvPr>
            <p:cNvGrpSpPr>
              <a:grpSpLocks/>
            </p:cNvGrpSpPr>
            <p:nvPr/>
          </p:nvGrpSpPr>
          <p:grpSpPr bwMode="auto">
            <a:xfrm>
              <a:off x="996950" y="3810001"/>
              <a:ext cx="904875" cy="1290638"/>
              <a:chOff x="982" y="2400"/>
              <a:chExt cx="570" cy="813"/>
            </a:xfrm>
          </p:grpSpPr>
          <p:grpSp>
            <p:nvGrpSpPr>
              <p:cNvPr id="154" name="Group 147">
                <a:extLst>
                  <a:ext uri="{FF2B5EF4-FFF2-40B4-BE49-F238E27FC236}">
                    <a16:creationId xmlns:a16="http://schemas.microsoft.com/office/drawing/2014/main" id="{9D8F34E6-B400-F227-BF00-931C4FA68751}"/>
                  </a:ext>
                </a:extLst>
              </p:cNvPr>
              <p:cNvGrpSpPr>
                <a:grpSpLocks/>
              </p:cNvGrpSpPr>
              <p:nvPr/>
            </p:nvGrpSpPr>
            <p:grpSpPr bwMode="auto">
              <a:xfrm>
                <a:off x="1008" y="2400"/>
                <a:ext cx="540" cy="376"/>
                <a:chOff x="1367" y="2370"/>
                <a:chExt cx="434" cy="390"/>
              </a:xfrm>
            </p:grpSpPr>
            <p:grpSp>
              <p:nvGrpSpPr>
                <p:cNvPr id="158" name="Group 148">
                  <a:extLst>
                    <a:ext uri="{FF2B5EF4-FFF2-40B4-BE49-F238E27FC236}">
                      <a16:creationId xmlns:a16="http://schemas.microsoft.com/office/drawing/2014/main" id="{8B6950BE-E076-E30D-5C4D-FF92E22C4634}"/>
                    </a:ext>
                  </a:extLst>
                </p:cNvPr>
                <p:cNvGrpSpPr>
                  <a:grpSpLocks/>
                </p:cNvGrpSpPr>
                <p:nvPr/>
              </p:nvGrpSpPr>
              <p:grpSpPr bwMode="auto">
                <a:xfrm>
                  <a:off x="1367" y="2395"/>
                  <a:ext cx="434" cy="365"/>
                  <a:chOff x="418" y="2981"/>
                  <a:chExt cx="352" cy="365"/>
                </a:xfrm>
              </p:grpSpPr>
              <p:sp>
                <p:nvSpPr>
                  <p:cNvPr id="164" name="Rectangle 149">
                    <a:extLst>
                      <a:ext uri="{FF2B5EF4-FFF2-40B4-BE49-F238E27FC236}">
                        <a16:creationId xmlns:a16="http://schemas.microsoft.com/office/drawing/2014/main" id="{4F3F7E70-4E8C-F866-D05E-B464F75B2594}"/>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5" name="Line 150">
                    <a:extLst>
                      <a:ext uri="{FF2B5EF4-FFF2-40B4-BE49-F238E27FC236}">
                        <a16:creationId xmlns:a16="http://schemas.microsoft.com/office/drawing/2014/main" id="{6CE6EF7E-7AF5-8298-EDA9-2888F80A4061}"/>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59" name="Group 151">
                  <a:extLst>
                    <a:ext uri="{FF2B5EF4-FFF2-40B4-BE49-F238E27FC236}">
                      <a16:creationId xmlns:a16="http://schemas.microsoft.com/office/drawing/2014/main" id="{AB3BA457-EB4D-24F9-6BD7-3C4808523965}"/>
                    </a:ext>
                  </a:extLst>
                </p:cNvPr>
                <p:cNvGrpSpPr>
                  <a:grpSpLocks/>
                </p:cNvGrpSpPr>
                <p:nvPr/>
              </p:nvGrpSpPr>
              <p:grpSpPr bwMode="auto">
                <a:xfrm flipV="1">
                  <a:off x="1462" y="2586"/>
                  <a:ext cx="96" cy="112"/>
                  <a:chOff x="720" y="3354"/>
                  <a:chExt cx="192" cy="198"/>
                </a:xfrm>
              </p:grpSpPr>
              <p:sp>
                <p:nvSpPr>
                  <p:cNvPr id="162" name="Oval 152">
                    <a:extLst>
                      <a:ext uri="{FF2B5EF4-FFF2-40B4-BE49-F238E27FC236}">
                        <a16:creationId xmlns:a16="http://schemas.microsoft.com/office/drawing/2014/main" id="{E6711CC6-6D4D-3542-0BC5-166E9D7D2D5A}"/>
                      </a:ext>
                    </a:extLst>
                  </p:cNvPr>
                  <p:cNvSpPr>
                    <a:spLocks noChangeArrowheads="1"/>
                  </p:cNvSpPr>
                  <p:nvPr/>
                </p:nvSpPr>
                <p:spPr bwMode="auto">
                  <a:xfrm>
                    <a:off x="768" y="3408"/>
                    <a:ext cx="96" cy="9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63" name="AutoShape 153">
                    <a:extLst>
                      <a:ext uri="{FF2B5EF4-FFF2-40B4-BE49-F238E27FC236}">
                        <a16:creationId xmlns:a16="http://schemas.microsoft.com/office/drawing/2014/main" id="{2887836C-FCAE-FC05-5822-1D8DE2E8EEC7}"/>
                      </a:ext>
                    </a:extLst>
                  </p:cNvPr>
                  <p:cNvSpPr>
                    <a:spLocks noChangeArrowheads="1"/>
                  </p:cNvSpPr>
                  <p:nvPr/>
                </p:nvSpPr>
                <p:spPr bwMode="auto">
                  <a:xfrm>
                    <a:off x="720" y="3354"/>
                    <a:ext cx="193"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160" name="Text Box 154">
                  <a:extLst>
                    <a:ext uri="{FF2B5EF4-FFF2-40B4-BE49-F238E27FC236}">
                      <a16:creationId xmlns:a16="http://schemas.microsoft.com/office/drawing/2014/main" id="{357EEF94-C524-7D55-CF5D-DC7DCA766B8B}"/>
                    </a:ext>
                  </a:extLst>
                </p:cNvPr>
                <p:cNvSpPr txBox="1">
                  <a:spLocks noChangeArrowheads="1"/>
                </p:cNvSpPr>
                <p:nvPr/>
              </p:nvSpPr>
              <p:spPr bwMode="auto">
                <a:xfrm>
                  <a:off x="1587" y="2584"/>
                  <a:ext cx="13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6</a:t>
                  </a:r>
                </a:p>
              </p:txBody>
            </p:sp>
            <p:sp>
              <p:nvSpPr>
                <p:cNvPr id="161" name="Text Box 155">
                  <a:extLst>
                    <a:ext uri="{FF2B5EF4-FFF2-40B4-BE49-F238E27FC236}">
                      <a16:creationId xmlns:a16="http://schemas.microsoft.com/office/drawing/2014/main" id="{3B68918F-678F-DA36-6707-FE4A54037101}"/>
                    </a:ext>
                  </a:extLst>
                </p:cNvPr>
                <p:cNvSpPr txBox="1">
                  <a:spLocks noChangeArrowheads="1"/>
                </p:cNvSpPr>
                <p:nvPr/>
              </p:nvSpPr>
              <p:spPr bwMode="auto">
                <a:xfrm>
                  <a:off x="1382" y="2370"/>
                  <a:ext cx="407"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Forge</a:t>
                  </a:r>
                </a:p>
              </p:txBody>
            </p:sp>
          </p:grpSp>
          <p:grpSp>
            <p:nvGrpSpPr>
              <p:cNvPr id="155" name="Group 156">
                <a:extLst>
                  <a:ext uri="{FF2B5EF4-FFF2-40B4-BE49-F238E27FC236}">
                    <a16:creationId xmlns:a16="http://schemas.microsoft.com/office/drawing/2014/main" id="{CCA0DFFC-4085-E9A2-E325-53EB825F9536}"/>
                  </a:ext>
                </a:extLst>
              </p:cNvPr>
              <p:cNvGrpSpPr>
                <a:grpSpLocks/>
              </p:cNvGrpSpPr>
              <p:nvPr/>
            </p:nvGrpSpPr>
            <p:grpSpPr bwMode="auto">
              <a:xfrm>
                <a:off x="982" y="2839"/>
                <a:ext cx="570" cy="374"/>
                <a:chOff x="983" y="2832"/>
                <a:chExt cx="554" cy="443"/>
              </a:xfrm>
            </p:grpSpPr>
            <p:sp>
              <p:nvSpPr>
                <p:cNvPr id="156" name="Rectangle 157">
                  <a:extLst>
                    <a:ext uri="{FF2B5EF4-FFF2-40B4-BE49-F238E27FC236}">
                      <a16:creationId xmlns:a16="http://schemas.microsoft.com/office/drawing/2014/main" id="{E7AF81B0-4FDB-B722-32E5-E6AD7E4BC318}"/>
                    </a:ext>
                  </a:extLst>
                </p:cNvPr>
                <p:cNvSpPr>
                  <a:spLocks noChangeArrowheads="1"/>
                </p:cNvSpPr>
                <p:nvPr/>
              </p:nvSpPr>
              <p:spPr bwMode="auto">
                <a:xfrm>
                  <a:off x="1012" y="2832"/>
                  <a:ext cx="525" cy="432"/>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57" name="Text Box 158">
                  <a:extLst>
                    <a:ext uri="{FF2B5EF4-FFF2-40B4-BE49-F238E27FC236}">
                      <a16:creationId xmlns:a16="http://schemas.microsoft.com/office/drawing/2014/main" id="{9ED8C062-ADF5-BC09-5A06-F5C61A4FBF1B}"/>
                    </a:ext>
                  </a:extLst>
                </p:cNvPr>
                <p:cNvSpPr txBox="1">
                  <a:spLocks noChangeArrowheads="1"/>
                </p:cNvSpPr>
                <p:nvPr/>
              </p:nvSpPr>
              <p:spPr bwMode="auto">
                <a:xfrm>
                  <a:off x="983" y="2832"/>
                  <a:ext cx="553"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12</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60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100%</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95%</a:t>
                  </a:r>
                </a:p>
              </p:txBody>
            </p:sp>
          </p:grpSp>
        </p:grpSp>
        <p:grpSp>
          <p:nvGrpSpPr>
            <p:cNvPr id="166" name="Group 166">
              <a:extLst>
                <a:ext uri="{FF2B5EF4-FFF2-40B4-BE49-F238E27FC236}">
                  <a16:creationId xmlns:a16="http://schemas.microsoft.com/office/drawing/2014/main" id="{7EA1AC5C-726E-F73D-A3F1-E8656FA6EFAC}"/>
                </a:ext>
              </a:extLst>
            </p:cNvPr>
            <p:cNvGrpSpPr>
              <a:grpSpLocks/>
            </p:cNvGrpSpPr>
            <p:nvPr/>
          </p:nvGrpSpPr>
          <p:grpSpPr bwMode="auto">
            <a:xfrm>
              <a:off x="4676775" y="1958975"/>
              <a:ext cx="3081338" cy="260350"/>
              <a:chOff x="3049" y="1390"/>
              <a:chExt cx="1329" cy="164"/>
            </a:xfrm>
          </p:grpSpPr>
          <p:grpSp>
            <p:nvGrpSpPr>
              <p:cNvPr id="167" name="Group 167">
                <a:extLst>
                  <a:ext uri="{FF2B5EF4-FFF2-40B4-BE49-F238E27FC236}">
                    <a16:creationId xmlns:a16="http://schemas.microsoft.com/office/drawing/2014/main" id="{7FB18579-AE4A-1BC6-FF0C-D2C5BC425EC1}"/>
                  </a:ext>
                </a:extLst>
              </p:cNvPr>
              <p:cNvGrpSpPr>
                <a:grpSpLocks/>
              </p:cNvGrpSpPr>
              <p:nvPr/>
            </p:nvGrpSpPr>
            <p:grpSpPr bwMode="auto">
              <a:xfrm>
                <a:off x="3049" y="1442"/>
                <a:ext cx="1329" cy="51"/>
                <a:chOff x="3049" y="1442"/>
                <a:chExt cx="1329" cy="51"/>
              </a:xfrm>
            </p:grpSpPr>
            <p:sp>
              <p:nvSpPr>
                <p:cNvPr id="169" name="Line 168">
                  <a:extLst>
                    <a:ext uri="{FF2B5EF4-FFF2-40B4-BE49-F238E27FC236}">
                      <a16:creationId xmlns:a16="http://schemas.microsoft.com/office/drawing/2014/main" id="{FD96F874-B787-36C2-F13F-D974D31322C9}"/>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70" name="Line 169">
                  <a:extLst>
                    <a:ext uri="{FF2B5EF4-FFF2-40B4-BE49-F238E27FC236}">
                      <a16:creationId xmlns:a16="http://schemas.microsoft.com/office/drawing/2014/main" id="{33E7FA06-5A22-6DA0-B69B-AAE45EDDD9DB}"/>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71" name="Line 170">
                  <a:extLst>
                    <a:ext uri="{FF2B5EF4-FFF2-40B4-BE49-F238E27FC236}">
                      <a16:creationId xmlns:a16="http://schemas.microsoft.com/office/drawing/2014/main" id="{5383AB14-6362-0048-D073-6FA333A41D4A}"/>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68" name="Rectangle 171">
                <a:extLst>
                  <a:ext uri="{FF2B5EF4-FFF2-40B4-BE49-F238E27FC236}">
                    <a16:creationId xmlns:a16="http://schemas.microsoft.com/office/drawing/2014/main" id="{D3286C5E-A29F-03EB-06D7-E26ECB52CE8A}"/>
                  </a:ext>
                </a:extLst>
              </p:cNvPr>
              <p:cNvSpPr>
                <a:spLocks noChangeArrowheads="1"/>
              </p:cNvSpPr>
              <p:nvPr/>
            </p:nvSpPr>
            <p:spPr bwMode="auto">
              <a:xfrm>
                <a:off x="3784" y="1390"/>
                <a:ext cx="405"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90/60/30</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Forecast</a:t>
                </a:r>
              </a:p>
            </p:txBody>
          </p:sp>
        </p:grpSp>
        <p:grpSp>
          <p:nvGrpSpPr>
            <p:cNvPr id="172" name="Group 235">
              <a:extLst>
                <a:ext uri="{FF2B5EF4-FFF2-40B4-BE49-F238E27FC236}">
                  <a16:creationId xmlns:a16="http://schemas.microsoft.com/office/drawing/2014/main" id="{A23F7726-D43F-4961-1DAF-6E9D6F5F5BB8}"/>
                </a:ext>
              </a:extLst>
            </p:cNvPr>
            <p:cNvGrpSpPr>
              <a:grpSpLocks/>
            </p:cNvGrpSpPr>
            <p:nvPr/>
          </p:nvGrpSpPr>
          <p:grpSpPr bwMode="auto">
            <a:xfrm>
              <a:off x="5019675" y="3786188"/>
              <a:ext cx="893763" cy="1284287"/>
              <a:chOff x="3279" y="2385"/>
              <a:chExt cx="563" cy="809"/>
            </a:xfrm>
          </p:grpSpPr>
          <p:grpSp>
            <p:nvGrpSpPr>
              <p:cNvPr id="173" name="Group 37">
                <a:extLst>
                  <a:ext uri="{FF2B5EF4-FFF2-40B4-BE49-F238E27FC236}">
                    <a16:creationId xmlns:a16="http://schemas.microsoft.com/office/drawing/2014/main" id="{79547F78-FFE5-EC3F-AE2C-D34084233841}"/>
                  </a:ext>
                </a:extLst>
              </p:cNvPr>
              <p:cNvGrpSpPr>
                <a:grpSpLocks/>
              </p:cNvGrpSpPr>
              <p:nvPr/>
            </p:nvGrpSpPr>
            <p:grpSpPr bwMode="auto">
              <a:xfrm>
                <a:off x="3284" y="2385"/>
                <a:ext cx="525" cy="390"/>
                <a:chOff x="4424" y="2385"/>
                <a:chExt cx="525" cy="390"/>
              </a:xfrm>
            </p:grpSpPr>
            <p:grpSp>
              <p:nvGrpSpPr>
                <p:cNvPr id="179" name="Group 38">
                  <a:extLst>
                    <a:ext uri="{FF2B5EF4-FFF2-40B4-BE49-F238E27FC236}">
                      <a16:creationId xmlns:a16="http://schemas.microsoft.com/office/drawing/2014/main" id="{A9AAE77E-1547-5C6B-28E7-4CE00C4D19B8}"/>
                    </a:ext>
                  </a:extLst>
                </p:cNvPr>
                <p:cNvGrpSpPr>
                  <a:grpSpLocks/>
                </p:cNvGrpSpPr>
                <p:nvPr/>
              </p:nvGrpSpPr>
              <p:grpSpPr bwMode="auto">
                <a:xfrm>
                  <a:off x="4424" y="2410"/>
                  <a:ext cx="525" cy="365"/>
                  <a:chOff x="418" y="2981"/>
                  <a:chExt cx="352" cy="365"/>
                </a:xfrm>
              </p:grpSpPr>
              <p:sp>
                <p:nvSpPr>
                  <p:cNvPr id="181" name="Rectangle 39">
                    <a:extLst>
                      <a:ext uri="{FF2B5EF4-FFF2-40B4-BE49-F238E27FC236}">
                        <a16:creationId xmlns:a16="http://schemas.microsoft.com/office/drawing/2014/main" id="{9DDE075C-037E-F061-10B1-7B6D7157EEBC}"/>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82" name="Line 40">
                    <a:extLst>
                      <a:ext uri="{FF2B5EF4-FFF2-40B4-BE49-F238E27FC236}">
                        <a16:creationId xmlns:a16="http://schemas.microsoft.com/office/drawing/2014/main" id="{350AB125-0518-8F54-C597-869807201006}"/>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80" name="Text Box 41">
                  <a:extLst>
                    <a:ext uri="{FF2B5EF4-FFF2-40B4-BE49-F238E27FC236}">
                      <a16:creationId xmlns:a16="http://schemas.microsoft.com/office/drawing/2014/main" id="{C781A5C6-364E-7BC0-1F46-4D3922FCF7B6}"/>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Plate</a:t>
                  </a:r>
                </a:p>
              </p:txBody>
            </p:sp>
          </p:grpSp>
          <p:grpSp>
            <p:nvGrpSpPr>
              <p:cNvPr id="174" name="Group 173">
                <a:extLst>
                  <a:ext uri="{FF2B5EF4-FFF2-40B4-BE49-F238E27FC236}">
                    <a16:creationId xmlns:a16="http://schemas.microsoft.com/office/drawing/2014/main" id="{1148B252-5B30-D99C-586D-E13EC53B6629}"/>
                  </a:ext>
                </a:extLst>
              </p:cNvPr>
              <p:cNvGrpSpPr>
                <a:grpSpLocks/>
              </p:cNvGrpSpPr>
              <p:nvPr/>
            </p:nvGrpSpPr>
            <p:grpSpPr bwMode="auto">
              <a:xfrm flipV="1">
                <a:off x="3356" y="2582"/>
                <a:ext cx="116" cy="112"/>
                <a:chOff x="720" y="3354"/>
                <a:chExt cx="192" cy="198"/>
              </a:xfrm>
            </p:grpSpPr>
            <p:sp>
              <p:nvSpPr>
                <p:cNvPr id="177" name="Oval 174">
                  <a:extLst>
                    <a:ext uri="{FF2B5EF4-FFF2-40B4-BE49-F238E27FC236}">
                      <a16:creationId xmlns:a16="http://schemas.microsoft.com/office/drawing/2014/main" id="{819B5EA7-0EB2-5939-AAB4-8A1403784667}"/>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78" name="AutoShape 175">
                  <a:extLst>
                    <a:ext uri="{FF2B5EF4-FFF2-40B4-BE49-F238E27FC236}">
                      <a16:creationId xmlns:a16="http://schemas.microsoft.com/office/drawing/2014/main" id="{D064BA2E-3879-EECE-7CD3-9AB5B964CF1F}"/>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175" name="Text Box 176">
                <a:extLst>
                  <a:ext uri="{FF2B5EF4-FFF2-40B4-BE49-F238E27FC236}">
                    <a16:creationId xmlns:a16="http://schemas.microsoft.com/office/drawing/2014/main" id="{10F94214-88CD-D0A3-6864-7899AA705520}"/>
                  </a:ext>
                </a:extLst>
              </p:cNvPr>
              <p:cNvSpPr txBox="1">
                <a:spLocks noChangeArrowheads="1"/>
              </p:cNvSpPr>
              <p:nvPr/>
            </p:nvSpPr>
            <p:spPr bwMode="auto">
              <a:xfrm>
                <a:off x="3505" y="2580"/>
                <a:ext cx="16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5</a:t>
                </a:r>
              </a:p>
            </p:txBody>
          </p:sp>
          <p:sp>
            <p:nvSpPr>
              <p:cNvPr id="176" name="Text Box 177">
                <a:extLst>
                  <a:ext uri="{FF2B5EF4-FFF2-40B4-BE49-F238E27FC236}">
                    <a16:creationId xmlns:a16="http://schemas.microsoft.com/office/drawing/2014/main" id="{E17E902D-252F-CA91-6749-25A1CA833A60}"/>
                  </a:ext>
                </a:extLst>
              </p:cNvPr>
              <p:cNvSpPr txBox="1">
                <a:spLocks noChangeArrowheads="1"/>
              </p:cNvSpPr>
              <p:nvPr/>
            </p:nvSpPr>
            <p:spPr bwMode="auto">
              <a:xfrm>
                <a:off x="3279" y="2820"/>
                <a:ext cx="563" cy="374"/>
              </a:xfrm>
              <a:prstGeom prst="rect">
                <a:avLst/>
              </a:prstGeom>
              <a:solidFill>
                <a:schemeClr val="bg1"/>
              </a:solidFill>
              <a:ln w="12700" cap="sq">
                <a:solidFill>
                  <a:schemeClr val="tx1"/>
                </a:solidFill>
                <a:miter lim="800000"/>
                <a:headEnd type="none" w="sm" len="sm"/>
                <a:tailEnd type="none" w="sm" len="sm"/>
              </a:ln>
            </p:spPr>
            <p:txBody>
              <a:bodyPr lIns="4572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16</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98%</a:t>
                </a:r>
              </a:p>
            </p:txBody>
          </p:sp>
        </p:grpSp>
        <p:sp>
          <p:nvSpPr>
            <p:cNvPr id="183" name="Line 178">
              <a:extLst>
                <a:ext uri="{FF2B5EF4-FFF2-40B4-BE49-F238E27FC236}">
                  <a16:creationId xmlns:a16="http://schemas.microsoft.com/office/drawing/2014/main" id="{47A832F5-C747-03FE-27B8-998DBE11187B}"/>
                </a:ext>
              </a:extLst>
            </p:cNvPr>
            <p:cNvSpPr>
              <a:spLocks noChangeShapeType="1"/>
            </p:cNvSpPr>
            <p:nvPr/>
          </p:nvSpPr>
          <p:spPr bwMode="auto">
            <a:xfrm flipV="1">
              <a:off x="5875338" y="4140200"/>
              <a:ext cx="501650"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84" name="AutoShape 179">
              <a:extLst>
                <a:ext uri="{FF2B5EF4-FFF2-40B4-BE49-F238E27FC236}">
                  <a16:creationId xmlns:a16="http://schemas.microsoft.com/office/drawing/2014/main" id="{825EDD36-D0EF-8E6E-CAAB-FF9C05545ABB}"/>
                </a:ext>
              </a:extLst>
            </p:cNvPr>
            <p:cNvSpPr>
              <a:spLocks noChangeArrowheads="1"/>
            </p:cNvSpPr>
            <p:nvPr/>
          </p:nvSpPr>
          <p:spPr bwMode="auto">
            <a:xfrm>
              <a:off x="5937250"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185" name="Rectangle 180">
              <a:extLst>
                <a:ext uri="{FF2B5EF4-FFF2-40B4-BE49-F238E27FC236}">
                  <a16:creationId xmlns:a16="http://schemas.microsoft.com/office/drawing/2014/main" id="{4B29A886-C5D5-FD2B-871B-EF580ED34B56}"/>
                </a:ext>
              </a:extLst>
            </p:cNvPr>
            <p:cNvSpPr>
              <a:spLocks noChangeArrowheads="1"/>
            </p:cNvSpPr>
            <p:nvPr/>
          </p:nvSpPr>
          <p:spPr bwMode="auto">
            <a:xfrm>
              <a:off x="5921946" y="4233863"/>
              <a:ext cx="424307" cy="468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0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186" name="Group 181">
              <a:extLst>
                <a:ext uri="{FF2B5EF4-FFF2-40B4-BE49-F238E27FC236}">
                  <a16:creationId xmlns:a16="http://schemas.microsoft.com/office/drawing/2014/main" id="{51E48508-624A-A4DD-16F7-6537844AFB07}"/>
                </a:ext>
              </a:extLst>
            </p:cNvPr>
            <p:cNvGrpSpPr>
              <a:grpSpLocks/>
            </p:cNvGrpSpPr>
            <p:nvPr/>
          </p:nvGrpSpPr>
          <p:grpSpPr bwMode="auto">
            <a:xfrm>
              <a:off x="6383338" y="3779838"/>
              <a:ext cx="833437" cy="619125"/>
              <a:chOff x="4424" y="2385"/>
              <a:chExt cx="525" cy="390"/>
            </a:xfrm>
          </p:grpSpPr>
          <p:grpSp>
            <p:nvGrpSpPr>
              <p:cNvPr id="187" name="Group 182">
                <a:extLst>
                  <a:ext uri="{FF2B5EF4-FFF2-40B4-BE49-F238E27FC236}">
                    <a16:creationId xmlns:a16="http://schemas.microsoft.com/office/drawing/2014/main" id="{53AD2602-E484-08E9-924C-C851B1AD6718}"/>
                  </a:ext>
                </a:extLst>
              </p:cNvPr>
              <p:cNvGrpSpPr>
                <a:grpSpLocks/>
              </p:cNvGrpSpPr>
              <p:nvPr/>
            </p:nvGrpSpPr>
            <p:grpSpPr bwMode="auto">
              <a:xfrm>
                <a:off x="4424" y="2410"/>
                <a:ext cx="525" cy="365"/>
                <a:chOff x="418" y="2981"/>
                <a:chExt cx="352" cy="365"/>
              </a:xfrm>
            </p:grpSpPr>
            <p:sp>
              <p:nvSpPr>
                <p:cNvPr id="189" name="Rectangle 183">
                  <a:extLst>
                    <a:ext uri="{FF2B5EF4-FFF2-40B4-BE49-F238E27FC236}">
                      <a16:creationId xmlns:a16="http://schemas.microsoft.com/office/drawing/2014/main" id="{DC01C45B-E502-7B9A-6848-FD06DC542C4F}"/>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90" name="Line 184">
                  <a:extLst>
                    <a:ext uri="{FF2B5EF4-FFF2-40B4-BE49-F238E27FC236}">
                      <a16:creationId xmlns:a16="http://schemas.microsoft.com/office/drawing/2014/main" id="{0334BB1A-6D06-7EDC-D914-6F356E41A257}"/>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88" name="Text Box 185">
                <a:extLst>
                  <a:ext uri="{FF2B5EF4-FFF2-40B4-BE49-F238E27FC236}">
                    <a16:creationId xmlns:a16="http://schemas.microsoft.com/office/drawing/2014/main" id="{C8C82F02-1FFF-FE97-B3B2-914131D3CF5E}"/>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Pack</a:t>
                </a:r>
              </a:p>
            </p:txBody>
          </p:sp>
        </p:grpSp>
        <p:grpSp>
          <p:nvGrpSpPr>
            <p:cNvPr id="191" name="Group 186">
              <a:extLst>
                <a:ext uri="{FF2B5EF4-FFF2-40B4-BE49-F238E27FC236}">
                  <a16:creationId xmlns:a16="http://schemas.microsoft.com/office/drawing/2014/main" id="{1F432D38-6ECA-DD79-D4ED-159B4046A898}"/>
                </a:ext>
              </a:extLst>
            </p:cNvPr>
            <p:cNvGrpSpPr>
              <a:grpSpLocks/>
            </p:cNvGrpSpPr>
            <p:nvPr/>
          </p:nvGrpSpPr>
          <p:grpSpPr bwMode="auto">
            <a:xfrm flipV="1">
              <a:off x="6497638" y="4092575"/>
              <a:ext cx="184150" cy="177800"/>
              <a:chOff x="720" y="3354"/>
              <a:chExt cx="192" cy="198"/>
            </a:xfrm>
          </p:grpSpPr>
          <p:sp>
            <p:nvSpPr>
              <p:cNvPr id="192" name="Oval 187">
                <a:extLst>
                  <a:ext uri="{FF2B5EF4-FFF2-40B4-BE49-F238E27FC236}">
                    <a16:creationId xmlns:a16="http://schemas.microsoft.com/office/drawing/2014/main" id="{B4F47EBB-D8A3-7863-E4B5-CBACBC9D7DBB}"/>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93" name="AutoShape 188">
                <a:extLst>
                  <a:ext uri="{FF2B5EF4-FFF2-40B4-BE49-F238E27FC236}">
                    <a16:creationId xmlns:a16="http://schemas.microsoft.com/office/drawing/2014/main" id="{4425CC3E-113A-0310-FA9F-89FF9D1DA292}"/>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194" name="Text Box 189">
              <a:extLst>
                <a:ext uri="{FF2B5EF4-FFF2-40B4-BE49-F238E27FC236}">
                  <a16:creationId xmlns:a16="http://schemas.microsoft.com/office/drawing/2014/main" id="{152E931D-2FB9-C093-1713-53C49A6B3136}"/>
                </a:ext>
              </a:extLst>
            </p:cNvPr>
            <p:cNvSpPr txBox="1">
              <a:spLocks noChangeArrowheads="1"/>
            </p:cNvSpPr>
            <p:nvPr/>
          </p:nvSpPr>
          <p:spPr bwMode="auto">
            <a:xfrm>
              <a:off x="6733604" y="4089400"/>
              <a:ext cx="258316" cy="23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2</a:t>
              </a:r>
            </a:p>
          </p:txBody>
        </p:sp>
        <p:sp>
          <p:nvSpPr>
            <p:cNvPr id="195" name="Text Box 190">
              <a:extLst>
                <a:ext uri="{FF2B5EF4-FFF2-40B4-BE49-F238E27FC236}">
                  <a16:creationId xmlns:a16="http://schemas.microsoft.com/office/drawing/2014/main" id="{75C2A4F1-B066-437E-B15F-CEFC90D2A5BE}"/>
                </a:ext>
              </a:extLst>
            </p:cNvPr>
            <p:cNvSpPr txBox="1">
              <a:spLocks noChangeArrowheads="1"/>
            </p:cNvSpPr>
            <p:nvPr/>
          </p:nvSpPr>
          <p:spPr bwMode="auto">
            <a:xfrm>
              <a:off x="6365875" y="4470400"/>
              <a:ext cx="860425" cy="593243"/>
            </a:xfrm>
            <a:prstGeom prst="rect">
              <a:avLst/>
            </a:prstGeom>
            <a:solidFill>
              <a:schemeClr val="bg1"/>
            </a:solidFill>
            <a:ln w="12700" cap="sq">
              <a:solidFill>
                <a:schemeClr val="tx1"/>
              </a:solidFill>
              <a:miter lim="800000"/>
              <a:headEnd type="none" w="sm" len="sm"/>
              <a:tailEnd type="none" w="sm" len="sm"/>
            </a:ln>
          </p:spPr>
          <p:txBody>
            <a:bodyPr lIns="45720" rIns="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225</a:t>
              </a:r>
              <a:r>
                <a:rPr lang="ja-JP" altLang="en-US" sz="800" b="0">
                  <a:latin typeface="Roboto" panose="02000000000000000000" pitchFamily="2" charset="0"/>
                </a:rPr>
                <a:t>”</a:t>
              </a:r>
              <a:r>
                <a:rPr lang="en-US" altLang="ja-JP" sz="800" b="0">
                  <a:latin typeface="Roboto" panose="02000000000000000000" pitchFamily="2" charset="0"/>
                  <a:ea typeface="Roboto" panose="02000000000000000000" pitchFamily="2" charset="0"/>
                </a:rPr>
                <a:t> (set of 25)</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99.5%</a:t>
              </a:r>
            </a:p>
          </p:txBody>
        </p:sp>
        <p:sp>
          <p:nvSpPr>
            <p:cNvPr id="196" name="Line 191">
              <a:extLst>
                <a:ext uri="{FF2B5EF4-FFF2-40B4-BE49-F238E27FC236}">
                  <a16:creationId xmlns:a16="http://schemas.microsoft.com/office/drawing/2014/main" id="{31035859-5E71-903C-BA84-1F41377DDB0A}"/>
                </a:ext>
              </a:extLst>
            </p:cNvPr>
            <p:cNvSpPr>
              <a:spLocks noChangeShapeType="1"/>
            </p:cNvSpPr>
            <p:nvPr/>
          </p:nvSpPr>
          <p:spPr bwMode="auto">
            <a:xfrm flipV="1">
              <a:off x="7212013" y="4133850"/>
              <a:ext cx="487362"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97" name="AutoShape 192">
              <a:extLst>
                <a:ext uri="{FF2B5EF4-FFF2-40B4-BE49-F238E27FC236}">
                  <a16:creationId xmlns:a16="http://schemas.microsoft.com/office/drawing/2014/main" id="{DCDC7958-8122-A4BC-0175-1A0C65128FF3}"/>
                </a:ext>
              </a:extLst>
            </p:cNvPr>
            <p:cNvSpPr>
              <a:spLocks noChangeArrowheads="1"/>
            </p:cNvSpPr>
            <p:nvPr/>
          </p:nvSpPr>
          <p:spPr bwMode="auto">
            <a:xfrm>
              <a:off x="7278688" y="394493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198" name="Rectangle 193">
              <a:extLst>
                <a:ext uri="{FF2B5EF4-FFF2-40B4-BE49-F238E27FC236}">
                  <a16:creationId xmlns:a16="http://schemas.microsoft.com/office/drawing/2014/main" id="{B944CA00-0186-D6BE-1D42-F67C61BDDEC1}"/>
                </a:ext>
              </a:extLst>
            </p:cNvPr>
            <p:cNvSpPr>
              <a:spLocks noChangeArrowheads="1"/>
            </p:cNvSpPr>
            <p:nvPr/>
          </p:nvSpPr>
          <p:spPr bwMode="auto">
            <a:xfrm>
              <a:off x="7242827" y="4227513"/>
              <a:ext cx="506696" cy="468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75,000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50k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25k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199" name="Group 194">
              <a:extLst>
                <a:ext uri="{FF2B5EF4-FFF2-40B4-BE49-F238E27FC236}">
                  <a16:creationId xmlns:a16="http://schemas.microsoft.com/office/drawing/2014/main" id="{1C54E562-22F6-38FD-3493-E97DB7059BC5}"/>
                </a:ext>
              </a:extLst>
            </p:cNvPr>
            <p:cNvGrpSpPr>
              <a:grpSpLocks/>
            </p:cNvGrpSpPr>
            <p:nvPr/>
          </p:nvGrpSpPr>
          <p:grpSpPr bwMode="auto">
            <a:xfrm>
              <a:off x="7727950" y="3786188"/>
              <a:ext cx="833438" cy="619125"/>
              <a:chOff x="4424" y="2385"/>
              <a:chExt cx="525" cy="390"/>
            </a:xfrm>
          </p:grpSpPr>
          <p:grpSp>
            <p:nvGrpSpPr>
              <p:cNvPr id="200" name="Group 195">
                <a:extLst>
                  <a:ext uri="{FF2B5EF4-FFF2-40B4-BE49-F238E27FC236}">
                    <a16:creationId xmlns:a16="http://schemas.microsoft.com/office/drawing/2014/main" id="{6F70F603-F379-A670-D65D-013F8EB2CFC9}"/>
                  </a:ext>
                </a:extLst>
              </p:cNvPr>
              <p:cNvGrpSpPr>
                <a:grpSpLocks/>
              </p:cNvGrpSpPr>
              <p:nvPr/>
            </p:nvGrpSpPr>
            <p:grpSpPr bwMode="auto">
              <a:xfrm>
                <a:off x="4424" y="2410"/>
                <a:ext cx="525" cy="365"/>
                <a:chOff x="418" y="2981"/>
                <a:chExt cx="352" cy="365"/>
              </a:xfrm>
            </p:grpSpPr>
            <p:sp>
              <p:nvSpPr>
                <p:cNvPr id="202" name="Rectangle 196">
                  <a:extLst>
                    <a:ext uri="{FF2B5EF4-FFF2-40B4-BE49-F238E27FC236}">
                      <a16:creationId xmlns:a16="http://schemas.microsoft.com/office/drawing/2014/main" id="{8DAB9074-00FA-B763-18B2-BC52A82F6277}"/>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03" name="Line 197">
                  <a:extLst>
                    <a:ext uri="{FF2B5EF4-FFF2-40B4-BE49-F238E27FC236}">
                      <a16:creationId xmlns:a16="http://schemas.microsoft.com/office/drawing/2014/main" id="{45481D53-A9F8-1B63-3E2C-05291B4CADC8}"/>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201" name="Text Box 198">
                <a:extLst>
                  <a:ext uri="{FF2B5EF4-FFF2-40B4-BE49-F238E27FC236}">
                    <a16:creationId xmlns:a16="http://schemas.microsoft.com/office/drawing/2014/main" id="{D37E39CC-98A6-8E9D-2FC1-AFA5CD0FF537}"/>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Ship</a:t>
                </a:r>
              </a:p>
            </p:txBody>
          </p:sp>
        </p:grpSp>
        <p:sp>
          <p:nvSpPr>
            <p:cNvPr id="204" name="Line 210">
              <a:extLst>
                <a:ext uri="{FF2B5EF4-FFF2-40B4-BE49-F238E27FC236}">
                  <a16:creationId xmlns:a16="http://schemas.microsoft.com/office/drawing/2014/main" id="{0A61C853-89BB-00D8-C775-7E564B7A21AA}"/>
                </a:ext>
              </a:extLst>
            </p:cNvPr>
            <p:cNvSpPr>
              <a:spLocks noChangeShapeType="1"/>
            </p:cNvSpPr>
            <p:nvPr/>
          </p:nvSpPr>
          <p:spPr bwMode="auto">
            <a:xfrm>
              <a:off x="5008563"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Line 211">
              <a:extLst>
                <a:ext uri="{FF2B5EF4-FFF2-40B4-BE49-F238E27FC236}">
                  <a16:creationId xmlns:a16="http://schemas.microsoft.com/office/drawing/2014/main" id="{514A1446-4BF0-01D4-AB58-4335AF77BDD3}"/>
                </a:ext>
              </a:extLst>
            </p:cNvPr>
            <p:cNvSpPr>
              <a:spLocks noChangeShapeType="1"/>
            </p:cNvSpPr>
            <p:nvPr/>
          </p:nvSpPr>
          <p:spPr bwMode="auto">
            <a:xfrm flipV="1">
              <a:off x="5019675" y="5791200"/>
              <a:ext cx="8397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6" name="Line 212">
              <a:extLst>
                <a:ext uri="{FF2B5EF4-FFF2-40B4-BE49-F238E27FC236}">
                  <a16:creationId xmlns:a16="http://schemas.microsoft.com/office/drawing/2014/main" id="{C9AF7F4A-082D-351E-D905-0484C8B4D4A2}"/>
                </a:ext>
              </a:extLst>
            </p:cNvPr>
            <p:cNvSpPr>
              <a:spLocks noChangeShapeType="1"/>
            </p:cNvSpPr>
            <p:nvPr/>
          </p:nvSpPr>
          <p:spPr bwMode="auto">
            <a:xfrm>
              <a:off x="5856288"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7" name="Line 213">
              <a:extLst>
                <a:ext uri="{FF2B5EF4-FFF2-40B4-BE49-F238E27FC236}">
                  <a16:creationId xmlns:a16="http://schemas.microsoft.com/office/drawing/2014/main" id="{CDEA3B20-4224-112D-5021-442F6A789905}"/>
                </a:ext>
              </a:extLst>
            </p:cNvPr>
            <p:cNvSpPr>
              <a:spLocks noChangeShapeType="1"/>
            </p:cNvSpPr>
            <p:nvPr/>
          </p:nvSpPr>
          <p:spPr bwMode="auto">
            <a:xfrm>
              <a:off x="6332538"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8" name="Line 214">
              <a:extLst>
                <a:ext uri="{FF2B5EF4-FFF2-40B4-BE49-F238E27FC236}">
                  <a16:creationId xmlns:a16="http://schemas.microsoft.com/office/drawing/2014/main" id="{BF42622A-E498-BFDA-0B19-16D98E189D7F}"/>
                </a:ext>
              </a:extLst>
            </p:cNvPr>
            <p:cNvSpPr>
              <a:spLocks noChangeShapeType="1"/>
            </p:cNvSpPr>
            <p:nvPr/>
          </p:nvSpPr>
          <p:spPr bwMode="auto">
            <a:xfrm>
              <a:off x="5859463" y="5575300"/>
              <a:ext cx="4762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9" name="Line 215">
              <a:extLst>
                <a:ext uri="{FF2B5EF4-FFF2-40B4-BE49-F238E27FC236}">
                  <a16:creationId xmlns:a16="http://schemas.microsoft.com/office/drawing/2014/main" id="{5A04719B-97D7-ECA2-29E4-D2229413DB7B}"/>
                </a:ext>
              </a:extLst>
            </p:cNvPr>
            <p:cNvSpPr>
              <a:spLocks noChangeShapeType="1"/>
            </p:cNvSpPr>
            <p:nvPr/>
          </p:nvSpPr>
          <p:spPr bwMode="auto">
            <a:xfrm>
              <a:off x="7165975"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0" name="Line 218">
              <a:extLst>
                <a:ext uri="{FF2B5EF4-FFF2-40B4-BE49-F238E27FC236}">
                  <a16:creationId xmlns:a16="http://schemas.microsoft.com/office/drawing/2014/main" id="{B94A31F8-E532-936F-9AD3-E504AFF33F53}"/>
                </a:ext>
              </a:extLst>
            </p:cNvPr>
            <p:cNvSpPr>
              <a:spLocks noChangeShapeType="1"/>
            </p:cNvSpPr>
            <p:nvPr/>
          </p:nvSpPr>
          <p:spPr bwMode="auto">
            <a:xfrm flipV="1">
              <a:off x="6329363" y="5791200"/>
              <a:ext cx="8397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1" name="Line 220">
              <a:extLst>
                <a:ext uri="{FF2B5EF4-FFF2-40B4-BE49-F238E27FC236}">
                  <a16:creationId xmlns:a16="http://schemas.microsoft.com/office/drawing/2014/main" id="{80580CB2-3757-A088-D708-0D18555FE6CB}"/>
                </a:ext>
              </a:extLst>
            </p:cNvPr>
            <p:cNvSpPr>
              <a:spLocks noChangeShapeType="1"/>
            </p:cNvSpPr>
            <p:nvPr/>
          </p:nvSpPr>
          <p:spPr bwMode="auto">
            <a:xfrm>
              <a:off x="7162800" y="5575300"/>
              <a:ext cx="550863"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Rectangle 224">
              <a:extLst>
                <a:ext uri="{FF2B5EF4-FFF2-40B4-BE49-F238E27FC236}">
                  <a16:creationId xmlns:a16="http://schemas.microsoft.com/office/drawing/2014/main" id="{A7F27CE0-EB58-EE89-D8FA-16828BBF1551}"/>
                </a:ext>
              </a:extLst>
            </p:cNvPr>
            <p:cNvSpPr>
              <a:spLocks noChangeArrowheads="1"/>
            </p:cNvSpPr>
            <p:nvPr/>
          </p:nvSpPr>
          <p:spPr bwMode="auto">
            <a:xfrm>
              <a:off x="7046913" y="5381625"/>
              <a:ext cx="736600" cy="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18.8 days</a:t>
              </a:r>
            </a:p>
          </p:txBody>
        </p:sp>
        <p:sp>
          <p:nvSpPr>
            <p:cNvPr id="213" name="Rectangle 237">
              <a:extLst>
                <a:ext uri="{FF2B5EF4-FFF2-40B4-BE49-F238E27FC236}">
                  <a16:creationId xmlns:a16="http://schemas.microsoft.com/office/drawing/2014/main" id="{76AD49CB-7ECD-86CE-2922-8BBA5A0A8087}"/>
                </a:ext>
              </a:extLst>
            </p:cNvPr>
            <p:cNvSpPr>
              <a:spLocks noChangeArrowheads="1"/>
            </p:cNvSpPr>
            <p:nvPr/>
          </p:nvSpPr>
          <p:spPr bwMode="auto">
            <a:xfrm>
              <a:off x="3700463" y="3125788"/>
              <a:ext cx="1112837" cy="311150"/>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Weekly</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Build Schedules</a:t>
              </a:r>
            </a:p>
          </p:txBody>
        </p:sp>
        <p:sp>
          <p:nvSpPr>
            <p:cNvPr id="214" name="Line 238">
              <a:extLst>
                <a:ext uri="{FF2B5EF4-FFF2-40B4-BE49-F238E27FC236}">
                  <a16:creationId xmlns:a16="http://schemas.microsoft.com/office/drawing/2014/main" id="{139001E4-7056-1CC5-817D-010A273992A5}"/>
                </a:ext>
              </a:extLst>
            </p:cNvPr>
            <p:cNvSpPr>
              <a:spLocks noChangeShapeType="1"/>
            </p:cNvSpPr>
            <p:nvPr/>
          </p:nvSpPr>
          <p:spPr bwMode="auto">
            <a:xfrm>
              <a:off x="4205288" y="2733675"/>
              <a:ext cx="0" cy="33337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5" name="Line 239">
              <a:extLst>
                <a:ext uri="{FF2B5EF4-FFF2-40B4-BE49-F238E27FC236}">
                  <a16:creationId xmlns:a16="http://schemas.microsoft.com/office/drawing/2014/main" id="{3F8ABEE3-BF24-4B1F-8223-C5419BB92360}"/>
                </a:ext>
              </a:extLst>
            </p:cNvPr>
            <p:cNvSpPr>
              <a:spLocks noChangeShapeType="1"/>
            </p:cNvSpPr>
            <p:nvPr/>
          </p:nvSpPr>
          <p:spPr bwMode="auto">
            <a:xfrm flipH="1">
              <a:off x="1757363" y="3395663"/>
              <a:ext cx="1943100" cy="38576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6" name="Line 240">
              <a:extLst>
                <a:ext uri="{FF2B5EF4-FFF2-40B4-BE49-F238E27FC236}">
                  <a16:creationId xmlns:a16="http://schemas.microsoft.com/office/drawing/2014/main" id="{B71C85CC-22B8-8235-1BF4-CACD7710442B}"/>
                </a:ext>
              </a:extLst>
            </p:cNvPr>
            <p:cNvSpPr>
              <a:spLocks noChangeShapeType="1"/>
            </p:cNvSpPr>
            <p:nvPr/>
          </p:nvSpPr>
          <p:spPr bwMode="auto">
            <a:xfrm flipH="1">
              <a:off x="3052763" y="3433763"/>
              <a:ext cx="971550" cy="32861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7" name="Line 241">
              <a:extLst>
                <a:ext uri="{FF2B5EF4-FFF2-40B4-BE49-F238E27FC236}">
                  <a16:creationId xmlns:a16="http://schemas.microsoft.com/office/drawing/2014/main" id="{70D32E53-2420-474A-7B01-85A89064E55A}"/>
                </a:ext>
              </a:extLst>
            </p:cNvPr>
            <p:cNvSpPr>
              <a:spLocks noChangeShapeType="1"/>
            </p:cNvSpPr>
            <p:nvPr/>
          </p:nvSpPr>
          <p:spPr bwMode="auto">
            <a:xfrm>
              <a:off x="4186238" y="3424238"/>
              <a:ext cx="0" cy="34766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8" name="Line 242">
              <a:extLst>
                <a:ext uri="{FF2B5EF4-FFF2-40B4-BE49-F238E27FC236}">
                  <a16:creationId xmlns:a16="http://schemas.microsoft.com/office/drawing/2014/main" id="{25A4F057-3E5C-27D8-77BF-F0376AE2E1BA}"/>
                </a:ext>
              </a:extLst>
            </p:cNvPr>
            <p:cNvSpPr>
              <a:spLocks noChangeShapeType="1"/>
            </p:cNvSpPr>
            <p:nvPr/>
          </p:nvSpPr>
          <p:spPr bwMode="auto">
            <a:xfrm>
              <a:off x="4614863" y="3433763"/>
              <a:ext cx="552450" cy="36671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9" name="Line 243">
              <a:extLst>
                <a:ext uri="{FF2B5EF4-FFF2-40B4-BE49-F238E27FC236}">
                  <a16:creationId xmlns:a16="http://schemas.microsoft.com/office/drawing/2014/main" id="{2FECF690-78F5-9F88-A7E5-902B75CFABAD}"/>
                </a:ext>
              </a:extLst>
            </p:cNvPr>
            <p:cNvSpPr>
              <a:spLocks noChangeShapeType="1"/>
            </p:cNvSpPr>
            <p:nvPr/>
          </p:nvSpPr>
          <p:spPr bwMode="auto">
            <a:xfrm>
              <a:off x="4795838" y="3395663"/>
              <a:ext cx="1600200" cy="37623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88142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a marked-up Current State Map for </a:t>
            </a:r>
            <a:r>
              <a:rPr kumimoji="0" lang="en-US" sz="24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Rusty’s</a:t>
            </a: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Wrench.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teams, mark-up your Current State Map using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RED marker. Use the questions provided in</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sequence in this chapter as your guide.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157992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person from the team will present the map to the class. </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Comments and feedback will be encouraged.</a:t>
            </a:r>
          </a:p>
        </p:txBody>
      </p:sp>
      <p:grpSp>
        <p:nvGrpSpPr>
          <p:cNvPr id="3" name="Group 2">
            <a:extLst>
              <a:ext uri="{FF2B5EF4-FFF2-40B4-BE49-F238E27FC236}">
                <a16:creationId xmlns:a16="http://schemas.microsoft.com/office/drawing/2014/main" id="{D399B5AC-75DF-6BE1-7719-D65E7BAC787F}"/>
              </a:ext>
            </a:extLst>
          </p:cNvPr>
          <p:cNvGrpSpPr/>
          <p:nvPr/>
        </p:nvGrpSpPr>
        <p:grpSpPr>
          <a:xfrm>
            <a:off x="838200" y="297639"/>
            <a:ext cx="4888230" cy="307138"/>
            <a:chOff x="838200" y="297639"/>
            <a:chExt cx="4888230" cy="307138"/>
          </a:xfrm>
        </p:grpSpPr>
        <p:grpSp>
          <p:nvGrpSpPr>
            <p:cNvPr id="4" name="Group 3">
              <a:extLst>
                <a:ext uri="{FF2B5EF4-FFF2-40B4-BE49-F238E27FC236}">
                  <a16:creationId xmlns:a16="http://schemas.microsoft.com/office/drawing/2014/main" id="{2C461F05-AC64-1505-7AEC-B1DF38B0677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F84F73FF-90A1-B5FC-6C43-EB4861373A2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0472D2B-DFC8-712E-C11F-42066792646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34275155-8341-12EA-AA20-09C03E9293A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324D2F7-C8AE-6968-8EA7-5B2AA60E500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A5D9CBC9-85D1-2F2E-1F6F-5A963DC75EF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E8B3564-25AC-9B26-DACB-7383CC03C94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77DAD77C-32A5-7F31-0C54-F3228D1D5ED3}"/>
                </a:ext>
              </a:extLst>
            </p:cNvPr>
            <p:cNvSpPr txBox="1"/>
            <p:nvPr/>
          </p:nvSpPr>
          <p:spPr>
            <a:xfrm>
              <a:off x="2525717" y="313415"/>
              <a:ext cx="32007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Interrogating the Current State</a:t>
              </a:r>
            </a:p>
          </p:txBody>
        </p:sp>
      </p:grpSp>
    </p:spTree>
    <p:extLst>
      <p:ext uri="{BB962C8B-B14F-4D97-AF65-F5344CB8AC3E}">
        <p14:creationId xmlns:p14="http://schemas.microsoft.com/office/powerpoint/2010/main" val="3896974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Case Study Example: </a:t>
            </a:r>
            <a:br>
              <a:rPr lang="en-US" dirty="0"/>
            </a:br>
            <a:r>
              <a:rPr lang="en-US" dirty="0" err="1"/>
              <a:t>Rusty’s</a:t>
            </a:r>
            <a:r>
              <a:rPr lang="en-US" dirty="0"/>
              <a:t> Wrench Marked-Up Current State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16" name="Group 15">
            <a:extLst>
              <a:ext uri="{FF2B5EF4-FFF2-40B4-BE49-F238E27FC236}">
                <a16:creationId xmlns:a16="http://schemas.microsoft.com/office/drawing/2014/main" id="{79DD080D-3444-BC9C-A7BA-20AB94B6C7FF}"/>
              </a:ext>
            </a:extLst>
          </p:cNvPr>
          <p:cNvGrpSpPr/>
          <p:nvPr/>
        </p:nvGrpSpPr>
        <p:grpSpPr>
          <a:xfrm>
            <a:off x="838200" y="297639"/>
            <a:ext cx="4888230" cy="307138"/>
            <a:chOff x="838200" y="297639"/>
            <a:chExt cx="4888230" cy="307138"/>
          </a:xfrm>
        </p:grpSpPr>
        <p:grpSp>
          <p:nvGrpSpPr>
            <p:cNvPr id="17" name="Group 16">
              <a:extLst>
                <a:ext uri="{FF2B5EF4-FFF2-40B4-BE49-F238E27FC236}">
                  <a16:creationId xmlns:a16="http://schemas.microsoft.com/office/drawing/2014/main" id="{BB0D8D6B-8503-35DE-C876-DC8FA7C1D9C0}"/>
                </a:ext>
              </a:extLst>
            </p:cNvPr>
            <p:cNvGrpSpPr/>
            <p:nvPr/>
          </p:nvGrpSpPr>
          <p:grpSpPr>
            <a:xfrm>
              <a:off x="838200" y="297639"/>
              <a:ext cx="1687517" cy="290657"/>
              <a:chOff x="838200" y="297639"/>
              <a:chExt cx="1687517" cy="290657"/>
            </a:xfrm>
          </p:grpSpPr>
          <p:sp>
            <p:nvSpPr>
              <p:cNvPr id="19" name="AutoShape 9">
                <a:extLst>
                  <a:ext uri="{FF2B5EF4-FFF2-40B4-BE49-F238E27FC236}">
                    <a16:creationId xmlns:a16="http://schemas.microsoft.com/office/drawing/2014/main" id="{41C230CC-A6D3-6BFC-4EAF-F6AA9A900B2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539A39B4-5138-F3B4-EE0A-98C954A0BFF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1372F46E-48DA-A719-1000-DB0B14BD47B9}"/>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37CE55F5-1733-43E3-B4D2-F2D562BD5C2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62320BA1-8E64-3867-6274-2CC3BEE2B3B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0">
                  <a:extLst>
                    <a:ext uri="{FF2B5EF4-FFF2-40B4-BE49-F238E27FC236}">
                      <a16:creationId xmlns:a16="http://schemas.microsoft.com/office/drawing/2014/main" id="{6C37714D-298B-1745-1079-13AE44D9646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8" name="TextBox 17">
              <a:extLst>
                <a:ext uri="{FF2B5EF4-FFF2-40B4-BE49-F238E27FC236}">
                  <a16:creationId xmlns:a16="http://schemas.microsoft.com/office/drawing/2014/main" id="{C3D1DF92-6CB1-3C78-9F91-01E761813994}"/>
                </a:ext>
              </a:extLst>
            </p:cNvPr>
            <p:cNvSpPr txBox="1"/>
            <p:nvPr/>
          </p:nvSpPr>
          <p:spPr>
            <a:xfrm>
              <a:off x="2525717" y="313415"/>
              <a:ext cx="32007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Interrogating the Current State</a:t>
              </a:r>
            </a:p>
          </p:txBody>
        </p:sp>
      </p:grpSp>
      <p:grpSp>
        <p:nvGrpSpPr>
          <p:cNvPr id="489" name="Group 488">
            <a:extLst>
              <a:ext uri="{FF2B5EF4-FFF2-40B4-BE49-F238E27FC236}">
                <a16:creationId xmlns:a16="http://schemas.microsoft.com/office/drawing/2014/main" id="{22AC2281-CF9E-706C-B1EC-8E8D10111095}"/>
              </a:ext>
            </a:extLst>
          </p:cNvPr>
          <p:cNvGrpSpPr/>
          <p:nvPr/>
        </p:nvGrpSpPr>
        <p:grpSpPr>
          <a:xfrm>
            <a:off x="798037" y="1783428"/>
            <a:ext cx="10595927" cy="4549719"/>
            <a:chOff x="411163" y="1335088"/>
            <a:chExt cx="8270875" cy="4632325"/>
          </a:xfrm>
        </p:grpSpPr>
        <p:sp>
          <p:nvSpPr>
            <p:cNvPr id="25" name="Rectangle 2">
              <a:extLst>
                <a:ext uri="{FF2B5EF4-FFF2-40B4-BE49-F238E27FC236}">
                  <a16:creationId xmlns:a16="http://schemas.microsoft.com/office/drawing/2014/main" id="{40CD2A3E-5627-D843-6F3E-C3C8487802DF}"/>
                </a:ext>
              </a:extLst>
            </p:cNvPr>
            <p:cNvSpPr>
              <a:spLocks noChangeArrowheads="1"/>
            </p:cNvSpPr>
            <p:nvPr/>
          </p:nvSpPr>
          <p:spPr bwMode="auto">
            <a:xfrm>
              <a:off x="474663" y="1335088"/>
              <a:ext cx="8207375" cy="4632325"/>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26" name="Rectangle 3">
              <a:extLst>
                <a:ext uri="{FF2B5EF4-FFF2-40B4-BE49-F238E27FC236}">
                  <a16:creationId xmlns:a16="http://schemas.microsoft.com/office/drawing/2014/main" id="{F8C2A16B-5087-36AA-70C4-65D0335117C7}"/>
                </a:ext>
              </a:extLst>
            </p:cNvPr>
            <p:cNvSpPr>
              <a:spLocks noChangeArrowheads="1"/>
            </p:cNvSpPr>
            <p:nvPr/>
          </p:nvSpPr>
          <p:spPr bwMode="auto">
            <a:xfrm>
              <a:off x="6296025" y="5618163"/>
              <a:ext cx="900113"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450 sec</a:t>
              </a:r>
            </a:p>
          </p:txBody>
        </p:sp>
        <p:sp>
          <p:nvSpPr>
            <p:cNvPr id="27" name="Rectangle 4">
              <a:extLst>
                <a:ext uri="{FF2B5EF4-FFF2-40B4-BE49-F238E27FC236}">
                  <a16:creationId xmlns:a16="http://schemas.microsoft.com/office/drawing/2014/main" id="{91162CA3-2529-FA71-C303-27493CE9DDF4}"/>
                </a:ext>
              </a:extLst>
            </p:cNvPr>
            <p:cNvSpPr>
              <a:spLocks noChangeArrowheads="1"/>
            </p:cNvSpPr>
            <p:nvPr/>
          </p:nvSpPr>
          <p:spPr bwMode="auto">
            <a:xfrm>
              <a:off x="5575300" y="5400675"/>
              <a:ext cx="968375"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1.5 days</a:t>
              </a:r>
            </a:p>
          </p:txBody>
        </p:sp>
        <p:sp>
          <p:nvSpPr>
            <p:cNvPr id="28" name="Rectangle 5">
              <a:extLst>
                <a:ext uri="{FF2B5EF4-FFF2-40B4-BE49-F238E27FC236}">
                  <a16:creationId xmlns:a16="http://schemas.microsoft.com/office/drawing/2014/main" id="{6C4D9C34-24D8-BD86-12AE-86E847F39E81}"/>
                </a:ext>
              </a:extLst>
            </p:cNvPr>
            <p:cNvSpPr>
              <a:spLocks noChangeArrowheads="1"/>
            </p:cNvSpPr>
            <p:nvPr/>
          </p:nvSpPr>
          <p:spPr bwMode="auto">
            <a:xfrm>
              <a:off x="4906963" y="5592763"/>
              <a:ext cx="1039812"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5400 sec </a:t>
              </a:r>
              <a:r>
                <a:rPr lang="en-US" altLang="en-US" sz="600" b="0">
                  <a:solidFill>
                    <a:schemeClr val="tx1"/>
                  </a:solidFill>
                  <a:latin typeface="Roboto" panose="02000000000000000000" pitchFamily="2" charset="0"/>
                  <a:ea typeface="Roboto" panose="02000000000000000000" pitchFamily="2" charset="0"/>
                </a:rPr>
                <a:t>(or 90 min)</a:t>
              </a:r>
            </a:p>
          </p:txBody>
        </p:sp>
        <p:sp>
          <p:nvSpPr>
            <p:cNvPr id="221" name="Rectangle 6">
              <a:extLst>
                <a:ext uri="{FF2B5EF4-FFF2-40B4-BE49-F238E27FC236}">
                  <a16:creationId xmlns:a16="http://schemas.microsoft.com/office/drawing/2014/main" id="{B4E905AE-D3C6-59E1-9F41-1123AD0AADF0}"/>
                </a:ext>
              </a:extLst>
            </p:cNvPr>
            <p:cNvSpPr>
              <a:spLocks noChangeArrowheads="1"/>
            </p:cNvSpPr>
            <p:nvPr/>
          </p:nvSpPr>
          <p:spPr bwMode="auto">
            <a:xfrm>
              <a:off x="4275138" y="5384800"/>
              <a:ext cx="1065212"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13.8 days</a:t>
              </a:r>
            </a:p>
          </p:txBody>
        </p:sp>
        <p:sp>
          <p:nvSpPr>
            <p:cNvPr id="222" name="Rectangle 7">
              <a:extLst>
                <a:ext uri="{FF2B5EF4-FFF2-40B4-BE49-F238E27FC236}">
                  <a16:creationId xmlns:a16="http://schemas.microsoft.com/office/drawing/2014/main" id="{5D21DF37-CDC1-F642-89C9-825EA7B4B8DF}"/>
                </a:ext>
              </a:extLst>
            </p:cNvPr>
            <p:cNvSpPr>
              <a:spLocks noChangeArrowheads="1"/>
            </p:cNvSpPr>
            <p:nvPr/>
          </p:nvSpPr>
          <p:spPr bwMode="auto">
            <a:xfrm>
              <a:off x="3717925" y="5592763"/>
              <a:ext cx="795338"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10 sec</a:t>
              </a:r>
            </a:p>
          </p:txBody>
        </p:sp>
        <p:sp>
          <p:nvSpPr>
            <p:cNvPr id="223" name="Rectangle 8">
              <a:extLst>
                <a:ext uri="{FF2B5EF4-FFF2-40B4-BE49-F238E27FC236}">
                  <a16:creationId xmlns:a16="http://schemas.microsoft.com/office/drawing/2014/main" id="{C3E7D67E-D14E-3887-CA78-92F4876EE5FF}"/>
                </a:ext>
              </a:extLst>
            </p:cNvPr>
            <p:cNvSpPr>
              <a:spLocks noChangeArrowheads="1"/>
            </p:cNvSpPr>
            <p:nvPr/>
          </p:nvSpPr>
          <p:spPr bwMode="auto">
            <a:xfrm>
              <a:off x="2994025" y="5384800"/>
              <a:ext cx="985838"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6.3 days</a:t>
              </a:r>
            </a:p>
          </p:txBody>
        </p:sp>
        <p:sp>
          <p:nvSpPr>
            <p:cNvPr id="224" name="Rectangle 9">
              <a:extLst>
                <a:ext uri="{FF2B5EF4-FFF2-40B4-BE49-F238E27FC236}">
                  <a16:creationId xmlns:a16="http://schemas.microsoft.com/office/drawing/2014/main" id="{B1FD7BDB-50AC-9539-9FF5-169DECCE945D}"/>
                </a:ext>
              </a:extLst>
            </p:cNvPr>
            <p:cNvSpPr>
              <a:spLocks noChangeArrowheads="1"/>
            </p:cNvSpPr>
            <p:nvPr/>
          </p:nvSpPr>
          <p:spPr bwMode="auto">
            <a:xfrm>
              <a:off x="2371725" y="5592763"/>
              <a:ext cx="877888"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 sec</a:t>
              </a:r>
            </a:p>
          </p:txBody>
        </p:sp>
        <p:sp>
          <p:nvSpPr>
            <p:cNvPr id="225" name="Rectangle 10">
              <a:extLst>
                <a:ext uri="{FF2B5EF4-FFF2-40B4-BE49-F238E27FC236}">
                  <a16:creationId xmlns:a16="http://schemas.microsoft.com/office/drawing/2014/main" id="{FB5D213F-E267-B5F3-12CD-6980ACF05E40}"/>
                </a:ext>
              </a:extLst>
            </p:cNvPr>
            <p:cNvSpPr>
              <a:spLocks noChangeArrowheads="1"/>
            </p:cNvSpPr>
            <p:nvPr/>
          </p:nvSpPr>
          <p:spPr bwMode="auto">
            <a:xfrm>
              <a:off x="1671638" y="5384800"/>
              <a:ext cx="944562"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4.5 days</a:t>
              </a:r>
            </a:p>
          </p:txBody>
        </p:sp>
        <p:sp>
          <p:nvSpPr>
            <p:cNvPr id="226" name="Rectangle 11">
              <a:extLst>
                <a:ext uri="{FF2B5EF4-FFF2-40B4-BE49-F238E27FC236}">
                  <a16:creationId xmlns:a16="http://schemas.microsoft.com/office/drawing/2014/main" id="{CAA66011-678A-0384-7520-AC9192D2D5A3}"/>
                </a:ext>
              </a:extLst>
            </p:cNvPr>
            <p:cNvSpPr>
              <a:spLocks noChangeArrowheads="1"/>
            </p:cNvSpPr>
            <p:nvPr/>
          </p:nvSpPr>
          <p:spPr bwMode="auto">
            <a:xfrm>
              <a:off x="1028700" y="5592763"/>
              <a:ext cx="855663"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 sec</a:t>
              </a:r>
            </a:p>
          </p:txBody>
        </p:sp>
        <p:sp>
          <p:nvSpPr>
            <p:cNvPr id="227" name="Rectangle 12">
              <a:extLst>
                <a:ext uri="{FF2B5EF4-FFF2-40B4-BE49-F238E27FC236}">
                  <a16:creationId xmlns:a16="http://schemas.microsoft.com/office/drawing/2014/main" id="{F5F61DD7-F906-365F-DA77-EB9054738F7F}"/>
                </a:ext>
              </a:extLst>
            </p:cNvPr>
            <p:cNvSpPr>
              <a:spLocks noChangeArrowheads="1"/>
            </p:cNvSpPr>
            <p:nvPr/>
          </p:nvSpPr>
          <p:spPr bwMode="auto">
            <a:xfrm>
              <a:off x="412750" y="5384800"/>
              <a:ext cx="712788"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1.5 days</a:t>
              </a:r>
            </a:p>
          </p:txBody>
        </p:sp>
        <p:sp>
          <p:nvSpPr>
            <p:cNvPr id="228" name="Line 13">
              <a:extLst>
                <a:ext uri="{FF2B5EF4-FFF2-40B4-BE49-F238E27FC236}">
                  <a16:creationId xmlns:a16="http://schemas.microsoft.com/office/drawing/2014/main" id="{76C8A269-9993-349A-6EBD-6E20545E4331}"/>
                </a:ext>
              </a:extLst>
            </p:cNvPr>
            <p:cNvSpPr>
              <a:spLocks noChangeShapeType="1"/>
            </p:cNvSpPr>
            <p:nvPr/>
          </p:nvSpPr>
          <p:spPr bwMode="auto">
            <a:xfrm flipH="1" flipV="1">
              <a:off x="8272463" y="2492375"/>
              <a:ext cx="1587" cy="1298575"/>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9" name="Text Box 14">
              <a:extLst>
                <a:ext uri="{FF2B5EF4-FFF2-40B4-BE49-F238E27FC236}">
                  <a16:creationId xmlns:a16="http://schemas.microsoft.com/office/drawing/2014/main" id="{930E61F8-9E9E-9673-DCC1-CD9397D83E90}"/>
                </a:ext>
              </a:extLst>
            </p:cNvPr>
            <p:cNvSpPr txBox="1">
              <a:spLocks noChangeArrowheads="1"/>
            </p:cNvSpPr>
            <p:nvPr/>
          </p:nvSpPr>
          <p:spPr bwMode="auto">
            <a:xfrm>
              <a:off x="7640638" y="2624138"/>
              <a:ext cx="963612" cy="473075"/>
            </a:xfrm>
            <a:prstGeom prst="rect">
              <a:avLst/>
            </a:prstGeom>
            <a:solidFill>
              <a:schemeClr val="bg1"/>
            </a:solidFill>
            <a:ln w="12700" cap="sq">
              <a:solidFill>
                <a:schemeClr val="tx1"/>
              </a:solidFill>
              <a:miter lim="800000"/>
              <a:headEnd type="none" w="sm" len="sm"/>
              <a:tailEnd type="none" w="sm" len="sm"/>
            </a:ln>
          </p:spPr>
          <p:txBody>
            <a:bodyPr lIns="18288" rIns="0">
              <a:spAutoFit/>
            </a:bodyPr>
            <a:lstStyle>
              <a:lvl1pPr marL="58738" indent="-58738">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685800" indent="-22860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Demand = 3200 sets/mo</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2200 SAE, 1000 Metric</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2 Shifts</a:t>
              </a:r>
            </a:p>
            <a:p>
              <a:pPr>
                <a:lnSpc>
                  <a:spcPct val="100000"/>
                </a:lnSpc>
                <a:spcBef>
                  <a:spcPct val="0"/>
                </a:spcBef>
                <a:spcAft>
                  <a:spcPct val="0"/>
                </a:spcAft>
                <a:buClrTx/>
                <a:buSzTx/>
                <a:buFontTx/>
                <a:buChar char="•"/>
              </a:pPr>
              <a:r>
                <a:rPr lang="en-US" altLang="en-US" sz="600" b="0">
                  <a:latin typeface="Roboto" panose="02000000000000000000" pitchFamily="2" charset="0"/>
                  <a:ea typeface="Roboto" panose="02000000000000000000" pitchFamily="2" charset="0"/>
                </a:rPr>
                <a:t>Set = 25 pcs</a:t>
              </a:r>
            </a:p>
          </p:txBody>
        </p:sp>
        <p:sp>
          <p:nvSpPr>
            <p:cNvPr id="230" name="Text Box 15">
              <a:extLst>
                <a:ext uri="{FF2B5EF4-FFF2-40B4-BE49-F238E27FC236}">
                  <a16:creationId xmlns:a16="http://schemas.microsoft.com/office/drawing/2014/main" id="{7C7A56DF-B594-9A9A-59EC-FE5A371D7710}"/>
                </a:ext>
              </a:extLst>
            </p:cNvPr>
            <p:cNvSpPr txBox="1">
              <a:spLocks noChangeArrowheads="1"/>
            </p:cNvSpPr>
            <p:nvPr/>
          </p:nvSpPr>
          <p:spPr bwMode="auto">
            <a:xfrm>
              <a:off x="7658100" y="5289550"/>
              <a:ext cx="786041" cy="56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a:lnSpc>
                  <a:spcPct val="100000"/>
                </a:lnSpc>
                <a:spcBef>
                  <a:spcPct val="30000"/>
                </a:spcBef>
              </a:pPr>
              <a:r>
                <a:rPr lang="en-US" altLang="en-US" sz="700" b="0">
                  <a:solidFill>
                    <a:schemeClr val="tx1"/>
                  </a:solidFill>
                  <a:latin typeface="Roboto" panose="02000000000000000000" pitchFamily="2" charset="0"/>
                  <a:ea typeface="Roboto" panose="02000000000000000000" pitchFamily="2" charset="0"/>
                </a:rPr>
                <a:t>Production L.T. =  </a:t>
              </a:r>
              <a:br>
                <a:rPr lang="en-US" altLang="en-US" sz="700" b="0">
                  <a:solidFill>
                    <a:schemeClr val="tx1"/>
                  </a:solidFill>
                  <a:latin typeface="Roboto" panose="02000000000000000000" pitchFamily="2" charset="0"/>
                  <a:ea typeface="Roboto" panose="02000000000000000000" pitchFamily="2" charset="0"/>
                </a:rPr>
              </a:br>
              <a:r>
                <a:rPr lang="en-US" altLang="en-US" sz="700" b="0">
                  <a:solidFill>
                    <a:schemeClr val="tx1"/>
                  </a:solidFill>
                  <a:latin typeface="Roboto" panose="02000000000000000000" pitchFamily="2" charset="0"/>
                  <a:ea typeface="Roboto" panose="02000000000000000000" pitchFamily="2" charset="0"/>
                </a:rPr>
                <a:t>46.4 days    </a:t>
              </a:r>
            </a:p>
            <a:p>
              <a:pPr algn="l">
                <a:lnSpc>
                  <a:spcPct val="100000"/>
                </a:lnSpc>
                <a:spcBef>
                  <a:spcPct val="30000"/>
                </a:spcBef>
              </a:pPr>
              <a:r>
                <a:rPr lang="en-US" altLang="en-US" sz="700" b="0">
                  <a:solidFill>
                    <a:schemeClr val="tx1"/>
                  </a:solidFill>
                  <a:latin typeface="Roboto" panose="02000000000000000000" pitchFamily="2" charset="0"/>
                  <a:ea typeface="Roboto" panose="02000000000000000000" pitchFamily="2" charset="0"/>
                </a:rPr>
                <a:t>Proc. Time = </a:t>
              </a:r>
              <a:br>
                <a:rPr lang="en-US" altLang="en-US" sz="700" b="0">
                  <a:solidFill>
                    <a:schemeClr val="tx1"/>
                  </a:solidFill>
                  <a:latin typeface="Roboto" panose="02000000000000000000" pitchFamily="2" charset="0"/>
                  <a:ea typeface="Roboto" panose="02000000000000000000" pitchFamily="2" charset="0"/>
                </a:rPr>
              </a:br>
              <a:r>
                <a:rPr lang="en-US" altLang="en-US" sz="700" b="0">
                  <a:solidFill>
                    <a:schemeClr val="tx1"/>
                  </a:solidFill>
                  <a:latin typeface="Roboto" panose="02000000000000000000" pitchFamily="2" charset="0"/>
                  <a:ea typeface="Roboto" panose="02000000000000000000" pitchFamily="2" charset="0"/>
                </a:rPr>
                <a:t>5884 sec (or 98 min)</a:t>
              </a:r>
            </a:p>
          </p:txBody>
        </p:sp>
        <p:sp>
          <p:nvSpPr>
            <p:cNvPr id="231" name="Line 16">
              <a:extLst>
                <a:ext uri="{FF2B5EF4-FFF2-40B4-BE49-F238E27FC236}">
                  <a16:creationId xmlns:a16="http://schemas.microsoft.com/office/drawing/2014/main" id="{A94F3643-EBF3-73F3-A774-2FDF181DE255}"/>
                </a:ext>
              </a:extLst>
            </p:cNvPr>
            <p:cNvSpPr>
              <a:spLocks noChangeShapeType="1"/>
            </p:cNvSpPr>
            <p:nvPr/>
          </p:nvSpPr>
          <p:spPr bwMode="auto">
            <a:xfrm flipV="1">
              <a:off x="7735888" y="5559425"/>
              <a:ext cx="803275" cy="476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32" name="Rectangle 17">
              <a:extLst>
                <a:ext uri="{FF2B5EF4-FFF2-40B4-BE49-F238E27FC236}">
                  <a16:creationId xmlns:a16="http://schemas.microsoft.com/office/drawing/2014/main" id="{BB2B186F-BF82-7636-A03D-838ADCFE5B09}"/>
                </a:ext>
              </a:extLst>
            </p:cNvPr>
            <p:cNvSpPr>
              <a:spLocks noChangeArrowheads="1"/>
            </p:cNvSpPr>
            <p:nvPr/>
          </p:nvSpPr>
          <p:spPr bwMode="auto">
            <a:xfrm>
              <a:off x="7697788" y="5251450"/>
              <a:ext cx="931862" cy="60801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33" name="Line 18">
              <a:extLst>
                <a:ext uri="{FF2B5EF4-FFF2-40B4-BE49-F238E27FC236}">
                  <a16:creationId xmlns:a16="http://schemas.microsoft.com/office/drawing/2014/main" id="{B40F55D3-8183-1470-E6BE-ADB12AE58E0D}"/>
                </a:ext>
              </a:extLst>
            </p:cNvPr>
            <p:cNvSpPr>
              <a:spLocks noChangeShapeType="1"/>
            </p:cNvSpPr>
            <p:nvPr/>
          </p:nvSpPr>
          <p:spPr bwMode="auto">
            <a:xfrm flipV="1">
              <a:off x="1903413" y="4137025"/>
              <a:ext cx="504825" cy="95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34" name="AutoShape 19">
              <a:extLst>
                <a:ext uri="{FF2B5EF4-FFF2-40B4-BE49-F238E27FC236}">
                  <a16:creationId xmlns:a16="http://schemas.microsoft.com/office/drawing/2014/main" id="{E071CBA8-CDEF-542E-8F92-CD608D71ADDC}"/>
                </a:ext>
              </a:extLst>
            </p:cNvPr>
            <p:cNvSpPr>
              <a:spLocks noChangeArrowheads="1"/>
            </p:cNvSpPr>
            <p:nvPr/>
          </p:nvSpPr>
          <p:spPr bwMode="auto">
            <a:xfrm>
              <a:off x="1951038"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35" name="Line 20">
              <a:extLst>
                <a:ext uri="{FF2B5EF4-FFF2-40B4-BE49-F238E27FC236}">
                  <a16:creationId xmlns:a16="http://schemas.microsoft.com/office/drawing/2014/main" id="{6B35A7EA-F03F-0F33-5FA4-F318F98970BA}"/>
                </a:ext>
              </a:extLst>
            </p:cNvPr>
            <p:cNvSpPr>
              <a:spLocks noChangeShapeType="1"/>
            </p:cNvSpPr>
            <p:nvPr/>
          </p:nvSpPr>
          <p:spPr bwMode="auto">
            <a:xfrm>
              <a:off x="704850" y="2543175"/>
              <a:ext cx="7938" cy="1389063"/>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36" name="Group 21">
              <a:extLst>
                <a:ext uri="{FF2B5EF4-FFF2-40B4-BE49-F238E27FC236}">
                  <a16:creationId xmlns:a16="http://schemas.microsoft.com/office/drawing/2014/main" id="{F0769B4F-3CCC-3C03-3AD2-1FC22DB65202}"/>
                </a:ext>
              </a:extLst>
            </p:cNvPr>
            <p:cNvGrpSpPr>
              <a:grpSpLocks/>
            </p:cNvGrpSpPr>
            <p:nvPr/>
          </p:nvGrpSpPr>
          <p:grpSpPr bwMode="auto">
            <a:xfrm>
              <a:off x="2355850" y="3770314"/>
              <a:ext cx="890588" cy="1328738"/>
              <a:chOff x="2155" y="2375"/>
              <a:chExt cx="561" cy="837"/>
            </a:xfrm>
          </p:grpSpPr>
          <p:sp>
            <p:nvSpPr>
              <p:cNvPr id="237" name="Rectangle 22">
                <a:extLst>
                  <a:ext uri="{FF2B5EF4-FFF2-40B4-BE49-F238E27FC236}">
                    <a16:creationId xmlns:a16="http://schemas.microsoft.com/office/drawing/2014/main" id="{9C5414BB-AE3D-2C24-D4F1-5E61FEE4D753}"/>
                  </a:ext>
                </a:extLst>
              </p:cNvPr>
              <p:cNvSpPr>
                <a:spLocks noChangeArrowheads="1"/>
              </p:cNvSpPr>
              <p:nvPr/>
            </p:nvSpPr>
            <p:spPr bwMode="auto">
              <a:xfrm>
                <a:off x="2191" y="2827"/>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238" name="Group 23">
                <a:extLst>
                  <a:ext uri="{FF2B5EF4-FFF2-40B4-BE49-F238E27FC236}">
                    <a16:creationId xmlns:a16="http://schemas.microsoft.com/office/drawing/2014/main" id="{F942971A-D594-4B36-18D3-DF1CD060A237}"/>
                  </a:ext>
                </a:extLst>
              </p:cNvPr>
              <p:cNvGrpSpPr>
                <a:grpSpLocks/>
              </p:cNvGrpSpPr>
              <p:nvPr/>
            </p:nvGrpSpPr>
            <p:grpSpPr bwMode="auto">
              <a:xfrm>
                <a:off x="2187" y="2375"/>
                <a:ext cx="525" cy="390"/>
                <a:chOff x="1367" y="2370"/>
                <a:chExt cx="434" cy="390"/>
              </a:xfrm>
            </p:grpSpPr>
            <p:grpSp>
              <p:nvGrpSpPr>
                <p:cNvPr id="240" name="Group 24">
                  <a:extLst>
                    <a:ext uri="{FF2B5EF4-FFF2-40B4-BE49-F238E27FC236}">
                      <a16:creationId xmlns:a16="http://schemas.microsoft.com/office/drawing/2014/main" id="{140EEC28-12AE-5F5F-E199-4090C31C0087}"/>
                    </a:ext>
                  </a:extLst>
                </p:cNvPr>
                <p:cNvGrpSpPr>
                  <a:grpSpLocks/>
                </p:cNvGrpSpPr>
                <p:nvPr/>
              </p:nvGrpSpPr>
              <p:grpSpPr bwMode="auto">
                <a:xfrm>
                  <a:off x="1367" y="2395"/>
                  <a:ext cx="434" cy="365"/>
                  <a:chOff x="418" y="2981"/>
                  <a:chExt cx="352" cy="365"/>
                </a:xfrm>
              </p:grpSpPr>
              <p:sp>
                <p:nvSpPr>
                  <p:cNvPr id="246" name="Rectangle 25">
                    <a:extLst>
                      <a:ext uri="{FF2B5EF4-FFF2-40B4-BE49-F238E27FC236}">
                        <a16:creationId xmlns:a16="http://schemas.microsoft.com/office/drawing/2014/main" id="{6E2D8114-4811-3FE5-257D-151078A1C41A}"/>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7" name="Line 26">
                    <a:extLst>
                      <a:ext uri="{FF2B5EF4-FFF2-40B4-BE49-F238E27FC236}">
                        <a16:creationId xmlns:a16="http://schemas.microsoft.com/office/drawing/2014/main" id="{3AAD01DB-F987-DA84-1BBA-9DC93468C5F9}"/>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241" name="Group 27">
                  <a:extLst>
                    <a:ext uri="{FF2B5EF4-FFF2-40B4-BE49-F238E27FC236}">
                      <a16:creationId xmlns:a16="http://schemas.microsoft.com/office/drawing/2014/main" id="{A6AB1091-E355-B2B5-61DC-584EB64E28A4}"/>
                    </a:ext>
                  </a:extLst>
                </p:cNvPr>
                <p:cNvGrpSpPr>
                  <a:grpSpLocks/>
                </p:cNvGrpSpPr>
                <p:nvPr/>
              </p:nvGrpSpPr>
              <p:grpSpPr bwMode="auto">
                <a:xfrm flipV="1">
                  <a:off x="1462" y="2586"/>
                  <a:ext cx="96" cy="112"/>
                  <a:chOff x="720" y="3354"/>
                  <a:chExt cx="192" cy="198"/>
                </a:xfrm>
              </p:grpSpPr>
              <p:sp>
                <p:nvSpPr>
                  <p:cNvPr id="244" name="Oval 28">
                    <a:extLst>
                      <a:ext uri="{FF2B5EF4-FFF2-40B4-BE49-F238E27FC236}">
                        <a16:creationId xmlns:a16="http://schemas.microsoft.com/office/drawing/2014/main" id="{58E6926E-A0F7-AC6C-680E-79DEBEDC1E1F}"/>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5" name="AutoShape 29">
                    <a:extLst>
                      <a:ext uri="{FF2B5EF4-FFF2-40B4-BE49-F238E27FC236}">
                        <a16:creationId xmlns:a16="http://schemas.microsoft.com/office/drawing/2014/main" id="{56ACC570-ACAC-75DA-D3A9-BDDF0B3DC370}"/>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242" name="Text Box 30">
                  <a:extLst>
                    <a:ext uri="{FF2B5EF4-FFF2-40B4-BE49-F238E27FC236}">
                      <a16:creationId xmlns:a16="http://schemas.microsoft.com/office/drawing/2014/main" id="{094E03A0-1CF7-6097-2B5F-C7187F52E8E7}"/>
                    </a:ext>
                  </a:extLst>
                </p:cNvPr>
                <p:cNvSpPr txBox="1">
                  <a:spLocks noChangeArrowheads="1"/>
                </p:cNvSpPr>
                <p:nvPr/>
              </p:nvSpPr>
              <p:spPr bwMode="auto">
                <a:xfrm>
                  <a:off x="1583" y="2584"/>
                  <a:ext cx="13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6</a:t>
                  </a:r>
                </a:p>
              </p:txBody>
            </p:sp>
            <p:sp>
              <p:nvSpPr>
                <p:cNvPr id="243" name="Text Box 31">
                  <a:extLst>
                    <a:ext uri="{FF2B5EF4-FFF2-40B4-BE49-F238E27FC236}">
                      <a16:creationId xmlns:a16="http://schemas.microsoft.com/office/drawing/2014/main" id="{EC89C45B-0D92-957F-6E62-1A4CFA96CD1B}"/>
                    </a:ext>
                  </a:extLst>
                </p:cNvPr>
                <p:cNvSpPr txBox="1">
                  <a:spLocks noChangeArrowheads="1"/>
                </p:cNvSpPr>
                <p:nvPr/>
              </p:nvSpPr>
              <p:spPr bwMode="auto">
                <a:xfrm>
                  <a:off x="1382" y="2370"/>
                  <a:ext cx="40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Machine</a:t>
                  </a:r>
                </a:p>
              </p:txBody>
            </p:sp>
          </p:grpSp>
          <p:sp>
            <p:nvSpPr>
              <p:cNvPr id="239" name="Text Box 32">
                <a:extLst>
                  <a:ext uri="{FF2B5EF4-FFF2-40B4-BE49-F238E27FC236}">
                    <a16:creationId xmlns:a16="http://schemas.microsoft.com/office/drawing/2014/main" id="{D1CAE591-1949-3067-BBC1-449D3A49E8E7}"/>
                  </a:ext>
                </a:extLst>
              </p:cNvPr>
              <p:cNvSpPr txBox="1">
                <a:spLocks noChangeArrowheads="1"/>
              </p:cNvSpPr>
              <p:nvPr/>
            </p:nvSpPr>
            <p:spPr bwMode="auto">
              <a:xfrm>
                <a:off x="2155" y="2837"/>
                <a:ext cx="55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12</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20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98%</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98%</a:t>
                </a:r>
              </a:p>
            </p:txBody>
          </p:sp>
        </p:grpSp>
        <p:grpSp>
          <p:nvGrpSpPr>
            <p:cNvPr id="248" name="Group 33">
              <a:extLst>
                <a:ext uri="{FF2B5EF4-FFF2-40B4-BE49-F238E27FC236}">
                  <a16:creationId xmlns:a16="http://schemas.microsoft.com/office/drawing/2014/main" id="{EB7A3E27-CA05-9629-9419-B021EDFD45A1}"/>
                </a:ext>
              </a:extLst>
            </p:cNvPr>
            <p:cNvGrpSpPr>
              <a:grpSpLocks/>
            </p:cNvGrpSpPr>
            <p:nvPr/>
          </p:nvGrpSpPr>
          <p:grpSpPr bwMode="auto">
            <a:xfrm>
              <a:off x="3640138" y="3762376"/>
              <a:ext cx="960437" cy="1328738"/>
              <a:chOff x="2659" y="2370"/>
              <a:chExt cx="605" cy="837"/>
            </a:xfrm>
          </p:grpSpPr>
          <p:sp>
            <p:nvSpPr>
              <p:cNvPr id="249" name="Rectangle 34">
                <a:extLst>
                  <a:ext uri="{FF2B5EF4-FFF2-40B4-BE49-F238E27FC236}">
                    <a16:creationId xmlns:a16="http://schemas.microsoft.com/office/drawing/2014/main" id="{1A3E119B-762B-514D-961F-F5DEAD52AEE9}"/>
                  </a:ext>
                </a:extLst>
              </p:cNvPr>
              <p:cNvSpPr>
                <a:spLocks noChangeArrowheads="1"/>
              </p:cNvSpPr>
              <p:nvPr/>
            </p:nvSpPr>
            <p:spPr bwMode="auto">
              <a:xfrm>
                <a:off x="2686" y="2822"/>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nvGrpSpPr>
              <p:cNvPr id="250" name="Group 35">
                <a:extLst>
                  <a:ext uri="{FF2B5EF4-FFF2-40B4-BE49-F238E27FC236}">
                    <a16:creationId xmlns:a16="http://schemas.microsoft.com/office/drawing/2014/main" id="{1CDFD480-CF39-3814-EE8D-980383B44455}"/>
                  </a:ext>
                </a:extLst>
              </p:cNvPr>
              <p:cNvGrpSpPr>
                <a:grpSpLocks/>
              </p:cNvGrpSpPr>
              <p:nvPr/>
            </p:nvGrpSpPr>
            <p:grpSpPr bwMode="auto">
              <a:xfrm>
                <a:off x="2659" y="2370"/>
                <a:ext cx="605" cy="837"/>
                <a:chOff x="3253" y="2370"/>
                <a:chExt cx="605" cy="837"/>
              </a:xfrm>
            </p:grpSpPr>
            <p:grpSp>
              <p:nvGrpSpPr>
                <p:cNvPr id="251" name="Group 36">
                  <a:extLst>
                    <a:ext uri="{FF2B5EF4-FFF2-40B4-BE49-F238E27FC236}">
                      <a16:creationId xmlns:a16="http://schemas.microsoft.com/office/drawing/2014/main" id="{B2C24C28-5107-6FB3-EDA7-D60553F0A6D9}"/>
                    </a:ext>
                  </a:extLst>
                </p:cNvPr>
                <p:cNvGrpSpPr>
                  <a:grpSpLocks/>
                </p:cNvGrpSpPr>
                <p:nvPr/>
              </p:nvGrpSpPr>
              <p:grpSpPr bwMode="auto">
                <a:xfrm>
                  <a:off x="3285" y="2395"/>
                  <a:ext cx="525" cy="365"/>
                  <a:chOff x="418" y="2981"/>
                  <a:chExt cx="352" cy="365"/>
                </a:xfrm>
              </p:grpSpPr>
              <p:sp>
                <p:nvSpPr>
                  <p:cNvPr id="258" name="Rectangle 37">
                    <a:extLst>
                      <a:ext uri="{FF2B5EF4-FFF2-40B4-BE49-F238E27FC236}">
                        <a16:creationId xmlns:a16="http://schemas.microsoft.com/office/drawing/2014/main" id="{5C393964-2C94-3648-F455-B2451E949163}"/>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9" name="Line 38">
                    <a:extLst>
                      <a:ext uri="{FF2B5EF4-FFF2-40B4-BE49-F238E27FC236}">
                        <a16:creationId xmlns:a16="http://schemas.microsoft.com/office/drawing/2014/main" id="{E5F9E8AD-1A1E-DE17-094D-3BDB05A9CA8A}"/>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252" name="Group 39">
                  <a:extLst>
                    <a:ext uri="{FF2B5EF4-FFF2-40B4-BE49-F238E27FC236}">
                      <a16:creationId xmlns:a16="http://schemas.microsoft.com/office/drawing/2014/main" id="{F556C1AE-8E81-9118-4111-5BD454B769C7}"/>
                    </a:ext>
                  </a:extLst>
                </p:cNvPr>
                <p:cNvGrpSpPr>
                  <a:grpSpLocks/>
                </p:cNvGrpSpPr>
                <p:nvPr/>
              </p:nvGrpSpPr>
              <p:grpSpPr bwMode="auto">
                <a:xfrm flipV="1">
                  <a:off x="3400" y="2586"/>
                  <a:ext cx="116" cy="112"/>
                  <a:chOff x="720" y="3354"/>
                  <a:chExt cx="192" cy="198"/>
                </a:xfrm>
              </p:grpSpPr>
              <p:sp>
                <p:nvSpPr>
                  <p:cNvPr id="256" name="Oval 40">
                    <a:extLst>
                      <a:ext uri="{FF2B5EF4-FFF2-40B4-BE49-F238E27FC236}">
                        <a16:creationId xmlns:a16="http://schemas.microsoft.com/office/drawing/2014/main" id="{0A726779-2D66-8C36-9755-4312941117AA}"/>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7" name="AutoShape 41">
                    <a:extLst>
                      <a:ext uri="{FF2B5EF4-FFF2-40B4-BE49-F238E27FC236}">
                        <a16:creationId xmlns:a16="http://schemas.microsoft.com/office/drawing/2014/main" id="{89F28F28-8A76-17C9-281E-551DB7F60AC6}"/>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253" name="Text Box 42">
                  <a:extLst>
                    <a:ext uri="{FF2B5EF4-FFF2-40B4-BE49-F238E27FC236}">
                      <a16:creationId xmlns:a16="http://schemas.microsoft.com/office/drawing/2014/main" id="{E01458E7-DE29-7679-72E9-3889ED9B29B8}"/>
                    </a:ext>
                  </a:extLst>
                </p:cNvPr>
                <p:cNvSpPr txBox="1">
                  <a:spLocks noChangeArrowheads="1"/>
                </p:cNvSpPr>
                <p:nvPr/>
              </p:nvSpPr>
              <p:spPr bwMode="auto">
                <a:xfrm>
                  <a:off x="3546" y="2584"/>
                  <a:ext cx="16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1</a:t>
                  </a:r>
                </a:p>
              </p:txBody>
            </p:sp>
            <p:sp>
              <p:nvSpPr>
                <p:cNvPr id="254" name="Text Box 43">
                  <a:extLst>
                    <a:ext uri="{FF2B5EF4-FFF2-40B4-BE49-F238E27FC236}">
                      <a16:creationId xmlns:a16="http://schemas.microsoft.com/office/drawing/2014/main" id="{A3ED43A4-97C7-29CD-D513-6F1F4B3572D2}"/>
                    </a:ext>
                  </a:extLst>
                </p:cNvPr>
                <p:cNvSpPr txBox="1">
                  <a:spLocks noChangeArrowheads="1"/>
                </p:cNvSpPr>
                <p:nvPr/>
              </p:nvSpPr>
              <p:spPr bwMode="auto">
                <a:xfrm>
                  <a:off x="3303" y="2370"/>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Polish</a:t>
                  </a:r>
                </a:p>
              </p:txBody>
            </p:sp>
            <p:sp>
              <p:nvSpPr>
                <p:cNvPr id="255" name="Text Box 44">
                  <a:extLst>
                    <a:ext uri="{FF2B5EF4-FFF2-40B4-BE49-F238E27FC236}">
                      <a16:creationId xmlns:a16="http://schemas.microsoft.com/office/drawing/2014/main" id="{7315EBCE-8A45-3248-0373-ED6A8C89897C}"/>
                    </a:ext>
                  </a:extLst>
                </p:cNvPr>
                <p:cNvSpPr txBox="1">
                  <a:spLocks noChangeArrowheads="1"/>
                </p:cNvSpPr>
                <p:nvPr/>
              </p:nvSpPr>
              <p:spPr bwMode="auto">
                <a:xfrm>
                  <a:off x="3253" y="2832"/>
                  <a:ext cx="60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94%</a:t>
                  </a:r>
                </a:p>
              </p:txBody>
            </p:sp>
          </p:grpSp>
        </p:grpSp>
        <p:sp>
          <p:nvSpPr>
            <p:cNvPr id="260" name="Line 45">
              <a:extLst>
                <a:ext uri="{FF2B5EF4-FFF2-40B4-BE49-F238E27FC236}">
                  <a16:creationId xmlns:a16="http://schemas.microsoft.com/office/drawing/2014/main" id="{4D45ED2E-6C37-BAAA-7545-F5282E67368E}"/>
                </a:ext>
              </a:extLst>
            </p:cNvPr>
            <p:cNvSpPr>
              <a:spLocks noChangeShapeType="1"/>
            </p:cNvSpPr>
            <p:nvPr/>
          </p:nvSpPr>
          <p:spPr bwMode="auto">
            <a:xfrm flipV="1">
              <a:off x="3271838" y="4137025"/>
              <a:ext cx="430212" cy="95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61" name="Line 46">
              <a:extLst>
                <a:ext uri="{FF2B5EF4-FFF2-40B4-BE49-F238E27FC236}">
                  <a16:creationId xmlns:a16="http://schemas.microsoft.com/office/drawing/2014/main" id="{2323C982-B0EF-5FB1-5C48-9BF9809FF2F5}"/>
                </a:ext>
              </a:extLst>
            </p:cNvPr>
            <p:cNvSpPr>
              <a:spLocks noChangeShapeType="1"/>
            </p:cNvSpPr>
            <p:nvPr/>
          </p:nvSpPr>
          <p:spPr bwMode="auto">
            <a:xfrm flipV="1">
              <a:off x="4549775" y="4140200"/>
              <a:ext cx="473075"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262" name="Group 47">
              <a:extLst>
                <a:ext uri="{FF2B5EF4-FFF2-40B4-BE49-F238E27FC236}">
                  <a16:creationId xmlns:a16="http://schemas.microsoft.com/office/drawing/2014/main" id="{CD754AD3-3845-FD6A-029F-5328D69AB8BE}"/>
                </a:ext>
              </a:extLst>
            </p:cNvPr>
            <p:cNvGrpSpPr>
              <a:grpSpLocks/>
            </p:cNvGrpSpPr>
            <p:nvPr/>
          </p:nvGrpSpPr>
          <p:grpSpPr bwMode="auto">
            <a:xfrm>
              <a:off x="461963" y="1979613"/>
              <a:ext cx="925512" cy="552450"/>
              <a:chOff x="435" y="1322"/>
              <a:chExt cx="583" cy="348"/>
            </a:xfrm>
          </p:grpSpPr>
          <p:grpSp>
            <p:nvGrpSpPr>
              <p:cNvPr id="263" name="Group 48">
                <a:extLst>
                  <a:ext uri="{FF2B5EF4-FFF2-40B4-BE49-F238E27FC236}">
                    <a16:creationId xmlns:a16="http://schemas.microsoft.com/office/drawing/2014/main" id="{79CB06BB-9213-D312-DBB8-3A2374123B93}"/>
                  </a:ext>
                </a:extLst>
              </p:cNvPr>
              <p:cNvGrpSpPr>
                <a:grpSpLocks/>
              </p:cNvGrpSpPr>
              <p:nvPr/>
            </p:nvGrpSpPr>
            <p:grpSpPr bwMode="auto">
              <a:xfrm>
                <a:off x="474" y="1322"/>
                <a:ext cx="508" cy="348"/>
                <a:chOff x="536" y="1322"/>
                <a:chExt cx="446" cy="348"/>
              </a:xfrm>
            </p:grpSpPr>
            <p:sp>
              <p:nvSpPr>
                <p:cNvPr id="265" name="Rectangle 49">
                  <a:extLst>
                    <a:ext uri="{FF2B5EF4-FFF2-40B4-BE49-F238E27FC236}">
                      <a16:creationId xmlns:a16="http://schemas.microsoft.com/office/drawing/2014/main" id="{D61FC99C-8FC3-0B9A-B48D-43145FC064D2}"/>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6" name="Rectangle 50">
                  <a:extLst>
                    <a:ext uri="{FF2B5EF4-FFF2-40B4-BE49-F238E27FC236}">
                      <a16:creationId xmlns:a16="http://schemas.microsoft.com/office/drawing/2014/main" id="{1AE2850C-6549-C781-AE81-73A5A405BE93}"/>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latin typeface="Roboto" panose="02000000000000000000" pitchFamily="2" charset="0"/>
                    <a:ea typeface="Roboto" panose="02000000000000000000" pitchFamily="2" charset="0"/>
                  </a:endParaRPr>
                </a:p>
              </p:txBody>
            </p:sp>
            <p:sp>
              <p:nvSpPr>
                <p:cNvPr id="267" name="AutoShape 51">
                  <a:extLst>
                    <a:ext uri="{FF2B5EF4-FFF2-40B4-BE49-F238E27FC236}">
                      <a16:creationId xmlns:a16="http://schemas.microsoft.com/office/drawing/2014/main" id="{42072B9D-8982-7594-7297-E0FE02256505}"/>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8" name="AutoShape 52">
                  <a:extLst>
                    <a:ext uri="{FF2B5EF4-FFF2-40B4-BE49-F238E27FC236}">
                      <a16:creationId xmlns:a16="http://schemas.microsoft.com/office/drawing/2014/main" id="{DE3F06F3-A2E1-1031-9C02-1DDACE5BE087}"/>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9" name="AutoShape 53">
                  <a:extLst>
                    <a:ext uri="{FF2B5EF4-FFF2-40B4-BE49-F238E27FC236}">
                      <a16:creationId xmlns:a16="http://schemas.microsoft.com/office/drawing/2014/main" id="{DBB8D7C7-4D4C-887B-93C8-F7EA6E4874C6}"/>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0" name="Rectangle 54">
                  <a:extLst>
                    <a:ext uri="{FF2B5EF4-FFF2-40B4-BE49-F238E27FC236}">
                      <a16:creationId xmlns:a16="http://schemas.microsoft.com/office/drawing/2014/main" id="{66CBE1CB-E855-2731-8418-6AA6204C583F}"/>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1" name="Rectangle 55">
                  <a:extLst>
                    <a:ext uri="{FF2B5EF4-FFF2-40B4-BE49-F238E27FC236}">
                      <a16:creationId xmlns:a16="http://schemas.microsoft.com/office/drawing/2014/main" id="{CE1975C9-8FBF-77B6-FB00-E34B1320C2E8}"/>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2" name="Rectangle 56">
                  <a:extLst>
                    <a:ext uri="{FF2B5EF4-FFF2-40B4-BE49-F238E27FC236}">
                      <a16:creationId xmlns:a16="http://schemas.microsoft.com/office/drawing/2014/main" id="{119D2996-85E1-9E06-1EE7-C6764DC6A599}"/>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264" name="Text Box 57">
                <a:extLst>
                  <a:ext uri="{FF2B5EF4-FFF2-40B4-BE49-F238E27FC236}">
                    <a16:creationId xmlns:a16="http://schemas.microsoft.com/office/drawing/2014/main" id="{0764D9AF-F822-6D49-AA26-093284A6B7B5}"/>
                  </a:ext>
                </a:extLst>
              </p:cNvPr>
              <p:cNvSpPr txBox="1">
                <a:spLocks noChangeArrowheads="1"/>
              </p:cNvSpPr>
              <p:nvPr/>
            </p:nvSpPr>
            <p:spPr bwMode="auto">
              <a:xfrm>
                <a:off x="435" y="1494"/>
                <a:ext cx="58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Lean Steel</a:t>
                </a:r>
              </a:p>
            </p:txBody>
          </p:sp>
        </p:grpSp>
        <p:grpSp>
          <p:nvGrpSpPr>
            <p:cNvPr id="273" name="Group 58">
              <a:extLst>
                <a:ext uri="{FF2B5EF4-FFF2-40B4-BE49-F238E27FC236}">
                  <a16:creationId xmlns:a16="http://schemas.microsoft.com/office/drawing/2014/main" id="{D2803A54-8A85-B426-C2BE-54935E6E807B}"/>
                </a:ext>
              </a:extLst>
            </p:cNvPr>
            <p:cNvGrpSpPr>
              <a:grpSpLocks/>
            </p:cNvGrpSpPr>
            <p:nvPr/>
          </p:nvGrpSpPr>
          <p:grpSpPr bwMode="auto">
            <a:xfrm>
              <a:off x="7683500" y="1939925"/>
              <a:ext cx="925513" cy="552450"/>
              <a:chOff x="435" y="1322"/>
              <a:chExt cx="583" cy="348"/>
            </a:xfrm>
          </p:grpSpPr>
          <p:grpSp>
            <p:nvGrpSpPr>
              <p:cNvPr id="274" name="Group 59">
                <a:extLst>
                  <a:ext uri="{FF2B5EF4-FFF2-40B4-BE49-F238E27FC236}">
                    <a16:creationId xmlns:a16="http://schemas.microsoft.com/office/drawing/2014/main" id="{056A6EEE-0CE3-3D28-15F0-487CD1EB4C81}"/>
                  </a:ext>
                </a:extLst>
              </p:cNvPr>
              <p:cNvGrpSpPr>
                <a:grpSpLocks/>
              </p:cNvGrpSpPr>
              <p:nvPr/>
            </p:nvGrpSpPr>
            <p:grpSpPr bwMode="auto">
              <a:xfrm>
                <a:off x="474" y="1322"/>
                <a:ext cx="508" cy="348"/>
                <a:chOff x="536" y="1322"/>
                <a:chExt cx="446" cy="348"/>
              </a:xfrm>
            </p:grpSpPr>
            <p:sp>
              <p:nvSpPr>
                <p:cNvPr id="276" name="Rectangle 60">
                  <a:extLst>
                    <a:ext uri="{FF2B5EF4-FFF2-40B4-BE49-F238E27FC236}">
                      <a16:creationId xmlns:a16="http://schemas.microsoft.com/office/drawing/2014/main" id="{E170294A-5F09-A9C3-5A45-018218381768}"/>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7" name="Rectangle 61">
                  <a:extLst>
                    <a:ext uri="{FF2B5EF4-FFF2-40B4-BE49-F238E27FC236}">
                      <a16:creationId xmlns:a16="http://schemas.microsoft.com/office/drawing/2014/main" id="{EF0DA352-5591-1F0E-8330-D2F71446C3D3}"/>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latin typeface="Roboto" panose="02000000000000000000" pitchFamily="2" charset="0"/>
                    <a:ea typeface="Roboto" panose="02000000000000000000" pitchFamily="2" charset="0"/>
                  </a:endParaRPr>
                </a:p>
              </p:txBody>
            </p:sp>
            <p:sp>
              <p:nvSpPr>
                <p:cNvPr id="278" name="AutoShape 62">
                  <a:extLst>
                    <a:ext uri="{FF2B5EF4-FFF2-40B4-BE49-F238E27FC236}">
                      <a16:creationId xmlns:a16="http://schemas.microsoft.com/office/drawing/2014/main" id="{2A9313B1-4CC3-29E5-1F44-DA519DE93A69}"/>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79" name="AutoShape 63">
                  <a:extLst>
                    <a:ext uri="{FF2B5EF4-FFF2-40B4-BE49-F238E27FC236}">
                      <a16:creationId xmlns:a16="http://schemas.microsoft.com/office/drawing/2014/main" id="{976F2D4C-5A29-438E-BD6B-D9939DD15BE5}"/>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0" name="AutoShape 64">
                  <a:extLst>
                    <a:ext uri="{FF2B5EF4-FFF2-40B4-BE49-F238E27FC236}">
                      <a16:creationId xmlns:a16="http://schemas.microsoft.com/office/drawing/2014/main" id="{C90F91FC-8AAB-E5F4-2A60-56985B2264F5}"/>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1" name="Rectangle 65">
                  <a:extLst>
                    <a:ext uri="{FF2B5EF4-FFF2-40B4-BE49-F238E27FC236}">
                      <a16:creationId xmlns:a16="http://schemas.microsoft.com/office/drawing/2014/main" id="{F7CAF95A-5D13-2AE4-0F24-863E40481BDC}"/>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2" name="Rectangle 66">
                  <a:extLst>
                    <a:ext uri="{FF2B5EF4-FFF2-40B4-BE49-F238E27FC236}">
                      <a16:creationId xmlns:a16="http://schemas.microsoft.com/office/drawing/2014/main" id="{3C0C108D-816A-33A3-B09E-ACB296FCF529}"/>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3" name="Rectangle 67">
                  <a:extLst>
                    <a:ext uri="{FF2B5EF4-FFF2-40B4-BE49-F238E27FC236}">
                      <a16:creationId xmlns:a16="http://schemas.microsoft.com/office/drawing/2014/main" id="{9E1CCCED-62FD-F932-8DD6-798C921640A2}"/>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275" name="Text Box 68">
                <a:extLst>
                  <a:ext uri="{FF2B5EF4-FFF2-40B4-BE49-F238E27FC236}">
                    <a16:creationId xmlns:a16="http://schemas.microsoft.com/office/drawing/2014/main" id="{56FC719B-DEB7-D8BC-323F-0D59B188265E}"/>
                  </a:ext>
                </a:extLst>
              </p:cNvPr>
              <p:cNvSpPr txBox="1">
                <a:spLocks noChangeArrowheads="1"/>
              </p:cNvSpPr>
              <p:nvPr/>
            </p:nvSpPr>
            <p:spPr bwMode="auto">
              <a:xfrm>
                <a:off x="435" y="1494"/>
                <a:ext cx="58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Giant Tool</a:t>
                </a:r>
              </a:p>
            </p:txBody>
          </p:sp>
        </p:grpSp>
        <p:sp>
          <p:nvSpPr>
            <p:cNvPr id="284" name="Text Box 69">
              <a:extLst>
                <a:ext uri="{FF2B5EF4-FFF2-40B4-BE49-F238E27FC236}">
                  <a16:creationId xmlns:a16="http://schemas.microsoft.com/office/drawing/2014/main" id="{016D28D5-7B89-974C-1CD8-4E11DE68B71C}"/>
                </a:ext>
              </a:extLst>
            </p:cNvPr>
            <p:cNvSpPr txBox="1">
              <a:spLocks noChangeArrowheads="1"/>
            </p:cNvSpPr>
            <p:nvPr/>
          </p:nvSpPr>
          <p:spPr bwMode="auto">
            <a:xfrm>
              <a:off x="3213588" y="1493838"/>
              <a:ext cx="2350112" cy="31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latin typeface="Roboto" panose="02000000000000000000" pitchFamily="2" charset="0"/>
                  <a:ea typeface="Roboto" panose="02000000000000000000" pitchFamily="2" charset="0"/>
                </a:rPr>
                <a:t>Rusty</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 Wrench Current State Map</a:t>
              </a:r>
              <a:endParaRPr lang="en-US" altLang="en-US" sz="1400">
                <a:latin typeface="Roboto" panose="02000000000000000000" pitchFamily="2" charset="0"/>
                <a:ea typeface="Roboto" panose="02000000000000000000" pitchFamily="2" charset="0"/>
              </a:endParaRPr>
            </a:p>
          </p:txBody>
        </p:sp>
        <p:sp>
          <p:nvSpPr>
            <p:cNvPr id="285" name="AutoShape 70">
              <a:extLst>
                <a:ext uri="{FF2B5EF4-FFF2-40B4-BE49-F238E27FC236}">
                  <a16:creationId xmlns:a16="http://schemas.microsoft.com/office/drawing/2014/main" id="{8923F020-14EA-A45A-8FA3-82E274662B8D}"/>
                </a:ext>
              </a:extLst>
            </p:cNvPr>
            <p:cNvSpPr>
              <a:spLocks noChangeArrowheads="1"/>
            </p:cNvSpPr>
            <p:nvPr/>
          </p:nvSpPr>
          <p:spPr bwMode="auto">
            <a:xfrm>
              <a:off x="3276600"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86" name="AutoShape 71">
              <a:extLst>
                <a:ext uri="{FF2B5EF4-FFF2-40B4-BE49-F238E27FC236}">
                  <a16:creationId xmlns:a16="http://schemas.microsoft.com/office/drawing/2014/main" id="{AAA1EBA7-3963-C817-B718-5BD7B7DA8CED}"/>
                </a:ext>
              </a:extLst>
            </p:cNvPr>
            <p:cNvSpPr>
              <a:spLocks noChangeArrowheads="1"/>
            </p:cNvSpPr>
            <p:nvPr/>
          </p:nvSpPr>
          <p:spPr bwMode="auto">
            <a:xfrm>
              <a:off x="4568825"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87" name="Line 72">
              <a:extLst>
                <a:ext uri="{FF2B5EF4-FFF2-40B4-BE49-F238E27FC236}">
                  <a16:creationId xmlns:a16="http://schemas.microsoft.com/office/drawing/2014/main" id="{F3E12130-D0C0-7781-7D7A-F2802255ABA5}"/>
                </a:ext>
              </a:extLst>
            </p:cNvPr>
            <p:cNvSpPr>
              <a:spLocks noChangeShapeType="1"/>
            </p:cNvSpPr>
            <p:nvPr/>
          </p:nvSpPr>
          <p:spPr bwMode="auto">
            <a:xfrm flipV="1">
              <a:off x="873125" y="4138613"/>
              <a:ext cx="193675" cy="317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88" name="AutoShape 73">
              <a:extLst>
                <a:ext uri="{FF2B5EF4-FFF2-40B4-BE49-F238E27FC236}">
                  <a16:creationId xmlns:a16="http://schemas.microsoft.com/office/drawing/2014/main" id="{5019F463-B377-DE7D-6671-39FB235ABDE1}"/>
                </a:ext>
              </a:extLst>
            </p:cNvPr>
            <p:cNvSpPr>
              <a:spLocks noChangeArrowheads="1"/>
            </p:cNvSpPr>
            <p:nvPr/>
          </p:nvSpPr>
          <p:spPr bwMode="auto">
            <a:xfrm>
              <a:off x="547688" y="394493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grpSp>
          <p:nvGrpSpPr>
            <p:cNvPr id="289" name="Group 74">
              <a:extLst>
                <a:ext uri="{FF2B5EF4-FFF2-40B4-BE49-F238E27FC236}">
                  <a16:creationId xmlns:a16="http://schemas.microsoft.com/office/drawing/2014/main" id="{EC6CDCE3-E00E-D5CD-51C4-0F2893C37195}"/>
                </a:ext>
              </a:extLst>
            </p:cNvPr>
            <p:cNvGrpSpPr>
              <a:grpSpLocks/>
            </p:cNvGrpSpPr>
            <p:nvPr/>
          </p:nvGrpSpPr>
          <p:grpSpPr bwMode="auto">
            <a:xfrm>
              <a:off x="411163" y="3022600"/>
              <a:ext cx="593725" cy="409575"/>
              <a:chOff x="513" y="2099"/>
              <a:chExt cx="374" cy="258"/>
            </a:xfrm>
          </p:grpSpPr>
          <p:grpSp>
            <p:nvGrpSpPr>
              <p:cNvPr id="290" name="Group 75">
                <a:extLst>
                  <a:ext uri="{FF2B5EF4-FFF2-40B4-BE49-F238E27FC236}">
                    <a16:creationId xmlns:a16="http://schemas.microsoft.com/office/drawing/2014/main" id="{8F23E5FB-5131-7F54-A984-0AED21E0AC60}"/>
                  </a:ext>
                </a:extLst>
              </p:cNvPr>
              <p:cNvGrpSpPr>
                <a:grpSpLocks/>
              </p:cNvGrpSpPr>
              <p:nvPr/>
            </p:nvGrpSpPr>
            <p:grpSpPr bwMode="auto">
              <a:xfrm>
                <a:off x="550" y="2121"/>
                <a:ext cx="337" cy="236"/>
                <a:chOff x="536" y="3744"/>
                <a:chExt cx="415" cy="261"/>
              </a:xfrm>
            </p:grpSpPr>
            <p:sp>
              <p:nvSpPr>
                <p:cNvPr id="292" name="Rectangle 76">
                  <a:extLst>
                    <a:ext uri="{FF2B5EF4-FFF2-40B4-BE49-F238E27FC236}">
                      <a16:creationId xmlns:a16="http://schemas.microsoft.com/office/drawing/2014/main" id="{10BD5128-1F84-1724-30F9-D294A74E9CF4}"/>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93" name="Rectangle 77">
                  <a:extLst>
                    <a:ext uri="{FF2B5EF4-FFF2-40B4-BE49-F238E27FC236}">
                      <a16:creationId xmlns:a16="http://schemas.microsoft.com/office/drawing/2014/main" id="{2C0A5539-1EE1-6BE1-D0F0-B3924BE43796}"/>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94" name="Oval 78">
                  <a:extLst>
                    <a:ext uri="{FF2B5EF4-FFF2-40B4-BE49-F238E27FC236}">
                      <a16:creationId xmlns:a16="http://schemas.microsoft.com/office/drawing/2014/main" id="{50D870CA-09D2-4ED8-D9FC-72095BABD305}"/>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95" name="Oval 79">
                  <a:extLst>
                    <a:ext uri="{FF2B5EF4-FFF2-40B4-BE49-F238E27FC236}">
                      <a16:creationId xmlns:a16="http://schemas.microsoft.com/office/drawing/2014/main" id="{B21644AD-5BBB-DB33-8C9C-3CD66B23F7E0}"/>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291" name="Text Box 80">
                <a:extLst>
                  <a:ext uri="{FF2B5EF4-FFF2-40B4-BE49-F238E27FC236}">
                    <a16:creationId xmlns:a16="http://schemas.microsoft.com/office/drawing/2014/main" id="{7E5B7079-232D-CBF4-3FE0-296E20F9EDCB}"/>
                  </a:ext>
                </a:extLst>
              </p:cNvPr>
              <p:cNvSpPr txBox="1">
                <a:spLocks noChangeArrowheads="1"/>
              </p:cNvSpPr>
              <p:nvPr/>
            </p:nvSpPr>
            <p:spPr bwMode="auto">
              <a:xfrm>
                <a:off x="513" y="2099"/>
                <a:ext cx="30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rPr>
                  <a:t>2X</a:t>
                </a:r>
                <a:br>
                  <a:rPr lang="en-US" altLang="en-US" sz="600" b="0">
                    <a:solidFill>
                      <a:schemeClr val="tx1"/>
                    </a:solidFill>
                    <a:latin typeface="Roboto" panose="02000000000000000000" pitchFamily="2" charset="0"/>
                    <a:ea typeface="Roboto" panose="02000000000000000000" pitchFamily="2" charset="0"/>
                  </a:rPr>
                </a:br>
                <a:r>
                  <a:rPr lang="en-US" altLang="en-US" sz="600" b="0">
                    <a:solidFill>
                      <a:schemeClr val="tx1"/>
                    </a:solidFill>
                    <a:latin typeface="Roboto" panose="02000000000000000000" pitchFamily="2" charset="0"/>
                    <a:ea typeface="Roboto" panose="02000000000000000000" pitchFamily="2" charset="0"/>
                  </a:rPr>
                  <a:t>Mon &amp; Thurs</a:t>
                </a:r>
              </a:p>
            </p:txBody>
          </p:sp>
        </p:grpSp>
        <p:grpSp>
          <p:nvGrpSpPr>
            <p:cNvPr id="296" name="Group 81">
              <a:extLst>
                <a:ext uri="{FF2B5EF4-FFF2-40B4-BE49-F238E27FC236}">
                  <a16:creationId xmlns:a16="http://schemas.microsoft.com/office/drawing/2014/main" id="{6C68E213-D089-AE44-0A0E-6C53B7D8FEE3}"/>
                </a:ext>
              </a:extLst>
            </p:cNvPr>
            <p:cNvGrpSpPr>
              <a:grpSpLocks/>
            </p:cNvGrpSpPr>
            <p:nvPr/>
          </p:nvGrpSpPr>
          <p:grpSpPr bwMode="auto">
            <a:xfrm>
              <a:off x="7958138" y="3190875"/>
              <a:ext cx="593725" cy="409575"/>
              <a:chOff x="513" y="2099"/>
              <a:chExt cx="374" cy="258"/>
            </a:xfrm>
          </p:grpSpPr>
          <p:grpSp>
            <p:nvGrpSpPr>
              <p:cNvPr id="297" name="Group 82">
                <a:extLst>
                  <a:ext uri="{FF2B5EF4-FFF2-40B4-BE49-F238E27FC236}">
                    <a16:creationId xmlns:a16="http://schemas.microsoft.com/office/drawing/2014/main" id="{EFE847B8-5A4A-AE23-4886-87DF9FA1D850}"/>
                  </a:ext>
                </a:extLst>
              </p:cNvPr>
              <p:cNvGrpSpPr>
                <a:grpSpLocks/>
              </p:cNvGrpSpPr>
              <p:nvPr/>
            </p:nvGrpSpPr>
            <p:grpSpPr bwMode="auto">
              <a:xfrm>
                <a:off x="550" y="2121"/>
                <a:ext cx="337" cy="236"/>
                <a:chOff x="536" y="3744"/>
                <a:chExt cx="415" cy="261"/>
              </a:xfrm>
            </p:grpSpPr>
            <p:sp>
              <p:nvSpPr>
                <p:cNvPr id="299" name="Rectangle 83">
                  <a:extLst>
                    <a:ext uri="{FF2B5EF4-FFF2-40B4-BE49-F238E27FC236}">
                      <a16:creationId xmlns:a16="http://schemas.microsoft.com/office/drawing/2014/main" id="{E87043E7-A389-2E03-A2DF-4E9E6A278A48}"/>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00" name="Rectangle 84">
                  <a:extLst>
                    <a:ext uri="{FF2B5EF4-FFF2-40B4-BE49-F238E27FC236}">
                      <a16:creationId xmlns:a16="http://schemas.microsoft.com/office/drawing/2014/main" id="{8D7AF6FB-0D7A-1591-B602-A959DB8252C3}"/>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01" name="Oval 85">
                  <a:extLst>
                    <a:ext uri="{FF2B5EF4-FFF2-40B4-BE49-F238E27FC236}">
                      <a16:creationId xmlns:a16="http://schemas.microsoft.com/office/drawing/2014/main" id="{6A25BEE4-8848-D151-0CE3-15B15C3DDAFD}"/>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02" name="Oval 86">
                  <a:extLst>
                    <a:ext uri="{FF2B5EF4-FFF2-40B4-BE49-F238E27FC236}">
                      <a16:creationId xmlns:a16="http://schemas.microsoft.com/office/drawing/2014/main" id="{58A3AFA6-1C96-DA60-356D-9AECEA137A01}"/>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298" name="Text Box 87">
                <a:extLst>
                  <a:ext uri="{FF2B5EF4-FFF2-40B4-BE49-F238E27FC236}">
                    <a16:creationId xmlns:a16="http://schemas.microsoft.com/office/drawing/2014/main" id="{F8DF5DE1-1DDB-DB71-5A18-7215A352987B}"/>
                  </a:ext>
                </a:extLst>
              </p:cNvPr>
              <p:cNvSpPr txBox="1">
                <a:spLocks noChangeArrowheads="1"/>
              </p:cNvSpPr>
              <p:nvPr/>
            </p:nvSpPr>
            <p:spPr bwMode="auto">
              <a:xfrm>
                <a:off x="513" y="2099"/>
                <a:ext cx="308"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Daily</a:t>
                </a:r>
              </a:p>
            </p:txBody>
          </p:sp>
        </p:grpSp>
        <p:grpSp>
          <p:nvGrpSpPr>
            <p:cNvPr id="303" name="Group 88">
              <a:extLst>
                <a:ext uri="{FF2B5EF4-FFF2-40B4-BE49-F238E27FC236}">
                  <a16:creationId xmlns:a16="http://schemas.microsoft.com/office/drawing/2014/main" id="{A2D458AF-E244-3A42-3B20-0144E532077D}"/>
                </a:ext>
              </a:extLst>
            </p:cNvPr>
            <p:cNvGrpSpPr>
              <a:grpSpLocks/>
            </p:cNvGrpSpPr>
            <p:nvPr/>
          </p:nvGrpSpPr>
          <p:grpSpPr bwMode="auto">
            <a:xfrm>
              <a:off x="5853113" y="2524125"/>
              <a:ext cx="1741487" cy="582613"/>
              <a:chOff x="3444" y="1578"/>
              <a:chExt cx="1097" cy="367"/>
            </a:xfrm>
          </p:grpSpPr>
          <p:sp>
            <p:nvSpPr>
              <p:cNvPr id="304" name="Rectangle 89">
                <a:extLst>
                  <a:ext uri="{FF2B5EF4-FFF2-40B4-BE49-F238E27FC236}">
                    <a16:creationId xmlns:a16="http://schemas.microsoft.com/office/drawing/2014/main" id="{FEF4DA33-6F33-FA2F-96B4-8699DE37E6C4}"/>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05" name="Text Box 90">
                <a:extLst>
                  <a:ext uri="{FF2B5EF4-FFF2-40B4-BE49-F238E27FC236}">
                    <a16:creationId xmlns:a16="http://schemas.microsoft.com/office/drawing/2014/main" id="{4915069E-94BB-B584-47CF-451B933D7CC8}"/>
                  </a:ext>
                </a:extLst>
              </p:cNvPr>
              <p:cNvSpPr txBox="1">
                <a:spLocks noChangeArrowheads="1"/>
              </p:cNvSpPr>
              <p:nvPr/>
            </p:nvSpPr>
            <p:spPr bwMode="auto">
              <a:xfrm>
                <a:off x="3444" y="1689"/>
                <a:ext cx="63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5000"/>
                  </a:spcBef>
                </a:pPr>
                <a:r>
                  <a:rPr lang="en-US" altLang="en-US" sz="800" b="0">
                    <a:solidFill>
                      <a:schemeClr val="tx1"/>
                    </a:solidFill>
                    <a:latin typeface="Roboto" panose="02000000000000000000" pitchFamily="2" charset="0"/>
                    <a:ea typeface="Roboto" panose="02000000000000000000" pitchFamily="2" charset="0"/>
                  </a:rPr>
                  <a:t>27,000 Seconds</a:t>
                </a:r>
              </a:p>
              <a:p>
                <a:pPr>
                  <a:lnSpc>
                    <a:spcPct val="100000"/>
                  </a:lnSpc>
                  <a:spcBef>
                    <a:spcPct val="35000"/>
                  </a:spcBef>
                </a:pPr>
                <a:r>
                  <a:rPr lang="en-US" altLang="en-US" sz="800" b="0">
                    <a:solidFill>
                      <a:schemeClr val="tx1"/>
                    </a:solidFill>
                    <a:latin typeface="Roboto" panose="02000000000000000000" pitchFamily="2" charset="0"/>
                    <a:ea typeface="Roboto" panose="02000000000000000000" pitchFamily="2" charset="0"/>
                  </a:rPr>
                  <a:t>2,000 Pieces</a:t>
                </a:r>
              </a:p>
            </p:txBody>
          </p:sp>
          <p:sp>
            <p:nvSpPr>
              <p:cNvPr id="306" name="Line 91">
                <a:extLst>
                  <a:ext uri="{FF2B5EF4-FFF2-40B4-BE49-F238E27FC236}">
                    <a16:creationId xmlns:a16="http://schemas.microsoft.com/office/drawing/2014/main" id="{50B195B5-607C-4EE9-FF37-496977313AEF}"/>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07" name="Rectangle 92">
                <a:extLst>
                  <a:ext uri="{FF2B5EF4-FFF2-40B4-BE49-F238E27FC236}">
                    <a16:creationId xmlns:a16="http://schemas.microsoft.com/office/drawing/2014/main" id="{6DE3EFA9-AA27-6911-28C9-4A6394F909D1}"/>
                  </a:ext>
                </a:extLst>
              </p:cNvPr>
              <p:cNvSpPr>
                <a:spLocks noChangeArrowheads="1"/>
              </p:cNvSpPr>
              <p:nvPr/>
            </p:nvSpPr>
            <p:spPr bwMode="auto">
              <a:xfrm>
                <a:off x="3729" y="1578"/>
                <a:ext cx="52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a:solidFill>
                      <a:schemeClr val="tx1"/>
                    </a:solidFill>
                    <a:latin typeface="Roboto" panose="02000000000000000000" pitchFamily="2" charset="0"/>
                    <a:ea typeface="Roboto" panose="02000000000000000000" pitchFamily="2" charset="0"/>
                  </a:rPr>
                  <a:t>Takt Time</a:t>
                </a:r>
              </a:p>
            </p:txBody>
          </p:sp>
          <p:sp>
            <p:nvSpPr>
              <p:cNvPr id="308" name="Text Box 93">
                <a:extLst>
                  <a:ext uri="{FF2B5EF4-FFF2-40B4-BE49-F238E27FC236}">
                    <a16:creationId xmlns:a16="http://schemas.microsoft.com/office/drawing/2014/main" id="{9CD6928E-B95F-64AA-C3EA-E1CB98EFB8D4}"/>
                  </a:ext>
                </a:extLst>
              </p:cNvPr>
              <p:cNvSpPr txBox="1">
                <a:spLocks noChangeArrowheads="1"/>
              </p:cNvSpPr>
              <p:nvPr/>
            </p:nvSpPr>
            <p:spPr bwMode="auto">
              <a:xfrm>
                <a:off x="3949" y="1713"/>
                <a:ext cx="59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 </a:t>
                </a:r>
                <a:r>
                  <a:rPr lang="en-US" altLang="en-US" sz="800">
                    <a:solidFill>
                      <a:srgbClr val="FF0000"/>
                    </a:solidFill>
                    <a:latin typeface="Roboto" panose="02000000000000000000" pitchFamily="2" charset="0"/>
                    <a:ea typeface="Roboto" panose="02000000000000000000" pitchFamily="2" charset="0"/>
                  </a:rPr>
                  <a:t>13.5 seconds</a:t>
                </a:r>
              </a:p>
            </p:txBody>
          </p:sp>
        </p:grpSp>
        <p:sp>
          <p:nvSpPr>
            <p:cNvPr id="309" name="Line 94">
              <a:extLst>
                <a:ext uri="{FF2B5EF4-FFF2-40B4-BE49-F238E27FC236}">
                  <a16:creationId xmlns:a16="http://schemas.microsoft.com/office/drawing/2014/main" id="{0C333DAF-8BA5-582A-2E44-0F582B0DE1EF}"/>
                </a:ext>
              </a:extLst>
            </p:cNvPr>
            <p:cNvSpPr>
              <a:spLocks noChangeShapeType="1"/>
            </p:cNvSpPr>
            <p:nvPr/>
          </p:nvSpPr>
          <p:spPr bwMode="auto">
            <a:xfrm flipV="1">
              <a:off x="544513" y="5562600"/>
              <a:ext cx="5286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0" name="Line 95">
              <a:extLst>
                <a:ext uri="{FF2B5EF4-FFF2-40B4-BE49-F238E27FC236}">
                  <a16:creationId xmlns:a16="http://schemas.microsoft.com/office/drawing/2014/main" id="{25CCF082-A154-7FF9-7D42-C10A71C360C6}"/>
                </a:ext>
              </a:extLst>
            </p:cNvPr>
            <p:cNvSpPr>
              <a:spLocks noChangeShapeType="1"/>
            </p:cNvSpPr>
            <p:nvPr/>
          </p:nvSpPr>
          <p:spPr bwMode="auto">
            <a:xfrm>
              <a:off x="108743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1" name="Line 96">
              <a:extLst>
                <a:ext uri="{FF2B5EF4-FFF2-40B4-BE49-F238E27FC236}">
                  <a16:creationId xmlns:a16="http://schemas.microsoft.com/office/drawing/2014/main" id="{6780BC6B-DC5F-821C-CA61-CEC2626C42E6}"/>
                </a:ext>
              </a:extLst>
            </p:cNvPr>
            <p:cNvSpPr>
              <a:spLocks noChangeShapeType="1"/>
            </p:cNvSpPr>
            <p:nvPr/>
          </p:nvSpPr>
          <p:spPr bwMode="auto">
            <a:xfrm flipV="1">
              <a:off x="10795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2" name="Line 97">
              <a:extLst>
                <a:ext uri="{FF2B5EF4-FFF2-40B4-BE49-F238E27FC236}">
                  <a16:creationId xmlns:a16="http://schemas.microsoft.com/office/drawing/2014/main" id="{8689A5AD-B804-8D3E-2036-1CDB7A0462A8}"/>
                </a:ext>
              </a:extLst>
            </p:cNvPr>
            <p:cNvSpPr>
              <a:spLocks noChangeShapeType="1"/>
            </p:cNvSpPr>
            <p:nvPr/>
          </p:nvSpPr>
          <p:spPr bwMode="auto">
            <a:xfrm>
              <a:off x="1905000"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3" name="Line 98">
              <a:extLst>
                <a:ext uri="{FF2B5EF4-FFF2-40B4-BE49-F238E27FC236}">
                  <a16:creationId xmlns:a16="http://schemas.microsoft.com/office/drawing/2014/main" id="{57B20E5E-3170-42E0-B902-A2CFFE4B48CB}"/>
                </a:ext>
              </a:extLst>
            </p:cNvPr>
            <p:cNvSpPr>
              <a:spLocks noChangeShapeType="1"/>
            </p:cNvSpPr>
            <p:nvPr/>
          </p:nvSpPr>
          <p:spPr bwMode="auto">
            <a:xfrm>
              <a:off x="2403475"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4" name="Line 99">
              <a:extLst>
                <a:ext uri="{FF2B5EF4-FFF2-40B4-BE49-F238E27FC236}">
                  <a16:creationId xmlns:a16="http://schemas.microsoft.com/office/drawing/2014/main" id="{F3C9DEE9-6523-1751-12E7-1DA1A67B1B3F}"/>
                </a:ext>
              </a:extLst>
            </p:cNvPr>
            <p:cNvSpPr>
              <a:spLocks noChangeShapeType="1"/>
            </p:cNvSpPr>
            <p:nvPr/>
          </p:nvSpPr>
          <p:spPr bwMode="auto">
            <a:xfrm>
              <a:off x="1917700" y="5562600"/>
              <a:ext cx="48895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5" name="Line 100">
              <a:extLst>
                <a:ext uri="{FF2B5EF4-FFF2-40B4-BE49-F238E27FC236}">
                  <a16:creationId xmlns:a16="http://schemas.microsoft.com/office/drawing/2014/main" id="{FF3D3B88-A379-5428-39C4-C2F1FC3C3305}"/>
                </a:ext>
              </a:extLst>
            </p:cNvPr>
            <p:cNvSpPr>
              <a:spLocks noChangeShapeType="1"/>
            </p:cNvSpPr>
            <p:nvPr/>
          </p:nvSpPr>
          <p:spPr bwMode="auto">
            <a:xfrm>
              <a:off x="3235325"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6" name="Line 101">
              <a:extLst>
                <a:ext uri="{FF2B5EF4-FFF2-40B4-BE49-F238E27FC236}">
                  <a16:creationId xmlns:a16="http://schemas.microsoft.com/office/drawing/2014/main" id="{410A9886-B4D4-6CF1-B1B8-8C726B537C63}"/>
                </a:ext>
              </a:extLst>
            </p:cNvPr>
            <p:cNvSpPr>
              <a:spLocks noChangeShapeType="1"/>
            </p:cNvSpPr>
            <p:nvPr/>
          </p:nvSpPr>
          <p:spPr bwMode="auto">
            <a:xfrm>
              <a:off x="371633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7" name="Line 102">
              <a:extLst>
                <a:ext uri="{FF2B5EF4-FFF2-40B4-BE49-F238E27FC236}">
                  <a16:creationId xmlns:a16="http://schemas.microsoft.com/office/drawing/2014/main" id="{E6542DAC-624F-CF93-C565-DE9E0D4243EB}"/>
                </a:ext>
              </a:extLst>
            </p:cNvPr>
            <p:cNvSpPr>
              <a:spLocks noChangeShapeType="1"/>
            </p:cNvSpPr>
            <p:nvPr/>
          </p:nvSpPr>
          <p:spPr bwMode="auto">
            <a:xfrm>
              <a:off x="4570413"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8" name="Line 103">
              <a:extLst>
                <a:ext uri="{FF2B5EF4-FFF2-40B4-BE49-F238E27FC236}">
                  <a16:creationId xmlns:a16="http://schemas.microsoft.com/office/drawing/2014/main" id="{7F587D93-FDED-4CA3-FCB2-42C47D04E1E7}"/>
                </a:ext>
              </a:extLst>
            </p:cNvPr>
            <p:cNvSpPr>
              <a:spLocks noChangeShapeType="1"/>
            </p:cNvSpPr>
            <p:nvPr/>
          </p:nvSpPr>
          <p:spPr bwMode="auto">
            <a:xfrm flipV="1">
              <a:off x="2409825"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9" name="Line 104">
              <a:extLst>
                <a:ext uri="{FF2B5EF4-FFF2-40B4-BE49-F238E27FC236}">
                  <a16:creationId xmlns:a16="http://schemas.microsoft.com/office/drawing/2014/main" id="{27F20FCF-96CA-8859-68B6-8E81596A61A8}"/>
                </a:ext>
              </a:extLst>
            </p:cNvPr>
            <p:cNvSpPr>
              <a:spLocks noChangeShapeType="1"/>
            </p:cNvSpPr>
            <p:nvPr/>
          </p:nvSpPr>
          <p:spPr bwMode="auto">
            <a:xfrm flipV="1">
              <a:off x="37211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0" name="Line 105">
              <a:extLst>
                <a:ext uri="{FF2B5EF4-FFF2-40B4-BE49-F238E27FC236}">
                  <a16:creationId xmlns:a16="http://schemas.microsoft.com/office/drawing/2014/main" id="{869EB8EA-9243-7B71-3159-BC786D847357}"/>
                </a:ext>
              </a:extLst>
            </p:cNvPr>
            <p:cNvSpPr>
              <a:spLocks noChangeShapeType="1"/>
            </p:cNvSpPr>
            <p:nvPr/>
          </p:nvSpPr>
          <p:spPr bwMode="auto">
            <a:xfrm>
              <a:off x="3251200" y="5562600"/>
              <a:ext cx="4413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1" name="Line 106">
              <a:extLst>
                <a:ext uri="{FF2B5EF4-FFF2-40B4-BE49-F238E27FC236}">
                  <a16:creationId xmlns:a16="http://schemas.microsoft.com/office/drawing/2014/main" id="{2A9F6C3C-57E4-D2D4-5A3D-83C36534B525}"/>
                </a:ext>
              </a:extLst>
            </p:cNvPr>
            <p:cNvSpPr>
              <a:spLocks noChangeShapeType="1"/>
            </p:cNvSpPr>
            <p:nvPr/>
          </p:nvSpPr>
          <p:spPr bwMode="auto">
            <a:xfrm>
              <a:off x="4570413" y="5562600"/>
              <a:ext cx="442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322" name="Group 107">
              <a:extLst>
                <a:ext uri="{FF2B5EF4-FFF2-40B4-BE49-F238E27FC236}">
                  <a16:creationId xmlns:a16="http://schemas.microsoft.com/office/drawing/2014/main" id="{E99A99F6-05B1-1C1D-24BF-DDDC228D1FB8}"/>
                </a:ext>
              </a:extLst>
            </p:cNvPr>
            <p:cNvGrpSpPr>
              <a:grpSpLocks/>
            </p:cNvGrpSpPr>
            <p:nvPr/>
          </p:nvGrpSpPr>
          <p:grpSpPr bwMode="auto">
            <a:xfrm>
              <a:off x="1346200" y="2274888"/>
              <a:ext cx="2368550" cy="271462"/>
              <a:chOff x="947" y="1433"/>
              <a:chExt cx="1492" cy="171"/>
            </a:xfrm>
          </p:grpSpPr>
          <p:grpSp>
            <p:nvGrpSpPr>
              <p:cNvPr id="323" name="Group 108">
                <a:extLst>
                  <a:ext uri="{FF2B5EF4-FFF2-40B4-BE49-F238E27FC236}">
                    <a16:creationId xmlns:a16="http://schemas.microsoft.com/office/drawing/2014/main" id="{A17C3111-064A-FC4B-0F14-8D67C8A21EE3}"/>
                  </a:ext>
                </a:extLst>
              </p:cNvPr>
              <p:cNvGrpSpPr>
                <a:grpSpLocks/>
              </p:cNvGrpSpPr>
              <p:nvPr/>
            </p:nvGrpSpPr>
            <p:grpSpPr bwMode="auto">
              <a:xfrm>
                <a:off x="947" y="1481"/>
                <a:ext cx="1492" cy="51"/>
                <a:chOff x="947" y="1576"/>
                <a:chExt cx="1492" cy="51"/>
              </a:xfrm>
            </p:grpSpPr>
            <p:sp>
              <p:nvSpPr>
                <p:cNvPr id="325" name="Line 109">
                  <a:extLst>
                    <a:ext uri="{FF2B5EF4-FFF2-40B4-BE49-F238E27FC236}">
                      <a16:creationId xmlns:a16="http://schemas.microsoft.com/office/drawing/2014/main" id="{BB8719DE-274F-F730-CEAC-4FBDDAE95557}"/>
                    </a:ext>
                  </a:extLst>
                </p:cNvPr>
                <p:cNvSpPr>
                  <a:spLocks noChangeShapeType="1"/>
                </p:cNvSpPr>
                <p:nvPr/>
              </p:nvSpPr>
              <p:spPr bwMode="auto">
                <a:xfrm flipH="1">
                  <a:off x="947" y="1576"/>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6" name="Line 110">
                  <a:extLst>
                    <a:ext uri="{FF2B5EF4-FFF2-40B4-BE49-F238E27FC236}">
                      <a16:creationId xmlns:a16="http://schemas.microsoft.com/office/drawing/2014/main" id="{4AC1B296-16C0-37AF-73B5-556ABB730A3C}"/>
                    </a:ext>
                  </a:extLst>
                </p:cNvPr>
                <p:cNvSpPr>
                  <a:spLocks noChangeShapeType="1"/>
                </p:cNvSpPr>
                <p:nvPr/>
              </p:nvSpPr>
              <p:spPr bwMode="auto">
                <a:xfrm flipV="1">
                  <a:off x="1556" y="1626"/>
                  <a:ext cx="883"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7" name="Line 111">
                  <a:extLst>
                    <a:ext uri="{FF2B5EF4-FFF2-40B4-BE49-F238E27FC236}">
                      <a16:creationId xmlns:a16="http://schemas.microsoft.com/office/drawing/2014/main" id="{C4D2B0D8-9C42-188D-C3DC-0662779AAA65}"/>
                    </a:ext>
                  </a:extLst>
                </p:cNvPr>
                <p:cNvSpPr>
                  <a:spLocks noChangeShapeType="1"/>
                </p:cNvSpPr>
                <p:nvPr/>
              </p:nvSpPr>
              <p:spPr bwMode="auto">
                <a:xfrm flipV="1">
                  <a:off x="1551" y="1584"/>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24" name="Rectangle 112">
                <a:extLst>
                  <a:ext uri="{FF2B5EF4-FFF2-40B4-BE49-F238E27FC236}">
                    <a16:creationId xmlns:a16="http://schemas.microsoft.com/office/drawing/2014/main" id="{434CBE85-C8DC-1BCE-5E4B-85EC31E0041B}"/>
                  </a:ext>
                </a:extLst>
              </p:cNvPr>
              <p:cNvSpPr>
                <a:spLocks noChangeArrowheads="1"/>
              </p:cNvSpPr>
              <p:nvPr/>
            </p:nvSpPr>
            <p:spPr bwMode="auto">
              <a:xfrm>
                <a:off x="1700" y="1433"/>
                <a:ext cx="395" cy="171"/>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Weekly</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Fax</a:t>
                </a:r>
              </a:p>
            </p:txBody>
          </p:sp>
        </p:grpSp>
        <p:grpSp>
          <p:nvGrpSpPr>
            <p:cNvPr id="328" name="Group 113">
              <a:extLst>
                <a:ext uri="{FF2B5EF4-FFF2-40B4-BE49-F238E27FC236}">
                  <a16:creationId xmlns:a16="http://schemas.microsoft.com/office/drawing/2014/main" id="{ED56B5A6-E2DC-382D-BA54-3B697AC6FBC3}"/>
                </a:ext>
              </a:extLst>
            </p:cNvPr>
            <p:cNvGrpSpPr>
              <a:grpSpLocks/>
            </p:cNvGrpSpPr>
            <p:nvPr/>
          </p:nvGrpSpPr>
          <p:grpSpPr bwMode="auto">
            <a:xfrm>
              <a:off x="4683125" y="2251075"/>
              <a:ext cx="3052763" cy="260350"/>
              <a:chOff x="3049" y="1390"/>
              <a:chExt cx="1329" cy="164"/>
            </a:xfrm>
          </p:grpSpPr>
          <p:grpSp>
            <p:nvGrpSpPr>
              <p:cNvPr id="329" name="Group 114">
                <a:extLst>
                  <a:ext uri="{FF2B5EF4-FFF2-40B4-BE49-F238E27FC236}">
                    <a16:creationId xmlns:a16="http://schemas.microsoft.com/office/drawing/2014/main" id="{E45E99F1-3BCC-8FC1-571F-92F1B7D734CE}"/>
                  </a:ext>
                </a:extLst>
              </p:cNvPr>
              <p:cNvGrpSpPr>
                <a:grpSpLocks/>
              </p:cNvGrpSpPr>
              <p:nvPr/>
            </p:nvGrpSpPr>
            <p:grpSpPr bwMode="auto">
              <a:xfrm>
                <a:off x="3049" y="1442"/>
                <a:ext cx="1329" cy="51"/>
                <a:chOff x="3049" y="1442"/>
                <a:chExt cx="1329" cy="51"/>
              </a:xfrm>
            </p:grpSpPr>
            <p:sp>
              <p:nvSpPr>
                <p:cNvPr id="331" name="Line 115">
                  <a:extLst>
                    <a:ext uri="{FF2B5EF4-FFF2-40B4-BE49-F238E27FC236}">
                      <a16:creationId xmlns:a16="http://schemas.microsoft.com/office/drawing/2014/main" id="{5EC26F2A-A755-A2B4-759D-8A9BC7A01FF6}"/>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2" name="Line 116">
                  <a:extLst>
                    <a:ext uri="{FF2B5EF4-FFF2-40B4-BE49-F238E27FC236}">
                      <a16:creationId xmlns:a16="http://schemas.microsoft.com/office/drawing/2014/main" id="{9B73D5C0-3628-D118-8850-B71BE2A9A046}"/>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3" name="Line 117">
                  <a:extLst>
                    <a:ext uri="{FF2B5EF4-FFF2-40B4-BE49-F238E27FC236}">
                      <a16:creationId xmlns:a16="http://schemas.microsoft.com/office/drawing/2014/main" id="{2E46AC1C-4DE5-2E93-E472-11D116829D9B}"/>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30" name="Rectangle 118">
                <a:extLst>
                  <a:ext uri="{FF2B5EF4-FFF2-40B4-BE49-F238E27FC236}">
                    <a16:creationId xmlns:a16="http://schemas.microsoft.com/office/drawing/2014/main" id="{C6B0D621-E8D4-DF11-F862-8D6802EA3DAD}"/>
                  </a:ext>
                </a:extLst>
              </p:cNvPr>
              <p:cNvSpPr>
                <a:spLocks noChangeArrowheads="1"/>
              </p:cNvSpPr>
              <p:nvPr/>
            </p:nvSpPr>
            <p:spPr bwMode="auto">
              <a:xfrm>
                <a:off x="3784" y="1390"/>
                <a:ext cx="404"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Daily Orders</a:t>
                </a:r>
              </a:p>
            </p:txBody>
          </p:sp>
        </p:grpSp>
        <p:grpSp>
          <p:nvGrpSpPr>
            <p:cNvPr id="334" name="Group 119">
              <a:extLst>
                <a:ext uri="{FF2B5EF4-FFF2-40B4-BE49-F238E27FC236}">
                  <a16:creationId xmlns:a16="http://schemas.microsoft.com/office/drawing/2014/main" id="{E6687B3F-FBE2-190B-229D-200FA9CCEEFF}"/>
                </a:ext>
              </a:extLst>
            </p:cNvPr>
            <p:cNvGrpSpPr>
              <a:grpSpLocks/>
            </p:cNvGrpSpPr>
            <p:nvPr/>
          </p:nvGrpSpPr>
          <p:grpSpPr bwMode="auto">
            <a:xfrm>
              <a:off x="3716338" y="2027238"/>
              <a:ext cx="974725" cy="711200"/>
              <a:chOff x="2440" y="1277"/>
              <a:chExt cx="614" cy="448"/>
            </a:xfrm>
          </p:grpSpPr>
          <p:sp>
            <p:nvSpPr>
              <p:cNvPr id="335" name="Rectangle 120">
                <a:extLst>
                  <a:ext uri="{FF2B5EF4-FFF2-40B4-BE49-F238E27FC236}">
                    <a16:creationId xmlns:a16="http://schemas.microsoft.com/office/drawing/2014/main" id="{6FE99BA0-664F-D134-924B-7F814DC71145}"/>
                  </a:ext>
                </a:extLst>
              </p:cNvPr>
              <p:cNvSpPr>
                <a:spLocks noChangeArrowheads="1"/>
              </p:cNvSpPr>
              <p:nvPr/>
            </p:nvSpPr>
            <p:spPr bwMode="auto">
              <a:xfrm>
                <a:off x="2440" y="1277"/>
                <a:ext cx="614" cy="447"/>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200" b="0">
                  <a:solidFill>
                    <a:schemeClr val="tx1"/>
                  </a:solidFill>
                  <a:latin typeface="Roboto" panose="02000000000000000000" pitchFamily="2" charset="0"/>
                  <a:ea typeface="Roboto" panose="02000000000000000000" pitchFamily="2" charset="0"/>
                </a:endParaRPr>
              </a:p>
            </p:txBody>
          </p:sp>
          <p:sp>
            <p:nvSpPr>
              <p:cNvPr id="336" name="Rectangle 121">
                <a:extLst>
                  <a:ext uri="{FF2B5EF4-FFF2-40B4-BE49-F238E27FC236}">
                    <a16:creationId xmlns:a16="http://schemas.microsoft.com/office/drawing/2014/main" id="{B528D23A-FA77-2345-7C7C-26E785CF2BC8}"/>
                  </a:ext>
                </a:extLst>
              </p:cNvPr>
              <p:cNvSpPr>
                <a:spLocks noChangeArrowheads="1"/>
              </p:cNvSpPr>
              <p:nvPr/>
            </p:nvSpPr>
            <p:spPr bwMode="auto">
              <a:xfrm>
                <a:off x="2501" y="1566"/>
                <a:ext cx="490" cy="159"/>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b="0">
                    <a:solidFill>
                      <a:schemeClr val="tx1"/>
                    </a:solidFill>
                    <a:latin typeface="Roboto" panose="02000000000000000000" pitchFamily="2" charset="0"/>
                    <a:ea typeface="Roboto" panose="02000000000000000000" pitchFamily="2" charset="0"/>
                  </a:rPr>
                  <a:t>MRP</a:t>
                </a:r>
              </a:p>
              <a:p>
                <a:pPr>
                  <a:lnSpc>
                    <a:spcPct val="90000"/>
                  </a:lnSpc>
                  <a:spcBef>
                    <a:spcPct val="0"/>
                  </a:spcBef>
                </a:pPr>
                <a:r>
                  <a:rPr lang="en-US" altLang="en-US" b="0">
                    <a:solidFill>
                      <a:schemeClr val="tx1"/>
                    </a:solidFill>
                    <a:latin typeface="Roboto" panose="02000000000000000000" pitchFamily="2" charset="0"/>
                    <a:ea typeface="Roboto" panose="02000000000000000000" pitchFamily="2" charset="0"/>
                  </a:rPr>
                  <a:t>System</a:t>
                </a:r>
              </a:p>
            </p:txBody>
          </p:sp>
          <p:sp>
            <p:nvSpPr>
              <p:cNvPr id="337" name="Text Box 122">
                <a:extLst>
                  <a:ext uri="{FF2B5EF4-FFF2-40B4-BE49-F238E27FC236}">
                    <a16:creationId xmlns:a16="http://schemas.microsoft.com/office/drawing/2014/main" id="{3A41717F-CD87-F56C-FBFF-66EE2E7670C6}"/>
                  </a:ext>
                </a:extLst>
              </p:cNvPr>
              <p:cNvSpPr txBox="1">
                <a:spLocks noChangeArrowheads="1"/>
              </p:cNvSpPr>
              <p:nvPr/>
            </p:nvSpPr>
            <p:spPr bwMode="auto">
              <a:xfrm>
                <a:off x="2462" y="1283"/>
                <a:ext cx="56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Production Control</a:t>
                </a:r>
              </a:p>
            </p:txBody>
          </p:sp>
        </p:grpSp>
        <p:sp>
          <p:nvSpPr>
            <p:cNvPr id="338" name="Line 123">
              <a:extLst>
                <a:ext uri="{FF2B5EF4-FFF2-40B4-BE49-F238E27FC236}">
                  <a16:creationId xmlns:a16="http://schemas.microsoft.com/office/drawing/2014/main" id="{3DC1F505-83B9-3AD9-438D-58AF1F776576}"/>
                </a:ext>
              </a:extLst>
            </p:cNvPr>
            <p:cNvSpPr>
              <a:spLocks noChangeShapeType="1"/>
            </p:cNvSpPr>
            <p:nvPr/>
          </p:nvSpPr>
          <p:spPr bwMode="auto">
            <a:xfrm>
              <a:off x="4565650" y="2740025"/>
              <a:ext cx="3149600" cy="1057275"/>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9" name="Rectangle 124">
              <a:extLst>
                <a:ext uri="{FF2B5EF4-FFF2-40B4-BE49-F238E27FC236}">
                  <a16:creationId xmlns:a16="http://schemas.microsoft.com/office/drawing/2014/main" id="{F1036142-9515-CD1A-D410-1335ED2C2CF1}"/>
                </a:ext>
              </a:extLst>
            </p:cNvPr>
            <p:cNvSpPr>
              <a:spLocks noChangeArrowheads="1"/>
            </p:cNvSpPr>
            <p:nvPr/>
          </p:nvSpPr>
          <p:spPr bwMode="auto">
            <a:xfrm>
              <a:off x="6281738" y="3240088"/>
              <a:ext cx="627062" cy="311150"/>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Daily Ship</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Schedule</a:t>
              </a:r>
            </a:p>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(Paper)</a:t>
              </a:r>
            </a:p>
          </p:txBody>
        </p:sp>
        <p:sp>
          <p:nvSpPr>
            <p:cNvPr id="340" name="Rectangle 125">
              <a:extLst>
                <a:ext uri="{FF2B5EF4-FFF2-40B4-BE49-F238E27FC236}">
                  <a16:creationId xmlns:a16="http://schemas.microsoft.com/office/drawing/2014/main" id="{564A653B-B07E-6C02-C029-CAC662D66918}"/>
                </a:ext>
              </a:extLst>
            </p:cNvPr>
            <p:cNvSpPr>
              <a:spLocks noChangeArrowheads="1"/>
            </p:cNvSpPr>
            <p:nvPr/>
          </p:nvSpPr>
          <p:spPr bwMode="auto">
            <a:xfrm>
              <a:off x="518225" y="4233863"/>
              <a:ext cx="449452" cy="344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6,000 </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Cut Bars</a:t>
              </a:r>
              <a:endParaRPr lang="en-US" altLang="en-US" sz="800" b="0">
                <a:solidFill>
                  <a:srgbClr val="FF0000"/>
                </a:solidFill>
                <a:latin typeface="Roboto" panose="02000000000000000000" pitchFamily="2" charset="0"/>
                <a:ea typeface="Roboto" panose="02000000000000000000" pitchFamily="2" charset="0"/>
              </a:endParaRPr>
            </a:p>
          </p:txBody>
        </p:sp>
        <p:sp>
          <p:nvSpPr>
            <p:cNvPr id="341" name="Rectangle 126">
              <a:extLst>
                <a:ext uri="{FF2B5EF4-FFF2-40B4-BE49-F238E27FC236}">
                  <a16:creationId xmlns:a16="http://schemas.microsoft.com/office/drawing/2014/main" id="{2966AC72-BA3F-C59D-89EA-2BBA9FD64600}"/>
                </a:ext>
              </a:extLst>
            </p:cNvPr>
            <p:cNvSpPr>
              <a:spLocks noChangeArrowheads="1"/>
            </p:cNvSpPr>
            <p:nvPr/>
          </p:nvSpPr>
          <p:spPr bwMode="auto">
            <a:xfrm>
              <a:off x="1886547" y="4233863"/>
              <a:ext cx="478230" cy="47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12k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6k Metric</a:t>
              </a:r>
              <a:endParaRPr lang="en-US" altLang="en-US" sz="800" b="0">
                <a:solidFill>
                  <a:srgbClr val="FF0000"/>
                </a:solidFill>
                <a:latin typeface="Roboto" panose="02000000000000000000" pitchFamily="2" charset="0"/>
                <a:ea typeface="Roboto" panose="02000000000000000000" pitchFamily="2" charset="0"/>
              </a:endParaRPr>
            </a:p>
          </p:txBody>
        </p:sp>
        <p:sp>
          <p:nvSpPr>
            <p:cNvPr id="342" name="Rectangle 127">
              <a:extLst>
                <a:ext uri="{FF2B5EF4-FFF2-40B4-BE49-F238E27FC236}">
                  <a16:creationId xmlns:a16="http://schemas.microsoft.com/office/drawing/2014/main" id="{78AF441B-371E-E7A7-39B2-6F4CA7E39EBF}"/>
                </a:ext>
              </a:extLst>
            </p:cNvPr>
            <p:cNvSpPr>
              <a:spLocks noChangeArrowheads="1"/>
            </p:cNvSpPr>
            <p:nvPr/>
          </p:nvSpPr>
          <p:spPr bwMode="auto">
            <a:xfrm>
              <a:off x="3210522" y="4233863"/>
              <a:ext cx="478230" cy="47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7k Metric</a:t>
              </a:r>
              <a:endParaRPr lang="en-US" altLang="en-US" sz="800" b="0">
                <a:solidFill>
                  <a:srgbClr val="FF0000"/>
                </a:solidFill>
                <a:latin typeface="Roboto" panose="02000000000000000000" pitchFamily="2" charset="0"/>
                <a:ea typeface="Roboto" panose="02000000000000000000" pitchFamily="2" charset="0"/>
              </a:endParaRPr>
            </a:p>
          </p:txBody>
        </p:sp>
        <p:sp>
          <p:nvSpPr>
            <p:cNvPr id="343" name="Rectangle 128">
              <a:extLst>
                <a:ext uri="{FF2B5EF4-FFF2-40B4-BE49-F238E27FC236}">
                  <a16:creationId xmlns:a16="http://schemas.microsoft.com/office/drawing/2014/main" id="{1F60CB06-A9D9-A433-9FDE-1E42F9527882}"/>
                </a:ext>
              </a:extLst>
            </p:cNvPr>
            <p:cNvSpPr>
              <a:spLocks noChangeArrowheads="1"/>
            </p:cNvSpPr>
            <p:nvPr/>
          </p:nvSpPr>
          <p:spPr bwMode="auto">
            <a:xfrm>
              <a:off x="4504037" y="4233863"/>
              <a:ext cx="523276" cy="47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35k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20k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344" name="Group 131">
              <a:extLst>
                <a:ext uri="{FF2B5EF4-FFF2-40B4-BE49-F238E27FC236}">
                  <a16:creationId xmlns:a16="http://schemas.microsoft.com/office/drawing/2014/main" id="{7E0A3BB4-A422-863F-D386-C269C97529E1}"/>
                </a:ext>
              </a:extLst>
            </p:cNvPr>
            <p:cNvGrpSpPr>
              <a:grpSpLocks/>
            </p:cNvGrpSpPr>
            <p:nvPr/>
          </p:nvGrpSpPr>
          <p:grpSpPr bwMode="auto">
            <a:xfrm>
              <a:off x="996950" y="3810001"/>
              <a:ext cx="904875" cy="1284288"/>
              <a:chOff x="982" y="2400"/>
              <a:chExt cx="570" cy="809"/>
            </a:xfrm>
          </p:grpSpPr>
          <p:grpSp>
            <p:nvGrpSpPr>
              <p:cNvPr id="345" name="Group 132">
                <a:extLst>
                  <a:ext uri="{FF2B5EF4-FFF2-40B4-BE49-F238E27FC236}">
                    <a16:creationId xmlns:a16="http://schemas.microsoft.com/office/drawing/2014/main" id="{17CD30EC-0729-D2D8-64F5-58ACF5CD0787}"/>
                  </a:ext>
                </a:extLst>
              </p:cNvPr>
              <p:cNvGrpSpPr>
                <a:grpSpLocks/>
              </p:cNvGrpSpPr>
              <p:nvPr/>
            </p:nvGrpSpPr>
            <p:grpSpPr bwMode="auto">
              <a:xfrm>
                <a:off x="1008" y="2400"/>
                <a:ext cx="540" cy="376"/>
                <a:chOff x="1367" y="2370"/>
                <a:chExt cx="434" cy="390"/>
              </a:xfrm>
            </p:grpSpPr>
            <p:grpSp>
              <p:nvGrpSpPr>
                <p:cNvPr id="349" name="Group 133">
                  <a:extLst>
                    <a:ext uri="{FF2B5EF4-FFF2-40B4-BE49-F238E27FC236}">
                      <a16:creationId xmlns:a16="http://schemas.microsoft.com/office/drawing/2014/main" id="{BE927B57-9A41-0939-C1A0-6607CC3C449D}"/>
                    </a:ext>
                  </a:extLst>
                </p:cNvPr>
                <p:cNvGrpSpPr>
                  <a:grpSpLocks/>
                </p:cNvGrpSpPr>
                <p:nvPr/>
              </p:nvGrpSpPr>
              <p:grpSpPr bwMode="auto">
                <a:xfrm>
                  <a:off x="1367" y="2395"/>
                  <a:ext cx="434" cy="365"/>
                  <a:chOff x="418" y="2981"/>
                  <a:chExt cx="352" cy="365"/>
                </a:xfrm>
              </p:grpSpPr>
              <p:sp>
                <p:nvSpPr>
                  <p:cNvPr id="355" name="Rectangle 134">
                    <a:extLst>
                      <a:ext uri="{FF2B5EF4-FFF2-40B4-BE49-F238E27FC236}">
                        <a16:creationId xmlns:a16="http://schemas.microsoft.com/office/drawing/2014/main" id="{73832230-ECAE-7C15-AC3A-582C02041DE3}"/>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6" name="Line 135">
                    <a:extLst>
                      <a:ext uri="{FF2B5EF4-FFF2-40B4-BE49-F238E27FC236}">
                        <a16:creationId xmlns:a16="http://schemas.microsoft.com/office/drawing/2014/main" id="{D2D24321-18FC-3564-352E-1FB41BADC189}"/>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350" name="Group 136">
                  <a:extLst>
                    <a:ext uri="{FF2B5EF4-FFF2-40B4-BE49-F238E27FC236}">
                      <a16:creationId xmlns:a16="http://schemas.microsoft.com/office/drawing/2014/main" id="{D5B3A7CB-0F95-C1DE-90DC-E0AB6A307973}"/>
                    </a:ext>
                  </a:extLst>
                </p:cNvPr>
                <p:cNvGrpSpPr>
                  <a:grpSpLocks/>
                </p:cNvGrpSpPr>
                <p:nvPr/>
              </p:nvGrpSpPr>
              <p:grpSpPr bwMode="auto">
                <a:xfrm flipV="1">
                  <a:off x="1462" y="2586"/>
                  <a:ext cx="96" cy="112"/>
                  <a:chOff x="720" y="3354"/>
                  <a:chExt cx="192" cy="198"/>
                </a:xfrm>
              </p:grpSpPr>
              <p:sp>
                <p:nvSpPr>
                  <p:cNvPr id="353" name="Oval 137">
                    <a:extLst>
                      <a:ext uri="{FF2B5EF4-FFF2-40B4-BE49-F238E27FC236}">
                        <a16:creationId xmlns:a16="http://schemas.microsoft.com/office/drawing/2014/main" id="{37FD7A0C-6B35-FAD6-AA55-4A219AD3EEE9}"/>
                      </a:ext>
                    </a:extLst>
                  </p:cNvPr>
                  <p:cNvSpPr>
                    <a:spLocks noChangeArrowheads="1"/>
                  </p:cNvSpPr>
                  <p:nvPr/>
                </p:nvSpPr>
                <p:spPr bwMode="auto">
                  <a:xfrm>
                    <a:off x="768" y="3408"/>
                    <a:ext cx="96" cy="9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4" name="AutoShape 138">
                    <a:extLst>
                      <a:ext uri="{FF2B5EF4-FFF2-40B4-BE49-F238E27FC236}">
                        <a16:creationId xmlns:a16="http://schemas.microsoft.com/office/drawing/2014/main" id="{750F196A-3300-D352-FE72-AD1FA105472B}"/>
                      </a:ext>
                    </a:extLst>
                  </p:cNvPr>
                  <p:cNvSpPr>
                    <a:spLocks noChangeArrowheads="1"/>
                  </p:cNvSpPr>
                  <p:nvPr/>
                </p:nvSpPr>
                <p:spPr bwMode="auto">
                  <a:xfrm>
                    <a:off x="720" y="3354"/>
                    <a:ext cx="193"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351" name="Text Box 139">
                  <a:extLst>
                    <a:ext uri="{FF2B5EF4-FFF2-40B4-BE49-F238E27FC236}">
                      <a16:creationId xmlns:a16="http://schemas.microsoft.com/office/drawing/2014/main" id="{47C9D0A6-3A6F-84CB-9466-2400E9604886}"/>
                    </a:ext>
                  </a:extLst>
                </p:cNvPr>
                <p:cNvSpPr txBox="1">
                  <a:spLocks noChangeArrowheads="1"/>
                </p:cNvSpPr>
                <p:nvPr/>
              </p:nvSpPr>
              <p:spPr bwMode="auto">
                <a:xfrm>
                  <a:off x="1585" y="2584"/>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6</a:t>
                  </a:r>
                </a:p>
              </p:txBody>
            </p:sp>
            <p:sp>
              <p:nvSpPr>
                <p:cNvPr id="352" name="Text Box 140">
                  <a:extLst>
                    <a:ext uri="{FF2B5EF4-FFF2-40B4-BE49-F238E27FC236}">
                      <a16:creationId xmlns:a16="http://schemas.microsoft.com/office/drawing/2014/main" id="{9D3FA620-6E67-6CDF-64C9-A3A1CD9AE18F}"/>
                    </a:ext>
                  </a:extLst>
                </p:cNvPr>
                <p:cNvSpPr txBox="1">
                  <a:spLocks noChangeArrowheads="1"/>
                </p:cNvSpPr>
                <p:nvPr/>
              </p:nvSpPr>
              <p:spPr bwMode="auto">
                <a:xfrm>
                  <a:off x="1382" y="2370"/>
                  <a:ext cx="40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Forge</a:t>
                  </a:r>
                </a:p>
              </p:txBody>
            </p:sp>
          </p:grpSp>
          <p:grpSp>
            <p:nvGrpSpPr>
              <p:cNvPr id="346" name="Group 141">
                <a:extLst>
                  <a:ext uri="{FF2B5EF4-FFF2-40B4-BE49-F238E27FC236}">
                    <a16:creationId xmlns:a16="http://schemas.microsoft.com/office/drawing/2014/main" id="{0E86ABC0-2841-D18D-D582-00090A2BE09F}"/>
                  </a:ext>
                </a:extLst>
              </p:cNvPr>
              <p:cNvGrpSpPr>
                <a:grpSpLocks/>
              </p:cNvGrpSpPr>
              <p:nvPr/>
            </p:nvGrpSpPr>
            <p:grpSpPr bwMode="auto">
              <a:xfrm>
                <a:off x="982" y="2834"/>
                <a:ext cx="570" cy="375"/>
                <a:chOff x="983" y="2832"/>
                <a:chExt cx="554" cy="445"/>
              </a:xfrm>
            </p:grpSpPr>
            <p:sp>
              <p:nvSpPr>
                <p:cNvPr id="347" name="Rectangle 142">
                  <a:extLst>
                    <a:ext uri="{FF2B5EF4-FFF2-40B4-BE49-F238E27FC236}">
                      <a16:creationId xmlns:a16="http://schemas.microsoft.com/office/drawing/2014/main" id="{FDC20B34-86D6-2A4D-223E-E4890E4F39AE}"/>
                    </a:ext>
                  </a:extLst>
                </p:cNvPr>
                <p:cNvSpPr>
                  <a:spLocks noChangeArrowheads="1"/>
                </p:cNvSpPr>
                <p:nvPr/>
              </p:nvSpPr>
              <p:spPr bwMode="auto">
                <a:xfrm>
                  <a:off x="1012" y="2832"/>
                  <a:ext cx="525" cy="432"/>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48" name="Text Box 143">
                  <a:extLst>
                    <a:ext uri="{FF2B5EF4-FFF2-40B4-BE49-F238E27FC236}">
                      <a16:creationId xmlns:a16="http://schemas.microsoft.com/office/drawing/2014/main" id="{A4D1BC85-913D-02C5-E880-132CB528A7A9}"/>
                    </a:ext>
                  </a:extLst>
                </p:cNvPr>
                <p:cNvSpPr txBox="1">
                  <a:spLocks noChangeArrowheads="1"/>
                </p:cNvSpPr>
                <p:nvPr/>
              </p:nvSpPr>
              <p:spPr bwMode="auto">
                <a:xfrm>
                  <a:off x="983" y="2832"/>
                  <a:ext cx="553"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12</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60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100%</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95%</a:t>
                  </a:r>
                </a:p>
              </p:txBody>
            </p:sp>
          </p:grpSp>
        </p:grpSp>
        <p:grpSp>
          <p:nvGrpSpPr>
            <p:cNvPr id="357" name="Group 151">
              <a:extLst>
                <a:ext uri="{FF2B5EF4-FFF2-40B4-BE49-F238E27FC236}">
                  <a16:creationId xmlns:a16="http://schemas.microsoft.com/office/drawing/2014/main" id="{54BC876A-8EF1-B230-0615-AD2078C34A14}"/>
                </a:ext>
              </a:extLst>
            </p:cNvPr>
            <p:cNvGrpSpPr>
              <a:grpSpLocks/>
            </p:cNvGrpSpPr>
            <p:nvPr/>
          </p:nvGrpSpPr>
          <p:grpSpPr bwMode="auto">
            <a:xfrm>
              <a:off x="4676775" y="1958975"/>
              <a:ext cx="3081338" cy="260350"/>
              <a:chOff x="3049" y="1390"/>
              <a:chExt cx="1329" cy="164"/>
            </a:xfrm>
          </p:grpSpPr>
          <p:grpSp>
            <p:nvGrpSpPr>
              <p:cNvPr id="358" name="Group 152">
                <a:extLst>
                  <a:ext uri="{FF2B5EF4-FFF2-40B4-BE49-F238E27FC236}">
                    <a16:creationId xmlns:a16="http://schemas.microsoft.com/office/drawing/2014/main" id="{C475A0D0-8BDA-5A94-7B7A-AB6981FD512E}"/>
                  </a:ext>
                </a:extLst>
              </p:cNvPr>
              <p:cNvGrpSpPr>
                <a:grpSpLocks/>
              </p:cNvGrpSpPr>
              <p:nvPr/>
            </p:nvGrpSpPr>
            <p:grpSpPr bwMode="auto">
              <a:xfrm>
                <a:off x="3049" y="1442"/>
                <a:ext cx="1329" cy="51"/>
                <a:chOff x="3049" y="1442"/>
                <a:chExt cx="1329" cy="51"/>
              </a:xfrm>
            </p:grpSpPr>
            <p:sp>
              <p:nvSpPr>
                <p:cNvPr id="360" name="Line 153">
                  <a:extLst>
                    <a:ext uri="{FF2B5EF4-FFF2-40B4-BE49-F238E27FC236}">
                      <a16:creationId xmlns:a16="http://schemas.microsoft.com/office/drawing/2014/main" id="{597DEC94-E408-4EEB-2F06-D48BFE6891BC}"/>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61" name="Line 154">
                  <a:extLst>
                    <a:ext uri="{FF2B5EF4-FFF2-40B4-BE49-F238E27FC236}">
                      <a16:creationId xmlns:a16="http://schemas.microsoft.com/office/drawing/2014/main" id="{9A36613D-B91D-F25A-DD90-D2F8C401FA3B}"/>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62" name="Line 155">
                  <a:extLst>
                    <a:ext uri="{FF2B5EF4-FFF2-40B4-BE49-F238E27FC236}">
                      <a16:creationId xmlns:a16="http://schemas.microsoft.com/office/drawing/2014/main" id="{E8BBCE66-25D7-E382-596F-CD10F2B02C47}"/>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59" name="Rectangle 156">
                <a:extLst>
                  <a:ext uri="{FF2B5EF4-FFF2-40B4-BE49-F238E27FC236}">
                    <a16:creationId xmlns:a16="http://schemas.microsoft.com/office/drawing/2014/main" id="{42E0299B-CCA9-0EF5-8FAA-374A7A122440}"/>
                  </a:ext>
                </a:extLst>
              </p:cNvPr>
              <p:cNvSpPr>
                <a:spLocks noChangeArrowheads="1"/>
              </p:cNvSpPr>
              <p:nvPr/>
            </p:nvSpPr>
            <p:spPr bwMode="auto">
              <a:xfrm>
                <a:off x="3784" y="1390"/>
                <a:ext cx="405"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90/60/30</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Forecast</a:t>
                </a:r>
              </a:p>
            </p:txBody>
          </p:sp>
        </p:grpSp>
        <p:grpSp>
          <p:nvGrpSpPr>
            <p:cNvPr id="363" name="Group 157">
              <a:extLst>
                <a:ext uri="{FF2B5EF4-FFF2-40B4-BE49-F238E27FC236}">
                  <a16:creationId xmlns:a16="http://schemas.microsoft.com/office/drawing/2014/main" id="{5661F2FE-DEB0-BC45-5611-EF3C4921987E}"/>
                </a:ext>
              </a:extLst>
            </p:cNvPr>
            <p:cNvGrpSpPr>
              <a:grpSpLocks/>
            </p:cNvGrpSpPr>
            <p:nvPr/>
          </p:nvGrpSpPr>
          <p:grpSpPr bwMode="auto">
            <a:xfrm>
              <a:off x="5019675" y="3786188"/>
              <a:ext cx="893763" cy="1284287"/>
              <a:chOff x="3279" y="2385"/>
              <a:chExt cx="563" cy="809"/>
            </a:xfrm>
          </p:grpSpPr>
          <p:grpSp>
            <p:nvGrpSpPr>
              <p:cNvPr id="364" name="Group 158">
                <a:extLst>
                  <a:ext uri="{FF2B5EF4-FFF2-40B4-BE49-F238E27FC236}">
                    <a16:creationId xmlns:a16="http://schemas.microsoft.com/office/drawing/2014/main" id="{B6396489-95C4-F003-8262-DDC0BA1CCD0F}"/>
                  </a:ext>
                </a:extLst>
              </p:cNvPr>
              <p:cNvGrpSpPr>
                <a:grpSpLocks/>
              </p:cNvGrpSpPr>
              <p:nvPr/>
            </p:nvGrpSpPr>
            <p:grpSpPr bwMode="auto">
              <a:xfrm>
                <a:off x="3284" y="2385"/>
                <a:ext cx="525" cy="390"/>
                <a:chOff x="4424" y="2385"/>
                <a:chExt cx="525" cy="390"/>
              </a:xfrm>
            </p:grpSpPr>
            <p:grpSp>
              <p:nvGrpSpPr>
                <p:cNvPr id="370" name="Group 159">
                  <a:extLst>
                    <a:ext uri="{FF2B5EF4-FFF2-40B4-BE49-F238E27FC236}">
                      <a16:creationId xmlns:a16="http://schemas.microsoft.com/office/drawing/2014/main" id="{0E0FF769-B657-CFC0-4100-3E6FC0EBAE31}"/>
                    </a:ext>
                  </a:extLst>
                </p:cNvPr>
                <p:cNvGrpSpPr>
                  <a:grpSpLocks/>
                </p:cNvGrpSpPr>
                <p:nvPr/>
              </p:nvGrpSpPr>
              <p:grpSpPr bwMode="auto">
                <a:xfrm>
                  <a:off x="4424" y="2410"/>
                  <a:ext cx="525" cy="365"/>
                  <a:chOff x="418" y="2981"/>
                  <a:chExt cx="352" cy="365"/>
                </a:xfrm>
              </p:grpSpPr>
              <p:sp>
                <p:nvSpPr>
                  <p:cNvPr id="372" name="Rectangle 160">
                    <a:extLst>
                      <a:ext uri="{FF2B5EF4-FFF2-40B4-BE49-F238E27FC236}">
                        <a16:creationId xmlns:a16="http://schemas.microsoft.com/office/drawing/2014/main" id="{7F7335AD-1F64-76F5-1A94-5FA58F57380E}"/>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73" name="Line 161">
                    <a:extLst>
                      <a:ext uri="{FF2B5EF4-FFF2-40B4-BE49-F238E27FC236}">
                        <a16:creationId xmlns:a16="http://schemas.microsoft.com/office/drawing/2014/main" id="{46A2D4AD-0D44-84B0-2E6C-7BD68F9A6A6F}"/>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71" name="Text Box 162">
                  <a:extLst>
                    <a:ext uri="{FF2B5EF4-FFF2-40B4-BE49-F238E27FC236}">
                      <a16:creationId xmlns:a16="http://schemas.microsoft.com/office/drawing/2014/main" id="{9A9E77BF-0B99-4962-E41F-5F8BE9691245}"/>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Plate</a:t>
                  </a:r>
                </a:p>
              </p:txBody>
            </p:sp>
          </p:grpSp>
          <p:grpSp>
            <p:nvGrpSpPr>
              <p:cNvPr id="365" name="Group 163">
                <a:extLst>
                  <a:ext uri="{FF2B5EF4-FFF2-40B4-BE49-F238E27FC236}">
                    <a16:creationId xmlns:a16="http://schemas.microsoft.com/office/drawing/2014/main" id="{E1467294-6480-AC75-DDAB-DDF82E688725}"/>
                  </a:ext>
                </a:extLst>
              </p:cNvPr>
              <p:cNvGrpSpPr>
                <a:grpSpLocks/>
              </p:cNvGrpSpPr>
              <p:nvPr/>
            </p:nvGrpSpPr>
            <p:grpSpPr bwMode="auto">
              <a:xfrm flipV="1">
                <a:off x="3356" y="2582"/>
                <a:ext cx="116" cy="112"/>
                <a:chOff x="720" y="3354"/>
                <a:chExt cx="192" cy="198"/>
              </a:xfrm>
            </p:grpSpPr>
            <p:sp>
              <p:nvSpPr>
                <p:cNvPr id="368" name="Oval 164">
                  <a:extLst>
                    <a:ext uri="{FF2B5EF4-FFF2-40B4-BE49-F238E27FC236}">
                      <a16:creationId xmlns:a16="http://schemas.microsoft.com/office/drawing/2014/main" id="{22B5D552-15E6-8017-FE98-1A813BBCCC98}"/>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69" name="AutoShape 165">
                  <a:extLst>
                    <a:ext uri="{FF2B5EF4-FFF2-40B4-BE49-F238E27FC236}">
                      <a16:creationId xmlns:a16="http://schemas.microsoft.com/office/drawing/2014/main" id="{687EFF1A-7CF3-90CE-FF3A-55D461E744A0}"/>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366" name="Text Box 166">
                <a:extLst>
                  <a:ext uri="{FF2B5EF4-FFF2-40B4-BE49-F238E27FC236}">
                    <a16:creationId xmlns:a16="http://schemas.microsoft.com/office/drawing/2014/main" id="{DC97AAF9-323F-244C-04B2-536B7CCDC9E6}"/>
                  </a:ext>
                </a:extLst>
              </p:cNvPr>
              <p:cNvSpPr txBox="1">
                <a:spLocks noChangeArrowheads="1"/>
              </p:cNvSpPr>
              <p:nvPr/>
            </p:nvSpPr>
            <p:spPr bwMode="auto">
              <a:xfrm>
                <a:off x="3502" y="2580"/>
                <a:ext cx="16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5</a:t>
                </a:r>
              </a:p>
            </p:txBody>
          </p:sp>
          <p:sp>
            <p:nvSpPr>
              <p:cNvPr id="367" name="Text Box 167">
                <a:extLst>
                  <a:ext uri="{FF2B5EF4-FFF2-40B4-BE49-F238E27FC236}">
                    <a16:creationId xmlns:a16="http://schemas.microsoft.com/office/drawing/2014/main" id="{04708E6A-74C3-97E7-B5EC-B80A7F28E322}"/>
                  </a:ext>
                </a:extLst>
              </p:cNvPr>
              <p:cNvSpPr txBox="1">
                <a:spLocks noChangeArrowheads="1"/>
              </p:cNvSpPr>
              <p:nvPr/>
            </p:nvSpPr>
            <p:spPr bwMode="auto">
              <a:xfrm>
                <a:off x="3279" y="2820"/>
                <a:ext cx="563" cy="374"/>
              </a:xfrm>
              <a:prstGeom prst="rect">
                <a:avLst/>
              </a:prstGeom>
              <a:solidFill>
                <a:schemeClr val="bg1"/>
              </a:solidFill>
              <a:ln w="12700" cap="sq">
                <a:solidFill>
                  <a:schemeClr val="tx1"/>
                </a:solidFill>
                <a:miter lim="800000"/>
                <a:headEnd type="none" w="sm" len="sm"/>
                <a:tailEnd type="none" w="sm" len="sm"/>
              </a:ln>
            </p:spPr>
            <p:txBody>
              <a:bodyPr lIns="4572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16</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98%</a:t>
                </a:r>
              </a:p>
            </p:txBody>
          </p:sp>
        </p:grpSp>
        <p:sp>
          <p:nvSpPr>
            <p:cNvPr id="374" name="Line 168">
              <a:extLst>
                <a:ext uri="{FF2B5EF4-FFF2-40B4-BE49-F238E27FC236}">
                  <a16:creationId xmlns:a16="http://schemas.microsoft.com/office/drawing/2014/main" id="{8A9928E0-7B8E-A934-8251-8472A4D86A7A}"/>
                </a:ext>
              </a:extLst>
            </p:cNvPr>
            <p:cNvSpPr>
              <a:spLocks noChangeShapeType="1"/>
            </p:cNvSpPr>
            <p:nvPr/>
          </p:nvSpPr>
          <p:spPr bwMode="auto">
            <a:xfrm flipV="1">
              <a:off x="5875338" y="4140200"/>
              <a:ext cx="501650"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75" name="AutoShape 169">
              <a:extLst>
                <a:ext uri="{FF2B5EF4-FFF2-40B4-BE49-F238E27FC236}">
                  <a16:creationId xmlns:a16="http://schemas.microsoft.com/office/drawing/2014/main" id="{C3D637D1-882F-5CF5-0A98-BBEECD4D9C49}"/>
                </a:ext>
              </a:extLst>
            </p:cNvPr>
            <p:cNvSpPr>
              <a:spLocks noChangeArrowheads="1"/>
            </p:cNvSpPr>
            <p:nvPr/>
          </p:nvSpPr>
          <p:spPr bwMode="auto">
            <a:xfrm>
              <a:off x="5937250"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376" name="Rectangle 170">
              <a:extLst>
                <a:ext uri="{FF2B5EF4-FFF2-40B4-BE49-F238E27FC236}">
                  <a16:creationId xmlns:a16="http://schemas.microsoft.com/office/drawing/2014/main" id="{D5F6671D-F767-F603-08B5-3ED4BE89707C}"/>
                </a:ext>
              </a:extLst>
            </p:cNvPr>
            <p:cNvSpPr>
              <a:spLocks noChangeArrowheads="1"/>
            </p:cNvSpPr>
            <p:nvPr/>
          </p:nvSpPr>
          <p:spPr bwMode="auto">
            <a:xfrm>
              <a:off x="5915005" y="4233863"/>
              <a:ext cx="438190" cy="47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6k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0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377" name="Group 171">
              <a:extLst>
                <a:ext uri="{FF2B5EF4-FFF2-40B4-BE49-F238E27FC236}">
                  <a16:creationId xmlns:a16="http://schemas.microsoft.com/office/drawing/2014/main" id="{98D2657A-5831-B19E-2E4C-07EB08498066}"/>
                </a:ext>
              </a:extLst>
            </p:cNvPr>
            <p:cNvGrpSpPr>
              <a:grpSpLocks/>
            </p:cNvGrpSpPr>
            <p:nvPr/>
          </p:nvGrpSpPr>
          <p:grpSpPr bwMode="auto">
            <a:xfrm>
              <a:off x="6383338" y="3779838"/>
              <a:ext cx="833437" cy="619125"/>
              <a:chOff x="4424" y="2385"/>
              <a:chExt cx="525" cy="390"/>
            </a:xfrm>
          </p:grpSpPr>
          <p:grpSp>
            <p:nvGrpSpPr>
              <p:cNvPr id="378" name="Group 172">
                <a:extLst>
                  <a:ext uri="{FF2B5EF4-FFF2-40B4-BE49-F238E27FC236}">
                    <a16:creationId xmlns:a16="http://schemas.microsoft.com/office/drawing/2014/main" id="{E7025810-90FE-6BE1-1ECB-71BB0CE5F89B}"/>
                  </a:ext>
                </a:extLst>
              </p:cNvPr>
              <p:cNvGrpSpPr>
                <a:grpSpLocks/>
              </p:cNvGrpSpPr>
              <p:nvPr/>
            </p:nvGrpSpPr>
            <p:grpSpPr bwMode="auto">
              <a:xfrm>
                <a:off x="4424" y="2410"/>
                <a:ext cx="525" cy="365"/>
                <a:chOff x="418" y="2981"/>
                <a:chExt cx="352" cy="365"/>
              </a:xfrm>
            </p:grpSpPr>
            <p:sp>
              <p:nvSpPr>
                <p:cNvPr id="380" name="Rectangle 173">
                  <a:extLst>
                    <a:ext uri="{FF2B5EF4-FFF2-40B4-BE49-F238E27FC236}">
                      <a16:creationId xmlns:a16="http://schemas.microsoft.com/office/drawing/2014/main" id="{D9907CB7-3E0D-0604-28EB-3C1AF0780AF8}"/>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81" name="Line 174">
                  <a:extLst>
                    <a:ext uri="{FF2B5EF4-FFF2-40B4-BE49-F238E27FC236}">
                      <a16:creationId xmlns:a16="http://schemas.microsoft.com/office/drawing/2014/main" id="{7C22EAB8-20C0-296A-EE4E-3A03BE78C520}"/>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79" name="Text Box 175">
                <a:extLst>
                  <a:ext uri="{FF2B5EF4-FFF2-40B4-BE49-F238E27FC236}">
                    <a16:creationId xmlns:a16="http://schemas.microsoft.com/office/drawing/2014/main" id="{4C0EC44A-7817-B6EF-8EE7-DDC4F8CE0656}"/>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Pack</a:t>
                </a:r>
              </a:p>
            </p:txBody>
          </p:sp>
        </p:grpSp>
        <p:grpSp>
          <p:nvGrpSpPr>
            <p:cNvPr id="382" name="Group 176">
              <a:extLst>
                <a:ext uri="{FF2B5EF4-FFF2-40B4-BE49-F238E27FC236}">
                  <a16:creationId xmlns:a16="http://schemas.microsoft.com/office/drawing/2014/main" id="{C5713E70-8066-A715-A3C9-83FED71B26CB}"/>
                </a:ext>
              </a:extLst>
            </p:cNvPr>
            <p:cNvGrpSpPr>
              <a:grpSpLocks/>
            </p:cNvGrpSpPr>
            <p:nvPr/>
          </p:nvGrpSpPr>
          <p:grpSpPr bwMode="auto">
            <a:xfrm flipV="1">
              <a:off x="6497638" y="4092575"/>
              <a:ext cx="184150" cy="177800"/>
              <a:chOff x="720" y="3354"/>
              <a:chExt cx="192" cy="198"/>
            </a:xfrm>
          </p:grpSpPr>
          <p:sp>
            <p:nvSpPr>
              <p:cNvPr id="383" name="Oval 177">
                <a:extLst>
                  <a:ext uri="{FF2B5EF4-FFF2-40B4-BE49-F238E27FC236}">
                    <a16:creationId xmlns:a16="http://schemas.microsoft.com/office/drawing/2014/main" id="{9D569805-FAB3-A64B-3B18-3BBD6DA3E0A1}"/>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84" name="AutoShape 178">
                <a:extLst>
                  <a:ext uri="{FF2B5EF4-FFF2-40B4-BE49-F238E27FC236}">
                    <a16:creationId xmlns:a16="http://schemas.microsoft.com/office/drawing/2014/main" id="{523285CF-8F48-9A77-B683-AB1AE1D07B78}"/>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sp>
          <p:nvSpPr>
            <p:cNvPr id="385" name="Text Box 179">
              <a:extLst>
                <a:ext uri="{FF2B5EF4-FFF2-40B4-BE49-F238E27FC236}">
                  <a16:creationId xmlns:a16="http://schemas.microsoft.com/office/drawing/2014/main" id="{5B351D09-8363-67B3-3037-320260C4AC93}"/>
                </a:ext>
              </a:extLst>
            </p:cNvPr>
            <p:cNvSpPr txBox="1">
              <a:spLocks noChangeArrowheads="1"/>
            </p:cNvSpPr>
            <p:nvPr/>
          </p:nvSpPr>
          <p:spPr bwMode="auto">
            <a:xfrm>
              <a:off x="6729378" y="4089400"/>
              <a:ext cx="266768" cy="235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 2</a:t>
              </a:r>
            </a:p>
          </p:txBody>
        </p:sp>
        <p:sp>
          <p:nvSpPr>
            <p:cNvPr id="386" name="Text Box 180">
              <a:extLst>
                <a:ext uri="{FF2B5EF4-FFF2-40B4-BE49-F238E27FC236}">
                  <a16:creationId xmlns:a16="http://schemas.microsoft.com/office/drawing/2014/main" id="{E240C2DA-9F79-B142-64F0-8379A141CC4C}"/>
                </a:ext>
              </a:extLst>
            </p:cNvPr>
            <p:cNvSpPr txBox="1">
              <a:spLocks noChangeArrowheads="1"/>
            </p:cNvSpPr>
            <p:nvPr/>
          </p:nvSpPr>
          <p:spPr bwMode="auto">
            <a:xfrm>
              <a:off x="6365875" y="4470401"/>
              <a:ext cx="860425" cy="595392"/>
            </a:xfrm>
            <a:prstGeom prst="rect">
              <a:avLst/>
            </a:prstGeom>
            <a:solidFill>
              <a:schemeClr val="bg1"/>
            </a:solidFill>
            <a:ln w="12700" cap="sq">
              <a:solidFill>
                <a:schemeClr val="tx1"/>
              </a:solidFill>
              <a:miter lim="800000"/>
              <a:headEnd type="none" w="sm" len="sm"/>
              <a:tailEnd type="none" w="sm" len="sm"/>
            </a:ln>
          </p:spPr>
          <p:txBody>
            <a:bodyPr lIns="45720" rIns="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225</a:t>
              </a:r>
              <a:r>
                <a:rPr lang="ja-JP" altLang="en-US" sz="800" b="0">
                  <a:latin typeface="Roboto" panose="02000000000000000000" pitchFamily="2" charset="0"/>
                </a:rPr>
                <a:t>”</a:t>
              </a:r>
              <a:r>
                <a:rPr lang="en-US" altLang="ja-JP" sz="800" b="0">
                  <a:latin typeface="Roboto" panose="02000000000000000000" pitchFamily="2" charset="0"/>
                  <a:ea typeface="Roboto" panose="02000000000000000000" pitchFamily="2" charset="0"/>
                </a:rPr>
                <a:t> (set of 25)</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n/a</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99.5%</a:t>
              </a:r>
            </a:p>
          </p:txBody>
        </p:sp>
        <p:sp>
          <p:nvSpPr>
            <p:cNvPr id="387" name="Line 181">
              <a:extLst>
                <a:ext uri="{FF2B5EF4-FFF2-40B4-BE49-F238E27FC236}">
                  <a16:creationId xmlns:a16="http://schemas.microsoft.com/office/drawing/2014/main" id="{5412D587-49EB-82E3-347A-7CE8C00AB9A0}"/>
                </a:ext>
              </a:extLst>
            </p:cNvPr>
            <p:cNvSpPr>
              <a:spLocks noChangeShapeType="1"/>
            </p:cNvSpPr>
            <p:nvPr/>
          </p:nvSpPr>
          <p:spPr bwMode="auto">
            <a:xfrm flipV="1">
              <a:off x="7212013" y="4133850"/>
              <a:ext cx="487362"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88" name="AutoShape 182">
              <a:extLst>
                <a:ext uri="{FF2B5EF4-FFF2-40B4-BE49-F238E27FC236}">
                  <a16:creationId xmlns:a16="http://schemas.microsoft.com/office/drawing/2014/main" id="{E7E4AA98-F932-E365-A1F0-EE46DC6E1B29}"/>
                </a:ext>
              </a:extLst>
            </p:cNvPr>
            <p:cNvSpPr>
              <a:spLocks noChangeArrowheads="1"/>
            </p:cNvSpPr>
            <p:nvPr/>
          </p:nvSpPr>
          <p:spPr bwMode="auto">
            <a:xfrm>
              <a:off x="7278688" y="394493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389" name="Rectangle 183">
              <a:extLst>
                <a:ext uri="{FF2B5EF4-FFF2-40B4-BE49-F238E27FC236}">
                  <a16:creationId xmlns:a16="http://schemas.microsoft.com/office/drawing/2014/main" id="{01ADA148-D445-56C0-B37F-5B2AC23C4A81}"/>
                </a:ext>
              </a:extLst>
            </p:cNvPr>
            <p:cNvSpPr>
              <a:spLocks noChangeArrowheads="1"/>
            </p:cNvSpPr>
            <p:nvPr/>
          </p:nvSpPr>
          <p:spPr bwMode="auto">
            <a:xfrm>
              <a:off x="7234537" y="4227513"/>
              <a:ext cx="523276" cy="47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75,000</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50k SAE</a:t>
              </a:r>
            </a:p>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25k Metric</a:t>
              </a:r>
              <a:endParaRPr lang="en-US" altLang="en-US" sz="800" b="0">
                <a:solidFill>
                  <a:srgbClr val="FF0000"/>
                </a:solidFill>
                <a:latin typeface="Roboto" panose="02000000000000000000" pitchFamily="2" charset="0"/>
                <a:ea typeface="Roboto" panose="02000000000000000000" pitchFamily="2" charset="0"/>
              </a:endParaRPr>
            </a:p>
          </p:txBody>
        </p:sp>
        <p:grpSp>
          <p:nvGrpSpPr>
            <p:cNvPr id="390" name="Group 184">
              <a:extLst>
                <a:ext uri="{FF2B5EF4-FFF2-40B4-BE49-F238E27FC236}">
                  <a16:creationId xmlns:a16="http://schemas.microsoft.com/office/drawing/2014/main" id="{B369D951-1AC3-CC44-0562-30BA9E433A28}"/>
                </a:ext>
              </a:extLst>
            </p:cNvPr>
            <p:cNvGrpSpPr>
              <a:grpSpLocks/>
            </p:cNvGrpSpPr>
            <p:nvPr/>
          </p:nvGrpSpPr>
          <p:grpSpPr bwMode="auto">
            <a:xfrm>
              <a:off x="7727950" y="3786188"/>
              <a:ext cx="833438" cy="619125"/>
              <a:chOff x="4424" y="2385"/>
              <a:chExt cx="525" cy="390"/>
            </a:xfrm>
          </p:grpSpPr>
          <p:grpSp>
            <p:nvGrpSpPr>
              <p:cNvPr id="391" name="Group 185">
                <a:extLst>
                  <a:ext uri="{FF2B5EF4-FFF2-40B4-BE49-F238E27FC236}">
                    <a16:creationId xmlns:a16="http://schemas.microsoft.com/office/drawing/2014/main" id="{E8D76D37-8D37-5298-7947-9CD84023E379}"/>
                  </a:ext>
                </a:extLst>
              </p:cNvPr>
              <p:cNvGrpSpPr>
                <a:grpSpLocks/>
              </p:cNvGrpSpPr>
              <p:nvPr/>
            </p:nvGrpSpPr>
            <p:grpSpPr bwMode="auto">
              <a:xfrm>
                <a:off x="4424" y="2410"/>
                <a:ext cx="525" cy="365"/>
                <a:chOff x="418" y="2981"/>
                <a:chExt cx="352" cy="365"/>
              </a:xfrm>
            </p:grpSpPr>
            <p:sp>
              <p:nvSpPr>
                <p:cNvPr id="393" name="Rectangle 186">
                  <a:extLst>
                    <a:ext uri="{FF2B5EF4-FFF2-40B4-BE49-F238E27FC236}">
                      <a16:creationId xmlns:a16="http://schemas.microsoft.com/office/drawing/2014/main" id="{93AA3F01-385A-2AE0-BF88-380F1524213C}"/>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94" name="Line 187">
                  <a:extLst>
                    <a:ext uri="{FF2B5EF4-FFF2-40B4-BE49-F238E27FC236}">
                      <a16:creationId xmlns:a16="http://schemas.microsoft.com/office/drawing/2014/main" id="{3206E9D1-42EE-5C99-A48D-AD9FB5402DAC}"/>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92" name="Text Box 188">
                <a:extLst>
                  <a:ext uri="{FF2B5EF4-FFF2-40B4-BE49-F238E27FC236}">
                    <a16:creationId xmlns:a16="http://schemas.microsoft.com/office/drawing/2014/main" id="{82F08372-0E39-4AF1-0B93-B0A599188550}"/>
                  </a:ext>
                </a:extLst>
              </p:cNvPr>
              <p:cNvSpPr txBox="1">
                <a:spLocks noChangeArrowheads="1"/>
              </p:cNvSpPr>
              <p:nvPr/>
            </p:nvSpPr>
            <p:spPr bwMode="auto">
              <a:xfrm>
                <a:off x="4442" y="2385"/>
                <a:ext cx="4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latin typeface="Roboto" panose="02000000000000000000" pitchFamily="2" charset="0"/>
                    <a:ea typeface="Roboto" panose="02000000000000000000" pitchFamily="2" charset="0"/>
                  </a:rPr>
                  <a:t>Ship</a:t>
                </a:r>
              </a:p>
            </p:txBody>
          </p:sp>
        </p:grpSp>
        <p:sp>
          <p:nvSpPr>
            <p:cNvPr id="395" name="Line 189">
              <a:extLst>
                <a:ext uri="{FF2B5EF4-FFF2-40B4-BE49-F238E27FC236}">
                  <a16:creationId xmlns:a16="http://schemas.microsoft.com/office/drawing/2014/main" id="{B8147080-D362-1A79-E2E5-87E8A0F0EECB}"/>
                </a:ext>
              </a:extLst>
            </p:cNvPr>
            <p:cNvSpPr>
              <a:spLocks noChangeShapeType="1"/>
            </p:cNvSpPr>
            <p:nvPr/>
          </p:nvSpPr>
          <p:spPr bwMode="auto">
            <a:xfrm>
              <a:off x="5008563"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6" name="Line 190">
              <a:extLst>
                <a:ext uri="{FF2B5EF4-FFF2-40B4-BE49-F238E27FC236}">
                  <a16:creationId xmlns:a16="http://schemas.microsoft.com/office/drawing/2014/main" id="{FB38DA85-442D-CEFE-B1ED-917EDA606FEC}"/>
                </a:ext>
              </a:extLst>
            </p:cNvPr>
            <p:cNvSpPr>
              <a:spLocks noChangeShapeType="1"/>
            </p:cNvSpPr>
            <p:nvPr/>
          </p:nvSpPr>
          <p:spPr bwMode="auto">
            <a:xfrm flipV="1">
              <a:off x="5019675" y="5791200"/>
              <a:ext cx="8397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7" name="Line 191">
              <a:extLst>
                <a:ext uri="{FF2B5EF4-FFF2-40B4-BE49-F238E27FC236}">
                  <a16:creationId xmlns:a16="http://schemas.microsoft.com/office/drawing/2014/main" id="{A9F51831-C1A1-60F0-BADB-5B0303FB6666}"/>
                </a:ext>
              </a:extLst>
            </p:cNvPr>
            <p:cNvSpPr>
              <a:spLocks noChangeShapeType="1"/>
            </p:cNvSpPr>
            <p:nvPr/>
          </p:nvSpPr>
          <p:spPr bwMode="auto">
            <a:xfrm>
              <a:off x="5856288"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8" name="Line 192">
              <a:extLst>
                <a:ext uri="{FF2B5EF4-FFF2-40B4-BE49-F238E27FC236}">
                  <a16:creationId xmlns:a16="http://schemas.microsoft.com/office/drawing/2014/main" id="{90742EB8-DE3C-4C8F-FBAA-E338A5624712}"/>
                </a:ext>
              </a:extLst>
            </p:cNvPr>
            <p:cNvSpPr>
              <a:spLocks noChangeShapeType="1"/>
            </p:cNvSpPr>
            <p:nvPr/>
          </p:nvSpPr>
          <p:spPr bwMode="auto">
            <a:xfrm>
              <a:off x="6332538"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9" name="Line 193">
              <a:extLst>
                <a:ext uri="{FF2B5EF4-FFF2-40B4-BE49-F238E27FC236}">
                  <a16:creationId xmlns:a16="http://schemas.microsoft.com/office/drawing/2014/main" id="{8ACB4C61-8449-67B1-BB8D-E488C56B058F}"/>
                </a:ext>
              </a:extLst>
            </p:cNvPr>
            <p:cNvSpPr>
              <a:spLocks noChangeShapeType="1"/>
            </p:cNvSpPr>
            <p:nvPr/>
          </p:nvSpPr>
          <p:spPr bwMode="auto">
            <a:xfrm>
              <a:off x="5859463" y="5575300"/>
              <a:ext cx="4762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0" name="Line 194">
              <a:extLst>
                <a:ext uri="{FF2B5EF4-FFF2-40B4-BE49-F238E27FC236}">
                  <a16:creationId xmlns:a16="http://schemas.microsoft.com/office/drawing/2014/main" id="{98C56807-DFF2-A8DD-7E4F-4CF0EB5CFF07}"/>
                </a:ext>
              </a:extLst>
            </p:cNvPr>
            <p:cNvSpPr>
              <a:spLocks noChangeShapeType="1"/>
            </p:cNvSpPr>
            <p:nvPr/>
          </p:nvSpPr>
          <p:spPr bwMode="auto">
            <a:xfrm>
              <a:off x="7165975"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1" name="Line 195">
              <a:extLst>
                <a:ext uri="{FF2B5EF4-FFF2-40B4-BE49-F238E27FC236}">
                  <a16:creationId xmlns:a16="http://schemas.microsoft.com/office/drawing/2014/main" id="{998C6E6A-6816-4999-C545-CA0CAAF1FEA3}"/>
                </a:ext>
              </a:extLst>
            </p:cNvPr>
            <p:cNvSpPr>
              <a:spLocks noChangeShapeType="1"/>
            </p:cNvSpPr>
            <p:nvPr/>
          </p:nvSpPr>
          <p:spPr bwMode="auto">
            <a:xfrm flipV="1">
              <a:off x="6329363" y="5791200"/>
              <a:ext cx="8397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2" name="Line 196">
              <a:extLst>
                <a:ext uri="{FF2B5EF4-FFF2-40B4-BE49-F238E27FC236}">
                  <a16:creationId xmlns:a16="http://schemas.microsoft.com/office/drawing/2014/main" id="{5CD042CB-0D66-4257-2C9A-9F12A698D9CF}"/>
                </a:ext>
              </a:extLst>
            </p:cNvPr>
            <p:cNvSpPr>
              <a:spLocks noChangeShapeType="1"/>
            </p:cNvSpPr>
            <p:nvPr/>
          </p:nvSpPr>
          <p:spPr bwMode="auto">
            <a:xfrm>
              <a:off x="7162800" y="5575300"/>
              <a:ext cx="550863"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3" name="Rectangle 197">
              <a:extLst>
                <a:ext uri="{FF2B5EF4-FFF2-40B4-BE49-F238E27FC236}">
                  <a16:creationId xmlns:a16="http://schemas.microsoft.com/office/drawing/2014/main" id="{51E563E5-5614-0686-97B3-F10A15A762CD}"/>
                </a:ext>
              </a:extLst>
            </p:cNvPr>
            <p:cNvSpPr>
              <a:spLocks noChangeArrowheads="1"/>
            </p:cNvSpPr>
            <p:nvPr/>
          </p:nvSpPr>
          <p:spPr bwMode="auto">
            <a:xfrm>
              <a:off x="7046913" y="5381625"/>
              <a:ext cx="736600" cy="21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latin typeface="Roboto" panose="02000000000000000000" pitchFamily="2" charset="0"/>
                  <a:ea typeface="Roboto" panose="02000000000000000000" pitchFamily="2" charset="0"/>
                </a:rPr>
                <a:t>18.8 days</a:t>
              </a:r>
            </a:p>
          </p:txBody>
        </p:sp>
        <p:sp>
          <p:nvSpPr>
            <p:cNvPr id="404" name="Rectangle 198">
              <a:extLst>
                <a:ext uri="{FF2B5EF4-FFF2-40B4-BE49-F238E27FC236}">
                  <a16:creationId xmlns:a16="http://schemas.microsoft.com/office/drawing/2014/main" id="{5A7F19DF-A1F7-409C-32F1-EE3F4E21B5A4}"/>
                </a:ext>
              </a:extLst>
            </p:cNvPr>
            <p:cNvSpPr>
              <a:spLocks noChangeArrowheads="1"/>
            </p:cNvSpPr>
            <p:nvPr/>
          </p:nvSpPr>
          <p:spPr bwMode="auto">
            <a:xfrm>
              <a:off x="3700463" y="3125788"/>
              <a:ext cx="1112837" cy="311150"/>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latin typeface="Roboto" panose="02000000000000000000" pitchFamily="2" charset="0"/>
                  <a:ea typeface="Roboto" panose="02000000000000000000" pitchFamily="2" charset="0"/>
                </a:rPr>
                <a:t>Weekly</a:t>
              </a:r>
              <a:br>
                <a:rPr lang="en-US" altLang="en-US" sz="800" b="0">
                  <a:solidFill>
                    <a:schemeClr val="tx1"/>
                  </a:solidFill>
                  <a:latin typeface="Roboto" panose="02000000000000000000" pitchFamily="2" charset="0"/>
                  <a:ea typeface="Roboto" panose="02000000000000000000" pitchFamily="2" charset="0"/>
                </a:rPr>
              </a:br>
              <a:r>
                <a:rPr lang="en-US" altLang="en-US" sz="800" b="0">
                  <a:solidFill>
                    <a:schemeClr val="tx1"/>
                  </a:solidFill>
                  <a:latin typeface="Roboto" panose="02000000000000000000" pitchFamily="2" charset="0"/>
                  <a:ea typeface="Roboto" panose="02000000000000000000" pitchFamily="2" charset="0"/>
                </a:rPr>
                <a:t>Build Schedules</a:t>
              </a:r>
            </a:p>
          </p:txBody>
        </p:sp>
        <p:sp>
          <p:nvSpPr>
            <p:cNvPr id="405" name="Line 199">
              <a:extLst>
                <a:ext uri="{FF2B5EF4-FFF2-40B4-BE49-F238E27FC236}">
                  <a16:creationId xmlns:a16="http://schemas.microsoft.com/office/drawing/2014/main" id="{0D0A2350-C7FE-5122-42AA-0F44ABBE683E}"/>
                </a:ext>
              </a:extLst>
            </p:cNvPr>
            <p:cNvSpPr>
              <a:spLocks noChangeShapeType="1"/>
            </p:cNvSpPr>
            <p:nvPr/>
          </p:nvSpPr>
          <p:spPr bwMode="auto">
            <a:xfrm>
              <a:off x="4205288" y="2733675"/>
              <a:ext cx="0" cy="33337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6" name="Line 200">
              <a:extLst>
                <a:ext uri="{FF2B5EF4-FFF2-40B4-BE49-F238E27FC236}">
                  <a16:creationId xmlns:a16="http://schemas.microsoft.com/office/drawing/2014/main" id="{4FA0F2A9-8CE0-AF74-F696-5D49437E3BB5}"/>
                </a:ext>
              </a:extLst>
            </p:cNvPr>
            <p:cNvSpPr>
              <a:spLocks noChangeShapeType="1"/>
            </p:cNvSpPr>
            <p:nvPr/>
          </p:nvSpPr>
          <p:spPr bwMode="auto">
            <a:xfrm flipH="1">
              <a:off x="1757363" y="3395663"/>
              <a:ext cx="1943100" cy="38576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7" name="Line 201">
              <a:extLst>
                <a:ext uri="{FF2B5EF4-FFF2-40B4-BE49-F238E27FC236}">
                  <a16:creationId xmlns:a16="http://schemas.microsoft.com/office/drawing/2014/main" id="{79AAC568-A496-01E3-4A41-031ACC565FF1}"/>
                </a:ext>
              </a:extLst>
            </p:cNvPr>
            <p:cNvSpPr>
              <a:spLocks noChangeShapeType="1"/>
            </p:cNvSpPr>
            <p:nvPr/>
          </p:nvSpPr>
          <p:spPr bwMode="auto">
            <a:xfrm flipH="1">
              <a:off x="3052763" y="3433763"/>
              <a:ext cx="971550" cy="32861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8" name="Line 202">
              <a:extLst>
                <a:ext uri="{FF2B5EF4-FFF2-40B4-BE49-F238E27FC236}">
                  <a16:creationId xmlns:a16="http://schemas.microsoft.com/office/drawing/2014/main" id="{3806DD32-4223-2772-4C5F-0E421B49674C}"/>
                </a:ext>
              </a:extLst>
            </p:cNvPr>
            <p:cNvSpPr>
              <a:spLocks noChangeShapeType="1"/>
            </p:cNvSpPr>
            <p:nvPr/>
          </p:nvSpPr>
          <p:spPr bwMode="auto">
            <a:xfrm>
              <a:off x="4186238" y="3424238"/>
              <a:ext cx="0" cy="34766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9" name="Line 203">
              <a:extLst>
                <a:ext uri="{FF2B5EF4-FFF2-40B4-BE49-F238E27FC236}">
                  <a16:creationId xmlns:a16="http://schemas.microsoft.com/office/drawing/2014/main" id="{F99B9109-E63F-9FB9-1456-D0C36C9665A0}"/>
                </a:ext>
              </a:extLst>
            </p:cNvPr>
            <p:cNvSpPr>
              <a:spLocks noChangeShapeType="1"/>
            </p:cNvSpPr>
            <p:nvPr/>
          </p:nvSpPr>
          <p:spPr bwMode="auto">
            <a:xfrm>
              <a:off x="4614863" y="3433763"/>
              <a:ext cx="552450" cy="36671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10" name="Line 204">
              <a:extLst>
                <a:ext uri="{FF2B5EF4-FFF2-40B4-BE49-F238E27FC236}">
                  <a16:creationId xmlns:a16="http://schemas.microsoft.com/office/drawing/2014/main" id="{CE5BBB8E-3FD3-4712-0880-44996C1D07E5}"/>
                </a:ext>
              </a:extLst>
            </p:cNvPr>
            <p:cNvSpPr>
              <a:spLocks noChangeShapeType="1"/>
            </p:cNvSpPr>
            <p:nvPr/>
          </p:nvSpPr>
          <p:spPr bwMode="auto">
            <a:xfrm>
              <a:off x="4795838" y="3395663"/>
              <a:ext cx="1600200" cy="37623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411" name="Group 286">
              <a:extLst>
                <a:ext uri="{FF2B5EF4-FFF2-40B4-BE49-F238E27FC236}">
                  <a16:creationId xmlns:a16="http://schemas.microsoft.com/office/drawing/2014/main" id="{5A664E0A-DC31-7177-F8D5-AE3A8AA7ADDC}"/>
                </a:ext>
              </a:extLst>
            </p:cNvPr>
            <p:cNvGrpSpPr>
              <a:grpSpLocks/>
            </p:cNvGrpSpPr>
            <p:nvPr/>
          </p:nvGrpSpPr>
          <p:grpSpPr bwMode="auto">
            <a:xfrm>
              <a:off x="2590800" y="3409950"/>
              <a:ext cx="3005138" cy="333375"/>
              <a:chOff x="1632" y="2148"/>
              <a:chExt cx="1893" cy="210"/>
            </a:xfrm>
          </p:grpSpPr>
          <p:grpSp>
            <p:nvGrpSpPr>
              <p:cNvPr id="412" name="Group 206">
                <a:extLst>
                  <a:ext uri="{FF2B5EF4-FFF2-40B4-BE49-F238E27FC236}">
                    <a16:creationId xmlns:a16="http://schemas.microsoft.com/office/drawing/2014/main" id="{04F02256-4496-6DB6-FF79-66B08392CB5B}"/>
                  </a:ext>
                </a:extLst>
              </p:cNvPr>
              <p:cNvGrpSpPr>
                <a:grpSpLocks/>
              </p:cNvGrpSpPr>
              <p:nvPr/>
            </p:nvGrpSpPr>
            <p:grpSpPr bwMode="auto">
              <a:xfrm>
                <a:off x="1632" y="2148"/>
                <a:ext cx="192" cy="192"/>
                <a:chOff x="4896" y="3312"/>
                <a:chExt cx="240" cy="240"/>
              </a:xfrm>
            </p:grpSpPr>
            <p:sp>
              <p:nvSpPr>
                <p:cNvPr id="425" name="Oval 207">
                  <a:extLst>
                    <a:ext uri="{FF2B5EF4-FFF2-40B4-BE49-F238E27FC236}">
                      <a16:creationId xmlns:a16="http://schemas.microsoft.com/office/drawing/2014/main" id="{222A1F74-21C6-477E-5584-046871028ED4}"/>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6" name="Line 208">
                  <a:extLst>
                    <a:ext uri="{FF2B5EF4-FFF2-40B4-BE49-F238E27FC236}">
                      <a16:creationId xmlns:a16="http://schemas.microsoft.com/office/drawing/2014/main" id="{FB6E8E09-A8D1-7C8E-C941-6A2F00AD99F4}"/>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13" name="Group 209">
                <a:extLst>
                  <a:ext uri="{FF2B5EF4-FFF2-40B4-BE49-F238E27FC236}">
                    <a16:creationId xmlns:a16="http://schemas.microsoft.com/office/drawing/2014/main" id="{089A0CFA-6B32-7D08-08B7-6A4FC66524DE}"/>
                  </a:ext>
                </a:extLst>
              </p:cNvPr>
              <p:cNvGrpSpPr>
                <a:grpSpLocks/>
              </p:cNvGrpSpPr>
              <p:nvPr/>
            </p:nvGrpSpPr>
            <p:grpSpPr bwMode="auto">
              <a:xfrm>
                <a:off x="2160" y="2166"/>
                <a:ext cx="192" cy="192"/>
                <a:chOff x="4896" y="3312"/>
                <a:chExt cx="240" cy="240"/>
              </a:xfrm>
            </p:grpSpPr>
            <p:sp>
              <p:nvSpPr>
                <p:cNvPr id="423" name="Oval 210">
                  <a:extLst>
                    <a:ext uri="{FF2B5EF4-FFF2-40B4-BE49-F238E27FC236}">
                      <a16:creationId xmlns:a16="http://schemas.microsoft.com/office/drawing/2014/main" id="{B5234D91-0A77-99C3-545F-EB24A4489A62}"/>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4" name="Line 211">
                  <a:extLst>
                    <a:ext uri="{FF2B5EF4-FFF2-40B4-BE49-F238E27FC236}">
                      <a16:creationId xmlns:a16="http://schemas.microsoft.com/office/drawing/2014/main" id="{31BE0A3D-E71B-97E5-E039-C1F71902BFDA}"/>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14" name="Group 212">
                <a:extLst>
                  <a:ext uri="{FF2B5EF4-FFF2-40B4-BE49-F238E27FC236}">
                    <a16:creationId xmlns:a16="http://schemas.microsoft.com/office/drawing/2014/main" id="{6D381696-799E-24A1-109E-3A99CB073AAF}"/>
                  </a:ext>
                </a:extLst>
              </p:cNvPr>
              <p:cNvGrpSpPr>
                <a:grpSpLocks/>
              </p:cNvGrpSpPr>
              <p:nvPr/>
            </p:nvGrpSpPr>
            <p:grpSpPr bwMode="auto">
              <a:xfrm>
                <a:off x="2544" y="2166"/>
                <a:ext cx="192" cy="192"/>
                <a:chOff x="4896" y="3312"/>
                <a:chExt cx="240" cy="240"/>
              </a:xfrm>
            </p:grpSpPr>
            <p:sp>
              <p:nvSpPr>
                <p:cNvPr id="421" name="Oval 213">
                  <a:extLst>
                    <a:ext uri="{FF2B5EF4-FFF2-40B4-BE49-F238E27FC236}">
                      <a16:creationId xmlns:a16="http://schemas.microsoft.com/office/drawing/2014/main" id="{BC4A6561-E93A-49F5-2786-5284D4AE481E}"/>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2" name="Line 214">
                  <a:extLst>
                    <a:ext uri="{FF2B5EF4-FFF2-40B4-BE49-F238E27FC236}">
                      <a16:creationId xmlns:a16="http://schemas.microsoft.com/office/drawing/2014/main" id="{1E5B27B6-E224-E196-B94C-1F0283BF64D4}"/>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15" name="Group 215">
                <a:extLst>
                  <a:ext uri="{FF2B5EF4-FFF2-40B4-BE49-F238E27FC236}">
                    <a16:creationId xmlns:a16="http://schemas.microsoft.com/office/drawing/2014/main" id="{EB26EFB9-D494-7AB2-9164-41818CC366AE}"/>
                  </a:ext>
                </a:extLst>
              </p:cNvPr>
              <p:cNvGrpSpPr>
                <a:grpSpLocks/>
              </p:cNvGrpSpPr>
              <p:nvPr/>
            </p:nvGrpSpPr>
            <p:grpSpPr bwMode="auto">
              <a:xfrm>
                <a:off x="2928" y="2166"/>
                <a:ext cx="192" cy="192"/>
                <a:chOff x="4896" y="3312"/>
                <a:chExt cx="240" cy="240"/>
              </a:xfrm>
            </p:grpSpPr>
            <p:sp>
              <p:nvSpPr>
                <p:cNvPr id="419" name="Oval 216">
                  <a:extLst>
                    <a:ext uri="{FF2B5EF4-FFF2-40B4-BE49-F238E27FC236}">
                      <a16:creationId xmlns:a16="http://schemas.microsoft.com/office/drawing/2014/main" id="{1BDC4AE8-97F6-1B01-E4E1-34C09CC3FD54}"/>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0" name="Line 217">
                  <a:extLst>
                    <a:ext uri="{FF2B5EF4-FFF2-40B4-BE49-F238E27FC236}">
                      <a16:creationId xmlns:a16="http://schemas.microsoft.com/office/drawing/2014/main" id="{CAD8A105-1E9D-A9D7-170C-C50890698D86}"/>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16" name="Group 218">
                <a:extLst>
                  <a:ext uri="{FF2B5EF4-FFF2-40B4-BE49-F238E27FC236}">
                    <a16:creationId xmlns:a16="http://schemas.microsoft.com/office/drawing/2014/main" id="{4219B078-47EF-DA53-6FA1-FBD5891EE938}"/>
                  </a:ext>
                </a:extLst>
              </p:cNvPr>
              <p:cNvGrpSpPr>
                <a:grpSpLocks/>
              </p:cNvGrpSpPr>
              <p:nvPr/>
            </p:nvGrpSpPr>
            <p:grpSpPr bwMode="auto">
              <a:xfrm>
                <a:off x="3333" y="2148"/>
                <a:ext cx="192" cy="192"/>
                <a:chOff x="4896" y="3312"/>
                <a:chExt cx="240" cy="240"/>
              </a:xfrm>
            </p:grpSpPr>
            <p:sp>
              <p:nvSpPr>
                <p:cNvPr id="417" name="Oval 219">
                  <a:extLst>
                    <a:ext uri="{FF2B5EF4-FFF2-40B4-BE49-F238E27FC236}">
                      <a16:creationId xmlns:a16="http://schemas.microsoft.com/office/drawing/2014/main" id="{62549789-DA6B-CDD6-188F-075747EC93CF}"/>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18" name="Line 220">
                  <a:extLst>
                    <a:ext uri="{FF2B5EF4-FFF2-40B4-BE49-F238E27FC236}">
                      <a16:creationId xmlns:a16="http://schemas.microsoft.com/office/drawing/2014/main" id="{6532BD2A-34CA-D95F-D4D0-1309858B334A}"/>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427" name="Group 285">
              <a:extLst>
                <a:ext uri="{FF2B5EF4-FFF2-40B4-BE49-F238E27FC236}">
                  <a16:creationId xmlns:a16="http://schemas.microsoft.com/office/drawing/2014/main" id="{53DB14C1-DC0B-8AC8-33AE-0A5036410732}"/>
                </a:ext>
              </a:extLst>
            </p:cNvPr>
            <p:cNvGrpSpPr>
              <a:grpSpLocks/>
            </p:cNvGrpSpPr>
            <p:nvPr/>
          </p:nvGrpSpPr>
          <p:grpSpPr bwMode="auto">
            <a:xfrm>
              <a:off x="638175" y="3781425"/>
              <a:ext cx="5800725" cy="561975"/>
              <a:chOff x="402" y="2382"/>
              <a:chExt cx="3654" cy="354"/>
            </a:xfrm>
          </p:grpSpPr>
          <p:grpSp>
            <p:nvGrpSpPr>
              <p:cNvPr id="428" name="Group 227">
                <a:extLst>
                  <a:ext uri="{FF2B5EF4-FFF2-40B4-BE49-F238E27FC236}">
                    <a16:creationId xmlns:a16="http://schemas.microsoft.com/office/drawing/2014/main" id="{BC62763C-9154-CB47-7DA1-2CA564BFCAD3}"/>
                  </a:ext>
                </a:extLst>
              </p:cNvPr>
              <p:cNvGrpSpPr>
                <a:grpSpLocks/>
              </p:cNvGrpSpPr>
              <p:nvPr/>
            </p:nvGrpSpPr>
            <p:grpSpPr bwMode="auto">
              <a:xfrm>
                <a:off x="402" y="2391"/>
                <a:ext cx="306" cy="336"/>
                <a:chOff x="528" y="2400"/>
                <a:chExt cx="306" cy="336"/>
              </a:xfrm>
            </p:grpSpPr>
            <p:grpSp>
              <p:nvGrpSpPr>
                <p:cNvPr id="462" name="Group 228">
                  <a:extLst>
                    <a:ext uri="{FF2B5EF4-FFF2-40B4-BE49-F238E27FC236}">
                      <a16:creationId xmlns:a16="http://schemas.microsoft.com/office/drawing/2014/main" id="{F445FB84-3F10-7ED8-D3F9-F14D34351893}"/>
                    </a:ext>
                  </a:extLst>
                </p:cNvPr>
                <p:cNvGrpSpPr>
                  <a:grpSpLocks/>
                </p:cNvGrpSpPr>
                <p:nvPr/>
              </p:nvGrpSpPr>
              <p:grpSpPr bwMode="auto">
                <a:xfrm>
                  <a:off x="528" y="2400"/>
                  <a:ext cx="96" cy="336"/>
                  <a:chOff x="1336" y="1152"/>
                  <a:chExt cx="296" cy="720"/>
                </a:xfrm>
              </p:grpSpPr>
              <p:sp>
                <p:nvSpPr>
                  <p:cNvPr id="467" name="Line 229">
                    <a:extLst>
                      <a:ext uri="{FF2B5EF4-FFF2-40B4-BE49-F238E27FC236}">
                        <a16:creationId xmlns:a16="http://schemas.microsoft.com/office/drawing/2014/main" id="{FBE8C621-698D-0F61-3065-DCDEA33B6B2E}"/>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8" name="Line 230">
                    <a:extLst>
                      <a:ext uri="{FF2B5EF4-FFF2-40B4-BE49-F238E27FC236}">
                        <a16:creationId xmlns:a16="http://schemas.microsoft.com/office/drawing/2014/main" id="{CD7B9668-0BA7-ADD5-CC11-4421B58B860C}"/>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9" name="Line 231">
                    <a:extLst>
                      <a:ext uri="{FF2B5EF4-FFF2-40B4-BE49-F238E27FC236}">
                        <a16:creationId xmlns:a16="http://schemas.microsoft.com/office/drawing/2014/main" id="{B0A1F4CE-F591-9112-1342-02601CF6FA49}"/>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0" name="Line 232">
                    <a:extLst>
                      <a:ext uri="{FF2B5EF4-FFF2-40B4-BE49-F238E27FC236}">
                        <a16:creationId xmlns:a16="http://schemas.microsoft.com/office/drawing/2014/main" id="{9EB1F4DA-D41A-B9E6-AE62-67CCAD5EAEB7}"/>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1" name="Line 233">
                    <a:extLst>
                      <a:ext uri="{FF2B5EF4-FFF2-40B4-BE49-F238E27FC236}">
                        <a16:creationId xmlns:a16="http://schemas.microsoft.com/office/drawing/2014/main" id="{7FCE9B08-036D-F093-85BF-2F19CCAA4524}"/>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63" name="Group 234">
                  <a:extLst>
                    <a:ext uri="{FF2B5EF4-FFF2-40B4-BE49-F238E27FC236}">
                      <a16:creationId xmlns:a16="http://schemas.microsoft.com/office/drawing/2014/main" id="{0136C7C3-F89E-6AD9-C973-59DCE9485FC6}"/>
                    </a:ext>
                  </a:extLst>
                </p:cNvPr>
                <p:cNvGrpSpPr>
                  <a:grpSpLocks/>
                </p:cNvGrpSpPr>
                <p:nvPr/>
              </p:nvGrpSpPr>
              <p:grpSpPr bwMode="auto">
                <a:xfrm>
                  <a:off x="673" y="2400"/>
                  <a:ext cx="161" cy="168"/>
                  <a:chOff x="262" y="1357"/>
                  <a:chExt cx="161" cy="168"/>
                </a:xfrm>
              </p:grpSpPr>
              <p:sp>
                <p:nvSpPr>
                  <p:cNvPr id="464" name="Oval 235">
                    <a:extLst>
                      <a:ext uri="{FF2B5EF4-FFF2-40B4-BE49-F238E27FC236}">
                        <a16:creationId xmlns:a16="http://schemas.microsoft.com/office/drawing/2014/main" id="{7DD6272C-4D86-2F19-B349-5402F0CA71D3}"/>
                      </a:ext>
                    </a:extLst>
                  </p:cNvPr>
                  <p:cNvSpPr>
                    <a:spLocks noChangeArrowheads="1"/>
                  </p:cNvSpPr>
                  <p:nvPr/>
                </p:nvSpPr>
                <p:spPr bwMode="auto">
                  <a:xfrm>
                    <a:off x="262" y="1378"/>
                    <a:ext cx="146" cy="147"/>
                  </a:xfrm>
                  <a:prstGeom prst="ellipse">
                    <a:avLst/>
                  </a:prstGeom>
                  <a:solidFill>
                    <a:schemeClr val="bg1"/>
                  </a:solidFill>
                  <a:ln w="19050">
                    <a:solidFill>
                      <a:srgbClr val="FF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65" name="Rectangle 236">
                    <a:extLst>
                      <a:ext uri="{FF2B5EF4-FFF2-40B4-BE49-F238E27FC236}">
                        <a16:creationId xmlns:a16="http://schemas.microsoft.com/office/drawing/2014/main" id="{8B4C186C-95D2-95D6-AD14-D62E01B41B80}"/>
                      </a:ext>
                    </a:extLst>
                  </p:cNvPr>
                  <p:cNvSpPr>
                    <a:spLocks noChangeArrowheads="1"/>
                  </p:cNvSpPr>
                  <p:nvPr/>
                </p:nvSpPr>
                <p:spPr bwMode="auto">
                  <a:xfrm>
                    <a:off x="346" y="1357"/>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66" name="Line 237">
                    <a:extLst>
                      <a:ext uri="{FF2B5EF4-FFF2-40B4-BE49-F238E27FC236}">
                        <a16:creationId xmlns:a16="http://schemas.microsoft.com/office/drawing/2014/main" id="{165CA53E-8879-E2D7-411A-D55149E2B3E6}"/>
                      </a:ext>
                    </a:extLst>
                  </p:cNvPr>
                  <p:cNvSpPr>
                    <a:spLocks noChangeShapeType="1"/>
                  </p:cNvSpPr>
                  <p:nvPr/>
                </p:nvSpPr>
                <p:spPr bwMode="auto">
                  <a:xfrm rot="18086501" flipV="1">
                    <a:off x="387" y="1420"/>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429" name="Group 238">
                <a:extLst>
                  <a:ext uri="{FF2B5EF4-FFF2-40B4-BE49-F238E27FC236}">
                    <a16:creationId xmlns:a16="http://schemas.microsoft.com/office/drawing/2014/main" id="{50618593-3D97-3C7C-A80C-41C38553CEF1}"/>
                  </a:ext>
                </a:extLst>
              </p:cNvPr>
              <p:cNvGrpSpPr>
                <a:grpSpLocks/>
              </p:cNvGrpSpPr>
              <p:nvPr/>
            </p:nvGrpSpPr>
            <p:grpSpPr bwMode="auto">
              <a:xfrm>
                <a:off x="1257" y="2382"/>
                <a:ext cx="306" cy="336"/>
                <a:chOff x="528" y="2400"/>
                <a:chExt cx="306" cy="336"/>
              </a:xfrm>
            </p:grpSpPr>
            <p:grpSp>
              <p:nvGrpSpPr>
                <p:cNvPr id="452" name="Group 239">
                  <a:extLst>
                    <a:ext uri="{FF2B5EF4-FFF2-40B4-BE49-F238E27FC236}">
                      <a16:creationId xmlns:a16="http://schemas.microsoft.com/office/drawing/2014/main" id="{F5BB407A-7245-0D4A-308F-994BF17BC6FA}"/>
                    </a:ext>
                  </a:extLst>
                </p:cNvPr>
                <p:cNvGrpSpPr>
                  <a:grpSpLocks/>
                </p:cNvGrpSpPr>
                <p:nvPr/>
              </p:nvGrpSpPr>
              <p:grpSpPr bwMode="auto">
                <a:xfrm>
                  <a:off x="528" y="2400"/>
                  <a:ext cx="96" cy="336"/>
                  <a:chOff x="1336" y="1152"/>
                  <a:chExt cx="296" cy="720"/>
                </a:xfrm>
              </p:grpSpPr>
              <p:sp>
                <p:nvSpPr>
                  <p:cNvPr id="457" name="Line 240">
                    <a:extLst>
                      <a:ext uri="{FF2B5EF4-FFF2-40B4-BE49-F238E27FC236}">
                        <a16:creationId xmlns:a16="http://schemas.microsoft.com/office/drawing/2014/main" id="{688F66AB-B60F-C396-B1B3-DBCAEDAD2E4F}"/>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8" name="Line 241">
                    <a:extLst>
                      <a:ext uri="{FF2B5EF4-FFF2-40B4-BE49-F238E27FC236}">
                        <a16:creationId xmlns:a16="http://schemas.microsoft.com/office/drawing/2014/main" id="{419277AF-1135-A501-8EED-59E7D637B83D}"/>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9" name="Line 242">
                    <a:extLst>
                      <a:ext uri="{FF2B5EF4-FFF2-40B4-BE49-F238E27FC236}">
                        <a16:creationId xmlns:a16="http://schemas.microsoft.com/office/drawing/2014/main" id="{00AF4588-8BBF-72EA-4C85-ABD132821CB0}"/>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0" name="Line 243">
                    <a:extLst>
                      <a:ext uri="{FF2B5EF4-FFF2-40B4-BE49-F238E27FC236}">
                        <a16:creationId xmlns:a16="http://schemas.microsoft.com/office/drawing/2014/main" id="{3CC49DB7-93B7-B90D-DCA3-1863E2E7252D}"/>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1" name="Line 244">
                    <a:extLst>
                      <a:ext uri="{FF2B5EF4-FFF2-40B4-BE49-F238E27FC236}">
                        <a16:creationId xmlns:a16="http://schemas.microsoft.com/office/drawing/2014/main" id="{D4ADE002-8E43-F5D8-5166-435B003B5D26}"/>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53" name="Group 245">
                  <a:extLst>
                    <a:ext uri="{FF2B5EF4-FFF2-40B4-BE49-F238E27FC236}">
                      <a16:creationId xmlns:a16="http://schemas.microsoft.com/office/drawing/2014/main" id="{809B75A8-625F-F317-873E-3D36DD7DA785}"/>
                    </a:ext>
                  </a:extLst>
                </p:cNvPr>
                <p:cNvGrpSpPr>
                  <a:grpSpLocks/>
                </p:cNvGrpSpPr>
                <p:nvPr/>
              </p:nvGrpSpPr>
              <p:grpSpPr bwMode="auto">
                <a:xfrm>
                  <a:off x="673" y="2400"/>
                  <a:ext cx="161" cy="168"/>
                  <a:chOff x="262" y="1357"/>
                  <a:chExt cx="161" cy="168"/>
                </a:xfrm>
              </p:grpSpPr>
              <p:sp>
                <p:nvSpPr>
                  <p:cNvPr id="454" name="Oval 246">
                    <a:extLst>
                      <a:ext uri="{FF2B5EF4-FFF2-40B4-BE49-F238E27FC236}">
                        <a16:creationId xmlns:a16="http://schemas.microsoft.com/office/drawing/2014/main" id="{F45F2C22-7A76-4811-3E3D-563110268F3A}"/>
                      </a:ext>
                    </a:extLst>
                  </p:cNvPr>
                  <p:cNvSpPr>
                    <a:spLocks noChangeArrowheads="1"/>
                  </p:cNvSpPr>
                  <p:nvPr/>
                </p:nvSpPr>
                <p:spPr bwMode="auto">
                  <a:xfrm>
                    <a:off x="262" y="1378"/>
                    <a:ext cx="146" cy="147"/>
                  </a:xfrm>
                  <a:prstGeom prst="ellipse">
                    <a:avLst/>
                  </a:prstGeom>
                  <a:solidFill>
                    <a:schemeClr val="bg1"/>
                  </a:solidFill>
                  <a:ln w="19050">
                    <a:solidFill>
                      <a:srgbClr val="FF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55" name="Rectangle 247">
                    <a:extLst>
                      <a:ext uri="{FF2B5EF4-FFF2-40B4-BE49-F238E27FC236}">
                        <a16:creationId xmlns:a16="http://schemas.microsoft.com/office/drawing/2014/main" id="{118089F0-4BED-9830-3623-6CE71D392627}"/>
                      </a:ext>
                    </a:extLst>
                  </p:cNvPr>
                  <p:cNvSpPr>
                    <a:spLocks noChangeArrowheads="1"/>
                  </p:cNvSpPr>
                  <p:nvPr/>
                </p:nvSpPr>
                <p:spPr bwMode="auto">
                  <a:xfrm>
                    <a:off x="346" y="1357"/>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56" name="Line 248">
                    <a:extLst>
                      <a:ext uri="{FF2B5EF4-FFF2-40B4-BE49-F238E27FC236}">
                        <a16:creationId xmlns:a16="http://schemas.microsoft.com/office/drawing/2014/main" id="{A840ED3B-BFAE-D58D-7855-38D65B87D2E9}"/>
                      </a:ext>
                    </a:extLst>
                  </p:cNvPr>
                  <p:cNvSpPr>
                    <a:spLocks noChangeShapeType="1"/>
                  </p:cNvSpPr>
                  <p:nvPr/>
                </p:nvSpPr>
                <p:spPr bwMode="auto">
                  <a:xfrm rot="18086501" flipV="1">
                    <a:off x="387" y="1421"/>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430" name="Group 249">
                <a:extLst>
                  <a:ext uri="{FF2B5EF4-FFF2-40B4-BE49-F238E27FC236}">
                    <a16:creationId xmlns:a16="http://schemas.microsoft.com/office/drawing/2014/main" id="{48FEAE3A-D8D7-5508-8CBE-EA8D9D0F3101}"/>
                  </a:ext>
                </a:extLst>
              </p:cNvPr>
              <p:cNvGrpSpPr>
                <a:grpSpLocks/>
              </p:cNvGrpSpPr>
              <p:nvPr/>
            </p:nvGrpSpPr>
            <p:grpSpPr bwMode="auto">
              <a:xfrm>
                <a:off x="2895" y="2400"/>
                <a:ext cx="306" cy="336"/>
                <a:chOff x="528" y="2400"/>
                <a:chExt cx="306" cy="336"/>
              </a:xfrm>
            </p:grpSpPr>
            <p:grpSp>
              <p:nvGrpSpPr>
                <p:cNvPr id="442" name="Group 250">
                  <a:extLst>
                    <a:ext uri="{FF2B5EF4-FFF2-40B4-BE49-F238E27FC236}">
                      <a16:creationId xmlns:a16="http://schemas.microsoft.com/office/drawing/2014/main" id="{43CC5BB7-748C-5840-5033-C76F8561A319}"/>
                    </a:ext>
                  </a:extLst>
                </p:cNvPr>
                <p:cNvGrpSpPr>
                  <a:grpSpLocks/>
                </p:cNvGrpSpPr>
                <p:nvPr/>
              </p:nvGrpSpPr>
              <p:grpSpPr bwMode="auto">
                <a:xfrm>
                  <a:off x="528" y="2400"/>
                  <a:ext cx="96" cy="336"/>
                  <a:chOff x="1336" y="1152"/>
                  <a:chExt cx="296" cy="720"/>
                </a:xfrm>
              </p:grpSpPr>
              <p:sp>
                <p:nvSpPr>
                  <p:cNvPr id="447" name="Line 251">
                    <a:extLst>
                      <a:ext uri="{FF2B5EF4-FFF2-40B4-BE49-F238E27FC236}">
                        <a16:creationId xmlns:a16="http://schemas.microsoft.com/office/drawing/2014/main" id="{D859CBC3-8CC3-B0E7-ABFC-326BAF2C8C55}"/>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8" name="Line 252">
                    <a:extLst>
                      <a:ext uri="{FF2B5EF4-FFF2-40B4-BE49-F238E27FC236}">
                        <a16:creationId xmlns:a16="http://schemas.microsoft.com/office/drawing/2014/main" id="{EC4205C0-808E-2CEF-EA2E-A227F000E328}"/>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9" name="Line 253">
                    <a:extLst>
                      <a:ext uri="{FF2B5EF4-FFF2-40B4-BE49-F238E27FC236}">
                        <a16:creationId xmlns:a16="http://schemas.microsoft.com/office/drawing/2014/main" id="{F48168FC-4A48-2E28-2114-49410F151889}"/>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0" name="Line 254">
                    <a:extLst>
                      <a:ext uri="{FF2B5EF4-FFF2-40B4-BE49-F238E27FC236}">
                        <a16:creationId xmlns:a16="http://schemas.microsoft.com/office/drawing/2014/main" id="{D0DC3288-E623-955F-A8A4-8865C960729B}"/>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1" name="Line 255">
                    <a:extLst>
                      <a:ext uri="{FF2B5EF4-FFF2-40B4-BE49-F238E27FC236}">
                        <a16:creationId xmlns:a16="http://schemas.microsoft.com/office/drawing/2014/main" id="{3FB73EFA-BA14-3F41-7670-BD8C70E04EC5}"/>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43" name="Group 256">
                  <a:extLst>
                    <a:ext uri="{FF2B5EF4-FFF2-40B4-BE49-F238E27FC236}">
                      <a16:creationId xmlns:a16="http://schemas.microsoft.com/office/drawing/2014/main" id="{4EB487C9-50FB-0B4E-225D-CDE8E5C19F38}"/>
                    </a:ext>
                  </a:extLst>
                </p:cNvPr>
                <p:cNvGrpSpPr>
                  <a:grpSpLocks/>
                </p:cNvGrpSpPr>
                <p:nvPr/>
              </p:nvGrpSpPr>
              <p:grpSpPr bwMode="auto">
                <a:xfrm>
                  <a:off x="673" y="2400"/>
                  <a:ext cx="161" cy="168"/>
                  <a:chOff x="262" y="1357"/>
                  <a:chExt cx="161" cy="168"/>
                </a:xfrm>
              </p:grpSpPr>
              <p:sp>
                <p:nvSpPr>
                  <p:cNvPr id="444" name="Oval 257">
                    <a:extLst>
                      <a:ext uri="{FF2B5EF4-FFF2-40B4-BE49-F238E27FC236}">
                        <a16:creationId xmlns:a16="http://schemas.microsoft.com/office/drawing/2014/main" id="{44780152-A53E-B643-BEF3-DC0EED43AA90}"/>
                      </a:ext>
                    </a:extLst>
                  </p:cNvPr>
                  <p:cNvSpPr>
                    <a:spLocks noChangeArrowheads="1"/>
                  </p:cNvSpPr>
                  <p:nvPr/>
                </p:nvSpPr>
                <p:spPr bwMode="auto">
                  <a:xfrm>
                    <a:off x="262" y="1378"/>
                    <a:ext cx="146" cy="147"/>
                  </a:xfrm>
                  <a:prstGeom prst="ellipse">
                    <a:avLst/>
                  </a:prstGeom>
                  <a:solidFill>
                    <a:schemeClr val="bg1"/>
                  </a:solidFill>
                  <a:ln w="19050">
                    <a:solidFill>
                      <a:srgbClr val="FF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45" name="Rectangle 258">
                    <a:extLst>
                      <a:ext uri="{FF2B5EF4-FFF2-40B4-BE49-F238E27FC236}">
                        <a16:creationId xmlns:a16="http://schemas.microsoft.com/office/drawing/2014/main" id="{9D46E3B5-8282-F2A8-2B36-832AD4293AE7}"/>
                      </a:ext>
                    </a:extLst>
                  </p:cNvPr>
                  <p:cNvSpPr>
                    <a:spLocks noChangeArrowheads="1"/>
                  </p:cNvSpPr>
                  <p:nvPr/>
                </p:nvSpPr>
                <p:spPr bwMode="auto">
                  <a:xfrm>
                    <a:off x="346" y="1357"/>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46" name="Line 259">
                    <a:extLst>
                      <a:ext uri="{FF2B5EF4-FFF2-40B4-BE49-F238E27FC236}">
                        <a16:creationId xmlns:a16="http://schemas.microsoft.com/office/drawing/2014/main" id="{0DF112B3-5640-A449-D786-A7FF77741E28}"/>
                      </a:ext>
                    </a:extLst>
                  </p:cNvPr>
                  <p:cNvSpPr>
                    <a:spLocks noChangeShapeType="1"/>
                  </p:cNvSpPr>
                  <p:nvPr/>
                </p:nvSpPr>
                <p:spPr bwMode="auto">
                  <a:xfrm rot="18086501" flipV="1">
                    <a:off x="387" y="1421"/>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431" name="Group 260">
                <a:extLst>
                  <a:ext uri="{FF2B5EF4-FFF2-40B4-BE49-F238E27FC236}">
                    <a16:creationId xmlns:a16="http://schemas.microsoft.com/office/drawing/2014/main" id="{E4013C8E-EAEE-2A8E-3ECD-A6E3A15A8FBD}"/>
                  </a:ext>
                </a:extLst>
              </p:cNvPr>
              <p:cNvGrpSpPr>
                <a:grpSpLocks/>
              </p:cNvGrpSpPr>
              <p:nvPr/>
            </p:nvGrpSpPr>
            <p:grpSpPr bwMode="auto">
              <a:xfrm>
                <a:off x="3750" y="2391"/>
                <a:ext cx="306" cy="336"/>
                <a:chOff x="528" y="2400"/>
                <a:chExt cx="306" cy="336"/>
              </a:xfrm>
            </p:grpSpPr>
            <p:grpSp>
              <p:nvGrpSpPr>
                <p:cNvPr id="432" name="Group 261">
                  <a:extLst>
                    <a:ext uri="{FF2B5EF4-FFF2-40B4-BE49-F238E27FC236}">
                      <a16:creationId xmlns:a16="http://schemas.microsoft.com/office/drawing/2014/main" id="{59D3A41F-63D8-099B-EE32-7204432D6517}"/>
                    </a:ext>
                  </a:extLst>
                </p:cNvPr>
                <p:cNvGrpSpPr>
                  <a:grpSpLocks/>
                </p:cNvGrpSpPr>
                <p:nvPr/>
              </p:nvGrpSpPr>
              <p:grpSpPr bwMode="auto">
                <a:xfrm>
                  <a:off x="528" y="2400"/>
                  <a:ext cx="96" cy="336"/>
                  <a:chOff x="1336" y="1152"/>
                  <a:chExt cx="296" cy="720"/>
                </a:xfrm>
              </p:grpSpPr>
              <p:sp>
                <p:nvSpPr>
                  <p:cNvPr id="437" name="Line 262">
                    <a:extLst>
                      <a:ext uri="{FF2B5EF4-FFF2-40B4-BE49-F238E27FC236}">
                        <a16:creationId xmlns:a16="http://schemas.microsoft.com/office/drawing/2014/main" id="{C43E97C8-405A-C8FE-F4D7-A778604464CD}"/>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8" name="Line 263">
                    <a:extLst>
                      <a:ext uri="{FF2B5EF4-FFF2-40B4-BE49-F238E27FC236}">
                        <a16:creationId xmlns:a16="http://schemas.microsoft.com/office/drawing/2014/main" id="{405CC45A-DC9D-6413-74DE-60AEEBF18C90}"/>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9" name="Line 264">
                    <a:extLst>
                      <a:ext uri="{FF2B5EF4-FFF2-40B4-BE49-F238E27FC236}">
                        <a16:creationId xmlns:a16="http://schemas.microsoft.com/office/drawing/2014/main" id="{3BA99EEF-6417-8A91-1F63-1F92F396EAFB}"/>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0" name="Line 265">
                    <a:extLst>
                      <a:ext uri="{FF2B5EF4-FFF2-40B4-BE49-F238E27FC236}">
                        <a16:creationId xmlns:a16="http://schemas.microsoft.com/office/drawing/2014/main" id="{6B513B61-4FC5-B79C-48E9-B9053A37037B}"/>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1" name="Line 266">
                    <a:extLst>
                      <a:ext uri="{FF2B5EF4-FFF2-40B4-BE49-F238E27FC236}">
                        <a16:creationId xmlns:a16="http://schemas.microsoft.com/office/drawing/2014/main" id="{C29677CB-2088-E37B-FC11-917651DF351E}"/>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33" name="Group 267">
                  <a:extLst>
                    <a:ext uri="{FF2B5EF4-FFF2-40B4-BE49-F238E27FC236}">
                      <a16:creationId xmlns:a16="http://schemas.microsoft.com/office/drawing/2014/main" id="{8193DC0A-7C6F-DE4F-9C47-01B00D8CCC55}"/>
                    </a:ext>
                  </a:extLst>
                </p:cNvPr>
                <p:cNvGrpSpPr>
                  <a:grpSpLocks/>
                </p:cNvGrpSpPr>
                <p:nvPr/>
              </p:nvGrpSpPr>
              <p:grpSpPr bwMode="auto">
                <a:xfrm>
                  <a:off x="673" y="2400"/>
                  <a:ext cx="161" cy="168"/>
                  <a:chOff x="262" y="1357"/>
                  <a:chExt cx="161" cy="168"/>
                </a:xfrm>
              </p:grpSpPr>
              <p:sp>
                <p:nvSpPr>
                  <p:cNvPr id="434" name="Oval 268">
                    <a:extLst>
                      <a:ext uri="{FF2B5EF4-FFF2-40B4-BE49-F238E27FC236}">
                        <a16:creationId xmlns:a16="http://schemas.microsoft.com/office/drawing/2014/main" id="{317DB1D9-FFEB-6721-DAEE-CBA04D810611}"/>
                      </a:ext>
                    </a:extLst>
                  </p:cNvPr>
                  <p:cNvSpPr>
                    <a:spLocks noChangeArrowheads="1"/>
                  </p:cNvSpPr>
                  <p:nvPr/>
                </p:nvSpPr>
                <p:spPr bwMode="auto">
                  <a:xfrm>
                    <a:off x="262" y="1378"/>
                    <a:ext cx="146" cy="147"/>
                  </a:xfrm>
                  <a:prstGeom prst="ellipse">
                    <a:avLst/>
                  </a:prstGeom>
                  <a:solidFill>
                    <a:schemeClr val="bg1"/>
                  </a:solidFill>
                  <a:ln w="19050">
                    <a:solidFill>
                      <a:srgbClr val="FF0000"/>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35" name="Rectangle 269">
                    <a:extLst>
                      <a:ext uri="{FF2B5EF4-FFF2-40B4-BE49-F238E27FC236}">
                        <a16:creationId xmlns:a16="http://schemas.microsoft.com/office/drawing/2014/main" id="{DC785356-C4B9-64F5-EBC4-282100200E4C}"/>
                      </a:ext>
                    </a:extLst>
                  </p:cNvPr>
                  <p:cNvSpPr>
                    <a:spLocks noChangeArrowheads="1"/>
                  </p:cNvSpPr>
                  <p:nvPr/>
                </p:nvSpPr>
                <p:spPr bwMode="auto">
                  <a:xfrm>
                    <a:off x="346" y="1357"/>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36" name="Line 270">
                    <a:extLst>
                      <a:ext uri="{FF2B5EF4-FFF2-40B4-BE49-F238E27FC236}">
                        <a16:creationId xmlns:a16="http://schemas.microsoft.com/office/drawing/2014/main" id="{6017EBD6-C9FC-EAC8-2C07-AB0553F96E67}"/>
                      </a:ext>
                    </a:extLst>
                  </p:cNvPr>
                  <p:cNvSpPr>
                    <a:spLocks noChangeShapeType="1"/>
                  </p:cNvSpPr>
                  <p:nvPr/>
                </p:nvSpPr>
                <p:spPr bwMode="auto">
                  <a:xfrm rot="18086501" flipV="1">
                    <a:off x="387" y="1420"/>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grpSp>
          <p:nvGrpSpPr>
            <p:cNvPr id="472" name="Group 287">
              <a:extLst>
                <a:ext uri="{FF2B5EF4-FFF2-40B4-BE49-F238E27FC236}">
                  <a16:creationId xmlns:a16="http://schemas.microsoft.com/office/drawing/2014/main" id="{99E78B79-266D-45FF-F1AD-642706357E08}"/>
                </a:ext>
              </a:extLst>
            </p:cNvPr>
            <p:cNvGrpSpPr>
              <a:grpSpLocks/>
            </p:cNvGrpSpPr>
            <p:nvPr/>
          </p:nvGrpSpPr>
          <p:grpSpPr bwMode="auto">
            <a:xfrm>
              <a:off x="1517650" y="4735513"/>
              <a:ext cx="3424238" cy="647700"/>
              <a:chOff x="956" y="2983"/>
              <a:chExt cx="2157" cy="408"/>
            </a:xfrm>
          </p:grpSpPr>
          <p:sp>
            <p:nvSpPr>
              <p:cNvPr id="473" name="AutoShape 278">
                <a:extLst>
                  <a:ext uri="{FF2B5EF4-FFF2-40B4-BE49-F238E27FC236}">
                    <a16:creationId xmlns:a16="http://schemas.microsoft.com/office/drawing/2014/main" id="{21B28498-4D95-99BB-AEC1-35BDF0CFCF8E}"/>
                  </a:ext>
                </a:extLst>
              </p:cNvPr>
              <p:cNvSpPr>
                <a:spLocks noChangeArrowheads="1"/>
              </p:cNvSpPr>
              <p:nvPr/>
            </p:nvSpPr>
            <p:spPr bwMode="auto">
              <a:xfrm>
                <a:off x="2547" y="3055"/>
                <a:ext cx="566" cy="336"/>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Improve</a:t>
                </a:r>
              </a:p>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Quality</a:t>
                </a:r>
              </a:p>
            </p:txBody>
          </p:sp>
          <p:sp>
            <p:nvSpPr>
              <p:cNvPr id="474" name="AutoShape 279">
                <a:extLst>
                  <a:ext uri="{FF2B5EF4-FFF2-40B4-BE49-F238E27FC236}">
                    <a16:creationId xmlns:a16="http://schemas.microsoft.com/office/drawing/2014/main" id="{FD870063-2D5B-E00D-9A78-6800B1B66F22}"/>
                  </a:ext>
                </a:extLst>
              </p:cNvPr>
              <p:cNvSpPr>
                <a:spLocks noChangeArrowheads="1"/>
              </p:cNvSpPr>
              <p:nvPr/>
            </p:nvSpPr>
            <p:spPr bwMode="auto">
              <a:xfrm>
                <a:off x="956" y="2983"/>
                <a:ext cx="566" cy="336"/>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Improve</a:t>
                </a:r>
              </a:p>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Quality</a:t>
                </a:r>
              </a:p>
            </p:txBody>
          </p:sp>
        </p:grpSp>
        <p:sp>
          <p:nvSpPr>
            <p:cNvPr id="475" name="AutoShape 280">
              <a:extLst>
                <a:ext uri="{FF2B5EF4-FFF2-40B4-BE49-F238E27FC236}">
                  <a16:creationId xmlns:a16="http://schemas.microsoft.com/office/drawing/2014/main" id="{87AB58D6-4E29-0A1B-975A-916EC7EB7FE5}"/>
                </a:ext>
              </a:extLst>
            </p:cNvPr>
            <p:cNvSpPr>
              <a:spLocks noChangeArrowheads="1"/>
            </p:cNvSpPr>
            <p:nvPr/>
          </p:nvSpPr>
          <p:spPr bwMode="auto">
            <a:xfrm>
              <a:off x="573088" y="4344988"/>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Reduce</a:t>
              </a:r>
            </a:p>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Changeover</a:t>
              </a:r>
            </a:p>
          </p:txBody>
        </p:sp>
        <p:grpSp>
          <p:nvGrpSpPr>
            <p:cNvPr id="476" name="Group 283">
              <a:extLst>
                <a:ext uri="{FF2B5EF4-FFF2-40B4-BE49-F238E27FC236}">
                  <a16:creationId xmlns:a16="http://schemas.microsoft.com/office/drawing/2014/main" id="{03B6EC30-5AB9-4B3C-97C1-DC7DEF96DABE}"/>
                </a:ext>
              </a:extLst>
            </p:cNvPr>
            <p:cNvGrpSpPr>
              <a:grpSpLocks/>
            </p:cNvGrpSpPr>
            <p:nvPr/>
          </p:nvGrpSpPr>
          <p:grpSpPr bwMode="auto">
            <a:xfrm>
              <a:off x="2197100" y="3771900"/>
              <a:ext cx="2379663" cy="1017588"/>
              <a:chOff x="1384" y="2376"/>
              <a:chExt cx="1499" cy="641"/>
            </a:xfrm>
          </p:grpSpPr>
          <p:grpSp>
            <p:nvGrpSpPr>
              <p:cNvPr id="477" name="Group 224">
                <a:extLst>
                  <a:ext uri="{FF2B5EF4-FFF2-40B4-BE49-F238E27FC236}">
                    <a16:creationId xmlns:a16="http://schemas.microsoft.com/office/drawing/2014/main" id="{3D342EB5-89B0-7179-FA09-54C42D8983C9}"/>
                  </a:ext>
                </a:extLst>
              </p:cNvPr>
              <p:cNvGrpSpPr>
                <a:grpSpLocks/>
              </p:cNvGrpSpPr>
              <p:nvPr/>
            </p:nvGrpSpPr>
            <p:grpSpPr bwMode="auto">
              <a:xfrm>
                <a:off x="2085" y="2518"/>
                <a:ext cx="192" cy="192"/>
                <a:chOff x="4896" y="3312"/>
                <a:chExt cx="240" cy="240"/>
              </a:xfrm>
            </p:grpSpPr>
            <p:sp>
              <p:nvSpPr>
                <p:cNvPr id="480" name="Oval 225">
                  <a:extLst>
                    <a:ext uri="{FF2B5EF4-FFF2-40B4-BE49-F238E27FC236}">
                      <a16:creationId xmlns:a16="http://schemas.microsoft.com/office/drawing/2014/main" id="{EC66564C-D833-F8AB-67CB-A97F678F3661}"/>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81" name="Line 226">
                  <a:extLst>
                    <a:ext uri="{FF2B5EF4-FFF2-40B4-BE49-F238E27FC236}">
                      <a16:creationId xmlns:a16="http://schemas.microsoft.com/office/drawing/2014/main" id="{E0FA0399-7986-7A25-E07D-3439EDEF0A23}"/>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478" name="Rectangle 271">
                <a:extLst>
                  <a:ext uri="{FF2B5EF4-FFF2-40B4-BE49-F238E27FC236}">
                    <a16:creationId xmlns:a16="http://schemas.microsoft.com/office/drawing/2014/main" id="{97E73786-A2AE-91C4-BB67-497E3A0C0221}"/>
                  </a:ext>
                </a:extLst>
              </p:cNvPr>
              <p:cNvSpPr>
                <a:spLocks noChangeArrowheads="1"/>
              </p:cNvSpPr>
              <p:nvPr/>
            </p:nvSpPr>
            <p:spPr bwMode="auto">
              <a:xfrm>
                <a:off x="1479" y="2376"/>
                <a:ext cx="1404" cy="448"/>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79" name="AutoShape 281">
                <a:extLst>
                  <a:ext uri="{FF2B5EF4-FFF2-40B4-BE49-F238E27FC236}">
                    <a16:creationId xmlns:a16="http://schemas.microsoft.com/office/drawing/2014/main" id="{650649C3-741A-F931-1D96-4BA528BF8671}"/>
                  </a:ext>
                </a:extLst>
              </p:cNvPr>
              <p:cNvSpPr>
                <a:spLocks noChangeArrowheads="1"/>
              </p:cNvSpPr>
              <p:nvPr/>
            </p:nvSpPr>
            <p:spPr bwMode="auto">
              <a:xfrm>
                <a:off x="1384" y="2681"/>
                <a:ext cx="470" cy="336"/>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800" b="0">
                    <a:solidFill>
                      <a:srgbClr val="FF0000"/>
                    </a:solidFill>
                    <a:latin typeface="Roboto" panose="02000000000000000000" pitchFamily="2" charset="0"/>
                    <a:ea typeface="Roboto" panose="02000000000000000000" pitchFamily="2" charset="0"/>
                  </a:rPr>
                  <a:t>1 pc Flow</a:t>
                </a:r>
              </a:p>
            </p:txBody>
          </p:sp>
        </p:grpSp>
        <p:grpSp>
          <p:nvGrpSpPr>
            <p:cNvPr id="482" name="Group 284">
              <a:extLst>
                <a:ext uri="{FF2B5EF4-FFF2-40B4-BE49-F238E27FC236}">
                  <a16:creationId xmlns:a16="http://schemas.microsoft.com/office/drawing/2014/main" id="{7F3E0811-29FD-B2F7-01EA-64E174429D98}"/>
                </a:ext>
              </a:extLst>
            </p:cNvPr>
            <p:cNvGrpSpPr>
              <a:grpSpLocks/>
            </p:cNvGrpSpPr>
            <p:nvPr/>
          </p:nvGrpSpPr>
          <p:grpSpPr bwMode="auto">
            <a:xfrm>
              <a:off x="6027738" y="3781425"/>
              <a:ext cx="2573337" cy="1052513"/>
              <a:chOff x="3797" y="2382"/>
              <a:chExt cx="1621" cy="663"/>
            </a:xfrm>
          </p:grpSpPr>
          <p:grpSp>
            <p:nvGrpSpPr>
              <p:cNvPr id="483" name="Group 221">
                <a:extLst>
                  <a:ext uri="{FF2B5EF4-FFF2-40B4-BE49-F238E27FC236}">
                    <a16:creationId xmlns:a16="http://schemas.microsoft.com/office/drawing/2014/main" id="{7687FBF7-2352-1ABE-2606-8F3B37ED8E29}"/>
                  </a:ext>
                </a:extLst>
              </p:cNvPr>
              <p:cNvGrpSpPr>
                <a:grpSpLocks/>
              </p:cNvGrpSpPr>
              <p:nvPr/>
            </p:nvGrpSpPr>
            <p:grpSpPr bwMode="auto">
              <a:xfrm>
                <a:off x="4581" y="2491"/>
                <a:ext cx="192" cy="192"/>
                <a:chOff x="4896" y="3312"/>
                <a:chExt cx="240" cy="240"/>
              </a:xfrm>
            </p:grpSpPr>
            <p:sp>
              <p:nvSpPr>
                <p:cNvPr id="486" name="Oval 222">
                  <a:extLst>
                    <a:ext uri="{FF2B5EF4-FFF2-40B4-BE49-F238E27FC236}">
                      <a16:creationId xmlns:a16="http://schemas.microsoft.com/office/drawing/2014/main" id="{CCEFEABF-FDB4-E2AF-C102-2F9AAC3F9B8C}"/>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87" name="Line 223">
                  <a:extLst>
                    <a:ext uri="{FF2B5EF4-FFF2-40B4-BE49-F238E27FC236}">
                      <a16:creationId xmlns:a16="http://schemas.microsoft.com/office/drawing/2014/main" id="{F268FE63-11F2-3B94-1A51-6BB21D340362}"/>
                    </a:ext>
                  </a:extLst>
                </p:cNvPr>
                <p:cNvSpPr>
                  <a:spLocks noChangeShapeType="1"/>
                </p:cNvSpPr>
                <p:nvPr/>
              </p:nvSpPr>
              <p:spPr bwMode="auto">
                <a:xfrm flipH="1">
                  <a:off x="4950" y="3330"/>
                  <a:ext cx="144" cy="19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484" name="Rectangle 272">
                <a:extLst>
                  <a:ext uri="{FF2B5EF4-FFF2-40B4-BE49-F238E27FC236}">
                    <a16:creationId xmlns:a16="http://schemas.microsoft.com/office/drawing/2014/main" id="{0D249F04-D071-98F7-8BF4-DED172FBC5E8}"/>
                  </a:ext>
                </a:extLst>
              </p:cNvPr>
              <p:cNvSpPr>
                <a:spLocks noChangeArrowheads="1"/>
              </p:cNvSpPr>
              <p:nvPr/>
            </p:nvSpPr>
            <p:spPr bwMode="auto">
              <a:xfrm>
                <a:off x="4014" y="2382"/>
                <a:ext cx="1404" cy="448"/>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85" name="AutoShape 282">
                <a:extLst>
                  <a:ext uri="{FF2B5EF4-FFF2-40B4-BE49-F238E27FC236}">
                    <a16:creationId xmlns:a16="http://schemas.microsoft.com/office/drawing/2014/main" id="{BB18F0C8-7363-AFE1-EF73-3005509C59CD}"/>
                  </a:ext>
                </a:extLst>
              </p:cNvPr>
              <p:cNvSpPr>
                <a:spLocks noChangeArrowheads="1"/>
              </p:cNvSpPr>
              <p:nvPr/>
            </p:nvSpPr>
            <p:spPr bwMode="auto">
              <a:xfrm>
                <a:off x="3797" y="2709"/>
                <a:ext cx="470" cy="336"/>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sz="800" b="0">
                    <a:solidFill>
                      <a:srgbClr val="FF0000"/>
                    </a:solidFill>
                    <a:latin typeface="Roboto" panose="02000000000000000000" pitchFamily="2" charset="0"/>
                    <a:ea typeface="Roboto" panose="02000000000000000000" pitchFamily="2" charset="0"/>
                  </a:rPr>
                  <a:t>1 pc Flow</a:t>
                </a:r>
              </a:p>
            </p:txBody>
          </p:sp>
        </p:grpSp>
        <p:sp>
          <p:nvSpPr>
            <p:cNvPr id="488" name="AutoShape 288">
              <a:extLst>
                <a:ext uri="{FF2B5EF4-FFF2-40B4-BE49-F238E27FC236}">
                  <a16:creationId xmlns:a16="http://schemas.microsoft.com/office/drawing/2014/main" id="{45059986-2659-5143-EF71-9502F66F356F}"/>
                </a:ext>
              </a:extLst>
            </p:cNvPr>
            <p:cNvSpPr>
              <a:spLocks noChangeArrowheads="1"/>
            </p:cNvSpPr>
            <p:nvPr/>
          </p:nvSpPr>
          <p:spPr bwMode="auto">
            <a:xfrm>
              <a:off x="4926013" y="4340225"/>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Reduce</a:t>
              </a:r>
            </a:p>
            <a:p>
              <a:pPr>
                <a:lnSpc>
                  <a:spcPct val="100000"/>
                </a:lnSpc>
                <a:spcBef>
                  <a:spcPct val="0"/>
                </a:spcBef>
              </a:pPr>
              <a:r>
                <a:rPr lang="en-US" altLang="en-US" sz="800" b="0">
                  <a:solidFill>
                    <a:srgbClr val="FF0000"/>
                  </a:solidFill>
                  <a:latin typeface="Roboto" panose="02000000000000000000" pitchFamily="2" charset="0"/>
                  <a:ea typeface="Roboto" panose="02000000000000000000" pitchFamily="2" charset="0"/>
                </a:rPr>
                <a:t>DOI</a:t>
              </a:r>
            </a:p>
          </p:txBody>
        </p:sp>
      </p:grpSp>
    </p:spTree>
    <p:extLst>
      <p:ext uri="{BB962C8B-B14F-4D97-AF65-F5344CB8AC3E}">
        <p14:creationId xmlns:p14="http://schemas.microsoft.com/office/powerpoint/2010/main" val="1681883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Case Study Example: </a:t>
            </a:r>
            <a:br>
              <a:rPr lang="en-US" dirty="0"/>
            </a:br>
            <a:r>
              <a:rPr lang="en-US" dirty="0" err="1"/>
              <a:t>Rusty’s</a:t>
            </a:r>
            <a:r>
              <a:rPr lang="en-US" dirty="0"/>
              <a:t> Wrench Future State Map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16" name="Group 15">
            <a:extLst>
              <a:ext uri="{FF2B5EF4-FFF2-40B4-BE49-F238E27FC236}">
                <a16:creationId xmlns:a16="http://schemas.microsoft.com/office/drawing/2014/main" id="{79DD080D-3444-BC9C-A7BA-20AB94B6C7FF}"/>
              </a:ext>
            </a:extLst>
          </p:cNvPr>
          <p:cNvGrpSpPr/>
          <p:nvPr/>
        </p:nvGrpSpPr>
        <p:grpSpPr>
          <a:xfrm>
            <a:off x="838200" y="297639"/>
            <a:ext cx="4888230" cy="307138"/>
            <a:chOff x="838200" y="297639"/>
            <a:chExt cx="4888230" cy="307138"/>
          </a:xfrm>
        </p:grpSpPr>
        <p:grpSp>
          <p:nvGrpSpPr>
            <p:cNvPr id="17" name="Group 16">
              <a:extLst>
                <a:ext uri="{FF2B5EF4-FFF2-40B4-BE49-F238E27FC236}">
                  <a16:creationId xmlns:a16="http://schemas.microsoft.com/office/drawing/2014/main" id="{BB0D8D6B-8503-35DE-C876-DC8FA7C1D9C0}"/>
                </a:ext>
              </a:extLst>
            </p:cNvPr>
            <p:cNvGrpSpPr/>
            <p:nvPr/>
          </p:nvGrpSpPr>
          <p:grpSpPr>
            <a:xfrm>
              <a:off x="838200" y="297639"/>
              <a:ext cx="1687517" cy="290657"/>
              <a:chOff x="838200" y="297639"/>
              <a:chExt cx="1687517" cy="290657"/>
            </a:xfrm>
          </p:grpSpPr>
          <p:sp>
            <p:nvSpPr>
              <p:cNvPr id="19" name="AutoShape 9">
                <a:extLst>
                  <a:ext uri="{FF2B5EF4-FFF2-40B4-BE49-F238E27FC236}">
                    <a16:creationId xmlns:a16="http://schemas.microsoft.com/office/drawing/2014/main" id="{41C230CC-A6D3-6BFC-4EAF-F6AA9A900B2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539A39B4-5138-F3B4-EE0A-98C954A0BFF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1372F46E-48DA-A719-1000-DB0B14BD47B9}"/>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37CE55F5-1733-43E3-B4D2-F2D562BD5C2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62320BA1-8E64-3867-6274-2CC3BEE2B3B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0">
                  <a:extLst>
                    <a:ext uri="{FF2B5EF4-FFF2-40B4-BE49-F238E27FC236}">
                      <a16:creationId xmlns:a16="http://schemas.microsoft.com/office/drawing/2014/main" id="{6C37714D-298B-1745-1079-13AE44D9646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8" name="TextBox 17">
              <a:extLst>
                <a:ext uri="{FF2B5EF4-FFF2-40B4-BE49-F238E27FC236}">
                  <a16:creationId xmlns:a16="http://schemas.microsoft.com/office/drawing/2014/main" id="{C3D1DF92-6CB1-3C78-9F91-01E761813994}"/>
                </a:ext>
              </a:extLst>
            </p:cNvPr>
            <p:cNvSpPr txBox="1"/>
            <p:nvPr/>
          </p:nvSpPr>
          <p:spPr>
            <a:xfrm>
              <a:off x="2525717" y="313415"/>
              <a:ext cx="32007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Interrogating the Current State</a:t>
              </a:r>
            </a:p>
          </p:txBody>
        </p:sp>
      </p:grpSp>
      <p:grpSp>
        <p:nvGrpSpPr>
          <p:cNvPr id="656" name="Group 655">
            <a:extLst>
              <a:ext uri="{FF2B5EF4-FFF2-40B4-BE49-F238E27FC236}">
                <a16:creationId xmlns:a16="http://schemas.microsoft.com/office/drawing/2014/main" id="{5A766A17-C883-BD40-E48E-2B2589DB0CAA}"/>
              </a:ext>
            </a:extLst>
          </p:cNvPr>
          <p:cNvGrpSpPr/>
          <p:nvPr/>
        </p:nvGrpSpPr>
        <p:grpSpPr>
          <a:xfrm>
            <a:off x="718027" y="1783428"/>
            <a:ext cx="10755947" cy="4549719"/>
            <a:chOff x="411163" y="1335088"/>
            <a:chExt cx="8270875" cy="4632325"/>
          </a:xfrm>
        </p:grpSpPr>
        <p:sp>
          <p:nvSpPr>
            <p:cNvPr id="3" name="Rectangle 2">
              <a:extLst>
                <a:ext uri="{FF2B5EF4-FFF2-40B4-BE49-F238E27FC236}">
                  <a16:creationId xmlns:a16="http://schemas.microsoft.com/office/drawing/2014/main" id="{7E08885A-90CA-6D5B-AB6F-9D1E36C76DE7}"/>
                </a:ext>
              </a:extLst>
            </p:cNvPr>
            <p:cNvSpPr>
              <a:spLocks noChangeArrowheads="1"/>
            </p:cNvSpPr>
            <p:nvPr/>
          </p:nvSpPr>
          <p:spPr bwMode="auto">
            <a:xfrm>
              <a:off x="474663" y="1335088"/>
              <a:ext cx="8207375" cy="4632325"/>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dirty="0">
                <a:latin typeface="Roboto" panose="02000000000000000000" pitchFamily="2" charset="0"/>
                <a:ea typeface="Roboto" panose="02000000000000000000" pitchFamily="2" charset="0"/>
              </a:endParaRPr>
            </a:p>
          </p:txBody>
        </p:sp>
        <p:sp>
          <p:nvSpPr>
            <p:cNvPr id="4" name="Line 315">
              <a:extLst>
                <a:ext uri="{FF2B5EF4-FFF2-40B4-BE49-F238E27FC236}">
                  <a16:creationId xmlns:a16="http://schemas.microsoft.com/office/drawing/2014/main" id="{73DE1FF7-87A7-9253-081E-B8B203F1FC26}"/>
                </a:ext>
              </a:extLst>
            </p:cNvPr>
            <p:cNvSpPr>
              <a:spLocks noChangeShapeType="1"/>
            </p:cNvSpPr>
            <p:nvPr/>
          </p:nvSpPr>
          <p:spPr bwMode="auto">
            <a:xfrm>
              <a:off x="1676400" y="4124325"/>
              <a:ext cx="590550"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6" name="Rectangle 25">
              <a:extLst>
                <a:ext uri="{FF2B5EF4-FFF2-40B4-BE49-F238E27FC236}">
                  <a16:creationId xmlns:a16="http://schemas.microsoft.com/office/drawing/2014/main" id="{2EDD4FCF-B009-CA21-911A-D8A3F71FE7F2}"/>
                </a:ext>
              </a:extLst>
            </p:cNvPr>
            <p:cNvSpPr>
              <a:spLocks noChangeArrowheads="1"/>
            </p:cNvSpPr>
            <p:nvPr/>
          </p:nvSpPr>
          <p:spPr bwMode="auto">
            <a:xfrm>
              <a:off x="3049588" y="3810000"/>
              <a:ext cx="833437" cy="579438"/>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7" name="Text Box 31">
              <a:extLst>
                <a:ext uri="{FF2B5EF4-FFF2-40B4-BE49-F238E27FC236}">
                  <a16:creationId xmlns:a16="http://schemas.microsoft.com/office/drawing/2014/main" id="{3CCAE309-52E5-62F1-7B51-B392B424FEBE}"/>
                </a:ext>
              </a:extLst>
            </p:cNvPr>
            <p:cNvSpPr txBox="1">
              <a:spLocks noChangeArrowheads="1"/>
            </p:cNvSpPr>
            <p:nvPr/>
          </p:nvSpPr>
          <p:spPr bwMode="auto">
            <a:xfrm>
              <a:off x="3078163" y="3770313"/>
              <a:ext cx="781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Machine &amp; Polish</a:t>
              </a:r>
            </a:p>
          </p:txBody>
        </p:sp>
        <p:sp>
          <p:nvSpPr>
            <p:cNvPr id="8" name="Rectangle 3">
              <a:extLst>
                <a:ext uri="{FF2B5EF4-FFF2-40B4-BE49-F238E27FC236}">
                  <a16:creationId xmlns:a16="http://schemas.microsoft.com/office/drawing/2014/main" id="{A1B9B3A0-181A-0E32-6493-9E30B205CF68}"/>
                </a:ext>
              </a:extLst>
            </p:cNvPr>
            <p:cNvSpPr>
              <a:spLocks noChangeArrowheads="1"/>
            </p:cNvSpPr>
            <p:nvPr/>
          </p:nvSpPr>
          <p:spPr bwMode="auto">
            <a:xfrm>
              <a:off x="6872288" y="5618163"/>
              <a:ext cx="9001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8 sec</a:t>
              </a:r>
            </a:p>
          </p:txBody>
        </p:sp>
        <p:sp>
          <p:nvSpPr>
            <p:cNvPr id="9" name="Rectangle 5">
              <a:extLst>
                <a:ext uri="{FF2B5EF4-FFF2-40B4-BE49-F238E27FC236}">
                  <a16:creationId xmlns:a16="http://schemas.microsoft.com/office/drawing/2014/main" id="{163D32BF-B9EA-9B3B-05CA-55BCC6AEB640}"/>
                </a:ext>
              </a:extLst>
            </p:cNvPr>
            <p:cNvSpPr>
              <a:spLocks noChangeArrowheads="1"/>
            </p:cNvSpPr>
            <p:nvPr/>
          </p:nvSpPr>
          <p:spPr bwMode="auto">
            <a:xfrm>
              <a:off x="4992688" y="5592763"/>
              <a:ext cx="10398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5400 sec </a:t>
              </a:r>
              <a:r>
                <a:rPr lang="en-US" altLang="en-US" sz="600" b="0">
                  <a:solidFill>
                    <a:schemeClr val="tx1"/>
                  </a:solidFill>
                </a:rPr>
                <a:t>(or 90 min)</a:t>
              </a:r>
            </a:p>
          </p:txBody>
        </p:sp>
        <p:sp>
          <p:nvSpPr>
            <p:cNvPr id="10" name="Rectangle 6">
              <a:extLst>
                <a:ext uri="{FF2B5EF4-FFF2-40B4-BE49-F238E27FC236}">
                  <a16:creationId xmlns:a16="http://schemas.microsoft.com/office/drawing/2014/main" id="{D2C352E1-7119-742A-AB6C-31A86B020523}"/>
                </a:ext>
              </a:extLst>
            </p:cNvPr>
            <p:cNvSpPr>
              <a:spLocks noChangeArrowheads="1"/>
            </p:cNvSpPr>
            <p:nvPr/>
          </p:nvSpPr>
          <p:spPr bwMode="auto">
            <a:xfrm>
              <a:off x="5827713" y="5384800"/>
              <a:ext cx="106521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2 days</a:t>
              </a:r>
            </a:p>
          </p:txBody>
        </p:sp>
        <p:sp>
          <p:nvSpPr>
            <p:cNvPr id="11" name="Rectangle 8">
              <a:extLst>
                <a:ext uri="{FF2B5EF4-FFF2-40B4-BE49-F238E27FC236}">
                  <a16:creationId xmlns:a16="http://schemas.microsoft.com/office/drawing/2014/main" id="{426F0C7D-9C54-8F7A-C9F6-0E498B1F786D}"/>
                </a:ext>
              </a:extLst>
            </p:cNvPr>
            <p:cNvSpPr>
              <a:spLocks noChangeArrowheads="1"/>
            </p:cNvSpPr>
            <p:nvPr/>
          </p:nvSpPr>
          <p:spPr bwMode="auto">
            <a:xfrm>
              <a:off x="3975100" y="5384800"/>
              <a:ext cx="9858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1 day</a:t>
              </a:r>
            </a:p>
          </p:txBody>
        </p:sp>
        <p:sp>
          <p:nvSpPr>
            <p:cNvPr id="12" name="Rectangle 9">
              <a:extLst>
                <a:ext uri="{FF2B5EF4-FFF2-40B4-BE49-F238E27FC236}">
                  <a16:creationId xmlns:a16="http://schemas.microsoft.com/office/drawing/2014/main" id="{93A8409A-B2F9-77A5-EE9D-B15A91ED57B7}"/>
                </a:ext>
              </a:extLst>
            </p:cNvPr>
            <p:cNvSpPr>
              <a:spLocks noChangeArrowheads="1"/>
            </p:cNvSpPr>
            <p:nvPr/>
          </p:nvSpPr>
          <p:spPr bwMode="auto">
            <a:xfrm>
              <a:off x="3048000" y="5592763"/>
              <a:ext cx="8778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22 sec</a:t>
              </a:r>
            </a:p>
          </p:txBody>
        </p:sp>
        <p:sp>
          <p:nvSpPr>
            <p:cNvPr id="13" name="Rectangle 10">
              <a:extLst>
                <a:ext uri="{FF2B5EF4-FFF2-40B4-BE49-F238E27FC236}">
                  <a16:creationId xmlns:a16="http://schemas.microsoft.com/office/drawing/2014/main" id="{A57F6598-BD45-975E-DDD6-4D576B7EE676}"/>
                </a:ext>
              </a:extLst>
            </p:cNvPr>
            <p:cNvSpPr>
              <a:spLocks noChangeArrowheads="1"/>
            </p:cNvSpPr>
            <p:nvPr/>
          </p:nvSpPr>
          <p:spPr bwMode="auto">
            <a:xfrm>
              <a:off x="1976438" y="5384800"/>
              <a:ext cx="9445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2 days</a:t>
              </a:r>
            </a:p>
          </p:txBody>
        </p:sp>
        <p:sp>
          <p:nvSpPr>
            <p:cNvPr id="14" name="Rectangle 11">
              <a:extLst>
                <a:ext uri="{FF2B5EF4-FFF2-40B4-BE49-F238E27FC236}">
                  <a16:creationId xmlns:a16="http://schemas.microsoft.com/office/drawing/2014/main" id="{43D3ECDB-DCCB-C82A-27D5-6EE7C63C533E}"/>
                </a:ext>
              </a:extLst>
            </p:cNvPr>
            <p:cNvSpPr>
              <a:spLocks noChangeArrowheads="1"/>
            </p:cNvSpPr>
            <p:nvPr/>
          </p:nvSpPr>
          <p:spPr bwMode="auto">
            <a:xfrm>
              <a:off x="1028700" y="5592763"/>
              <a:ext cx="8556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12 sec</a:t>
              </a:r>
            </a:p>
          </p:txBody>
        </p:sp>
        <p:sp>
          <p:nvSpPr>
            <p:cNvPr id="15" name="Rectangle 12">
              <a:extLst>
                <a:ext uri="{FF2B5EF4-FFF2-40B4-BE49-F238E27FC236}">
                  <a16:creationId xmlns:a16="http://schemas.microsoft.com/office/drawing/2014/main" id="{2EAC9A68-9226-3D06-E575-D03D35284B32}"/>
                </a:ext>
              </a:extLst>
            </p:cNvPr>
            <p:cNvSpPr>
              <a:spLocks noChangeArrowheads="1"/>
            </p:cNvSpPr>
            <p:nvPr/>
          </p:nvSpPr>
          <p:spPr bwMode="auto">
            <a:xfrm>
              <a:off x="412750" y="5384800"/>
              <a:ext cx="7127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1.5 days</a:t>
              </a:r>
            </a:p>
          </p:txBody>
        </p:sp>
        <p:sp>
          <p:nvSpPr>
            <p:cNvPr id="29" name="Line 13">
              <a:extLst>
                <a:ext uri="{FF2B5EF4-FFF2-40B4-BE49-F238E27FC236}">
                  <a16:creationId xmlns:a16="http://schemas.microsoft.com/office/drawing/2014/main" id="{3A7E0C1B-B33A-F68F-FE78-B7D32B24E7E0}"/>
                </a:ext>
              </a:extLst>
            </p:cNvPr>
            <p:cNvSpPr>
              <a:spLocks noChangeShapeType="1"/>
            </p:cNvSpPr>
            <p:nvPr/>
          </p:nvSpPr>
          <p:spPr bwMode="auto">
            <a:xfrm flipV="1">
              <a:off x="7416800" y="2492375"/>
              <a:ext cx="855663" cy="1308100"/>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30" name="Text Box 14">
              <a:extLst>
                <a:ext uri="{FF2B5EF4-FFF2-40B4-BE49-F238E27FC236}">
                  <a16:creationId xmlns:a16="http://schemas.microsoft.com/office/drawing/2014/main" id="{534C09B7-C92E-F776-2E05-99DB0D523981}"/>
                </a:ext>
              </a:extLst>
            </p:cNvPr>
            <p:cNvSpPr txBox="1">
              <a:spLocks noChangeArrowheads="1"/>
            </p:cNvSpPr>
            <p:nvPr/>
          </p:nvSpPr>
          <p:spPr bwMode="auto">
            <a:xfrm>
              <a:off x="7640638" y="2624138"/>
              <a:ext cx="963612" cy="473075"/>
            </a:xfrm>
            <a:prstGeom prst="rect">
              <a:avLst/>
            </a:prstGeom>
            <a:solidFill>
              <a:schemeClr val="bg1"/>
            </a:solidFill>
            <a:ln w="12700" cap="sq">
              <a:solidFill>
                <a:schemeClr val="tx1"/>
              </a:solidFill>
              <a:miter lim="800000"/>
              <a:headEnd type="none" w="sm" len="sm"/>
              <a:tailEnd type="none" w="sm" len="sm"/>
            </a:ln>
          </p:spPr>
          <p:txBody>
            <a:bodyPr lIns="18288" rIns="0">
              <a:spAutoFit/>
            </a:bodyPr>
            <a:lstStyle>
              <a:lvl1pPr marL="58738" indent="-58738">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685800" indent="-22860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Char char="•"/>
              </a:pPr>
              <a:r>
                <a:rPr lang="en-US" altLang="en-US" sz="600" b="0"/>
                <a:t>Demand = 3200 sets/mo</a:t>
              </a:r>
            </a:p>
            <a:p>
              <a:pPr>
                <a:lnSpc>
                  <a:spcPct val="100000"/>
                </a:lnSpc>
                <a:spcBef>
                  <a:spcPct val="0"/>
                </a:spcBef>
                <a:spcAft>
                  <a:spcPct val="0"/>
                </a:spcAft>
                <a:buClrTx/>
                <a:buSzTx/>
                <a:buFontTx/>
                <a:buChar char="•"/>
              </a:pPr>
              <a:r>
                <a:rPr lang="en-US" altLang="en-US" sz="600" b="0"/>
                <a:t>2200 SAE, 1000 Metric</a:t>
              </a:r>
            </a:p>
            <a:p>
              <a:pPr>
                <a:lnSpc>
                  <a:spcPct val="100000"/>
                </a:lnSpc>
                <a:spcBef>
                  <a:spcPct val="0"/>
                </a:spcBef>
                <a:spcAft>
                  <a:spcPct val="0"/>
                </a:spcAft>
                <a:buClrTx/>
                <a:buSzTx/>
                <a:buFontTx/>
                <a:buChar char="•"/>
              </a:pPr>
              <a:r>
                <a:rPr lang="en-US" altLang="en-US" sz="600" b="0"/>
                <a:t>2 Shifts</a:t>
              </a:r>
            </a:p>
            <a:p>
              <a:pPr>
                <a:lnSpc>
                  <a:spcPct val="100000"/>
                </a:lnSpc>
                <a:spcBef>
                  <a:spcPct val="0"/>
                </a:spcBef>
                <a:spcAft>
                  <a:spcPct val="0"/>
                </a:spcAft>
                <a:buClrTx/>
                <a:buSzTx/>
                <a:buFontTx/>
                <a:buChar char="•"/>
              </a:pPr>
              <a:r>
                <a:rPr lang="en-US" altLang="en-US" sz="600" b="0"/>
                <a:t>Set = 25 pcs</a:t>
              </a:r>
            </a:p>
          </p:txBody>
        </p:sp>
        <p:sp>
          <p:nvSpPr>
            <p:cNvPr id="31" name="Text Box 15">
              <a:extLst>
                <a:ext uri="{FF2B5EF4-FFF2-40B4-BE49-F238E27FC236}">
                  <a16:creationId xmlns:a16="http://schemas.microsoft.com/office/drawing/2014/main" id="{C33E77F7-A25C-1D79-766B-7BA07E3BF2FE}"/>
                </a:ext>
              </a:extLst>
            </p:cNvPr>
            <p:cNvSpPr txBox="1">
              <a:spLocks noChangeArrowheads="1"/>
            </p:cNvSpPr>
            <p:nvPr/>
          </p:nvSpPr>
          <p:spPr bwMode="auto">
            <a:xfrm>
              <a:off x="7658100" y="5289550"/>
              <a:ext cx="10064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30000"/>
                </a:spcBef>
                <a:spcAft>
                  <a:spcPct val="0"/>
                </a:spcAft>
                <a:buClrTx/>
                <a:buSzTx/>
                <a:buFontTx/>
                <a:buNone/>
              </a:pPr>
              <a:r>
                <a:rPr lang="en-US" altLang="en-US" sz="700" b="0"/>
                <a:t>Production L.T. =  </a:t>
              </a:r>
              <a:br>
                <a:rPr lang="en-US" altLang="en-US" sz="700" b="0"/>
              </a:br>
              <a:r>
                <a:rPr lang="en-US" altLang="en-US" sz="700" b="0"/>
                <a:t>6.5 days    </a:t>
              </a:r>
            </a:p>
            <a:p>
              <a:pPr>
                <a:lnSpc>
                  <a:spcPct val="100000"/>
                </a:lnSpc>
                <a:spcBef>
                  <a:spcPct val="30000"/>
                </a:spcBef>
                <a:spcAft>
                  <a:spcPct val="0"/>
                </a:spcAft>
                <a:buClrTx/>
                <a:buSzTx/>
                <a:buFontTx/>
                <a:buNone/>
              </a:pPr>
              <a:r>
                <a:rPr lang="en-US" altLang="en-US" sz="700" b="0"/>
                <a:t>Proc. Time = </a:t>
              </a:r>
              <a:br>
                <a:rPr lang="en-US" altLang="en-US" sz="700" b="0"/>
              </a:br>
              <a:r>
                <a:rPr lang="en-US" altLang="en-US" sz="700" b="0"/>
                <a:t>5442 sec (or 90</a:t>
              </a:r>
              <a:r>
                <a:rPr lang="ja-JP" altLang="en-US" sz="700" b="0"/>
                <a:t>’</a:t>
              </a:r>
              <a:r>
                <a:rPr lang="en-US" altLang="ja-JP" sz="700" b="0"/>
                <a:t> 42</a:t>
              </a:r>
              <a:r>
                <a:rPr lang="ja-JP" altLang="en-US" sz="700" b="0"/>
                <a:t>”</a:t>
              </a:r>
              <a:r>
                <a:rPr lang="en-US" altLang="ja-JP" sz="700" b="0"/>
                <a:t>)</a:t>
              </a:r>
              <a:endParaRPr lang="en-US" altLang="en-US" sz="700" b="0"/>
            </a:p>
          </p:txBody>
        </p:sp>
        <p:sp>
          <p:nvSpPr>
            <p:cNvPr id="32" name="Line 16">
              <a:extLst>
                <a:ext uri="{FF2B5EF4-FFF2-40B4-BE49-F238E27FC236}">
                  <a16:creationId xmlns:a16="http://schemas.microsoft.com/office/drawing/2014/main" id="{4E720941-B254-FFBE-2D88-89F7BC549BE6}"/>
                </a:ext>
              </a:extLst>
            </p:cNvPr>
            <p:cNvSpPr>
              <a:spLocks noChangeShapeType="1"/>
            </p:cNvSpPr>
            <p:nvPr/>
          </p:nvSpPr>
          <p:spPr bwMode="auto">
            <a:xfrm flipV="1">
              <a:off x="7735888" y="5559425"/>
              <a:ext cx="803275" cy="476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3" name="Rectangle 17">
              <a:extLst>
                <a:ext uri="{FF2B5EF4-FFF2-40B4-BE49-F238E27FC236}">
                  <a16:creationId xmlns:a16="http://schemas.microsoft.com/office/drawing/2014/main" id="{837E4035-A400-BE6E-8361-7575DA907A36}"/>
                </a:ext>
              </a:extLst>
            </p:cNvPr>
            <p:cNvSpPr>
              <a:spLocks noChangeArrowheads="1"/>
            </p:cNvSpPr>
            <p:nvPr/>
          </p:nvSpPr>
          <p:spPr bwMode="auto">
            <a:xfrm>
              <a:off x="7697788" y="5251450"/>
              <a:ext cx="931862" cy="60801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4" name="Line 20">
              <a:extLst>
                <a:ext uri="{FF2B5EF4-FFF2-40B4-BE49-F238E27FC236}">
                  <a16:creationId xmlns:a16="http://schemas.microsoft.com/office/drawing/2014/main" id="{0647A990-7C84-2DA4-CE88-E792605A8520}"/>
                </a:ext>
              </a:extLst>
            </p:cNvPr>
            <p:cNvSpPr>
              <a:spLocks noChangeShapeType="1"/>
            </p:cNvSpPr>
            <p:nvPr/>
          </p:nvSpPr>
          <p:spPr bwMode="auto">
            <a:xfrm>
              <a:off x="704850" y="2543175"/>
              <a:ext cx="7938" cy="1389063"/>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35" name="Rectangle 22">
              <a:extLst>
                <a:ext uri="{FF2B5EF4-FFF2-40B4-BE49-F238E27FC236}">
                  <a16:creationId xmlns:a16="http://schemas.microsoft.com/office/drawing/2014/main" id="{30D0508D-5F00-2743-F23E-303A9B458331}"/>
                </a:ext>
              </a:extLst>
            </p:cNvPr>
            <p:cNvSpPr>
              <a:spLocks noChangeArrowheads="1"/>
            </p:cNvSpPr>
            <p:nvPr/>
          </p:nvSpPr>
          <p:spPr bwMode="auto">
            <a:xfrm>
              <a:off x="3055938" y="4487863"/>
              <a:ext cx="833437" cy="579437"/>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6" name="Line 26">
              <a:extLst>
                <a:ext uri="{FF2B5EF4-FFF2-40B4-BE49-F238E27FC236}">
                  <a16:creationId xmlns:a16="http://schemas.microsoft.com/office/drawing/2014/main" id="{570A0A4F-8A57-78F8-3145-6F91574D4379}"/>
                </a:ext>
              </a:extLst>
            </p:cNvPr>
            <p:cNvSpPr>
              <a:spLocks noChangeShapeType="1"/>
            </p:cNvSpPr>
            <p:nvPr/>
          </p:nvSpPr>
          <p:spPr bwMode="auto">
            <a:xfrm>
              <a:off x="3054350" y="4100513"/>
              <a:ext cx="822325" cy="1587"/>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37" name="Group 27">
              <a:extLst>
                <a:ext uri="{FF2B5EF4-FFF2-40B4-BE49-F238E27FC236}">
                  <a16:creationId xmlns:a16="http://schemas.microsoft.com/office/drawing/2014/main" id="{0DF57AA4-5DB4-41EC-A866-DFC08CFB464D}"/>
                </a:ext>
              </a:extLst>
            </p:cNvPr>
            <p:cNvGrpSpPr>
              <a:grpSpLocks/>
            </p:cNvGrpSpPr>
            <p:nvPr/>
          </p:nvGrpSpPr>
          <p:grpSpPr bwMode="auto">
            <a:xfrm flipV="1">
              <a:off x="3232150" y="4113213"/>
              <a:ext cx="184150" cy="177800"/>
              <a:chOff x="720" y="3354"/>
              <a:chExt cx="192" cy="198"/>
            </a:xfrm>
          </p:grpSpPr>
          <p:sp>
            <p:nvSpPr>
              <p:cNvPr id="38" name="Oval 28">
                <a:extLst>
                  <a:ext uri="{FF2B5EF4-FFF2-40B4-BE49-F238E27FC236}">
                    <a16:creationId xmlns:a16="http://schemas.microsoft.com/office/drawing/2014/main" id="{146EB7C8-108B-D848-ED9B-3CFD5E7A73C9}"/>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9" name="AutoShape 29">
                <a:extLst>
                  <a:ext uri="{FF2B5EF4-FFF2-40B4-BE49-F238E27FC236}">
                    <a16:creationId xmlns:a16="http://schemas.microsoft.com/office/drawing/2014/main" id="{D249B016-3BDD-E0FA-BECC-953A8453CFF8}"/>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p>
            </p:txBody>
          </p:sp>
        </p:grpSp>
        <p:sp>
          <p:nvSpPr>
            <p:cNvPr id="40" name="Text Box 30">
              <a:extLst>
                <a:ext uri="{FF2B5EF4-FFF2-40B4-BE49-F238E27FC236}">
                  <a16:creationId xmlns:a16="http://schemas.microsoft.com/office/drawing/2014/main" id="{3FBC18A0-6E2A-A71F-0B64-232A3F097E4C}"/>
                </a:ext>
              </a:extLst>
            </p:cNvPr>
            <p:cNvSpPr txBox="1">
              <a:spLocks noChangeArrowheads="1"/>
            </p:cNvSpPr>
            <p:nvPr/>
          </p:nvSpPr>
          <p:spPr bwMode="auto">
            <a:xfrm>
              <a:off x="3424238" y="4110038"/>
              <a:ext cx="3460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 7</a:t>
              </a:r>
            </a:p>
          </p:txBody>
        </p:sp>
        <p:sp>
          <p:nvSpPr>
            <p:cNvPr id="41" name="Text Box 32">
              <a:extLst>
                <a:ext uri="{FF2B5EF4-FFF2-40B4-BE49-F238E27FC236}">
                  <a16:creationId xmlns:a16="http://schemas.microsoft.com/office/drawing/2014/main" id="{F1928FE7-BF8A-B4AD-BEF9-FFD1A9FDA335}"/>
                </a:ext>
              </a:extLst>
            </p:cNvPr>
            <p:cNvSpPr txBox="1">
              <a:spLocks noChangeArrowheads="1"/>
            </p:cNvSpPr>
            <p:nvPr/>
          </p:nvSpPr>
          <p:spPr bwMode="auto">
            <a:xfrm>
              <a:off x="2998788" y="4503738"/>
              <a:ext cx="8778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t>DOI = 12</a:t>
              </a:r>
              <a:r>
                <a:rPr lang="ja-JP" altLang="en-US" sz="800" b="0"/>
                <a:t>”</a:t>
              </a:r>
              <a:endParaRPr lang="en-US" altLang="ja-JP" sz="800" b="0"/>
            </a:p>
            <a:p>
              <a:pPr>
                <a:lnSpc>
                  <a:spcPct val="100000"/>
                </a:lnSpc>
                <a:spcBef>
                  <a:spcPct val="0"/>
                </a:spcBef>
                <a:spcAft>
                  <a:spcPct val="0"/>
                </a:spcAft>
                <a:buClrTx/>
                <a:buSzTx/>
                <a:buFontTx/>
                <a:buNone/>
              </a:pPr>
              <a:r>
                <a:rPr lang="en-US" altLang="en-US" sz="800" b="0"/>
                <a:t>C/O Time = 20</a:t>
              </a:r>
              <a:r>
                <a:rPr lang="ja-JP" altLang="en-US" sz="800" b="0"/>
                <a:t>’</a:t>
              </a:r>
              <a:endParaRPr lang="en-US" altLang="ja-JP" sz="800" b="0"/>
            </a:p>
            <a:p>
              <a:pPr>
                <a:lnSpc>
                  <a:spcPct val="100000"/>
                </a:lnSpc>
                <a:spcBef>
                  <a:spcPct val="0"/>
                </a:spcBef>
                <a:spcAft>
                  <a:spcPct val="0"/>
                </a:spcAft>
                <a:buClrTx/>
                <a:buSzTx/>
                <a:buFontTx/>
                <a:buNone/>
              </a:pPr>
              <a:r>
                <a:rPr lang="en-US" altLang="en-US" sz="800" b="0"/>
                <a:t>Uptime = 98%</a:t>
              </a:r>
            </a:p>
            <a:p>
              <a:pPr>
                <a:lnSpc>
                  <a:spcPct val="100000"/>
                </a:lnSpc>
                <a:spcBef>
                  <a:spcPct val="0"/>
                </a:spcBef>
                <a:spcAft>
                  <a:spcPct val="0"/>
                </a:spcAft>
                <a:buClrTx/>
                <a:buSzTx/>
                <a:buFontTx/>
                <a:buNone/>
              </a:pPr>
              <a:r>
                <a:rPr lang="en-US" altLang="en-US" sz="800" b="0"/>
                <a:t>Quality = 98%</a:t>
              </a:r>
            </a:p>
          </p:txBody>
        </p:sp>
        <p:grpSp>
          <p:nvGrpSpPr>
            <p:cNvPr id="42" name="Group 47">
              <a:extLst>
                <a:ext uri="{FF2B5EF4-FFF2-40B4-BE49-F238E27FC236}">
                  <a16:creationId xmlns:a16="http://schemas.microsoft.com/office/drawing/2014/main" id="{EADF393B-C4B4-AF40-C665-205557E39F17}"/>
                </a:ext>
              </a:extLst>
            </p:cNvPr>
            <p:cNvGrpSpPr>
              <a:grpSpLocks/>
            </p:cNvGrpSpPr>
            <p:nvPr/>
          </p:nvGrpSpPr>
          <p:grpSpPr bwMode="auto">
            <a:xfrm>
              <a:off x="461963" y="1979613"/>
              <a:ext cx="925512" cy="552450"/>
              <a:chOff x="435" y="1322"/>
              <a:chExt cx="583" cy="348"/>
            </a:xfrm>
          </p:grpSpPr>
          <p:grpSp>
            <p:nvGrpSpPr>
              <p:cNvPr id="43" name="Group 48">
                <a:extLst>
                  <a:ext uri="{FF2B5EF4-FFF2-40B4-BE49-F238E27FC236}">
                    <a16:creationId xmlns:a16="http://schemas.microsoft.com/office/drawing/2014/main" id="{56CD7C69-5D44-83D9-365D-5DE9B31A80FF}"/>
                  </a:ext>
                </a:extLst>
              </p:cNvPr>
              <p:cNvGrpSpPr>
                <a:grpSpLocks/>
              </p:cNvGrpSpPr>
              <p:nvPr/>
            </p:nvGrpSpPr>
            <p:grpSpPr bwMode="auto">
              <a:xfrm>
                <a:off x="474" y="1322"/>
                <a:ext cx="508" cy="348"/>
                <a:chOff x="536" y="1322"/>
                <a:chExt cx="446" cy="348"/>
              </a:xfrm>
            </p:grpSpPr>
            <p:sp>
              <p:nvSpPr>
                <p:cNvPr id="45" name="Rectangle 49">
                  <a:extLst>
                    <a:ext uri="{FF2B5EF4-FFF2-40B4-BE49-F238E27FC236}">
                      <a16:creationId xmlns:a16="http://schemas.microsoft.com/office/drawing/2014/main" id="{0834C277-9EB2-DCB3-B7F2-3853102617C3}"/>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6" name="Rectangle 50">
                  <a:extLst>
                    <a:ext uri="{FF2B5EF4-FFF2-40B4-BE49-F238E27FC236}">
                      <a16:creationId xmlns:a16="http://schemas.microsoft.com/office/drawing/2014/main" id="{6B722806-1953-506F-F05C-60FFA50F0435}"/>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endParaRPr>
                </a:p>
              </p:txBody>
            </p:sp>
            <p:sp>
              <p:nvSpPr>
                <p:cNvPr id="47" name="AutoShape 51">
                  <a:extLst>
                    <a:ext uri="{FF2B5EF4-FFF2-40B4-BE49-F238E27FC236}">
                      <a16:creationId xmlns:a16="http://schemas.microsoft.com/office/drawing/2014/main" id="{FF826D7E-CCC0-FD08-E0B6-11CFCB37EC1D}"/>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8" name="AutoShape 52">
                  <a:extLst>
                    <a:ext uri="{FF2B5EF4-FFF2-40B4-BE49-F238E27FC236}">
                      <a16:creationId xmlns:a16="http://schemas.microsoft.com/office/drawing/2014/main" id="{1F105C96-2F12-65E0-B9EB-FD0DE59DC9FE}"/>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9" name="AutoShape 53">
                  <a:extLst>
                    <a:ext uri="{FF2B5EF4-FFF2-40B4-BE49-F238E27FC236}">
                      <a16:creationId xmlns:a16="http://schemas.microsoft.com/office/drawing/2014/main" id="{5AB4CBDF-9FD5-BBAC-A0A8-170659E35FAA}"/>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0" name="Rectangle 54">
                  <a:extLst>
                    <a:ext uri="{FF2B5EF4-FFF2-40B4-BE49-F238E27FC236}">
                      <a16:creationId xmlns:a16="http://schemas.microsoft.com/office/drawing/2014/main" id="{4C17385D-3385-7952-749E-893619476D3C}"/>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1" name="Rectangle 55">
                  <a:extLst>
                    <a:ext uri="{FF2B5EF4-FFF2-40B4-BE49-F238E27FC236}">
                      <a16:creationId xmlns:a16="http://schemas.microsoft.com/office/drawing/2014/main" id="{AA7EE4C9-B85A-2A3C-580B-461988B35BE2}"/>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2" name="Rectangle 56">
                  <a:extLst>
                    <a:ext uri="{FF2B5EF4-FFF2-40B4-BE49-F238E27FC236}">
                      <a16:creationId xmlns:a16="http://schemas.microsoft.com/office/drawing/2014/main" id="{13F8CFC6-978B-E639-419D-F467BF0AAC63}"/>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grpSp>
          <p:sp>
            <p:nvSpPr>
              <p:cNvPr id="44" name="Text Box 57">
                <a:extLst>
                  <a:ext uri="{FF2B5EF4-FFF2-40B4-BE49-F238E27FC236}">
                    <a16:creationId xmlns:a16="http://schemas.microsoft.com/office/drawing/2014/main" id="{5B7E8000-321A-A09A-8477-64DCDD505D5D}"/>
                  </a:ext>
                </a:extLst>
              </p:cNvPr>
              <p:cNvSpPr txBox="1">
                <a:spLocks noChangeArrowheads="1"/>
              </p:cNvSpPr>
              <p:nvPr/>
            </p:nvSpPr>
            <p:spPr bwMode="auto">
              <a:xfrm>
                <a:off x="435" y="1494"/>
                <a:ext cx="5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Lean Steel</a:t>
                </a:r>
              </a:p>
            </p:txBody>
          </p:sp>
        </p:grpSp>
        <p:grpSp>
          <p:nvGrpSpPr>
            <p:cNvPr id="53" name="Group 58">
              <a:extLst>
                <a:ext uri="{FF2B5EF4-FFF2-40B4-BE49-F238E27FC236}">
                  <a16:creationId xmlns:a16="http://schemas.microsoft.com/office/drawing/2014/main" id="{B391DE5C-F590-C44F-0412-4E05874AF975}"/>
                </a:ext>
              </a:extLst>
            </p:cNvPr>
            <p:cNvGrpSpPr>
              <a:grpSpLocks/>
            </p:cNvGrpSpPr>
            <p:nvPr/>
          </p:nvGrpSpPr>
          <p:grpSpPr bwMode="auto">
            <a:xfrm>
              <a:off x="7683500" y="1939925"/>
              <a:ext cx="925513" cy="552450"/>
              <a:chOff x="435" y="1322"/>
              <a:chExt cx="583" cy="348"/>
            </a:xfrm>
          </p:grpSpPr>
          <p:grpSp>
            <p:nvGrpSpPr>
              <p:cNvPr id="54" name="Group 59">
                <a:extLst>
                  <a:ext uri="{FF2B5EF4-FFF2-40B4-BE49-F238E27FC236}">
                    <a16:creationId xmlns:a16="http://schemas.microsoft.com/office/drawing/2014/main" id="{0D902062-CE7B-DD90-05E1-8B352136BE91}"/>
                  </a:ext>
                </a:extLst>
              </p:cNvPr>
              <p:cNvGrpSpPr>
                <a:grpSpLocks/>
              </p:cNvGrpSpPr>
              <p:nvPr/>
            </p:nvGrpSpPr>
            <p:grpSpPr bwMode="auto">
              <a:xfrm>
                <a:off x="474" y="1322"/>
                <a:ext cx="508" cy="348"/>
                <a:chOff x="536" y="1322"/>
                <a:chExt cx="446" cy="348"/>
              </a:xfrm>
            </p:grpSpPr>
            <p:sp>
              <p:nvSpPr>
                <p:cNvPr id="56" name="Rectangle 60">
                  <a:extLst>
                    <a:ext uri="{FF2B5EF4-FFF2-40B4-BE49-F238E27FC236}">
                      <a16:creationId xmlns:a16="http://schemas.microsoft.com/office/drawing/2014/main" id="{D83859FB-D558-F6A2-2C8D-C68CF08BE590}"/>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7" name="Rectangle 61">
                  <a:extLst>
                    <a:ext uri="{FF2B5EF4-FFF2-40B4-BE49-F238E27FC236}">
                      <a16:creationId xmlns:a16="http://schemas.microsoft.com/office/drawing/2014/main" id="{03B825D7-88A2-1ACD-D6A5-6827932EFC15}"/>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400" b="0">
                    <a:solidFill>
                      <a:srgbClr val="FF0000"/>
                    </a:solidFill>
                  </a:endParaRPr>
                </a:p>
              </p:txBody>
            </p:sp>
            <p:sp>
              <p:nvSpPr>
                <p:cNvPr id="58" name="AutoShape 62">
                  <a:extLst>
                    <a:ext uri="{FF2B5EF4-FFF2-40B4-BE49-F238E27FC236}">
                      <a16:creationId xmlns:a16="http://schemas.microsoft.com/office/drawing/2014/main" id="{669EE779-0C99-4476-AD33-4E806E6C8E18}"/>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9" name="AutoShape 63">
                  <a:extLst>
                    <a:ext uri="{FF2B5EF4-FFF2-40B4-BE49-F238E27FC236}">
                      <a16:creationId xmlns:a16="http://schemas.microsoft.com/office/drawing/2014/main" id="{1F67DE70-A2A3-4562-2F97-0D699A08855C}"/>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0" name="AutoShape 64">
                  <a:extLst>
                    <a:ext uri="{FF2B5EF4-FFF2-40B4-BE49-F238E27FC236}">
                      <a16:creationId xmlns:a16="http://schemas.microsoft.com/office/drawing/2014/main" id="{B0ADC277-706D-AC45-2B23-1056B44C025B}"/>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1" name="Rectangle 65">
                  <a:extLst>
                    <a:ext uri="{FF2B5EF4-FFF2-40B4-BE49-F238E27FC236}">
                      <a16:creationId xmlns:a16="http://schemas.microsoft.com/office/drawing/2014/main" id="{72E89B98-DAAB-8189-B718-1A9856828DCF}"/>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2" name="Rectangle 66">
                  <a:extLst>
                    <a:ext uri="{FF2B5EF4-FFF2-40B4-BE49-F238E27FC236}">
                      <a16:creationId xmlns:a16="http://schemas.microsoft.com/office/drawing/2014/main" id="{DD141516-3475-F50E-2E3A-799A4C201168}"/>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3" name="Rectangle 67">
                  <a:extLst>
                    <a:ext uri="{FF2B5EF4-FFF2-40B4-BE49-F238E27FC236}">
                      <a16:creationId xmlns:a16="http://schemas.microsoft.com/office/drawing/2014/main" id="{C62C4E02-1DE1-22C1-8E9F-B5777418D48B}"/>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grpSp>
          <p:sp>
            <p:nvSpPr>
              <p:cNvPr id="55" name="Text Box 68">
                <a:extLst>
                  <a:ext uri="{FF2B5EF4-FFF2-40B4-BE49-F238E27FC236}">
                    <a16:creationId xmlns:a16="http://schemas.microsoft.com/office/drawing/2014/main" id="{FF5DF4CD-9244-1DA1-5AC2-F81E5C31DF84}"/>
                  </a:ext>
                </a:extLst>
              </p:cNvPr>
              <p:cNvSpPr txBox="1">
                <a:spLocks noChangeArrowheads="1"/>
              </p:cNvSpPr>
              <p:nvPr/>
            </p:nvSpPr>
            <p:spPr bwMode="auto">
              <a:xfrm>
                <a:off x="435" y="1494"/>
                <a:ext cx="5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Giant Tool</a:t>
                </a:r>
              </a:p>
            </p:txBody>
          </p:sp>
        </p:grpSp>
        <p:sp>
          <p:nvSpPr>
            <p:cNvPr id="490" name="Text Box 69">
              <a:extLst>
                <a:ext uri="{FF2B5EF4-FFF2-40B4-BE49-F238E27FC236}">
                  <a16:creationId xmlns:a16="http://schemas.microsoft.com/office/drawing/2014/main" id="{6A57B888-54E7-4030-AF38-E7D4A8AFB0C2}"/>
                </a:ext>
              </a:extLst>
            </p:cNvPr>
            <p:cNvSpPr txBox="1">
              <a:spLocks noChangeArrowheads="1"/>
            </p:cNvSpPr>
            <p:nvPr/>
          </p:nvSpPr>
          <p:spPr bwMode="auto">
            <a:xfrm>
              <a:off x="2882900" y="1493838"/>
              <a:ext cx="3009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t>Rusty</a:t>
              </a:r>
              <a:r>
                <a:rPr lang="ja-JP" altLang="en-US" sz="1400"/>
                <a:t>’</a:t>
              </a:r>
              <a:r>
                <a:rPr lang="en-US" altLang="ja-JP" sz="1400"/>
                <a:t>s Wrench Future State Map</a:t>
              </a:r>
              <a:endParaRPr lang="en-US" altLang="en-US" sz="1400"/>
            </a:p>
          </p:txBody>
        </p:sp>
        <p:grpSp>
          <p:nvGrpSpPr>
            <p:cNvPr id="491" name="Group 74">
              <a:extLst>
                <a:ext uri="{FF2B5EF4-FFF2-40B4-BE49-F238E27FC236}">
                  <a16:creationId xmlns:a16="http://schemas.microsoft.com/office/drawing/2014/main" id="{3B679B38-98ED-359F-83BB-D878D25A9C0C}"/>
                </a:ext>
              </a:extLst>
            </p:cNvPr>
            <p:cNvGrpSpPr>
              <a:grpSpLocks/>
            </p:cNvGrpSpPr>
            <p:nvPr/>
          </p:nvGrpSpPr>
          <p:grpSpPr bwMode="auto">
            <a:xfrm>
              <a:off x="411163" y="3022600"/>
              <a:ext cx="593725" cy="409575"/>
              <a:chOff x="513" y="2099"/>
              <a:chExt cx="374" cy="258"/>
            </a:xfrm>
          </p:grpSpPr>
          <p:grpSp>
            <p:nvGrpSpPr>
              <p:cNvPr id="492" name="Group 75">
                <a:extLst>
                  <a:ext uri="{FF2B5EF4-FFF2-40B4-BE49-F238E27FC236}">
                    <a16:creationId xmlns:a16="http://schemas.microsoft.com/office/drawing/2014/main" id="{3B51D44B-59C5-B942-2533-0EC74D2D5364}"/>
                  </a:ext>
                </a:extLst>
              </p:cNvPr>
              <p:cNvGrpSpPr>
                <a:grpSpLocks/>
              </p:cNvGrpSpPr>
              <p:nvPr/>
            </p:nvGrpSpPr>
            <p:grpSpPr bwMode="auto">
              <a:xfrm>
                <a:off x="550" y="2121"/>
                <a:ext cx="337" cy="236"/>
                <a:chOff x="536" y="3744"/>
                <a:chExt cx="415" cy="261"/>
              </a:xfrm>
            </p:grpSpPr>
            <p:sp>
              <p:nvSpPr>
                <p:cNvPr id="494" name="Rectangle 76">
                  <a:extLst>
                    <a:ext uri="{FF2B5EF4-FFF2-40B4-BE49-F238E27FC236}">
                      <a16:creationId xmlns:a16="http://schemas.microsoft.com/office/drawing/2014/main" id="{29E81D5C-F4D4-41B7-1F9F-2D2C035B3C51}"/>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95" name="Rectangle 77">
                  <a:extLst>
                    <a:ext uri="{FF2B5EF4-FFF2-40B4-BE49-F238E27FC236}">
                      <a16:creationId xmlns:a16="http://schemas.microsoft.com/office/drawing/2014/main" id="{F67F70EB-CF06-CD84-DBE5-10353FAE7037}"/>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96" name="Oval 78">
                  <a:extLst>
                    <a:ext uri="{FF2B5EF4-FFF2-40B4-BE49-F238E27FC236}">
                      <a16:creationId xmlns:a16="http://schemas.microsoft.com/office/drawing/2014/main" id="{16A609D4-D7E1-002E-53D4-5396BD6FCBED}"/>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497" name="Oval 79">
                  <a:extLst>
                    <a:ext uri="{FF2B5EF4-FFF2-40B4-BE49-F238E27FC236}">
                      <a16:creationId xmlns:a16="http://schemas.microsoft.com/office/drawing/2014/main" id="{B3A88921-F5A9-E82D-EA37-9E1BB6F55593}"/>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grpSp>
          <p:sp>
            <p:nvSpPr>
              <p:cNvPr id="493" name="Text Box 80">
                <a:extLst>
                  <a:ext uri="{FF2B5EF4-FFF2-40B4-BE49-F238E27FC236}">
                    <a16:creationId xmlns:a16="http://schemas.microsoft.com/office/drawing/2014/main" id="{69CAF53D-ACE5-0A53-103A-EF04B9A5D681}"/>
                  </a:ext>
                </a:extLst>
              </p:cNvPr>
              <p:cNvSpPr txBox="1">
                <a:spLocks noChangeArrowheads="1"/>
              </p:cNvSpPr>
              <p:nvPr/>
            </p:nvSpPr>
            <p:spPr bwMode="auto">
              <a:xfrm>
                <a:off x="513" y="2099"/>
                <a:ext cx="30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600" b="0">
                    <a:solidFill>
                      <a:schemeClr val="tx1"/>
                    </a:solidFill>
                  </a:rPr>
                  <a:t>2X</a:t>
                </a:r>
                <a:br>
                  <a:rPr lang="en-US" altLang="en-US" sz="600" b="0">
                    <a:solidFill>
                      <a:schemeClr val="tx1"/>
                    </a:solidFill>
                  </a:rPr>
                </a:br>
                <a:r>
                  <a:rPr lang="en-US" altLang="en-US" sz="600" b="0">
                    <a:solidFill>
                      <a:schemeClr val="tx1"/>
                    </a:solidFill>
                  </a:rPr>
                  <a:t>Mon &amp; Thurs</a:t>
                </a:r>
              </a:p>
            </p:txBody>
          </p:sp>
        </p:grpSp>
        <p:grpSp>
          <p:nvGrpSpPr>
            <p:cNvPr id="498" name="Group 81">
              <a:extLst>
                <a:ext uri="{FF2B5EF4-FFF2-40B4-BE49-F238E27FC236}">
                  <a16:creationId xmlns:a16="http://schemas.microsoft.com/office/drawing/2014/main" id="{27E8C83C-9F48-485C-FD64-CF3C7E58A505}"/>
                </a:ext>
              </a:extLst>
            </p:cNvPr>
            <p:cNvGrpSpPr>
              <a:grpSpLocks/>
            </p:cNvGrpSpPr>
            <p:nvPr/>
          </p:nvGrpSpPr>
          <p:grpSpPr bwMode="auto">
            <a:xfrm>
              <a:off x="7500938" y="3190875"/>
              <a:ext cx="593725" cy="409575"/>
              <a:chOff x="513" y="2099"/>
              <a:chExt cx="374" cy="258"/>
            </a:xfrm>
          </p:grpSpPr>
          <p:grpSp>
            <p:nvGrpSpPr>
              <p:cNvPr id="499" name="Group 82">
                <a:extLst>
                  <a:ext uri="{FF2B5EF4-FFF2-40B4-BE49-F238E27FC236}">
                    <a16:creationId xmlns:a16="http://schemas.microsoft.com/office/drawing/2014/main" id="{3525D7D2-5B2E-F13E-FB15-744EF90766DB}"/>
                  </a:ext>
                </a:extLst>
              </p:cNvPr>
              <p:cNvGrpSpPr>
                <a:grpSpLocks/>
              </p:cNvGrpSpPr>
              <p:nvPr/>
            </p:nvGrpSpPr>
            <p:grpSpPr bwMode="auto">
              <a:xfrm>
                <a:off x="550" y="2121"/>
                <a:ext cx="337" cy="236"/>
                <a:chOff x="536" y="3744"/>
                <a:chExt cx="415" cy="261"/>
              </a:xfrm>
            </p:grpSpPr>
            <p:sp>
              <p:nvSpPr>
                <p:cNvPr id="501" name="Rectangle 83">
                  <a:extLst>
                    <a:ext uri="{FF2B5EF4-FFF2-40B4-BE49-F238E27FC236}">
                      <a16:creationId xmlns:a16="http://schemas.microsoft.com/office/drawing/2014/main" id="{2D86C2F3-77DC-F542-E665-43C7D1C1351B}"/>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02" name="Rectangle 84">
                  <a:extLst>
                    <a:ext uri="{FF2B5EF4-FFF2-40B4-BE49-F238E27FC236}">
                      <a16:creationId xmlns:a16="http://schemas.microsoft.com/office/drawing/2014/main" id="{A579D0D1-9E99-3F63-B01E-25B4FF3160D5}"/>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03" name="Oval 85">
                  <a:extLst>
                    <a:ext uri="{FF2B5EF4-FFF2-40B4-BE49-F238E27FC236}">
                      <a16:creationId xmlns:a16="http://schemas.microsoft.com/office/drawing/2014/main" id="{DF5A84E0-5CEF-5CF7-40CC-4B7B47501D11}"/>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04" name="Oval 86">
                  <a:extLst>
                    <a:ext uri="{FF2B5EF4-FFF2-40B4-BE49-F238E27FC236}">
                      <a16:creationId xmlns:a16="http://schemas.microsoft.com/office/drawing/2014/main" id="{C28D13C7-075F-6F8C-971D-3F9A52CC94E2}"/>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grpSp>
          <p:sp>
            <p:nvSpPr>
              <p:cNvPr id="500" name="Text Box 87">
                <a:extLst>
                  <a:ext uri="{FF2B5EF4-FFF2-40B4-BE49-F238E27FC236}">
                    <a16:creationId xmlns:a16="http://schemas.microsoft.com/office/drawing/2014/main" id="{E606B102-7FD2-339D-37BB-1AD246F8F598}"/>
                  </a:ext>
                </a:extLst>
              </p:cNvPr>
              <p:cNvSpPr txBox="1">
                <a:spLocks noChangeArrowheads="1"/>
              </p:cNvSpPr>
              <p:nvPr/>
            </p:nvSpPr>
            <p:spPr bwMode="auto">
              <a:xfrm>
                <a:off x="513" y="2099"/>
                <a:ext cx="30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chemeClr val="tx1"/>
                    </a:solidFill>
                  </a:rPr>
                  <a:t>Daily</a:t>
                </a:r>
              </a:p>
            </p:txBody>
          </p:sp>
        </p:grpSp>
        <p:grpSp>
          <p:nvGrpSpPr>
            <p:cNvPr id="505" name="Group 88">
              <a:extLst>
                <a:ext uri="{FF2B5EF4-FFF2-40B4-BE49-F238E27FC236}">
                  <a16:creationId xmlns:a16="http://schemas.microsoft.com/office/drawing/2014/main" id="{56A9FF62-1438-EF17-98D6-8D673F859904}"/>
                </a:ext>
              </a:extLst>
            </p:cNvPr>
            <p:cNvGrpSpPr>
              <a:grpSpLocks/>
            </p:cNvGrpSpPr>
            <p:nvPr/>
          </p:nvGrpSpPr>
          <p:grpSpPr bwMode="auto">
            <a:xfrm>
              <a:off x="5853113" y="2524125"/>
              <a:ext cx="1741487" cy="582613"/>
              <a:chOff x="3444" y="1578"/>
              <a:chExt cx="1097" cy="367"/>
            </a:xfrm>
          </p:grpSpPr>
          <p:sp>
            <p:nvSpPr>
              <p:cNvPr id="506" name="Rectangle 89">
                <a:extLst>
                  <a:ext uri="{FF2B5EF4-FFF2-40B4-BE49-F238E27FC236}">
                    <a16:creationId xmlns:a16="http://schemas.microsoft.com/office/drawing/2014/main" id="{EF8A676E-CE3F-79CE-1346-47145C3A263F}"/>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07" name="Text Box 90">
                <a:extLst>
                  <a:ext uri="{FF2B5EF4-FFF2-40B4-BE49-F238E27FC236}">
                    <a16:creationId xmlns:a16="http://schemas.microsoft.com/office/drawing/2014/main" id="{FD68DCAE-DD2E-8FD6-125F-D558A49C1394}"/>
                  </a:ext>
                </a:extLst>
              </p:cNvPr>
              <p:cNvSpPr txBox="1">
                <a:spLocks noChangeArrowheads="1"/>
              </p:cNvSpPr>
              <p:nvPr/>
            </p:nvSpPr>
            <p:spPr bwMode="auto">
              <a:xfrm>
                <a:off x="3444" y="1689"/>
                <a:ext cx="63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5000"/>
                  </a:spcBef>
                </a:pPr>
                <a:r>
                  <a:rPr lang="en-US" altLang="en-US" sz="800" b="0">
                    <a:solidFill>
                      <a:schemeClr val="tx1"/>
                    </a:solidFill>
                  </a:rPr>
                  <a:t>27,000 Seconds</a:t>
                </a:r>
              </a:p>
              <a:p>
                <a:pPr>
                  <a:lnSpc>
                    <a:spcPct val="100000"/>
                  </a:lnSpc>
                  <a:spcBef>
                    <a:spcPct val="35000"/>
                  </a:spcBef>
                </a:pPr>
                <a:r>
                  <a:rPr lang="en-US" altLang="en-US" sz="800" b="0">
                    <a:solidFill>
                      <a:schemeClr val="tx1"/>
                    </a:solidFill>
                  </a:rPr>
                  <a:t>2,000 Pieces</a:t>
                </a:r>
              </a:p>
            </p:txBody>
          </p:sp>
          <p:sp>
            <p:nvSpPr>
              <p:cNvPr id="508" name="Line 91">
                <a:extLst>
                  <a:ext uri="{FF2B5EF4-FFF2-40B4-BE49-F238E27FC236}">
                    <a16:creationId xmlns:a16="http://schemas.microsoft.com/office/drawing/2014/main" id="{D7FDF76F-919E-E4E7-FBFD-D2A0F35A1B9E}"/>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09" name="Rectangle 92">
                <a:extLst>
                  <a:ext uri="{FF2B5EF4-FFF2-40B4-BE49-F238E27FC236}">
                    <a16:creationId xmlns:a16="http://schemas.microsoft.com/office/drawing/2014/main" id="{C2C0203F-4990-29C4-401E-DCF29D555A51}"/>
                  </a:ext>
                </a:extLst>
              </p:cNvPr>
              <p:cNvSpPr>
                <a:spLocks noChangeArrowheads="1"/>
              </p:cNvSpPr>
              <p:nvPr/>
            </p:nvSpPr>
            <p:spPr bwMode="auto">
              <a:xfrm>
                <a:off x="3729" y="1578"/>
                <a:ext cx="5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a:solidFill>
                      <a:schemeClr val="tx1"/>
                    </a:solidFill>
                  </a:rPr>
                  <a:t>Takt Time</a:t>
                </a:r>
              </a:p>
            </p:txBody>
          </p:sp>
          <p:sp>
            <p:nvSpPr>
              <p:cNvPr id="510" name="Text Box 93">
                <a:extLst>
                  <a:ext uri="{FF2B5EF4-FFF2-40B4-BE49-F238E27FC236}">
                    <a16:creationId xmlns:a16="http://schemas.microsoft.com/office/drawing/2014/main" id="{2077DFA9-1465-1B04-CB89-66FC60961055}"/>
                  </a:ext>
                </a:extLst>
              </p:cNvPr>
              <p:cNvSpPr txBox="1">
                <a:spLocks noChangeArrowheads="1"/>
              </p:cNvSpPr>
              <p:nvPr/>
            </p:nvSpPr>
            <p:spPr bwMode="auto">
              <a:xfrm>
                <a:off x="3949" y="1713"/>
                <a:ext cx="59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a:lnSpc>
                    <a:spcPct val="100000"/>
                  </a:lnSpc>
                  <a:spcBef>
                    <a:spcPct val="0"/>
                  </a:spcBef>
                </a:pPr>
                <a:r>
                  <a:rPr lang="en-US" altLang="en-US" sz="800" b="0">
                    <a:solidFill>
                      <a:schemeClr val="tx1"/>
                    </a:solidFill>
                  </a:rPr>
                  <a:t>= </a:t>
                </a:r>
                <a:r>
                  <a:rPr lang="en-US" altLang="en-US" sz="800">
                    <a:solidFill>
                      <a:srgbClr val="FF0000"/>
                    </a:solidFill>
                  </a:rPr>
                  <a:t>13.5 seconds</a:t>
                </a:r>
              </a:p>
            </p:txBody>
          </p:sp>
        </p:grpSp>
        <p:sp>
          <p:nvSpPr>
            <p:cNvPr id="511" name="Line 94">
              <a:extLst>
                <a:ext uri="{FF2B5EF4-FFF2-40B4-BE49-F238E27FC236}">
                  <a16:creationId xmlns:a16="http://schemas.microsoft.com/office/drawing/2014/main" id="{5014E489-2CAD-347B-2AAA-5E9502D5A989}"/>
                </a:ext>
              </a:extLst>
            </p:cNvPr>
            <p:cNvSpPr>
              <a:spLocks noChangeShapeType="1"/>
            </p:cNvSpPr>
            <p:nvPr/>
          </p:nvSpPr>
          <p:spPr bwMode="auto">
            <a:xfrm flipV="1">
              <a:off x="544513" y="5562600"/>
              <a:ext cx="5286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95">
              <a:extLst>
                <a:ext uri="{FF2B5EF4-FFF2-40B4-BE49-F238E27FC236}">
                  <a16:creationId xmlns:a16="http://schemas.microsoft.com/office/drawing/2014/main" id="{276BB7E2-D236-723D-44BF-4E8991158911}"/>
                </a:ext>
              </a:extLst>
            </p:cNvPr>
            <p:cNvSpPr>
              <a:spLocks noChangeShapeType="1"/>
            </p:cNvSpPr>
            <p:nvPr/>
          </p:nvSpPr>
          <p:spPr bwMode="auto">
            <a:xfrm>
              <a:off x="108743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96">
              <a:extLst>
                <a:ext uri="{FF2B5EF4-FFF2-40B4-BE49-F238E27FC236}">
                  <a16:creationId xmlns:a16="http://schemas.microsoft.com/office/drawing/2014/main" id="{F929C091-E4F5-4FF0-0721-0B51E29ECCB2}"/>
                </a:ext>
              </a:extLst>
            </p:cNvPr>
            <p:cNvSpPr>
              <a:spLocks noChangeShapeType="1"/>
            </p:cNvSpPr>
            <p:nvPr/>
          </p:nvSpPr>
          <p:spPr bwMode="auto">
            <a:xfrm flipV="1">
              <a:off x="10795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97">
              <a:extLst>
                <a:ext uri="{FF2B5EF4-FFF2-40B4-BE49-F238E27FC236}">
                  <a16:creationId xmlns:a16="http://schemas.microsoft.com/office/drawing/2014/main" id="{1C02E6A8-6FFB-F385-2406-50CEE03F02BF}"/>
                </a:ext>
              </a:extLst>
            </p:cNvPr>
            <p:cNvSpPr>
              <a:spLocks noChangeShapeType="1"/>
            </p:cNvSpPr>
            <p:nvPr/>
          </p:nvSpPr>
          <p:spPr bwMode="auto">
            <a:xfrm>
              <a:off x="1905000"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98">
              <a:extLst>
                <a:ext uri="{FF2B5EF4-FFF2-40B4-BE49-F238E27FC236}">
                  <a16:creationId xmlns:a16="http://schemas.microsoft.com/office/drawing/2014/main" id="{6DFDF8E9-6308-7F78-C856-E20DFBD00629}"/>
                </a:ext>
              </a:extLst>
            </p:cNvPr>
            <p:cNvSpPr>
              <a:spLocks noChangeShapeType="1"/>
            </p:cNvSpPr>
            <p:nvPr/>
          </p:nvSpPr>
          <p:spPr bwMode="auto">
            <a:xfrm>
              <a:off x="3079750"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99">
              <a:extLst>
                <a:ext uri="{FF2B5EF4-FFF2-40B4-BE49-F238E27FC236}">
                  <a16:creationId xmlns:a16="http://schemas.microsoft.com/office/drawing/2014/main" id="{ACF2B048-577B-C23F-FE53-99091BFBEB28}"/>
                </a:ext>
              </a:extLst>
            </p:cNvPr>
            <p:cNvSpPr>
              <a:spLocks noChangeShapeType="1"/>
            </p:cNvSpPr>
            <p:nvPr/>
          </p:nvSpPr>
          <p:spPr bwMode="auto">
            <a:xfrm>
              <a:off x="1917700" y="5562600"/>
              <a:ext cx="1165225"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100">
              <a:extLst>
                <a:ext uri="{FF2B5EF4-FFF2-40B4-BE49-F238E27FC236}">
                  <a16:creationId xmlns:a16="http://schemas.microsoft.com/office/drawing/2014/main" id="{B9623008-0F08-06A5-8AA2-A9BBA862B8E4}"/>
                </a:ext>
              </a:extLst>
            </p:cNvPr>
            <p:cNvSpPr>
              <a:spLocks noChangeShapeType="1"/>
            </p:cNvSpPr>
            <p:nvPr/>
          </p:nvSpPr>
          <p:spPr bwMode="auto">
            <a:xfrm>
              <a:off x="3911600"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101">
              <a:extLst>
                <a:ext uri="{FF2B5EF4-FFF2-40B4-BE49-F238E27FC236}">
                  <a16:creationId xmlns:a16="http://schemas.microsoft.com/office/drawing/2014/main" id="{A212E89D-8460-59F6-92F9-C921CDB5109A}"/>
                </a:ext>
              </a:extLst>
            </p:cNvPr>
            <p:cNvSpPr>
              <a:spLocks noChangeShapeType="1"/>
            </p:cNvSpPr>
            <p:nvPr/>
          </p:nvSpPr>
          <p:spPr bwMode="auto">
            <a:xfrm>
              <a:off x="5078413"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Line 102">
              <a:extLst>
                <a:ext uri="{FF2B5EF4-FFF2-40B4-BE49-F238E27FC236}">
                  <a16:creationId xmlns:a16="http://schemas.microsoft.com/office/drawing/2014/main" id="{7822A414-90FA-8D4D-F63B-4EDE867CA7DA}"/>
                </a:ext>
              </a:extLst>
            </p:cNvPr>
            <p:cNvSpPr>
              <a:spLocks noChangeShapeType="1"/>
            </p:cNvSpPr>
            <p:nvPr/>
          </p:nvSpPr>
          <p:spPr bwMode="auto">
            <a:xfrm>
              <a:off x="5932488" y="55562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0" name="Line 103">
              <a:extLst>
                <a:ext uri="{FF2B5EF4-FFF2-40B4-BE49-F238E27FC236}">
                  <a16:creationId xmlns:a16="http://schemas.microsoft.com/office/drawing/2014/main" id="{D471CE40-8DBE-2852-5395-A312F16EE0C4}"/>
                </a:ext>
              </a:extLst>
            </p:cNvPr>
            <p:cNvSpPr>
              <a:spLocks noChangeShapeType="1"/>
            </p:cNvSpPr>
            <p:nvPr/>
          </p:nvSpPr>
          <p:spPr bwMode="auto">
            <a:xfrm flipV="1">
              <a:off x="3086100"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104">
              <a:extLst>
                <a:ext uri="{FF2B5EF4-FFF2-40B4-BE49-F238E27FC236}">
                  <a16:creationId xmlns:a16="http://schemas.microsoft.com/office/drawing/2014/main" id="{5913FD79-0FCA-4FF2-5875-3AD5878AC7D6}"/>
                </a:ext>
              </a:extLst>
            </p:cNvPr>
            <p:cNvSpPr>
              <a:spLocks noChangeShapeType="1"/>
            </p:cNvSpPr>
            <p:nvPr/>
          </p:nvSpPr>
          <p:spPr bwMode="auto">
            <a:xfrm flipV="1">
              <a:off x="5083175" y="5778500"/>
              <a:ext cx="819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2" name="Line 105">
              <a:extLst>
                <a:ext uri="{FF2B5EF4-FFF2-40B4-BE49-F238E27FC236}">
                  <a16:creationId xmlns:a16="http://schemas.microsoft.com/office/drawing/2014/main" id="{DC882DE9-EEEB-3EDF-3338-A825D56459A9}"/>
                </a:ext>
              </a:extLst>
            </p:cNvPr>
            <p:cNvSpPr>
              <a:spLocks noChangeShapeType="1"/>
            </p:cNvSpPr>
            <p:nvPr/>
          </p:nvSpPr>
          <p:spPr bwMode="auto">
            <a:xfrm>
              <a:off x="3927475" y="5562600"/>
              <a:ext cx="11366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 name="Line 106">
              <a:extLst>
                <a:ext uri="{FF2B5EF4-FFF2-40B4-BE49-F238E27FC236}">
                  <a16:creationId xmlns:a16="http://schemas.microsoft.com/office/drawing/2014/main" id="{AE6A5DBA-D9D4-9DAE-1641-3B743CD5DF7B}"/>
                </a:ext>
              </a:extLst>
            </p:cNvPr>
            <p:cNvSpPr>
              <a:spLocks noChangeShapeType="1"/>
            </p:cNvSpPr>
            <p:nvPr/>
          </p:nvSpPr>
          <p:spPr bwMode="auto">
            <a:xfrm>
              <a:off x="5932488" y="5562600"/>
              <a:ext cx="9001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 name="Group 107">
              <a:extLst>
                <a:ext uri="{FF2B5EF4-FFF2-40B4-BE49-F238E27FC236}">
                  <a16:creationId xmlns:a16="http://schemas.microsoft.com/office/drawing/2014/main" id="{8ED211DE-A940-8C35-B168-3A8CD1C23BF9}"/>
                </a:ext>
              </a:extLst>
            </p:cNvPr>
            <p:cNvGrpSpPr>
              <a:grpSpLocks/>
            </p:cNvGrpSpPr>
            <p:nvPr/>
          </p:nvGrpSpPr>
          <p:grpSpPr bwMode="auto">
            <a:xfrm>
              <a:off x="1346200" y="2274888"/>
              <a:ext cx="2368550" cy="271462"/>
              <a:chOff x="947" y="1433"/>
              <a:chExt cx="1492" cy="171"/>
            </a:xfrm>
          </p:grpSpPr>
          <p:grpSp>
            <p:nvGrpSpPr>
              <p:cNvPr id="205" name="Group 108">
                <a:extLst>
                  <a:ext uri="{FF2B5EF4-FFF2-40B4-BE49-F238E27FC236}">
                    <a16:creationId xmlns:a16="http://schemas.microsoft.com/office/drawing/2014/main" id="{8EF641F5-877B-7297-72BB-8F32F301BBD0}"/>
                  </a:ext>
                </a:extLst>
              </p:cNvPr>
              <p:cNvGrpSpPr>
                <a:grpSpLocks/>
              </p:cNvGrpSpPr>
              <p:nvPr/>
            </p:nvGrpSpPr>
            <p:grpSpPr bwMode="auto">
              <a:xfrm>
                <a:off x="947" y="1481"/>
                <a:ext cx="1492" cy="51"/>
                <a:chOff x="947" y="1576"/>
                <a:chExt cx="1492" cy="51"/>
              </a:xfrm>
            </p:grpSpPr>
            <p:sp>
              <p:nvSpPr>
                <p:cNvPr id="207" name="Line 109">
                  <a:extLst>
                    <a:ext uri="{FF2B5EF4-FFF2-40B4-BE49-F238E27FC236}">
                      <a16:creationId xmlns:a16="http://schemas.microsoft.com/office/drawing/2014/main" id="{A05467C0-724A-2C07-AF75-9EA0EFA7C8AD}"/>
                    </a:ext>
                  </a:extLst>
                </p:cNvPr>
                <p:cNvSpPr>
                  <a:spLocks noChangeShapeType="1"/>
                </p:cNvSpPr>
                <p:nvPr/>
              </p:nvSpPr>
              <p:spPr bwMode="auto">
                <a:xfrm flipH="1">
                  <a:off x="947" y="1576"/>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08" name="Line 110">
                  <a:extLst>
                    <a:ext uri="{FF2B5EF4-FFF2-40B4-BE49-F238E27FC236}">
                      <a16:creationId xmlns:a16="http://schemas.microsoft.com/office/drawing/2014/main" id="{4F269D10-21E0-FE77-682D-FF6B4A82FA84}"/>
                    </a:ext>
                  </a:extLst>
                </p:cNvPr>
                <p:cNvSpPr>
                  <a:spLocks noChangeShapeType="1"/>
                </p:cNvSpPr>
                <p:nvPr/>
              </p:nvSpPr>
              <p:spPr bwMode="auto">
                <a:xfrm flipV="1">
                  <a:off x="1556" y="1626"/>
                  <a:ext cx="883"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09" name="Line 111">
                  <a:extLst>
                    <a:ext uri="{FF2B5EF4-FFF2-40B4-BE49-F238E27FC236}">
                      <a16:creationId xmlns:a16="http://schemas.microsoft.com/office/drawing/2014/main" id="{ECDDF3A8-3837-67AD-C15A-B7CD3C3DAFD4}"/>
                    </a:ext>
                  </a:extLst>
                </p:cNvPr>
                <p:cNvSpPr>
                  <a:spLocks noChangeShapeType="1"/>
                </p:cNvSpPr>
                <p:nvPr/>
              </p:nvSpPr>
              <p:spPr bwMode="auto">
                <a:xfrm flipV="1">
                  <a:off x="1551" y="1584"/>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206" name="Rectangle 112">
                <a:extLst>
                  <a:ext uri="{FF2B5EF4-FFF2-40B4-BE49-F238E27FC236}">
                    <a16:creationId xmlns:a16="http://schemas.microsoft.com/office/drawing/2014/main" id="{D1259B5D-E0FD-BF0E-D799-150B3C0FD3FA}"/>
                  </a:ext>
                </a:extLst>
              </p:cNvPr>
              <p:cNvSpPr>
                <a:spLocks noChangeArrowheads="1"/>
              </p:cNvSpPr>
              <p:nvPr/>
            </p:nvSpPr>
            <p:spPr bwMode="auto">
              <a:xfrm>
                <a:off x="1700" y="1433"/>
                <a:ext cx="395" cy="171"/>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Weekly</a:t>
                </a:r>
              </a:p>
              <a:p>
                <a:pPr>
                  <a:lnSpc>
                    <a:spcPct val="90000"/>
                  </a:lnSpc>
                  <a:spcBef>
                    <a:spcPct val="0"/>
                  </a:spcBef>
                </a:pPr>
                <a:r>
                  <a:rPr lang="en-US" altLang="en-US" sz="800" b="0">
                    <a:solidFill>
                      <a:schemeClr val="tx1"/>
                    </a:solidFill>
                  </a:rPr>
                  <a:t>Fax</a:t>
                </a:r>
              </a:p>
            </p:txBody>
          </p:sp>
        </p:grpSp>
        <p:grpSp>
          <p:nvGrpSpPr>
            <p:cNvPr id="210" name="Group 113">
              <a:extLst>
                <a:ext uri="{FF2B5EF4-FFF2-40B4-BE49-F238E27FC236}">
                  <a16:creationId xmlns:a16="http://schemas.microsoft.com/office/drawing/2014/main" id="{9D588B46-8248-F0CE-33C7-7E2CE29D933E}"/>
                </a:ext>
              </a:extLst>
            </p:cNvPr>
            <p:cNvGrpSpPr>
              <a:grpSpLocks/>
            </p:cNvGrpSpPr>
            <p:nvPr/>
          </p:nvGrpSpPr>
          <p:grpSpPr bwMode="auto">
            <a:xfrm>
              <a:off x="4683125" y="2251075"/>
              <a:ext cx="3052763" cy="260350"/>
              <a:chOff x="3049" y="1390"/>
              <a:chExt cx="1329" cy="164"/>
            </a:xfrm>
          </p:grpSpPr>
          <p:grpSp>
            <p:nvGrpSpPr>
              <p:cNvPr id="211" name="Group 114">
                <a:extLst>
                  <a:ext uri="{FF2B5EF4-FFF2-40B4-BE49-F238E27FC236}">
                    <a16:creationId xmlns:a16="http://schemas.microsoft.com/office/drawing/2014/main" id="{6EAC8E27-A48C-2342-8BF2-C8BD22891026}"/>
                  </a:ext>
                </a:extLst>
              </p:cNvPr>
              <p:cNvGrpSpPr>
                <a:grpSpLocks/>
              </p:cNvGrpSpPr>
              <p:nvPr/>
            </p:nvGrpSpPr>
            <p:grpSpPr bwMode="auto">
              <a:xfrm>
                <a:off x="3049" y="1442"/>
                <a:ext cx="1329" cy="51"/>
                <a:chOff x="3049" y="1442"/>
                <a:chExt cx="1329" cy="51"/>
              </a:xfrm>
            </p:grpSpPr>
            <p:sp>
              <p:nvSpPr>
                <p:cNvPr id="213" name="Line 115">
                  <a:extLst>
                    <a:ext uri="{FF2B5EF4-FFF2-40B4-BE49-F238E27FC236}">
                      <a16:creationId xmlns:a16="http://schemas.microsoft.com/office/drawing/2014/main" id="{8BE86AF4-9274-11EE-3927-DCBCCE43DE1C}"/>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14" name="Line 116">
                  <a:extLst>
                    <a:ext uri="{FF2B5EF4-FFF2-40B4-BE49-F238E27FC236}">
                      <a16:creationId xmlns:a16="http://schemas.microsoft.com/office/drawing/2014/main" id="{B2A02B88-5D3D-BD39-AFCF-06CEA501D694}"/>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15" name="Line 117">
                  <a:extLst>
                    <a:ext uri="{FF2B5EF4-FFF2-40B4-BE49-F238E27FC236}">
                      <a16:creationId xmlns:a16="http://schemas.microsoft.com/office/drawing/2014/main" id="{DB1E764E-FD8C-9B02-6D44-93ACFD62D4BB}"/>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212" name="Rectangle 118">
                <a:extLst>
                  <a:ext uri="{FF2B5EF4-FFF2-40B4-BE49-F238E27FC236}">
                    <a16:creationId xmlns:a16="http://schemas.microsoft.com/office/drawing/2014/main" id="{8CA62774-6CB2-73BE-9185-DE7E77BDB80A}"/>
                  </a:ext>
                </a:extLst>
              </p:cNvPr>
              <p:cNvSpPr>
                <a:spLocks noChangeArrowheads="1"/>
              </p:cNvSpPr>
              <p:nvPr/>
            </p:nvSpPr>
            <p:spPr bwMode="auto">
              <a:xfrm>
                <a:off x="3784" y="1390"/>
                <a:ext cx="404"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Daily Orders</a:t>
                </a:r>
              </a:p>
            </p:txBody>
          </p:sp>
        </p:grpSp>
        <p:grpSp>
          <p:nvGrpSpPr>
            <p:cNvPr id="216" name="Group 119">
              <a:extLst>
                <a:ext uri="{FF2B5EF4-FFF2-40B4-BE49-F238E27FC236}">
                  <a16:creationId xmlns:a16="http://schemas.microsoft.com/office/drawing/2014/main" id="{CEAF7952-5CB6-13C2-18B4-FC26DFBB4469}"/>
                </a:ext>
              </a:extLst>
            </p:cNvPr>
            <p:cNvGrpSpPr>
              <a:grpSpLocks/>
            </p:cNvGrpSpPr>
            <p:nvPr/>
          </p:nvGrpSpPr>
          <p:grpSpPr bwMode="auto">
            <a:xfrm>
              <a:off x="3635375" y="2027238"/>
              <a:ext cx="1130300" cy="711200"/>
              <a:chOff x="2389" y="1277"/>
              <a:chExt cx="712" cy="448"/>
            </a:xfrm>
          </p:grpSpPr>
          <p:sp>
            <p:nvSpPr>
              <p:cNvPr id="217" name="Rectangle 120">
                <a:extLst>
                  <a:ext uri="{FF2B5EF4-FFF2-40B4-BE49-F238E27FC236}">
                    <a16:creationId xmlns:a16="http://schemas.microsoft.com/office/drawing/2014/main" id="{3AD9C24C-663F-E668-ED1A-6D9AB527D865}"/>
                  </a:ext>
                </a:extLst>
              </p:cNvPr>
              <p:cNvSpPr>
                <a:spLocks noChangeArrowheads="1"/>
              </p:cNvSpPr>
              <p:nvPr/>
            </p:nvSpPr>
            <p:spPr bwMode="auto">
              <a:xfrm>
                <a:off x="2440" y="1277"/>
                <a:ext cx="614" cy="447"/>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endParaRPr lang="en-US" altLang="en-US" sz="1200" b="0">
                  <a:solidFill>
                    <a:schemeClr val="tx1"/>
                  </a:solidFill>
                </a:endParaRPr>
              </a:p>
            </p:txBody>
          </p:sp>
          <p:sp>
            <p:nvSpPr>
              <p:cNvPr id="218" name="Rectangle 121">
                <a:extLst>
                  <a:ext uri="{FF2B5EF4-FFF2-40B4-BE49-F238E27FC236}">
                    <a16:creationId xmlns:a16="http://schemas.microsoft.com/office/drawing/2014/main" id="{454A0EDA-C1D1-45CF-A43C-755BFA455237}"/>
                  </a:ext>
                </a:extLst>
              </p:cNvPr>
              <p:cNvSpPr>
                <a:spLocks noChangeArrowheads="1"/>
              </p:cNvSpPr>
              <p:nvPr/>
            </p:nvSpPr>
            <p:spPr bwMode="auto">
              <a:xfrm>
                <a:off x="2501" y="1566"/>
                <a:ext cx="490" cy="159"/>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b="0">
                    <a:solidFill>
                      <a:schemeClr val="tx1"/>
                    </a:solidFill>
                  </a:rPr>
                  <a:t>MRP</a:t>
                </a:r>
              </a:p>
              <a:p>
                <a:pPr>
                  <a:lnSpc>
                    <a:spcPct val="90000"/>
                  </a:lnSpc>
                  <a:spcBef>
                    <a:spcPct val="0"/>
                  </a:spcBef>
                </a:pPr>
                <a:r>
                  <a:rPr lang="en-US" altLang="en-US" b="0">
                    <a:solidFill>
                      <a:schemeClr val="tx1"/>
                    </a:solidFill>
                  </a:rPr>
                  <a:t>System</a:t>
                </a:r>
              </a:p>
            </p:txBody>
          </p:sp>
          <p:sp>
            <p:nvSpPr>
              <p:cNvPr id="219" name="Text Box 122">
                <a:extLst>
                  <a:ext uri="{FF2B5EF4-FFF2-40B4-BE49-F238E27FC236}">
                    <a16:creationId xmlns:a16="http://schemas.microsoft.com/office/drawing/2014/main" id="{71ACA49A-8EAA-7540-B0A4-FC5121BFD9B6}"/>
                  </a:ext>
                </a:extLst>
              </p:cNvPr>
              <p:cNvSpPr txBox="1">
                <a:spLocks noChangeArrowheads="1"/>
              </p:cNvSpPr>
              <p:nvPr/>
            </p:nvSpPr>
            <p:spPr bwMode="auto">
              <a:xfrm>
                <a:off x="2389" y="1283"/>
                <a:ext cx="71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Production Control</a:t>
                </a:r>
              </a:p>
            </p:txBody>
          </p:sp>
        </p:grpSp>
        <p:sp>
          <p:nvSpPr>
            <p:cNvPr id="220" name="Line 123">
              <a:extLst>
                <a:ext uri="{FF2B5EF4-FFF2-40B4-BE49-F238E27FC236}">
                  <a16:creationId xmlns:a16="http://schemas.microsoft.com/office/drawing/2014/main" id="{5B9C382E-7F6C-264E-3D0E-80E3E3199F50}"/>
                </a:ext>
              </a:extLst>
            </p:cNvPr>
            <p:cNvSpPr>
              <a:spLocks noChangeShapeType="1"/>
            </p:cNvSpPr>
            <p:nvPr/>
          </p:nvSpPr>
          <p:spPr bwMode="auto">
            <a:xfrm>
              <a:off x="4565650" y="2740025"/>
              <a:ext cx="2711450" cy="104775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512" name="Rectangle 124">
              <a:extLst>
                <a:ext uri="{FF2B5EF4-FFF2-40B4-BE49-F238E27FC236}">
                  <a16:creationId xmlns:a16="http://schemas.microsoft.com/office/drawing/2014/main" id="{83FBF8FC-6F0B-4B84-04A6-44EC9C94C5E6}"/>
                </a:ext>
              </a:extLst>
            </p:cNvPr>
            <p:cNvSpPr>
              <a:spLocks noChangeArrowheads="1"/>
            </p:cNvSpPr>
            <p:nvPr/>
          </p:nvSpPr>
          <p:spPr bwMode="auto">
            <a:xfrm>
              <a:off x="5167313" y="2944813"/>
              <a:ext cx="627062" cy="311150"/>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Daily Ship</a:t>
              </a:r>
            </a:p>
            <a:p>
              <a:pPr>
                <a:lnSpc>
                  <a:spcPct val="90000"/>
                </a:lnSpc>
                <a:spcBef>
                  <a:spcPct val="0"/>
                </a:spcBef>
              </a:pPr>
              <a:r>
                <a:rPr lang="en-US" altLang="en-US" sz="800" b="0">
                  <a:solidFill>
                    <a:schemeClr val="tx1"/>
                  </a:solidFill>
                </a:rPr>
                <a:t>Schedule</a:t>
              </a:r>
            </a:p>
            <a:p>
              <a:pPr>
                <a:lnSpc>
                  <a:spcPct val="90000"/>
                </a:lnSpc>
                <a:spcBef>
                  <a:spcPct val="0"/>
                </a:spcBef>
              </a:pPr>
              <a:r>
                <a:rPr lang="en-US" altLang="en-US" sz="800" b="0">
                  <a:solidFill>
                    <a:schemeClr val="tx1"/>
                  </a:solidFill>
                </a:rPr>
                <a:t>(Paper)</a:t>
              </a:r>
            </a:p>
          </p:txBody>
        </p:sp>
        <p:grpSp>
          <p:nvGrpSpPr>
            <p:cNvPr id="513" name="Group 131">
              <a:extLst>
                <a:ext uri="{FF2B5EF4-FFF2-40B4-BE49-F238E27FC236}">
                  <a16:creationId xmlns:a16="http://schemas.microsoft.com/office/drawing/2014/main" id="{3A508DF3-B604-D3D6-8814-475674D7183D}"/>
                </a:ext>
              </a:extLst>
            </p:cNvPr>
            <p:cNvGrpSpPr>
              <a:grpSpLocks/>
            </p:cNvGrpSpPr>
            <p:nvPr/>
          </p:nvGrpSpPr>
          <p:grpSpPr bwMode="auto">
            <a:xfrm>
              <a:off x="996950" y="3810000"/>
              <a:ext cx="904875" cy="1273175"/>
              <a:chOff x="982" y="2400"/>
              <a:chExt cx="570" cy="802"/>
            </a:xfrm>
          </p:grpSpPr>
          <p:grpSp>
            <p:nvGrpSpPr>
              <p:cNvPr id="514" name="Group 132">
                <a:extLst>
                  <a:ext uri="{FF2B5EF4-FFF2-40B4-BE49-F238E27FC236}">
                    <a16:creationId xmlns:a16="http://schemas.microsoft.com/office/drawing/2014/main" id="{3C8A0F7E-6424-7447-3B01-3B9BEE0BA730}"/>
                  </a:ext>
                </a:extLst>
              </p:cNvPr>
              <p:cNvGrpSpPr>
                <a:grpSpLocks/>
              </p:cNvGrpSpPr>
              <p:nvPr/>
            </p:nvGrpSpPr>
            <p:grpSpPr bwMode="auto">
              <a:xfrm>
                <a:off x="1008" y="2400"/>
                <a:ext cx="540" cy="376"/>
                <a:chOff x="1367" y="2370"/>
                <a:chExt cx="434" cy="390"/>
              </a:xfrm>
            </p:grpSpPr>
            <p:grpSp>
              <p:nvGrpSpPr>
                <p:cNvPr id="518" name="Group 133">
                  <a:extLst>
                    <a:ext uri="{FF2B5EF4-FFF2-40B4-BE49-F238E27FC236}">
                      <a16:creationId xmlns:a16="http://schemas.microsoft.com/office/drawing/2014/main" id="{DDF56112-EDBC-F570-97CD-1FB3B977D838}"/>
                    </a:ext>
                  </a:extLst>
                </p:cNvPr>
                <p:cNvGrpSpPr>
                  <a:grpSpLocks/>
                </p:cNvGrpSpPr>
                <p:nvPr/>
              </p:nvGrpSpPr>
              <p:grpSpPr bwMode="auto">
                <a:xfrm>
                  <a:off x="1367" y="2395"/>
                  <a:ext cx="434" cy="365"/>
                  <a:chOff x="418" y="2981"/>
                  <a:chExt cx="352" cy="365"/>
                </a:xfrm>
              </p:grpSpPr>
              <p:sp>
                <p:nvSpPr>
                  <p:cNvPr id="524" name="Rectangle 134">
                    <a:extLst>
                      <a:ext uri="{FF2B5EF4-FFF2-40B4-BE49-F238E27FC236}">
                        <a16:creationId xmlns:a16="http://schemas.microsoft.com/office/drawing/2014/main" id="{B7415046-BC3E-D527-EDF7-FC0B6F98F2F3}"/>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25" name="Line 135">
                    <a:extLst>
                      <a:ext uri="{FF2B5EF4-FFF2-40B4-BE49-F238E27FC236}">
                        <a16:creationId xmlns:a16="http://schemas.microsoft.com/office/drawing/2014/main" id="{40401AFF-CE6D-5EED-9CFB-245B49A5353E}"/>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519" name="Group 136">
                  <a:extLst>
                    <a:ext uri="{FF2B5EF4-FFF2-40B4-BE49-F238E27FC236}">
                      <a16:creationId xmlns:a16="http://schemas.microsoft.com/office/drawing/2014/main" id="{B263ECBC-7798-6ACC-2090-D1DE46385F9C}"/>
                    </a:ext>
                  </a:extLst>
                </p:cNvPr>
                <p:cNvGrpSpPr>
                  <a:grpSpLocks/>
                </p:cNvGrpSpPr>
                <p:nvPr/>
              </p:nvGrpSpPr>
              <p:grpSpPr bwMode="auto">
                <a:xfrm flipV="1">
                  <a:off x="1462" y="2586"/>
                  <a:ext cx="96" cy="112"/>
                  <a:chOff x="720" y="3354"/>
                  <a:chExt cx="192" cy="198"/>
                </a:xfrm>
              </p:grpSpPr>
              <p:sp>
                <p:nvSpPr>
                  <p:cNvPr id="522" name="Oval 137">
                    <a:extLst>
                      <a:ext uri="{FF2B5EF4-FFF2-40B4-BE49-F238E27FC236}">
                        <a16:creationId xmlns:a16="http://schemas.microsoft.com/office/drawing/2014/main" id="{E6E19D95-54E5-2EDC-3FE0-A4B1AEAFDD3F}"/>
                      </a:ext>
                    </a:extLst>
                  </p:cNvPr>
                  <p:cNvSpPr>
                    <a:spLocks noChangeArrowheads="1"/>
                  </p:cNvSpPr>
                  <p:nvPr/>
                </p:nvSpPr>
                <p:spPr bwMode="auto">
                  <a:xfrm>
                    <a:off x="768" y="3408"/>
                    <a:ext cx="96" cy="9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23" name="AutoShape 138">
                    <a:extLst>
                      <a:ext uri="{FF2B5EF4-FFF2-40B4-BE49-F238E27FC236}">
                        <a16:creationId xmlns:a16="http://schemas.microsoft.com/office/drawing/2014/main" id="{AA83925F-2EA7-1F6E-77AB-689F81E64B02}"/>
                      </a:ext>
                    </a:extLst>
                  </p:cNvPr>
                  <p:cNvSpPr>
                    <a:spLocks noChangeArrowheads="1"/>
                  </p:cNvSpPr>
                  <p:nvPr/>
                </p:nvSpPr>
                <p:spPr bwMode="auto">
                  <a:xfrm>
                    <a:off x="720" y="3354"/>
                    <a:ext cx="193"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p>
                </p:txBody>
              </p:sp>
            </p:grpSp>
            <p:sp>
              <p:nvSpPr>
                <p:cNvPr id="520" name="Text Box 139">
                  <a:extLst>
                    <a:ext uri="{FF2B5EF4-FFF2-40B4-BE49-F238E27FC236}">
                      <a16:creationId xmlns:a16="http://schemas.microsoft.com/office/drawing/2014/main" id="{A6216AA5-0724-5F23-34D5-132BA652FA77}"/>
                    </a:ext>
                  </a:extLst>
                </p:cNvPr>
                <p:cNvSpPr txBox="1">
                  <a:spLocks noChangeArrowheads="1"/>
                </p:cNvSpPr>
                <p:nvPr/>
              </p:nvSpPr>
              <p:spPr bwMode="auto">
                <a:xfrm>
                  <a:off x="1565" y="2584"/>
                  <a:ext cx="17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 6</a:t>
                  </a:r>
                </a:p>
              </p:txBody>
            </p:sp>
            <p:sp>
              <p:nvSpPr>
                <p:cNvPr id="521" name="Text Box 140">
                  <a:extLst>
                    <a:ext uri="{FF2B5EF4-FFF2-40B4-BE49-F238E27FC236}">
                      <a16:creationId xmlns:a16="http://schemas.microsoft.com/office/drawing/2014/main" id="{25E1E3BC-797E-DB5A-3F9B-7A9E760AF58F}"/>
                    </a:ext>
                  </a:extLst>
                </p:cNvPr>
                <p:cNvSpPr txBox="1">
                  <a:spLocks noChangeArrowheads="1"/>
                </p:cNvSpPr>
                <p:nvPr/>
              </p:nvSpPr>
              <p:spPr bwMode="auto">
                <a:xfrm>
                  <a:off x="1382" y="2370"/>
                  <a:ext cx="40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Forge</a:t>
                  </a:r>
                </a:p>
              </p:txBody>
            </p:sp>
          </p:grpSp>
          <p:grpSp>
            <p:nvGrpSpPr>
              <p:cNvPr id="515" name="Group 141">
                <a:extLst>
                  <a:ext uri="{FF2B5EF4-FFF2-40B4-BE49-F238E27FC236}">
                    <a16:creationId xmlns:a16="http://schemas.microsoft.com/office/drawing/2014/main" id="{523D1EE0-0169-4886-0BFB-73B3BBED27C4}"/>
                  </a:ext>
                </a:extLst>
              </p:cNvPr>
              <p:cNvGrpSpPr>
                <a:grpSpLocks/>
              </p:cNvGrpSpPr>
              <p:nvPr/>
            </p:nvGrpSpPr>
            <p:grpSpPr bwMode="auto">
              <a:xfrm>
                <a:off x="982" y="2836"/>
                <a:ext cx="570" cy="366"/>
                <a:chOff x="983" y="2832"/>
                <a:chExt cx="554" cy="434"/>
              </a:xfrm>
            </p:grpSpPr>
            <p:sp>
              <p:nvSpPr>
                <p:cNvPr id="516" name="Rectangle 142">
                  <a:extLst>
                    <a:ext uri="{FF2B5EF4-FFF2-40B4-BE49-F238E27FC236}">
                      <a16:creationId xmlns:a16="http://schemas.microsoft.com/office/drawing/2014/main" id="{2D415F3F-873B-03A1-35FF-1299C06A309E}"/>
                    </a:ext>
                  </a:extLst>
                </p:cNvPr>
                <p:cNvSpPr>
                  <a:spLocks noChangeArrowheads="1"/>
                </p:cNvSpPr>
                <p:nvPr/>
              </p:nvSpPr>
              <p:spPr bwMode="auto">
                <a:xfrm>
                  <a:off x="1012" y="2832"/>
                  <a:ext cx="525" cy="432"/>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17" name="Text Box 143">
                  <a:extLst>
                    <a:ext uri="{FF2B5EF4-FFF2-40B4-BE49-F238E27FC236}">
                      <a16:creationId xmlns:a16="http://schemas.microsoft.com/office/drawing/2014/main" id="{F7237FD7-FA5D-E63F-9135-45081BD4E9E7}"/>
                    </a:ext>
                  </a:extLst>
                </p:cNvPr>
                <p:cNvSpPr txBox="1">
                  <a:spLocks noChangeArrowheads="1"/>
                </p:cNvSpPr>
                <p:nvPr/>
              </p:nvSpPr>
              <p:spPr bwMode="auto">
                <a:xfrm>
                  <a:off x="983" y="2832"/>
                  <a:ext cx="55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t>DOI = 12</a:t>
                  </a:r>
                  <a:r>
                    <a:rPr lang="ja-JP" altLang="en-US" sz="800" b="0"/>
                    <a:t>”</a:t>
                  </a:r>
                  <a:endParaRPr lang="en-US" altLang="ja-JP" sz="800" b="0"/>
                </a:p>
                <a:p>
                  <a:pPr>
                    <a:lnSpc>
                      <a:spcPct val="100000"/>
                    </a:lnSpc>
                    <a:spcBef>
                      <a:spcPct val="0"/>
                    </a:spcBef>
                    <a:spcAft>
                      <a:spcPct val="0"/>
                    </a:spcAft>
                    <a:buClrTx/>
                    <a:buSzTx/>
                    <a:buFontTx/>
                    <a:buNone/>
                  </a:pPr>
                  <a:r>
                    <a:rPr lang="en-US" altLang="en-US" sz="800" b="0"/>
                    <a:t>C/O Time = 60</a:t>
                  </a:r>
                  <a:r>
                    <a:rPr lang="ja-JP" altLang="en-US" sz="800" b="0"/>
                    <a:t>”</a:t>
                  </a:r>
                  <a:endParaRPr lang="en-US" altLang="ja-JP" sz="800" b="0"/>
                </a:p>
                <a:p>
                  <a:pPr>
                    <a:lnSpc>
                      <a:spcPct val="100000"/>
                    </a:lnSpc>
                    <a:spcBef>
                      <a:spcPct val="0"/>
                    </a:spcBef>
                    <a:spcAft>
                      <a:spcPct val="0"/>
                    </a:spcAft>
                    <a:buClrTx/>
                    <a:buSzTx/>
                    <a:buFontTx/>
                    <a:buNone/>
                  </a:pPr>
                  <a:r>
                    <a:rPr lang="en-US" altLang="en-US" sz="800" b="0"/>
                    <a:t>Uptime = 100%</a:t>
                  </a:r>
                </a:p>
                <a:p>
                  <a:pPr>
                    <a:lnSpc>
                      <a:spcPct val="100000"/>
                    </a:lnSpc>
                    <a:spcBef>
                      <a:spcPct val="0"/>
                    </a:spcBef>
                    <a:spcAft>
                      <a:spcPct val="0"/>
                    </a:spcAft>
                    <a:buClrTx/>
                    <a:buSzTx/>
                    <a:buFontTx/>
                    <a:buNone/>
                  </a:pPr>
                  <a:r>
                    <a:rPr lang="en-US" altLang="en-US" sz="800" b="0"/>
                    <a:t>Quality = 95%</a:t>
                  </a:r>
                </a:p>
              </p:txBody>
            </p:sp>
          </p:grpSp>
        </p:grpSp>
        <p:grpSp>
          <p:nvGrpSpPr>
            <p:cNvPr id="526" name="Group 151">
              <a:extLst>
                <a:ext uri="{FF2B5EF4-FFF2-40B4-BE49-F238E27FC236}">
                  <a16:creationId xmlns:a16="http://schemas.microsoft.com/office/drawing/2014/main" id="{B332941A-3768-6675-6694-1A94F2D26649}"/>
                </a:ext>
              </a:extLst>
            </p:cNvPr>
            <p:cNvGrpSpPr>
              <a:grpSpLocks/>
            </p:cNvGrpSpPr>
            <p:nvPr/>
          </p:nvGrpSpPr>
          <p:grpSpPr bwMode="auto">
            <a:xfrm>
              <a:off x="4676775" y="1958975"/>
              <a:ext cx="3081338" cy="260350"/>
              <a:chOff x="3049" y="1390"/>
              <a:chExt cx="1329" cy="164"/>
            </a:xfrm>
          </p:grpSpPr>
          <p:grpSp>
            <p:nvGrpSpPr>
              <p:cNvPr id="527" name="Group 152">
                <a:extLst>
                  <a:ext uri="{FF2B5EF4-FFF2-40B4-BE49-F238E27FC236}">
                    <a16:creationId xmlns:a16="http://schemas.microsoft.com/office/drawing/2014/main" id="{C2DE3F67-D6D9-E9AC-CC7B-006A7648B4B4}"/>
                  </a:ext>
                </a:extLst>
              </p:cNvPr>
              <p:cNvGrpSpPr>
                <a:grpSpLocks/>
              </p:cNvGrpSpPr>
              <p:nvPr/>
            </p:nvGrpSpPr>
            <p:grpSpPr bwMode="auto">
              <a:xfrm>
                <a:off x="3049" y="1442"/>
                <a:ext cx="1329" cy="51"/>
                <a:chOff x="3049" y="1442"/>
                <a:chExt cx="1329" cy="51"/>
              </a:xfrm>
            </p:grpSpPr>
            <p:sp>
              <p:nvSpPr>
                <p:cNvPr id="529" name="Line 153">
                  <a:extLst>
                    <a:ext uri="{FF2B5EF4-FFF2-40B4-BE49-F238E27FC236}">
                      <a16:creationId xmlns:a16="http://schemas.microsoft.com/office/drawing/2014/main" id="{A038632E-2FE1-A479-DE7C-C56CEAE81E52}"/>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530" name="Line 154">
                  <a:extLst>
                    <a:ext uri="{FF2B5EF4-FFF2-40B4-BE49-F238E27FC236}">
                      <a16:creationId xmlns:a16="http://schemas.microsoft.com/office/drawing/2014/main" id="{C7F82565-BE23-D483-3E82-0DA9512B2644}"/>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31" name="Line 155">
                  <a:extLst>
                    <a:ext uri="{FF2B5EF4-FFF2-40B4-BE49-F238E27FC236}">
                      <a16:creationId xmlns:a16="http://schemas.microsoft.com/office/drawing/2014/main" id="{DDD327BB-1221-779F-6A04-321724E9DFFF}"/>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528" name="Rectangle 156">
                <a:extLst>
                  <a:ext uri="{FF2B5EF4-FFF2-40B4-BE49-F238E27FC236}">
                    <a16:creationId xmlns:a16="http://schemas.microsoft.com/office/drawing/2014/main" id="{B5EEB896-E713-0C31-D78A-665125F82120}"/>
                  </a:ext>
                </a:extLst>
              </p:cNvPr>
              <p:cNvSpPr>
                <a:spLocks noChangeArrowheads="1"/>
              </p:cNvSpPr>
              <p:nvPr/>
            </p:nvSpPr>
            <p:spPr bwMode="auto">
              <a:xfrm>
                <a:off x="3784" y="1390"/>
                <a:ext cx="405"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90000"/>
                  </a:lnSpc>
                  <a:spcBef>
                    <a:spcPct val="0"/>
                  </a:spcBef>
                </a:pPr>
                <a:r>
                  <a:rPr lang="en-US" altLang="en-US" sz="800" b="0">
                    <a:solidFill>
                      <a:schemeClr val="tx1"/>
                    </a:solidFill>
                  </a:rPr>
                  <a:t>90/60/30</a:t>
                </a:r>
                <a:br>
                  <a:rPr lang="en-US" altLang="en-US" sz="800" b="0">
                    <a:solidFill>
                      <a:schemeClr val="tx1"/>
                    </a:solidFill>
                  </a:rPr>
                </a:br>
                <a:r>
                  <a:rPr lang="en-US" altLang="en-US" sz="800" b="0">
                    <a:solidFill>
                      <a:schemeClr val="tx1"/>
                    </a:solidFill>
                  </a:rPr>
                  <a:t>Forecast</a:t>
                </a:r>
              </a:p>
            </p:txBody>
          </p:sp>
        </p:grpSp>
        <p:grpSp>
          <p:nvGrpSpPr>
            <p:cNvPr id="532" name="Group 157">
              <a:extLst>
                <a:ext uri="{FF2B5EF4-FFF2-40B4-BE49-F238E27FC236}">
                  <a16:creationId xmlns:a16="http://schemas.microsoft.com/office/drawing/2014/main" id="{E1C5555E-B4DA-1E0D-35EF-B391AE918876}"/>
                </a:ext>
              </a:extLst>
            </p:cNvPr>
            <p:cNvGrpSpPr>
              <a:grpSpLocks/>
            </p:cNvGrpSpPr>
            <p:nvPr/>
          </p:nvGrpSpPr>
          <p:grpSpPr bwMode="auto">
            <a:xfrm>
              <a:off x="5019675" y="3786188"/>
              <a:ext cx="893763" cy="1284287"/>
              <a:chOff x="3279" y="2385"/>
              <a:chExt cx="563" cy="809"/>
            </a:xfrm>
          </p:grpSpPr>
          <p:grpSp>
            <p:nvGrpSpPr>
              <p:cNvPr id="533" name="Group 158">
                <a:extLst>
                  <a:ext uri="{FF2B5EF4-FFF2-40B4-BE49-F238E27FC236}">
                    <a16:creationId xmlns:a16="http://schemas.microsoft.com/office/drawing/2014/main" id="{E872828D-468D-0687-8C31-BFC91C023E6F}"/>
                  </a:ext>
                </a:extLst>
              </p:cNvPr>
              <p:cNvGrpSpPr>
                <a:grpSpLocks/>
              </p:cNvGrpSpPr>
              <p:nvPr/>
            </p:nvGrpSpPr>
            <p:grpSpPr bwMode="auto">
              <a:xfrm>
                <a:off x="3284" y="2385"/>
                <a:ext cx="525" cy="390"/>
                <a:chOff x="4424" y="2385"/>
                <a:chExt cx="525" cy="390"/>
              </a:xfrm>
            </p:grpSpPr>
            <p:grpSp>
              <p:nvGrpSpPr>
                <p:cNvPr id="539" name="Group 159">
                  <a:extLst>
                    <a:ext uri="{FF2B5EF4-FFF2-40B4-BE49-F238E27FC236}">
                      <a16:creationId xmlns:a16="http://schemas.microsoft.com/office/drawing/2014/main" id="{D6A21968-0003-2880-7FC6-88312EDB133B}"/>
                    </a:ext>
                  </a:extLst>
                </p:cNvPr>
                <p:cNvGrpSpPr>
                  <a:grpSpLocks/>
                </p:cNvGrpSpPr>
                <p:nvPr/>
              </p:nvGrpSpPr>
              <p:grpSpPr bwMode="auto">
                <a:xfrm>
                  <a:off x="4424" y="2410"/>
                  <a:ext cx="525" cy="365"/>
                  <a:chOff x="418" y="2981"/>
                  <a:chExt cx="352" cy="365"/>
                </a:xfrm>
              </p:grpSpPr>
              <p:sp>
                <p:nvSpPr>
                  <p:cNvPr id="541" name="Rectangle 160">
                    <a:extLst>
                      <a:ext uri="{FF2B5EF4-FFF2-40B4-BE49-F238E27FC236}">
                        <a16:creationId xmlns:a16="http://schemas.microsoft.com/office/drawing/2014/main" id="{E08BBADF-7903-044A-5A27-1BE7443E2866}"/>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42" name="Line 161">
                    <a:extLst>
                      <a:ext uri="{FF2B5EF4-FFF2-40B4-BE49-F238E27FC236}">
                        <a16:creationId xmlns:a16="http://schemas.microsoft.com/office/drawing/2014/main" id="{048FF3BC-A07D-0820-E26A-ADB23E1833FA}"/>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540" name="Text Box 162">
                  <a:extLst>
                    <a:ext uri="{FF2B5EF4-FFF2-40B4-BE49-F238E27FC236}">
                      <a16:creationId xmlns:a16="http://schemas.microsoft.com/office/drawing/2014/main" id="{5EB828AB-6150-0BCB-7D3C-5C2EFBAC6597}"/>
                    </a:ext>
                  </a:extLst>
                </p:cNvPr>
                <p:cNvSpPr txBox="1">
                  <a:spLocks noChangeArrowheads="1"/>
                </p:cNvSpPr>
                <p:nvPr/>
              </p:nvSpPr>
              <p:spPr bwMode="auto">
                <a:xfrm>
                  <a:off x="4442" y="2385"/>
                  <a:ext cx="4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Plate</a:t>
                  </a:r>
                </a:p>
              </p:txBody>
            </p:sp>
          </p:grpSp>
          <p:grpSp>
            <p:nvGrpSpPr>
              <p:cNvPr id="534" name="Group 163">
                <a:extLst>
                  <a:ext uri="{FF2B5EF4-FFF2-40B4-BE49-F238E27FC236}">
                    <a16:creationId xmlns:a16="http://schemas.microsoft.com/office/drawing/2014/main" id="{D23FB70A-5730-ED55-FF3D-998B41CD5774}"/>
                  </a:ext>
                </a:extLst>
              </p:cNvPr>
              <p:cNvGrpSpPr>
                <a:grpSpLocks/>
              </p:cNvGrpSpPr>
              <p:nvPr/>
            </p:nvGrpSpPr>
            <p:grpSpPr bwMode="auto">
              <a:xfrm flipV="1">
                <a:off x="3356" y="2582"/>
                <a:ext cx="116" cy="112"/>
                <a:chOff x="720" y="3354"/>
                <a:chExt cx="192" cy="198"/>
              </a:xfrm>
            </p:grpSpPr>
            <p:sp>
              <p:nvSpPr>
                <p:cNvPr id="537" name="Oval 164">
                  <a:extLst>
                    <a:ext uri="{FF2B5EF4-FFF2-40B4-BE49-F238E27FC236}">
                      <a16:creationId xmlns:a16="http://schemas.microsoft.com/office/drawing/2014/main" id="{FD77540C-28A3-16ED-02F2-B041C6BC82C3}"/>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38" name="AutoShape 165">
                  <a:extLst>
                    <a:ext uri="{FF2B5EF4-FFF2-40B4-BE49-F238E27FC236}">
                      <a16:creationId xmlns:a16="http://schemas.microsoft.com/office/drawing/2014/main" id="{8463156D-2150-E342-9D8F-64D70279DFFB}"/>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p>
              </p:txBody>
            </p:sp>
          </p:grpSp>
          <p:sp>
            <p:nvSpPr>
              <p:cNvPr id="535" name="Text Box 166">
                <a:extLst>
                  <a:ext uri="{FF2B5EF4-FFF2-40B4-BE49-F238E27FC236}">
                    <a16:creationId xmlns:a16="http://schemas.microsoft.com/office/drawing/2014/main" id="{A45257B3-B614-3D3A-8D4B-22E106847C86}"/>
                  </a:ext>
                </a:extLst>
              </p:cNvPr>
              <p:cNvSpPr txBox="1">
                <a:spLocks noChangeArrowheads="1"/>
              </p:cNvSpPr>
              <p:nvPr/>
            </p:nvSpPr>
            <p:spPr bwMode="auto">
              <a:xfrm>
                <a:off x="3477" y="2580"/>
                <a:ext cx="2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 5</a:t>
                </a:r>
              </a:p>
            </p:txBody>
          </p:sp>
          <p:sp>
            <p:nvSpPr>
              <p:cNvPr id="536" name="Text Box 167">
                <a:extLst>
                  <a:ext uri="{FF2B5EF4-FFF2-40B4-BE49-F238E27FC236}">
                    <a16:creationId xmlns:a16="http://schemas.microsoft.com/office/drawing/2014/main" id="{D9949281-F3A2-30F9-04DB-5B6D6D1D6C61}"/>
                  </a:ext>
                </a:extLst>
              </p:cNvPr>
              <p:cNvSpPr txBox="1">
                <a:spLocks noChangeArrowheads="1"/>
              </p:cNvSpPr>
              <p:nvPr/>
            </p:nvSpPr>
            <p:spPr bwMode="auto">
              <a:xfrm>
                <a:off x="3279" y="2820"/>
                <a:ext cx="563" cy="374"/>
              </a:xfrm>
              <a:prstGeom prst="rect">
                <a:avLst/>
              </a:prstGeom>
              <a:solidFill>
                <a:schemeClr val="bg1"/>
              </a:solidFill>
              <a:ln w="12700" cap="sq">
                <a:solidFill>
                  <a:schemeClr val="tx1"/>
                </a:solidFill>
                <a:miter lim="800000"/>
                <a:headEnd type="none" w="sm" len="sm"/>
                <a:tailEnd type="none" w="sm" len="sm"/>
              </a:ln>
            </p:spPr>
            <p:txBody>
              <a:bodyPr lIns="4572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t>DOI = 16</a:t>
                </a:r>
                <a:r>
                  <a:rPr lang="ja-JP" altLang="en-US" sz="800" b="0"/>
                  <a:t>”</a:t>
                </a:r>
                <a:endParaRPr lang="en-US" altLang="ja-JP" sz="800" b="0"/>
              </a:p>
              <a:p>
                <a:pPr>
                  <a:lnSpc>
                    <a:spcPct val="100000"/>
                  </a:lnSpc>
                  <a:spcBef>
                    <a:spcPct val="0"/>
                  </a:spcBef>
                  <a:spcAft>
                    <a:spcPct val="0"/>
                  </a:spcAft>
                  <a:buClrTx/>
                  <a:buSzTx/>
                  <a:buFontTx/>
                  <a:buNone/>
                </a:pPr>
                <a:r>
                  <a:rPr lang="en-US" altLang="en-US" sz="800" b="0"/>
                  <a:t>C/O Time = n/a</a:t>
                </a:r>
              </a:p>
              <a:p>
                <a:pPr>
                  <a:lnSpc>
                    <a:spcPct val="100000"/>
                  </a:lnSpc>
                  <a:spcBef>
                    <a:spcPct val="0"/>
                  </a:spcBef>
                  <a:spcAft>
                    <a:spcPct val="0"/>
                  </a:spcAft>
                  <a:buClrTx/>
                  <a:buSzTx/>
                  <a:buFontTx/>
                  <a:buNone/>
                </a:pPr>
                <a:r>
                  <a:rPr lang="en-US" altLang="en-US" sz="800" b="0"/>
                  <a:t>Uptime = 99%</a:t>
                </a:r>
              </a:p>
              <a:p>
                <a:pPr>
                  <a:lnSpc>
                    <a:spcPct val="100000"/>
                  </a:lnSpc>
                  <a:spcBef>
                    <a:spcPct val="0"/>
                  </a:spcBef>
                  <a:spcAft>
                    <a:spcPct val="0"/>
                  </a:spcAft>
                  <a:buClrTx/>
                  <a:buSzTx/>
                  <a:buFontTx/>
                  <a:buNone/>
                </a:pPr>
                <a:r>
                  <a:rPr lang="en-US" altLang="en-US" sz="800" b="0"/>
                  <a:t>Quality = 98%</a:t>
                </a:r>
              </a:p>
            </p:txBody>
          </p:sp>
        </p:grpSp>
        <p:sp>
          <p:nvSpPr>
            <p:cNvPr id="543" name="Rectangle 173">
              <a:extLst>
                <a:ext uri="{FF2B5EF4-FFF2-40B4-BE49-F238E27FC236}">
                  <a16:creationId xmlns:a16="http://schemas.microsoft.com/office/drawing/2014/main" id="{E81FF639-64B3-13DD-B5E9-2D121D3C1567}"/>
                </a:ext>
              </a:extLst>
            </p:cNvPr>
            <p:cNvSpPr>
              <a:spLocks noChangeArrowheads="1"/>
            </p:cNvSpPr>
            <p:nvPr/>
          </p:nvSpPr>
          <p:spPr bwMode="auto">
            <a:xfrm>
              <a:off x="6940550" y="3819525"/>
              <a:ext cx="833438" cy="579438"/>
            </a:xfrm>
            <a:prstGeom prst="rect">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44" name="Line 174">
              <a:extLst>
                <a:ext uri="{FF2B5EF4-FFF2-40B4-BE49-F238E27FC236}">
                  <a16:creationId xmlns:a16="http://schemas.microsoft.com/office/drawing/2014/main" id="{20D240E3-9CBA-EF73-F9D1-9EA16690090E}"/>
                </a:ext>
              </a:extLst>
            </p:cNvPr>
            <p:cNvSpPr>
              <a:spLocks noChangeShapeType="1"/>
            </p:cNvSpPr>
            <p:nvPr/>
          </p:nvSpPr>
          <p:spPr bwMode="auto">
            <a:xfrm>
              <a:off x="6945313" y="4095750"/>
              <a:ext cx="822325" cy="15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45" name="Text Box 175">
              <a:extLst>
                <a:ext uri="{FF2B5EF4-FFF2-40B4-BE49-F238E27FC236}">
                  <a16:creationId xmlns:a16="http://schemas.microsoft.com/office/drawing/2014/main" id="{65ECC9B1-2F1E-64D2-D2CA-E479FD7F3C57}"/>
                </a:ext>
              </a:extLst>
            </p:cNvPr>
            <p:cNvSpPr txBox="1">
              <a:spLocks noChangeArrowheads="1"/>
            </p:cNvSpPr>
            <p:nvPr/>
          </p:nvSpPr>
          <p:spPr bwMode="auto">
            <a:xfrm>
              <a:off x="6969125" y="3779838"/>
              <a:ext cx="781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Pack &amp; Ship</a:t>
              </a:r>
            </a:p>
          </p:txBody>
        </p:sp>
        <p:grpSp>
          <p:nvGrpSpPr>
            <p:cNvPr id="546" name="Group 176">
              <a:extLst>
                <a:ext uri="{FF2B5EF4-FFF2-40B4-BE49-F238E27FC236}">
                  <a16:creationId xmlns:a16="http://schemas.microsoft.com/office/drawing/2014/main" id="{A52E1D6B-2A9B-DE1C-C425-F5EF4ADA781F}"/>
                </a:ext>
              </a:extLst>
            </p:cNvPr>
            <p:cNvGrpSpPr>
              <a:grpSpLocks/>
            </p:cNvGrpSpPr>
            <p:nvPr/>
          </p:nvGrpSpPr>
          <p:grpSpPr bwMode="auto">
            <a:xfrm flipV="1">
              <a:off x="7112000" y="4106863"/>
              <a:ext cx="184150" cy="177800"/>
              <a:chOff x="720" y="3354"/>
              <a:chExt cx="192" cy="198"/>
            </a:xfrm>
          </p:grpSpPr>
          <p:sp>
            <p:nvSpPr>
              <p:cNvPr id="547" name="Oval 177">
                <a:extLst>
                  <a:ext uri="{FF2B5EF4-FFF2-40B4-BE49-F238E27FC236}">
                    <a16:creationId xmlns:a16="http://schemas.microsoft.com/office/drawing/2014/main" id="{F8837D4C-D5DC-B262-E22D-6EFDAD491DC2}"/>
                  </a:ext>
                </a:extLst>
              </p:cNvPr>
              <p:cNvSpPr>
                <a:spLocks noChangeArrowheads="1"/>
              </p:cNvSpPr>
              <p:nvPr/>
            </p:nvSpPr>
            <p:spPr bwMode="auto">
              <a:xfrm>
                <a:off x="768" y="3409"/>
                <a:ext cx="96" cy="9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48" name="AutoShape 178">
                <a:extLst>
                  <a:ext uri="{FF2B5EF4-FFF2-40B4-BE49-F238E27FC236}">
                    <a16:creationId xmlns:a16="http://schemas.microsoft.com/office/drawing/2014/main" id="{2AD22BDF-DB6B-BF7F-5C37-0C79493EA8E7}"/>
                  </a:ext>
                </a:extLst>
              </p:cNvPr>
              <p:cNvSpPr>
                <a:spLocks noChangeArrowheads="1"/>
              </p:cNvSpPr>
              <p:nvPr/>
            </p:nvSpPr>
            <p:spPr bwMode="auto">
              <a:xfrm>
                <a:off x="720" y="3354"/>
                <a:ext cx="192" cy="198"/>
              </a:xfrm>
              <a:custGeom>
                <a:avLst/>
                <a:gdLst>
                  <a:gd name="T0" fmla="*/ 96 w 21600"/>
                  <a:gd name="T1" fmla="*/ 0 h 21600"/>
                  <a:gd name="T2" fmla="*/ 24 w 21600"/>
                  <a:gd name="T3" fmla="*/ 99 h 21600"/>
                  <a:gd name="T4" fmla="*/ 96 w 21600"/>
                  <a:gd name="T5" fmla="*/ 50 h 21600"/>
                  <a:gd name="T6" fmla="*/ 168 w 21600"/>
                  <a:gd name="T7" fmla="*/ 99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p:spPr>
            <p:txBody>
              <a:bodyPr wrap="none" anchor="ctr"/>
              <a:lstStyle/>
              <a:p>
                <a:pPr algn="ctr">
                  <a:lnSpc>
                    <a:spcPct val="80000"/>
                  </a:lnSpc>
                  <a:spcBef>
                    <a:spcPct val="20000"/>
                  </a:spcBef>
                  <a:defRPr/>
                </a:pPr>
                <a:endParaRPr lang="en-US"/>
              </a:p>
            </p:txBody>
          </p:sp>
        </p:grpSp>
        <p:sp>
          <p:nvSpPr>
            <p:cNvPr id="549" name="Text Box 179">
              <a:extLst>
                <a:ext uri="{FF2B5EF4-FFF2-40B4-BE49-F238E27FC236}">
                  <a16:creationId xmlns:a16="http://schemas.microsoft.com/office/drawing/2014/main" id="{59DDF5BE-8CF0-5883-4986-1B6CA6CFDFD2}"/>
                </a:ext>
              </a:extLst>
            </p:cNvPr>
            <p:cNvSpPr txBox="1">
              <a:spLocks noChangeArrowheads="1"/>
            </p:cNvSpPr>
            <p:nvPr/>
          </p:nvSpPr>
          <p:spPr bwMode="auto">
            <a:xfrm>
              <a:off x="7304088" y="4103688"/>
              <a:ext cx="3460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30000"/>
                </a:spcBef>
              </a:pPr>
              <a:r>
                <a:rPr lang="en-US" altLang="en-US" b="0">
                  <a:solidFill>
                    <a:schemeClr val="tx1"/>
                  </a:solidFill>
                </a:rPr>
                <a:t>= 3</a:t>
              </a:r>
            </a:p>
          </p:txBody>
        </p:sp>
        <p:sp>
          <p:nvSpPr>
            <p:cNvPr id="550" name="Text Box 180">
              <a:extLst>
                <a:ext uri="{FF2B5EF4-FFF2-40B4-BE49-F238E27FC236}">
                  <a16:creationId xmlns:a16="http://schemas.microsoft.com/office/drawing/2014/main" id="{EE4850EF-EE9A-22DF-958A-3D630F4518E0}"/>
                </a:ext>
              </a:extLst>
            </p:cNvPr>
            <p:cNvSpPr txBox="1">
              <a:spLocks noChangeArrowheads="1"/>
            </p:cNvSpPr>
            <p:nvPr/>
          </p:nvSpPr>
          <p:spPr bwMode="auto">
            <a:xfrm>
              <a:off x="6923088" y="4470400"/>
              <a:ext cx="860425" cy="715963"/>
            </a:xfrm>
            <a:prstGeom prst="rect">
              <a:avLst/>
            </a:prstGeom>
            <a:solidFill>
              <a:schemeClr val="bg1"/>
            </a:solidFill>
            <a:ln w="12700" cap="sq">
              <a:solidFill>
                <a:schemeClr val="tx1"/>
              </a:solidFill>
              <a:miter lim="800000"/>
              <a:headEnd type="none" w="sm" len="sm"/>
              <a:tailEnd type="none" w="sm" len="sm"/>
            </a:ln>
          </p:spPr>
          <p:txBody>
            <a:bodyPr lIns="45720" rIns="0">
              <a:spAutoFit/>
            </a:bodyP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800" b="0"/>
                <a:t>DOI = 225</a:t>
              </a:r>
              <a:r>
                <a:rPr lang="ja-JP" altLang="en-US" sz="800" b="0"/>
                <a:t>”</a:t>
              </a:r>
              <a:r>
                <a:rPr lang="en-US" altLang="ja-JP" sz="800" b="0"/>
                <a:t> (set of 25)</a:t>
              </a:r>
            </a:p>
            <a:p>
              <a:pPr>
                <a:lnSpc>
                  <a:spcPct val="100000"/>
                </a:lnSpc>
                <a:spcBef>
                  <a:spcPct val="0"/>
                </a:spcBef>
                <a:spcAft>
                  <a:spcPct val="0"/>
                </a:spcAft>
                <a:buClrTx/>
                <a:buSzTx/>
                <a:buFontTx/>
                <a:buNone/>
              </a:pPr>
              <a:r>
                <a:rPr lang="en-US" altLang="en-US" sz="800" b="0"/>
                <a:t>C/O Time = n/a</a:t>
              </a:r>
            </a:p>
            <a:p>
              <a:pPr>
                <a:lnSpc>
                  <a:spcPct val="100000"/>
                </a:lnSpc>
                <a:spcBef>
                  <a:spcPct val="0"/>
                </a:spcBef>
                <a:spcAft>
                  <a:spcPct val="0"/>
                </a:spcAft>
                <a:buClrTx/>
                <a:buSzTx/>
                <a:buFontTx/>
                <a:buNone/>
              </a:pPr>
              <a:r>
                <a:rPr lang="en-US" altLang="en-US" sz="800" b="0"/>
                <a:t>Uptime = n/a</a:t>
              </a:r>
            </a:p>
            <a:p>
              <a:pPr>
                <a:lnSpc>
                  <a:spcPct val="100000"/>
                </a:lnSpc>
                <a:spcBef>
                  <a:spcPct val="0"/>
                </a:spcBef>
                <a:spcAft>
                  <a:spcPct val="0"/>
                </a:spcAft>
                <a:buClrTx/>
                <a:buSzTx/>
                <a:buFontTx/>
                <a:buNone/>
              </a:pPr>
              <a:r>
                <a:rPr lang="en-US" altLang="en-US" sz="800" b="0"/>
                <a:t>Quality = 99.5%</a:t>
              </a:r>
            </a:p>
          </p:txBody>
        </p:sp>
        <p:sp>
          <p:nvSpPr>
            <p:cNvPr id="551" name="Line 189">
              <a:extLst>
                <a:ext uri="{FF2B5EF4-FFF2-40B4-BE49-F238E27FC236}">
                  <a16:creationId xmlns:a16="http://schemas.microsoft.com/office/drawing/2014/main" id="{28871250-C5A5-5587-A32D-F3A2B091FBCE}"/>
                </a:ext>
              </a:extLst>
            </p:cNvPr>
            <p:cNvSpPr>
              <a:spLocks noChangeShapeType="1"/>
            </p:cNvSpPr>
            <p:nvPr/>
          </p:nvSpPr>
          <p:spPr bwMode="auto">
            <a:xfrm>
              <a:off x="6856413" y="55689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2" name="Line 190">
              <a:extLst>
                <a:ext uri="{FF2B5EF4-FFF2-40B4-BE49-F238E27FC236}">
                  <a16:creationId xmlns:a16="http://schemas.microsoft.com/office/drawing/2014/main" id="{0F81F48B-53C4-E0D7-B61E-29EAA1A60550}"/>
                </a:ext>
              </a:extLst>
            </p:cNvPr>
            <p:cNvSpPr>
              <a:spLocks noChangeShapeType="1"/>
            </p:cNvSpPr>
            <p:nvPr/>
          </p:nvSpPr>
          <p:spPr bwMode="auto">
            <a:xfrm flipV="1">
              <a:off x="6867525" y="5791200"/>
              <a:ext cx="8397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53" name="Group 223">
              <a:extLst>
                <a:ext uri="{FF2B5EF4-FFF2-40B4-BE49-F238E27FC236}">
                  <a16:creationId xmlns:a16="http://schemas.microsoft.com/office/drawing/2014/main" id="{966713F3-A32C-4734-68A4-75022F9F999A}"/>
                </a:ext>
              </a:extLst>
            </p:cNvPr>
            <p:cNvGrpSpPr>
              <a:grpSpLocks/>
            </p:cNvGrpSpPr>
            <p:nvPr/>
          </p:nvGrpSpPr>
          <p:grpSpPr bwMode="auto">
            <a:xfrm>
              <a:off x="638175" y="3938588"/>
              <a:ext cx="152400" cy="533400"/>
              <a:chOff x="1336" y="1152"/>
              <a:chExt cx="296" cy="720"/>
            </a:xfrm>
          </p:grpSpPr>
          <p:sp>
            <p:nvSpPr>
              <p:cNvPr id="554" name="Line 224">
                <a:extLst>
                  <a:ext uri="{FF2B5EF4-FFF2-40B4-BE49-F238E27FC236}">
                    <a16:creationId xmlns:a16="http://schemas.microsoft.com/office/drawing/2014/main" id="{DF30B19A-4AA6-36C1-8C6F-5C81D1EF699A}"/>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 name="Line 225">
                <a:extLst>
                  <a:ext uri="{FF2B5EF4-FFF2-40B4-BE49-F238E27FC236}">
                    <a16:creationId xmlns:a16="http://schemas.microsoft.com/office/drawing/2014/main" id="{7ABBB294-351C-EF92-A58E-49C1D0D468E6}"/>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 name="Line 226">
                <a:extLst>
                  <a:ext uri="{FF2B5EF4-FFF2-40B4-BE49-F238E27FC236}">
                    <a16:creationId xmlns:a16="http://schemas.microsoft.com/office/drawing/2014/main" id="{9677059B-7420-88F6-C904-E2B8EA6A890E}"/>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 name="Line 227">
                <a:extLst>
                  <a:ext uri="{FF2B5EF4-FFF2-40B4-BE49-F238E27FC236}">
                    <a16:creationId xmlns:a16="http://schemas.microsoft.com/office/drawing/2014/main" id="{58A760E5-D956-3AB0-D777-18F0C95643E6}"/>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 name="Line 228">
                <a:extLst>
                  <a:ext uri="{FF2B5EF4-FFF2-40B4-BE49-F238E27FC236}">
                    <a16:creationId xmlns:a16="http://schemas.microsoft.com/office/drawing/2014/main" id="{93C345EB-EEE0-8C63-7157-114ECF3189F5}"/>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9" name="Group 234">
              <a:extLst>
                <a:ext uri="{FF2B5EF4-FFF2-40B4-BE49-F238E27FC236}">
                  <a16:creationId xmlns:a16="http://schemas.microsoft.com/office/drawing/2014/main" id="{4C77AFAC-ECE0-CB7D-4C20-043545D38DF0}"/>
                </a:ext>
              </a:extLst>
            </p:cNvPr>
            <p:cNvGrpSpPr>
              <a:grpSpLocks/>
            </p:cNvGrpSpPr>
            <p:nvPr/>
          </p:nvGrpSpPr>
          <p:grpSpPr bwMode="auto">
            <a:xfrm>
              <a:off x="2366963" y="3895725"/>
              <a:ext cx="152400" cy="533400"/>
              <a:chOff x="1336" y="1152"/>
              <a:chExt cx="296" cy="720"/>
            </a:xfrm>
          </p:grpSpPr>
          <p:sp>
            <p:nvSpPr>
              <p:cNvPr id="560" name="Line 235">
                <a:extLst>
                  <a:ext uri="{FF2B5EF4-FFF2-40B4-BE49-F238E27FC236}">
                    <a16:creationId xmlns:a16="http://schemas.microsoft.com/office/drawing/2014/main" id="{ED2FF561-5D5D-5FE5-62EC-9DA6CE8DD619}"/>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 name="Line 236">
                <a:extLst>
                  <a:ext uri="{FF2B5EF4-FFF2-40B4-BE49-F238E27FC236}">
                    <a16:creationId xmlns:a16="http://schemas.microsoft.com/office/drawing/2014/main" id="{D26851E0-0D5A-5F06-BD5A-9949D9659727}"/>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2" name="Line 237">
                <a:extLst>
                  <a:ext uri="{FF2B5EF4-FFF2-40B4-BE49-F238E27FC236}">
                    <a16:creationId xmlns:a16="http://schemas.microsoft.com/office/drawing/2014/main" id="{A1E19060-27A3-30BC-3399-F8AB2E584FE7}"/>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 name="Line 238">
                <a:extLst>
                  <a:ext uri="{FF2B5EF4-FFF2-40B4-BE49-F238E27FC236}">
                    <a16:creationId xmlns:a16="http://schemas.microsoft.com/office/drawing/2014/main" id="{E3A2440A-4E29-1304-B27B-8452927512FE}"/>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 name="Line 239">
                <a:extLst>
                  <a:ext uri="{FF2B5EF4-FFF2-40B4-BE49-F238E27FC236}">
                    <a16:creationId xmlns:a16="http://schemas.microsoft.com/office/drawing/2014/main" id="{C1CD09CD-2916-4D58-6514-0279722BD2E3}"/>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65" name="Group 245">
              <a:extLst>
                <a:ext uri="{FF2B5EF4-FFF2-40B4-BE49-F238E27FC236}">
                  <a16:creationId xmlns:a16="http://schemas.microsoft.com/office/drawing/2014/main" id="{1F7F53D6-BC25-34F4-588B-89013C420FDE}"/>
                </a:ext>
              </a:extLst>
            </p:cNvPr>
            <p:cNvGrpSpPr>
              <a:grpSpLocks/>
            </p:cNvGrpSpPr>
            <p:nvPr/>
          </p:nvGrpSpPr>
          <p:grpSpPr bwMode="auto">
            <a:xfrm>
              <a:off x="4395788" y="3852863"/>
              <a:ext cx="152400" cy="533400"/>
              <a:chOff x="1336" y="1152"/>
              <a:chExt cx="296" cy="720"/>
            </a:xfrm>
          </p:grpSpPr>
          <p:sp>
            <p:nvSpPr>
              <p:cNvPr id="566" name="Line 246">
                <a:extLst>
                  <a:ext uri="{FF2B5EF4-FFF2-40B4-BE49-F238E27FC236}">
                    <a16:creationId xmlns:a16="http://schemas.microsoft.com/office/drawing/2014/main" id="{F84FFF9C-9D8C-2E9D-9F29-A7AA08E0AF35}"/>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7" name="Line 247">
                <a:extLst>
                  <a:ext uri="{FF2B5EF4-FFF2-40B4-BE49-F238E27FC236}">
                    <a16:creationId xmlns:a16="http://schemas.microsoft.com/office/drawing/2014/main" id="{7A8BB836-E5F2-FF82-5B47-853A60A4B388}"/>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8" name="Line 248">
                <a:extLst>
                  <a:ext uri="{FF2B5EF4-FFF2-40B4-BE49-F238E27FC236}">
                    <a16:creationId xmlns:a16="http://schemas.microsoft.com/office/drawing/2014/main" id="{3DB8287D-6C28-D5AF-35D4-008F65A499E8}"/>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9" name="Line 249">
                <a:extLst>
                  <a:ext uri="{FF2B5EF4-FFF2-40B4-BE49-F238E27FC236}">
                    <a16:creationId xmlns:a16="http://schemas.microsoft.com/office/drawing/2014/main" id="{51C97D81-072D-D08E-5B9D-93F1FAA4E2BC}"/>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0" name="Line 250">
                <a:extLst>
                  <a:ext uri="{FF2B5EF4-FFF2-40B4-BE49-F238E27FC236}">
                    <a16:creationId xmlns:a16="http://schemas.microsoft.com/office/drawing/2014/main" id="{AF8D144D-8CD6-EF91-51B4-FADA43C527EB}"/>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1" name="Group 256">
              <a:extLst>
                <a:ext uri="{FF2B5EF4-FFF2-40B4-BE49-F238E27FC236}">
                  <a16:creationId xmlns:a16="http://schemas.microsoft.com/office/drawing/2014/main" id="{7AF07636-7678-B0E0-8A9C-A5923BF28245}"/>
                </a:ext>
              </a:extLst>
            </p:cNvPr>
            <p:cNvGrpSpPr>
              <a:grpSpLocks/>
            </p:cNvGrpSpPr>
            <p:nvPr/>
          </p:nvGrpSpPr>
          <p:grpSpPr bwMode="auto">
            <a:xfrm>
              <a:off x="6338888" y="3938588"/>
              <a:ext cx="152400" cy="533400"/>
              <a:chOff x="1336" y="1152"/>
              <a:chExt cx="296" cy="720"/>
            </a:xfrm>
          </p:grpSpPr>
          <p:sp>
            <p:nvSpPr>
              <p:cNvPr id="572" name="Line 257">
                <a:extLst>
                  <a:ext uri="{FF2B5EF4-FFF2-40B4-BE49-F238E27FC236}">
                    <a16:creationId xmlns:a16="http://schemas.microsoft.com/office/drawing/2014/main" id="{D52F7F09-3184-B7ED-0373-7A8776D50A5D}"/>
                  </a:ext>
                </a:extLst>
              </p:cNvPr>
              <p:cNvSpPr>
                <a:spLocks noChangeShapeType="1"/>
              </p:cNvSpPr>
              <p:nvPr/>
            </p:nvSpPr>
            <p:spPr bwMode="auto">
              <a:xfrm>
                <a:off x="1345" y="115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 name="Line 258">
                <a:extLst>
                  <a:ext uri="{FF2B5EF4-FFF2-40B4-BE49-F238E27FC236}">
                    <a16:creationId xmlns:a16="http://schemas.microsoft.com/office/drawing/2014/main" id="{9932FDDB-8861-C83B-782F-0C0A78866F5F}"/>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4" name="Line 259">
                <a:extLst>
                  <a:ext uri="{FF2B5EF4-FFF2-40B4-BE49-F238E27FC236}">
                    <a16:creationId xmlns:a16="http://schemas.microsoft.com/office/drawing/2014/main" id="{68A01048-5D94-EC41-844E-1B1B1C68DBC8}"/>
                  </a:ext>
                </a:extLst>
              </p:cNvPr>
              <p:cNvSpPr>
                <a:spLocks noChangeShapeType="1"/>
              </p:cNvSpPr>
              <p:nvPr/>
            </p:nvSpPr>
            <p:spPr bwMode="auto">
              <a:xfrm>
                <a:off x="1336" y="139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5" name="Line 260">
                <a:extLst>
                  <a:ext uri="{FF2B5EF4-FFF2-40B4-BE49-F238E27FC236}">
                    <a16:creationId xmlns:a16="http://schemas.microsoft.com/office/drawing/2014/main" id="{D4150257-8275-FCC7-BED2-5B260DFCDB66}"/>
                  </a:ext>
                </a:extLst>
              </p:cNvPr>
              <p:cNvSpPr>
                <a:spLocks noChangeShapeType="1"/>
              </p:cNvSpPr>
              <p:nvPr/>
            </p:nvSpPr>
            <p:spPr bwMode="auto">
              <a:xfrm>
                <a:off x="1336" y="163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6" name="Line 261">
                <a:extLst>
                  <a:ext uri="{FF2B5EF4-FFF2-40B4-BE49-F238E27FC236}">
                    <a16:creationId xmlns:a16="http://schemas.microsoft.com/office/drawing/2014/main" id="{B28A2C09-B66E-1DC0-6E04-4FB1676F6659}"/>
                  </a:ext>
                </a:extLst>
              </p:cNvPr>
              <p:cNvSpPr>
                <a:spLocks noChangeShapeType="1"/>
              </p:cNvSpPr>
              <p:nvPr/>
            </p:nvSpPr>
            <p:spPr bwMode="auto">
              <a:xfrm>
                <a:off x="1345" y="1872"/>
                <a:ext cx="2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77" name="AutoShape 267">
              <a:extLst>
                <a:ext uri="{FF2B5EF4-FFF2-40B4-BE49-F238E27FC236}">
                  <a16:creationId xmlns:a16="http://schemas.microsoft.com/office/drawing/2014/main" id="{BEBB297D-2B72-FD61-96DA-27C9382EDEB5}"/>
                </a:ext>
              </a:extLst>
            </p:cNvPr>
            <p:cNvSpPr>
              <a:spLocks noChangeArrowheads="1"/>
            </p:cNvSpPr>
            <p:nvPr/>
          </p:nvSpPr>
          <p:spPr bwMode="auto">
            <a:xfrm>
              <a:off x="3657600" y="4749800"/>
              <a:ext cx="8985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Comic Sans MS" panose="030F0702030302020204" pitchFamily="66" charset="0"/>
                </a:rPr>
                <a:t>Improve</a:t>
              </a:r>
            </a:p>
            <a:p>
              <a:pPr>
                <a:lnSpc>
                  <a:spcPct val="100000"/>
                </a:lnSpc>
                <a:spcBef>
                  <a:spcPct val="0"/>
                </a:spcBef>
              </a:pPr>
              <a:r>
                <a:rPr lang="en-US" altLang="en-US" sz="800" b="0">
                  <a:solidFill>
                    <a:srgbClr val="FF0000"/>
                  </a:solidFill>
                  <a:latin typeface="Comic Sans MS" panose="030F0702030302020204" pitchFamily="66" charset="0"/>
                </a:rPr>
                <a:t>Quality</a:t>
              </a:r>
            </a:p>
          </p:txBody>
        </p:sp>
        <p:sp>
          <p:nvSpPr>
            <p:cNvPr id="578" name="AutoShape 268">
              <a:extLst>
                <a:ext uri="{FF2B5EF4-FFF2-40B4-BE49-F238E27FC236}">
                  <a16:creationId xmlns:a16="http://schemas.microsoft.com/office/drawing/2014/main" id="{A8A90541-68D3-7F83-CCB2-C53AAD2176D4}"/>
                </a:ext>
              </a:extLst>
            </p:cNvPr>
            <p:cNvSpPr>
              <a:spLocks noChangeArrowheads="1"/>
            </p:cNvSpPr>
            <p:nvPr/>
          </p:nvSpPr>
          <p:spPr bwMode="auto">
            <a:xfrm>
              <a:off x="1517650" y="4735513"/>
              <a:ext cx="8985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Comic Sans MS" panose="030F0702030302020204" pitchFamily="66" charset="0"/>
                </a:rPr>
                <a:t>Improve</a:t>
              </a:r>
            </a:p>
            <a:p>
              <a:pPr>
                <a:lnSpc>
                  <a:spcPct val="100000"/>
                </a:lnSpc>
                <a:spcBef>
                  <a:spcPct val="0"/>
                </a:spcBef>
              </a:pPr>
              <a:r>
                <a:rPr lang="en-US" altLang="en-US" sz="800" b="0">
                  <a:solidFill>
                    <a:srgbClr val="FF0000"/>
                  </a:solidFill>
                  <a:latin typeface="Comic Sans MS" panose="030F0702030302020204" pitchFamily="66" charset="0"/>
                </a:rPr>
                <a:t>Quality</a:t>
              </a:r>
            </a:p>
          </p:txBody>
        </p:sp>
        <p:sp>
          <p:nvSpPr>
            <p:cNvPr id="579" name="AutoShape 269">
              <a:extLst>
                <a:ext uri="{FF2B5EF4-FFF2-40B4-BE49-F238E27FC236}">
                  <a16:creationId xmlns:a16="http://schemas.microsoft.com/office/drawing/2014/main" id="{55B3B343-08A5-6324-39C6-2EDE981E784D}"/>
                </a:ext>
              </a:extLst>
            </p:cNvPr>
            <p:cNvSpPr>
              <a:spLocks noChangeArrowheads="1"/>
            </p:cNvSpPr>
            <p:nvPr/>
          </p:nvSpPr>
          <p:spPr bwMode="auto">
            <a:xfrm>
              <a:off x="544513" y="4751388"/>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Comic Sans MS" panose="030F0702030302020204" pitchFamily="66" charset="0"/>
                </a:rPr>
                <a:t>Reduce</a:t>
              </a:r>
            </a:p>
            <a:p>
              <a:pPr>
                <a:lnSpc>
                  <a:spcPct val="100000"/>
                </a:lnSpc>
                <a:spcBef>
                  <a:spcPct val="0"/>
                </a:spcBef>
              </a:pPr>
              <a:r>
                <a:rPr lang="en-US" altLang="en-US" sz="800" b="0">
                  <a:solidFill>
                    <a:srgbClr val="FF0000"/>
                  </a:solidFill>
                  <a:latin typeface="Comic Sans MS" panose="030F0702030302020204" pitchFamily="66" charset="0"/>
                </a:rPr>
                <a:t>Changeover</a:t>
              </a:r>
            </a:p>
          </p:txBody>
        </p:sp>
        <p:sp>
          <p:nvSpPr>
            <p:cNvPr id="580" name="Text Box 283">
              <a:extLst>
                <a:ext uri="{FF2B5EF4-FFF2-40B4-BE49-F238E27FC236}">
                  <a16:creationId xmlns:a16="http://schemas.microsoft.com/office/drawing/2014/main" id="{D1BAFD73-EDFC-EF4B-B193-115957A8C765}"/>
                </a:ext>
              </a:extLst>
            </p:cNvPr>
            <p:cNvSpPr txBox="1">
              <a:spLocks noChangeArrowheads="1"/>
            </p:cNvSpPr>
            <p:nvPr/>
          </p:nvSpPr>
          <p:spPr bwMode="auto">
            <a:xfrm>
              <a:off x="457200" y="4503738"/>
              <a:ext cx="64770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1.5 Days</a:t>
              </a:r>
            </a:p>
          </p:txBody>
        </p:sp>
        <p:sp>
          <p:nvSpPr>
            <p:cNvPr id="581" name="Text Box 284">
              <a:extLst>
                <a:ext uri="{FF2B5EF4-FFF2-40B4-BE49-F238E27FC236}">
                  <a16:creationId xmlns:a16="http://schemas.microsoft.com/office/drawing/2014/main" id="{B3D43D64-648F-EC51-5B2E-CF2846E1ADF5}"/>
                </a:ext>
              </a:extLst>
            </p:cNvPr>
            <p:cNvSpPr txBox="1">
              <a:spLocks noChangeArrowheads="1"/>
            </p:cNvSpPr>
            <p:nvPr/>
          </p:nvSpPr>
          <p:spPr bwMode="auto">
            <a:xfrm>
              <a:off x="2162175" y="4503738"/>
              <a:ext cx="55245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 Days</a:t>
              </a:r>
            </a:p>
          </p:txBody>
        </p:sp>
        <p:sp>
          <p:nvSpPr>
            <p:cNvPr id="582" name="Text Box 285">
              <a:extLst>
                <a:ext uri="{FF2B5EF4-FFF2-40B4-BE49-F238E27FC236}">
                  <a16:creationId xmlns:a16="http://schemas.microsoft.com/office/drawing/2014/main" id="{53575700-6BE8-F49F-B44B-0A8367740E99}"/>
                </a:ext>
              </a:extLst>
            </p:cNvPr>
            <p:cNvSpPr txBox="1">
              <a:spLocks noChangeArrowheads="1"/>
            </p:cNvSpPr>
            <p:nvPr/>
          </p:nvSpPr>
          <p:spPr bwMode="auto">
            <a:xfrm>
              <a:off x="4241800" y="4475163"/>
              <a:ext cx="48895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Day</a:t>
              </a:r>
            </a:p>
          </p:txBody>
        </p:sp>
        <p:sp>
          <p:nvSpPr>
            <p:cNvPr id="583" name="Text Box 286">
              <a:extLst>
                <a:ext uri="{FF2B5EF4-FFF2-40B4-BE49-F238E27FC236}">
                  <a16:creationId xmlns:a16="http://schemas.microsoft.com/office/drawing/2014/main" id="{BDFF26C7-4297-7999-7788-52C52E127DE4}"/>
                </a:ext>
              </a:extLst>
            </p:cNvPr>
            <p:cNvSpPr txBox="1">
              <a:spLocks noChangeArrowheads="1"/>
            </p:cNvSpPr>
            <p:nvPr/>
          </p:nvSpPr>
          <p:spPr bwMode="auto">
            <a:xfrm>
              <a:off x="5921375" y="4513263"/>
              <a:ext cx="99695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 Days</a:t>
              </a:r>
              <a:br>
                <a:rPr lang="en-US" altLang="en-US">
                  <a:solidFill>
                    <a:schemeClr val="tx1"/>
                  </a:solidFill>
                </a:rPr>
              </a:br>
              <a:r>
                <a:rPr lang="en-US" altLang="en-US">
                  <a:solidFill>
                    <a:schemeClr val="tx1"/>
                  </a:solidFill>
                </a:rPr>
                <a:t>unpacked</a:t>
              </a:r>
              <a:br>
                <a:rPr lang="en-US" altLang="en-US">
                  <a:solidFill>
                    <a:schemeClr val="tx1"/>
                  </a:solidFill>
                </a:rPr>
              </a:br>
              <a:r>
                <a:rPr lang="en-US" altLang="en-US">
                  <a:solidFill>
                    <a:schemeClr val="tx1"/>
                  </a:solidFill>
                </a:rPr>
                <a:t>finished goods</a:t>
              </a:r>
            </a:p>
          </p:txBody>
        </p:sp>
        <p:sp>
          <p:nvSpPr>
            <p:cNvPr id="584" name="Line 290">
              <a:extLst>
                <a:ext uri="{FF2B5EF4-FFF2-40B4-BE49-F238E27FC236}">
                  <a16:creationId xmlns:a16="http://schemas.microsoft.com/office/drawing/2014/main" id="{8B647C70-10BF-AA3B-E7A7-FCB575ED1D9B}"/>
                </a:ext>
              </a:extLst>
            </p:cNvPr>
            <p:cNvSpPr>
              <a:spLocks noChangeShapeType="1"/>
            </p:cNvSpPr>
            <p:nvPr/>
          </p:nvSpPr>
          <p:spPr bwMode="auto">
            <a:xfrm>
              <a:off x="2433638" y="3667125"/>
              <a:ext cx="0" cy="457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585" name="Group 298">
              <a:extLst>
                <a:ext uri="{FF2B5EF4-FFF2-40B4-BE49-F238E27FC236}">
                  <a16:creationId xmlns:a16="http://schemas.microsoft.com/office/drawing/2014/main" id="{75549946-A2C1-2F06-17B4-010C9D8AE0B7}"/>
                </a:ext>
              </a:extLst>
            </p:cNvPr>
            <p:cNvGrpSpPr>
              <a:grpSpLocks/>
            </p:cNvGrpSpPr>
            <p:nvPr/>
          </p:nvGrpSpPr>
          <p:grpSpPr bwMode="auto">
            <a:xfrm>
              <a:off x="1695450" y="3590925"/>
              <a:ext cx="1743075" cy="533400"/>
              <a:chOff x="1068" y="2262"/>
              <a:chExt cx="1098" cy="336"/>
            </a:xfrm>
          </p:grpSpPr>
          <p:sp>
            <p:nvSpPr>
              <p:cNvPr id="586" name="Line 288">
                <a:extLst>
                  <a:ext uri="{FF2B5EF4-FFF2-40B4-BE49-F238E27FC236}">
                    <a16:creationId xmlns:a16="http://schemas.microsoft.com/office/drawing/2014/main" id="{12192090-25B9-0758-9741-78793BAA8AE6}"/>
                  </a:ext>
                </a:extLst>
              </p:cNvPr>
              <p:cNvSpPr>
                <a:spLocks noChangeShapeType="1"/>
              </p:cNvSpPr>
              <p:nvPr/>
            </p:nvSpPr>
            <p:spPr bwMode="auto">
              <a:xfrm>
                <a:off x="1530" y="2598"/>
                <a:ext cx="372"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587" name="Line 289">
                <a:extLst>
                  <a:ext uri="{FF2B5EF4-FFF2-40B4-BE49-F238E27FC236}">
                    <a16:creationId xmlns:a16="http://schemas.microsoft.com/office/drawing/2014/main" id="{01BF4D4B-B825-5BE3-E682-B2E0738C9875}"/>
                  </a:ext>
                </a:extLst>
              </p:cNvPr>
              <p:cNvSpPr>
                <a:spLocks noChangeShapeType="1"/>
              </p:cNvSpPr>
              <p:nvPr/>
            </p:nvSpPr>
            <p:spPr bwMode="auto">
              <a:xfrm>
                <a:off x="1548" y="2310"/>
                <a:ext cx="61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88" name="AutoShape 291" descr="Light upward diagonal">
                <a:extLst>
                  <a:ext uri="{FF2B5EF4-FFF2-40B4-BE49-F238E27FC236}">
                    <a16:creationId xmlns:a16="http://schemas.microsoft.com/office/drawing/2014/main" id="{F00A8C12-67D6-A33D-82E7-637B97AACC26}"/>
                  </a:ext>
                </a:extLst>
              </p:cNvPr>
              <p:cNvSpPr>
                <a:spLocks noChangeArrowheads="1"/>
              </p:cNvSpPr>
              <p:nvPr/>
            </p:nvSpPr>
            <p:spPr bwMode="auto">
              <a:xfrm flipH="1">
                <a:off x="1698" y="2262"/>
                <a:ext cx="240" cy="144"/>
              </a:xfrm>
              <a:prstGeom prst="flowChartPunchedCard">
                <a:avLst/>
              </a:prstGeom>
              <a:blipFill dpi="0" rotWithShape="0">
                <a:blip r:embed="rId3"/>
                <a:srcRect/>
                <a:tile tx="0" ty="0" sx="100000" sy="100000" flip="none" algn="tl"/>
              </a:blip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89" name="Line 292">
                <a:extLst>
                  <a:ext uri="{FF2B5EF4-FFF2-40B4-BE49-F238E27FC236}">
                    <a16:creationId xmlns:a16="http://schemas.microsoft.com/office/drawing/2014/main" id="{54BB5D21-E7E7-9DCE-15F5-C85E66D5DC81}"/>
                  </a:ext>
                </a:extLst>
              </p:cNvPr>
              <p:cNvSpPr>
                <a:spLocks noChangeShapeType="1"/>
              </p:cNvSpPr>
              <p:nvPr/>
            </p:nvSpPr>
            <p:spPr bwMode="auto">
              <a:xfrm>
                <a:off x="2142" y="2310"/>
                <a:ext cx="0" cy="9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90" name="Line 294">
                <a:extLst>
                  <a:ext uri="{FF2B5EF4-FFF2-40B4-BE49-F238E27FC236}">
                    <a16:creationId xmlns:a16="http://schemas.microsoft.com/office/drawing/2014/main" id="{5267AFF1-5C92-E762-AADA-AF9A0E88A284}"/>
                  </a:ext>
                </a:extLst>
              </p:cNvPr>
              <p:cNvSpPr>
                <a:spLocks noChangeShapeType="1"/>
              </p:cNvSpPr>
              <p:nvPr/>
            </p:nvSpPr>
            <p:spPr bwMode="auto">
              <a:xfrm>
                <a:off x="1500" y="2310"/>
                <a:ext cx="0" cy="19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91" name="Line 295">
                <a:extLst>
                  <a:ext uri="{FF2B5EF4-FFF2-40B4-BE49-F238E27FC236}">
                    <a16:creationId xmlns:a16="http://schemas.microsoft.com/office/drawing/2014/main" id="{498A8CB8-4EAD-284D-6217-4E48887DEF80}"/>
                  </a:ext>
                </a:extLst>
              </p:cNvPr>
              <p:cNvSpPr>
                <a:spLocks noChangeShapeType="1"/>
              </p:cNvSpPr>
              <p:nvPr/>
            </p:nvSpPr>
            <p:spPr bwMode="auto">
              <a:xfrm>
                <a:off x="1068" y="2310"/>
                <a:ext cx="432"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592" name="AutoShape 296">
              <a:extLst>
                <a:ext uri="{FF2B5EF4-FFF2-40B4-BE49-F238E27FC236}">
                  <a16:creationId xmlns:a16="http://schemas.microsoft.com/office/drawing/2014/main" id="{D43830B6-61CC-BF52-CA91-857E8633AD8F}"/>
                </a:ext>
              </a:extLst>
            </p:cNvPr>
            <p:cNvSpPr>
              <a:spLocks noChangeArrowheads="1"/>
            </p:cNvSpPr>
            <p:nvPr/>
          </p:nvSpPr>
          <p:spPr bwMode="auto">
            <a:xfrm flipV="1">
              <a:off x="2000250" y="3590925"/>
              <a:ext cx="228600" cy="228600"/>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593" name="Line 297">
              <a:extLst>
                <a:ext uri="{FF2B5EF4-FFF2-40B4-BE49-F238E27FC236}">
                  <a16:creationId xmlns:a16="http://schemas.microsoft.com/office/drawing/2014/main" id="{49F580AD-507A-AC99-EA00-04587285D6C7}"/>
                </a:ext>
              </a:extLst>
            </p:cNvPr>
            <p:cNvSpPr>
              <a:spLocks noChangeShapeType="1"/>
            </p:cNvSpPr>
            <p:nvPr/>
          </p:nvSpPr>
          <p:spPr bwMode="auto">
            <a:xfrm>
              <a:off x="1695450" y="3667125"/>
              <a:ext cx="0" cy="152400"/>
            </a:xfrm>
            <a:prstGeom prst="line">
              <a:avLst/>
            </a:prstGeom>
            <a:noFill/>
            <a:ln w="127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4" name="Text Box 299">
              <a:extLst>
                <a:ext uri="{FF2B5EF4-FFF2-40B4-BE49-F238E27FC236}">
                  <a16:creationId xmlns:a16="http://schemas.microsoft.com/office/drawing/2014/main" id="{040CA1CD-F804-57C5-0157-FDCBAAB467D6}"/>
                </a:ext>
              </a:extLst>
            </p:cNvPr>
            <p:cNvSpPr txBox="1">
              <a:spLocks noChangeArrowheads="1"/>
            </p:cNvSpPr>
            <p:nvPr/>
          </p:nvSpPr>
          <p:spPr bwMode="auto">
            <a:xfrm>
              <a:off x="1870075" y="3395663"/>
              <a:ext cx="52705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Signal</a:t>
              </a:r>
            </a:p>
          </p:txBody>
        </p:sp>
        <p:sp>
          <p:nvSpPr>
            <p:cNvPr id="595" name="Text Box 300">
              <a:extLst>
                <a:ext uri="{FF2B5EF4-FFF2-40B4-BE49-F238E27FC236}">
                  <a16:creationId xmlns:a16="http://schemas.microsoft.com/office/drawing/2014/main" id="{FA06A896-583A-0AA1-D9FE-C3F66FCF697E}"/>
                </a:ext>
              </a:extLst>
            </p:cNvPr>
            <p:cNvSpPr txBox="1">
              <a:spLocks noChangeArrowheads="1"/>
            </p:cNvSpPr>
            <p:nvPr/>
          </p:nvSpPr>
          <p:spPr bwMode="auto">
            <a:xfrm>
              <a:off x="2603500" y="3395663"/>
              <a:ext cx="54610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Hour</a:t>
              </a:r>
            </a:p>
          </p:txBody>
        </p:sp>
        <p:sp>
          <p:nvSpPr>
            <p:cNvPr id="596" name="Text Box 301">
              <a:extLst>
                <a:ext uri="{FF2B5EF4-FFF2-40B4-BE49-F238E27FC236}">
                  <a16:creationId xmlns:a16="http://schemas.microsoft.com/office/drawing/2014/main" id="{DCAB6532-87A3-C3B2-0BCA-ECCADBA74ED7}"/>
                </a:ext>
              </a:extLst>
            </p:cNvPr>
            <p:cNvSpPr txBox="1">
              <a:spLocks noChangeArrowheads="1"/>
            </p:cNvSpPr>
            <p:nvPr/>
          </p:nvSpPr>
          <p:spPr bwMode="auto">
            <a:xfrm>
              <a:off x="2708275" y="3598863"/>
              <a:ext cx="37465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250</a:t>
              </a:r>
            </a:p>
          </p:txBody>
        </p:sp>
        <p:sp>
          <p:nvSpPr>
            <p:cNvPr id="597" name="Text Box 311">
              <a:extLst>
                <a:ext uri="{FF2B5EF4-FFF2-40B4-BE49-F238E27FC236}">
                  <a16:creationId xmlns:a16="http://schemas.microsoft.com/office/drawing/2014/main" id="{8BC39956-B467-369A-1E74-1CE6BE9AFD15}"/>
                </a:ext>
              </a:extLst>
            </p:cNvPr>
            <p:cNvSpPr txBox="1">
              <a:spLocks noChangeArrowheads="1"/>
            </p:cNvSpPr>
            <p:nvPr/>
          </p:nvSpPr>
          <p:spPr bwMode="auto">
            <a:xfrm>
              <a:off x="4813300" y="3598863"/>
              <a:ext cx="37465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250</a:t>
              </a:r>
            </a:p>
          </p:txBody>
        </p:sp>
        <p:grpSp>
          <p:nvGrpSpPr>
            <p:cNvPr id="598" name="Group 317">
              <a:extLst>
                <a:ext uri="{FF2B5EF4-FFF2-40B4-BE49-F238E27FC236}">
                  <a16:creationId xmlns:a16="http://schemas.microsoft.com/office/drawing/2014/main" id="{BEE33B0A-F553-166E-AAC5-37B91105EE1E}"/>
                </a:ext>
              </a:extLst>
            </p:cNvPr>
            <p:cNvGrpSpPr>
              <a:grpSpLocks/>
            </p:cNvGrpSpPr>
            <p:nvPr/>
          </p:nvGrpSpPr>
          <p:grpSpPr bwMode="auto">
            <a:xfrm>
              <a:off x="3733800" y="3395663"/>
              <a:ext cx="1762125" cy="728662"/>
              <a:chOff x="2352" y="2139"/>
              <a:chExt cx="1110" cy="459"/>
            </a:xfrm>
          </p:grpSpPr>
          <p:sp>
            <p:nvSpPr>
              <p:cNvPr id="599" name="Line 316">
                <a:extLst>
                  <a:ext uri="{FF2B5EF4-FFF2-40B4-BE49-F238E27FC236}">
                    <a16:creationId xmlns:a16="http://schemas.microsoft.com/office/drawing/2014/main" id="{58A871CC-78C7-6735-0067-C7B7BAD9AC09}"/>
                  </a:ext>
                </a:extLst>
              </p:cNvPr>
              <p:cNvSpPr>
                <a:spLocks noChangeShapeType="1"/>
              </p:cNvSpPr>
              <p:nvPr/>
            </p:nvSpPr>
            <p:spPr bwMode="auto">
              <a:xfrm>
                <a:off x="2352" y="2598"/>
                <a:ext cx="372"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600" name="Text Box 310">
                <a:extLst>
                  <a:ext uri="{FF2B5EF4-FFF2-40B4-BE49-F238E27FC236}">
                    <a16:creationId xmlns:a16="http://schemas.microsoft.com/office/drawing/2014/main" id="{60933DAA-1B55-7033-881C-102017770473}"/>
                  </a:ext>
                </a:extLst>
              </p:cNvPr>
              <p:cNvSpPr txBox="1">
                <a:spLocks noChangeArrowheads="1"/>
              </p:cNvSpPr>
              <p:nvPr/>
            </p:nvSpPr>
            <p:spPr bwMode="auto">
              <a:xfrm>
                <a:off x="2930" y="2139"/>
                <a:ext cx="34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Hour</a:t>
                </a:r>
              </a:p>
            </p:txBody>
          </p:sp>
          <p:sp>
            <p:nvSpPr>
              <p:cNvPr id="601" name="Line 303">
                <a:extLst>
                  <a:ext uri="{FF2B5EF4-FFF2-40B4-BE49-F238E27FC236}">
                    <a16:creationId xmlns:a16="http://schemas.microsoft.com/office/drawing/2014/main" id="{653703C3-F9A8-DDD5-1D25-0CE8F1C5053F}"/>
                  </a:ext>
                </a:extLst>
              </p:cNvPr>
              <p:cNvSpPr>
                <a:spLocks noChangeShapeType="1"/>
              </p:cNvSpPr>
              <p:nvPr/>
            </p:nvSpPr>
            <p:spPr bwMode="auto">
              <a:xfrm>
                <a:off x="2826" y="2598"/>
                <a:ext cx="372"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602" name="Line 304">
                <a:extLst>
                  <a:ext uri="{FF2B5EF4-FFF2-40B4-BE49-F238E27FC236}">
                    <a16:creationId xmlns:a16="http://schemas.microsoft.com/office/drawing/2014/main" id="{60098D8F-DE1D-ABCF-F78B-20648F6E7136}"/>
                  </a:ext>
                </a:extLst>
              </p:cNvPr>
              <p:cNvSpPr>
                <a:spLocks noChangeShapeType="1"/>
              </p:cNvSpPr>
              <p:nvPr/>
            </p:nvSpPr>
            <p:spPr bwMode="auto">
              <a:xfrm>
                <a:off x="2844" y="2310"/>
                <a:ext cx="61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03" name="AutoShape 305" descr="Light upward diagonal">
                <a:extLst>
                  <a:ext uri="{FF2B5EF4-FFF2-40B4-BE49-F238E27FC236}">
                    <a16:creationId xmlns:a16="http://schemas.microsoft.com/office/drawing/2014/main" id="{CEFFEFA0-7C66-9995-2541-3E899F07CB39}"/>
                  </a:ext>
                </a:extLst>
              </p:cNvPr>
              <p:cNvSpPr>
                <a:spLocks noChangeArrowheads="1"/>
              </p:cNvSpPr>
              <p:nvPr/>
            </p:nvSpPr>
            <p:spPr bwMode="auto">
              <a:xfrm flipH="1">
                <a:off x="2994" y="2262"/>
                <a:ext cx="240" cy="144"/>
              </a:xfrm>
              <a:prstGeom prst="flowChartPunchedCard">
                <a:avLst/>
              </a:prstGeom>
              <a:blipFill dpi="0" rotWithShape="0">
                <a:blip r:embed="rId3"/>
                <a:srcRect/>
                <a:tile tx="0" ty="0" sx="100000" sy="100000" flip="none" algn="tl"/>
              </a:blip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250</a:t>
                </a:r>
              </a:p>
            </p:txBody>
          </p:sp>
          <p:sp>
            <p:nvSpPr>
              <p:cNvPr id="604" name="Line 306">
                <a:extLst>
                  <a:ext uri="{FF2B5EF4-FFF2-40B4-BE49-F238E27FC236}">
                    <a16:creationId xmlns:a16="http://schemas.microsoft.com/office/drawing/2014/main" id="{F3AA6680-95FF-0855-7FBB-C803C58084EB}"/>
                  </a:ext>
                </a:extLst>
              </p:cNvPr>
              <p:cNvSpPr>
                <a:spLocks noChangeShapeType="1"/>
              </p:cNvSpPr>
              <p:nvPr/>
            </p:nvSpPr>
            <p:spPr bwMode="auto">
              <a:xfrm>
                <a:off x="3438" y="2310"/>
                <a:ext cx="0" cy="9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05" name="Line 307">
                <a:extLst>
                  <a:ext uri="{FF2B5EF4-FFF2-40B4-BE49-F238E27FC236}">
                    <a16:creationId xmlns:a16="http://schemas.microsoft.com/office/drawing/2014/main" id="{F78B30FB-A993-84BE-8641-2F3C895A1C59}"/>
                  </a:ext>
                </a:extLst>
              </p:cNvPr>
              <p:cNvSpPr>
                <a:spLocks noChangeShapeType="1"/>
              </p:cNvSpPr>
              <p:nvPr/>
            </p:nvSpPr>
            <p:spPr bwMode="auto">
              <a:xfrm>
                <a:off x="2796" y="2310"/>
                <a:ext cx="0" cy="19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06" name="Line 308">
                <a:extLst>
                  <a:ext uri="{FF2B5EF4-FFF2-40B4-BE49-F238E27FC236}">
                    <a16:creationId xmlns:a16="http://schemas.microsoft.com/office/drawing/2014/main" id="{7D2C3329-87BD-DB6B-3423-61858B67AC95}"/>
                  </a:ext>
                </a:extLst>
              </p:cNvPr>
              <p:cNvSpPr>
                <a:spLocks noChangeShapeType="1"/>
              </p:cNvSpPr>
              <p:nvPr/>
            </p:nvSpPr>
            <p:spPr bwMode="auto">
              <a:xfrm>
                <a:off x="2364" y="2310"/>
                <a:ext cx="432"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07" name="Text Box 309">
                <a:extLst>
                  <a:ext uri="{FF2B5EF4-FFF2-40B4-BE49-F238E27FC236}">
                    <a16:creationId xmlns:a16="http://schemas.microsoft.com/office/drawing/2014/main" id="{B8F22CAF-EC23-8881-8F5B-AD08DA65B800}"/>
                  </a:ext>
                </a:extLst>
              </p:cNvPr>
              <p:cNvSpPr txBox="1">
                <a:spLocks noChangeArrowheads="1"/>
              </p:cNvSpPr>
              <p:nvPr/>
            </p:nvSpPr>
            <p:spPr bwMode="auto">
              <a:xfrm>
                <a:off x="2468" y="2139"/>
                <a:ext cx="34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Hour</a:t>
                </a:r>
              </a:p>
            </p:txBody>
          </p:sp>
          <p:sp>
            <p:nvSpPr>
              <p:cNvPr id="608" name="Line 312">
                <a:extLst>
                  <a:ext uri="{FF2B5EF4-FFF2-40B4-BE49-F238E27FC236}">
                    <a16:creationId xmlns:a16="http://schemas.microsoft.com/office/drawing/2014/main" id="{11F2A3DF-7235-CD75-0BD4-EFB45561A8B9}"/>
                  </a:ext>
                </a:extLst>
              </p:cNvPr>
              <p:cNvSpPr>
                <a:spLocks noChangeShapeType="1"/>
              </p:cNvSpPr>
              <p:nvPr/>
            </p:nvSpPr>
            <p:spPr bwMode="auto">
              <a:xfrm>
                <a:off x="2358" y="2322"/>
                <a:ext cx="0" cy="96"/>
              </a:xfrm>
              <a:prstGeom prst="line">
                <a:avLst/>
              </a:prstGeom>
              <a:noFill/>
              <a:ln w="127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9" name="AutoShape 314">
                <a:extLst>
                  <a:ext uri="{FF2B5EF4-FFF2-40B4-BE49-F238E27FC236}">
                    <a16:creationId xmlns:a16="http://schemas.microsoft.com/office/drawing/2014/main" id="{E0626E06-A5DC-8285-B138-A6138265C943}"/>
                  </a:ext>
                </a:extLst>
              </p:cNvPr>
              <p:cNvSpPr>
                <a:spLocks noChangeArrowheads="1"/>
              </p:cNvSpPr>
              <p:nvPr/>
            </p:nvSpPr>
            <p:spPr bwMode="auto">
              <a:xfrm flipH="1">
                <a:off x="2466" y="2262"/>
                <a:ext cx="240" cy="144"/>
              </a:xfrm>
              <a:prstGeom prst="flowChartPunchedCard">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250</a:t>
                </a:r>
              </a:p>
            </p:txBody>
          </p:sp>
        </p:grpSp>
        <p:grpSp>
          <p:nvGrpSpPr>
            <p:cNvPr id="610" name="Group 318">
              <a:extLst>
                <a:ext uri="{FF2B5EF4-FFF2-40B4-BE49-F238E27FC236}">
                  <a16:creationId xmlns:a16="http://schemas.microsoft.com/office/drawing/2014/main" id="{311B6CA7-4004-53D2-9C7B-37BFB0C1D09E}"/>
                </a:ext>
              </a:extLst>
            </p:cNvPr>
            <p:cNvGrpSpPr>
              <a:grpSpLocks/>
            </p:cNvGrpSpPr>
            <p:nvPr/>
          </p:nvGrpSpPr>
          <p:grpSpPr bwMode="auto">
            <a:xfrm>
              <a:off x="5715000" y="3395663"/>
              <a:ext cx="1762125" cy="728662"/>
              <a:chOff x="2352" y="2139"/>
              <a:chExt cx="1110" cy="459"/>
            </a:xfrm>
          </p:grpSpPr>
          <p:sp>
            <p:nvSpPr>
              <p:cNvPr id="611" name="Line 319">
                <a:extLst>
                  <a:ext uri="{FF2B5EF4-FFF2-40B4-BE49-F238E27FC236}">
                    <a16:creationId xmlns:a16="http://schemas.microsoft.com/office/drawing/2014/main" id="{103636D6-3A6D-1693-5F63-AD8A37C956BD}"/>
                  </a:ext>
                </a:extLst>
              </p:cNvPr>
              <p:cNvSpPr>
                <a:spLocks noChangeShapeType="1"/>
              </p:cNvSpPr>
              <p:nvPr/>
            </p:nvSpPr>
            <p:spPr bwMode="auto">
              <a:xfrm>
                <a:off x="2352" y="2598"/>
                <a:ext cx="372"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612" name="Text Box 320">
                <a:extLst>
                  <a:ext uri="{FF2B5EF4-FFF2-40B4-BE49-F238E27FC236}">
                    <a16:creationId xmlns:a16="http://schemas.microsoft.com/office/drawing/2014/main" id="{98263C81-81AF-7202-3D76-B1C1F504EE6F}"/>
                  </a:ext>
                </a:extLst>
              </p:cNvPr>
              <p:cNvSpPr txBox="1">
                <a:spLocks noChangeArrowheads="1"/>
              </p:cNvSpPr>
              <p:nvPr/>
            </p:nvSpPr>
            <p:spPr bwMode="auto">
              <a:xfrm>
                <a:off x="2930" y="2139"/>
                <a:ext cx="34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Hour</a:t>
                </a:r>
              </a:p>
            </p:txBody>
          </p:sp>
          <p:sp>
            <p:nvSpPr>
              <p:cNvPr id="613" name="Line 321">
                <a:extLst>
                  <a:ext uri="{FF2B5EF4-FFF2-40B4-BE49-F238E27FC236}">
                    <a16:creationId xmlns:a16="http://schemas.microsoft.com/office/drawing/2014/main" id="{76FB4D51-F0F9-0680-0810-39035503670F}"/>
                  </a:ext>
                </a:extLst>
              </p:cNvPr>
              <p:cNvSpPr>
                <a:spLocks noChangeShapeType="1"/>
              </p:cNvSpPr>
              <p:nvPr/>
            </p:nvSpPr>
            <p:spPr bwMode="auto">
              <a:xfrm>
                <a:off x="2826" y="2598"/>
                <a:ext cx="372" cy="0"/>
              </a:xfrm>
              <a:prstGeom prst="line">
                <a:avLst/>
              </a:prstGeom>
              <a:noFill/>
              <a:ln w="12700">
                <a:solidFill>
                  <a:schemeClr val="tx1"/>
                </a:solidFill>
                <a:prstDash val="dash"/>
                <a:round/>
                <a:headEnd type="none" w="sm" len="sm"/>
                <a:tailEnd type="triangle" w="med" len="sm"/>
              </a:ln>
              <a:extLst>
                <a:ext uri="{909E8E84-426E-40DD-AFC4-6F175D3DCCD1}">
                  <a14:hiddenFill xmlns:a14="http://schemas.microsoft.com/office/drawing/2010/main">
                    <a:noFill/>
                  </a14:hiddenFill>
                </a:ext>
              </a:extLst>
            </p:spPr>
            <p:txBody>
              <a:bodyPr wrap="none"/>
              <a:lstStyle/>
              <a:p>
                <a:endParaRPr lang="en-US"/>
              </a:p>
            </p:txBody>
          </p:sp>
          <p:sp>
            <p:nvSpPr>
              <p:cNvPr id="614" name="Line 322">
                <a:extLst>
                  <a:ext uri="{FF2B5EF4-FFF2-40B4-BE49-F238E27FC236}">
                    <a16:creationId xmlns:a16="http://schemas.microsoft.com/office/drawing/2014/main" id="{52029CD0-DADB-7889-CBD4-857C61053207}"/>
                  </a:ext>
                </a:extLst>
              </p:cNvPr>
              <p:cNvSpPr>
                <a:spLocks noChangeShapeType="1"/>
              </p:cNvSpPr>
              <p:nvPr/>
            </p:nvSpPr>
            <p:spPr bwMode="auto">
              <a:xfrm>
                <a:off x="2844" y="2310"/>
                <a:ext cx="61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15" name="AutoShape 323" descr="Light upward diagonal">
                <a:extLst>
                  <a:ext uri="{FF2B5EF4-FFF2-40B4-BE49-F238E27FC236}">
                    <a16:creationId xmlns:a16="http://schemas.microsoft.com/office/drawing/2014/main" id="{D6047032-4DBB-0EB1-59E4-DEDBF58625E6}"/>
                  </a:ext>
                </a:extLst>
              </p:cNvPr>
              <p:cNvSpPr>
                <a:spLocks noChangeArrowheads="1"/>
              </p:cNvSpPr>
              <p:nvPr/>
            </p:nvSpPr>
            <p:spPr bwMode="auto">
              <a:xfrm flipH="1">
                <a:off x="2994" y="2262"/>
                <a:ext cx="240" cy="144"/>
              </a:xfrm>
              <a:prstGeom prst="flowChartPunchedCard">
                <a:avLst/>
              </a:prstGeom>
              <a:blipFill dpi="0" rotWithShape="0">
                <a:blip r:embed="rId3"/>
                <a:srcRect/>
                <a:tile tx="0" ty="0" sx="100000" sy="100000" flip="none" algn="tl"/>
              </a:blip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500</a:t>
                </a:r>
              </a:p>
            </p:txBody>
          </p:sp>
          <p:sp>
            <p:nvSpPr>
              <p:cNvPr id="616" name="Line 324">
                <a:extLst>
                  <a:ext uri="{FF2B5EF4-FFF2-40B4-BE49-F238E27FC236}">
                    <a16:creationId xmlns:a16="http://schemas.microsoft.com/office/drawing/2014/main" id="{1C135132-1BE3-BA4C-8ADD-05EB3DC8AB5C}"/>
                  </a:ext>
                </a:extLst>
              </p:cNvPr>
              <p:cNvSpPr>
                <a:spLocks noChangeShapeType="1"/>
              </p:cNvSpPr>
              <p:nvPr/>
            </p:nvSpPr>
            <p:spPr bwMode="auto">
              <a:xfrm>
                <a:off x="3438" y="2310"/>
                <a:ext cx="0" cy="9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17" name="Line 325">
                <a:extLst>
                  <a:ext uri="{FF2B5EF4-FFF2-40B4-BE49-F238E27FC236}">
                    <a16:creationId xmlns:a16="http://schemas.microsoft.com/office/drawing/2014/main" id="{8B3077FC-887C-5CFB-6825-24E0897ED3B1}"/>
                  </a:ext>
                </a:extLst>
              </p:cNvPr>
              <p:cNvSpPr>
                <a:spLocks noChangeShapeType="1"/>
              </p:cNvSpPr>
              <p:nvPr/>
            </p:nvSpPr>
            <p:spPr bwMode="auto">
              <a:xfrm>
                <a:off x="2796" y="2310"/>
                <a:ext cx="0" cy="19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18" name="Line 326">
                <a:extLst>
                  <a:ext uri="{FF2B5EF4-FFF2-40B4-BE49-F238E27FC236}">
                    <a16:creationId xmlns:a16="http://schemas.microsoft.com/office/drawing/2014/main" id="{ECA7BCE2-8745-B7C8-A4F0-37D7A76B7B93}"/>
                  </a:ext>
                </a:extLst>
              </p:cNvPr>
              <p:cNvSpPr>
                <a:spLocks noChangeShapeType="1"/>
              </p:cNvSpPr>
              <p:nvPr/>
            </p:nvSpPr>
            <p:spPr bwMode="auto">
              <a:xfrm>
                <a:off x="2364" y="2310"/>
                <a:ext cx="432"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19" name="Text Box 327">
                <a:extLst>
                  <a:ext uri="{FF2B5EF4-FFF2-40B4-BE49-F238E27FC236}">
                    <a16:creationId xmlns:a16="http://schemas.microsoft.com/office/drawing/2014/main" id="{3FFF8A2C-8523-982E-BB48-7545144AFF2F}"/>
                  </a:ext>
                </a:extLst>
              </p:cNvPr>
              <p:cNvSpPr txBox="1">
                <a:spLocks noChangeArrowheads="1"/>
              </p:cNvSpPr>
              <p:nvPr/>
            </p:nvSpPr>
            <p:spPr bwMode="auto">
              <a:xfrm>
                <a:off x="2468" y="2139"/>
                <a:ext cx="34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1 Hour</a:t>
                </a:r>
              </a:p>
            </p:txBody>
          </p:sp>
          <p:sp>
            <p:nvSpPr>
              <p:cNvPr id="620" name="Line 328">
                <a:extLst>
                  <a:ext uri="{FF2B5EF4-FFF2-40B4-BE49-F238E27FC236}">
                    <a16:creationId xmlns:a16="http://schemas.microsoft.com/office/drawing/2014/main" id="{EBAA3B28-90A9-BEE8-E638-343DF9B2FE5E}"/>
                  </a:ext>
                </a:extLst>
              </p:cNvPr>
              <p:cNvSpPr>
                <a:spLocks noChangeShapeType="1"/>
              </p:cNvSpPr>
              <p:nvPr/>
            </p:nvSpPr>
            <p:spPr bwMode="auto">
              <a:xfrm>
                <a:off x="2358" y="2322"/>
                <a:ext cx="0" cy="96"/>
              </a:xfrm>
              <a:prstGeom prst="line">
                <a:avLst/>
              </a:prstGeom>
              <a:noFill/>
              <a:ln w="127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1" name="AutoShape 329">
                <a:extLst>
                  <a:ext uri="{FF2B5EF4-FFF2-40B4-BE49-F238E27FC236}">
                    <a16:creationId xmlns:a16="http://schemas.microsoft.com/office/drawing/2014/main" id="{78B4AC9A-AC8C-DB09-CF28-1E6194FCF6C8}"/>
                  </a:ext>
                </a:extLst>
              </p:cNvPr>
              <p:cNvSpPr>
                <a:spLocks noChangeArrowheads="1"/>
              </p:cNvSpPr>
              <p:nvPr/>
            </p:nvSpPr>
            <p:spPr bwMode="auto">
              <a:xfrm flipH="1">
                <a:off x="2466" y="2262"/>
                <a:ext cx="240" cy="144"/>
              </a:xfrm>
              <a:prstGeom prst="flowChartPunchedCard">
                <a:avLst/>
              </a:prstGeom>
              <a:solidFill>
                <a:schemeClr val="bg1"/>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r>
                  <a:rPr lang="en-US" altLang="en-US">
                    <a:solidFill>
                      <a:schemeClr val="tx1"/>
                    </a:solidFill>
                  </a:rPr>
                  <a:t>250</a:t>
                </a:r>
              </a:p>
            </p:txBody>
          </p:sp>
        </p:grpSp>
        <p:grpSp>
          <p:nvGrpSpPr>
            <p:cNvPr id="622" name="Group 330">
              <a:extLst>
                <a:ext uri="{FF2B5EF4-FFF2-40B4-BE49-F238E27FC236}">
                  <a16:creationId xmlns:a16="http://schemas.microsoft.com/office/drawing/2014/main" id="{1B5845C2-C76D-6601-9B6D-7FDEF53E5E65}"/>
                </a:ext>
              </a:extLst>
            </p:cNvPr>
            <p:cNvGrpSpPr>
              <a:grpSpLocks/>
            </p:cNvGrpSpPr>
            <p:nvPr/>
          </p:nvGrpSpPr>
          <p:grpSpPr bwMode="auto">
            <a:xfrm>
              <a:off x="2613025" y="3841750"/>
              <a:ext cx="187325" cy="246063"/>
              <a:chOff x="1130" y="2784"/>
              <a:chExt cx="254" cy="235"/>
            </a:xfrm>
          </p:grpSpPr>
          <p:sp>
            <p:nvSpPr>
              <p:cNvPr id="623" name="Oval 331">
                <a:extLst>
                  <a:ext uri="{FF2B5EF4-FFF2-40B4-BE49-F238E27FC236}">
                    <a16:creationId xmlns:a16="http://schemas.microsoft.com/office/drawing/2014/main" id="{A014E850-E276-08D9-EF3B-07CB0D7E72A7}"/>
                  </a:ext>
                </a:extLst>
              </p:cNvPr>
              <p:cNvSpPr>
                <a:spLocks noChangeArrowheads="1"/>
              </p:cNvSpPr>
              <p:nvPr/>
            </p:nvSpPr>
            <p:spPr bwMode="auto">
              <a:xfrm>
                <a:off x="1139" y="2784"/>
                <a:ext cx="71" cy="52"/>
              </a:xfrm>
              <a:prstGeom prst="ellipse">
                <a:avLst/>
              </a:prstGeom>
              <a:noFill/>
              <a:ln w="6350">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24" name="Line 332">
                <a:extLst>
                  <a:ext uri="{FF2B5EF4-FFF2-40B4-BE49-F238E27FC236}">
                    <a16:creationId xmlns:a16="http://schemas.microsoft.com/office/drawing/2014/main" id="{AC8DE4F1-87EC-D321-E993-DCAACFA87D91}"/>
                  </a:ext>
                </a:extLst>
              </p:cNvPr>
              <p:cNvSpPr>
                <a:spLocks noChangeShapeType="1"/>
              </p:cNvSpPr>
              <p:nvPr/>
            </p:nvSpPr>
            <p:spPr bwMode="auto">
              <a:xfrm>
                <a:off x="1171" y="2833"/>
                <a:ext cx="0" cy="141"/>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25" name="Line 333">
                <a:extLst>
                  <a:ext uri="{FF2B5EF4-FFF2-40B4-BE49-F238E27FC236}">
                    <a16:creationId xmlns:a16="http://schemas.microsoft.com/office/drawing/2014/main" id="{D4CBCCF5-467A-7990-F1C1-8CFA74E66C27}"/>
                  </a:ext>
                </a:extLst>
              </p:cNvPr>
              <p:cNvSpPr>
                <a:spLocks noChangeShapeType="1"/>
              </p:cNvSpPr>
              <p:nvPr/>
            </p:nvSpPr>
            <p:spPr bwMode="auto">
              <a:xfrm flipH="1">
                <a:off x="1130" y="2977"/>
                <a:ext cx="39"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26" name="Line 334">
                <a:extLst>
                  <a:ext uri="{FF2B5EF4-FFF2-40B4-BE49-F238E27FC236}">
                    <a16:creationId xmlns:a16="http://schemas.microsoft.com/office/drawing/2014/main" id="{39F897A7-1AF1-58B8-E063-C0E01EBEA4A2}"/>
                  </a:ext>
                </a:extLst>
              </p:cNvPr>
              <p:cNvSpPr>
                <a:spLocks noChangeShapeType="1"/>
              </p:cNvSpPr>
              <p:nvPr/>
            </p:nvSpPr>
            <p:spPr bwMode="auto">
              <a:xfrm>
                <a:off x="1169" y="2876"/>
                <a:ext cx="90"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27" name="Line 335">
                <a:extLst>
                  <a:ext uri="{FF2B5EF4-FFF2-40B4-BE49-F238E27FC236}">
                    <a16:creationId xmlns:a16="http://schemas.microsoft.com/office/drawing/2014/main" id="{19F12EEB-EB76-54E5-C1BD-B88CF5459EC0}"/>
                  </a:ext>
                </a:extLst>
              </p:cNvPr>
              <p:cNvSpPr>
                <a:spLocks noChangeShapeType="1"/>
              </p:cNvSpPr>
              <p:nvPr/>
            </p:nvSpPr>
            <p:spPr bwMode="auto">
              <a:xfrm>
                <a:off x="1253" y="2876"/>
                <a:ext cx="0" cy="112"/>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28" name="Line 336">
                <a:extLst>
                  <a:ext uri="{FF2B5EF4-FFF2-40B4-BE49-F238E27FC236}">
                    <a16:creationId xmlns:a16="http://schemas.microsoft.com/office/drawing/2014/main" id="{271EA566-84B3-19C7-5A30-AB3807BEC6BE}"/>
                  </a:ext>
                </a:extLst>
              </p:cNvPr>
              <p:cNvSpPr>
                <a:spLocks noChangeShapeType="1"/>
              </p:cNvSpPr>
              <p:nvPr/>
            </p:nvSpPr>
            <p:spPr bwMode="auto">
              <a:xfrm>
                <a:off x="1257" y="2989"/>
                <a:ext cx="118"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29" name="Oval 337">
                <a:extLst>
                  <a:ext uri="{FF2B5EF4-FFF2-40B4-BE49-F238E27FC236}">
                    <a16:creationId xmlns:a16="http://schemas.microsoft.com/office/drawing/2014/main" id="{C91FB4B1-DDC5-0069-6F82-D3703CEBEEAE}"/>
                  </a:ext>
                </a:extLst>
              </p:cNvPr>
              <p:cNvSpPr>
                <a:spLocks noChangeArrowheads="1"/>
              </p:cNvSpPr>
              <p:nvPr/>
            </p:nvSpPr>
            <p:spPr bwMode="auto">
              <a:xfrm>
                <a:off x="1253" y="2992"/>
                <a:ext cx="34"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30" name="Oval 338">
                <a:extLst>
                  <a:ext uri="{FF2B5EF4-FFF2-40B4-BE49-F238E27FC236}">
                    <a16:creationId xmlns:a16="http://schemas.microsoft.com/office/drawing/2014/main" id="{9F0F5323-08AA-DA18-30D1-A34405246D56}"/>
                  </a:ext>
                </a:extLst>
              </p:cNvPr>
              <p:cNvSpPr>
                <a:spLocks noChangeArrowheads="1"/>
              </p:cNvSpPr>
              <p:nvPr/>
            </p:nvSpPr>
            <p:spPr bwMode="auto">
              <a:xfrm>
                <a:off x="1347" y="2992"/>
                <a:ext cx="37"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31" name="Rectangle 339">
                <a:extLst>
                  <a:ext uri="{FF2B5EF4-FFF2-40B4-BE49-F238E27FC236}">
                    <a16:creationId xmlns:a16="http://schemas.microsoft.com/office/drawing/2014/main" id="{975BD137-8231-5BCF-119F-4D62496D159A}"/>
                  </a:ext>
                </a:extLst>
              </p:cNvPr>
              <p:cNvSpPr>
                <a:spLocks noChangeArrowheads="1"/>
              </p:cNvSpPr>
              <p:nvPr/>
            </p:nvSpPr>
            <p:spPr bwMode="auto">
              <a:xfrm>
                <a:off x="1268" y="2928"/>
                <a:ext cx="93" cy="56"/>
              </a:xfrm>
              <a:prstGeom prst="rect">
                <a:avLst/>
              </a:prstGeom>
              <a:solidFill>
                <a:srgbClr val="FFCC00"/>
              </a:solidFill>
              <a:ln w="9525">
                <a:solidFill>
                  <a:schemeClr val="tx1"/>
                </a:solidFill>
                <a:miter lim="800000"/>
                <a:headEnd/>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32" name="Line 340">
                <a:extLst>
                  <a:ext uri="{FF2B5EF4-FFF2-40B4-BE49-F238E27FC236}">
                    <a16:creationId xmlns:a16="http://schemas.microsoft.com/office/drawing/2014/main" id="{982DE7A7-A564-1418-4A52-695E3370144E}"/>
                  </a:ext>
                </a:extLst>
              </p:cNvPr>
              <p:cNvSpPr>
                <a:spLocks noChangeShapeType="1"/>
              </p:cNvSpPr>
              <p:nvPr/>
            </p:nvSpPr>
            <p:spPr bwMode="auto">
              <a:xfrm>
                <a:off x="1171" y="2977"/>
                <a:ext cx="37"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633" name="Group 341">
              <a:extLst>
                <a:ext uri="{FF2B5EF4-FFF2-40B4-BE49-F238E27FC236}">
                  <a16:creationId xmlns:a16="http://schemas.microsoft.com/office/drawing/2014/main" id="{98468412-ED0D-7843-C3DF-315A43DD22DA}"/>
                </a:ext>
              </a:extLst>
            </p:cNvPr>
            <p:cNvGrpSpPr>
              <a:grpSpLocks/>
            </p:cNvGrpSpPr>
            <p:nvPr/>
          </p:nvGrpSpPr>
          <p:grpSpPr bwMode="auto">
            <a:xfrm>
              <a:off x="4664075" y="3841750"/>
              <a:ext cx="187325" cy="246063"/>
              <a:chOff x="1130" y="2784"/>
              <a:chExt cx="254" cy="235"/>
            </a:xfrm>
          </p:grpSpPr>
          <p:sp>
            <p:nvSpPr>
              <p:cNvPr id="634" name="Oval 342">
                <a:extLst>
                  <a:ext uri="{FF2B5EF4-FFF2-40B4-BE49-F238E27FC236}">
                    <a16:creationId xmlns:a16="http://schemas.microsoft.com/office/drawing/2014/main" id="{FCA87DE9-08ED-A591-276F-088BBE2BC3C9}"/>
                  </a:ext>
                </a:extLst>
              </p:cNvPr>
              <p:cNvSpPr>
                <a:spLocks noChangeArrowheads="1"/>
              </p:cNvSpPr>
              <p:nvPr/>
            </p:nvSpPr>
            <p:spPr bwMode="auto">
              <a:xfrm>
                <a:off x="1139" y="2784"/>
                <a:ext cx="71" cy="52"/>
              </a:xfrm>
              <a:prstGeom prst="ellipse">
                <a:avLst/>
              </a:prstGeom>
              <a:noFill/>
              <a:ln w="6350">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35" name="Line 343">
                <a:extLst>
                  <a:ext uri="{FF2B5EF4-FFF2-40B4-BE49-F238E27FC236}">
                    <a16:creationId xmlns:a16="http://schemas.microsoft.com/office/drawing/2014/main" id="{3B4E5401-6AB9-6239-5D1A-1131E38002F1}"/>
                  </a:ext>
                </a:extLst>
              </p:cNvPr>
              <p:cNvSpPr>
                <a:spLocks noChangeShapeType="1"/>
              </p:cNvSpPr>
              <p:nvPr/>
            </p:nvSpPr>
            <p:spPr bwMode="auto">
              <a:xfrm>
                <a:off x="1171" y="2833"/>
                <a:ext cx="0" cy="141"/>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36" name="Line 344">
                <a:extLst>
                  <a:ext uri="{FF2B5EF4-FFF2-40B4-BE49-F238E27FC236}">
                    <a16:creationId xmlns:a16="http://schemas.microsoft.com/office/drawing/2014/main" id="{FF99811B-1439-94FC-D07E-0D50744A3BEF}"/>
                  </a:ext>
                </a:extLst>
              </p:cNvPr>
              <p:cNvSpPr>
                <a:spLocks noChangeShapeType="1"/>
              </p:cNvSpPr>
              <p:nvPr/>
            </p:nvSpPr>
            <p:spPr bwMode="auto">
              <a:xfrm flipH="1">
                <a:off x="1130" y="2977"/>
                <a:ext cx="39"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37" name="Line 345">
                <a:extLst>
                  <a:ext uri="{FF2B5EF4-FFF2-40B4-BE49-F238E27FC236}">
                    <a16:creationId xmlns:a16="http://schemas.microsoft.com/office/drawing/2014/main" id="{C3BF28C1-D3DA-EE56-434F-4DC84403751F}"/>
                  </a:ext>
                </a:extLst>
              </p:cNvPr>
              <p:cNvSpPr>
                <a:spLocks noChangeShapeType="1"/>
              </p:cNvSpPr>
              <p:nvPr/>
            </p:nvSpPr>
            <p:spPr bwMode="auto">
              <a:xfrm>
                <a:off x="1169" y="2876"/>
                <a:ext cx="90"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38" name="Line 346">
                <a:extLst>
                  <a:ext uri="{FF2B5EF4-FFF2-40B4-BE49-F238E27FC236}">
                    <a16:creationId xmlns:a16="http://schemas.microsoft.com/office/drawing/2014/main" id="{BEF6485F-4EA6-DA86-A9BB-F6AF6551A0FA}"/>
                  </a:ext>
                </a:extLst>
              </p:cNvPr>
              <p:cNvSpPr>
                <a:spLocks noChangeShapeType="1"/>
              </p:cNvSpPr>
              <p:nvPr/>
            </p:nvSpPr>
            <p:spPr bwMode="auto">
              <a:xfrm>
                <a:off x="1253" y="2876"/>
                <a:ext cx="0" cy="112"/>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39" name="Line 347">
                <a:extLst>
                  <a:ext uri="{FF2B5EF4-FFF2-40B4-BE49-F238E27FC236}">
                    <a16:creationId xmlns:a16="http://schemas.microsoft.com/office/drawing/2014/main" id="{BE920965-CBFA-ADC1-24D4-EA23D5120DF1}"/>
                  </a:ext>
                </a:extLst>
              </p:cNvPr>
              <p:cNvSpPr>
                <a:spLocks noChangeShapeType="1"/>
              </p:cNvSpPr>
              <p:nvPr/>
            </p:nvSpPr>
            <p:spPr bwMode="auto">
              <a:xfrm>
                <a:off x="1257" y="2989"/>
                <a:ext cx="118"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40" name="Oval 348">
                <a:extLst>
                  <a:ext uri="{FF2B5EF4-FFF2-40B4-BE49-F238E27FC236}">
                    <a16:creationId xmlns:a16="http://schemas.microsoft.com/office/drawing/2014/main" id="{23B6140A-4997-29EC-7892-1E6BCE0B08B1}"/>
                  </a:ext>
                </a:extLst>
              </p:cNvPr>
              <p:cNvSpPr>
                <a:spLocks noChangeArrowheads="1"/>
              </p:cNvSpPr>
              <p:nvPr/>
            </p:nvSpPr>
            <p:spPr bwMode="auto">
              <a:xfrm>
                <a:off x="1253" y="2992"/>
                <a:ext cx="34"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41" name="Oval 349">
                <a:extLst>
                  <a:ext uri="{FF2B5EF4-FFF2-40B4-BE49-F238E27FC236}">
                    <a16:creationId xmlns:a16="http://schemas.microsoft.com/office/drawing/2014/main" id="{628ED5A3-A3DA-7A21-C7F0-6FD57B9E6BC1}"/>
                  </a:ext>
                </a:extLst>
              </p:cNvPr>
              <p:cNvSpPr>
                <a:spLocks noChangeArrowheads="1"/>
              </p:cNvSpPr>
              <p:nvPr/>
            </p:nvSpPr>
            <p:spPr bwMode="auto">
              <a:xfrm>
                <a:off x="1347" y="2992"/>
                <a:ext cx="37"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42" name="Rectangle 350">
                <a:extLst>
                  <a:ext uri="{FF2B5EF4-FFF2-40B4-BE49-F238E27FC236}">
                    <a16:creationId xmlns:a16="http://schemas.microsoft.com/office/drawing/2014/main" id="{80612B2D-B414-1C06-022B-42820FEDBFDC}"/>
                  </a:ext>
                </a:extLst>
              </p:cNvPr>
              <p:cNvSpPr>
                <a:spLocks noChangeArrowheads="1"/>
              </p:cNvSpPr>
              <p:nvPr/>
            </p:nvSpPr>
            <p:spPr bwMode="auto">
              <a:xfrm>
                <a:off x="1268" y="2928"/>
                <a:ext cx="93" cy="56"/>
              </a:xfrm>
              <a:prstGeom prst="rect">
                <a:avLst/>
              </a:prstGeom>
              <a:solidFill>
                <a:srgbClr val="FFCC00"/>
              </a:solidFill>
              <a:ln w="9525">
                <a:solidFill>
                  <a:schemeClr val="tx1"/>
                </a:solidFill>
                <a:miter lim="800000"/>
                <a:headEnd/>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43" name="Line 351">
                <a:extLst>
                  <a:ext uri="{FF2B5EF4-FFF2-40B4-BE49-F238E27FC236}">
                    <a16:creationId xmlns:a16="http://schemas.microsoft.com/office/drawing/2014/main" id="{000F029F-CECA-4927-ACC8-AE8FB8873700}"/>
                  </a:ext>
                </a:extLst>
              </p:cNvPr>
              <p:cNvSpPr>
                <a:spLocks noChangeShapeType="1"/>
              </p:cNvSpPr>
              <p:nvPr/>
            </p:nvSpPr>
            <p:spPr bwMode="auto">
              <a:xfrm>
                <a:off x="1171" y="2977"/>
                <a:ext cx="37"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644" name="Group 352">
              <a:extLst>
                <a:ext uri="{FF2B5EF4-FFF2-40B4-BE49-F238E27FC236}">
                  <a16:creationId xmlns:a16="http://schemas.microsoft.com/office/drawing/2014/main" id="{8DAF94A3-836E-DEEC-B4BD-A9058AD13E71}"/>
                </a:ext>
              </a:extLst>
            </p:cNvPr>
            <p:cNvGrpSpPr>
              <a:grpSpLocks/>
            </p:cNvGrpSpPr>
            <p:nvPr/>
          </p:nvGrpSpPr>
          <p:grpSpPr bwMode="auto">
            <a:xfrm>
              <a:off x="6613525" y="3841750"/>
              <a:ext cx="187325" cy="246063"/>
              <a:chOff x="1130" y="2784"/>
              <a:chExt cx="254" cy="235"/>
            </a:xfrm>
          </p:grpSpPr>
          <p:sp>
            <p:nvSpPr>
              <p:cNvPr id="645" name="Oval 353">
                <a:extLst>
                  <a:ext uri="{FF2B5EF4-FFF2-40B4-BE49-F238E27FC236}">
                    <a16:creationId xmlns:a16="http://schemas.microsoft.com/office/drawing/2014/main" id="{585A0EF8-CC04-4C65-8B94-295ABCB1F859}"/>
                  </a:ext>
                </a:extLst>
              </p:cNvPr>
              <p:cNvSpPr>
                <a:spLocks noChangeArrowheads="1"/>
              </p:cNvSpPr>
              <p:nvPr/>
            </p:nvSpPr>
            <p:spPr bwMode="auto">
              <a:xfrm>
                <a:off x="1139" y="2784"/>
                <a:ext cx="71" cy="52"/>
              </a:xfrm>
              <a:prstGeom prst="ellipse">
                <a:avLst/>
              </a:prstGeom>
              <a:noFill/>
              <a:ln w="6350">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46" name="Line 354">
                <a:extLst>
                  <a:ext uri="{FF2B5EF4-FFF2-40B4-BE49-F238E27FC236}">
                    <a16:creationId xmlns:a16="http://schemas.microsoft.com/office/drawing/2014/main" id="{6B693E59-274F-62C6-8E09-B324C0223A78}"/>
                  </a:ext>
                </a:extLst>
              </p:cNvPr>
              <p:cNvSpPr>
                <a:spLocks noChangeShapeType="1"/>
              </p:cNvSpPr>
              <p:nvPr/>
            </p:nvSpPr>
            <p:spPr bwMode="auto">
              <a:xfrm>
                <a:off x="1171" y="2833"/>
                <a:ext cx="0" cy="141"/>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47" name="Line 355">
                <a:extLst>
                  <a:ext uri="{FF2B5EF4-FFF2-40B4-BE49-F238E27FC236}">
                    <a16:creationId xmlns:a16="http://schemas.microsoft.com/office/drawing/2014/main" id="{7747B4C8-183B-9FA8-A478-2464835C4EE3}"/>
                  </a:ext>
                </a:extLst>
              </p:cNvPr>
              <p:cNvSpPr>
                <a:spLocks noChangeShapeType="1"/>
              </p:cNvSpPr>
              <p:nvPr/>
            </p:nvSpPr>
            <p:spPr bwMode="auto">
              <a:xfrm flipH="1">
                <a:off x="1130" y="2977"/>
                <a:ext cx="39"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48" name="Line 356">
                <a:extLst>
                  <a:ext uri="{FF2B5EF4-FFF2-40B4-BE49-F238E27FC236}">
                    <a16:creationId xmlns:a16="http://schemas.microsoft.com/office/drawing/2014/main" id="{F4DA2007-F4D6-9402-3FD6-54A322DE490E}"/>
                  </a:ext>
                </a:extLst>
              </p:cNvPr>
              <p:cNvSpPr>
                <a:spLocks noChangeShapeType="1"/>
              </p:cNvSpPr>
              <p:nvPr/>
            </p:nvSpPr>
            <p:spPr bwMode="auto">
              <a:xfrm>
                <a:off x="1169" y="2876"/>
                <a:ext cx="90"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49" name="Line 357">
                <a:extLst>
                  <a:ext uri="{FF2B5EF4-FFF2-40B4-BE49-F238E27FC236}">
                    <a16:creationId xmlns:a16="http://schemas.microsoft.com/office/drawing/2014/main" id="{2CE4091B-400C-D7E9-12F4-93A3F1BE8055}"/>
                  </a:ext>
                </a:extLst>
              </p:cNvPr>
              <p:cNvSpPr>
                <a:spLocks noChangeShapeType="1"/>
              </p:cNvSpPr>
              <p:nvPr/>
            </p:nvSpPr>
            <p:spPr bwMode="auto">
              <a:xfrm>
                <a:off x="1253" y="2876"/>
                <a:ext cx="0" cy="112"/>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50" name="Line 358">
                <a:extLst>
                  <a:ext uri="{FF2B5EF4-FFF2-40B4-BE49-F238E27FC236}">
                    <a16:creationId xmlns:a16="http://schemas.microsoft.com/office/drawing/2014/main" id="{866CFED3-6F5B-ED10-93F9-CBED6E18330D}"/>
                  </a:ext>
                </a:extLst>
              </p:cNvPr>
              <p:cNvSpPr>
                <a:spLocks noChangeShapeType="1"/>
              </p:cNvSpPr>
              <p:nvPr/>
            </p:nvSpPr>
            <p:spPr bwMode="auto">
              <a:xfrm>
                <a:off x="1257" y="2989"/>
                <a:ext cx="118" cy="0"/>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51" name="Oval 359">
                <a:extLst>
                  <a:ext uri="{FF2B5EF4-FFF2-40B4-BE49-F238E27FC236}">
                    <a16:creationId xmlns:a16="http://schemas.microsoft.com/office/drawing/2014/main" id="{D2F17D3E-B228-34E9-675C-23CA55F383A8}"/>
                  </a:ext>
                </a:extLst>
              </p:cNvPr>
              <p:cNvSpPr>
                <a:spLocks noChangeArrowheads="1"/>
              </p:cNvSpPr>
              <p:nvPr/>
            </p:nvSpPr>
            <p:spPr bwMode="auto">
              <a:xfrm>
                <a:off x="1253" y="2992"/>
                <a:ext cx="34"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52" name="Oval 360">
                <a:extLst>
                  <a:ext uri="{FF2B5EF4-FFF2-40B4-BE49-F238E27FC236}">
                    <a16:creationId xmlns:a16="http://schemas.microsoft.com/office/drawing/2014/main" id="{2710A636-D2AD-FB7A-7458-98531088BBBB}"/>
                  </a:ext>
                </a:extLst>
              </p:cNvPr>
              <p:cNvSpPr>
                <a:spLocks noChangeArrowheads="1"/>
              </p:cNvSpPr>
              <p:nvPr/>
            </p:nvSpPr>
            <p:spPr bwMode="auto">
              <a:xfrm>
                <a:off x="1347" y="2992"/>
                <a:ext cx="37" cy="27"/>
              </a:xfrm>
              <a:prstGeom prst="ellipse">
                <a:avLst/>
              </a:prstGeom>
              <a:noFill/>
              <a:ln w="9525">
                <a:solidFill>
                  <a:schemeClr val="tx1"/>
                </a:solidFill>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53" name="Rectangle 361">
                <a:extLst>
                  <a:ext uri="{FF2B5EF4-FFF2-40B4-BE49-F238E27FC236}">
                    <a16:creationId xmlns:a16="http://schemas.microsoft.com/office/drawing/2014/main" id="{17434E4D-E814-4F15-CB8B-FB55533FEC19}"/>
                  </a:ext>
                </a:extLst>
              </p:cNvPr>
              <p:cNvSpPr>
                <a:spLocks noChangeArrowheads="1"/>
              </p:cNvSpPr>
              <p:nvPr/>
            </p:nvSpPr>
            <p:spPr bwMode="auto">
              <a:xfrm>
                <a:off x="1268" y="2928"/>
                <a:ext cx="93" cy="56"/>
              </a:xfrm>
              <a:prstGeom prst="rect">
                <a:avLst/>
              </a:prstGeom>
              <a:solidFill>
                <a:srgbClr val="FFCC00"/>
              </a:solidFill>
              <a:ln w="9525">
                <a:solidFill>
                  <a:schemeClr val="tx1"/>
                </a:solidFill>
                <a:miter lim="800000"/>
                <a:headEnd/>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654" name="Line 362">
                <a:extLst>
                  <a:ext uri="{FF2B5EF4-FFF2-40B4-BE49-F238E27FC236}">
                    <a16:creationId xmlns:a16="http://schemas.microsoft.com/office/drawing/2014/main" id="{3B71A27E-4EE5-7A4C-A7EA-DD9ECA587269}"/>
                  </a:ext>
                </a:extLst>
              </p:cNvPr>
              <p:cNvSpPr>
                <a:spLocks noChangeShapeType="1"/>
              </p:cNvSpPr>
              <p:nvPr/>
            </p:nvSpPr>
            <p:spPr bwMode="auto">
              <a:xfrm>
                <a:off x="1171" y="2977"/>
                <a:ext cx="37" cy="38"/>
              </a:xfrm>
              <a:prstGeom prst="line">
                <a:avLst/>
              </a:prstGeom>
              <a:noFill/>
              <a:ln w="95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655" name="AutoShape 363">
              <a:extLst>
                <a:ext uri="{FF2B5EF4-FFF2-40B4-BE49-F238E27FC236}">
                  <a16:creationId xmlns:a16="http://schemas.microsoft.com/office/drawing/2014/main" id="{89122CCD-0D8A-AC98-FCEB-5C88CFEBB42C}"/>
                </a:ext>
              </a:extLst>
            </p:cNvPr>
            <p:cNvSpPr>
              <a:spLocks noChangeArrowheads="1"/>
            </p:cNvSpPr>
            <p:nvPr/>
          </p:nvSpPr>
          <p:spPr bwMode="auto">
            <a:xfrm>
              <a:off x="4926013" y="4340225"/>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nSpc>
                  <a:spcPct val="100000"/>
                </a:lnSpc>
                <a:spcBef>
                  <a:spcPct val="0"/>
                </a:spcBef>
              </a:pPr>
              <a:r>
                <a:rPr lang="en-US" altLang="en-US" sz="800" b="0">
                  <a:solidFill>
                    <a:srgbClr val="FF0000"/>
                  </a:solidFill>
                  <a:latin typeface="Comic Sans MS" panose="030F0702030302020204" pitchFamily="66" charset="0"/>
                </a:rPr>
                <a:t>Reduce</a:t>
              </a:r>
            </a:p>
            <a:p>
              <a:pPr>
                <a:lnSpc>
                  <a:spcPct val="100000"/>
                </a:lnSpc>
                <a:spcBef>
                  <a:spcPct val="0"/>
                </a:spcBef>
              </a:pPr>
              <a:r>
                <a:rPr lang="en-US" altLang="en-US" sz="800" b="0">
                  <a:solidFill>
                    <a:srgbClr val="FF0000"/>
                  </a:solidFill>
                  <a:latin typeface="Comic Sans MS" panose="030F0702030302020204" pitchFamily="66" charset="0"/>
                </a:rPr>
                <a:t>DOI</a:t>
              </a:r>
            </a:p>
          </p:txBody>
        </p:sp>
      </p:grpSp>
    </p:spTree>
    <p:extLst>
      <p:ext uri="{BB962C8B-B14F-4D97-AF65-F5344CB8AC3E}">
        <p14:creationId xmlns:p14="http://schemas.microsoft.com/office/powerpoint/2010/main" val="3129646190"/>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14035</TotalTime>
  <Words>1931</Words>
  <Application>Microsoft Office PowerPoint</Application>
  <PresentationFormat>Widescreen</PresentationFormat>
  <Paragraphs>470</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Comic Sans MS</vt:lpstr>
      <vt:lpstr>Roboto</vt:lpstr>
      <vt:lpstr>Roboto Medium</vt:lpstr>
      <vt:lpstr>Wingdings</vt:lpstr>
      <vt:lpstr>Office Theme</vt:lpstr>
      <vt:lpstr>Exercise: Rusty’s Wrench</vt:lpstr>
      <vt:lpstr>Case Study Example: Rusty’s Wrench </vt:lpstr>
      <vt:lpstr>Case Study Example: Rusty’s Wrench </vt:lpstr>
      <vt:lpstr>Rusty’s Wrench Factory – Data Set</vt:lpstr>
      <vt:lpstr>Rusty’s Wrench Factory – TAKT Time</vt:lpstr>
      <vt:lpstr>Case Study Example: Rusty’s Wrench </vt:lpstr>
      <vt:lpstr>Exercise</vt:lpstr>
      <vt:lpstr>Case Study Example:  Rusty’s Wrench Marked-Up Current State</vt:lpstr>
      <vt:lpstr>Case Study Example:  Rusty’s Wrench Future State 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378</cp:revision>
  <dcterms:created xsi:type="dcterms:W3CDTF">2023-02-08T22:10:20Z</dcterms:created>
  <dcterms:modified xsi:type="dcterms:W3CDTF">2023-09-19T18:52:48Z</dcterms:modified>
</cp:coreProperties>
</file>