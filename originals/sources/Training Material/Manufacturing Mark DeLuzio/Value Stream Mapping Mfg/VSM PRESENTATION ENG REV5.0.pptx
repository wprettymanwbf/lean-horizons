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ink/ink1.xml" ContentType="application/inkml+xml"/>
  <Override PartName="/ppt/ink/ink2.xml" ContentType="application/inkml+xml"/>
  <Override PartName="/ppt/ink/ink3.xml" ContentType="application/inkml+xml"/>
  <Override PartName="/ppt/ink/ink4.xml" ContentType="application/inkml+xml"/>
  <Override PartName="/ppt/notesSlides/notesSlide149.xml" ContentType="application/vnd.openxmlformats-officedocument.presentationml.notesSlide+xml"/>
  <Override PartName="/ppt/ink/ink5.xml" ContentType="application/inkml+xml"/>
  <Override PartName="/ppt/ink/ink6.xml" ContentType="application/inkml+xml"/>
  <Override PartName="/ppt/ink/ink7.xml" ContentType="application/inkml+xml"/>
  <Override PartName="/ppt/ink/ink8.xml" ContentType="application/inkml+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ink/ink9.xml" ContentType="application/inkml+xml"/>
  <Override PartName="/ppt/ink/ink10.xml" ContentType="application/inkml+xml"/>
  <Override PartName="/ppt/ink/ink11.xml" ContentType="application/inkml+xml"/>
  <Override PartName="/ppt/ink/ink12.xml" ContentType="application/inkml+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1"/>
  </p:sldMasterIdLst>
  <p:notesMasterIdLst>
    <p:notesMasterId r:id="rId173"/>
  </p:notesMasterIdLst>
  <p:sldIdLst>
    <p:sldId id="258" r:id="rId2"/>
    <p:sldId id="283" r:id="rId3"/>
    <p:sldId id="284" r:id="rId4"/>
    <p:sldId id="285" r:id="rId5"/>
    <p:sldId id="354" r:id="rId6"/>
    <p:sldId id="353" r:id="rId7"/>
    <p:sldId id="355" r:id="rId8"/>
    <p:sldId id="356" r:id="rId9"/>
    <p:sldId id="357" r:id="rId10"/>
    <p:sldId id="358" r:id="rId11"/>
    <p:sldId id="359" r:id="rId12"/>
    <p:sldId id="360" r:id="rId13"/>
    <p:sldId id="361" r:id="rId14"/>
    <p:sldId id="362" r:id="rId15"/>
    <p:sldId id="363" r:id="rId16"/>
    <p:sldId id="364" r:id="rId17"/>
    <p:sldId id="365" r:id="rId18"/>
    <p:sldId id="366" r:id="rId19"/>
    <p:sldId id="367" r:id="rId20"/>
    <p:sldId id="368" r:id="rId21"/>
    <p:sldId id="369" r:id="rId22"/>
    <p:sldId id="370" r:id="rId23"/>
    <p:sldId id="371" r:id="rId24"/>
    <p:sldId id="372" r:id="rId25"/>
    <p:sldId id="373" r:id="rId26"/>
    <p:sldId id="374" r:id="rId27"/>
    <p:sldId id="375" r:id="rId28"/>
    <p:sldId id="376" r:id="rId29"/>
    <p:sldId id="377" r:id="rId30"/>
    <p:sldId id="378" r:id="rId31"/>
    <p:sldId id="379" r:id="rId32"/>
    <p:sldId id="380" r:id="rId33"/>
    <p:sldId id="381" r:id="rId34"/>
    <p:sldId id="382" r:id="rId35"/>
    <p:sldId id="383" r:id="rId36"/>
    <p:sldId id="384" r:id="rId37"/>
    <p:sldId id="385" r:id="rId38"/>
    <p:sldId id="386" r:id="rId39"/>
    <p:sldId id="387" r:id="rId40"/>
    <p:sldId id="388" r:id="rId41"/>
    <p:sldId id="389" r:id="rId42"/>
    <p:sldId id="390" r:id="rId43"/>
    <p:sldId id="391" r:id="rId44"/>
    <p:sldId id="392" r:id="rId45"/>
    <p:sldId id="393" r:id="rId46"/>
    <p:sldId id="394" r:id="rId47"/>
    <p:sldId id="395" r:id="rId48"/>
    <p:sldId id="396" r:id="rId49"/>
    <p:sldId id="397" r:id="rId50"/>
    <p:sldId id="398" r:id="rId51"/>
    <p:sldId id="399" r:id="rId52"/>
    <p:sldId id="400" r:id="rId53"/>
    <p:sldId id="402" r:id="rId54"/>
    <p:sldId id="403" r:id="rId55"/>
    <p:sldId id="404" r:id="rId56"/>
    <p:sldId id="405" r:id="rId57"/>
    <p:sldId id="406" r:id="rId58"/>
    <p:sldId id="407" r:id="rId59"/>
    <p:sldId id="408" r:id="rId60"/>
    <p:sldId id="409" r:id="rId61"/>
    <p:sldId id="410" r:id="rId62"/>
    <p:sldId id="415" r:id="rId63"/>
    <p:sldId id="416" r:id="rId64"/>
    <p:sldId id="411" r:id="rId65"/>
    <p:sldId id="412" r:id="rId66"/>
    <p:sldId id="413" r:id="rId67"/>
    <p:sldId id="414" r:id="rId68"/>
    <p:sldId id="417" r:id="rId69"/>
    <p:sldId id="418" r:id="rId70"/>
    <p:sldId id="419" r:id="rId71"/>
    <p:sldId id="420" r:id="rId72"/>
    <p:sldId id="421" r:id="rId73"/>
    <p:sldId id="422" r:id="rId74"/>
    <p:sldId id="423" r:id="rId75"/>
    <p:sldId id="424" r:id="rId76"/>
    <p:sldId id="425" r:id="rId77"/>
    <p:sldId id="426" r:id="rId78"/>
    <p:sldId id="427" r:id="rId79"/>
    <p:sldId id="428" r:id="rId80"/>
    <p:sldId id="429" r:id="rId81"/>
    <p:sldId id="430" r:id="rId82"/>
    <p:sldId id="431" r:id="rId83"/>
    <p:sldId id="432" r:id="rId84"/>
    <p:sldId id="433" r:id="rId85"/>
    <p:sldId id="434" r:id="rId86"/>
    <p:sldId id="435" r:id="rId87"/>
    <p:sldId id="436" r:id="rId88"/>
    <p:sldId id="437" r:id="rId89"/>
    <p:sldId id="438" r:id="rId90"/>
    <p:sldId id="439" r:id="rId91"/>
    <p:sldId id="440" r:id="rId92"/>
    <p:sldId id="442" r:id="rId93"/>
    <p:sldId id="443" r:id="rId94"/>
    <p:sldId id="444" r:id="rId95"/>
    <p:sldId id="445" r:id="rId96"/>
    <p:sldId id="446" r:id="rId97"/>
    <p:sldId id="447" r:id="rId98"/>
    <p:sldId id="448" r:id="rId99"/>
    <p:sldId id="449" r:id="rId100"/>
    <p:sldId id="450" r:id="rId101"/>
    <p:sldId id="451" r:id="rId102"/>
    <p:sldId id="452" r:id="rId103"/>
    <p:sldId id="453" r:id="rId104"/>
    <p:sldId id="454" r:id="rId105"/>
    <p:sldId id="455" r:id="rId106"/>
    <p:sldId id="456" r:id="rId107"/>
    <p:sldId id="457" r:id="rId108"/>
    <p:sldId id="458" r:id="rId109"/>
    <p:sldId id="459" r:id="rId110"/>
    <p:sldId id="460" r:id="rId111"/>
    <p:sldId id="461" r:id="rId112"/>
    <p:sldId id="462" r:id="rId113"/>
    <p:sldId id="463" r:id="rId114"/>
    <p:sldId id="464" r:id="rId115"/>
    <p:sldId id="468" r:id="rId116"/>
    <p:sldId id="465" r:id="rId117"/>
    <p:sldId id="466" r:id="rId118"/>
    <p:sldId id="467" r:id="rId119"/>
    <p:sldId id="469" r:id="rId120"/>
    <p:sldId id="470" r:id="rId121"/>
    <p:sldId id="471" r:id="rId122"/>
    <p:sldId id="472" r:id="rId123"/>
    <p:sldId id="473" r:id="rId124"/>
    <p:sldId id="474" r:id="rId125"/>
    <p:sldId id="475" r:id="rId126"/>
    <p:sldId id="476" r:id="rId127"/>
    <p:sldId id="477" r:id="rId128"/>
    <p:sldId id="478" r:id="rId129"/>
    <p:sldId id="480" r:id="rId130"/>
    <p:sldId id="481" r:id="rId131"/>
    <p:sldId id="482" r:id="rId132"/>
    <p:sldId id="483" r:id="rId133"/>
    <p:sldId id="484" r:id="rId134"/>
    <p:sldId id="485" r:id="rId135"/>
    <p:sldId id="486" r:id="rId136"/>
    <p:sldId id="487" r:id="rId137"/>
    <p:sldId id="488" r:id="rId138"/>
    <p:sldId id="489" r:id="rId139"/>
    <p:sldId id="490" r:id="rId140"/>
    <p:sldId id="491" r:id="rId141"/>
    <p:sldId id="495" r:id="rId142"/>
    <p:sldId id="493" r:id="rId143"/>
    <p:sldId id="494" r:id="rId144"/>
    <p:sldId id="496" r:id="rId145"/>
    <p:sldId id="497" r:id="rId146"/>
    <p:sldId id="498" r:id="rId147"/>
    <p:sldId id="499" r:id="rId148"/>
    <p:sldId id="500" r:id="rId149"/>
    <p:sldId id="501" r:id="rId150"/>
    <p:sldId id="502" r:id="rId151"/>
    <p:sldId id="503" r:id="rId152"/>
    <p:sldId id="504" r:id="rId153"/>
    <p:sldId id="505" r:id="rId154"/>
    <p:sldId id="506" r:id="rId155"/>
    <p:sldId id="479" r:id="rId156"/>
    <p:sldId id="507" r:id="rId157"/>
    <p:sldId id="508" r:id="rId158"/>
    <p:sldId id="509" r:id="rId159"/>
    <p:sldId id="510" r:id="rId160"/>
    <p:sldId id="511" r:id="rId161"/>
    <p:sldId id="512" r:id="rId162"/>
    <p:sldId id="513" r:id="rId163"/>
    <p:sldId id="514" r:id="rId164"/>
    <p:sldId id="515" r:id="rId165"/>
    <p:sldId id="516" r:id="rId166"/>
    <p:sldId id="517" r:id="rId167"/>
    <p:sldId id="518" r:id="rId168"/>
    <p:sldId id="519" r:id="rId169"/>
    <p:sldId id="520" r:id="rId170"/>
    <p:sldId id="522" r:id="rId171"/>
    <p:sldId id="521" r:id="rId17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7B6AAEF-3415-5D22-AFDC-F31A005CEED7}" name="Joe Rutz" initials="JR" userId="S::joe.rutz@leancoachingllc.com::74172d3c-f68f-4a41-af3d-37d02d9c9662"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22222"/>
    <a:srgbClr val="FFB627"/>
    <a:srgbClr val="177E89"/>
    <a:srgbClr val="8EDCE6"/>
    <a:srgbClr val="F1BF98"/>
    <a:srgbClr val="2EC4B6"/>
    <a:srgbClr val="BDDBD0"/>
    <a:srgbClr val="2D7DD2"/>
    <a:srgbClr val="62929E"/>
    <a:srgbClr val="B3DEE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652" autoAdjust="0"/>
    <p:restoredTop sz="81830" autoAdjust="0"/>
  </p:normalViewPr>
  <p:slideViewPr>
    <p:cSldViewPr snapToGrid="0">
      <p:cViewPr varScale="1">
        <p:scale>
          <a:sx n="52" d="100"/>
          <a:sy n="52" d="100"/>
        </p:scale>
        <p:origin x="1082" y="36"/>
      </p:cViewPr>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 d="1"/>
        <a:sy n="1" d="1"/>
      </p:scale>
      <p:origin x="0" y="0"/>
    </p:cViewPr>
  </p:sorterViewPr>
  <p:notesViewPr>
    <p:cSldViewPr snapToGrid="0">
      <p:cViewPr varScale="1">
        <p:scale>
          <a:sx n="62" d="100"/>
          <a:sy n="62" d="100"/>
        </p:scale>
        <p:origin x="3226" y="77"/>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tableStyles" Target="tableStyles.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microsoft.com/office/2018/10/relationships/authors" Target="author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notesMaster" Target="notesMasters/notesMaster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presProps" Target="pres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viewProps" Target="viewProps.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theme" Target="theme/theme1.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 Type="http://schemas.openxmlformats.org/officeDocument/2006/relationships/slideMaster" Target="slideMasters/slideMaster1.xml"/></Relationships>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00.556"/>
    </inkml:context>
    <inkml:brush xml:id="br0">
      <inkml:brushProperty name="width" value="0.05" units="cm"/>
      <inkml:brushProperty name="height" value="0.05" units="cm"/>
      <inkml:brushProperty name="color" value="#E71224"/>
    </inkml:brush>
  </inkml:definitions>
  <inkml:trace contextRef="#ctx0" brushRef="#br0">0 8491 24575,'33'0'0,"-1"2"0,0 1 0,0 1 0,36 11 0,-33-6 0,1-2 0,41 2 0,-20-4 0,64 14 0,-75-10 0,1-2 0,77 2 0,-90-9 0,-1 2 0,1 2 0,0 1 0,55 15 0,-56-13 0,0-2 0,1-1 0,60-2 0,-22 0 0,63 13 0,-89-8 0,69 2 0,797-10 0,-904 0 0,0 0 0,0 0 0,0 0 0,0-1 0,-1-1 0,1 1 0,-1-1 0,1 0 0,-1-1 0,12-7 0,7-7 0,33-31 0,-20 17 0,158-107 0,-66 50 0,-101 66 0,0-2 0,-2-1 0,-1-1 0,-1-1 0,27-38 0,-44 52 0,0-1 0,-2 0 0,1 0 0,-2 0 0,0-1 0,7-32 0,10-103 0,-18 115 0,13-198 0,-13-259 0,-6 273 0,0 142 0,5-134 0,-1 180 0,1 0 0,2 1 0,1-1 0,16-46 0,-9 41 0,34-77 0,-41 99 0,1 1 0,1 0 0,0 1 0,1 0 0,18-19 0,1 4 0,82-75 0,-93 89 0,0 0 0,1 2 0,0 0 0,38-16 0,47-12 0,-21 8 0,-1-3 0,79-46 0,-58 20 0,176-75 0,91-3 0,-267 107 0,178-31 0,-148 42 0,468-58 0,-47 16 0,-191 27 0,-49 8 0,-198 5 0,152-49 0,-209 55 0,371-140 0,-197 67 0,-7-3 0,-130 50 0,2 5 0,124-32 0,-96 42 0,247-65 0,-315 74 0,0-3 0,-1-2 0,-2-2 0,67-43 0,36-43 0,161-149 0,-176 151 0,-28 28 0,-86 65 0,-1-2 0,-1-1 0,47-46 0,-22 7 0,-3-1 0,-3-3 0,65-117 0,-82 125 0,-3-2 0,-3 0 0,-2-2 0,-2-1 0,12-70 0,-15 26 0,-4-1 0,-2-159 0,-10 249 0,-11-293 0,5 247 0,-2 0 0,-3 1 0,-19-60 0,22 99 0,0 1 0,-1-1 0,-1 1 0,-1 1 0,-1 0 0,-24-29 0,-97-92 0,20 25 0,-4-39 0,-1-1 0,99 132 0,-2 2 0,0 0 0,-2 1 0,-35-24 0,-34-9 0,-167-72 0,115 60 0,-23-16 0,-233-103 0,305 147 0,-2 3 0,-132-27 0,158 46 0,-206-37 0,202 41 0,-134 0 0,-359 40 0,481-23 0,-260 40 0,5 26 0,250-52 0,10-1 0,-540 105 0,-187-29 0,671-83 0,-603 59 0,92-31 0,-2-40 0,296-2 0,-1526 2 0,1838 0 0,0 1 0,0 2 0,1 2 0,-44 11 0,70-11 0,1 0 0,0 0 0,0 1 0,0 1 0,0 1 0,1 0 0,1 1 0,-1 0 0,1 1 0,1 0 0,0 1 0,1 1 0,-20 24 0,11-5 0,1 1 0,-26 64 0,-14 23 0,45-90 0,1-1 0,-18 57 0,2-2 0,14-43 0,3 1 0,-13 67 0,-3 89 0,24-163 0,-5 65 0,7-61 0,-1 0 0,-2-1 0,-2 0 0,-13 43 0,-1-19 0,3 1 0,3 1 0,-7 66 0,17-86 0,3 1 0,1-1 0,2 1 0,3-1 0,11 63 0,23 154 0,-13-73 0,-6-81 0,0-2 0,-4 1 0,2 133 0,-15-110 0,27 185 0,-9 43 0,-12-108 0,8-90 0,6 158 0,-14-54 0,-2 130 0,-21-254 0,0-2 0,15 86 0,-2 29 0,-1-229 0,-1 0 0,0 0 0,-2 0 0,-13 32 0,7-24 0,-7 40 0,9-2 0,3 0 0,4 1 0,6 92 0,0-24 0,-4-103 0,-2 0 0,-1 0 0,-1-1 0,-15 49 0,13-54 0,1 1 0,2 0 0,-1 38 0,7 92 0,1-53 0,-1 34 0,0-27 0,-13 131 0,-1-177-1365,6-44-5461</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17.459"/>
    </inkml:context>
    <inkml:brush xml:id="br0">
      <inkml:brushProperty name="width" value="0.05" units="cm"/>
      <inkml:brushProperty name="height" value="0.05" units="cm"/>
      <inkml:brushProperty name="color" value="#E71224"/>
    </inkml:brush>
  </inkml:definitions>
  <inkml:trace contextRef="#ctx0" brushRef="#br0">84 264 24575,'0'30'0,"0"5"0,1-1 0,2 0 0,9 44 0,-2-15 0,-3-1 0,-3 1 0,-6 105 0,0-55 0,-12 218 0,8 91 0,9-240 0,-21 159 0,3-102 0,11-193 0,-2 0 0,-17 62 0,12-65 0,3 0 0,-6 78 0,13-85 0,2 0 0,2 0 0,1 0 0,2 0 0,1-1 0,2 0 0,1 0 0,28 62 0,-21-69 0,0-1 0,1 0 0,33 34 0,-23-28 0,109 111 0,-114-121 0,39 21 0,-61-43 0,0 0 0,0 0 0,0 0 0,0 0 0,0 0 0,1 0 0,-1 0 0,0 0 0,1-1 0,-1 1 0,0-1 0,1 1 0,-1-1 0,1 1 0,-1-1 0,1 0 0,-1 0 0,1 0 0,-1 1 0,1-2 0,2 1 0,-2 0 0,0 0 0,0 0 0,1 0 0,-1 0 0,0 1 0,1-1 0,-1 1 0,0-1 0,0 1 0,3 1 0,16 10 0,-19-9 0,1-2 0,0 1 0,0 0 0,0 0 0,0-1 0,1 0 0,-1 1 0,0-1 0,0-1 0,1 1 0,-1 0 0,5 0 0,85 7 0,27 0 0,-10 0 0,-74-4 0,48 0 0,486-6 0,-287 4 0,-255-5 0,-1 0 0,0-1 0,0-2 0,49-16 0,-37 10 0,50-9 0,227-3 0,-201 20 0,-101 2 0,-1 1 0,0-2 0,1 0 0,-1 0 0,0-2 0,13-5 0,74-41 0,-36 16 0,-37 21 0,2 2 0,-1 0 0,1 2 0,1 1 0,0 1 0,48-6 0,-2 7 0,0-3 0,100-28 0,-154 31 0,34-17 0,13-5 0,125-39 0,196-58 0,-262 91 0,-47 11 0,132-20 0,-82 33 0,-77 8 0,0-3 0,0-2 0,83-22 0,-78 9 0,-17 6 0,1 1 0,0 3 0,65-10 0,-64 17 0,151-22 0,-171 20 0,0 0 0,-1-1 0,0-2 0,0 0 0,0-2 0,21-13 0,65-44 0,3 5 0,140-57 0,-62 46 0,-141 53 0,-39 16 0,0 1 0,0 0 0,1 0 0,-1 0 0,1 2 0,0-1 0,21-1 0,143-10 0,-141 12 0,0-1 0,33-8 0,10-1 0,320-8 0,-84 10 0,185 0 0,-54 3 0,199-1 0,-391 10 0,687-2 0,-886 3 0,97 17 0,7 1 0,420-14 0,-334-9 0,971 2 0,-1190 1 0,0 2 0,0 1 0,0 1 0,32 11 0,10 1 0,16-2 0,0-4 0,154 0 0,-199-11 0,61 7 0,134 27 0,-90-11 0,184 11 0,-207-19 0,-76-8 0,44 2 0,-31-7 0,-1 2 0,1 2 0,57 15 0,92 18 0,-106-22 0,-43-10 0,0-3 0,77-2 0,-76-4 0,1 4 0,66 9 0,3 18 0,-87-19 0,0-1 0,0-1 0,79 2 0,106-9 0,142-4 0,-333 0 0,-1-1 0,0-1 0,-1-2 0,1-1 0,61-25 0,146-86 0,-61 28 0,-162 81 0,0 1 0,23-19 0,-28 19 0,0 0 0,0 1 0,1 0 0,0 2 0,22-10 0,-21 11 0,-1-2 0,1 0 0,-1-1 0,0 0 0,-1-1 0,1 0 0,-2-1 0,0 0 0,14-17 0,-4 6 0,9-8 0,-2-2 0,-1-1 0,-2-1 0,32-54 0,-43 63 0,-2 0 0,-1-2 0,-1 1 0,-2-1 0,0-1 0,-1 1 0,4-51 0,-5 21 0,0 5 0,-3 0 0,-4-66 0,1 111 0,-1 1 0,0 0 0,-1 0 0,1 0 0,-1 0 0,0 1 0,0-1 0,-1 0 0,0 1 0,1 0 0,-5-5 0,-44-45 0,39 44 0,1-2 0,-20-23 0,5-8 0,-26-59 0,32 60 0,-46-72 0,56 102 0,0 0 0,-1 1 0,0 0 0,-1 0 0,0 1 0,0 1 0,-1 0 0,0 1 0,-20-9 0,-17-5 0,-70-21 0,59 23 0,-70-21 0,67 23 0,-81-36 0,101 38 0,-1 1 0,0 3 0,-94-14 0,55 11 0,-361-78 0,4 1 0,-132-33 0,451 96 0,-7-2 0,-209-42 0,-145-14 0,68 45 0,214 28 0,-158-3 0,24 3 0,-445-2 0,513 18 0,-76-4 0,-365 4 0,496 6 0,-99 2 0,227-6 0,0 4 0,-91 21 0,-43 5 0,78-14 0,-223 62 0,203-42 0,-143 45 0,159-37 0,-2-6 0,-291 45 0,164-53 0,7-6 0,1 0 0,-16-7 0,86-10 0,-277 8 0,190-12 0,-206 4 0,77-3 0,-228-4 0,391-5 0,-211-23 0,261 9 0,-12-4 0,-104-5 0,-99 0 0,-52-1 0,105 8 0,195 5 0,-363 7 0,296 7 0,115 0 0,-126-4 0,235 0-170,0 1-1,1-1 0,0 0 1,-1 0-1,1-1 0,0 0 1,-11-7-1,-7-4-6655</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38.022"/>
    </inkml:context>
    <inkml:brush xml:id="br0">
      <inkml:brushProperty name="width" value="0.05" units="cm"/>
      <inkml:brushProperty name="height" value="0.05" units="cm"/>
      <inkml:brushProperty name="color" value="#E71224"/>
    </inkml:brush>
  </inkml:definitions>
  <inkml:trace contextRef="#ctx0" brushRef="#br0">495 5910 24575,'27'13'0,"-11"-7"0,42 21 0,1-3 0,87 25 0,128 17 0,-57-16 0,287 74 0,-206-54 0,353 35 0,-330-83 0,-197-17 0,208 35 0,-154-4 0,339 25 0,-136-54 0,-81-3 0,533-17 0,31-81 0,-683 63 0,-2-9 0,314-112 0,-267 73 0,290-63 0,170-19 0,-610 141 0,107-45 0,-149 50 0,-1-1 0,-1-2 0,0-1 0,-1-2 0,37-33 0,6-14 0,116-139 0,-159 168 0,-2-2 0,-1-2 0,-2 0 0,-2-1 0,-3-2 0,-1 0 0,24-85 0,-33 89 0,15-59 0,51-125 0,-63 189 0,-2-1 0,-1 0 0,11-77 0,-3-116 0,-15-166 0,-20 245 0,3 40 0,4 15 0,-4 0 0,-33-121 0,2 89 0,5 16 0,23 56 0,-52-149 0,57 179 0,-2 0 0,-1 1 0,0 1 0,-2 0 0,-28-32 0,-41-29 0,63 66 0,0-1 0,1-1 0,2-1 0,-29-42 0,-43-95 0,-44-74 0,121 214 0,0 0 0,-2 1 0,-1 0 0,0 1 0,-1 1 0,-39-28 0,-134-71 0,48 32 0,101 57 0,1-2 0,-51-49 0,17 10 0,-2 4 0,-102-65 0,-184-86 0,360 213 0,-33-18 0,0 1 0,-1 2 0,-62-19 0,-166-24 0,21 6 0,-241-38 0,278 58 0,-21-8 0,-280-43 0,291 53 0,-153-16 0,28 15 0,-388-88 0,656 107 0,-106-5 0,-78 12 0,-26-3 0,-467-22 0,479 30 0,-212 5 0,445 1 0,0 1 0,0 2 0,-41 14 0,32-8 0,-62 8 0,-125-11 0,154-9 0,-126 16 0,46 18 0,104-20 0,-1-3 0,-98 8 0,131-19 0,1 1 0,0 2 0,-1 0 0,2 1 0,-1 2 0,1 1 0,0 0 0,0 2 0,-30 17 0,38-19 0,-15 9 0,-33 23 0,55-34 0,-1 1 0,1 0 0,1 1 0,-1 0 0,1 0 0,1 0 0,-1 1 0,-5 10 0,11-14 0,0 1 0,0 0 0,0-1 0,0 1 0,1 0 0,0 0 0,0-1 0,1 1 0,1 7 0,-1 11 0,-1 684 0,4-642 0,3 1 0,22 93 0,-26-147 0,12 75 0,-3 0 0,1 174 0,-10-201 0,3-1 0,2 0 0,3 0 0,21 63 0,15 84 0,-32-123 0,13 99 0,33 154 0,-17-108 0,-34-186 0,14 45 0,-13-55 0,-2 1 0,-1 0 0,3 35 0,-4 41 0,5 55 0,-8-139 0,2-1 0,1 0 0,1 0 0,13 28 0,-12-34 0,-1 1 0,-1 0 0,0 1 0,-2 0 0,0 0 0,-2 0 0,2 25 0,2 203 0,-2-190 0,3-1 0,19 70 0,-21-99 0,-2 1 0,0 0 0,-2-1 0,-2 42 0,2 29 0,5-28 0,2 42 0,-10-71 0,2-1 0,2 0 0,13 65 0,-9-60 0,-1 0 0,-2 1 0,-6 93 0,0-44 0,2-71-1365</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8:04.927"/>
    </inkml:context>
    <inkml:brush xml:id="br0">
      <inkml:brushProperty name="width" value="0.05" units="cm"/>
      <inkml:brushProperty name="height" value="0.05" units="cm"/>
      <inkml:brushProperty name="color" value="#E71224"/>
    </inkml:brush>
  </inkml:definitions>
  <inkml:trace contextRef="#ctx0" brushRef="#br0">249 3842 24575,'-1'7'0,"0"0"0,-1-1 0,0 1 0,0-1 0,-1 0 0,0 0 0,0 0 0,-5 8 0,-4 8 0,1-1 0,1 1 0,1 0 0,1 1 0,1 0 0,1 0 0,1 1 0,-3 41 0,-14 190 0,11-152 0,1-38 0,-18 67 0,13-71 0,-9 81 0,8-23 0,-3 29 0,17 208 0,4-181 0,-2-149 0,0 0 0,2-1 0,9 41 0,-8-54 0,0-1 0,1-1 0,0 1 0,1 0 0,0-1 0,1 0 0,0-1 0,1 1 0,0-1 0,12 12 0,31 37 0,-35-39 0,1-1 0,0 0 0,35 28 0,-45-43 0,0 0 0,1 0 0,-1 0 0,1-1 0,0 0 0,-1 0 0,1-1 0,0 1 0,0-2 0,0 1 0,0-1 0,8 0 0,-4 0 0,0 0 0,1 1 0,18 4 0,122 25 0,-125-25 0,0 0 0,0-2 0,33 0 0,1 1 0,411 4 0,-280-10 0,1340 2 0,-1223-17 0,3 0 0,213 6 0,-314 7 0,178-12 0,-48 2 0,-159 10 0,-60-9 0,-16 0 0,257 7 0,-6 0 0,536-6 0,-563 15 0,51-6 0,394 6 0,-599 4 0,83 2 0,-173-5 0,142 25 0,36 3 0,-76-32 0,-110-2 0,0 3 0,84 13 0,-43-1 0,1-6 0,122-7 0,38 1 0,-164 4 0,220 5 0,790-10 0,-931-8 0,11 0 0,-176 6 0,0-1 0,-1-2 0,0 0 0,39-14 0,-27 8 0,52-8 0,229-28 0,-274 41 0,58-15 0,-83 15 0,-2-1 0,1-1 0,-1-1 0,36-21 0,199-97 0,-72 40 0,-144 66 0,-1-3 0,52-41 0,-84 60 0,47-40 0,109-67 0,-55 48 0,68-37 0,-164 96 0,227-119 0,-208 104 0,0 0 0,-1-2 0,-2-1 0,0-2 0,31-35 0,158-192 0,-123 150 0,-65 73 0,-1 0 0,-2-2 0,-1-1 0,33-56 0,-43 57 0,-1-1 0,-2-1 0,-1 0 0,8-44 0,14-139 0,-31 197 0,5-75 0,-6-134 0,-3 96 0,-7-76 0,0-5 0,7 195 0,0 0 0,-1 0 0,-1 0 0,-1 0 0,0 1 0,-10-21 0,-11-42 0,-75-312 0,96 361 0,0-1 0,2 0 0,2-59 0,-1-21 0,-8 34 0,-35-132 0,11 61 0,25 68 0,8 64 0,0-1 0,-2 1 0,0 0 0,-9-30 0,8 32 0,0 1 0,1-1 0,1 1 0,1-1 0,-1-28 0,3 30 0,-1-1 0,-1 1 0,-1-1 0,0 1 0,0 0 0,-1 0 0,-9-24 0,-125-285 0,114 264 0,17 46 0,0-1 0,-1 1 0,-1 0 0,0 1 0,-15-18 0,-54-48 0,65 67 0,-14-11 0,-1 0 0,-1 3 0,-53-28 0,24 15 0,-16-13 0,-77-60 0,114 76 0,-157-114 0,157 119 0,0 2 0,-1 2 0,-69-26 0,14 16 0,-159-28 0,175 38 0,50 12 0,-42-8 0,7 8 0,-412-39 0,307 25 0,9 0 0,-991-17 0,1054 38 0,-537 12 0,596-10 0,0 2 0,0 1 0,0 2 0,-63 20 0,-317 114 0,361-118 0,2 2 0,1 3 0,-73 51 0,-24 14 0,61-50 0,-1-4 0,-123 38 0,-51 19 0,211-75 0,-2-2 0,-1-3 0,-70 12 0,28-14 0,-99 3 0,155-13 0,-44 9 0,-5 2 0,61-10 0,1 1 0,0 2 0,1 0 0,0 2 0,-28 15 0,-64 22 0,-89 5 0,19-5 0,-87 30 0,247-70 0,-1-1 0,1-2 0,-42 3 0,-87-8 0,-15 0 0,146 4 0,-41 10 0,42-7 0,-40 4 0,23-7 0,1-2 0,-1-2 0,1-1 0,0-3 0,0-1 0,-65-18 0,76 16 0,-1 2 0,-46-5 0,0 1 0,68 8 0,-53-8 0,-120-7 0,82 13 0,-150-25 0,198 18 0,-58-19 0,58 14 0,-54-9 0,-41 8 0,-276 4 0,337 13 0,60 3 0,0 0 0,0 1 0,1 2 0,0 1 0,-31 12 0,-4 0 0,-366 132 0,297-95 0,-82 29 0,109-50 0,60-19 0,-1-2 0,-80 16 0,41-20 0,-50 8 0,-18 22 0,18-16 0,-11 3 0,-162 10 0,181-21 0,82-9 0,-59 2 0,55-6 0,0 2 0,-48 12 0,-14 1 0,55-13 0,40-5 0,0 1 0,0 0 0,0 1 0,1 0 0,-1 1 0,0 1 0,1 0 0,-15 7 0,-59 26 0,60-27 0,-45 23 0,10 6 0,-68 58 0,-2 1 0,-58 33 0,151-101 0,-61 63 0,68-61 0,-2-1 0,-53 38 0,72-58 0,0 0 0,1 2 0,0-1 0,1 1 0,0 1 0,1 0 0,1 1 0,0 0 0,1 1 0,1 0 0,-13 33 0,9-16 0,2 1 0,2 1 0,1-1 0,1 1 0,0 42 0,6 55 0,0 14 0,-2-129 0,-1 1 0,-1-1 0,-10 30 0,8-28 0,0-1 0,2 1 0,-3 20 0,5-22 0,-4 47 0,-21 93 0,22-137 0,-1 1 0,-1-1 0,-1 0 0,-1-1 0,-1 0 0,0 0 0,-1-1 0,-21 25 0,-230 249 0,235-254 0,25-36 0,1 0 0,0 0 0,0 0 0,0 0 0,0 0 0,1 0 0,-1 0 0,1 1 0,-1-1 0,1 0 0,-1 0 0,1 0 0,0 1 0,0-1 0,0 0 0,1 0 0,-1 0 0,1 5 0,2-9-1365</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00.556"/>
    </inkml:context>
    <inkml:brush xml:id="br0">
      <inkml:brushProperty name="width" value="0.05" units="cm"/>
      <inkml:brushProperty name="height" value="0.05" units="cm"/>
      <inkml:brushProperty name="color" value="#E71224"/>
    </inkml:brush>
  </inkml:definitions>
  <inkml:trace contextRef="#ctx0" brushRef="#br0">0 8491 24575,'33'0'0,"-1"2"0,0 1 0,0 1 0,36 11 0,-33-6 0,1-2 0,41 2 0,-20-4 0,64 14 0,-75-10 0,1-2 0,77 2 0,-90-9 0,-1 2 0,1 2 0,0 1 0,55 15 0,-56-13 0,0-2 0,1-1 0,60-2 0,-22 0 0,63 13 0,-89-8 0,69 2 0,797-10 0,-904 0 0,0 0 0,0 0 0,0 0 0,0-1 0,-1-1 0,1 1 0,-1-1 0,1 0 0,-1-1 0,12-7 0,7-7 0,33-31 0,-20 17 0,158-107 0,-66 50 0,-101 66 0,0-2 0,-2-1 0,-1-1 0,-1-1 0,27-38 0,-44 52 0,0-1 0,-2 0 0,1 0 0,-2 0 0,0-1 0,7-32 0,10-103 0,-18 115 0,13-198 0,-13-259 0,-6 273 0,0 142 0,5-134 0,-1 180 0,1 0 0,2 1 0,1-1 0,16-46 0,-9 41 0,34-77 0,-41 99 0,1 1 0,1 0 0,0 1 0,1 0 0,18-19 0,1 4 0,82-75 0,-93 89 0,0 0 0,1 2 0,0 0 0,38-16 0,47-12 0,-21 8 0,-1-3 0,79-46 0,-58 20 0,176-75 0,91-3 0,-267 107 0,178-31 0,-148 42 0,468-58 0,-47 16 0,-191 27 0,-49 8 0,-198 5 0,152-49 0,-209 55 0,371-140 0,-197 67 0,-7-3 0,-130 50 0,2 5 0,124-32 0,-96 42 0,247-65 0,-315 74 0,0-3 0,-1-2 0,-2-2 0,67-43 0,36-43 0,161-149 0,-176 151 0,-28 28 0,-86 65 0,-1-2 0,-1-1 0,47-46 0,-22 7 0,-3-1 0,-3-3 0,65-117 0,-82 125 0,-3-2 0,-3 0 0,-2-2 0,-2-1 0,12-70 0,-15 26 0,-4-1 0,-2-159 0,-10 249 0,-11-293 0,5 247 0,-2 0 0,-3 1 0,-19-60 0,22 99 0,0 1 0,-1-1 0,-1 1 0,-1 1 0,-1 0 0,-24-29 0,-97-92 0,20 25 0,-4-39 0,-1-1 0,99 132 0,-2 2 0,0 0 0,-2 1 0,-35-24 0,-34-9 0,-167-72 0,115 60 0,-23-16 0,-233-103 0,305 147 0,-2 3 0,-132-27 0,158 46 0,-206-37 0,202 41 0,-134 0 0,-359 40 0,481-23 0,-260 40 0,5 26 0,250-52 0,10-1 0,-540 105 0,-187-29 0,671-83 0,-603 59 0,92-31 0,-2-40 0,296-2 0,-1526 2 0,1838 0 0,0 1 0,0 2 0,1 2 0,-44 11 0,70-11 0,1 0 0,0 0 0,0 1 0,0 1 0,0 1 0,1 0 0,1 1 0,-1 0 0,1 1 0,1 0 0,0 1 0,1 1 0,-20 24 0,11-5 0,1 1 0,-26 64 0,-14 23 0,45-90 0,1-1 0,-18 57 0,2-2 0,14-43 0,3 1 0,-13 67 0,-3 89 0,24-163 0,-5 65 0,7-61 0,-1 0 0,-2-1 0,-2 0 0,-13 43 0,-1-19 0,3 1 0,3 1 0,-7 66 0,17-86 0,3 1 0,1-1 0,2 1 0,3-1 0,11 63 0,23 154 0,-13-73 0,-6-81 0,0-2 0,-4 1 0,2 133 0,-15-110 0,27 185 0,-9 43 0,-12-108 0,8-90 0,6 158 0,-14-54 0,-2 130 0,-21-254 0,0-2 0,15 86 0,-2 29 0,-1-229 0,-1 0 0,0 0 0,-2 0 0,-13 32 0,7-24 0,-7 40 0,9-2 0,3 0 0,4 1 0,6 92 0,0-24 0,-4-103 0,-2 0 0,-1 0 0,-1-1 0,-15 49 0,13-54 0,1 1 0,2 0 0,-1 38 0,7 92 0,1-53 0,-1 34 0,0-27 0,-13 131 0,-1-177-1365,6-44-5461</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17.459"/>
    </inkml:context>
    <inkml:brush xml:id="br0">
      <inkml:brushProperty name="width" value="0.05" units="cm"/>
      <inkml:brushProperty name="height" value="0.05" units="cm"/>
      <inkml:brushProperty name="color" value="#E71224"/>
    </inkml:brush>
  </inkml:definitions>
  <inkml:trace contextRef="#ctx0" brushRef="#br0">84 264 24575,'0'30'0,"0"5"0,1-1 0,2 0 0,9 44 0,-2-15 0,-3-1 0,-3 1 0,-6 105 0,0-55 0,-12 218 0,8 91 0,9-240 0,-21 159 0,3-102 0,11-193 0,-2 0 0,-17 62 0,12-65 0,3 0 0,-6 78 0,13-85 0,2 0 0,2 0 0,1 0 0,2 0 0,1-1 0,2 0 0,1 0 0,28 62 0,-21-69 0,0-1 0,1 0 0,33 34 0,-23-28 0,109 111 0,-114-121 0,39 21 0,-61-43 0,0 0 0,0 0 0,0 0 0,0 0 0,0 0 0,1 0 0,-1 0 0,0 0 0,1-1 0,-1 1 0,0-1 0,1 1 0,-1-1 0,1 1 0,-1-1 0,1 0 0,-1 0 0,1 0 0,-1 1 0,1-2 0,2 1 0,-2 0 0,0 0 0,0 0 0,1 0 0,-1 0 0,0 1 0,1-1 0,-1 1 0,0-1 0,0 1 0,3 1 0,16 10 0,-19-9 0,1-2 0,0 1 0,0 0 0,0 0 0,0-1 0,1 0 0,-1 1 0,0-1 0,0-1 0,1 1 0,-1 0 0,5 0 0,85 7 0,27 0 0,-10 0 0,-74-4 0,48 0 0,486-6 0,-287 4 0,-255-5 0,-1 0 0,0-1 0,0-2 0,49-16 0,-37 10 0,50-9 0,227-3 0,-201 20 0,-101 2 0,-1 1 0,0-2 0,1 0 0,-1 0 0,0-2 0,13-5 0,74-41 0,-36 16 0,-37 21 0,2 2 0,-1 0 0,1 2 0,1 1 0,0 1 0,48-6 0,-2 7 0,0-3 0,100-28 0,-154 31 0,34-17 0,13-5 0,125-39 0,196-58 0,-262 91 0,-47 11 0,132-20 0,-82 33 0,-77 8 0,0-3 0,0-2 0,83-22 0,-78 9 0,-17 6 0,1 1 0,0 3 0,65-10 0,-64 17 0,151-22 0,-171 20 0,0 0 0,-1-1 0,0-2 0,0 0 0,0-2 0,21-13 0,65-44 0,3 5 0,140-57 0,-62 46 0,-141 53 0,-39 16 0,0 1 0,0 0 0,1 0 0,-1 0 0,1 2 0,0-1 0,21-1 0,143-10 0,-141 12 0,0-1 0,33-8 0,10-1 0,320-8 0,-84 10 0,185 0 0,-54 3 0,199-1 0,-391 10 0,687-2 0,-886 3 0,97 17 0,7 1 0,420-14 0,-334-9 0,971 2 0,-1190 1 0,0 2 0,0 1 0,0 1 0,32 11 0,10 1 0,16-2 0,0-4 0,154 0 0,-199-11 0,61 7 0,134 27 0,-90-11 0,184 11 0,-207-19 0,-76-8 0,44 2 0,-31-7 0,-1 2 0,1 2 0,57 15 0,92 18 0,-106-22 0,-43-10 0,0-3 0,77-2 0,-76-4 0,1 4 0,66 9 0,3 18 0,-87-19 0,0-1 0,0-1 0,79 2 0,106-9 0,142-4 0,-333 0 0,-1-1 0,0-1 0,-1-2 0,1-1 0,61-25 0,146-86 0,-61 28 0,-162 81 0,0 1 0,23-19 0,-28 19 0,0 0 0,0 1 0,1 0 0,0 2 0,22-10 0,-21 11 0,-1-2 0,1 0 0,-1-1 0,0 0 0,-1-1 0,1 0 0,-2-1 0,0 0 0,14-17 0,-4 6 0,9-8 0,-2-2 0,-1-1 0,-2-1 0,32-54 0,-43 63 0,-2 0 0,-1-2 0,-1 1 0,-2-1 0,0-1 0,-1 1 0,4-51 0,-5 21 0,0 5 0,-3 0 0,-4-66 0,1 111 0,-1 1 0,0 0 0,-1 0 0,1 0 0,-1 0 0,0 1 0,0-1 0,-1 0 0,0 1 0,1 0 0,-5-5 0,-44-45 0,39 44 0,1-2 0,-20-23 0,5-8 0,-26-59 0,32 60 0,-46-72 0,56 102 0,0 0 0,-1 1 0,0 0 0,-1 0 0,0 1 0,0 1 0,-1 0 0,0 1 0,-20-9 0,-17-5 0,-70-21 0,59 23 0,-70-21 0,67 23 0,-81-36 0,101 38 0,-1 1 0,0 3 0,-94-14 0,55 11 0,-361-78 0,4 1 0,-132-33 0,451 96 0,-7-2 0,-209-42 0,-145-14 0,68 45 0,214 28 0,-158-3 0,24 3 0,-445-2 0,513 18 0,-76-4 0,-365 4 0,496 6 0,-99 2 0,227-6 0,0 4 0,-91 21 0,-43 5 0,78-14 0,-223 62 0,203-42 0,-143 45 0,159-37 0,-2-6 0,-291 45 0,164-53 0,7-6 0,1 0 0,-16-7 0,86-10 0,-277 8 0,190-12 0,-206 4 0,77-3 0,-228-4 0,391-5 0,-211-23 0,261 9 0,-12-4 0,-104-5 0,-99 0 0,-52-1 0,105 8 0,195 5 0,-363 7 0,296 7 0,115 0 0,-126-4 0,235 0-170,0 1-1,1-1 0,0 0 1,-1 0-1,1-1 0,0 0 1,-11-7-1,-7-4-6655</inkml:trace>
</inkml:ink>
</file>

<file path=ppt/ink/ink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38.022"/>
    </inkml:context>
    <inkml:brush xml:id="br0">
      <inkml:brushProperty name="width" value="0.05" units="cm"/>
      <inkml:brushProperty name="height" value="0.05" units="cm"/>
      <inkml:brushProperty name="color" value="#E71224"/>
    </inkml:brush>
  </inkml:definitions>
  <inkml:trace contextRef="#ctx0" brushRef="#br0">495 5910 24575,'27'13'0,"-11"-7"0,42 21 0,1-3 0,87 25 0,128 17 0,-57-16 0,287 74 0,-206-54 0,353 35 0,-330-83 0,-197-17 0,208 35 0,-154-4 0,339 25 0,-136-54 0,-81-3 0,533-17 0,31-81 0,-683 63 0,-2-9 0,314-112 0,-267 73 0,290-63 0,170-19 0,-610 141 0,107-45 0,-149 50 0,-1-1 0,-1-2 0,0-1 0,-1-2 0,37-33 0,6-14 0,116-139 0,-159 168 0,-2-2 0,-1-2 0,-2 0 0,-2-1 0,-3-2 0,-1 0 0,24-85 0,-33 89 0,15-59 0,51-125 0,-63 189 0,-2-1 0,-1 0 0,11-77 0,-3-116 0,-15-166 0,-20 245 0,3 40 0,4 15 0,-4 0 0,-33-121 0,2 89 0,5 16 0,23 56 0,-52-149 0,57 179 0,-2 0 0,-1 1 0,0 1 0,-2 0 0,-28-32 0,-41-29 0,63 66 0,0-1 0,1-1 0,2-1 0,-29-42 0,-43-95 0,-44-74 0,121 214 0,0 0 0,-2 1 0,-1 0 0,0 1 0,-1 1 0,-39-28 0,-134-71 0,48 32 0,101 57 0,1-2 0,-51-49 0,17 10 0,-2 4 0,-102-65 0,-184-86 0,360 213 0,-33-18 0,0 1 0,-1 2 0,-62-19 0,-166-24 0,21 6 0,-241-38 0,278 58 0,-21-8 0,-280-43 0,291 53 0,-153-16 0,28 15 0,-388-88 0,656 107 0,-106-5 0,-78 12 0,-26-3 0,-467-22 0,479 30 0,-212 5 0,445 1 0,0 1 0,0 2 0,-41 14 0,32-8 0,-62 8 0,-125-11 0,154-9 0,-126 16 0,46 18 0,104-20 0,-1-3 0,-98 8 0,131-19 0,1 1 0,0 2 0,-1 0 0,2 1 0,-1 2 0,1 1 0,0 0 0,0 2 0,-30 17 0,38-19 0,-15 9 0,-33 23 0,55-34 0,-1 1 0,1 0 0,1 1 0,-1 0 0,1 0 0,1 0 0,-1 1 0,-5 10 0,11-14 0,0 1 0,0 0 0,0-1 0,0 1 0,1 0 0,0 0 0,0-1 0,1 1 0,1 7 0,-1 11 0,-1 684 0,4-642 0,3 1 0,22 93 0,-26-147 0,12 75 0,-3 0 0,1 174 0,-10-201 0,3-1 0,2 0 0,3 0 0,21 63 0,15 84 0,-32-123 0,13 99 0,33 154 0,-17-108 0,-34-186 0,14 45 0,-13-55 0,-2 1 0,-1 0 0,3 35 0,-4 41 0,5 55 0,-8-139 0,2-1 0,1 0 0,1 0 0,13 28 0,-12-34 0,-1 1 0,-1 0 0,0 1 0,-2 0 0,0 0 0,-2 0 0,2 25 0,2 203 0,-2-190 0,3-1 0,19 70 0,-21-99 0,-2 1 0,0 0 0,-2-1 0,-2 42 0,2 29 0,5-28 0,2 42 0,-10-71 0,2-1 0,2 0 0,13 65 0,-9-60 0,-1 0 0,-2 1 0,-6 93 0,0-44 0,2-71-1365</inkml:trace>
</inkml:ink>
</file>

<file path=ppt/ink/ink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8:04.927"/>
    </inkml:context>
    <inkml:brush xml:id="br0">
      <inkml:brushProperty name="width" value="0.05" units="cm"/>
      <inkml:brushProperty name="height" value="0.05" units="cm"/>
      <inkml:brushProperty name="color" value="#E71224"/>
    </inkml:brush>
  </inkml:definitions>
  <inkml:trace contextRef="#ctx0" brushRef="#br0">249 3842 24575,'-1'7'0,"0"0"0,-1-1 0,0 1 0,0-1 0,-1 0 0,0 0 0,0 0 0,-5 8 0,-4 8 0,1-1 0,1 1 0,1 0 0,1 1 0,1 0 0,1 0 0,1 1 0,-3 41 0,-14 190 0,11-152 0,1-38 0,-18 67 0,13-71 0,-9 81 0,8-23 0,-3 29 0,17 208 0,4-181 0,-2-149 0,0 0 0,2-1 0,9 41 0,-8-54 0,0-1 0,1-1 0,0 1 0,1 0 0,0-1 0,1 0 0,0-1 0,1 1 0,0-1 0,12 12 0,31 37 0,-35-39 0,1-1 0,0 0 0,35 28 0,-45-43 0,0 0 0,1 0 0,-1 0 0,1-1 0,0 0 0,-1 0 0,1-1 0,0 1 0,0-2 0,0 1 0,0-1 0,8 0 0,-4 0 0,0 0 0,1 1 0,18 4 0,122 25 0,-125-25 0,0 0 0,0-2 0,33 0 0,1 1 0,411 4 0,-280-10 0,1340 2 0,-1223-17 0,3 0 0,213 6 0,-314 7 0,178-12 0,-48 2 0,-159 10 0,-60-9 0,-16 0 0,257 7 0,-6 0 0,536-6 0,-563 15 0,51-6 0,394 6 0,-599 4 0,83 2 0,-173-5 0,142 25 0,36 3 0,-76-32 0,-110-2 0,0 3 0,84 13 0,-43-1 0,1-6 0,122-7 0,38 1 0,-164 4 0,220 5 0,790-10 0,-931-8 0,11 0 0,-176 6 0,0-1 0,-1-2 0,0 0 0,39-14 0,-27 8 0,52-8 0,229-28 0,-274 41 0,58-15 0,-83 15 0,-2-1 0,1-1 0,-1-1 0,36-21 0,199-97 0,-72 40 0,-144 66 0,-1-3 0,52-41 0,-84 60 0,47-40 0,109-67 0,-55 48 0,68-37 0,-164 96 0,227-119 0,-208 104 0,0 0 0,-1-2 0,-2-1 0,0-2 0,31-35 0,158-192 0,-123 150 0,-65 73 0,-1 0 0,-2-2 0,-1-1 0,33-56 0,-43 57 0,-1-1 0,-2-1 0,-1 0 0,8-44 0,14-139 0,-31 197 0,5-75 0,-6-134 0,-3 96 0,-7-76 0,0-5 0,7 195 0,0 0 0,-1 0 0,-1 0 0,-1 0 0,0 1 0,-10-21 0,-11-42 0,-75-312 0,96 361 0,0-1 0,2 0 0,2-59 0,-1-21 0,-8 34 0,-35-132 0,11 61 0,25 68 0,8 64 0,0-1 0,-2 1 0,0 0 0,-9-30 0,8 32 0,0 1 0,1-1 0,1 1 0,1-1 0,-1-28 0,3 30 0,-1-1 0,-1 1 0,-1-1 0,0 1 0,0 0 0,-1 0 0,-9-24 0,-125-285 0,114 264 0,17 46 0,0-1 0,-1 1 0,-1 0 0,0 1 0,-15-18 0,-54-48 0,65 67 0,-14-11 0,-1 0 0,-1 3 0,-53-28 0,24 15 0,-16-13 0,-77-60 0,114 76 0,-157-114 0,157 119 0,0 2 0,-1 2 0,-69-26 0,14 16 0,-159-28 0,175 38 0,50 12 0,-42-8 0,7 8 0,-412-39 0,307 25 0,9 0 0,-991-17 0,1054 38 0,-537 12 0,596-10 0,0 2 0,0 1 0,0 2 0,-63 20 0,-317 114 0,361-118 0,2 2 0,1 3 0,-73 51 0,-24 14 0,61-50 0,-1-4 0,-123 38 0,-51 19 0,211-75 0,-2-2 0,-1-3 0,-70 12 0,28-14 0,-99 3 0,155-13 0,-44 9 0,-5 2 0,61-10 0,1 1 0,0 2 0,1 0 0,0 2 0,-28 15 0,-64 22 0,-89 5 0,19-5 0,-87 30 0,247-70 0,-1-1 0,1-2 0,-42 3 0,-87-8 0,-15 0 0,146 4 0,-41 10 0,42-7 0,-40 4 0,23-7 0,1-2 0,-1-2 0,1-1 0,0-3 0,0-1 0,-65-18 0,76 16 0,-1 2 0,-46-5 0,0 1 0,68 8 0,-53-8 0,-120-7 0,82 13 0,-150-25 0,198 18 0,-58-19 0,58 14 0,-54-9 0,-41 8 0,-276 4 0,337 13 0,60 3 0,0 0 0,0 1 0,1 2 0,0 1 0,-31 12 0,-4 0 0,-366 132 0,297-95 0,-82 29 0,109-50 0,60-19 0,-1-2 0,-80 16 0,41-20 0,-50 8 0,-18 22 0,18-16 0,-11 3 0,-162 10 0,181-21 0,82-9 0,-59 2 0,55-6 0,0 2 0,-48 12 0,-14 1 0,55-13 0,40-5 0,0 1 0,0 0 0,0 1 0,1 0 0,-1 1 0,0 1 0,1 0 0,-15 7 0,-59 26 0,60-27 0,-45 23 0,10 6 0,-68 58 0,-2 1 0,-58 33 0,151-101 0,-61 63 0,68-61 0,-2-1 0,-53 38 0,72-58 0,0 0 0,1 2 0,0-1 0,1 1 0,0 1 0,1 0 0,1 1 0,0 0 0,1 1 0,1 0 0,-13 33 0,9-16 0,2 1 0,2 1 0,1-1 0,1 1 0,0 42 0,6 55 0,0 14 0,-2-129 0,-1 1 0,-1-1 0,-10 30 0,8-28 0,0-1 0,2 1 0,-3 20 0,5-22 0,-4 47 0,-21 93 0,22-137 0,-1 1 0,-1-1 0,-1 0 0,-1-1 0,-1 0 0,0 0 0,-1-1 0,-21 25 0,-230 249 0,235-254 0,25-36 0,1 0 0,0 0 0,0 0 0,0 0 0,0 0 0,1 0 0,-1 0 0,1 1 0,-1-1 0,1 0 0,-1 0 0,1 0 0,0 1 0,0-1 0,0 0 0,1 0 0,-1 0 0,1 5 0,2-9-1365</inkml:trace>
</inkml:ink>
</file>

<file path=ppt/ink/ink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00.556"/>
    </inkml:context>
    <inkml:brush xml:id="br0">
      <inkml:brushProperty name="width" value="0.05" units="cm"/>
      <inkml:brushProperty name="height" value="0.05" units="cm"/>
      <inkml:brushProperty name="color" value="#E71224"/>
    </inkml:brush>
  </inkml:definitions>
  <inkml:trace contextRef="#ctx0" brushRef="#br0">0 8491 24575,'33'0'0,"-1"2"0,0 1 0,0 1 0,36 11 0,-33-6 0,1-2 0,41 2 0,-20-4 0,64 14 0,-75-10 0,1-2 0,77 2 0,-90-9 0,-1 2 0,1 2 0,0 1 0,55 15 0,-56-13 0,0-2 0,1-1 0,60-2 0,-22 0 0,63 13 0,-89-8 0,69 2 0,797-10 0,-904 0 0,0 0 0,0 0 0,0 0 0,0-1 0,-1-1 0,1 1 0,-1-1 0,1 0 0,-1-1 0,12-7 0,7-7 0,33-31 0,-20 17 0,158-107 0,-66 50 0,-101 66 0,0-2 0,-2-1 0,-1-1 0,-1-1 0,27-38 0,-44 52 0,0-1 0,-2 0 0,1 0 0,-2 0 0,0-1 0,7-32 0,10-103 0,-18 115 0,13-198 0,-13-259 0,-6 273 0,0 142 0,5-134 0,-1 180 0,1 0 0,2 1 0,1-1 0,16-46 0,-9 41 0,34-77 0,-41 99 0,1 1 0,1 0 0,0 1 0,1 0 0,18-19 0,1 4 0,82-75 0,-93 89 0,0 0 0,1 2 0,0 0 0,38-16 0,47-12 0,-21 8 0,-1-3 0,79-46 0,-58 20 0,176-75 0,91-3 0,-267 107 0,178-31 0,-148 42 0,468-58 0,-47 16 0,-191 27 0,-49 8 0,-198 5 0,152-49 0,-209 55 0,371-140 0,-197 67 0,-7-3 0,-130 50 0,2 5 0,124-32 0,-96 42 0,247-65 0,-315 74 0,0-3 0,-1-2 0,-2-2 0,67-43 0,36-43 0,161-149 0,-176 151 0,-28 28 0,-86 65 0,-1-2 0,-1-1 0,47-46 0,-22 7 0,-3-1 0,-3-3 0,65-117 0,-82 125 0,-3-2 0,-3 0 0,-2-2 0,-2-1 0,12-70 0,-15 26 0,-4-1 0,-2-159 0,-10 249 0,-11-293 0,5 247 0,-2 0 0,-3 1 0,-19-60 0,22 99 0,0 1 0,-1-1 0,-1 1 0,-1 1 0,-1 0 0,-24-29 0,-97-92 0,20 25 0,-4-39 0,-1-1 0,99 132 0,-2 2 0,0 0 0,-2 1 0,-35-24 0,-34-9 0,-167-72 0,115 60 0,-23-16 0,-233-103 0,305 147 0,-2 3 0,-132-27 0,158 46 0,-206-37 0,202 41 0,-134 0 0,-359 40 0,481-23 0,-260 40 0,5 26 0,250-52 0,10-1 0,-540 105 0,-187-29 0,671-83 0,-603 59 0,92-31 0,-2-40 0,296-2 0,-1526 2 0,1838 0 0,0 1 0,0 2 0,1 2 0,-44 11 0,70-11 0,1 0 0,0 0 0,0 1 0,0 1 0,0 1 0,1 0 0,1 1 0,-1 0 0,1 1 0,1 0 0,0 1 0,1 1 0,-20 24 0,11-5 0,1 1 0,-26 64 0,-14 23 0,45-90 0,1-1 0,-18 57 0,2-2 0,14-43 0,3 1 0,-13 67 0,-3 89 0,24-163 0,-5 65 0,7-61 0,-1 0 0,-2-1 0,-2 0 0,-13 43 0,-1-19 0,3 1 0,3 1 0,-7 66 0,17-86 0,3 1 0,1-1 0,2 1 0,3-1 0,11 63 0,23 154 0,-13-73 0,-6-81 0,0-2 0,-4 1 0,2 133 0,-15-110 0,27 185 0,-9 43 0,-12-108 0,8-90 0,6 158 0,-14-54 0,-2 130 0,-21-254 0,0-2 0,15 86 0,-2 29 0,-1-229 0,-1 0 0,0 0 0,-2 0 0,-13 32 0,7-24 0,-7 40 0,9-2 0,3 0 0,4 1 0,6 92 0,0-24 0,-4-103 0,-2 0 0,-1 0 0,-1-1 0,-15 49 0,13-54 0,1 1 0,2 0 0,-1 38 0,7 92 0,1-53 0,-1 34 0,0-27 0,-13 131 0,-1-177-1365,6-44-5461</inkml:trace>
</inkml:ink>
</file>

<file path=ppt/ink/ink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17.459"/>
    </inkml:context>
    <inkml:brush xml:id="br0">
      <inkml:brushProperty name="width" value="0.05" units="cm"/>
      <inkml:brushProperty name="height" value="0.05" units="cm"/>
      <inkml:brushProperty name="color" value="#E71224"/>
    </inkml:brush>
  </inkml:definitions>
  <inkml:trace contextRef="#ctx0" brushRef="#br0">84 264 24575,'0'30'0,"0"5"0,1-1 0,2 0 0,9 44 0,-2-15 0,-3-1 0,-3 1 0,-6 105 0,0-55 0,-12 218 0,8 91 0,9-240 0,-21 159 0,3-102 0,11-193 0,-2 0 0,-17 62 0,12-65 0,3 0 0,-6 78 0,13-85 0,2 0 0,2 0 0,1 0 0,2 0 0,1-1 0,2 0 0,1 0 0,28 62 0,-21-69 0,0-1 0,1 0 0,33 34 0,-23-28 0,109 111 0,-114-121 0,39 21 0,-61-43 0,0 0 0,0 0 0,0 0 0,0 0 0,0 0 0,1 0 0,-1 0 0,0 0 0,1-1 0,-1 1 0,0-1 0,1 1 0,-1-1 0,1 1 0,-1-1 0,1 0 0,-1 0 0,1 0 0,-1 1 0,1-2 0,2 1 0,-2 0 0,0 0 0,0 0 0,1 0 0,-1 0 0,0 1 0,1-1 0,-1 1 0,0-1 0,0 1 0,3 1 0,16 10 0,-19-9 0,1-2 0,0 1 0,0 0 0,0 0 0,0-1 0,1 0 0,-1 1 0,0-1 0,0-1 0,1 1 0,-1 0 0,5 0 0,85 7 0,27 0 0,-10 0 0,-74-4 0,48 0 0,486-6 0,-287 4 0,-255-5 0,-1 0 0,0-1 0,0-2 0,49-16 0,-37 10 0,50-9 0,227-3 0,-201 20 0,-101 2 0,-1 1 0,0-2 0,1 0 0,-1 0 0,0-2 0,13-5 0,74-41 0,-36 16 0,-37 21 0,2 2 0,-1 0 0,1 2 0,1 1 0,0 1 0,48-6 0,-2 7 0,0-3 0,100-28 0,-154 31 0,34-17 0,13-5 0,125-39 0,196-58 0,-262 91 0,-47 11 0,132-20 0,-82 33 0,-77 8 0,0-3 0,0-2 0,83-22 0,-78 9 0,-17 6 0,1 1 0,0 3 0,65-10 0,-64 17 0,151-22 0,-171 20 0,0 0 0,-1-1 0,0-2 0,0 0 0,0-2 0,21-13 0,65-44 0,3 5 0,140-57 0,-62 46 0,-141 53 0,-39 16 0,0 1 0,0 0 0,1 0 0,-1 0 0,1 2 0,0-1 0,21-1 0,143-10 0,-141 12 0,0-1 0,33-8 0,10-1 0,320-8 0,-84 10 0,185 0 0,-54 3 0,199-1 0,-391 10 0,687-2 0,-886 3 0,97 17 0,7 1 0,420-14 0,-334-9 0,971 2 0,-1190 1 0,0 2 0,0 1 0,0 1 0,32 11 0,10 1 0,16-2 0,0-4 0,154 0 0,-199-11 0,61 7 0,134 27 0,-90-11 0,184 11 0,-207-19 0,-76-8 0,44 2 0,-31-7 0,-1 2 0,1 2 0,57 15 0,92 18 0,-106-22 0,-43-10 0,0-3 0,77-2 0,-76-4 0,1 4 0,66 9 0,3 18 0,-87-19 0,0-1 0,0-1 0,79 2 0,106-9 0,142-4 0,-333 0 0,-1-1 0,0-1 0,-1-2 0,1-1 0,61-25 0,146-86 0,-61 28 0,-162 81 0,0 1 0,23-19 0,-28 19 0,0 0 0,0 1 0,1 0 0,0 2 0,22-10 0,-21 11 0,-1-2 0,1 0 0,-1-1 0,0 0 0,-1-1 0,1 0 0,-2-1 0,0 0 0,14-17 0,-4 6 0,9-8 0,-2-2 0,-1-1 0,-2-1 0,32-54 0,-43 63 0,-2 0 0,-1-2 0,-1 1 0,-2-1 0,0-1 0,-1 1 0,4-51 0,-5 21 0,0 5 0,-3 0 0,-4-66 0,1 111 0,-1 1 0,0 0 0,-1 0 0,1 0 0,-1 0 0,0 1 0,0-1 0,-1 0 0,0 1 0,1 0 0,-5-5 0,-44-45 0,39 44 0,1-2 0,-20-23 0,5-8 0,-26-59 0,32 60 0,-46-72 0,56 102 0,0 0 0,-1 1 0,0 0 0,-1 0 0,0 1 0,0 1 0,-1 0 0,0 1 0,-20-9 0,-17-5 0,-70-21 0,59 23 0,-70-21 0,67 23 0,-81-36 0,101 38 0,-1 1 0,0 3 0,-94-14 0,55 11 0,-361-78 0,4 1 0,-132-33 0,451 96 0,-7-2 0,-209-42 0,-145-14 0,68 45 0,214 28 0,-158-3 0,24 3 0,-445-2 0,513 18 0,-76-4 0,-365 4 0,496 6 0,-99 2 0,227-6 0,0 4 0,-91 21 0,-43 5 0,78-14 0,-223 62 0,203-42 0,-143 45 0,159-37 0,-2-6 0,-291 45 0,164-53 0,7-6 0,1 0 0,-16-7 0,86-10 0,-277 8 0,190-12 0,-206 4 0,77-3 0,-228-4 0,391-5 0,-211-23 0,261 9 0,-12-4 0,-104-5 0,-99 0 0,-52-1 0,105 8 0,195 5 0,-363 7 0,296 7 0,115 0 0,-126-4 0,235 0-170,0 1-1,1-1 0,0 0 1,-1 0-1,1-1 0,0 0 1,-11-7-1,-7-4-6655</inkml:trace>
</inkml:ink>
</file>

<file path=ppt/ink/ink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7:38.022"/>
    </inkml:context>
    <inkml:brush xml:id="br0">
      <inkml:brushProperty name="width" value="0.05" units="cm"/>
      <inkml:brushProperty name="height" value="0.05" units="cm"/>
      <inkml:brushProperty name="color" value="#E71224"/>
    </inkml:brush>
  </inkml:definitions>
  <inkml:trace contextRef="#ctx0" brushRef="#br0">495 5910 24575,'27'13'0,"-11"-7"0,42 21 0,1-3 0,87 25 0,128 17 0,-57-16 0,287 74 0,-206-54 0,353 35 0,-330-83 0,-197-17 0,208 35 0,-154-4 0,339 25 0,-136-54 0,-81-3 0,533-17 0,31-81 0,-683 63 0,-2-9 0,314-112 0,-267 73 0,290-63 0,170-19 0,-610 141 0,107-45 0,-149 50 0,-1-1 0,-1-2 0,0-1 0,-1-2 0,37-33 0,6-14 0,116-139 0,-159 168 0,-2-2 0,-1-2 0,-2 0 0,-2-1 0,-3-2 0,-1 0 0,24-85 0,-33 89 0,15-59 0,51-125 0,-63 189 0,-2-1 0,-1 0 0,11-77 0,-3-116 0,-15-166 0,-20 245 0,3 40 0,4 15 0,-4 0 0,-33-121 0,2 89 0,5 16 0,23 56 0,-52-149 0,57 179 0,-2 0 0,-1 1 0,0 1 0,-2 0 0,-28-32 0,-41-29 0,63 66 0,0-1 0,1-1 0,2-1 0,-29-42 0,-43-95 0,-44-74 0,121 214 0,0 0 0,-2 1 0,-1 0 0,0 1 0,-1 1 0,-39-28 0,-134-71 0,48 32 0,101 57 0,1-2 0,-51-49 0,17 10 0,-2 4 0,-102-65 0,-184-86 0,360 213 0,-33-18 0,0 1 0,-1 2 0,-62-19 0,-166-24 0,21 6 0,-241-38 0,278 58 0,-21-8 0,-280-43 0,291 53 0,-153-16 0,28 15 0,-388-88 0,656 107 0,-106-5 0,-78 12 0,-26-3 0,-467-22 0,479 30 0,-212 5 0,445 1 0,0 1 0,0 2 0,-41 14 0,32-8 0,-62 8 0,-125-11 0,154-9 0,-126 16 0,46 18 0,104-20 0,-1-3 0,-98 8 0,131-19 0,1 1 0,0 2 0,-1 0 0,2 1 0,-1 2 0,1 1 0,0 0 0,0 2 0,-30 17 0,38-19 0,-15 9 0,-33 23 0,55-34 0,-1 1 0,1 0 0,1 1 0,-1 0 0,1 0 0,1 0 0,-1 1 0,-5 10 0,11-14 0,0 1 0,0 0 0,0-1 0,0 1 0,1 0 0,0 0 0,0-1 0,1 1 0,1 7 0,-1 11 0,-1 684 0,4-642 0,3 1 0,22 93 0,-26-147 0,12 75 0,-3 0 0,1 174 0,-10-201 0,3-1 0,2 0 0,3 0 0,21 63 0,15 84 0,-32-123 0,13 99 0,33 154 0,-17-108 0,-34-186 0,14 45 0,-13-55 0,-2 1 0,-1 0 0,3 35 0,-4 41 0,5 55 0,-8-139 0,2-1 0,1 0 0,1 0 0,13 28 0,-12-34 0,-1 1 0,-1 0 0,0 1 0,-2 0 0,0 0 0,-2 0 0,2 25 0,2 203 0,-2-190 0,3-1 0,19 70 0,-21-99 0,-2 1 0,0 0 0,-2-1 0,-2 42 0,2 29 0,5-28 0,2 42 0,-10-71 0,2-1 0,2 0 0,13 65 0,-9-60 0,-1 0 0,-2 1 0,-6 93 0,0-44 0,2-71-1365</inkml:trace>
</inkml:ink>
</file>

<file path=ppt/ink/ink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20T20:28:04.927"/>
    </inkml:context>
    <inkml:brush xml:id="br0">
      <inkml:brushProperty name="width" value="0.05" units="cm"/>
      <inkml:brushProperty name="height" value="0.05" units="cm"/>
      <inkml:brushProperty name="color" value="#E71224"/>
    </inkml:brush>
  </inkml:definitions>
  <inkml:trace contextRef="#ctx0" brushRef="#br0">249 3842 24575,'-1'7'0,"0"0"0,-1-1 0,0 1 0,0-1 0,-1 0 0,0 0 0,0 0 0,-5 8 0,-4 8 0,1-1 0,1 1 0,1 0 0,1 1 0,1 0 0,1 0 0,1 1 0,-3 41 0,-14 190 0,11-152 0,1-38 0,-18 67 0,13-71 0,-9 81 0,8-23 0,-3 29 0,17 208 0,4-181 0,-2-149 0,0 0 0,2-1 0,9 41 0,-8-54 0,0-1 0,1-1 0,0 1 0,1 0 0,0-1 0,1 0 0,0-1 0,1 1 0,0-1 0,12 12 0,31 37 0,-35-39 0,1-1 0,0 0 0,35 28 0,-45-43 0,0 0 0,1 0 0,-1 0 0,1-1 0,0 0 0,-1 0 0,1-1 0,0 1 0,0-2 0,0 1 0,0-1 0,8 0 0,-4 0 0,0 0 0,1 1 0,18 4 0,122 25 0,-125-25 0,0 0 0,0-2 0,33 0 0,1 1 0,411 4 0,-280-10 0,1340 2 0,-1223-17 0,3 0 0,213 6 0,-314 7 0,178-12 0,-48 2 0,-159 10 0,-60-9 0,-16 0 0,257 7 0,-6 0 0,536-6 0,-563 15 0,51-6 0,394 6 0,-599 4 0,83 2 0,-173-5 0,142 25 0,36 3 0,-76-32 0,-110-2 0,0 3 0,84 13 0,-43-1 0,1-6 0,122-7 0,38 1 0,-164 4 0,220 5 0,790-10 0,-931-8 0,11 0 0,-176 6 0,0-1 0,-1-2 0,0 0 0,39-14 0,-27 8 0,52-8 0,229-28 0,-274 41 0,58-15 0,-83 15 0,-2-1 0,1-1 0,-1-1 0,36-21 0,199-97 0,-72 40 0,-144 66 0,-1-3 0,52-41 0,-84 60 0,47-40 0,109-67 0,-55 48 0,68-37 0,-164 96 0,227-119 0,-208 104 0,0 0 0,-1-2 0,-2-1 0,0-2 0,31-35 0,158-192 0,-123 150 0,-65 73 0,-1 0 0,-2-2 0,-1-1 0,33-56 0,-43 57 0,-1-1 0,-2-1 0,-1 0 0,8-44 0,14-139 0,-31 197 0,5-75 0,-6-134 0,-3 96 0,-7-76 0,0-5 0,7 195 0,0 0 0,-1 0 0,-1 0 0,-1 0 0,0 1 0,-10-21 0,-11-42 0,-75-312 0,96 361 0,0-1 0,2 0 0,2-59 0,-1-21 0,-8 34 0,-35-132 0,11 61 0,25 68 0,8 64 0,0-1 0,-2 1 0,0 0 0,-9-30 0,8 32 0,0 1 0,1-1 0,1 1 0,1-1 0,-1-28 0,3 30 0,-1-1 0,-1 1 0,-1-1 0,0 1 0,0 0 0,-1 0 0,-9-24 0,-125-285 0,114 264 0,17 46 0,0-1 0,-1 1 0,-1 0 0,0 1 0,-15-18 0,-54-48 0,65 67 0,-14-11 0,-1 0 0,-1 3 0,-53-28 0,24 15 0,-16-13 0,-77-60 0,114 76 0,-157-114 0,157 119 0,0 2 0,-1 2 0,-69-26 0,14 16 0,-159-28 0,175 38 0,50 12 0,-42-8 0,7 8 0,-412-39 0,307 25 0,9 0 0,-991-17 0,1054 38 0,-537 12 0,596-10 0,0 2 0,0 1 0,0 2 0,-63 20 0,-317 114 0,361-118 0,2 2 0,1 3 0,-73 51 0,-24 14 0,61-50 0,-1-4 0,-123 38 0,-51 19 0,211-75 0,-2-2 0,-1-3 0,-70 12 0,28-14 0,-99 3 0,155-13 0,-44 9 0,-5 2 0,61-10 0,1 1 0,0 2 0,1 0 0,0 2 0,-28 15 0,-64 22 0,-89 5 0,19-5 0,-87 30 0,247-70 0,-1-1 0,1-2 0,-42 3 0,-87-8 0,-15 0 0,146 4 0,-41 10 0,42-7 0,-40 4 0,23-7 0,1-2 0,-1-2 0,1-1 0,0-3 0,0-1 0,-65-18 0,76 16 0,-1 2 0,-46-5 0,0 1 0,68 8 0,-53-8 0,-120-7 0,82 13 0,-150-25 0,198 18 0,-58-19 0,58 14 0,-54-9 0,-41 8 0,-276 4 0,337 13 0,60 3 0,0 0 0,0 1 0,1 2 0,0 1 0,-31 12 0,-4 0 0,-366 132 0,297-95 0,-82 29 0,109-50 0,60-19 0,-1-2 0,-80 16 0,41-20 0,-50 8 0,-18 22 0,18-16 0,-11 3 0,-162 10 0,181-21 0,82-9 0,-59 2 0,55-6 0,0 2 0,-48 12 0,-14 1 0,55-13 0,40-5 0,0 1 0,0 0 0,0 1 0,1 0 0,-1 1 0,0 1 0,1 0 0,-15 7 0,-59 26 0,60-27 0,-45 23 0,10 6 0,-68 58 0,-2 1 0,-58 33 0,151-101 0,-61 63 0,68-61 0,-2-1 0,-53 38 0,72-58 0,0 0 0,1 2 0,0-1 0,1 1 0,0 1 0,1 0 0,1 1 0,0 0 0,1 1 0,1 0 0,-13 33 0,9-16 0,2 1 0,2 1 0,1-1 0,1 1 0,0 42 0,6 55 0,0 14 0,-2-129 0,-1 1 0,-1-1 0,-10 30 0,8-28 0,0-1 0,2 1 0,-3 20 0,5-22 0,-4 47 0,-21 93 0,22-137 0,-1 1 0,-1-1 0,-1 0 0,-1-1 0,-1 0 0,0 0 0,-1-1 0,-21 25 0,-230 249 0,235-254 0,25-36 0,1 0 0,0 0 0,0 0 0,0 0 0,0 0 0,1 0 0,-1 0 0,1 1 0,-1-1 0,1 0 0,-1 0 0,1 0 0,0 1 0,0-1 0,0 0 0,1 0 0,-1 0 0,1 5 0,2-9-1365</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F86C400-5EB2-4620-B71B-A7454A7EC846}" type="datetimeFigureOut">
              <a:rPr lang="en-US" smtClean="0"/>
              <a:t>11/21/2023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ECD8548-F1A2-4EDF-A416-5F2BB6B8F64C}" type="slidenum">
              <a:rPr lang="en-US" smtClean="0"/>
              <a:t>‹#›</a:t>
            </a:fld>
            <a:endParaRPr lang="en-US"/>
          </a:p>
        </p:txBody>
      </p:sp>
    </p:spTree>
    <p:extLst>
      <p:ext uri="{BB962C8B-B14F-4D97-AF65-F5344CB8AC3E}">
        <p14:creationId xmlns:p14="http://schemas.microsoft.com/office/powerpoint/2010/main" val="19732378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The VSM training module is intended for use at kaizen event training. The training is a “Learn-Do” approach in which there are designated points in the training course for the participants/kaizen teams to stop and apply their learning to their kaizen project/event. The training material is recommended for a 5 day event, but is scalable for events of any length.</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a:t>
            </a:fld>
            <a:endParaRPr lang="en-US"/>
          </a:p>
        </p:txBody>
      </p:sp>
    </p:spTree>
    <p:extLst>
      <p:ext uri="{BB962C8B-B14F-4D97-AF65-F5344CB8AC3E}">
        <p14:creationId xmlns:p14="http://schemas.microsoft.com/office/powerpoint/2010/main" val="13464555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2</a:t>
            </a:fld>
            <a:endParaRPr lang="en-US"/>
          </a:p>
        </p:txBody>
      </p:sp>
    </p:spTree>
    <p:extLst>
      <p:ext uri="{BB962C8B-B14F-4D97-AF65-F5344CB8AC3E}">
        <p14:creationId xmlns:p14="http://schemas.microsoft.com/office/powerpoint/2010/main" val="11600169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3</a:t>
            </a:fld>
            <a:endParaRPr lang="en-US"/>
          </a:p>
        </p:txBody>
      </p:sp>
    </p:spTree>
    <p:extLst>
      <p:ext uri="{BB962C8B-B14F-4D97-AF65-F5344CB8AC3E}">
        <p14:creationId xmlns:p14="http://schemas.microsoft.com/office/powerpoint/2010/main" val="221808605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 </a:t>
            </a:r>
            <a:r>
              <a:rPr lang="en-US" altLang="en-US" dirty="0">
                <a:latin typeface="Arial" panose="020B0604020202020204" pitchFamily="34" charset="0"/>
              </a:rPr>
              <a:t>Perform Group Introductions. Pick an ice-breaker or exercise to warm the team up to the event. (Icebreaker Example: Everyone uses their name tent and writes a </a:t>
            </a:r>
            <a:r>
              <a:rPr lang="ja-JP" altLang="en-US" dirty="0">
                <a:latin typeface="Arial" panose="020B0604020202020204" pitchFamily="34" charset="0"/>
              </a:rPr>
              <a:t>“</a:t>
            </a:r>
            <a:r>
              <a:rPr lang="en-US" altLang="ja-JP" dirty="0">
                <a:latin typeface="Arial" panose="020B0604020202020204" pitchFamily="34" charset="0"/>
              </a:rPr>
              <a:t>Personal License Plate</a:t>
            </a:r>
            <a:r>
              <a:rPr lang="ja-JP" altLang="en-US" dirty="0">
                <a:latin typeface="Arial" panose="020B0604020202020204" pitchFamily="34" charset="0"/>
              </a:rPr>
              <a:t>”</a:t>
            </a:r>
            <a:r>
              <a:rPr lang="en-US" altLang="ja-JP" dirty="0">
                <a:latin typeface="Arial" panose="020B0604020202020204" pitchFamily="34" charset="0"/>
              </a:rPr>
              <a:t> in which they have 2 minutes to creatively use a total of 7 letters or numbers to tell us something about themselves. Examples </a:t>
            </a:r>
            <a:r>
              <a:rPr lang="ja-JP" altLang="en-US" dirty="0">
                <a:latin typeface="Arial" panose="020B0604020202020204" pitchFamily="34" charset="0"/>
              </a:rPr>
              <a:t>“</a:t>
            </a:r>
            <a:r>
              <a:rPr lang="en-US" altLang="ja-JP" dirty="0">
                <a:latin typeface="Arial" panose="020B0604020202020204" pitchFamily="34" charset="0"/>
              </a:rPr>
              <a:t>LV2SAIL</a:t>
            </a:r>
            <a:r>
              <a:rPr lang="ja-JP" altLang="en-US" dirty="0">
                <a:latin typeface="Arial" panose="020B0604020202020204" pitchFamily="34" charset="0"/>
              </a:rPr>
              <a:t>”</a:t>
            </a:r>
            <a:r>
              <a:rPr lang="en-US" altLang="ja-JP" dirty="0">
                <a:latin typeface="Arial" panose="020B0604020202020204" pitchFamily="34" charset="0"/>
              </a:rPr>
              <a:t> OR </a:t>
            </a:r>
            <a:r>
              <a:rPr lang="ja-JP" altLang="en-US" dirty="0">
                <a:latin typeface="Arial" panose="020B0604020202020204" pitchFamily="34" charset="0"/>
              </a:rPr>
              <a:t>“</a:t>
            </a:r>
            <a:r>
              <a:rPr lang="en-US" altLang="ja-JP" dirty="0">
                <a:latin typeface="Arial" panose="020B0604020202020204" pitchFamily="34" charset="0"/>
              </a:rPr>
              <a:t>DADOV5</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Event Ground Rules. </a:t>
            </a:r>
          </a:p>
          <a:p>
            <a:pPr eaLnBrk="1" hangingPunct="1"/>
            <a:r>
              <a:rPr lang="en-US" altLang="en-US" b="1" dirty="0">
                <a:latin typeface="Arial" panose="020B0604020202020204" pitchFamily="34" charset="0"/>
              </a:rPr>
              <a:t>ASK:</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Does anyone have any rules they would like to see added?</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ASK</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Does everyone agree to these?</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a:t>
            </a:fld>
            <a:endParaRPr lang="en-US"/>
          </a:p>
        </p:txBody>
      </p:sp>
    </p:spTree>
    <p:extLst>
      <p:ext uri="{BB962C8B-B14F-4D97-AF65-F5344CB8AC3E}">
        <p14:creationId xmlns:p14="http://schemas.microsoft.com/office/powerpoint/2010/main" val="13057167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 </a:t>
            </a:r>
            <a:r>
              <a:rPr lang="en-US" altLang="en-US" dirty="0">
                <a:latin typeface="Arial" panose="020B0604020202020204" pitchFamily="34" charset="0"/>
              </a:rPr>
              <a:t>Read through important points on the slide and identify the basic components of VSM. </a:t>
            </a:r>
          </a:p>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It is important to note that our event this week will not yield any realized improvements or results. This tool simply gives the picture of what the improved process could be if the business completes the identified actions and kaizen to get there.</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We try to do end-to-end as much as possible. When mapping manufacturing processes we typically are mapping from shipping to receiving. This module is focused on mapping within the 4 walls of your business. After all value streams within your business have been analyzed and improved through VSM, you can extend beyond the 4 walls with macro Value Stream Mapping. For more information on this, please read </a:t>
            </a:r>
            <a:r>
              <a:rPr lang="ja-JP" altLang="en-US" dirty="0">
                <a:latin typeface="Arial" panose="020B0604020202020204" pitchFamily="34" charset="0"/>
              </a:rPr>
              <a:t>“</a:t>
            </a:r>
            <a:r>
              <a:rPr lang="en-US" altLang="ja-JP" dirty="0">
                <a:latin typeface="Arial" panose="020B0604020202020204" pitchFamily="34" charset="0"/>
              </a:rPr>
              <a:t>Seeing the Whole,</a:t>
            </a:r>
            <a:r>
              <a:rPr lang="ja-JP" altLang="en-US" dirty="0">
                <a:latin typeface="Arial" panose="020B0604020202020204" pitchFamily="34" charset="0"/>
              </a:rPr>
              <a:t>”</a:t>
            </a:r>
            <a:r>
              <a:rPr lang="en-US" altLang="ja-JP" dirty="0">
                <a:latin typeface="Arial" panose="020B0604020202020204" pitchFamily="34" charset="0"/>
              </a:rPr>
              <a:t> by Dan Jones and Jim Womack. In </a:t>
            </a:r>
            <a:r>
              <a:rPr lang="ja-JP" altLang="en-US" dirty="0">
                <a:latin typeface="Arial" panose="020B0604020202020204" pitchFamily="34" charset="0"/>
              </a:rPr>
              <a:t>“</a:t>
            </a:r>
            <a:r>
              <a:rPr lang="en-US" altLang="ja-JP" dirty="0">
                <a:latin typeface="Arial" panose="020B0604020202020204" pitchFamily="34" charset="0"/>
              </a:rPr>
              <a:t>Seeing the Whole,</a:t>
            </a:r>
            <a:r>
              <a:rPr lang="ja-JP" altLang="en-US" dirty="0">
                <a:latin typeface="Arial" panose="020B0604020202020204" pitchFamily="34" charset="0"/>
              </a:rPr>
              <a:t>”</a:t>
            </a:r>
            <a:r>
              <a:rPr lang="en-US" altLang="ja-JP" dirty="0">
                <a:latin typeface="Arial" panose="020B0604020202020204" pitchFamily="34" charset="0"/>
              </a:rPr>
              <a:t> the mapping process is somewhat different than value stream mapping within the 4 walls of your business. In mapping the extended value stream, the process involves (1) Developing the Current State Map, (2) Developing of Future State Map 1, (3) Developing of Future State Map 2, (4) Creation of Ideal State Map, (5) Development of Value Stream Plan.</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a:t>
            </a:fld>
            <a:endParaRPr lang="en-US"/>
          </a:p>
        </p:txBody>
      </p:sp>
    </p:spTree>
    <p:extLst>
      <p:ext uri="{BB962C8B-B14F-4D97-AF65-F5344CB8AC3E}">
        <p14:creationId xmlns:p14="http://schemas.microsoft.com/office/powerpoint/2010/main" val="350437766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A Value Stream Map is the </a:t>
            </a:r>
            <a:r>
              <a:rPr lang="ja-JP" altLang="en-US" dirty="0">
                <a:latin typeface="Arial" panose="020B0604020202020204" pitchFamily="34" charset="0"/>
              </a:rPr>
              <a:t>“</a:t>
            </a:r>
            <a:r>
              <a:rPr lang="en-US" altLang="ja-JP" dirty="0">
                <a:latin typeface="Times New Roman" panose="02020603050405020304" pitchFamily="18" charset="0"/>
              </a:rPr>
              <a:t>30,000-foot</a:t>
            </a:r>
            <a:r>
              <a:rPr lang="ja-JP" altLang="en-US" dirty="0">
                <a:latin typeface="Arial" panose="020B0604020202020204" pitchFamily="34" charset="0"/>
              </a:rPr>
              <a:t>”</a:t>
            </a:r>
            <a:r>
              <a:rPr lang="en-US" altLang="ja-JP" dirty="0">
                <a:latin typeface="Times New Roman" panose="02020603050405020304" pitchFamily="18" charset="0"/>
              </a:rPr>
              <a:t> view of the process. A Process Map is a tool that would take just one process box from a Value Stream Map, and explode that process into it</a:t>
            </a:r>
            <a:r>
              <a:rPr lang="ja-JP" altLang="en-US" dirty="0">
                <a:latin typeface="Arial" panose="020B0604020202020204" pitchFamily="34" charset="0"/>
              </a:rPr>
              <a:t>’</a:t>
            </a:r>
            <a:r>
              <a:rPr lang="en-US" altLang="ja-JP" dirty="0">
                <a:latin typeface="Times New Roman" panose="02020603050405020304" pitchFamily="18" charset="0"/>
              </a:rPr>
              <a:t>s detailed steps.</a:t>
            </a:r>
            <a:r>
              <a:rPr lang="ja-JP" altLang="en-US" dirty="0">
                <a:latin typeface="Arial" panose="020B0604020202020204" pitchFamily="34" charset="0"/>
              </a:rPr>
              <a:t>”</a:t>
            </a:r>
            <a:r>
              <a:rPr lang="en-US" altLang="ja-JP" dirty="0">
                <a:latin typeface="Times New Roman" panose="02020603050405020304" pitchFamily="18" charset="0"/>
              </a:rPr>
              <a:t> </a:t>
            </a:r>
            <a:endParaRPr lang="en-US" altLang="en-US" dirty="0">
              <a:latin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a:t>
            </a:fld>
            <a:endParaRPr lang="en-US"/>
          </a:p>
        </p:txBody>
      </p:sp>
    </p:spTree>
    <p:extLst>
      <p:ext uri="{BB962C8B-B14F-4D97-AF65-F5344CB8AC3E}">
        <p14:creationId xmlns:p14="http://schemas.microsoft.com/office/powerpoint/2010/main" val="350560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So why are we here? What do we want to accomplish?</a:t>
            </a:r>
            <a:r>
              <a:rPr lang="ja-JP" altLang="en-US" dirty="0">
                <a:latin typeface="Arial" panose="020B0604020202020204" pitchFamily="34" charset="0"/>
              </a:rPr>
              <a:t>”</a:t>
            </a:r>
            <a:endParaRPr lang="en-US" altLang="ja-JP" dirty="0">
              <a:latin typeface="Times New Roman" panose="02020603050405020304" pitchFamily="18" charset="0"/>
            </a:endParaRPr>
          </a:p>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If I am going to improve the </a:t>
            </a:r>
            <a:r>
              <a:rPr lang="ja-JP" altLang="en-US" dirty="0">
                <a:latin typeface="Arial" panose="020B0604020202020204" pitchFamily="34" charset="0"/>
              </a:rPr>
              <a:t>“</a:t>
            </a:r>
            <a:r>
              <a:rPr lang="en-US" altLang="ja-JP" dirty="0">
                <a:latin typeface="Times New Roman" panose="02020603050405020304" pitchFamily="18" charset="0"/>
              </a:rPr>
              <a:t>&lt;fill in with your event&gt; Process, what do I do first? VSM gives you the focus.</a:t>
            </a:r>
            <a:r>
              <a:rPr lang="ja-JP" altLang="en-US" dirty="0">
                <a:latin typeface="Arial" panose="020B0604020202020204" pitchFamily="34" charset="0"/>
              </a:rPr>
              <a:t>”</a:t>
            </a:r>
            <a:endParaRPr lang="en-US" altLang="ja-JP" dirty="0">
              <a:latin typeface="Times New Roman" panose="02020603050405020304" pitchFamily="18" charset="0"/>
            </a:endParaRPr>
          </a:p>
          <a:p>
            <a:r>
              <a:rPr lang="en-US" altLang="en-US" b="0" dirty="0">
                <a:latin typeface="Times New Roman" panose="02020603050405020304" pitchFamily="18" charset="0"/>
              </a:rPr>
              <a:t>DO:</a:t>
            </a:r>
            <a:r>
              <a:rPr lang="en-US" altLang="en-US" dirty="0">
                <a:latin typeface="Times New Roman" panose="02020603050405020304" pitchFamily="18" charset="0"/>
              </a:rPr>
              <a:t> Cover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7</a:t>
            </a:fld>
            <a:endParaRPr lang="en-US"/>
          </a:p>
        </p:txBody>
      </p:sp>
    </p:spTree>
    <p:extLst>
      <p:ext uri="{BB962C8B-B14F-4D97-AF65-F5344CB8AC3E}">
        <p14:creationId xmlns:p14="http://schemas.microsoft.com/office/powerpoint/2010/main" val="29454311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It is critical to understand that Value Stream Mapping is a tool that is used to execute our Key Business Imperatives for Business Strategy. VSM helps identify the waste so that improvements can be made to eliminate the waste.</a:t>
            </a:r>
            <a:r>
              <a:rPr lang="ja-JP" altLang="en-US" dirty="0">
                <a:latin typeface="Arial" panose="020B0604020202020204" pitchFamily="34" charset="0"/>
              </a:rPr>
              <a:t>”</a:t>
            </a:r>
            <a:endParaRPr lang="en-US" altLang="en-US" dirty="0">
              <a:latin typeface="Times New Roman" panose="02020603050405020304" pitchFamily="18"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a:t>
            </a:fld>
            <a:endParaRPr lang="en-US"/>
          </a:p>
        </p:txBody>
      </p:sp>
    </p:spTree>
    <p:extLst>
      <p:ext uri="{BB962C8B-B14F-4D97-AF65-F5344CB8AC3E}">
        <p14:creationId xmlns:p14="http://schemas.microsoft.com/office/powerpoint/2010/main" val="16542411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These would be examples of business cases that VSM would support.</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a:t>
            </a:fld>
            <a:endParaRPr lang="en-US"/>
          </a:p>
        </p:txBody>
      </p:sp>
    </p:spTree>
    <p:extLst>
      <p:ext uri="{BB962C8B-B14F-4D97-AF65-F5344CB8AC3E}">
        <p14:creationId xmlns:p14="http://schemas.microsoft.com/office/powerpoint/2010/main" val="6917468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VSM Roadmap. Cover what has taken place already, where we are in the process, and where we will go from here.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Stress that this is an iterative process. VSM is typically a 6 month cycle… then when your future state becomes your new current state, you begin again. </a:t>
            </a:r>
          </a:p>
        </p:txBody>
      </p:sp>
      <p:sp>
        <p:nvSpPr>
          <p:cNvPr id="4" name="Slide Number Placeholder 3"/>
          <p:cNvSpPr>
            <a:spLocks noGrp="1"/>
          </p:cNvSpPr>
          <p:nvPr>
            <p:ph type="sldNum" sz="quarter" idx="5"/>
          </p:nvPr>
        </p:nvSpPr>
        <p:spPr/>
        <p:txBody>
          <a:bodyPr/>
          <a:lstStyle/>
          <a:p>
            <a:fld id="{AECD8548-F1A2-4EDF-A416-5F2BB6B8F64C}" type="slidenum">
              <a:rPr lang="en-US" smtClean="0"/>
              <a:t>10</a:t>
            </a:fld>
            <a:endParaRPr lang="en-US"/>
          </a:p>
        </p:txBody>
      </p:sp>
    </p:spTree>
    <p:extLst>
      <p:ext uri="{BB962C8B-B14F-4D97-AF65-F5344CB8AC3E}">
        <p14:creationId xmlns:p14="http://schemas.microsoft.com/office/powerpoint/2010/main" val="245943434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week we are at Process Step 3. The steps to conducting a VSM Event are:</a:t>
            </a:r>
          </a:p>
          <a:p>
            <a:pPr eaLnBrk="1" hangingPunct="1"/>
            <a:r>
              <a:rPr lang="en-US" altLang="en-US" dirty="0">
                <a:latin typeface="Arial" panose="020B0604020202020204" pitchFamily="34" charset="0"/>
              </a:rPr>
              <a:t>1 – Select Product or Service Family (this has been done)</a:t>
            </a:r>
          </a:p>
          <a:p>
            <a:pPr eaLnBrk="1" hangingPunct="1"/>
            <a:r>
              <a:rPr lang="en-US" altLang="en-US" dirty="0">
                <a:latin typeface="Arial" panose="020B0604020202020204" pitchFamily="34" charset="0"/>
              </a:rPr>
              <a:t>2 – Create the Current State Map – again, the snapshot of the process today</a:t>
            </a:r>
          </a:p>
          <a:p>
            <a:pPr eaLnBrk="1" hangingPunct="1"/>
            <a:r>
              <a:rPr lang="en-US" altLang="en-US" dirty="0">
                <a:latin typeface="Arial" panose="020B0604020202020204" pitchFamily="34" charset="0"/>
              </a:rPr>
              <a:t>3 – Interrogate the Current State – here we will analyze the Current State for improvement opportunities</a:t>
            </a:r>
          </a:p>
          <a:p>
            <a:pPr eaLnBrk="1" hangingPunct="1"/>
            <a:r>
              <a:rPr lang="en-US" altLang="en-US" dirty="0">
                <a:latin typeface="Arial" panose="020B0604020202020204" pitchFamily="34" charset="0"/>
              </a:rPr>
              <a:t>4 – Create Future State Map – based on the improvements we want to make – what will the future process look like</a:t>
            </a:r>
          </a:p>
          <a:p>
            <a:pPr eaLnBrk="1" hangingPunct="1"/>
            <a:r>
              <a:rPr lang="en-US" altLang="en-US" dirty="0">
                <a:latin typeface="Arial" panose="020B0604020202020204" pitchFamily="34" charset="0"/>
              </a:rPr>
              <a:t>5 – Develop the Value Stream Plan – here is where we detail what specific objectives need to be accomplished in order for the Future State to be achieved. </a:t>
            </a:r>
          </a:p>
          <a:p>
            <a:pPr eaLnBrk="1" hangingPunct="1"/>
            <a:r>
              <a:rPr lang="en-US" altLang="en-US" dirty="0">
                <a:latin typeface="Arial" panose="020B0604020202020204" pitchFamily="34" charset="0"/>
              </a:rPr>
              <a:t>Realize that when we are complete this week</a:t>
            </a:r>
            <a:r>
              <a:rPr lang="ja-JP" altLang="en-US" dirty="0">
                <a:latin typeface="Arial" panose="020B0604020202020204" pitchFamily="34" charset="0"/>
              </a:rPr>
              <a:t>’</a:t>
            </a:r>
            <a:r>
              <a:rPr lang="en-US" altLang="ja-JP" dirty="0">
                <a:latin typeface="Arial" panose="020B0604020202020204" pitchFamily="34" charset="0"/>
              </a:rPr>
              <a:t>s event – no improvements will actually be made… it is not until the action plan gets implemented that we will see results. </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a:t>
            </a:fld>
            <a:endParaRPr lang="en-US"/>
          </a:p>
        </p:txBody>
      </p:sp>
    </p:spTree>
    <p:extLst>
      <p:ext uri="{BB962C8B-B14F-4D97-AF65-F5344CB8AC3E}">
        <p14:creationId xmlns:p14="http://schemas.microsoft.com/office/powerpoint/2010/main" val="103735127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is the typical 5 day agenda for what we will accomplish this week.</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NOTE:</a:t>
            </a:r>
            <a:r>
              <a:rPr lang="en-US" altLang="en-US" dirty="0">
                <a:latin typeface="Arial" panose="020B0604020202020204" pitchFamily="34" charset="0"/>
              </a:rPr>
              <a:t> Deliverable dates can be adjusted as needed depending on the event. </a:t>
            </a:r>
          </a:p>
        </p:txBody>
      </p:sp>
      <p:sp>
        <p:nvSpPr>
          <p:cNvPr id="4" name="Slide Number Placeholder 3"/>
          <p:cNvSpPr>
            <a:spLocks noGrp="1"/>
          </p:cNvSpPr>
          <p:nvPr>
            <p:ph type="sldNum" sz="quarter" idx="5"/>
          </p:nvPr>
        </p:nvSpPr>
        <p:spPr/>
        <p:txBody>
          <a:bodyPr/>
          <a:lstStyle/>
          <a:p>
            <a:fld id="{AECD8548-F1A2-4EDF-A416-5F2BB6B8F64C}" type="slidenum">
              <a:rPr lang="en-US" smtClean="0"/>
              <a:t>12</a:t>
            </a:fld>
            <a:endParaRPr lang="en-US"/>
          </a:p>
        </p:txBody>
      </p:sp>
    </p:spTree>
    <p:extLst>
      <p:ext uri="{BB962C8B-B14F-4D97-AF65-F5344CB8AC3E}">
        <p14:creationId xmlns:p14="http://schemas.microsoft.com/office/powerpoint/2010/main" val="32433833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first step of the VSM process which is to Select the Product or Service Family. Note that although this has actually been done prior to this event, this is an important part to the overall VSM process. The purpose for reviewing this now is so that we can all see where the information for this event originated.</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section objectives. </a:t>
            </a:r>
          </a:p>
        </p:txBody>
      </p:sp>
      <p:sp>
        <p:nvSpPr>
          <p:cNvPr id="4" name="Slide Number Placeholder 3"/>
          <p:cNvSpPr>
            <a:spLocks noGrp="1"/>
          </p:cNvSpPr>
          <p:nvPr>
            <p:ph type="sldNum" sz="quarter" idx="5"/>
          </p:nvPr>
        </p:nvSpPr>
        <p:spPr/>
        <p:txBody>
          <a:bodyPr/>
          <a:lstStyle/>
          <a:p>
            <a:fld id="{AECD8548-F1A2-4EDF-A416-5F2BB6B8F64C}" type="slidenum">
              <a:rPr lang="en-US" smtClean="0"/>
              <a:t>13</a:t>
            </a:fld>
            <a:endParaRPr lang="en-US"/>
          </a:p>
        </p:txBody>
      </p:sp>
    </p:spTree>
    <p:extLst>
      <p:ext uri="{BB962C8B-B14F-4D97-AF65-F5344CB8AC3E}">
        <p14:creationId xmlns:p14="http://schemas.microsoft.com/office/powerpoint/2010/main" val="130997091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Cover all of the points that feed into the overall definition.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week we will clearly define all of the Value Added and Non-Value Added Processes, the Product and Information Flow, we</a:t>
            </a:r>
            <a:r>
              <a:rPr lang="ja-JP" altLang="en-US" dirty="0">
                <a:latin typeface="Arial" panose="020B0604020202020204" pitchFamily="34" charset="0"/>
              </a:rPr>
              <a:t>’</a:t>
            </a:r>
            <a:r>
              <a:rPr lang="en-US" altLang="ja-JP" dirty="0" err="1">
                <a:latin typeface="Arial" panose="020B0604020202020204" pitchFamily="34" charset="0"/>
              </a:rPr>
              <a:t>ll</a:t>
            </a:r>
            <a:r>
              <a:rPr lang="en-US" altLang="ja-JP" dirty="0">
                <a:latin typeface="Arial" panose="020B0604020202020204" pitchFamily="34" charset="0"/>
              </a:rPr>
              <a:t> identify who are all the functions represented in this project, and we</a:t>
            </a:r>
            <a:r>
              <a:rPr lang="ja-JP" altLang="en-US" dirty="0">
                <a:latin typeface="Arial" panose="020B0604020202020204" pitchFamily="34" charset="0"/>
              </a:rPr>
              <a:t>’</a:t>
            </a:r>
            <a:r>
              <a:rPr lang="en-US" altLang="ja-JP" dirty="0" err="1">
                <a:latin typeface="Arial" panose="020B0604020202020204" pitchFamily="34" charset="0"/>
              </a:rPr>
              <a:t>ll</a:t>
            </a:r>
            <a:r>
              <a:rPr lang="en-US" altLang="ja-JP" dirty="0">
                <a:latin typeface="Arial" panose="020B0604020202020204" pitchFamily="34" charset="0"/>
              </a:rPr>
              <a:t> clearly understand who is the customer.</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14</a:t>
            </a:fld>
            <a:endParaRPr lang="en-US"/>
          </a:p>
        </p:txBody>
      </p:sp>
    </p:spTree>
    <p:extLst>
      <p:ext uri="{BB962C8B-B14F-4D97-AF65-F5344CB8AC3E}">
        <p14:creationId xmlns:p14="http://schemas.microsoft.com/office/powerpoint/2010/main" val="151079518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The VALUE OBJECT is defined as a single (main) component that is contained within the product that follows all of the process steps within the value stream.</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The VALUE OBJECT is a representative part that is used to follow the value stream as it is mapped and to calculate the inventory levels at each process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If we don</a:t>
            </a:r>
            <a:r>
              <a:rPr lang="ja-JP" altLang="en-US" dirty="0">
                <a:latin typeface="Arial" panose="020B0604020202020204" pitchFamily="34" charset="0"/>
              </a:rPr>
              <a:t>’</a:t>
            </a:r>
            <a:r>
              <a:rPr lang="en-US" altLang="ja-JP" dirty="0">
                <a:latin typeface="Arial" panose="020B0604020202020204" pitchFamily="34" charset="0"/>
              </a:rPr>
              <a:t>t focus on an object, we</a:t>
            </a:r>
            <a:r>
              <a:rPr lang="ja-JP" altLang="en-US" dirty="0">
                <a:latin typeface="Arial" panose="020B0604020202020204" pitchFamily="34" charset="0"/>
              </a:rPr>
              <a:t>’</a:t>
            </a:r>
            <a:r>
              <a:rPr lang="en-US" altLang="ja-JP" dirty="0" err="1">
                <a:latin typeface="Arial" panose="020B0604020202020204" pitchFamily="34" charset="0"/>
              </a:rPr>
              <a:t>ll</a:t>
            </a:r>
            <a:r>
              <a:rPr lang="en-US" altLang="ja-JP" dirty="0">
                <a:latin typeface="Arial" panose="020B0604020202020204" pitchFamily="34" charset="0"/>
              </a:rPr>
              <a:t> focus on every piece of e-mail, </a:t>
            </a:r>
            <a:r>
              <a:rPr lang="en-US" altLang="ja-JP" dirty="0" err="1">
                <a:latin typeface="Arial" panose="020B0604020202020204" pitchFamily="34" charset="0"/>
              </a:rPr>
              <a:t>etc</a:t>
            </a:r>
            <a:r>
              <a:rPr lang="en-US" altLang="ja-JP" dirty="0">
                <a:latin typeface="Arial" panose="020B0604020202020204" pitchFamily="34" charset="0"/>
              </a:rPr>
              <a:t>, and miss the bigger picture.</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examples on the slide. They will have a brief exercise with these examples on an upcoming slide. </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15</a:t>
            </a:fld>
            <a:endParaRPr lang="en-US"/>
          </a:p>
        </p:txBody>
      </p:sp>
    </p:spTree>
    <p:extLst>
      <p:ext uri="{BB962C8B-B14F-4D97-AF65-F5344CB8AC3E}">
        <p14:creationId xmlns:p14="http://schemas.microsoft.com/office/powerpoint/2010/main" val="274351082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16</a:t>
            </a:fld>
            <a:endParaRPr lang="en-US"/>
          </a:p>
        </p:txBody>
      </p:sp>
    </p:spTree>
    <p:extLst>
      <p:ext uri="{BB962C8B-B14F-4D97-AF65-F5344CB8AC3E}">
        <p14:creationId xmlns:p14="http://schemas.microsoft.com/office/powerpoint/2010/main" val="428016603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17</a:t>
            </a:fld>
            <a:endParaRPr lang="en-US"/>
          </a:p>
        </p:txBody>
      </p:sp>
    </p:spTree>
    <p:extLst>
      <p:ext uri="{BB962C8B-B14F-4D97-AF65-F5344CB8AC3E}">
        <p14:creationId xmlns:p14="http://schemas.microsoft.com/office/powerpoint/2010/main" val="35347804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18</a:t>
            </a:fld>
            <a:endParaRPr lang="en-US"/>
          </a:p>
        </p:txBody>
      </p:sp>
    </p:spTree>
    <p:extLst>
      <p:ext uri="{BB962C8B-B14F-4D97-AF65-F5344CB8AC3E}">
        <p14:creationId xmlns:p14="http://schemas.microsoft.com/office/powerpoint/2010/main" val="358610366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We try to do end-to-end as much as possible. When mapping manufacturing processes we typically are mapping from shipping to receiving. This module is focused on mapping within the 4 walls of your business. After all value streams within your business have been analyzed and improved through VSM, you can extend beyond the 4 walls with macro Value Stream Mapping.</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19</a:t>
            </a:fld>
            <a:endParaRPr lang="en-US"/>
          </a:p>
        </p:txBody>
      </p:sp>
    </p:spTree>
    <p:extLst>
      <p:ext uri="{BB962C8B-B14F-4D97-AF65-F5344CB8AC3E}">
        <p14:creationId xmlns:p14="http://schemas.microsoft.com/office/powerpoint/2010/main" val="304703250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If the customer </a:t>
            </a:r>
            <a:r>
              <a:rPr lang="en-US" altLang="ja-JP" dirty="0" err="1">
                <a:latin typeface="Arial" panose="020B0604020202020204" pitchFamily="34" charset="0"/>
              </a:rPr>
              <a:t>isn</a:t>
            </a:r>
            <a:r>
              <a:rPr lang="ja-JP" altLang="en-US" dirty="0">
                <a:latin typeface="Arial" panose="020B0604020202020204" pitchFamily="34" charset="0"/>
              </a:rPr>
              <a:t>’</a:t>
            </a:r>
            <a:r>
              <a:rPr lang="en-US" altLang="ja-JP" dirty="0">
                <a:latin typeface="Arial" panose="020B0604020202020204" pitchFamily="34" charset="0"/>
              </a:rPr>
              <a:t>t benefiting, we want to make sure we identify it.</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Caution people away from thinking the next process is the customer. People can optimize the process that the end customer </a:t>
            </a:r>
            <a:r>
              <a:rPr lang="en-US" altLang="en-US" dirty="0" err="1">
                <a:latin typeface="Arial" panose="020B0604020202020204" pitchFamily="34" charset="0"/>
              </a:rPr>
              <a:t>doesn</a:t>
            </a:r>
            <a:r>
              <a:rPr lang="ja-JP" altLang="en-US" dirty="0">
                <a:latin typeface="Arial" panose="020B0604020202020204" pitchFamily="34" charset="0"/>
              </a:rPr>
              <a:t>’</a:t>
            </a:r>
            <a:r>
              <a:rPr lang="en-US" altLang="ja-JP" dirty="0">
                <a:latin typeface="Arial" panose="020B0604020202020204" pitchFamily="34" charset="0"/>
              </a:rPr>
              <a:t>t care about.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Introduce the concept customer vs. stakeholders. </a:t>
            </a:r>
          </a:p>
        </p:txBody>
      </p:sp>
      <p:sp>
        <p:nvSpPr>
          <p:cNvPr id="4" name="Slide Number Placeholder 3"/>
          <p:cNvSpPr>
            <a:spLocks noGrp="1"/>
          </p:cNvSpPr>
          <p:nvPr>
            <p:ph type="sldNum" sz="quarter" idx="5"/>
          </p:nvPr>
        </p:nvSpPr>
        <p:spPr/>
        <p:txBody>
          <a:bodyPr/>
          <a:lstStyle/>
          <a:p>
            <a:fld id="{AECD8548-F1A2-4EDF-A416-5F2BB6B8F64C}" type="slidenum">
              <a:rPr lang="en-US" smtClean="0"/>
              <a:t>20</a:t>
            </a:fld>
            <a:endParaRPr lang="en-US"/>
          </a:p>
        </p:txBody>
      </p:sp>
    </p:spTree>
    <p:extLst>
      <p:ext uri="{BB962C8B-B14F-4D97-AF65-F5344CB8AC3E}">
        <p14:creationId xmlns:p14="http://schemas.microsoft.com/office/powerpoint/2010/main" val="300777116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We will complete this chart for our process as group.</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Cover what the chart is asking for and transition to the next slide for the exercise instructions. Complete this chart on flipchart.</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21</a:t>
            </a:fld>
            <a:endParaRPr lang="en-US"/>
          </a:p>
        </p:txBody>
      </p:sp>
    </p:spTree>
    <p:extLst>
      <p:ext uri="{BB962C8B-B14F-4D97-AF65-F5344CB8AC3E}">
        <p14:creationId xmlns:p14="http://schemas.microsoft.com/office/powerpoint/2010/main" val="23791686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Facilitate this as a group discussion. Have one person document answers on a chart paper.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22</a:t>
            </a:fld>
            <a:endParaRPr lang="en-US"/>
          </a:p>
        </p:txBody>
      </p:sp>
    </p:spTree>
    <p:extLst>
      <p:ext uri="{BB962C8B-B14F-4D97-AF65-F5344CB8AC3E}">
        <p14:creationId xmlns:p14="http://schemas.microsoft.com/office/powerpoint/2010/main" val="260442336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Facilitate this as a group discussion. Have the kaizen charter display on the projector for everyone to review.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BREAK – 10 MINUTES</a:t>
            </a:r>
          </a:p>
        </p:txBody>
      </p:sp>
      <p:sp>
        <p:nvSpPr>
          <p:cNvPr id="4" name="Slide Number Placeholder 3"/>
          <p:cNvSpPr>
            <a:spLocks noGrp="1"/>
          </p:cNvSpPr>
          <p:nvPr>
            <p:ph type="sldNum" sz="quarter" idx="5"/>
          </p:nvPr>
        </p:nvSpPr>
        <p:spPr/>
        <p:txBody>
          <a:bodyPr/>
          <a:lstStyle/>
          <a:p>
            <a:fld id="{AECD8548-F1A2-4EDF-A416-5F2BB6B8F64C}" type="slidenum">
              <a:rPr lang="en-US" smtClean="0"/>
              <a:t>23</a:t>
            </a:fld>
            <a:endParaRPr lang="en-US"/>
          </a:p>
        </p:txBody>
      </p:sp>
    </p:spTree>
    <p:extLst>
      <p:ext uri="{BB962C8B-B14F-4D97-AF65-F5344CB8AC3E}">
        <p14:creationId xmlns:p14="http://schemas.microsoft.com/office/powerpoint/2010/main" val="412501545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Refer to agenda on flip-chart and review what has been covered already. Suggested method is </a:t>
            </a:r>
            <a:r>
              <a:rPr lang="ja-JP" altLang="en-US" dirty="0">
                <a:latin typeface="Arial" panose="020B0604020202020204" pitchFamily="34" charset="0"/>
              </a:rPr>
              <a:t>“</a:t>
            </a:r>
            <a:r>
              <a:rPr lang="en-US" altLang="ja-JP" dirty="0">
                <a:latin typeface="Arial" panose="020B0604020202020204" pitchFamily="34" charset="0"/>
              </a:rPr>
              <a:t>questioning</a:t>
            </a:r>
            <a:r>
              <a:rPr lang="ja-JP" altLang="en-US" dirty="0">
                <a:latin typeface="Arial" panose="020B0604020202020204" pitchFamily="34" charset="0"/>
              </a:rPr>
              <a:t>”</a:t>
            </a:r>
            <a:r>
              <a:rPr lang="en-US" altLang="ja-JP" dirty="0">
                <a:latin typeface="Arial" panose="020B0604020202020204" pitchFamily="34" charset="0"/>
              </a:rPr>
              <a:t> ask a few questions as you refer to the agenda about </a:t>
            </a:r>
            <a:r>
              <a:rPr lang="ja-JP" altLang="en-US" dirty="0">
                <a:latin typeface="Arial" panose="020B0604020202020204" pitchFamily="34" charset="0"/>
              </a:rPr>
              <a:t>“</a:t>
            </a:r>
            <a:r>
              <a:rPr lang="en-US" altLang="ja-JP" dirty="0">
                <a:latin typeface="Arial" panose="020B0604020202020204" pitchFamily="34" charset="0"/>
              </a:rPr>
              <a:t>what is a value stream</a:t>
            </a:r>
            <a:r>
              <a:rPr lang="ja-JP" altLang="en-US" dirty="0">
                <a:latin typeface="Arial" panose="020B0604020202020204" pitchFamily="34" charset="0"/>
              </a:rPr>
              <a:t>”</a:t>
            </a:r>
            <a:r>
              <a:rPr lang="en-US" altLang="ja-JP"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why value stream map,</a:t>
            </a:r>
            <a:r>
              <a:rPr lang="ja-JP" altLang="en-US" dirty="0">
                <a:latin typeface="Arial" panose="020B0604020202020204" pitchFamily="34" charset="0"/>
              </a:rPr>
              <a:t>”</a:t>
            </a:r>
            <a:r>
              <a:rPr lang="en-US" altLang="ja-JP" dirty="0">
                <a:latin typeface="Arial" panose="020B0604020202020204" pitchFamily="34" charset="0"/>
              </a:rPr>
              <a:t> and </a:t>
            </a:r>
            <a:r>
              <a:rPr lang="ja-JP" altLang="en-US" dirty="0">
                <a:latin typeface="Arial" panose="020B0604020202020204" pitchFamily="34" charset="0"/>
              </a:rPr>
              <a:t>“</a:t>
            </a:r>
            <a:r>
              <a:rPr lang="en-US" altLang="ja-JP" dirty="0">
                <a:latin typeface="Arial" panose="020B0604020202020204" pitchFamily="34" charset="0"/>
              </a:rPr>
              <a:t>what do we keep in mind when selecting value streams to map</a:t>
            </a:r>
            <a:r>
              <a:rPr lang="ja-JP" altLang="en-US" dirty="0">
                <a:latin typeface="Arial" panose="020B0604020202020204" pitchFamily="34" charset="0"/>
              </a:rPr>
              <a:t>”</a:t>
            </a:r>
            <a:r>
              <a:rPr lang="en-US" altLang="ja-JP" dirty="0">
                <a:latin typeface="Arial" panose="020B0604020202020204" pitchFamily="34" charset="0"/>
              </a:rPr>
              <a:t>.</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next step in the process of Value Stream Mapping – and that is creating the Current State Map of the process.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objectives on the slide.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SUPPLIES NEEDED FOR THIS SECTION:</a:t>
            </a:r>
          </a:p>
          <a:p>
            <a:pPr eaLnBrk="1" hangingPunct="1"/>
            <a:r>
              <a:rPr lang="en-US" altLang="en-US" dirty="0">
                <a:latin typeface="Arial" panose="020B0604020202020204" pitchFamily="34" charset="0"/>
              </a:rPr>
              <a:t>Calculators</a:t>
            </a:r>
          </a:p>
          <a:p>
            <a:pPr eaLnBrk="1" hangingPunct="1"/>
            <a:r>
              <a:rPr lang="en-US" altLang="en-US" dirty="0">
                <a:latin typeface="Arial" panose="020B0604020202020204" pitchFamily="34" charset="0"/>
              </a:rPr>
              <a:t>Flip-chart paper</a:t>
            </a:r>
          </a:p>
          <a:p>
            <a:pPr eaLnBrk="1" hangingPunct="1"/>
            <a:r>
              <a:rPr lang="en-US" altLang="en-US" dirty="0">
                <a:latin typeface="Arial" panose="020B0604020202020204" pitchFamily="34" charset="0"/>
              </a:rPr>
              <a:t>11x17 paper – one sheet per participant</a:t>
            </a:r>
          </a:p>
          <a:p>
            <a:pPr eaLnBrk="1" hangingPunct="1"/>
            <a:r>
              <a:rPr lang="en-US" altLang="en-US" dirty="0">
                <a:latin typeface="Arial" panose="020B0604020202020204" pitchFamily="34" charset="0"/>
              </a:rPr>
              <a:t>Black thin markers</a:t>
            </a:r>
          </a:p>
          <a:p>
            <a:pPr eaLnBrk="1" hangingPunct="1"/>
            <a:r>
              <a:rPr lang="en-US" altLang="en-US" dirty="0">
                <a:latin typeface="Arial" panose="020B0604020202020204" pitchFamily="34" charset="0"/>
              </a:rPr>
              <a:t>3-4 Packs of Post-It Notes</a:t>
            </a:r>
          </a:p>
        </p:txBody>
      </p:sp>
      <p:sp>
        <p:nvSpPr>
          <p:cNvPr id="4" name="Slide Number Placeholder 3"/>
          <p:cNvSpPr>
            <a:spLocks noGrp="1"/>
          </p:cNvSpPr>
          <p:nvPr>
            <p:ph type="sldNum" sz="quarter" idx="5"/>
          </p:nvPr>
        </p:nvSpPr>
        <p:spPr/>
        <p:txBody>
          <a:bodyPr/>
          <a:lstStyle/>
          <a:p>
            <a:fld id="{AECD8548-F1A2-4EDF-A416-5F2BB6B8F64C}" type="slidenum">
              <a:rPr lang="en-US" smtClean="0"/>
              <a:t>24</a:t>
            </a:fld>
            <a:endParaRPr lang="en-US"/>
          </a:p>
        </p:txBody>
      </p:sp>
    </p:spTree>
    <p:extLst>
      <p:ext uri="{BB962C8B-B14F-4D97-AF65-F5344CB8AC3E}">
        <p14:creationId xmlns:p14="http://schemas.microsoft.com/office/powerpoint/2010/main" val="16555396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There are three major steps to creating the Current State Map, and we will follow these steps when we map our process. First, we walk the entire value stream as a team from end to beginning. The purpose here is to get an understanding of the flow and primary processes that the VALUE OBJECT flows through.</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ASK</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Why do you think we walk the process backwards?</a:t>
            </a:r>
            <a:r>
              <a:rPr lang="ja-JP" altLang="en-US" dirty="0">
                <a:latin typeface="Arial" panose="020B0604020202020204" pitchFamily="34" charset="0"/>
              </a:rPr>
              <a:t>”</a:t>
            </a:r>
            <a:r>
              <a:rPr lang="en-US" altLang="ja-JP" dirty="0">
                <a:latin typeface="Arial" panose="020B0604020202020204" pitchFamily="34" charset="0"/>
              </a:rPr>
              <a:t> (answer: we start with the customer and walk backwards so that we always are viewing the current state from the customer</a:t>
            </a:r>
            <a:r>
              <a:rPr lang="ja-JP" altLang="en-US" dirty="0">
                <a:latin typeface="Arial" panose="020B0604020202020204" pitchFamily="34" charset="0"/>
              </a:rPr>
              <a:t>’</a:t>
            </a:r>
            <a:r>
              <a:rPr lang="en-US" altLang="ja-JP" dirty="0">
                <a:latin typeface="Arial" panose="020B0604020202020204" pitchFamily="34" charset="0"/>
              </a:rPr>
              <a:t>s perspective. Also when you walk backwards you see the waste more clearly. When you walk the process from beginning to end – you run the danger of mapping how the process should be – not how it really is.</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Next we return and create a large map of just the processes. Then we identify what data we will need to get, where the data is, and how we will need to get it. This is Team Walk #2.</a:t>
            </a:r>
            <a:r>
              <a:rPr lang="ja-JP" altLang="en-US" dirty="0">
                <a:latin typeface="Arial" panose="020B0604020202020204" pitchFamily="34" charset="0"/>
              </a:rPr>
              <a:t>”</a:t>
            </a:r>
            <a:r>
              <a:rPr lang="en-US" altLang="ja-JP" dirty="0">
                <a:latin typeface="Arial" panose="020B0604020202020204" pitchFamily="34" charset="0"/>
              </a:rPr>
              <a:t> (note: depending on size of the group – the group may need to sub-divide and go collect the data).</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Finally, we return to our common area and create the full Current State Map with all of our data.</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25</a:t>
            </a:fld>
            <a:endParaRPr lang="en-US"/>
          </a:p>
        </p:txBody>
      </p:sp>
    </p:spTree>
    <p:extLst>
      <p:ext uri="{BB962C8B-B14F-4D97-AF65-F5344CB8AC3E}">
        <p14:creationId xmlns:p14="http://schemas.microsoft.com/office/powerpoint/2010/main" val="420431247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As was mentioned on the previous slide, the team walks the process from end to beginning. This allows the team to process as it is, not what it is supposed to be. Think of walking in a stream with the current. The current pushes you forward in the direction it wants you to go. You move along quickly and may not notice the details of your surrounds. Now if you turn in that stream and walk against the current, you are going to notice every rock and branch that you can hold on to in order to pull you ahead. You are much more aware of what is around you. The same holds true for Value Stream Mapping.</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26</a:t>
            </a:fld>
            <a:endParaRPr lang="en-US"/>
          </a:p>
        </p:txBody>
      </p:sp>
    </p:spTree>
    <p:extLst>
      <p:ext uri="{BB962C8B-B14F-4D97-AF65-F5344CB8AC3E}">
        <p14:creationId xmlns:p14="http://schemas.microsoft.com/office/powerpoint/2010/main" val="184080762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slide is meant to show the general real estate allotted for a Value Stream Map.</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what gets drawn where. </a:t>
            </a:r>
          </a:p>
        </p:txBody>
      </p:sp>
      <p:sp>
        <p:nvSpPr>
          <p:cNvPr id="4" name="Slide Number Placeholder 3"/>
          <p:cNvSpPr>
            <a:spLocks noGrp="1"/>
          </p:cNvSpPr>
          <p:nvPr>
            <p:ph type="sldNum" sz="quarter" idx="5"/>
          </p:nvPr>
        </p:nvSpPr>
        <p:spPr/>
        <p:txBody>
          <a:bodyPr/>
          <a:lstStyle/>
          <a:p>
            <a:fld id="{AECD8548-F1A2-4EDF-A416-5F2BB6B8F64C}" type="slidenum">
              <a:rPr lang="en-US" smtClean="0"/>
              <a:t>27</a:t>
            </a:fld>
            <a:endParaRPr lang="en-US"/>
          </a:p>
        </p:txBody>
      </p:sp>
    </p:spTree>
    <p:extLst>
      <p:ext uri="{BB962C8B-B14F-4D97-AF65-F5344CB8AC3E}">
        <p14:creationId xmlns:p14="http://schemas.microsoft.com/office/powerpoint/2010/main" val="272121512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Pass out the 11x17</a:t>
            </a:r>
            <a:r>
              <a:rPr lang="ja-JP" altLang="en-US" dirty="0">
                <a:latin typeface="Arial" panose="020B0604020202020204" pitchFamily="34" charset="0"/>
              </a:rPr>
              <a:t>”</a:t>
            </a:r>
            <a:r>
              <a:rPr lang="en-US" altLang="ja-JP" dirty="0">
                <a:latin typeface="Arial" panose="020B0604020202020204" pitchFamily="34" charset="0"/>
              </a:rPr>
              <a:t> paper, markers, calculators. Read the instructions of the exercise. Emphasize that they are to draw exactly what they see during the process. Make sure you tell the class then when they are complete this exercise, they are to hold on to their maps for we will use them again in a later section of the material. </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28</a:t>
            </a:fld>
            <a:endParaRPr lang="en-US"/>
          </a:p>
        </p:txBody>
      </p:sp>
    </p:spTree>
    <p:extLst>
      <p:ext uri="{BB962C8B-B14F-4D97-AF65-F5344CB8AC3E}">
        <p14:creationId xmlns:p14="http://schemas.microsoft.com/office/powerpoint/2010/main" val="373916495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HANDOUT</a:t>
            </a:r>
          </a:p>
        </p:txBody>
      </p:sp>
      <p:sp>
        <p:nvSpPr>
          <p:cNvPr id="4" name="Slide Number Placeholder 3"/>
          <p:cNvSpPr>
            <a:spLocks noGrp="1"/>
          </p:cNvSpPr>
          <p:nvPr>
            <p:ph type="sldNum" sz="quarter" idx="5"/>
          </p:nvPr>
        </p:nvSpPr>
        <p:spPr/>
        <p:txBody>
          <a:bodyPr/>
          <a:lstStyle/>
          <a:p>
            <a:fld id="{AECD8548-F1A2-4EDF-A416-5F2BB6B8F64C}" type="slidenum">
              <a:rPr lang="en-US" smtClean="0"/>
              <a:t>29</a:t>
            </a:fld>
            <a:endParaRPr lang="en-US"/>
          </a:p>
        </p:txBody>
      </p:sp>
    </p:spTree>
    <p:extLst>
      <p:ext uri="{BB962C8B-B14F-4D97-AF65-F5344CB8AC3E}">
        <p14:creationId xmlns:p14="http://schemas.microsoft.com/office/powerpoint/2010/main" val="34194894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HANDOUT</a:t>
            </a:r>
          </a:p>
        </p:txBody>
      </p:sp>
      <p:sp>
        <p:nvSpPr>
          <p:cNvPr id="4" name="Slide Number Placeholder 3"/>
          <p:cNvSpPr>
            <a:spLocks noGrp="1"/>
          </p:cNvSpPr>
          <p:nvPr>
            <p:ph type="sldNum" sz="quarter" idx="5"/>
          </p:nvPr>
        </p:nvSpPr>
        <p:spPr/>
        <p:txBody>
          <a:bodyPr/>
          <a:lstStyle/>
          <a:p>
            <a:fld id="{AECD8548-F1A2-4EDF-A416-5F2BB6B8F64C}" type="slidenum">
              <a:rPr lang="en-US" smtClean="0"/>
              <a:t>30</a:t>
            </a:fld>
            <a:endParaRPr lang="en-US"/>
          </a:p>
        </p:txBody>
      </p:sp>
    </p:spTree>
    <p:extLst>
      <p:ext uri="{BB962C8B-B14F-4D97-AF65-F5344CB8AC3E}">
        <p14:creationId xmlns:p14="http://schemas.microsoft.com/office/powerpoint/2010/main" val="159024290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HANDOUT</a:t>
            </a:r>
          </a:p>
        </p:txBody>
      </p:sp>
      <p:sp>
        <p:nvSpPr>
          <p:cNvPr id="4" name="Slide Number Placeholder 3"/>
          <p:cNvSpPr>
            <a:spLocks noGrp="1"/>
          </p:cNvSpPr>
          <p:nvPr>
            <p:ph type="sldNum" sz="quarter" idx="5"/>
          </p:nvPr>
        </p:nvSpPr>
        <p:spPr/>
        <p:txBody>
          <a:bodyPr/>
          <a:lstStyle/>
          <a:p>
            <a:fld id="{AECD8548-F1A2-4EDF-A416-5F2BB6B8F64C}" type="slidenum">
              <a:rPr lang="en-US" smtClean="0"/>
              <a:t>31</a:t>
            </a:fld>
            <a:endParaRPr lang="en-US"/>
          </a:p>
        </p:txBody>
      </p:sp>
    </p:spTree>
    <p:extLst>
      <p:ext uri="{BB962C8B-B14F-4D97-AF65-F5344CB8AC3E}">
        <p14:creationId xmlns:p14="http://schemas.microsoft.com/office/powerpoint/2010/main" val="231045994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HANDOUT</a:t>
            </a:r>
          </a:p>
        </p:txBody>
      </p:sp>
      <p:sp>
        <p:nvSpPr>
          <p:cNvPr id="4" name="Slide Number Placeholder 3"/>
          <p:cNvSpPr>
            <a:spLocks noGrp="1"/>
          </p:cNvSpPr>
          <p:nvPr>
            <p:ph type="sldNum" sz="quarter" idx="5"/>
          </p:nvPr>
        </p:nvSpPr>
        <p:spPr/>
        <p:txBody>
          <a:bodyPr/>
          <a:lstStyle/>
          <a:p>
            <a:fld id="{AECD8548-F1A2-4EDF-A416-5F2BB6B8F64C}" type="slidenum">
              <a:rPr lang="en-US" smtClean="0"/>
              <a:t>32</a:t>
            </a:fld>
            <a:endParaRPr lang="en-US"/>
          </a:p>
        </p:txBody>
      </p:sp>
    </p:spTree>
    <p:extLst>
      <p:ext uri="{BB962C8B-B14F-4D97-AF65-F5344CB8AC3E}">
        <p14:creationId xmlns:p14="http://schemas.microsoft.com/office/powerpoint/2010/main" val="389124157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33</a:t>
            </a:fld>
            <a:endParaRPr lang="en-US"/>
          </a:p>
        </p:txBody>
      </p:sp>
    </p:spTree>
    <p:extLst>
      <p:ext uri="{BB962C8B-B14F-4D97-AF65-F5344CB8AC3E}">
        <p14:creationId xmlns:p14="http://schemas.microsoft.com/office/powerpoint/2010/main" val="377047411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34</a:t>
            </a:fld>
            <a:endParaRPr lang="en-US"/>
          </a:p>
        </p:txBody>
      </p:sp>
    </p:spTree>
    <p:extLst>
      <p:ext uri="{BB962C8B-B14F-4D97-AF65-F5344CB8AC3E}">
        <p14:creationId xmlns:p14="http://schemas.microsoft.com/office/powerpoint/2010/main" val="282674867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NOTE:</a:t>
            </a:r>
            <a:r>
              <a:rPr lang="en-US" altLang="en-US" dirty="0">
                <a:latin typeface="Arial" panose="020B0604020202020204" pitchFamily="34" charset="0"/>
              </a:rPr>
              <a:t> The large light gray box on this slide represents the paper on which the Value Stream Map is being drawn. Anytime you come to a slide in this series that shows the map on the light gray box – they class must stop and draw the map themselves on their own sheets of 11x17</a:t>
            </a:r>
            <a:r>
              <a:rPr lang="ja-JP" altLang="en-US" dirty="0">
                <a:latin typeface="Arial" panose="020B0604020202020204" pitchFamily="34" charset="0"/>
              </a:rPr>
              <a:t>”</a:t>
            </a:r>
            <a:r>
              <a:rPr lang="en-US" altLang="ja-JP" dirty="0">
                <a:latin typeface="Arial" panose="020B0604020202020204" pitchFamily="34" charset="0"/>
              </a:rPr>
              <a:t> paper. </a:t>
            </a:r>
            <a:endParaRPr lang="en-US" altLang="en-US" dirty="0">
              <a:latin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35</a:t>
            </a:fld>
            <a:endParaRPr lang="en-US"/>
          </a:p>
        </p:txBody>
      </p:sp>
    </p:spTree>
    <p:extLst>
      <p:ext uri="{BB962C8B-B14F-4D97-AF65-F5344CB8AC3E}">
        <p14:creationId xmlns:p14="http://schemas.microsoft.com/office/powerpoint/2010/main" val="370371387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36</a:t>
            </a:fld>
            <a:endParaRPr lang="en-US"/>
          </a:p>
        </p:txBody>
      </p:sp>
    </p:spTree>
    <p:extLst>
      <p:ext uri="{BB962C8B-B14F-4D97-AF65-F5344CB8AC3E}">
        <p14:creationId xmlns:p14="http://schemas.microsoft.com/office/powerpoint/2010/main" val="111399326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definition for takt time here and the exact calculation. Review the example for MME to calculate takt time. </a:t>
            </a:r>
          </a:p>
        </p:txBody>
      </p:sp>
      <p:sp>
        <p:nvSpPr>
          <p:cNvPr id="4" name="Slide Number Placeholder 3"/>
          <p:cNvSpPr>
            <a:spLocks noGrp="1"/>
          </p:cNvSpPr>
          <p:nvPr>
            <p:ph type="sldNum" sz="quarter" idx="5"/>
          </p:nvPr>
        </p:nvSpPr>
        <p:spPr/>
        <p:txBody>
          <a:bodyPr/>
          <a:lstStyle/>
          <a:p>
            <a:fld id="{AECD8548-F1A2-4EDF-A416-5F2BB6B8F64C}" type="slidenum">
              <a:rPr lang="en-US" smtClean="0"/>
              <a:t>37</a:t>
            </a:fld>
            <a:endParaRPr lang="en-US"/>
          </a:p>
        </p:txBody>
      </p:sp>
    </p:spTree>
    <p:extLst>
      <p:ext uri="{BB962C8B-B14F-4D97-AF65-F5344CB8AC3E}">
        <p14:creationId xmlns:p14="http://schemas.microsoft.com/office/powerpoint/2010/main" val="315471470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38</a:t>
            </a:fld>
            <a:endParaRPr lang="en-US"/>
          </a:p>
        </p:txBody>
      </p:sp>
    </p:spTree>
    <p:extLst>
      <p:ext uri="{BB962C8B-B14F-4D97-AF65-F5344CB8AC3E}">
        <p14:creationId xmlns:p14="http://schemas.microsoft.com/office/powerpoint/2010/main" val="248750406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39</a:t>
            </a:fld>
            <a:endParaRPr lang="en-US"/>
          </a:p>
        </p:txBody>
      </p:sp>
    </p:spTree>
    <p:extLst>
      <p:ext uri="{BB962C8B-B14F-4D97-AF65-F5344CB8AC3E}">
        <p14:creationId xmlns:p14="http://schemas.microsoft.com/office/powerpoint/2010/main" val="177318745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Further detail breakdown of processes below this level is inappropriate for VSM and is better addressed using process mapping tools (i.e. flowcharting) as part of subsequent kaizen events.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You might have 3 different processes all occurring at the same workbench. If inventory is accumulating between each process – these would be drawn as separate process boxes.</a:t>
            </a:r>
            <a:r>
              <a:rPr lang="ja-JP" altLang="en-US" dirty="0">
                <a:latin typeface="Arial" panose="020B0604020202020204" pitchFamily="34" charset="0"/>
              </a:rPr>
              <a:t>”</a:t>
            </a:r>
            <a:endParaRPr lang="en-US" altLang="en-US" dirty="0">
              <a:latin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40</a:t>
            </a:fld>
            <a:endParaRPr lang="en-US"/>
          </a:p>
        </p:txBody>
      </p:sp>
    </p:spTree>
    <p:extLst>
      <p:ext uri="{BB962C8B-B14F-4D97-AF65-F5344CB8AC3E}">
        <p14:creationId xmlns:p14="http://schemas.microsoft.com/office/powerpoint/2010/main" val="16264248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Remind class not to draw anything just yet.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When mapping processes there are three icons we start with: Process Box, Data Box, and # of Workers/Processors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icons on slide for each.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begin to walk the processes backwards. The last process is </a:t>
            </a:r>
            <a:r>
              <a:rPr lang="ja-JP" altLang="en-US" dirty="0">
                <a:latin typeface="Arial" panose="020B0604020202020204" pitchFamily="34" charset="0"/>
              </a:rPr>
              <a:t>“</a:t>
            </a:r>
            <a:r>
              <a:rPr lang="en-US" altLang="ja-JP" dirty="0">
                <a:latin typeface="Arial" panose="020B0604020202020204" pitchFamily="34" charset="0"/>
              </a:rPr>
              <a:t>Break Form</a:t>
            </a:r>
            <a:r>
              <a:rPr lang="ja-JP" altLang="en-US" dirty="0">
                <a:latin typeface="Arial" panose="020B0604020202020204" pitchFamily="34" charset="0"/>
              </a:rPr>
              <a:t>”</a:t>
            </a:r>
            <a:r>
              <a:rPr lang="en-US" altLang="ja-JP" dirty="0">
                <a:latin typeface="Arial" panose="020B0604020202020204" pitchFamily="34" charset="0"/>
              </a:rPr>
              <a:t>. Lets review what the data is telling us.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data on the slide. Click to animate what gets populated where in the Process and Data Box. </a:t>
            </a:r>
          </a:p>
        </p:txBody>
      </p:sp>
      <p:sp>
        <p:nvSpPr>
          <p:cNvPr id="4" name="Slide Number Placeholder 3"/>
          <p:cNvSpPr>
            <a:spLocks noGrp="1"/>
          </p:cNvSpPr>
          <p:nvPr>
            <p:ph type="sldNum" sz="quarter" idx="5"/>
          </p:nvPr>
        </p:nvSpPr>
        <p:spPr/>
        <p:txBody>
          <a:bodyPr/>
          <a:lstStyle/>
          <a:p>
            <a:fld id="{AECD8548-F1A2-4EDF-A416-5F2BB6B8F64C}" type="slidenum">
              <a:rPr lang="en-US" smtClean="0"/>
              <a:t>41</a:t>
            </a:fld>
            <a:endParaRPr lang="en-US"/>
          </a:p>
        </p:txBody>
      </p:sp>
    </p:spTree>
    <p:extLst>
      <p:ext uri="{BB962C8B-B14F-4D97-AF65-F5344CB8AC3E}">
        <p14:creationId xmlns:p14="http://schemas.microsoft.com/office/powerpoint/2010/main" val="322742413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Remind class not to draw anything just yet.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When mapping processes there are three icons we start with: Process Box, Data Box, and # of Workers/Processors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icons on slide for each.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begin to walk the processes backwards. The last process is </a:t>
            </a:r>
            <a:r>
              <a:rPr lang="ja-JP" altLang="en-US" dirty="0">
                <a:latin typeface="Arial" panose="020B0604020202020204" pitchFamily="34" charset="0"/>
              </a:rPr>
              <a:t>“</a:t>
            </a:r>
            <a:r>
              <a:rPr lang="en-US" altLang="ja-JP" dirty="0">
                <a:latin typeface="Arial" panose="020B0604020202020204" pitchFamily="34" charset="0"/>
              </a:rPr>
              <a:t>Break Form</a:t>
            </a:r>
            <a:r>
              <a:rPr lang="ja-JP" altLang="en-US" dirty="0">
                <a:latin typeface="Arial" panose="020B0604020202020204" pitchFamily="34" charset="0"/>
              </a:rPr>
              <a:t>”</a:t>
            </a:r>
            <a:r>
              <a:rPr lang="en-US" altLang="ja-JP" dirty="0">
                <a:latin typeface="Arial" panose="020B0604020202020204" pitchFamily="34" charset="0"/>
              </a:rPr>
              <a:t>. Lets review what the data is telling us.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data on the slide. Click to animate what gets populated where in the Process and Data Box. </a:t>
            </a:r>
          </a:p>
        </p:txBody>
      </p:sp>
      <p:sp>
        <p:nvSpPr>
          <p:cNvPr id="4" name="Slide Number Placeholder 3"/>
          <p:cNvSpPr>
            <a:spLocks noGrp="1"/>
          </p:cNvSpPr>
          <p:nvPr>
            <p:ph type="sldNum" sz="quarter" idx="5"/>
          </p:nvPr>
        </p:nvSpPr>
        <p:spPr/>
        <p:txBody>
          <a:bodyPr/>
          <a:lstStyle/>
          <a:p>
            <a:fld id="{AECD8548-F1A2-4EDF-A416-5F2BB6B8F64C}" type="slidenum">
              <a:rPr lang="en-US" smtClean="0"/>
              <a:t>42</a:t>
            </a:fld>
            <a:endParaRPr lang="en-US"/>
          </a:p>
        </p:txBody>
      </p:sp>
    </p:spTree>
    <p:extLst>
      <p:ext uri="{BB962C8B-B14F-4D97-AF65-F5344CB8AC3E}">
        <p14:creationId xmlns:p14="http://schemas.microsoft.com/office/powerpoint/2010/main" val="151558907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43</a:t>
            </a:fld>
            <a:endParaRPr lang="en-US"/>
          </a:p>
        </p:txBody>
      </p:sp>
    </p:spTree>
    <p:extLst>
      <p:ext uri="{BB962C8B-B14F-4D97-AF65-F5344CB8AC3E}">
        <p14:creationId xmlns:p14="http://schemas.microsoft.com/office/powerpoint/2010/main" val="93206378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44</a:t>
            </a:fld>
            <a:endParaRPr lang="en-US"/>
          </a:p>
        </p:txBody>
      </p:sp>
    </p:spTree>
    <p:extLst>
      <p:ext uri="{BB962C8B-B14F-4D97-AF65-F5344CB8AC3E}">
        <p14:creationId xmlns:p14="http://schemas.microsoft.com/office/powerpoint/2010/main" val="300226063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NOTE:</a:t>
            </a:r>
            <a:r>
              <a:rPr lang="en-US" altLang="en-US" dirty="0">
                <a:latin typeface="Arial" panose="020B0604020202020204" pitchFamily="34" charset="0"/>
              </a:rPr>
              <a:t> On the value stream map we will be using the standard notation for seconds: </a:t>
            </a:r>
            <a:r>
              <a:rPr lang="ja-JP" altLang="en-US" dirty="0">
                <a:latin typeface="Arial" panose="020B0604020202020204" pitchFamily="34" charset="0"/>
              </a:rPr>
              <a:t>“</a:t>
            </a:r>
            <a:r>
              <a:rPr lang="en-US" altLang="ja-JP" dirty="0">
                <a:latin typeface="Arial" panose="020B0604020202020204" pitchFamily="34" charset="0"/>
              </a:rPr>
              <a:t> (two tick marks) and for minutes: </a:t>
            </a:r>
            <a:r>
              <a:rPr lang="ja-JP" altLang="en-US" dirty="0">
                <a:latin typeface="Arial" panose="020B0604020202020204" pitchFamily="34" charset="0"/>
              </a:rPr>
              <a:t>‘</a:t>
            </a:r>
            <a:r>
              <a:rPr lang="en-US" altLang="ja-JP" dirty="0">
                <a:latin typeface="Arial" panose="020B0604020202020204" pitchFamily="34" charset="0"/>
              </a:rPr>
              <a:t> (one tick mark).</a:t>
            </a:r>
            <a:endParaRPr lang="en-US" altLang="en-US" dirty="0">
              <a:latin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45</a:t>
            </a:fld>
            <a:endParaRPr lang="en-US"/>
          </a:p>
        </p:txBody>
      </p:sp>
    </p:spTree>
    <p:extLst>
      <p:ext uri="{BB962C8B-B14F-4D97-AF65-F5344CB8AC3E}">
        <p14:creationId xmlns:p14="http://schemas.microsoft.com/office/powerpoint/2010/main" val="238237676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46</a:t>
            </a:fld>
            <a:endParaRPr lang="en-US"/>
          </a:p>
        </p:txBody>
      </p:sp>
    </p:spTree>
    <p:extLst>
      <p:ext uri="{BB962C8B-B14F-4D97-AF65-F5344CB8AC3E}">
        <p14:creationId xmlns:p14="http://schemas.microsoft.com/office/powerpoint/2010/main" val="293153625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Before we begin to map, there are a few definitions we need to cover: Drop Off Interval and Processing Time.</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 </a:t>
            </a:r>
            <a:r>
              <a:rPr lang="en-US" altLang="en-US" dirty="0">
                <a:latin typeface="Arial" panose="020B0604020202020204" pitchFamily="34" charset="0"/>
              </a:rPr>
              <a:t>Review definition for Drop Off Interval</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DOI should be ideally observed, however there are some times when the DOI times are too long to observe in the event and you have a defined time to gather your data…</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NOTE:</a:t>
            </a:r>
            <a:r>
              <a:rPr lang="en-US" altLang="en-US" dirty="0">
                <a:latin typeface="Arial" panose="020B0604020202020204" pitchFamily="34" charset="0"/>
              </a:rPr>
              <a:t> DOI is expressed in the lowest time increment amount possible. In this calculation you will see that we convert from minutes to seconds.</a:t>
            </a:r>
          </a:p>
        </p:txBody>
      </p:sp>
      <p:sp>
        <p:nvSpPr>
          <p:cNvPr id="4" name="Slide Number Placeholder 3"/>
          <p:cNvSpPr>
            <a:spLocks noGrp="1"/>
          </p:cNvSpPr>
          <p:nvPr>
            <p:ph type="sldNum" sz="quarter" idx="5"/>
          </p:nvPr>
        </p:nvSpPr>
        <p:spPr/>
        <p:txBody>
          <a:bodyPr/>
          <a:lstStyle/>
          <a:p>
            <a:fld id="{AECD8548-F1A2-4EDF-A416-5F2BB6B8F64C}" type="slidenum">
              <a:rPr lang="en-US" smtClean="0"/>
              <a:t>47</a:t>
            </a:fld>
            <a:endParaRPr lang="en-US"/>
          </a:p>
        </p:txBody>
      </p:sp>
    </p:spTree>
    <p:extLst>
      <p:ext uri="{BB962C8B-B14F-4D97-AF65-F5344CB8AC3E}">
        <p14:creationId xmlns:p14="http://schemas.microsoft.com/office/powerpoint/2010/main" val="370677369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39713" indent="-239713" eaLnBrk="1" hangingPunct="1"/>
            <a:r>
              <a:rPr lang="en-US" altLang="en-US" sz="1200" b="1" dirty="0">
                <a:latin typeface="Arial" panose="020B0604020202020204" pitchFamily="34" charset="0"/>
              </a:rPr>
              <a:t>DO: </a:t>
            </a:r>
            <a:r>
              <a:rPr lang="en-US" altLang="en-US" sz="1200" dirty="0">
                <a:latin typeface="Arial" panose="020B0604020202020204" pitchFamily="34" charset="0"/>
              </a:rPr>
              <a:t>Review definition of Processing Time and the difference between Processing Time and Drop-Off Interval. </a:t>
            </a:r>
          </a:p>
          <a:p>
            <a:pPr marL="239713" indent="-239713" eaLnBrk="1" hangingPunct="1"/>
            <a:r>
              <a:rPr lang="en-US" altLang="en-US" sz="1200" b="1" dirty="0">
                <a:latin typeface="Arial" panose="020B0604020202020204" pitchFamily="34" charset="0"/>
              </a:rPr>
              <a:t>NOTE: </a:t>
            </a:r>
            <a:r>
              <a:rPr lang="en-US" altLang="en-US" sz="1200" dirty="0">
                <a:latin typeface="Arial" panose="020B0604020202020204" pitchFamily="34" charset="0"/>
              </a:rPr>
              <a:t>DOI is expressed in the lowest time increment amount possible. In this calculation you will see that we convert from minutes to seconds.</a:t>
            </a:r>
          </a:p>
          <a:p>
            <a:pPr marL="239713" indent="-239713" eaLnBrk="1" hangingPunct="1"/>
            <a:r>
              <a:rPr lang="en-US" altLang="en-US" sz="1200" b="1" dirty="0">
                <a:latin typeface="Arial" panose="020B0604020202020204" pitchFamily="34" charset="0"/>
              </a:rPr>
              <a:t>OPTIONAL EXERCISE TO DEMONSTRATE DIFFERENCE BETWEEN DOI AND PROCESSING TIME </a:t>
            </a:r>
            <a:r>
              <a:rPr lang="en-US" altLang="en-US" sz="1200" dirty="0">
                <a:latin typeface="Arial" panose="020B0604020202020204" pitchFamily="34" charset="0"/>
              </a:rPr>
              <a:t>(you can facilitate this with several small groups simultaneously, or have one group demonstrate with the rest of the class watching):</a:t>
            </a:r>
          </a:p>
          <a:p>
            <a:pPr marL="239713" indent="-239713" eaLnBrk="1" hangingPunct="1"/>
            <a:r>
              <a:rPr lang="en-US" altLang="en-US" sz="1200" dirty="0">
                <a:latin typeface="Arial" panose="020B0604020202020204" pitchFamily="34" charset="0"/>
              </a:rPr>
              <a:t>Number of Participants needed: 7 (1 timer, 6 operators)</a:t>
            </a:r>
          </a:p>
          <a:p>
            <a:pPr marL="239713" indent="-239713" eaLnBrk="1" hangingPunct="1"/>
            <a:r>
              <a:rPr lang="en-US" altLang="en-US" sz="1200" dirty="0">
                <a:latin typeface="Arial" panose="020B0604020202020204" pitchFamily="34" charset="0"/>
              </a:rPr>
              <a:t>Prep: 10 blank post-it notes on a sheet of paper labeled </a:t>
            </a:r>
            <a:r>
              <a:rPr lang="ja-JP" altLang="en-US" sz="1200" dirty="0">
                <a:latin typeface="Arial" panose="020B0604020202020204" pitchFamily="34" charset="0"/>
              </a:rPr>
              <a:t>“</a:t>
            </a:r>
            <a:r>
              <a:rPr lang="en-US" altLang="ja-JP" sz="1200" dirty="0">
                <a:latin typeface="Arial" panose="020B0604020202020204" pitchFamily="34" charset="0"/>
              </a:rPr>
              <a:t>Raw Material</a:t>
            </a:r>
            <a:r>
              <a:rPr lang="ja-JP" altLang="en-US" sz="1200" dirty="0">
                <a:latin typeface="Arial" panose="020B0604020202020204" pitchFamily="34" charset="0"/>
              </a:rPr>
              <a:t>”</a:t>
            </a:r>
            <a:r>
              <a:rPr lang="en-US" altLang="ja-JP" sz="1200" dirty="0">
                <a:latin typeface="Arial" panose="020B0604020202020204" pitchFamily="34" charset="0"/>
              </a:rPr>
              <a:t>, one sheet of paper labeled </a:t>
            </a:r>
            <a:r>
              <a:rPr lang="ja-JP" altLang="en-US" sz="1200" dirty="0">
                <a:latin typeface="Arial" panose="020B0604020202020204" pitchFamily="34" charset="0"/>
              </a:rPr>
              <a:t>“</a:t>
            </a:r>
            <a:r>
              <a:rPr lang="en-US" altLang="ja-JP" sz="1200" dirty="0">
                <a:latin typeface="Arial" panose="020B0604020202020204" pitchFamily="34" charset="0"/>
              </a:rPr>
              <a:t>Finished Goods</a:t>
            </a:r>
            <a:r>
              <a:rPr lang="ja-JP" altLang="en-US" sz="1200" dirty="0">
                <a:latin typeface="Arial" panose="020B0604020202020204" pitchFamily="34" charset="0"/>
              </a:rPr>
              <a:t>”</a:t>
            </a:r>
            <a:r>
              <a:rPr lang="en-US" altLang="ja-JP" sz="1200" dirty="0">
                <a:latin typeface="Arial" panose="020B0604020202020204" pitchFamily="34" charset="0"/>
              </a:rPr>
              <a:t>.</a:t>
            </a:r>
          </a:p>
          <a:p>
            <a:pPr marL="239713" indent="-239713" eaLnBrk="1" hangingPunct="1">
              <a:buFontTx/>
              <a:buAutoNum type="arabicPeriod"/>
            </a:pPr>
            <a:r>
              <a:rPr lang="en-US" altLang="en-US" sz="1200" dirty="0">
                <a:latin typeface="Arial" panose="020B0604020202020204" pitchFamily="34" charset="0"/>
              </a:rPr>
              <a:t>Create a u-shaped </a:t>
            </a:r>
            <a:r>
              <a:rPr lang="ja-JP" altLang="en-US" sz="1200" dirty="0">
                <a:latin typeface="Arial" panose="020B0604020202020204" pitchFamily="34" charset="0"/>
              </a:rPr>
              <a:t>“</a:t>
            </a:r>
            <a:r>
              <a:rPr lang="en-US" altLang="ja-JP" sz="1200" dirty="0">
                <a:latin typeface="Arial" panose="020B0604020202020204" pitchFamily="34" charset="0"/>
              </a:rPr>
              <a:t>cell</a:t>
            </a:r>
            <a:r>
              <a:rPr lang="ja-JP" altLang="en-US" sz="1200" dirty="0">
                <a:latin typeface="Arial" panose="020B0604020202020204" pitchFamily="34" charset="0"/>
              </a:rPr>
              <a:t>”</a:t>
            </a:r>
            <a:r>
              <a:rPr lang="en-US" altLang="ja-JP" sz="1200" dirty="0">
                <a:latin typeface="Arial" panose="020B0604020202020204" pitchFamily="34" charset="0"/>
              </a:rPr>
              <a:t> of 6 people.</a:t>
            </a:r>
          </a:p>
          <a:p>
            <a:pPr marL="239713" indent="-239713" eaLnBrk="1" hangingPunct="1">
              <a:buFontTx/>
              <a:buAutoNum type="arabicPeriod"/>
            </a:pPr>
            <a:r>
              <a:rPr lang="en-US" altLang="en-US" sz="1200" dirty="0">
                <a:latin typeface="Arial" panose="020B0604020202020204" pitchFamily="34" charset="0"/>
              </a:rPr>
              <a:t>Place the sheet of raw material next to Operator #1. The exercise starts with Operator #1 taking the first post-it note. He/she is to sign her first name and pass to the second operator. Each operator then repeats – signing only their first name and passing the post-it note to the next operator in sequence (only when the next operator is ready to receive it). This process continues thru to Operator #6. The process ends when Operator #6 moves the post-it note to the finished goods paper. </a:t>
            </a:r>
          </a:p>
          <a:p>
            <a:pPr marL="239713" indent="-239713" eaLnBrk="1" hangingPunct="1">
              <a:buFontTx/>
              <a:buAutoNum type="arabicPeriod"/>
            </a:pPr>
            <a:r>
              <a:rPr lang="en-US" altLang="en-US" sz="1200" dirty="0">
                <a:latin typeface="Arial" panose="020B0604020202020204" pitchFamily="34" charset="0"/>
              </a:rPr>
              <a:t>The timer must time (1) the amount of time for operator #1 to start the process until operator #6 completes the process (this is the processing time) and (2) the frequency with which a post-it note </a:t>
            </a:r>
            <a:r>
              <a:rPr lang="ja-JP" altLang="en-US" sz="1200" dirty="0">
                <a:latin typeface="Arial" panose="020B0604020202020204" pitchFamily="34" charset="0"/>
              </a:rPr>
              <a:t>“</a:t>
            </a:r>
            <a:r>
              <a:rPr lang="en-US" altLang="ja-JP" sz="1200" dirty="0">
                <a:latin typeface="Arial" panose="020B0604020202020204" pitchFamily="34" charset="0"/>
              </a:rPr>
              <a:t>drops off</a:t>
            </a:r>
            <a:r>
              <a:rPr lang="ja-JP" altLang="en-US" sz="1200" dirty="0">
                <a:latin typeface="Arial" panose="020B0604020202020204" pitchFamily="34" charset="0"/>
              </a:rPr>
              <a:t>”</a:t>
            </a:r>
            <a:r>
              <a:rPr lang="en-US" altLang="ja-JP" sz="1200" dirty="0">
                <a:latin typeface="Arial" panose="020B0604020202020204" pitchFamily="34" charset="0"/>
              </a:rPr>
              <a:t> the end of the process (every ___ seconds 1 post-it note drops off the end of the process (this is the DOI)</a:t>
            </a:r>
          </a:p>
          <a:p>
            <a:pPr marL="239713" indent="-239713" eaLnBrk="1" hangingPunct="1"/>
            <a:r>
              <a:rPr lang="en-US" altLang="en-US" sz="1200" b="1" dirty="0">
                <a:latin typeface="Arial" panose="020B0604020202020204" pitchFamily="34" charset="0"/>
              </a:rPr>
              <a:t>NOTE: </a:t>
            </a:r>
            <a:r>
              <a:rPr lang="en-US" altLang="en-US" sz="1200" dirty="0">
                <a:latin typeface="Arial" panose="020B0604020202020204" pitchFamily="34" charset="0"/>
              </a:rPr>
              <a:t>DOI is calculated </a:t>
            </a:r>
            <a:r>
              <a:rPr lang="ja-JP" altLang="en-US" sz="1200" dirty="0">
                <a:latin typeface="Arial" panose="020B0604020202020204" pitchFamily="34" charset="0"/>
              </a:rPr>
              <a:t>“</a:t>
            </a:r>
            <a:r>
              <a:rPr lang="en-US" altLang="ja-JP" sz="1200" dirty="0">
                <a:latin typeface="Arial" panose="020B0604020202020204" pitchFamily="34" charset="0"/>
              </a:rPr>
              <a:t>when the line is wet</a:t>
            </a:r>
            <a:r>
              <a:rPr lang="ja-JP" altLang="en-US" sz="1200" dirty="0">
                <a:latin typeface="Arial" panose="020B0604020202020204" pitchFamily="34" charset="0"/>
              </a:rPr>
              <a:t>”</a:t>
            </a:r>
            <a:r>
              <a:rPr lang="en-US" altLang="ja-JP" sz="1200" dirty="0">
                <a:latin typeface="Arial" panose="020B0604020202020204" pitchFamily="34" charset="0"/>
              </a:rPr>
              <a:t> – so for purposes of this exercise, this time may be observed after the 1</a:t>
            </a:r>
            <a:r>
              <a:rPr lang="en-US" altLang="ja-JP" sz="1200" baseline="30000" dirty="0">
                <a:latin typeface="Arial" panose="020B0604020202020204" pitchFamily="34" charset="0"/>
              </a:rPr>
              <a:t>st</a:t>
            </a:r>
            <a:r>
              <a:rPr lang="en-US" altLang="ja-JP" sz="1200" dirty="0">
                <a:latin typeface="Arial" panose="020B0604020202020204" pitchFamily="34" charset="0"/>
              </a:rPr>
              <a:t> post-it note completes the exercise. </a:t>
            </a:r>
          </a:p>
          <a:p>
            <a:pPr marL="239713" indent="-239713" eaLnBrk="1" hangingPunct="1"/>
            <a:r>
              <a:rPr lang="en-US" altLang="en-US" sz="1200" b="1" dirty="0">
                <a:latin typeface="Arial" panose="020B0604020202020204" pitchFamily="34" charset="0"/>
              </a:rPr>
              <a:t>KEY Take-away: </a:t>
            </a:r>
            <a:r>
              <a:rPr lang="en-US" altLang="en-US" sz="1200" dirty="0">
                <a:latin typeface="Arial" panose="020B0604020202020204" pitchFamily="34" charset="0"/>
              </a:rPr>
              <a:t>DOI tells us if our process is capable of meeting TAKT time. When there is only 1 operator, the processing time equals the DOI. When there are several operators handling one piece, the processing time and DOI are different because there are more than one people working processes. </a:t>
            </a:r>
          </a:p>
        </p:txBody>
      </p:sp>
      <p:sp>
        <p:nvSpPr>
          <p:cNvPr id="4" name="Slide Number Placeholder 3"/>
          <p:cNvSpPr>
            <a:spLocks noGrp="1"/>
          </p:cNvSpPr>
          <p:nvPr>
            <p:ph type="sldNum" sz="quarter" idx="5"/>
          </p:nvPr>
        </p:nvSpPr>
        <p:spPr/>
        <p:txBody>
          <a:bodyPr/>
          <a:lstStyle/>
          <a:p>
            <a:fld id="{AECD8548-F1A2-4EDF-A416-5F2BB6B8F64C}" type="slidenum">
              <a:rPr lang="en-US" smtClean="0"/>
              <a:t>48</a:t>
            </a:fld>
            <a:endParaRPr lang="en-US"/>
          </a:p>
        </p:txBody>
      </p:sp>
    </p:spTree>
    <p:extLst>
      <p:ext uri="{BB962C8B-B14F-4D97-AF65-F5344CB8AC3E}">
        <p14:creationId xmlns:p14="http://schemas.microsoft.com/office/powerpoint/2010/main" val="114052144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Remind class not to draw anything just yet.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When mapping processes there are three icons we start with: Process Box, Data Box, and # of Workers/Processors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icons on slide for each.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begin to walk the processes backwards. The last process is </a:t>
            </a:r>
            <a:r>
              <a:rPr lang="ja-JP" altLang="en-US" dirty="0">
                <a:latin typeface="Arial" panose="020B0604020202020204" pitchFamily="34" charset="0"/>
              </a:rPr>
              <a:t>“</a:t>
            </a:r>
            <a:r>
              <a:rPr lang="en-US" altLang="ja-JP" dirty="0">
                <a:latin typeface="Arial" panose="020B0604020202020204" pitchFamily="34" charset="0"/>
              </a:rPr>
              <a:t>Break Form</a:t>
            </a:r>
            <a:r>
              <a:rPr lang="ja-JP" altLang="en-US" dirty="0">
                <a:latin typeface="Arial" panose="020B0604020202020204" pitchFamily="34" charset="0"/>
              </a:rPr>
              <a:t>”</a:t>
            </a:r>
            <a:r>
              <a:rPr lang="en-US" altLang="ja-JP" dirty="0">
                <a:latin typeface="Arial" panose="020B0604020202020204" pitchFamily="34" charset="0"/>
              </a:rPr>
              <a:t>. Lets review what the data is telling us.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data on the slide. Click to animate what gets populated where in the Process and Data Box. </a:t>
            </a:r>
          </a:p>
        </p:txBody>
      </p:sp>
      <p:sp>
        <p:nvSpPr>
          <p:cNvPr id="4" name="Slide Number Placeholder 3"/>
          <p:cNvSpPr>
            <a:spLocks noGrp="1"/>
          </p:cNvSpPr>
          <p:nvPr>
            <p:ph type="sldNum" sz="quarter" idx="5"/>
          </p:nvPr>
        </p:nvSpPr>
        <p:spPr/>
        <p:txBody>
          <a:bodyPr/>
          <a:lstStyle/>
          <a:p>
            <a:fld id="{AECD8548-F1A2-4EDF-A416-5F2BB6B8F64C}" type="slidenum">
              <a:rPr lang="en-US" smtClean="0"/>
              <a:t>49</a:t>
            </a:fld>
            <a:endParaRPr lang="en-US"/>
          </a:p>
        </p:txBody>
      </p:sp>
    </p:spTree>
    <p:extLst>
      <p:ext uri="{BB962C8B-B14F-4D97-AF65-F5344CB8AC3E}">
        <p14:creationId xmlns:p14="http://schemas.microsoft.com/office/powerpoint/2010/main" val="362070695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Remind class not to draw anything just yet.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When mapping processes there are three icons we start with: Process Box, Data Box, and # of Workers/Processors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icons on slide for each.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begin to walk the processes backwards. The last process is </a:t>
            </a:r>
            <a:r>
              <a:rPr lang="ja-JP" altLang="en-US" dirty="0">
                <a:latin typeface="Arial" panose="020B0604020202020204" pitchFamily="34" charset="0"/>
              </a:rPr>
              <a:t>“</a:t>
            </a:r>
            <a:r>
              <a:rPr lang="en-US" altLang="ja-JP" dirty="0">
                <a:latin typeface="Arial" panose="020B0604020202020204" pitchFamily="34" charset="0"/>
              </a:rPr>
              <a:t>Break Form</a:t>
            </a:r>
            <a:r>
              <a:rPr lang="ja-JP" altLang="en-US" dirty="0">
                <a:latin typeface="Arial" panose="020B0604020202020204" pitchFamily="34" charset="0"/>
              </a:rPr>
              <a:t>”</a:t>
            </a:r>
            <a:r>
              <a:rPr lang="en-US" altLang="ja-JP" dirty="0">
                <a:latin typeface="Arial" panose="020B0604020202020204" pitchFamily="34" charset="0"/>
              </a:rPr>
              <a:t>. Lets review what the data is telling us.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data on the slide. Click to animate what gets populated where in the Process and Data Box. </a:t>
            </a:r>
          </a:p>
        </p:txBody>
      </p:sp>
      <p:sp>
        <p:nvSpPr>
          <p:cNvPr id="4" name="Slide Number Placeholder 3"/>
          <p:cNvSpPr>
            <a:spLocks noGrp="1"/>
          </p:cNvSpPr>
          <p:nvPr>
            <p:ph type="sldNum" sz="quarter" idx="5"/>
          </p:nvPr>
        </p:nvSpPr>
        <p:spPr/>
        <p:txBody>
          <a:bodyPr/>
          <a:lstStyle/>
          <a:p>
            <a:fld id="{AECD8548-F1A2-4EDF-A416-5F2BB6B8F64C}" type="slidenum">
              <a:rPr lang="en-US" smtClean="0"/>
              <a:t>50</a:t>
            </a:fld>
            <a:endParaRPr lang="en-US"/>
          </a:p>
        </p:txBody>
      </p:sp>
    </p:spTree>
    <p:extLst>
      <p:ext uri="{BB962C8B-B14F-4D97-AF65-F5344CB8AC3E}">
        <p14:creationId xmlns:p14="http://schemas.microsoft.com/office/powerpoint/2010/main" val="283172917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51</a:t>
            </a:fld>
            <a:endParaRPr lang="en-US"/>
          </a:p>
        </p:txBody>
      </p:sp>
    </p:spTree>
    <p:extLst>
      <p:ext uri="{BB962C8B-B14F-4D97-AF65-F5344CB8AC3E}">
        <p14:creationId xmlns:p14="http://schemas.microsoft.com/office/powerpoint/2010/main" val="82283530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52</a:t>
            </a:fld>
            <a:endParaRPr lang="en-US"/>
          </a:p>
        </p:txBody>
      </p:sp>
    </p:spTree>
    <p:extLst>
      <p:ext uri="{BB962C8B-B14F-4D97-AF65-F5344CB8AC3E}">
        <p14:creationId xmlns:p14="http://schemas.microsoft.com/office/powerpoint/2010/main" val="426509874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53</a:t>
            </a:fld>
            <a:endParaRPr lang="en-US"/>
          </a:p>
        </p:txBody>
      </p:sp>
    </p:spTree>
    <p:extLst>
      <p:ext uri="{BB962C8B-B14F-4D97-AF65-F5344CB8AC3E}">
        <p14:creationId xmlns:p14="http://schemas.microsoft.com/office/powerpoint/2010/main" val="116928175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NOTE:</a:t>
            </a:r>
            <a:r>
              <a:rPr lang="en-US" altLang="en-US" dirty="0">
                <a:latin typeface="Arial" panose="020B0604020202020204" pitchFamily="34" charset="0"/>
              </a:rPr>
              <a:t> On the value stream map we will be using the standard notation for seconds: </a:t>
            </a:r>
            <a:r>
              <a:rPr lang="ja-JP" altLang="en-US" dirty="0">
                <a:latin typeface="Arial" panose="020B0604020202020204" pitchFamily="34" charset="0"/>
              </a:rPr>
              <a:t>“</a:t>
            </a:r>
            <a:r>
              <a:rPr lang="en-US" altLang="ja-JP" dirty="0">
                <a:latin typeface="Arial" panose="020B0604020202020204" pitchFamily="34" charset="0"/>
              </a:rPr>
              <a:t> (two tick marks) and for minutes: </a:t>
            </a:r>
            <a:r>
              <a:rPr lang="ja-JP" altLang="en-US" dirty="0">
                <a:latin typeface="Arial" panose="020B0604020202020204" pitchFamily="34" charset="0"/>
              </a:rPr>
              <a:t>‘</a:t>
            </a:r>
            <a:r>
              <a:rPr lang="en-US" altLang="ja-JP" dirty="0">
                <a:latin typeface="Arial" panose="020B0604020202020204" pitchFamily="34" charset="0"/>
              </a:rPr>
              <a:t> (one tick mark).</a:t>
            </a:r>
            <a:endParaRPr lang="en-US" altLang="en-US" dirty="0">
              <a:latin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54</a:t>
            </a:fld>
            <a:endParaRPr lang="en-US"/>
          </a:p>
        </p:txBody>
      </p:sp>
    </p:spTree>
    <p:extLst>
      <p:ext uri="{BB962C8B-B14F-4D97-AF65-F5344CB8AC3E}">
        <p14:creationId xmlns:p14="http://schemas.microsoft.com/office/powerpoint/2010/main" val="250203322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55</a:t>
            </a:fld>
            <a:endParaRPr lang="en-US"/>
          </a:p>
        </p:txBody>
      </p:sp>
    </p:spTree>
    <p:extLst>
      <p:ext uri="{BB962C8B-B14F-4D97-AF65-F5344CB8AC3E}">
        <p14:creationId xmlns:p14="http://schemas.microsoft.com/office/powerpoint/2010/main" val="50718006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56</a:t>
            </a:fld>
            <a:endParaRPr lang="en-US"/>
          </a:p>
        </p:txBody>
      </p:sp>
    </p:spTree>
    <p:extLst>
      <p:ext uri="{BB962C8B-B14F-4D97-AF65-F5344CB8AC3E}">
        <p14:creationId xmlns:p14="http://schemas.microsoft.com/office/powerpoint/2010/main" val="219517492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NOTE:</a:t>
            </a:r>
            <a:r>
              <a:rPr lang="en-US" altLang="en-US" dirty="0">
                <a:latin typeface="Arial" panose="020B0604020202020204" pitchFamily="34" charset="0"/>
              </a:rPr>
              <a:t> On the value stream map we will be using the standard notation for seconds: </a:t>
            </a:r>
            <a:r>
              <a:rPr lang="ja-JP" altLang="en-US" dirty="0">
                <a:latin typeface="Arial" panose="020B0604020202020204" pitchFamily="34" charset="0"/>
              </a:rPr>
              <a:t>“</a:t>
            </a:r>
            <a:r>
              <a:rPr lang="en-US" altLang="ja-JP" dirty="0">
                <a:latin typeface="Arial" panose="020B0604020202020204" pitchFamily="34" charset="0"/>
              </a:rPr>
              <a:t> (two tick marks) and for minutes: </a:t>
            </a:r>
            <a:r>
              <a:rPr lang="ja-JP" altLang="en-US" dirty="0">
                <a:latin typeface="Arial" panose="020B0604020202020204" pitchFamily="34" charset="0"/>
              </a:rPr>
              <a:t>‘</a:t>
            </a:r>
            <a:r>
              <a:rPr lang="en-US" altLang="ja-JP" dirty="0">
                <a:latin typeface="Arial" panose="020B0604020202020204" pitchFamily="34" charset="0"/>
              </a:rPr>
              <a:t> (one tick mark).</a:t>
            </a:r>
            <a:endParaRPr lang="en-US" altLang="en-US" dirty="0">
              <a:latin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57</a:t>
            </a:fld>
            <a:endParaRPr lang="en-US"/>
          </a:p>
        </p:txBody>
      </p:sp>
    </p:spTree>
    <p:extLst>
      <p:ext uri="{BB962C8B-B14F-4D97-AF65-F5344CB8AC3E}">
        <p14:creationId xmlns:p14="http://schemas.microsoft.com/office/powerpoint/2010/main" val="80826574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58</a:t>
            </a:fld>
            <a:endParaRPr lang="en-US"/>
          </a:p>
        </p:txBody>
      </p:sp>
    </p:spTree>
    <p:extLst>
      <p:ext uri="{BB962C8B-B14F-4D97-AF65-F5344CB8AC3E}">
        <p14:creationId xmlns:p14="http://schemas.microsoft.com/office/powerpoint/2010/main" val="211928462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DO:</a:t>
            </a:r>
            <a:r>
              <a:rPr lang="en-US" altLang="en-US" dirty="0">
                <a:latin typeface="Arial" panose="020B0604020202020204" pitchFamily="34" charset="0"/>
              </a:rPr>
              <a:t> Cover points on the slide and review MME examples. </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59</a:t>
            </a:fld>
            <a:endParaRPr lang="en-US"/>
          </a:p>
        </p:txBody>
      </p:sp>
    </p:spTree>
    <p:extLst>
      <p:ext uri="{BB962C8B-B14F-4D97-AF65-F5344CB8AC3E}">
        <p14:creationId xmlns:p14="http://schemas.microsoft.com/office/powerpoint/2010/main" val="390335425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DO:</a:t>
            </a:r>
            <a:r>
              <a:rPr lang="en-US" altLang="en-US" dirty="0">
                <a:latin typeface="Arial" panose="020B0604020202020204" pitchFamily="34" charset="0"/>
              </a:rPr>
              <a:t> Cover points on the slide and review MME examples. </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60</a:t>
            </a:fld>
            <a:endParaRPr lang="en-US"/>
          </a:p>
        </p:txBody>
      </p:sp>
    </p:spTree>
    <p:extLst>
      <p:ext uri="{BB962C8B-B14F-4D97-AF65-F5344CB8AC3E}">
        <p14:creationId xmlns:p14="http://schemas.microsoft.com/office/powerpoint/2010/main" val="17813928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61</a:t>
            </a:fld>
            <a:endParaRPr lang="en-US"/>
          </a:p>
        </p:txBody>
      </p:sp>
    </p:spTree>
    <p:extLst>
      <p:ext uri="{BB962C8B-B14F-4D97-AF65-F5344CB8AC3E}">
        <p14:creationId xmlns:p14="http://schemas.microsoft.com/office/powerpoint/2010/main" val="42136143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For </a:t>
            </a:r>
            <a:r>
              <a:rPr lang="ja-JP" altLang="en-US" dirty="0">
                <a:latin typeface="Arial" panose="020B0604020202020204" pitchFamily="34" charset="0"/>
              </a:rPr>
              <a:t>“</a:t>
            </a:r>
            <a:r>
              <a:rPr lang="en-US" altLang="ja-JP" dirty="0">
                <a:latin typeface="Arial" panose="020B0604020202020204" pitchFamily="34" charset="0"/>
              </a:rPr>
              <a:t>Cut</a:t>
            </a:r>
            <a:r>
              <a:rPr lang="ja-JP" altLang="en-US" dirty="0">
                <a:latin typeface="Arial" panose="020B0604020202020204" pitchFamily="34" charset="0"/>
              </a:rPr>
              <a:t>”</a:t>
            </a:r>
            <a:r>
              <a:rPr lang="en-US" altLang="ja-JP" dirty="0">
                <a:latin typeface="Arial" panose="020B0604020202020204" pitchFamily="34" charset="0"/>
              </a:rPr>
              <a:t>, remember that each sheet in the queue yields 4 pieces.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calculation to determine lead-time from queued inventory. Make sure the class understands how the lead time is calculated for each queue. </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62</a:t>
            </a:fld>
            <a:endParaRPr lang="en-US"/>
          </a:p>
        </p:txBody>
      </p:sp>
    </p:spTree>
    <p:extLst>
      <p:ext uri="{BB962C8B-B14F-4D97-AF65-F5344CB8AC3E}">
        <p14:creationId xmlns:p14="http://schemas.microsoft.com/office/powerpoint/2010/main" val="424475722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where to total Processing Time and Lead Time.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What this means is that if I am the last transaction in the bunch, it takes me 6.8 days and 1,980 seconds to complete this process. The 1,980 seconds is the amount of time work is actually being done on the transaction, the rest is time spent in queues waiting for the next step.</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63</a:t>
            </a:fld>
            <a:endParaRPr lang="en-US"/>
          </a:p>
        </p:txBody>
      </p:sp>
    </p:spTree>
    <p:extLst>
      <p:ext uri="{BB962C8B-B14F-4D97-AF65-F5344CB8AC3E}">
        <p14:creationId xmlns:p14="http://schemas.microsoft.com/office/powerpoint/2010/main" val="405427276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64</a:t>
            </a:fld>
            <a:endParaRPr lang="en-US"/>
          </a:p>
        </p:txBody>
      </p:sp>
    </p:spTree>
    <p:extLst>
      <p:ext uri="{BB962C8B-B14F-4D97-AF65-F5344CB8AC3E}">
        <p14:creationId xmlns:p14="http://schemas.microsoft.com/office/powerpoint/2010/main" val="104307948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65</a:t>
            </a:fld>
            <a:endParaRPr lang="en-US"/>
          </a:p>
        </p:txBody>
      </p:sp>
    </p:spTree>
    <p:extLst>
      <p:ext uri="{BB962C8B-B14F-4D97-AF65-F5344CB8AC3E}">
        <p14:creationId xmlns:p14="http://schemas.microsoft.com/office/powerpoint/2010/main" val="320183048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66</a:t>
            </a:fld>
            <a:endParaRPr lang="en-US"/>
          </a:p>
        </p:txBody>
      </p:sp>
    </p:spTree>
    <p:extLst>
      <p:ext uri="{BB962C8B-B14F-4D97-AF65-F5344CB8AC3E}">
        <p14:creationId xmlns:p14="http://schemas.microsoft.com/office/powerpoint/2010/main" val="308582114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dirty="0">
                <a:latin typeface="Arial" panose="020B0604020202020204" pitchFamily="34" charset="0"/>
              </a:rPr>
              <a:t>Have team hold onto their maps.  They will be using the map in the future as we start the inte</a:t>
            </a:r>
            <a:r>
              <a:rPr lang="en-US" altLang="en-US" dirty="0"/>
              <a:t>rrogation and building the future state.</a:t>
            </a:r>
            <a:endParaRPr lang="en-US" altLang="en-US" dirty="0">
              <a:latin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67</a:t>
            </a:fld>
            <a:endParaRPr lang="en-US"/>
          </a:p>
        </p:txBody>
      </p:sp>
    </p:spTree>
    <p:extLst>
      <p:ext uri="{BB962C8B-B14F-4D97-AF65-F5344CB8AC3E}">
        <p14:creationId xmlns:p14="http://schemas.microsoft.com/office/powerpoint/2010/main" val="406663011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i="1" dirty="0">
                <a:solidFill>
                  <a:schemeClr val="bg2">
                    <a:lumMod val="75000"/>
                  </a:schemeClr>
                </a:solidFill>
                <a:latin typeface="Arial" panose="020B0604020202020204" pitchFamily="34" charset="0"/>
              </a:rPr>
              <a:t>Assess the comprehension of the team using MME to determine if this exercise needs to be conducted.</a:t>
            </a:r>
          </a:p>
          <a:p>
            <a:pPr eaLnBrk="1" hangingPunct="1"/>
            <a:endParaRPr lang="en-US" altLang="en-US" b="1"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Pass out flip chart paper, markers, calculators, and post-it notes. Pass out the Data Sheet Handouts for Rusty</a:t>
            </a:r>
            <a:r>
              <a:rPr lang="ja-JP" altLang="en-US" dirty="0">
                <a:latin typeface="Arial" panose="020B0604020202020204" pitchFamily="34" charset="0"/>
              </a:rPr>
              <a:t>’</a:t>
            </a:r>
            <a:r>
              <a:rPr lang="en-US" altLang="ja-JP" dirty="0">
                <a:latin typeface="Arial" panose="020B0604020202020204" pitchFamily="34" charset="0"/>
              </a:rPr>
              <a:t>s Wrench. DO NOT  give them the sheets that show the completed Current State Map at this time.  Read the instructions of the exercise. They are to complete the Current State Map in small groups.</a:t>
            </a:r>
          </a:p>
          <a:p>
            <a:pPr eaLnBrk="1" hangingPunct="1"/>
            <a:r>
              <a:rPr lang="en-US" altLang="ja-JP" dirty="0">
                <a:latin typeface="Arial" panose="020B0604020202020204" pitchFamily="34" charset="0"/>
              </a:rPr>
              <a:t>Have then stop after they complete the only Process Blocks drawing for </a:t>
            </a:r>
            <a:r>
              <a:rPr lang="en-US" altLang="ja-JP" dirty="0" err="1">
                <a:latin typeface="Arial" panose="020B0604020202020204" pitchFamily="34" charset="0"/>
              </a:rPr>
              <a:t>Rusty’s</a:t>
            </a:r>
            <a:r>
              <a:rPr lang="en-US" altLang="ja-JP" dirty="0">
                <a:latin typeface="Arial" panose="020B0604020202020204" pitchFamily="34" charset="0"/>
              </a:rPr>
              <a:t> (as they would have after Walk #1).  After reviewing that drawing let them proceed to complete the addition of the data.  After reviewing the drawing at that point, then let them complete the Current State Map.  Then show them the Current State Map in the VSM EXERCISE INSTRUCTIONS_RUSTY’S WRENCH ENG REV3.1.</a:t>
            </a:r>
          </a:p>
          <a:p>
            <a:pPr eaLnBrk="1" hangingPunct="1"/>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Emphasize after the exercise that they will need these maps for a later exercise – do not discard or erase.  </a:t>
            </a:r>
          </a:p>
          <a:p>
            <a:pPr eaLnBrk="1" hangingPunct="1"/>
            <a:endParaRPr lang="en-US" altLang="en-US" dirty="0">
              <a:latin typeface="Arial" panose="020B0604020202020204" pitchFamily="34" charset="0"/>
            </a:endParaRPr>
          </a:p>
          <a:p>
            <a:pPr eaLnBrk="1" hangingPunct="1"/>
            <a:endParaRPr lang="en-US" altLang="en-US" b="1" dirty="0">
              <a:latin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68</a:t>
            </a:fld>
            <a:endParaRPr lang="en-US"/>
          </a:p>
        </p:txBody>
      </p:sp>
    </p:spTree>
    <p:extLst>
      <p:ext uri="{BB962C8B-B14F-4D97-AF65-F5344CB8AC3E}">
        <p14:creationId xmlns:p14="http://schemas.microsoft.com/office/powerpoint/2010/main" val="298276878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dirty="0">
                <a:latin typeface="Arial" panose="020B0604020202020204" pitchFamily="34" charset="0"/>
                <a:ea typeface="ＭＳ Ｐゴシック" panose="020B0600070205080204" pitchFamily="34" charset="-128"/>
              </a:rPr>
              <a:t>HANDOUT</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69</a:t>
            </a:fld>
            <a:endParaRPr lang="en-US"/>
          </a:p>
        </p:txBody>
      </p:sp>
    </p:spTree>
    <p:extLst>
      <p:ext uri="{BB962C8B-B14F-4D97-AF65-F5344CB8AC3E}">
        <p14:creationId xmlns:p14="http://schemas.microsoft.com/office/powerpoint/2010/main" val="25672361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dirty="0">
                <a:latin typeface="Arial" panose="020B0604020202020204" pitchFamily="34" charset="0"/>
                <a:ea typeface="ＭＳ Ｐゴシック" panose="020B0600070205080204" pitchFamily="34" charset="-128"/>
              </a:rPr>
              <a:t>HANDOUT</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70</a:t>
            </a:fld>
            <a:endParaRPr lang="en-US"/>
          </a:p>
        </p:txBody>
      </p:sp>
    </p:spTree>
    <p:extLst>
      <p:ext uri="{BB962C8B-B14F-4D97-AF65-F5344CB8AC3E}">
        <p14:creationId xmlns:p14="http://schemas.microsoft.com/office/powerpoint/2010/main" val="201823675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dirty="0">
                <a:latin typeface="Arial" panose="020B0604020202020204" pitchFamily="34" charset="0"/>
                <a:ea typeface="ＭＳ Ｐゴシック" panose="020B0600070205080204" pitchFamily="34" charset="-128"/>
              </a:rPr>
              <a:t>Explain that this chart summarizes the key data points and can be used to help map out the current state.  </a:t>
            </a:r>
          </a:p>
          <a:p>
            <a:r>
              <a:rPr lang="en-US" altLang="en-US" dirty="0">
                <a:latin typeface="Arial" panose="020B0604020202020204" pitchFamily="34" charset="0"/>
                <a:ea typeface="ＭＳ Ｐゴシック" panose="020B0600070205080204" pitchFamily="34" charset="-128"/>
              </a:rPr>
              <a:t>This data is the result of </a:t>
            </a:r>
            <a:r>
              <a:rPr lang="en-US" altLang="en-US" u="sng" dirty="0">
                <a:latin typeface="Arial" panose="020B0604020202020204" pitchFamily="34" charset="0"/>
                <a:ea typeface="ＭＳ Ｐゴシック" panose="020B0600070205080204" pitchFamily="34" charset="-128"/>
              </a:rPr>
              <a:t>observation</a:t>
            </a:r>
            <a:r>
              <a:rPr lang="en-US" altLang="en-US" dirty="0">
                <a:latin typeface="Arial" panose="020B0604020202020204" pitchFamily="34" charset="0"/>
                <a:ea typeface="ＭＳ Ｐゴシック" panose="020B0600070205080204" pitchFamily="34" charset="-128"/>
              </a:rPr>
              <a:t> and data-gathering activity.</a:t>
            </a:r>
          </a:p>
          <a:p>
            <a:r>
              <a:rPr lang="en-US" altLang="en-US" dirty="0">
                <a:latin typeface="Arial" panose="020B0604020202020204" pitchFamily="34" charset="0"/>
                <a:ea typeface="ＭＳ Ｐゴシック" panose="020B0600070205080204" pitchFamily="34" charset="-128"/>
              </a:rPr>
              <a:t>Note: Pause here and allow students to work in teams to create their maps – the following slides are the </a:t>
            </a:r>
            <a:r>
              <a:rPr lang="en-US" altLang="en-US" u="sng" dirty="0">
                <a:latin typeface="Arial" panose="020B0604020202020204" pitchFamily="34" charset="0"/>
                <a:ea typeface="ＭＳ Ｐゴシック" panose="020B0600070205080204" pitchFamily="34" charset="-128"/>
              </a:rPr>
              <a:t>Answers</a:t>
            </a:r>
          </a:p>
        </p:txBody>
      </p:sp>
      <p:sp>
        <p:nvSpPr>
          <p:cNvPr id="4" name="Slide Number Placeholder 3"/>
          <p:cNvSpPr>
            <a:spLocks noGrp="1"/>
          </p:cNvSpPr>
          <p:nvPr>
            <p:ph type="sldNum" sz="quarter" idx="5"/>
          </p:nvPr>
        </p:nvSpPr>
        <p:spPr/>
        <p:txBody>
          <a:bodyPr/>
          <a:lstStyle/>
          <a:p>
            <a:fld id="{AECD8548-F1A2-4EDF-A416-5F2BB6B8F64C}" type="slidenum">
              <a:rPr lang="en-US" smtClean="0"/>
              <a:t>71</a:t>
            </a:fld>
            <a:endParaRPr lang="en-US"/>
          </a:p>
        </p:txBody>
      </p:sp>
    </p:spTree>
    <p:extLst>
      <p:ext uri="{BB962C8B-B14F-4D97-AF65-F5344CB8AC3E}">
        <p14:creationId xmlns:p14="http://schemas.microsoft.com/office/powerpoint/2010/main" val="25669257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72</a:t>
            </a:fld>
            <a:endParaRPr lang="en-US"/>
          </a:p>
        </p:txBody>
      </p:sp>
    </p:spTree>
    <p:extLst>
      <p:ext uri="{BB962C8B-B14F-4D97-AF65-F5344CB8AC3E}">
        <p14:creationId xmlns:p14="http://schemas.microsoft.com/office/powerpoint/2010/main" val="286127981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73</a:t>
            </a:fld>
            <a:endParaRPr lang="en-US"/>
          </a:p>
        </p:txBody>
      </p:sp>
    </p:spTree>
    <p:extLst>
      <p:ext uri="{BB962C8B-B14F-4D97-AF65-F5344CB8AC3E}">
        <p14:creationId xmlns:p14="http://schemas.microsoft.com/office/powerpoint/2010/main" val="184028470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74</a:t>
            </a:fld>
            <a:endParaRPr lang="en-US"/>
          </a:p>
        </p:txBody>
      </p:sp>
    </p:spTree>
    <p:extLst>
      <p:ext uri="{BB962C8B-B14F-4D97-AF65-F5344CB8AC3E}">
        <p14:creationId xmlns:p14="http://schemas.microsoft.com/office/powerpoint/2010/main" val="233570017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There are slides that explain each process step. They are not intended to be reviewed all at once, but rather as each team is just about to complete that step. </a:t>
            </a:r>
          </a:p>
          <a:p>
            <a:pPr eaLnBrk="1" hangingPunct="1"/>
            <a:r>
              <a:rPr lang="en-US" altLang="en-US" dirty="0">
                <a:latin typeface="Arial" panose="020B0604020202020204" pitchFamily="34" charset="0"/>
              </a:rPr>
              <a:t>If it is not feasible to have the projector running for each of these short segments, you may have the participants refer only to their workbooks as you review the method for mapping. </a:t>
            </a:r>
          </a:p>
        </p:txBody>
      </p:sp>
      <p:sp>
        <p:nvSpPr>
          <p:cNvPr id="4" name="Slide Number Placeholder 3"/>
          <p:cNvSpPr>
            <a:spLocks noGrp="1"/>
          </p:cNvSpPr>
          <p:nvPr>
            <p:ph type="sldNum" sz="quarter" idx="5"/>
          </p:nvPr>
        </p:nvSpPr>
        <p:spPr/>
        <p:txBody>
          <a:bodyPr/>
          <a:lstStyle/>
          <a:p>
            <a:fld id="{AECD8548-F1A2-4EDF-A416-5F2BB6B8F64C}" type="slidenum">
              <a:rPr lang="en-US" smtClean="0"/>
              <a:t>75</a:t>
            </a:fld>
            <a:endParaRPr lang="en-US"/>
          </a:p>
        </p:txBody>
      </p:sp>
    </p:spTree>
    <p:extLst>
      <p:ext uri="{BB962C8B-B14F-4D97-AF65-F5344CB8AC3E}">
        <p14:creationId xmlns:p14="http://schemas.microsoft.com/office/powerpoint/2010/main" val="226318261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an idea of what time they should return from this exercise so that they budget their time wisely. </a:t>
            </a:r>
          </a:p>
        </p:txBody>
      </p:sp>
      <p:sp>
        <p:nvSpPr>
          <p:cNvPr id="4" name="Slide Number Placeholder 3"/>
          <p:cNvSpPr>
            <a:spLocks noGrp="1"/>
          </p:cNvSpPr>
          <p:nvPr>
            <p:ph type="sldNum" sz="quarter" idx="5"/>
          </p:nvPr>
        </p:nvSpPr>
        <p:spPr/>
        <p:txBody>
          <a:bodyPr/>
          <a:lstStyle/>
          <a:p>
            <a:fld id="{AECD8548-F1A2-4EDF-A416-5F2BB6B8F64C}" type="slidenum">
              <a:rPr lang="en-US" smtClean="0"/>
              <a:t>76</a:t>
            </a:fld>
            <a:endParaRPr lang="en-US"/>
          </a:p>
        </p:txBody>
      </p:sp>
    </p:spTree>
    <p:extLst>
      <p:ext uri="{BB962C8B-B14F-4D97-AF65-F5344CB8AC3E}">
        <p14:creationId xmlns:p14="http://schemas.microsoft.com/office/powerpoint/2010/main" val="401464075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77</a:t>
            </a:fld>
            <a:endParaRPr lang="en-US"/>
          </a:p>
        </p:txBody>
      </p:sp>
    </p:spTree>
    <p:extLst>
      <p:ext uri="{BB962C8B-B14F-4D97-AF65-F5344CB8AC3E}">
        <p14:creationId xmlns:p14="http://schemas.microsoft.com/office/powerpoint/2010/main" val="348841192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buSzPct val="90000"/>
              <a:buFont typeface="Wingdings" panose="05000000000000000000" pitchFamily="2" charset="2"/>
              <a:buNone/>
            </a:pPr>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When gathering data, your first preference in is to go to the workplace (</a:t>
            </a:r>
            <a:r>
              <a:rPr lang="en-US" altLang="ja-JP" dirty="0" err="1">
                <a:latin typeface="Arial" panose="020B0604020202020204" pitchFamily="34" charset="0"/>
              </a:rPr>
              <a:t>gemba</a:t>
            </a:r>
            <a:r>
              <a:rPr lang="en-US" altLang="ja-JP" dirty="0">
                <a:latin typeface="Arial" panose="020B0604020202020204" pitchFamily="34" charset="0"/>
              </a:rPr>
              <a:t>) and observe the process directly.</a:t>
            </a:r>
          </a:p>
          <a:p>
            <a:pPr eaLnBrk="1" hangingPunct="1">
              <a:buSzPct val="90000"/>
              <a:buFont typeface="Wingdings" panose="05000000000000000000" pitchFamily="2" charset="2"/>
              <a:buNone/>
            </a:pPr>
            <a:r>
              <a:rPr lang="en-US" altLang="en-US" dirty="0">
                <a:latin typeface="Arial" panose="020B0604020202020204" pitchFamily="34" charset="0"/>
              </a:rPr>
              <a:t>When it is not possible to go to the workplace you should use the following data sources in the following order.</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System Generated Report or Workflow Documents</a:t>
            </a:r>
            <a:r>
              <a:rPr lang="en-US" altLang="en-US" dirty="0">
                <a:latin typeface="Arial" panose="020B0604020202020204" pitchFamily="34" charset="0"/>
                <a:ea typeface="Arial" panose="020B0604020202020204" pitchFamily="34" charset="0"/>
                <a:cs typeface="Arial" panose="020B0604020202020204" pitchFamily="34" charset="0"/>
              </a:rPr>
              <a:t> - These may be used to identify activities, frequency of occurrence, and volumes</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Historical Performance Reports</a:t>
            </a:r>
            <a:r>
              <a:rPr lang="en-US" altLang="en-US" dirty="0">
                <a:latin typeface="Arial" panose="020B0604020202020204" pitchFamily="34" charset="0"/>
                <a:ea typeface="Arial" panose="020B0604020202020204" pitchFamily="34" charset="0"/>
                <a:cs typeface="Arial" panose="020B0604020202020204" pitchFamily="34" charset="0"/>
              </a:rPr>
              <a:t> - These can be either system or manually generated and serve to provide the same data as above</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Staff Interviews</a:t>
            </a:r>
            <a:r>
              <a:rPr lang="en-US" altLang="en-US" dirty="0">
                <a:latin typeface="Arial" panose="020B0604020202020204" pitchFamily="34" charset="0"/>
                <a:ea typeface="Arial" panose="020B0604020202020204" pitchFamily="34" charset="0"/>
                <a:cs typeface="Arial" panose="020B0604020202020204" pitchFamily="34" charset="0"/>
              </a:rPr>
              <a:t> - These should be conducted carefully starting at the end of the value stream and working to the front.  They should be posed such in a manner that identifies how the thing of value arrives, from where, who provides it, how many arrive, how often, and in what condition.  Be cautious when using this data as it tends to be highly inaccurate in terms of process time, inventory and quality yield.</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Management Interviews</a:t>
            </a:r>
            <a:r>
              <a:rPr lang="en-US" altLang="en-US" dirty="0">
                <a:latin typeface="Arial" panose="020B0604020202020204" pitchFamily="34" charset="0"/>
                <a:ea typeface="Arial" panose="020B0604020202020204" pitchFamily="34" charset="0"/>
                <a:cs typeface="Arial" panose="020B0604020202020204" pitchFamily="34" charset="0"/>
              </a:rPr>
              <a:t> - These can be the least accurate as they will generally tell you what is supposed to happen not what really takes place.</a:t>
            </a:r>
          </a:p>
          <a:p>
            <a:pPr eaLnBrk="1" hangingPunct="1"/>
            <a:endParaRPr lang="en-US" altLang="en-US" sz="1100"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78</a:t>
            </a:fld>
            <a:endParaRPr lang="en-US"/>
          </a:p>
        </p:txBody>
      </p:sp>
    </p:spTree>
    <p:extLst>
      <p:ext uri="{BB962C8B-B14F-4D97-AF65-F5344CB8AC3E}">
        <p14:creationId xmlns:p14="http://schemas.microsoft.com/office/powerpoint/2010/main" val="60706490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sz="1100"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79</a:t>
            </a:fld>
            <a:endParaRPr lang="en-US"/>
          </a:p>
        </p:txBody>
      </p:sp>
    </p:spTree>
    <p:extLst>
      <p:ext uri="{BB962C8B-B14F-4D97-AF65-F5344CB8AC3E}">
        <p14:creationId xmlns:p14="http://schemas.microsoft.com/office/powerpoint/2010/main" val="288091350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 Work with interviewer and lean coordinator with the fine points of interviewing and extracting information from operators in shop floor-relevant terminology.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does this step in the process do?</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do you know what to work on?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Where do you get your schedule from and how often?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long does this process typically take? (ask only if can</a:t>
            </a:r>
            <a:r>
              <a:rPr lang="ja-JP" altLang="en-US" dirty="0">
                <a:latin typeface="Arial" panose="020B0604020202020204" pitchFamily="34" charset="0"/>
                <a:ea typeface="MS PGothic" panose="020B0600070205080204" pitchFamily="34" charset="-128"/>
                <a:cs typeface="Arial" panose="020B0604020202020204" pitchFamily="34" charset="0"/>
              </a:rPr>
              <a:t>’</a:t>
            </a:r>
            <a:r>
              <a:rPr lang="en-US" altLang="ja-JP" dirty="0">
                <a:latin typeface="Arial" panose="020B0604020202020204" pitchFamily="34" charset="0"/>
                <a:ea typeface="MS PGothic" panose="020B0600070205080204" pitchFamily="34" charset="-128"/>
                <a:cs typeface="Arial" panose="020B0604020202020204" pitchFamily="34" charset="0"/>
              </a:rPr>
              <a:t>t be observed)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Where are the parts that you need to build today?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is this machine down?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are machines down for maintenance?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do you do changeovers and how long do changeovers take?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many rejects or scrap parts do you have today?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else would cause a delay in this process?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If you could make any improvements to this process what would they be?</a:t>
            </a:r>
          </a:p>
          <a:p>
            <a:pPr lvl="1" eaLnBrk="1" hangingPunct="1">
              <a:buFontTx/>
              <a:buNone/>
            </a:pPr>
            <a:r>
              <a:rPr lang="en-US" altLang="en-US" b="1" dirty="0">
                <a:latin typeface="Arial" panose="020B0604020202020204" pitchFamily="34" charset="0"/>
                <a:ea typeface="Arial" panose="020B0604020202020204" pitchFamily="34" charset="0"/>
                <a:cs typeface="Arial" panose="020B0604020202020204" pitchFamily="34" charset="0"/>
              </a:rPr>
              <a:t>Not an exhaustive list… not every question has to be asked. </a:t>
            </a:r>
          </a:p>
        </p:txBody>
      </p:sp>
      <p:sp>
        <p:nvSpPr>
          <p:cNvPr id="4" name="Slide Number Placeholder 3"/>
          <p:cNvSpPr>
            <a:spLocks noGrp="1"/>
          </p:cNvSpPr>
          <p:nvPr>
            <p:ph type="sldNum" sz="quarter" idx="5"/>
          </p:nvPr>
        </p:nvSpPr>
        <p:spPr/>
        <p:txBody>
          <a:bodyPr/>
          <a:lstStyle/>
          <a:p>
            <a:fld id="{AECD8548-F1A2-4EDF-A416-5F2BB6B8F64C}" type="slidenum">
              <a:rPr lang="en-US" smtClean="0"/>
              <a:t>80</a:t>
            </a:fld>
            <a:endParaRPr lang="en-US"/>
          </a:p>
        </p:txBody>
      </p:sp>
    </p:spTree>
    <p:extLst>
      <p:ext uri="{BB962C8B-B14F-4D97-AF65-F5344CB8AC3E}">
        <p14:creationId xmlns:p14="http://schemas.microsoft.com/office/powerpoint/2010/main" val="399039110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Here are some best practices for map drawing:</a:t>
            </a:r>
            <a:br>
              <a:rPr lang="en-US" altLang="en-US" dirty="0">
                <a:latin typeface="Arial" panose="020B0604020202020204" pitchFamily="34" charset="0"/>
              </a:rPr>
            </a:br>
            <a:endParaRPr lang="en-US" altLang="en-US" dirty="0">
              <a:latin typeface="Arial" panose="020B0604020202020204" pitchFamily="34" charset="0"/>
            </a:endParaRPr>
          </a:p>
          <a:p>
            <a:pPr eaLnBrk="1" hangingPunct="1"/>
            <a:r>
              <a:rPr lang="en-US" altLang="en-US" dirty="0">
                <a:latin typeface="Arial" panose="020B0604020202020204" pitchFamily="34" charset="0"/>
              </a:rPr>
              <a:t>When writing data on post-it notes, it is best to start in pencil and then trace with black marker</a:t>
            </a:r>
          </a:p>
          <a:p>
            <a:pPr eaLnBrk="1" hangingPunct="1"/>
            <a:r>
              <a:rPr lang="en-US" altLang="en-US" dirty="0">
                <a:latin typeface="Arial" panose="020B0604020202020204" pitchFamily="34" charset="0"/>
              </a:rPr>
              <a:t>Wait until the very end to draw any information flow or material flow arrows in marker</a:t>
            </a:r>
            <a:br>
              <a:rPr lang="en-US" altLang="en-US" dirty="0">
                <a:latin typeface="Arial" panose="020B0604020202020204" pitchFamily="34" charset="0"/>
              </a:rPr>
            </a:br>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81</a:t>
            </a:fld>
            <a:endParaRPr lang="en-US"/>
          </a:p>
        </p:txBody>
      </p:sp>
    </p:spTree>
    <p:extLst>
      <p:ext uri="{BB962C8B-B14F-4D97-AF65-F5344CB8AC3E}">
        <p14:creationId xmlns:p14="http://schemas.microsoft.com/office/powerpoint/2010/main" val="126870934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Give the team an idea of what time they should return from this exercise so that they budget their time wisely. </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82</a:t>
            </a:fld>
            <a:endParaRPr lang="en-US"/>
          </a:p>
        </p:txBody>
      </p:sp>
    </p:spTree>
    <p:extLst>
      <p:ext uri="{BB962C8B-B14F-4D97-AF65-F5344CB8AC3E}">
        <p14:creationId xmlns:p14="http://schemas.microsoft.com/office/powerpoint/2010/main" val="261678922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83</a:t>
            </a:fld>
            <a:endParaRPr lang="en-US"/>
          </a:p>
        </p:txBody>
      </p:sp>
    </p:spTree>
    <p:extLst>
      <p:ext uri="{BB962C8B-B14F-4D97-AF65-F5344CB8AC3E}">
        <p14:creationId xmlns:p14="http://schemas.microsoft.com/office/powerpoint/2010/main" val="229856016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Give the team an idea of what time they should have this exercise complete so that they budget their time wisely. </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84</a:t>
            </a:fld>
            <a:endParaRPr lang="en-US"/>
          </a:p>
        </p:txBody>
      </p:sp>
    </p:spTree>
    <p:extLst>
      <p:ext uri="{BB962C8B-B14F-4D97-AF65-F5344CB8AC3E}">
        <p14:creationId xmlns:p14="http://schemas.microsoft.com/office/powerpoint/2010/main" val="192386191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Refer to agenda on flip-chart and review what has been covered already. Suggested method is </a:t>
            </a:r>
            <a:r>
              <a:rPr lang="ja-JP" altLang="en-US" dirty="0">
                <a:latin typeface="Arial" panose="020B0604020202020204" pitchFamily="34" charset="0"/>
              </a:rPr>
              <a:t>“</a:t>
            </a:r>
            <a:r>
              <a:rPr lang="en-US" altLang="ja-JP" dirty="0">
                <a:latin typeface="Arial" panose="020B0604020202020204" pitchFamily="34" charset="0"/>
              </a:rPr>
              <a:t>questioning</a:t>
            </a:r>
            <a:r>
              <a:rPr lang="ja-JP" altLang="en-US" dirty="0">
                <a:latin typeface="Arial" panose="020B0604020202020204" pitchFamily="34" charset="0"/>
              </a:rPr>
              <a:t>”</a:t>
            </a:r>
            <a:r>
              <a:rPr lang="en-US" altLang="ja-JP" dirty="0">
                <a:latin typeface="Arial" panose="020B0604020202020204" pitchFamily="34" charset="0"/>
              </a:rPr>
              <a:t> ask a few questions as you refer to the agenda about </a:t>
            </a:r>
            <a:r>
              <a:rPr lang="ja-JP" altLang="en-US" dirty="0">
                <a:latin typeface="Arial" panose="020B0604020202020204" pitchFamily="34" charset="0"/>
              </a:rPr>
              <a:t>“</a:t>
            </a:r>
            <a:r>
              <a:rPr lang="en-US" altLang="ja-JP" dirty="0">
                <a:latin typeface="Arial" panose="020B0604020202020204" pitchFamily="34" charset="0"/>
              </a:rPr>
              <a:t>what is a value stream</a:t>
            </a:r>
            <a:r>
              <a:rPr lang="ja-JP" altLang="en-US" dirty="0">
                <a:latin typeface="Arial" panose="020B0604020202020204" pitchFamily="34" charset="0"/>
              </a:rPr>
              <a:t>”</a:t>
            </a:r>
            <a:r>
              <a:rPr lang="en-US" altLang="ja-JP"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why value stream map,</a:t>
            </a:r>
            <a:r>
              <a:rPr lang="ja-JP" altLang="en-US" dirty="0">
                <a:latin typeface="Arial" panose="020B0604020202020204" pitchFamily="34" charset="0"/>
              </a:rPr>
              <a:t>”</a:t>
            </a:r>
            <a:r>
              <a:rPr lang="en-US" altLang="ja-JP" dirty="0">
                <a:latin typeface="Arial" panose="020B0604020202020204" pitchFamily="34" charset="0"/>
              </a:rPr>
              <a:t> and </a:t>
            </a:r>
            <a:r>
              <a:rPr lang="ja-JP" altLang="en-US" dirty="0">
                <a:latin typeface="Arial" panose="020B0604020202020204" pitchFamily="34" charset="0"/>
              </a:rPr>
              <a:t>“</a:t>
            </a:r>
            <a:r>
              <a:rPr lang="en-US" altLang="ja-JP" dirty="0">
                <a:latin typeface="Arial" panose="020B0604020202020204" pitchFamily="34" charset="0"/>
              </a:rPr>
              <a:t>what is our method for Current State Mapping?</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next step in the process of Value Stream Mapping – and that is Interrogating the Current State Map of the process.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objectives on the slide.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SUPPLIES NEEDED FOR THIS SECTION:</a:t>
            </a:r>
          </a:p>
          <a:p>
            <a:pPr eaLnBrk="1" hangingPunct="1"/>
            <a:r>
              <a:rPr lang="en-US" altLang="en-US" dirty="0">
                <a:latin typeface="Arial" panose="020B0604020202020204" pitchFamily="34" charset="0"/>
              </a:rPr>
              <a:t>Flip-chart paper</a:t>
            </a:r>
          </a:p>
          <a:p>
            <a:pPr eaLnBrk="1" hangingPunct="1"/>
            <a:r>
              <a:rPr lang="en-US" altLang="en-US" dirty="0">
                <a:latin typeface="Arial" panose="020B0604020202020204" pitchFamily="34" charset="0"/>
              </a:rPr>
              <a:t>MME Current State Maps from previous exercise</a:t>
            </a:r>
          </a:p>
          <a:p>
            <a:pPr eaLnBrk="1" hangingPunct="1"/>
            <a:r>
              <a:rPr lang="en-US" altLang="en-US" dirty="0">
                <a:latin typeface="Arial" panose="020B0604020202020204" pitchFamily="34" charset="0"/>
              </a:rPr>
              <a:t>Rusty</a:t>
            </a:r>
            <a:r>
              <a:rPr lang="ja-JP" altLang="en-US" dirty="0">
                <a:latin typeface="Arial" panose="020B0604020202020204" pitchFamily="34" charset="0"/>
              </a:rPr>
              <a:t>’</a:t>
            </a:r>
            <a:r>
              <a:rPr lang="en-US" altLang="ja-JP" dirty="0">
                <a:latin typeface="Arial" panose="020B0604020202020204" pitchFamily="34" charset="0"/>
              </a:rPr>
              <a:t>s Wrench Current State Map from previous exercise</a:t>
            </a:r>
          </a:p>
          <a:p>
            <a:pPr eaLnBrk="1" hangingPunct="1"/>
            <a:r>
              <a:rPr lang="en-US" altLang="en-US" dirty="0">
                <a:latin typeface="Arial" panose="020B0604020202020204" pitchFamily="34" charset="0"/>
              </a:rPr>
              <a:t>Black thin markers</a:t>
            </a:r>
          </a:p>
          <a:p>
            <a:pPr eaLnBrk="1" hangingPunct="1"/>
            <a:r>
              <a:rPr lang="en-US" altLang="en-US" dirty="0">
                <a:latin typeface="Arial" panose="020B0604020202020204" pitchFamily="34" charset="0"/>
              </a:rPr>
              <a:t>Red thin markers</a:t>
            </a:r>
          </a:p>
          <a:p>
            <a:pPr eaLnBrk="1" hangingPunct="1"/>
            <a:r>
              <a:rPr lang="en-US" altLang="en-US" dirty="0">
                <a:latin typeface="Arial" panose="020B0604020202020204" pitchFamily="34" charset="0"/>
              </a:rPr>
              <a:t>3-4 Packs of Post-It Notes</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85</a:t>
            </a:fld>
            <a:endParaRPr lang="en-US"/>
          </a:p>
        </p:txBody>
      </p:sp>
    </p:spTree>
    <p:extLst>
      <p:ext uri="{BB962C8B-B14F-4D97-AF65-F5344CB8AC3E}">
        <p14:creationId xmlns:p14="http://schemas.microsoft.com/office/powerpoint/2010/main" val="177301798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You will need to pull out your MME Current State Maps from the previous exercise. Please also take a red marker for we will be marking up our Current State Maps during our analysis.</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86</a:t>
            </a:fld>
            <a:endParaRPr lang="en-US"/>
          </a:p>
        </p:txBody>
      </p:sp>
    </p:spTree>
    <p:extLst>
      <p:ext uri="{BB962C8B-B14F-4D97-AF65-F5344CB8AC3E}">
        <p14:creationId xmlns:p14="http://schemas.microsoft.com/office/powerpoint/2010/main" val="331744902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87</a:t>
            </a:fld>
            <a:endParaRPr lang="en-US"/>
          </a:p>
        </p:txBody>
      </p:sp>
    </p:spTree>
    <p:extLst>
      <p:ext uri="{BB962C8B-B14F-4D97-AF65-F5344CB8AC3E}">
        <p14:creationId xmlns:p14="http://schemas.microsoft.com/office/powerpoint/2010/main" val="12525280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88</a:t>
            </a:fld>
            <a:endParaRPr lang="en-US"/>
          </a:p>
        </p:txBody>
      </p:sp>
    </p:spTree>
    <p:extLst>
      <p:ext uri="{BB962C8B-B14F-4D97-AF65-F5344CB8AC3E}">
        <p14:creationId xmlns:p14="http://schemas.microsoft.com/office/powerpoint/2010/main" val="325358219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89</a:t>
            </a:fld>
            <a:endParaRPr lang="en-US"/>
          </a:p>
        </p:txBody>
      </p:sp>
    </p:spTree>
    <p:extLst>
      <p:ext uri="{BB962C8B-B14F-4D97-AF65-F5344CB8AC3E}">
        <p14:creationId xmlns:p14="http://schemas.microsoft.com/office/powerpoint/2010/main" val="25724617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90</a:t>
            </a:fld>
            <a:endParaRPr lang="en-US"/>
          </a:p>
        </p:txBody>
      </p:sp>
    </p:spTree>
    <p:extLst>
      <p:ext uri="{BB962C8B-B14F-4D97-AF65-F5344CB8AC3E}">
        <p14:creationId xmlns:p14="http://schemas.microsoft.com/office/powerpoint/2010/main" val="387784983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91</a:t>
            </a:fld>
            <a:endParaRPr lang="en-US"/>
          </a:p>
        </p:txBody>
      </p:sp>
    </p:spTree>
    <p:extLst>
      <p:ext uri="{BB962C8B-B14F-4D97-AF65-F5344CB8AC3E}">
        <p14:creationId xmlns:p14="http://schemas.microsoft.com/office/powerpoint/2010/main" val="60301219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92</a:t>
            </a:fld>
            <a:endParaRPr lang="en-US"/>
          </a:p>
        </p:txBody>
      </p:sp>
    </p:spTree>
    <p:extLst>
      <p:ext uri="{BB962C8B-B14F-4D97-AF65-F5344CB8AC3E}">
        <p14:creationId xmlns:p14="http://schemas.microsoft.com/office/powerpoint/2010/main" val="48819641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93</a:t>
            </a:fld>
            <a:endParaRPr lang="en-US"/>
          </a:p>
        </p:txBody>
      </p:sp>
    </p:spTree>
    <p:extLst>
      <p:ext uri="{BB962C8B-B14F-4D97-AF65-F5344CB8AC3E}">
        <p14:creationId xmlns:p14="http://schemas.microsoft.com/office/powerpoint/2010/main" val="105614782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94</a:t>
            </a:fld>
            <a:endParaRPr lang="en-US"/>
          </a:p>
        </p:txBody>
      </p:sp>
    </p:spTree>
    <p:extLst>
      <p:ext uri="{BB962C8B-B14F-4D97-AF65-F5344CB8AC3E}">
        <p14:creationId xmlns:p14="http://schemas.microsoft.com/office/powerpoint/2010/main" val="417763109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95</a:t>
            </a:fld>
            <a:endParaRPr lang="en-US"/>
          </a:p>
        </p:txBody>
      </p:sp>
    </p:spTree>
    <p:extLst>
      <p:ext uri="{BB962C8B-B14F-4D97-AF65-F5344CB8AC3E}">
        <p14:creationId xmlns:p14="http://schemas.microsoft.com/office/powerpoint/2010/main" val="288767395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96</a:t>
            </a:fld>
            <a:endParaRPr lang="en-US"/>
          </a:p>
        </p:txBody>
      </p:sp>
    </p:spTree>
    <p:extLst>
      <p:ext uri="{BB962C8B-B14F-4D97-AF65-F5344CB8AC3E}">
        <p14:creationId xmlns:p14="http://schemas.microsoft.com/office/powerpoint/2010/main" val="383330796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97</a:t>
            </a:fld>
            <a:endParaRPr lang="en-US"/>
          </a:p>
        </p:txBody>
      </p:sp>
    </p:spTree>
    <p:extLst>
      <p:ext uri="{BB962C8B-B14F-4D97-AF65-F5344CB8AC3E}">
        <p14:creationId xmlns:p14="http://schemas.microsoft.com/office/powerpoint/2010/main" val="49251909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98</a:t>
            </a:fld>
            <a:endParaRPr lang="en-US"/>
          </a:p>
        </p:txBody>
      </p:sp>
    </p:spTree>
    <p:extLst>
      <p:ext uri="{BB962C8B-B14F-4D97-AF65-F5344CB8AC3E}">
        <p14:creationId xmlns:p14="http://schemas.microsoft.com/office/powerpoint/2010/main" val="246664522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Caution : 	Merging of process lead times &amp; downtimes</a:t>
            </a:r>
          </a:p>
          <a:p>
            <a:pPr eaLnBrk="1" hangingPunct="1"/>
            <a:r>
              <a:rPr lang="en-US" altLang="en-US" dirty="0">
                <a:latin typeface="Arial" panose="020B0604020202020204" pitchFamily="34" charset="0"/>
              </a:rPr>
              <a:t>	Combine Continuous Flow with Pull/FIFO systems </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99</a:t>
            </a:fld>
            <a:endParaRPr lang="en-US"/>
          </a:p>
        </p:txBody>
      </p:sp>
    </p:spTree>
    <p:extLst>
      <p:ext uri="{BB962C8B-B14F-4D97-AF65-F5344CB8AC3E}">
        <p14:creationId xmlns:p14="http://schemas.microsoft.com/office/powerpoint/2010/main" val="41769632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100</a:t>
            </a:fld>
            <a:endParaRPr lang="en-US"/>
          </a:p>
        </p:txBody>
      </p:sp>
    </p:spTree>
    <p:extLst>
      <p:ext uri="{BB962C8B-B14F-4D97-AF65-F5344CB8AC3E}">
        <p14:creationId xmlns:p14="http://schemas.microsoft.com/office/powerpoint/2010/main" val="81560355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101</a:t>
            </a:fld>
            <a:endParaRPr lang="en-US"/>
          </a:p>
        </p:txBody>
      </p:sp>
    </p:spTree>
    <p:extLst>
      <p:ext uri="{BB962C8B-B14F-4D97-AF65-F5344CB8AC3E}">
        <p14:creationId xmlns:p14="http://schemas.microsoft.com/office/powerpoint/2010/main" val="302902886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In this example we will see how both supermarkets and FIFO (first in first out) are effectively used. This example starts with an incoming customer order (read information from slide). The customer order arrives at the Paint operation which is the schedule point in the process. </a:t>
            </a:r>
          </a:p>
          <a:p>
            <a:pPr eaLnBrk="1" hangingPunct="1"/>
            <a:r>
              <a:rPr lang="en-US" altLang="en-US" dirty="0">
                <a:latin typeface="Arial" panose="020B0604020202020204" pitchFamily="34" charset="0"/>
              </a:rPr>
              <a:t>At this point the frame is selected from a supermarket of 3 types of welded frames. There are designated amounts at all times of frames in the supermarket. When one is removed, that is a signal for the upstream Weld process to make more. (review supermarket bullets). </a:t>
            </a:r>
          </a:p>
          <a:p>
            <a:pPr eaLnBrk="1" hangingPunct="1"/>
            <a:r>
              <a:rPr lang="en-US" altLang="en-US" dirty="0">
                <a:latin typeface="Arial" panose="020B0604020202020204" pitchFamily="34" charset="0"/>
              </a:rPr>
              <a:t>Once the frame goes through the paint process, it enters a FIFO process. There is always a fixed quantity in the FIFO lane – a new part is only put into the FIFO lane when a part has been removed.</a:t>
            </a:r>
            <a:r>
              <a:rPr lang="ja-JP" altLang="en-US" dirty="0">
                <a:latin typeface="Arial" panose="020B0604020202020204" pitchFamily="34" charset="0"/>
              </a:rPr>
              <a:t>”</a:t>
            </a:r>
            <a:r>
              <a:rPr lang="en-US" altLang="ja-JP" dirty="0">
                <a:latin typeface="Arial" panose="020B0604020202020204" pitchFamily="34" charset="0"/>
              </a:rPr>
              <a:t>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NOTE: </a:t>
            </a:r>
            <a:r>
              <a:rPr lang="en-US" altLang="en-US" dirty="0">
                <a:latin typeface="Arial" panose="020B0604020202020204" pitchFamily="34" charset="0"/>
              </a:rPr>
              <a:t>Kanban is defined a signal that triggers material replenishment.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102</a:t>
            </a:fld>
            <a:endParaRPr lang="en-US"/>
          </a:p>
        </p:txBody>
      </p:sp>
    </p:spTree>
    <p:extLst>
      <p:ext uri="{BB962C8B-B14F-4D97-AF65-F5344CB8AC3E}">
        <p14:creationId xmlns:p14="http://schemas.microsoft.com/office/powerpoint/2010/main" val="391267834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103</a:t>
            </a:fld>
            <a:endParaRPr lang="en-US"/>
          </a:p>
        </p:txBody>
      </p:sp>
    </p:spTree>
    <p:extLst>
      <p:ext uri="{BB962C8B-B14F-4D97-AF65-F5344CB8AC3E}">
        <p14:creationId xmlns:p14="http://schemas.microsoft.com/office/powerpoint/2010/main" val="288476424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104</a:t>
            </a:fld>
            <a:endParaRPr lang="en-US"/>
          </a:p>
        </p:txBody>
      </p:sp>
    </p:spTree>
    <p:extLst>
      <p:ext uri="{BB962C8B-B14F-4D97-AF65-F5344CB8AC3E}">
        <p14:creationId xmlns:p14="http://schemas.microsoft.com/office/powerpoint/2010/main" val="375578213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105</a:t>
            </a:fld>
            <a:endParaRPr lang="en-US"/>
          </a:p>
        </p:txBody>
      </p:sp>
    </p:spTree>
    <p:extLst>
      <p:ext uri="{BB962C8B-B14F-4D97-AF65-F5344CB8AC3E}">
        <p14:creationId xmlns:p14="http://schemas.microsoft.com/office/powerpoint/2010/main" val="100188973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106</a:t>
            </a:fld>
            <a:endParaRPr lang="en-US"/>
          </a:p>
        </p:txBody>
      </p:sp>
    </p:spTree>
    <p:extLst>
      <p:ext uri="{BB962C8B-B14F-4D97-AF65-F5344CB8AC3E}">
        <p14:creationId xmlns:p14="http://schemas.microsoft.com/office/powerpoint/2010/main" val="222450213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107</a:t>
            </a:fld>
            <a:endParaRPr lang="en-US"/>
          </a:p>
        </p:txBody>
      </p:sp>
    </p:spTree>
    <p:extLst>
      <p:ext uri="{BB962C8B-B14F-4D97-AF65-F5344CB8AC3E}">
        <p14:creationId xmlns:p14="http://schemas.microsoft.com/office/powerpoint/2010/main" val="220168899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108</a:t>
            </a:fld>
            <a:endParaRPr lang="en-US"/>
          </a:p>
        </p:txBody>
      </p:sp>
    </p:spTree>
    <p:extLst>
      <p:ext uri="{BB962C8B-B14F-4D97-AF65-F5344CB8AC3E}">
        <p14:creationId xmlns:p14="http://schemas.microsoft.com/office/powerpoint/2010/main" val="264096788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109</a:t>
            </a:fld>
            <a:endParaRPr lang="en-US"/>
          </a:p>
        </p:txBody>
      </p:sp>
    </p:spTree>
    <p:extLst>
      <p:ext uri="{BB962C8B-B14F-4D97-AF65-F5344CB8AC3E}">
        <p14:creationId xmlns:p14="http://schemas.microsoft.com/office/powerpoint/2010/main" val="414187999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110</a:t>
            </a:fld>
            <a:endParaRPr lang="en-US"/>
          </a:p>
        </p:txBody>
      </p:sp>
    </p:spTree>
    <p:extLst>
      <p:ext uri="{BB962C8B-B14F-4D97-AF65-F5344CB8AC3E}">
        <p14:creationId xmlns:p14="http://schemas.microsoft.com/office/powerpoint/2010/main" val="135346765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111</a:t>
            </a:fld>
            <a:endParaRPr lang="en-US"/>
          </a:p>
        </p:txBody>
      </p:sp>
    </p:spTree>
    <p:extLst>
      <p:ext uri="{BB962C8B-B14F-4D97-AF65-F5344CB8AC3E}">
        <p14:creationId xmlns:p14="http://schemas.microsoft.com/office/powerpoint/2010/main" val="208509240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112</a:t>
            </a:fld>
            <a:endParaRPr lang="en-US"/>
          </a:p>
        </p:txBody>
      </p:sp>
    </p:spTree>
    <p:extLst>
      <p:ext uri="{BB962C8B-B14F-4D97-AF65-F5344CB8AC3E}">
        <p14:creationId xmlns:p14="http://schemas.microsoft.com/office/powerpoint/2010/main" val="148402631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113</a:t>
            </a:fld>
            <a:endParaRPr lang="en-US"/>
          </a:p>
        </p:txBody>
      </p:sp>
    </p:spTree>
    <p:extLst>
      <p:ext uri="{BB962C8B-B14F-4D97-AF65-F5344CB8AC3E}">
        <p14:creationId xmlns:p14="http://schemas.microsoft.com/office/powerpoint/2010/main" val="287055049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114</a:t>
            </a:fld>
            <a:endParaRPr lang="en-US"/>
          </a:p>
        </p:txBody>
      </p:sp>
    </p:spTree>
    <p:extLst>
      <p:ext uri="{BB962C8B-B14F-4D97-AF65-F5344CB8AC3E}">
        <p14:creationId xmlns:p14="http://schemas.microsoft.com/office/powerpoint/2010/main" val="229243484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115</a:t>
            </a:fld>
            <a:endParaRPr lang="en-US"/>
          </a:p>
        </p:txBody>
      </p:sp>
    </p:spTree>
    <p:extLst>
      <p:ext uri="{BB962C8B-B14F-4D97-AF65-F5344CB8AC3E}">
        <p14:creationId xmlns:p14="http://schemas.microsoft.com/office/powerpoint/2010/main" val="358690404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116</a:t>
            </a:fld>
            <a:endParaRPr lang="en-US"/>
          </a:p>
        </p:txBody>
      </p:sp>
    </p:spTree>
    <p:extLst>
      <p:ext uri="{BB962C8B-B14F-4D97-AF65-F5344CB8AC3E}">
        <p14:creationId xmlns:p14="http://schemas.microsoft.com/office/powerpoint/2010/main" val="362363875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117</a:t>
            </a:fld>
            <a:endParaRPr lang="en-US"/>
          </a:p>
        </p:txBody>
      </p:sp>
    </p:spTree>
    <p:extLst>
      <p:ext uri="{BB962C8B-B14F-4D97-AF65-F5344CB8AC3E}">
        <p14:creationId xmlns:p14="http://schemas.microsoft.com/office/powerpoint/2010/main" val="416619404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118</a:t>
            </a:fld>
            <a:endParaRPr lang="en-US"/>
          </a:p>
        </p:txBody>
      </p:sp>
    </p:spTree>
    <p:extLst>
      <p:ext uri="{BB962C8B-B14F-4D97-AF65-F5344CB8AC3E}">
        <p14:creationId xmlns:p14="http://schemas.microsoft.com/office/powerpoint/2010/main" val="399096443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119</a:t>
            </a:fld>
            <a:endParaRPr lang="en-US"/>
          </a:p>
        </p:txBody>
      </p:sp>
    </p:spTree>
    <p:extLst>
      <p:ext uri="{BB962C8B-B14F-4D97-AF65-F5344CB8AC3E}">
        <p14:creationId xmlns:p14="http://schemas.microsoft.com/office/powerpoint/2010/main" val="267210071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120</a:t>
            </a:fld>
            <a:endParaRPr lang="en-US"/>
          </a:p>
        </p:txBody>
      </p:sp>
    </p:spTree>
    <p:extLst>
      <p:ext uri="{BB962C8B-B14F-4D97-AF65-F5344CB8AC3E}">
        <p14:creationId xmlns:p14="http://schemas.microsoft.com/office/powerpoint/2010/main" val="58068517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121</a:t>
            </a:fld>
            <a:endParaRPr lang="en-US"/>
          </a:p>
        </p:txBody>
      </p:sp>
    </p:spTree>
    <p:extLst>
      <p:ext uri="{BB962C8B-B14F-4D97-AF65-F5344CB8AC3E}">
        <p14:creationId xmlns:p14="http://schemas.microsoft.com/office/powerpoint/2010/main" val="383130842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122</a:t>
            </a:fld>
            <a:endParaRPr lang="en-US"/>
          </a:p>
        </p:txBody>
      </p:sp>
    </p:spTree>
    <p:extLst>
      <p:ext uri="{BB962C8B-B14F-4D97-AF65-F5344CB8AC3E}">
        <p14:creationId xmlns:p14="http://schemas.microsoft.com/office/powerpoint/2010/main" val="3072929710"/>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Why a weekly fax to Acme?  Because the monthly P.O. was based on a forecast where as the weekly fax (replenishment) is based on actual consumption.  This is a much closer match to what is actually needed.  Also weekly bites means smaller amounts of inventory arriving each time which will reduce the total inventory on-hand.  Reduction in inventory not only means less cash tied up but also means less space required, get caught with less obsolete, get caught with fewer defectives; shorter lead time.</a:t>
            </a: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123</a:t>
            </a:fld>
            <a:endParaRPr lang="en-US"/>
          </a:p>
        </p:txBody>
      </p:sp>
    </p:spTree>
    <p:extLst>
      <p:ext uri="{BB962C8B-B14F-4D97-AF65-F5344CB8AC3E}">
        <p14:creationId xmlns:p14="http://schemas.microsoft.com/office/powerpoint/2010/main" val="161026758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Why shoot for a 30/60/90 day forecast from Ed</a:t>
            </a:r>
            <a:r>
              <a:rPr lang="ja-JP" altLang="en-US" dirty="0">
                <a:latin typeface="Arial" panose="020B0604020202020204" pitchFamily="34" charset="0"/>
              </a:rPr>
              <a:t>’</a:t>
            </a:r>
            <a:r>
              <a:rPr lang="en-US" altLang="ja-JP" dirty="0">
                <a:latin typeface="Arial" panose="020B0604020202020204" pitchFamily="34" charset="0"/>
              </a:rPr>
              <a:t>s?  Because currently we only know each day what Ed</a:t>
            </a:r>
            <a:r>
              <a:rPr lang="ja-JP" altLang="en-US" dirty="0">
                <a:latin typeface="Arial" panose="020B0604020202020204" pitchFamily="34" charset="0"/>
              </a:rPr>
              <a:t>’</a:t>
            </a:r>
            <a:r>
              <a:rPr lang="en-US" altLang="ja-JP" dirty="0">
                <a:latin typeface="Arial" panose="020B0604020202020204" pitchFamily="34" charset="0"/>
              </a:rPr>
              <a:t>s expects us to ship the NEXT day and that history says 30,000 units per month.  But what if Ed</a:t>
            </a:r>
            <a:r>
              <a:rPr lang="ja-JP" altLang="en-US" dirty="0">
                <a:latin typeface="Arial" panose="020B0604020202020204" pitchFamily="34" charset="0"/>
              </a:rPr>
              <a:t>’</a:t>
            </a:r>
            <a:r>
              <a:rPr lang="en-US" altLang="ja-JP" dirty="0">
                <a:latin typeface="Arial" panose="020B0604020202020204" pitchFamily="34" charset="0"/>
              </a:rPr>
              <a:t>s is planning promotions or new sales channels – his demand go jump and we </a:t>
            </a:r>
            <a:r>
              <a:rPr lang="en-US" altLang="ja-JP" dirty="0" err="1">
                <a:latin typeface="Arial" panose="020B0604020202020204" pitchFamily="34" charset="0"/>
              </a:rPr>
              <a:t>wouldn</a:t>
            </a:r>
            <a:r>
              <a:rPr lang="ja-JP" altLang="en-US" dirty="0">
                <a:latin typeface="Arial" panose="020B0604020202020204" pitchFamily="34" charset="0"/>
              </a:rPr>
              <a:t>’</a:t>
            </a:r>
            <a:r>
              <a:rPr lang="en-US" altLang="ja-JP" dirty="0">
                <a:latin typeface="Arial" panose="020B0604020202020204" pitchFamily="34" charset="0"/>
              </a:rPr>
              <a:t>t be ready.  Also, if his demands are going to fluctuate so much that we need to add surge capacity only to see demand then go back down, he/we could negotiate to level the load by building some FG inventory to be held by one or both of us instead of investing in capital expansion for surge capacity.</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124</a:t>
            </a:fld>
            <a:endParaRPr lang="en-US"/>
          </a:p>
        </p:txBody>
      </p:sp>
    </p:spTree>
    <p:extLst>
      <p:ext uri="{BB962C8B-B14F-4D97-AF65-F5344CB8AC3E}">
        <p14:creationId xmlns:p14="http://schemas.microsoft.com/office/powerpoint/2010/main" val="141031160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125</a:t>
            </a:fld>
            <a:endParaRPr lang="en-US"/>
          </a:p>
        </p:txBody>
      </p:sp>
    </p:spTree>
    <p:extLst>
      <p:ext uri="{BB962C8B-B14F-4D97-AF65-F5344CB8AC3E}">
        <p14:creationId xmlns:p14="http://schemas.microsoft.com/office/powerpoint/2010/main" val="65870501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126</a:t>
            </a:fld>
            <a:endParaRPr lang="en-US"/>
          </a:p>
        </p:txBody>
      </p:sp>
    </p:spTree>
    <p:extLst>
      <p:ext uri="{BB962C8B-B14F-4D97-AF65-F5344CB8AC3E}">
        <p14:creationId xmlns:p14="http://schemas.microsoft.com/office/powerpoint/2010/main" val="360400686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127</a:t>
            </a:fld>
            <a:endParaRPr lang="en-US"/>
          </a:p>
        </p:txBody>
      </p:sp>
    </p:spTree>
    <p:extLst>
      <p:ext uri="{BB962C8B-B14F-4D97-AF65-F5344CB8AC3E}">
        <p14:creationId xmlns:p14="http://schemas.microsoft.com/office/powerpoint/2010/main" val="72314395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repeat this exercise again in your small groups for Rusty</a:t>
            </a:r>
            <a:r>
              <a:rPr lang="ja-JP" altLang="en-US" dirty="0">
                <a:latin typeface="Arial" panose="020B0604020202020204" pitchFamily="34" charset="0"/>
              </a:rPr>
              <a:t>’</a:t>
            </a:r>
            <a:r>
              <a:rPr lang="en-US" altLang="ja-JP" dirty="0">
                <a:latin typeface="Arial" panose="020B0604020202020204" pitchFamily="34" charset="0"/>
              </a:rPr>
              <a:t>s Wrench. Please take 10 minutes to review your current state maps and mark up with improvement opportunities. Use the Interrogation Questions (in order) on the slide as your guide.</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endParaRPr lang="en-US" altLang="en-US" dirty="0">
              <a:latin typeface="Arial" panose="020B0604020202020204" pitchFamily="34" charset="0"/>
            </a:endParaRPr>
          </a:p>
          <a:p>
            <a:pPr eaLnBrk="1" hangingPunct="1"/>
            <a:r>
              <a:rPr lang="en-US" altLang="en-US" dirty="0">
                <a:latin typeface="Arial" panose="020B0604020202020204" pitchFamily="34" charset="0"/>
              </a:rPr>
              <a:t>When</a:t>
            </a:r>
            <a:r>
              <a:rPr lang="ja-JP" altLang="en-US" dirty="0">
                <a:latin typeface="Arial" panose="020B0604020202020204" pitchFamily="34" charset="0"/>
              </a:rPr>
              <a:t> </a:t>
            </a:r>
            <a:r>
              <a:rPr lang="en-US" altLang="ja-JP" dirty="0">
                <a:latin typeface="Arial" panose="020B0604020202020204" pitchFamily="34" charset="0"/>
              </a:rPr>
              <a:t>they</a:t>
            </a:r>
            <a:r>
              <a:rPr lang="ja-JP" altLang="en-US" dirty="0">
                <a:latin typeface="Arial" panose="020B0604020202020204" pitchFamily="34" charset="0"/>
              </a:rPr>
              <a:t> </a:t>
            </a:r>
            <a:r>
              <a:rPr lang="en-US" altLang="ja-JP" dirty="0">
                <a:latin typeface="Arial" panose="020B0604020202020204" pitchFamily="34" charset="0"/>
              </a:rPr>
              <a:t>complete</a:t>
            </a:r>
            <a:r>
              <a:rPr lang="ja-JP" altLang="en-US" dirty="0">
                <a:latin typeface="Arial" panose="020B0604020202020204" pitchFamily="34" charset="0"/>
              </a:rPr>
              <a:t> </a:t>
            </a:r>
            <a:r>
              <a:rPr lang="en-US" altLang="ja-JP" dirty="0">
                <a:latin typeface="Arial" panose="020B0604020202020204" pitchFamily="34" charset="0"/>
              </a:rPr>
              <a:t>their</a:t>
            </a:r>
            <a:r>
              <a:rPr lang="ja-JP" altLang="en-US" dirty="0">
                <a:latin typeface="Arial" panose="020B0604020202020204" pitchFamily="34" charset="0"/>
              </a:rPr>
              <a:t> </a:t>
            </a:r>
            <a:r>
              <a:rPr lang="en-US" altLang="ja-JP" dirty="0">
                <a:latin typeface="Arial" panose="020B0604020202020204" pitchFamily="34" charset="0"/>
              </a:rPr>
              <a:t>version</a:t>
            </a:r>
            <a:r>
              <a:rPr lang="ja-JP" altLang="en-US" dirty="0">
                <a:latin typeface="Arial" panose="020B0604020202020204" pitchFamily="34" charset="0"/>
              </a:rPr>
              <a:t> </a:t>
            </a:r>
            <a:r>
              <a:rPr lang="en-US" altLang="ja-JP" dirty="0">
                <a:latin typeface="Arial" panose="020B0604020202020204" pitchFamily="34" charset="0"/>
              </a:rPr>
              <a:t>of</a:t>
            </a:r>
            <a:r>
              <a:rPr lang="ja-JP" altLang="en-US" dirty="0">
                <a:latin typeface="Arial" panose="020B0604020202020204" pitchFamily="34" charset="0"/>
              </a:rPr>
              <a:t> </a:t>
            </a:r>
            <a:r>
              <a:rPr lang="en-US" altLang="ja-JP" dirty="0">
                <a:latin typeface="Arial" panose="020B0604020202020204" pitchFamily="34" charset="0"/>
              </a:rPr>
              <a:t>the</a:t>
            </a:r>
            <a:r>
              <a:rPr lang="ja-JP" altLang="en-US" dirty="0">
                <a:latin typeface="Arial" panose="020B0604020202020204" pitchFamily="34" charset="0"/>
              </a:rPr>
              <a:t> </a:t>
            </a:r>
            <a:r>
              <a:rPr lang="en-US" altLang="ja-JP" dirty="0">
                <a:latin typeface="Arial" panose="020B0604020202020204" pitchFamily="34" charset="0"/>
              </a:rPr>
              <a:t>marked up </a:t>
            </a:r>
            <a:r>
              <a:rPr lang="en-US" altLang="ja-JP" dirty="0" err="1">
                <a:latin typeface="Arial" panose="020B0604020202020204" pitchFamily="34" charset="0"/>
              </a:rPr>
              <a:t>Rusty’s</a:t>
            </a:r>
            <a:r>
              <a:rPr lang="en-US" altLang="ja-JP" dirty="0">
                <a:latin typeface="Arial" panose="020B0604020202020204" pitchFamily="34" charset="0"/>
              </a:rPr>
              <a:t> Current State Map then show them the one from VSM EXERCISE INSTRUCTIONS RUSTY’S WRENCH ENG REV3.1</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128</a:t>
            </a:fld>
            <a:endParaRPr lang="en-US"/>
          </a:p>
        </p:txBody>
      </p:sp>
    </p:spTree>
    <p:extLst>
      <p:ext uri="{BB962C8B-B14F-4D97-AF65-F5344CB8AC3E}">
        <p14:creationId xmlns:p14="http://schemas.microsoft.com/office/powerpoint/2010/main" val="934979183"/>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Some best practices include: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When writing data on post-it notes, it is best to start in pencil and then trace with black marker</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Wait until the very end to draw any information flow or material flow arrows in marker</a:t>
            </a:r>
            <a:br>
              <a:rPr lang="en-US" altLang="en-US" dirty="0">
                <a:latin typeface="Arial" panose="020B0604020202020204" pitchFamily="34" charset="0"/>
                <a:ea typeface="Arial" panose="020B0604020202020204" pitchFamily="34" charset="0"/>
                <a:cs typeface="Arial" panose="020B0604020202020204" pitchFamily="34" charset="0"/>
              </a:rPr>
            </a:br>
            <a:endParaRPr lang="en-US" altLang="en-US" dirty="0">
              <a:latin typeface="Arial" panose="020B0604020202020204" pitchFamily="34" charset="0"/>
              <a:ea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129</a:t>
            </a:fld>
            <a:endParaRPr lang="en-US"/>
          </a:p>
        </p:txBody>
      </p:sp>
    </p:spTree>
    <p:extLst>
      <p:ext uri="{BB962C8B-B14F-4D97-AF65-F5344CB8AC3E}">
        <p14:creationId xmlns:p14="http://schemas.microsoft.com/office/powerpoint/2010/main" val="102774831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Cover points on slide. </a:t>
            </a:r>
          </a:p>
        </p:txBody>
      </p:sp>
      <p:sp>
        <p:nvSpPr>
          <p:cNvPr id="4" name="Slide Number Placeholder 3"/>
          <p:cNvSpPr>
            <a:spLocks noGrp="1"/>
          </p:cNvSpPr>
          <p:nvPr>
            <p:ph type="sldNum" sz="quarter" idx="5"/>
          </p:nvPr>
        </p:nvSpPr>
        <p:spPr/>
        <p:txBody>
          <a:bodyPr/>
          <a:lstStyle/>
          <a:p>
            <a:fld id="{AECD8548-F1A2-4EDF-A416-5F2BB6B8F64C}" type="slidenum">
              <a:rPr lang="en-US" smtClean="0"/>
              <a:t>130</a:t>
            </a:fld>
            <a:endParaRPr lang="en-US"/>
          </a:p>
        </p:txBody>
      </p:sp>
    </p:spTree>
    <p:extLst>
      <p:ext uri="{BB962C8B-B14F-4D97-AF65-F5344CB8AC3E}">
        <p14:creationId xmlns:p14="http://schemas.microsoft.com/office/powerpoint/2010/main" val="1597783232"/>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131</a:t>
            </a:fld>
            <a:endParaRPr lang="en-US"/>
          </a:p>
        </p:txBody>
      </p:sp>
    </p:spTree>
    <p:extLst>
      <p:ext uri="{BB962C8B-B14F-4D97-AF65-F5344CB8AC3E}">
        <p14:creationId xmlns:p14="http://schemas.microsoft.com/office/powerpoint/2010/main" val="1651355010"/>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Refer to agenda on flip-chart and review what has been covered already. Suggested method is </a:t>
            </a:r>
            <a:r>
              <a:rPr lang="ja-JP" altLang="en-US" dirty="0">
                <a:latin typeface="Arial" panose="020B0604020202020204" pitchFamily="34" charset="0"/>
              </a:rPr>
              <a:t>“</a:t>
            </a:r>
            <a:r>
              <a:rPr lang="en-US" altLang="ja-JP" dirty="0">
                <a:latin typeface="Arial" panose="020B0604020202020204" pitchFamily="34" charset="0"/>
              </a:rPr>
              <a:t>questioning</a:t>
            </a:r>
            <a:r>
              <a:rPr lang="ja-JP" altLang="en-US" dirty="0">
                <a:latin typeface="Arial" panose="020B0604020202020204" pitchFamily="34" charset="0"/>
              </a:rPr>
              <a:t>”</a:t>
            </a:r>
            <a:r>
              <a:rPr lang="en-US" altLang="ja-JP" dirty="0">
                <a:latin typeface="Arial" panose="020B0604020202020204" pitchFamily="34" charset="0"/>
              </a:rPr>
              <a:t> ask a few questions as you refer to the agenda about </a:t>
            </a:r>
            <a:r>
              <a:rPr lang="ja-JP" altLang="en-US" dirty="0">
                <a:latin typeface="Arial" panose="020B0604020202020204" pitchFamily="34" charset="0"/>
              </a:rPr>
              <a:t>“</a:t>
            </a:r>
            <a:r>
              <a:rPr lang="en-US" altLang="ja-JP" dirty="0">
                <a:latin typeface="Arial" panose="020B0604020202020204" pitchFamily="34" charset="0"/>
              </a:rPr>
              <a:t>so what is the value in identifying improvements in the manner that we have – with Value Stream Mapping?</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next step in the process of Value Stream Mapping – and that is Creating the Future State Map of the process.</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objectives on the slide.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SUPPLIES NEEDED FOR THIS SECTION:</a:t>
            </a:r>
          </a:p>
          <a:p>
            <a:pPr eaLnBrk="1" hangingPunct="1"/>
            <a:r>
              <a:rPr lang="en-US" altLang="en-US" dirty="0">
                <a:latin typeface="Arial" panose="020B0604020202020204" pitchFamily="34" charset="0"/>
              </a:rPr>
              <a:t>Flip-chart paper</a:t>
            </a:r>
          </a:p>
          <a:p>
            <a:pPr eaLnBrk="1" hangingPunct="1"/>
            <a:r>
              <a:rPr lang="en-US" altLang="en-US" dirty="0">
                <a:latin typeface="Arial" panose="020B0604020202020204" pitchFamily="34" charset="0"/>
              </a:rPr>
              <a:t>Black thin markers</a:t>
            </a:r>
          </a:p>
          <a:p>
            <a:pPr eaLnBrk="1" hangingPunct="1"/>
            <a:r>
              <a:rPr lang="en-US" altLang="en-US" dirty="0">
                <a:latin typeface="Arial" panose="020B0604020202020204" pitchFamily="34" charset="0"/>
              </a:rPr>
              <a:t>3-4 Packs of Post-It Notes</a:t>
            </a: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132</a:t>
            </a:fld>
            <a:endParaRPr lang="en-US"/>
          </a:p>
        </p:txBody>
      </p:sp>
    </p:spTree>
    <p:extLst>
      <p:ext uri="{BB962C8B-B14F-4D97-AF65-F5344CB8AC3E}">
        <p14:creationId xmlns:p14="http://schemas.microsoft.com/office/powerpoint/2010/main" val="76519902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133</a:t>
            </a:fld>
            <a:endParaRPr lang="en-US"/>
          </a:p>
        </p:txBody>
      </p:sp>
    </p:spTree>
    <p:extLst>
      <p:ext uri="{BB962C8B-B14F-4D97-AF65-F5344CB8AC3E}">
        <p14:creationId xmlns:p14="http://schemas.microsoft.com/office/powerpoint/2010/main" val="427540099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134</a:t>
            </a:fld>
            <a:endParaRPr lang="en-US"/>
          </a:p>
        </p:txBody>
      </p:sp>
    </p:spTree>
    <p:extLst>
      <p:ext uri="{BB962C8B-B14F-4D97-AF65-F5344CB8AC3E}">
        <p14:creationId xmlns:p14="http://schemas.microsoft.com/office/powerpoint/2010/main" val="3469319268"/>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135</a:t>
            </a:fld>
            <a:endParaRPr lang="en-US"/>
          </a:p>
        </p:txBody>
      </p:sp>
    </p:spTree>
    <p:extLst>
      <p:ext uri="{BB962C8B-B14F-4D97-AF65-F5344CB8AC3E}">
        <p14:creationId xmlns:p14="http://schemas.microsoft.com/office/powerpoint/2010/main" val="411774560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136</a:t>
            </a:fld>
            <a:endParaRPr lang="en-US"/>
          </a:p>
        </p:txBody>
      </p:sp>
    </p:spTree>
    <p:extLst>
      <p:ext uri="{BB962C8B-B14F-4D97-AF65-F5344CB8AC3E}">
        <p14:creationId xmlns:p14="http://schemas.microsoft.com/office/powerpoint/2010/main" val="394539043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NOTE:</a:t>
            </a:r>
            <a:r>
              <a:rPr lang="en-US" altLang="en-US" dirty="0">
                <a:latin typeface="Arial" panose="020B0604020202020204" pitchFamily="34" charset="0"/>
              </a:rPr>
              <a:t> MRP System no longer part of the Future State</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137</a:t>
            </a:fld>
            <a:endParaRPr lang="en-US"/>
          </a:p>
        </p:txBody>
      </p:sp>
    </p:spTree>
    <p:extLst>
      <p:ext uri="{BB962C8B-B14F-4D97-AF65-F5344CB8AC3E}">
        <p14:creationId xmlns:p14="http://schemas.microsoft.com/office/powerpoint/2010/main" val="185389203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138</a:t>
            </a:fld>
            <a:endParaRPr lang="en-US"/>
          </a:p>
        </p:txBody>
      </p:sp>
    </p:spTree>
    <p:extLst>
      <p:ext uri="{BB962C8B-B14F-4D97-AF65-F5344CB8AC3E}">
        <p14:creationId xmlns:p14="http://schemas.microsoft.com/office/powerpoint/2010/main" val="406693965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Combined Process (Stamp/Form) has DOI target of 15</a:t>
            </a:r>
            <a:r>
              <a:rPr lang="ja-JP" altLang="en-US" dirty="0">
                <a:latin typeface="Arial" panose="020B0604020202020204" pitchFamily="34" charset="0"/>
              </a:rPr>
              <a:t>”</a:t>
            </a:r>
            <a:r>
              <a:rPr lang="en-US" altLang="ja-JP" dirty="0">
                <a:latin typeface="Arial" panose="020B0604020202020204" pitchFamily="34" charset="0"/>
              </a:rPr>
              <a:t> (under Takt) – Achievable through kaizen</a:t>
            </a:r>
          </a:p>
          <a:p>
            <a:pPr eaLnBrk="1" hangingPunct="1"/>
            <a:r>
              <a:rPr lang="en-US" altLang="en-US" dirty="0">
                <a:latin typeface="Arial" panose="020B0604020202020204" pitchFamily="34" charset="0"/>
              </a:rPr>
              <a:t>C/O Time, if not addressed is the longest of the two original processes – 120</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dirty="0">
                <a:latin typeface="Arial" panose="020B0604020202020204" pitchFamily="34" charset="0"/>
              </a:rPr>
              <a:t>Quality target is 98% for the combined process – goal is to improve current 85% in Brake Form through kaizen. Note that typical when combining processes the quality yields are multiplied, however in this case we plan to kaizen the quality of this process to achieve this number on the future state. </a:t>
            </a:r>
          </a:p>
        </p:txBody>
      </p:sp>
      <p:sp>
        <p:nvSpPr>
          <p:cNvPr id="4" name="Slide Number Placeholder 3"/>
          <p:cNvSpPr>
            <a:spLocks noGrp="1"/>
          </p:cNvSpPr>
          <p:nvPr>
            <p:ph type="sldNum" sz="quarter" idx="5"/>
          </p:nvPr>
        </p:nvSpPr>
        <p:spPr/>
        <p:txBody>
          <a:bodyPr/>
          <a:lstStyle/>
          <a:p>
            <a:fld id="{AECD8548-F1A2-4EDF-A416-5F2BB6B8F64C}" type="slidenum">
              <a:rPr lang="en-US" smtClean="0"/>
              <a:t>139</a:t>
            </a:fld>
            <a:endParaRPr lang="en-US"/>
          </a:p>
        </p:txBody>
      </p:sp>
    </p:spTree>
    <p:extLst>
      <p:ext uri="{BB962C8B-B14F-4D97-AF65-F5344CB8AC3E}">
        <p14:creationId xmlns:p14="http://schemas.microsoft.com/office/powerpoint/2010/main" val="293309958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140</a:t>
            </a:fld>
            <a:endParaRPr lang="en-US"/>
          </a:p>
        </p:txBody>
      </p:sp>
    </p:spTree>
    <p:extLst>
      <p:ext uri="{BB962C8B-B14F-4D97-AF65-F5344CB8AC3E}">
        <p14:creationId xmlns:p14="http://schemas.microsoft.com/office/powerpoint/2010/main" val="2620424149"/>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DO: Speak to the icons that have not been introduced yet. Refer to the icon appendix as needed.</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141</a:t>
            </a:fld>
            <a:endParaRPr lang="en-US"/>
          </a:p>
        </p:txBody>
      </p:sp>
    </p:spTree>
    <p:extLst>
      <p:ext uri="{BB962C8B-B14F-4D97-AF65-F5344CB8AC3E}">
        <p14:creationId xmlns:p14="http://schemas.microsoft.com/office/powerpoint/2010/main" val="1994575984"/>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142</a:t>
            </a:fld>
            <a:endParaRPr lang="en-US"/>
          </a:p>
        </p:txBody>
      </p:sp>
    </p:spTree>
    <p:extLst>
      <p:ext uri="{BB962C8B-B14F-4D97-AF65-F5344CB8AC3E}">
        <p14:creationId xmlns:p14="http://schemas.microsoft.com/office/powerpoint/2010/main" val="131397559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143</a:t>
            </a:fld>
            <a:endParaRPr lang="en-US"/>
          </a:p>
        </p:txBody>
      </p:sp>
    </p:spTree>
    <p:extLst>
      <p:ext uri="{BB962C8B-B14F-4D97-AF65-F5344CB8AC3E}">
        <p14:creationId xmlns:p14="http://schemas.microsoft.com/office/powerpoint/2010/main" val="388940663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144</a:t>
            </a:fld>
            <a:endParaRPr lang="en-US"/>
          </a:p>
        </p:txBody>
      </p:sp>
    </p:spTree>
    <p:extLst>
      <p:ext uri="{BB962C8B-B14F-4D97-AF65-F5344CB8AC3E}">
        <p14:creationId xmlns:p14="http://schemas.microsoft.com/office/powerpoint/2010/main" val="389288942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Days of inventory are determined by the number of kanban cards and therefore regulate the inventory in the supermarkets to the desired levels</a:t>
            </a:r>
          </a:p>
          <a:p>
            <a:pPr eaLnBrk="1" hangingPunct="1"/>
            <a:r>
              <a:rPr lang="en-US" altLang="en-US" dirty="0">
                <a:latin typeface="Arial" panose="020B0604020202020204" pitchFamily="34" charset="0"/>
              </a:rPr>
              <a:t>Stamp/Form processing time is the sum of the previous operations (35 sec) minus the 5 sec improvement to Brake Form to get the processing time and DOI to 15 sec.</a:t>
            </a: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145</a:t>
            </a:fld>
            <a:endParaRPr lang="en-US"/>
          </a:p>
        </p:txBody>
      </p:sp>
    </p:spTree>
    <p:extLst>
      <p:ext uri="{BB962C8B-B14F-4D97-AF65-F5344CB8AC3E}">
        <p14:creationId xmlns:p14="http://schemas.microsoft.com/office/powerpoint/2010/main" val="133159675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146</a:t>
            </a:fld>
            <a:endParaRPr lang="en-US"/>
          </a:p>
        </p:txBody>
      </p:sp>
    </p:spTree>
    <p:extLst>
      <p:ext uri="{BB962C8B-B14F-4D97-AF65-F5344CB8AC3E}">
        <p14:creationId xmlns:p14="http://schemas.microsoft.com/office/powerpoint/2010/main" val="18392508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There are always the four loops:  Supplier; Manufacturing; Pacemaker; Information.  They are covered on the next slides.  A key is to recognize that the order in which we attack the loops should be driven by the question which order helps the customer soonest/biggest?  Thinking that way should automatically benefit our internal interests such as ROI, etc.</a:t>
            </a:r>
          </a:p>
          <a:p>
            <a:pPr eaLnBrk="1" hangingPunct="1"/>
            <a:endParaRPr lang="en-US" altLang="en-US" dirty="0">
              <a:latin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147</a:t>
            </a:fld>
            <a:endParaRPr lang="en-US"/>
          </a:p>
        </p:txBody>
      </p:sp>
    </p:spTree>
    <p:extLst>
      <p:ext uri="{BB962C8B-B14F-4D97-AF65-F5344CB8AC3E}">
        <p14:creationId xmlns:p14="http://schemas.microsoft.com/office/powerpoint/2010/main" val="3689517902"/>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The days of inventory is estimated at this point. There is a lot of information we do not know yet and will need to be validated in future kaizen events.</a:t>
            </a:r>
          </a:p>
        </p:txBody>
      </p:sp>
      <p:sp>
        <p:nvSpPr>
          <p:cNvPr id="4" name="Slide Number Placeholder 3"/>
          <p:cNvSpPr>
            <a:spLocks noGrp="1"/>
          </p:cNvSpPr>
          <p:nvPr>
            <p:ph type="sldNum" sz="quarter" idx="5"/>
          </p:nvPr>
        </p:nvSpPr>
        <p:spPr/>
        <p:txBody>
          <a:bodyPr/>
          <a:lstStyle/>
          <a:p>
            <a:fld id="{AECD8548-F1A2-4EDF-A416-5F2BB6B8F64C}" type="slidenum">
              <a:rPr lang="en-US" smtClean="0"/>
              <a:t>148</a:t>
            </a:fld>
            <a:endParaRPr lang="en-US"/>
          </a:p>
        </p:txBody>
      </p:sp>
    </p:spTree>
    <p:extLst>
      <p:ext uri="{BB962C8B-B14F-4D97-AF65-F5344CB8AC3E}">
        <p14:creationId xmlns:p14="http://schemas.microsoft.com/office/powerpoint/2010/main" val="3937320560"/>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149</a:t>
            </a:fld>
            <a:endParaRPr lang="en-US"/>
          </a:p>
        </p:txBody>
      </p:sp>
    </p:spTree>
    <p:extLst>
      <p:ext uri="{BB962C8B-B14F-4D97-AF65-F5344CB8AC3E}">
        <p14:creationId xmlns:p14="http://schemas.microsoft.com/office/powerpoint/2010/main" val="202692069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Refer to agenda on flip-chart and review what has been covered already. </a:t>
            </a:r>
          </a:p>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Now we will begin the next step in the process of Value Stream Mapping – and that is Developing the Value Stream Plan.</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Review the objectives on the slide.  </a:t>
            </a:r>
          </a:p>
          <a:p>
            <a:pPr eaLnBrk="1" hangingPunct="1"/>
            <a:endParaRPr lang="en-US" altLang="en-US" dirty="0">
              <a:latin typeface="Arial" panose="020B0604020202020204" pitchFamily="34" charset="0"/>
            </a:endParaRPr>
          </a:p>
          <a:p>
            <a:pPr eaLnBrk="1" hangingPunct="1"/>
            <a:r>
              <a:rPr lang="en-US" altLang="en-US" b="1" dirty="0">
                <a:latin typeface="Arial" panose="020B0604020202020204" pitchFamily="34" charset="0"/>
              </a:rPr>
              <a:t>SUPPLIES NEEDED FOR THIS SECTION:</a:t>
            </a:r>
          </a:p>
          <a:p>
            <a:pPr eaLnBrk="1" hangingPunct="1"/>
            <a:r>
              <a:rPr lang="en-US" altLang="en-US" dirty="0">
                <a:latin typeface="Arial" panose="020B0604020202020204" pitchFamily="34" charset="0"/>
              </a:rPr>
              <a:t>Value Stream Plan Excel File</a:t>
            </a: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a:p>
            <a:pPr eaLnBrk="1" hangingPunct="1"/>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150</a:t>
            </a:fld>
            <a:endParaRPr lang="en-US"/>
          </a:p>
        </p:txBody>
      </p:sp>
    </p:spTree>
    <p:extLst>
      <p:ext uri="{BB962C8B-B14F-4D97-AF65-F5344CB8AC3E}">
        <p14:creationId xmlns:p14="http://schemas.microsoft.com/office/powerpoint/2010/main" val="2673137392"/>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Without the Value Stream Plan there is no improvement to the business. The Future State Map is only a guide… it is with the fulfillment of the Value Stream Plan that actual business improvements are realized.</a:t>
            </a:r>
            <a:r>
              <a:rPr lang="ja-JP" altLang="en-US" dirty="0">
                <a:latin typeface="Arial" panose="020B0604020202020204" pitchFamily="34" charset="0"/>
              </a:rPr>
              <a:t>”</a:t>
            </a:r>
            <a:r>
              <a:rPr lang="en-US" altLang="ja-JP" dirty="0">
                <a:latin typeface="Arial" panose="020B0604020202020204" pitchFamily="34" charset="0"/>
              </a:rPr>
              <a:t> </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151</a:t>
            </a:fld>
            <a:endParaRPr lang="en-US"/>
          </a:p>
        </p:txBody>
      </p:sp>
    </p:spTree>
    <p:extLst>
      <p:ext uri="{BB962C8B-B14F-4D97-AF65-F5344CB8AC3E}">
        <p14:creationId xmlns:p14="http://schemas.microsoft.com/office/powerpoint/2010/main" val="332613537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Remember the Future State timeline in the charter – should not go out further than the dates of targets set by your companies strategic planning process.  In the case of new Lean Transformation efforts it frequently does not go out more than one year.</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152</a:t>
            </a:fld>
            <a:endParaRPr lang="en-US"/>
          </a:p>
        </p:txBody>
      </p:sp>
    </p:spTree>
    <p:extLst>
      <p:ext uri="{BB962C8B-B14F-4D97-AF65-F5344CB8AC3E}">
        <p14:creationId xmlns:p14="http://schemas.microsoft.com/office/powerpoint/2010/main" val="39409330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153</a:t>
            </a:fld>
            <a:endParaRPr lang="en-US"/>
          </a:p>
        </p:txBody>
      </p:sp>
    </p:spTree>
    <p:extLst>
      <p:ext uri="{BB962C8B-B14F-4D97-AF65-F5344CB8AC3E}">
        <p14:creationId xmlns:p14="http://schemas.microsoft.com/office/powerpoint/2010/main" val="4050985939"/>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Review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154</a:t>
            </a:fld>
            <a:endParaRPr lang="en-US"/>
          </a:p>
        </p:txBody>
      </p:sp>
    </p:spTree>
    <p:extLst>
      <p:ext uri="{BB962C8B-B14F-4D97-AF65-F5344CB8AC3E}">
        <p14:creationId xmlns:p14="http://schemas.microsoft.com/office/powerpoint/2010/main" val="2963815030"/>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155</a:t>
            </a:fld>
            <a:endParaRPr lang="en-US"/>
          </a:p>
        </p:txBody>
      </p:sp>
    </p:spTree>
    <p:extLst>
      <p:ext uri="{BB962C8B-B14F-4D97-AF65-F5344CB8AC3E}">
        <p14:creationId xmlns:p14="http://schemas.microsoft.com/office/powerpoint/2010/main" val="272584747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rPr>
              <a:t>SAY: </a:t>
            </a:r>
            <a:r>
              <a:rPr lang="ja-JP" altLang="en-US" b="1" dirty="0">
                <a:latin typeface="Arial" panose="020B0604020202020204" pitchFamily="34" charset="0"/>
              </a:rPr>
              <a:t>“</a:t>
            </a:r>
            <a:r>
              <a:rPr lang="en-US" altLang="ja-JP" dirty="0">
                <a:latin typeface="Arial" panose="020B0604020202020204" pitchFamily="34" charset="0"/>
              </a:rPr>
              <a:t>Here is where we take both our Future State Map and our Marked Up Current State Map and identify the priority and sequence of Loops to be worked on as well as the specific activities inside each loop. Note that there many not always be a one-to-one correspondence for each burst. One burst may have several objectives.</a:t>
            </a:r>
            <a:r>
              <a:rPr lang="ja-JP" altLang="en-US" dirty="0">
                <a:latin typeface="Arial" panose="020B0604020202020204" pitchFamily="34" charset="0"/>
              </a:rPr>
              <a:t>”</a:t>
            </a:r>
            <a:endParaRPr lang="en-US" altLang="en-US" dirty="0">
              <a:latin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156</a:t>
            </a:fld>
            <a:endParaRPr lang="en-US"/>
          </a:p>
        </p:txBody>
      </p:sp>
    </p:spTree>
    <p:extLst>
      <p:ext uri="{BB962C8B-B14F-4D97-AF65-F5344CB8AC3E}">
        <p14:creationId xmlns:p14="http://schemas.microsoft.com/office/powerpoint/2010/main" val="513811304"/>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lnSpc>
                <a:spcPct val="80000"/>
              </a:lnSpc>
            </a:pPr>
            <a:r>
              <a:rPr lang="en-US" altLang="en-US" b="1" dirty="0">
                <a:latin typeface="Arial" panose="020B0604020202020204" pitchFamily="34" charset="0"/>
              </a:rPr>
              <a:t>DO</a:t>
            </a:r>
            <a:r>
              <a:rPr lang="en-US" altLang="en-US" dirty="0">
                <a:latin typeface="Arial" panose="020B0604020202020204" pitchFamily="34" charset="0"/>
              </a:rPr>
              <a:t>: Review the fields of the Value Stream Plan.</a:t>
            </a:r>
          </a:p>
          <a:p>
            <a:pPr eaLnBrk="1" hangingPunct="1">
              <a:lnSpc>
                <a:spcPct val="80000"/>
              </a:lnSpc>
            </a:pPr>
            <a:r>
              <a:rPr lang="en-US" altLang="en-US" sz="1200" dirty="0">
                <a:latin typeface="Arial" panose="020B0604020202020204" pitchFamily="34" charset="0"/>
              </a:rPr>
              <a:t>Document Product Family and Value Stream – this clearly identifies which products are included in the VS Plan and specifies the scope.</a:t>
            </a:r>
          </a:p>
          <a:p>
            <a:pPr eaLnBrk="1" hangingPunct="1">
              <a:lnSpc>
                <a:spcPct val="80000"/>
              </a:lnSpc>
            </a:pPr>
            <a:r>
              <a:rPr lang="en-US" altLang="en-US" sz="1200" dirty="0">
                <a:latin typeface="Arial" panose="020B0604020202020204" pitchFamily="34" charset="0"/>
              </a:rPr>
              <a:t>Dates: Identify the date the plan was established and the date the improvement efforts will kick off.</a:t>
            </a:r>
          </a:p>
          <a:p>
            <a:pPr eaLnBrk="1" hangingPunct="1">
              <a:lnSpc>
                <a:spcPct val="80000"/>
              </a:lnSpc>
            </a:pPr>
            <a:r>
              <a:rPr lang="en-US" altLang="en-US" sz="1200" dirty="0">
                <a:latin typeface="Arial" panose="020B0604020202020204" pitchFamily="34" charset="0"/>
              </a:rPr>
              <a:t>Business Objective: Succinctly state the objective of moving to the Future State</a:t>
            </a:r>
          </a:p>
          <a:p>
            <a:pPr eaLnBrk="1" hangingPunct="1">
              <a:lnSpc>
                <a:spcPct val="80000"/>
              </a:lnSpc>
            </a:pPr>
            <a:r>
              <a:rPr lang="en-US" altLang="en-US" sz="1200" dirty="0">
                <a:latin typeface="Arial" panose="020B0604020202020204" pitchFamily="34" charset="0"/>
              </a:rPr>
              <a:t>Value Stream </a:t>
            </a:r>
            <a:r>
              <a:rPr lang="en-US" altLang="en-US" sz="1200" dirty="0" err="1">
                <a:latin typeface="Arial" panose="020B0604020202020204" pitchFamily="34" charset="0"/>
              </a:rPr>
              <a:t>Mgr</a:t>
            </a:r>
            <a:r>
              <a:rPr lang="en-US" altLang="en-US" sz="1200" dirty="0">
                <a:latin typeface="Arial" panose="020B0604020202020204" pitchFamily="34" charset="0"/>
              </a:rPr>
              <a:t> and Business Unit Owner – The VS </a:t>
            </a:r>
            <a:r>
              <a:rPr lang="en-US" altLang="en-US" sz="1200" dirty="0" err="1">
                <a:latin typeface="Arial" panose="020B0604020202020204" pitchFamily="34" charset="0"/>
              </a:rPr>
              <a:t>Mgr</a:t>
            </a:r>
            <a:r>
              <a:rPr lang="en-US" altLang="en-US" sz="1200" dirty="0">
                <a:latin typeface="Arial" panose="020B0604020202020204" pitchFamily="34" charset="0"/>
              </a:rPr>
              <a:t> is responsible for the value stream and insuring that the necessary improvements are made in accordance to the schedule.</a:t>
            </a:r>
          </a:p>
          <a:p>
            <a:pPr eaLnBrk="1" hangingPunct="1">
              <a:lnSpc>
                <a:spcPct val="80000"/>
              </a:lnSpc>
            </a:pPr>
            <a:r>
              <a:rPr lang="en-US" altLang="en-US" sz="1200" dirty="0">
                <a:latin typeface="Arial" panose="020B0604020202020204" pitchFamily="34" charset="0"/>
              </a:rPr>
              <a:t>The Business Unit Owner – Is the person responsible for the overall business unit the contains the value stream.</a:t>
            </a:r>
          </a:p>
          <a:p>
            <a:pPr eaLnBrk="1" hangingPunct="1">
              <a:lnSpc>
                <a:spcPct val="80000"/>
              </a:lnSpc>
            </a:pPr>
            <a:r>
              <a:rPr lang="en-US" altLang="en-US" sz="1200" dirty="0">
                <a:latin typeface="Arial" panose="020B0604020202020204" pitchFamily="34" charset="0"/>
              </a:rPr>
              <a:t>VS Loop- Specify loops on the Value Stream Plan – this should come directly from the Future State Map. </a:t>
            </a:r>
          </a:p>
          <a:p>
            <a:pPr eaLnBrk="1" hangingPunct="1">
              <a:lnSpc>
                <a:spcPct val="80000"/>
              </a:lnSpc>
            </a:pPr>
            <a:r>
              <a:rPr lang="en-US" altLang="en-US" sz="1200" dirty="0">
                <a:latin typeface="Arial" panose="020B0604020202020204" pitchFamily="34" charset="0"/>
              </a:rPr>
              <a:t>Value Stream Objective – Identify what needs to be done to move from the current state to the future state. The emphasis should be on what, not how this will be accomplished. The objective should describe what the end state looks like</a:t>
            </a:r>
          </a:p>
          <a:p>
            <a:pPr eaLnBrk="1" hangingPunct="1">
              <a:lnSpc>
                <a:spcPct val="80000"/>
              </a:lnSpc>
            </a:pPr>
            <a:r>
              <a:rPr lang="en-US" altLang="en-US" sz="1200" dirty="0">
                <a:latin typeface="Arial" panose="020B0604020202020204" pitchFamily="34" charset="0"/>
              </a:rPr>
              <a:t>Goal – Develop goals that will allow you to identify when the VS Objective has been achieved. Consistent performance at the goal level indicates that the objective has been satisfied.</a:t>
            </a:r>
          </a:p>
          <a:p>
            <a:pPr eaLnBrk="1" hangingPunct="1">
              <a:lnSpc>
                <a:spcPct val="80000"/>
              </a:lnSpc>
            </a:pPr>
            <a:r>
              <a:rPr lang="en-US" altLang="en-US" sz="1200" dirty="0">
                <a:latin typeface="Arial" panose="020B0604020202020204" pitchFamily="34" charset="0"/>
              </a:rPr>
              <a:t>Target Completion Dates – Identify the date to achieve the VS Objective/Goal. Keep in mind the interrelationships that exist between the objectives and prioritize appropriately. There is not always a 1 to 1 relationship between kaizen activities and objectives. A single objective may require multiple kaizens to reach the goal. </a:t>
            </a:r>
          </a:p>
          <a:p>
            <a:pPr eaLnBrk="1" hangingPunct="1">
              <a:lnSpc>
                <a:spcPct val="80000"/>
              </a:lnSpc>
            </a:pPr>
            <a:r>
              <a:rPr lang="en-US" altLang="en-US" sz="1200" dirty="0">
                <a:latin typeface="Arial" panose="020B0604020202020204" pitchFamily="34" charset="0"/>
              </a:rPr>
              <a:t>Owners of the Value Stream – High enough in the organization to effectively prioritize the objective. Insures that sufficient resources are invested to reach the goal. Eliminates any obstacles and follows up with the team to ensure timeline is maintained.</a:t>
            </a:r>
          </a:p>
        </p:txBody>
      </p:sp>
      <p:sp>
        <p:nvSpPr>
          <p:cNvPr id="4" name="Slide Number Placeholder 3"/>
          <p:cNvSpPr>
            <a:spLocks noGrp="1"/>
          </p:cNvSpPr>
          <p:nvPr>
            <p:ph type="sldNum" sz="quarter" idx="5"/>
          </p:nvPr>
        </p:nvSpPr>
        <p:spPr/>
        <p:txBody>
          <a:bodyPr/>
          <a:lstStyle/>
          <a:p>
            <a:fld id="{AECD8548-F1A2-4EDF-A416-5F2BB6B8F64C}" type="slidenum">
              <a:rPr lang="en-US" smtClean="0"/>
              <a:t>157</a:t>
            </a:fld>
            <a:endParaRPr lang="en-US"/>
          </a:p>
        </p:txBody>
      </p:sp>
    </p:spTree>
    <p:extLst>
      <p:ext uri="{BB962C8B-B14F-4D97-AF65-F5344CB8AC3E}">
        <p14:creationId xmlns:p14="http://schemas.microsoft.com/office/powerpoint/2010/main" val="307776887"/>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NOTE:</a:t>
            </a:r>
            <a:r>
              <a:rPr lang="en-US" altLang="en-US" dirty="0">
                <a:latin typeface="Arial" panose="020B0604020202020204" pitchFamily="34" charset="0"/>
              </a:rPr>
              <a:t> The background for Value Stream Loops will turn green when a date is applied to any one of the objectives.</a:t>
            </a:r>
          </a:p>
          <a:p>
            <a:pPr eaLnBrk="1" hangingPunct="1"/>
            <a:r>
              <a:rPr lang="en-US" altLang="en-US" dirty="0">
                <a:latin typeface="Arial" panose="020B0604020202020204" pitchFamily="34" charset="0"/>
              </a:rPr>
              <a:t>Applying a date will automatically create a Gantt chart for the objective.</a:t>
            </a:r>
          </a:p>
          <a:p>
            <a:pPr eaLnBrk="1" hangingPunct="1"/>
            <a:r>
              <a:rPr lang="en-US" altLang="en-US" dirty="0">
                <a:latin typeface="Arial" panose="020B0604020202020204" pitchFamily="34" charset="0"/>
              </a:rPr>
              <a:t>The current month will highlight in red.</a:t>
            </a:r>
          </a:p>
          <a:p>
            <a:pPr eaLnBrk="1" hangingPunct="1"/>
            <a:r>
              <a:rPr lang="en-US" altLang="en-US" dirty="0">
                <a:latin typeface="Arial" panose="020B0604020202020204" pitchFamily="34" charset="0"/>
              </a:rPr>
              <a:t>When the date for any objective has passed the background will turn orange.</a:t>
            </a:r>
          </a:p>
        </p:txBody>
      </p:sp>
      <p:sp>
        <p:nvSpPr>
          <p:cNvPr id="4" name="Slide Number Placeholder 3"/>
          <p:cNvSpPr>
            <a:spLocks noGrp="1"/>
          </p:cNvSpPr>
          <p:nvPr>
            <p:ph type="sldNum" sz="quarter" idx="5"/>
          </p:nvPr>
        </p:nvSpPr>
        <p:spPr/>
        <p:txBody>
          <a:bodyPr/>
          <a:lstStyle/>
          <a:p>
            <a:fld id="{AECD8548-F1A2-4EDF-A416-5F2BB6B8F64C}" type="slidenum">
              <a:rPr lang="en-US" smtClean="0"/>
              <a:t>158</a:t>
            </a:fld>
            <a:endParaRPr lang="en-US"/>
          </a:p>
        </p:txBody>
      </p:sp>
    </p:spTree>
    <p:extLst>
      <p:ext uri="{BB962C8B-B14F-4D97-AF65-F5344CB8AC3E}">
        <p14:creationId xmlns:p14="http://schemas.microsoft.com/office/powerpoint/2010/main" val="138330022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Monitoring of progress on the Value Stream Plan is crucial to success.  If the plan </a:t>
            </a:r>
            <a:r>
              <a:rPr lang="en-US" altLang="ja-JP" dirty="0" err="1">
                <a:latin typeface="Arial" panose="020B0604020202020204" pitchFamily="34" charset="0"/>
              </a:rPr>
              <a:t>isn</a:t>
            </a:r>
            <a:r>
              <a:rPr lang="ja-JP" altLang="en-US" dirty="0">
                <a:latin typeface="Arial" panose="020B0604020202020204" pitchFamily="34" charset="0"/>
              </a:rPr>
              <a:t>’</a:t>
            </a:r>
            <a:r>
              <a:rPr lang="en-US" altLang="ja-JP" dirty="0">
                <a:latin typeface="Arial" panose="020B0604020202020204" pitchFamily="34" charset="0"/>
              </a:rPr>
              <a:t>t monitored and followed up on it will not get done.</a:t>
            </a:r>
          </a:p>
          <a:p>
            <a:pPr eaLnBrk="1" hangingPunct="1"/>
            <a:r>
              <a:rPr lang="en-US" altLang="en-US" dirty="0">
                <a:latin typeface="Arial" panose="020B0604020202020204" pitchFamily="34" charset="0"/>
              </a:rPr>
              <a:t>The Value Stream Objective Owner (person in charge) should meet with the team and review the status of the objective weekly</a:t>
            </a:r>
          </a:p>
          <a:p>
            <a:pPr eaLnBrk="1" hangingPunct="1"/>
            <a:r>
              <a:rPr lang="en-US" altLang="en-US" dirty="0">
                <a:latin typeface="Arial" panose="020B0604020202020204" pitchFamily="34" charset="0"/>
              </a:rPr>
              <a:t>The Value Stream Manager should review the progress of each of the objectives at least every two weeks</a:t>
            </a:r>
          </a:p>
          <a:p>
            <a:pPr eaLnBrk="1" hangingPunct="1"/>
            <a:r>
              <a:rPr lang="en-US" altLang="en-US" dirty="0">
                <a:latin typeface="Arial" panose="020B0604020202020204" pitchFamily="34" charset="0"/>
              </a:rPr>
              <a:t>The Value Stream Manager reviews should be conducted by walking through the flow of the value stream plan</a:t>
            </a:r>
          </a:p>
          <a:p>
            <a:pPr eaLnBrk="1" hangingPunct="1"/>
            <a:r>
              <a:rPr lang="en-US" altLang="en-US" dirty="0">
                <a:latin typeface="Arial" panose="020B0604020202020204" pitchFamily="34" charset="0"/>
              </a:rPr>
              <a:t>Reviews should be conducted on-site in the workplace and the focus needs to be on items not yet completed</a:t>
            </a:r>
          </a:p>
          <a:p>
            <a:pPr eaLnBrk="1" hangingPunct="1"/>
            <a:r>
              <a:rPr lang="en-US" altLang="en-US" dirty="0">
                <a:latin typeface="Arial" panose="020B0604020202020204" pitchFamily="34" charset="0"/>
              </a:rPr>
              <a:t>Progress should be reviewed with the business unit owner at least monthly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These reviews should be informational in nature and not problem solving meetings</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 focus needs to remain on items not yet completed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Senior management should be made aware of any obstacles and be given the opportunity to provide additional resources to overcome the obstacles.</a:t>
            </a:r>
            <a:r>
              <a:rPr lang="ja-JP" altLang="en-US" dirty="0">
                <a:latin typeface="Arial" panose="020B0604020202020204" pitchFamily="34" charset="0"/>
                <a:ea typeface="MS PGothic" panose="020B0600070205080204" pitchFamily="34" charset="-128"/>
                <a:cs typeface="Arial" panose="020B0604020202020204" pitchFamily="34" charset="0"/>
              </a:rPr>
              <a:t>”</a:t>
            </a:r>
            <a:endParaRPr lang="en-US" altLang="en-US" dirty="0">
              <a:latin typeface="Arial" panose="020B0604020202020204" pitchFamily="34" charset="0"/>
              <a:ea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159</a:t>
            </a:fld>
            <a:endParaRPr lang="en-US"/>
          </a:p>
        </p:txBody>
      </p:sp>
    </p:spTree>
    <p:extLst>
      <p:ext uri="{BB962C8B-B14F-4D97-AF65-F5344CB8AC3E}">
        <p14:creationId xmlns:p14="http://schemas.microsoft.com/office/powerpoint/2010/main" val="221804705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rPr>
              <a:t>SAY: </a:t>
            </a:r>
            <a:r>
              <a:rPr lang="ja-JP" altLang="en-US" dirty="0">
                <a:latin typeface="Arial" panose="020B0604020202020204" pitchFamily="34" charset="0"/>
              </a:rPr>
              <a:t>“</a:t>
            </a:r>
            <a:r>
              <a:rPr lang="en-US" altLang="ja-JP" dirty="0">
                <a:latin typeface="Arial" panose="020B0604020202020204" pitchFamily="34" charset="0"/>
              </a:rPr>
              <a:t>VSM is an incremental and repeatable cycle. Full optimization of the value stream sometimes </a:t>
            </a:r>
            <a:r>
              <a:rPr lang="en-US" altLang="ja-JP" dirty="0" err="1">
                <a:latin typeface="Arial" panose="020B0604020202020204" pitchFamily="34" charset="0"/>
              </a:rPr>
              <a:t>isn</a:t>
            </a:r>
            <a:r>
              <a:rPr lang="ja-JP" altLang="en-US" dirty="0">
                <a:latin typeface="Arial" panose="020B0604020202020204" pitchFamily="34" charset="0"/>
              </a:rPr>
              <a:t>’</a:t>
            </a:r>
            <a:r>
              <a:rPr lang="en-US" altLang="ja-JP" dirty="0">
                <a:latin typeface="Arial" panose="020B0604020202020204" pitchFamily="34" charset="0"/>
              </a:rPr>
              <a:t>t realized until the third or fourth iteration.</a:t>
            </a:r>
            <a:r>
              <a:rPr lang="ja-JP" altLang="en-US" dirty="0">
                <a:latin typeface="Arial" panose="020B0604020202020204" pitchFamily="34" charset="0"/>
              </a:rPr>
              <a:t>”</a:t>
            </a:r>
            <a:r>
              <a:rPr lang="en-US" altLang="ja-JP" dirty="0">
                <a:latin typeface="Arial" panose="020B0604020202020204" pitchFamily="34" charset="0"/>
              </a:rPr>
              <a:t>  For companies early on their journey it is common to reset the Current State Map and Future State Map and the VS Plan at the ½ way point – that is – if you set the Future State at one year out – you would reset at the 6 month point.</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160</a:t>
            </a:fld>
            <a:endParaRPr lang="en-US"/>
          </a:p>
        </p:txBody>
      </p:sp>
    </p:spTree>
    <p:extLst>
      <p:ext uri="{BB962C8B-B14F-4D97-AF65-F5344CB8AC3E}">
        <p14:creationId xmlns:p14="http://schemas.microsoft.com/office/powerpoint/2010/main" val="2957236204"/>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sz="1200" dirty="0">
                <a:latin typeface="Arial" panose="020B0604020202020204" pitchFamily="34" charset="0"/>
              </a:rPr>
              <a:t>(1) Supplier Loop</a:t>
            </a:r>
          </a:p>
          <a:p>
            <a:pPr eaLnBrk="1" hangingPunct="1"/>
            <a:r>
              <a:rPr lang="en-US" altLang="en-US" sz="1200" dirty="0">
                <a:latin typeface="Arial" panose="020B0604020202020204" pitchFamily="34" charset="0"/>
              </a:rPr>
              <a:t>* Since Acme is a local supplier, increase shipments to 1 x day</a:t>
            </a:r>
          </a:p>
          <a:p>
            <a:pPr eaLnBrk="1" hangingPunct="1"/>
            <a:r>
              <a:rPr lang="en-US" altLang="en-US" sz="1200" dirty="0">
                <a:latin typeface="Arial" panose="020B0604020202020204" pitchFamily="34" charset="0"/>
              </a:rPr>
              <a:t>* Provide real-time electronic kanban to Acme to determine exactly what to deliver each day based on consumption, also eliminating the weekly fax</a:t>
            </a:r>
          </a:p>
          <a:p>
            <a:pPr eaLnBrk="1" hangingPunct="1"/>
            <a:r>
              <a:rPr lang="en-US" altLang="en-US" sz="1200" dirty="0">
                <a:latin typeface="Arial" panose="020B0604020202020204" pitchFamily="34" charset="0"/>
              </a:rPr>
              <a:t>(2) </a:t>
            </a:r>
            <a:r>
              <a:rPr lang="en-US" altLang="en-US" sz="1200" dirty="0" err="1">
                <a:latin typeface="Arial" panose="020B0604020202020204" pitchFamily="34" charset="0"/>
              </a:rPr>
              <a:t>Mfg</a:t>
            </a:r>
            <a:r>
              <a:rPr lang="en-US" altLang="en-US" sz="1200" dirty="0">
                <a:latin typeface="Arial" panose="020B0604020202020204" pitchFamily="34" charset="0"/>
              </a:rPr>
              <a:t> Loop</a:t>
            </a:r>
          </a:p>
          <a:p>
            <a:pPr eaLnBrk="1" hangingPunct="1"/>
            <a:r>
              <a:rPr lang="en-US" altLang="en-US" sz="1200" dirty="0">
                <a:latin typeface="Arial" panose="020B0604020202020204" pitchFamily="34" charset="0"/>
              </a:rPr>
              <a:t>* (Long-term) – Have Acme deliver sheets in cut size to eliminate the Cut operation entirely</a:t>
            </a:r>
          </a:p>
          <a:p>
            <a:pPr eaLnBrk="1" hangingPunct="1"/>
            <a:r>
              <a:rPr lang="en-US" altLang="en-US" sz="1200" dirty="0">
                <a:latin typeface="Arial" panose="020B0604020202020204" pitchFamily="34" charset="0"/>
              </a:rPr>
              <a:t>* Continue to lower inventories as quality improves and demand is smoothed</a:t>
            </a:r>
          </a:p>
          <a:p>
            <a:pPr eaLnBrk="1" hangingPunct="1"/>
            <a:r>
              <a:rPr lang="en-US" altLang="en-US" sz="1200" dirty="0">
                <a:latin typeface="Arial" panose="020B0604020202020204" pitchFamily="34" charset="0"/>
              </a:rPr>
              <a:t>(3) Pacemaker Loop</a:t>
            </a:r>
          </a:p>
          <a:p>
            <a:pPr eaLnBrk="1" hangingPunct="1"/>
            <a:r>
              <a:rPr lang="en-US" altLang="en-US" sz="1200" dirty="0">
                <a:latin typeface="Arial" panose="020B0604020202020204" pitchFamily="34" charset="0"/>
              </a:rPr>
              <a:t>* Have Ed</a:t>
            </a:r>
            <a:r>
              <a:rPr lang="ja-JP" altLang="en-US" sz="1200" dirty="0">
                <a:latin typeface="Arial" panose="020B0604020202020204" pitchFamily="34" charset="0"/>
              </a:rPr>
              <a:t>’</a:t>
            </a:r>
            <a:r>
              <a:rPr lang="en-US" altLang="ja-JP" sz="1200" dirty="0">
                <a:latin typeface="Arial" panose="020B0604020202020204" pitchFamily="34" charset="0"/>
              </a:rPr>
              <a:t>s Electrical Supply send electronic kanban Withdrawal Cards to Shipping based on consumption</a:t>
            </a:r>
          </a:p>
          <a:p>
            <a:pPr eaLnBrk="1" hangingPunct="1"/>
            <a:r>
              <a:rPr lang="en-US" altLang="en-US" sz="1200" dirty="0">
                <a:latin typeface="Arial" panose="020B0604020202020204" pitchFamily="34" charset="0"/>
              </a:rPr>
              <a:t>* Daily shipments are based on </a:t>
            </a:r>
            <a:r>
              <a:rPr lang="ja-JP" altLang="en-US" sz="1200" dirty="0">
                <a:latin typeface="Arial" panose="020B0604020202020204" pitchFamily="34" charset="0"/>
              </a:rPr>
              <a:t>“</a:t>
            </a:r>
            <a:r>
              <a:rPr lang="en-US" altLang="ja-JP" sz="1200" dirty="0">
                <a:latin typeface="Arial" panose="020B0604020202020204" pitchFamily="34" charset="0"/>
              </a:rPr>
              <a:t>real-time</a:t>
            </a:r>
            <a:r>
              <a:rPr lang="ja-JP" altLang="en-US" sz="1200" dirty="0">
                <a:latin typeface="Arial" panose="020B0604020202020204" pitchFamily="34" charset="0"/>
              </a:rPr>
              <a:t>”</a:t>
            </a:r>
            <a:r>
              <a:rPr lang="en-US" altLang="ja-JP" sz="1200" dirty="0">
                <a:latin typeface="Arial" panose="020B0604020202020204" pitchFamily="34" charset="0"/>
              </a:rPr>
              <a:t> kanban signals, replacing daily EDI</a:t>
            </a:r>
          </a:p>
          <a:p>
            <a:pPr eaLnBrk="1" hangingPunct="1"/>
            <a:r>
              <a:rPr lang="en-US" altLang="en-US" sz="1200" dirty="0">
                <a:latin typeface="Arial" panose="020B0604020202020204" pitchFamily="34" charset="0"/>
              </a:rPr>
              <a:t>(4) Information Loop</a:t>
            </a:r>
          </a:p>
          <a:p>
            <a:pPr eaLnBrk="1" hangingPunct="1"/>
            <a:r>
              <a:rPr lang="en-US" altLang="en-US" sz="1200" dirty="0">
                <a:latin typeface="Arial" panose="020B0604020202020204" pitchFamily="34" charset="0"/>
              </a:rPr>
              <a:t>* Work with the customer (Ed</a:t>
            </a:r>
            <a:r>
              <a:rPr lang="ja-JP" altLang="en-US" sz="1200" dirty="0">
                <a:latin typeface="Arial" panose="020B0604020202020204" pitchFamily="34" charset="0"/>
              </a:rPr>
              <a:t>’</a:t>
            </a:r>
            <a:r>
              <a:rPr lang="en-US" altLang="ja-JP" sz="1200" dirty="0">
                <a:latin typeface="Arial" panose="020B0604020202020204" pitchFamily="34" charset="0"/>
              </a:rPr>
              <a:t>s) to smooth out demand over longer periods of time, making forecasting and scheduling more stable and accurate</a:t>
            </a:r>
          </a:p>
          <a:p>
            <a:pPr eaLnBrk="1" hangingPunct="1"/>
            <a:r>
              <a:rPr lang="en-US" altLang="en-US" sz="1200" dirty="0">
                <a:latin typeface="Arial" panose="020B0604020202020204" pitchFamily="34" charset="0"/>
              </a:rPr>
              <a:t>* Production control role changes to long term oversight of inventories and supply chain</a:t>
            </a:r>
          </a:p>
          <a:p>
            <a:pPr eaLnBrk="1" hangingPunct="1"/>
            <a:endParaRPr lang="en-US" altLang="en-US" sz="1200"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161</a:t>
            </a:fld>
            <a:endParaRPr lang="en-US"/>
          </a:p>
        </p:txBody>
      </p:sp>
    </p:spTree>
    <p:extLst>
      <p:ext uri="{BB962C8B-B14F-4D97-AF65-F5344CB8AC3E}">
        <p14:creationId xmlns:p14="http://schemas.microsoft.com/office/powerpoint/2010/main" val="303919825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As you will recall from the introduction to the session, the final deliverable from this event will be an updated Site Plan.</a:t>
            </a:r>
            <a:r>
              <a:rPr lang="ja-JP" altLang="en-US" dirty="0">
                <a:latin typeface="Arial" panose="020B0604020202020204" pitchFamily="34" charset="0"/>
              </a:rPr>
              <a:t>”</a:t>
            </a:r>
            <a:endParaRPr lang="en-US" altLang="ja-JP" dirty="0">
              <a:latin typeface="Arial" panose="020B0604020202020204" pitchFamily="34" charset="0"/>
            </a:endParaRPr>
          </a:p>
          <a:p>
            <a:pPr eaLnBrk="1" hangingPunct="1"/>
            <a:r>
              <a:rPr lang="en-US" altLang="en-US" b="1" dirty="0">
                <a:latin typeface="Arial" panose="020B0604020202020204" pitchFamily="34" charset="0"/>
              </a:rPr>
              <a:t>DO:</a:t>
            </a:r>
            <a:r>
              <a:rPr lang="en-US" altLang="en-US" dirty="0">
                <a:latin typeface="Arial" panose="020B0604020202020204" pitchFamily="34" charset="0"/>
              </a:rPr>
              <a:t> Click to transition to the next slide. </a:t>
            </a:r>
          </a:p>
        </p:txBody>
      </p:sp>
      <p:sp>
        <p:nvSpPr>
          <p:cNvPr id="4" name="Slide Number Placeholder 3"/>
          <p:cNvSpPr>
            <a:spLocks noGrp="1"/>
          </p:cNvSpPr>
          <p:nvPr>
            <p:ph type="sldNum" sz="quarter" idx="5"/>
          </p:nvPr>
        </p:nvSpPr>
        <p:spPr/>
        <p:txBody>
          <a:bodyPr/>
          <a:lstStyle/>
          <a:p>
            <a:fld id="{AECD8548-F1A2-4EDF-A416-5F2BB6B8F64C}" type="slidenum">
              <a:rPr lang="en-US" smtClean="0"/>
              <a:t>162</a:t>
            </a:fld>
            <a:endParaRPr lang="en-US"/>
          </a:p>
        </p:txBody>
      </p:sp>
    </p:spTree>
    <p:extLst>
      <p:ext uri="{BB962C8B-B14F-4D97-AF65-F5344CB8AC3E}">
        <p14:creationId xmlns:p14="http://schemas.microsoft.com/office/powerpoint/2010/main" val="512115849"/>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a:t>
            </a:r>
            <a:r>
              <a:rPr lang="ja-JP" altLang="en-US" dirty="0">
                <a:latin typeface="Arial" panose="020B0604020202020204" pitchFamily="34" charset="0"/>
              </a:rPr>
              <a:t>“</a:t>
            </a:r>
            <a:r>
              <a:rPr lang="en-US" altLang="ja-JP" dirty="0">
                <a:latin typeface="Arial" panose="020B0604020202020204" pitchFamily="34" charset="0"/>
              </a:rPr>
              <a:t>This is a sample of an excerpt from a site plan showing scheduled events from two different Value Streams (KVF and SMMM).</a:t>
            </a:r>
            <a:r>
              <a:rPr lang="ja-JP" altLang="en-US" dirty="0">
                <a:latin typeface="Arial" panose="020B0604020202020204" pitchFamily="34" charset="0"/>
              </a:rPr>
              <a:t>”</a:t>
            </a:r>
            <a:endParaRPr lang="en-US" alt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163</a:t>
            </a:fld>
            <a:endParaRPr lang="en-US"/>
          </a:p>
        </p:txBody>
      </p:sp>
    </p:spTree>
    <p:extLst>
      <p:ext uri="{BB962C8B-B14F-4D97-AF65-F5344CB8AC3E}">
        <p14:creationId xmlns:p14="http://schemas.microsoft.com/office/powerpoint/2010/main" val="37981967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SAY</a:t>
            </a:r>
            <a:r>
              <a:rPr lang="en-US" altLang="en-US" dirty="0">
                <a:latin typeface="Arial" panose="020B0604020202020204" pitchFamily="34" charset="0"/>
              </a:rPr>
              <a:t>: Now we will break and the team will create their Future State Map and Value Stream Plan. </a:t>
            </a:r>
          </a:p>
          <a:p>
            <a:pPr eaLnBrk="1" hangingPunct="1"/>
            <a:r>
              <a:rPr lang="en-US" altLang="en-US" b="1" dirty="0">
                <a:latin typeface="Arial" panose="020B0604020202020204" pitchFamily="34" charset="0"/>
              </a:rPr>
              <a:t>NOTE:</a:t>
            </a:r>
            <a:r>
              <a:rPr lang="en-US" altLang="en-US" dirty="0">
                <a:latin typeface="Arial" panose="020B0604020202020204" pitchFamily="34" charset="0"/>
              </a:rPr>
              <a:t> Give the team a time deadline for when this should be complete. </a:t>
            </a:r>
          </a:p>
        </p:txBody>
      </p:sp>
      <p:sp>
        <p:nvSpPr>
          <p:cNvPr id="4" name="Slide Number Placeholder 3"/>
          <p:cNvSpPr>
            <a:spLocks noGrp="1"/>
          </p:cNvSpPr>
          <p:nvPr>
            <p:ph type="sldNum" sz="quarter" idx="5"/>
          </p:nvPr>
        </p:nvSpPr>
        <p:spPr/>
        <p:txBody>
          <a:bodyPr/>
          <a:lstStyle/>
          <a:p>
            <a:fld id="{AECD8548-F1A2-4EDF-A416-5F2BB6B8F64C}" type="slidenum">
              <a:rPr lang="en-US" smtClean="0"/>
              <a:t>164</a:t>
            </a:fld>
            <a:endParaRPr lang="en-US"/>
          </a:p>
        </p:txBody>
      </p:sp>
    </p:spTree>
    <p:extLst>
      <p:ext uri="{BB962C8B-B14F-4D97-AF65-F5344CB8AC3E}">
        <p14:creationId xmlns:p14="http://schemas.microsoft.com/office/powerpoint/2010/main" val="105159781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rPr>
              <a:t>DO:</a:t>
            </a:r>
            <a:r>
              <a:rPr lang="en-US" altLang="en-US" dirty="0">
                <a:latin typeface="Arial" panose="020B0604020202020204" pitchFamily="34" charset="0"/>
              </a:rPr>
              <a:t> Cover report-out guidelines.</a:t>
            </a:r>
          </a:p>
        </p:txBody>
      </p:sp>
      <p:sp>
        <p:nvSpPr>
          <p:cNvPr id="4" name="Slide Number Placeholder 3"/>
          <p:cNvSpPr>
            <a:spLocks noGrp="1"/>
          </p:cNvSpPr>
          <p:nvPr>
            <p:ph type="sldNum" sz="quarter" idx="5"/>
          </p:nvPr>
        </p:nvSpPr>
        <p:spPr/>
        <p:txBody>
          <a:bodyPr/>
          <a:lstStyle/>
          <a:p>
            <a:fld id="{AECD8548-F1A2-4EDF-A416-5F2BB6B8F64C}" type="slidenum">
              <a:rPr lang="en-US" smtClean="0"/>
              <a:t>165</a:t>
            </a:fld>
            <a:endParaRPr lang="en-US"/>
          </a:p>
        </p:txBody>
      </p:sp>
    </p:spTree>
    <p:extLst>
      <p:ext uri="{BB962C8B-B14F-4D97-AF65-F5344CB8AC3E}">
        <p14:creationId xmlns:p14="http://schemas.microsoft.com/office/powerpoint/2010/main" val="162020281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166</a:t>
            </a:fld>
            <a:endParaRPr lang="en-US"/>
          </a:p>
        </p:txBody>
      </p:sp>
    </p:spTree>
    <p:extLst>
      <p:ext uri="{BB962C8B-B14F-4D97-AF65-F5344CB8AC3E}">
        <p14:creationId xmlns:p14="http://schemas.microsoft.com/office/powerpoint/2010/main" val="343897967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167</a:t>
            </a:fld>
            <a:endParaRPr lang="en-US"/>
          </a:p>
        </p:txBody>
      </p:sp>
    </p:spTree>
    <p:extLst>
      <p:ext uri="{BB962C8B-B14F-4D97-AF65-F5344CB8AC3E}">
        <p14:creationId xmlns:p14="http://schemas.microsoft.com/office/powerpoint/2010/main" val="98821307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168</a:t>
            </a:fld>
            <a:endParaRPr lang="en-US"/>
          </a:p>
        </p:txBody>
      </p:sp>
    </p:spTree>
    <p:extLst>
      <p:ext uri="{BB962C8B-B14F-4D97-AF65-F5344CB8AC3E}">
        <p14:creationId xmlns:p14="http://schemas.microsoft.com/office/powerpoint/2010/main" val="2771453113"/>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169</a:t>
            </a:fld>
            <a:endParaRPr lang="en-US"/>
          </a:p>
        </p:txBody>
      </p:sp>
    </p:spTree>
    <p:extLst>
      <p:ext uri="{BB962C8B-B14F-4D97-AF65-F5344CB8AC3E}">
        <p14:creationId xmlns:p14="http://schemas.microsoft.com/office/powerpoint/2010/main" val="2955432400"/>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170</a:t>
            </a:fld>
            <a:endParaRPr lang="en-US"/>
          </a:p>
        </p:txBody>
      </p:sp>
    </p:spTree>
    <p:extLst>
      <p:ext uri="{BB962C8B-B14F-4D97-AF65-F5344CB8AC3E}">
        <p14:creationId xmlns:p14="http://schemas.microsoft.com/office/powerpoint/2010/main" val="349303683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171</a:t>
            </a:fld>
            <a:endParaRPr lang="en-US"/>
          </a:p>
        </p:txBody>
      </p:sp>
    </p:spTree>
    <p:extLst>
      <p:ext uri="{BB962C8B-B14F-4D97-AF65-F5344CB8AC3E}">
        <p14:creationId xmlns:p14="http://schemas.microsoft.com/office/powerpoint/2010/main" val="9739866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7B85E90D-7DD7-92B5-E387-8C0441E41AC3}"/>
              </a:ext>
            </a:extLst>
          </p:cNvPr>
          <p:cNvPicPr>
            <a:picLocks noChangeAspect="1"/>
          </p:cNvPicPr>
          <p:nvPr userDrawn="1"/>
        </p:nvPicPr>
        <p:blipFill>
          <a:blip r:embed="rId2"/>
          <a:stretch>
            <a:fillRect/>
          </a:stretch>
        </p:blipFill>
        <p:spPr>
          <a:xfrm>
            <a:off x="2385391" y="1950112"/>
            <a:ext cx="7772400" cy="2590800"/>
          </a:xfrm>
          <a:prstGeom prst="rect">
            <a:avLst/>
          </a:prstGeom>
        </p:spPr>
      </p:pic>
    </p:spTree>
    <p:extLst>
      <p:ext uri="{BB962C8B-B14F-4D97-AF65-F5344CB8AC3E}">
        <p14:creationId xmlns:p14="http://schemas.microsoft.com/office/powerpoint/2010/main" val="18562338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68536043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2" name="Picture 1" descr="Logo&#10;&#10;Description automatically generated">
            <a:extLst>
              <a:ext uri="{FF2B5EF4-FFF2-40B4-BE49-F238E27FC236}">
                <a16:creationId xmlns:a16="http://schemas.microsoft.com/office/drawing/2014/main" id="{DFA04139-8C44-65B7-CCE0-3C7273396743}"/>
              </a:ext>
            </a:extLst>
          </p:cNvPr>
          <p:cNvPicPr>
            <a:picLocks noChangeAspect="1"/>
          </p:cNvPicPr>
          <p:nvPr userDrawn="1"/>
        </p:nvPicPr>
        <p:blipFill>
          <a:blip r:embed="rId2"/>
          <a:stretch>
            <a:fillRect/>
          </a:stretch>
        </p:blipFill>
        <p:spPr>
          <a:xfrm>
            <a:off x="10041954" y="6012921"/>
            <a:ext cx="1825625" cy="365125"/>
          </a:xfrm>
          <a:prstGeom prst="rect">
            <a:avLst/>
          </a:prstGeom>
        </p:spPr>
      </p:pic>
    </p:spTree>
    <p:extLst>
      <p:ext uri="{BB962C8B-B14F-4D97-AF65-F5344CB8AC3E}">
        <p14:creationId xmlns:p14="http://schemas.microsoft.com/office/powerpoint/2010/main" val="134054630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B640B0-16F5-BFBE-E22F-812ED893EE4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A30DE2FD-1979-A3D6-90A4-45D744A02739}"/>
              </a:ext>
            </a:extLst>
          </p:cNvPr>
          <p:cNvSpPr>
            <a:spLocks noGrp="1"/>
          </p:cNvSpPr>
          <p:nvPr>
            <p:ph type="subTitle" idx="1"/>
          </p:nvPr>
        </p:nvSpPr>
        <p:spPr>
          <a:xfrm>
            <a:off x="1524000" y="3800722"/>
            <a:ext cx="9144000" cy="1457077"/>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pic>
        <p:nvPicPr>
          <p:cNvPr id="7" name="Picture 6">
            <a:extLst>
              <a:ext uri="{FF2B5EF4-FFF2-40B4-BE49-F238E27FC236}">
                <a16:creationId xmlns:a16="http://schemas.microsoft.com/office/drawing/2014/main" id="{79394B0F-E5B4-CFAF-7473-46BB2646C463}"/>
              </a:ext>
            </a:extLst>
          </p:cNvPr>
          <p:cNvPicPr>
            <a:picLocks noChangeAspect="1"/>
          </p:cNvPicPr>
          <p:nvPr userDrawn="1"/>
        </p:nvPicPr>
        <p:blipFill>
          <a:blip r:embed="rId2"/>
          <a:stretch>
            <a:fillRect/>
          </a:stretch>
        </p:blipFill>
        <p:spPr>
          <a:xfrm>
            <a:off x="4126380" y="3556319"/>
            <a:ext cx="3939240" cy="45719"/>
          </a:xfrm>
          <a:prstGeom prst="rect">
            <a:avLst/>
          </a:prstGeom>
        </p:spPr>
      </p:pic>
    </p:spTree>
    <p:extLst>
      <p:ext uri="{BB962C8B-B14F-4D97-AF65-F5344CB8AC3E}">
        <p14:creationId xmlns:p14="http://schemas.microsoft.com/office/powerpoint/2010/main" val="26260657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E36242-F70A-0032-2B4B-BCCF0734FAFB}"/>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D039E81F-378B-8CF2-E1C3-1D9054EF712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8" name="Straight Connector 7">
            <a:extLst>
              <a:ext uri="{FF2B5EF4-FFF2-40B4-BE49-F238E27FC236}">
                <a16:creationId xmlns:a16="http://schemas.microsoft.com/office/drawing/2014/main" id="{EDBCBB7B-054A-FE83-5F7C-FE4A1CDFEEBA}"/>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161152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EA9C9-FDCA-934D-785B-BFD907843AD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E7695437-1877-C6A2-EE04-3EF98092E16F}"/>
              </a:ext>
            </a:extLst>
          </p:cNvPr>
          <p:cNvSpPr>
            <a:spLocks noGrp="1"/>
          </p:cNvSpPr>
          <p:nvPr>
            <p:ph type="body" idx="1"/>
          </p:nvPr>
        </p:nvSpPr>
        <p:spPr>
          <a:xfrm>
            <a:off x="831850" y="4715123"/>
            <a:ext cx="10515600" cy="137452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142872085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A8C054-8592-E116-8DB0-D7814A8CDB6B}"/>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B35C802A-EC64-E4D9-44D3-54E728E3E9B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1EA5B75-CA16-4AC3-A34C-C3C4FF82FD74}"/>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23186D81-5D29-FE58-C442-6A6A0689DB5B}"/>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059412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362F87-A7AE-9269-55EC-7B1C8A4D2FA0}"/>
              </a:ext>
            </a:extLst>
          </p:cNvPr>
          <p:cNvSpPr>
            <a:spLocks noGrp="1"/>
          </p:cNvSpPr>
          <p:nvPr>
            <p:ph type="title"/>
          </p:nvPr>
        </p:nvSpPr>
        <p:spPr>
          <a:xfrm>
            <a:off x="839788" y="668337"/>
            <a:ext cx="10515600" cy="1022351"/>
          </a:xfrm>
        </p:spPr>
        <p:txBody>
          <a:bodyPr/>
          <a:lstStyle/>
          <a:p>
            <a:r>
              <a:rPr lang="en-US" dirty="0"/>
              <a:t>Click to edit Master title style</a:t>
            </a:r>
          </a:p>
        </p:txBody>
      </p:sp>
      <p:sp>
        <p:nvSpPr>
          <p:cNvPr id="3" name="Text Placeholder 2">
            <a:extLst>
              <a:ext uri="{FF2B5EF4-FFF2-40B4-BE49-F238E27FC236}">
                <a16:creationId xmlns:a16="http://schemas.microsoft.com/office/drawing/2014/main" id="{23727D69-EB01-A889-0CC3-A64B4F7DAB1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1F1EC85-625B-CEAA-F97D-EF024B15F27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3D5D1D7-7D1D-2F5D-8D5E-152CC8269A9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9D830EE-92A6-15ED-D99F-35788F37AD9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0" name="Straight Connector 9">
            <a:extLst>
              <a:ext uri="{FF2B5EF4-FFF2-40B4-BE49-F238E27FC236}">
                <a16:creationId xmlns:a16="http://schemas.microsoft.com/office/drawing/2014/main" id="{74CBFE9C-CE1B-ED6E-1745-391F9496BE1D}"/>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351504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CD9D87-BBC7-C5DC-191E-E5E1CA2BC2BE}"/>
              </a:ext>
            </a:extLst>
          </p:cNvPr>
          <p:cNvSpPr>
            <a:spLocks noGrp="1"/>
          </p:cNvSpPr>
          <p:nvPr>
            <p:ph type="title"/>
          </p:nvPr>
        </p:nvSpPr>
        <p:spPr/>
        <p:txBody>
          <a:bodyPr/>
          <a:lstStyle/>
          <a:p>
            <a:r>
              <a:rPr lang="en-US" dirty="0"/>
              <a:t>Click to edit Master title style</a:t>
            </a:r>
          </a:p>
        </p:txBody>
      </p:sp>
      <p:cxnSp>
        <p:nvCxnSpPr>
          <p:cNvPr id="6" name="Straight Connector 5">
            <a:extLst>
              <a:ext uri="{FF2B5EF4-FFF2-40B4-BE49-F238E27FC236}">
                <a16:creationId xmlns:a16="http://schemas.microsoft.com/office/drawing/2014/main" id="{7E55C65A-BA96-51C7-B6FE-07AB4FB9C96C}"/>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53027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FC6C847F-0B94-F947-B172-F99DB133759E}"/>
              </a:ext>
            </a:extLst>
          </p:cNvPr>
          <p:cNvSpPr>
            <a:spLocks noGrp="1"/>
          </p:cNvSpPr>
          <p:nvPr>
            <p:ph type="sldNum" sz="quarter" idx="11"/>
          </p:nvPr>
        </p:nvSpPr>
        <p:spPr/>
        <p:txBody>
          <a:bodyPr/>
          <a:lstStyle/>
          <a:p>
            <a:fld id="{CC6D4273-7FC1-0947-B9FE-19CB3C0D1FB6}" type="slidenum">
              <a:rPr lang="en-US" smtClean="0"/>
              <a:pPr/>
              <a:t>‹#›</a:t>
            </a:fld>
            <a:endParaRPr lang="en-US" dirty="0"/>
          </a:p>
        </p:txBody>
      </p:sp>
      <p:sp>
        <p:nvSpPr>
          <p:cNvPr id="7" name="TextBox 6">
            <a:extLst>
              <a:ext uri="{FF2B5EF4-FFF2-40B4-BE49-F238E27FC236}">
                <a16:creationId xmlns:a16="http://schemas.microsoft.com/office/drawing/2014/main" id="{5C21B1ED-B2E3-19AE-DDFC-B157A0140513}"/>
              </a:ext>
            </a:extLst>
          </p:cNvPr>
          <p:cNvSpPr txBox="1"/>
          <p:nvPr userDrawn="1"/>
        </p:nvSpPr>
        <p:spPr>
          <a:xfrm>
            <a:off x="4205176" y="6384780"/>
            <a:ext cx="417193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dirty="0">
                <a:latin typeface="Roboto" panose="02000000000000000000" pitchFamily="2" charset="0"/>
                <a:ea typeface="Roboto" panose="02000000000000000000" pitchFamily="2" charset="0"/>
                <a:cs typeface="Roboto" panose="02000000000000000000" pitchFamily="2" charset="0"/>
              </a:rPr>
              <a:t>© Lean Horizons Consulting, LLC 2023. All Rights Reserved</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06779714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55009C-FECA-9E9B-9F45-5710762AEB4B}"/>
              </a:ext>
            </a:extLst>
          </p:cNvPr>
          <p:cNvSpPr>
            <a:spLocks noGrp="1"/>
          </p:cNvSpPr>
          <p:nvPr>
            <p:ph type="title"/>
          </p:nvPr>
        </p:nvSpPr>
        <p:spPr>
          <a:xfrm>
            <a:off x="839788" y="457200"/>
            <a:ext cx="3932237" cy="1465029"/>
          </a:xfrm>
        </p:spPr>
        <p:txBody>
          <a:bodyPr anchor="b"/>
          <a:lstStyle>
            <a:lvl1pPr>
              <a:defRPr sz="3200"/>
            </a:lvl1pPr>
          </a:lstStyle>
          <a:p>
            <a:r>
              <a:rPr lang="en-US" dirty="0"/>
              <a:t>Click to edit Master title style</a:t>
            </a:r>
          </a:p>
        </p:txBody>
      </p:sp>
      <p:sp>
        <p:nvSpPr>
          <p:cNvPr id="3" name="Content Placeholder 2">
            <a:extLst>
              <a:ext uri="{FF2B5EF4-FFF2-40B4-BE49-F238E27FC236}">
                <a16:creationId xmlns:a16="http://schemas.microsoft.com/office/drawing/2014/main" id="{925B4662-A656-519F-E5DC-FEF8051A04B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C555F82-CA62-EC30-181A-37223E01FDD3}"/>
              </a:ext>
            </a:extLst>
          </p:cNvPr>
          <p:cNvSpPr>
            <a:spLocks noGrp="1"/>
          </p:cNvSpPr>
          <p:nvPr>
            <p:ph type="body" sz="half" idx="2"/>
          </p:nvPr>
        </p:nvSpPr>
        <p:spPr>
          <a:xfrm>
            <a:off x="839788" y="2146852"/>
            <a:ext cx="3932237" cy="3722136"/>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cxnSp>
        <p:nvCxnSpPr>
          <p:cNvPr id="8" name="Straight Connector 7">
            <a:extLst>
              <a:ext uri="{FF2B5EF4-FFF2-40B4-BE49-F238E27FC236}">
                <a16:creationId xmlns:a16="http://schemas.microsoft.com/office/drawing/2014/main" id="{EB026B9A-5C7E-C150-5C07-A68A167F0F67}"/>
              </a:ext>
            </a:extLst>
          </p:cNvPr>
          <p:cNvCxnSpPr>
            <a:cxnSpLocks/>
          </p:cNvCxnSpPr>
          <p:nvPr userDrawn="1"/>
        </p:nvCxnSpPr>
        <p:spPr>
          <a:xfrm>
            <a:off x="838200" y="1922229"/>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922591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C35D53-C186-1B2C-FD72-2AC470B82098}"/>
              </a:ext>
            </a:extLst>
          </p:cNvPr>
          <p:cNvSpPr>
            <a:spLocks noGrp="1"/>
          </p:cNvSpPr>
          <p:nvPr>
            <p:ph type="title"/>
          </p:nvPr>
        </p:nvSpPr>
        <p:spPr>
          <a:xfrm>
            <a:off x="839788" y="457200"/>
            <a:ext cx="3932237" cy="1463045"/>
          </a:xfrm>
        </p:spPr>
        <p:txBody>
          <a:bodyPr anchor="b"/>
          <a:lstStyle>
            <a:lvl1pPr>
              <a:defRPr sz="3200"/>
            </a:lvl1pPr>
          </a:lstStyle>
          <a:p>
            <a:r>
              <a:rPr lang="en-US" dirty="0"/>
              <a:t>Click to edit Master title style</a:t>
            </a:r>
          </a:p>
        </p:txBody>
      </p:sp>
      <p:sp>
        <p:nvSpPr>
          <p:cNvPr id="3" name="Picture Placeholder 2">
            <a:extLst>
              <a:ext uri="{FF2B5EF4-FFF2-40B4-BE49-F238E27FC236}">
                <a16:creationId xmlns:a16="http://schemas.microsoft.com/office/drawing/2014/main" id="{8C7372F6-C6B1-D2F4-8DED-EF3C3DBEAA4E}"/>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F566E1FE-9DAE-4781-C70A-CF8F68AAFDD6}"/>
              </a:ext>
            </a:extLst>
          </p:cNvPr>
          <p:cNvSpPr>
            <a:spLocks noGrp="1"/>
          </p:cNvSpPr>
          <p:nvPr>
            <p:ph type="body" sz="half" idx="2"/>
          </p:nvPr>
        </p:nvSpPr>
        <p:spPr>
          <a:xfrm>
            <a:off x="839788" y="2148836"/>
            <a:ext cx="3932237" cy="3720151"/>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cxnSp>
        <p:nvCxnSpPr>
          <p:cNvPr id="8" name="Straight Connector 7">
            <a:extLst>
              <a:ext uri="{FF2B5EF4-FFF2-40B4-BE49-F238E27FC236}">
                <a16:creationId xmlns:a16="http://schemas.microsoft.com/office/drawing/2014/main" id="{6BBD52B6-C25E-E933-F2B7-D40B2BFDF83D}"/>
              </a:ext>
            </a:extLst>
          </p:cNvPr>
          <p:cNvCxnSpPr>
            <a:cxnSpLocks/>
          </p:cNvCxnSpPr>
          <p:nvPr userDrawn="1"/>
        </p:nvCxnSpPr>
        <p:spPr>
          <a:xfrm>
            <a:off x="838200" y="1920245"/>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019482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4F5CEA-F0B2-6EAB-4435-59D188AF388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32B515F-CCC6-5F3D-26FA-AF419F9D87C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7" name="Straight Connector 6">
            <a:extLst>
              <a:ext uri="{FF2B5EF4-FFF2-40B4-BE49-F238E27FC236}">
                <a16:creationId xmlns:a16="http://schemas.microsoft.com/office/drawing/2014/main" id="{E155FD7A-35A4-E3BB-30E7-93993A9F2FCF}"/>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28601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6EEA24E-3139-367F-63CD-6BE14639C426}"/>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2D504B8-9AC5-F3B2-2873-A2C23446016F}"/>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732899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png"/><Relationship Id="rId2" Type="http://schemas.openxmlformats.org/officeDocument/2006/relationships/slideLayout" Target="../slideLayouts/slideLayout2.xml"/><Relationship Id="rId16" Type="http://schemas.openxmlformats.org/officeDocument/2006/relationships/image" Target="../media/image1.jp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FC7573B6-84E2-B075-59F6-13B735C1EA0C}"/>
              </a:ext>
            </a:extLst>
          </p:cNvPr>
          <p:cNvPicPr>
            <a:picLocks noChangeAspect="1"/>
          </p:cNvPicPr>
          <p:nvPr userDrawn="1"/>
        </p:nvPicPr>
        <p:blipFill>
          <a:blip r:embed="rId16"/>
          <a:srcRect/>
          <a:stretch/>
        </p:blipFill>
        <p:spPr>
          <a:xfrm>
            <a:off x="0" y="0"/>
            <a:ext cx="12192000" cy="6858000"/>
          </a:xfrm>
          <a:prstGeom prst="rect">
            <a:avLst/>
          </a:prstGeom>
        </p:spPr>
      </p:pic>
      <p:sp>
        <p:nvSpPr>
          <p:cNvPr id="2" name="Title Placeholder 1">
            <a:extLst>
              <a:ext uri="{FF2B5EF4-FFF2-40B4-BE49-F238E27FC236}">
                <a16:creationId xmlns:a16="http://schemas.microsoft.com/office/drawing/2014/main" id="{AF899C9A-A2FC-CD4A-1E66-538BA9DCD182}"/>
              </a:ext>
            </a:extLst>
          </p:cNvPr>
          <p:cNvSpPr>
            <a:spLocks noGrp="1"/>
          </p:cNvSpPr>
          <p:nvPr>
            <p:ph type="title"/>
          </p:nvPr>
        </p:nvSpPr>
        <p:spPr>
          <a:xfrm>
            <a:off x="838200" y="681037"/>
            <a:ext cx="10515600" cy="1009651"/>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F5BEC040-D756-ECEA-9BEA-816A77F6A3E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0655B500-689F-3416-FFFA-6EFE369BF707}"/>
              </a:ext>
            </a:extLst>
          </p:cNvPr>
          <p:cNvSpPr>
            <a:spLocks noGrp="1"/>
          </p:cNvSpPr>
          <p:nvPr>
            <p:ph type="sldNum" sz="quarter" idx="4"/>
          </p:nvPr>
        </p:nvSpPr>
        <p:spPr>
          <a:xfrm>
            <a:off x="8595078" y="6333148"/>
            <a:ext cx="2743200" cy="365125"/>
          </a:xfrm>
          <a:prstGeom prst="rect">
            <a:avLst/>
          </a:prstGeom>
        </p:spPr>
        <p:txBody>
          <a:bodyPr vert="horz" lIns="91440" tIns="45720" rIns="91440" bIns="45720" rtlCol="0" anchor="ctr"/>
          <a:lstStyle>
            <a:lvl1pPr algn="r">
              <a:defRPr sz="1200">
                <a:solidFill>
                  <a:schemeClr val="tx1"/>
                </a:solidFill>
              </a:defRPr>
            </a:lvl1pPr>
          </a:lstStyle>
          <a:p>
            <a:fld id="{CC6D4273-7FC1-0947-B9FE-19CB3C0D1FB6}" type="slidenum">
              <a:rPr lang="en-US" smtClean="0"/>
              <a:pPr/>
              <a:t>‹#›</a:t>
            </a:fld>
            <a:endParaRPr lang="en-US" dirty="0"/>
          </a:p>
        </p:txBody>
      </p:sp>
      <p:pic>
        <p:nvPicPr>
          <p:cNvPr id="10" name="Picture 9" descr="Logo&#10;&#10;Description automatically generated">
            <a:extLst>
              <a:ext uri="{FF2B5EF4-FFF2-40B4-BE49-F238E27FC236}">
                <a16:creationId xmlns:a16="http://schemas.microsoft.com/office/drawing/2014/main" id="{83AB58F5-18C5-C368-94F4-CC4D543C8982}"/>
              </a:ext>
            </a:extLst>
          </p:cNvPr>
          <p:cNvPicPr>
            <a:picLocks noChangeAspect="1"/>
          </p:cNvPicPr>
          <p:nvPr userDrawn="1"/>
        </p:nvPicPr>
        <p:blipFill>
          <a:blip r:embed="rId17"/>
          <a:stretch>
            <a:fillRect/>
          </a:stretch>
        </p:blipFill>
        <p:spPr>
          <a:xfrm>
            <a:off x="10650147" y="311856"/>
            <a:ext cx="1376262" cy="275252"/>
          </a:xfrm>
          <a:prstGeom prst="rect">
            <a:avLst/>
          </a:prstGeom>
        </p:spPr>
      </p:pic>
      <p:cxnSp>
        <p:nvCxnSpPr>
          <p:cNvPr id="16" name="Straight Connector 15">
            <a:extLst>
              <a:ext uri="{FF2B5EF4-FFF2-40B4-BE49-F238E27FC236}">
                <a16:creationId xmlns:a16="http://schemas.microsoft.com/office/drawing/2014/main" id="{BFFEF531-ADF4-AB70-CB0F-227DD4FA1B4F}"/>
              </a:ext>
            </a:extLst>
          </p:cNvPr>
          <p:cNvCxnSpPr/>
          <p:nvPr userDrawn="1"/>
        </p:nvCxnSpPr>
        <p:spPr>
          <a:xfrm>
            <a:off x="838200" y="6382347"/>
            <a:ext cx="10515599"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47AF5F83-88DF-460F-82C5-C2709D4DF5D2}"/>
              </a:ext>
            </a:extLst>
          </p:cNvPr>
          <p:cNvSpPr txBox="1"/>
          <p:nvPr userDrawn="1"/>
        </p:nvSpPr>
        <p:spPr>
          <a:xfrm>
            <a:off x="838200" y="6389310"/>
            <a:ext cx="4171934" cy="400110"/>
          </a:xfrm>
          <a:prstGeom prst="rect">
            <a:avLst/>
          </a:prstGeom>
          <a:noFill/>
        </p:spPr>
        <p:txBody>
          <a:bodyPr wrap="square" rtlCol="0">
            <a:spAutoFit/>
          </a:bodyPr>
          <a:lstStyle/>
          <a:p>
            <a:r>
              <a:rPr lang="en-US" sz="1000" dirty="0"/>
              <a:t>VSM PRESENTATION ENG REV5.0</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
        <p:nvSpPr>
          <p:cNvPr id="8" name="TextBox 7">
            <a:extLst>
              <a:ext uri="{FF2B5EF4-FFF2-40B4-BE49-F238E27FC236}">
                <a16:creationId xmlns:a16="http://schemas.microsoft.com/office/drawing/2014/main" id="{76B0F1ED-1C44-DFD6-E7DA-038409D9167D}"/>
              </a:ext>
            </a:extLst>
          </p:cNvPr>
          <p:cNvSpPr txBox="1"/>
          <p:nvPr userDrawn="1"/>
        </p:nvSpPr>
        <p:spPr>
          <a:xfrm>
            <a:off x="4205176" y="6384780"/>
            <a:ext cx="417193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dirty="0">
                <a:latin typeface="Roboto" panose="02000000000000000000" pitchFamily="2" charset="0"/>
                <a:ea typeface="Roboto" panose="02000000000000000000" pitchFamily="2" charset="0"/>
                <a:cs typeface="Roboto" panose="02000000000000000000" pitchFamily="2" charset="0"/>
              </a:rPr>
              <a:t>© Lean Horizons Consulting, LLC 2023. All Rights Reserved</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092232385"/>
      </p:ext>
    </p:extLst>
  </p:cSld>
  <p:clrMap bg1="lt1" tx1="dk1" bg2="lt2" tx2="dk2" accent1="accent1" accent2="accent2" accent3="accent3" accent4="accent4" accent5="accent5" accent6="accent6" hlink="hlink" folHlink="folHlink"/>
  <p:sldLayoutIdLst>
    <p:sldLayoutId id="2147483660" r:id="rId1"/>
    <p:sldLayoutId id="2147483661" r:id="rId2"/>
    <p:sldLayoutId id="2147483662" r:id="rId3"/>
    <p:sldLayoutId id="2147483649" r:id="rId4"/>
    <p:sldLayoutId id="2147483650" r:id="rId5"/>
    <p:sldLayoutId id="2147483651" r:id="rId6"/>
    <p:sldLayoutId id="2147483652" r:id="rId7"/>
    <p:sldLayoutId id="2147483653" r:id="rId8"/>
    <p:sldLayoutId id="2147483654" r:id="rId9"/>
    <p:sldLayoutId id="2147483655" r:id="rId10"/>
    <p:sldLayoutId id="2147483656" r:id="rId11"/>
    <p:sldLayoutId id="2147483657" r:id="rId12"/>
    <p:sldLayoutId id="2147483658" r:id="rId13"/>
    <p:sldLayoutId id="2147483659" r:id="rId14"/>
  </p:sldLayoutIdLst>
  <p:hf hdr="0" ftr="0" dt="0"/>
  <p:txStyles>
    <p:titleStyle>
      <a:lvl1pPr algn="l" defTabSz="914400" rtl="0" eaLnBrk="1" latinLnBrk="0" hangingPunct="1">
        <a:lnSpc>
          <a:spcPct val="90000"/>
        </a:lnSpc>
        <a:spcBef>
          <a:spcPct val="0"/>
        </a:spcBef>
        <a:buNone/>
        <a:defRPr sz="4400"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2.xml"/><Relationship Id="rId1" Type="http://schemas.openxmlformats.org/officeDocument/2006/relationships/slideLayout" Target="../slideLayouts/slideLayout10.xml"/><Relationship Id="rId4" Type="http://schemas.openxmlformats.org/officeDocument/2006/relationships/image" Target="../media/image5.gif"/></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9.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9.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9.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9.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9.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9.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9.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9.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9.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9.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9.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9.xml"/></Relationships>
</file>

<file path=ppt/slides/_rels/slide9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98.xml"/><Relationship Id="rId1" Type="http://schemas.openxmlformats.org/officeDocument/2006/relationships/slideLayout" Target="../slideLayouts/slideLayout9.xml"/></Relationships>
</file>

<file path=ppt/slides/_rels/slide9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9.xml"/><Relationship Id="rId1" Type="http://schemas.openxmlformats.org/officeDocument/2006/relationships/slideLayout" Target="../slideLayouts/slideLayout9.xml"/><Relationship Id="rId4" Type="http://schemas.microsoft.com/office/2007/relationships/hdphoto" Target="../media/hdphoto1.wdp"/></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9.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9.xml"/></Relationships>
</file>

<file path=ppt/slides/_rels/slide1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3.xml"/><Relationship Id="rId1" Type="http://schemas.openxmlformats.org/officeDocument/2006/relationships/slideLayout" Target="../slideLayouts/slideLayout9.xml"/><Relationship Id="rId4" Type="http://schemas.microsoft.com/office/2007/relationships/hdphoto" Target="../media/hdphoto1.wdp"/></Relationships>
</file>

<file path=ppt/slides/_rels/slide10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4.xml"/><Relationship Id="rId1" Type="http://schemas.openxmlformats.org/officeDocument/2006/relationships/slideLayout" Target="../slideLayouts/slideLayout9.xml"/><Relationship Id="rId4" Type="http://schemas.microsoft.com/office/2007/relationships/hdphoto" Target="../media/hdphoto1.wdp"/></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9.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9.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9.xml"/></Relationships>
</file>

<file path=ppt/slides/_rels/slide1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4.xml"/><Relationship Id="rId1" Type="http://schemas.openxmlformats.org/officeDocument/2006/relationships/slideLayout" Target="../slideLayouts/slideLayout9.xml"/><Relationship Id="rId4" Type="http://schemas.microsoft.com/office/2007/relationships/hdphoto" Target="../media/hdphoto1.wdp"/></Relationships>
</file>

<file path=ppt/slides/_rels/slide1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5.xml"/><Relationship Id="rId1" Type="http://schemas.openxmlformats.org/officeDocument/2006/relationships/slideLayout" Target="../slideLayouts/slideLayout9.xml"/><Relationship Id="rId4" Type="http://schemas.microsoft.com/office/2007/relationships/hdphoto" Target="../media/hdphoto1.wdp"/></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9.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8.xml"/><Relationship Id="rId1" Type="http://schemas.openxmlformats.org/officeDocument/2006/relationships/slideLayout" Target="../slideLayouts/slideLayout9.xml"/><Relationship Id="rId4" Type="http://schemas.microsoft.com/office/2007/relationships/hdphoto" Target="../media/hdphoto1.wdp"/></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9.xml"/></Relationships>
</file>

<file path=ppt/slides/_rels/slide1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0.xml"/><Relationship Id="rId1" Type="http://schemas.openxmlformats.org/officeDocument/2006/relationships/slideLayout" Target="../slideLayouts/slideLayout9.xml"/><Relationship Id="rId4" Type="http://schemas.microsoft.com/office/2007/relationships/hdphoto" Target="../media/hdphoto1.wdp"/></Relationships>
</file>

<file path=ppt/slides/_rels/slide1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1.xml"/><Relationship Id="rId1" Type="http://schemas.openxmlformats.org/officeDocument/2006/relationships/slideLayout" Target="../slideLayouts/slideLayout9.xml"/><Relationship Id="rId4" Type="http://schemas.microsoft.com/office/2007/relationships/hdphoto" Target="../media/hdphoto1.wdp"/></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9.xml"/></Relationships>
</file>

<file path=ppt/slides/_rels/slide1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3.xml"/><Relationship Id="rId1" Type="http://schemas.openxmlformats.org/officeDocument/2006/relationships/slideLayout" Target="../slideLayouts/slideLayout9.xml"/><Relationship Id="rId4" Type="http://schemas.microsoft.com/office/2007/relationships/hdphoto" Target="../media/hdphoto1.wdp"/></Relationships>
</file>

<file path=ppt/slides/_rels/slide1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4.xml"/><Relationship Id="rId1" Type="http://schemas.openxmlformats.org/officeDocument/2006/relationships/slideLayout" Target="../slideLayouts/slideLayout9.xml"/><Relationship Id="rId4" Type="http://schemas.microsoft.com/office/2007/relationships/hdphoto" Target="../media/hdphoto1.wdp"/></Relationships>
</file>

<file path=ppt/slides/_rels/slide1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5.xml"/><Relationship Id="rId1" Type="http://schemas.openxmlformats.org/officeDocument/2006/relationships/slideLayout" Target="../slideLayouts/slideLayout9.xml"/><Relationship Id="rId4" Type="http://schemas.microsoft.com/office/2007/relationships/hdphoto" Target="../media/hdphoto1.wdp"/></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9.xml"/></Relationships>
</file>

<file path=ppt/slides/_rels/slide1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7.xml"/><Relationship Id="rId1" Type="http://schemas.openxmlformats.org/officeDocument/2006/relationships/slideLayout" Target="../slideLayouts/slideLayout9.xml"/><Relationship Id="rId4" Type="http://schemas.microsoft.com/office/2007/relationships/hdphoto" Target="../media/hdphoto1.wdp"/></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9.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9.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9.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9.xml"/></Relationships>
</file>

<file path=ppt/slides/_rels/slide13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5.xml"/><Relationship Id="rId1" Type="http://schemas.openxmlformats.org/officeDocument/2006/relationships/slideLayout" Target="../slideLayouts/slideLayout9.xml"/><Relationship Id="rId4" Type="http://schemas.microsoft.com/office/2007/relationships/hdphoto" Target="../media/hdphoto1.wdp"/></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9.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9.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9.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9.xml"/></Relationships>
</file>

<file path=ppt/slides/_rels/slide14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1.xml"/><Relationship Id="rId1" Type="http://schemas.openxmlformats.org/officeDocument/2006/relationships/slideLayout" Target="../slideLayouts/slideLayout9.xml"/><Relationship Id="rId4" Type="http://schemas.microsoft.com/office/2007/relationships/hdphoto" Target="../media/hdphoto1.wdp"/></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9.xml"/></Relationships>
</file>

<file path=ppt/slides/_rels/slide14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3.xml"/><Relationship Id="rId1" Type="http://schemas.openxmlformats.org/officeDocument/2006/relationships/slideLayout" Target="../slideLayouts/slideLayout9.xml"/><Relationship Id="rId4" Type="http://schemas.microsoft.com/office/2007/relationships/hdphoto" Target="../media/hdphoto1.wdp"/></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9.xml"/></Relationships>
</file>

<file path=ppt/slides/_rels/slide14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5.xml"/><Relationship Id="rId1" Type="http://schemas.openxmlformats.org/officeDocument/2006/relationships/slideLayout" Target="../slideLayouts/slideLayout9.xml"/><Relationship Id="rId4" Type="http://schemas.microsoft.com/office/2007/relationships/hdphoto" Target="../media/hdphoto1.wdp"/></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9.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5.xml"/></Relationships>
</file>

<file path=ppt/slides/_rels/slide14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8.png"/><Relationship Id="rId7" Type="http://schemas.openxmlformats.org/officeDocument/2006/relationships/customXml" Target="../ink/ink2.xml"/><Relationship Id="rId12" Type="http://schemas.openxmlformats.org/officeDocument/2006/relationships/image" Target="../media/image12.png"/><Relationship Id="rId2" Type="http://schemas.openxmlformats.org/officeDocument/2006/relationships/notesSlide" Target="../notesSlides/notesSlide148.xml"/><Relationship Id="rId1" Type="http://schemas.openxmlformats.org/officeDocument/2006/relationships/slideLayout" Target="../slideLayouts/slideLayout9.xml"/><Relationship Id="rId6" Type="http://schemas.openxmlformats.org/officeDocument/2006/relationships/image" Target="../media/image9.png"/><Relationship Id="rId11" Type="http://schemas.openxmlformats.org/officeDocument/2006/relationships/customXml" Target="../ink/ink4.xml"/><Relationship Id="rId5" Type="http://schemas.openxmlformats.org/officeDocument/2006/relationships/customXml" Target="../ink/ink1.xml"/><Relationship Id="rId10" Type="http://schemas.openxmlformats.org/officeDocument/2006/relationships/image" Target="../media/image11.png"/><Relationship Id="rId4" Type="http://schemas.microsoft.com/office/2007/relationships/hdphoto" Target="../media/hdphoto1.wdp"/><Relationship Id="rId9" Type="http://schemas.openxmlformats.org/officeDocument/2006/relationships/customXml" Target="../ink/ink3.xml"/></Relationships>
</file>

<file path=ppt/slides/_rels/slide149.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8.png"/><Relationship Id="rId7" Type="http://schemas.openxmlformats.org/officeDocument/2006/relationships/customXml" Target="../ink/ink6.xml"/><Relationship Id="rId12" Type="http://schemas.openxmlformats.org/officeDocument/2006/relationships/image" Target="../media/image16.png"/><Relationship Id="rId2" Type="http://schemas.openxmlformats.org/officeDocument/2006/relationships/notesSlide" Target="../notesSlides/notesSlide149.xml"/><Relationship Id="rId1" Type="http://schemas.openxmlformats.org/officeDocument/2006/relationships/slideLayout" Target="../slideLayouts/slideLayout9.xml"/><Relationship Id="rId6" Type="http://schemas.openxmlformats.org/officeDocument/2006/relationships/image" Target="../media/image13.png"/><Relationship Id="rId11" Type="http://schemas.openxmlformats.org/officeDocument/2006/relationships/customXml" Target="../ink/ink8.xml"/><Relationship Id="rId5" Type="http://schemas.openxmlformats.org/officeDocument/2006/relationships/customXml" Target="../ink/ink5.xml"/><Relationship Id="rId10" Type="http://schemas.openxmlformats.org/officeDocument/2006/relationships/image" Target="../media/image15.png"/><Relationship Id="rId4" Type="http://schemas.microsoft.com/office/2007/relationships/hdphoto" Target="../media/hdphoto1.wdp"/><Relationship Id="rId9" Type="http://schemas.openxmlformats.org/officeDocument/2006/relationships/customXml" Target="../ink/ink7.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9.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5.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5.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5.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56.xml"/><Relationship Id="rId1" Type="http://schemas.openxmlformats.org/officeDocument/2006/relationships/slideLayout" Target="../slideLayouts/slideLayout9.xml"/><Relationship Id="rId4" Type="http://schemas.openxmlformats.org/officeDocument/2006/relationships/image" Target="../media/image10.jpeg"/></Relationships>
</file>

<file path=ppt/slides/_rels/slide157.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57.xml"/><Relationship Id="rId1" Type="http://schemas.openxmlformats.org/officeDocument/2006/relationships/slideLayout" Target="../slideLayouts/slideLayout9.xml"/></Relationships>
</file>

<file path=ppt/slides/_rels/slide158.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58.xml"/><Relationship Id="rId1" Type="http://schemas.openxmlformats.org/officeDocument/2006/relationships/slideLayout" Target="../slideLayouts/slideLayout9.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5.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5.xml"/></Relationships>
</file>

<file path=ppt/slides/_rels/slide161.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8.png"/><Relationship Id="rId7" Type="http://schemas.openxmlformats.org/officeDocument/2006/relationships/customXml" Target="../ink/ink10.xml"/><Relationship Id="rId12" Type="http://schemas.openxmlformats.org/officeDocument/2006/relationships/image" Target="../media/image16.png"/><Relationship Id="rId2" Type="http://schemas.openxmlformats.org/officeDocument/2006/relationships/notesSlide" Target="../notesSlides/notesSlide161.xml"/><Relationship Id="rId1" Type="http://schemas.openxmlformats.org/officeDocument/2006/relationships/slideLayout" Target="../slideLayouts/slideLayout9.xml"/><Relationship Id="rId6" Type="http://schemas.openxmlformats.org/officeDocument/2006/relationships/image" Target="../media/image13.png"/><Relationship Id="rId11" Type="http://schemas.openxmlformats.org/officeDocument/2006/relationships/customXml" Target="../ink/ink12.xml"/><Relationship Id="rId5" Type="http://schemas.openxmlformats.org/officeDocument/2006/relationships/customXml" Target="../ink/ink9.xml"/><Relationship Id="rId10" Type="http://schemas.openxmlformats.org/officeDocument/2006/relationships/image" Target="../media/image15.png"/><Relationship Id="rId4" Type="http://schemas.microsoft.com/office/2007/relationships/hdphoto" Target="../media/hdphoto1.wdp"/><Relationship Id="rId9" Type="http://schemas.openxmlformats.org/officeDocument/2006/relationships/customXml" Target="../ink/ink11.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9.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9.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5.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4.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9.xml"/></Relationships>
</file>

<file path=ppt/slides/_rels/slide16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68.xml"/><Relationship Id="rId1" Type="http://schemas.openxmlformats.org/officeDocument/2006/relationships/slideLayout" Target="../slideLayouts/slideLayout9.xml"/><Relationship Id="rId4" Type="http://schemas.microsoft.com/office/2007/relationships/hdphoto" Target="../media/hdphoto1.wdp"/></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9.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9.xml"/></Relationships>
</file>

<file path=ppt/slides/_rels/slide17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71.xml"/><Relationship Id="rId1" Type="http://schemas.openxmlformats.org/officeDocument/2006/relationships/slideLayout" Target="../slideLayouts/slideLayout10.xml"/><Relationship Id="rId4" Type="http://schemas.openxmlformats.org/officeDocument/2006/relationships/image" Target="../media/image5.gi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9B60FA6-6E24-C6E2-C35D-A4139BCE2E8B}"/>
              </a:ext>
            </a:extLst>
          </p:cNvPr>
          <p:cNvPicPr>
            <a:picLocks noChangeAspect="1"/>
          </p:cNvPicPr>
          <p:nvPr/>
        </p:nvPicPr>
        <p:blipFill>
          <a:blip r:embed="rId3"/>
          <a:stretch>
            <a:fillRect/>
          </a:stretch>
        </p:blipFill>
        <p:spPr>
          <a:xfrm>
            <a:off x="4747929" y="4846192"/>
            <a:ext cx="2696138" cy="45719"/>
          </a:xfrm>
          <a:prstGeom prst="rect">
            <a:avLst/>
          </a:prstGeom>
        </p:spPr>
      </p:pic>
      <p:sp>
        <p:nvSpPr>
          <p:cNvPr id="5" name="TextBox 4">
            <a:extLst>
              <a:ext uri="{FF2B5EF4-FFF2-40B4-BE49-F238E27FC236}">
                <a16:creationId xmlns:a16="http://schemas.microsoft.com/office/drawing/2014/main" id="{0BF4BEED-3D12-D343-768A-9E83F9558AE0}"/>
              </a:ext>
            </a:extLst>
          </p:cNvPr>
          <p:cNvSpPr txBox="1"/>
          <p:nvPr/>
        </p:nvSpPr>
        <p:spPr>
          <a:xfrm>
            <a:off x="668594" y="4138306"/>
            <a:ext cx="10746658" cy="646331"/>
          </a:xfrm>
          <a:prstGeom prst="rect">
            <a:avLst/>
          </a:prstGeom>
          <a:noFill/>
        </p:spPr>
        <p:txBody>
          <a:bodyPr wrap="square" rtlCol="0">
            <a:spAutoFit/>
          </a:bodyPr>
          <a:lstStyle/>
          <a:p>
            <a:pPr algn="ctr"/>
            <a:r>
              <a:rPr lang="en-US" sz="3600" dirty="0">
                <a:latin typeface="Roboto" panose="02000000000000000000" pitchFamily="2" charset="0"/>
                <a:ea typeface="Roboto" panose="02000000000000000000" pitchFamily="2" charset="0"/>
                <a:cs typeface="Roboto" panose="02000000000000000000" pitchFamily="2" charset="0"/>
              </a:rPr>
              <a:t>Value Stream Mapping</a:t>
            </a:r>
          </a:p>
        </p:txBody>
      </p:sp>
      <p:sp>
        <p:nvSpPr>
          <p:cNvPr id="3" name="Slide Number Placeholder 2">
            <a:extLst>
              <a:ext uri="{FF2B5EF4-FFF2-40B4-BE49-F238E27FC236}">
                <a16:creationId xmlns:a16="http://schemas.microsoft.com/office/drawing/2014/main" id="{DCEF716D-CC64-6765-89C4-B03733484518}"/>
              </a:ext>
            </a:extLst>
          </p:cNvPr>
          <p:cNvSpPr>
            <a:spLocks noGrp="1"/>
          </p:cNvSpPr>
          <p:nvPr>
            <p:ph type="sldNum" sz="quarter" idx="4"/>
          </p:nvPr>
        </p:nvSpPr>
        <p:spPr>
          <a:xfrm>
            <a:off x="8595078" y="6386632"/>
            <a:ext cx="2743200" cy="331932"/>
          </a:xfrm>
          <a:prstGeom prst="rect">
            <a:avLst/>
          </a:prstGeom>
        </p:spPr>
        <p:txBody>
          <a:bodyPr vert="horz" lIns="91440" tIns="45720" rIns="91440" bIns="45720" rtlCol="0" anchor="ct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a:t>
            </a:fld>
            <a:endParaRPr lang="en-US"/>
          </a:p>
        </p:txBody>
      </p:sp>
    </p:spTree>
    <p:extLst>
      <p:ext uri="{BB962C8B-B14F-4D97-AF65-F5344CB8AC3E}">
        <p14:creationId xmlns:p14="http://schemas.microsoft.com/office/powerpoint/2010/main" val="5527953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01234-A0AA-5598-26B5-033CE6FE23E5}"/>
              </a:ext>
            </a:extLst>
          </p:cNvPr>
          <p:cNvSpPr txBox="1">
            <a:spLocks/>
          </p:cNvSpPr>
          <p:nvPr/>
        </p:nvSpPr>
        <p:spPr>
          <a:xfrm>
            <a:off x="606705" y="793843"/>
            <a:ext cx="10515600" cy="1022351"/>
          </a:xfrm>
          <a:prstGeom prst="rect">
            <a:avLst/>
          </a:prstGeom>
        </p:spPr>
        <p:txBody>
          <a:bodyPr lIns="91440" tIns="45720" rIns="91440" bIns="45720" anchor="t"/>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r>
              <a:rPr lang="en-US" dirty="0">
                <a:solidFill>
                  <a:schemeClr val="tx1"/>
                </a:solidFill>
                <a:latin typeface="Roboto Medium"/>
                <a:cs typeface="Roboto"/>
              </a:rPr>
              <a:t>Other</a:t>
            </a:r>
            <a:r>
              <a:rPr lang="en-US" dirty="0">
                <a:solidFill>
                  <a:schemeClr val="tx1"/>
                </a:solidFill>
                <a:latin typeface="Roboto Medium"/>
                <a:cs typeface="Roboto Medium"/>
              </a:rPr>
              <a:t> Modules In This Series:</a:t>
            </a:r>
          </a:p>
        </p:txBody>
      </p:sp>
      <p:pic>
        <p:nvPicPr>
          <p:cNvPr id="3" name="Picture 2">
            <a:extLst>
              <a:ext uri="{FF2B5EF4-FFF2-40B4-BE49-F238E27FC236}">
                <a16:creationId xmlns:a16="http://schemas.microsoft.com/office/drawing/2014/main" id="{5DF3825E-B951-729D-1675-8A890DAAC766}"/>
              </a:ext>
            </a:extLst>
          </p:cNvPr>
          <p:cNvPicPr>
            <a:picLocks noChangeAspect="1"/>
          </p:cNvPicPr>
          <p:nvPr/>
        </p:nvPicPr>
        <p:blipFill>
          <a:blip r:embed="rId3"/>
          <a:stretch>
            <a:fillRect/>
          </a:stretch>
        </p:blipFill>
        <p:spPr>
          <a:xfrm>
            <a:off x="605117" y="1638489"/>
            <a:ext cx="3939240" cy="45719"/>
          </a:xfrm>
          <a:prstGeom prst="rect">
            <a:avLst/>
          </a:prstGeom>
        </p:spPr>
      </p:pic>
      <p:sp>
        <p:nvSpPr>
          <p:cNvPr id="4" name="Content Placeholder 3">
            <a:extLst>
              <a:ext uri="{FF2B5EF4-FFF2-40B4-BE49-F238E27FC236}">
                <a16:creationId xmlns:a16="http://schemas.microsoft.com/office/drawing/2014/main" id="{C9914E55-E875-9B78-1E43-35D121FD9751}"/>
              </a:ext>
            </a:extLst>
          </p:cNvPr>
          <p:cNvSpPr txBox="1">
            <a:spLocks/>
          </p:cNvSpPr>
          <p:nvPr/>
        </p:nvSpPr>
        <p:spPr>
          <a:xfrm>
            <a:off x="5839258" y="1166648"/>
            <a:ext cx="5157787" cy="36845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chemeClr val="tx1"/>
                </a:solidFill>
              </a:rPr>
              <a:t>5S</a:t>
            </a:r>
          </a:p>
          <a:p>
            <a:pPr marL="0" indent="0" algn="r">
              <a:buNone/>
            </a:pPr>
            <a:r>
              <a:rPr lang="en-US" sz="1400" dirty="0">
                <a:solidFill>
                  <a:schemeClr val="tx1"/>
                </a:solidFill>
              </a:rPr>
              <a:t>Standard Work</a:t>
            </a:r>
          </a:p>
          <a:p>
            <a:pPr marL="0" indent="0" algn="r">
              <a:buNone/>
            </a:pPr>
            <a:r>
              <a:rPr lang="en-US" sz="1400" dirty="0">
                <a:solidFill>
                  <a:schemeClr val="tx1"/>
                </a:solidFill>
              </a:rPr>
              <a:t>Total Productive Maintenance (TPM)</a:t>
            </a:r>
          </a:p>
          <a:p>
            <a:pPr marL="0" indent="0" algn="r">
              <a:buNone/>
            </a:pPr>
            <a:r>
              <a:rPr lang="en-US" sz="1400" dirty="0">
                <a:solidFill>
                  <a:schemeClr val="tx1"/>
                </a:solidFill>
              </a:rPr>
              <a:t>Administrative Lean</a:t>
            </a:r>
          </a:p>
          <a:p>
            <a:pPr marL="0" indent="0" algn="r">
              <a:buNone/>
            </a:pPr>
            <a:r>
              <a:rPr lang="en-US" sz="1400" dirty="0">
                <a:solidFill>
                  <a:schemeClr val="tx1"/>
                </a:solidFill>
              </a:rPr>
              <a:t>Cell Design/ Production Preparation Process (3P)</a:t>
            </a:r>
          </a:p>
          <a:p>
            <a:pPr marL="0" indent="0" algn="r">
              <a:buNone/>
            </a:pPr>
            <a:r>
              <a:rPr lang="en-US" sz="1400" dirty="0">
                <a:solidFill>
                  <a:schemeClr val="tx1"/>
                </a:solidFill>
              </a:rPr>
              <a:t>Kaizen</a:t>
            </a:r>
          </a:p>
          <a:p>
            <a:pPr marL="0" indent="0" algn="r">
              <a:buNone/>
            </a:pPr>
            <a:r>
              <a:rPr lang="en-US" sz="1400" dirty="0">
                <a:solidFill>
                  <a:schemeClr val="tx1"/>
                </a:solidFill>
              </a:rPr>
              <a:t>Kanban</a:t>
            </a:r>
          </a:p>
          <a:p>
            <a:pPr marL="0" indent="0" algn="r">
              <a:buNone/>
            </a:pPr>
            <a:r>
              <a:rPr lang="en-US" sz="1400" dirty="0">
                <a:solidFill>
                  <a:schemeClr val="tx1"/>
                </a:solidFill>
              </a:rPr>
              <a:t>Problem Solving</a:t>
            </a:r>
          </a:p>
          <a:p>
            <a:pPr marL="0" indent="0" algn="r">
              <a:buNone/>
            </a:pPr>
            <a:r>
              <a:rPr lang="en-US" sz="1400" dirty="0" err="1">
                <a:solidFill>
                  <a:schemeClr val="tx1"/>
                </a:solidFill>
              </a:rPr>
              <a:t>Poka</a:t>
            </a:r>
            <a:r>
              <a:rPr lang="en-US" sz="1400" dirty="0">
                <a:solidFill>
                  <a:schemeClr val="tx1"/>
                </a:solidFill>
              </a:rPr>
              <a:t> Yoke Quality Systems</a:t>
            </a:r>
          </a:p>
          <a:p>
            <a:pPr marL="0" indent="0" algn="r">
              <a:buNone/>
            </a:pPr>
            <a:r>
              <a:rPr lang="en-US" sz="1400" dirty="0">
                <a:solidFill>
                  <a:schemeClr val="tx1"/>
                </a:solidFill>
              </a:rPr>
              <a:t>Transaction Process Improvement (TPI)</a:t>
            </a:r>
          </a:p>
          <a:p>
            <a:pPr marL="0" indent="0" algn="r">
              <a:buNone/>
            </a:pPr>
            <a:r>
              <a:rPr lang="en-US" sz="1400" dirty="0">
                <a:solidFill>
                  <a:schemeClr val="tx1"/>
                </a:solidFill>
              </a:rPr>
              <a:t>Cause &amp; Effect Diagram with the Additions of Cards (CEDAC)</a:t>
            </a:r>
          </a:p>
          <a:p>
            <a:pPr marL="0" indent="0" algn="r">
              <a:buNone/>
            </a:pPr>
            <a:r>
              <a:rPr lang="en-US" sz="1400" dirty="0">
                <a:solidFill>
                  <a:schemeClr val="tx1"/>
                </a:solidFill>
              </a:rPr>
              <a:t>Single Minute Exchange of Dies (SMED)</a:t>
            </a:r>
          </a:p>
          <a:p>
            <a:pPr marL="0" indent="0" algn="r">
              <a:buNone/>
            </a:pPr>
            <a:r>
              <a:rPr lang="en-US" sz="1400" dirty="0">
                <a:solidFill>
                  <a:schemeClr val="tx1"/>
                </a:solidFill>
              </a:rPr>
              <a:t>Value Stream Mapping (</a:t>
            </a:r>
            <a:r>
              <a:rPr lang="en-US" sz="1400" dirty="0" err="1">
                <a:solidFill>
                  <a:schemeClr val="tx1"/>
                </a:solidFill>
              </a:rPr>
              <a:t>VSMi</a:t>
            </a:r>
            <a:r>
              <a:rPr lang="en-US" sz="1400" dirty="0">
                <a:solidFill>
                  <a:schemeClr val="tx1"/>
                </a:solidFill>
              </a:rPr>
              <a:t>®)</a:t>
            </a:r>
          </a:p>
          <a:p>
            <a:pPr marL="0" indent="0" algn="r">
              <a:buNone/>
            </a:pPr>
            <a:r>
              <a:rPr lang="en-US" sz="1400" dirty="0">
                <a:solidFill>
                  <a:schemeClr val="tx1"/>
                </a:solidFill>
              </a:rPr>
              <a:t>Visual Management</a:t>
            </a:r>
          </a:p>
          <a:p>
            <a:pPr marL="0" indent="0" algn="r">
              <a:buNone/>
            </a:pPr>
            <a:r>
              <a:rPr lang="en-US" sz="1400" dirty="0">
                <a:solidFill>
                  <a:schemeClr val="tx1"/>
                </a:solidFill>
              </a:rPr>
              <a:t>Managing Daily Process Excellence</a:t>
            </a:r>
          </a:p>
        </p:txBody>
      </p:sp>
      <p:pic>
        <p:nvPicPr>
          <p:cNvPr id="11" name="Picture 10">
            <a:extLst>
              <a:ext uri="{FF2B5EF4-FFF2-40B4-BE49-F238E27FC236}">
                <a16:creationId xmlns:a16="http://schemas.microsoft.com/office/drawing/2014/main" id="{11F73560-3A07-DDBC-A93D-9C2969C3C8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20142" y="2039270"/>
            <a:ext cx="2945426" cy="1754165"/>
          </a:xfrm>
          <a:prstGeom prst="rect">
            <a:avLst/>
          </a:prstGeom>
        </p:spPr>
      </p:pic>
      <p:sp>
        <p:nvSpPr>
          <p:cNvPr id="13" name="Steve Jones">
            <a:extLst>
              <a:ext uri="{FF2B5EF4-FFF2-40B4-BE49-F238E27FC236}">
                <a16:creationId xmlns:a16="http://schemas.microsoft.com/office/drawing/2014/main" id="{32D7D26D-2286-A78A-74DF-8555FD64C346}"/>
              </a:ext>
            </a:extLst>
          </p:cNvPr>
          <p:cNvSpPr/>
          <p:nvPr/>
        </p:nvSpPr>
        <p:spPr>
          <a:xfrm>
            <a:off x="1069695" y="4201690"/>
            <a:ext cx="3475310" cy="19902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14" name="Head of Management Dept.">
            <a:extLst>
              <a:ext uri="{FF2B5EF4-FFF2-40B4-BE49-F238E27FC236}">
                <a16:creationId xmlns:a16="http://schemas.microsoft.com/office/drawing/2014/main" id="{13AAF857-F867-C38A-47E8-4FCE37EF32C8}"/>
              </a:ext>
            </a:extLst>
          </p:cNvPr>
          <p:cNvSpPr/>
          <p:nvPr/>
        </p:nvSpPr>
        <p:spPr>
          <a:xfrm>
            <a:off x="1367375" y="4590893"/>
            <a:ext cx="2879948" cy="838178"/>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lvl1pPr defTabSz="1155700">
              <a:defRPr sz="3000">
                <a:solidFill>
                  <a:srgbClr val="5D616E"/>
                </a:solidFill>
              </a:defRPr>
            </a:lvl1pPr>
          </a:lstStyle>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 DeLuzio, President and CEO</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+1.860.234.0915</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15" name="TextBox 14">
            <a:extLst>
              <a:ext uri="{FF2B5EF4-FFF2-40B4-BE49-F238E27FC236}">
                <a16:creationId xmlns:a16="http://schemas.microsoft.com/office/drawing/2014/main" id="{1729F7AC-495A-4FB8-042F-1DBECD3DB7C9}"/>
              </a:ext>
            </a:extLst>
          </p:cNvPr>
          <p:cNvSpPr txBox="1"/>
          <p:nvPr/>
        </p:nvSpPr>
        <p:spPr>
          <a:xfrm>
            <a:off x="6291" y="5619244"/>
            <a:ext cx="5602115" cy="26648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latin typeface="Roboto" panose="02000000000000000000" pitchFamily="2" charset="0"/>
              <a:ea typeface="Roboto" panose="02000000000000000000" pitchFamily="2" charset="0"/>
              <a:cs typeface="Roboto" panose="02000000000000000000" pitchFamily="2" charset="0"/>
            </a:endParaRPr>
          </a:p>
        </p:txBody>
      </p:sp>
      <p:sp>
        <p:nvSpPr>
          <p:cNvPr id="18" name="Slide Number Placeholder 17">
            <a:extLst>
              <a:ext uri="{FF2B5EF4-FFF2-40B4-BE49-F238E27FC236}">
                <a16:creationId xmlns:a16="http://schemas.microsoft.com/office/drawing/2014/main" id="{F71C8E8F-D781-AA13-E1D1-E5284A242753}"/>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a:t>
            </a:fld>
            <a:endParaRPr lang="en-US" dirty="0"/>
          </a:p>
        </p:txBody>
      </p:sp>
    </p:spTree>
    <p:extLst>
      <p:ext uri="{BB962C8B-B14F-4D97-AF65-F5344CB8AC3E}">
        <p14:creationId xmlns:p14="http://schemas.microsoft.com/office/powerpoint/2010/main" val="81102938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C9914E55-E875-9B78-1E43-35D121FD9751}"/>
              </a:ext>
            </a:extLst>
          </p:cNvPr>
          <p:cNvSpPr txBox="1">
            <a:spLocks/>
          </p:cNvSpPr>
          <p:nvPr/>
        </p:nvSpPr>
        <p:spPr>
          <a:xfrm>
            <a:off x="3517106" y="2278809"/>
            <a:ext cx="5157787" cy="2300381"/>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000" dirty="0">
                <a:solidFill>
                  <a:schemeClr val="tx1"/>
                </a:solidFill>
              </a:rPr>
              <a:t>This document contains confidential</a:t>
            </a:r>
            <a:br>
              <a:rPr lang="en-US" sz="2000" dirty="0">
                <a:solidFill>
                  <a:schemeClr val="tx1"/>
                </a:solidFill>
              </a:rPr>
            </a:br>
            <a:r>
              <a:rPr lang="en-US" sz="2000" dirty="0">
                <a:solidFill>
                  <a:schemeClr val="tx1"/>
                </a:solidFill>
              </a:rPr>
              <a:t>and proprietary information owned</a:t>
            </a:r>
            <a:br>
              <a:rPr lang="en-US" sz="2000" dirty="0">
                <a:solidFill>
                  <a:schemeClr val="tx1"/>
                </a:solidFill>
              </a:rPr>
            </a:br>
            <a:r>
              <a:rPr lang="en-US" sz="2000" dirty="0">
                <a:solidFill>
                  <a:schemeClr val="tx1"/>
                </a:solidFill>
              </a:rPr>
              <a:t> by Lean Horizons Consulting, LLC.</a:t>
            </a:r>
            <a:br>
              <a:rPr lang="en-US" sz="2000" dirty="0">
                <a:solidFill>
                  <a:schemeClr val="tx1"/>
                </a:solidFill>
              </a:rPr>
            </a:br>
            <a:br>
              <a:rPr lang="en-US" sz="2000" dirty="0">
                <a:solidFill>
                  <a:schemeClr val="tx1"/>
                </a:solidFill>
              </a:rPr>
            </a:br>
            <a:r>
              <a:rPr lang="en-US" sz="2000" dirty="0">
                <a:solidFill>
                  <a:schemeClr val="tx1"/>
                </a:solidFill>
              </a:rPr>
              <a:t>Any disclosure, use, copying or</a:t>
            </a:r>
            <a:br>
              <a:rPr lang="en-US" sz="2000" dirty="0">
                <a:solidFill>
                  <a:schemeClr val="tx1"/>
                </a:solidFill>
              </a:rPr>
            </a:br>
            <a:r>
              <a:rPr lang="en-US" sz="2000" dirty="0">
                <a:solidFill>
                  <a:schemeClr val="tx1"/>
                </a:solidFill>
              </a:rPr>
              <a:t>distribution of this information without the express written consent of Lean Horizons Consulting is strictly prohibited.</a:t>
            </a:r>
          </a:p>
        </p:txBody>
      </p:sp>
      <p:sp>
        <p:nvSpPr>
          <p:cNvPr id="12" name="Slide Number Placeholder 11">
            <a:extLst>
              <a:ext uri="{FF2B5EF4-FFF2-40B4-BE49-F238E27FC236}">
                <a16:creationId xmlns:a16="http://schemas.microsoft.com/office/drawing/2014/main" id="{C8A6FCFA-DB7B-71C3-70EC-F677EBA239A7}"/>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a:t>
            </a:fld>
            <a:endParaRPr lang="en-US"/>
          </a:p>
        </p:txBody>
      </p:sp>
    </p:spTree>
    <p:extLst>
      <p:ext uri="{BB962C8B-B14F-4D97-AF65-F5344CB8AC3E}">
        <p14:creationId xmlns:p14="http://schemas.microsoft.com/office/powerpoint/2010/main" val="378529601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761B1F-82BB-20AA-556E-27FE22CCD7A0}"/>
              </a:ext>
            </a:extLst>
          </p:cNvPr>
          <p:cNvSpPr>
            <a:spLocks noGrp="1"/>
          </p:cNvSpPr>
          <p:nvPr>
            <p:ph type="title"/>
          </p:nvPr>
        </p:nvSpPr>
        <p:spPr/>
        <p:txBody>
          <a:bodyPr>
            <a:normAutofit/>
          </a:bodyPr>
          <a:lstStyle/>
          <a:p>
            <a:r>
              <a:rPr lang="en-US" sz="4000" dirty="0">
                <a:latin typeface="Roboto Medium"/>
                <a:ea typeface="Roboto Medium"/>
                <a:cs typeface="Roboto Medium"/>
              </a:rPr>
              <a:t>Ground Rules for Event</a:t>
            </a:r>
          </a:p>
        </p:txBody>
      </p:sp>
      <p:sp>
        <p:nvSpPr>
          <p:cNvPr id="3" name="Content Placeholder 2">
            <a:extLst>
              <a:ext uri="{FF2B5EF4-FFF2-40B4-BE49-F238E27FC236}">
                <a16:creationId xmlns:a16="http://schemas.microsoft.com/office/drawing/2014/main" id="{D1CAA202-895A-70BD-7319-C214C2BDD1B2}"/>
              </a:ext>
            </a:extLst>
          </p:cNvPr>
          <p:cNvSpPr>
            <a:spLocks noGrp="1"/>
          </p:cNvSpPr>
          <p:nvPr>
            <p:ph idx="1"/>
          </p:nvPr>
        </p:nvSpPr>
        <p:spPr/>
        <p:txBody>
          <a:bodyPr/>
          <a:lstStyle/>
          <a:p>
            <a:r>
              <a:rPr lang="en-US" dirty="0"/>
              <a:t>Safety first (use personal protective equipment)</a:t>
            </a:r>
          </a:p>
          <a:p>
            <a:r>
              <a:rPr lang="en-US" dirty="0"/>
              <a:t>Active participation by all</a:t>
            </a:r>
          </a:p>
          <a:p>
            <a:r>
              <a:rPr lang="en-US" dirty="0"/>
              <a:t>Start and end on time</a:t>
            </a:r>
          </a:p>
          <a:p>
            <a:r>
              <a:rPr lang="en-US" dirty="0"/>
              <a:t>All electronic gadgets (phones, pagers, </a:t>
            </a:r>
            <a:r>
              <a:rPr lang="en-US" dirty="0" err="1"/>
              <a:t>etc</a:t>
            </a:r>
            <a:r>
              <a:rPr lang="en-US" dirty="0"/>
              <a:t>) turned to “off” or “silent”</a:t>
            </a:r>
          </a:p>
          <a:p>
            <a:r>
              <a:rPr lang="en-US" dirty="0"/>
              <a:t>Computers to be used only when instructed</a:t>
            </a:r>
          </a:p>
          <a:p>
            <a:r>
              <a:rPr lang="en-US" dirty="0"/>
              <a:t>Keep an open mind to change</a:t>
            </a:r>
          </a:p>
          <a:p>
            <a:r>
              <a:rPr lang="en-US" dirty="0"/>
              <a:t>Don’t let “perfect” get in the way of “better”</a:t>
            </a:r>
          </a:p>
        </p:txBody>
      </p:sp>
      <p:sp>
        <p:nvSpPr>
          <p:cNvPr id="8" name="Slide Number Placeholder 7">
            <a:extLst>
              <a:ext uri="{FF2B5EF4-FFF2-40B4-BE49-F238E27FC236}">
                <a16:creationId xmlns:a16="http://schemas.microsoft.com/office/drawing/2014/main" id="{42705716-A551-625A-37E2-96047D07B497}"/>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4</a:t>
            </a:fld>
            <a:endParaRPr lang="en-US"/>
          </a:p>
        </p:txBody>
      </p:sp>
    </p:spTree>
    <p:extLst>
      <p:ext uri="{BB962C8B-B14F-4D97-AF65-F5344CB8AC3E}">
        <p14:creationId xmlns:p14="http://schemas.microsoft.com/office/powerpoint/2010/main" val="272618864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9AF1BE-FC74-D20F-6189-931578F7FF58}"/>
              </a:ext>
            </a:extLst>
          </p:cNvPr>
          <p:cNvSpPr>
            <a:spLocks noGrp="1"/>
          </p:cNvSpPr>
          <p:nvPr>
            <p:ph type="title"/>
          </p:nvPr>
        </p:nvSpPr>
        <p:spPr/>
        <p:txBody>
          <a:bodyPr/>
          <a:lstStyle/>
          <a:p>
            <a:r>
              <a:rPr lang="en-US" dirty="0"/>
              <a:t>Value Stream Mapping Defined</a:t>
            </a:r>
          </a:p>
        </p:txBody>
      </p:sp>
      <p:sp>
        <p:nvSpPr>
          <p:cNvPr id="3" name="Text Placeholder 2">
            <a:extLst>
              <a:ext uri="{FF2B5EF4-FFF2-40B4-BE49-F238E27FC236}">
                <a16:creationId xmlns:a16="http://schemas.microsoft.com/office/drawing/2014/main" id="{BF2D1452-04BC-1846-9D2B-D064B736ED43}"/>
              </a:ext>
            </a:extLst>
          </p:cNvPr>
          <p:cNvSpPr>
            <a:spLocks noGrp="1"/>
          </p:cNvSpPr>
          <p:nvPr>
            <p:ph type="body" idx="1"/>
          </p:nvPr>
        </p:nvSpPr>
        <p:spPr>
          <a:xfrm>
            <a:off x="822678" y="3428524"/>
            <a:ext cx="5157787" cy="823912"/>
          </a:xfrm>
        </p:spPr>
        <p:txBody>
          <a:bodyPr/>
          <a:lstStyle/>
          <a:p>
            <a:r>
              <a:rPr lang="en-US" dirty="0"/>
              <a:t>Key Characteristics</a:t>
            </a:r>
          </a:p>
        </p:txBody>
      </p:sp>
      <p:sp>
        <p:nvSpPr>
          <p:cNvPr id="4" name="Content Placeholder 3">
            <a:extLst>
              <a:ext uri="{FF2B5EF4-FFF2-40B4-BE49-F238E27FC236}">
                <a16:creationId xmlns:a16="http://schemas.microsoft.com/office/drawing/2014/main" id="{2E3BC3A4-C860-76B2-2DD3-B03AB882C853}"/>
              </a:ext>
            </a:extLst>
          </p:cNvPr>
          <p:cNvSpPr>
            <a:spLocks noGrp="1"/>
          </p:cNvSpPr>
          <p:nvPr>
            <p:ph sz="half" idx="2"/>
          </p:nvPr>
        </p:nvSpPr>
        <p:spPr>
          <a:xfrm>
            <a:off x="839788" y="4423409"/>
            <a:ext cx="5157787" cy="2177733"/>
          </a:xfrm>
        </p:spPr>
        <p:txBody>
          <a:bodyPr>
            <a:normAutofit fontScale="70000" lnSpcReduction="20000"/>
          </a:bodyPr>
          <a:lstStyle/>
          <a:p>
            <a:r>
              <a:rPr lang="en-US" dirty="0"/>
              <a:t>VSM is a graphical representation that uses a common mapping language</a:t>
            </a:r>
          </a:p>
          <a:p>
            <a:r>
              <a:rPr lang="en-US" dirty="0"/>
              <a:t>VSM provides the basis and direction for identifying improvement opportunities</a:t>
            </a:r>
          </a:p>
          <a:p>
            <a:r>
              <a:rPr lang="en-US" dirty="0"/>
              <a:t>Conducting VSM does not in and of itself yield any improvements… the power is in the plan! </a:t>
            </a:r>
          </a:p>
          <a:p>
            <a:endParaRPr lang="en-US" dirty="0"/>
          </a:p>
        </p:txBody>
      </p:sp>
      <p:sp>
        <p:nvSpPr>
          <p:cNvPr id="5" name="Text Placeholder 4">
            <a:extLst>
              <a:ext uri="{FF2B5EF4-FFF2-40B4-BE49-F238E27FC236}">
                <a16:creationId xmlns:a16="http://schemas.microsoft.com/office/drawing/2014/main" id="{D97C3043-C5C3-113A-8520-6B843B812614}"/>
              </a:ext>
            </a:extLst>
          </p:cNvPr>
          <p:cNvSpPr>
            <a:spLocks noGrp="1"/>
          </p:cNvSpPr>
          <p:nvPr>
            <p:ph type="body" sz="quarter" idx="3"/>
          </p:nvPr>
        </p:nvSpPr>
        <p:spPr>
          <a:xfrm>
            <a:off x="6155090" y="3428524"/>
            <a:ext cx="5183188" cy="823912"/>
          </a:xfrm>
        </p:spPr>
        <p:txBody>
          <a:bodyPr/>
          <a:lstStyle/>
          <a:p>
            <a:r>
              <a:rPr lang="en-US" dirty="0"/>
              <a:t>Components of VSM</a:t>
            </a:r>
          </a:p>
        </p:txBody>
      </p:sp>
      <p:sp>
        <p:nvSpPr>
          <p:cNvPr id="6" name="Content Placeholder 5">
            <a:extLst>
              <a:ext uri="{FF2B5EF4-FFF2-40B4-BE49-F238E27FC236}">
                <a16:creationId xmlns:a16="http://schemas.microsoft.com/office/drawing/2014/main" id="{705B0951-5D5C-15E9-2447-60234BD31A60}"/>
              </a:ext>
            </a:extLst>
          </p:cNvPr>
          <p:cNvSpPr>
            <a:spLocks noGrp="1"/>
          </p:cNvSpPr>
          <p:nvPr>
            <p:ph sz="quarter" idx="4"/>
          </p:nvPr>
        </p:nvSpPr>
        <p:spPr>
          <a:xfrm>
            <a:off x="6172200" y="4423409"/>
            <a:ext cx="5183188" cy="2177733"/>
          </a:xfrm>
        </p:spPr>
        <p:txBody>
          <a:bodyPr>
            <a:normAutofit fontScale="70000" lnSpcReduction="20000"/>
          </a:bodyPr>
          <a:lstStyle/>
          <a:p>
            <a:r>
              <a:rPr lang="en-US" dirty="0"/>
              <a:t>Current State Value Stream Map</a:t>
            </a:r>
          </a:p>
          <a:p>
            <a:r>
              <a:rPr lang="en-US" dirty="0"/>
              <a:t>Mark-Up of Current State </a:t>
            </a:r>
            <a:br>
              <a:rPr lang="en-US" dirty="0"/>
            </a:br>
            <a:r>
              <a:rPr lang="en-US" dirty="0"/>
              <a:t>Value Stream Map</a:t>
            </a:r>
          </a:p>
          <a:p>
            <a:r>
              <a:rPr lang="en-US" dirty="0"/>
              <a:t>Future State Value Stream Map</a:t>
            </a:r>
          </a:p>
          <a:p>
            <a:r>
              <a:rPr lang="en-US" dirty="0"/>
              <a:t>Value Stream Plan</a:t>
            </a:r>
          </a:p>
          <a:p>
            <a:endParaRPr lang="en-US" dirty="0"/>
          </a:p>
        </p:txBody>
      </p:sp>
      <p:sp>
        <p:nvSpPr>
          <p:cNvPr id="8" name="Slide Number Placeholder 7">
            <a:extLst>
              <a:ext uri="{FF2B5EF4-FFF2-40B4-BE49-F238E27FC236}">
                <a16:creationId xmlns:a16="http://schemas.microsoft.com/office/drawing/2014/main" id="{408954DA-A1B0-C7B8-680E-6D1AB2D2B67A}"/>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a:t>
            </a:fld>
            <a:endParaRPr lang="en-US"/>
          </a:p>
        </p:txBody>
      </p:sp>
      <p:grpSp>
        <p:nvGrpSpPr>
          <p:cNvPr id="10" name="Group 9">
            <a:extLst>
              <a:ext uri="{FF2B5EF4-FFF2-40B4-BE49-F238E27FC236}">
                <a16:creationId xmlns:a16="http://schemas.microsoft.com/office/drawing/2014/main" id="{B47AFE3C-B125-AEEF-3EA8-2E459BAA768D}"/>
              </a:ext>
            </a:extLst>
          </p:cNvPr>
          <p:cNvGrpSpPr/>
          <p:nvPr/>
        </p:nvGrpSpPr>
        <p:grpSpPr>
          <a:xfrm>
            <a:off x="2095594" y="1929052"/>
            <a:ext cx="8212138" cy="1614487"/>
            <a:chOff x="1439545" y="1711882"/>
            <a:chExt cx="8212138" cy="1614487"/>
          </a:xfrm>
        </p:grpSpPr>
        <p:sp>
          <p:nvSpPr>
            <p:cNvPr id="7" name="Rectangle 3">
              <a:extLst>
                <a:ext uri="{FF2B5EF4-FFF2-40B4-BE49-F238E27FC236}">
                  <a16:creationId xmlns:a16="http://schemas.microsoft.com/office/drawing/2014/main" id="{3EDF77A4-B056-33BF-1E15-CEF4AB2A5880}"/>
                </a:ext>
              </a:extLst>
            </p:cNvPr>
            <p:cNvSpPr>
              <a:spLocks noChangeArrowheads="1"/>
            </p:cNvSpPr>
            <p:nvPr/>
          </p:nvSpPr>
          <p:spPr bwMode="auto">
            <a:xfrm>
              <a:off x="1439545" y="1891269"/>
              <a:ext cx="8212138" cy="1435100"/>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15000"/>
                </a:lnSpc>
                <a:spcBef>
                  <a:spcPct val="50000"/>
                </a:spcBef>
                <a:spcAft>
                  <a:spcPct val="50000"/>
                </a:spcAft>
                <a:buClr>
                  <a:srgbClr val="006699"/>
                </a:buClr>
                <a:buSzPct val="40000"/>
                <a:buFont typeface="Wingdings" panose="05000000000000000000" pitchFamily="2" charset="2"/>
                <a:buNone/>
              </a:pPr>
              <a:r>
                <a:rPr lang="en-US" altLang="en-US" sz="2000" b="0" dirty="0">
                  <a:solidFill>
                    <a:schemeClr val="tx1"/>
                  </a:solidFill>
                  <a:latin typeface="Roboto" panose="02000000000000000000" pitchFamily="2" charset="0"/>
                  <a:ea typeface="Roboto" panose="02000000000000000000" pitchFamily="2" charset="0"/>
                </a:rPr>
                <a:t>VSM is a snapshot of all actions both value added, and non-value added </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required to bring a product or service through the main material </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and information flows</a:t>
              </a:r>
            </a:p>
          </p:txBody>
        </p:sp>
        <p:sp>
          <p:nvSpPr>
            <p:cNvPr id="9" name="Text Box 4">
              <a:extLst>
                <a:ext uri="{FF2B5EF4-FFF2-40B4-BE49-F238E27FC236}">
                  <a16:creationId xmlns:a16="http://schemas.microsoft.com/office/drawing/2014/main" id="{E535AC7D-6648-9018-8FA0-6636C57ABA71}"/>
                </a:ext>
              </a:extLst>
            </p:cNvPr>
            <p:cNvSpPr txBox="1">
              <a:spLocks noChangeArrowheads="1"/>
            </p:cNvSpPr>
            <p:nvPr/>
          </p:nvSpPr>
          <p:spPr bwMode="auto">
            <a:xfrm>
              <a:off x="1548259" y="1711882"/>
              <a:ext cx="2632452" cy="39087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400" dirty="0">
                  <a:solidFill>
                    <a:schemeClr val="tx1"/>
                  </a:solidFill>
                  <a:latin typeface="Roboto" panose="02000000000000000000" pitchFamily="2" charset="0"/>
                  <a:ea typeface="Roboto" panose="02000000000000000000" pitchFamily="2" charset="0"/>
                </a:rPr>
                <a:t>Definition of VSM</a:t>
              </a:r>
            </a:p>
          </p:txBody>
        </p:sp>
      </p:grpSp>
    </p:spTree>
    <p:extLst>
      <p:ext uri="{BB962C8B-B14F-4D97-AF65-F5344CB8AC3E}">
        <p14:creationId xmlns:p14="http://schemas.microsoft.com/office/powerpoint/2010/main" val="33887897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 and Process Map Distinction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a:t>
            </a:fld>
            <a:endParaRPr lang="en-US"/>
          </a:p>
        </p:txBody>
      </p:sp>
      <p:grpSp>
        <p:nvGrpSpPr>
          <p:cNvPr id="72" name="Group 71">
            <a:extLst>
              <a:ext uri="{FF2B5EF4-FFF2-40B4-BE49-F238E27FC236}">
                <a16:creationId xmlns:a16="http://schemas.microsoft.com/office/drawing/2014/main" id="{EF01F14C-FD01-E435-9637-9ADD356FA8BB}"/>
              </a:ext>
            </a:extLst>
          </p:cNvPr>
          <p:cNvGrpSpPr/>
          <p:nvPr/>
        </p:nvGrpSpPr>
        <p:grpSpPr>
          <a:xfrm>
            <a:off x="931545" y="1761229"/>
            <a:ext cx="10330876" cy="4410971"/>
            <a:chOff x="381000" y="1412875"/>
            <a:chExt cx="8343901" cy="4759325"/>
          </a:xfrm>
        </p:grpSpPr>
        <p:sp>
          <p:nvSpPr>
            <p:cNvPr id="3" name="AutoShape 2">
              <a:extLst>
                <a:ext uri="{FF2B5EF4-FFF2-40B4-BE49-F238E27FC236}">
                  <a16:creationId xmlns:a16="http://schemas.microsoft.com/office/drawing/2014/main" id="{2C16AACA-F229-6258-66B9-5A8868FF9D02}"/>
                </a:ext>
              </a:extLst>
            </p:cNvPr>
            <p:cNvSpPr>
              <a:spLocks noChangeArrowheads="1"/>
            </p:cNvSpPr>
            <p:nvPr/>
          </p:nvSpPr>
          <p:spPr bwMode="auto">
            <a:xfrm>
              <a:off x="381000" y="4508500"/>
              <a:ext cx="4432300" cy="1663700"/>
            </a:xfrm>
            <a:prstGeom prst="upArrow">
              <a:avLst>
                <a:gd name="adj1" fmla="val 83704"/>
                <a:gd name="adj2" fmla="val 30343"/>
              </a:avLst>
            </a:prstGeom>
            <a:solidFill>
              <a:schemeClr val="accent3"/>
            </a:solidFill>
            <a:ln w="12700" cap="sq">
              <a:solidFill>
                <a:schemeClr val="tx1"/>
              </a:solidFill>
              <a:miter lim="800000"/>
              <a:headEnd/>
              <a:tailEnd/>
            </a:ln>
          </p:spPr>
          <p:txBody>
            <a:bodyPr wrap="non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a:latin typeface="Roboto" panose="02000000000000000000" pitchFamily="2" charset="0"/>
                  <a:ea typeface="Roboto" panose="02000000000000000000" pitchFamily="2" charset="0"/>
                </a:rPr>
                <a:t>High-level snapshot of end-to-end business</a:t>
              </a:r>
              <a:br>
                <a:rPr lang="en-US" altLang="en-US" sz="1200">
                  <a:latin typeface="Roboto" panose="02000000000000000000" pitchFamily="2" charset="0"/>
                  <a:ea typeface="Roboto" panose="02000000000000000000" pitchFamily="2" charset="0"/>
                </a:rPr>
              </a:br>
              <a:endParaRPr lang="en-US" altLang="en-US" sz="1200">
                <a:latin typeface="Roboto" panose="02000000000000000000" pitchFamily="2" charset="0"/>
                <a:ea typeface="Roboto" panose="02000000000000000000" pitchFamily="2" charset="0"/>
              </a:endParaRPr>
            </a:p>
            <a:p>
              <a:pPr algn="l">
                <a:buFontTx/>
                <a:buChar char="•"/>
              </a:pPr>
              <a:r>
                <a:rPr lang="en-US" altLang="en-US" sz="1200">
                  <a:latin typeface="Roboto" panose="02000000000000000000" pitchFamily="2" charset="0"/>
                  <a:ea typeface="Roboto" panose="02000000000000000000" pitchFamily="2" charset="0"/>
                </a:rPr>
                <a:t>Used to identify where opportunities for </a:t>
              </a:r>
              <a:br>
                <a:rPr lang="en-US" altLang="en-US" sz="1200">
                  <a:latin typeface="Roboto" panose="02000000000000000000" pitchFamily="2" charset="0"/>
                  <a:ea typeface="Roboto" panose="02000000000000000000" pitchFamily="2" charset="0"/>
                </a:rPr>
              </a:br>
              <a:r>
                <a:rPr lang="en-US" altLang="en-US" sz="1200">
                  <a:latin typeface="Roboto" panose="02000000000000000000" pitchFamily="2" charset="0"/>
                  <a:ea typeface="Roboto" panose="02000000000000000000" pitchFamily="2" charset="0"/>
                </a:rPr>
                <a:t>improvement exist</a:t>
              </a:r>
              <a:br>
                <a:rPr lang="en-US" altLang="en-US" sz="1200">
                  <a:latin typeface="Roboto" panose="02000000000000000000" pitchFamily="2" charset="0"/>
                  <a:ea typeface="Roboto" panose="02000000000000000000" pitchFamily="2" charset="0"/>
                </a:rPr>
              </a:br>
              <a:endParaRPr lang="en-US" altLang="en-US" sz="1200">
                <a:latin typeface="Roboto" panose="02000000000000000000" pitchFamily="2" charset="0"/>
                <a:ea typeface="Roboto" panose="02000000000000000000" pitchFamily="2" charset="0"/>
              </a:endParaRPr>
            </a:p>
            <a:p>
              <a:pPr algn="l">
                <a:buFontTx/>
                <a:buChar char="•"/>
              </a:pPr>
              <a:r>
                <a:rPr lang="en-US" altLang="en-US" sz="1200">
                  <a:latin typeface="Roboto" panose="02000000000000000000" pitchFamily="2" charset="0"/>
                  <a:ea typeface="Roboto" panose="02000000000000000000" pitchFamily="2" charset="0"/>
                </a:rPr>
                <a:t>Does not incorporate decision loops</a:t>
              </a:r>
            </a:p>
          </p:txBody>
        </p:sp>
        <p:grpSp>
          <p:nvGrpSpPr>
            <p:cNvPr id="5" name="Group 3">
              <a:extLst>
                <a:ext uri="{FF2B5EF4-FFF2-40B4-BE49-F238E27FC236}">
                  <a16:creationId xmlns:a16="http://schemas.microsoft.com/office/drawing/2014/main" id="{A2E66ABE-96B7-373B-446D-B02BD090CF39}"/>
                </a:ext>
              </a:extLst>
            </p:cNvPr>
            <p:cNvGrpSpPr>
              <a:grpSpLocks/>
            </p:cNvGrpSpPr>
            <p:nvPr/>
          </p:nvGrpSpPr>
          <p:grpSpPr bwMode="auto">
            <a:xfrm>
              <a:off x="485775" y="1535113"/>
              <a:ext cx="4264025" cy="2870200"/>
              <a:chOff x="68" y="876"/>
              <a:chExt cx="3244" cy="1908"/>
            </a:xfrm>
          </p:grpSpPr>
          <p:sp>
            <p:nvSpPr>
              <p:cNvPr id="6" name="Rectangle 4">
                <a:extLst>
                  <a:ext uri="{FF2B5EF4-FFF2-40B4-BE49-F238E27FC236}">
                    <a16:creationId xmlns:a16="http://schemas.microsoft.com/office/drawing/2014/main" id="{11A097DD-4FB5-7141-55BE-8335BA72BBE4}"/>
                  </a:ext>
                </a:extLst>
              </p:cNvPr>
              <p:cNvSpPr>
                <a:spLocks noChangeArrowheads="1"/>
              </p:cNvSpPr>
              <p:nvPr/>
            </p:nvSpPr>
            <p:spPr bwMode="auto">
              <a:xfrm>
                <a:off x="68" y="876"/>
                <a:ext cx="3244" cy="1908"/>
              </a:xfrm>
              <a:prstGeom prst="rect">
                <a:avLst/>
              </a:prstGeom>
              <a:solidFill>
                <a:schemeClr val="bg2"/>
              </a:solidFill>
              <a:ln w="12700" cap="sq">
                <a:solidFill>
                  <a:schemeClr val="tx1"/>
                </a:solidFill>
                <a:miter lim="800000"/>
                <a:headEnd type="none" w="sm" len="sm"/>
                <a:tailEnd type="none" w="sm" len="sm"/>
              </a:ln>
              <a:effectLst>
                <a:outerShdw blurRad="63500" dist="63500" dir="3187806" algn="ctr" rotWithShape="0">
                  <a:schemeClr val="tx1">
                    <a:alpha val="74998"/>
                  </a:schemeClr>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grpSp>
            <p:nvGrpSpPr>
              <p:cNvPr id="7" name="Group 5">
                <a:extLst>
                  <a:ext uri="{FF2B5EF4-FFF2-40B4-BE49-F238E27FC236}">
                    <a16:creationId xmlns:a16="http://schemas.microsoft.com/office/drawing/2014/main" id="{564C8143-5347-120C-26C7-A21E55470ACD}"/>
                  </a:ext>
                </a:extLst>
              </p:cNvPr>
              <p:cNvGrpSpPr>
                <a:grpSpLocks/>
              </p:cNvGrpSpPr>
              <p:nvPr/>
            </p:nvGrpSpPr>
            <p:grpSpPr bwMode="auto">
              <a:xfrm>
                <a:off x="144" y="1008"/>
                <a:ext cx="581" cy="367"/>
                <a:chOff x="933" y="2179"/>
                <a:chExt cx="658" cy="463"/>
              </a:xfrm>
            </p:grpSpPr>
            <p:sp>
              <p:nvSpPr>
                <p:cNvPr id="56" name="Rectangle 6">
                  <a:extLst>
                    <a:ext uri="{FF2B5EF4-FFF2-40B4-BE49-F238E27FC236}">
                      <a16:creationId xmlns:a16="http://schemas.microsoft.com/office/drawing/2014/main" id="{E5A79A5E-2E5D-BE36-72E6-02A37387087B}"/>
                    </a:ext>
                  </a:extLst>
                </p:cNvPr>
                <p:cNvSpPr>
                  <a:spLocks noChangeArrowheads="1"/>
                </p:cNvSpPr>
                <p:nvPr/>
              </p:nvSpPr>
              <p:spPr bwMode="auto">
                <a:xfrm>
                  <a:off x="1545" y="2179"/>
                  <a:ext cx="41" cy="250"/>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7">
                  <a:extLst>
                    <a:ext uri="{FF2B5EF4-FFF2-40B4-BE49-F238E27FC236}">
                      <a16:creationId xmlns:a16="http://schemas.microsoft.com/office/drawing/2014/main" id="{0504077E-971C-6BD7-A5BB-7CC95DE99450}"/>
                    </a:ext>
                  </a:extLst>
                </p:cNvPr>
                <p:cNvSpPr>
                  <a:spLocks noChangeArrowheads="1"/>
                </p:cNvSpPr>
                <p:nvPr/>
              </p:nvSpPr>
              <p:spPr bwMode="auto">
                <a:xfrm>
                  <a:off x="933" y="2435"/>
                  <a:ext cx="658" cy="208"/>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AutoShape 8">
                  <a:extLst>
                    <a:ext uri="{FF2B5EF4-FFF2-40B4-BE49-F238E27FC236}">
                      <a16:creationId xmlns:a16="http://schemas.microsoft.com/office/drawing/2014/main" id="{E2D5AB62-5223-6C91-F8D8-B4DC40544D3F}"/>
                    </a:ext>
                  </a:extLst>
                </p:cNvPr>
                <p:cNvSpPr>
                  <a:spLocks noChangeArrowheads="1"/>
                </p:cNvSpPr>
                <p:nvPr/>
              </p:nvSpPr>
              <p:spPr bwMode="auto">
                <a:xfrm>
                  <a:off x="1342"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9" name="AutoShape 9">
                  <a:extLst>
                    <a:ext uri="{FF2B5EF4-FFF2-40B4-BE49-F238E27FC236}">
                      <a16:creationId xmlns:a16="http://schemas.microsoft.com/office/drawing/2014/main" id="{6535A95A-890A-0082-A7C5-A3C62D122F65}"/>
                    </a:ext>
                  </a:extLst>
                </p:cNvPr>
                <p:cNvSpPr>
                  <a:spLocks noChangeArrowheads="1"/>
                </p:cNvSpPr>
                <p:nvPr/>
              </p:nvSpPr>
              <p:spPr bwMode="auto">
                <a:xfrm>
                  <a:off x="1138"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0" name="AutoShape 10">
                  <a:extLst>
                    <a:ext uri="{FF2B5EF4-FFF2-40B4-BE49-F238E27FC236}">
                      <a16:creationId xmlns:a16="http://schemas.microsoft.com/office/drawing/2014/main" id="{71CECD7C-5536-E054-BF37-D69829BA797A}"/>
                    </a:ext>
                  </a:extLst>
                </p:cNvPr>
                <p:cNvSpPr>
                  <a:spLocks noChangeArrowheads="1"/>
                </p:cNvSpPr>
                <p:nvPr/>
              </p:nvSpPr>
              <p:spPr bwMode="auto">
                <a:xfrm>
                  <a:off x="934" y="2245"/>
                  <a:ext cx="201"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1" name="Rectangle 11">
                  <a:extLst>
                    <a:ext uri="{FF2B5EF4-FFF2-40B4-BE49-F238E27FC236}">
                      <a16:creationId xmlns:a16="http://schemas.microsoft.com/office/drawing/2014/main" id="{0D5702EA-290C-8A6C-1F83-3963FD3C0C54}"/>
                    </a:ext>
                  </a:extLst>
                </p:cNvPr>
                <p:cNvSpPr>
                  <a:spLocks noChangeArrowheads="1"/>
                </p:cNvSpPr>
                <p:nvPr/>
              </p:nvSpPr>
              <p:spPr bwMode="auto">
                <a:xfrm>
                  <a:off x="974"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2" name="Rectangle 12">
                  <a:extLst>
                    <a:ext uri="{FF2B5EF4-FFF2-40B4-BE49-F238E27FC236}">
                      <a16:creationId xmlns:a16="http://schemas.microsoft.com/office/drawing/2014/main" id="{B9147FD4-3DBA-CF0F-974A-4167C56D4D2C}"/>
                    </a:ext>
                  </a:extLst>
                </p:cNvPr>
                <p:cNvSpPr>
                  <a:spLocks noChangeArrowheads="1"/>
                </p:cNvSpPr>
                <p:nvPr/>
              </p:nvSpPr>
              <p:spPr bwMode="auto">
                <a:xfrm>
                  <a:off x="1185"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3" name="Rectangle 13">
                  <a:extLst>
                    <a:ext uri="{FF2B5EF4-FFF2-40B4-BE49-F238E27FC236}">
                      <a16:creationId xmlns:a16="http://schemas.microsoft.com/office/drawing/2014/main" id="{5407EF25-CA80-99AA-43A5-22D55492D9C6}"/>
                    </a:ext>
                  </a:extLst>
                </p:cNvPr>
                <p:cNvSpPr>
                  <a:spLocks noChangeArrowheads="1"/>
                </p:cNvSpPr>
                <p:nvPr/>
              </p:nvSpPr>
              <p:spPr bwMode="auto">
                <a:xfrm>
                  <a:off x="1395"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8" name="Group 14">
                <a:extLst>
                  <a:ext uri="{FF2B5EF4-FFF2-40B4-BE49-F238E27FC236}">
                    <a16:creationId xmlns:a16="http://schemas.microsoft.com/office/drawing/2014/main" id="{31E8548D-F045-9514-792E-AD9BF907947F}"/>
                  </a:ext>
                </a:extLst>
              </p:cNvPr>
              <p:cNvGrpSpPr>
                <a:grpSpLocks/>
              </p:cNvGrpSpPr>
              <p:nvPr/>
            </p:nvGrpSpPr>
            <p:grpSpPr bwMode="auto">
              <a:xfrm>
                <a:off x="2592" y="1008"/>
                <a:ext cx="581" cy="367"/>
                <a:chOff x="933" y="2179"/>
                <a:chExt cx="658" cy="463"/>
              </a:xfrm>
            </p:grpSpPr>
            <p:sp>
              <p:nvSpPr>
                <p:cNvPr id="48" name="Rectangle 15">
                  <a:extLst>
                    <a:ext uri="{FF2B5EF4-FFF2-40B4-BE49-F238E27FC236}">
                      <a16:creationId xmlns:a16="http://schemas.microsoft.com/office/drawing/2014/main" id="{8F57F6AC-EBE3-56EF-30A7-4681869E792C}"/>
                    </a:ext>
                  </a:extLst>
                </p:cNvPr>
                <p:cNvSpPr>
                  <a:spLocks noChangeArrowheads="1"/>
                </p:cNvSpPr>
                <p:nvPr/>
              </p:nvSpPr>
              <p:spPr bwMode="auto">
                <a:xfrm>
                  <a:off x="1545" y="2179"/>
                  <a:ext cx="41" cy="250"/>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9" name="Rectangle 16">
                  <a:extLst>
                    <a:ext uri="{FF2B5EF4-FFF2-40B4-BE49-F238E27FC236}">
                      <a16:creationId xmlns:a16="http://schemas.microsoft.com/office/drawing/2014/main" id="{7DF7DEA5-9F80-E7B6-8997-3B948F9CC27C}"/>
                    </a:ext>
                  </a:extLst>
                </p:cNvPr>
                <p:cNvSpPr>
                  <a:spLocks noChangeArrowheads="1"/>
                </p:cNvSpPr>
                <p:nvPr/>
              </p:nvSpPr>
              <p:spPr bwMode="auto">
                <a:xfrm>
                  <a:off x="933" y="2435"/>
                  <a:ext cx="658" cy="208"/>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0" name="AutoShape 17">
                  <a:extLst>
                    <a:ext uri="{FF2B5EF4-FFF2-40B4-BE49-F238E27FC236}">
                      <a16:creationId xmlns:a16="http://schemas.microsoft.com/office/drawing/2014/main" id="{F540BFE2-DE37-FAB1-47C5-F98CD908FAC7}"/>
                    </a:ext>
                  </a:extLst>
                </p:cNvPr>
                <p:cNvSpPr>
                  <a:spLocks noChangeArrowheads="1"/>
                </p:cNvSpPr>
                <p:nvPr/>
              </p:nvSpPr>
              <p:spPr bwMode="auto">
                <a:xfrm>
                  <a:off x="1342"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1" name="AutoShape 18">
                  <a:extLst>
                    <a:ext uri="{FF2B5EF4-FFF2-40B4-BE49-F238E27FC236}">
                      <a16:creationId xmlns:a16="http://schemas.microsoft.com/office/drawing/2014/main" id="{BB9DBB5A-FD22-17BB-4550-557E50E42C44}"/>
                    </a:ext>
                  </a:extLst>
                </p:cNvPr>
                <p:cNvSpPr>
                  <a:spLocks noChangeArrowheads="1"/>
                </p:cNvSpPr>
                <p:nvPr/>
              </p:nvSpPr>
              <p:spPr bwMode="auto">
                <a:xfrm>
                  <a:off x="1138"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AutoShape 19">
                  <a:extLst>
                    <a:ext uri="{FF2B5EF4-FFF2-40B4-BE49-F238E27FC236}">
                      <a16:creationId xmlns:a16="http://schemas.microsoft.com/office/drawing/2014/main" id="{B505DA99-6BAE-6ADB-4283-F53C95DF5512}"/>
                    </a:ext>
                  </a:extLst>
                </p:cNvPr>
                <p:cNvSpPr>
                  <a:spLocks noChangeArrowheads="1"/>
                </p:cNvSpPr>
                <p:nvPr/>
              </p:nvSpPr>
              <p:spPr bwMode="auto">
                <a:xfrm>
                  <a:off x="935" y="2245"/>
                  <a:ext cx="201"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3" name="Rectangle 20">
                  <a:extLst>
                    <a:ext uri="{FF2B5EF4-FFF2-40B4-BE49-F238E27FC236}">
                      <a16:creationId xmlns:a16="http://schemas.microsoft.com/office/drawing/2014/main" id="{BC1B55C6-93DD-4CE3-E975-B51AB7E428C9}"/>
                    </a:ext>
                  </a:extLst>
                </p:cNvPr>
                <p:cNvSpPr>
                  <a:spLocks noChangeArrowheads="1"/>
                </p:cNvSpPr>
                <p:nvPr/>
              </p:nvSpPr>
              <p:spPr bwMode="auto">
                <a:xfrm>
                  <a:off x="974"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Rectangle 21">
                  <a:extLst>
                    <a:ext uri="{FF2B5EF4-FFF2-40B4-BE49-F238E27FC236}">
                      <a16:creationId xmlns:a16="http://schemas.microsoft.com/office/drawing/2014/main" id="{43958262-B9CC-3CCB-721E-8E1EBA64A9F4}"/>
                    </a:ext>
                  </a:extLst>
                </p:cNvPr>
                <p:cNvSpPr>
                  <a:spLocks noChangeArrowheads="1"/>
                </p:cNvSpPr>
                <p:nvPr/>
              </p:nvSpPr>
              <p:spPr bwMode="auto">
                <a:xfrm>
                  <a:off x="1185"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Rectangle 22">
                  <a:extLst>
                    <a:ext uri="{FF2B5EF4-FFF2-40B4-BE49-F238E27FC236}">
                      <a16:creationId xmlns:a16="http://schemas.microsoft.com/office/drawing/2014/main" id="{F14D5A54-F707-E64D-6CA2-08E7F51A74FD}"/>
                    </a:ext>
                  </a:extLst>
                </p:cNvPr>
                <p:cNvSpPr>
                  <a:spLocks noChangeArrowheads="1"/>
                </p:cNvSpPr>
                <p:nvPr/>
              </p:nvSpPr>
              <p:spPr bwMode="auto">
                <a:xfrm>
                  <a:off x="1396"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9" name="Rectangle 23">
                <a:extLst>
                  <a:ext uri="{FF2B5EF4-FFF2-40B4-BE49-F238E27FC236}">
                    <a16:creationId xmlns:a16="http://schemas.microsoft.com/office/drawing/2014/main" id="{7FF13EF5-1081-CE79-8D0A-55714C12E9BA}"/>
                  </a:ext>
                </a:extLst>
              </p:cNvPr>
              <p:cNvSpPr>
                <a:spLocks noChangeArrowheads="1"/>
              </p:cNvSpPr>
              <p:nvPr/>
            </p:nvSpPr>
            <p:spPr bwMode="auto">
              <a:xfrm>
                <a:off x="720" y="1818"/>
                <a:ext cx="269" cy="364"/>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 name="Rectangle 24">
                <a:extLst>
                  <a:ext uri="{FF2B5EF4-FFF2-40B4-BE49-F238E27FC236}">
                    <a16:creationId xmlns:a16="http://schemas.microsoft.com/office/drawing/2014/main" id="{B89431D1-314C-09B5-6093-9FDA47D54C77}"/>
                  </a:ext>
                </a:extLst>
              </p:cNvPr>
              <p:cNvSpPr>
                <a:spLocks noChangeArrowheads="1"/>
              </p:cNvSpPr>
              <p:nvPr/>
            </p:nvSpPr>
            <p:spPr bwMode="auto">
              <a:xfrm>
                <a:off x="1454" y="1818"/>
                <a:ext cx="268" cy="364"/>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 name="Rectangle 25">
                <a:extLst>
                  <a:ext uri="{FF2B5EF4-FFF2-40B4-BE49-F238E27FC236}">
                    <a16:creationId xmlns:a16="http://schemas.microsoft.com/office/drawing/2014/main" id="{F9D4239C-9DFE-C0A6-E3AD-21BEDFE40AA1}"/>
                  </a:ext>
                </a:extLst>
              </p:cNvPr>
              <p:cNvSpPr>
                <a:spLocks noChangeArrowheads="1"/>
              </p:cNvSpPr>
              <p:nvPr/>
            </p:nvSpPr>
            <p:spPr bwMode="auto">
              <a:xfrm>
                <a:off x="2169" y="1818"/>
                <a:ext cx="269" cy="364"/>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2" name="Line 26">
                <a:extLst>
                  <a:ext uri="{FF2B5EF4-FFF2-40B4-BE49-F238E27FC236}">
                    <a16:creationId xmlns:a16="http://schemas.microsoft.com/office/drawing/2014/main" id="{45775A94-75D3-4367-996B-1896F0BCA6D0}"/>
                  </a:ext>
                </a:extLst>
              </p:cNvPr>
              <p:cNvSpPr>
                <a:spLocks noChangeShapeType="1"/>
              </p:cNvSpPr>
              <p:nvPr/>
            </p:nvSpPr>
            <p:spPr bwMode="auto">
              <a:xfrm>
                <a:off x="726" y="1914"/>
                <a:ext cx="26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 name="Line 27">
                <a:extLst>
                  <a:ext uri="{FF2B5EF4-FFF2-40B4-BE49-F238E27FC236}">
                    <a16:creationId xmlns:a16="http://schemas.microsoft.com/office/drawing/2014/main" id="{A6936DAC-9974-B89D-8A6D-DC77D6276BE9}"/>
                  </a:ext>
                </a:extLst>
              </p:cNvPr>
              <p:cNvSpPr>
                <a:spLocks noChangeShapeType="1"/>
              </p:cNvSpPr>
              <p:nvPr/>
            </p:nvSpPr>
            <p:spPr bwMode="auto">
              <a:xfrm>
                <a:off x="1452" y="1908"/>
                <a:ext cx="26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 name="Line 28">
                <a:extLst>
                  <a:ext uri="{FF2B5EF4-FFF2-40B4-BE49-F238E27FC236}">
                    <a16:creationId xmlns:a16="http://schemas.microsoft.com/office/drawing/2014/main" id="{E46B518B-BCF2-8E04-4DAD-0D18A94061C2}"/>
                  </a:ext>
                </a:extLst>
              </p:cNvPr>
              <p:cNvSpPr>
                <a:spLocks noChangeShapeType="1"/>
              </p:cNvSpPr>
              <p:nvPr/>
            </p:nvSpPr>
            <p:spPr bwMode="auto">
              <a:xfrm>
                <a:off x="2172" y="1902"/>
                <a:ext cx="26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15" name="Group 29">
                <a:extLst>
                  <a:ext uri="{FF2B5EF4-FFF2-40B4-BE49-F238E27FC236}">
                    <a16:creationId xmlns:a16="http://schemas.microsoft.com/office/drawing/2014/main" id="{63729E60-C657-CC24-EE2B-B0D16C440664}"/>
                  </a:ext>
                </a:extLst>
              </p:cNvPr>
              <p:cNvGrpSpPr>
                <a:grpSpLocks/>
              </p:cNvGrpSpPr>
              <p:nvPr/>
            </p:nvGrpSpPr>
            <p:grpSpPr bwMode="auto">
              <a:xfrm>
                <a:off x="726" y="2271"/>
                <a:ext cx="269" cy="301"/>
                <a:chOff x="1702" y="2990"/>
                <a:chExt cx="269" cy="301"/>
              </a:xfrm>
            </p:grpSpPr>
            <p:sp>
              <p:nvSpPr>
                <p:cNvPr id="41" name="Rectangle 30">
                  <a:extLst>
                    <a:ext uri="{FF2B5EF4-FFF2-40B4-BE49-F238E27FC236}">
                      <a16:creationId xmlns:a16="http://schemas.microsoft.com/office/drawing/2014/main" id="{6D5C0FA3-2C44-9251-33AB-D62AE951484E}"/>
                    </a:ext>
                  </a:extLst>
                </p:cNvPr>
                <p:cNvSpPr>
                  <a:spLocks noChangeArrowheads="1"/>
                </p:cNvSpPr>
                <p:nvPr/>
              </p:nvSpPr>
              <p:spPr bwMode="auto">
                <a:xfrm>
                  <a:off x="1702" y="2990"/>
                  <a:ext cx="269" cy="301"/>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2" name="Line 31">
                  <a:extLst>
                    <a:ext uri="{FF2B5EF4-FFF2-40B4-BE49-F238E27FC236}">
                      <a16:creationId xmlns:a16="http://schemas.microsoft.com/office/drawing/2014/main" id="{3412584B-31C3-0A78-A7EC-38E05546568D}"/>
                    </a:ext>
                  </a:extLst>
                </p:cNvPr>
                <p:cNvSpPr>
                  <a:spLocks noChangeShapeType="1"/>
                </p:cNvSpPr>
                <p:nvPr/>
              </p:nvSpPr>
              <p:spPr bwMode="auto">
                <a:xfrm>
                  <a:off x="1741" y="3046"/>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3" name="Line 32">
                  <a:extLst>
                    <a:ext uri="{FF2B5EF4-FFF2-40B4-BE49-F238E27FC236}">
                      <a16:creationId xmlns:a16="http://schemas.microsoft.com/office/drawing/2014/main" id="{F5C3C822-A2AF-1410-2115-B2EB0D74E737}"/>
                    </a:ext>
                  </a:extLst>
                </p:cNvPr>
                <p:cNvSpPr>
                  <a:spLocks noChangeShapeType="1"/>
                </p:cNvSpPr>
                <p:nvPr/>
              </p:nvSpPr>
              <p:spPr bwMode="auto">
                <a:xfrm>
                  <a:off x="1741" y="308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4" name="Line 33">
                  <a:extLst>
                    <a:ext uri="{FF2B5EF4-FFF2-40B4-BE49-F238E27FC236}">
                      <a16:creationId xmlns:a16="http://schemas.microsoft.com/office/drawing/2014/main" id="{DED497FC-7DF4-F42B-C462-5A1948E07C9E}"/>
                    </a:ext>
                  </a:extLst>
                </p:cNvPr>
                <p:cNvSpPr>
                  <a:spLocks noChangeShapeType="1"/>
                </p:cNvSpPr>
                <p:nvPr/>
              </p:nvSpPr>
              <p:spPr bwMode="auto">
                <a:xfrm>
                  <a:off x="1741" y="3130"/>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5" name="Line 34">
                  <a:extLst>
                    <a:ext uri="{FF2B5EF4-FFF2-40B4-BE49-F238E27FC236}">
                      <a16:creationId xmlns:a16="http://schemas.microsoft.com/office/drawing/2014/main" id="{6088FF97-B17B-CCEA-CB7B-60BF368FB23B}"/>
                    </a:ext>
                  </a:extLst>
                </p:cNvPr>
                <p:cNvSpPr>
                  <a:spLocks noChangeShapeType="1"/>
                </p:cNvSpPr>
                <p:nvPr/>
              </p:nvSpPr>
              <p:spPr bwMode="auto">
                <a:xfrm>
                  <a:off x="1741" y="3172"/>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6" name="Line 35">
                  <a:extLst>
                    <a:ext uri="{FF2B5EF4-FFF2-40B4-BE49-F238E27FC236}">
                      <a16:creationId xmlns:a16="http://schemas.microsoft.com/office/drawing/2014/main" id="{9A1E9AA8-8961-A569-AF54-D071A18D9033}"/>
                    </a:ext>
                  </a:extLst>
                </p:cNvPr>
                <p:cNvSpPr>
                  <a:spLocks noChangeShapeType="1"/>
                </p:cNvSpPr>
                <p:nvPr/>
              </p:nvSpPr>
              <p:spPr bwMode="auto">
                <a:xfrm>
                  <a:off x="1741" y="321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7" name="Line 36">
                  <a:extLst>
                    <a:ext uri="{FF2B5EF4-FFF2-40B4-BE49-F238E27FC236}">
                      <a16:creationId xmlns:a16="http://schemas.microsoft.com/office/drawing/2014/main" id="{5D6F15C8-2B86-E037-E532-420044F823F5}"/>
                    </a:ext>
                  </a:extLst>
                </p:cNvPr>
                <p:cNvSpPr>
                  <a:spLocks noChangeShapeType="1"/>
                </p:cNvSpPr>
                <p:nvPr/>
              </p:nvSpPr>
              <p:spPr bwMode="auto">
                <a:xfrm>
                  <a:off x="1741" y="3256"/>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6" name="Group 37">
                <a:extLst>
                  <a:ext uri="{FF2B5EF4-FFF2-40B4-BE49-F238E27FC236}">
                    <a16:creationId xmlns:a16="http://schemas.microsoft.com/office/drawing/2014/main" id="{70ABFE9C-898B-097A-B99B-DF5F43DC3D1D}"/>
                  </a:ext>
                </a:extLst>
              </p:cNvPr>
              <p:cNvGrpSpPr>
                <a:grpSpLocks/>
              </p:cNvGrpSpPr>
              <p:nvPr/>
            </p:nvGrpSpPr>
            <p:grpSpPr bwMode="auto">
              <a:xfrm>
                <a:off x="1454" y="2291"/>
                <a:ext cx="269" cy="301"/>
                <a:chOff x="1702" y="2990"/>
                <a:chExt cx="269" cy="301"/>
              </a:xfrm>
            </p:grpSpPr>
            <p:sp>
              <p:nvSpPr>
                <p:cNvPr id="34" name="Rectangle 38">
                  <a:extLst>
                    <a:ext uri="{FF2B5EF4-FFF2-40B4-BE49-F238E27FC236}">
                      <a16:creationId xmlns:a16="http://schemas.microsoft.com/office/drawing/2014/main" id="{1AB41A95-1479-676C-D01D-C43DF9A8A5F5}"/>
                    </a:ext>
                  </a:extLst>
                </p:cNvPr>
                <p:cNvSpPr>
                  <a:spLocks noChangeArrowheads="1"/>
                </p:cNvSpPr>
                <p:nvPr/>
              </p:nvSpPr>
              <p:spPr bwMode="auto">
                <a:xfrm>
                  <a:off x="1702" y="2990"/>
                  <a:ext cx="268" cy="301"/>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Line 39">
                  <a:extLst>
                    <a:ext uri="{FF2B5EF4-FFF2-40B4-BE49-F238E27FC236}">
                      <a16:creationId xmlns:a16="http://schemas.microsoft.com/office/drawing/2014/main" id="{6E76D850-A6DA-5A4B-51DB-16DC682C280A}"/>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6" name="Line 40">
                  <a:extLst>
                    <a:ext uri="{FF2B5EF4-FFF2-40B4-BE49-F238E27FC236}">
                      <a16:creationId xmlns:a16="http://schemas.microsoft.com/office/drawing/2014/main" id="{C687F9F6-534A-7802-42FC-2FAD95F4366C}"/>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41">
                  <a:extLst>
                    <a:ext uri="{FF2B5EF4-FFF2-40B4-BE49-F238E27FC236}">
                      <a16:creationId xmlns:a16="http://schemas.microsoft.com/office/drawing/2014/main" id="{C8CE85AF-52D7-111F-C9BB-1B80BD3A976B}"/>
                    </a:ext>
                  </a:extLst>
                </p:cNvPr>
                <p:cNvSpPr>
                  <a:spLocks noChangeShapeType="1"/>
                </p:cNvSpPr>
                <p:nvPr/>
              </p:nvSpPr>
              <p:spPr bwMode="auto">
                <a:xfrm>
                  <a:off x="1741" y="3131"/>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42">
                  <a:extLst>
                    <a:ext uri="{FF2B5EF4-FFF2-40B4-BE49-F238E27FC236}">
                      <a16:creationId xmlns:a16="http://schemas.microsoft.com/office/drawing/2014/main" id="{075043B2-B03E-B8A0-D99E-7C3730F426C2}"/>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9" name="Line 43">
                  <a:extLst>
                    <a:ext uri="{FF2B5EF4-FFF2-40B4-BE49-F238E27FC236}">
                      <a16:creationId xmlns:a16="http://schemas.microsoft.com/office/drawing/2014/main" id="{4ABB85D6-DA80-8114-117B-04C2E29F4320}"/>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Line 44">
                  <a:extLst>
                    <a:ext uri="{FF2B5EF4-FFF2-40B4-BE49-F238E27FC236}">
                      <a16:creationId xmlns:a16="http://schemas.microsoft.com/office/drawing/2014/main" id="{4EBBC744-DE7A-ACAE-948E-3060EF40320A}"/>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7" name="Group 45">
                <a:extLst>
                  <a:ext uri="{FF2B5EF4-FFF2-40B4-BE49-F238E27FC236}">
                    <a16:creationId xmlns:a16="http://schemas.microsoft.com/office/drawing/2014/main" id="{FB023B24-C3C7-1FCB-1ADE-CC7A06D8F987}"/>
                  </a:ext>
                </a:extLst>
              </p:cNvPr>
              <p:cNvGrpSpPr>
                <a:grpSpLocks/>
              </p:cNvGrpSpPr>
              <p:nvPr/>
            </p:nvGrpSpPr>
            <p:grpSpPr bwMode="auto">
              <a:xfrm>
                <a:off x="2171" y="2280"/>
                <a:ext cx="269" cy="301"/>
                <a:chOff x="1702" y="2990"/>
                <a:chExt cx="269" cy="301"/>
              </a:xfrm>
            </p:grpSpPr>
            <p:sp>
              <p:nvSpPr>
                <p:cNvPr id="27" name="Rectangle 46">
                  <a:extLst>
                    <a:ext uri="{FF2B5EF4-FFF2-40B4-BE49-F238E27FC236}">
                      <a16:creationId xmlns:a16="http://schemas.microsoft.com/office/drawing/2014/main" id="{035AE14F-F509-663A-C5BB-81CC16C97B1C}"/>
                    </a:ext>
                  </a:extLst>
                </p:cNvPr>
                <p:cNvSpPr>
                  <a:spLocks noChangeArrowheads="1"/>
                </p:cNvSpPr>
                <p:nvPr/>
              </p:nvSpPr>
              <p:spPr bwMode="auto">
                <a:xfrm>
                  <a:off x="1702" y="2990"/>
                  <a:ext cx="269" cy="302"/>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8" name="Line 47">
                  <a:extLst>
                    <a:ext uri="{FF2B5EF4-FFF2-40B4-BE49-F238E27FC236}">
                      <a16:creationId xmlns:a16="http://schemas.microsoft.com/office/drawing/2014/main" id="{84284AAE-E8BF-7DC4-3868-E8CE05D1703D}"/>
                    </a:ext>
                  </a:extLst>
                </p:cNvPr>
                <p:cNvSpPr>
                  <a:spLocks noChangeShapeType="1"/>
                </p:cNvSpPr>
                <p:nvPr/>
              </p:nvSpPr>
              <p:spPr bwMode="auto">
                <a:xfrm>
                  <a:off x="1740" y="3045"/>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9" name="Line 48">
                  <a:extLst>
                    <a:ext uri="{FF2B5EF4-FFF2-40B4-BE49-F238E27FC236}">
                      <a16:creationId xmlns:a16="http://schemas.microsoft.com/office/drawing/2014/main" id="{C9CB5CEF-072D-16E8-0154-663FB86EC23A}"/>
                    </a:ext>
                  </a:extLst>
                </p:cNvPr>
                <p:cNvSpPr>
                  <a:spLocks noChangeShapeType="1"/>
                </p:cNvSpPr>
                <p:nvPr/>
              </p:nvSpPr>
              <p:spPr bwMode="auto">
                <a:xfrm>
                  <a:off x="1740" y="308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0" name="Line 49">
                  <a:extLst>
                    <a:ext uri="{FF2B5EF4-FFF2-40B4-BE49-F238E27FC236}">
                      <a16:creationId xmlns:a16="http://schemas.microsoft.com/office/drawing/2014/main" id="{612A0E9F-6157-2357-1D7C-0364FCE70633}"/>
                    </a:ext>
                  </a:extLst>
                </p:cNvPr>
                <p:cNvSpPr>
                  <a:spLocks noChangeShapeType="1"/>
                </p:cNvSpPr>
                <p:nvPr/>
              </p:nvSpPr>
              <p:spPr bwMode="auto">
                <a:xfrm>
                  <a:off x="1740" y="3130"/>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1" name="Line 50">
                  <a:extLst>
                    <a:ext uri="{FF2B5EF4-FFF2-40B4-BE49-F238E27FC236}">
                      <a16:creationId xmlns:a16="http://schemas.microsoft.com/office/drawing/2014/main" id="{5695A728-A863-0E72-C9F6-B67476A32EB0}"/>
                    </a:ext>
                  </a:extLst>
                </p:cNvPr>
                <p:cNvSpPr>
                  <a:spLocks noChangeShapeType="1"/>
                </p:cNvSpPr>
                <p:nvPr/>
              </p:nvSpPr>
              <p:spPr bwMode="auto">
                <a:xfrm>
                  <a:off x="1740" y="3172"/>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2" name="Line 51">
                  <a:extLst>
                    <a:ext uri="{FF2B5EF4-FFF2-40B4-BE49-F238E27FC236}">
                      <a16:creationId xmlns:a16="http://schemas.microsoft.com/office/drawing/2014/main" id="{7A3E4E80-145B-0486-0FED-DF0E3EC0D142}"/>
                    </a:ext>
                  </a:extLst>
                </p:cNvPr>
                <p:cNvSpPr>
                  <a:spLocks noChangeShapeType="1"/>
                </p:cNvSpPr>
                <p:nvPr/>
              </p:nvSpPr>
              <p:spPr bwMode="auto">
                <a:xfrm>
                  <a:off x="1740" y="321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3" name="Line 52">
                  <a:extLst>
                    <a:ext uri="{FF2B5EF4-FFF2-40B4-BE49-F238E27FC236}">
                      <a16:creationId xmlns:a16="http://schemas.microsoft.com/office/drawing/2014/main" id="{77A72D01-EBA6-49FB-31B3-5965461B53EC}"/>
                    </a:ext>
                  </a:extLst>
                </p:cNvPr>
                <p:cNvSpPr>
                  <a:spLocks noChangeShapeType="1"/>
                </p:cNvSpPr>
                <p:nvPr/>
              </p:nvSpPr>
              <p:spPr bwMode="auto">
                <a:xfrm>
                  <a:off x="1740" y="3257"/>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8" name="Line 53">
                <a:extLst>
                  <a:ext uri="{FF2B5EF4-FFF2-40B4-BE49-F238E27FC236}">
                    <a16:creationId xmlns:a16="http://schemas.microsoft.com/office/drawing/2014/main" id="{3AA34B78-9F92-07DF-714F-AC2629507458}"/>
                  </a:ext>
                </a:extLst>
              </p:cNvPr>
              <p:cNvSpPr>
                <a:spLocks noChangeShapeType="1"/>
              </p:cNvSpPr>
              <p:nvPr/>
            </p:nvSpPr>
            <p:spPr bwMode="auto">
              <a:xfrm flipV="1">
                <a:off x="996" y="2001"/>
                <a:ext cx="459" cy="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9" name="AutoShape 54">
                <a:extLst>
                  <a:ext uri="{FF2B5EF4-FFF2-40B4-BE49-F238E27FC236}">
                    <a16:creationId xmlns:a16="http://schemas.microsoft.com/office/drawing/2014/main" id="{11BAD4AC-8D98-7112-9BA1-AE11F065F75F}"/>
                  </a:ext>
                </a:extLst>
              </p:cNvPr>
              <p:cNvSpPr>
                <a:spLocks noChangeArrowheads="1"/>
              </p:cNvSpPr>
              <p:nvPr/>
            </p:nvSpPr>
            <p:spPr bwMode="auto">
              <a:xfrm>
                <a:off x="1142" y="1919"/>
                <a:ext cx="147" cy="160"/>
              </a:xfrm>
              <a:prstGeom prst="triangle">
                <a:avLst>
                  <a:gd name="adj" fmla="val 50000"/>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20" name="Line 55">
                <a:extLst>
                  <a:ext uri="{FF2B5EF4-FFF2-40B4-BE49-F238E27FC236}">
                    <a16:creationId xmlns:a16="http://schemas.microsoft.com/office/drawing/2014/main" id="{D639BAB7-472E-46FE-CF04-D43A9D4F32E3}"/>
                  </a:ext>
                </a:extLst>
              </p:cNvPr>
              <p:cNvSpPr>
                <a:spLocks noChangeShapeType="1"/>
              </p:cNvSpPr>
              <p:nvPr/>
            </p:nvSpPr>
            <p:spPr bwMode="auto">
              <a:xfrm flipV="1">
                <a:off x="1743" y="2001"/>
                <a:ext cx="460" cy="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1" name="AutoShape 56">
                <a:extLst>
                  <a:ext uri="{FF2B5EF4-FFF2-40B4-BE49-F238E27FC236}">
                    <a16:creationId xmlns:a16="http://schemas.microsoft.com/office/drawing/2014/main" id="{7134A658-514E-E93C-643F-704DE4063927}"/>
                  </a:ext>
                </a:extLst>
              </p:cNvPr>
              <p:cNvSpPr>
                <a:spLocks noChangeArrowheads="1"/>
              </p:cNvSpPr>
              <p:nvPr/>
            </p:nvSpPr>
            <p:spPr bwMode="auto">
              <a:xfrm>
                <a:off x="1872" y="1919"/>
                <a:ext cx="146" cy="160"/>
              </a:xfrm>
              <a:prstGeom prst="triangle">
                <a:avLst>
                  <a:gd name="adj" fmla="val 50000"/>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22" name="AutoShape 57">
                <a:extLst>
                  <a:ext uri="{FF2B5EF4-FFF2-40B4-BE49-F238E27FC236}">
                    <a16:creationId xmlns:a16="http://schemas.microsoft.com/office/drawing/2014/main" id="{F65A7A05-5267-A900-C45C-0C1312630A5A}"/>
                  </a:ext>
                </a:extLst>
              </p:cNvPr>
              <p:cNvSpPr>
                <a:spLocks noChangeArrowheads="1"/>
              </p:cNvSpPr>
              <p:nvPr/>
            </p:nvSpPr>
            <p:spPr bwMode="auto">
              <a:xfrm rot="-2700000">
                <a:off x="2400" y="1536"/>
                <a:ext cx="624" cy="192"/>
              </a:xfrm>
              <a:prstGeom prst="rightArrow">
                <a:avLst>
                  <a:gd name="adj1" fmla="val 50000"/>
                  <a:gd name="adj2" fmla="val 81250"/>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3" name="AutoShape 58">
                <a:extLst>
                  <a:ext uri="{FF2B5EF4-FFF2-40B4-BE49-F238E27FC236}">
                    <a16:creationId xmlns:a16="http://schemas.microsoft.com/office/drawing/2014/main" id="{1C75E71A-C23B-12CB-C333-45CDC88D0CB3}"/>
                  </a:ext>
                </a:extLst>
              </p:cNvPr>
              <p:cNvSpPr>
                <a:spLocks noChangeArrowheads="1"/>
              </p:cNvSpPr>
              <p:nvPr/>
            </p:nvSpPr>
            <p:spPr bwMode="auto">
              <a:xfrm rot="2772363">
                <a:off x="168" y="1560"/>
                <a:ext cx="625" cy="192"/>
              </a:xfrm>
              <a:prstGeom prst="rightArrow">
                <a:avLst>
                  <a:gd name="adj1" fmla="val 50000"/>
                  <a:gd name="adj2" fmla="val 81245"/>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4" name="AutoShape 59">
                <a:extLst>
                  <a:ext uri="{FF2B5EF4-FFF2-40B4-BE49-F238E27FC236}">
                    <a16:creationId xmlns:a16="http://schemas.microsoft.com/office/drawing/2014/main" id="{C5F89813-BE5E-48F9-AF03-96DDA5C0D7A0}"/>
                  </a:ext>
                </a:extLst>
              </p:cNvPr>
              <p:cNvSpPr>
                <a:spLocks noChangeArrowheads="1"/>
              </p:cNvSpPr>
              <p:nvPr/>
            </p:nvSpPr>
            <p:spPr bwMode="auto">
              <a:xfrm>
                <a:off x="576" y="2208"/>
                <a:ext cx="479" cy="337"/>
              </a:xfrm>
              <a:prstGeom prst="irregularSeal1">
                <a:avLst/>
              </a:prstGeom>
              <a:solidFill>
                <a:srgbClr val="FFFF00"/>
              </a:solidFill>
              <a:ln w="38100" cap="sq">
                <a:solidFill>
                  <a:srgbClr val="FF0000"/>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5" name="AutoShape 60">
                <a:extLst>
                  <a:ext uri="{FF2B5EF4-FFF2-40B4-BE49-F238E27FC236}">
                    <a16:creationId xmlns:a16="http://schemas.microsoft.com/office/drawing/2014/main" id="{04E9EBD2-0EEC-F439-81B5-3EFBC7561A40}"/>
                  </a:ext>
                </a:extLst>
              </p:cNvPr>
              <p:cNvSpPr>
                <a:spLocks noChangeArrowheads="1"/>
              </p:cNvSpPr>
              <p:nvPr/>
            </p:nvSpPr>
            <p:spPr bwMode="auto">
              <a:xfrm>
                <a:off x="1200" y="1680"/>
                <a:ext cx="481" cy="336"/>
              </a:xfrm>
              <a:prstGeom prst="irregularSeal1">
                <a:avLst/>
              </a:prstGeom>
              <a:solidFill>
                <a:srgbClr val="FFFF00"/>
              </a:solidFill>
              <a:ln w="38100" cap="sq">
                <a:solidFill>
                  <a:srgbClr val="FF0000"/>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6" name="AutoShape 61">
                <a:extLst>
                  <a:ext uri="{FF2B5EF4-FFF2-40B4-BE49-F238E27FC236}">
                    <a16:creationId xmlns:a16="http://schemas.microsoft.com/office/drawing/2014/main" id="{D25EAB2C-6520-47D5-17FF-A6AFD5EA6930}"/>
                  </a:ext>
                </a:extLst>
              </p:cNvPr>
              <p:cNvSpPr>
                <a:spLocks noChangeArrowheads="1"/>
              </p:cNvSpPr>
              <p:nvPr/>
            </p:nvSpPr>
            <p:spPr bwMode="auto">
              <a:xfrm>
                <a:off x="1968" y="2016"/>
                <a:ext cx="481" cy="337"/>
              </a:xfrm>
              <a:prstGeom prst="irregularSeal1">
                <a:avLst/>
              </a:prstGeom>
              <a:solidFill>
                <a:srgbClr val="FFFF00"/>
              </a:solidFill>
              <a:ln w="38100" cap="sq">
                <a:solidFill>
                  <a:srgbClr val="FF0000"/>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64" name="Text Box 64">
              <a:extLst>
                <a:ext uri="{FF2B5EF4-FFF2-40B4-BE49-F238E27FC236}">
                  <a16:creationId xmlns:a16="http://schemas.microsoft.com/office/drawing/2014/main" id="{3EE1FAFC-87FC-8F41-4983-BD01FFAB4042}"/>
                </a:ext>
              </a:extLst>
            </p:cNvPr>
            <p:cNvSpPr txBox="1">
              <a:spLocks noChangeArrowheads="1"/>
            </p:cNvSpPr>
            <p:nvPr/>
          </p:nvSpPr>
          <p:spPr bwMode="auto">
            <a:xfrm>
              <a:off x="1846309" y="1638300"/>
              <a:ext cx="1363569" cy="26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solidFill>
                    <a:schemeClr val="tx1"/>
                  </a:solidFill>
                  <a:latin typeface="Roboto" panose="02000000000000000000" pitchFamily="2" charset="0"/>
                  <a:ea typeface="Roboto" panose="02000000000000000000" pitchFamily="2" charset="0"/>
                </a:rPr>
                <a:t>VALUE STREAM MAP</a:t>
              </a:r>
            </a:p>
          </p:txBody>
        </p:sp>
        <p:grpSp>
          <p:nvGrpSpPr>
            <p:cNvPr id="65" name="Group 65">
              <a:extLst>
                <a:ext uri="{FF2B5EF4-FFF2-40B4-BE49-F238E27FC236}">
                  <a16:creationId xmlns:a16="http://schemas.microsoft.com/office/drawing/2014/main" id="{A01351F3-2E98-94F9-2C0E-ABEC9957AAFD}"/>
                </a:ext>
              </a:extLst>
            </p:cNvPr>
            <p:cNvGrpSpPr>
              <a:grpSpLocks/>
            </p:cNvGrpSpPr>
            <p:nvPr/>
          </p:nvGrpSpPr>
          <p:grpSpPr bwMode="auto">
            <a:xfrm>
              <a:off x="2846388" y="1412875"/>
              <a:ext cx="5878513" cy="4608513"/>
              <a:chOff x="1793" y="890"/>
              <a:chExt cx="3703" cy="2903"/>
            </a:xfrm>
          </p:grpSpPr>
          <p:pic>
            <p:nvPicPr>
              <p:cNvPr id="66" name="Picture 66" descr="image001">
                <a:extLst>
                  <a:ext uri="{FF2B5EF4-FFF2-40B4-BE49-F238E27FC236}">
                    <a16:creationId xmlns:a16="http://schemas.microsoft.com/office/drawing/2014/main" id="{33CC6D7B-4919-96D6-370D-81EB07AB24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1" y="1970"/>
                <a:ext cx="2682" cy="1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7" name="Group 67">
                <a:extLst>
                  <a:ext uri="{FF2B5EF4-FFF2-40B4-BE49-F238E27FC236}">
                    <a16:creationId xmlns:a16="http://schemas.microsoft.com/office/drawing/2014/main" id="{E999105B-1D43-75D7-FFBF-0E33604CE975}"/>
                  </a:ext>
                </a:extLst>
              </p:cNvPr>
              <p:cNvGrpSpPr>
                <a:grpSpLocks/>
              </p:cNvGrpSpPr>
              <p:nvPr/>
            </p:nvGrpSpPr>
            <p:grpSpPr bwMode="auto">
              <a:xfrm>
                <a:off x="1793" y="1807"/>
                <a:ext cx="672" cy="1584"/>
                <a:chOff x="1968" y="1728"/>
                <a:chExt cx="672" cy="1584"/>
              </a:xfrm>
            </p:grpSpPr>
            <p:sp>
              <p:nvSpPr>
                <p:cNvPr id="70" name="Rectangle 68">
                  <a:extLst>
                    <a:ext uri="{FF2B5EF4-FFF2-40B4-BE49-F238E27FC236}">
                      <a16:creationId xmlns:a16="http://schemas.microsoft.com/office/drawing/2014/main" id="{EBC1FFA3-BB8E-F68D-7416-B46FAE262780}"/>
                    </a:ext>
                  </a:extLst>
                </p:cNvPr>
                <p:cNvSpPr>
                  <a:spLocks noChangeArrowheads="1"/>
                </p:cNvSpPr>
                <p:nvPr/>
              </p:nvSpPr>
              <p:spPr bwMode="auto">
                <a:xfrm>
                  <a:off x="1968" y="1728"/>
                  <a:ext cx="672" cy="864"/>
                </a:xfrm>
                <a:prstGeom prst="rect">
                  <a:avLst/>
                </a:prstGeom>
                <a:noFill/>
                <a:ln w="762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1" name="Line 69">
                  <a:extLst>
                    <a:ext uri="{FF2B5EF4-FFF2-40B4-BE49-F238E27FC236}">
                      <a16:creationId xmlns:a16="http://schemas.microsoft.com/office/drawing/2014/main" id="{78392276-FA3C-C607-0E99-7AD8D41ACE94}"/>
                    </a:ext>
                  </a:extLst>
                </p:cNvPr>
                <p:cNvSpPr>
                  <a:spLocks noChangeShapeType="1"/>
                </p:cNvSpPr>
                <p:nvPr/>
              </p:nvSpPr>
              <p:spPr bwMode="auto">
                <a:xfrm>
                  <a:off x="2304" y="2592"/>
                  <a:ext cx="0" cy="720"/>
                </a:xfrm>
                <a:prstGeom prst="line">
                  <a:avLst/>
                </a:prstGeom>
                <a:noFill/>
                <a:ln w="762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68" name="Line 70">
                <a:extLst>
                  <a:ext uri="{FF2B5EF4-FFF2-40B4-BE49-F238E27FC236}">
                    <a16:creationId xmlns:a16="http://schemas.microsoft.com/office/drawing/2014/main" id="{32D64081-9153-B655-A4E5-94379960049E}"/>
                  </a:ext>
                </a:extLst>
              </p:cNvPr>
              <p:cNvSpPr>
                <a:spLocks noChangeShapeType="1"/>
              </p:cNvSpPr>
              <p:nvPr/>
            </p:nvSpPr>
            <p:spPr bwMode="auto">
              <a:xfrm>
                <a:off x="2129" y="3391"/>
                <a:ext cx="953" cy="0"/>
              </a:xfrm>
              <a:prstGeom prst="line">
                <a:avLst/>
              </a:prstGeom>
              <a:noFill/>
              <a:ln w="762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9" name="AutoShape 71">
                <a:extLst>
                  <a:ext uri="{FF2B5EF4-FFF2-40B4-BE49-F238E27FC236}">
                    <a16:creationId xmlns:a16="http://schemas.microsoft.com/office/drawing/2014/main" id="{AE948074-B3F0-A309-647A-A70AFC8248AF}"/>
                  </a:ext>
                </a:extLst>
              </p:cNvPr>
              <p:cNvSpPr>
                <a:spLocks noChangeArrowheads="1"/>
              </p:cNvSpPr>
              <p:nvPr/>
            </p:nvSpPr>
            <p:spPr bwMode="auto">
              <a:xfrm rot="16200000">
                <a:off x="3679" y="139"/>
                <a:ext cx="1065" cy="2568"/>
              </a:xfrm>
              <a:prstGeom prst="leftArrow">
                <a:avLst>
                  <a:gd name="adj1" fmla="val 78509"/>
                  <a:gd name="adj2" fmla="val 30565"/>
                </a:avLst>
              </a:prstGeom>
              <a:solidFill>
                <a:schemeClr val="accent3"/>
              </a:solidFill>
              <a:ln w="12700" cap="sq">
                <a:solidFill>
                  <a:schemeClr val="tx1"/>
                </a:solidFill>
                <a:miter lim="800000"/>
                <a:headEnd/>
                <a:tailEnd/>
              </a:ln>
            </p:spPr>
            <p:txBody>
              <a:bodyPr vert="eaVert" wrap="squar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dirty="0">
                    <a:latin typeface="Roboto" panose="02000000000000000000" pitchFamily="2" charset="0"/>
                    <a:ea typeface="Roboto" panose="02000000000000000000" pitchFamily="2" charset="0"/>
                  </a:rPr>
                  <a:t>Detailed graphical depiction of a manufacturing or business process</a:t>
                </a:r>
                <a:br>
                  <a:rPr lang="en-US" altLang="en-US" sz="1200" dirty="0">
                    <a:latin typeface="Roboto" panose="02000000000000000000" pitchFamily="2" charset="0"/>
                    <a:ea typeface="Roboto" panose="02000000000000000000" pitchFamily="2" charset="0"/>
                  </a:rPr>
                </a:br>
                <a:endParaRPr lang="en-US" altLang="en-US" sz="1200" dirty="0">
                  <a:latin typeface="Roboto" panose="02000000000000000000" pitchFamily="2" charset="0"/>
                  <a:ea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rPr>
                  <a:t>Used to identify specific improvements</a:t>
                </a:r>
                <a:br>
                  <a:rPr lang="en-US" altLang="en-US" sz="1200" dirty="0">
                    <a:latin typeface="Roboto" panose="02000000000000000000" pitchFamily="2" charset="0"/>
                    <a:ea typeface="Roboto" panose="02000000000000000000" pitchFamily="2" charset="0"/>
                  </a:rPr>
                </a:br>
                <a:endParaRPr lang="en-US" altLang="en-US" sz="1200" dirty="0">
                  <a:latin typeface="Roboto" panose="02000000000000000000" pitchFamily="2" charset="0"/>
                  <a:ea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rPr>
                  <a:t>Incorporates decision loops within the </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process </a:t>
                </a:r>
              </a:p>
            </p:txBody>
          </p:sp>
        </p:grpSp>
      </p:grpSp>
    </p:spTree>
    <p:extLst>
      <p:ext uri="{BB962C8B-B14F-4D97-AF65-F5344CB8AC3E}">
        <p14:creationId xmlns:p14="http://schemas.microsoft.com/office/powerpoint/2010/main" val="95265245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9AF1BE-FC74-D20F-6189-931578F7FF58}"/>
              </a:ext>
            </a:extLst>
          </p:cNvPr>
          <p:cNvSpPr>
            <a:spLocks noGrp="1"/>
          </p:cNvSpPr>
          <p:nvPr>
            <p:ph type="title"/>
          </p:nvPr>
        </p:nvSpPr>
        <p:spPr/>
        <p:txBody>
          <a:bodyPr/>
          <a:lstStyle/>
          <a:p>
            <a:r>
              <a:rPr lang="en-US" dirty="0"/>
              <a:t>When to Use Value Stream Mapping</a:t>
            </a:r>
          </a:p>
        </p:txBody>
      </p:sp>
      <p:sp>
        <p:nvSpPr>
          <p:cNvPr id="3" name="Text Placeholder 2">
            <a:extLst>
              <a:ext uri="{FF2B5EF4-FFF2-40B4-BE49-F238E27FC236}">
                <a16:creationId xmlns:a16="http://schemas.microsoft.com/office/drawing/2014/main" id="{BF2D1452-04BC-1846-9D2B-D064B736ED43}"/>
              </a:ext>
            </a:extLst>
          </p:cNvPr>
          <p:cNvSpPr>
            <a:spLocks noGrp="1"/>
          </p:cNvSpPr>
          <p:nvPr>
            <p:ph type="body" idx="1"/>
          </p:nvPr>
        </p:nvSpPr>
        <p:spPr>
          <a:xfrm>
            <a:off x="822678" y="3428524"/>
            <a:ext cx="5157787" cy="823912"/>
          </a:xfrm>
        </p:spPr>
        <p:txBody>
          <a:bodyPr/>
          <a:lstStyle/>
          <a:p>
            <a:r>
              <a:rPr lang="en-US" dirty="0"/>
              <a:t>Benefits</a:t>
            </a:r>
          </a:p>
        </p:txBody>
      </p:sp>
      <p:sp>
        <p:nvSpPr>
          <p:cNvPr id="4" name="Content Placeholder 3">
            <a:extLst>
              <a:ext uri="{FF2B5EF4-FFF2-40B4-BE49-F238E27FC236}">
                <a16:creationId xmlns:a16="http://schemas.microsoft.com/office/drawing/2014/main" id="{2E3BC3A4-C860-76B2-2DD3-B03AB882C853}"/>
              </a:ext>
            </a:extLst>
          </p:cNvPr>
          <p:cNvSpPr>
            <a:spLocks noGrp="1"/>
          </p:cNvSpPr>
          <p:nvPr>
            <p:ph sz="half" idx="2"/>
          </p:nvPr>
        </p:nvSpPr>
        <p:spPr>
          <a:xfrm>
            <a:off x="839788" y="4320539"/>
            <a:ext cx="5157787" cy="2177733"/>
          </a:xfrm>
        </p:spPr>
        <p:txBody>
          <a:bodyPr>
            <a:normAutofit fontScale="62500" lnSpcReduction="20000"/>
          </a:bodyPr>
          <a:lstStyle/>
          <a:p>
            <a:r>
              <a:rPr lang="en-US" dirty="0"/>
              <a:t>Focuses limited resources</a:t>
            </a:r>
          </a:p>
          <a:p>
            <a:r>
              <a:rPr lang="en-US" dirty="0"/>
              <a:t>Establishes timeline for expected performance improvements </a:t>
            </a:r>
          </a:p>
          <a:p>
            <a:r>
              <a:rPr lang="en-US" dirty="0"/>
              <a:t>Avoids creating islands of success in a sea of waste</a:t>
            </a:r>
          </a:p>
          <a:p>
            <a:r>
              <a:rPr lang="en-US" dirty="0"/>
              <a:t>Allows everyone gain a common understanding of the current state and the future vision </a:t>
            </a:r>
          </a:p>
        </p:txBody>
      </p:sp>
      <p:sp>
        <p:nvSpPr>
          <p:cNvPr id="5" name="Text Placeholder 4">
            <a:extLst>
              <a:ext uri="{FF2B5EF4-FFF2-40B4-BE49-F238E27FC236}">
                <a16:creationId xmlns:a16="http://schemas.microsoft.com/office/drawing/2014/main" id="{D97C3043-C5C3-113A-8520-6B843B812614}"/>
              </a:ext>
            </a:extLst>
          </p:cNvPr>
          <p:cNvSpPr>
            <a:spLocks noGrp="1"/>
          </p:cNvSpPr>
          <p:nvPr>
            <p:ph type="body" sz="quarter" idx="3"/>
          </p:nvPr>
        </p:nvSpPr>
        <p:spPr>
          <a:xfrm>
            <a:off x="6155090" y="3428524"/>
            <a:ext cx="5183188" cy="823912"/>
          </a:xfrm>
        </p:spPr>
        <p:txBody>
          <a:bodyPr/>
          <a:lstStyle/>
          <a:p>
            <a:r>
              <a:rPr lang="en-US" dirty="0"/>
              <a:t>When to Use</a:t>
            </a:r>
          </a:p>
        </p:txBody>
      </p:sp>
      <p:sp>
        <p:nvSpPr>
          <p:cNvPr id="6" name="Content Placeholder 5">
            <a:extLst>
              <a:ext uri="{FF2B5EF4-FFF2-40B4-BE49-F238E27FC236}">
                <a16:creationId xmlns:a16="http://schemas.microsoft.com/office/drawing/2014/main" id="{705B0951-5D5C-15E9-2447-60234BD31A60}"/>
              </a:ext>
            </a:extLst>
          </p:cNvPr>
          <p:cNvSpPr>
            <a:spLocks noGrp="1"/>
          </p:cNvSpPr>
          <p:nvPr>
            <p:ph sz="quarter" idx="4"/>
          </p:nvPr>
        </p:nvSpPr>
        <p:spPr>
          <a:xfrm>
            <a:off x="6172200" y="4320539"/>
            <a:ext cx="5183188" cy="2177733"/>
          </a:xfrm>
        </p:spPr>
        <p:txBody>
          <a:bodyPr>
            <a:normAutofit fontScale="62500" lnSpcReduction="20000"/>
          </a:bodyPr>
          <a:lstStyle/>
          <a:p>
            <a:r>
              <a:rPr lang="en-US" dirty="0"/>
              <a:t>To provide direction for getting started on the Lean journey</a:t>
            </a:r>
          </a:p>
          <a:p>
            <a:r>
              <a:rPr lang="en-US" dirty="0"/>
              <a:t>To execute improvements driven by Strategy Deployment and Key Business Imperatives</a:t>
            </a:r>
          </a:p>
          <a:p>
            <a:r>
              <a:rPr lang="en-US" dirty="0"/>
              <a:t>To gain true cross-functional understanding the end-to-end process</a:t>
            </a:r>
          </a:p>
        </p:txBody>
      </p:sp>
      <p:sp>
        <p:nvSpPr>
          <p:cNvPr id="8" name="Slide Number Placeholder 7">
            <a:extLst>
              <a:ext uri="{FF2B5EF4-FFF2-40B4-BE49-F238E27FC236}">
                <a16:creationId xmlns:a16="http://schemas.microsoft.com/office/drawing/2014/main" id="{408954DA-A1B0-C7B8-680E-6D1AB2D2B67A}"/>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a:t>
            </a:fld>
            <a:endParaRPr lang="en-US"/>
          </a:p>
        </p:txBody>
      </p:sp>
      <p:grpSp>
        <p:nvGrpSpPr>
          <p:cNvPr id="10" name="Group 9">
            <a:extLst>
              <a:ext uri="{FF2B5EF4-FFF2-40B4-BE49-F238E27FC236}">
                <a16:creationId xmlns:a16="http://schemas.microsoft.com/office/drawing/2014/main" id="{B47AFE3C-B125-AEEF-3EA8-2E459BAA768D}"/>
              </a:ext>
            </a:extLst>
          </p:cNvPr>
          <p:cNvGrpSpPr/>
          <p:nvPr/>
        </p:nvGrpSpPr>
        <p:grpSpPr>
          <a:xfrm>
            <a:off x="2095593" y="1929052"/>
            <a:ext cx="8644003" cy="1728548"/>
            <a:chOff x="1439545" y="1711882"/>
            <a:chExt cx="8212138" cy="1614487"/>
          </a:xfrm>
        </p:grpSpPr>
        <p:sp>
          <p:nvSpPr>
            <p:cNvPr id="7" name="Rectangle 3">
              <a:extLst>
                <a:ext uri="{FF2B5EF4-FFF2-40B4-BE49-F238E27FC236}">
                  <a16:creationId xmlns:a16="http://schemas.microsoft.com/office/drawing/2014/main" id="{3EDF77A4-B056-33BF-1E15-CEF4AB2A5880}"/>
                </a:ext>
              </a:extLst>
            </p:cNvPr>
            <p:cNvSpPr>
              <a:spLocks noChangeArrowheads="1"/>
            </p:cNvSpPr>
            <p:nvPr/>
          </p:nvSpPr>
          <p:spPr bwMode="auto">
            <a:xfrm>
              <a:off x="1439545" y="1891269"/>
              <a:ext cx="8212138" cy="1435100"/>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15000"/>
                </a:lnSpc>
                <a:spcBef>
                  <a:spcPct val="50000"/>
                </a:spcBef>
                <a:spcAft>
                  <a:spcPct val="50000"/>
                </a:spcAft>
                <a:buClr>
                  <a:srgbClr val="006699"/>
                </a:buClr>
                <a:buSzPct val="40000"/>
                <a:buFont typeface="Wingdings" panose="05000000000000000000" pitchFamily="2" charset="2"/>
                <a:buNone/>
              </a:pPr>
              <a:r>
                <a:rPr lang="en-US" altLang="en-US" sz="2000" b="0" dirty="0">
                  <a:solidFill>
                    <a:schemeClr val="tx1"/>
                  </a:solidFill>
                  <a:latin typeface="Roboto" panose="02000000000000000000" pitchFamily="2" charset="0"/>
                  <a:ea typeface="Roboto" panose="02000000000000000000" pitchFamily="2" charset="0"/>
                </a:rPr>
                <a:t>To effectively use of the Value Stream Mapping Tool and Method to clearly </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identify waste in key end-to-end manufacturing and business processes,</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and create an executable transformation plan</a:t>
              </a:r>
            </a:p>
          </p:txBody>
        </p:sp>
        <p:sp>
          <p:nvSpPr>
            <p:cNvPr id="9" name="Text Box 4">
              <a:extLst>
                <a:ext uri="{FF2B5EF4-FFF2-40B4-BE49-F238E27FC236}">
                  <a16:creationId xmlns:a16="http://schemas.microsoft.com/office/drawing/2014/main" id="{E535AC7D-6648-9018-8FA0-6636C57ABA71}"/>
                </a:ext>
              </a:extLst>
            </p:cNvPr>
            <p:cNvSpPr txBox="1">
              <a:spLocks noChangeArrowheads="1"/>
            </p:cNvSpPr>
            <p:nvPr/>
          </p:nvSpPr>
          <p:spPr bwMode="auto">
            <a:xfrm>
              <a:off x="1632210" y="1711882"/>
              <a:ext cx="1915909" cy="39087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400" dirty="0">
                  <a:solidFill>
                    <a:schemeClr val="tx1"/>
                  </a:solidFill>
                  <a:latin typeface="Roboto" panose="02000000000000000000" pitchFamily="2" charset="0"/>
                  <a:ea typeface="Roboto" panose="02000000000000000000" pitchFamily="2" charset="0"/>
                </a:rPr>
                <a:t>Goal of VSM</a:t>
              </a:r>
            </a:p>
          </p:txBody>
        </p:sp>
      </p:grpSp>
    </p:spTree>
    <p:extLst>
      <p:ext uri="{BB962C8B-B14F-4D97-AF65-F5344CB8AC3E}">
        <p14:creationId xmlns:p14="http://schemas.microsoft.com/office/powerpoint/2010/main" val="128378154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Mapping Linkage to Strategy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a:t>
            </a:fld>
            <a:endParaRPr lang="en-US"/>
          </a:p>
        </p:txBody>
      </p:sp>
      <p:grpSp>
        <p:nvGrpSpPr>
          <p:cNvPr id="80" name="Group 79">
            <a:extLst>
              <a:ext uri="{FF2B5EF4-FFF2-40B4-BE49-F238E27FC236}">
                <a16:creationId xmlns:a16="http://schemas.microsoft.com/office/drawing/2014/main" id="{9884FE7B-C7AF-190A-DDEB-0CA5CE2F4743}"/>
              </a:ext>
            </a:extLst>
          </p:cNvPr>
          <p:cNvGrpSpPr/>
          <p:nvPr/>
        </p:nvGrpSpPr>
        <p:grpSpPr>
          <a:xfrm>
            <a:off x="1997869" y="1805940"/>
            <a:ext cx="8196262" cy="4323398"/>
            <a:chOff x="522288" y="1438275"/>
            <a:chExt cx="8196262" cy="4691063"/>
          </a:xfrm>
        </p:grpSpPr>
        <p:sp>
          <p:nvSpPr>
            <p:cNvPr id="73" name="Oval 2">
              <a:extLst>
                <a:ext uri="{FF2B5EF4-FFF2-40B4-BE49-F238E27FC236}">
                  <a16:creationId xmlns:a16="http://schemas.microsoft.com/office/drawing/2014/main" id="{23E51728-8194-1C56-6468-CB53EF383D0D}"/>
                </a:ext>
              </a:extLst>
            </p:cNvPr>
            <p:cNvSpPr>
              <a:spLocks noChangeArrowheads="1"/>
            </p:cNvSpPr>
            <p:nvPr/>
          </p:nvSpPr>
          <p:spPr bwMode="auto">
            <a:xfrm>
              <a:off x="522288" y="2517775"/>
              <a:ext cx="2220912" cy="2189163"/>
            </a:xfrm>
            <a:prstGeom prst="ellipse">
              <a:avLst/>
            </a:prstGeom>
            <a:solidFill>
              <a:schemeClr val="accent4"/>
            </a:solidFill>
            <a:ln w="6350">
              <a:solidFill>
                <a:schemeClr val="folHlink"/>
              </a:solidFill>
              <a:round/>
              <a:headEnd/>
              <a:tailEnd/>
            </a:ln>
            <a:effectLst/>
          </p:spPr>
          <p:txBody>
            <a:bodyPr wrap="none" lIns="45720" rIns="45720" anchor="ctr"/>
            <a:lstStyle/>
            <a:p>
              <a:pPr marL="101600" indent="-101600" algn="ctr">
                <a:spcBef>
                  <a:spcPct val="30000"/>
                </a:spcBef>
                <a:buClr>
                  <a:schemeClr val="folHlink"/>
                </a:buClr>
                <a:defRPr/>
              </a:pPr>
              <a:r>
                <a:rPr lang="en-GB" sz="1800" b="1"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Key</a:t>
              </a:r>
            </a:p>
            <a:p>
              <a:pPr marL="101600" indent="-101600" algn="ctr">
                <a:spcBef>
                  <a:spcPct val="30000"/>
                </a:spcBef>
                <a:buClr>
                  <a:schemeClr val="folHlink"/>
                </a:buClr>
                <a:defRPr/>
              </a:pPr>
              <a:r>
                <a:rPr lang="en-GB" sz="1800" b="1"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Business</a:t>
              </a:r>
            </a:p>
            <a:p>
              <a:pPr marL="101600" indent="-101600" algn="ctr">
                <a:spcBef>
                  <a:spcPct val="30000"/>
                </a:spcBef>
                <a:buClr>
                  <a:schemeClr val="folHlink"/>
                </a:buClr>
                <a:defRPr/>
              </a:pPr>
              <a:r>
                <a:rPr lang="en-GB" sz="1800" b="1"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Imperatives</a:t>
              </a:r>
            </a:p>
          </p:txBody>
        </p:sp>
        <p:sp>
          <p:nvSpPr>
            <p:cNvPr id="74" name="Rectangle 4">
              <a:extLst>
                <a:ext uri="{FF2B5EF4-FFF2-40B4-BE49-F238E27FC236}">
                  <a16:creationId xmlns:a16="http://schemas.microsoft.com/office/drawing/2014/main" id="{FCBBFFA0-752F-0F06-A0DF-0E69F7F17051}"/>
                </a:ext>
              </a:extLst>
            </p:cNvPr>
            <p:cNvSpPr>
              <a:spLocks noChangeArrowheads="1"/>
            </p:cNvSpPr>
            <p:nvPr/>
          </p:nvSpPr>
          <p:spPr bwMode="auto">
            <a:xfrm>
              <a:off x="2914650" y="2590800"/>
              <a:ext cx="2686050" cy="2208213"/>
            </a:xfrm>
            <a:prstGeom prst="rect">
              <a:avLst/>
            </a:prstGeom>
            <a:solidFill>
              <a:schemeClr val="accent5"/>
            </a:solidFill>
            <a:ln w="6350">
              <a:solidFill>
                <a:schemeClr val="tx1"/>
              </a:solidFill>
              <a:miter lim="800000"/>
              <a:headEnd/>
              <a:tailEnd/>
            </a:ln>
            <a:effectLst/>
          </p:spPr>
          <p:txBody>
            <a:bodyPr wrap="none" lIns="45720" rIns="45720" anchor="ctr"/>
            <a:lstStyle/>
            <a:p>
              <a:pPr algn="ctr">
                <a:spcBef>
                  <a:spcPct val="30000"/>
                </a:spcBef>
                <a:defRPr/>
              </a:pPr>
              <a:r>
                <a:rPr lang="en-GB" sz="1800" b="1"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Identify</a:t>
              </a:r>
            </a:p>
            <a:p>
              <a:pPr algn="ctr">
                <a:spcBef>
                  <a:spcPct val="30000"/>
                </a:spcBef>
                <a:defRPr/>
              </a:pPr>
              <a:r>
                <a:rPr lang="en-GB" sz="1800" b="1"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and Map</a:t>
              </a:r>
            </a:p>
            <a:p>
              <a:pPr algn="ctr">
                <a:spcBef>
                  <a:spcPct val="30000"/>
                </a:spcBef>
                <a:defRPr/>
              </a:pPr>
              <a:r>
                <a:rPr lang="en-GB" sz="1800" b="1"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Value Streams</a:t>
              </a:r>
            </a:p>
            <a:p>
              <a:pPr algn="ctr">
                <a:spcBef>
                  <a:spcPct val="30000"/>
                </a:spcBef>
                <a:buClr>
                  <a:schemeClr val="folHlink"/>
                </a:buClr>
                <a:defRPr/>
              </a:pPr>
              <a:endParaRPr lang="en-GB" sz="1800" b="1"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endParaRPr>
            </a:p>
          </p:txBody>
        </p:sp>
        <p:sp>
          <p:nvSpPr>
            <p:cNvPr id="75" name="AutoShape 5">
              <a:extLst>
                <a:ext uri="{FF2B5EF4-FFF2-40B4-BE49-F238E27FC236}">
                  <a16:creationId xmlns:a16="http://schemas.microsoft.com/office/drawing/2014/main" id="{39589DB1-2ABE-C178-7B2D-BE3ACC7E83F9}"/>
                </a:ext>
              </a:extLst>
            </p:cNvPr>
            <p:cNvSpPr>
              <a:spLocks noChangeArrowheads="1"/>
            </p:cNvSpPr>
            <p:nvPr/>
          </p:nvSpPr>
          <p:spPr bwMode="auto">
            <a:xfrm>
              <a:off x="5614988" y="1438275"/>
              <a:ext cx="792162" cy="4276725"/>
            </a:xfrm>
            <a:prstGeom prst="cube">
              <a:avLst>
                <a:gd name="adj" fmla="val 78426"/>
              </a:avLst>
            </a:prstGeom>
            <a:solidFill>
              <a:srgbClr val="DDDDDD"/>
            </a:solidFill>
            <a:ln w="6350">
              <a:solidFill>
                <a:schemeClr val="tx1"/>
              </a:solidFill>
              <a:miter lim="800000"/>
              <a:headEnd/>
              <a:tailEnd/>
            </a:ln>
          </p:spPr>
          <p:txBody>
            <a:bodyPr wrap="none" lIns="45720" rIns="45720"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6" name="Freeform 6">
              <a:extLst>
                <a:ext uri="{FF2B5EF4-FFF2-40B4-BE49-F238E27FC236}">
                  <a16:creationId xmlns:a16="http://schemas.microsoft.com/office/drawing/2014/main" id="{76F56516-3DA6-F9A1-CCA3-A1F1AAB8EF26}"/>
                </a:ext>
              </a:extLst>
            </p:cNvPr>
            <p:cNvSpPr>
              <a:spLocks/>
            </p:cNvSpPr>
            <p:nvPr/>
          </p:nvSpPr>
          <p:spPr bwMode="auto">
            <a:xfrm>
              <a:off x="6111875" y="1533525"/>
              <a:ext cx="2606675" cy="4327525"/>
            </a:xfrm>
            <a:custGeom>
              <a:avLst/>
              <a:gdLst>
                <a:gd name="T0" fmla="*/ 12865 w 1621"/>
                <a:gd name="T1" fmla="*/ 1061790 h 1777"/>
                <a:gd name="T2" fmla="*/ 1498718 w 1621"/>
                <a:gd name="T3" fmla="*/ 1061790 h 1777"/>
                <a:gd name="T4" fmla="*/ 1498718 w 1621"/>
                <a:gd name="T5" fmla="*/ 0 h 1777"/>
                <a:gd name="T6" fmla="*/ 2605067 w 1621"/>
                <a:gd name="T7" fmla="*/ 2172286 h 1777"/>
                <a:gd name="T8" fmla="*/ 1505150 w 1621"/>
                <a:gd name="T9" fmla="*/ 4325090 h 1777"/>
                <a:gd name="T10" fmla="*/ 1505150 w 1621"/>
                <a:gd name="T11" fmla="*/ 3273041 h 1777"/>
                <a:gd name="T12" fmla="*/ 6432 w 1621"/>
                <a:gd name="T13" fmla="*/ 3273041 h 1777"/>
                <a:gd name="T14" fmla="*/ 32161 w 1621"/>
                <a:gd name="T15" fmla="*/ 3107441 h 1777"/>
                <a:gd name="T16" fmla="*/ 0 w 1621"/>
                <a:gd name="T17" fmla="*/ 2932099 h 1777"/>
                <a:gd name="T18" fmla="*/ 64323 w 1621"/>
                <a:gd name="T19" fmla="*/ 2747016 h 1777"/>
                <a:gd name="T20" fmla="*/ 19297 w 1621"/>
                <a:gd name="T21" fmla="*/ 2630122 h 1777"/>
                <a:gd name="T22" fmla="*/ 51458 w 1621"/>
                <a:gd name="T23" fmla="*/ 2357369 h 1777"/>
                <a:gd name="T24" fmla="*/ 12865 w 1621"/>
                <a:gd name="T25" fmla="*/ 2220992 h 1777"/>
                <a:gd name="T26" fmla="*/ 45026 w 1621"/>
                <a:gd name="T27" fmla="*/ 2045651 h 1777"/>
                <a:gd name="T28" fmla="*/ 12865 w 1621"/>
                <a:gd name="T29" fmla="*/ 1850827 h 1777"/>
                <a:gd name="T30" fmla="*/ 51458 w 1621"/>
                <a:gd name="T31" fmla="*/ 1733932 h 1777"/>
                <a:gd name="T32" fmla="*/ 12865 w 1621"/>
                <a:gd name="T33" fmla="*/ 1568332 h 1777"/>
                <a:gd name="T34" fmla="*/ 45026 w 1621"/>
                <a:gd name="T35" fmla="*/ 1246873 h 1777"/>
                <a:gd name="T36" fmla="*/ 12865 w 1621"/>
                <a:gd name="T37" fmla="*/ 1168943 h 1777"/>
                <a:gd name="T38" fmla="*/ 12865 w 1621"/>
                <a:gd name="T39" fmla="*/ 1061790 h 17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21" h="1777">
                  <a:moveTo>
                    <a:pt x="8" y="436"/>
                  </a:moveTo>
                  <a:lnTo>
                    <a:pt x="932" y="436"/>
                  </a:lnTo>
                  <a:lnTo>
                    <a:pt x="932" y="0"/>
                  </a:lnTo>
                  <a:lnTo>
                    <a:pt x="1620" y="892"/>
                  </a:lnTo>
                  <a:lnTo>
                    <a:pt x="936" y="1776"/>
                  </a:lnTo>
                  <a:lnTo>
                    <a:pt x="936" y="1344"/>
                  </a:lnTo>
                  <a:lnTo>
                    <a:pt x="4" y="1344"/>
                  </a:lnTo>
                  <a:lnTo>
                    <a:pt x="20" y="1276"/>
                  </a:lnTo>
                  <a:lnTo>
                    <a:pt x="0" y="1204"/>
                  </a:lnTo>
                  <a:lnTo>
                    <a:pt x="40" y="1128"/>
                  </a:lnTo>
                  <a:lnTo>
                    <a:pt x="12" y="1080"/>
                  </a:lnTo>
                  <a:lnTo>
                    <a:pt x="32" y="968"/>
                  </a:lnTo>
                  <a:lnTo>
                    <a:pt x="8" y="912"/>
                  </a:lnTo>
                  <a:lnTo>
                    <a:pt x="28" y="840"/>
                  </a:lnTo>
                  <a:lnTo>
                    <a:pt x="8" y="760"/>
                  </a:lnTo>
                  <a:lnTo>
                    <a:pt x="32" y="712"/>
                  </a:lnTo>
                  <a:lnTo>
                    <a:pt x="8" y="644"/>
                  </a:lnTo>
                  <a:lnTo>
                    <a:pt x="28" y="512"/>
                  </a:lnTo>
                  <a:lnTo>
                    <a:pt x="8" y="480"/>
                  </a:lnTo>
                  <a:lnTo>
                    <a:pt x="8" y="436"/>
                  </a:lnTo>
                </a:path>
              </a:pathLst>
            </a:custGeom>
            <a:solidFill>
              <a:schemeClr val="accent5"/>
            </a:solidFill>
            <a:ln w="6350" cap="rnd" cmpd="sng">
              <a:solidFill>
                <a:schemeClr val="tx1"/>
              </a:solidFill>
              <a:prstDash val="solid"/>
              <a:round/>
              <a:headEnd type="none" w="med" len="med"/>
              <a:tailEnd type="none" w="med" len="med"/>
            </a:ln>
            <a:effectLst/>
          </p:spPr>
          <p:txBody>
            <a:bodyPr lIns="45720" rIns="45720"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77" name="Text Box 7">
              <a:extLst>
                <a:ext uri="{FF2B5EF4-FFF2-40B4-BE49-F238E27FC236}">
                  <a16:creationId xmlns:a16="http://schemas.microsoft.com/office/drawing/2014/main" id="{2C75FE16-1CCB-E3A1-400C-81F4F0446EF4}"/>
                </a:ext>
              </a:extLst>
            </p:cNvPr>
            <p:cNvSpPr txBox="1">
              <a:spLocks noChangeArrowheads="1"/>
            </p:cNvSpPr>
            <p:nvPr/>
          </p:nvSpPr>
          <p:spPr bwMode="auto">
            <a:xfrm>
              <a:off x="5272088" y="5835650"/>
              <a:ext cx="1128712" cy="29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45720" rIns="45720"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50000"/>
                </a:spcBef>
              </a:pPr>
              <a:r>
                <a:rPr lang="en-GB" altLang="en-US" sz="1800" dirty="0">
                  <a:solidFill>
                    <a:schemeClr val="tx1"/>
                  </a:solidFill>
                  <a:latin typeface="Roboto" panose="02000000000000000000" pitchFamily="2" charset="0"/>
                  <a:ea typeface="Roboto" panose="02000000000000000000" pitchFamily="2" charset="0"/>
                </a:rPr>
                <a:t>WASTE</a:t>
              </a:r>
            </a:p>
          </p:txBody>
        </p:sp>
        <p:sp>
          <p:nvSpPr>
            <p:cNvPr id="78" name="Rectangle 8">
              <a:extLst>
                <a:ext uri="{FF2B5EF4-FFF2-40B4-BE49-F238E27FC236}">
                  <a16:creationId xmlns:a16="http://schemas.microsoft.com/office/drawing/2014/main" id="{9E911E8F-AC00-9331-E472-3CB0A9DF2A49}"/>
                </a:ext>
              </a:extLst>
            </p:cNvPr>
            <p:cNvSpPr>
              <a:spLocks noChangeArrowheads="1"/>
            </p:cNvSpPr>
            <p:nvPr/>
          </p:nvSpPr>
          <p:spPr bwMode="auto">
            <a:xfrm>
              <a:off x="6167438" y="2849563"/>
              <a:ext cx="2454275" cy="1302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GB" altLang="en-US" sz="1800" dirty="0">
                  <a:effectLst>
                    <a:outerShdw blurRad="38100" dist="38100" dir="2700000" algn="tl">
                      <a:srgbClr val="000000">
                        <a:alpha val="43137"/>
                      </a:srgbClr>
                    </a:outerShdw>
                  </a:effectLst>
                  <a:latin typeface="Roboto" panose="02000000000000000000" pitchFamily="2" charset="0"/>
                  <a:ea typeface="Roboto" panose="02000000000000000000" pitchFamily="2" charset="0"/>
                </a:rPr>
                <a:t>Make </a:t>
              </a:r>
              <a:br>
                <a:rPr lang="en-GB" altLang="en-US" sz="1800" dirty="0">
                  <a:effectLst>
                    <a:outerShdw blurRad="38100" dist="38100" dir="2700000" algn="tl">
                      <a:srgbClr val="000000">
                        <a:alpha val="43137"/>
                      </a:srgbClr>
                    </a:outerShdw>
                  </a:effectLst>
                  <a:latin typeface="Roboto" panose="02000000000000000000" pitchFamily="2" charset="0"/>
                  <a:ea typeface="Roboto" panose="02000000000000000000" pitchFamily="2" charset="0"/>
                </a:rPr>
              </a:br>
              <a:r>
                <a:rPr lang="en-GB" altLang="en-US" sz="1800" dirty="0">
                  <a:effectLst>
                    <a:outerShdw blurRad="38100" dist="38100" dir="2700000" algn="tl">
                      <a:srgbClr val="000000">
                        <a:alpha val="43137"/>
                      </a:srgbClr>
                    </a:outerShdw>
                  </a:effectLst>
                  <a:latin typeface="Roboto" panose="02000000000000000000" pitchFamily="2" charset="0"/>
                  <a:ea typeface="Roboto" panose="02000000000000000000" pitchFamily="2" charset="0"/>
                </a:rPr>
                <a:t>Improvements</a:t>
              </a:r>
            </a:p>
            <a:p>
              <a:pPr>
                <a:lnSpc>
                  <a:spcPct val="100000"/>
                </a:lnSpc>
                <a:spcBef>
                  <a:spcPct val="0"/>
                </a:spcBef>
              </a:pPr>
              <a:r>
                <a:rPr lang="en-GB" altLang="en-US" sz="1800" dirty="0">
                  <a:effectLst>
                    <a:outerShdw blurRad="38100" dist="38100" dir="2700000" algn="tl">
                      <a:srgbClr val="000000">
                        <a:alpha val="43137"/>
                      </a:srgbClr>
                    </a:outerShdw>
                  </a:effectLst>
                  <a:latin typeface="Roboto" panose="02000000000000000000" pitchFamily="2" charset="0"/>
                  <a:ea typeface="Roboto" panose="02000000000000000000" pitchFamily="2" charset="0"/>
                </a:rPr>
                <a:t>that </a:t>
              </a:r>
              <a:br>
                <a:rPr lang="en-GB" altLang="en-US" sz="1800" dirty="0">
                  <a:effectLst>
                    <a:outerShdw blurRad="38100" dist="38100" dir="2700000" algn="tl">
                      <a:srgbClr val="000000">
                        <a:alpha val="43137"/>
                      </a:srgbClr>
                    </a:outerShdw>
                  </a:effectLst>
                  <a:latin typeface="Roboto" panose="02000000000000000000" pitchFamily="2" charset="0"/>
                  <a:ea typeface="Roboto" panose="02000000000000000000" pitchFamily="2" charset="0"/>
                </a:rPr>
              </a:br>
              <a:r>
                <a:rPr lang="en-GB" altLang="en-US" sz="1800" dirty="0">
                  <a:effectLst>
                    <a:outerShdw blurRad="38100" dist="38100" dir="2700000" algn="tl">
                      <a:srgbClr val="000000">
                        <a:alpha val="43137"/>
                      </a:srgbClr>
                    </a:outerShdw>
                  </a:effectLst>
                  <a:latin typeface="Roboto" panose="02000000000000000000" pitchFamily="2" charset="0"/>
                  <a:ea typeface="Roboto" panose="02000000000000000000" pitchFamily="2" charset="0"/>
                </a:rPr>
                <a:t>Eliminate Waste</a:t>
              </a:r>
            </a:p>
          </p:txBody>
        </p:sp>
        <p:sp>
          <p:nvSpPr>
            <p:cNvPr id="79" name="Rectangle 9">
              <a:extLst>
                <a:ext uri="{FF2B5EF4-FFF2-40B4-BE49-F238E27FC236}">
                  <a16:creationId xmlns:a16="http://schemas.microsoft.com/office/drawing/2014/main" id="{E93612DC-0712-9E21-53A0-FC15B4132D74}"/>
                </a:ext>
              </a:extLst>
            </p:cNvPr>
            <p:cNvSpPr>
              <a:spLocks noChangeArrowheads="1"/>
            </p:cNvSpPr>
            <p:nvPr/>
          </p:nvSpPr>
          <p:spPr bwMode="auto">
            <a:xfrm>
              <a:off x="560388" y="4848225"/>
              <a:ext cx="2103437" cy="1169988"/>
            </a:xfrm>
            <a:prstGeom prst="rect">
              <a:avLst/>
            </a:prstGeom>
            <a:solidFill>
              <a:schemeClr val="accent4"/>
            </a:solidFill>
            <a:ln w="6350">
              <a:solidFill>
                <a:schemeClr val="folHlink"/>
              </a:solidFill>
              <a:miter lim="800000"/>
              <a:headEnd/>
              <a:tailEnd/>
            </a:ln>
            <a:effectLst/>
          </p:spPr>
          <p:txBody>
            <a:bodyPr wrap="none" lIns="45720" rIns="45720" anchor="ctr"/>
            <a:lstStyle>
              <a:lvl1pPr marL="101600" indent="-101600">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buClr>
                  <a:schemeClr val="folHlink"/>
                </a:buClr>
                <a:defRPr/>
              </a:pPr>
              <a:r>
                <a:rPr lang="en-US" altLang="en-US" sz="1400">
                  <a:effectLst>
                    <a:outerShdw blurRad="38100" dist="38100" dir="2700000" algn="tl">
                      <a:srgbClr val="000000"/>
                    </a:outerShdw>
                  </a:effectLst>
                  <a:latin typeface="Roboto" panose="02000000000000000000" pitchFamily="2" charset="0"/>
                  <a:ea typeface="Roboto" panose="02000000000000000000" pitchFamily="2" charset="0"/>
                </a:rPr>
                <a:t>Identify strategic</a:t>
              </a:r>
            </a:p>
            <a:p>
              <a:pPr algn="ctr">
                <a:buClr>
                  <a:schemeClr val="folHlink"/>
                </a:buClr>
                <a:defRPr/>
              </a:pPr>
              <a:r>
                <a:rPr lang="en-US" altLang="en-US" sz="1400">
                  <a:effectLst>
                    <a:outerShdw blurRad="38100" dist="38100" dir="2700000" algn="tl">
                      <a:srgbClr val="000000"/>
                    </a:outerShdw>
                  </a:effectLst>
                  <a:latin typeface="Roboto" panose="02000000000000000000" pitchFamily="2" charset="0"/>
                  <a:ea typeface="Roboto" panose="02000000000000000000" pitchFamily="2" charset="0"/>
                </a:rPr>
                <a:t>objectives and major</a:t>
              </a:r>
              <a:br>
                <a:rPr lang="en-US" altLang="en-US" sz="1400">
                  <a:effectLst>
                    <a:outerShdw blurRad="38100" dist="38100" dir="2700000" algn="tl">
                      <a:srgbClr val="000000"/>
                    </a:outerShdw>
                  </a:effectLst>
                  <a:latin typeface="Roboto" panose="02000000000000000000" pitchFamily="2" charset="0"/>
                  <a:ea typeface="Roboto" panose="02000000000000000000" pitchFamily="2" charset="0"/>
                </a:rPr>
              </a:br>
              <a:r>
                <a:rPr lang="en-US" altLang="en-US" sz="1400">
                  <a:effectLst>
                    <a:outerShdw blurRad="38100" dist="38100" dir="2700000" algn="tl">
                      <a:srgbClr val="000000"/>
                    </a:outerShdw>
                  </a:effectLst>
                  <a:latin typeface="Roboto" panose="02000000000000000000" pitchFamily="2" charset="0"/>
                  <a:ea typeface="Roboto" panose="02000000000000000000" pitchFamily="2" charset="0"/>
                </a:rPr>
                <a:t>business improvement</a:t>
              </a:r>
              <a:br>
                <a:rPr lang="en-US" altLang="en-US" sz="1400">
                  <a:effectLst>
                    <a:outerShdw blurRad="38100" dist="38100" dir="2700000" algn="tl">
                      <a:srgbClr val="000000"/>
                    </a:outerShdw>
                  </a:effectLst>
                  <a:latin typeface="Roboto" panose="02000000000000000000" pitchFamily="2" charset="0"/>
                  <a:ea typeface="Roboto" panose="02000000000000000000" pitchFamily="2" charset="0"/>
                </a:rPr>
              </a:br>
              <a:r>
                <a:rPr lang="en-US" altLang="en-US" sz="1400">
                  <a:effectLst>
                    <a:outerShdw blurRad="38100" dist="38100" dir="2700000" algn="tl">
                      <a:srgbClr val="000000"/>
                    </a:outerShdw>
                  </a:effectLst>
                  <a:latin typeface="Roboto" panose="02000000000000000000" pitchFamily="2" charset="0"/>
                  <a:ea typeface="Roboto" panose="02000000000000000000" pitchFamily="2" charset="0"/>
                </a:rPr>
                <a:t>opportunities</a:t>
              </a:r>
            </a:p>
          </p:txBody>
        </p:sp>
      </p:grpSp>
    </p:spTree>
    <p:extLst>
      <p:ext uri="{BB962C8B-B14F-4D97-AF65-F5344CB8AC3E}">
        <p14:creationId xmlns:p14="http://schemas.microsoft.com/office/powerpoint/2010/main" val="22502765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Business Case Examples that support Key Business Imperatives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a:t>
            </a:fld>
            <a:endParaRPr lang="en-US"/>
          </a:p>
        </p:txBody>
      </p:sp>
      <p:graphicFrame>
        <p:nvGraphicFramePr>
          <p:cNvPr id="3" name="Group 35">
            <a:extLst>
              <a:ext uri="{FF2B5EF4-FFF2-40B4-BE49-F238E27FC236}">
                <a16:creationId xmlns:a16="http://schemas.microsoft.com/office/drawing/2014/main" id="{3E0AA74B-A680-547F-FC5A-64A02B442505}"/>
              </a:ext>
            </a:extLst>
          </p:cNvPr>
          <p:cNvGraphicFramePr>
            <a:graphicFrameLocks noGrp="1"/>
          </p:cNvGraphicFramePr>
          <p:nvPr>
            <p:extLst>
              <p:ext uri="{D42A27DB-BD31-4B8C-83A1-F6EECF244321}">
                <p14:modId xmlns:p14="http://schemas.microsoft.com/office/powerpoint/2010/main" val="3813228344"/>
              </p:ext>
            </p:extLst>
          </p:nvPr>
        </p:nvGraphicFramePr>
        <p:xfrm>
          <a:off x="1993900" y="2065885"/>
          <a:ext cx="8204200" cy="3990113"/>
        </p:xfrm>
        <a:graphic>
          <a:graphicData uri="http://schemas.openxmlformats.org/drawingml/2006/table">
            <a:tbl>
              <a:tblPr/>
              <a:tblGrid>
                <a:gridCol w="1681163">
                  <a:extLst>
                    <a:ext uri="{9D8B030D-6E8A-4147-A177-3AD203B41FA5}">
                      <a16:colId xmlns:a16="http://schemas.microsoft.com/office/drawing/2014/main" val="20000"/>
                    </a:ext>
                  </a:extLst>
                </a:gridCol>
                <a:gridCol w="6523037">
                  <a:extLst>
                    <a:ext uri="{9D8B030D-6E8A-4147-A177-3AD203B41FA5}">
                      <a16:colId xmlns:a16="http://schemas.microsoft.com/office/drawing/2014/main" val="20001"/>
                    </a:ext>
                  </a:extLst>
                </a:gridCol>
              </a:tblGrid>
              <a:tr h="34793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Problem</a:t>
                      </a:r>
                    </a:p>
                  </a:txBody>
                  <a:tcPr marT="45714" marB="45714"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Description</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612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Capacity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Overtime problem, Employee frustration, Need more people/ equipment</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523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Response Time</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Machine downtime, Change-over of major equipment takes too long</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612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Quality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First Pass Yield of products, Product Launch ineffectiveness, </a:t>
                      </a:r>
                      <a:b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b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chasing information</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Inventory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Parts waiting in queues</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507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Lead Time</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Total time for one piece to complete the process is too long</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Productivity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Costs are too high, they keep throwing more onto our department</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Technology Shift</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New MRP system, Integration of new technology</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Cash Flow</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Receivables are too high, over-budget, not enough resources</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45200664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Mapping Roadmap to Success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a:t>
            </a:fld>
            <a:endParaRPr lang="en-US"/>
          </a:p>
        </p:txBody>
      </p:sp>
      <p:grpSp>
        <p:nvGrpSpPr>
          <p:cNvPr id="25" name="Group 24">
            <a:extLst>
              <a:ext uri="{FF2B5EF4-FFF2-40B4-BE49-F238E27FC236}">
                <a16:creationId xmlns:a16="http://schemas.microsoft.com/office/drawing/2014/main" id="{36B341C3-5B79-2C39-21C4-288F438DFD12}"/>
              </a:ext>
            </a:extLst>
          </p:cNvPr>
          <p:cNvGrpSpPr/>
          <p:nvPr/>
        </p:nvGrpSpPr>
        <p:grpSpPr>
          <a:xfrm>
            <a:off x="620078" y="1864043"/>
            <a:ext cx="10718200" cy="3970337"/>
            <a:chOff x="414338" y="1624013"/>
            <a:chExt cx="8324850" cy="3970337"/>
          </a:xfrm>
        </p:grpSpPr>
        <p:grpSp>
          <p:nvGrpSpPr>
            <p:cNvPr id="3" name="Group 2">
              <a:extLst>
                <a:ext uri="{FF2B5EF4-FFF2-40B4-BE49-F238E27FC236}">
                  <a16:creationId xmlns:a16="http://schemas.microsoft.com/office/drawing/2014/main" id="{3E2D4476-A0C8-47DF-0EA0-728AC0C24F0B}"/>
                </a:ext>
              </a:extLst>
            </p:cNvPr>
            <p:cNvGrpSpPr>
              <a:grpSpLocks/>
            </p:cNvGrpSpPr>
            <p:nvPr/>
          </p:nvGrpSpPr>
          <p:grpSpPr bwMode="auto">
            <a:xfrm>
              <a:off x="2205038" y="1624013"/>
              <a:ext cx="6534150" cy="2776537"/>
              <a:chOff x="1389" y="1410"/>
              <a:chExt cx="4116" cy="1795"/>
            </a:xfrm>
          </p:grpSpPr>
          <p:sp>
            <p:nvSpPr>
              <p:cNvPr id="5" name="Rectangle 3">
                <a:extLst>
                  <a:ext uri="{FF2B5EF4-FFF2-40B4-BE49-F238E27FC236}">
                    <a16:creationId xmlns:a16="http://schemas.microsoft.com/office/drawing/2014/main" id="{5F9621AF-91A5-3579-72E0-98295640C397}"/>
                  </a:ext>
                </a:extLst>
              </p:cNvPr>
              <p:cNvSpPr>
                <a:spLocks noChangeArrowheads="1"/>
              </p:cNvSpPr>
              <p:nvPr/>
            </p:nvSpPr>
            <p:spPr bwMode="auto">
              <a:xfrm>
                <a:off x="1389" y="1410"/>
                <a:ext cx="4116" cy="1795"/>
              </a:xfrm>
              <a:prstGeom prst="rect">
                <a:avLst/>
              </a:prstGeom>
              <a:solidFill>
                <a:schemeClr val="bg2"/>
              </a:solidFill>
              <a:ln w="12700" cap="sq">
                <a:solidFill>
                  <a:srgbClr val="0033CC"/>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 name="Text Box 4">
                <a:extLst>
                  <a:ext uri="{FF2B5EF4-FFF2-40B4-BE49-F238E27FC236}">
                    <a16:creationId xmlns:a16="http://schemas.microsoft.com/office/drawing/2014/main" id="{2D8ABF48-7910-626C-27ED-C57F9FB2C5B4}"/>
                  </a:ext>
                </a:extLst>
              </p:cNvPr>
              <p:cNvSpPr txBox="1">
                <a:spLocks noChangeArrowheads="1"/>
              </p:cNvSpPr>
              <p:nvPr/>
            </p:nvSpPr>
            <p:spPr bwMode="auto">
              <a:xfrm>
                <a:off x="2529" y="1507"/>
                <a:ext cx="1860" cy="21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i="1" dirty="0">
                    <a:solidFill>
                      <a:schemeClr val="tx1"/>
                    </a:solidFill>
                    <a:latin typeface="Roboto" panose="02000000000000000000" pitchFamily="2" charset="0"/>
                    <a:ea typeface="Roboto" panose="02000000000000000000" pitchFamily="2" charset="0"/>
                  </a:rPr>
                  <a:t>Repeat for each identified Value Stream</a:t>
                </a:r>
              </a:p>
            </p:txBody>
          </p:sp>
        </p:grpSp>
        <p:sp>
          <p:nvSpPr>
            <p:cNvPr id="7" name="Oval 6">
              <a:extLst>
                <a:ext uri="{FF2B5EF4-FFF2-40B4-BE49-F238E27FC236}">
                  <a16:creationId xmlns:a16="http://schemas.microsoft.com/office/drawing/2014/main" id="{B983B757-3E20-F51D-A49E-95CFC66B7BEB}"/>
                </a:ext>
              </a:extLst>
            </p:cNvPr>
            <p:cNvSpPr>
              <a:spLocks noChangeArrowheads="1"/>
            </p:cNvSpPr>
            <p:nvPr/>
          </p:nvSpPr>
          <p:spPr bwMode="auto">
            <a:xfrm>
              <a:off x="7662863" y="3070225"/>
              <a:ext cx="976312" cy="1052513"/>
            </a:xfrm>
            <a:prstGeom prst="ellipse">
              <a:avLst/>
            </a:prstGeom>
            <a:solidFill>
              <a:schemeClr val="accent4"/>
            </a:solidFill>
            <a:ln w="6350">
              <a:solidFill>
                <a:schemeClr val="tx1"/>
              </a:solidFill>
              <a:round/>
              <a:headEnd/>
              <a:tailEnd/>
            </a:ln>
          </p:spPr>
          <p:txBody>
            <a:bodyPr wrap="none" lIns="45720" rIns="45720" anchor="ctr"/>
            <a:lstStyle>
              <a:lvl1pPr marL="101600" indent="-101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Repeat</a:t>
              </a:r>
            </a:p>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Cycle</a:t>
              </a:r>
              <a:endParaRPr lang="en-GB" altLang="en-US" sz="1400" b="0">
                <a:latin typeface="Roboto" panose="02000000000000000000" pitchFamily="2" charset="0"/>
                <a:ea typeface="Roboto" panose="02000000000000000000" pitchFamily="2" charset="0"/>
              </a:endParaRPr>
            </a:p>
          </p:txBody>
        </p:sp>
        <p:sp>
          <p:nvSpPr>
            <p:cNvPr id="8" name="Rectangle 8">
              <a:extLst>
                <a:ext uri="{FF2B5EF4-FFF2-40B4-BE49-F238E27FC236}">
                  <a16:creationId xmlns:a16="http://schemas.microsoft.com/office/drawing/2014/main" id="{F4851B9F-9545-35A7-B8AB-63A6DA9A4C47}"/>
                </a:ext>
              </a:extLst>
            </p:cNvPr>
            <p:cNvSpPr>
              <a:spLocks noChangeArrowheads="1"/>
            </p:cNvSpPr>
            <p:nvPr/>
          </p:nvSpPr>
          <p:spPr bwMode="auto">
            <a:xfrm>
              <a:off x="512763" y="3062288"/>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Site Assessment</a:t>
              </a:r>
            </a:p>
          </p:txBody>
        </p:sp>
        <p:sp>
          <p:nvSpPr>
            <p:cNvPr id="9" name="Rectangle 9">
              <a:extLst>
                <a:ext uri="{FF2B5EF4-FFF2-40B4-BE49-F238E27FC236}">
                  <a16:creationId xmlns:a16="http://schemas.microsoft.com/office/drawing/2014/main" id="{F560617D-C996-11EA-C4BE-76FFAE1B07E3}"/>
                </a:ext>
              </a:extLst>
            </p:cNvPr>
            <p:cNvSpPr>
              <a:spLocks noChangeArrowheads="1"/>
            </p:cNvSpPr>
            <p:nvPr/>
          </p:nvSpPr>
          <p:spPr bwMode="auto">
            <a:xfrm>
              <a:off x="512763" y="2800350"/>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1</a:t>
              </a:r>
            </a:p>
          </p:txBody>
        </p:sp>
        <p:sp>
          <p:nvSpPr>
            <p:cNvPr id="10" name="Rectangle 10">
              <a:extLst>
                <a:ext uri="{FF2B5EF4-FFF2-40B4-BE49-F238E27FC236}">
                  <a16:creationId xmlns:a16="http://schemas.microsoft.com/office/drawing/2014/main" id="{A5C399C4-6F83-CC45-7627-48EEDA23FB35}"/>
                </a:ext>
              </a:extLst>
            </p:cNvPr>
            <p:cNvSpPr>
              <a:spLocks noChangeArrowheads="1"/>
            </p:cNvSpPr>
            <p:nvPr/>
          </p:nvSpPr>
          <p:spPr bwMode="auto">
            <a:xfrm>
              <a:off x="2308225"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Preparation</a:t>
              </a:r>
            </a:p>
          </p:txBody>
        </p:sp>
        <p:sp>
          <p:nvSpPr>
            <p:cNvPr id="11" name="Rectangle 11">
              <a:extLst>
                <a:ext uri="{FF2B5EF4-FFF2-40B4-BE49-F238E27FC236}">
                  <a16:creationId xmlns:a16="http://schemas.microsoft.com/office/drawing/2014/main" id="{4CDAB49D-9A50-C6CA-C385-FCCFC8ECF342}"/>
                </a:ext>
              </a:extLst>
            </p:cNvPr>
            <p:cNvSpPr>
              <a:spLocks noChangeArrowheads="1"/>
            </p:cNvSpPr>
            <p:nvPr/>
          </p:nvSpPr>
          <p:spPr bwMode="auto">
            <a:xfrm>
              <a:off x="2308225"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2</a:t>
              </a:r>
            </a:p>
          </p:txBody>
        </p:sp>
        <p:sp>
          <p:nvSpPr>
            <p:cNvPr id="12" name="Rectangle 12">
              <a:extLst>
                <a:ext uri="{FF2B5EF4-FFF2-40B4-BE49-F238E27FC236}">
                  <a16:creationId xmlns:a16="http://schemas.microsoft.com/office/drawing/2014/main" id="{14A3BE56-790E-BC97-C4FD-A842BF1DA266}"/>
                </a:ext>
              </a:extLst>
            </p:cNvPr>
            <p:cNvSpPr>
              <a:spLocks noChangeArrowheads="1"/>
            </p:cNvSpPr>
            <p:nvPr/>
          </p:nvSpPr>
          <p:spPr bwMode="auto">
            <a:xfrm>
              <a:off x="4122738"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Conduct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p>
          </p:txBody>
        </p:sp>
        <p:sp>
          <p:nvSpPr>
            <p:cNvPr id="13" name="Rectangle 13">
              <a:extLst>
                <a:ext uri="{FF2B5EF4-FFF2-40B4-BE49-F238E27FC236}">
                  <a16:creationId xmlns:a16="http://schemas.microsoft.com/office/drawing/2014/main" id="{8E856E23-2E66-C316-1087-94851CCA9F27}"/>
                </a:ext>
              </a:extLst>
            </p:cNvPr>
            <p:cNvSpPr>
              <a:spLocks noChangeArrowheads="1"/>
            </p:cNvSpPr>
            <p:nvPr/>
          </p:nvSpPr>
          <p:spPr bwMode="auto">
            <a:xfrm>
              <a:off x="4122738" y="2795588"/>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3</a:t>
              </a:r>
            </a:p>
          </p:txBody>
        </p:sp>
        <p:sp>
          <p:nvSpPr>
            <p:cNvPr id="14" name="Rectangle 14">
              <a:extLst>
                <a:ext uri="{FF2B5EF4-FFF2-40B4-BE49-F238E27FC236}">
                  <a16:creationId xmlns:a16="http://schemas.microsoft.com/office/drawing/2014/main" id="{61D5857C-18BB-F351-3A5A-3466E123AB89}"/>
                </a:ext>
              </a:extLst>
            </p:cNvPr>
            <p:cNvSpPr>
              <a:spLocks noChangeArrowheads="1"/>
            </p:cNvSpPr>
            <p:nvPr/>
          </p:nvSpPr>
          <p:spPr bwMode="auto">
            <a:xfrm>
              <a:off x="5937250"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Implement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 Plan</a:t>
              </a:r>
            </a:p>
          </p:txBody>
        </p:sp>
        <p:sp>
          <p:nvSpPr>
            <p:cNvPr id="15" name="Rectangle 15">
              <a:extLst>
                <a:ext uri="{FF2B5EF4-FFF2-40B4-BE49-F238E27FC236}">
                  <a16:creationId xmlns:a16="http://schemas.microsoft.com/office/drawing/2014/main" id="{6E2AE2B3-A2C6-E979-CE4A-53CA1208E770}"/>
                </a:ext>
              </a:extLst>
            </p:cNvPr>
            <p:cNvSpPr>
              <a:spLocks noChangeArrowheads="1"/>
            </p:cNvSpPr>
            <p:nvPr/>
          </p:nvSpPr>
          <p:spPr bwMode="auto">
            <a:xfrm>
              <a:off x="5937250"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4</a:t>
              </a:r>
            </a:p>
          </p:txBody>
        </p:sp>
        <p:cxnSp>
          <p:nvCxnSpPr>
            <p:cNvPr id="16" name="AutoShape 16">
              <a:extLst>
                <a:ext uri="{FF2B5EF4-FFF2-40B4-BE49-F238E27FC236}">
                  <a16:creationId xmlns:a16="http://schemas.microsoft.com/office/drawing/2014/main" id="{9D53FE5C-5CCE-3737-FED0-0DCF4CFF16DE}"/>
                </a:ext>
              </a:extLst>
            </p:cNvPr>
            <p:cNvCxnSpPr>
              <a:cxnSpLocks noChangeShapeType="1"/>
              <a:stCxn id="8" idx="3"/>
              <a:endCxn id="10" idx="1"/>
            </p:cNvCxnSpPr>
            <p:nvPr/>
          </p:nvCxnSpPr>
          <p:spPr bwMode="auto">
            <a:xfrm flipV="1">
              <a:off x="2033588" y="3597275"/>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17">
              <a:extLst>
                <a:ext uri="{FF2B5EF4-FFF2-40B4-BE49-F238E27FC236}">
                  <a16:creationId xmlns:a16="http://schemas.microsoft.com/office/drawing/2014/main" id="{782F2126-E5B9-D8B0-704C-7D7713992B97}"/>
                </a:ext>
              </a:extLst>
            </p:cNvPr>
            <p:cNvCxnSpPr>
              <a:cxnSpLocks noChangeShapeType="1"/>
              <a:stCxn id="10" idx="3"/>
              <a:endCxn id="12" idx="1"/>
            </p:cNvCxnSpPr>
            <p:nvPr/>
          </p:nvCxnSpPr>
          <p:spPr bwMode="auto">
            <a:xfrm>
              <a:off x="3829050" y="3597275"/>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18">
              <a:extLst>
                <a:ext uri="{FF2B5EF4-FFF2-40B4-BE49-F238E27FC236}">
                  <a16:creationId xmlns:a16="http://schemas.microsoft.com/office/drawing/2014/main" id="{05658557-802F-2C4A-BB0D-EDF2A50EF536}"/>
                </a:ext>
              </a:extLst>
            </p:cNvPr>
            <p:cNvCxnSpPr>
              <a:cxnSpLocks noChangeShapeType="1"/>
              <a:stCxn id="12" idx="3"/>
              <a:endCxn id="14" idx="1"/>
            </p:cNvCxnSpPr>
            <p:nvPr/>
          </p:nvCxnSpPr>
          <p:spPr bwMode="auto">
            <a:xfrm>
              <a:off x="5643563" y="3597275"/>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9" name="AutoShape 19">
              <a:extLst>
                <a:ext uri="{FF2B5EF4-FFF2-40B4-BE49-F238E27FC236}">
                  <a16:creationId xmlns:a16="http://schemas.microsoft.com/office/drawing/2014/main" id="{179B3D7A-84E0-4A39-15BA-4A72E7CAEC8F}"/>
                </a:ext>
              </a:extLst>
            </p:cNvPr>
            <p:cNvCxnSpPr>
              <a:cxnSpLocks noChangeShapeType="1"/>
              <a:stCxn id="14" idx="3"/>
              <a:endCxn id="7" idx="2"/>
            </p:cNvCxnSpPr>
            <p:nvPr/>
          </p:nvCxnSpPr>
          <p:spPr bwMode="auto">
            <a:xfrm>
              <a:off x="7458075" y="3597275"/>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 name="AutoShape 20">
              <a:extLst>
                <a:ext uri="{FF2B5EF4-FFF2-40B4-BE49-F238E27FC236}">
                  <a16:creationId xmlns:a16="http://schemas.microsoft.com/office/drawing/2014/main" id="{4DBBCD5A-E470-AD09-B6F8-75CFD5CA7189}"/>
                </a:ext>
              </a:extLst>
            </p:cNvPr>
            <p:cNvCxnSpPr>
              <a:cxnSpLocks noChangeShapeType="1"/>
              <a:stCxn id="7" idx="0"/>
              <a:endCxn id="11" idx="0"/>
            </p:cNvCxnSpPr>
            <p:nvPr/>
          </p:nvCxnSpPr>
          <p:spPr bwMode="auto">
            <a:xfrm rot="5400000" flipH="1">
              <a:off x="5473700" y="392113"/>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Rectangle 21">
              <a:extLst>
                <a:ext uri="{FF2B5EF4-FFF2-40B4-BE49-F238E27FC236}">
                  <a16:creationId xmlns:a16="http://schemas.microsoft.com/office/drawing/2014/main" id="{4C18F2A8-1A6C-FCFC-7350-D3290D431D89}"/>
                </a:ext>
              </a:extLst>
            </p:cNvPr>
            <p:cNvSpPr>
              <a:spLocks noChangeArrowheads="1"/>
            </p:cNvSpPr>
            <p:nvPr/>
          </p:nvSpPr>
          <p:spPr bwMode="auto">
            <a:xfrm>
              <a:off x="414338" y="4378325"/>
              <a:ext cx="16748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Identify Strategic Value Streams and Product Families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Plan VSM Events</a:t>
              </a:r>
            </a:p>
          </p:txBody>
        </p:sp>
        <p:sp>
          <p:nvSpPr>
            <p:cNvPr id="22" name="Rectangle 22">
              <a:extLst>
                <a:ext uri="{FF2B5EF4-FFF2-40B4-BE49-F238E27FC236}">
                  <a16:creationId xmlns:a16="http://schemas.microsoft.com/office/drawing/2014/main" id="{CD99205B-5016-E5E8-AB9F-D1579A8804B2}"/>
                </a:ext>
              </a:extLst>
            </p:cNvPr>
            <p:cNvSpPr>
              <a:spLocks noChangeArrowheads="1"/>
            </p:cNvSpPr>
            <p:nvPr/>
          </p:nvSpPr>
          <p:spPr bwMode="auto">
            <a:xfrm>
              <a:off x="22431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Select Value Stream and Product Family</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Confirm VSM Team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logistics for VSM Event</a:t>
              </a:r>
            </a:p>
          </p:txBody>
        </p:sp>
        <p:sp>
          <p:nvSpPr>
            <p:cNvPr id="23" name="Rectangle 23">
              <a:extLst>
                <a:ext uri="{FF2B5EF4-FFF2-40B4-BE49-F238E27FC236}">
                  <a16:creationId xmlns:a16="http://schemas.microsoft.com/office/drawing/2014/main" id="{D23B864D-50F5-AD32-6216-E40F1031B99D}"/>
                </a:ext>
              </a:extLst>
            </p:cNvPr>
            <p:cNvSpPr>
              <a:spLocks noChangeArrowheads="1"/>
            </p:cNvSpPr>
            <p:nvPr/>
          </p:nvSpPr>
          <p:spPr bwMode="auto">
            <a:xfrm>
              <a:off x="40084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Current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Future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Value stream Plan complete</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Site Plan updated</a:t>
              </a:r>
            </a:p>
          </p:txBody>
        </p:sp>
        <p:sp>
          <p:nvSpPr>
            <p:cNvPr id="24" name="Rectangle 24">
              <a:extLst>
                <a:ext uri="{FF2B5EF4-FFF2-40B4-BE49-F238E27FC236}">
                  <a16:creationId xmlns:a16="http://schemas.microsoft.com/office/drawing/2014/main" id="{072E3FDB-6C39-F8AB-154C-E5D525AE7DAF}"/>
                </a:ext>
              </a:extLst>
            </p:cNvPr>
            <p:cNvSpPr>
              <a:spLocks noChangeArrowheads="1"/>
            </p:cNvSpPr>
            <p:nvPr/>
          </p:nvSpPr>
          <p:spPr bwMode="auto">
            <a:xfrm>
              <a:off x="5849938" y="4378325"/>
              <a:ext cx="1827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kaizen events that link to VS Plan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Train Kaizen Teams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Conduct kaizen events and measure results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Manage VS Plan to completion</a:t>
              </a:r>
            </a:p>
          </p:txBody>
        </p:sp>
      </p:grpSp>
    </p:spTree>
    <p:extLst>
      <p:ext uri="{BB962C8B-B14F-4D97-AF65-F5344CB8AC3E}">
        <p14:creationId xmlns:p14="http://schemas.microsoft.com/office/powerpoint/2010/main" val="134849178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dirty="0"/>
              <a:t>Value Stream Mapping Process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a:t>
            </a:fld>
            <a:endParaRPr lang="en-US"/>
          </a:p>
        </p:txBody>
      </p:sp>
      <p:grpSp>
        <p:nvGrpSpPr>
          <p:cNvPr id="25" name="Group 24">
            <a:extLst>
              <a:ext uri="{FF2B5EF4-FFF2-40B4-BE49-F238E27FC236}">
                <a16:creationId xmlns:a16="http://schemas.microsoft.com/office/drawing/2014/main" id="{36B341C3-5B79-2C39-21C4-288F438DFD12}"/>
              </a:ext>
            </a:extLst>
          </p:cNvPr>
          <p:cNvGrpSpPr/>
          <p:nvPr/>
        </p:nvGrpSpPr>
        <p:grpSpPr>
          <a:xfrm>
            <a:off x="746800" y="1864043"/>
            <a:ext cx="10591478" cy="2776537"/>
            <a:chOff x="512763" y="1624013"/>
            <a:chExt cx="8226425" cy="2776537"/>
          </a:xfrm>
        </p:grpSpPr>
        <p:grpSp>
          <p:nvGrpSpPr>
            <p:cNvPr id="3" name="Group 2">
              <a:extLst>
                <a:ext uri="{FF2B5EF4-FFF2-40B4-BE49-F238E27FC236}">
                  <a16:creationId xmlns:a16="http://schemas.microsoft.com/office/drawing/2014/main" id="{3E2D4476-A0C8-47DF-0EA0-728AC0C24F0B}"/>
                </a:ext>
              </a:extLst>
            </p:cNvPr>
            <p:cNvGrpSpPr>
              <a:grpSpLocks/>
            </p:cNvGrpSpPr>
            <p:nvPr/>
          </p:nvGrpSpPr>
          <p:grpSpPr bwMode="auto">
            <a:xfrm>
              <a:off x="2205038" y="1624013"/>
              <a:ext cx="6534150" cy="2776537"/>
              <a:chOff x="1389" y="1410"/>
              <a:chExt cx="4116" cy="1795"/>
            </a:xfrm>
          </p:grpSpPr>
          <p:sp>
            <p:nvSpPr>
              <p:cNvPr id="5" name="Rectangle 3">
                <a:extLst>
                  <a:ext uri="{FF2B5EF4-FFF2-40B4-BE49-F238E27FC236}">
                    <a16:creationId xmlns:a16="http://schemas.microsoft.com/office/drawing/2014/main" id="{5F9621AF-91A5-3579-72E0-98295640C397}"/>
                  </a:ext>
                </a:extLst>
              </p:cNvPr>
              <p:cNvSpPr>
                <a:spLocks noChangeArrowheads="1"/>
              </p:cNvSpPr>
              <p:nvPr/>
            </p:nvSpPr>
            <p:spPr bwMode="auto">
              <a:xfrm>
                <a:off x="1389" y="1410"/>
                <a:ext cx="4116" cy="1795"/>
              </a:xfrm>
              <a:prstGeom prst="rect">
                <a:avLst/>
              </a:prstGeom>
              <a:solidFill>
                <a:schemeClr val="bg2"/>
              </a:solidFill>
              <a:ln w="12700" cap="sq">
                <a:solidFill>
                  <a:srgbClr val="0033CC"/>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 name="Text Box 4">
                <a:extLst>
                  <a:ext uri="{FF2B5EF4-FFF2-40B4-BE49-F238E27FC236}">
                    <a16:creationId xmlns:a16="http://schemas.microsoft.com/office/drawing/2014/main" id="{2D8ABF48-7910-626C-27ED-C57F9FB2C5B4}"/>
                  </a:ext>
                </a:extLst>
              </p:cNvPr>
              <p:cNvSpPr txBox="1">
                <a:spLocks noChangeArrowheads="1"/>
              </p:cNvSpPr>
              <p:nvPr/>
            </p:nvSpPr>
            <p:spPr bwMode="auto">
              <a:xfrm>
                <a:off x="2529" y="1507"/>
                <a:ext cx="1860" cy="21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i="1" dirty="0">
                    <a:solidFill>
                      <a:schemeClr val="tx1"/>
                    </a:solidFill>
                    <a:latin typeface="Roboto" panose="02000000000000000000" pitchFamily="2" charset="0"/>
                    <a:ea typeface="Roboto" panose="02000000000000000000" pitchFamily="2" charset="0"/>
                  </a:rPr>
                  <a:t>Repeat for each identified Value Stream</a:t>
                </a:r>
              </a:p>
            </p:txBody>
          </p:sp>
        </p:grpSp>
        <p:sp>
          <p:nvSpPr>
            <p:cNvPr id="7" name="Oval 6">
              <a:extLst>
                <a:ext uri="{FF2B5EF4-FFF2-40B4-BE49-F238E27FC236}">
                  <a16:creationId xmlns:a16="http://schemas.microsoft.com/office/drawing/2014/main" id="{B983B757-3E20-F51D-A49E-95CFC66B7BEB}"/>
                </a:ext>
              </a:extLst>
            </p:cNvPr>
            <p:cNvSpPr>
              <a:spLocks noChangeArrowheads="1"/>
            </p:cNvSpPr>
            <p:nvPr/>
          </p:nvSpPr>
          <p:spPr bwMode="auto">
            <a:xfrm>
              <a:off x="7662863" y="3070225"/>
              <a:ext cx="976312" cy="1052513"/>
            </a:xfrm>
            <a:prstGeom prst="ellipse">
              <a:avLst/>
            </a:prstGeom>
            <a:solidFill>
              <a:schemeClr val="accent4"/>
            </a:solidFill>
            <a:ln w="6350">
              <a:solidFill>
                <a:schemeClr val="tx1"/>
              </a:solidFill>
              <a:round/>
              <a:headEnd/>
              <a:tailEnd/>
            </a:ln>
          </p:spPr>
          <p:txBody>
            <a:bodyPr wrap="none" lIns="45720" rIns="45720" anchor="ctr"/>
            <a:lstStyle>
              <a:lvl1pPr marL="101600" indent="-101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Repeat</a:t>
              </a:r>
            </a:p>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Cycle</a:t>
              </a:r>
              <a:endParaRPr lang="en-GB" altLang="en-US" sz="1400" b="0">
                <a:latin typeface="Roboto" panose="02000000000000000000" pitchFamily="2" charset="0"/>
                <a:ea typeface="Roboto" panose="02000000000000000000" pitchFamily="2" charset="0"/>
              </a:endParaRPr>
            </a:p>
          </p:txBody>
        </p:sp>
        <p:sp>
          <p:nvSpPr>
            <p:cNvPr id="8" name="Rectangle 8">
              <a:extLst>
                <a:ext uri="{FF2B5EF4-FFF2-40B4-BE49-F238E27FC236}">
                  <a16:creationId xmlns:a16="http://schemas.microsoft.com/office/drawing/2014/main" id="{F4851B9F-9545-35A7-B8AB-63A6DA9A4C47}"/>
                </a:ext>
              </a:extLst>
            </p:cNvPr>
            <p:cNvSpPr>
              <a:spLocks noChangeArrowheads="1"/>
            </p:cNvSpPr>
            <p:nvPr/>
          </p:nvSpPr>
          <p:spPr bwMode="auto">
            <a:xfrm>
              <a:off x="512763" y="3062288"/>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Site Assessment</a:t>
              </a:r>
            </a:p>
          </p:txBody>
        </p:sp>
        <p:sp>
          <p:nvSpPr>
            <p:cNvPr id="9" name="Rectangle 9">
              <a:extLst>
                <a:ext uri="{FF2B5EF4-FFF2-40B4-BE49-F238E27FC236}">
                  <a16:creationId xmlns:a16="http://schemas.microsoft.com/office/drawing/2014/main" id="{F560617D-C996-11EA-C4BE-76FFAE1B07E3}"/>
                </a:ext>
              </a:extLst>
            </p:cNvPr>
            <p:cNvSpPr>
              <a:spLocks noChangeArrowheads="1"/>
            </p:cNvSpPr>
            <p:nvPr/>
          </p:nvSpPr>
          <p:spPr bwMode="auto">
            <a:xfrm>
              <a:off x="512763" y="2800350"/>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1</a:t>
              </a:r>
            </a:p>
          </p:txBody>
        </p:sp>
        <p:sp>
          <p:nvSpPr>
            <p:cNvPr id="10" name="Rectangle 10">
              <a:extLst>
                <a:ext uri="{FF2B5EF4-FFF2-40B4-BE49-F238E27FC236}">
                  <a16:creationId xmlns:a16="http://schemas.microsoft.com/office/drawing/2014/main" id="{A5C399C4-6F83-CC45-7627-48EEDA23FB35}"/>
                </a:ext>
              </a:extLst>
            </p:cNvPr>
            <p:cNvSpPr>
              <a:spLocks noChangeArrowheads="1"/>
            </p:cNvSpPr>
            <p:nvPr/>
          </p:nvSpPr>
          <p:spPr bwMode="auto">
            <a:xfrm>
              <a:off x="2308225"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Preparation</a:t>
              </a:r>
            </a:p>
          </p:txBody>
        </p:sp>
        <p:sp>
          <p:nvSpPr>
            <p:cNvPr id="11" name="Rectangle 11">
              <a:extLst>
                <a:ext uri="{FF2B5EF4-FFF2-40B4-BE49-F238E27FC236}">
                  <a16:creationId xmlns:a16="http://schemas.microsoft.com/office/drawing/2014/main" id="{4CDAB49D-9A50-C6CA-C385-FCCFC8ECF342}"/>
                </a:ext>
              </a:extLst>
            </p:cNvPr>
            <p:cNvSpPr>
              <a:spLocks noChangeArrowheads="1"/>
            </p:cNvSpPr>
            <p:nvPr/>
          </p:nvSpPr>
          <p:spPr bwMode="auto">
            <a:xfrm>
              <a:off x="2308225"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2</a:t>
              </a:r>
            </a:p>
          </p:txBody>
        </p:sp>
        <p:sp>
          <p:nvSpPr>
            <p:cNvPr id="12" name="Rectangle 12">
              <a:extLst>
                <a:ext uri="{FF2B5EF4-FFF2-40B4-BE49-F238E27FC236}">
                  <a16:creationId xmlns:a16="http://schemas.microsoft.com/office/drawing/2014/main" id="{14A3BE56-790E-BC97-C4FD-A842BF1DA266}"/>
                </a:ext>
              </a:extLst>
            </p:cNvPr>
            <p:cNvSpPr>
              <a:spLocks noChangeArrowheads="1"/>
            </p:cNvSpPr>
            <p:nvPr/>
          </p:nvSpPr>
          <p:spPr bwMode="auto">
            <a:xfrm>
              <a:off x="4122738"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Conduct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p>
          </p:txBody>
        </p:sp>
        <p:sp>
          <p:nvSpPr>
            <p:cNvPr id="13" name="Rectangle 13">
              <a:extLst>
                <a:ext uri="{FF2B5EF4-FFF2-40B4-BE49-F238E27FC236}">
                  <a16:creationId xmlns:a16="http://schemas.microsoft.com/office/drawing/2014/main" id="{8E856E23-2E66-C316-1087-94851CCA9F27}"/>
                </a:ext>
              </a:extLst>
            </p:cNvPr>
            <p:cNvSpPr>
              <a:spLocks noChangeArrowheads="1"/>
            </p:cNvSpPr>
            <p:nvPr/>
          </p:nvSpPr>
          <p:spPr bwMode="auto">
            <a:xfrm>
              <a:off x="4122738" y="2795588"/>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3</a:t>
              </a:r>
            </a:p>
          </p:txBody>
        </p:sp>
        <p:sp>
          <p:nvSpPr>
            <p:cNvPr id="14" name="Rectangle 14">
              <a:extLst>
                <a:ext uri="{FF2B5EF4-FFF2-40B4-BE49-F238E27FC236}">
                  <a16:creationId xmlns:a16="http://schemas.microsoft.com/office/drawing/2014/main" id="{61D5857C-18BB-F351-3A5A-3466E123AB89}"/>
                </a:ext>
              </a:extLst>
            </p:cNvPr>
            <p:cNvSpPr>
              <a:spLocks noChangeArrowheads="1"/>
            </p:cNvSpPr>
            <p:nvPr/>
          </p:nvSpPr>
          <p:spPr bwMode="auto">
            <a:xfrm>
              <a:off x="5937250"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Implement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 Plan</a:t>
              </a:r>
            </a:p>
          </p:txBody>
        </p:sp>
        <p:sp>
          <p:nvSpPr>
            <p:cNvPr id="15" name="Rectangle 15">
              <a:extLst>
                <a:ext uri="{FF2B5EF4-FFF2-40B4-BE49-F238E27FC236}">
                  <a16:creationId xmlns:a16="http://schemas.microsoft.com/office/drawing/2014/main" id="{6E2AE2B3-A2C6-E979-CE4A-53CA1208E770}"/>
                </a:ext>
              </a:extLst>
            </p:cNvPr>
            <p:cNvSpPr>
              <a:spLocks noChangeArrowheads="1"/>
            </p:cNvSpPr>
            <p:nvPr/>
          </p:nvSpPr>
          <p:spPr bwMode="auto">
            <a:xfrm>
              <a:off x="5937250"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4</a:t>
              </a:r>
            </a:p>
          </p:txBody>
        </p:sp>
        <p:cxnSp>
          <p:nvCxnSpPr>
            <p:cNvPr id="16" name="AutoShape 16">
              <a:extLst>
                <a:ext uri="{FF2B5EF4-FFF2-40B4-BE49-F238E27FC236}">
                  <a16:creationId xmlns:a16="http://schemas.microsoft.com/office/drawing/2014/main" id="{9D53FE5C-5CCE-3737-FED0-0DCF4CFF16DE}"/>
                </a:ext>
              </a:extLst>
            </p:cNvPr>
            <p:cNvCxnSpPr>
              <a:cxnSpLocks noChangeShapeType="1"/>
              <a:stCxn id="8" idx="3"/>
              <a:endCxn id="10" idx="1"/>
            </p:cNvCxnSpPr>
            <p:nvPr/>
          </p:nvCxnSpPr>
          <p:spPr bwMode="auto">
            <a:xfrm flipV="1">
              <a:off x="2033588" y="3597275"/>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17">
              <a:extLst>
                <a:ext uri="{FF2B5EF4-FFF2-40B4-BE49-F238E27FC236}">
                  <a16:creationId xmlns:a16="http://schemas.microsoft.com/office/drawing/2014/main" id="{782F2126-E5B9-D8B0-704C-7D7713992B97}"/>
                </a:ext>
              </a:extLst>
            </p:cNvPr>
            <p:cNvCxnSpPr>
              <a:cxnSpLocks noChangeShapeType="1"/>
              <a:stCxn id="10" idx="3"/>
              <a:endCxn id="12" idx="1"/>
            </p:cNvCxnSpPr>
            <p:nvPr/>
          </p:nvCxnSpPr>
          <p:spPr bwMode="auto">
            <a:xfrm>
              <a:off x="3829050" y="3597275"/>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18">
              <a:extLst>
                <a:ext uri="{FF2B5EF4-FFF2-40B4-BE49-F238E27FC236}">
                  <a16:creationId xmlns:a16="http://schemas.microsoft.com/office/drawing/2014/main" id="{05658557-802F-2C4A-BB0D-EDF2A50EF536}"/>
                </a:ext>
              </a:extLst>
            </p:cNvPr>
            <p:cNvCxnSpPr>
              <a:cxnSpLocks noChangeShapeType="1"/>
              <a:stCxn id="12" idx="3"/>
              <a:endCxn id="14" idx="1"/>
            </p:cNvCxnSpPr>
            <p:nvPr/>
          </p:nvCxnSpPr>
          <p:spPr bwMode="auto">
            <a:xfrm>
              <a:off x="5643563" y="3597275"/>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9" name="AutoShape 19">
              <a:extLst>
                <a:ext uri="{FF2B5EF4-FFF2-40B4-BE49-F238E27FC236}">
                  <a16:creationId xmlns:a16="http://schemas.microsoft.com/office/drawing/2014/main" id="{179B3D7A-84E0-4A39-15BA-4A72E7CAEC8F}"/>
                </a:ext>
              </a:extLst>
            </p:cNvPr>
            <p:cNvCxnSpPr>
              <a:cxnSpLocks noChangeShapeType="1"/>
              <a:stCxn id="14" idx="3"/>
              <a:endCxn id="7" idx="2"/>
            </p:cNvCxnSpPr>
            <p:nvPr/>
          </p:nvCxnSpPr>
          <p:spPr bwMode="auto">
            <a:xfrm>
              <a:off x="7458075" y="3597275"/>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 name="AutoShape 20">
              <a:extLst>
                <a:ext uri="{FF2B5EF4-FFF2-40B4-BE49-F238E27FC236}">
                  <a16:creationId xmlns:a16="http://schemas.microsoft.com/office/drawing/2014/main" id="{4DBBCD5A-E470-AD09-B6F8-75CFD5CA7189}"/>
                </a:ext>
              </a:extLst>
            </p:cNvPr>
            <p:cNvCxnSpPr>
              <a:cxnSpLocks noChangeShapeType="1"/>
              <a:stCxn id="7" idx="0"/>
              <a:endCxn id="11" idx="0"/>
            </p:cNvCxnSpPr>
            <p:nvPr/>
          </p:nvCxnSpPr>
          <p:spPr bwMode="auto">
            <a:xfrm rot="5400000" flipH="1">
              <a:off x="5473700" y="392113"/>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nvGrpSpPr>
          <p:cNvPr id="26" name="Group 21">
            <a:extLst>
              <a:ext uri="{FF2B5EF4-FFF2-40B4-BE49-F238E27FC236}">
                <a16:creationId xmlns:a16="http://schemas.microsoft.com/office/drawing/2014/main" id="{FAD26B83-D920-7AF5-CB49-0888B74A1FFF}"/>
              </a:ext>
            </a:extLst>
          </p:cNvPr>
          <p:cNvGrpSpPr>
            <a:grpSpLocks/>
          </p:cNvGrpSpPr>
          <p:nvPr/>
        </p:nvGrpSpPr>
        <p:grpSpPr bwMode="auto">
          <a:xfrm>
            <a:off x="982489" y="4362768"/>
            <a:ext cx="10355789" cy="1949450"/>
            <a:chOff x="265" y="2627"/>
            <a:chExt cx="5266" cy="1228"/>
          </a:xfrm>
        </p:grpSpPr>
        <p:grpSp>
          <p:nvGrpSpPr>
            <p:cNvPr id="27" name="Group 22">
              <a:extLst>
                <a:ext uri="{FF2B5EF4-FFF2-40B4-BE49-F238E27FC236}">
                  <a16:creationId xmlns:a16="http://schemas.microsoft.com/office/drawing/2014/main" id="{EB5DA7B6-9A2B-EF9B-CFFE-9A77EB1EE5DE}"/>
                </a:ext>
              </a:extLst>
            </p:cNvPr>
            <p:cNvGrpSpPr>
              <a:grpSpLocks/>
            </p:cNvGrpSpPr>
            <p:nvPr/>
          </p:nvGrpSpPr>
          <p:grpSpPr bwMode="auto">
            <a:xfrm>
              <a:off x="308" y="2969"/>
              <a:ext cx="5223" cy="886"/>
              <a:chOff x="1350" y="2060"/>
              <a:chExt cx="3035" cy="208"/>
            </a:xfrm>
          </p:grpSpPr>
          <p:sp>
            <p:nvSpPr>
              <p:cNvPr id="30" name="AutoShape 23">
                <a:extLst>
                  <a:ext uri="{FF2B5EF4-FFF2-40B4-BE49-F238E27FC236}">
                    <a16:creationId xmlns:a16="http://schemas.microsoft.com/office/drawing/2014/main" id="{7E0E9E85-012A-ED58-3AA0-B16F4C4B0E64}"/>
                  </a:ext>
                </a:extLst>
              </p:cNvPr>
              <p:cNvSpPr>
                <a:spLocks noChangeArrowheads="1"/>
              </p:cNvSpPr>
              <p:nvPr/>
            </p:nvSpPr>
            <p:spPr bwMode="auto">
              <a:xfrm>
                <a:off x="3722"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Develop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Value</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Stream Plan</a:t>
                </a:r>
              </a:p>
            </p:txBody>
          </p:sp>
          <p:sp>
            <p:nvSpPr>
              <p:cNvPr id="31" name="AutoShape 24">
                <a:extLst>
                  <a:ext uri="{FF2B5EF4-FFF2-40B4-BE49-F238E27FC236}">
                    <a16:creationId xmlns:a16="http://schemas.microsoft.com/office/drawing/2014/main" id="{244EB58C-FE51-B873-51D8-5C21959D04B0}"/>
                  </a:ext>
                </a:extLst>
              </p:cNvPr>
              <p:cNvSpPr>
                <a:spLocks noChangeArrowheads="1"/>
              </p:cNvSpPr>
              <p:nvPr/>
            </p:nvSpPr>
            <p:spPr bwMode="auto">
              <a:xfrm>
                <a:off x="3128"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Create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Future</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State Map</a:t>
                </a:r>
              </a:p>
            </p:txBody>
          </p:sp>
          <p:sp>
            <p:nvSpPr>
              <p:cNvPr id="32" name="AutoShape 25">
                <a:extLst>
                  <a:ext uri="{FF2B5EF4-FFF2-40B4-BE49-F238E27FC236}">
                    <a16:creationId xmlns:a16="http://schemas.microsoft.com/office/drawing/2014/main" id="{94CB1512-8156-377E-6C5B-B3CAC77C347C}"/>
                  </a:ext>
                </a:extLst>
              </p:cNvPr>
              <p:cNvSpPr>
                <a:spLocks noChangeArrowheads="1"/>
              </p:cNvSpPr>
              <p:nvPr/>
            </p:nvSpPr>
            <p:spPr bwMode="auto">
              <a:xfrm>
                <a:off x="2541"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Interrogate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the</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Current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State</a:t>
                </a:r>
              </a:p>
            </p:txBody>
          </p:sp>
          <p:sp>
            <p:nvSpPr>
              <p:cNvPr id="33" name="AutoShape 26">
                <a:extLst>
                  <a:ext uri="{FF2B5EF4-FFF2-40B4-BE49-F238E27FC236}">
                    <a16:creationId xmlns:a16="http://schemas.microsoft.com/office/drawing/2014/main" id="{C6E1C84A-A677-7DE6-A82D-3195DED65330}"/>
                  </a:ext>
                </a:extLst>
              </p:cNvPr>
              <p:cNvSpPr>
                <a:spLocks noChangeArrowheads="1"/>
              </p:cNvSpPr>
              <p:nvPr/>
            </p:nvSpPr>
            <p:spPr bwMode="auto">
              <a:xfrm>
                <a:off x="1951"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Create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Current</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State Map </a:t>
                </a:r>
              </a:p>
            </p:txBody>
          </p:sp>
          <p:sp>
            <p:nvSpPr>
              <p:cNvPr id="34" name="AutoShape 27">
                <a:extLst>
                  <a:ext uri="{FF2B5EF4-FFF2-40B4-BE49-F238E27FC236}">
                    <a16:creationId xmlns:a16="http://schemas.microsoft.com/office/drawing/2014/main" id="{8CF64827-E56F-8026-9999-F24CB1F15AE7}"/>
                  </a:ext>
                </a:extLst>
              </p:cNvPr>
              <p:cNvSpPr>
                <a:spLocks noChangeArrowheads="1"/>
              </p:cNvSpPr>
              <p:nvPr/>
            </p:nvSpPr>
            <p:spPr bwMode="auto">
              <a:xfrm>
                <a:off x="1350"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Select Product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or</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Service Family</a:t>
                </a:r>
              </a:p>
            </p:txBody>
          </p:sp>
        </p:grpSp>
        <p:sp>
          <p:nvSpPr>
            <p:cNvPr id="28" name="Line 28">
              <a:extLst>
                <a:ext uri="{FF2B5EF4-FFF2-40B4-BE49-F238E27FC236}">
                  <a16:creationId xmlns:a16="http://schemas.microsoft.com/office/drawing/2014/main" id="{3DB86DC1-0A2B-3DDA-2B28-1E00BBC4E09B}"/>
                </a:ext>
              </a:extLst>
            </p:cNvPr>
            <p:cNvSpPr>
              <a:spLocks noChangeShapeType="1"/>
            </p:cNvSpPr>
            <p:nvPr/>
          </p:nvSpPr>
          <p:spPr bwMode="auto">
            <a:xfrm flipH="1">
              <a:off x="265" y="2641"/>
              <a:ext cx="2244" cy="321"/>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9" name="Line 29">
              <a:extLst>
                <a:ext uri="{FF2B5EF4-FFF2-40B4-BE49-F238E27FC236}">
                  <a16:creationId xmlns:a16="http://schemas.microsoft.com/office/drawing/2014/main" id="{38910487-B80B-4B50-93F1-FC25C1186092}"/>
                </a:ext>
              </a:extLst>
            </p:cNvPr>
            <p:cNvSpPr>
              <a:spLocks noChangeShapeType="1"/>
            </p:cNvSpPr>
            <p:nvPr/>
          </p:nvSpPr>
          <p:spPr bwMode="auto">
            <a:xfrm>
              <a:off x="3504" y="2627"/>
              <a:ext cx="1899" cy="308"/>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Tree>
    <p:extLst>
      <p:ext uri="{BB962C8B-B14F-4D97-AF65-F5344CB8AC3E}">
        <p14:creationId xmlns:p14="http://schemas.microsoft.com/office/powerpoint/2010/main" val="2676092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Value Stream Mapping Session Agenda</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a:t>
            </a:fld>
            <a:endParaRPr lang="en-US"/>
          </a:p>
        </p:txBody>
      </p:sp>
      <p:graphicFrame>
        <p:nvGraphicFramePr>
          <p:cNvPr id="3" name="Group 2">
            <a:extLst>
              <a:ext uri="{FF2B5EF4-FFF2-40B4-BE49-F238E27FC236}">
                <a16:creationId xmlns:a16="http://schemas.microsoft.com/office/drawing/2014/main" id="{B8269769-7C4E-F8DC-EE34-092A3114232A}"/>
              </a:ext>
            </a:extLst>
          </p:cNvPr>
          <p:cNvGraphicFramePr>
            <a:graphicFrameLocks noGrp="1"/>
          </p:cNvGraphicFramePr>
          <p:nvPr/>
        </p:nvGraphicFramePr>
        <p:xfrm>
          <a:off x="581025" y="1856398"/>
          <a:ext cx="11029950" cy="4426939"/>
        </p:xfrm>
        <a:graphic>
          <a:graphicData uri="http://schemas.openxmlformats.org/drawingml/2006/table">
            <a:tbl>
              <a:tblPr/>
              <a:tblGrid>
                <a:gridCol w="1183298">
                  <a:extLst>
                    <a:ext uri="{9D8B030D-6E8A-4147-A177-3AD203B41FA5}">
                      <a16:colId xmlns:a16="http://schemas.microsoft.com/office/drawing/2014/main" val="20000"/>
                    </a:ext>
                  </a:extLst>
                </a:gridCol>
                <a:gridCol w="4565362">
                  <a:extLst>
                    <a:ext uri="{9D8B030D-6E8A-4147-A177-3AD203B41FA5}">
                      <a16:colId xmlns:a16="http://schemas.microsoft.com/office/drawing/2014/main" val="20001"/>
                    </a:ext>
                  </a:extLst>
                </a:gridCol>
                <a:gridCol w="5281290">
                  <a:extLst>
                    <a:ext uri="{9D8B030D-6E8A-4147-A177-3AD203B41FA5}">
                      <a16:colId xmlns:a16="http://schemas.microsoft.com/office/drawing/2014/main" val="20002"/>
                    </a:ext>
                  </a:extLst>
                </a:gridCol>
              </a:tblGrid>
              <a:tr h="355175">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Day</a:t>
                      </a:r>
                    </a:p>
                  </a:txBody>
                  <a:tcPr marT="45856" marB="45856" anchor="b"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Key Learnings</a:t>
                      </a:r>
                    </a:p>
                  </a:txBody>
                  <a:tcPr marT="45856" marB="45856" anchor="b"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Daily Deliverables</a:t>
                      </a:r>
                    </a:p>
                  </a:txBody>
                  <a:tcPr marT="45856" marB="45856" anchor="b"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938290">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1</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Introduction</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Identifying Value Streams</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Current State Mapping</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Current State Process Walk</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Labeling of Process Boxes on Current State Map</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6327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2</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90513" marR="0" lvl="0" indent="-290513"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Conduct Data Gathering for Current State Map for Business</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Current State Map with Complete Data</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64668">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3</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90513" marR="0" lvl="0" indent="-290513"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Interrogate the Current State</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Current State Report-Out to Management</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Completed Marked-Up Current State Map</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38290">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4</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Future State Mapping</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Completing the Value Stream Plan</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Beyond the Future State</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Completed Future State Map and Value Stream Plan</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64668">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5</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Prepare for Team Final Report-Out</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Final Report-Out to Management</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26609593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a:bodyPr>
          <a:lstStyle/>
          <a:p>
            <a:r>
              <a:rPr lang="en-US" sz="4000" dirty="0">
                <a:latin typeface="Roboto Medium"/>
                <a:ea typeface="Roboto Medium"/>
                <a:cs typeface="Roboto Medium"/>
              </a:rPr>
              <a:t>Select Product or Service Family</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Define “value stream”</a:t>
            </a:r>
          </a:p>
          <a:p>
            <a:r>
              <a:rPr lang="en-US" sz="2400" dirty="0"/>
              <a:t>Identify the </a:t>
            </a:r>
            <a:r>
              <a:rPr lang="en-US" sz="2400" i="1" dirty="0"/>
              <a:t>VALUE OBJECT </a:t>
            </a:r>
            <a:r>
              <a:rPr lang="en-US" sz="2400" dirty="0"/>
              <a:t>that goes through the process</a:t>
            </a:r>
          </a:p>
          <a:p>
            <a:r>
              <a:rPr lang="en-US" sz="2400" dirty="0"/>
              <a:t>Complete the Product Family Matrix and determine demand</a:t>
            </a:r>
          </a:p>
          <a:p>
            <a:r>
              <a:rPr lang="en-US" sz="2400" dirty="0"/>
              <a:t>Determine Value Stream Map boundaries</a:t>
            </a:r>
          </a:p>
          <a:p>
            <a:r>
              <a:rPr lang="en-US" sz="2400" dirty="0"/>
              <a:t>Complete customer analysis</a:t>
            </a:r>
          </a:p>
          <a:p>
            <a:r>
              <a:rPr lang="en-US" sz="2400" dirty="0"/>
              <a:t>Collect relevant information to begin VSM process</a:t>
            </a:r>
          </a:p>
          <a:p>
            <a:r>
              <a:rPr lang="en-US" sz="2400" dirty="0"/>
              <a:t>Validate VSM Charter for process and scope</a:t>
            </a:r>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Select Product or</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Service Family</a:t>
                </a:r>
              </a:p>
            </p:txBody>
          </p:sp>
        </p:grpSp>
      </p:grpSp>
    </p:spTree>
    <p:extLst>
      <p:ext uri="{BB962C8B-B14F-4D97-AF65-F5344CB8AC3E}">
        <p14:creationId xmlns:p14="http://schemas.microsoft.com/office/powerpoint/2010/main" val="53933925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The Manufacturing Value Stream Defined</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14</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pSp>
        <p:nvGrpSpPr>
          <p:cNvPr id="23" name="Group 22">
            <a:extLst>
              <a:ext uri="{FF2B5EF4-FFF2-40B4-BE49-F238E27FC236}">
                <a16:creationId xmlns:a16="http://schemas.microsoft.com/office/drawing/2014/main" id="{852F7C95-15AE-0019-D882-3B97698139EA}"/>
              </a:ext>
            </a:extLst>
          </p:cNvPr>
          <p:cNvGrpSpPr/>
          <p:nvPr/>
        </p:nvGrpSpPr>
        <p:grpSpPr>
          <a:xfrm>
            <a:off x="2212042" y="2152955"/>
            <a:ext cx="7772400" cy="3717925"/>
            <a:chOff x="727075" y="1584325"/>
            <a:chExt cx="7772400" cy="3717925"/>
          </a:xfrm>
        </p:grpSpPr>
        <p:sp>
          <p:nvSpPr>
            <p:cNvPr id="13" name="Rectangle 2">
              <a:extLst>
                <a:ext uri="{FF2B5EF4-FFF2-40B4-BE49-F238E27FC236}">
                  <a16:creationId xmlns:a16="http://schemas.microsoft.com/office/drawing/2014/main" id="{938F5428-5CC9-5108-D472-A708F748C5C5}"/>
                </a:ext>
              </a:extLst>
            </p:cNvPr>
            <p:cNvSpPr>
              <a:spLocks noChangeArrowheads="1"/>
            </p:cNvSpPr>
            <p:nvPr/>
          </p:nvSpPr>
          <p:spPr bwMode="auto">
            <a:xfrm>
              <a:off x="1512888" y="4337050"/>
              <a:ext cx="6303962" cy="965200"/>
            </a:xfrm>
            <a:prstGeom prst="rect">
              <a:avLst/>
            </a:prstGeom>
            <a:solidFill>
              <a:srgbClr val="EAEAEA"/>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dirty="0">
                  <a:latin typeface="Roboto" panose="02000000000000000000" pitchFamily="2" charset="0"/>
                  <a:ea typeface="Roboto" panose="02000000000000000000" pitchFamily="2" charset="0"/>
                </a:rPr>
                <a:t>All of the actions required to bring a product or service</a:t>
              </a:r>
              <a:br>
                <a:rPr lang="en-US" altLang="en-US" sz="1600" dirty="0">
                  <a:latin typeface="Roboto" panose="02000000000000000000" pitchFamily="2" charset="0"/>
                  <a:ea typeface="Roboto" panose="02000000000000000000" pitchFamily="2" charset="0"/>
                </a:rPr>
              </a:br>
              <a:r>
                <a:rPr lang="en-US" altLang="en-US" sz="1600" dirty="0">
                  <a:latin typeface="Roboto" panose="02000000000000000000" pitchFamily="2" charset="0"/>
                  <a:ea typeface="Roboto" panose="02000000000000000000" pitchFamily="2" charset="0"/>
                </a:rPr>
                <a:t>through the main flows essential to providing that product </a:t>
              </a:r>
              <a:br>
                <a:rPr lang="en-US" altLang="en-US" sz="1600" dirty="0">
                  <a:latin typeface="Roboto" panose="02000000000000000000" pitchFamily="2" charset="0"/>
                  <a:ea typeface="Roboto" panose="02000000000000000000" pitchFamily="2" charset="0"/>
                </a:rPr>
              </a:br>
              <a:r>
                <a:rPr lang="en-US" altLang="en-US" sz="1600" dirty="0">
                  <a:latin typeface="Roboto" panose="02000000000000000000" pitchFamily="2" charset="0"/>
                  <a:ea typeface="Roboto" panose="02000000000000000000" pitchFamily="2" charset="0"/>
                </a:rPr>
                <a:t>or service from inception point to receipt by customer</a:t>
              </a:r>
            </a:p>
          </p:txBody>
        </p:sp>
        <p:sp>
          <p:nvSpPr>
            <p:cNvPr id="14" name="Rectangle 3">
              <a:extLst>
                <a:ext uri="{FF2B5EF4-FFF2-40B4-BE49-F238E27FC236}">
                  <a16:creationId xmlns:a16="http://schemas.microsoft.com/office/drawing/2014/main" id="{7E631358-ED2E-BA40-C8A1-66A4FABEC118}"/>
                </a:ext>
              </a:extLst>
            </p:cNvPr>
            <p:cNvSpPr>
              <a:spLocks noChangeArrowheads="1"/>
            </p:cNvSpPr>
            <p:nvPr/>
          </p:nvSpPr>
          <p:spPr bwMode="auto">
            <a:xfrm>
              <a:off x="727075" y="1584325"/>
              <a:ext cx="1719263" cy="66992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Value Added</a:t>
              </a:r>
              <a:br>
                <a:rPr lang="en-US" altLang="en-US" sz="1600" dirty="0">
                  <a:solidFill>
                    <a:schemeClr val="bg1"/>
                  </a:solidFill>
                  <a:latin typeface="Roboto" panose="02000000000000000000" pitchFamily="2" charset="0"/>
                  <a:ea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rPr>
                <a:t>and Non-Value</a:t>
              </a:r>
              <a:br>
                <a:rPr lang="en-US" altLang="en-US" sz="1600" dirty="0">
                  <a:solidFill>
                    <a:schemeClr val="bg1"/>
                  </a:solidFill>
                  <a:latin typeface="Roboto" panose="02000000000000000000" pitchFamily="2" charset="0"/>
                  <a:ea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rPr>
                <a:t>Added Processes</a:t>
              </a:r>
            </a:p>
          </p:txBody>
        </p:sp>
        <p:sp>
          <p:nvSpPr>
            <p:cNvPr id="15" name="Rectangle 4">
              <a:extLst>
                <a:ext uri="{FF2B5EF4-FFF2-40B4-BE49-F238E27FC236}">
                  <a16:creationId xmlns:a16="http://schemas.microsoft.com/office/drawing/2014/main" id="{79E92D24-93E8-03F0-B983-9FBB53817F6B}"/>
                </a:ext>
              </a:extLst>
            </p:cNvPr>
            <p:cNvSpPr>
              <a:spLocks noChangeArrowheads="1"/>
            </p:cNvSpPr>
            <p:nvPr/>
          </p:nvSpPr>
          <p:spPr bwMode="auto">
            <a:xfrm>
              <a:off x="2714625" y="1598613"/>
              <a:ext cx="1719263" cy="655637"/>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Product and</a:t>
              </a:r>
              <a:br>
                <a:rPr lang="en-US" altLang="en-US" sz="1600" dirty="0">
                  <a:solidFill>
                    <a:schemeClr val="bg1"/>
                  </a:solidFill>
                  <a:latin typeface="Roboto" panose="02000000000000000000" pitchFamily="2" charset="0"/>
                  <a:ea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rPr>
                <a:t>Information</a:t>
              </a:r>
              <a:br>
                <a:rPr lang="en-US" altLang="en-US" sz="1600" dirty="0">
                  <a:solidFill>
                    <a:schemeClr val="bg1"/>
                  </a:solidFill>
                  <a:latin typeface="Roboto" panose="02000000000000000000" pitchFamily="2" charset="0"/>
                  <a:ea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rPr>
                <a:t>Flow</a:t>
              </a:r>
            </a:p>
          </p:txBody>
        </p:sp>
        <p:sp>
          <p:nvSpPr>
            <p:cNvPr id="16" name="Rectangle 5">
              <a:extLst>
                <a:ext uri="{FF2B5EF4-FFF2-40B4-BE49-F238E27FC236}">
                  <a16:creationId xmlns:a16="http://schemas.microsoft.com/office/drawing/2014/main" id="{3555E2A2-9DAC-B81E-7A50-104975118C60}"/>
                </a:ext>
              </a:extLst>
            </p:cNvPr>
            <p:cNvSpPr>
              <a:spLocks noChangeArrowheads="1"/>
            </p:cNvSpPr>
            <p:nvPr/>
          </p:nvSpPr>
          <p:spPr bwMode="auto">
            <a:xfrm>
              <a:off x="4760913" y="1598613"/>
              <a:ext cx="1719262" cy="655637"/>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Cross function</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and organization</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boundaries</a:t>
              </a:r>
            </a:p>
          </p:txBody>
        </p:sp>
        <p:sp>
          <p:nvSpPr>
            <p:cNvPr id="17" name="Rectangle 6">
              <a:extLst>
                <a:ext uri="{FF2B5EF4-FFF2-40B4-BE49-F238E27FC236}">
                  <a16:creationId xmlns:a16="http://schemas.microsoft.com/office/drawing/2014/main" id="{C14270B8-C814-27CE-20F0-257362B20166}"/>
                </a:ext>
              </a:extLst>
            </p:cNvPr>
            <p:cNvSpPr>
              <a:spLocks noChangeArrowheads="1"/>
            </p:cNvSpPr>
            <p:nvPr/>
          </p:nvSpPr>
          <p:spPr bwMode="auto">
            <a:xfrm>
              <a:off x="6780213" y="1612900"/>
              <a:ext cx="1719262" cy="641350"/>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From Initiation to </a:t>
              </a:r>
            </a:p>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the Customer</a:t>
              </a:r>
            </a:p>
          </p:txBody>
        </p:sp>
        <p:cxnSp>
          <p:nvCxnSpPr>
            <p:cNvPr id="18" name="AutoShape 7">
              <a:extLst>
                <a:ext uri="{FF2B5EF4-FFF2-40B4-BE49-F238E27FC236}">
                  <a16:creationId xmlns:a16="http://schemas.microsoft.com/office/drawing/2014/main" id="{66B56E4E-BCD6-97C0-22C0-8C3D972A6B9C}"/>
                </a:ext>
              </a:extLst>
            </p:cNvPr>
            <p:cNvCxnSpPr>
              <a:cxnSpLocks noChangeShapeType="1"/>
              <a:stCxn id="14" idx="3"/>
              <a:endCxn id="15" idx="1"/>
            </p:cNvCxnSpPr>
            <p:nvPr/>
          </p:nvCxnSpPr>
          <p:spPr bwMode="auto">
            <a:xfrm>
              <a:off x="2446338" y="1919288"/>
              <a:ext cx="268287" cy="79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9" name="AutoShape 8">
              <a:extLst>
                <a:ext uri="{FF2B5EF4-FFF2-40B4-BE49-F238E27FC236}">
                  <a16:creationId xmlns:a16="http://schemas.microsoft.com/office/drawing/2014/main" id="{394C646E-C5D1-1604-4583-791A0604A341}"/>
                </a:ext>
              </a:extLst>
            </p:cNvPr>
            <p:cNvCxnSpPr>
              <a:cxnSpLocks noChangeShapeType="1"/>
              <a:stCxn id="15" idx="3"/>
              <a:endCxn id="16" idx="1"/>
            </p:cNvCxnSpPr>
            <p:nvPr/>
          </p:nvCxnSpPr>
          <p:spPr bwMode="auto">
            <a:xfrm>
              <a:off x="4433888" y="1927225"/>
              <a:ext cx="327025" cy="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20" name="AutoShape 9">
              <a:extLst>
                <a:ext uri="{FF2B5EF4-FFF2-40B4-BE49-F238E27FC236}">
                  <a16:creationId xmlns:a16="http://schemas.microsoft.com/office/drawing/2014/main" id="{A4277EC1-A1ED-1A3C-6252-F03688D8F149}"/>
                </a:ext>
              </a:extLst>
            </p:cNvPr>
            <p:cNvCxnSpPr>
              <a:cxnSpLocks noChangeShapeType="1"/>
              <a:stCxn id="16" idx="3"/>
              <a:endCxn id="17" idx="1"/>
            </p:cNvCxnSpPr>
            <p:nvPr/>
          </p:nvCxnSpPr>
          <p:spPr bwMode="auto">
            <a:xfrm>
              <a:off x="6480175" y="1927225"/>
              <a:ext cx="300038" cy="635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21" name="AutoShape 10">
              <a:extLst>
                <a:ext uri="{FF2B5EF4-FFF2-40B4-BE49-F238E27FC236}">
                  <a16:creationId xmlns:a16="http://schemas.microsoft.com/office/drawing/2014/main" id="{37DF1BD7-8427-E0FC-9734-AB80022DDA61}"/>
                </a:ext>
              </a:extLst>
            </p:cNvPr>
            <p:cNvCxnSpPr>
              <a:cxnSpLocks noChangeShapeType="1"/>
              <a:stCxn id="14" idx="1"/>
              <a:endCxn id="13" idx="1"/>
            </p:cNvCxnSpPr>
            <p:nvPr/>
          </p:nvCxnSpPr>
          <p:spPr bwMode="auto">
            <a:xfrm rot="10800000" flipH="1" flipV="1">
              <a:off x="727075" y="1919288"/>
              <a:ext cx="776288" cy="2900362"/>
            </a:xfrm>
            <a:prstGeom prst="bentConnector3">
              <a:avLst>
                <a:gd name="adj1" fmla="val -2944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2" name="AutoShape 11">
              <a:extLst>
                <a:ext uri="{FF2B5EF4-FFF2-40B4-BE49-F238E27FC236}">
                  <a16:creationId xmlns:a16="http://schemas.microsoft.com/office/drawing/2014/main" id="{C35C4560-6ACE-6638-43C3-956CA21E4477}"/>
                </a:ext>
              </a:extLst>
            </p:cNvPr>
            <p:cNvCxnSpPr>
              <a:cxnSpLocks noChangeShapeType="1"/>
              <a:stCxn id="17" idx="3"/>
              <a:endCxn id="13" idx="3"/>
            </p:cNvCxnSpPr>
            <p:nvPr/>
          </p:nvCxnSpPr>
          <p:spPr bwMode="auto">
            <a:xfrm flipH="1">
              <a:off x="7826375" y="1933575"/>
              <a:ext cx="673100" cy="2886075"/>
            </a:xfrm>
            <a:prstGeom prst="bentConnector3">
              <a:avLst>
                <a:gd name="adj1" fmla="val -33727"/>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358557995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200" dirty="0"/>
              <a:t>Identifying the VALUE OBJECT within the Value Stream</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sp>
        <p:nvSpPr>
          <p:cNvPr id="24" name="Rectangle 3">
            <a:extLst>
              <a:ext uri="{FF2B5EF4-FFF2-40B4-BE49-F238E27FC236}">
                <a16:creationId xmlns:a16="http://schemas.microsoft.com/office/drawing/2014/main" id="{47A6F7CD-E8B7-984A-B6D9-3BDFFA223A39}"/>
              </a:ext>
            </a:extLst>
          </p:cNvPr>
          <p:cNvSpPr txBox="1">
            <a:spLocks noChangeArrowheads="1"/>
          </p:cNvSpPr>
          <p:nvPr/>
        </p:nvSpPr>
        <p:spPr>
          <a:xfrm>
            <a:off x="6229350" y="1795768"/>
            <a:ext cx="3703638" cy="44323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90000"/>
            </a:pPr>
            <a:r>
              <a:rPr lang="en-US" altLang="en-US" sz="2400" dirty="0"/>
              <a:t>The </a:t>
            </a:r>
            <a:r>
              <a:rPr lang="en-US" altLang="en-US" sz="2400" i="1" dirty="0"/>
              <a:t>VALUE OBJECT </a:t>
            </a:r>
            <a:r>
              <a:rPr lang="en-US" altLang="en-US" sz="2400" dirty="0"/>
              <a:t>is:</a:t>
            </a:r>
          </a:p>
          <a:p>
            <a:pPr lvl="1">
              <a:buSzPct val="90000"/>
            </a:pPr>
            <a:r>
              <a:rPr lang="en-US" altLang="en-US" sz="1800" dirty="0"/>
              <a:t>a single physical or informational object that follows all of the process steps within the value stream from inception to receipt by customer</a:t>
            </a:r>
          </a:p>
          <a:p>
            <a:pPr lvl="1">
              <a:buSzPct val="90000"/>
            </a:pPr>
            <a:r>
              <a:rPr lang="en-US" altLang="en-US" sz="1800" dirty="0"/>
              <a:t>used to follow the value stream as it is mapped and to calculate the inventory levels at each process</a:t>
            </a:r>
          </a:p>
          <a:p>
            <a:pPr lvl="1">
              <a:buSzPct val="90000"/>
            </a:pPr>
            <a:r>
              <a:rPr lang="en-US" altLang="en-US" sz="1800" dirty="0"/>
              <a:t>used to demonstrate how value is added as it moves through its processes to the customer</a:t>
            </a:r>
          </a:p>
        </p:txBody>
      </p:sp>
      <p:graphicFrame>
        <p:nvGraphicFramePr>
          <p:cNvPr id="25" name="Group 35">
            <a:extLst>
              <a:ext uri="{FF2B5EF4-FFF2-40B4-BE49-F238E27FC236}">
                <a16:creationId xmlns:a16="http://schemas.microsoft.com/office/drawing/2014/main" id="{AFA59800-D738-2646-8C07-3E880863C408}"/>
              </a:ext>
            </a:extLst>
          </p:cNvPr>
          <p:cNvGraphicFramePr>
            <a:graphicFrameLocks noGrp="1"/>
          </p:cNvGraphicFramePr>
          <p:nvPr>
            <p:extLst>
              <p:ext uri="{D42A27DB-BD31-4B8C-83A1-F6EECF244321}">
                <p14:modId xmlns:p14="http://schemas.microsoft.com/office/powerpoint/2010/main" val="2229656752"/>
              </p:ext>
            </p:extLst>
          </p:nvPr>
        </p:nvGraphicFramePr>
        <p:xfrm>
          <a:off x="1736725" y="1992618"/>
          <a:ext cx="4038600" cy="3751264"/>
        </p:xfrm>
        <a:graphic>
          <a:graphicData uri="http://schemas.openxmlformats.org/drawingml/2006/table">
            <a:tbl>
              <a:tblPr/>
              <a:tblGrid>
                <a:gridCol w="2019300">
                  <a:extLst>
                    <a:ext uri="{9D8B030D-6E8A-4147-A177-3AD203B41FA5}">
                      <a16:colId xmlns:a16="http://schemas.microsoft.com/office/drawing/2014/main" val="3907104949"/>
                    </a:ext>
                  </a:extLst>
                </a:gridCol>
                <a:gridCol w="2019300">
                  <a:extLst>
                    <a:ext uri="{9D8B030D-6E8A-4147-A177-3AD203B41FA5}">
                      <a16:colId xmlns:a16="http://schemas.microsoft.com/office/drawing/2014/main" val="805536851"/>
                    </a:ext>
                  </a:extLst>
                </a:gridCol>
              </a:tblGrid>
              <a:tr h="75088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PRODUCT or</a:t>
                      </a:r>
                      <a:br>
                        <a:rPr kumimoji="0" lang="en-US" altLang="en-US" sz="16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br>
                      <a:r>
                        <a:rPr kumimoji="0" lang="en-US" altLang="en-US" sz="16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SERVICE</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TYPICAL </a:t>
                      </a:r>
                      <a:r>
                        <a:rPr kumimoji="0" lang="en-US" altLang="en-US" sz="1600" b="1" i="1"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VALUE OBJECT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610757403"/>
                  </a:ext>
                </a:extLst>
              </a:tr>
              <a:tr h="749300">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rPr>
                        <a:t>Automobile Engine</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Engine Block</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225189136"/>
                  </a:ext>
                </a:extLst>
              </a:tr>
              <a:tr h="75088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rPr>
                        <a:t>Centrifugal Pump</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Aluminum Casting</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3908497085"/>
                  </a:ext>
                </a:extLst>
              </a:tr>
              <a:tr h="75088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rPr>
                        <a:t>Printed Wiring Board</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Circuit Board Fab</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72509579"/>
                  </a:ext>
                </a:extLst>
              </a:tr>
              <a:tr h="749300">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rPr>
                        <a:t>Industrial Cleaning Product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Base Chemical</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920717466"/>
                  </a:ext>
                </a:extLst>
              </a:tr>
            </a:tbl>
          </a:graphicData>
        </a:graphic>
      </p:graphicFrame>
      <p:sp>
        <p:nvSpPr>
          <p:cNvPr id="26" name="AutoShape 21">
            <a:extLst>
              <a:ext uri="{FF2B5EF4-FFF2-40B4-BE49-F238E27FC236}">
                <a16:creationId xmlns:a16="http://schemas.microsoft.com/office/drawing/2014/main" id="{1326C0E4-6948-8C6B-A60F-5F1114A754B8}"/>
              </a:ext>
            </a:extLst>
          </p:cNvPr>
          <p:cNvSpPr>
            <a:spLocks noChangeArrowheads="1"/>
          </p:cNvSpPr>
          <p:nvPr/>
        </p:nvSpPr>
        <p:spPr bwMode="auto">
          <a:xfrm>
            <a:off x="5905500" y="2538718"/>
            <a:ext cx="285750" cy="2493963"/>
          </a:xfrm>
          <a:prstGeom prst="rightArrow">
            <a:avLst>
              <a:gd name="adj1" fmla="val 67278"/>
              <a:gd name="adj2" fmla="val 72222"/>
            </a:avLst>
          </a:prstGeom>
          <a:solidFill>
            <a:schemeClr val="accent1"/>
          </a:solidFill>
          <a:ln w="1905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Tree>
    <p:extLst>
      <p:ext uri="{BB962C8B-B14F-4D97-AF65-F5344CB8AC3E}">
        <p14:creationId xmlns:p14="http://schemas.microsoft.com/office/powerpoint/2010/main" val="257707031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4000" dirty="0"/>
              <a:t>Defining and Selecting a Product Family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pSp>
        <p:nvGrpSpPr>
          <p:cNvPr id="29" name="Group 28">
            <a:extLst>
              <a:ext uri="{FF2B5EF4-FFF2-40B4-BE49-F238E27FC236}">
                <a16:creationId xmlns:a16="http://schemas.microsoft.com/office/drawing/2014/main" id="{970E9FD2-59C3-4B49-41FE-08BB84B58812}"/>
              </a:ext>
            </a:extLst>
          </p:cNvPr>
          <p:cNvGrpSpPr/>
          <p:nvPr/>
        </p:nvGrpSpPr>
        <p:grpSpPr>
          <a:xfrm>
            <a:off x="1863067" y="1766948"/>
            <a:ext cx="8465866" cy="4639233"/>
            <a:chOff x="461963" y="1536700"/>
            <a:chExt cx="8259762" cy="4749131"/>
          </a:xfrm>
        </p:grpSpPr>
        <p:sp>
          <p:nvSpPr>
            <p:cNvPr id="13" name="Rectangle 2">
              <a:extLst>
                <a:ext uri="{FF2B5EF4-FFF2-40B4-BE49-F238E27FC236}">
                  <a16:creationId xmlns:a16="http://schemas.microsoft.com/office/drawing/2014/main" id="{E5B5DAED-1E67-1474-DB03-37808AA976A8}"/>
                </a:ext>
              </a:extLst>
            </p:cNvPr>
            <p:cNvSpPr>
              <a:spLocks noChangeArrowheads="1"/>
            </p:cNvSpPr>
            <p:nvPr/>
          </p:nvSpPr>
          <p:spPr bwMode="auto">
            <a:xfrm>
              <a:off x="1196975" y="1971675"/>
              <a:ext cx="1908175" cy="568325"/>
            </a:xfrm>
            <a:prstGeom prst="rect">
              <a:avLst/>
            </a:prstGeom>
            <a:solidFill>
              <a:schemeClr val="bg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solidFill>
                    <a:schemeClr val="tx1"/>
                  </a:solidFill>
                  <a:latin typeface="Roboto" panose="02000000000000000000" pitchFamily="2" charset="0"/>
                  <a:ea typeface="Roboto" panose="02000000000000000000" pitchFamily="2" charset="0"/>
                </a:rPr>
                <a:t>Product</a:t>
              </a:r>
              <a:br>
                <a:rPr lang="en-US" altLang="en-US" sz="1400">
                  <a:solidFill>
                    <a:schemeClr val="tx1"/>
                  </a:solidFill>
                  <a:latin typeface="Roboto" panose="02000000000000000000" pitchFamily="2" charset="0"/>
                  <a:ea typeface="Roboto" panose="02000000000000000000" pitchFamily="2" charset="0"/>
                </a:rPr>
              </a:br>
              <a:r>
                <a:rPr lang="en-US" altLang="en-US" sz="1400">
                  <a:solidFill>
                    <a:schemeClr val="tx1"/>
                  </a:solidFill>
                  <a:latin typeface="Roboto" panose="02000000000000000000" pitchFamily="2" charset="0"/>
                  <a:ea typeface="Roboto" panose="02000000000000000000" pitchFamily="2" charset="0"/>
                </a:rPr>
                <a:t>Family</a:t>
              </a:r>
            </a:p>
          </p:txBody>
        </p:sp>
        <p:sp>
          <p:nvSpPr>
            <p:cNvPr id="14" name="Rectangle 3">
              <a:extLst>
                <a:ext uri="{FF2B5EF4-FFF2-40B4-BE49-F238E27FC236}">
                  <a16:creationId xmlns:a16="http://schemas.microsoft.com/office/drawing/2014/main" id="{C29980C8-9C17-5DED-C741-9314CD03B55B}"/>
                </a:ext>
              </a:extLst>
            </p:cNvPr>
            <p:cNvSpPr>
              <a:spLocks noChangeArrowheads="1"/>
            </p:cNvSpPr>
            <p:nvPr/>
          </p:nvSpPr>
          <p:spPr bwMode="auto">
            <a:xfrm>
              <a:off x="1196975" y="3294063"/>
              <a:ext cx="1908175" cy="568325"/>
            </a:xfrm>
            <a:prstGeom prst="rect">
              <a:avLst/>
            </a:prstGeom>
            <a:solidFill>
              <a:schemeClr val="bg2"/>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solidFill>
                    <a:schemeClr val="tx1"/>
                  </a:solidFill>
                  <a:latin typeface="Roboto" panose="02000000000000000000" pitchFamily="2" charset="0"/>
                  <a:ea typeface="Roboto" panose="02000000000000000000" pitchFamily="2" charset="0"/>
                </a:rPr>
                <a:t>Product Family</a:t>
              </a:r>
              <a:br>
                <a:rPr lang="en-US" altLang="en-US" sz="1400">
                  <a:solidFill>
                    <a:schemeClr val="tx1"/>
                  </a:solidFill>
                  <a:latin typeface="Roboto" panose="02000000000000000000" pitchFamily="2" charset="0"/>
                  <a:ea typeface="Roboto" panose="02000000000000000000" pitchFamily="2" charset="0"/>
                </a:rPr>
              </a:br>
              <a:r>
                <a:rPr lang="en-US" altLang="en-US" sz="1400">
                  <a:solidFill>
                    <a:schemeClr val="tx1"/>
                  </a:solidFill>
                  <a:latin typeface="Roboto" panose="02000000000000000000" pitchFamily="2" charset="0"/>
                  <a:ea typeface="Roboto" panose="02000000000000000000" pitchFamily="2" charset="0"/>
                </a:rPr>
                <a:t>Matrix</a:t>
              </a:r>
            </a:p>
          </p:txBody>
        </p:sp>
        <p:sp>
          <p:nvSpPr>
            <p:cNvPr id="15" name="Rectangle 4">
              <a:extLst>
                <a:ext uri="{FF2B5EF4-FFF2-40B4-BE49-F238E27FC236}">
                  <a16:creationId xmlns:a16="http://schemas.microsoft.com/office/drawing/2014/main" id="{053CA13E-A466-070F-2FA1-AD75F8E3212E}"/>
                </a:ext>
              </a:extLst>
            </p:cNvPr>
            <p:cNvSpPr>
              <a:spLocks noChangeArrowheads="1"/>
            </p:cNvSpPr>
            <p:nvPr/>
          </p:nvSpPr>
          <p:spPr bwMode="auto">
            <a:xfrm>
              <a:off x="1196975" y="4886325"/>
              <a:ext cx="1908175" cy="568325"/>
            </a:xfrm>
            <a:prstGeom prst="rect">
              <a:avLst/>
            </a:prstGeom>
            <a:solidFill>
              <a:schemeClr val="accent3"/>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Information to</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Record</a:t>
              </a:r>
            </a:p>
          </p:txBody>
        </p:sp>
        <p:sp>
          <p:nvSpPr>
            <p:cNvPr id="16" name="Line 6">
              <a:extLst>
                <a:ext uri="{FF2B5EF4-FFF2-40B4-BE49-F238E27FC236}">
                  <a16:creationId xmlns:a16="http://schemas.microsoft.com/office/drawing/2014/main" id="{FB40510F-0456-8F26-F352-6E322E215415}"/>
                </a:ext>
              </a:extLst>
            </p:cNvPr>
            <p:cNvSpPr>
              <a:spLocks noChangeShapeType="1"/>
            </p:cNvSpPr>
            <p:nvPr/>
          </p:nvSpPr>
          <p:spPr bwMode="auto">
            <a:xfrm>
              <a:off x="471488" y="3192463"/>
              <a:ext cx="8250237" cy="0"/>
            </a:xfrm>
            <a:prstGeom prst="line">
              <a:avLst/>
            </a:prstGeom>
            <a:noFill/>
            <a:ln w="19050">
              <a:solidFill>
                <a:srgbClr val="000066"/>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 name="Line 7">
              <a:extLst>
                <a:ext uri="{FF2B5EF4-FFF2-40B4-BE49-F238E27FC236}">
                  <a16:creationId xmlns:a16="http://schemas.microsoft.com/office/drawing/2014/main" id="{A34029BF-0182-ED06-E1E4-06F25F4D7040}"/>
                </a:ext>
              </a:extLst>
            </p:cNvPr>
            <p:cNvSpPr>
              <a:spLocks noChangeShapeType="1"/>
            </p:cNvSpPr>
            <p:nvPr/>
          </p:nvSpPr>
          <p:spPr bwMode="auto">
            <a:xfrm>
              <a:off x="487363" y="4725988"/>
              <a:ext cx="8205787" cy="0"/>
            </a:xfrm>
            <a:prstGeom prst="line">
              <a:avLst/>
            </a:prstGeom>
            <a:noFill/>
            <a:ln w="19050">
              <a:solidFill>
                <a:srgbClr val="000066"/>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 name="Rectangle 10">
              <a:extLst>
                <a:ext uri="{FF2B5EF4-FFF2-40B4-BE49-F238E27FC236}">
                  <a16:creationId xmlns:a16="http://schemas.microsoft.com/office/drawing/2014/main" id="{C134D753-A265-0370-8BCA-AEDE97D3D6A1}"/>
                </a:ext>
              </a:extLst>
            </p:cNvPr>
            <p:cNvSpPr>
              <a:spLocks noChangeArrowheads="1"/>
            </p:cNvSpPr>
            <p:nvPr/>
          </p:nvSpPr>
          <p:spPr bwMode="auto">
            <a:xfrm>
              <a:off x="3638550" y="1954213"/>
              <a:ext cx="4970463" cy="1244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742950" indent="-285750"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A group of products that pass through similar </a:t>
              </a:r>
              <a:br>
                <a:rPr lang="en-US" altLang="en-US" sz="1400" dirty="0">
                  <a:solidFill>
                    <a:schemeClr val="tx1"/>
                  </a:solidFill>
                  <a:latin typeface="Roboto" panose="02000000000000000000" pitchFamily="2" charset="0"/>
                  <a:ea typeface="Roboto" panose="02000000000000000000" pitchFamily="2" charset="0"/>
                </a:rPr>
              </a:br>
              <a:r>
                <a:rPr lang="en-US" altLang="en-US" sz="1400" dirty="0">
                  <a:solidFill>
                    <a:schemeClr val="tx1"/>
                  </a:solidFill>
                  <a:latin typeface="Roboto" panose="02000000000000000000" pitchFamily="2" charset="0"/>
                  <a:ea typeface="Roboto" panose="02000000000000000000" pitchFamily="2" charset="0"/>
                </a:rPr>
                <a:t>processing steps/common equipment in downstream </a:t>
              </a:r>
              <a:br>
                <a:rPr lang="en-US" altLang="en-US" sz="1400" dirty="0">
                  <a:solidFill>
                    <a:schemeClr val="tx1"/>
                  </a:solidFill>
                  <a:latin typeface="Roboto" panose="02000000000000000000" pitchFamily="2" charset="0"/>
                  <a:ea typeface="Roboto" panose="02000000000000000000" pitchFamily="2" charset="0"/>
                </a:rPr>
              </a:br>
              <a:r>
                <a:rPr lang="en-US" altLang="en-US" sz="1400" dirty="0">
                  <a:solidFill>
                    <a:schemeClr val="tx1"/>
                  </a:solidFill>
                  <a:latin typeface="Roboto" panose="02000000000000000000" pitchFamily="2" charset="0"/>
                  <a:ea typeface="Roboto" panose="02000000000000000000" pitchFamily="2" charset="0"/>
                </a:rPr>
                <a:t>processes.</a:t>
              </a:r>
            </a:p>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Individual products within the family might vary in size, finish, color, etc.</a:t>
              </a:r>
            </a:p>
          </p:txBody>
        </p:sp>
        <p:sp>
          <p:nvSpPr>
            <p:cNvPr id="19" name="Rectangle 11">
              <a:extLst>
                <a:ext uri="{FF2B5EF4-FFF2-40B4-BE49-F238E27FC236}">
                  <a16:creationId xmlns:a16="http://schemas.microsoft.com/office/drawing/2014/main" id="{E721A5B6-1D18-E56F-2021-264EA52F7BD3}"/>
                </a:ext>
              </a:extLst>
            </p:cNvPr>
            <p:cNvSpPr>
              <a:spLocks noChangeArrowheads="1"/>
            </p:cNvSpPr>
            <p:nvPr/>
          </p:nvSpPr>
          <p:spPr bwMode="auto">
            <a:xfrm>
              <a:off x="3641725" y="3298825"/>
              <a:ext cx="4981575" cy="1244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742950" indent="-285750"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A data analysis tool used to identify and group products into product families as a function of common production processes and percentage of total demand</a:t>
              </a:r>
            </a:p>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Used where there are many products and variants with no understanding of product family grouping</a:t>
              </a:r>
            </a:p>
          </p:txBody>
        </p:sp>
        <p:sp>
          <p:nvSpPr>
            <p:cNvPr id="20" name="Rectangle 12">
              <a:extLst>
                <a:ext uri="{FF2B5EF4-FFF2-40B4-BE49-F238E27FC236}">
                  <a16:creationId xmlns:a16="http://schemas.microsoft.com/office/drawing/2014/main" id="{068F74B2-48E7-7073-1A6D-86F1F4D0B72F}"/>
                </a:ext>
              </a:extLst>
            </p:cNvPr>
            <p:cNvSpPr>
              <a:spLocks noChangeArrowheads="1"/>
            </p:cNvSpPr>
            <p:nvPr/>
          </p:nvSpPr>
          <p:spPr bwMode="auto">
            <a:xfrm>
              <a:off x="3641725" y="4776788"/>
              <a:ext cx="4970463" cy="1509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742950" indent="-285750"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45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Product family name and description</a:t>
              </a:r>
            </a:p>
            <a:p>
              <a:pPr marL="285750" indent="-285750" algn="l">
                <a:lnSpc>
                  <a:spcPct val="100000"/>
                </a:lnSpc>
                <a:spcBef>
                  <a:spcPct val="45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List each product (SKU) and description within family</a:t>
              </a:r>
            </a:p>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Sequence of processes required to produce each product</a:t>
              </a:r>
            </a:p>
            <a:p>
              <a:pPr marL="285750" indent="-285750" algn="l">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Demand for each product – quantity and frequency</a:t>
              </a:r>
            </a:p>
            <a:p>
              <a:pPr marL="285750" indent="-285750" algn="l">
                <a:lnSpc>
                  <a:spcPct val="100000"/>
                </a:lnSpc>
                <a:spcBef>
                  <a:spcPct val="45000"/>
                </a:spcBef>
                <a:buClr>
                  <a:schemeClr val="tx1"/>
                </a:buClr>
                <a:buSzPct val="90000"/>
                <a:buFont typeface="Arial" panose="020B0604020202020204" pitchFamily="34" charset="0"/>
                <a:buChar char="•"/>
              </a:pPr>
              <a:endParaRPr lang="en-US" altLang="en-US" sz="1400">
                <a:solidFill>
                  <a:schemeClr val="tx1"/>
                </a:solidFill>
                <a:latin typeface="Roboto" panose="02000000000000000000" pitchFamily="2" charset="0"/>
                <a:ea typeface="Roboto" panose="02000000000000000000" pitchFamily="2" charset="0"/>
              </a:endParaRPr>
            </a:p>
          </p:txBody>
        </p:sp>
        <p:sp>
          <p:nvSpPr>
            <p:cNvPr id="21" name="Line 14">
              <a:extLst>
                <a:ext uri="{FF2B5EF4-FFF2-40B4-BE49-F238E27FC236}">
                  <a16:creationId xmlns:a16="http://schemas.microsoft.com/office/drawing/2014/main" id="{953EB971-154D-B003-8C5D-9F6B9872C18E}"/>
                </a:ext>
              </a:extLst>
            </p:cNvPr>
            <p:cNvSpPr>
              <a:spLocks noChangeShapeType="1"/>
            </p:cNvSpPr>
            <p:nvPr/>
          </p:nvSpPr>
          <p:spPr bwMode="auto">
            <a:xfrm flipV="1">
              <a:off x="461963" y="1824038"/>
              <a:ext cx="8250237" cy="15875"/>
            </a:xfrm>
            <a:prstGeom prst="line">
              <a:avLst/>
            </a:prstGeom>
            <a:noFill/>
            <a:ln w="3810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2" name="Text Box 15">
              <a:extLst>
                <a:ext uri="{FF2B5EF4-FFF2-40B4-BE49-F238E27FC236}">
                  <a16:creationId xmlns:a16="http://schemas.microsoft.com/office/drawing/2014/main" id="{EEFE37C4-4659-3564-EE50-8889B00AD784}"/>
                </a:ext>
              </a:extLst>
            </p:cNvPr>
            <p:cNvSpPr txBox="1">
              <a:spLocks noChangeArrowheads="1"/>
            </p:cNvSpPr>
            <p:nvPr/>
          </p:nvSpPr>
          <p:spPr bwMode="auto">
            <a:xfrm>
              <a:off x="471488" y="1536700"/>
              <a:ext cx="4496748" cy="378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dirty="0">
                  <a:solidFill>
                    <a:schemeClr val="tx1"/>
                  </a:solidFill>
                  <a:latin typeface="Roboto" panose="02000000000000000000" pitchFamily="2" charset="0"/>
                  <a:ea typeface="Roboto" panose="02000000000000000000" pitchFamily="2" charset="0"/>
                </a:rPr>
                <a:t>Points		           	      Descriptions</a:t>
              </a:r>
            </a:p>
          </p:txBody>
        </p:sp>
        <p:sp>
          <p:nvSpPr>
            <p:cNvPr id="23" name="Oval 16">
              <a:extLst>
                <a:ext uri="{FF2B5EF4-FFF2-40B4-BE49-F238E27FC236}">
                  <a16:creationId xmlns:a16="http://schemas.microsoft.com/office/drawing/2014/main" id="{455DE885-FE93-AB30-5069-A7A4CBA604D0}"/>
                </a:ext>
              </a:extLst>
            </p:cNvPr>
            <p:cNvSpPr>
              <a:spLocks noChangeArrowheads="1"/>
            </p:cNvSpPr>
            <p:nvPr/>
          </p:nvSpPr>
          <p:spPr bwMode="auto">
            <a:xfrm>
              <a:off x="519113" y="2079625"/>
              <a:ext cx="400050" cy="366713"/>
            </a:xfrm>
            <a:prstGeom prst="ellipse">
              <a:avLst/>
            </a:prstGeom>
            <a:solidFill>
              <a:schemeClr val="accent1"/>
            </a:solidFill>
            <a:ln w="12700" cap="sq">
              <a:solidFill>
                <a:srgbClr val="800000"/>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1</a:t>
              </a:r>
            </a:p>
          </p:txBody>
        </p:sp>
        <p:sp>
          <p:nvSpPr>
            <p:cNvPr id="27" name="Oval 17">
              <a:extLst>
                <a:ext uri="{FF2B5EF4-FFF2-40B4-BE49-F238E27FC236}">
                  <a16:creationId xmlns:a16="http://schemas.microsoft.com/office/drawing/2014/main" id="{6311B6A2-F800-1D8C-2D35-0C36DFD1639F}"/>
                </a:ext>
              </a:extLst>
            </p:cNvPr>
            <p:cNvSpPr>
              <a:spLocks noChangeArrowheads="1"/>
            </p:cNvSpPr>
            <p:nvPr/>
          </p:nvSpPr>
          <p:spPr bwMode="auto">
            <a:xfrm>
              <a:off x="519113" y="3405188"/>
              <a:ext cx="400050" cy="366712"/>
            </a:xfrm>
            <a:prstGeom prst="ellipse">
              <a:avLst/>
            </a:prstGeom>
            <a:solidFill>
              <a:schemeClr val="accent1"/>
            </a:solidFill>
            <a:ln w="12700" cap="sq">
              <a:solidFill>
                <a:srgbClr val="800000"/>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2</a:t>
              </a:r>
            </a:p>
          </p:txBody>
        </p:sp>
        <p:sp>
          <p:nvSpPr>
            <p:cNvPr id="28" name="Oval 18">
              <a:extLst>
                <a:ext uri="{FF2B5EF4-FFF2-40B4-BE49-F238E27FC236}">
                  <a16:creationId xmlns:a16="http://schemas.microsoft.com/office/drawing/2014/main" id="{4D2CDFB4-0A79-3251-FCB7-8A3C33F09A10}"/>
                </a:ext>
              </a:extLst>
            </p:cNvPr>
            <p:cNvSpPr>
              <a:spLocks noChangeArrowheads="1"/>
            </p:cNvSpPr>
            <p:nvPr/>
          </p:nvSpPr>
          <p:spPr bwMode="auto">
            <a:xfrm>
              <a:off x="519113" y="4994275"/>
              <a:ext cx="400050" cy="366713"/>
            </a:xfrm>
            <a:prstGeom prst="ellipse">
              <a:avLst/>
            </a:prstGeom>
            <a:solidFill>
              <a:schemeClr val="accent1"/>
            </a:solidFill>
            <a:ln w="12700" cap="sq">
              <a:solidFill>
                <a:srgbClr val="800000"/>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3</a:t>
              </a:r>
            </a:p>
          </p:txBody>
        </p:sp>
      </p:grpSp>
    </p:spTree>
    <p:extLst>
      <p:ext uri="{BB962C8B-B14F-4D97-AF65-F5344CB8AC3E}">
        <p14:creationId xmlns:p14="http://schemas.microsoft.com/office/powerpoint/2010/main" val="39734125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4000" dirty="0"/>
              <a:t>Product Family Matrix</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17</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pSp>
        <p:nvGrpSpPr>
          <p:cNvPr id="732" name="Group 731">
            <a:extLst>
              <a:ext uri="{FF2B5EF4-FFF2-40B4-BE49-F238E27FC236}">
                <a16:creationId xmlns:a16="http://schemas.microsoft.com/office/drawing/2014/main" id="{D9CBA057-AC32-B78D-B819-C7B518784232}"/>
              </a:ext>
            </a:extLst>
          </p:cNvPr>
          <p:cNvGrpSpPr/>
          <p:nvPr/>
        </p:nvGrpSpPr>
        <p:grpSpPr>
          <a:xfrm>
            <a:off x="1041581" y="1783429"/>
            <a:ext cx="10108838" cy="4387184"/>
            <a:chOff x="377825" y="1416050"/>
            <a:chExt cx="8334375" cy="4754563"/>
          </a:xfrm>
        </p:grpSpPr>
        <p:grpSp>
          <p:nvGrpSpPr>
            <p:cNvPr id="730" name="Group 729">
              <a:extLst>
                <a:ext uri="{FF2B5EF4-FFF2-40B4-BE49-F238E27FC236}">
                  <a16:creationId xmlns:a16="http://schemas.microsoft.com/office/drawing/2014/main" id="{E3E2A5F2-82F2-DF0B-89C5-6D4BF027ED41}"/>
                </a:ext>
              </a:extLst>
            </p:cNvPr>
            <p:cNvGrpSpPr/>
            <p:nvPr/>
          </p:nvGrpSpPr>
          <p:grpSpPr>
            <a:xfrm>
              <a:off x="377825" y="1784350"/>
              <a:ext cx="8334375" cy="4386263"/>
              <a:chOff x="377825" y="1784350"/>
              <a:chExt cx="8334375" cy="4386263"/>
            </a:xfrm>
          </p:grpSpPr>
          <p:grpSp>
            <p:nvGrpSpPr>
              <p:cNvPr id="24" name="Group 3">
                <a:extLst>
                  <a:ext uri="{FF2B5EF4-FFF2-40B4-BE49-F238E27FC236}">
                    <a16:creationId xmlns:a16="http://schemas.microsoft.com/office/drawing/2014/main" id="{F0ACE995-EBF5-220B-0D87-9A19C3AAD6DD}"/>
                  </a:ext>
                </a:extLst>
              </p:cNvPr>
              <p:cNvGrpSpPr>
                <a:grpSpLocks/>
              </p:cNvGrpSpPr>
              <p:nvPr/>
            </p:nvGrpSpPr>
            <p:grpSpPr bwMode="auto">
              <a:xfrm>
                <a:off x="457200" y="1784350"/>
                <a:ext cx="8255000" cy="4386263"/>
                <a:chOff x="346" y="1173"/>
                <a:chExt cx="4885" cy="2451"/>
              </a:xfrm>
            </p:grpSpPr>
            <p:sp>
              <p:nvSpPr>
                <p:cNvPr id="25" name="Rectangle 4">
                  <a:extLst>
                    <a:ext uri="{FF2B5EF4-FFF2-40B4-BE49-F238E27FC236}">
                      <a16:creationId xmlns:a16="http://schemas.microsoft.com/office/drawing/2014/main" id="{A15A007F-8207-E26D-3589-452AAD1EFC6B}"/>
                    </a:ext>
                  </a:extLst>
                </p:cNvPr>
                <p:cNvSpPr>
                  <a:spLocks noChangeArrowheads="1"/>
                </p:cNvSpPr>
                <p:nvPr/>
              </p:nvSpPr>
              <p:spPr bwMode="auto">
                <a:xfrm>
                  <a:off x="1987"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 name="Rectangle 5">
                  <a:extLst>
                    <a:ext uri="{FF2B5EF4-FFF2-40B4-BE49-F238E27FC236}">
                      <a16:creationId xmlns:a16="http://schemas.microsoft.com/office/drawing/2014/main" id="{3BAE8616-6E5E-7BE6-CB95-52BB610E0201}"/>
                    </a:ext>
                  </a:extLst>
                </p:cNvPr>
                <p:cNvSpPr>
                  <a:spLocks noChangeArrowheads="1"/>
                </p:cNvSpPr>
                <p:nvPr/>
              </p:nvSpPr>
              <p:spPr bwMode="auto">
                <a:xfrm>
                  <a:off x="1987"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 name="Rectangle 6">
                  <a:extLst>
                    <a:ext uri="{FF2B5EF4-FFF2-40B4-BE49-F238E27FC236}">
                      <a16:creationId xmlns:a16="http://schemas.microsoft.com/office/drawing/2014/main" id="{0E4EFE47-DD7D-9B05-8090-DDA95210445A}"/>
                    </a:ext>
                  </a:extLst>
                </p:cNvPr>
                <p:cNvSpPr>
                  <a:spLocks noChangeArrowheads="1"/>
                </p:cNvSpPr>
                <p:nvPr/>
              </p:nvSpPr>
              <p:spPr bwMode="auto">
                <a:xfrm>
                  <a:off x="1993" y="1173"/>
                  <a:ext cx="3233"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 name="Rectangle 7">
                  <a:extLst>
                    <a:ext uri="{FF2B5EF4-FFF2-40B4-BE49-F238E27FC236}">
                      <a16:creationId xmlns:a16="http://schemas.microsoft.com/office/drawing/2014/main" id="{B9A93E4C-93E8-87F5-D2AD-F2B95EB251A4}"/>
                    </a:ext>
                  </a:extLst>
                </p:cNvPr>
                <p:cNvSpPr>
                  <a:spLocks noChangeArrowheads="1"/>
                </p:cNvSpPr>
                <p:nvPr/>
              </p:nvSpPr>
              <p:spPr bwMode="auto">
                <a:xfrm>
                  <a:off x="5225"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2" name="Rectangle 8">
                  <a:extLst>
                    <a:ext uri="{FF2B5EF4-FFF2-40B4-BE49-F238E27FC236}">
                      <a16:creationId xmlns:a16="http://schemas.microsoft.com/office/drawing/2014/main" id="{829A024C-27A4-E7A6-64F6-E37DA17687E8}"/>
                    </a:ext>
                  </a:extLst>
                </p:cNvPr>
                <p:cNvSpPr>
                  <a:spLocks noChangeArrowheads="1"/>
                </p:cNvSpPr>
                <p:nvPr/>
              </p:nvSpPr>
              <p:spPr bwMode="auto">
                <a:xfrm>
                  <a:off x="5225"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 name="Rectangle 9">
                  <a:extLst>
                    <a:ext uri="{FF2B5EF4-FFF2-40B4-BE49-F238E27FC236}">
                      <a16:creationId xmlns:a16="http://schemas.microsoft.com/office/drawing/2014/main" id="{14E92E15-CF5F-8501-ADE4-E338F99A04DB}"/>
                    </a:ext>
                  </a:extLst>
                </p:cNvPr>
                <p:cNvSpPr>
                  <a:spLocks noChangeArrowheads="1"/>
                </p:cNvSpPr>
                <p:nvPr/>
              </p:nvSpPr>
              <p:spPr bwMode="auto">
                <a:xfrm>
                  <a:off x="1987" y="1179"/>
                  <a:ext cx="6" cy="2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 name="Rectangle 10">
                  <a:extLst>
                    <a:ext uri="{FF2B5EF4-FFF2-40B4-BE49-F238E27FC236}">
                      <a16:creationId xmlns:a16="http://schemas.microsoft.com/office/drawing/2014/main" id="{83A256DD-FBD6-0BEE-BF1B-64E805E5E367}"/>
                    </a:ext>
                  </a:extLst>
                </p:cNvPr>
                <p:cNvSpPr>
                  <a:spLocks noChangeArrowheads="1"/>
                </p:cNvSpPr>
                <p:nvPr/>
              </p:nvSpPr>
              <p:spPr bwMode="auto">
                <a:xfrm>
                  <a:off x="5225" y="1179"/>
                  <a:ext cx="6" cy="2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 name="Rectangle 11">
                  <a:extLst>
                    <a:ext uri="{FF2B5EF4-FFF2-40B4-BE49-F238E27FC236}">
                      <a16:creationId xmlns:a16="http://schemas.microsoft.com/office/drawing/2014/main" id="{39238337-DED4-5D6B-90FA-44260504600B}"/>
                    </a:ext>
                  </a:extLst>
                </p:cNvPr>
                <p:cNvSpPr>
                  <a:spLocks noChangeArrowheads="1"/>
                </p:cNvSpPr>
                <p:nvPr/>
              </p:nvSpPr>
              <p:spPr bwMode="auto">
                <a:xfrm>
                  <a:off x="2912" y="1181"/>
                  <a:ext cx="739"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dirty="0">
                      <a:solidFill>
                        <a:srgbClr val="000000"/>
                      </a:solidFill>
                      <a:latin typeface="Roboto" panose="02000000000000000000" pitchFamily="2" charset="0"/>
                      <a:ea typeface="Roboto" panose="02000000000000000000" pitchFamily="2" charset="0"/>
                    </a:rPr>
                    <a:t>PROCESS NAME</a:t>
                  </a:r>
                </a:p>
              </p:txBody>
            </p:sp>
            <p:sp>
              <p:nvSpPr>
                <p:cNvPr id="36" name="Rectangle 12">
                  <a:extLst>
                    <a:ext uri="{FF2B5EF4-FFF2-40B4-BE49-F238E27FC236}">
                      <a16:creationId xmlns:a16="http://schemas.microsoft.com/office/drawing/2014/main" id="{0E4DBEEF-40A6-15B6-7CA4-5C61D009438A}"/>
                    </a:ext>
                  </a:extLst>
                </p:cNvPr>
                <p:cNvSpPr>
                  <a:spLocks noChangeArrowheads="1"/>
                </p:cNvSpPr>
                <p:nvPr/>
              </p:nvSpPr>
              <p:spPr bwMode="auto">
                <a:xfrm>
                  <a:off x="582"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7" name="Rectangle 13">
                  <a:extLst>
                    <a:ext uri="{FF2B5EF4-FFF2-40B4-BE49-F238E27FC236}">
                      <a16:creationId xmlns:a16="http://schemas.microsoft.com/office/drawing/2014/main" id="{62D17B3A-F79A-2C9E-13AE-98DE02B92B14}"/>
                    </a:ext>
                  </a:extLst>
                </p:cNvPr>
                <p:cNvSpPr>
                  <a:spLocks noChangeArrowheads="1"/>
                </p:cNvSpPr>
                <p:nvPr/>
              </p:nvSpPr>
              <p:spPr bwMode="auto">
                <a:xfrm>
                  <a:off x="582"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 name="Rectangle 14">
                  <a:extLst>
                    <a:ext uri="{FF2B5EF4-FFF2-40B4-BE49-F238E27FC236}">
                      <a16:creationId xmlns:a16="http://schemas.microsoft.com/office/drawing/2014/main" id="{F2D26060-2525-5B44-1A1C-659965852607}"/>
                    </a:ext>
                  </a:extLst>
                </p:cNvPr>
                <p:cNvSpPr>
                  <a:spLocks noChangeArrowheads="1"/>
                </p:cNvSpPr>
                <p:nvPr/>
              </p:nvSpPr>
              <p:spPr bwMode="auto">
                <a:xfrm>
                  <a:off x="587" y="1411"/>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 name="Rectangle 15">
                  <a:extLst>
                    <a:ext uri="{FF2B5EF4-FFF2-40B4-BE49-F238E27FC236}">
                      <a16:creationId xmlns:a16="http://schemas.microsoft.com/office/drawing/2014/main" id="{97C113C0-C985-9A49-BD57-90B428BE6A2C}"/>
                    </a:ext>
                  </a:extLst>
                </p:cNvPr>
                <p:cNvSpPr>
                  <a:spLocks noChangeArrowheads="1"/>
                </p:cNvSpPr>
                <p:nvPr/>
              </p:nvSpPr>
              <p:spPr bwMode="auto">
                <a:xfrm>
                  <a:off x="1157"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 name="Rectangle 16">
                  <a:extLst>
                    <a:ext uri="{FF2B5EF4-FFF2-40B4-BE49-F238E27FC236}">
                      <a16:creationId xmlns:a16="http://schemas.microsoft.com/office/drawing/2014/main" id="{8D4936AC-3EF6-F29E-E4B9-F9B116801BE4}"/>
                    </a:ext>
                  </a:extLst>
                </p:cNvPr>
                <p:cNvSpPr>
                  <a:spLocks noChangeArrowheads="1"/>
                </p:cNvSpPr>
                <p:nvPr/>
              </p:nvSpPr>
              <p:spPr bwMode="auto">
                <a:xfrm>
                  <a:off x="1163"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 name="Rectangle 17">
                  <a:extLst>
                    <a:ext uri="{FF2B5EF4-FFF2-40B4-BE49-F238E27FC236}">
                      <a16:creationId xmlns:a16="http://schemas.microsoft.com/office/drawing/2014/main" id="{91F7E7DD-5AA8-D980-C67C-6BD3C2E39CDC}"/>
                    </a:ext>
                  </a:extLst>
                </p:cNvPr>
                <p:cNvSpPr>
                  <a:spLocks noChangeArrowheads="1"/>
                </p:cNvSpPr>
                <p:nvPr/>
              </p:nvSpPr>
              <p:spPr bwMode="auto">
                <a:xfrm>
                  <a:off x="1564"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 name="Rectangle 18">
                  <a:extLst>
                    <a:ext uri="{FF2B5EF4-FFF2-40B4-BE49-F238E27FC236}">
                      <a16:creationId xmlns:a16="http://schemas.microsoft.com/office/drawing/2014/main" id="{577F7821-36FB-1A32-75E9-C50832BBABEB}"/>
                    </a:ext>
                  </a:extLst>
                </p:cNvPr>
                <p:cNvSpPr>
                  <a:spLocks noChangeArrowheads="1"/>
                </p:cNvSpPr>
                <p:nvPr/>
              </p:nvSpPr>
              <p:spPr bwMode="auto">
                <a:xfrm>
                  <a:off x="1570" y="1411"/>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 name="Rectangle 19">
                  <a:extLst>
                    <a:ext uri="{FF2B5EF4-FFF2-40B4-BE49-F238E27FC236}">
                      <a16:creationId xmlns:a16="http://schemas.microsoft.com/office/drawing/2014/main" id="{6FD2505E-34AE-9DBA-AA65-1FC8309BF1E7}"/>
                    </a:ext>
                  </a:extLst>
                </p:cNvPr>
                <p:cNvSpPr>
                  <a:spLocks noChangeArrowheads="1"/>
                </p:cNvSpPr>
                <p:nvPr/>
              </p:nvSpPr>
              <p:spPr bwMode="auto">
                <a:xfrm>
                  <a:off x="1987"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 name="Rectangle 20">
                  <a:extLst>
                    <a:ext uri="{FF2B5EF4-FFF2-40B4-BE49-F238E27FC236}">
                      <a16:creationId xmlns:a16="http://schemas.microsoft.com/office/drawing/2014/main" id="{D90A9246-053F-CF9C-B509-2D9AA7328B6A}"/>
                    </a:ext>
                  </a:extLst>
                </p:cNvPr>
                <p:cNvSpPr>
                  <a:spLocks noChangeArrowheads="1"/>
                </p:cNvSpPr>
                <p:nvPr/>
              </p:nvSpPr>
              <p:spPr bwMode="auto">
                <a:xfrm>
                  <a:off x="1993" y="1411"/>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 name="Rectangle 21">
                  <a:extLst>
                    <a:ext uri="{FF2B5EF4-FFF2-40B4-BE49-F238E27FC236}">
                      <a16:creationId xmlns:a16="http://schemas.microsoft.com/office/drawing/2014/main" id="{67818947-9643-7934-EA5D-C07BDBC88A01}"/>
                    </a:ext>
                  </a:extLst>
                </p:cNvPr>
                <p:cNvSpPr>
                  <a:spLocks noChangeArrowheads="1"/>
                </p:cNvSpPr>
                <p:nvPr/>
              </p:nvSpPr>
              <p:spPr bwMode="auto">
                <a:xfrm>
                  <a:off x="2378"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 name="Rectangle 22">
                  <a:extLst>
                    <a:ext uri="{FF2B5EF4-FFF2-40B4-BE49-F238E27FC236}">
                      <a16:creationId xmlns:a16="http://schemas.microsoft.com/office/drawing/2014/main" id="{6ADD2E2D-45D0-69EB-ECD0-1F34EEEC29DC}"/>
                    </a:ext>
                  </a:extLst>
                </p:cNvPr>
                <p:cNvSpPr>
                  <a:spLocks noChangeArrowheads="1"/>
                </p:cNvSpPr>
                <p:nvPr/>
              </p:nvSpPr>
              <p:spPr bwMode="auto">
                <a:xfrm>
                  <a:off x="2384"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 name="Rectangle 23">
                  <a:extLst>
                    <a:ext uri="{FF2B5EF4-FFF2-40B4-BE49-F238E27FC236}">
                      <a16:creationId xmlns:a16="http://schemas.microsoft.com/office/drawing/2014/main" id="{AF00D728-A268-386B-3E1C-E1DDF810304F}"/>
                    </a:ext>
                  </a:extLst>
                </p:cNvPr>
                <p:cNvSpPr>
                  <a:spLocks noChangeArrowheads="1"/>
                </p:cNvSpPr>
                <p:nvPr/>
              </p:nvSpPr>
              <p:spPr bwMode="auto">
                <a:xfrm>
                  <a:off x="2785"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 name="Rectangle 24">
                  <a:extLst>
                    <a:ext uri="{FF2B5EF4-FFF2-40B4-BE49-F238E27FC236}">
                      <a16:creationId xmlns:a16="http://schemas.microsoft.com/office/drawing/2014/main" id="{8B5A4C59-3E97-37E8-38DF-C5EE4749BC6A}"/>
                    </a:ext>
                  </a:extLst>
                </p:cNvPr>
                <p:cNvSpPr>
                  <a:spLocks noChangeArrowheads="1"/>
                </p:cNvSpPr>
                <p:nvPr/>
              </p:nvSpPr>
              <p:spPr bwMode="auto">
                <a:xfrm>
                  <a:off x="2791"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 name="Rectangle 25">
                  <a:extLst>
                    <a:ext uri="{FF2B5EF4-FFF2-40B4-BE49-F238E27FC236}">
                      <a16:creationId xmlns:a16="http://schemas.microsoft.com/office/drawing/2014/main" id="{BE11C8EF-A015-E898-0DBD-59371D6E4250}"/>
                    </a:ext>
                  </a:extLst>
                </p:cNvPr>
                <p:cNvSpPr>
                  <a:spLocks noChangeArrowheads="1"/>
                </p:cNvSpPr>
                <p:nvPr/>
              </p:nvSpPr>
              <p:spPr bwMode="auto">
                <a:xfrm>
                  <a:off x="3192"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Rectangle 26">
                  <a:extLst>
                    <a:ext uri="{FF2B5EF4-FFF2-40B4-BE49-F238E27FC236}">
                      <a16:creationId xmlns:a16="http://schemas.microsoft.com/office/drawing/2014/main" id="{5B2B1E21-4F63-94FC-E457-8D956CB6A179}"/>
                    </a:ext>
                  </a:extLst>
                </p:cNvPr>
                <p:cNvSpPr>
                  <a:spLocks noChangeArrowheads="1"/>
                </p:cNvSpPr>
                <p:nvPr/>
              </p:nvSpPr>
              <p:spPr bwMode="auto">
                <a:xfrm>
                  <a:off x="3198"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 name="Rectangle 27">
                  <a:extLst>
                    <a:ext uri="{FF2B5EF4-FFF2-40B4-BE49-F238E27FC236}">
                      <a16:creationId xmlns:a16="http://schemas.microsoft.com/office/drawing/2014/main" id="{CC6AE726-305B-E95F-67B4-37241A4DB1E5}"/>
                    </a:ext>
                  </a:extLst>
                </p:cNvPr>
                <p:cNvSpPr>
                  <a:spLocks noChangeArrowheads="1"/>
                </p:cNvSpPr>
                <p:nvPr/>
              </p:nvSpPr>
              <p:spPr bwMode="auto">
                <a:xfrm>
                  <a:off x="3599"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 name="Rectangle 28">
                  <a:extLst>
                    <a:ext uri="{FF2B5EF4-FFF2-40B4-BE49-F238E27FC236}">
                      <a16:creationId xmlns:a16="http://schemas.microsoft.com/office/drawing/2014/main" id="{EA7B3786-6723-C01C-4003-FEBE9F2913E2}"/>
                    </a:ext>
                  </a:extLst>
                </p:cNvPr>
                <p:cNvSpPr>
                  <a:spLocks noChangeArrowheads="1"/>
                </p:cNvSpPr>
                <p:nvPr/>
              </p:nvSpPr>
              <p:spPr bwMode="auto">
                <a:xfrm>
                  <a:off x="3605" y="1411"/>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 name="Rectangle 29">
                  <a:extLst>
                    <a:ext uri="{FF2B5EF4-FFF2-40B4-BE49-F238E27FC236}">
                      <a16:creationId xmlns:a16="http://schemas.microsoft.com/office/drawing/2014/main" id="{A9587090-117E-AE30-CD56-4FA6D6A213B0}"/>
                    </a:ext>
                  </a:extLst>
                </p:cNvPr>
                <p:cNvSpPr>
                  <a:spLocks noChangeArrowheads="1"/>
                </p:cNvSpPr>
                <p:nvPr/>
              </p:nvSpPr>
              <p:spPr bwMode="auto">
                <a:xfrm>
                  <a:off x="4004"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 name="Rectangle 30">
                  <a:extLst>
                    <a:ext uri="{FF2B5EF4-FFF2-40B4-BE49-F238E27FC236}">
                      <a16:creationId xmlns:a16="http://schemas.microsoft.com/office/drawing/2014/main" id="{0F1FE57A-8FED-58B5-69A7-2C5F650D63C9}"/>
                    </a:ext>
                  </a:extLst>
                </p:cNvPr>
                <p:cNvSpPr>
                  <a:spLocks noChangeArrowheads="1"/>
                </p:cNvSpPr>
                <p:nvPr/>
              </p:nvSpPr>
              <p:spPr bwMode="auto">
                <a:xfrm>
                  <a:off x="4010"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 name="Rectangle 31">
                  <a:extLst>
                    <a:ext uri="{FF2B5EF4-FFF2-40B4-BE49-F238E27FC236}">
                      <a16:creationId xmlns:a16="http://schemas.microsoft.com/office/drawing/2014/main" id="{D12C47DD-642F-EFBF-B5BE-13AB4058E582}"/>
                    </a:ext>
                  </a:extLst>
                </p:cNvPr>
                <p:cNvSpPr>
                  <a:spLocks noChangeArrowheads="1"/>
                </p:cNvSpPr>
                <p:nvPr/>
              </p:nvSpPr>
              <p:spPr bwMode="auto">
                <a:xfrm>
                  <a:off x="4411"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6" name="Rectangle 32">
                  <a:extLst>
                    <a:ext uri="{FF2B5EF4-FFF2-40B4-BE49-F238E27FC236}">
                      <a16:creationId xmlns:a16="http://schemas.microsoft.com/office/drawing/2014/main" id="{B485B49D-C3F6-73EB-4165-11F341CBBC06}"/>
                    </a:ext>
                  </a:extLst>
                </p:cNvPr>
                <p:cNvSpPr>
                  <a:spLocks noChangeArrowheads="1"/>
                </p:cNvSpPr>
                <p:nvPr/>
              </p:nvSpPr>
              <p:spPr bwMode="auto">
                <a:xfrm>
                  <a:off x="4417"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 name="Rectangle 33">
                  <a:extLst>
                    <a:ext uri="{FF2B5EF4-FFF2-40B4-BE49-F238E27FC236}">
                      <a16:creationId xmlns:a16="http://schemas.microsoft.com/office/drawing/2014/main" id="{D3049A06-4BCE-31B1-4E1A-DD5B22B9D09D}"/>
                    </a:ext>
                  </a:extLst>
                </p:cNvPr>
                <p:cNvSpPr>
                  <a:spLocks noChangeArrowheads="1"/>
                </p:cNvSpPr>
                <p:nvPr/>
              </p:nvSpPr>
              <p:spPr bwMode="auto">
                <a:xfrm>
                  <a:off x="4818"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 name="Rectangle 34">
                  <a:extLst>
                    <a:ext uri="{FF2B5EF4-FFF2-40B4-BE49-F238E27FC236}">
                      <a16:creationId xmlns:a16="http://schemas.microsoft.com/office/drawing/2014/main" id="{C3756C47-942E-587F-709B-9A302FF4468F}"/>
                    </a:ext>
                  </a:extLst>
                </p:cNvPr>
                <p:cNvSpPr>
                  <a:spLocks noChangeArrowheads="1"/>
                </p:cNvSpPr>
                <p:nvPr/>
              </p:nvSpPr>
              <p:spPr bwMode="auto">
                <a:xfrm>
                  <a:off x="4824"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 name="Rectangle 35">
                  <a:extLst>
                    <a:ext uri="{FF2B5EF4-FFF2-40B4-BE49-F238E27FC236}">
                      <a16:creationId xmlns:a16="http://schemas.microsoft.com/office/drawing/2014/main" id="{9E038AAF-C119-C8FA-941A-DC2EDA455685}"/>
                    </a:ext>
                  </a:extLst>
                </p:cNvPr>
                <p:cNvSpPr>
                  <a:spLocks noChangeArrowheads="1"/>
                </p:cNvSpPr>
                <p:nvPr/>
              </p:nvSpPr>
              <p:spPr bwMode="auto">
                <a:xfrm>
                  <a:off x="5225"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 name="Rectangle 36">
                  <a:extLst>
                    <a:ext uri="{FF2B5EF4-FFF2-40B4-BE49-F238E27FC236}">
                      <a16:creationId xmlns:a16="http://schemas.microsoft.com/office/drawing/2014/main" id="{60596F84-4788-9085-383E-947E5A8ABD86}"/>
                    </a:ext>
                  </a:extLst>
                </p:cNvPr>
                <p:cNvSpPr>
                  <a:spLocks noChangeArrowheads="1"/>
                </p:cNvSpPr>
                <p:nvPr/>
              </p:nvSpPr>
              <p:spPr bwMode="auto">
                <a:xfrm>
                  <a:off x="582"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 name="Rectangle 37">
                  <a:extLst>
                    <a:ext uri="{FF2B5EF4-FFF2-40B4-BE49-F238E27FC236}">
                      <a16:creationId xmlns:a16="http://schemas.microsoft.com/office/drawing/2014/main" id="{8C7A7E51-1C96-4B82-C4DA-9872D8EBF3B3}"/>
                    </a:ext>
                  </a:extLst>
                </p:cNvPr>
                <p:cNvSpPr>
                  <a:spLocks noChangeArrowheads="1"/>
                </p:cNvSpPr>
                <p:nvPr/>
              </p:nvSpPr>
              <p:spPr bwMode="auto">
                <a:xfrm>
                  <a:off x="1157"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 name="Rectangle 38">
                  <a:extLst>
                    <a:ext uri="{FF2B5EF4-FFF2-40B4-BE49-F238E27FC236}">
                      <a16:creationId xmlns:a16="http://schemas.microsoft.com/office/drawing/2014/main" id="{AA7DF6D6-C309-E9F3-3A69-8849D0CC9390}"/>
                    </a:ext>
                  </a:extLst>
                </p:cNvPr>
                <p:cNvSpPr>
                  <a:spLocks noChangeArrowheads="1"/>
                </p:cNvSpPr>
                <p:nvPr/>
              </p:nvSpPr>
              <p:spPr bwMode="auto">
                <a:xfrm>
                  <a:off x="1564"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 name="Rectangle 39">
                  <a:extLst>
                    <a:ext uri="{FF2B5EF4-FFF2-40B4-BE49-F238E27FC236}">
                      <a16:creationId xmlns:a16="http://schemas.microsoft.com/office/drawing/2014/main" id="{F083C893-1C2B-4BC2-9BB9-E04FA9478259}"/>
                    </a:ext>
                  </a:extLst>
                </p:cNvPr>
                <p:cNvSpPr>
                  <a:spLocks noChangeArrowheads="1"/>
                </p:cNvSpPr>
                <p:nvPr/>
              </p:nvSpPr>
              <p:spPr bwMode="auto">
                <a:xfrm>
                  <a:off x="1987"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 name="Rectangle 40">
                  <a:extLst>
                    <a:ext uri="{FF2B5EF4-FFF2-40B4-BE49-F238E27FC236}">
                      <a16:creationId xmlns:a16="http://schemas.microsoft.com/office/drawing/2014/main" id="{FDE44E65-9C62-6240-03D5-1D673EF93A9C}"/>
                    </a:ext>
                  </a:extLst>
                </p:cNvPr>
                <p:cNvSpPr>
                  <a:spLocks noChangeArrowheads="1"/>
                </p:cNvSpPr>
                <p:nvPr/>
              </p:nvSpPr>
              <p:spPr bwMode="auto">
                <a:xfrm>
                  <a:off x="2378"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 name="Rectangle 41">
                  <a:extLst>
                    <a:ext uri="{FF2B5EF4-FFF2-40B4-BE49-F238E27FC236}">
                      <a16:creationId xmlns:a16="http://schemas.microsoft.com/office/drawing/2014/main" id="{1E06C93C-A75D-792C-42C8-8E0079993C51}"/>
                    </a:ext>
                  </a:extLst>
                </p:cNvPr>
                <p:cNvSpPr>
                  <a:spLocks noChangeArrowheads="1"/>
                </p:cNvSpPr>
                <p:nvPr/>
              </p:nvSpPr>
              <p:spPr bwMode="auto">
                <a:xfrm>
                  <a:off x="2785"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 name="Rectangle 42">
                  <a:extLst>
                    <a:ext uri="{FF2B5EF4-FFF2-40B4-BE49-F238E27FC236}">
                      <a16:creationId xmlns:a16="http://schemas.microsoft.com/office/drawing/2014/main" id="{5A61A35A-DD73-79CE-942C-BAA9A89E1D0D}"/>
                    </a:ext>
                  </a:extLst>
                </p:cNvPr>
                <p:cNvSpPr>
                  <a:spLocks noChangeArrowheads="1"/>
                </p:cNvSpPr>
                <p:nvPr/>
              </p:nvSpPr>
              <p:spPr bwMode="auto">
                <a:xfrm>
                  <a:off x="3192"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 name="Rectangle 43">
                  <a:extLst>
                    <a:ext uri="{FF2B5EF4-FFF2-40B4-BE49-F238E27FC236}">
                      <a16:creationId xmlns:a16="http://schemas.microsoft.com/office/drawing/2014/main" id="{5D85B81C-9A98-896F-B649-AE4406653547}"/>
                    </a:ext>
                  </a:extLst>
                </p:cNvPr>
                <p:cNvSpPr>
                  <a:spLocks noChangeArrowheads="1"/>
                </p:cNvSpPr>
                <p:nvPr/>
              </p:nvSpPr>
              <p:spPr bwMode="auto">
                <a:xfrm>
                  <a:off x="3599"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8" name="Rectangle 44">
                  <a:extLst>
                    <a:ext uri="{FF2B5EF4-FFF2-40B4-BE49-F238E27FC236}">
                      <a16:creationId xmlns:a16="http://schemas.microsoft.com/office/drawing/2014/main" id="{7A9F599E-BAB2-3B9B-131D-A9E57A0E6EE2}"/>
                    </a:ext>
                  </a:extLst>
                </p:cNvPr>
                <p:cNvSpPr>
                  <a:spLocks noChangeArrowheads="1"/>
                </p:cNvSpPr>
                <p:nvPr/>
              </p:nvSpPr>
              <p:spPr bwMode="auto">
                <a:xfrm>
                  <a:off x="4004"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9" name="Rectangle 45">
                  <a:extLst>
                    <a:ext uri="{FF2B5EF4-FFF2-40B4-BE49-F238E27FC236}">
                      <a16:creationId xmlns:a16="http://schemas.microsoft.com/office/drawing/2014/main" id="{C43B4B4A-288E-AF44-D37B-46A74BDDC72B}"/>
                    </a:ext>
                  </a:extLst>
                </p:cNvPr>
                <p:cNvSpPr>
                  <a:spLocks noChangeArrowheads="1"/>
                </p:cNvSpPr>
                <p:nvPr/>
              </p:nvSpPr>
              <p:spPr bwMode="auto">
                <a:xfrm>
                  <a:off x="4411"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70" name="Rectangle 46">
                  <a:extLst>
                    <a:ext uri="{FF2B5EF4-FFF2-40B4-BE49-F238E27FC236}">
                      <a16:creationId xmlns:a16="http://schemas.microsoft.com/office/drawing/2014/main" id="{20D57DCB-7852-6BC7-5FCA-69EE08A3E976}"/>
                    </a:ext>
                  </a:extLst>
                </p:cNvPr>
                <p:cNvSpPr>
                  <a:spLocks noChangeArrowheads="1"/>
                </p:cNvSpPr>
                <p:nvPr/>
              </p:nvSpPr>
              <p:spPr bwMode="auto">
                <a:xfrm>
                  <a:off x="4818"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71" name="Rectangle 47">
                  <a:extLst>
                    <a:ext uri="{FF2B5EF4-FFF2-40B4-BE49-F238E27FC236}">
                      <a16:creationId xmlns:a16="http://schemas.microsoft.com/office/drawing/2014/main" id="{DE2BDCA1-566F-4220-A721-EC6D30882C08}"/>
                    </a:ext>
                  </a:extLst>
                </p:cNvPr>
                <p:cNvSpPr>
                  <a:spLocks noChangeArrowheads="1"/>
                </p:cNvSpPr>
                <p:nvPr/>
              </p:nvSpPr>
              <p:spPr bwMode="auto">
                <a:xfrm>
                  <a:off x="5225"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72" name="Rectangle 48">
                  <a:extLst>
                    <a:ext uri="{FF2B5EF4-FFF2-40B4-BE49-F238E27FC236}">
                      <a16:creationId xmlns:a16="http://schemas.microsoft.com/office/drawing/2014/main" id="{05BA9649-9782-D5E5-4332-81136C94B94B}"/>
                    </a:ext>
                  </a:extLst>
                </p:cNvPr>
                <p:cNvSpPr>
                  <a:spLocks noChangeArrowheads="1"/>
                </p:cNvSpPr>
                <p:nvPr/>
              </p:nvSpPr>
              <p:spPr bwMode="auto">
                <a:xfrm>
                  <a:off x="727" y="1490"/>
                  <a:ext cx="260"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Part #</a:t>
                  </a:r>
                </a:p>
              </p:txBody>
            </p:sp>
            <p:sp>
              <p:nvSpPr>
                <p:cNvPr id="73" name="Rectangle 49">
                  <a:extLst>
                    <a:ext uri="{FF2B5EF4-FFF2-40B4-BE49-F238E27FC236}">
                      <a16:creationId xmlns:a16="http://schemas.microsoft.com/office/drawing/2014/main" id="{60FFD8B1-6BF9-BA33-D4E1-739CA466008C}"/>
                    </a:ext>
                  </a:extLst>
                </p:cNvPr>
                <p:cNvSpPr>
                  <a:spLocks noChangeArrowheads="1"/>
                </p:cNvSpPr>
                <p:nvPr/>
              </p:nvSpPr>
              <p:spPr bwMode="auto">
                <a:xfrm>
                  <a:off x="1184" y="1419"/>
                  <a:ext cx="32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Demand</a:t>
                  </a:r>
                </a:p>
              </p:txBody>
            </p:sp>
            <p:sp>
              <p:nvSpPr>
                <p:cNvPr id="74" name="Rectangle 50">
                  <a:extLst>
                    <a:ext uri="{FF2B5EF4-FFF2-40B4-BE49-F238E27FC236}">
                      <a16:creationId xmlns:a16="http://schemas.microsoft.com/office/drawing/2014/main" id="{2090F1D1-38E6-8D2B-453F-84D2E404816C}"/>
                    </a:ext>
                  </a:extLst>
                </p:cNvPr>
                <p:cNvSpPr>
                  <a:spLocks noChangeArrowheads="1"/>
                </p:cNvSpPr>
                <p:nvPr/>
              </p:nvSpPr>
              <p:spPr bwMode="auto">
                <a:xfrm>
                  <a:off x="1186" y="1513"/>
                  <a:ext cx="337"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Arial Narrow" panose="020B0606020202030204" pitchFamily="34" charset="0"/>
                    </a:rPr>
                    <a:t>Quantity</a:t>
                  </a:r>
                </a:p>
              </p:txBody>
            </p:sp>
            <p:sp>
              <p:nvSpPr>
                <p:cNvPr id="75" name="Rectangle 51">
                  <a:extLst>
                    <a:ext uri="{FF2B5EF4-FFF2-40B4-BE49-F238E27FC236}">
                      <a16:creationId xmlns:a16="http://schemas.microsoft.com/office/drawing/2014/main" id="{E8886F38-E520-F907-C8A6-9145EC38F11B}"/>
                    </a:ext>
                  </a:extLst>
                </p:cNvPr>
                <p:cNvSpPr>
                  <a:spLocks noChangeArrowheads="1"/>
                </p:cNvSpPr>
                <p:nvPr/>
              </p:nvSpPr>
              <p:spPr bwMode="auto">
                <a:xfrm>
                  <a:off x="1556" y="1490"/>
                  <a:ext cx="369"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 of Total</a:t>
                  </a:r>
                </a:p>
              </p:txBody>
            </p:sp>
            <p:sp>
              <p:nvSpPr>
                <p:cNvPr id="76" name="Rectangle 52">
                  <a:extLst>
                    <a:ext uri="{FF2B5EF4-FFF2-40B4-BE49-F238E27FC236}">
                      <a16:creationId xmlns:a16="http://schemas.microsoft.com/office/drawing/2014/main" id="{A31B1637-B895-ADA2-C5F1-FDF6CBE9CF42}"/>
                    </a:ext>
                  </a:extLst>
                </p:cNvPr>
                <p:cNvSpPr>
                  <a:spLocks noChangeArrowheads="1"/>
                </p:cNvSpPr>
                <p:nvPr/>
              </p:nvSpPr>
              <p:spPr bwMode="auto">
                <a:xfrm>
                  <a:off x="1996" y="1490"/>
                  <a:ext cx="33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CNC Mill</a:t>
                  </a:r>
                </a:p>
              </p:txBody>
            </p:sp>
            <p:sp>
              <p:nvSpPr>
                <p:cNvPr id="77" name="Rectangle 53">
                  <a:extLst>
                    <a:ext uri="{FF2B5EF4-FFF2-40B4-BE49-F238E27FC236}">
                      <a16:creationId xmlns:a16="http://schemas.microsoft.com/office/drawing/2014/main" id="{4C7507D8-7358-7046-5D93-ED8AFB419A92}"/>
                    </a:ext>
                  </a:extLst>
                </p:cNvPr>
                <p:cNvSpPr>
                  <a:spLocks noChangeArrowheads="1"/>
                </p:cNvSpPr>
                <p:nvPr/>
              </p:nvSpPr>
              <p:spPr bwMode="auto">
                <a:xfrm>
                  <a:off x="2430" y="1419"/>
                  <a:ext cx="27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Center</a:t>
                  </a:r>
                </a:p>
              </p:txBody>
            </p:sp>
            <p:sp>
              <p:nvSpPr>
                <p:cNvPr id="78" name="Rectangle 54">
                  <a:extLst>
                    <a:ext uri="{FF2B5EF4-FFF2-40B4-BE49-F238E27FC236}">
                      <a16:creationId xmlns:a16="http://schemas.microsoft.com/office/drawing/2014/main" id="{D7AB98BA-12EE-F80C-22F5-B808B1AAD20F}"/>
                    </a:ext>
                  </a:extLst>
                </p:cNvPr>
                <p:cNvSpPr>
                  <a:spLocks noChangeArrowheads="1"/>
                </p:cNvSpPr>
                <p:nvPr/>
              </p:nvSpPr>
              <p:spPr bwMode="auto">
                <a:xfrm>
                  <a:off x="2445" y="1513"/>
                  <a:ext cx="24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Lathe</a:t>
                  </a:r>
                </a:p>
              </p:txBody>
            </p:sp>
            <p:sp>
              <p:nvSpPr>
                <p:cNvPr id="79" name="Rectangle 55">
                  <a:extLst>
                    <a:ext uri="{FF2B5EF4-FFF2-40B4-BE49-F238E27FC236}">
                      <a16:creationId xmlns:a16="http://schemas.microsoft.com/office/drawing/2014/main" id="{65DE89DB-F275-18CD-4BD2-31115B9E58EF}"/>
                    </a:ext>
                  </a:extLst>
                </p:cNvPr>
                <p:cNvSpPr>
                  <a:spLocks noChangeArrowheads="1"/>
                </p:cNvSpPr>
                <p:nvPr/>
              </p:nvSpPr>
              <p:spPr bwMode="auto">
                <a:xfrm>
                  <a:off x="2852" y="1490"/>
                  <a:ext cx="239"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Grind</a:t>
                  </a:r>
                </a:p>
              </p:txBody>
            </p:sp>
            <p:sp>
              <p:nvSpPr>
                <p:cNvPr id="80" name="Rectangle 56">
                  <a:extLst>
                    <a:ext uri="{FF2B5EF4-FFF2-40B4-BE49-F238E27FC236}">
                      <a16:creationId xmlns:a16="http://schemas.microsoft.com/office/drawing/2014/main" id="{6E5A69BE-2AC3-D33A-53F9-443B4197C105}"/>
                    </a:ext>
                  </a:extLst>
                </p:cNvPr>
                <p:cNvSpPr>
                  <a:spLocks noChangeArrowheads="1"/>
                </p:cNvSpPr>
                <p:nvPr/>
              </p:nvSpPr>
              <p:spPr bwMode="auto">
                <a:xfrm>
                  <a:off x="3282" y="1490"/>
                  <a:ext cx="19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Roll</a:t>
                  </a:r>
                </a:p>
              </p:txBody>
            </p:sp>
            <p:sp>
              <p:nvSpPr>
                <p:cNvPr id="81" name="Rectangle 57">
                  <a:extLst>
                    <a:ext uri="{FF2B5EF4-FFF2-40B4-BE49-F238E27FC236}">
                      <a16:creationId xmlns:a16="http://schemas.microsoft.com/office/drawing/2014/main" id="{885F29FC-CCD5-634E-E215-ED59CB55C534}"/>
                    </a:ext>
                  </a:extLst>
                </p:cNvPr>
                <p:cNvSpPr>
                  <a:spLocks noChangeArrowheads="1"/>
                </p:cNvSpPr>
                <p:nvPr/>
              </p:nvSpPr>
              <p:spPr bwMode="auto">
                <a:xfrm>
                  <a:off x="3660" y="1490"/>
                  <a:ext cx="248"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Clean</a:t>
                  </a:r>
                </a:p>
              </p:txBody>
            </p:sp>
            <p:sp>
              <p:nvSpPr>
                <p:cNvPr id="82" name="Rectangle 58">
                  <a:extLst>
                    <a:ext uri="{FF2B5EF4-FFF2-40B4-BE49-F238E27FC236}">
                      <a16:creationId xmlns:a16="http://schemas.microsoft.com/office/drawing/2014/main" id="{CE1682CD-B61D-A187-BEAF-0509520D930E}"/>
                    </a:ext>
                  </a:extLst>
                </p:cNvPr>
                <p:cNvSpPr>
                  <a:spLocks noChangeArrowheads="1"/>
                </p:cNvSpPr>
                <p:nvPr/>
              </p:nvSpPr>
              <p:spPr bwMode="auto">
                <a:xfrm>
                  <a:off x="4081" y="1394"/>
                  <a:ext cx="22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Gear</a:t>
                  </a:r>
                </a:p>
              </p:txBody>
            </p:sp>
            <p:sp>
              <p:nvSpPr>
                <p:cNvPr id="83" name="Rectangle 59">
                  <a:extLst>
                    <a:ext uri="{FF2B5EF4-FFF2-40B4-BE49-F238E27FC236}">
                      <a16:creationId xmlns:a16="http://schemas.microsoft.com/office/drawing/2014/main" id="{CD2AFB87-63A3-0544-DFFF-CF957A6A2AB9}"/>
                    </a:ext>
                  </a:extLst>
                </p:cNvPr>
                <p:cNvSpPr>
                  <a:spLocks noChangeArrowheads="1"/>
                </p:cNvSpPr>
                <p:nvPr/>
              </p:nvSpPr>
              <p:spPr bwMode="auto">
                <a:xfrm>
                  <a:off x="4069" y="1488"/>
                  <a:ext cx="249"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Teeth</a:t>
                  </a:r>
                </a:p>
              </p:txBody>
            </p:sp>
            <p:sp>
              <p:nvSpPr>
                <p:cNvPr id="84" name="Rectangle 60">
                  <a:extLst>
                    <a:ext uri="{FF2B5EF4-FFF2-40B4-BE49-F238E27FC236}">
                      <a16:creationId xmlns:a16="http://schemas.microsoft.com/office/drawing/2014/main" id="{D1507153-78D6-F1DF-843A-0E482E4F266B}"/>
                    </a:ext>
                  </a:extLst>
                </p:cNvPr>
                <p:cNvSpPr>
                  <a:spLocks noChangeArrowheads="1"/>
                </p:cNvSpPr>
                <p:nvPr/>
              </p:nvSpPr>
              <p:spPr bwMode="auto">
                <a:xfrm>
                  <a:off x="4048" y="1582"/>
                  <a:ext cx="29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Cutting</a:t>
                  </a:r>
                </a:p>
              </p:txBody>
            </p:sp>
            <p:sp>
              <p:nvSpPr>
                <p:cNvPr id="85" name="Rectangle 61">
                  <a:extLst>
                    <a:ext uri="{FF2B5EF4-FFF2-40B4-BE49-F238E27FC236}">
                      <a16:creationId xmlns:a16="http://schemas.microsoft.com/office/drawing/2014/main" id="{2D12478E-CABD-DCBC-B7DE-4CE6F966622D}"/>
                    </a:ext>
                  </a:extLst>
                </p:cNvPr>
                <p:cNvSpPr>
                  <a:spLocks noChangeArrowheads="1"/>
                </p:cNvSpPr>
                <p:nvPr/>
              </p:nvSpPr>
              <p:spPr bwMode="auto">
                <a:xfrm>
                  <a:off x="4401" y="1490"/>
                  <a:ext cx="36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Assembly</a:t>
                  </a:r>
                </a:p>
              </p:txBody>
            </p:sp>
            <p:sp>
              <p:nvSpPr>
                <p:cNvPr id="86" name="Rectangle 62">
                  <a:extLst>
                    <a:ext uri="{FF2B5EF4-FFF2-40B4-BE49-F238E27FC236}">
                      <a16:creationId xmlns:a16="http://schemas.microsoft.com/office/drawing/2014/main" id="{057A977A-D892-330E-6C05-4A82A6100C4C}"/>
                    </a:ext>
                  </a:extLst>
                </p:cNvPr>
                <p:cNvSpPr>
                  <a:spLocks noChangeArrowheads="1"/>
                </p:cNvSpPr>
                <p:nvPr/>
              </p:nvSpPr>
              <p:spPr bwMode="auto">
                <a:xfrm>
                  <a:off x="4808" y="1490"/>
                  <a:ext cx="3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Packaging</a:t>
                  </a:r>
                </a:p>
              </p:txBody>
            </p:sp>
            <p:sp>
              <p:nvSpPr>
                <p:cNvPr id="87" name="Rectangle 63">
                  <a:extLst>
                    <a:ext uri="{FF2B5EF4-FFF2-40B4-BE49-F238E27FC236}">
                      <a16:creationId xmlns:a16="http://schemas.microsoft.com/office/drawing/2014/main" id="{141709FE-55CC-C66D-BBEC-5E4F5402AB95}"/>
                    </a:ext>
                  </a:extLst>
                </p:cNvPr>
                <p:cNvSpPr>
                  <a:spLocks noChangeArrowheads="1"/>
                </p:cNvSpPr>
                <p:nvPr/>
              </p:nvSpPr>
              <p:spPr bwMode="auto">
                <a:xfrm>
                  <a:off x="346"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8" name="Rectangle 64">
                  <a:extLst>
                    <a:ext uri="{FF2B5EF4-FFF2-40B4-BE49-F238E27FC236}">
                      <a16:creationId xmlns:a16="http://schemas.microsoft.com/office/drawing/2014/main" id="{3820A43A-0928-67AB-D1F0-8BE9C97401E6}"/>
                    </a:ext>
                  </a:extLst>
                </p:cNvPr>
                <p:cNvSpPr>
                  <a:spLocks noChangeArrowheads="1"/>
                </p:cNvSpPr>
                <p:nvPr/>
              </p:nvSpPr>
              <p:spPr bwMode="auto">
                <a:xfrm>
                  <a:off x="346"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9" name="Rectangle 65">
                  <a:extLst>
                    <a:ext uri="{FF2B5EF4-FFF2-40B4-BE49-F238E27FC236}">
                      <a16:creationId xmlns:a16="http://schemas.microsoft.com/office/drawing/2014/main" id="{BB7BFA65-4F53-40CC-3100-99E4103D43D2}"/>
                    </a:ext>
                  </a:extLst>
                </p:cNvPr>
                <p:cNvSpPr>
                  <a:spLocks noChangeArrowheads="1"/>
                </p:cNvSpPr>
                <p:nvPr/>
              </p:nvSpPr>
              <p:spPr bwMode="auto">
                <a:xfrm>
                  <a:off x="351"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0" name="Rectangle 66">
                  <a:extLst>
                    <a:ext uri="{FF2B5EF4-FFF2-40B4-BE49-F238E27FC236}">
                      <a16:creationId xmlns:a16="http://schemas.microsoft.com/office/drawing/2014/main" id="{2911B3BE-8DF3-DC49-FC45-780FDE27A93F}"/>
                    </a:ext>
                  </a:extLst>
                </p:cNvPr>
                <p:cNvSpPr>
                  <a:spLocks noChangeArrowheads="1"/>
                </p:cNvSpPr>
                <p:nvPr/>
              </p:nvSpPr>
              <p:spPr bwMode="auto">
                <a:xfrm>
                  <a:off x="357" y="1699"/>
                  <a:ext cx="225"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1" name="Rectangle 67">
                  <a:extLst>
                    <a:ext uri="{FF2B5EF4-FFF2-40B4-BE49-F238E27FC236}">
                      <a16:creationId xmlns:a16="http://schemas.microsoft.com/office/drawing/2014/main" id="{7F36E90B-3978-D6CF-6597-C5C738D889D2}"/>
                    </a:ext>
                  </a:extLst>
                </p:cNvPr>
                <p:cNvSpPr>
                  <a:spLocks noChangeArrowheads="1"/>
                </p:cNvSpPr>
                <p:nvPr/>
              </p:nvSpPr>
              <p:spPr bwMode="auto">
                <a:xfrm>
                  <a:off x="582"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2" name="Rectangle 68">
                  <a:extLst>
                    <a:ext uri="{FF2B5EF4-FFF2-40B4-BE49-F238E27FC236}">
                      <a16:creationId xmlns:a16="http://schemas.microsoft.com/office/drawing/2014/main" id="{5D694103-BEA3-5B3B-51F3-CD01AC446FB6}"/>
                    </a:ext>
                  </a:extLst>
                </p:cNvPr>
                <p:cNvSpPr>
                  <a:spLocks noChangeArrowheads="1"/>
                </p:cNvSpPr>
                <p:nvPr/>
              </p:nvSpPr>
              <p:spPr bwMode="auto">
                <a:xfrm>
                  <a:off x="587" y="169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3" name="Rectangle 69">
                  <a:extLst>
                    <a:ext uri="{FF2B5EF4-FFF2-40B4-BE49-F238E27FC236}">
                      <a16:creationId xmlns:a16="http://schemas.microsoft.com/office/drawing/2014/main" id="{6753F559-80BE-935C-7695-0F0A301E1304}"/>
                    </a:ext>
                  </a:extLst>
                </p:cNvPr>
                <p:cNvSpPr>
                  <a:spLocks noChangeArrowheads="1"/>
                </p:cNvSpPr>
                <p:nvPr/>
              </p:nvSpPr>
              <p:spPr bwMode="auto">
                <a:xfrm>
                  <a:off x="1157"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4" name="Rectangle 70">
                  <a:extLst>
                    <a:ext uri="{FF2B5EF4-FFF2-40B4-BE49-F238E27FC236}">
                      <a16:creationId xmlns:a16="http://schemas.microsoft.com/office/drawing/2014/main" id="{6DCC5D2A-9E27-1281-7355-952E6248D3F8}"/>
                    </a:ext>
                  </a:extLst>
                </p:cNvPr>
                <p:cNvSpPr>
                  <a:spLocks noChangeArrowheads="1"/>
                </p:cNvSpPr>
                <p:nvPr/>
              </p:nvSpPr>
              <p:spPr bwMode="auto">
                <a:xfrm>
                  <a:off x="1163"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5" name="Rectangle 71">
                  <a:extLst>
                    <a:ext uri="{FF2B5EF4-FFF2-40B4-BE49-F238E27FC236}">
                      <a16:creationId xmlns:a16="http://schemas.microsoft.com/office/drawing/2014/main" id="{8FB37BBB-802A-4A12-1E3F-810353D17F88}"/>
                    </a:ext>
                  </a:extLst>
                </p:cNvPr>
                <p:cNvSpPr>
                  <a:spLocks noChangeArrowheads="1"/>
                </p:cNvSpPr>
                <p:nvPr/>
              </p:nvSpPr>
              <p:spPr bwMode="auto">
                <a:xfrm>
                  <a:off x="1564"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6" name="Rectangle 72">
                  <a:extLst>
                    <a:ext uri="{FF2B5EF4-FFF2-40B4-BE49-F238E27FC236}">
                      <a16:creationId xmlns:a16="http://schemas.microsoft.com/office/drawing/2014/main" id="{5B8D7771-71BF-6119-96EB-89C0B2F2C694}"/>
                    </a:ext>
                  </a:extLst>
                </p:cNvPr>
                <p:cNvSpPr>
                  <a:spLocks noChangeArrowheads="1"/>
                </p:cNvSpPr>
                <p:nvPr/>
              </p:nvSpPr>
              <p:spPr bwMode="auto">
                <a:xfrm>
                  <a:off x="1570" y="169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Rectangle 73">
                  <a:extLst>
                    <a:ext uri="{FF2B5EF4-FFF2-40B4-BE49-F238E27FC236}">
                      <a16:creationId xmlns:a16="http://schemas.microsoft.com/office/drawing/2014/main" id="{E0487231-2486-AF71-7A41-5FD44A91C283}"/>
                    </a:ext>
                  </a:extLst>
                </p:cNvPr>
                <p:cNvSpPr>
                  <a:spLocks noChangeArrowheads="1"/>
                </p:cNvSpPr>
                <p:nvPr/>
              </p:nvSpPr>
              <p:spPr bwMode="auto">
                <a:xfrm>
                  <a:off x="1987"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8" name="Rectangle 74">
                  <a:extLst>
                    <a:ext uri="{FF2B5EF4-FFF2-40B4-BE49-F238E27FC236}">
                      <a16:creationId xmlns:a16="http://schemas.microsoft.com/office/drawing/2014/main" id="{94761E60-6BD9-F6D0-69D9-07760E242625}"/>
                    </a:ext>
                  </a:extLst>
                </p:cNvPr>
                <p:cNvSpPr>
                  <a:spLocks noChangeArrowheads="1"/>
                </p:cNvSpPr>
                <p:nvPr/>
              </p:nvSpPr>
              <p:spPr bwMode="auto">
                <a:xfrm>
                  <a:off x="1993" y="169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9" name="Rectangle 75">
                  <a:extLst>
                    <a:ext uri="{FF2B5EF4-FFF2-40B4-BE49-F238E27FC236}">
                      <a16:creationId xmlns:a16="http://schemas.microsoft.com/office/drawing/2014/main" id="{020991D5-05C4-7A54-FE04-9D50B32ACBA2}"/>
                    </a:ext>
                  </a:extLst>
                </p:cNvPr>
                <p:cNvSpPr>
                  <a:spLocks noChangeArrowheads="1"/>
                </p:cNvSpPr>
                <p:nvPr/>
              </p:nvSpPr>
              <p:spPr bwMode="auto">
                <a:xfrm>
                  <a:off x="2378"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0" name="Rectangle 76">
                  <a:extLst>
                    <a:ext uri="{FF2B5EF4-FFF2-40B4-BE49-F238E27FC236}">
                      <a16:creationId xmlns:a16="http://schemas.microsoft.com/office/drawing/2014/main" id="{9A86D4A2-4795-19B3-692B-6E5BED53AC34}"/>
                    </a:ext>
                  </a:extLst>
                </p:cNvPr>
                <p:cNvSpPr>
                  <a:spLocks noChangeArrowheads="1"/>
                </p:cNvSpPr>
                <p:nvPr/>
              </p:nvSpPr>
              <p:spPr bwMode="auto">
                <a:xfrm>
                  <a:off x="2384"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1" name="Rectangle 77">
                  <a:extLst>
                    <a:ext uri="{FF2B5EF4-FFF2-40B4-BE49-F238E27FC236}">
                      <a16:creationId xmlns:a16="http://schemas.microsoft.com/office/drawing/2014/main" id="{20F44FEB-D274-860B-7FAF-D8A9F0B79353}"/>
                    </a:ext>
                  </a:extLst>
                </p:cNvPr>
                <p:cNvSpPr>
                  <a:spLocks noChangeArrowheads="1"/>
                </p:cNvSpPr>
                <p:nvPr/>
              </p:nvSpPr>
              <p:spPr bwMode="auto">
                <a:xfrm>
                  <a:off x="2785"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Rectangle 78">
                  <a:extLst>
                    <a:ext uri="{FF2B5EF4-FFF2-40B4-BE49-F238E27FC236}">
                      <a16:creationId xmlns:a16="http://schemas.microsoft.com/office/drawing/2014/main" id="{500DAA98-9A55-9462-296C-BD7496CD2AEC}"/>
                    </a:ext>
                  </a:extLst>
                </p:cNvPr>
                <p:cNvSpPr>
                  <a:spLocks noChangeArrowheads="1"/>
                </p:cNvSpPr>
                <p:nvPr/>
              </p:nvSpPr>
              <p:spPr bwMode="auto">
                <a:xfrm>
                  <a:off x="2791"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3" name="Rectangle 79">
                  <a:extLst>
                    <a:ext uri="{FF2B5EF4-FFF2-40B4-BE49-F238E27FC236}">
                      <a16:creationId xmlns:a16="http://schemas.microsoft.com/office/drawing/2014/main" id="{CCAD0E99-14F8-1085-92A0-D41B6D84AEBB}"/>
                    </a:ext>
                  </a:extLst>
                </p:cNvPr>
                <p:cNvSpPr>
                  <a:spLocks noChangeArrowheads="1"/>
                </p:cNvSpPr>
                <p:nvPr/>
              </p:nvSpPr>
              <p:spPr bwMode="auto">
                <a:xfrm>
                  <a:off x="3192"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4" name="Rectangle 80">
                  <a:extLst>
                    <a:ext uri="{FF2B5EF4-FFF2-40B4-BE49-F238E27FC236}">
                      <a16:creationId xmlns:a16="http://schemas.microsoft.com/office/drawing/2014/main" id="{A759C9C8-E2BD-50E9-F083-A36CD2E0EA39}"/>
                    </a:ext>
                  </a:extLst>
                </p:cNvPr>
                <p:cNvSpPr>
                  <a:spLocks noChangeArrowheads="1"/>
                </p:cNvSpPr>
                <p:nvPr/>
              </p:nvSpPr>
              <p:spPr bwMode="auto">
                <a:xfrm>
                  <a:off x="3198"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5" name="Rectangle 81">
                  <a:extLst>
                    <a:ext uri="{FF2B5EF4-FFF2-40B4-BE49-F238E27FC236}">
                      <a16:creationId xmlns:a16="http://schemas.microsoft.com/office/drawing/2014/main" id="{8BFA1CC2-282A-245F-3B67-1D6F9B86556B}"/>
                    </a:ext>
                  </a:extLst>
                </p:cNvPr>
                <p:cNvSpPr>
                  <a:spLocks noChangeArrowheads="1"/>
                </p:cNvSpPr>
                <p:nvPr/>
              </p:nvSpPr>
              <p:spPr bwMode="auto">
                <a:xfrm>
                  <a:off x="3599"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6" name="Rectangle 82">
                  <a:extLst>
                    <a:ext uri="{FF2B5EF4-FFF2-40B4-BE49-F238E27FC236}">
                      <a16:creationId xmlns:a16="http://schemas.microsoft.com/office/drawing/2014/main" id="{C27231B9-B212-2510-C7F9-65D3FC88216B}"/>
                    </a:ext>
                  </a:extLst>
                </p:cNvPr>
                <p:cNvSpPr>
                  <a:spLocks noChangeArrowheads="1"/>
                </p:cNvSpPr>
                <p:nvPr/>
              </p:nvSpPr>
              <p:spPr bwMode="auto">
                <a:xfrm>
                  <a:off x="3605" y="169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Rectangle 83">
                  <a:extLst>
                    <a:ext uri="{FF2B5EF4-FFF2-40B4-BE49-F238E27FC236}">
                      <a16:creationId xmlns:a16="http://schemas.microsoft.com/office/drawing/2014/main" id="{076E37A0-E065-9D81-8B51-227BC5F85815}"/>
                    </a:ext>
                  </a:extLst>
                </p:cNvPr>
                <p:cNvSpPr>
                  <a:spLocks noChangeArrowheads="1"/>
                </p:cNvSpPr>
                <p:nvPr/>
              </p:nvSpPr>
              <p:spPr bwMode="auto">
                <a:xfrm>
                  <a:off x="4004"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8" name="Rectangle 84">
                  <a:extLst>
                    <a:ext uri="{FF2B5EF4-FFF2-40B4-BE49-F238E27FC236}">
                      <a16:creationId xmlns:a16="http://schemas.microsoft.com/office/drawing/2014/main" id="{FA211F80-1F6F-5281-1F2E-A66415A93BB3}"/>
                    </a:ext>
                  </a:extLst>
                </p:cNvPr>
                <p:cNvSpPr>
                  <a:spLocks noChangeArrowheads="1"/>
                </p:cNvSpPr>
                <p:nvPr/>
              </p:nvSpPr>
              <p:spPr bwMode="auto">
                <a:xfrm>
                  <a:off x="4010"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9" name="Rectangle 85">
                  <a:extLst>
                    <a:ext uri="{FF2B5EF4-FFF2-40B4-BE49-F238E27FC236}">
                      <a16:creationId xmlns:a16="http://schemas.microsoft.com/office/drawing/2014/main" id="{EE327648-8654-E348-3B62-3993AC49023A}"/>
                    </a:ext>
                  </a:extLst>
                </p:cNvPr>
                <p:cNvSpPr>
                  <a:spLocks noChangeArrowheads="1"/>
                </p:cNvSpPr>
                <p:nvPr/>
              </p:nvSpPr>
              <p:spPr bwMode="auto">
                <a:xfrm>
                  <a:off x="4411"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0" name="Rectangle 86">
                  <a:extLst>
                    <a:ext uri="{FF2B5EF4-FFF2-40B4-BE49-F238E27FC236}">
                      <a16:creationId xmlns:a16="http://schemas.microsoft.com/office/drawing/2014/main" id="{0B28B6A8-A2D1-4718-9FF7-ADACF91FA3E9}"/>
                    </a:ext>
                  </a:extLst>
                </p:cNvPr>
                <p:cNvSpPr>
                  <a:spLocks noChangeArrowheads="1"/>
                </p:cNvSpPr>
                <p:nvPr/>
              </p:nvSpPr>
              <p:spPr bwMode="auto">
                <a:xfrm>
                  <a:off x="4417"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1" name="Rectangle 87">
                  <a:extLst>
                    <a:ext uri="{FF2B5EF4-FFF2-40B4-BE49-F238E27FC236}">
                      <a16:creationId xmlns:a16="http://schemas.microsoft.com/office/drawing/2014/main" id="{6C49B587-5E52-1852-4BD4-D4E8C4A0517B}"/>
                    </a:ext>
                  </a:extLst>
                </p:cNvPr>
                <p:cNvSpPr>
                  <a:spLocks noChangeArrowheads="1"/>
                </p:cNvSpPr>
                <p:nvPr/>
              </p:nvSpPr>
              <p:spPr bwMode="auto">
                <a:xfrm>
                  <a:off x="4818"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2" name="Rectangle 88">
                  <a:extLst>
                    <a:ext uri="{FF2B5EF4-FFF2-40B4-BE49-F238E27FC236}">
                      <a16:creationId xmlns:a16="http://schemas.microsoft.com/office/drawing/2014/main" id="{2598A11F-6B3D-4C9B-6561-47A12D2866A3}"/>
                    </a:ext>
                  </a:extLst>
                </p:cNvPr>
                <p:cNvSpPr>
                  <a:spLocks noChangeArrowheads="1"/>
                </p:cNvSpPr>
                <p:nvPr/>
              </p:nvSpPr>
              <p:spPr bwMode="auto">
                <a:xfrm>
                  <a:off x="4824"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3" name="Rectangle 89">
                  <a:extLst>
                    <a:ext uri="{FF2B5EF4-FFF2-40B4-BE49-F238E27FC236}">
                      <a16:creationId xmlns:a16="http://schemas.microsoft.com/office/drawing/2014/main" id="{8BB98D3A-59CE-269B-0F3D-6DC25AB5ABC7}"/>
                    </a:ext>
                  </a:extLst>
                </p:cNvPr>
                <p:cNvSpPr>
                  <a:spLocks noChangeArrowheads="1"/>
                </p:cNvSpPr>
                <p:nvPr/>
              </p:nvSpPr>
              <p:spPr bwMode="auto">
                <a:xfrm>
                  <a:off x="5225"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4" name="Rectangle 90">
                  <a:extLst>
                    <a:ext uri="{FF2B5EF4-FFF2-40B4-BE49-F238E27FC236}">
                      <a16:creationId xmlns:a16="http://schemas.microsoft.com/office/drawing/2014/main" id="{72E695C3-51C0-A2B6-3F60-9D138AAF511F}"/>
                    </a:ext>
                  </a:extLst>
                </p:cNvPr>
                <p:cNvSpPr>
                  <a:spLocks noChangeArrowheads="1"/>
                </p:cNvSpPr>
                <p:nvPr/>
              </p:nvSpPr>
              <p:spPr bwMode="auto">
                <a:xfrm>
                  <a:off x="346"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5" name="Rectangle 91">
                  <a:extLst>
                    <a:ext uri="{FF2B5EF4-FFF2-40B4-BE49-F238E27FC236}">
                      <a16:creationId xmlns:a16="http://schemas.microsoft.com/office/drawing/2014/main" id="{C63953D3-DB1A-94BB-A686-8D6241E0EC16}"/>
                    </a:ext>
                  </a:extLst>
                </p:cNvPr>
                <p:cNvSpPr>
                  <a:spLocks noChangeArrowheads="1"/>
                </p:cNvSpPr>
                <p:nvPr/>
              </p:nvSpPr>
              <p:spPr bwMode="auto">
                <a:xfrm>
                  <a:off x="582"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6" name="Rectangle 92">
                  <a:extLst>
                    <a:ext uri="{FF2B5EF4-FFF2-40B4-BE49-F238E27FC236}">
                      <a16:creationId xmlns:a16="http://schemas.microsoft.com/office/drawing/2014/main" id="{686A6126-FAAE-863C-645E-B20EB1016F7D}"/>
                    </a:ext>
                  </a:extLst>
                </p:cNvPr>
                <p:cNvSpPr>
                  <a:spLocks noChangeArrowheads="1"/>
                </p:cNvSpPr>
                <p:nvPr/>
              </p:nvSpPr>
              <p:spPr bwMode="auto">
                <a:xfrm>
                  <a:off x="1157"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7" name="Rectangle 93">
                  <a:extLst>
                    <a:ext uri="{FF2B5EF4-FFF2-40B4-BE49-F238E27FC236}">
                      <a16:creationId xmlns:a16="http://schemas.microsoft.com/office/drawing/2014/main" id="{93638E23-4EE7-5141-4501-1B3748CAD349}"/>
                    </a:ext>
                  </a:extLst>
                </p:cNvPr>
                <p:cNvSpPr>
                  <a:spLocks noChangeArrowheads="1"/>
                </p:cNvSpPr>
                <p:nvPr/>
              </p:nvSpPr>
              <p:spPr bwMode="auto">
                <a:xfrm>
                  <a:off x="1564"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8" name="Rectangle 94">
                  <a:extLst>
                    <a:ext uri="{FF2B5EF4-FFF2-40B4-BE49-F238E27FC236}">
                      <a16:creationId xmlns:a16="http://schemas.microsoft.com/office/drawing/2014/main" id="{07D78A62-4A86-0F50-DA83-E2BFE3748254}"/>
                    </a:ext>
                  </a:extLst>
                </p:cNvPr>
                <p:cNvSpPr>
                  <a:spLocks noChangeArrowheads="1"/>
                </p:cNvSpPr>
                <p:nvPr/>
              </p:nvSpPr>
              <p:spPr bwMode="auto">
                <a:xfrm>
                  <a:off x="1987"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9" name="Rectangle 95">
                  <a:extLst>
                    <a:ext uri="{FF2B5EF4-FFF2-40B4-BE49-F238E27FC236}">
                      <a16:creationId xmlns:a16="http://schemas.microsoft.com/office/drawing/2014/main" id="{54FB708D-CBFE-117E-CF2F-C32190F0AFB0}"/>
                    </a:ext>
                  </a:extLst>
                </p:cNvPr>
                <p:cNvSpPr>
                  <a:spLocks noChangeArrowheads="1"/>
                </p:cNvSpPr>
                <p:nvPr/>
              </p:nvSpPr>
              <p:spPr bwMode="auto">
                <a:xfrm>
                  <a:off x="2378"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0" name="Rectangle 96">
                  <a:extLst>
                    <a:ext uri="{FF2B5EF4-FFF2-40B4-BE49-F238E27FC236}">
                      <a16:creationId xmlns:a16="http://schemas.microsoft.com/office/drawing/2014/main" id="{8666E5CF-A2D8-495D-269A-3AFD0CE34BBC}"/>
                    </a:ext>
                  </a:extLst>
                </p:cNvPr>
                <p:cNvSpPr>
                  <a:spLocks noChangeArrowheads="1"/>
                </p:cNvSpPr>
                <p:nvPr/>
              </p:nvSpPr>
              <p:spPr bwMode="auto">
                <a:xfrm>
                  <a:off x="2785"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1" name="Rectangle 97">
                  <a:extLst>
                    <a:ext uri="{FF2B5EF4-FFF2-40B4-BE49-F238E27FC236}">
                      <a16:creationId xmlns:a16="http://schemas.microsoft.com/office/drawing/2014/main" id="{A3F80AFB-ACF2-417F-ED73-546FF16C0E19}"/>
                    </a:ext>
                  </a:extLst>
                </p:cNvPr>
                <p:cNvSpPr>
                  <a:spLocks noChangeArrowheads="1"/>
                </p:cNvSpPr>
                <p:nvPr/>
              </p:nvSpPr>
              <p:spPr bwMode="auto">
                <a:xfrm>
                  <a:off x="3192"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2" name="Rectangle 98">
                  <a:extLst>
                    <a:ext uri="{FF2B5EF4-FFF2-40B4-BE49-F238E27FC236}">
                      <a16:creationId xmlns:a16="http://schemas.microsoft.com/office/drawing/2014/main" id="{742512FA-A22E-9560-8783-05FBDFBA4260}"/>
                    </a:ext>
                  </a:extLst>
                </p:cNvPr>
                <p:cNvSpPr>
                  <a:spLocks noChangeArrowheads="1"/>
                </p:cNvSpPr>
                <p:nvPr/>
              </p:nvSpPr>
              <p:spPr bwMode="auto">
                <a:xfrm>
                  <a:off x="3599"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3" name="Rectangle 99">
                  <a:extLst>
                    <a:ext uri="{FF2B5EF4-FFF2-40B4-BE49-F238E27FC236}">
                      <a16:creationId xmlns:a16="http://schemas.microsoft.com/office/drawing/2014/main" id="{11665C4E-7860-0612-E517-E95BB0DB5F85}"/>
                    </a:ext>
                  </a:extLst>
                </p:cNvPr>
                <p:cNvSpPr>
                  <a:spLocks noChangeArrowheads="1"/>
                </p:cNvSpPr>
                <p:nvPr/>
              </p:nvSpPr>
              <p:spPr bwMode="auto">
                <a:xfrm>
                  <a:off x="4004"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4" name="Rectangle 100">
                  <a:extLst>
                    <a:ext uri="{FF2B5EF4-FFF2-40B4-BE49-F238E27FC236}">
                      <a16:creationId xmlns:a16="http://schemas.microsoft.com/office/drawing/2014/main" id="{2C54B632-3524-B98B-5032-764992737686}"/>
                    </a:ext>
                  </a:extLst>
                </p:cNvPr>
                <p:cNvSpPr>
                  <a:spLocks noChangeArrowheads="1"/>
                </p:cNvSpPr>
                <p:nvPr/>
              </p:nvSpPr>
              <p:spPr bwMode="auto">
                <a:xfrm>
                  <a:off x="4411"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Rectangle 101">
                  <a:extLst>
                    <a:ext uri="{FF2B5EF4-FFF2-40B4-BE49-F238E27FC236}">
                      <a16:creationId xmlns:a16="http://schemas.microsoft.com/office/drawing/2014/main" id="{62257A52-930D-EE37-6BB4-9569E785BDCC}"/>
                    </a:ext>
                  </a:extLst>
                </p:cNvPr>
                <p:cNvSpPr>
                  <a:spLocks noChangeArrowheads="1"/>
                </p:cNvSpPr>
                <p:nvPr/>
              </p:nvSpPr>
              <p:spPr bwMode="auto">
                <a:xfrm>
                  <a:off x="4818"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Rectangle 102">
                  <a:extLst>
                    <a:ext uri="{FF2B5EF4-FFF2-40B4-BE49-F238E27FC236}">
                      <a16:creationId xmlns:a16="http://schemas.microsoft.com/office/drawing/2014/main" id="{44D99833-BC27-16B6-CC62-550A90FC70E3}"/>
                    </a:ext>
                  </a:extLst>
                </p:cNvPr>
                <p:cNvSpPr>
                  <a:spLocks noChangeArrowheads="1"/>
                </p:cNvSpPr>
                <p:nvPr/>
              </p:nvSpPr>
              <p:spPr bwMode="auto">
                <a:xfrm>
                  <a:off x="5225"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7" name="Rectangle 103">
                  <a:extLst>
                    <a:ext uri="{FF2B5EF4-FFF2-40B4-BE49-F238E27FC236}">
                      <a16:creationId xmlns:a16="http://schemas.microsoft.com/office/drawing/2014/main" id="{992A2025-6E8B-F4BE-BF3D-513D3C849A96}"/>
                    </a:ext>
                  </a:extLst>
                </p:cNvPr>
                <p:cNvSpPr>
                  <a:spLocks noChangeArrowheads="1"/>
                </p:cNvSpPr>
                <p:nvPr/>
              </p:nvSpPr>
              <p:spPr bwMode="auto">
                <a:xfrm>
                  <a:off x="393" y="1707"/>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dirty="0">
                      <a:solidFill>
                        <a:srgbClr val="000000"/>
                      </a:solidFill>
                      <a:latin typeface="Roboto" panose="02000000000000000000" pitchFamily="2" charset="0"/>
                      <a:ea typeface="Roboto" panose="02000000000000000000" pitchFamily="2" charset="0"/>
                    </a:rPr>
                    <a:t>1</a:t>
                  </a:r>
                </a:p>
              </p:txBody>
            </p:sp>
            <p:sp>
              <p:nvSpPr>
                <p:cNvPr id="128" name="Rectangle 104">
                  <a:extLst>
                    <a:ext uri="{FF2B5EF4-FFF2-40B4-BE49-F238E27FC236}">
                      <a16:creationId xmlns:a16="http://schemas.microsoft.com/office/drawing/2014/main" id="{9297A0D5-CB7B-6F9B-C1F6-EC101BEA3411}"/>
                    </a:ext>
                  </a:extLst>
                </p:cNvPr>
                <p:cNvSpPr>
                  <a:spLocks noChangeArrowheads="1"/>
                </p:cNvSpPr>
                <p:nvPr/>
              </p:nvSpPr>
              <p:spPr bwMode="auto">
                <a:xfrm>
                  <a:off x="681" y="1707"/>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OBR-026</a:t>
                  </a:r>
                </a:p>
              </p:txBody>
            </p:sp>
            <p:sp>
              <p:nvSpPr>
                <p:cNvPr id="129" name="Rectangle 105">
                  <a:extLst>
                    <a:ext uri="{FF2B5EF4-FFF2-40B4-BE49-F238E27FC236}">
                      <a16:creationId xmlns:a16="http://schemas.microsoft.com/office/drawing/2014/main" id="{5B4E6807-A682-7363-B0C7-BE8F4D76EBD6}"/>
                    </a:ext>
                  </a:extLst>
                </p:cNvPr>
                <p:cNvSpPr>
                  <a:spLocks noChangeArrowheads="1"/>
                </p:cNvSpPr>
                <p:nvPr/>
              </p:nvSpPr>
              <p:spPr bwMode="auto">
                <a:xfrm>
                  <a:off x="1255" y="1707"/>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420</a:t>
                  </a:r>
                </a:p>
              </p:txBody>
            </p:sp>
            <p:sp>
              <p:nvSpPr>
                <p:cNvPr id="130" name="Rectangle 106">
                  <a:extLst>
                    <a:ext uri="{FF2B5EF4-FFF2-40B4-BE49-F238E27FC236}">
                      <a16:creationId xmlns:a16="http://schemas.microsoft.com/office/drawing/2014/main" id="{10C5E0D7-1A55-8092-64B2-D23B6B6E5DFF}"/>
                    </a:ext>
                  </a:extLst>
                </p:cNvPr>
                <p:cNvSpPr>
                  <a:spLocks noChangeArrowheads="1"/>
                </p:cNvSpPr>
                <p:nvPr/>
              </p:nvSpPr>
              <p:spPr bwMode="auto">
                <a:xfrm>
                  <a:off x="1687" y="1707"/>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35</a:t>
                  </a:r>
                </a:p>
              </p:txBody>
            </p:sp>
            <p:sp>
              <p:nvSpPr>
                <p:cNvPr id="131" name="Rectangle 107">
                  <a:extLst>
                    <a:ext uri="{FF2B5EF4-FFF2-40B4-BE49-F238E27FC236}">
                      <a16:creationId xmlns:a16="http://schemas.microsoft.com/office/drawing/2014/main" id="{755A73A5-DAE7-02DC-C9BA-0EA6BE8200CF}"/>
                    </a:ext>
                  </a:extLst>
                </p:cNvPr>
                <p:cNvSpPr>
                  <a:spLocks noChangeArrowheads="1"/>
                </p:cNvSpPr>
                <p:nvPr/>
              </p:nvSpPr>
              <p:spPr bwMode="auto">
                <a:xfrm>
                  <a:off x="2079"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2" name="Rectangle 108">
                  <a:extLst>
                    <a:ext uri="{FF2B5EF4-FFF2-40B4-BE49-F238E27FC236}">
                      <a16:creationId xmlns:a16="http://schemas.microsoft.com/office/drawing/2014/main" id="{8D9C9A80-B45D-7AE0-413D-47B24B8DDC5E}"/>
                    </a:ext>
                  </a:extLst>
                </p:cNvPr>
                <p:cNvSpPr>
                  <a:spLocks noChangeArrowheads="1"/>
                </p:cNvSpPr>
                <p:nvPr/>
              </p:nvSpPr>
              <p:spPr bwMode="auto">
                <a:xfrm>
                  <a:off x="2478" y="1683"/>
                  <a:ext cx="202"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3" name="Rectangle 109">
                  <a:extLst>
                    <a:ext uri="{FF2B5EF4-FFF2-40B4-BE49-F238E27FC236}">
                      <a16:creationId xmlns:a16="http://schemas.microsoft.com/office/drawing/2014/main" id="{FE1A2525-BB48-0553-32DF-F84145382977}"/>
                    </a:ext>
                  </a:extLst>
                </p:cNvPr>
                <p:cNvSpPr>
                  <a:spLocks noChangeArrowheads="1"/>
                </p:cNvSpPr>
                <p:nvPr/>
              </p:nvSpPr>
              <p:spPr bwMode="auto">
                <a:xfrm>
                  <a:off x="2883"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134" name="Rectangle 110">
                  <a:extLst>
                    <a:ext uri="{FF2B5EF4-FFF2-40B4-BE49-F238E27FC236}">
                      <a16:creationId xmlns:a16="http://schemas.microsoft.com/office/drawing/2014/main" id="{C7F532A1-B0A9-BB1C-3567-C8C574A6D48F}"/>
                    </a:ext>
                  </a:extLst>
                </p:cNvPr>
                <p:cNvSpPr>
                  <a:spLocks noChangeArrowheads="1"/>
                </p:cNvSpPr>
                <p:nvPr/>
              </p:nvSpPr>
              <p:spPr bwMode="auto">
                <a:xfrm>
                  <a:off x="3697"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5" name="Rectangle 111">
                  <a:extLst>
                    <a:ext uri="{FF2B5EF4-FFF2-40B4-BE49-F238E27FC236}">
                      <a16:creationId xmlns:a16="http://schemas.microsoft.com/office/drawing/2014/main" id="{FB32D3F2-F1F3-8E36-A492-61BBB8D8EAE5}"/>
                    </a:ext>
                  </a:extLst>
                </p:cNvPr>
                <p:cNvSpPr>
                  <a:spLocks noChangeArrowheads="1"/>
                </p:cNvSpPr>
                <p:nvPr/>
              </p:nvSpPr>
              <p:spPr bwMode="auto">
                <a:xfrm>
                  <a:off x="4511"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6" name="Rectangle 112">
                  <a:extLst>
                    <a:ext uri="{FF2B5EF4-FFF2-40B4-BE49-F238E27FC236}">
                      <a16:creationId xmlns:a16="http://schemas.microsoft.com/office/drawing/2014/main" id="{053E69F1-7FF5-07D8-C889-C92C5C89E08B}"/>
                    </a:ext>
                  </a:extLst>
                </p:cNvPr>
                <p:cNvSpPr>
                  <a:spLocks noChangeArrowheads="1"/>
                </p:cNvSpPr>
                <p:nvPr/>
              </p:nvSpPr>
              <p:spPr bwMode="auto">
                <a:xfrm>
                  <a:off x="4918"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7" name="Rectangle 113">
                  <a:extLst>
                    <a:ext uri="{FF2B5EF4-FFF2-40B4-BE49-F238E27FC236}">
                      <a16:creationId xmlns:a16="http://schemas.microsoft.com/office/drawing/2014/main" id="{749F0E23-AB36-06AC-A80D-B3C579AC4950}"/>
                    </a:ext>
                  </a:extLst>
                </p:cNvPr>
                <p:cNvSpPr>
                  <a:spLocks noChangeArrowheads="1"/>
                </p:cNvSpPr>
                <p:nvPr/>
              </p:nvSpPr>
              <p:spPr bwMode="auto">
                <a:xfrm>
                  <a:off x="346"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8" name="Rectangle 114">
                  <a:extLst>
                    <a:ext uri="{FF2B5EF4-FFF2-40B4-BE49-F238E27FC236}">
                      <a16:creationId xmlns:a16="http://schemas.microsoft.com/office/drawing/2014/main" id="{92CECC23-5DA0-8FC3-5EAC-3F1116329564}"/>
                    </a:ext>
                  </a:extLst>
                </p:cNvPr>
                <p:cNvSpPr>
                  <a:spLocks noChangeArrowheads="1"/>
                </p:cNvSpPr>
                <p:nvPr/>
              </p:nvSpPr>
              <p:spPr bwMode="auto">
                <a:xfrm>
                  <a:off x="351" y="184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9" name="Rectangle 115">
                  <a:extLst>
                    <a:ext uri="{FF2B5EF4-FFF2-40B4-BE49-F238E27FC236}">
                      <a16:creationId xmlns:a16="http://schemas.microsoft.com/office/drawing/2014/main" id="{A3E53FA8-C5D6-E3FE-8A5E-CF95E391202D}"/>
                    </a:ext>
                  </a:extLst>
                </p:cNvPr>
                <p:cNvSpPr>
                  <a:spLocks noChangeArrowheads="1"/>
                </p:cNvSpPr>
                <p:nvPr/>
              </p:nvSpPr>
              <p:spPr bwMode="auto">
                <a:xfrm>
                  <a:off x="582"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0" name="Rectangle 116">
                  <a:extLst>
                    <a:ext uri="{FF2B5EF4-FFF2-40B4-BE49-F238E27FC236}">
                      <a16:creationId xmlns:a16="http://schemas.microsoft.com/office/drawing/2014/main" id="{C4956E08-67B2-ACC4-01DE-3B722CBC506B}"/>
                    </a:ext>
                  </a:extLst>
                </p:cNvPr>
                <p:cNvSpPr>
                  <a:spLocks noChangeArrowheads="1"/>
                </p:cNvSpPr>
                <p:nvPr/>
              </p:nvSpPr>
              <p:spPr bwMode="auto">
                <a:xfrm>
                  <a:off x="587" y="184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1" name="Rectangle 117">
                  <a:extLst>
                    <a:ext uri="{FF2B5EF4-FFF2-40B4-BE49-F238E27FC236}">
                      <a16:creationId xmlns:a16="http://schemas.microsoft.com/office/drawing/2014/main" id="{EE539278-18E2-70AB-C739-5EE9811CCB0C}"/>
                    </a:ext>
                  </a:extLst>
                </p:cNvPr>
                <p:cNvSpPr>
                  <a:spLocks noChangeArrowheads="1"/>
                </p:cNvSpPr>
                <p:nvPr/>
              </p:nvSpPr>
              <p:spPr bwMode="auto">
                <a:xfrm>
                  <a:off x="1157"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2" name="Rectangle 118">
                  <a:extLst>
                    <a:ext uri="{FF2B5EF4-FFF2-40B4-BE49-F238E27FC236}">
                      <a16:creationId xmlns:a16="http://schemas.microsoft.com/office/drawing/2014/main" id="{F9614183-DDBF-EEE8-F695-32D9F3DD7A6D}"/>
                    </a:ext>
                  </a:extLst>
                </p:cNvPr>
                <p:cNvSpPr>
                  <a:spLocks noChangeArrowheads="1"/>
                </p:cNvSpPr>
                <p:nvPr/>
              </p:nvSpPr>
              <p:spPr bwMode="auto">
                <a:xfrm>
                  <a:off x="1163"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3" name="Rectangle 119">
                  <a:extLst>
                    <a:ext uri="{FF2B5EF4-FFF2-40B4-BE49-F238E27FC236}">
                      <a16:creationId xmlns:a16="http://schemas.microsoft.com/office/drawing/2014/main" id="{04ACD105-22AA-C652-C641-99ABF63C8DF9}"/>
                    </a:ext>
                  </a:extLst>
                </p:cNvPr>
                <p:cNvSpPr>
                  <a:spLocks noChangeArrowheads="1"/>
                </p:cNvSpPr>
                <p:nvPr/>
              </p:nvSpPr>
              <p:spPr bwMode="auto">
                <a:xfrm>
                  <a:off x="1564"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4" name="Rectangle 120">
                  <a:extLst>
                    <a:ext uri="{FF2B5EF4-FFF2-40B4-BE49-F238E27FC236}">
                      <a16:creationId xmlns:a16="http://schemas.microsoft.com/office/drawing/2014/main" id="{D08FC182-03A4-3D4F-C69D-BBE68C22D87D}"/>
                    </a:ext>
                  </a:extLst>
                </p:cNvPr>
                <p:cNvSpPr>
                  <a:spLocks noChangeArrowheads="1"/>
                </p:cNvSpPr>
                <p:nvPr/>
              </p:nvSpPr>
              <p:spPr bwMode="auto">
                <a:xfrm>
                  <a:off x="1570" y="184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5" name="Rectangle 121">
                  <a:extLst>
                    <a:ext uri="{FF2B5EF4-FFF2-40B4-BE49-F238E27FC236}">
                      <a16:creationId xmlns:a16="http://schemas.microsoft.com/office/drawing/2014/main" id="{B921F3CA-2665-E366-5480-195C3B8F243A}"/>
                    </a:ext>
                  </a:extLst>
                </p:cNvPr>
                <p:cNvSpPr>
                  <a:spLocks noChangeArrowheads="1"/>
                </p:cNvSpPr>
                <p:nvPr/>
              </p:nvSpPr>
              <p:spPr bwMode="auto">
                <a:xfrm>
                  <a:off x="1987"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6" name="Rectangle 122">
                  <a:extLst>
                    <a:ext uri="{FF2B5EF4-FFF2-40B4-BE49-F238E27FC236}">
                      <a16:creationId xmlns:a16="http://schemas.microsoft.com/office/drawing/2014/main" id="{0C84B396-9CFE-E95E-5C9A-C496CE0C0DC7}"/>
                    </a:ext>
                  </a:extLst>
                </p:cNvPr>
                <p:cNvSpPr>
                  <a:spLocks noChangeArrowheads="1"/>
                </p:cNvSpPr>
                <p:nvPr/>
              </p:nvSpPr>
              <p:spPr bwMode="auto">
                <a:xfrm>
                  <a:off x="1993" y="184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7" name="Rectangle 123">
                  <a:extLst>
                    <a:ext uri="{FF2B5EF4-FFF2-40B4-BE49-F238E27FC236}">
                      <a16:creationId xmlns:a16="http://schemas.microsoft.com/office/drawing/2014/main" id="{466AF08E-E1F4-166C-4FF5-BECACE829E94}"/>
                    </a:ext>
                  </a:extLst>
                </p:cNvPr>
                <p:cNvSpPr>
                  <a:spLocks noChangeArrowheads="1"/>
                </p:cNvSpPr>
                <p:nvPr/>
              </p:nvSpPr>
              <p:spPr bwMode="auto">
                <a:xfrm>
                  <a:off x="2378"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8" name="Rectangle 124">
                  <a:extLst>
                    <a:ext uri="{FF2B5EF4-FFF2-40B4-BE49-F238E27FC236}">
                      <a16:creationId xmlns:a16="http://schemas.microsoft.com/office/drawing/2014/main" id="{50A13910-5F49-2024-170D-3DEADD94BE2C}"/>
                    </a:ext>
                  </a:extLst>
                </p:cNvPr>
                <p:cNvSpPr>
                  <a:spLocks noChangeArrowheads="1"/>
                </p:cNvSpPr>
                <p:nvPr/>
              </p:nvSpPr>
              <p:spPr bwMode="auto">
                <a:xfrm>
                  <a:off x="2384"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9" name="Rectangle 125">
                  <a:extLst>
                    <a:ext uri="{FF2B5EF4-FFF2-40B4-BE49-F238E27FC236}">
                      <a16:creationId xmlns:a16="http://schemas.microsoft.com/office/drawing/2014/main" id="{3A200F1E-3C11-0233-F653-22DCE7F411E4}"/>
                    </a:ext>
                  </a:extLst>
                </p:cNvPr>
                <p:cNvSpPr>
                  <a:spLocks noChangeArrowheads="1"/>
                </p:cNvSpPr>
                <p:nvPr/>
              </p:nvSpPr>
              <p:spPr bwMode="auto">
                <a:xfrm>
                  <a:off x="2785"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0" name="Rectangle 126">
                  <a:extLst>
                    <a:ext uri="{FF2B5EF4-FFF2-40B4-BE49-F238E27FC236}">
                      <a16:creationId xmlns:a16="http://schemas.microsoft.com/office/drawing/2014/main" id="{765543C0-B618-411B-B2E4-FED5D7AEC999}"/>
                    </a:ext>
                  </a:extLst>
                </p:cNvPr>
                <p:cNvSpPr>
                  <a:spLocks noChangeArrowheads="1"/>
                </p:cNvSpPr>
                <p:nvPr/>
              </p:nvSpPr>
              <p:spPr bwMode="auto">
                <a:xfrm>
                  <a:off x="2791"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1" name="Rectangle 127">
                  <a:extLst>
                    <a:ext uri="{FF2B5EF4-FFF2-40B4-BE49-F238E27FC236}">
                      <a16:creationId xmlns:a16="http://schemas.microsoft.com/office/drawing/2014/main" id="{900F33CE-948C-0299-F6C3-50074F0DBB20}"/>
                    </a:ext>
                  </a:extLst>
                </p:cNvPr>
                <p:cNvSpPr>
                  <a:spLocks noChangeArrowheads="1"/>
                </p:cNvSpPr>
                <p:nvPr/>
              </p:nvSpPr>
              <p:spPr bwMode="auto">
                <a:xfrm>
                  <a:off x="3192"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2" name="Rectangle 128">
                  <a:extLst>
                    <a:ext uri="{FF2B5EF4-FFF2-40B4-BE49-F238E27FC236}">
                      <a16:creationId xmlns:a16="http://schemas.microsoft.com/office/drawing/2014/main" id="{5F11DA03-1754-5192-79DB-14CF7CC6B897}"/>
                    </a:ext>
                  </a:extLst>
                </p:cNvPr>
                <p:cNvSpPr>
                  <a:spLocks noChangeArrowheads="1"/>
                </p:cNvSpPr>
                <p:nvPr/>
              </p:nvSpPr>
              <p:spPr bwMode="auto">
                <a:xfrm>
                  <a:off x="3198"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3" name="Rectangle 129">
                  <a:extLst>
                    <a:ext uri="{FF2B5EF4-FFF2-40B4-BE49-F238E27FC236}">
                      <a16:creationId xmlns:a16="http://schemas.microsoft.com/office/drawing/2014/main" id="{86FBF142-7368-607C-51C3-F72B18A8A0F6}"/>
                    </a:ext>
                  </a:extLst>
                </p:cNvPr>
                <p:cNvSpPr>
                  <a:spLocks noChangeArrowheads="1"/>
                </p:cNvSpPr>
                <p:nvPr/>
              </p:nvSpPr>
              <p:spPr bwMode="auto">
                <a:xfrm>
                  <a:off x="3599"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4" name="Rectangle 130">
                  <a:extLst>
                    <a:ext uri="{FF2B5EF4-FFF2-40B4-BE49-F238E27FC236}">
                      <a16:creationId xmlns:a16="http://schemas.microsoft.com/office/drawing/2014/main" id="{0A112840-1142-6FFF-7514-3ADFE6FACD22}"/>
                    </a:ext>
                  </a:extLst>
                </p:cNvPr>
                <p:cNvSpPr>
                  <a:spLocks noChangeArrowheads="1"/>
                </p:cNvSpPr>
                <p:nvPr/>
              </p:nvSpPr>
              <p:spPr bwMode="auto">
                <a:xfrm>
                  <a:off x="3605" y="184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5" name="Rectangle 131">
                  <a:extLst>
                    <a:ext uri="{FF2B5EF4-FFF2-40B4-BE49-F238E27FC236}">
                      <a16:creationId xmlns:a16="http://schemas.microsoft.com/office/drawing/2014/main" id="{21194FBD-A468-0F5E-A144-77D4CD15E212}"/>
                    </a:ext>
                  </a:extLst>
                </p:cNvPr>
                <p:cNvSpPr>
                  <a:spLocks noChangeArrowheads="1"/>
                </p:cNvSpPr>
                <p:nvPr/>
              </p:nvSpPr>
              <p:spPr bwMode="auto">
                <a:xfrm>
                  <a:off x="4004"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6" name="Rectangle 132">
                  <a:extLst>
                    <a:ext uri="{FF2B5EF4-FFF2-40B4-BE49-F238E27FC236}">
                      <a16:creationId xmlns:a16="http://schemas.microsoft.com/office/drawing/2014/main" id="{80FF1817-0307-6830-5BD9-5C44C818DD9B}"/>
                    </a:ext>
                  </a:extLst>
                </p:cNvPr>
                <p:cNvSpPr>
                  <a:spLocks noChangeArrowheads="1"/>
                </p:cNvSpPr>
                <p:nvPr/>
              </p:nvSpPr>
              <p:spPr bwMode="auto">
                <a:xfrm>
                  <a:off x="4010"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7" name="Rectangle 133">
                  <a:extLst>
                    <a:ext uri="{FF2B5EF4-FFF2-40B4-BE49-F238E27FC236}">
                      <a16:creationId xmlns:a16="http://schemas.microsoft.com/office/drawing/2014/main" id="{2DAA2606-7C40-BE93-A7B2-6DB7A3C264A0}"/>
                    </a:ext>
                  </a:extLst>
                </p:cNvPr>
                <p:cNvSpPr>
                  <a:spLocks noChangeArrowheads="1"/>
                </p:cNvSpPr>
                <p:nvPr/>
              </p:nvSpPr>
              <p:spPr bwMode="auto">
                <a:xfrm>
                  <a:off x="4411"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8" name="Rectangle 134">
                  <a:extLst>
                    <a:ext uri="{FF2B5EF4-FFF2-40B4-BE49-F238E27FC236}">
                      <a16:creationId xmlns:a16="http://schemas.microsoft.com/office/drawing/2014/main" id="{F376F8BA-4C91-2D0F-7AA6-AAC3E4BC02D2}"/>
                    </a:ext>
                  </a:extLst>
                </p:cNvPr>
                <p:cNvSpPr>
                  <a:spLocks noChangeArrowheads="1"/>
                </p:cNvSpPr>
                <p:nvPr/>
              </p:nvSpPr>
              <p:spPr bwMode="auto">
                <a:xfrm>
                  <a:off x="4417"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9" name="Rectangle 135">
                  <a:extLst>
                    <a:ext uri="{FF2B5EF4-FFF2-40B4-BE49-F238E27FC236}">
                      <a16:creationId xmlns:a16="http://schemas.microsoft.com/office/drawing/2014/main" id="{0EA475FD-AA0B-1724-7656-E7625903E89E}"/>
                    </a:ext>
                  </a:extLst>
                </p:cNvPr>
                <p:cNvSpPr>
                  <a:spLocks noChangeArrowheads="1"/>
                </p:cNvSpPr>
                <p:nvPr/>
              </p:nvSpPr>
              <p:spPr bwMode="auto">
                <a:xfrm>
                  <a:off x="4818"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0" name="Rectangle 136">
                  <a:extLst>
                    <a:ext uri="{FF2B5EF4-FFF2-40B4-BE49-F238E27FC236}">
                      <a16:creationId xmlns:a16="http://schemas.microsoft.com/office/drawing/2014/main" id="{387A2258-7778-F3A2-CC3B-70FA9CE9F491}"/>
                    </a:ext>
                  </a:extLst>
                </p:cNvPr>
                <p:cNvSpPr>
                  <a:spLocks noChangeArrowheads="1"/>
                </p:cNvSpPr>
                <p:nvPr/>
              </p:nvSpPr>
              <p:spPr bwMode="auto">
                <a:xfrm>
                  <a:off x="4824"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1" name="Rectangle 137">
                  <a:extLst>
                    <a:ext uri="{FF2B5EF4-FFF2-40B4-BE49-F238E27FC236}">
                      <a16:creationId xmlns:a16="http://schemas.microsoft.com/office/drawing/2014/main" id="{463829AF-F783-C790-675E-7D45B19E8A71}"/>
                    </a:ext>
                  </a:extLst>
                </p:cNvPr>
                <p:cNvSpPr>
                  <a:spLocks noChangeArrowheads="1"/>
                </p:cNvSpPr>
                <p:nvPr/>
              </p:nvSpPr>
              <p:spPr bwMode="auto">
                <a:xfrm>
                  <a:off x="5225"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2" name="Rectangle 138">
                  <a:extLst>
                    <a:ext uri="{FF2B5EF4-FFF2-40B4-BE49-F238E27FC236}">
                      <a16:creationId xmlns:a16="http://schemas.microsoft.com/office/drawing/2014/main" id="{6664F60C-C863-EE99-9292-B2AAFB38548E}"/>
                    </a:ext>
                  </a:extLst>
                </p:cNvPr>
                <p:cNvSpPr>
                  <a:spLocks noChangeArrowheads="1"/>
                </p:cNvSpPr>
                <p:nvPr/>
              </p:nvSpPr>
              <p:spPr bwMode="auto">
                <a:xfrm>
                  <a:off x="346"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3" name="Rectangle 139">
                  <a:extLst>
                    <a:ext uri="{FF2B5EF4-FFF2-40B4-BE49-F238E27FC236}">
                      <a16:creationId xmlns:a16="http://schemas.microsoft.com/office/drawing/2014/main" id="{F4F43D1D-9204-167A-8C6C-13347C8820BE}"/>
                    </a:ext>
                  </a:extLst>
                </p:cNvPr>
                <p:cNvSpPr>
                  <a:spLocks noChangeArrowheads="1"/>
                </p:cNvSpPr>
                <p:nvPr/>
              </p:nvSpPr>
              <p:spPr bwMode="auto">
                <a:xfrm>
                  <a:off x="582"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4" name="Rectangle 140">
                  <a:extLst>
                    <a:ext uri="{FF2B5EF4-FFF2-40B4-BE49-F238E27FC236}">
                      <a16:creationId xmlns:a16="http://schemas.microsoft.com/office/drawing/2014/main" id="{D1A6A970-488A-B121-2247-ED0A64E421EC}"/>
                    </a:ext>
                  </a:extLst>
                </p:cNvPr>
                <p:cNvSpPr>
                  <a:spLocks noChangeArrowheads="1"/>
                </p:cNvSpPr>
                <p:nvPr/>
              </p:nvSpPr>
              <p:spPr bwMode="auto">
                <a:xfrm>
                  <a:off x="1157"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5" name="Rectangle 141">
                  <a:extLst>
                    <a:ext uri="{FF2B5EF4-FFF2-40B4-BE49-F238E27FC236}">
                      <a16:creationId xmlns:a16="http://schemas.microsoft.com/office/drawing/2014/main" id="{251BDC1F-F6E8-2325-C6F6-57D125D8B1DB}"/>
                    </a:ext>
                  </a:extLst>
                </p:cNvPr>
                <p:cNvSpPr>
                  <a:spLocks noChangeArrowheads="1"/>
                </p:cNvSpPr>
                <p:nvPr/>
              </p:nvSpPr>
              <p:spPr bwMode="auto">
                <a:xfrm>
                  <a:off x="1564"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6" name="Rectangle 142">
                  <a:extLst>
                    <a:ext uri="{FF2B5EF4-FFF2-40B4-BE49-F238E27FC236}">
                      <a16:creationId xmlns:a16="http://schemas.microsoft.com/office/drawing/2014/main" id="{7B4F7DB4-74E8-2CAD-8A44-1C66649BB046}"/>
                    </a:ext>
                  </a:extLst>
                </p:cNvPr>
                <p:cNvSpPr>
                  <a:spLocks noChangeArrowheads="1"/>
                </p:cNvSpPr>
                <p:nvPr/>
              </p:nvSpPr>
              <p:spPr bwMode="auto">
                <a:xfrm>
                  <a:off x="1987"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7" name="Rectangle 143">
                  <a:extLst>
                    <a:ext uri="{FF2B5EF4-FFF2-40B4-BE49-F238E27FC236}">
                      <a16:creationId xmlns:a16="http://schemas.microsoft.com/office/drawing/2014/main" id="{1E1BCBFE-E9A1-A0AB-B3B3-51D306C79994}"/>
                    </a:ext>
                  </a:extLst>
                </p:cNvPr>
                <p:cNvSpPr>
                  <a:spLocks noChangeArrowheads="1"/>
                </p:cNvSpPr>
                <p:nvPr/>
              </p:nvSpPr>
              <p:spPr bwMode="auto">
                <a:xfrm>
                  <a:off x="2378"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8" name="Rectangle 144">
                  <a:extLst>
                    <a:ext uri="{FF2B5EF4-FFF2-40B4-BE49-F238E27FC236}">
                      <a16:creationId xmlns:a16="http://schemas.microsoft.com/office/drawing/2014/main" id="{4EB8F096-ECEA-3A03-0B08-FD4F515F170A}"/>
                    </a:ext>
                  </a:extLst>
                </p:cNvPr>
                <p:cNvSpPr>
                  <a:spLocks noChangeArrowheads="1"/>
                </p:cNvSpPr>
                <p:nvPr/>
              </p:nvSpPr>
              <p:spPr bwMode="auto">
                <a:xfrm>
                  <a:off x="2785"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9" name="Rectangle 145">
                  <a:extLst>
                    <a:ext uri="{FF2B5EF4-FFF2-40B4-BE49-F238E27FC236}">
                      <a16:creationId xmlns:a16="http://schemas.microsoft.com/office/drawing/2014/main" id="{8AD6C71D-50C4-3A93-E1C2-6308C76DECC5}"/>
                    </a:ext>
                  </a:extLst>
                </p:cNvPr>
                <p:cNvSpPr>
                  <a:spLocks noChangeArrowheads="1"/>
                </p:cNvSpPr>
                <p:nvPr/>
              </p:nvSpPr>
              <p:spPr bwMode="auto">
                <a:xfrm>
                  <a:off x="3192"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0" name="Rectangle 146">
                  <a:extLst>
                    <a:ext uri="{FF2B5EF4-FFF2-40B4-BE49-F238E27FC236}">
                      <a16:creationId xmlns:a16="http://schemas.microsoft.com/office/drawing/2014/main" id="{1CA556FB-988F-E27E-EC46-4C52424B54FA}"/>
                    </a:ext>
                  </a:extLst>
                </p:cNvPr>
                <p:cNvSpPr>
                  <a:spLocks noChangeArrowheads="1"/>
                </p:cNvSpPr>
                <p:nvPr/>
              </p:nvSpPr>
              <p:spPr bwMode="auto">
                <a:xfrm>
                  <a:off x="3599"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1" name="Rectangle 147">
                  <a:extLst>
                    <a:ext uri="{FF2B5EF4-FFF2-40B4-BE49-F238E27FC236}">
                      <a16:creationId xmlns:a16="http://schemas.microsoft.com/office/drawing/2014/main" id="{194AD215-297B-6132-9508-1581D2F77D2F}"/>
                    </a:ext>
                  </a:extLst>
                </p:cNvPr>
                <p:cNvSpPr>
                  <a:spLocks noChangeArrowheads="1"/>
                </p:cNvSpPr>
                <p:nvPr/>
              </p:nvSpPr>
              <p:spPr bwMode="auto">
                <a:xfrm>
                  <a:off x="4004"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2" name="Rectangle 148">
                  <a:extLst>
                    <a:ext uri="{FF2B5EF4-FFF2-40B4-BE49-F238E27FC236}">
                      <a16:creationId xmlns:a16="http://schemas.microsoft.com/office/drawing/2014/main" id="{AD35A7D0-4C4B-5CCF-1ADD-A475849CE073}"/>
                    </a:ext>
                  </a:extLst>
                </p:cNvPr>
                <p:cNvSpPr>
                  <a:spLocks noChangeArrowheads="1"/>
                </p:cNvSpPr>
                <p:nvPr/>
              </p:nvSpPr>
              <p:spPr bwMode="auto">
                <a:xfrm>
                  <a:off x="4411"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3" name="Rectangle 149">
                  <a:extLst>
                    <a:ext uri="{FF2B5EF4-FFF2-40B4-BE49-F238E27FC236}">
                      <a16:creationId xmlns:a16="http://schemas.microsoft.com/office/drawing/2014/main" id="{61DF3A50-F23D-0424-4DC0-6FBBD69925D9}"/>
                    </a:ext>
                  </a:extLst>
                </p:cNvPr>
                <p:cNvSpPr>
                  <a:spLocks noChangeArrowheads="1"/>
                </p:cNvSpPr>
                <p:nvPr/>
              </p:nvSpPr>
              <p:spPr bwMode="auto">
                <a:xfrm>
                  <a:off x="4818"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4" name="Rectangle 150">
                  <a:extLst>
                    <a:ext uri="{FF2B5EF4-FFF2-40B4-BE49-F238E27FC236}">
                      <a16:creationId xmlns:a16="http://schemas.microsoft.com/office/drawing/2014/main" id="{21C07EAA-0675-54A4-6096-2C337D8B75DE}"/>
                    </a:ext>
                  </a:extLst>
                </p:cNvPr>
                <p:cNvSpPr>
                  <a:spLocks noChangeArrowheads="1"/>
                </p:cNvSpPr>
                <p:nvPr/>
              </p:nvSpPr>
              <p:spPr bwMode="auto">
                <a:xfrm>
                  <a:off x="5225"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5" name="Rectangle 151">
                  <a:extLst>
                    <a:ext uri="{FF2B5EF4-FFF2-40B4-BE49-F238E27FC236}">
                      <a16:creationId xmlns:a16="http://schemas.microsoft.com/office/drawing/2014/main" id="{CFAA43BE-CF62-C4E1-4508-FBCFBD72D835}"/>
                    </a:ext>
                  </a:extLst>
                </p:cNvPr>
                <p:cNvSpPr>
                  <a:spLocks noChangeArrowheads="1"/>
                </p:cNvSpPr>
                <p:nvPr/>
              </p:nvSpPr>
              <p:spPr bwMode="auto">
                <a:xfrm>
                  <a:off x="393" y="185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a:t>
                  </a:r>
                </a:p>
              </p:txBody>
            </p:sp>
            <p:sp>
              <p:nvSpPr>
                <p:cNvPr id="176" name="Rectangle 152">
                  <a:extLst>
                    <a:ext uri="{FF2B5EF4-FFF2-40B4-BE49-F238E27FC236}">
                      <a16:creationId xmlns:a16="http://schemas.microsoft.com/office/drawing/2014/main" id="{09F34CBB-8C32-23D0-9ADE-201F0D9C63BB}"/>
                    </a:ext>
                  </a:extLst>
                </p:cNvPr>
                <p:cNvSpPr>
                  <a:spLocks noChangeArrowheads="1"/>
                </p:cNvSpPr>
                <p:nvPr/>
              </p:nvSpPr>
              <p:spPr bwMode="auto">
                <a:xfrm>
                  <a:off x="681" y="1856"/>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OBR-030</a:t>
                  </a:r>
                </a:p>
              </p:txBody>
            </p:sp>
            <p:sp>
              <p:nvSpPr>
                <p:cNvPr id="177" name="Rectangle 153">
                  <a:extLst>
                    <a:ext uri="{FF2B5EF4-FFF2-40B4-BE49-F238E27FC236}">
                      <a16:creationId xmlns:a16="http://schemas.microsoft.com/office/drawing/2014/main" id="{93761FA6-419F-B74C-85C1-D1FBF6E54204}"/>
                    </a:ext>
                  </a:extLst>
                </p:cNvPr>
                <p:cNvSpPr>
                  <a:spLocks noChangeArrowheads="1"/>
                </p:cNvSpPr>
                <p:nvPr/>
              </p:nvSpPr>
              <p:spPr bwMode="auto">
                <a:xfrm>
                  <a:off x="1255" y="1856"/>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288</a:t>
                  </a:r>
                </a:p>
              </p:txBody>
            </p:sp>
            <p:sp>
              <p:nvSpPr>
                <p:cNvPr id="178" name="Rectangle 154">
                  <a:extLst>
                    <a:ext uri="{FF2B5EF4-FFF2-40B4-BE49-F238E27FC236}">
                      <a16:creationId xmlns:a16="http://schemas.microsoft.com/office/drawing/2014/main" id="{D6077ED8-79AA-09E2-26A4-C3FADBA681C9}"/>
                    </a:ext>
                  </a:extLst>
                </p:cNvPr>
                <p:cNvSpPr>
                  <a:spLocks noChangeArrowheads="1"/>
                </p:cNvSpPr>
                <p:nvPr/>
              </p:nvSpPr>
              <p:spPr bwMode="auto">
                <a:xfrm>
                  <a:off x="1687" y="185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24</a:t>
                  </a:r>
                </a:p>
              </p:txBody>
            </p:sp>
            <p:sp>
              <p:nvSpPr>
                <p:cNvPr id="179" name="Rectangle 155">
                  <a:extLst>
                    <a:ext uri="{FF2B5EF4-FFF2-40B4-BE49-F238E27FC236}">
                      <a16:creationId xmlns:a16="http://schemas.microsoft.com/office/drawing/2014/main" id="{49A5771E-DEBA-99E4-A3DA-8D3AFC8E9838}"/>
                    </a:ext>
                  </a:extLst>
                </p:cNvPr>
                <p:cNvSpPr>
                  <a:spLocks noChangeArrowheads="1"/>
                </p:cNvSpPr>
                <p:nvPr/>
              </p:nvSpPr>
              <p:spPr bwMode="auto">
                <a:xfrm>
                  <a:off x="2079"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0" name="Rectangle 156">
                  <a:extLst>
                    <a:ext uri="{FF2B5EF4-FFF2-40B4-BE49-F238E27FC236}">
                      <a16:creationId xmlns:a16="http://schemas.microsoft.com/office/drawing/2014/main" id="{250D48D4-1155-D08A-7FF7-D9105EF13418}"/>
                    </a:ext>
                  </a:extLst>
                </p:cNvPr>
                <p:cNvSpPr>
                  <a:spLocks noChangeArrowheads="1"/>
                </p:cNvSpPr>
                <p:nvPr/>
              </p:nvSpPr>
              <p:spPr bwMode="auto">
                <a:xfrm>
                  <a:off x="2478" y="1833"/>
                  <a:ext cx="202"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1" name="Rectangle 157">
                  <a:extLst>
                    <a:ext uri="{FF2B5EF4-FFF2-40B4-BE49-F238E27FC236}">
                      <a16:creationId xmlns:a16="http://schemas.microsoft.com/office/drawing/2014/main" id="{9CF6663C-B546-758D-9785-FDA0AADF21AC}"/>
                    </a:ext>
                  </a:extLst>
                </p:cNvPr>
                <p:cNvSpPr>
                  <a:spLocks noChangeArrowheads="1"/>
                </p:cNvSpPr>
                <p:nvPr/>
              </p:nvSpPr>
              <p:spPr bwMode="auto">
                <a:xfrm>
                  <a:off x="2883"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182" name="Rectangle 158">
                  <a:extLst>
                    <a:ext uri="{FF2B5EF4-FFF2-40B4-BE49-F238E27FC236}">
                      <a16:creationId xmlns:a16="http://schemas.microsoft.com/office/drawing/2014/main" id="{0647AE21-4215-2375-10DF-264EF8C0A1A4}"/>
                    </a:ext>
                  </a:extLst>
                </p:cNvPr>
                <p:cNvSpPr>
                  <a:spLocks noChangeArrowheads="1"/>
                </p:cNvSpPr>
                <p:nvPr/>
              </p:nvSpPr>
              <p:spPr bwMode="auto">
                <a:xfrm>
                  <a:off x="3697"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3" name="Rectangle 159">
                  <a:extLst>
                    <a:ext uri="{FF2B5EF4-FFF2-40B4-BE49-F238E27FC236}">
                      <a16:creationId xmlns:a16="http://schemas.microsoft.com/office/drawing/2014/main" id="{89D1265A-2731-07DA-9D38-CDE516580825}"/>
                    </a:ext>
                  </a:extLst>
                </p:cNvPr>
                <p:cNvSpPr>
                  <a:spLocks noChangeArrowheads="1"/>
                </p:cNvSpPr>
                <p:nvPr/>
              </p:nvSpPr>
              <p:spPr bwMode="auto">
                <a:xfrm>
                  <a:off x="4511"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4" name="Rectangle 160">
                  <a:extLst>
                    <a:ext uri="{FF2B5EF4-FFF2-40B4-BE49-F238E27FC236}">
                      <a16:creationId xmlns:a16="http://schemas.microsoft.com/office/drawing/2014/main" id="{03E08E1F-FDF6-2F08-F6BC-CCB1D954BECA}"/>
                    </a:ext>
                  </a:extLst>
                </p:cNvPr>
                <p:cNvSpPr>
                  <a:spLocks noChangeArrowheads="1"/>
                </p:cNvSpPr>
                <p:nvPr/>
              </p:nvSpPr>
              <p:spPr bwMode="auto">
                <a:xfrm>
                  <a:off x="4918"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5" name="Rectangle 161">
                  <a:extLst>
                    <a:ext uri="{FF2B5EF4-FFF2-40B4-BE49-F238E27FC236}">
                      <a16:creationId xmlns:a16="http://schemas.microsoft.com/office/drawing/2014/main" id="{E1B25D66-30DB-EC0E-968F-0718829C3532}"/>
                    </a:ext>
                  </a:extLst>
                </p:cNvPr>
                <p:cNvSpPr>
                  <a:spLocks noChangeArrowheads="1"/>
                </p:cNvSpPr>
                <p:nvPr/>
              </p:nvSpPr>
              <p:spPr bwMode="auto">
                <a:xfrm>
                  <a:off x="346"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6" name="Rectangle 162">
                  <a:extLst>
                    <a:ext uri="{FF2B5EF4-FFF2-40B4-BE49-F238E27FC236}">
                      <a16:creationId xmlns:a16="http://schemas.microsoft.com/office/drawing/2014/main" id="{C3102585-0CA8-6E0A-9B3A-D5DB55B95970}"/>
                    </a:ext>
                  </a:extLst>
                </p:cNvPr>
                <p:cNvSpPr>
                  <a:spLocks noChangeArrowheads="1"/>
                </p:cNvSpPr>
                <p:nvPr/>
              </p:nvSpPr>
              <p:spPr bwMode="auto">
                <a:xfrm>
                  <a:off x="351" y="199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7" name="Rectangle 163">
                  <a:extLst>
                    <a:ext uri="{FF2B5EF4-FFF2-40B4-BE49-F238E27FC236}">
                      <a16:creationId xmlns:a16="http://schemas.microsoft.com/office/drawing/2014/main" id="{F92FDF08-097E-AB0A-53E4-15FC2BFEBB7E}"/>
                    </a:ext>
                  </a:extLst>
                </p:cNvPr>
                <p:cNvSpPr>
                  <a:spLocks noChangeArrowheads="1"/>
                </p:cNvSpPr>
                <p:nvPr/>
              </p:nvSpPr>
              <p:spPr bwMode="auto">
                <a:xfrm>
                  <a:off x="582"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8" name="Rectangle 164">
                  <a:extLst>
                    <a:ext uri="{FF2B5EF4-FFF2-40B4-BE49-F238E27FC236}">
                      <a16:creationId xmlns:a16="http://schemas.microsoft.com/office/drawing/2014/main" id="{C9430574-C042-5773-80FB-3654EF9AFF9B}"/>
                    </a:ext>
                  </a:extLst>
                </p:cNvPr>
                <p:cNvSpPr>
                  <a:spLocks noChangeArrowheads="1"/>
                </p:cNvSpPr>
                <p:nvPr/>
              </p:nvSpPr>
              <p:spPr bwMode="auto">
                <a:xfrm>
                  <a:off x="587" y="199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9" name="Rectangle 165">
                  <a:extLst>
                    <a:ext uri="{FF2B5EF4-FFF2-40B4-BE49-F238E27FC236}">
                      <a16:creationId xmlns:a16="http://schemas.microsoft.com/office/drawing/2014/main" id="{5E72DFE2-0E4D-7618-742E-A2F92C46EBEA}"/>
                    </a:ext>
                  </a:extLst>
                </p:cNvPr>
                <p:cNvSpPr>
                  <a:spLocks noChangeArrowheads="1"/>
                </p:cNvSpPr>
                <p:nvPr/>
              </p:nvSpPr>
              <p:spPr bwMode="auto">
                <a:xfrm>
                  <a:off x="1157"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0" name="Rectangle 166">
                  <a:extLst>
                    <a:ext uri="{FF2B5EF4-FFF2-40B4-BE49-F238E27FC236}">
                      <a16:creationId xmlns:a16="http://schemas.microsoft.com/office/drawing/2014/main" id="{9703BEA7-1C0F-7DC7-ADE0-AAD649DEF699}"/>
                    </a:ext>
                  </a:extLst>
                </p:cNvPr>
                <p:cNvSpPr>
                  <a:spLocks noChangeArrowheads="1"/>
                </p:cNvSpPr>
                <p:nvPr/>
              </p:nvSpPr>
              <p:spPr bwMode="auto">
                <a:xfrm>
                  <a:off x="1163"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1" name="Rectangle 167">
                  <a:extLst>
                    <a:ext uri="{FF2B5EF4-FFF2-40B4-BE49-F238E27FC236}">
                      <a16:creationId xmlns:a16="http://schemas.microsoft.com/office/drawing/2014/main" id="{E32614A9-C24A-1634-3577-85792BF177BF}"/>
                    </a:ext>
                  </a:extLst>
                </p:cNvPr>
                <p:cNvSpPr>
                  <a:spLocks noChangeArrowheads="1"/>
                </p:cNvSpPr>
                <p:nvPr/>
              </p:nvSpPr>
              <p:spPr bwMode="auto">
                <a:xfrm>
                  <a:off x="1564"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2" name="Rectangle 168">
                  <a:extLst>
                    <a:ext uri="{FF2B5EF4-FFF2-40B4-BE49-F238E27FC236}">
                      <a16:creationId xmlns:a16="http://schemas.microsoft.com/office/drawing/2014/main" id="{DB6F32F0-751C-3928-6756-EFAAFB1BA55F}"/>
                    </a:ext>
                  </a:extLst>
                </p:cNvPr>
                <p:cNvSpPr>
                  <a:spLocks noChangeArrowheads="1"/>
                </p:cNvSpPr>
                <p:nvPr/>
              </p:nvSpPr>
              <p:spPr bwMode="auto">
                <a:xfrm>
                  <a:off x="1570" y="199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3" name="Rectangle 169">
                  <a:extLst>
                    <a:ext uri="{FF2B5EF4-FFF2-40B4-BE49-F238E27FC236}">
                      <a16:creationId xmlns:a16="http://schemas.microsoft.com/office/drawing/2014/main" id="{9E132EFF-47B2-AA0D-E787-0EAB699155D0}"/>
                    </a:ext>
                  </a:extLst>
                </p:cNvPr>
                <p:cNvSpPr>
                  <a:spLocks noChangeArrowheads="1"/>
                </p:cNvSpPr>
                <p:nvPr/>
              </p:nvSpPr>
              <p:spPr bwMode="auto">
                <a:xfrm>
                  <a:off x="1987"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4" name="Rectangle 170">
                  <a:extLst>
                    <a:ext uri="{FF2B5EF4-FFF2-40B4-BE49-F238E27FC236}">
                      <a16:creationId xmlns:a16="http://schemas.microsoft.com/office/drawing/2014/main" id="{E562D1C0-6614-95DC-8962-86D98328EECD}"/>
                    </a:ext>
                  </a:extLst>
                </p:cNvPr>
                <p:cNvSpPr>
                  <a:spLocks noChangeArrowheads="1"/>
                </p:cNvSpPr>
                <p:nvPr/>
              </p:nvSpPr>
              <p:spPr bwMode="auto">
                <a:xfrm>
                  <a:off x="1993" y="199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5" name="Rectangle 171">
                  <a:extLst>
                    <a:ext uri="{FF2B5EF4-FFF2-40B4-BE49-F238E27FC236}">
                      <a16:creationId xmlns:a16="http://schemas.microsoft.com/office/drawing/2014/main" id="{C4D83757-50B1-EF8F-D2E6-F67184FDA10E}"/>
                    </a:ext>
                  </a:extLst>
                </p:cNvPr>
                <p:cNvSpPr>
                  <a:spLocks noChangeArrowheads="1"/>
                </p:cNvSpPr>
                <p:nvPr/>
              </p:nvSpPr>
              <p:spPr bwMode="auto">
                <a:xfrm>
                  <a:off x="2378"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6" name="Rectangle 172">
                  <a:extLst>
                    <a:ext uri="{FF2B5EF4-FFF2-40B4-BE49-F238E27FC236}">
                      <a16:creationId xmlns:a16="http://schemas.microsoft.com/office/drawing/2014/main" id="{213656FF-E667-EB5F-0DE4-EB9E0FA990DF}"/>
                    </a:ext>
                  </a:extLst>
                </p:cNvPr>
                <p:cNvSpPr>
                  <a:spLocks noChangeArrowheads="1"/>
                </p:cNvSpPr>
                <p:nvPr/>
              </p:nvSpPr>
              <p:spPr bwMode="auto">
                <a:xfrm>
                  <a:off x="2384"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7" name="Rectangle 173">
                  <a:extLst>
                    <a:ext uri="{FF2B5EF4-FFF2-40B4-BE49-F238E27FC236}">
                      <a16:creationId xmlns:a16="http://schemas.microsoft.com/office/drawing/2014/main" id="{92E7B175-2C57-DC12-B377-CDAF7A04205A}"/>
                    </a:ext>
                  </a:extLst>
                </p:cNvPr>
                <p:cNvSpPr>
                  <a:spLocks noChangeArrowheads="1"/>
                </p:cNvSpPr>
                <p:nvPr/>
              </p:nvSpPr>
              <p:spPr bwMode="auto">
                <a:xfrm>
                  <a:off x="2785"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8" name="Rectangle 174">
                  <a:extLst>
                    <a:ext uri="{FF2B5EF4-FFF2-40B4-BE49-F238E27FC236}">
                      <a16:creationId xmlns:a16="http://schemas.microsoft.com/office/drawing/2014/main" id="{8CE70186-81C3-4D7B-315E-439E76F12FD9}"/>
                    </a:ext>
                  </a:extLst>
                </p:cNvPr>
                <p:cNvSpPr>
                  <a:spLocks noChangeArrowheads="1"/>
                </p:cNvSpPr>
                <p:nvPr/>
              </p:nvSpPr>
              <p:spPr bwMode="auto">
                <a:xfrm>
                  <a:off x="2791"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9" name="Rectangle 175">
                  <a:extLst>
                    <a:ext uri="{FF2B5EF4-FFF2-40B4-BE49-F238E27FC236}">
                      <a16:creationId xmlns:a16="http://schemas.microsoft.com/office/drawing/2014/main" id="{44AB8A48-4BD7-2B33-ACFC-CBCE5B06866F}"/>
                    </a:ext>
                  </a:extLst>
                </p:cNvPr>
                <p:cNvSpPr>
                  <a:spLocks noChangeArrowheads="1"/>
                </p:cNvSpPr>
                <p:nvPr/>
              </p:nvSpPr>
              <p:spPr bwMode="auto">
                <a:xfrm>
                  <a:off x="3192"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0" name="Rectangle 176">
                  <a:extLst>
                    <a:ext uri="{FF2B5EF4-FFF2-40B4-BE49-F238E27FC236}">
                      <a16:creationId xmlns:a16="http://schemas.microsoft.com/office/drawing/2014/main" id="{CCC717FA-C6F5-7452-8C24-529870C0F88A}"/>
                    </a:ext>
                  </a:extLst>
                </p:cNvPr>
                <p:cNvSpPr>
                  <a:spLocks noChangeArrowheads="1"/>
                </p:cNvSpPr>
                <p:nvPr/>
              </p:nvSpPr>
              <p:spPr bwMode="auto">
                <a:xfrm>
                  <a:off x="3198"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1" name="Rectangle 177">
                  <a:extLst>
                    <a:ext uri="{FF2B5EF4-FFF2-40B4-BE49-F238E27FC236}">
                      <a16:creationId xmlns:a16="http://schemas.microsoft.com/office/drawing/2014/main" id="{7CB064CD-8A94-0D19-8D76-A5DD4BFD3D08}"/>
                    </a:ext>
                  </a:extLst>
                </p:cNvPr>
                <p:cNvSpPr>
                  <a:spLocks noChangeArrowheads="1"/>
                </p:cNvSpPr>
                <p:nvPr/>
              </p:nvSpPr>
              <p:spPr bwMode="auto">
                <a:xfrm>
                  <a:off x="3599"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2" name="Rectangle 178">
                  <a:extLst>
                    <a:ext uri="{FF2B5EF4-FFF2-40B4-BE49-F238E27FC236}">
                      <a16:creationId xmlns:a16="http://schemas.microsoft.com/office/drawing/2014/main" id="{A595670D-806D-8986-7547-5A679E8EBA95}"/>
                    </a:ext>
                  </a:extLst>
                </p:cNvPr>
                <p:cNvSpPr>
                  <a:spLocks noChangeArrowheads="1"/>
                </p:cNvSpPr>
                <p:nvPr/>
              </p:nvSpPr>
              <p:spPr bwMode="auto">
                <a:xfrm>
                  <a:off x="3605" y="199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3" name="Rectangle 179">
                  <a:extLst>
                    <a:ext uri="{FF2B5EF4-FFF2-40B4-BE49-F238E27FC236}">
                      <a16:creationId xmlns:a16="http://schemas.microsoft.com/office/drawing/2014/main" id="{648CC946-AE44-52AF-3C27-565B64939F23}"/>
                    </a:ext>
                  </a:extLst>
                </p:cNvPr>
                <p:cNvSpPr>
                  <a:spLocks noChangeArrowheads="1"/>
                </p:cNvSpPr>
                <p:nvPr/>
              </p:nvSpPr>
              <p:spPr bwMode="auto">
                <a:xfrm>
                  <a:off x="4004"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4" name="Rectangle 180">
                  <a:extLst>
                    <a:ext uri="{FF2B5EF4-FFF2-40B4-BE49-F238E27FC236}">
                      <a16:creationId xmlns:a16="http://schemas.microsoft.com/office/drawing/2014/main" id="{43432331-5287-FCA9-4C44-5912A7F7D058}"/>
                    </a:ext>
                  </a:extLst>
                </p:cNvPr>
                <p:cNvSpPr>
                  <a:spLocks noChangeArrowheads="1"/>
                </p:cNvSpPr>
                <p:nvPr/>
              </p:nvSpPr>
              <p:spPr bwMode="auto">
                <a:xfrm>
                  <a:off x="4010"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5" name="Rectangle 181">
                  <a:extLst>
                    <a:ext uri="{FF2B5EF4-FFF2-40B4-BE49-F238E27FC236}">
                      <a16:creationId xmlns:a16="http://schemas.microsoft.com/office/drawing/2014/main" id="{67545EBB-8168-2C69-152B-81D43320A3CF}"/>
                    </a:ext>
                  </a:extLst>
                </p:cNvPr>
                <p:cNvSpPr>
                  <a:spLocks noChangeArrowheads="1"/>
                </p:cNvSpPr>
                <p:nvPr/>
              </p:nvSpPr>
              <p:spPr bwMode="auto">
                <a:xfrm>
                  <a:off x="4411"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6" name="Rectangle 182">
                  <a:extLst>
                    <a:ext uri="{FF2B5EF4-FFF2-40B4-BE49-F238E27FC236}">
                      <a16:creationId xmlns:a16="http://schemas.microsoft.com/office/drawing/2014/main" id="{482B1F19-2F51-90EB-8BA1-B3BAF532B7A5}"/>
                    </a:ext>
                  </a:extLst>
                </p:cNvPr>
                <p:cNvSpPr>
                  <a:spLocks noChangeArrowheads="1"/>
                </p:cNvSpPr>
                <p:nvPr/>
              </p:nvSpPr>
              <p:spPr bwMode="auto">
                <a:xfrm>
                  <a:off x="4417"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7" name="Rectangle 183">
                  <a:extLst>
                    <a:ext uri="{FF2B5EF4-FFF2-40B4-BE49-F238E27FC236}">
                      <a16:creationId xmlns:a16="http://schemas.microsoft.com/office/drawing/2014/main" id="{80FAACC4-9A8C-3B99-9950-EC3442021472}"/>
                    </a:ext>
                  </a:extLst>
                </p:cNvPr>
                <p:cNvSpPr>
                  <a:spLocks noChangeArrowheads="1"/>
                </p:cNvSpPr>
                <p:nvPr/>
              </p:nvSpPr>
              <p:spPr bwMode="auto">
                <a:xfrm>
                  <a:off x="4818"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8" name="Rectangle 184">
                  <a:extLst>
                    <a:ext uri="{FF2B5EF4-FFF2-40B4-BE49-F238E27FC236}">
                      <a16:creationId xmlns:a16="http://schemas.microsoft.com/office/drawing/2014/main" id="{749FAE73-EE35-3CC5-2C85-8EBF185EB759}"/>
                    </a:ext>
                  </a:extLst>
                </p:cNvPr>
                <p:cNvSpPr>
                  <a:spLocks noChangeArrowheads="1"/>
                </p:cNvSpPr>
                <p:nvPr/>
              </p:nvSpPr>
              <p:spPr bwMode="auto">
                <a:xfrm>
                  <a:off x="4824"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9" name="Rectangle 185">
                  <a:extLst>
                    <a:ext uri="{FF2B5EF4-FFF2-40B4-BE49-F238E27FC236}">
                      <a16:creationId xmlns:a16="http://schemas.microsoft.com/office/drawing/2014/main" id="{57AD2EE7-FBEE-3FD5-49C0-453A692A79C8}"/>
                    </a:ext>
                  </a:extLst>
                </p:cNvPr>
                <p:cNvSpPr>
                  <a:spLocks noChangeArrowheads="1"/>
                </p:cNvSpPr>
                <p:nvPr/>
              </p:nvSpPr>
              <p:spPr bwMode="auto">
                <a:xfrm>
                  <a:off x="5225"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0" name="Rectangle 186">
                  <a:extLst>
                    <a:ext uri="{FF2B5EF4-FFF2-40B4-BE49-F238E27FC236}">
                      <a16:creationId xmlns:a16="http://schemas.microsoft.com/office/drawing/2014/main" id="{48762E7F-6026-C909-643B-ADE84F59A6EB}"/>
                    </a:ext>
                  </a:extLst>
                </p:cNvPr>
                <p:cNvSpPr>
                  <a:spLocks noChangeArrowheads="1"/>
                </p:cNvSpPr>
                <p:nvPr/>
              </p:nvSpPr>
              <p:spPr bwMode="auto">
                <a:xfrm>
                  <a:off x="346"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1" name="Rectangle 187">
                  <a:extLst>
                    <a:ext uri="{FF2B5EF4-FFF2-40B4-BE49-F238E27FC236}">
                      <a16:creationId xmlns:a16="http://schemas.microsoft.com/office/drawing/2014/main" id="{4C6122BD-C670-C0B9-37DF-62D7877768C2}"/>
                    </a:ext>
                  </a:extLst>
                </p:cNvPr>
                <p:cNvSpPr>
                  <a:spLocks noChangeArrowheads="1"/>
                </p:cNvSpPr>
                <p:nvPr/>
              </p:nvSpPr>
              <p:spPr bwMode="auto">
                <a:xfrm>
                  <a:off x="582"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2" name="Rectangle 188">
                  <a:extLst>
                    <a:ext uri="{FF2B5EF4-FFF2-40B4-BE49-F238E27FC236}">
                      <a16:creationId xmlns:a16="http://schemas.microsoft.com/office/drawing/2014/main" id="{BE3854B7-EDF5-B927-B88F-7CEC6CACF040}"/>
                    </a:ext>
                  </a:extLst>
                </p:cNvPr>
                <p:cNvSpPr>
                  <a:spLocks noChangeArrowheads="1"/>
                </p:cNvSpPr>
                <p:nvPr/>
              </p:nvSpPr>
              <p:spPr bwMode="auto">
                <a:xfrm>
                  <a:off x="1157"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3" name="Rectangle 189">
                  <a:extLst>
                    <a:ext uri="{FF2B5EF4-FFF2-40B4-BE49-F238E27FC236}">
                      <a16:creationId xmlns:a16="http://schemas.microsoft.com/office/drawing/2014/main" id="{E610FB8F-DEC9-9114-DDDB-11F47653504E}"/>
                    </a:ext>
                  </a:extLst>
                </p:cNvPr>
                <p:cNvSpPr>
                  <a:spLocks noChangeArrowheads="1"/>
                </p:cNvSpPr>
                <p:nvPr/>
              </p:nvSpPr>
              <p:spPr bwMode="auto">
                <a:xfrm>
                  <a:off x="1564"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4" name="Rectangle 190">
                  <a:extLst>
                    <a:ext uri="{FF2B5EF4-FFF2-40B4-BE49-F238E27FC236}">
                      <a16:creationId xmlns:a16="http://schemas.microsoft.com/office/drawing/2014/main" id="{0FB53AFE-2FEE-7DFD-150B-F5B9274FF7BE}"/>
                    </a:ext>
                  </a:extLst>
                </p:cNvPr>
                <p:cNvSpPr>
                  <a:spLocks noChangeArrowheads="1"/>
                </p:cNvSpPr>
                <p:nvPr/>
              </p:nvSpPr>
              <p:spPr bwMode="auto">
                <a:xfrm>
                  <a:off x="1987"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5" name="Rectangle 191">
                  <a:extLst>
                    <a:ext uri="{FF2B5EF4-FFF2-40B4-BE49-F238E27FC236}">
                      <a16:creationId xmlns:a16="http://schemas.microsoft.com/office/drawing/2014/main" id="{3DD83BFD-48F8-93BD-42F4-13217BA69F71}"/>
                    </a:ext>
                  </a:extLst>
                </p:cNvPr>
                <p:cNvSpPr>
                  <a:spLocks noChangeArrowheads="1"/>
                </p:cNvSpPr>
                <p:nvPr/>
              </p:nvSpPr>
              <p:spPr bwMode="auto">
                <a:xfrm>
                  <a:off x="2378"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6" name="Rectangle 192">
                  <a:extLst>
                    <a:ext uri="{FF2B5EF4-FFF2-40B4-BE49-F238E27FC236}">
                      <a16:creationId xmlns:a16="http://schemas.microsoft.com/office/drawing/2014/main" id="{74A05BD9-44F6-F0B1-CF37-12D6B1805E2A}"/>
                    </a:ext>
                  </a:extLst>
                </p:cNvPr>
                <p:cNvSpPr>
                  <a:spLocks noChangeArrowheads="1"/>
                </p:cNvSpPr>
                <p:nvPr/>
              </p:nvSpPr>
              <p:spPr bwMode="auto">
                <a:xfrm>
                  <a:off x="2785"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7" name="Rectangle 193">
                  <a:extLst>
                    <a:ext uri="{FF2B5EF4-FFF2-40B4-BE49-F238E27FC236}">
                      <a16:creationId xmlns:a16="http://schemas.microsoft.com/office/drawing/2014/main" id="{DFDD3949-80FE-E95B-6ACE-D752AECA7799}"/>
                    </a:ext>
                  </a:extLst>
                </p:cNvPr>
                <p:cNvSpPr>
                  <a:spLocks noChangeArrowheads="1"/>
                </p:cNvSpPr>
                <p:nvPr/>
              </p:nvSpPr>
              <p:spPr bwMode="auto">
                <a:xfrm>
                  <a:off x="3192"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8" name="Rectangle 194">
                  <a:extLst>
                    <a:ext uri="{FF2B5EF4-FFF2-40B4-BE49-F238E27FC236}">
                      <a16:creationId xmlns:a16="http://schemas.microsoft.com/office/drawing/2014/main" id="{7AA9F06A-F56B-A609-2318-3485BAC4FAEA}"/>
                    </a:ext>
                  </a:extLst>
                </p:cNvPr>
                <p:cNvSpPr>
                  <a:spLocks noChangeArrowheads="1"/>
                </p:cNvSpPr>
                <p:nvPr/>
              </p:nvSpPr>
              <p:spPr bwMode="auto">
                <a:xfrm>
                  <a:off x="3599"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9" name="Rectangle 195">
                  <a:extLst>
                    <a:ext uri="{FF2B5EF4-FFF2-40B4-BE49-F238E27FC236}">
                      <a16:creationId xmlns:a16="http://schemas.microsoft.com/office/drawing/2014/main" id="{7C8F78B4-9537-037F-B029-715AE0B8EF1F}"/>
                    </a:ext>
                  </a:extLst>
                </p:cNvPr>
                <p:cNvSpPr>
                  <a:spLocks noChangeArrowheads="1"/>
                </p:cNvSpPr>
                <p:nvPr/>
              </p:nvSpPr>
              <p:spPr bwMode="auto">
                <a:xfrm>
                  <a:off x="4004"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0" name="Rectangle 196">
                  <a:extLst>
                    <a:ext uri="{FF2B5EF4-FFF2-40B4-BE49-F238E27FC236}">
                      <a16:creationId xmlns:a16="http://schemas.microsoft.com/office/drawing/2014/main" id="{A8860676-F0D6-1408-6B4E-DE48DADAD192}"/>
                    </a:ext>
                  </a:extLst>
                </p:cNvPr>
                <p:cNvSpPr>
                  <a:spLocks noChangeArrowheads="1"/>
                </p:cNvSpPr>
                <p:nvPr/>
              </p:nvSpPr>
              <p:spPr bwMode="auto">
                <a:xfrm>
                  <a:off x="4411"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1" name="Rectangle 197">
                  <a:extLst>
                    <a:ext uri="{FF2B5EF4-FFF2-40B4-BE49-F238E27FC236}">
                      <a16:creationId xmlns:a16="http://schemas.microsoft.com/office/drawing/2014/main" id="{2A0B1892-128B-7982-550F-77258AFF88B8}"/>
                    </a:ext>
                  </a:extLst>
                </p:cNvPr>
                <p:cNvSpPr>
                  <a:spLocks noChangeArrowheads="1"/>
                </p:cNvSpPr>
                <p:nvPr/>
              </p:nvSpPr>
              <p:spPr bwMode="auto">
                <a:xfrm>
                  <a:off x="4818"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2" name="Rectangle 198">
                  <a:extLst>
                    <a:ext uri="{FF2B5EF4-FFF2-40B4-BE49-F238E27FC236}">
                      <a16:creationId xmlns:a16="http://schemas.microsoft.com/office/drawing/2014/main" id="{DFD5CB44-3D0A-92A6-B174-A650FD1D8A43}"/>
                    </a:ext>
                  </a:extLst>
                </p:cNvPr>
                <p:cNvSpPr>
                  <a:spLocks noChangeArrowheads="1"/>
                </p:cNvSpPr>
                <p:nvPr/>
              </p:nvSpPr>
              <p:spPr bwMode="auto">
                <a:xfrm>
                  <a:off x="5225"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3" name="Rectangle 199">
                  <a:extLst>
                    <a:ext uri="{FF2B5EF4-FFF2-40B4-BE49-F238E27FC236}">
                      <a16:creationId xmlns:a16="http://schemas.microsoft.com/office/drawing/2014/main" id="{7DDF1B7B-6657-AAD5-D27A-24669C9D79DC}"/>
                    </a:ext>
                  </a:extLst>
                </p:cNvPr>
                <p:cNvSpPr>
                  <a:spLocks noChangeArrowheads="1"/>
                </p:cNvSpPr>
                <p:nvPr/>
              </p:nvSpPr>
              <p:spPr bwMode="auto">
                <a:xfrm>
                  <a:off x="393" y="200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a:t>
                  </a:r>
                </a:p>
              </p:txBody>
            </p:sp>
            <p:sp>
              <p:nvSpPr>
                <p:cNvPr id="224" name="Rectangle 200">
                  <a:extLst>
                    <a:ext uri="{FF2B5EF4-FFF2-40B4-BE49-F238E27FC236}">
                      <a16:creationId xmlns:a16="http://schemas.microsoft.com/office/drawing/2014/main" id="{B7BD73D7-020D-393F-B959-AEB9B2E57A98}"/>
                    </a:ext>
                  </a:extLst>
                </p:cNvPr>
                <p:cNvSpPr>
                  <a:spLocks noChangeArrowheads="1"/>
                </p:cNvSpPr>
                <p:nvPr/>
              </p:nvSpPr>
              <p:spPr bwMode="auto">
                <a:xfrm>
                  <a:off x="681" y="2006"/>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OBR-008</a:t>
                  </a:r>
                </a:p>
              </p:txBody>
            </p:sp>
            <p:sp>
              <p:nvSpPr>
                <p:cNvPr id="225" name="Rectangle 201">
                  <a:extLst>
                    <a:ext uri="{FF2B5EF4-FFF2-40B4-BE49-F238E27FC236}">
                      <a16:creationId xmlns:a16="http://schemas.microsoft.com/office/drawing/2014/main" id="{BA380C39-A8FD-BB5C-E421-9E87E0B2D81A}"/>
                    </a:ext>
                  </a:extLst>
                </p:cNvPr>
                <p:cNvSpPr>
                  <a:spLocks noChangeArrowheads="1"/>
                </p:cNvSpPr>
                <p:nvPr/>
              </p:nvSpPr>
              <p:spPr bwMode="auto">
                <a:xfrm>
                  <a:off x="1255" y="2006"/>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276</a:t>
                  </a:r>
                </a:p>
              </p:txBody>
            </p:sp>
            <p:sp>
              <p:nvSpPr>
                <p:cNvPr id="226" name="Rectangle 202">
                  <a:extLst>
                    <a:ext uri="{FF2B5EF4-FFF2-40B4-BE49-F238E27FC236}">
                      <a16:creationId xmlns:a16="http://schemas.microsoft.com/office/drawing/2014/main" id="{F0B97243-BC0D-F0ED-6436-2E78E608E490}"/>
                    </a:ext>
                  </a:extLst>
                </p:cNvPr>
                <p:cNvSpPr>
                  <a:spLocks noChangeArrowheads="1"/>
                </p:cNvSpPr>
                <p:nvPr/>
              </p:nvSpPr>
              <p:spPr bwMode="auto">
                <a:xfrm>
                  <a:off x="1687" y="200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23</a:t>
                  </a:r>
                </a:p>
              </p:txBody>
            </p:sp>
            <p:sp>
              <p:nvSpPr>
                <p:cNvPr id="227" name="Rectangle 203">
                  <a:extLst>
                    <a:ext uri="{FF2B5EF4-FFF2-40B4-BE49-F238E27FC236}">
                      <a16:creationId xmlns:a16="http://schemas.microsoft.com/office/drawing/2014/main" id="{88BC9BC7-0E53-9D18-37F7-821621A4CA7E}"/>
                    </a:ext>
                  </a:extLst>
                </p:cNvPr>
                <p:cNvSpPr>
                  <a:spLocks noChangeArrowheads="1"/>
                </p:cNvSpPr>
                <p:nvPr/>
              </p:nvSpPr>
              <p:spPr bwMode="auto">
                <a:xfrm>
                  <a:off x="2079"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28" name="Rectangle 204">
                  <a:extLst>
                    <a:ext uri="{FF2B5EF4-FFF2-40B4-BE49-F238E27FC236}">
                      <a16:creationId xmlns:a16="http://schemas.microsoft.com/office/drawing/2014/main" id="{5EA7292B-EE61-A635-250C-74FFC5A36931}"/>
                    </a:ext>
                  </a:extLst>
                </p:cNvPr>
                <p:cNvSpPr>
                  <a:spLocks noChangeArrowheads="1"/>
                </p:cNvSpPr>
                <p:nvPr/>
              </p:nvSpPr>
              <p:spPr bwMode="auto">
                <a:xfrm>
                  <a:off x="2478" y="1983"/>
                  <a:ext cx="202"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29" name="Rectangle 205">
                  <a:extLst>
                    <a:ext uri="{FF2B5EF4-FFF2-40B4-BE49-F238E27FC236}">
                      <a16:creationId xmlns:a16="http://schemas.microsoft.com/office/drawing/2014/main" id="{DE7AF145-665A-DE09-28C7-F33F3A3B47A9}"/>
                    </a:ext>
                  </a:extLst>
                </p:cNvPr>
                <p:cNvSpPr>
                  <a:spLocks noChangeArrowheads="1"/>
                </p:cNvSpPr>
                <p:nvPr/>
              </p:nvSpPr>
              <p:spPr bwMode="auto">
                <a:xfrm>
                  <a:off x="2883"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230" name="Rectangle 206">
                  <a:extLst>
                    <a:ext uri="{FF2B5EF4-FFF2-40B4-BE49-F238E27FC236}">
                      <a16:creationId xmlns:a16="http://schemas.microsoft.com/office/drawing/2014/main" id="{7FE629F5-2252-157D-1683-7D89C282AD43}"/>
                    </a:ext>
                  </a:extLst>
                </p:cNvPr>
                <p:cNvSpPr>
                  <a:spLocks noChangeArrowheads="1"/>
                </p:cNvSpPr>
                <p:nvPr/>
              </p:nvSpPr>
              <p:spPr bwMode="auto">
                <a:xfrm>
                  <a:off x="3697"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31" name="Rectangle 207">
                  <a:extLst>
                    <a:ext uri="{FF2B5EF4-FFF2-40B4-BE49-F238E27FC236}">
                      <a16:creationId xmlns:a16="http://schemas.microsoft.com/office/drawing/2014/main" id="{4F7042DC-86C5-E4B5-7D0C-792B93B45AC1}"/>
                    </a:ext>
                  </a:extLst>
                </p:cNvPr>
                <p:cNvSpPr>
                  <a:spLocks noChangeArrowheads="1"/>
                </p:cNvSpPr>
                <p:nvPr/>
              </p:nvSpPr>
              <p:spPr bwMode="auto">
                <a:xfrm>
                  <a:off x="4511"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32" name="Rectangle 208">
                  <a:extLst>
                    <a:ext uri="{FF2B5EF4-FFF2-40B4-BE49-F238E27FC236}">
                      <a16:creationId xmlns:a16="http://schemas.microsoft.com/office/drawing/2014/main" id="{E2346394-D4AF-DA78-2341-C707CE16A534}"/>
                    </a:ext>
                  </a:extLst>
                </p:cNvPr>
                <p:cNvSpPr>
                  <a:spLocks noChangeArrowheads="1"/>
                </p:cNvSpPr>
                <p:nvPr/>
              </p:nvSpPr>
              <p:spPr bwMode="auto">
                <a:xfrm>
                  <a:off x="4918"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33" name="Rectangle 209">
                  <a:extLst>
                    <a:ext uri="{FF2B5EF4-FFF2-40B4-BE49-F238E27FC236}">
                      <a16:creationId xmlns:a16="http://schemas.microsoft.com/office/drawing/2014/main" id="{3DC62FA7-ECF1-DEC0-78B5-56BD4006F238}"/>
                    </a:ext>
                  </a:extLst>
                </p:cNvPr>
                <p:cNvSpPr>
                  <a:spLocks noChangeArrowheads="1"/>
                </p:cNvSpPr>
                <p:nvPr/>
              </p:nvSpPr>
              <p:spPr bwMode="auto">
                <a:xfrm>
                  <a:off x="346"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4" name="Rectangle 210">
                  <a:extLst>
                    <a:ext uri="{FF2B5EF4-FFF2-40B4-BE49-F238E27FC236}">
                      <a16:creationId xmlns:a16="http://schemas.microsoft.com/office/drawing/2014/main" id="{20A92F84-4E3F-C40F-74D4-83535C829E80}"/>
                    </a:ext>
                  </a:extLst>
                </p:cNvPr>
                <p:cNvSpPr>
                  <a:spLocks noChangeArrowheads="1"/>
                </p:cNvSpPr>
                <p:nvPr/>
              </p:nvSpPr>
              <p:spPr bwMode="auto">
                <a:xfrm>
                  <a:off x="351" y="214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5" name="Rectangle 211">
                  <a:extLst>
                    <a:ext uri="{FF2B5EF4-FFF2-40B4-BE49-F238E27FC236}">
                      <a16:creationId xmlns:a16="http://schemas.microsoft.com/office/drawing/2014/main" id="{383C7C6F-1B63-1FAA-3D0D-BEE8581A3197}"/>
                    </a:ext>
                  </a:extLst>
                </p:cNvPr>
                <p:cNvSpPr>
                  <a:spLocks noChangeArrowheads="1"/>
                </p:cNvSpPr>
                <p:nvPr/>
              </p:nvSpPr>
              <p:spPr bwMode="auto">
                <a:xfrm>
                  <a:off x="582"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6" name="Rectangle 212">
                  <a:extLst>
                    <a:ext uri="{FF2B5EF4-FFF2-40B4-BE49-F238E27FC236}">
                      <a16:creationId xmlns:a16="http://schemas.microsoft.com/office/drawing/2014/main" id="{D2FD7AE0-38D9-EFCA-3FE7-3DA184E8E702}"/>
                    </a:ext>
                  </a:extLst>
                </p:cNvPr>
                <p:cNvSpPr>
                  <a:spLocks noChangeArrowheads="1"/>
                </p:cNvSpPr>
                <p:nvPr/>
              </p:nvSpPr>
              <p:spPr bwMode="auto">
                <a:xfrm>
                  <a:off x="587" y="214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7" name="Rectangle 213">
                  <a:extLst>
                    <a:ext uri="{FF2B5EF4-FFF2-40B4-BE49-F238E27FC236}">
                      <a16:creationId xmlns:a16="http://schemas.microsoft.com/office/drawing/2014/main" id="{D387583A-5401-7F50-7D4E-A5FC89F25072}"/>
                    </a:ext>
                  </a:extLst>
                </p:cNvPr>
                <p:cNvSpPr>
                  <a:spLocks noChangeArrowheads="1"/>
                </p:cNvSpPr>
                <p:nvPr/>
              </p:nvSpPr>
              <p:spPr bwMode="auto">
                <a:xfrm>
                  <a:off x="1157"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8" name="Rectangle 214">
                  <a:extLst>
                    <a:ext uri="{FF2B5EF4-FFF2-40B4-BE49-F238E27FC236}">
                      <a16:creationId xmlns:a16="http://schemas.microsoft.com/office/drawing/2014/main" id="{B54C9EF4-5141-CD70-D4AE-8F555E5641C5}"/>
                    </a:ext>
                  </a:extLst>
                </p:cNvPr>
                <p:cNvSpPr>
                  <a:spLocks noChangeArrowheads="1"/>
                </p:cNvSpPr>
                <p:nvPr/>
              </p:nvSpPr>
              <p:spPr bwMode="auto">
                <a:xfrm>
                  <a:off x="1163"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9" name="Rectangle 215">
                  <a:extLst>
                    <a:ext uri="{FF2B5EF4-FFF2-40B4-BE49-F238E27FC236}">
                      <a16:creationId xmlns:a16="http://schemas.microsoft.com/office/drawing/2014/main" id="{B3BB86A6-1679-FE48-B85B-9395BBD461C0}"/>
                    </a:ext>
                  </a:extLst>
                </p:cNvPr>
                <p:cNvSpPr>
                  <a:spLocks noChangeArrowheads="1"/>
                </p:cNvSpPr>
                <p:nvPr/>
              </p:nvSpPr>
              <p:spPr bwMode="auto">
                <a:xfrm>
                  <a:off x="1564"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0" name="Rectangle 216">
                  <a:extLst>
                    <a:ext uri="{FF2B5EF4-FFF2-40B4-BE49-F238E27FC236}">
                      <a16:creationId xmlns:a16="http://schemas.microsoft.com/office/drawing/2014/main" id="{F112409D-58C0-77B4-C0F4-4A261BA5CAE8}"/>
                    </a:ext>
                  </a:extLst>
                </p:cNvPr>
                <p:cNvSpPr>
                  <a:spLocks noChangeArrowheads="1"/>
                </p:cNvSpPr>
                <p:nvPr/>
              </p:nvSpPr>
              <p:spPr bwMode="auto">
                <a:xfrm>
                  <a:off x="1570" y="214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1" name="Rectangle 217">
                  <a:extLst>
                    <a:ext uri="{FF2B5EF4-FFF2-40B4-BE49-F238E27FC236}">
                      <a16:creationId xmlns:a16="http://schemas.microsoft.com/office/drawing/2014/main" id="{5E5735C4-505D-2E7C-3323-61DD51A61F29}"/>
                    </a:ext>
                  </a:extLst>
                </p:cNvPr>
                <p:cNvSpPr>
                  <a:spLocks noChangeArrowheads="1"/>
                </p:cNvSpPr>
                <p:nvPr/>
              </p:nvSpPr>
              <p:spPr bwMode="auto">
                <a:xfrm>
                  <a:off x="1987"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2" name="Rectangle 218">
                  <a:extLst>
                    <a:ext uri="{FF2B5EF4-FFF2-40B4-BE49-F238E27FC236}">
                      <a16:creationId xmlns:a16="http://schemas.microsoft.com/office/drawing/2014/main" id="{55853489-66B6-4981-6A66-BFBAA0D8401B}"/>
                    </a:ext>
                  </a:extLst>
                </p:cNvPr>
                <p:cNvSpPr>
                  <a:spLocks noChangeArrowheads="1"/>
                </p:cNvSpPr>
                <p:nvPr/>
              </p:nvSpPr>
              <p:spPr bwMode="auto">
                <a:xfrm>
                  <a:off x="1993" y="214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3" name="Rectangle 219">
                  <a:extLst>
                    <a:ext uri="{FF2B5EF4-FFF2-40B4-BE49-F238E27FC236}">
                      <a16:creationId xmlns:a16="http://schemas.microsoft.com/office/drawing/2014/main" id="{FADAB9DC-97F0-98CD-A947-06F930C6E08A}"/>
                    </a:ext>
                  </a:extLst>
                </p:cNvPr>
                <p:cNvSpPr>
                  <a:spLocks noChangeArrowheads="1"/>
                </p:cNvSpPr>
                <p:nvPr/>
              </p:nvSpPr>
              <p:spPr bwMode="auto">
                <a:xfrm>
                  <a:off x="2378"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4" name="Rectangle 220">
                  <a:extLst>
                    <a:ext uri="{FF2B5EF4-FFF2-40B4-BE49-F238E27FC236}">
                      <a16:creationId xmlns:a16="http://schemas.microsoft.com/office/drawing/2014/main" id="{32AC8D4C-B444-D0A6-32DE-8D9CC6057F70}"/>
                    </a:ext>
                  </a:extLst>
                </p:cNvPr>
                <p:cNvSpPr>
                  <a:spLocks noChangeArrowheads="1"/>
                </p:cNvSpPr>
                <p:nvPr/>
              </p:nvSpPr>
              <p:spPr bwMode="auto">
                <a:xfrm>
                  <a:off x="2384"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5" name="Rectangle 221">
                  <a:extLst>
                    <a:ext uri="{FF2B5EF4-FFF2-40B4-BE49-F238E27FC236}">
                      <a16:creationId xmlns:a16="http://schemas.microsoft.com/office/drawing/2014/main" id="{B43E0905-B818-3848-7647-43442BB837FC}"/>
                    </a:ext>
                  </a:extLst>
                </p:cNvPr>
                <p:cNvSpPr>
                  <a:spLocks noChangeArrowheads="1"/>
                </p:cNvSpPr>
                <p:nvPr/>
              </p:nvSpPr>
              <p:spPr bwMode="auto">
                <a:xfrm>
                  <a:off x="2785"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6" name="Rectangle 222">
                  <a:extLst>
                    <a:ext uri="{FF2B5EF4-FFF2-40B4-BE49-F238E27FC236}">
                      <a16:creationId xmlns:a16="http://schemas.microsoft.com/office/drawing/2014/main" id="{0E5071C6-247D-6413-BA69-E359D1AA52C9}"/>
                    </a:ext>
                  </a:extLst>
                </p:cNvPr>
                <p:cNvSpPr>
                  <a:spLocks noChangeArrowheads="1"/>
                </p:cNvSpPr>
                <p:nvPr/>
              </p:nvSpPr>
              <p:spPr bwMode="auto">
                <a:xfrm>
                  <a:off x="2791"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7" name="Rectangle 223">
                  <a:extLst>
                    <a:ext uri="{FF2B5EF4-FFF2-40B4-BE49-F238E27FC236}">
                      <a16:creationId xmlns:a16="http://schemas.microsoft.com/office/drawing/2014/main" id="{5A370D70-6C13-2FD7-87A1-18AD9BCB45C9}"/>
                    </a:ext>
                  </a:extLst>
                </p:cNvPr>
                <p:cNvSpPr>
                  <a:spLocks noChangeArrowheads="1"/>
                </p:cNvSpPr>
                <p:nvPr/>
              </p:nvSpPr>
              <p:spPr bwMode="auto">
                <a:xfrm>
                  <a:off x="3192"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8" name="Rectangle 224">
                  <a:extLst>
                    <a:ext uri="{FF2B5EF4-FFF2-40B4-BE49-F238E27FC236}">
                      <a16:creationId xmlns:a16="http://schemas.microsoft.com/office/drawing/2014/main" id="{B9563C79-A178-A20B-88C0-4C86400C4891}"/>
                    </a:ext>
                  </a:extLst>
                </p:cNvPr>
                <p:cNvSpPr>
                  <a:spLocks noChangeArrowheads="1"/>
                </p:cNvSpPr>
                <p:nvPr/>
              </p:nvSpPr>
              <p:spPr bwMode="auto">
                <a:xfrm>
                  <a:off x="3198"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9" name="Rectangle 225">
                  <a:extLst>
                    <a:ext uri="{FF2B5EF4-FFF2-40B4-BE49-F238E27FC236}">
                      <a16:creationId xmlns:a16="http://schemas.microsoft.com/office/drawing/2014/main" id="{80C77DED-F6C1-E051-5CA9-094278FA3A78}"/>
                    </a:ext>
                  </a:extLst>
                </p:cNvPr>
                <p:cNvSpPr>
                  <a:spLocks noChangeArrowheads="1"/>
                </p:cNvSpPr>
                <p:nvPr/>
              </p:nvSpPr>
              <p:spPr bwMode="auto">
                <a:xfrm>
                  <a:off x="3599"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0" name="Rectangle 226">
                  <a:extLst>
                    <a:ext uri="{FF2B5EF4-FFF2-40B4-BE49-F238E27FC236}">
                      <a16:creationId xmlns:a16="http://schemas.microsoft.com/office/drawing/2014/main" id="{D743405A-0D5E-9837-DF6F-B75A7035F2BA}"/>
                    </a:ext>
                  </a:extLst>
                </p:cNvPr>
                <p:cNvSpPr>
                  <a:spLocks noChangeArrowheads="1"/>
                </p:cNvSpPr>
                <p:nvPr/>
              </p:nvSpPr>
              <p:spPr bwMode="auto">
                <a:xfrm>
                  <a:off x="3605" y="214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1" name="Rectangle 227">
                  <a:extLst>
                    <a:ext uri="{FF2B5EF4-FFF2-40B4-BE49-F238E27FC236}">
                      <a16:creationId xmlns:a16="http://schemas.microsoft.com/office/drawing/2014/main" id="{FBADF4EC-B60C-8EF6-1966-4EFB0F06F394}"/>
                    </a:ext>
                  </a:extLst>
                </p:cNvPr>
                <p:cNvSpPr>
                  <a:spLocks noChangeArrowheads="1"/>
                </p:cNvSpPr>
                <p:nvPr/>
              </p:nvSpPr>
              <p:spPr bwMode="auto">
                <a:xfrm>
                  <a:off x="4004"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2" name="Rectangle 228">
                  <a:extLst>
                    <a:ext uri="{FF2B5EF4-FFF2-40B4-BE49-F238E27FC236}">
                      <a16:creationId xmlns:a16="http://schemas.microsoft.com/office/drawing/2014/main" id="{EEAD8BE8-E0E9-4100-49FE-224B3B603AEE}"/>
                    </a:ext>
                  </a:extLst>
                </p:cNvPr>
                <p:cNvSpPr>
                  <a:spLocks noChangeArrowheads="1"/>
                </p:cNvSpPr>
                <p:nvPr/>
              </p:nvSpPr>
              <p:spPr bwMode="auto">
                <a:xfrm>
                  <a:off x="4010"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3" name="Rectangle 229">
                  <a:extLst>
                    <a:ext uri="{FF2B5EF4-FFF2-40B4-BE49-F238E27FC236}">
                      <a16:creationId xmlns:a16="http://schemas.microsoft.com/office/drawing/2014/main" id="{C47ADE16-5CE1-96DE-DEA6-1D8F200A3766}"/>
                    </a:ext>
                  </a:extLst>
                </p:cNvPr>
                <p:cNvSpPr>
                  <a:spLocks noChangeArrowheads="1"/>
                </p:cNvSpPr>
                <p:nvPr/>
              </p:nvSpPr>
              <p:spPr bwMode="auto">
                <a:xfrm>
                  <a:off x="4411"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4" name="Rectangle 230">
                  <a:extLst>
                    <a:ext uri="{FF2B5EF4-FFF2-40B4-BE49-F238E27FC236}">
                      <a16:creationId xmlns:a16="http://schemas.microsoft.com/office/drawing/2014/main" id="{CAD481FD-303F-7519-9F68-FA21061FA88D}"/>
                    </a:ext>
                  </a:extLst>
                </p:cNvPr>
                <p:cNvSpPr>
                  <a:spLocks noChangeArrowheads="1"/>
                </p:cNvSpPr>
                <p:nvPr/>
              </p:nvSpPr>
              <p:spPr bwMode="auto">
                <a:xfrm>
                  <a:off x="4417"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5" name="Rectangle 231">
                  <a:extLst>
                    <a:ext uri="{FF2B5EF4-FFF2-40B4-BE49-F238E27FC236}">
                      <a16:creationId xmlns:a16="http://schemas.microsoft.com/office/drawing/2014/main" id="{9348E261-05DD-B5EE-77A8-E972B95648DC}"/>
                    </a:ext>
                  </a:extLst>
                </p:cNvPr>
                <p:cNvSpPr>
                  <a:spLocks noChangeArrowheads="1"/>
                </p:cNvSpPr>
                <p:nvPr/>
              </p:nvSpPr>
              <p:spPr bwMode="auto">
                <a:xfrm>
                  <a:off x="4818"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6" name="Rectangle 232">
                  <a:extLst>
                    <a:ext uri="{FF2B5EF4-FFF2-40B4-BE49-F238E27FC236}">
                      <a16:creationId xmlns:a16="http://schemas.microsoft.com/office/drawing/2014/main" id="{8365C186-86ED-BBF7-99FE-8D28B1B9CF38}"/>
                    </a:ext>
                  </a:extLst>
                </p:cNvPr>
                <p:cNvSpPr>
                  <a:spLocks noChangeArrowheads="1"/>
                </p:cNvSpPr>
                <p:nvPr/>
              </p:nvSpPr>
              <p:spPr bwMode="auto">
                <a:xfrm>
                  <a:off x="4824"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7" name="Rectangle 233">
                  <a:extLst>
                    <a:ext uri="{FF2B5EF4-FFF2-40B4-BE49-F238E27FC236}">
                      <a16:creationId xmlns:a16="http://schemas.microsoft.com/office/drawing/2014/main" id="{6707CB96-5FC0-1C28-9C2D-E7B05133019D}"/>
                    </a:ext>
                  </a:extLst>
                </p:cNvPr>
                <p:cNvSpPr>
                  <a:spLocks noChangeArrowheads="1"/>
                </p:cNvSpPr>
                <p:nvPr/>
              </p:nvSpPr>
              <p:spPr bwMode="auto">
                <a:xfrm>
                  <a:off x="5225"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8" name="Rectangle 234">
                  <a:extLst>
                    <a:ext uri="{FF2B5EF4-FFF2-40B4-BE49-F238E27FC236}">
                      <a16:creationId xmlns:a16="http://schemas.microsoft.com/office/drawing/2014/main" id="{6FC070F1-461F-4777-B158-31774CA61BAE}"/>
                    </a:ext>
                  </a:extLst>
                </p:cNvPr>
                <p:cNvSpPr>
                  <a:spLocks noChangeArrowheads="1"/>
                </p:cNvSpPr>
                <p:nvPr/>
              </p:nvSpPr>
              <p:spPr bwMode="auto">
                <a:xfrm>
                  <a:off x="346"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9" name="Rectangle 235">
                  <a:extLst>
                    <a:ext uri="{FF2B5EF4-FFF2-40B4-BE49-F238E27FC236}">
                      <a16:creationId xmlns:a16="http://schemas.microsoft.com/office/drawing/2014/main" id="{43A1E904-9481-81BE-FB04-27092BB6BE77}"/>
                    </a:ext>
                  </a:extLst>
                </p:cNvPr>
                <p:cNvSpPr>
                  <a:spLocks noChangeArrowheads="1"/>
                </p:cNvSpPr>
                <p:nvPr/>
              </p:nvSpPr>
              <p:spPr bwMode="auto">
                <a:xfrm>
                  <a:off x="582"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0" name="Rectangle 236">
                  <a:extLst>
                    <a:ext uri="{FF2B5EF4-FFF2-40B4-BE49-F238E27FC236}">
                      <a16:creationId xmlns:a16="http://schemas.microsoft.com/office/drawing/2014/main" id="{9811C3C0-4DE3-D84E-C65F-755FE7A66A22}"/>
                    </a:ext>
                  </a:extLst>
                </p:cNvPr>
                <p:cNvSpPr>
                  <a:spLocks noChangeArrowheads="1"/>
                </p:cNvSpPr>
                <p:nvPr/>
              </p:nvSpPr>
              <p:spPr bwMode="auto">
                <a:xfrm>
                  <a:off x="1157"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1" name="Rectangle 237">
                  <a:extLst>
                    <a:ext uri="{FF2B5EF4-FFF2-40B4-BE49-F238E27FC236}">
                      <a16:creationId xmlns:a16="http://schemas.microsoft.com/office/drawing/2014/main" id="{4450EC95-6DC8-87F8-13BD-8F57F4A57F72}"/>
                    </a:ext>
                  </a:extLst>
                </p:cNvPr>
                <p:cNvSpPr>
                  <a:spLocks noChangeArrowheads="1"/>
                </p:cNvSpPr>
                <p:nvPr/>
              </p:nvSpPr>
              <p:spPr bwMode="auto">
                <a:xfrm>
                  <a:off x="1564"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2" name="Rectangle 238">
                  <a:extLst>
                    <a:ext uri="{FF2B5EF4-FFF2-40B4-BE49-F238E27FC236}">
                      <a16:creationId xmlns:a16="http://schemas.microsoft.com/office/drawing/2014/main" id="{30FB30D2-3F70-3AF5-02F4-1D1B23687A75}"/>
                    </a:ext>
                  </a:extLst>
                </p:cNvPr>
                <p:cNvSpPr>
                  <a:spLocks noChangeArrowheads="1"/>
                </p:cNvSpPr>
                <p:nvPr/>
              </p:nvSpPr>
              <p:spPr bwMode="auto">
                <a:xfrm>
                  <a:off x="1987"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3" name="Rectangle 239">
                  <a:extLst>
                    <a:ext uri="{FF2B5EF4-FFF2-40B4-BE49-F238E27FC236}">
                      <a16:creationId xmlns:a16="http://schemas.microsoft.com/office/drawing/2014/main" id="{AF903C4F-5994-93AF-918D-319FE28F8C7A}"/>
                    </a:ext>
                  </a:extLst>
                </p:cNvPr>
                <p:cNvSpPr>
                  <a:spLocks noChangeArrowheads="1"/>
                </p:cNvSpPr>
                <p:nvPr/>
              </p:nvSpPr>
              <p:spPr bwMode="auto">
                <a:xfrm>
                  <a:off x="2378"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4" name="Rectangle 240">
                  <a:extLst>
                    <a:ext uri="{FF2B5EF4-FFF2-40B4-BE49-F238E27FC236}">
                      <a16:creationId xmlns:a16="http://schemas.microsoft.com/office/drawing/2014/main" id="{A84A30A2-4C48-45D9-D327-A12BC3D09B3C}"/>
                    </a:ext>
                  </a:extLst>
                </p:cNvPr>
                <p:cNvSpPr>
                  <a:spLocks noChangeArrowheads="1"/>
                </p:cNvSpPr>
                <p:nvPr/>
              </p:nvSpPr>
              <p:spPr bwMode="auto">
                <a:xfrm>
                  <a:off x="2785"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5" name="Rectangle 241">
                  <a:extLst>
                    <a:ext uri="{FF2B5EF4-FFF2-40B4-BE49-F238E27FC236}">
                      <a16:creationId xmlns:a16="http://schemas.microsoft.com/office/drawing/2014/main" id="{6EECF91C-0F88-03AC-1874-916FA6FA3760}"/>
                    </a:ext>
                  </a:extLst>
                </p:cNvPr>
                <p:cNvSpPr>
                  <a:spLocks noChangeArrowheads="1"/>
                </p:cNvSpPr>
                <p:nvPr/>
              </p:nvSpPr>
              <p:spPr bwMode="auto">
                <a:xfrm>
                  <a:off x="3192"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6" name="Rectangle 242">
                  <a:extLst>
                    <a:ext uri="{FF2B5EF4-FFF2-40B4-BE49-F238E27FC236}">
                      <a16:creationId xmlns:a16="http://schemas.microsoft.com/office/drawing/2014/main" id="{6D859DBF-B18C-8D23-B342-A3E751B44209}"/>
                    </a:ext>
                  </a:extLst>
                </p:cNvPr>
                <p:cNvSpPr>
                  <a:spLocks noChangeArrowheads="1"/>
                </p:cNvSpPr>
                <p:nvPr/>
              </p:nvSpPr>
              <p:spPr bwMode="auto">
                <a:xfrm>
                  <a:off x="3599"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7" name="Rectangle 243">
                  <a:extLst>
                    <a:ext uri="{FF2B5EF4-FFF2-40B4-BE49-F238E27FC236}">
                      <a16:creationId xmlns:a16="http://schemas.microsoft.com/office/drawing/2014/main" id="{43BC1F1D-A17B-4983-733D-820FD036E8BF}"/>
                    </a:ext>
                  </a:extLst>
                </p:cNvPr>
                <p:cNvSpPr>
                  <a:spLocks noChangeArrowheads="1"/>
                </p:cNvSpPr>
                <p:nvPr/>
              </p:nvSpPr>
              <p:spPr bwMode="auto">
                <a:xfrm>
                  <a:off x="4004"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8" name="Rectangle 244">
                  <a:extLst>
                    <a:ext uri="{FF2B5EF4-FFF2-40B4-BE49-F238E27FC236}">
                      <a16:creationId xmlns:a16="http://schemas.microsoft.com/office/drawing/2014/main" id="{108FB91D-ED99-AAAF-928A-EBE75A951FC7}"/>
                    </a:ext>
                  </a:extLst>
                </p:cNvPr>
                <p:cNvSpPr>
                  <a:spLocks noChangeArrowheads="1"/>
                </p:cNvSpPr>
                <p:nvPr/>
              </p:nvSpPr>
              <p:spPr bwMode="auto">
                <a:xfrm>
                  <a:off x="4411"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9" name="Rectangle 245">
                  <a:extLst>
                    <a:ext uri="{FF2B5EF4-FFF2-40B4-BE49-F238E27FC236}">
                      <a16:creationId xmlns:a16="http://schemas.microsoft.com/office/drawing/2014/main" id="{03DCECC7-967F-814B-F92F-C4495368C25F}"/>
                    </a:ext>
                  </a:extLst>
                </p:cNvPr>
                <p:cNvSpPr>
                  <a:spLocks noChangeArrowheads="1"/>
                </p:cNvSpPr>
                <p:nvPr/>
              </p:nvSpPr>
              <p:spPr bwMode="auto">
                <a:xfrm>
                  <a:off x="4818"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70" name="Rectangle 246">
                  <a:extLst>
                    <a:ext uri="{FF2B5EF4-FFF2-40B4-BE49-F238E27FC236}">
                      <a16:creationId xmlns:a16="http://schemas.microsoft.com/office/drawing/2014/main" id="{A06A1FA3-3DF3-0F0F-D623-C5C28E151323}"/>
                    </a:ext>
                  </a:extLst>
                </p:cNvPr>
                <p:cNvSpPr>
                  <a:spLocks noChangeArrowheads="1"/>
                </p:cNvSpPr>
                <p:nvPr/>
              </p:nvSpPr>
              <p:spPr bwMode="auto">
                <a:xfrm>
                  <a:off x="5225"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71" name="Rectangle 247">
                  <a:extLst>
                    <a:ext uri="{FF2B5EF4-FFF2-40B4-BE49-F238E27FC236}">
                      <a16:creationId xmlns:a16="http://schemas.microsoft.com/office/drawing/2014/main" id="{FF2BB8B7-5353-7EE3-A041-868FAD5756B0}"/>
                    </a:ext>
                  </a:extLst>
                </p:cNvPr>
                <p:cNvSpPr>
                  <a:spLocks noChangeArrowheads="1"/>
                </p:cNvSpPr>
                <p:nvPr/>
              </p:nvSpPr>
              <p:spPr bwMode="auto">
                <a:xfrm>
                  <a:off x="393" y="2154"/>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a:t>
                  </a:r>
                </a:p>
              </p:txBody>
            </p:sp>
            <p:sp>
              <p:nvSpPr>
                <p:cNvPr id="272" name="Rectangle 248">
                  <a:extLst>
                    <a:ext uri="{FF2B5EF4-FFF2-40B4-BE49-F238E27FC236}">
                      <a16:creationId xmlns:a16="http://schemas.microsoft.com/office/drawing/2014/main" id="{CF067A1F-5E58-D4D8-57C9-A5BAA6C5CE2A}"/>
                    </a:ext>
                  </a:extLst>
                </p:cNvPr>
                <p:cNvSpPr>
                  <a:spLocks noChangeArrowheads="1"/>
                </p:cNvSpPr>
                <p:nvPr/>
              </p:nvSpPr>
              <p:spPr bwMode="auto">
                <a:xfrm>
                  <a:off x="708" y="2154"/>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320147</a:t>
                  </a:r>
                </a:p>
              </p:txBody>
            </p:sp>
            <p:sp>
              <p:nvSpPr>
                <p:cNvPr id="273" name="Rectangle 249">
                  <a:extLst>
                    <a:ext uri="{FF2B5EF4-FFF2-40B4-BE49-F238E27FC236}">
                      <a16:creationId xmlns:a16="http://schemas.microsoft.com/office/drawing/2014/main" id="{C87B7F00-3C7D-3D3A-CBA0-C70CE15F80C6}"/>
                    </a:ext>
                  </a:extLst>
                </p:cNvPr>
                <p:cNvSpPr>
                  <a:spLocks noChangeArrowheads="1"/>
                </p:cNvSpPr>
                <p:nvPr/>
              </p:nvSpPr>
              <p:spPr bwMode="auto">
                <a:xfrm>
                  <a:off x="1272" y="2154"/>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84</a:t>
                  </a:r>
                </a:p>
              </p:txBody>
            </p:sp>
            <p:sp>
              <p:nvSpPr>
                <p:cNvPr id="274" name="Rectangle 250">
                  <a:extLst>
                    <a:ext uri="{FF2B5EF4-FFF2-40B4-BE49-F238E27FC236}">
                      <a16:creationId xmlns:a16="http://schemas.microsoft.com/office/drawing/2014/main" id="{28E7DC37-06A9-CD37-E273-267D560331CE}"/>
                    </a:ext>
                  </a:extLst>
                </p:cNvPr>
                <p:cNvSpPr>
                  <a:spLocks noChangeArrowheads="1"/>
                </p:cNvSpPr>
                <p:nvPr/>
              </p:nvSpPr>
              <p:spPr bwMode="auto">
                <a:xfrm>
                  <a:off x="1704" y="2154"/>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7</a:t>
                  </a:r>
                </a:p>
              </p:txBody>
            </p:sp>
            <p:sp>
              <p:nvSpPr>
                <p:cNvPr id="275" name="Rectangle 251">
                  <a:extLst>
                    <a:ext uri="{FF2B5EF4-FFF2-40B4-BE49-F238E27FC236}">
                      <a16:creationId xmlns:a16="http://schemas.microsoft.com/office/drawing/2014/main" id="{1EB414C3-C16A-EAAE-E164-377C54342D8A}"/>
                    </a:ext>
                  </a:extLst>
                </p:cNvPr>
                <p:cNvSpPr>
                  <a:spLocks noChangeArrowheads="1"/>
                </p:cNvSpPr>
                <p:nvPr/>
              </p:nvSpPr>
              <p:spPr bwMode="auto">
                <a:xfrm>
                  <a:off x="2079"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76" name="Rectangle 252">
                  <a:extLst>
                    <a:ext uri="{FF2B5EF4-FFF2-40B4-BE49-F238E27FC236}">
                      <a16:creationId xmlns:a16="http://schemas.microsoft.com/office/drawing/2014/main" id="{C2C50BB4-55D5-5244-66F8-2C021C668976}"/>
                    </a:ext>
                  </a:extLst>
                </p:cNvPr>
                <p:cNvSpPr>
                  <a:spLocks noChangeArrowheads="1"/>
                </p:cNvSpPr>
                <p:nvPr/>
              </p:nvSpPr>
              <p:spPr bwMode="auto">
                <a:xfrm>
                  <a:off x="2883"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77" name="Rectangle 253">
                  <a:extLst>
                    <a:ext uri="{FF2B5EF4-FFF2-40B4-BE49-F238E27FC236}">
                      <a16:creationId xmlns:a16="http://schemas.microsoft.com/office/drawing/2014/main" id="{B56A1386-8AD4-D007-4A46-60C46AB995C7}"/>
                    </a:ext>
                  </a:extLst>
                </p:cNvPr>
                <p:cNvSpPr>
                  <a:spLocks noChangeArrowheads="1"/>
                </p:cNvSpPr>
                <p:nvPr/>
              </p:nvSpPr>
              <p:spPr bwMode="auto">
                <a:xfrm>
                  <a:off x="3290"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278" name="Rectangle 254">
                  <a:extLst>
                    <a:ext uri="{FF2B5EF4-FFF2-40B4-BE49-F238E27FC236}">
                      <a16:creationId xmlns:a16="http://schemas.microsoft.com/office/drawing/2014/main" id="{1ABC0E4A-6785-97C3-6019-87AF6BE49E3A}"/>
                    </a:ext>
                  </a:extLst>
                </p:cNvPr>
                <p:cNvSpPr>
                  <a:spLocks noChangeArrowheads="1"/>
                </p:cNvSpPr>
                <p:nvPr/>
              </p:nvSpPr>
              <p:spPr bwMode="auto">
                <a:xfrm>
                  <a:off x="3697"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79" name="Rectangle 255">
                  <a:extLst>
                    <a:ext uri="{FF2B5EF4-FFF2-40B4-BE49-F238E27FC236}">
                      <a16:creationId xmlns:a16="http://schemas.microsoft.com/office/drawing/2014/main" id="{18D1E3F9-AC21-1B50-B436-02BE0D4BC48B}"/>
                    </a:ext>
                  </a:extLst>
                </p:cNvPr>
                <p:cNvSpPr>
                  <a:spLocks noChangeArrowheads="1"/>
                </p:cNvSpPr>
                <p:nvPr/>
              </p:nvSpPr>
              <p:spPr bwMode="auto">
                <a:xfrm>
                  <a:off x="4511"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80" name="Rectangle 256">
                  <a:extLst>
                    <a:ext uri="{FF2B5EF4-FFF2-40B4-BE49-F238E27FC236}">
                      <a16:creationId xmlns:a16="http://schemas.microsoft.com/office/drawing/2014/main" id="{B4FE11ED-9337-F7BD-0602-6219E8E7C70C}"/>
                    </a:ext>
                  </a:extLst>
                </p:cNvPr>
                <p:cNvSpPr>
                  <a:spLocks noChangeArrowheads="1"/>
                </p:cNvSpPr>
                <p:nvPr/>
              </p:nvSpPr>
              <p:spPr bwMode="auto">
                <a:xfrm>
                  <a:off x="4918"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81" name="Rectangle 257">
                  <a:extLst>
                    <a:ext uri="{FF2B5EF4-FFF2-40B4-BE49-F238E27FC236}">
                      <a16:creationId xmlns:a16="http://schemas.microsoft.com/office/drawing/2014/main" id="{28EA1533-E188-B524-4E5B-7F1E24B6546B}"/>
                    </a:ext>
                  </a:extLst>
                </p:cNvPr>
                <p:cNvSpPr>
                  <a:spLocks noChangeArrowheads="1"/>
                </p:cNvSpPr>
                <p:nvPr/>
              </p:nvSpPr>
              <p:spPr bwMode="auto">
                <a:xfrm>
                  <a:off x="346"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2" name="Rectangle 258">
                  <a:extLst>
                    <a:ext uri="{FF2B5EF4-FFF2-40B4-BE49-F238E27FC236}">
                      <a16:creationId xmlns:a16="http://schemas.microsoft.com/office/drawing/2014/main" id="{6CECD718-B804-AC91-CE18-8BF8A998685D}"/>
                    </a:ext>
                  </a:extLst>
                </p:cNvPr>
                <p:cNvSpPr>
                  <a:spLocks noChangeArrowheads="1"/>
                </p:cNvSpPr>
                <p:nvPr/>
              </p:nvSpPr>
              <p:spPr bwMode="auto">
                <a:xfrm>
                  <a:off x="351" y="229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3" name="Rectangle 259">
                  <a:extLst>
                    <a:ext uri="{FF2B5EF4-FFF2-40B4-BE49-F238E27FC236}">
                      <a16:creationId xmlns:a16="http://schemas.microsoft.com/office/drawing/2014/main" id="{B0CB5A45-794D-8EE6-1A56-956111376BC7}"/>
                    </a:ext>
                  </a:extLst>
                </p:cNvPr>
                <p:cNvSpPr>
                  <a:spLocks noChangeArrowheads="1"/>
                </p:cNvSpPr>
                <p:nvPr/>
              </p:nvSpPr>
              <p:spPr bwMode="auto">
                <a:xfrm>
                  <a:off x="582"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4" name="Rectangle 260">
                  <a:extLst>
                    <a:ext uri="{FF2B5EF4-FFF2-40B4-BE49-F238E27FC236}">
                      <a16:creationId xmlns:a16="http://schemas.microsoft.com/office/drawing/2014/main" id="{43DADCC8-7491-5625-B250-E984C752A301}"/>
                    </a:ext>
                  </a:extLst>
                </p:cNvPr>
                <p:cNvSpPr>
                  <a:spLocks noChangeArrowheads="1"/>
                </p:cNvSpPr>
                <p:nvPr/>
              </p:nvSpPr>
              <p:spPr bwMode="auto">
                <a:xfrm>
                  <a:off x="587" y="229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5" name="Rectangle 261">
                  <a:extLst>
                    <a:ext uri="{FF2B5EF4-FFF2-40B4-BE49-F238E27FC236}">
                      <a16:creationId xmlns:a16="http://schemas.microsoft.com/office/drawing/2014/main" id="{8401C9B0-8C63-A989-501C-8A761DBCD5BC}"/>
                    </a:ext>
                  </a:extLst>
                </p:cNvPr>
                <p:cNvSpPr>
                  <a:spLocks noChangeArrowheads="1"/>
                </p:cNvSpPr>
                <p:nvPr/>
              </p:nvSpPr>
              <p:spPr bwMode="auto">
                <a:xfrm>
                  <a:off x="1157"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6" name="Rectangle 262">
                  <a:extLst>
                    <a:ext uri="{FF2B5EF4-FFF2-40B4-BE49-F238E27FC236}">
                      <a16:creationId xmlns:a16="http://schemas.microsoft.com/office/drawing/2014/main" id="{F97D1436-4A18-6E85-6B9E-34BCD83B907B}"/>
                    </a:ext>
                  </a:extLst>
                </p:cNvPr>
                <p:cNvSpPr>
                  <a:spLocks noChangeArrowheads="1"/>
                </p:cNvSpPr>
                <p:nvPr/>
              </p:nvSpPr>
              <p:spPr bwMode="auto">
                <a:xfrm>
                  <a:off x="1163"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7" name="Rectangle 263">
                  <a:extLst>
                    <a:ext uri="{FF2B5EF4-FFF2-40B4-BE49-F238E27FC236}">
                      <a16:creationId xmlns:a16="http://schemas.microsoft.com/office/drawing/2014/main" id="{FB64FD21-9AAF-953E-7106-9A248D7E0317}"/>
                    </a:ext>
                  </a:extLst>
                </p:cNvPr>
                <p:cNvSpPr>
                  <a:spLocks noChangeArrowheads="1"/>
                </p:cNvSpPr>
                <p:nvPr/>
              </p:nvSpPr>
              <p:spPr bwMode="auto">
                <a:xfrm>
                  <a:off x="1564"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8" name="Rectangle 264">
                  <a:extLst>
                    <a:ext uri="{FF2B5EF4-FFF2-40B4-BE49-F238E27FC236}">
                      <a16:creationId xmlns:a16="http://schemas.microsoft.com/office/drawing/2014/main" id="{C6AB0E34-6AA9-4D3C-356B-661FC2207705}"/>
                    </a:ext>
                  </a:extLst>
                </p:cNvPr>
                <p:cNvSpPr>
                  <a:spLocks noChangeArrowheads="1"/>
                </p:cNvSpPr>
                <p:nvPr/>
              </p:nvSpPr>
              <p:spPr bwMode="auto">
                <a:xfrm>
                  <a:off x="1570" y="229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9" name="Rectangle 265">
                  <a:extLst>
                    <a:ext uri="{FF2B5EF4-FFF2-40B4-BE49-F238E27FC236}">
                      <a16:creationId xmlns:a16="http://schemas.microsoft.com/office/drawing/2014/main" id="{3A844D0F-F1D4-44CC-A012-728C9EBC40D7}"/>
                    </a:ext>
                  </a:extLst>
                </p:cNvPr>
                <p:cNvSpPr>
                  <a:spLocks noChangeArrowheads="1"/>
                </p:cNvSpPr>
                <p:nvPr/>
              </p:nvSpPr>
              <p:spPr bwMode="auto">
                <a:xfrm>
                  <a:off x="1987"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0" name="Rectangle 266">
                  <a:extLst>
                    <a:ext uri="{FF2B5EF4-FFF2-40B4-BE49-F238E27FC236}">
                      <a16:creationId xmlns:a16="http://schemas.microsoft.com/office/drawing/2014/main" id="{11E2B3FB-09C1-8562-31F3-249077F31282}"/>
                    </a:ext>
                  </a:extLst>
                </p:cNvPr>
                <p:cNvSpPr>
                  <a:spLocks noChangeArrowheads="1"/>
                </p:cNvSpPr>
                <p:nvPr/>
              </p:nvSpPr>
              <p:spPr bwMode="auto">
                <a:xfrm>
                  <a:off x="1993" y="229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1" name="Rectangle 267">
                  <a:extLst>
                    <a:ext uri="{FF2B5EF4-FFF2-40B4-BE49-F238E27FC236}">
                      <a16:creationId xmlns:a16="http://schemas.microsoft.com/office/drawing/2014/main" id="{E2FD2852-9670-8A3D-D3FF-70F2BB99ECE8}"/>
                    </a:ext>
                  </a:extLst>
                </p:cNvPr>
                <p:cNvSpPr>
                  <a:spLocks noChangeArrowheads="1"/>
                </p:cNvSpPr>
                <p:nvPr/>
              </p:nvSpPr>
              <p:spPr bwMode="auto">
                <a:xfrm>
                  <a:off x="2378"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2" name="Rectangle 268">
                  <a:extLst>
                    <a:ext uri="{FF2B5EF4-FFF2-40B4-BE49-F238E27FC236}">
                      <a16:creationId xmlns:a16="http://schemas.microsoft.com/office/drawing/2014/main" id="{221D0665-4998-BFC0-D0F7-22362C7A23F8}"/>
                    </a:ext>
                  </a:extLst>
                </p:cNvPr>
                <p:cNvSpPr>
                  <a:spLocks noChangeArrowheads="1"/>
                </p:cNvSpPr>
                <p:nvPr/>
              </p:nvSpPr>
              <p:spPr bwMode="auto">
                <a:xfrm>
                  <a:off x="2384"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3" name="Rectangle 269">
                  <a:extLst>
                    <a:ext uri="{FF2B5EF4-FFF2-40B4-BE49-F238E27FC236}">
                      <a16:creationId xmlns:a16="http://schemas.microsoft.com/office/drawing/2014/main" id="{364E8B1F-8976-4E1E-B118-597F909FCDB8}"/>
                    </a:ext>
                  </a:extLst>
                </p:cNvPr>
                <p:cNvSpPr>
                  <a:spLocks noChangeArrowheads="1"/>
                </p:cNvSpPr>
                <p:nvPr/>
              </p:nvSpPr>
              <p:spPr bwMode="auto">
                <a:xfrm>
                  <a:off x="2785"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4" name="Rectangle 270">
                  <a:extLst>
                    <a:ext uri="{FF2B5EF4-FFF2-40B4-BE49-F238E27FC236}">
                      <a16:creationId xmlns:a16="http://schemas.microsoft.com/office/drawing/2014/main" id="{B8FE3CF8-9F84-C40A-A0AB-40ED50100ECB}"/>
                    </a:ext>
                  </a:extLst>
                </p:cNvPr>
                <p:cNvSpPr>
                  <a:spLocks noChangeArrowheads="1"/>
                </p:cNvSpPr>
                <p:nvPr/>
              </p:nvSpPr>
              <p:spPr bwMode="auto">
                <a:xfrm>
                  <a:off x="2791"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5" name="Rectangle 271">
                  <a:extLst>
                    <a:ext uri="{FF2B5EF4-FFF2-40B4-BE49-F238E27FC236}">
                      <a16:creationId xmlns:a16="http://schemas.microsoft.com/office/drawing/2014/main" id="{8457A553-689C-6578-1919-E28B1A8A7D8E}"/>
                    </a:ext>
                  </a:extLst>
                </p:cNvPr>
                <p:cNvSpPr>
                  <a:spLocks noChangeArrowheads="1"/>
                </p:cNvSpPr>
                <p:nvPr/>
              </p:nvSpPr>
              <p:spPr bwMode="auto">
                <a:xfrm>
                  <a:off x="3192"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6" name="Rectangle 272">
                  <a:extLst>
                    <a:ext uri="{FF2B5EF4-FFF2-40B4-BE49-F238E27FC236}">
                      <a16:creationId xmlns:a16="http://schemas.microsoft.com/office/drawing/2014/main" id="{7B7E6E24-DD21-048D-6A68-1289170A1FCF}"/>
                    </a:ext>
                  </a:extLst>
                </p:cNvPr>
                <p:cNvSpPr>
                  <a:spLocks noChangeArrowheads="1"/>
                </p:cNvSpPr>
                <p:nvPr/>
              </p:nvSpPr>
              <p:spPr bwMode="auto">
                <a:xfrm>
                  <a:off x="3198"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7" name="Rectangle 273">
                  <a:extLst>
                    <a:ext uri="{FF2B5EF4-FFF2-40B4-BE49-F238E27FC236}">
                      <a16:creationId xmlns:a16="http://schemas.microsoft.com/office/drawing/2014/main" id="{E2585EF3-DE80-23CB-B435-C29366C34FB8}"/>
                    </a:ext>
                  </a:extLst>
                </p:cNvPr>
                <p:cNvSpPr>
                  <a:spLocks noChangeArrowheads="1"/>
                </p:cNvSpPr>
                <p:nvPr/>
              </p:nvSpPr>
              <p:spPr bwMode="auto">
                <a:xfrm>
                  <a:off x="3599"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8" name="Rectangle 274">
                  <a:extLst>
                    <a:ext uri="{FF2B5EF4-FFF2-40B4-BE49-F238E27FC236}">
                      <a16:creationId xmlns:a16="http://schemas.microsoft.com/office/drawing/2014/main" id="{5E16F493-5007-AD1E-6DF4-4260CC535FAE}"/>
                    </a:ext>
                  </a:extLst>
                </p:cNvPr>
                <p:cNvSpPr>
                  <a:spLocks noChangeArrowheads="1"/>
                </p:cNvSpPr>
                <p:nvPr/>
              </p:nvSpPr>
              <p:spPr bwMode="auto">
                <a:xfrm>
                  <a:off x="3605" y="229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9" name="Rectangle 275">
                  <a:extLst>
                    <a:ext uri="{FF2B5EF4-FFF2-40B4-BE49-F238E27FC236}">
                      <a16:creationId xmlns:a16="http://schemas.microsoft.com/office/drawing/2014/main" id="{949BD480-C1A0-CAF3-3B4F-54D65BE18A24}"/>
                    </a:ext>
                  </a:extLst>
                </p:cNvPr>
                <p:cNvSpPr>
                  <a:spLocks noChangeArrowheads="1"/>
                </p:cNvSpPr>
                <p:nvPr/>
              </p:nvSpPr>
              <p:spPr bwMode="auto">
                <a:xfrm>
                  <a:off x="4004"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0" name="Rectangle 276">
                  <a:extLst>
                    <a:ext uri="{FF2B5EF4-FFF2-40B4-BE49-F238E27FC236}">
                      <a16:creationId xmlns:a16="http://schemas.microsoft.com/office/drawing/2014/main" id="{D54C125D-9C33-BF0F-591F-0637140B057D}"/>
                    </a:ext>
                  </a:extLst>
                </p:cNvPr>
                <p:cNvSpPr>
                  <a:spLocks noChangeArrowheads="1"/>
                </p:cNvSpPr>
                <p:nvPr/>
              </p:nvSpPr>
              <p:spPr bwMode="auto">
                <a:xfrm>
                  <a:off x="4010"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1" name="Rectangle 277">
                  <a:extLst>
                    <a:ext uri="{FF2B5EF4-FFF2-40B4-BE49-F238E27FC236}">
                      <a16:creationId xmlns:a16="http://schemas.microsoft.com/office/drawing/2014/main" id="{776D87D8-FABA-BFE8-02D4-F1FA55DCFEF3}"/>
                    </a:ext>
                  </a:extLst>
                </p:cNvPr>
                <p:cNvSpPr>
                  <a:spLocks noChangeArrowheads="1"/>
                </p:cNvSpPr>
                <p:nvPr/>
              </p:nvSpPr>
              <p:spPr bwMode="auto">
                <a:xfrm>
                  <a:off x="4411"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2" name="Rectangle 278">
                  <a:extLst>
                    <a:ext uri="{FF2B5EF4-FFF2-40B4-BE49-F238E27FC236}">
                      <a16:creationId xmlns:a16="http://schemas.microsoft.com/office/drawing/2014/main" id="{A9AD5F2E-1FA0-18EC-9835-ED7CDE0D1731}"/>
                    </a:ext>
                  </a:extLst>
                </p:cNvPr>
                <p:cNvSpPr>
                  <a:spLocks noChangeArrowheads="1"/>
                </p:cNvSpPr>
                <p:nvPr/>
              </p:nvSpPr>
              <p:spPr bwMode="auto">
                <a:xfrm>
                  <a:off x="4417"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3" name="Rectangle 279">
                  <a:extLst>
                    <a:ext uri="{FF2B5EF4-FFF2-40B4-BE49-F238E27FC236}">
                      <a16:creationId xmlns:a16="http://schemas.microsoft.com/office/drawing/2014/main" id="{3C1C2EB5-670D-CE87-3DCF-BF55914EB04E}"/>
                    </a:ext>
                  </a:extLst>
                </p:cNvPr>
                <p:cNvSpPr>
                  <a:spLocks noChangeArrowheads="1"/>
                </p:cNvSpPr>
                <p:nvPr/>
              </p:nvSpPr>
              <p:spPr bwMode="auto">
                <a:xfrm>
                  <a:off x="4818"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4" name="Rectangle 280">
                  <a:extLst>
                    <a:ext uri="{FF2B5EF4-FFF2-40B4-BE49-F238E27FC236}">
                      <a16:creationId xmlns:a16="http://schemas.microsoft.com/office/drawing/2014/main" id="{FF59AC22-0D65-98E3-6AE8-F773CC9A4DC9}"/>
                    </a:ext>
                  </a:extLst>
                </p:cNvPr>
                <p:cNvSpPr>
                  <a:spLocks noChangeArrowheads="1"/>
                </p:cNvSpPr>
                <p:nvPr/>
              </p:nvSpPr>
              <p:spPr bwMode="auto">
                <a:xfrm>
                  <a:off x="4824"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5" name="Rectangle 281">
                  <a:extLst>
                    <a:ext uri="{FF2B5EF4-FFF2-40B4-BE49-F238E27FC236}">
                      <a16:creationId xmlns:a16="http://schemas.microsoft.com/office/drawing/2014/main" id="{CD2E99BE-957F-4E54-D5E3-38348D6BF8AC}"/>
                    </a:ext>
                  </a:extLst>
                </p:cNvPr>
                <p:cNvSpPr>
                  <a:spLocks noChangeArrowheads="1"/>
                </p:cNvSpPr>
                <p:nvPr/>
              </p:nvSpPr>
              <p:spPr bwMode="auto">
                <a:xfrm>
                  <a:off x="5225"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6" name="Rectangle 282">
                  <a:extLst>
                    <a:ext uri="{FF2B5EF4-FFF2-40B4-BE49-F238E27FC236}">
                      <a16:creationId xmlns:a16="http://schemas.microsoft.com/office/drawing/2014/main" id="{81694AE7-3C38-C60B-8784-83BE9532CB12}"/>
                    </a:ext>
                  </a:extLst>
                </p:cNvPr>
                <p:cNvSpPr>
                  <a:spLocks noChangeArrowheads="1"/>
                </p:cNvSpPr>
                <p:nvPr/>
              </p:nvSpPr>
              <p:spPr bwMode="auto">
                <a:xfrm>
                  <a:off x="346"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7" name="Rectangle 283">
                  <a:extLst>
                    <a:ext uri="{FF2B5EF4-FFF2-40B4-BE49-F238E27FC236}">
                      <a16:creationId xmlns:a16="http://schemas.microsoft.com/office/drawing/2014/main" id="{12778A00-65EF-5DE5-9190-16A53F01175F}"/>
                    </a:ext>
                  </a:extLst>
                </p:cNvPr>
                <p:cNvSpPr>
                  <a:spLocks noChangeArrowheads="1"/>
                </p:cNvSpPr>
                <p:nvPr/>
              </p:nvSpPr>
              <p:spPr bwMode="auto">
                <a:xfrm>
                  <a:off x="582"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8" name="Rectangle 284">
                  <a:extLst>
                    <a:ext uri="{FF2B5EF4-FFF2-40B4-BE49-F238E27FC236}">
                      <a16:creationId xmlns:a16="http://schemas.microsoft.com/office/drawing/2014/main" id="{B4072F4B-9269-23D0-9121-FCD9006E5A88}"/>
                    </a:ext>
                  </a:extLst>
                </p:cNvPr>
                <p:cNvSpPr>
                  <a:spLocks noChangeArrowheads="1"/>
                </p:cNvSpPr>
                <p:nvPr/>
              </p:nvSpPr>
              <p:spPr bwMode="auto">
                <a:xfrm>
                  <a:off x="1157"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9" name="Rectangle 285">
                  <a:extLst>
                    <a:ext uri="{FF2B5EF4-FFF2-40B4-BE49-F238E27FC236}">
                      <a16:creationId xmlns:a16="http://schemas.microsoft.com/office/drawing/2014/main" id="{B003098F-57E4-DAD4-F35B-9F11686B8323}"/>
                    </a:ext>
                  </a:extLst>
                </p:cNvPr>
                <p:cNvSpPr>
                  <a:spLocks noChangeArrowheads="1"/>
                </p:cNvSpPr>
                <p:nvPr/>
              </p:nvSpPr>
              <p:spPr bwMode="auto">
                <a:xfrm>
                  <a:off x="1564"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0" name="Rectangle 286">
                  <a:extLst>
                    <a:ext uri="{FF2B5EF4-FFF2-40B4-BE49-F238E27FC236}">
                      <a16:creationId xmlns:a16="http://schemas.microsoft.com/office/drawing/2014/main" id="{FB230610-5821-D6A2-BBC7-B6BF40B645A8}"/>
                    </a:ext>
                  </a:extLst>
                </p:cNvPr>
                <p:cNvSpPr>
                  <a:spLocks noChangeArrowheads="1"/>
                </p:cNvSpPr>
                <p:nvPr/>
              </p:nvSpPr>
              <p:spPr bwMode="auto">
                <a:xfrm>
                  <a:off x="1987"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1" name="Rectangle 287">
                  <a:extLst>
                    <a:ext uri="{FF2B5EF4-FFF2-40B4-BE49-F238E27FC236}">
                      <a16:creationId xmlns:a16="http://schemas.microsoft.com/office/drawing/2014/main" id="{2CBB2045-235C-2462-B4B8-F9F8DC7CD604}"/>
                    </a:ext>
                  </a:extLst>
                </p:cNvPr>
                <p:cNvSpPr>
                  <a:spLocks noChangeArrowheads="1"/>
                </p:cNvSpPr>
                <p:nvPr/>
              </p:nvSpPr>
              <p:spPr bwMode="auto">
                <a:xfrm>
                  <a:off x="2378"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2" name="Rectangle 288">
                  <a:extLst>
                    <a:ext uri="{FF2B5EF4-FFF2-40B4-BE49-F238E27FC236}">
                      <a16:creationId xmlns:a16="http://schemas.microsoft.com/office/drawing/2014/main" id="{4CAD2007-A394-059C-5AE4-453DE6B1EADC}"/>
                    </a:ext>
                  </a:extLst>
                </p:cNvPr>
                <p:cNvSpPr>
                  <a:spLocks noChangeArrowheads="1"/>
                </p:cNvSpPr>
                <p:nvPr/>
              </p:nvSpPr>
              <p:spPr bwMode="auto">
                <a:xfrm>
                  <a:off x="2785"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3" name="Rectangle 289">
                  <a:extLst>
                    <a:ext uri="{FF2B5EF4-FFF2-40B4-BE49-F238E27FC236}">
                      <a16:creationId xmlns:a16="http://schemas.microsoft.com/office/drawing/2014/main" id="{8AD2F477-2633-E81D-9459-C366DDDBCB6D}"/>
                    </a:ext>
                  </a:extLst>
                </p:cNvPr>
                <p:cNvSpPr>
                  <a:spLocks noChangeArrowheads="1"/>
                </p:cNvSpPr>
                <p:nvPr/>
              </p:nvSpPr>
              <p:spPr bwMode="auto">
                <a:xfrm>
                  <a:off x="3192"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4" name="Rectangle 290">
                  <a:extLst>
                    <a:ext uri="{FF2B5EF4-FFF2-40B4-BE49-F238E27FC236}">
                      <a16:creationId xmlns:a16="http://schemas.microsoft.com/office/drawing/2014/main" id="{3AD61A85-BE08-4E00-4E0A-F35B0DBB8E60}"/>
                    </a:ext>
                  </a:extLst>
                </p:cNvPr>
                <p:cNvSpPr>
                  <a:spLocks noChangeArrowheads="1"/>
                </p:cNvSpPr>
                <p:nvPr/>
              </p:nvSpPr>
              <p:spPr bwMode="auto">
                <a:xfrm>
                  <a:off x="3599"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5" name="Rectangle 291">
                  <a:extLst>
                    <a:ext uri="{FF2B5EF4-FFF2-40B4-BE49-F238E27FC236}">
                      <a16:creationId xmlns:a16="http://schemas.microsoft.com/office/drawing/2014/main" id="{2D45A61F-83B9-4863-FD47-8C0094975448}"/>
                    </a:ext>
                  </a:extLst>
                </p:cNvPr>
                <p:cNvSpPr>
                  <a:spLocks noChangeArrowheads="1"/>
                </p:cNvSpPr>
                <p:nvPr/>
              </p:nvSpPr>
              <p:spPr bwMode="auto">
                <a:xfrm>
                  <a:off x="4004"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6" name="Rectangle 292">
                  <a:extLst>
                    <a:ext uri="{FF2B5EF4-FFF2-40B4-BE49-F238E27FC236}">
                      <a16:creationId xmlns:a16="http://schemas.microsoft.com/office/drawing/2014/main" id="{50F563E6-B96B-EFE2-0CDB-ACF2B76D618B}"/>
                    </a:ext>
                  </a:extLst>
                </p:cNvPr>
                <p:cNvSpPr>
                  <a:spLocks noChangeArrowheads="1"/>
                </p:cNvSpPr>
                <p:nvPr/>
              </p:nvSpPr>
              <p:spPr bwMode="auto">
                <a:xfrm>
                  <a:off x="4411"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7" name="Rectangle 293">
                  <a:extLst>
                    <a:ext uri="{FF2B5EF4-FFF2-40B4-BE49-F238E27FC236}">
                      <a16:creationId xmlns:a16="http://schemas.microsoft.com/office/drawing/2014/main" id="{24DE4BC0-062E-0559-2A96-5629CB1ECA78}"/>
                    </a:ext>
                  </a:extLst>
                </p:cNvPr>
                <p:cNvSpPr>
                  <a:spLocks noChangeArrowheads="1"/>
                </p:cNvSpPr>
                <p:nvPr/>
              </p:nvSpPr>
              <p:spPr bwMode="auto">
                <a:xfrm>
                  <a:off x="4818"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8" name="Rectangle 294">
                  <a:extLst>
                    <a:ext uri="{FF2B5EF4-FFF2-40B4-BE49-F238E27FC236}">
                      <a16:creationId xmlns:a16="http://schemas.microsoft.com/office/drawing/2014/main" id="{5EF21B22-8B6A-61F2-CD2D-FDE182355E4D}"/>
                    </a:ext>
                  </a:extLst>
                </p:cNvPr>
                <p:cNvSpPr>
                  <a:spLocks noChangeArrowheads="1"/>
                </p:cNvSpPr>
                <p:nvPr/>
              </p:nvSpPr>
              <p:spPr bwMode="auto">
                <a:xfrm>
                  <a:off x="5225"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9" name="Rectangle 295">
                  <a:extLst>
                    <a:ext uri="{FF2B5EF4-FFF2-40B4-BE49-F238E27FC236}">
                      <a16:creationId xmlns:a16="http://schemas.microsoft.com/office/drawing/2014/main" id="{630DA4A3-65D8-204F-5B9B-0392E2D3F1D5}"/>
                    </a:ext>
                  </a:extLst>
                </p:cNvPr>
                <p:cNvSpPr>
                  <a:spLocks noChangeArrowheads="1"/>
                </p:cNvSpPr>
                <p:nvPr/>
              </p:nvSpPr>
              <p:spPr bwMode="auto">
                <a:xfrm>
                  <a:off x="393" y="2303"/>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5</a:t>
                  </a:r>
                </a:p>
              </p:txBody>
            </p:sp>
            <p:sp>
              <p:nvSpPr>
                <p:cNvPr id="320" name="Rectangle 296">
                  <a:extLst>
                    <a:ext uri="{FF2B5EF4-FFF2-40B4-BE49-F238E27FC236}">
                      <a16:creationId xmlns:a16="http://schemas.microsoft.com/office/drawing/2014/main" id="{2D8C18F9-5C82-E486-A9EE-81A521E6A6C7}"/>
                    </a:ext>
                  </a:extLst>
                </p:cNvPr>
                <p:cNvSpPr>
                  <a:spLocks noChangeArrowheads="1"/>
                </p:cNvSpPr>
                <p:nvPr/>
              </p:nvSpPr>
              <p:spPr bwMode="auto">
                <a:xfrm>
                  <a:off x="708" y="2303"/>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330033</a:t>
                  </a:r>
                </a:p>
              </p:txBody>
            </p:sp>
            <p:sp>
              <p:nvSpPr>
                <p:cNvPr id="321" name="Rectangle 297">
                  <a:extLst>
                    <a:ext uri="{FF2B5EF4-FFF2-40B4-BE49-F238E27FC236}">
                      <a16:creationId xmlns:a16="http://schemas.microsoft.com/office/drawing/2014/main" id="{B436DCA8-D207-C12E-A21A-231ECE21E81D}"/>
                    </a:ext>
                  </a:extLst>
                </p:cNvPr>
                <p:cNvSpPr>
                  <a:spLocks noChangeArrowheads="1"/>
                </p:cNvSpPr>
                <p:nvPr/>
              </p:nvSpPr>
              <p:spPr bwMode="auto">
                <a:xfrm>
                  <a:off x="1272" y="2303"/>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48</a:t>
                  </a:r>
                </a:p>
              </p:txBody>
            </p:sp>
            <p:sp>
              <p:nvSpPr>
                <p:cNvPr id="322" name="Rectangle 298">
                  <a:extLst>
                    <a:ext uri="{FF2B5EF4-FFF2-40B4-BE49-F238E27FC236}">
                      <a16:creationId xmlns:a16="http://schemas.microsoft.com/office/drawing/2014/main" id="{E3C99742-FF42-6F5B-4F55-BC395AFCF998}"/>
                    </a:ext>
                  </a:extLst>
                </p:cNvPr>
                <p:cNvSpPr>
                  <a:spLocks noChangeArrowheads="1"/>
                </p:cNvSpPr>
                <p:nvPr/>
              </p:nvSpPr>
              <p:spPr bwMode="auto">
                <a:xfrm>
                  <a:off x="1704" y="2303"/>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a:t>
                  </a:r>
                </a:p>
              </p:txBody>
            </p:sp>
            <p:sp>
              <p:nvSpPr>
                <p:cNvPr id="323" name="Rectangle 299">
                  <a:extLst>
                    <a:ext uri="{FF2B5EF4-FFF2-40B4-BE49-F238E27FC236}">
                      <a16:creationId xmlns:a16="http://schemas.microsoft.com/office/drawing/2014/main" id="{FEEAB6A0-9089-F219-1DE6-4B6CD237C179}"/>
                    </a:ext>
                  </a:extLst>
                </p:cNvPr>
                <p:cNvSpPr>
                  <a:spLocks noChangeArrowheads="1"/>
                </p:cNvSpPr>
                <p:nvPr/>
              </p:nvSpPr>
              <p:spPr bwMode="auto">
                <a:xfrm>
                  <a:off x="2079"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4" name="Rectangle 300">
                  <a:extLst>
                    <a:ext uri="{FF2B5EF4-FFF2-40B4-BE49-F238E27FC236}">
                      <a16:creationId xmlns:a16="http://schemas.microsoft.com/office/drawing/2014/main" id="{E21F1C93-3C11-ECBF-E875-D08B4B4B83DD}"/>
                    </a:ext>
                  </a:extLst>
                </p:cNvPr>
                <p:cNvSpPr>
                  <a:spLocks noChangeArrowheads="1"/>
                </p:cNvSpPr>
                <p:nvPr/>
              </p:nvSpPr>
              <p:spPr bwMode="auto">
                <a:xfrm>
                  <a:off x="2883"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5" name="Rectangle 301">
                  <a:extLst>
                    <a:ext uri="{FF2B5EF4-FFF2-40B4-BE49-F238E27FC236}">
                      <a16:creationId xmlns:a16="http://schemas.microsoft.com/office/drawing/2014/main" id="{4EF8C866-9960-D199-7317-349A92727471}"/>
                    </a:ext>
                  </a:extLst>
                </p:cNvPr>
                <p:cNvSpPr>
                  <a:spLocks noChangeArrowheads="1"/>
                </p:cNvSpPr>
                <p:nvPr/>
              </p:nvSpPr>
              <p:spPr bwMode="auto">
                <a:xfrm>
                  <a:off x="3290"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326" name="Rectangle 302">
                  <a:extLst>
                    <a:ext uri="{FF2B5EF4-FFF2-40B4-BE49-F238E27FC236}">
                      <a16:creationId xmlns:a16="http://schemas.microsoft.com/office/drawing/2014/main" id="{C272AA07-AE26-F3F8-91C3-DC75E6905D74}"/>
                    </a:ext>
                  </a:extLst>
                </p:cNvPr>
                <p:cNvSpPr>
                  <a:spLocks noChangeArrowheads="1"/>
                </p:cNvSpPr>
                <p:nvPr/>
              </p:nvSpPr>
              <p:spPr bwMode="auto">
                <a:xfrm>
                  <a:off x="3697" y="2409"/>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7" name="Rectangle 303">
                  <a:extLst>
                    <a:ext uri="{FF2B5EF4-FFF2-40B4-BE49-F238E27FC236}">
                      <a16:creationId xmlns:a16="http://schemas.microsoft.com/office/drawing/2014/main" id="{2EA7FE4D-7E8E-3A9E-44C6-2B781C5984C6}"/>
                    </a:ext>
                  </a:extLst>
                </p:cNvPr>
                <p:cNvSpPr>
                  <a:spLocks noChangeArrowheads="1"/>
                </p:cNvSpPr>
                <p:nvPr/>
              </p:nvSpPr>
              <p:spPr bwMode="auto">
                <a:xfrm>
                  <a:off x="4104"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8" name="Rectangle 304">
                  <a:extLst>
                    <a:ext uri="{FF2B5EF4-FFF2-40B4-BE49-F238E27FC236}">
                      <a16:creationId xmlns:a16="http://schemas.microsoft.com/office/drawing/2014/main" id="{24FDCDEE-7D8A-05D0-0DE0-AD51C5CA0F64}"/>
                    </a:ext>
                  </a:extLst>
                </p:cNvPr>
                <p:cNvSpPr>
                  <a:spLocks noChangeArrowheads="1"/>
                </p:cNvSpPr>
                <p:nvPr/>
              </p:nvSpPr>
              <p:spPr bwMode="auto">
                <a:xfrm>
                  <a:off x="4511"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9" name="Rectangle 305">
                  <a:extLst>
                    <a:ext uri="{FF2B5EF4-FFF2-40B4-BE49-F238E27FC236}">
                      <a16:creationId xmlns:a16="http://schemas.microsoft.com/office/drawing/2014/main" id="{568CE3BD-DE7F-7C94-A792-F852E0E05F74}"/>
                    </a:ext>
                  </a:extLst>
                </p:cNvPr>
                <p:cNvSpPr>
                  <a:spLocks noChangeArrowheads="1"/>
                </p:cNvSpPr>
                <p:nvPr/>
              </p:nvSpPr>
              <p:spPr bwMode="auto">
                <a:xfrm>
                  <a:off x="4918"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30" name="Rectangle 306">
                  <a:extLst>
                    <a:ext uri="{FF2B5EF4-FFF2-40B4-BE49-F238E27FC236}">
                      <a16:creationId xmlns:a16="http://schemas.microsoft.com/office/drawing/2014/main" id="{FBCF87C6-E10C-1D40-22E6-89DDE017B808}"/>
                    </a:ext>
                  </a:extLst>
                </p:cNvPr>
                <p:cNvSpPr>
                  <a:spLocks noChangeArrowheads="1"/>
                </p:cNvSpPr>
                <p:nvPr/>
              </p:nvSpPr>
              <p:spPr bwMode="auto">
                <a:xfrm>
                  <a:off x="346"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1" name="Rectangle 307">
                  <a:extLst>
                    <a:ext uri="{FF2B5EF4-FFF2-40B4-BE49-F238E27FC236}">
                      <a16:creationId xmlns:a16="http://schemas.microsoft.com/office/drawing/2014/main" id="{87C01895-C9B2-551E-540F-57B50106D38F}"/>
                    </a:ext>
                  </a:extLst>
                </p:cNvPr>
                <p:cNvSpPr>
                  <a:spLocks noChangeArrowheads="1"/>
                </p:cNvSpPr>
                <p:nvPr/>
              </p:nvSpPr>
              <p:spPr bwMode="auto">
                <a:xfrm>
                  <a:off x="351" y="2570"/>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2" name="Rectangle 308">
                  <a:extLst>
                    <a:ext uri="{FF2B5EF4-FFF2-40B4-BE49-F238E27FC236}">
                      <a16:creationId xmlns:a16="http://schemas.microsoft.com/office/drawing/2014/main" id="{2ED39329-EE15-569B-3085-0DFEA5BAEBF7}"/>
                    </a:ext>
                  </a:extLst>
                </p:cNvPr>
                <p:cNvSpPr>
                  <a:spLocks noChangeArrowheads="1"/>
                </p:cNvSpPr>
                <p:nvPr/>
              </p:nvSpPr>
              <p:spPr bwMode="auto">
                <a:xfrm>
                  <a:off x="582"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3" name="Rectangle 309">
                  <a:extLst>
                    <a:ext uri="{FF2B5EF4-FFF2-40B4-BE49-F238E27FC236}">
                      <a16:creationId xmlns:a16="http://schemas.microsoft.com/office/drawing/2014/main" id="{B002EC59-8C26-CB6C-EE65-A3DC0967E08A}"/>
                    </a:ext>
                  </a:extLst>
                </p:cNvPr>
                <p:cNvSpPr>
                  <a:spLocks noChangeArrowheads="1"/>
                </p:cNvSpPr>
                <p:nvPr/>
              </p:nvSpPr>
              <p:spPr bwMode="auto">
                <a:xfrm>
                  <a:off x="587" y="2570"/>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4" name="Rectangle 310">
                  <a:extLst>
                    <a:ext uri="{FF2B5EF4-FFF2-40B4-BE49-F238E27FC236}">
                      <a16:creationId xmlns:a16="http://schemas.microsoft.com/office/drawing/2014/main" id="{D47F390D-3633-D510-2E62-2A93B971AEBC}"/>
                    </a:ext>
                  </a:extLst>
                </p:cNvPr>
                <p:cNvSpPr>
                  <a:spLocks noChangeArrowheads="1"/>
                </p:cNvSpPr>
                <p:nvPr/>
              </p:nvSpPr>
              <p:spPr bwMode="auto">
                <a:xfrm>
                  <a:off x="1157"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5" name="Rectangle 311">
                  <a:extLst>
                    <a:ext uri="{FF2B5EF4-FFF2-40B4-BE49-F238E27FC236}">
                      <a16:creationId xmlns:a16="http://schemas.microsoft.com/office/drawing/2014/main" id="{400FE077-47B8-D314-A50F-207ECCB51B24}"/>
                    </a:ext>
                  </a:extLst>
                </p:cNvPr>
                <p:cNvSpPr>
                  <a:spLocks noChangeArrowheads="1"/>
                </p:cNvSpPr>
                <p:nvPr/>
              </p:nvSpPr>
              <p:spPr bwMode="auto">
                <a:xfrm>
                  <a:off x="1163"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6" name="Rectangle 312">
                  <a:extLst>
                    <a:ext uri="{FF2B5EF4-FFF2-40B4-BE49-F238E27FC236}">
                      <a16:creationId xmlns:a16="http://schemas.microsoft.com/office/drawing/2014/main" id="{758EA90D-9F44-0C3E-01D5-88D37921D701}"/>
                    </a:ext>
                  </a:extLst>
                </p:cNvPr>
                <p:cNvSpPr>
                  <a:spLocks noChangeArrowheads="1"/>
                </p:cNvSpPr>
                <p:nvPr/>
              </p:nvSpPr>
              <p:spPr bwMode="auto">
                <a:xfrm>
                  <a:off x="1564"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7" name="Rectangle 313">
                  <a:extLst>
                    <a:ext uri="{FF2B5EF4-FFF2-40B4-BE49-F238E27FC236}">
                      <a16:creationId xmlns:a16="http://schemas.microsoft.com/office/drawing/2014/main" id="{D50A06E1-BA70-8D09-BC03-72B66934A3FF}"/>
                    </a:ext>
                  </a:extLst>
                </p:cNvPr>
                <p:cNvSpPr>
                  <a:spLocks noChangeArrowheads="1"/>
                </p:cNvSpPr>
                <p:nvPr/>
              </p:nvSpPr>
              <p:spPr bwMode="auto">
                <a:xfrm>
                  <a:off x="1570" y="2570"/>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8" name="Rectangle 314">
                  <a:extLst>
                    <a:ext uri="{FF2B5EF4-FFF2-40B4-BE49-F238E27FC236}">
                      <a16:creationId xmlns:a16="http://schemas.microsoft.com/office/drawing/2014/main" id="{ABE3D244-88B3-BED3-D82F-A063E163681B}"/>
                    </a:ext>
                  </a:extLst>
                </p:cNvPr>
                <p:cNvSpPr>
                  <a:spLocks noChangeArrowheads="1"/>
                </p:cNvSpPr>
                <p:nvPr/>
              </p:nvSpPr>
              <p:spPr bwMode="auto">
                <a:xfrm>
                  <a:off x="1987"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9" name="Rectangle 315">
                  <a:extLst>
                    <a:ext uri="{FF2B5EF4-FFF2-40B4-BE49-F238E27FC236}">
                      <a16:creationId xmlns:a16="http://schemas.microsoft.com/office/drawing/2014/main" id="{3D469490-12FE-C310-E488-439F6175FD4C}"/>
                    </a:ext>
                  </a:extLst>
                </p:cNvPr>
                <p:cNvSpPr>
                  <a:spLocks noChangeArrowheads="1"/>
                </p:cNvSpPr>
                <p:nvPr/>
              </p:nvSpPr>
              <p:spPr bwMode="auto">
                <a:xfrm>
                  <a:off x="1993" y="2570"/>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0" name="Rectangle 316">
                  <a:extLst>
                    <a:ext uri="{FF2B5EF4-FFF2-40B4-BE49-F238E27FC236}">
                      <a16:creationId xmlns:a16="http://schemas.microsoft.com/office/drawing/2014/main" id="{2E861B31-E48A-EDFC-854E-DF1F9EE1E459}"/>
                    </a:ext>
                  </a:extLst>
                </p:cNvPr>
                <p:cNvSpPr>
                  <a:spLocks noChangeArrowheads="1"/>
                </p:cNvSpPr>
                <p:nvPr/>
              </p:nvSpPr>
              <p:spPr bwMode="auto">
                <a:xfrm>
                  <a:off x="2378"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1" name="Rectangle 317">
                  <a:extLst>
                    <a:ext uri="{FF2B5EF4-FFF2-40B4-BE49-F238E27FC236}">
                      <a16:creationId xmlns:a16="http://schemas.microsoft.com/office/drawing/2014/main" id="{B2048CCD-F5FB-6D9E-C603-70E7DF1A1651}"/>
                    </a:ext>
                  </a:extLst>
                </p:cNvPr>
                <p:cNvSpPr>
                  <a:spLocks noChangeArrowheads="1"/>
                </p:cNvSpPr>
                <p:nvPr/>
              </p:nvSpPr>
              <p:spPr bwMode="auto">
                <a:xfrm>
                  <a:off x="2384"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2" name="Rectangle 318">
                  <a:extLst>
                    <a:ext uri="{FF2B5EF4-FFF2-40B4-BE49-F238E27FC236}">
                      <a16:creationId xmlns:a16="http://schemas.microsoft.com/office/drawing/2014/main" id="{05D2C112-6FF0-84B3-5B4A-5BBDEE270995}"/>
                    </a:ext>
                  </a:extLst>
                </p:cNvPr>
                <p:cNvSpPr>
                  <a:spLocks noChangeArrowheads="1"/>
                </p:cNvSpPr>
                <p:nvPr/>
              </p:nvSpPr>
              <p:spPr bwMode="auto">
                <a:xfrm>
                  <a:off x="2785"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3" name="Rectangle 319">
                  <a:extLst>
                    <a:ext uri="{FF2B5EF4-FFF2-40B4-BE49-F238E27FC236}">
                      <a16:creationId xmlns:a16="http://schemas.microsoft.com/office/drawing/2014/main" id="{B3499677-72F5-9BAE-0C58-5FEFAA4577A8}"/>
                    </a:ext>
                  </a:extLst>
                </p:cNvPr>
                <p:cNvSpPr>
                  <a:spLocks noChangeArrowheads="1"/>
                </p:cNvSpPr>
                <p:nvPr/>
              </p:nvSpPr>
              <p:spPr bwMode="auto">
                <a:xfrm>
                  <a:off x="2791"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4" name="Rectangle 320">
                  <a:extLst>
                    <a:ext uri="{FF2B5EF4-FFF2-40B4-BE49-F238E27FC236}">
                      <a16:creationId xmlns:a16="http://schemas.microsoft.com/office/drawing/2014/main" id="{7349680B-3909-03C2-42C3-C60047D0C983}"/>
                    </a:ext>
                  </a:extLst>
                </p:cNvPr>
                <p:cNvSpPr>
                  <a:spLocks noChangeArrowheads="1"/>
                </p:cNvSpPr>
                <p:nvPr/>
              </p:nvSpPr>
              <p:spPr bwMode="auto">
                <a:xfrm>
                  <a:off x="3192"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5" name="Rectangle 321">
                  <a:extLst>
                    <a:ext uri="{FF2B5EF4-FFF2-40B4-BE49-F238E27FC236}">
                      <a16:creationId xmlns:a16="http://schemas.microsoft.com/office/drawing/2014/main" id="{A9761968-BB31-B13F-1358-CA192DDB9B50}"/>
                    </a:ext>
                  </a:extLst>
                </p:cNvPr>
                <p:cNvSpPr>
                  <a:spLocks noChangeArrowheads="1"/>
                </p:cNvSpPr>
                <p:nvPr/>
              </p:nvSpPr>
              <p:spPr bwMode="auto">
                <a:xfrm>
                  <a:off x="3198"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6" name="Rectangle 322">
                  <a:extLst>
                    <a:ext uri="{FF2B5EF4-FFF2-40B4-BE49-F238E27FC236}">
                      <a16:creationId xmlns:a16="http://schemas.microsoft.com/office/drawing/2014/main" id="{C3302BC8-61BE-A80F-2026-9CE99D1557F1}"/>
                    </a:ext>
                  </a:extLst>
                </p:cNvPr>
                <p:cNvSpPr>
                  <a:spLocks noChangeArrowheads="1"/>
                </p:cNvSpPr>
                <p:nvPr/>
              </p:nvSpPr>
              <p:spPr bwMode="auto">
                <a:xfrm>
                  <a:off x="3599"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7" name="Rectangle 323">
                  <a:extLst>
                    <a:ext uri="{FF2B5EF4-FFF2-40B4-BE49-F238E27FC236}">
                      <a16:creationId xmlns:a16="http://schemas.microsoft.com/office/drawing/2014/main" id="{88DB177F-53D4-B472-BB88-1E8ED3A49222}"/>
                    </a:ext>
                  </a:extLst>
                </p:cNvPr>
                <p:cNvSpPr>
                  <a:spLocks noChangeArrowheads="1"/>
                </p:cNvSpPr>
                <p:nvPr/>
              </p:nvSpPr>
              <p:spPr bwMode="auto">
                <a:xfrm>
                  <a:off x="3605" y="2570"/>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8" name="Rectangle 324">
                  <a:extLst>
                    <a:ext uri="{FF2B5EF4-FFF2-40B4-BE49-F238E27FC236}">
                      <a16:creationId xmlns:a16="http://schemas.microsoft.com/office/drawing/2014/main" id="{C59CF3B2-A323-7031-C15C-E7C676092E6C}"/>
                    </a:ext>
                  </a:extLst>
                </p:cNvPr>
                <p:cNvSpPr>
                  <a:spLocks noChangeArrowheads="1"/>
                </p:cNvSpPr>
                <p:nvPr/>
              </p:nvSpPr>
              <p:spPr bwMode="auto">
                <a:xfrm>
                  <a:off x="4004"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9" name="Rectangle 325">
                  <a:extLst>
                    <a:ext uri="{FF2B5EF4-FFF2-40B4-BE49-F238E27FC236}">
                      <a16:creationId xmlns:a16="http://schemas.microsoft.com/office/drawing/2014/main" id="{B7415A4E-7A23-9697-0853-D8C76EB46BB2}"/>
                    </a:ext>
                  </a:extLst>
                </p:cNvPr>
                <p:cNvSpPr>
                  <a:spLocks noChangeArrowheads="1"/>
                </p:cNvSpPr>
                <p:nvPr/>
              </p:nvSpPr>
              <p:spPr bwMode="auto">
                <a:xfrm>
                  <a:off x="4010"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0" name="Rectangle 326">
                  <a:extLst>
                    <a:ext uri="{FF2B5EF4-FFF2-40B4-BE49-F238E27FC236}">
                      <a16:creationId xmlns:a16="http://schemas.microsoft.com/office/drawing/2014/main" id="{90AE8CB4-667E-37C8-4352-92A5D33AA283}"/>
                    </a:ext>
                  </a:extLst>
                </p:cNvPr>
                <p:cNvSpPr>
                  <a:spLocks noChangeArrowheads="1"/>
                </p:cNvSpPr>
                <p:nvPr/>
              </p:nvSpPr>
              <p:spPr bwMode="auto">
                <a:xfrm>
                  <a:off x="4411"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1" name="Rectangle 327">
                  <a:extLst>
                    <a:ext uri="{FF2B5EF4-FFF2-40B4-BE49-F238E27FC236}">
                      <a16:creationId xmlns:a16="http://schemas.microsoft.com/office/drawing/2014/main" id="{82B94611-1954-FC8E-C941-2E20B620289D}"/>
                    </a:ext>
                  </a:extLst>
                </p:cNvPr>
                <p:cNvSpPr>
                  <a:spLocks noChangeArrowheads="1"/>
                </p:cNvSpPr>
                <p:nvPr/>
              </p:nvSpPr>
              <p:spPr bwMode="auto">
                <a:xfrm>
                  <a:off x="4417"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2" name="Rectangle 328">
                  <a:extLst>
                    <a:ext uri="{FF2B5EF4-FFF2-40B4-BE49-F238E27FC236}">
                      <a16:creationId xmlns:a16="http://schemas.microsoft.com/office/drawing/2014/main" id="{231B927B-1890-2FAA-8581-4AA2CC776D59}"/>
                    </a:ext>
                  </a:extLst>
                </p:cNvPr>
                <p:cNvSpPr>
                  <a:spLocks noChangeArrowheads="1"/>
                </p:cNvSpPr>
                <p:nvPr/>
              </p:nvSpPr>
              <p:spPr bwMode="auto">
                <a:xfrm>
                  <a:off x="4818"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3" name="Rectangle 329">
                  <a:extLst>
                    <a:ext uri="{FF2B5EF4-FFF2-40B4-BE49-F238E27FC236}">
                      <a16:creationId xmlns:a16="http://schemas.microsoft.com/office/drawing/2014/main" id="{55C8E9DD-8B62-B923-7FCD-AA9BF643363C}"/>
                    </a:ext>
                  </a:extLst>
                </p:cNvPr>
                <p:cNvSpPr>
                  <a:spLocks noChangeArrowheads="1"/>
                </p:cNvSpPr>
                <p:nvPr/>
              </p:nvSpPr>
              <p:spPr bwMode="auto">
                <a:xfrm>
                  <a:off x="4824"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4" name="Rectangle 330">
                  <a:extLst>
                    <a:ext uri="{FF2B5EF4-FFF2-40B4-BE49-F238E27FC236}">
                      <a16:creationId xmlns:a16="http://schemas.microsoft.com/office/drawing/2014/main" id="{08AFA908-E769-1581-B32C-F7782885B69C}"/>
                    </a:ext>
                  </a:extLst>
                </p:cNvPr>
                <p:cNvSpPr>
                  <a:spLocks noChangeArrowheads="1"/>
                </p:cNvSpPr>
                <p:nvPr/>
              </p:nvSpPr>
              <p:spPr bwMode="auto">
                <a:xfrm>
                  <a:off x="5225"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5" name="Rectangle 331">
                  <a:extLst>
                    <a:ext uri="{FF2B5EF4-FFF2-40B4-BE49-F238E27FC236}">
                      <a16:creationId xmlns:a16="http://schemas.microsoft.com/office/drawing/2014/main" id="{7EE9BDC1-4281-95D6-4985-471D9E872BAE}"/>
                    </a:ext>
                  </a:extLst>
                </p:cNvPr>
                <p:cNvSpPr>
                  <a:spLocks noChangeArrowheads="1"/>
                </p:cNvSpPr>
                <p:nvPr/>
              </p:nvSpPr>
              <p:spPr bwMode="auto">
                <a:xfrm>
                  <a:off x="346"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6" name="Rectangle 332">
                  <a:extLst>
                    <a:ext uri="{FF2B5EF4-FFF2-40B4-BE49-F238E27FC236}">
                      <a16:creationId xmlns:a16="http://schemas.microsoft.com/office/drawing/2014/main" id="{25475CD6-E357-8AA8-9D74-7F5391A0004E}"/>
                    </a:ext>
                  </a:extLst>
                </p:cNvPr>
                <p:cNvSpPr>
                  <a:spLocks noChangeArrowheads="1"/>
                </p:cNvSpPr>
                <p:nvPr/>
              </p:nvSpPr>
              <p:spPr bwMode="auto">
                <a:xfrm>
                  <a:off x="582"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7" name="Rectangle 333">
                  <a:extLst>
                    <a:ext uri="{FF2B5EF4-FFF2-40B4-BE49-F238E27FC236}">
                      <a16:creationId xmlns:a16="http://schemas.microsoft.com/office/drawing/2014/main" id="{71F9EDF0-0771-EAB3-1C46-0F5EFA3EDE5D}"/>
                    </a:ext>
                  </a:extLst>
                </p:cNvPr>
                <p:cNvSpPr>
                  <a:spLocks noChangeArrowheads="1"/>
                </p:cNvSpPr>
                <p:nvPr/>
              </p:nvSpPr>
              <p:spPr bwMode="auto">
                <a:xfrm>
                  <a:off x="1157"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8" name="Rectangle 334">
                  <a:extLst>
                    <a:ext uri="{FF2B5EF4-FFF2-40B4-BE49-F238E27FC236}">
                      <a16:creationId xmlns:a16="http://schemas.microsoft.com/office/drawing/2014/main" id="{3551CCFA-D15C-BE8F-956D-A70330A5BBFB}"/>
                    </a:ext>
                  </a:extLst>
                </p:cNvPr>
                <p:cNvSpPr>
                  <a:spLocks noChangeArrowheads="1"/>
                </p:cNvSpPr>
                <p:nvPr/>
              </p:nvSpPr>
              <p:spPr bwMode="auto">
                <a:xfrm>
                  <a:off x="1564"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9" name="Rectangle 335">
                  <a:extLst>
                    <a:ext uri="{FF2B5EF4-FFF2-40B4-BE49-F238E27FC236}">
                      <a16:creationId xmlns:a16="http://schemas.microsoft.com/office/drawing/2014/main" id="{737FBD17-FABB-A37F-E9EF-515F68407B81}"/>
                    </a:ext>
                  </a:extLst>
                </p:cNvPr>
                <p:cNvSpPr>
                  <a:spLocks noChangeArrowheads="1"/>
                </p:cNvSpPr>
                <p:nvPr/>
              </p:nvSpPr>
              <p:spPr bwMode="auto">
                <a:xfrm>
                  <a:off x="1987"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0" name="Rectangle 336">
                  <a:extLst>
                    <a:ext uri="{FF2B5EF4-FFF2-40B4-BE49-F238E27FC236}">
                      <a16:creationId xmlns:a16="http://schemas.microsoft.com/office/drawing/2014/main" id="{7B90AC2B-226C-BD04-7969-19616DEFC345}"/>
                    </a:ext>
                  </a:extLst>
                </p:cNvPr>
                <p:cNvSpPr>
                  <a:spLocks noChangeArrowheads="1"/>
                </p:cNvSpPr>
                <p:nvPr/>
              </p:nvSpPr>
              <p:spPr bwMode="auto">
                <a:xfrm>
                  <a:off x="2378"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1" name="Rectangle 337">
                  <a:extLst>
                    <a:ext uri="{FF2B5EF4-FFF2-40B4-BE49-F238E27FC236}">
                      <a16:creationId xmlns:a16="http://schemas.microsoft.com/office/drawing/2014/main" id="{63D5F94A-9AB1-DDD8-7042-B3D6F2257AC4}"/>
                    </a:ext>
                  </a:extLst>
                </p:cNvPr>
                <p:cNvSpPr>
                  <a:spLocks noChangeArrowheads="1"/>
                </p:cNvSpPr>
                <p:nvPr/>
              </p:nvSpPr>
              <p:spPr bwMode="auto">
                <a:xfrm>
                  <a:off x="2785"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2" name="Rectangle 338">
                  <a:extLst>
                    <a:ext uri="{FF2B5EF4-FFF2-40B4-BE49-F238E27FC236}">
                      <a16:creationId xmlns:a16="http://schemas.microsoft.com/office/drawing/2014/main" id="{E5327DFB-B17E-2D4B-83A7-27AC06EC1054}"/>
                    </a:ext>
                  </a:extLst>
                </p:cNvPr>
                <p:cNvSpPr>
                  <a:spLocks noChangeArrowheads="1"/>
                </p:cNvSpPr>
                <p:nvPr/>
              </p:nvSpPr>
              <p:spPr bwMode="auto">
                <a:xfrm>
                  <a:off x="3192"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3" name="Rectangle 339">
                  <a:extLst>
                    <a:ext uri="{FF2B5EF4-FFF2-40B4-BE49-F238E27FC236}">
                      <a16:creationId xmlns:a16="http://schemas.microsoft.com/office/drawing/2014/main" id="{421F167C-1103-7846-525D-BA5E1FE19AB0}"/>
                    </a:ext>
                  </a:extLst>
                </p:cNvPr>
                <p:cNvSpPr>
                  <a:spLocks noChangeArrowheads="1"/>
                </p:cNvSpPr>
                <p:nvPr/>
              </p:nvSpPr>
              <p:spPr bwMode="auto">
                <a:xfrm>
                  <a:off x="3599"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4" name="Rectangle 340">
                  <a:extLst>
                    <a:ext uri="{FF2B5EF4-FFF2-40B4-BE49-F238E27FC236}">
                      <a16:creationId xmlns:a16="http://schemas.microsoft.com/office/drawing/2014/main" id="{FD15278B-398D-99D3-DCED-CB0F457E328D}"/>
                    </a:ext>
                  </a:extLst>
                </p:cNvPr>
                <p:cNvSpPr>
                  <a:spLocks noChangeArrowheads="1"/>
                </p:cNvSpPr>
                <p:nvPr/>
              </p:nvSpPr>
              <p:spPr bwMode="auto">
                <a:xfrm>
                  <a:off x="4004"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5" name="Rectangle 341">
                  <a:extLst>
                    <a:ext uri="{FF2B5EF4-FFF2-40B4-BE49-F238E27FC236}">
                      <a16:creationId xmlns:a16="http://schemas.microsoft.com/office/drawing/2014/main" id="{C175C6B0-C629-E9F6-1BFB-8612277436D2}"/>
                    </a:ext>
                  </a:extLst>
                </p:cNvPr>
                <p:cNvSpPr>
                  <a:spLocks noChangeArrowheads="1"/>
                </p:cNvSpPr>
                <p:nvPr/>
              </p:nvSpPr>
              <p:spPr bwMode="auto">
                <a:xfrm>
                  <a:off x="4411"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6" name="Rectangle 342">
                  <a:extLst>
                    <a:ext uri="{FF2B5EF4-FFF2-40B4-BE49-F238E27FC236}">
                      <a16:creationId xmlns:a16="http://schemas.microsoft.com/office/drawing/2014/main" id="{494324AA-CE7A-3B76-BFDB-5B1402E59F65}"/>
                    </a:ext>
                  </a:extLst>
                </p:cNvPr>
                <p:cNvSpPr>
                  <a:spLocks noChangeArrowheads="1"/>
                </p:cNvSpPr>
                <p:nvPr/>
              </p:nvSpPr>
              <p:spPr bwMode="auto">
                <a:xfrm>
                  <a:off x="4818"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7" name="Rectangle 343">
                  <a:extLst>
                    <a:ext uri="{FF2B5EF4-FFF2-40B4-BE49-F238E27FC236}">
                      <a16:creationId xmlns:a16="http://schemas.microsoft.com/office/drawing/2014/main" id="{72AC9618-6783-CC64-F542-5342D503D34F}"/>
                    </a:ext>
                  </a:extLst>
                </p:cNvPr>
                <p:cNvSpPr>
                  <a:spLocks noChangeArrowheads="1"/>
                </p:cNvSpPr>
                <p:nvPr/>
              </p:nvSpPr>
              <p:spPr bwMode="auto">
                <a:xfrm>
                  <a:off x="5225"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8" name="Rectangle 344">
                  <a:extLst>
                    <a:ext uri="{FF2B5EF4-FFF2-40B4-BE49-F238E27FC236}">
                      <a16:creationId xmlns:a16="http://schemas.microsoft.com/office/drawing/2014/main" id="{782DB213-34CA-5B97-4E96-2B88CE36DF4E}"/>
                    </a:ext>
                  </a:extLst>
                </p:cNvPr>
                <p:cNvSpPr>
                  <a:spLocks noChangeArrowheads="1"/>
                </p:cNvSpPr>
                <p:nvPr/>
              </p:nvSpPr>
              <p:spPr bwMode="auto">
                <a:xfrm>
                  <a:off x="393" y="257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6</a:t>
                  </a:r>
                </a:p>
              </p:txBody>
            </p:sp>
            <p:sp>
              <p:nvSpPr>
                <p:cNvPr id="369" name="Rectangle 345">
                  <a:extLst>
                    <a:ext uri="{FF2B5EF4-FFF2-40B4-BE49-F238E27FC236}">
                      <a16:creationId xmlns:a16="http://schemas.microsoft.com/office/drawing/2014/main" id="{F85A856A-AB24-851E-D9FA-F9D19F6AEBB2}"/>
                    </a:ext>
                  </a:extLst>
                </p:cNvPr>
                <p:cNvSpPr>
                  <a:spLocks noChangeArrowheads="1"/>
                </p:cNvSpPr>
                <p:nvPr/>
              </p:nvSpPr>
              <p:spPr bwMode="auto">
                <a:xfrm>
                  <a:off x="708" y="2576"/>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330003</a:t>
                  </a:r>
                </a:p>
              </p:txBody>
            </p:sp>
            <p:sp>
              <p:nvSpPr>
                <p:cNvPr id="370" name="Rectangle 346">
                  <a:extLst>
                    <a:ext uri="{FF2B5EF4-FFF2-40B4-BE49-F238E27FC236}">
                      <a16:creationId xmlns:a16="http://schemas.microsoft.com/office/drawing/2014/main" id="{3FF58BC0-D553-9EE0-91B0-8C35CAEC2073}"/>
                    </a:ext>
                  </a:extLst>
                </p:cNvPr>
                <p:cNvSpPr>
                  <a:spLocks noChangeArrowheads="1"/>
                </p:cNvSpPr>
                <p:nvPr/>
              </p:nvSpPr>
              <p:spPr bwMode="auto">
                <a:xfrm>
                  <a:off x="1272" y="257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24</a:t>
                  </a:r>
                </a:p>
              </p:txBody>
            </p:sp>
            <p:sp>
              <p:nvSpPr>
                <p:cNvPr id="371" name="Rectangle 347">
                  <a:extLst>
                    <a:ext uri="{FF2B5EF4-FFF2-40B4-BE49-F238E27FC236}">
                      <a16:creationId xmlns:a16="http://schemas.microsoft.com/office/drawing/2014/main" id="{3B6150AD-94FF-6FE1-1517-9DC25C0F27FF}"/>
                    </a:ext>
                  </a:extLst>
                </p:cNvPr>
                <p:cNvSpPr>
                  <a:spLocks noChangeArrowheads="1"/>
                </p:cNvSpPr>
                <p:nvPr/>
              </p:nvSpPr>
              <p:spPr bwMode="auto">
                <a:xfrm>
                  <a:off x="1704" y="257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a:t>
                  </a:r>
                </a:p>
              </p:txBody>
            </p:sp>
            <p:sp>
              <p:nvSpPr>
                <p:cNvPr id="372" name="Rectangle 348">
                  <a:extLst>
                    <a:ext uri="{FF2B5EF4-FFF2-40B4-BE49-F238E27FC236}">
                      <a16:creationId xmlns:a16="http://schemas.microsoft.com/office/drawing/2014/main" id="{AC4D9784-4E10-BCF0-FC47-F0910E95627C}"/>
                    </a:ext>
                  </a:extLst>
                </p:cNvPr>
                <p:cNvSpPr>
                  <a:spLocks noChangeArrowheads="1"/>
                </p:cNvSpPr>
                <p:nvPr/>
              </p:nvSpPr>
              <p:spPr bwMode="auto">
                <a:xfrm>
                  <a:off x="2079"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3" name="Rectangle 349">
                  <a:extLst>
                    <a:ext uri="{FF2B5EF4-FFF2-40B4-BE49-F238E27FC236}">
                      <a16:creationId xmlns:a16="http://schemas.microsoft.com/office/drawing/2014/main" id="{89122757-A883-2C31-FC6B-B45EA86D7986}"/>
                    </a:ext>
                  </a:extLst>
                </p:cNvPr>
                <p:cNvSpPr>
                  <a:spLocks noChangeArrowheads="1"/>
                </p:cNvSpPr>
                <p:nvPr/>
              </p:nvSpPr>
              <p:spPr bwMode="auto">
                <a:xfrm>
                  <a:off x="2883"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4" name="Rectangle 350">
                  <a:extLst>
                    <a:ext uri="{FF2B5EF4-FFF2-40B4-BE49-F238E27FC236}">
                      <a16:creationId xmlns:a16="http://schemas.microsoft.com/office/drawing/2014/main" id="{0D065E59-9942-DDC9-1624-180216DFEA16}"/>
                    </a:ext>
                  </a:extLst>
                </p:cNvPr>
                <p:cNvSpPr>
                  <a:spLocks noChangeArrowheads="1"/>
                </p:cNvSpPr>
                <p:nvPr/>
              </p:nvSpPr>
              <p:spPr bwMode="auto">
                <a:xfrm>
                  <a:off x="3290"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375" name="Rectangle 351">
                  <a:extLst>
                    <a:ext uri="{FF2B5EF4-FFF2-40B4-BE49-F238E27FC236}">
                      <a16:creationId xmlns:a16="http://schemas.microsoft.com/office/drawing/2014/main" id="{C9782F22-77E4-452E-44F1-6BA2F1120FF7}"/>
                    </a:ext>
                  </a:extLst>
                </p:cNvPr>
                <p:cNvSpPr>
                  <a:spLocks noChangeArrowheads="1"/>
                </p:cNvSpPr>
                <p:nvPr/>
              </p:nvSpPr>
              <p:spPr bwMode="auto">
                <a:xfrm>
                  <a:off x="3697"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6" name="Rectangle 352">
                  <a:extLst>
                    <a:ext uri="{FF2B5EF4-FFF2-40B4-BE49-F238E27FC236}">
                      <a16:creationId xmlns:a16="http://schemas.microsoft.com/office/drawing/2014/main" id="{6DDC4766-56F2-8066-E114-2E7D93BCB945}"/>
                    </a:ext>
                  </a:extLst>
                </p:cNvPr>
                <p:cNvSpPr>
                  <a:spLocks noChangeArrowheads="1"/>
                </p:cNvSpPr>
                <p:nvPr/>
              </p:nvSpPr>
              <p:spPr bwMode="auto">
                <a:xfrm>
                  <a:off x="4511"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7" name="Rectangle 353">
                  <a:extLst>
                    <a:ext uri="{FF2B5EF4-FFF2-40B4-BE49-F238E27FC236}">
                      <a16:creationId xmlns:a16="http://schemas.microsoft.com/office/drawing/2014/main" id="{73136DFB-50E7-FC6B-B7C8-558D24E76D0E}"/>
                    </a:ext>
                  </a:extLst>
                </p:cNvPr>
                <p:cNvSpPr>
                  <a:spLocks noChangeArrowheads="1"/>
                </p:cNvSpPr>
                <p:nvPr/>
              </p:nvSpPr>
              <p:spPr bwMode="auto">
                <a:xfrm>
                  <a:off x="4918"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8" name="Rectangle 354">
                  <a:extLst>
                    <a:ext uri="{FF2B5EF4-FFF2-40B4-BE49-F238E27FC236}">
                      <a16:creationId xmlns:a16="http://schemas.microsoft.com/office/drawing/2014/main" id="{179C7FC7-0153-2743-2FB5-89E3360F7DF0}"/>
                    </a:ext>
                  </a:extLst>
                </p:cNvPr>
                <p:cNvSpPr>
                  <a:spLocks noChangeArrowheads="1"/>
                </p:cNvSpPr>
                <p:nvPr/>
              </p:nvSpPr>
              <p:spPr bwMode="auto">
                <a:xfrm>
                  <a:off x="346"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79" name="Rectangle 355">
                  <a:extLst>
                    <a:ext uri="{FF2B5EF4-FFF2-40B4-BE49-F238E27FC236}">
                      <a16:creationId xmlns:a16="http://schemas.microsoft.com/office/drawing/2014/main" id="{BA334029-555E-A4A1-FDDA-5F8D857C830A}"/>
                    </a:ext>
                  </a:extLst>
                </p:cNvPr>
                <p:cNvSpPr>
                  <a:spLocks noChangeArrowheads="1"/>
                </p:cNvSpPr>
                <p:nvPr/>
              </p:nvSpPr>
              <p:spPr bwMode="auto">
                <a:xfrm>
                  <a:off x="351" y="2720"/>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0" name="Rectangle 356">
                  <a:extLst>
                    <a:ext uri="{FF2B5EF4-FFF2-40B4-BE49-F238E27FC236}">
                      <a16:creationId xmlns:a16="http://schemas.microsoft.com/office/drawing/2014/main" id="{F059BF2E-003F-309B-4ACF-A0418A53FAA0}"/>
                    </a:ext>
                  </a:extLst>
                </p:cNvPr>
                <p:cNvSpPr>
                  <a:spLocks noChangeArrowheads="1"/>
                </p:cNvSpPr>
                <p:nvPr/>
              </p:nvSpPr>
              <p:spPr bwMode="auto">
                <a:xfrm>
                  <a:off x="582"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1" name="Rectangle 357">
                  <a:extLst>
                    <a:ext uri="{FF2B5EF4-FFF2-40B4-BE49-F238E27FC236}">
                      <a16:creationId xmlns:a16="http://schemas.microsoft.com/office/drawing/2014/main" id="{16E8352F-ED24-6B07-01B7-FE549C19151E}"/>
                    </a:ext>
                  </a:extLst>
                </p:cNvPr>
                <p:cNvSpPr>
                  <a:spLocks noChangeArrowheads="1"/>
                </p:cNvSpPr>
                <p:nvPr/>
              </p:nvSpPr>
              <p:spPr bwMode="auto">
                <a:xfrm>
                  <a:off x="587" y="2720"/>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2" name="Rectangle 358">
                  <a:extLst>
                    <a:ext uri="{FF2B5EF4-FFF2-40B4-BE49-F238E27FC236}">
                      <a16:creationId xmlns:a16="http://schemas.microsoft.com/office/drawing/2014/main" id="{F5BC8443-0F24-A453-19FB-2615EAA4EE3B}"/>
                    </a:ext>
                  </a:extLst>
                </p:cNvPr>
                <p:cNvSpPr>
                  <a:spLocks noChangeArrowheads="1"/>
                </p:cNvSpPr>
                <p:nvPr/>
              </p:nvSpPr>
              <p:spPr bwMode="auto">
                <a:xfrm>
                  <a:off x="1157"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3" name="Rectangle 359">
                  <a:extLst>
                    <a:ext uri="{FF2B5EF4-FFF2-40B4-BE49-F238E27FC236}">
                      <a16:creationId xmlns:a16="http://schemas.microsoft.com/office/drawing/2014/main" id="{FA9543FA-6525-60DA-D882-92086CBBBB10}"/>
                    </a:ext>
                  </a:extLst>
                </p:cNvPr>
                <p:cNvSpPr>
                  <a:spLocks noChangeArrowheads="1"/>
                </p:cNvSpPr>
                <p:nvPr/>
              </p:nvSpPr>
              <p:spPr bwMode="auto">
                <a:xfrm>
                  <a:off x="1163"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4" name="Rectangle 360">
                  <a:extLst>
                    <a:ext uri="{FF2B5EF4-FFF2-40B4-BE49-F238E27FC236}">
                      <a16:creationId xmlns:a16="http://schemas.microsoft.com/office/drawing/2014/main" id="{2687738E-4139-0237-56EB-54971A23B93D}"/>
                    </a:ext>
                  </a:extLst>
                </p:cNvPr>
                <p:cNvSpPr>
                  <a:spLocks noChangeArrowheads="1"/>
                </p:cNvSpPr>
                <p:nvPr/>
              </p:nvSpPr>
              <p:spPr bwMode="auto">
                <a:xfrm>
                  <a:off x="1564"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5" name="Rectangle 361">
                  <a:extLst>
                    <a:ext uri="{FF2B5EF4-FFF2-40B4-BE49-F238E27FC236}">
                      <a16:creationId xmlns:a16="http://schemas.microsoft.com/office/drawing/2014/main" id="{783BF8FA-37D2-F782-F27A-0D2BD277F269}"/>
                    </a:ext>
                  </a:extLst>
                </p:cNvPr>
                <p:cNvSpPr>
                  <a:spLocks noChangeArrowheads="1"/>
                </p:cNvSpPr>
                <p:nvPr/>
              </p:nvSpPr>
              <p:spPr bwMode="auto">
                <a:xfrm>
                  <a:off x="1570" y="2720"/>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6" name="Rectangle 362">
                  <a:extLst>
                    <a:ext uri="{FF2B5EF4-FFF2-40B4-BE49-F238E27FC236}">
                      <a16:creationId xmlns:a16="http://schemas.microsoft.com/office/drawing/2014/main" id="{30D3B8D2-8E39-F15E-5FC2-BC694EA8D888}"/>
                    </a:ext>
                  </a:extLst>
                </p:cNvPr>
                <p:cNvSpPr>
                  <a:spLocks noChangeArrowheads="1"/>
                </p:cNvSpPr>
                <p:nvPr/>
              </p:nvSpPr>
              <p:spPr bwMode="auto">
                <a:xfrm>
                  <a:off x="1987"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7" name="Rectangle 363">
                  <a:extLst>
                    <a:ext uri="{FF2B5EF4-FFF2-40B4-BE49-F238E27FC236}">
                      <a16:creationId xmlns:a16="http://schemas.microsoft.com/office/drawing/2014/main" id="{4AD7242B-6265-3F4E-0BF2-DEBD8F6793AD}"/>
                    </a:ext>
                  </a:extLst>
                </p:cNvPr>
                <p:cNvSpPr>
                  <a:spLocks noChangeArrowheads="1"/>
                </p:cNvSpPr>
                <p:nvPr/>
              </p:nvSpPr>
              <p:spPr bwMode="auto">
                <a:xfrm>
                  <a:off x="1993" y="2720"/>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8" name="Rectangle 364">
                  <a:extLst>
                    <a:ext uri="{FF2B5EF4-FFF2-40B4-BE49-F238E27FC236}">
                      <a16:creationId xmlns:a16="http://schemas.microsoft.com/office/drawing/2014/main" id="{CCE99C23-46C5-2086-1288-7036AF97377F}"/>
                    </a:ext>
                  </a:extLst>
                </p:cNvPr>
                <p:cNvSpPr>
                  <a:spLocks noChangeArrowheads="1"/>
                </p:cNvSpPr>
                <p:nvPr/>
              </p:nvSpPr>
              <p:spPr bwMode="auto">
                <a:xfrm>
                  <a:off x="2378"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9" name="Rectangle 365">
                  <a:extLst>
                    <a:ext uri="{FF2B5EF4-FFF2-40B4-BE49-F238E27FC236}">
                      <a16:creationId xmlns:a16="http://schemas.microsoft.com/office/drawing/2014/main" id="{B946C1C8-C108-DC2E-2275-C70E44908C86}"/>
                    </a:ext>
                  </a:extLst>
                </p:cNvPr>
                <p:cNvSpPr>
                  <a:spLocks noChangeArrowheads="1"/>
                </p:cNvSpPr>
                <p:nvPr/>
              </p:nvSpPr>
              <p:spPr bwMode="auto">
                <a:xfrm>
                  <a:off x="2384"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0" name="Rectangle 366">
                  <a:extLst>
                    <a:ext uri="{FF2B5EF4-FFF2-40B4-BE49-F238E27FC236}">
                      <a16:creationId xmlns:a16="http://schemas.microsoft.com/office/drawing/2014/main" id="{EE289428-3103-917E-109D-375069E184AD}"/>
                    </a:ext>
                  </a:extLst>
                </p:cNvPr>
                <p:cNvSpPr>
                  <a:spLocks noChangeArrowheads="1"/>
                </p:cNvSpPr>
                <p:nvPr/>
              </p:nvSpPr>
              <p:spPr bwMode="auto">
                <a:xfrm>
                  <a:off x="2785"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1" name="Rectangle 367">
                  <a:extLst>
                    <a:ext uri="{FF2B5EF4-FFF2-40B4-BE49-F238E27FC236}">
                      <a16:creationId xmlns:a16="http://schemas.microsoft.com/office/drawing/2014/main" id="{DB0A688C-3BBD-17AE-EB27-DE69FA69E2A6}"/>
                    </a:ext>
                  </a:extLst>
                </p:cNvPr>
                <p:cNvSpPr>
                  <a:spLocks noChangeArrowheads="1"/>
                </p:cNvSpPr>
                <p:nvPr/>
              </p:nvSpPr>
              <p:spPr bwMode="auto">
                <a:xfrm>
                  <a:off x="2791"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2" name="Rectangle 368">
                  <a:extLst>
                    <a:ext uri="{FF2B5EF4-FFF2-40B4-BE49-F238E27FC236}">
                      <a16:creationId xmlns:a16="http://schemas.microsoft.com/office/drawing/2014/main" id="{0007D9A0-942C-2549-5B13-6A9EDEB659EE}"/>
                    </a:ext>
                  </a:extLst>
                </p:cNvPr>
                <p:cNvSpPr>
                  <a:spLocks noChangeArrowheads="1"/>
                </p:cNvSpPr>
                <p:nvPr/>
              </p:nvSpPr>
              <p:spPr bwMode="auto">
                <a:xfrm>
                  <a:off x="3192"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3" name="Rectangle 369">
                  <a:extLst>
                    <a:ext uri="{FF2B5EF4-FFF2-40B4-BE49-F238E27FC236}">
                      <a16:creationId xmlns:a16="http://schemas.microsoft.com/office/drawing/2014/main" id="{BCB4A093-B0DF-BB02-D24B-BE739F574A83}"/>
                    </a:ext>
                  </a:extLst>
                </p:cNvPr>
                <p:cNvSpPr>
                  <a:spLocks noChangeArrowheads="1"/>
                </p:cNvSpPr>
                <p:nvPr/>
              </p:nvSpPr>
              <p:spPr bwMode="auto">
                <a:xfrm>
                  <a:off x="3198"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4" name="Rectangle 370">
                  <a:extLst>
                    <a:ext uri="{FF2B5EF4-FFF2-40B4-BE49-F238E27FC236}">
                      <a16:creationId xmlns:a16="http://schemas.microsoft.com/office/drawing/2014/main" id="{7E936676-D766-6F36-70C2-19EFED43D117}"/>
                    </a:ext>
                  </a:extLst>
                </p:cNvPr>
                <p:cNvSpPr>
                  <a:spLocks noChangeArrowheads="1"/>
                </p:cNvSpPr>
                <p:nvPr/>
              </p:nvSpPr>
              <p:spPr bwMode="auto">
                <a:xfrm>
                  <a:off x="3599"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5" name="Rectangle 371">
                  <a:extLst>
                    <a:ext uri="{FF2B5EF4-FFF2-40B4-BE49-F238E27FC236}">
                      <a16:creationId xmlns:a16="http://schemas.microsoft.com/office/drawing/2014/main" id="{6B3570C5-AB48-D290-DA27-9A46957F34A1}"/>
                    </a:ext>
                  </a:extLst>
                </p:cNvPr>
                <p:cNvSpPr>
                  <a:spLocks noChangeArrowheads="1"/>
                </p:cNvSpPr>
                <p:nvPr/>
              </p:nvSpPr>
              <p:spPr bwMode="auto">
                <a:xfrm>
                  <a:off x="3605" y="2720"/>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6" name="Rectangle 372">
                  <a:extLst>
                    <a:ext uri="{FF2B5EF4-FFF2-40B4-BE49-F238E27FC236}">
                      <a16:creationId xmlns:a16="http://schemas.microsoft.com/office/drawing/2014/main" id="{B6F08510-C79C-6CAC-A3DC-1A14AB4D5861}"/>
                    </a:ext>
                  </a:extLst>
                </p:cNvPr>
                <p:cNvSpPr>
                  <a:spLocks noChangeArrowheads="1"/>
                </p:cNvSpPr>
                <p:nvPr/>
              </p:nvSpPr>
              <p:spPr bwMode="auto">
                <a:xfrm>
                  <a:off x="4004"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7" name="Rectangle 373">
                  <a:extLst>
                    <a:ext uri="{FF2B5EF4-FFF2-40B4-BE49-F238E27FC236}">
                      <a16:creationId xmlns:a16="http://schemas.microsoft.com/office/drawing/2014/main" id="{B4AEFB83-C0E6-FE34-5008-3F9FF4E5ECEA}"/>
                    </a:ext>
                  </a:extLst>
                </p:cNvPr>
                <p:cNvSpPr>
                  <a:spLocks noChangeArrowheads="1"/>
                </p:cNvSpPr>
                <p:nvPr/>
              </p:nvSpPr>
              <p:spPr bwMode="auto">
                <a:xfrm>
                  <a:off x="4010"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8" name="Rectangle 374">
                  <a:extLst>
                    <a:ext uri="{FF2B5EF4-FFF2-40B4-BE49-F238E27FC236}">
                      <a16:creationId xmlns:a16="http://schemas.microsoft.com/office/drawing/2014/main" id="{CE663968-B86F-1422-4FB4-6A4459699C36}"/>
                    </a:ext>
                  </a:extLst>
                </p:cNvPr>
                <p:cNvSpPr>
                  <a:spLocks noChangeArrowheads="1"/>
                </p:cNvSpPr>
                <p:nvPr/>
              </p:nvSpPr>
              <p:spPr bwMode="auto">
                <a:xfrm>
                  <a:off x="4411"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9" name="Rectangle 375">
                  <a:extLst>
                    <a:ext uri="{FF2B5EF4-FFF2-40B4-BE49-F238E27FC236}">
                      <a16:creationId xmlns:a16="http://schemas.microsoft.com/office/drawing/2014/main" id="{81B915FD-35C8-CEF6-86E8-CEECBA0FF214}"/>
                    </a:ext>
                  </a:extLst>
                </p:cNvPr>
                <p:cNvSpPr>
                  <a:spLocks noChangeArrowheads="1"/>
                </p:cNvSpPr>
                <p:nvPr/>
              </p:nvSpPr>
              <p:spPr bwMode="auto">
                <a:xfrm>
                  <a:off x="4417"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0" name="Rectangle 376">
                  <a:extLst>
                    <a:ext uri="{FF2B5EF4-FFF2-40B4-BE49-F238E27FC236}">
                      <a16:creationId xmlns:a16="http://schemas.microsoft.com/office/drawing/2014/main" id="{3A4D94A0-8029-FD90-7723-89C5DBBB879A}"/>
                    </a:ext>
                  </a:extLst>
                </p:cNvPr>
                <p:cNvSpPr>
                  <a:spLocks noChangeArrowheads="1"/>
                </p:cNvSpPr>
                <p:nvPr/>
              </p:nvSpPr>
              <p:spPr bwMode="auto">
                <a:xfrm>
                  <a:off x="4818"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1" name="Rectangle 377">
                  <a:extLst>
                    <a:ext uri="{FF2B5EF4-FFF2-40B4-BE49-F238E27FC236}">
                      <a16:creationId xmlns:a16="http://schemas.microsoft.com/office/drawing/2014/main" id="{6BB741FC-480C-6546-2EE5-5D3940600A19}"/>
                    </a:ext>
                  </a:extLst>
                </p:cNvPr>
                <p:cNvSpPr>
                  <a:spLocks noChangeArrowheads="1"/>
                </p:cNvSpPr>
                <p:nvPr/>
              </p:nvSpPr>
              <p:spPr bwMode="auto">
                <a:xfrm>
                  <a:off x="4824"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2" name="Rectangle 378">
                  <a:extLst>
                    <a:ext uri="{FF2B5EF4-FFF2-40B4-BE49-F238E27FC236}">
                      <a16:creationId xmlns:a16="http://schemas.microsoft.com/office/drawing/2014/main" id="{CB924437-2185-E779-2A0C-E008213B977B}"/>
                    </a:ext>
                  </a:extLst>
                </p:cNvPr>
                <p:cNvSpPr>
                  <a:spLocks noChangeArrowheads="1"/>
                </p:cNvSpPr>
                <p:nvPr/>
              </p:nvSpPr>
              <p:spPr bwMode="auto">
                <a:xfrm>
                  <a:off x="5225"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3" name="Rectangle 379">
                  <a:extLst>
                    <a:ext uri="{FF2B5EF4-FFF2-40B4-BE49-F238E27FC236}">
                      <a16:creationId xmlns:a16="http://schemas.microsoft.com/office/drawing/2014/main" id="{F0B793F2-E4BB-1BA2-0149-79B39D4B5D86}"/>
                    </a:ext>
                  </a:extLst>
                </p:cNvPr>
                <p:cNvSpPr>
                  <a:spLocks noChangeArrowheads="1"/>
                </p:cNvSpPr>
                <p:nvPr/>
              </p:nvSpPr>
              <p:spPr bwMode="auto">
                <a:xfrm>
                  <a:off x="346"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4" name="Rectangle 380">
                  <a:extLst>
                    <a:ext uri="{FF2B5EF4-FFF2-40B4-BE49-F238E27FC236}">
                      <a16:creationId xmlns:a16="http://schemas.microsoft.com/office/drawing/2014/main" id="{15B85418-7264-A4C2-92DA-56A1ADCEF4C8}"/>
                    </a:ext>
                  </a:extLst>
                </p:cNvPr>
                <p:cNvSpPr>
                  <a:spLocks noChangeArrowheads="1"/>
                </p:cNvSpPr>
                <p:nvPr/>
              </p:nvSpPr>
              <p:spPr bwMode="auto">
                <a:xfrm>
                  <a:off x="582"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5" name="Rectangle 381">
                  <a:extLst>
                    <a:ext uri="{FF2B5EF4-FFF2-40B4-BE49-F238E27FC236}">
                      <a16:creationId xmlns:a16="http://schemas.microsoft.com/office/drawing/2014/main" id="{D80CAB22-39E6-9D97-433B-E22AC640D8D9}"/>
                    </a:ext>
                  </a:extLst>
                </p:cNvPr>
                <p:cNvSpPr>
                  <a:spLocks noChangeArrowheads="1"/>
                </p:cNvSpPr>
                <p:nvPr/>
              </p:nvSpPr>
              <p:spPr bwMode="auto">
                <a:xfrm>
                  <a:off x="1157"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6" name="Rectangle 382">
                  <a:extLst>
                    <a:ext uri="{FF2B5EF4-FFF2-40B4-BE49-F238E27FC236}">
                      <a16:creationId xmlns:a16="http://schemas.microsoft.com/office/drawing/2014/main" id="{CB2E94AB-444C-13A7-97E1-9C0DB7F6B9B0}"/>
                    </a:ext>
                  </a:extLst>
                </p:cNvPr>
                <p:cNvSpPr>
                  <a:spLocks noChangeArrowheads="1"/>
                </p:cNvSpPr>
                <p:nvPr/>
              </p:nvSpPr>
              <p:spPr bwMode="auto">
                <a:xfrm>
                  <a:off x="1564"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7" name="Rectangle 383">
                  <a:extLst>
                    <a:ext uri="{FF2B5EF4-FFF2-40B4-BE49-F238E27FC236}">
                      <a16:creationId xmlns:a16="http://schemas.microsoft.com/office/drawing/2014/main" id="{71AF1286-F864-762D-779B-9A77EFD75626}"/>
                    </a:ext>
                  </a:extLst>
                </p:cNvPr>
                <p:cNvSpPr>
                  <a:spLocks noChangeArrowheads="1"/>
                </p:cNvSpPr>
                <p:nvPr/>
              </p:nvSpPr>
              <p:spPr bwMode="auto">
                <a:xfrm>
                  <a:off x="1987"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8" name="Rectangle 384">
                  <a:extLst>
                    <a:ext uri="{FF2B5EF4-FFF2-40B4-BE49-F238E27FC236}">
                      <a16:creationId xmlns:a16="http://schemas.microsoft.com/office/drawing/2014/main" id="{DD4DBDA0-9965-5551-23FD-14AC5959C733}"/>
                    </a:ext>
                  </a:extLst>
                </p:cNvPr>
                <p:cNvSpPr>
                  <a:spLocks noChangeArrowheads="1"/>
                </p:cNvSpPr>
                <p:nvPr/>
              </p:nvSpPr>
              <p:spPr bwMode="auto">
                <a:xfrm>
                  <a:off x="2378"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9" name="Rectangle 385">
                  <a:extLst>
                    <a:ext uri="{FF2B5EF4-FFF2-40B4-BE49-F238E27FC236}">
                      <a16:creationId xmlns:a16="http://schemas.microsoft.com/office/drawing/2014/main" id="{0564168C-4CAD-8D68-B705-84947302C162}"/>
                    </a:ext>
                  </a:extLst>
                </p:cNvPr>
                <p:cNvSpPr>
                  <a:spLocks noChangeArrowheads="1"/>
                </p:cNvSpPr>
                <p:nvPr/>
              </p:nvSpPr>
              <p:spPr bwMode="auto">
                <a:xfrm>
                  <a:off x="2785"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0" name="Rectangle 386">
                  <a:extLst>
                    <a:ext uri="{FF2B5EF4-FFF2-40B4-BE49-F238E27FC236}">
                      <a16:creationId xmlns:a16="http://schemas.microsoft.com/office/drawing/2014/main" id="{CB1BD674-84A5-00A5-F20B-CBECCDD2A033}"/>
                    </a:ext>
                  </a:extLst>
                </p:cNvPr>
                <p:cNvSpPr>
                  <a:spLocks noChangeArrowheads="1"/>
                </p:cNvSpPr>
                <p:nvPr/>
              </p:nvSpPr>
              <p:spPr bwMode="auto">
                <a:xfrm>
                  <a:off x="3192"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1" name="Rectangle 387">
                  <a:extLst>
                    <a:ext uri="{FF2B5EF4-FFF2-40B4-BE49-F238E27FC236}">
                      <a16:creationId xmlns:a16="http://schemas.microsoft.com/office/drawing/2014/main" id="{3FA2F32F-F1E6-6A14-2473-D61A24710142}"/>
                    </a:ext>
                  </a:extLst>
                </p:cNvPr>
                <p:cNvSpPr>
                  <a:spLocks noChangeArrowheads="1"/>
                </p:cNvSpPr>
                <p:nvPr/>
              </p:nvSpPr>
              <p:spPr bwMode="auto">
                <a:xfrm>
                  <a:off x="3599"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2" name="Rectangle 388">
                  <a:extLst>
                    <a:ext uri="{FF2B5EF4-FFF2-40B4-BE49-F238E27FC236}">
                      <a16:creationId xmlns:a16="http://schemas.microsoft.com/office/drawing/2014/main" id="{CFF3A70C-D60E-CF70-050E-B052AEC2B7FF}"/>
                    </a:ext>
                  </a:extLst>
                </p:cNvPr>
                <p:cNvSpPr>
                  <a:spLocks noChangeArrowheads="1"/>
                </p:cNvSpPr>
                <p:nvPr/>
              </p:nvSpPr>
              <p:spPr bwMode="auto">
                <a:xfrm>
                  <a:off x="4004"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3" name="Rectangle 389">
                  <a:extLst>
                    <a:ext uri="{FF2B5EF4-FFF2-40B4-BE49-F238E27FC236}">
                      <a16:creationId xmlns:a16="http://schemas.microsoft.com/office/drawing/2014/main" id="{E19AB277-3008-9556-FB52-9F32CAA42939}"/>
                    </a:ext>
                  </a:extLst>
                </p:cNvPr>
                <p:cNvSpPr>
                  <a:spLocks noChangeArrowheads="1"/>
                </p:cNvSpPr>
                <p:nvPr/>
              </p:nvSpPr>
              <p:spPr bwMode="auto">
                <a:xfrm>
                  <a:off x="4411"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4" name="Rectangle 390">
                  <a:extLst>
                    <a:ext uri="{FF2B5EF4-FFF2-40B4-BE49-F238E27FC236}">
                      <a16:creationId xmlns:a16="http://schemas.microsoft.com/office/drawing/2014/main" id="{7CE13D63-6CCD-0BF6-89E6-F03A8D061015}"/>
                    </a:ext>
                  </a:extLst>
                </p:cNvPr>
                <p:cNvSpPr>
                  <a:spLocks noChangeArrowheads="1"/>
                </p:cNvSpPr>
                <p:nvPr/>
              </p:nvSpPr>
              <p:spPr bwMode="auto">
                <a:xfrm>
                  <a:off x="4818"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5" name="Rectangle 391">
                  <a:extLst>
                    <a:ext uri="{FF2B5EF4-FFF2-40B4-BE49-F238E27FC236}">
                      <a16:creationId xmlns:a16="http://schemas.microsoft.com/office/drawing/2014/main" id="{A0044BA6-3BA2-620C-C45A-788E34DED9E8}"/>
                    </a:ext>
                  </a:extLst>
                </p:cNvPr>
                <p:cNvSpPr>
                  <a:spLocks noChangeArrowheads="1"/>
                </p:cNvSpPr>
                <p:nvPr/>
              </p:nvSpPr>
              <p:spPr bwMode="auto">
                <a:xfrm>
                  <a:off x="5225"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6" name="Rectangle 392">
                  <a:extLst>
                    <a:ext uri="{FF2B5EF4-FFF2-40B4-BE49-F238E27FC236}">
                      <a16:creationId xmlns:a16="http://schemas.microsoft.com/office/drawing/2014/main" id="{FC126FD2-45E2-3371-8A02-FEF94CD34752}"/>
                    </a:ext>
                  </a:extLst>
                </p:cNvPr>
                <p:cNvSpPr>
                  <a:spLocks noChangeArrowheads="1"/>
                </p:cNvSpPr>
                <p:nvPr/>
              </p:nvSpPr>
              <p:spPr bwMode="auto">
                <a:xfrm>
                  <a:off x="393" y="272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7</a:t>
                  </a:r>
                </a:p>
              </p:txBody>
            </p:sp>
            <p:sp>
              <p:nvSpPr>
                <p:cNvPr id="417" name="Rectangle 393">
                  <a:extLst>
                    <a:ext uri="{FF2B5EF4-FFF2-40B4-BE49-F238E27FC236}">
                      <a16:creationId xmlns:a16="http://schemas.microsoft.com/office/drawing/2014/main" id="{94A6C0A2-AEC6-C393-AD60-3E442A090524}"/>
                    </a:ext>
                  </a:extLst>
                </p:cNvPr>
                <p:cNvSpPr>
                  <a:spLocks noChangeArrowheads="1"/>
                </p:cNvSpPr>
                <p:nvPr/>
              </p:nvSpPr>
              <p:spPr bwMode="auto">
                <a:xfrm>
                  <a:off x="708" y="2726"/>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330030</a:t>
                  </a:r>
                </a:p>
              </p:txBody>
            </p:sp>
            <p:sp>
              <p:nvSpPr>
                <p:cNvPr id="418" name="Rectangle 394">
                  <a:extLst>
                    <a:ext uri="{FF2B5EF4-FFF2-40B4-BE49-F238E27FC236}">
                      <a16:creationId xmlns:a16="http://schemas.microsoft.com/office/drawing/2014/main" id="{3B05700E-A63B-EE2F-6744-F1FC6AC8EF36}"/>
                    </a:ext>
                  </a:extLst>
                </p:cNvPr>
                <p:cNvSpPr>
                  <a:spLocks noChangeArrowheads="1"/>
                </p:cNvSpPr>
                <p:nvPr/>
              </p:nvSpPr>
              <p:spPr bwMode="auto">
                <a:xfrm>
                  <a:off x="1272" y="272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24</a:t>
                  </a:r>
                </a:p>
              </p:txBody>
            </p:sp>
            <p:sp>
              <p:nvSpPr>
                <p:cNvPr id="419" name="Rectangle 395">
                  <a:extLst>
                    <a:ext uri="{FF2B5EF4-FFF2-40B4-BE49-F238E27FC236}">
                      <a16:creationId xmlns:a16="http://schemas.microsoft.com/office/drawing/2014/main" id="{787CB277-50F7-1896-BF09-2299BF95BE26}"/>
                    </a:ext>
                  </a:extLst>
                </p:cNvPr>
                <p:cNvSpPr>
                  <a:spLocks noChangeArrowheads="1"/>
                </p:cNvSpPr>
                <p:nvPr/>
              </p:nvSpPr>
              <p:spPr bwMode="auto">
                <a:xfrm>
                  <a:off x="1704" y="272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a:t>
                  </a:r>
                </a:p>
              </p:txBody>
            </p:sp>
            <p:sp>
              <p:nvSpPr>
                <p:cNvPr id="420" name="Rectangle 396">
                  <a:extLst>
                    <a:ext uri="{FF2B5EF4-FFF2-40B4-BE49-F238E27FC236}">
                      <a16:creationId xmlns:a16="http://schemas.microsoft.com/office/drawing/2014/main" id="{23AEDC9E-3BF9-7F90-C4FB-9B7A8D41236E}"/>
                    </a:ext>
                  </a:extLst>
                </p:cNvPr>
                <p:cNvSpPr>
                  <a:spLocks noChangeArrowheads="1"/>
                </p:cNvSpPr>
                <p:nvPr/>
              </p:nvSpPr>
              <p:spPr bwMode="auto">
                <a:xfrm>
                  <a:off x="2079"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1" name="Rectangle 397">
                  <a:extLst>
                    <a:ext uri="{FF2B5EF4-FFF2-40B4-BE49-F238E27FC236}">
                      <a16:creationId xmlns:a16="http://schemas.microsoft.com/office/drawing/2014/main" id="{D0D0A01E-85EE-76BA-3567-AF6A5B57CDCD}"/>
                    </a:ext>
                  </a:extLst>
                </p:cNvPr>
                <p:cNvSpPr>
                  <a:spLocks noChangeArrowheads="1"/>
                </p:cNvSpPr>
                <p:nvPr/>
              </p:nvSpPr>
              <p:spPr bwMode="auto">
                <a:xfrm>
                  <a:off x="2883"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2" name="Rectangle 398">
                  <a:extLst>
                    <a:ext uri="{FF2B5EF4-FFF2-40B4-BE49-F238E27FC236}">
                      <a16:creationId xmlns:a16="http://schemas.microsoft.com/office/drawing/2014/main" id="{EF76EE18-DDDC-0DDF-3567-528D77727C4C}"/>
                    </a:ext>
                  </a:extLst>
                </p:cNvPr>
                <p:cNvSpPr>
                  <a:spLocks noChangeArrowheads="1"/>
                </p:cNvSpPr>
                <p:nvPr/>
              </p:nvSpPr>
              <p:spPr bwMode="auto">
                <a:xfrm>
                  <a:off x="3290"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423" name="Rectangle 399">
                  <a:extLst>
                    <a:ext uri="{FF2B5EF4-FFF2-40B4-BE49-F238E27FC236}">
                      <a16:creationId xmlns:a16="http://schemas.microsoft.com/office/drawing/2014/main" id="{C10CD73F-25AB-CDC0-2BCC-BA92021AE737}"/>
                    </a:ext>
                  </a:extLst>
                </p:cNvPr>
                <p:cNvSpPr>
                  <a:spLocks noChangeArrowheads="1"/>
                </p:cNvSpPr>
                <p:nvPr/>
              </p:nvSpPr>
              <p:spPr bwMode="auto">
                <a:xfrm>
                  <a:off x="3697"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4" name="Rectangle 400">
                  <a:extLst>
                    <a:ext uri="{FF2B5EF4-FFF2-40B4-BE49-F238E27FC236}">
                      <a16:creationId xmlns:a16="http://schemas.microsoft.com/office/drawing/2014/main" id="{D1BE2DAA-4CAB-BE2E-C2E9-3E2D4FB27A49}"/>
                    </a:ext>
                  </a:extLst>
                </p:cNvPr>
                <p:cNvSpPr>
                  <a:spLocks noChangeArrowheads="1"/>
                </p:cNvSpPr>
                <p:nvPr/>
              </p:nvSpPr>
              <p:spPr bwMode="auto">
                <a:xfrm>
                  <a:off x="4511"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5" name="Rectangle 401">
                  <a:extLst>
                    <a:ext uri="{FF2B5EF4-FFF2-40B4-BE49-F238E27FC236}">
                      <a16:creationId xmlns:a16="http://schemas.microsoft.com/office/drawing/2014/main" id="{C8749300-EA00-1865-6277-9500C3827894}"/>
                    </a:ext>
                  </a:extLst>
                </p:cNvPr>
                <p:cNvSpPr>
                  <a:spLocks noChangeArrowheads="1"/>
                </p:cNvSpPr>
                <p:nvPr/>
              </p:nvSpPr>
              <p:spPr bwMode="auto">
                <a:xfrm>
                  <a:off x="4918"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6" name="Rectangle 402">
                  <a:extLst>
                    <a:ext uri="{FF2B5EF4-FFF2-40B4-BE49-F238E27FC236}">
                      <a16:creationId xmlns:a16="http://schemas.microsoft.com/office/drawing/2014/main" id="{43392DB3-E2DB-1CF1-39A9-5E5724E1958A}"/>
                    </a:ext>
                  </a:extLst>
                </p:cNvPr>
                <p:cNvSpPr>
                  <a:spLocks noChangeArrowheads="1"/>
                </p:cNvSpPr>
                <p:nvPr/>
              </p:nvSpPr>
              <p:spPr bwMode="auto">
                <a:xfrm>
                  <a:off x="346"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7" name="Rectangle 403">
                  <a:extLst>
                    <a:ext uri="{FF2B5EF4-FFF2-40B4-BE49-F238E27FC236}">
                      <a16:creationId xmlns:a16="http://schemas.microsoft.com/office/drawing/2014/main" id="{87C804BF-C1E7-9706-C216-8198994FED92}"/>
                    </a:ext>
                  </a:extLst>
                </p:cNvPr>
                <p:cNvSpPr>
                  <a:spLocks noChangeArrowheads="1"/>
                </p:cNvSpPr>
                <p:nvPr/>
              </p:nvSpPr>
              <p:spPr bwMode="auto">
                <a:xfrm>
                  <a:off x="351" y="2870"/>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8" name="Rectangle 404">
                  <a:extLst>
                    <a:ext uri="{FF2B5EF4-FFF2-40B4-BE49-F238E27FC236}">
                      <a16:creationId xmlns:a16="http://schemas.microsoft.com/office/drawing/2014/main" id="{679D35F3-19EE-7BF6-4106-772FEBD5FD4C}"/>
                    </a:ext>
                  </a:extLst>
                </p:cNvPr>
                <p:cNvSpPr>
                  <a:spLocks noChangeArrowheads="1"/>
                </p:cNvSpPr>
                <p:nvPr/>
              </p:nvSpPr>
              <p:spPr bwMode="auto">
                <a:xfrm>
                  <a:off x="582"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9" name="Rectangle 405">
                  <a:extLst>
                    <a:ext uri="{FF2B5EF4-FFF2-40B4-BE49-F238E27FC236}">
                      <a16:creationId xmlns:a16="http://schemas.microsoft.com/office/drawing/2014/main" id="{A1BFAB42-02D2-CAF3-4EFD-E17B187A0B7B}"/>
                    </a:ext>
                  </a:extLst>
                </p:cNvPr>
                <p:cNvSpPr>
                  <a:spLocks noChangeArrowheads="1"/>
                </p:cNvSpPr>
                <p:nvPr/>
              </p:nvSpPr>
              <p:spPr bwMode="auto">
                <a:xfrm>
                  <a:off x="587" y="2870"/>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0" name="Rectangle 406">
                  <a:extLst>
                    <a:ext uri="{FF2B5EF4-FFF2-40B4-BE49-F238E27FC236}">
                      <a16:creationId xmlns:a16="http://schemas.microsoft.com/office/drawing/2014/main" id="{09F645D6-47D4-6D25-F911-25D5837BF507}"/>
                    </a:ext>
                  </a:extLst>
                </p:cNvPr>
                <p:cNvSpPr>
                  <a:spLocks noChangeArrowheads="1"/>
                </p:cNvSpPr>
                <p:nvPr/>
              </p:nvSpPr>
              <p:spPr bwMode="auto">
                <a:xfrm>
                  <a:off x="1157"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1" name="Rectangle 407">
                  <a:extLst>
                    <a:ext uri="{FF2B5EF4-FFF2-40B4-BE49-F238E27FC236}">
                      <a16:creationId xmlns:a16="http://schemas.microsoft.com/office/drawing/2014/main" id="{5588DC2E-0AE7-E31B-E62E-113CF69076C8}"/>
                    </a:ext>
                  </a:extLst>
                </p:cNvPr>
                <p:cNvSpPr>
                  <a:spLocks noChangeArrowheads="1"/>
                </p:cNvSpPr>
                <p:nvPr/>
              </p:nvSpPr>
              <p:spPr bwMode="auto">
                <a:xfrm>
                  <a:off x="1163"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2" name="Rectangle 408">
                  <a:extLst>
                    <a:ext uri="{FF2B5EF4-FFF2-40B4-BE49-F238E27FC236}">
                      <a16:creationId xmlns:a16="http://schemas.microsoft.com/office/drawing/2014/main" id="{C14243DC-4885-FFCC-6AE4-869289CCD1D2}"/>
                    </a:ext>
                  </a:extLst>
                </p:cNvPr>
                <p:cNvSpPr>
                  <a:spLocks noChangeArrowheads="1"/>
                </p:cNvSpPr>
                <p:nvPr/>
              </p:nvSpPr>
              <p:spPr bwMode="auto">
                <a:xfrm>
                  <a:off x="1564"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3" name="Rectangle 409">
                  <a:extLst>
                    <a:ext uri="{FF2B5EF4-FFF2-40B4-BE49-F238E27FC236}">
                      <a16:creationId xmlns:a16="http://schemas.microsoft.com/office/drawing/2014/main" id="{772CEB07-8F0D-2CE7-1F58-27FF5339ECB1}"/>
                    </a:ext>
                  </a:extLst>
                </p:cNvPr>
                <p:cNvSpPr>
                  <a:spLocks noChangeArrowheads="1"/>
                </p:cNvSpPr>
                <p:nvPr/>
              </p:nvSpPr>
              <p:spPr bwMode="auto">
                <a:xfrm>
                  <a:off x="1570" y="2870"/>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4" name="Rectangle 410">
                  <a:extLst>
                    <a:ext uri="{FF2B5EF4-FFF2-40B4-BE49-F238E27FC236}">
                      <a16:creationId xmlns:a16="http://schemas.microsoft.com/office/drawing/2014/main" id="{9959F140-329C-8283-2637-88E7805B4F34}"/>
                    </a:ext>
                  </a:extLst>
                </p:cNvPr>
                <p:cNvSpPr>
                  <a:spLocks noChangeArrowheads="1"/>
                </p:cNvSpPr>
                <p:nvPr/>
              </p:nvSpPr>
              <p:spPr bwMode="auto">
                <a:xfrm>
                  <a:off x="1987"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5" name="Rectangle 411">
                  <a:extLst>
                    <a:ext uri="{FF2B5EF4-FFF2-40B4-BE49-F238E27FC236}">
                      <a16:creationId xmlns:a16="http://schemas.microsoft.com/office/drawing/2014/main" id="{8FECD8CE-4DAA-EB79-88A5-A2BFCD08E281}"/>
                    </a:ext>
                  </a:extLst>
                </p:cNvPr>
                <p:cNvSpPr>
                  <a:spLocks noChangeArrowheads="1"/>
                </p:cNvSpPr>
                <p:nvPr/>
              </p:nvSpPr>
              <p:spPr bwMode="auto">
                <a:xfrm>
                  <a:off x="1993" y="2870"/>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6" name="Rectangle 412">
                  <a:extLst>
                    <a:ext uri="{FF2B5EF4-FFF2-40B4-BE49-F238E27FC236}">
                      <a16:creationId xmlns:a16="http://schemas.microsoft.com/office/drawing/2014/main" id="{906E5CFD-FEC6-DE2D-FB64-E413FD821E31}"/>
                    </a:ext>
                  </a:extLst>
                </p:cNvPr>
                <p:cNvSpPr>
                  <a:spLocks noChangeArrowheads="1"/>
                </p:cNvSpPr>
                <p:nvPr/>
              </p:nvSpPr>
              <p:spPr bwMode="auto">
                <a:xfrm>
                  <a:off x="2378"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7" name="Rectangle 413">
                  <a:extLst>
                    <a:ext uri="{FF2B5EF4-FFF2-40B4-BE49-F238E27FC236}">
                      <a16:creationId xmlns:a16="http://schemas.microsoft.com/office/drawing/2014/main" id="{1CC8962A-7A73-0BE8-133C-7B64EB9F28C2}"/>
                    </a:ext>
                  </a:extLst>
                </p:cNvPr>
                <p:cNvSpPr>
                  <a:spLocks noChangeArrowheads="1"/>
                </p:cNvSpPr>
                <p:nvPr/>
              </p:nvSpPr>
              <p:spPr bwMode="auto">
                <a:xfrm>
                  <a:off x="2384"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8" name="Rectangle 414">
                  <a:extLst>
                    <a:ext uri="{FF2B5EF4-FFF2-40B4-BE49-F238E27FC236}">
                      <a16:creationId xmlns:a16="http://schemas.microsoft.com/office/drawing/2014/main" id="{2023BD25-2841-B865-4BF4-4C2731553F14}"/>
                    </a:ext>
                  </a:extLst>
                </p:cNvPr>
                <p:cNvSpPr>
                  <a:spLocks noChangeArrowheads="1"/>
                </p:cNvSpPr>
                <p:nvPr/>
              </p:nvSpPr>
              <p:spPr bwMode="auto">
                <a:xfrm>
                  <a:off x="2785"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9" name="Rectangle 415">
                  <a:extLst>
                    <a:ext uri="{FF2B5EF4-FFF2-40B4-BE49-F238E27FC236}">
                      <a16:creationId xmlns:a16="http://schemas.microsoft.com/office/drawing/2014/main" id="{D93BB566-9BFF-4C45-8732-CB0A0AC676FE}"/>
                    </a:ext>
                  </a:extLst>
                </p:cNvPr>
                <p:cNvSpPr>
                  <a:spLocks noChangeArrowheads="1"/>
                </p:cNvSpPr>
                <p:nvPr/>
              </p:nvSpPr>
              <p:spPr bwMode="auto">
                <a:xfrm>
                  <a:off x="2791"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0" name="Rectangle 416">
                  <a:extLst>
                    <a:ext uri="{FF2B5EF4-FFF2-40B4-BE49-F238E27FC236}">
                      <a16:creationId xmlns:a16="http://schemas.microsoft.com/office/drawing/2014/main" id="{A85CF9AE-CE14-127A-F4A2-9B6791082DAA}"/>
                    </a:ext>
                  </a:extLst>
                </p:cNvPr>
                <p:cNvSpPr>
                  <a:spLocks noChangeArrowheads="1"/>
                </p:cNvSpPr>
                <p:nvPr/>
              </p:nvSpPr>
              <p:spPr bwMode="auto">
                <a:xfrm>
                  <a:off x="3192"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1" name="Rectangle 417">
                  <a:extLst>
                    <a:ext uri="{FF2B5EF4-FFF2-40B4-BE49-F238E27FC236}">
                      <a16:creationId xmlns:a16="http://schemas.microsoft.com/office/drawing/2014/main" id="{A9252E2A-BF68-4A8D-85B4-0D5D96B17EA1}"/>
                    </a:ext>
                  </a:extLst>
                </p:cNvPr>
                <p:cNvSpPr>
                  <a:spLocks noChangeArrowheads="1"/>
                </p:cNvSpPr>
                <p:nvPr/>
              </p:nvSpPr>
              <p:spPr bwMode="auto">
                <a:xfrm>
                  <a:off x="3198"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2" name="Rectangle 418">
                  <a:extLst>
                    <a:ext uri="{FF2B5EF4-FFF2-40B4-BE49-F238E27FC236}">
                      <a16:creationId xmlns:a16="http://schemas.microsoft.com/office/drawing/2014/main" id="{974EC976-77AE-FC44-4770-8B9664944852}"/>
                    </a:ext>
                  </a:extLst>
                </p:cNvPr>
                <p:cNvSpPr>
                  <a:spLocks noChangeArrowheads="1"/>
                </p:cNvSpPr>
                <p:nvPr/>
              </p:nvSpPr>
              <p:spPr bwMode="auto">
                <a:xfrm>
                  <a:off x="3599"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3" name="Rectangle 419">
                  <a:extLst>
                    <a:ext uri="{FF2B5EF4-FFF2-40B4-BE49-F238E27FC236}">
                      <a16:creationId xmlns:a16="http://schemas.microsoft.com/office/drawing/2014/main" id="{32C8EA5F-4618-F480-9600-6DC4710650C3}"/>
                    </a:ext>
                  </a:extLst>
                </p:cNvPr>
                <p:cNvSpPr>
                  <a:spLocks noChangeArrowheads="1"/>
                </p:cNvSpPr>
                <p:nvPr/>
              </p:nvSpPr>
              <p:spPr bwMode="auto">
                <a:xfrm>
                  <a:off x="3605" y="2870"/>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4" name="Rectangle 420">
                  <a:extLst>
                    <a:ext uri="{FF2B5EF4-FFF2-40B4-BE49-F238E27FC236}">
                      <a16:creationId xmlns:a16="http://schemas.microsoft.com/office/drawing/2014/main" id="{FCB17C5E-9FFF-40BC-CB74-3AF5648CAF38}"/>
                    </a:ext>
                  </a:extLst>
                </p:cNvPr>
                <p:cNvSpPr>
                  <a:spLocks noChangeArrowheads="1"/>
                </p:cNvSpPr>
                <p:nvPr/>
              </p:nvSpPr>
              <p:spPr bwMode="auto">
                <a:xfrm>
                  <a:off x="4004"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5" name="Rectangle 421">
                  <a:extLst>
                    <a:ext uri="{FF2B5EF4-FFF2-40B4-BE49-F238E27FC236}">
                      <a16:creationId xmlns:a16="http://schemas.microsoft.com/office/drawing/2014/main" id="{BBD9A4D9-7E1F-1CC8-B627-E2B3AC71F97E}"/>
                    </a:ext>
                  </a:extLst>
                </p:cNvPr>
                <p:cNvSpPr>
                  <a:spLocks noChangeArrowheads="1"/>
                </p:cNvSpPr>
                <p:nvPr/>
              </p:nvSpPr>
              <p:spPr bwMode="auto">
                <a:xfrm>
                  <a:off x="4010"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6" name="Rectangle 422">
                  <a:extLst>
                    <a:ext uri="{FF2B5EF4-FFF2-40B4-BE49-F238E27FC236}">
                      <a16:creationId xmlns:a16="http://schemas.microsoft.com/office/drawing/2014/main" id="{BA74BFBE-FDEA-F81E-9B95-79F3BF9B0638}"/>
                    </a:ext>
                  </a:extLst>
                </p:cNvPr>
                <p:cNvSpPr>
                  <a:spLocks noChangeArrowheads="1"/>
                </p:cNvSpPr>
                <p:nvPr/>
              </p:nvSpPr>
              <p:spPr bwMode="auto">
                <a:xfrm>
                  <a:off x="4411"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7" name="Rectangle 423">
                  <a:extLst>
                    <a:ext uri="{FF2B5EF4-FFF2-40B4-BE49-F238E27FC236}">
                      <a16:creationId xmlns:a16="http://schemas.microsoft.com/office/drawing/2014/main" id="{1D23A187-2DAE-088A-2E66-676ABAA9D835}"/>
                    </a:ext>
                  </a:extLst>
                </p:cNvPr>
                <p:cNvSpPr>
                  <a:spLocks noChangeArrowheads="1"/>
                </p:cNvSpPr>
                <p:nvPr/>
              </p:nvSpPr>
              <p:spPr bwMode="auto">
                <a:xfrm>
                  <a:off x="4417"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8" name="Rectangle 424">
                  <a:extLst>
                    <a:ext uri="{FF2B5EF4-FFF2-40B4-BE49-F238E27FC236}">
                      <a16:creationId xmlns:a16="http://schemas.microsoft.com/office/drawing/2014/main" id="{4A592B85-27F9-5EFA-2F3A-10D42DF0E346}"/>
                    </a:ext>
                  </a:extLst>
                </p:cNvPr>
                <p:cNvSpPr>
                  <a:spLocks noChangeArrowheads="1"/>
                </p:cNvSpPr>
                <p:nvPr/>
              </p:nvSpPr>
              <p:spPr bwMode="auto">
                <a:xfrm>
                  <a:off x="4818"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9" name="Rectangle 425">
                  <a:extLst>
                    <a:ext uri="{FF2B5EF4-FFF2-40B4-BE49-F238E27FC236}">
                      <a16:creationId xmlns:a16="http://schemas.microsoft.com/office/drawing/2014/main" id="{B44569C3-B9BF-7916-D927-4A2B2AC7BF62}"/>
                    </a:ext>
                  </a:extLst>
                </p:cNvPr>
                <p:cNvSpPr>
                  <a:spLocks noChangeArrowheads="1"/>
                </p:cNvSpPr>
                <p:nvPr/>
              </p:nvSpPr>
              <p:spPr bwMode="auto">
                <a:xfrm>
                  <a:off x="4824"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0" name="Rectangle 426">
                  <a:extLst>
                    <a:ext uri="{FF2B5EF4-FFF2-40B4-BE49-F238E27FC236}">
                      <a16:creationId xmlns:a16="http://schemas.microsoft.com/office/drawing/2014/main" id="{82CF671E-03A8-7EDE-6F97-81D630D3A433}"/>
                    </a:ext>
                  </a:extLst>
                </p:cNvPr>
                <p:cNvSpPr>
                  <a:spLocks noChangeArrowheads="1"/>
                </p:cNvSpPr>
                <p:nvPr/>
              </p:nvSpPr>
              <p:spPr bwMode="auto">
                <a:xfrm>
                  <a:off x="5225"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1" name="Rectangle 427">
                  <a:extLst>
                    <a:ext uri="{FF2B5EF4-FFF2-40B4-BE49-F238E27FC236}">
                      <a16:creationId xmlns:a16="http://schemas.microsoft.com/office/drawing/2014/main" id="{0AB9C9FD-2ABF-BE9C-4743-CFBFC4E3BF71}"/>
                    </a:ext>
                  </a:extLst>
                </p:cNvPr>
                <p:cNvSpPr>
                  <a:spLocks noChangeArrowheads="1"/>
                </p:cNvSpPr>
                <p:nvPr/>
              </p:nvSpPr>
              <p:spPr bwMode="auto">
                <a:xfrm>
                  <a:off x="346"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2" name="Rectangle 428">
                  <a:extLst>
                    <a:ext uri="{FF2B5EF4-FFF2-40B4-BE49-F238E27FC236}">
                      <a16:creationId xmlns:a16="http://schemas.microsoft.com/office/drawing/2014/main" id="{FE41B757-8202-2419-F7B7-38F6D2CB2C82}"/>
                    </a:ext>
                  </a:extLst>
                </p:cNvPr>
                <p:cNvSpPr>
                  <a:spLocks noChangeArrowheads="1"/>
                </p:cNvSpPr>
                <p:nvPr/>
              </p:nvSpPr>
              <p:spPr bwMode="auto">
                <a:xfrm>
                  <a:off x="582"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3" name="Rectangle 429">
                  <a:extLst>
                    <a:ext uri="{FF2B5EF4-FFF2-40B4-BE49-F238E27FC236}">
                      <a16:creationId xmlns:a16="http://schemas.microsoft.com/office/drawing/2014/main" id="{758AA3CA-ACEA-973F-0DA2-4613172A49A6}"/>
                    </a:ext>
                  </a:extLst>
                </p:cNvPr>
                <p:cNvSpPr>
                  <a:spLocks noChangeArrowheads="1"/>
                </p:cNvSpPr>
                <p:nvPr/>
              </p:nvSpPr>
              <p:spPr bwMode="auto">
                <a:xfrm>
                  <a:off x="1157"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4" name="Rectangle 430">
                  <a:extLst>
                    <a:ext uri="{FF2B5EF4-FFF2-40B4-BE49-F238E27FC236}">
                      <a16:creationId xmlns:a16="http://schemas.microsoft.com/office/drawing/2014/main" id="{B9952E31-E6B3-F837-B177-D29A48D42A4D}"/>
                    </a:ext>
                  </a:extLst>
                </p:cNvPr>
                <p:cNvSpPr>
                  <a:spLocks noChangeArrowheads="1"/>
                </p:cNvSpPr>
                <p:nvPr/>
              </p:nvSpPr>
              <p:spPr bwMode="auto">
                <a:xfrm>
                  <a:off x="1564"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5" name="Rectangle 431">
                  <a:extLst>
                    <a:ext uri="{FF2B5EF4-FFF2-40B4-BE49-F238E27FC236}">
                      <a16:creationId xmlns:a16="http://schemas.microsoft.com/office/drawing/2014/main" id="{F8221379-9A42-B796-DF81-E7E295521E64}"/>
                    </a:ext>
                  </a:extLst>
                </p:cNvPr>
                <p:cNvSpPr>
                  <a:spLocks noChangeArrowheads="1"/>
                </p:cNvSpPr>
                <p:nvPr/>
              </p:nvSpPr>
              <p:spPr bwMode="auto">
                <a:xfrm>
                  <a:off x="1987"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6" name="Rectangle 432">
                  <a:extLst>
                    <a:ext uri="{FF2B5EF4-FFF2-40B4-BE49-F238E27FC236}">
                      <a16:creationId xmlns:a16="http://schemas.microsoft.com/office/drawing/2014/main" id="{8AFD33DC-5D8D-19FD-E500-7660F667A422}"/>
                    </a:ext>
                  </a:extLst>
                </p:cNvPr>
                <p:cNvSpPr>
                  <a:spLocks noChangeArrowheads="1"/>
                </p:cNvSpPr>
                <p:nvPr/>
              </p:nvSpPr>
              <p:spPr bwMode="auto">
                <a:xfrm>
                  <a:off x="2378"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7" name="Rectangle 433">
                  <a:extLst>
                    <a:ext uri="{FF2B5EF4-FFF2-40B4-BE49-F238E27FC236}">
                      <a16:creationId xmlns:a16="http://schemas.microsoft.com/office/drawing/2014/main" id="{A24F7ECB-5581-70A7-3924-1AFAA1E6F0C0}"/>
                    </a:ext>
                  </a:extLst>
                </p:cNvPr>
                <p:cNvSpPr>
                  <a:spLocks noChangeArrowheads="1"/>
                </p:cNvSpPr>
                <p:nvPr/>
              </p:nvSpPr>
              <p:spPr bwMode="auto">
                <a:xfrm>
                  <a:off x="2785"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8" name="Rectangle 434">
                  <a:extLst>
                    <a:ext uri="{FF2B5EF4-FFF2-40B4-BE49-F238E27FC236}">
                      <a16:creationId xmlns:a16="http://schemas.microsoft.com/office/drawing/2014/main" id="{DE1204C9-12EB-0EF9-84B0-B5F627974973}"/>
                    </a:ext>
                  </a:extLst>
                </p:cNvPr>
                <p:cNvSpPr>
                  <a:spLocks noChangeArrowheads="1"/>
                </p:cNvSpPr>
                <p:nvPr/>
              </p:nvSpPr>
              <p:spPr bwMode="auto">
                <a:xfrm>
                  <a:off x="3192"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9" name="Rectangle 435">
                  <a:extLst>
                    <a:ext uri="{FF2B5EF4-FFF2-40B4-BE49-F238E27FC236}">
                      <a16:creationId xmlns:a16="http://schemas.microsoft.com/office/drawing/2014/main" id="{74851EAD-796F-E051-ECED-E4D8EB4E3891}"/>
                    </a:ext>
                  </a:extLst>
                </p:cNvPr>
                <p:cNvSpPr>
                  <a:spLocks noChangeArrowheads="1"/>
                </p:cNvSpPr>
                <p:nvPr/>
              </p:nvSpPr>
              <p:spPr bwMode="auto">
                <a:xfrm>
                  <a:off x="3599"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0" name="Rectangle 436">
                  <a:extLst>
                    <a:ext uri="{FF2B5EF4-FFF2-40B4-BE49-F238E27FC236}">
                      <a16:creationId xmlns:a16="http://schemas.microsoft.com/office/drawing/2014/main" id="{3DD1A952-C140-061F-13D2-C8F6960847A5}"/>
                    </a:ext>
                  </a:extLst>
                </p:cNvPr>
                <p:cNvSpPr>
                  <a:spLocks noChangeArrowheads="1"/>
                </p:cNvSpPr>
                <p:nvPr/>
              </p:nvSpPr>
              <p:spPr bwMode="auto">
                <a:xfrm>
                  <a:off x="4004"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1" name="Rectangle 437">
                  <a:extLst>
                    <a:ext uri="{FF2B5EF4-FFF2-40B4-BE49-F238E27FC236}">
                      <a16:creationId xmlns:a16="http://schemas.microsoft.com/office/drawing/2014/main" id="{2EBA2D88-E031-8210-677C-AB2932A16E9A}"/>
                    </a:ext>
                  </a:extLst>
                </p:cNvPr>
                <p:cNvSpPr>
                  <a:spLocks noChangeArrowheads="1"/>
                </p:cNvSpPr>
                <p:nvPr/>
              </p:nvSpPr>
              <p:spPr bwMode="auto">
                <a:xfrm>
                  <a:off x="4411"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2" name="Rectangle 438">
                  <a:extLst>
                    <a:ext uri="{FF2B5EF4-FFF2-40B4-BE49-F238E27FC236}">
                      <a16:creationId xmlns:a16="http://schemas.microsoft.com/office/drawing/2014/main" id="{D0956CDF-063C-C578-C50E-87BFD2466AC2}"/>
                    </a:ext>
                  </a:extLst>
                </p:cNvPr>
                <p:cNvSpPr>
                  <a:spLocks noChangeArrowheads="1"/>
                </p:cNvSpPr>
                <p:nvPr/>
              </p:nvSpPr>
              <p:spPr bwMode="auto">
                <a:xfrm>
                  <a:off x="4818"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3" name="Rectangle 439">
                  <a:extLst>
                    <a:ext uri="{FF2B5EF4-FFF2-40B4-BE49-F238E27FC236}">
                      <a16:creationId xmlns:a16="http://schemas.microsoft.com/office/drawing/2014/main" id="{1B5ADF0E-936E-21DD-4E9D-1342C21B3FE5}"/>
                    </a:ext>
                  </a:extLst>
                </p:cNvPr>
                <p:cNvSpPr>
                  <a:spLocks noChangeArrowheads="1"/>
                </p:cNvSpPr>
                <p:nvPr/>
              </p:nvSpPr>
              <p:spPr bwMode="auto">
                <a:xfrm>
                  <a:off x="5225"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4" name="Rectangle 440">
                  <a:extLst>
                    <a:ext uri="{FF2B5EF4-FFF2-40B4-BE49-F238E27FC236}">
                      <a16:creationId xmlns:a16="http://schemas.microsoft.com/office/drawing/2014/main" id="{3390C377-DED8-4197-8C52-A8BE946B3B8B}"/>
                    </a:ext>
                  </a:extLst>
                </p:cNvPr>
                <p:cNvSpPr>
                  <a:spLocks noChangeArrowheads="1"/>
                </p:cNvSpPr>
                <p:nvPr/>
              </p:nvSpPr>
              <p:spPr bwMode="auto">
                <a:xfrm>
                  <a:off x="393" y="287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8</a:t>
                  </a:r>
                </a:p>
              </p:txBody>
            </p:sp>
            <p:sp>
              <p:nvSpPr>
                <p:cNvPr id="465" name="Rectangle 441">
                  <a:extLst>
                    <a:ext uri="{FF2B5EF4-FFF2-40B4-BE49-F238E27FC236}">
                      <a16:creationId xmlns:a16="http://schemas.microsoft.com/office/drawing/2014/main" id="{9FD7B71D-C79A-9B1C-8181-95561DF9CF86}"/>
                    </a:ext>
                  </a:extLst>
                </p:cNvPr>
                <p:cNvSpPr>
                  <a:spLocks noChangeArrowheads="1"/>
                </p:cNvSpPr>
                <p:nvPr/>
              </p:nvSpPr>
              <p:spPr bwMode="auto">
                <a:xfrm>
                  <a:off x="708" y="2875"/>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320148</a:t>
                  </a:r>
                </a:p>
              </p:txBody>
            </p:sp>
            <p:sp>
              <p:nvSpPr>
                <p:cNvPr id="466" name="Rectangle 442">
                  <a:extLst>
                    <a:ext uri="{FF2B5EF4-FFF2-40B4-BE49-F238E27FC236}">
                      <a16:creationId xmlns:a16="http://schemas.microsoft.com/office/drawing/2014/main" id="{4F71E601-93A7-9AE2-4644-015075E27936}"/>
                    </a:ext>
                  </a:extLst>
                </p:cNvPr>
                <p:cNvSpPr>
                  <a:spLocks noChangeArrowheads="1"/>
                </p:cNvSpPr>
                <p:nvPr/>
              </p:nvSpPr>
              <p:spPr bwMode="auto">
                <a:xfrm>
                  <a:off x="1272" y="287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a:t>
                  </a:r>
                </a:p>
              </p:txBody>
            </p:sp>
            <p:sp>
              <p:nvSpPr>
                <p:cNvPr id="467" name="Rectangle 443">
                  <a:extLst>
                    <a:ext uri="{FF2B5EF4-FFF2-40B4-BE49-F238E27FC236}">
                      <a16:creationId xmlns:a16="http://schemas.microsoft.com/office/drawing/2014/main" id="{0E29B682-BDC3-79DA-33AA-EC6105D4C2DA}"/>
                    </a:ext>
                  </a:extLst>
                </p:cNvPr>
                <p:cNvSpPr>
                  <a:spLocks noChangeArrowheads="1"/>
                </p:cNvSpPr>
                <p:nvPr/>
              </p:nvSpPr>
              <p:spPr bwMode="auto">
                <a:xfrm>
                  <a:off x="1704" y="287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a:t>
                  </a:r>
                </a:p>
              </p:txBody>
            </p:sp>
            <p:sp>
              <p:nvSpPr>
                <p:cNvPr id="468" name="Rectangle 444">
                  <a:extLst>
                    <a:ext uri="{FF2B5EF4-FFF2-40B4-BE49-F238E27FC236}">
                      <a16:creationId xmlns:a16="http://schemas.microsoft.com/office/drawing/2014/main" id="{3F0A8BD4-D953-CA50-9BF7-3A72FEEC722D}"/>
                    </a:ext>
                  </a:extLst>
                </p:cNvPr>
                <p:cNvSpPr>
                  <a:spLocks noChangeArrowheads="1"/>
                </p:cNvSpPr>
                <p:nvPr/>
              </p:nvSpPr>
              <p:spPr bwMode="auto">
                <a:xfrm>
                  <a:off x="2079"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69" name="Rectangle 445">
                  <a:extLst>
                    <a:ext uri="{FF2B5EF4-FFF2-40B4-BE49-F238E27FC236}">
                      <a16:creationId xmlns:a16="http://schemas.microsoft.com/office/drawing/2014/main" id="{62955153-74B5-921B-EE5E-B6C46901EEEC}"/>
                    </a:ext>
                  </a:extLst>
                </p:cNvPr>
                <p:cNvSpPr>
                  <a:spLocks noChangeArrowheads="1"/>
                </p:cNvSpPr>
                <p:nvPr/>
              </p:nvSpPr>
              <p:spPr bwMode="auto">
                <a:xfrm>
                  <a:off x="2883"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0" name="Rectangle 446">
                  <a:extLst>
                    <a:ext uri="{FF2B5EF4-FFF2-40B4-BE49-F238E27FC236}">
                      <a16:creationId xmlns:a16="http://schemas.microsoft.com/office/drawing/2014/main" id="{B4EFD9E4-77AC-A000-C641-B2D767683AC0}"/>
                    </a:ext>
                  </a:extLst>
                </p:cNvPr>
                <p:cNvSpPr>
                  <a:spLocks noChangeArrowheads="1"/>
                </p:cNvSpPr>
                <p:nvPr/>
              </p:nvSpPr>
              <p:spPr bwMode="auto">
                <a:xfrm>
                  <a:off x="3290"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471" name="Rectangle 447">
                  <a:extLst>
                    <a:ext uri="{FF2B5EF4-FFF2-40B4-BE49-F238E27FC236}">
                      <a16:creationId xmlns:a16="http://schemas.microsoft.com/office/drawing/2014/main" id="{50ADD61D-DC66-6B8C-6CC7-9E24D5BA4AB6}"/>
                    </a:ext>
                  </a:extLst>
                </p:cNvPr>
                <p:cNvSpPr>
                  <a:spLocks noChangeArrowheads="1"/>
                </p:cNvSpPr>
                <p:nvPr/>
              </p:nvSpPr>
              <p:spPr bwMode="auto">
                <a:xfrm>
                  <a:off x="3697"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2" name="Rectangle 448">
                  <a:extLst>
                    <a:ext uri="{FF2B5EF4-FFF2-40B4-BE49-F238E27FC236}">
                      <a16:creationId xmlns:a16="http://schemas.microsoft.com/office/drawing/2014/main" id="{B7C45DFB-CF2C-29E1-4CBE-3E72058B2C9A}"/>
                    </a:ext>
                  </a:extLst>
                </p:cNvPr>
                <p:cNvSpPr>
                  <a:spLocks noChangeArrowheads="1"/>
                </p:cNvSpPr>
                <p:nvPr/>
              </p:nvSpPr>
              <p:spPr bwMode="auto">
                <a:xfrm>
                  <a:off x="4511"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3" name="Rectangle 449">
                  <a:extLst>
                    <a:ext uri="{FF2B5EF4-FFF2-40B4-BE49-F238E27FC236}">
                      <a16:creationId xmlns:a16="http://schemas.microsoft.com/office/drawing/2014/main" id="{C08E0456-9F46-C5BF-26B1-5291C1E79F15}"/>
                    </a:ext>
                  </a:extLst>
                </p:cNvPr>
                <p:cNvSpPr>
                  <a:spLocks noChangeArrowheads="1"/>
                </p:cNvSpPr>
                <p:nvPr/>
              </p:nvSpPr>
              <p:spPr bwMode="auto">
                <a:xfrm>
                  <a:off x="4918"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4" name="Rectangle 450">
                  <a:extLst>
                    <a:ext uri="{FF2B5EF4-FFF2-40B4-BE49-F238E27FC236}">
                      <a16:creationId xmlns:a16="http://schemas.microsoft.com/office/drawing/2014/main" id="{72CFE58C-6520-C919-AF00-B0D8235ABBA8}"/>
                    </a:ext>
                  </a:extLst>
                </p:cNvPr>
                <p:cNvSpPr>
                  <a:spLocks noChangeArrowheads="1"/>
                </p:cNvSpPr>
                <p:nvPr/>
              </p:nvSpPr>
              <p:spPr bwMode="auto">
                <a:xfrm>
                  <a:off x="346"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5" name="Rectangle 451">
                  <a:extLst>
                    <a:ext uri="{FF2B5EF4-FFF2-40B4-BE49-F238E27FC236}">
                      <a16:creationId xmlns:a16="http://schemas.microsoft.com/office/drawing/2014/main" id="{F6D78BB3-54CE-41D9-0516-DE171FEC30A5}"/>
                    </a:ext>
                  </a:extLst>
                </p:cNvPr>
                <p:cNvSpPr>
                  <a:spLocks noChangeArrowheads="1"/>
                </p:cNvSpPr>
                <p:nvPr/>
              </p:nvSpPr>
              <p:spPr bwMode="auto">
                <a:xfrm>
                  <a:off x="351" y="301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6" name="Rectangle 452">
                  <a:extLst>
                    <a:ext uri="{FF2B5EF4-FFF2-40B4-BE49-F238E27FC236}">
                      <a16:creationId xmlns:a16="http://schemas.microsoft.com/office/drawing/2014/main" id="{02FAC7F1-FB94-E535-C872-D06FED941433}"/>
                    </a:ext>
                  </a:extLst>
                </p:cNvPr>
                <p:cNvSpPr>
                  <a:spLocks noChangeArrowheads="1"/>
                </p:cNvSpPr>
                <p:nvPr/>
              </p:nvSpPr>
              <p:spPr bwMode="auto">
                <a:xfrm>
                  <a:off x="582"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7" name="Rectangle 453">
                  <a:extLst>
                    <a:ext uri="{FF2B5EF4-FFF2-40B4-BE49-F238E27FC236}">
                      <a16:creationId xmlns:a16="http://schemas.microsoft.com/office/drawing/2014/main" id="{FAFC47A4-A0F9-CEA2-BDD6-26467179ED0F}"/>
                    </a:ext>
                  </a:extLst>
                </p:cNvPr>
                <p:cNvSpPr>
                  <a:spLocks noChangeArrowheads="1"/>
                </p:cNvSpPr>
                <p:nvPr/>
              </p:nvSpPr>
              <p:spPr bwMode="auto">
                <a:xfrm>
                  <a:off x="587" y="301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8" name="Rectangle 454">
                  <a:extLst>
                    <a:ext uri="{FF2B5EF4-FFF2-40B4-BE49-F238E27FC236}">
                      <a16:creationId xmlns:a16="http://schemas.microsoft.com/office/drawing/2014/main" id="{68B329F1-FE0B-A465-C3A1-29AB1ACB6A9C}"/>
                    </a:ext>
                  </a:extLst>
                </p:cNvPr>
                <p:cNvSpPr>
                  <a:spLocks noChangeArrowheads="1"/>
                </p:cNvSpPr>
                <p:nvPr/>
              </p:nvSpPr>
              <p:spPr bwMode="auto">
                <a:xfrm>
                  <a:off x="1157"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9" name="Rectangle 455">
                  <a:extLst>
                    <a:ext uri="{FF2B5EF4-FFF2-40B4-BE49-F238E27FC236}">
                      <a16:creationId xmlns:a16="http://schemas.microsoft.com/office/drawing/2014/main" id="{153077FB-6256-BEE9-3646-2E4030A5A88E}"/>
                    </a:ext>
                  </a:extLst>
                </p:cNvPr>
                <p:cNvSpPr>
                  <a:spLocks noChangeArrowheads="1"/>
                </p:cNvSpPr>
                <p:nvPr/>
              </p:nvSpPr>
              <p:spPr bwMode="auto">
                <a:xfrm>
                  <a:off x="1163"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0" name="Rectangle 456">
                  <a:extLst>
                    <a:ext uri="{FF2B5EF4-FFF2-40B4-BE49-F238E27FC236}">
                      <a16:creationId xmlns:a16="http://schemas.microsoft.com/office/drawing/2014/main" id="{947F4B93-ADF8-6070-4D22-C992CEC1733E}"/>
                    </a:ext>
                  </a:extLst>
                </p:cNvPr>
                <p:cNvSpPr>
                  <a:spLocks noChangeArrowheads="1"/>
                </p:cNvSpPr>
                <p:nvPr/>
              </p:nvSpPr>
              <p:spPr bwMode="auto">
                <a:xfrm>
                  <a:off x="1564"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1" name="Rectangle 457">
                  <a:extLst>
                    <a:ext uri="{FF2B5EF4-FFF2-40B4-BE49-F238E27FC236}">
                      <a16:creationId xmlns:a16="http://schemas.microsoft.com/office/drawing/2014/main" id="{45B46B01-0D04-D7E7-C768-61D3817F5FEE}"/>
                    </a:ext>
                  </a:extLst>
                </p:cNvPr>
                <p:cNvSpPr>
                  <a:spLocks noChangeArrowheads="1"/>
                </p:cNvSpPr>
                <p:nvPr/>
              </p:nvSpPr>
              <p:spPr bwMode="auto">
                <a:xfrm>
                  <a:off x="1570" y="301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2" name="Rectangle 458">
                  <a:extLst>
                    <a:ext uri="{FF2B5EF4-FFF2-40B4-BE49-F238E27FC236}">
                      <a16:creationId xmlns:a16="http://schemas.microsoft.com/office/drawing/2014/main" id="{C659CDF5-B484-CF90-EDD5-3CC340E4FE5D}"/>
                    </a:ext>
                  </a:extLst>
                </p:cNvPr>
                <p:cNvSpPr>
                  <a:spLocks noChangeArrowheads="1"/>
                </p:cNvSpPr>
                <p:nvPr/>
              </p:nvSpPr>
              <p:spPr bwMode="auto">
                <a:xfrm>
                  <a:off x="1987"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3" name="Rectangle 459">
                  <a:extLst>
                    <a:ext uri="{FF2B5EF4-FFF2-40B4-BE49-F238E27FC236}">
                      <a16:creationId xmlns:a16="http://schemas.microsoft.com/office/drawing/2014/main" id="{90AD0E51-EA4B-DD62-5CD4-F817F3A4C284}"/>
                    </a:ext>
                  </a:extLst>
                </p:cNvPr>
                <p:cNvSpPr>
                  <a:spLocks noChangeArrowheads="1"/>
                </p:cNvSpPr>
                <p:nvPr/>
              </p:nvSpPr>
              <p:spPr bwMode="auto">
                <a:xfrm>
                  <a:off x="1993" y="301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4" name="Rectangle 460">
                  <a:extLst>
                    <a:ext uri="{FF2B5EF4-FFF2-40B4-BE49-F238E27FC236}">
                      <a16:creationId xmlns:a16="http://schemas.microsoft.com/office/drawing/2014/main" id="{DB8EDBF9-E1B6-0971-10B3-F8691B9D5C95}"/>
                    </a:ext>
                  </a:extLst>
                </p:cNvPr>
                <p:cNvSpPr>
                  <a:spLocks noChangeArrowheads="1"/>
                </p:cNvSpPr>
                <p:nvPr/>
              </p:nvSpPr>
              <p:spPr bwMode="auto">
                <a:xfrm>
                  <a:off x="2378"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5" name="Rectangle 461">
                  <a:extLst>
                    <a:ext uri="{FF2B5EF4-FFF2-40B4-BE49-F238E27FC236}">
                      <a16:creationId xmlns:a16="http://schemas.microsoft.com/office/drawing/2014/main" id="{09AB2A44-5C2E-1DEC-894F-398A081B578C}"/>
                    </a:ext>
                  </a:extLst>
                </p:cNvPr>
                <p:cNvSpPr>
                  <a:spLocks noChangeArrowheads="1"/>
                </p:cNvSpPr>
                <p:nvPr/>
              </p:nvSpPr>
              <p:spPr bwMode="auto">
                <a:xfrm>
                  <a:off x="2384"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6" name="Rectangle 462">
                  <a:extLst>
                    <a:ext uri="{FF2B5EF4-FFF2-40B4-BE49-F238E27FC236}">
                      <a16:creationId xmlns:a16="http://schemas.microsoft.com/office/drawing/2014/main" id="{08BB33F5-1F10-3681-C7DE-5B0D0480ACA8}"/>
                    </a:ext>
                  </a:extLst>
                </p:cNvPr>
                <p:cNvSpPr>
                  <a:spLocks noChangeArrowheads="1"/>
                </p:cNvSpPr>
                <p:nvPr/>
              </p:nvSpPr>
              <p:spPr bwMode="auto">
                <a:xfrm>
                  <a:off x="2785"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7" name="Rectangle 463">
                  <a:extLst>
                    <a:ext uri="{FF2B5EF4-FFF2-40B4-BE49-F238E27FC236}">
                      <a16:creationId xmlns:a16="http://schemas.microsoft.com/office/drawing/2014/main" id="{EFB90E4F-4059-1F16-2E57-68C991577524}"/>
                    </a:ext>
                  </a:extLst>
                </p:cNvPr>
                <p:cNvSpPr>
                  <a:spLocks noChangeArrowheads="1"/>
                </p:cNvSpPr>
                <p:nvPr/>
              </p:nvSpPr>
              <p:spPr bwMode="auto">
                <a:xfrm>
                  <a:off x="2791"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8" name="Rectangle 464">
                  <a:extLst>
                    <a:ext uri="{FF2B5EF4-FFF2-40B4-BE49-F238E27FC236}">
                      <a16:creationId xmlns:a16="http://schemas.microsoft.com/office/drawing/2014/main" id="{9D799EE4-7ACA-BBA5-4EDF-FA032C24FFB6}"/>
                    </a:ext>
                  </a:extLst>
                </p:cNvPr>
                <p:cNvSpPr>
                  <a:spLocks noChangeArrowheads="1"/>
                </p:cNvSpPr>
                <p:nvPr/>
              </p:nvSpPr>
              <p:spPr bwMode="auto">
                <a:xfrm>
                  <a:off x="3192"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9" name="Rectangle 465">
                  <a:extLst>
                    <a:ext uri="{FF2B5EF4-FFF2-40B4-BE49-F238E27FC236}">
                      <a16:creationId xmlns:a16="http://schemas.microsoft.com/office/drawing/2014/main" id="{79C827D0-4C56-0C44-71C2-F30FB85F730F}"/>
                    </a:ext>
                  </a:extLst>
                </p:cNvPr>
                <p:cNvSpPr>
                  <a:spLocks noChangeArrowheads="1"/>
                </p:cNvSpPr>
                <p:nvPr/>
              </p:nvSpPr>
              <p:spPr bwMode="auto">
                <a:xfrm>
                  <a:off x="3198"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0" name="Rectangle 466">
                  <a:extLst>
                    <a:ext uri="{FF2B5EF4-FFF2-40B4-BE49-F238E27FC236}">
                      <a16:creationId xmlns:a16="http://schemas.microsoft.com/office/drawing/2014/main" id="{D681D992-BEFA-B926-E09A-37C57A0FF96E}"/>
                    </a:ext>
                  </a:extLst>
                </p:cNvPr>
                <p:cNvSpPr>
                  <a:spLocks noChangeArrowheads="1"/>
                </p:cNvSpPr>
                <p:nvPr/>
              </p:nvSpPr>
              <p:spPr bwMode="auto">
                <a:xfrm>
                  <a:off x="3599"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1" name="Rectangle 467">
                  <a:extLst>
                    <a:ext uri="{FF2B5EF4-FFF2-40B4-BE49-F238E27FC236}">
                      <a16:creationId xmlns:a16="http://schemas.microsoft.com/office/drawing/2014/main" id="{0F589CCE-77DA-2056-6F6B-3E122D04CF85}"/>
                    </a:ext>
                  </a:extLst>
                </p:cNvPr>
                <p:cNvSpPr>
                  <a:spLocks noChangeArrowheads="1"/>
                </p:cNvSpPr>
                <p:nvPr/>
              </p:nvSpPr>
              <p:spPr bwMode="auto">
                <a:xfrm>
                  <a:off x="3605" y="301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2" name="Rectangle 468">
                  <a:extLst>
                    <a:ext uri="{FF2B5EF4-FFF2-40B4-BE49-F238E27FC236}">
                      <a16:creationId xmlns:a16="http://schemas.microsoft.com/office/drawing/2014/main" id="{79C7666C-1EF4-670D-B602-6951BABE6F0D}"/>
                    </a:ext>
                  </a:extLst>
                </p:cNvPr>
                <p:cNvSpPr>
                  <a:spLocks noChangeArrowheads="1"/>
                </p:cNvSpPr>
                <p:nvPr/>
              </p:nvSpPr>
              <p:spPr bwMode="auto">
                <a:xfrm>
                  <a:off x="4004"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3" name="Rectangle 469">
                  <a:extLst>
                    <a:ext uri="{FF2B5EF4-FFF2-40B4-BE49-F238E27FC236}">
                      <a16:creationId xmlns:a16="http://schemas.microsoft.com/office/drawing/2014/main" id="{35C683BF-FC4F-1992-0DC5-09F8D5A606B7}"/>
                    </a:ext>
                  </a:extLst>
                </p:cNvPr>
                <p:cNvSpPr>
                  <a:spLocks noChangeArrowheads="1"/>
                </p:cNvSpPr>
                <p:nvPr/>
              </p:nvSpPr>
              <p:spPr bwMode="auto">
                <a:xfrm>
                  <a:off x="4010"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4" name="Rectangle 470">
                  <a:extLst>
                    <a:ext uri="{FF2B5EF4-FFF2-40B4-BE49-F238E27FC236}">
                      <a16:creationId xmlns:a16="http://schemas.microsoft.com/office/drawing/2014/main" id="{06CFF2A0-25E4-53B6-5297-7F830336838C}"/>
                    </a:ext>
                  </a:extLst>
                </p:cNvPr>
                <p:cNvSpPr>
                  <a:spLocks noChangeArrowheads="1"/>
                </p:cNvSpPr>
                <p:nvPr/>
              </p:nvSpPr>
              <p:spPr bwMode="auto">
                <a:xfrm>
                  <a:off x="4411"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5" name="Rectangle 471">
                  <a:extLst>
                    <a:ext uri="{FF2B5EF4-FFF2-40B4-BE49-F238E27FC236}">
                      <a16:creationId xmlns:a16="http://schemas.microsoft.com/office/drawing/2014/main" id="{F77D0F7C-78E8-B273-E0A8-010E9EB9B3E8}"/>
                    </a:ext>
                  </a:extLst>
                </p:cNvPr>
                <p:cNvSpPr>
                  <a:spLocks noChangeArrowheads="1"/>
                </p:cNvSpPr>
                <p:nvPr/>
              </p:nvSpPr>
              <p:spPr bwMode="auto">
                <a:xfrm>
                  <a:off x="4417"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6" name="Rectangle 472">
                  <a:extLst>
                    <a:ext uri="{FF2B5EF4-FFF2-40B4-BE49-F238E27FC236}">
                      <a16:creationId xmlns:a16="http://schemas.microsoft.com/office/drawing/2014/main" id="{5E18E23C-DD04-936F-A107-D58A71EA77E4}"/>
                    </a:ext>
                  </a:extLst>
                </p:cNvPr>
                <p:cNvSpPr>
                  <a:spLocks noChangeArrowheads="1"/>
                </p:cNvSpPr>
                <p:nvPr/>
              </p:nvSpPr>
              <p:spPr bwMode="auto">
                <a:xfrm>
                  <a:off x="4818"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7" name="Rectangle 473">
                  <a:extLst>
                    <a:ext uri="{FF2B5EF4-FFF2-40B4-BE49-F238E27FC236}">
                      <a16:creationId xmlns:a16="http://schemas.microsoft.com/office/drawing/2014/main" id="{CF09116B-46F7-5C5D-808C-E4756C029064}"/>
                    </a:ext>
                  </a:extLst>
                </p:cNvPr>
                <p:cNvSpPr>
                  <a:spLocks noChangeArrowheads="1"/>
                </p:cNvSpPr>
                <p:nvPr/>
              </p:nvSpPr>
              <p:spPr bwMode="auto">
                <a:xfrm>
                  <a:off x="4824"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8" name="Rectangle 474">
                  <a:extLst>
                    <a:ext uri="{FF2B5EF4-FFF2-40B4-BE49-F238E27FC236}">
                      <a16:creationId xmlns:a16="http://schemas.microsoft.com/office/drawing/2014/main" id="{9AB1435C-FEDE-E0DE-6A2E-FD4473F6344E}"/>
                    </a:ext>
                  </a:extLst>
                </p:cNvPr>
                <p:cNvSpPr>
                  <a:spLocks noChangeArrowheads="1"/>
                </p:cNvSpPr>
                <p:nvPr/>
              </p:nvSpPr>
              <p:spPr bwMode="auto">
                <a:xfrm>
                  <a:off x="5225"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9" name="Rectangle 475">
                  <a:extLst>
                    <a:ext uri="{FF2B5EF4-FFF2-40B4-BE49-F238E27FC236}">
                      <a16:creationId xmlns:a16="http://schemas.microsoft.com/office/drawing/2014/main" id="{2A8091B2-2265-BEEC-A7FD-53E04A9610F2}"/>
                    </a:ext>
                  </a:extLst>
                </p:cNvPr>
                <p:cNvSpPr>
                  <a:spLocks noChangeArrowheads="1"/>
                </p:cNvSpPr>
                <p:nvPr/>
              </p:nvSpPr>
              <p:spPr bwMode="auto">
                <a:xfrm>
                  <a:off x="346"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0" name="Rectangle 476">
                  <a:extLst>
                    <a:ext uri="{FF2B5EF4-FFF2-40B4-BE49-F238E27FC236}">
                      <a16:creationId xmlns:a16="http://schemas.microsoft.com/office/drawing/2014/main" id="{B159CE15-EBCB-48FE-2FC5-6BA28B139B2E}"/>
                    </a:ext>
                  </a:extLst>
                </p:cNvPr>
                <p:cNvSpPr>
                  <a:spLocks noChangeArrowheads="1"/>
                </p:cNvSpPr>
                <p:nvPr/>
              </p:nvSpPr>
              <p:spPr bwMode="auto">
                <a:xfrm>
                  <a:off x="582"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1" name="Rectangle 477">
                  <a:extLst>
                    <a:ext uri="{FF2B5EF4-FFF2-40B4-BE49-F238E27FC236}">
                      <a16:creationId xmlns:a16="http://schemas.microsoft.com/office/drawing/2014/main" id="{2EF96F0B-475A-6680-843B-059CD07CDC4C}"/>
                    </a:ext>
                  </a:extLst>
                </p:cNvPr>
                <p:cNvSpPr>
                  <a:spLocks noChangeArrowheads="1"/>
                </p:cNvSpPr>
                <p:nvPr/>
              </p:nvSpPr>
              <p:spPr bwMode="auto">
                <a:xfrm>
                  <a:off x="1157"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2" name="Rectangle 478">
                  <a:extLst>
                    <a:ext uri="{FF2B5EF4-FFF2-40B4-BE49-F238E27FC236}">
                      <a16:creationId xmlns:a16="http://schemas.microsoft.com/office/drawing/2014/main" id="{3928D8DD-9137-8ECF-1DF3-1DB34B0CAA9B}"/>
                    </a:ext>
                  </a:extLst>
                </p:cNvPr>
                <p:cNvSpPr>
                  <a:spLocks noChangeArrowheads="1"/>
                </p:cNvSpPr>
                <p:nvPr/>
              </p:nvSpPr>
              <p:spPr bwMode="auto">
                <a:xfrm>
                  <a:off x="1564"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3" name="Rectangle 479">
                  <a:extLst>
                    <a:ext uri="{FF2B5EF4-FFF2-40B4-BE49-F238E27FC236}">
                      <a16:creationId xmlns:a16="http://schemas.microsoft.com/office/drawing/2014/main" id="{7F0F68E0-DFEF-9EC5-625B-C5A03AA91890}"/>
                    </a:ext>
                  </a:extLst>
                </p:cNvPr>
                <p:cNvSpPr>
                  <a:spLocks noChangeArrowheads="1"/>
                </p:cNvSpPr>
                <p:nvPr/>
              </p:nvSpPr>
              <p:spPr bwMode="auto">
                <a:xfrm>
                  <a:off x="1987"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4" name="Rectangle 480">
                  <a:extLst>
                    <a:ext uri="{FF2B5EF4-FFF2-40B4-BE49-F238E27FC236}">
                      <a16:creationId xmlns:a16="http://schemas.microsoft.com/office/drawing/2014/main" id="{AC827004-80E0-3C40-4A54-BDE4ADFE104F}"/>
                    </a:ext>
                  </a:extLst>
                </p:cNvPr>
                <p:cNvSpPr>
                  <a:spLocks noChangeArrowheads="1"/>
                </p:cNvSpPr>
                <p:nvPr/>
              </p:nvSpPr>
              <p:spPr bwMode="auto">
                <a:xfrm>
                  <a:off x="2378"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5" name="Rectangle 481">
                  <a:extLst>
                    <a:ext uri="{FF2B5EF4-FFF2-40B4-BE49-F238E27FC236}">
                      <a16:creationId xmlns:a16="http://schemas.microsoft.com/office/drawing/2014/main" id="{ACBA8E88-2393-3935-EAA6-38C146AD4D6B}"/>
                    </a:ext>
                  </a:extLst>
                </p:cNvPr>
                <p:cNvSpPr>
                  <a:spLocks noChangeArrowheads="1"/>
                </p:cNvSpPr>
                <p:nvPr/>
              </p:nvSpPr>
              <p:spPr bwMode="auto">
                <a:xfrm>
                  <a:off x="2785"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6" name="Rectangle 482">
                  <a:extLst>
                    <a:ext uri="{FF2B5EF4-FFF2-40B4-BE49-F238E27FC236}">
                      <a16:creationId xmlns:a16="http://schemas.microsoft.com/office/drawing/2014/main" id="{2FF5B6DF-D9D0-1E2E-9742-B231C8681DB6}"/>
                    </a:ext>
                  </a:extLst>
                </p:cNvPr>
                <p:cNvSpPr>
                  <a:spLocks noChangeArrowheads="1"/>
                </p:cNvSpPr>
                <p:nvPr/>
              </p:nvSpPr>
              <p:spPr bwMode="auto">
                <a:xfrm>
                  <a:off x="3192"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7" name="Rectangle 483">
                  <a:extLst>
                    <a:ext uri="{FF2B5EF4-FFF2-40B4-BE49-F238E27FC236}">
                      <a16:creationId xmlns:a16="http://schemas.microsoft.com/office/drawing/2014/main" id="{4EB654C0-1EFC-B639-8589-1A607B9E2A15}"/>
                    </a:ext>
                  </a:extLst>
                </p:cNvPr>
                <p:cNvSpPr>
                  <a:spLocks noChangeArrowheads="1"/>
                </p:cNvSpPr>
                <p:nvPr/>
              </p:nvSpPr>
              <p:spPr bwMode="auto">
                <a:xfrm>
                  <a:off x="3599"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8" name="Rectangle 484">
                  <a:extLst>
                    <a:ext uri="{FF2B5EF4-FFF2-40B4-BE49-F238E27FC236}">
                      <a16:creationId xmlns:a16="http://schemas.microsoft.com/office/drawing/2014/main" id="{859E52A1-5B23-8AFA-D728-F6E6C5EC9BD0}"/>
                    </a:ext>
                  </a:extLst>
                </p:cNvPr>
                <p:cNvSpPr>
                  <a:spLocks noChangeArrowheads="1"/>
                </p:cNvSpPr>
                <p:nvPr/>
              </p:nvSpPr>
              <p:spPr bwMode="auto">
                <a:xfrm>
                  <a:off x="4004"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9" name="Rectangle 485">
                  <a:extLst>
                    <a:ext uri="{FF2B5EF4-FFF2-40B4-BE49-F238E27FC236}">
                      <a16:creationId xmlns:a16="http://schemas.microsoft.com/office/drawing/2014/main" id="{6C6264AB-2A0D-5C18-C76C-8A01F5B64069}"/>
                    </a:ext>
                  </a:extLst>
                </p:cNvPr>
                <p:cNvSpPr>
                  <a:spLocks noChangeArrowheads="1"/>
                </p:cNvSpPr>
                <p:nvPr/>
              </p:nvSpPr>
              <p:spPr bwMode="auto">
                <a:xfrm>
                  <a:off x="4411"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0" name="Rectangle 486">
                  <a:extLst>
                    <a:ext uri="{FF2B5EF4-FFF2-40B4-BE49-F238E27FC236}">
                      <a16:creationId xmlns:a16="http://schemas.microsoft.com/office/drawing/2014/main" id="{9DD8F8E6-B3FF-DFCC-0F5F-22C46950E9B1}"/>
                    </a:ext>
                  </a:extLst>
                </p:cNvPr>
                <p:cNvSpPr>
                  <a:spLocks noChangeArrowheads="1"/>
                </p:cNvSpPr>
                <p:nvPr/>
              </p:nvSpPr>
              <p:spPr bwMode="auto">
                <a:xfrm>
                  <a:off x="4818"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1" name="Rectangle 487">
                  <a:extLst>
                    <a:ext uri="{FF2B5EF4-FFF2-40B4-BE49-F238E27FC236}">
                      <a16:creationId xmlns:a16="http://schemas.microsoft.com/office/drawing/2014/main" id="{4B20662A-73B0-B43B-4448-4E2BFE444936}"/>
                    </a:ext>
                  </a:extLst>
                </p:cNvPr>
                <p:cNvSpPr>
                  <a:spLocks noChangeArrowheads="1"/>
                </p:cNvSpPr>
                <p:nvPr/>
              </p:nvSpPr>
              <p:spPr bwMode="auto">
                <a:xfrm>
                  <a:off x="5225"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2" name="Rectangle 488">
                  <a:extLst>
                    <a:ext uri="{FF2B5EF4-FFF2-40B4-BE49-F238E27FC236}">
                      <a16:creationId xmlns:a16="http://schemas.microsoft.com/office/drawing/2014/main" id="{4AB4880B-2A6B-1B80-77EE-CF1726127183}"/>
                    </a:ext>
                  </a:extLst>
                </p:cNvPr>
                <p:cNvSpPr>
                  <a:spLocks noChangeArrowheads="1"/>
                </p:cNvSpPr>
                <p:nvPr/>
              </p:nvSpPr>
              <p:spPr bwMode="auto">
                <a:xfrm>
                  <a:off x="393" y="302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9</a:t>
                  </a:r>
                </a:p>
              </p:txBody>
            </p:sp>
            <p:sp>
              <p:nvSpPr>
                <p:cNvPr id="513" name="Rectangle 489">
                  <a:extLst>
                    <a:ext uri="{FF2B5EF4-FFF2-40B4-BE49-F238E27FC236}">
                      <a16:creationId xmlns:a16="http://schemas.microsoft.com/office/drawing/2014/main" id="{29EDA0DD-E4DA-B439-584D-3707DFC8370B}"/>
                    </a:ext>
                  </a:extLst>
                </p:cNvPr>
                <p:cNvSpPr>
                  <a:spLocks noChangeArrowheads="1"/>
                </p:cNvSpPr>
                <p:nvPr/>
              </p:nvSpPr>
              <p:spPr bwMode="auto">
                <a:xfrm>
                  <a:off x="708" y="3025"/>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320087</a:t>
                  </a:r>
                </a:p>
              </p:txBody>
            </p:sp>
            <p:sp>
              <p:nvSpPr>
                <p:cNvPr id="514" name="Rectangle 490">
                  <a:extLst>
                    <a:ext uri="{FF2B5EF4-FFF2-40B4-BE49-F238E27FC236}">
                      <a16:creationId xmlns:a16="http://schemas.microsoft.com/office/drawing/2014/main" id="{8E768388-23D0-6FCD-0F39-731269F68169}"/>
                    </a:ext>
                  </a:extLst>
                </p:cNvPr>
                <p:cNvSpPr>
                  <a:spLocks noChangeArrowheads="1"/>
                </p:cNvSpPr>
                <p:nvPr/>
              </p:nvSpPr>
              <p:spPr bwMode="auto">
                <a:xfrm>
                  <a:off x="1272" y="302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a:t>
                  </a:r>
                </a:p>
              </p:txBody>
            </p:sp>
            <p:sp>
              <p:nvSpPr>
                <p:cNvPr id="515" name="Rectangle 491">
                  <a:extLst>
                    <a:ext uri="{FF2B5EF4-FFF2-40B4-BE49-F238E27FC236}">
                      <a16:creationId xmlns:a16="http://schemas.microsoft.com/office/drawing/2014/main" id="{E822E277-F320-D8A0-32FE-F87DE327DF08}"/>
                    </a:ext>
                  </a:extLst>
                </p:cNvPr>
                <p:cNvSpPr>
                  <a:spLocks noChangeArrowheads="1"/>
                </p:cNvSpPr>
                <p:nvPr/>
              </p:nvSpPr>
              <p:spPr bwMode="auto">
                <a:xfrm>
                  <a:off x="1704" y="302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a:t>
                  </a:r>
                </a:p>
              </p:txBody>
            </p:sp>
            <p:sp>
              <p:nvSpPr>
                <p:cNvPr id="516" name="Rectangle 492">
                  <a:extLst>
                    <a:ext uri="{FF2B5EF4-FFF2-40B4-BE49-F238E27FC236}">
                      <a16:creationId xmlns:a16="http://schemas.microsoft.com/office/drawing/2014/main" id="{A481C1A1-7CEA-FB95-43ED-3C86A5EF12D6}"/>
                    </a:ext>
                  </a:extLst>
                </p:cNvPr>
                <p:cNvSpPr>
                  <a:spLocks noChangeArrowheads="1"/>
                </p:cNvSpPr>
                <p:nvPr/>
              </p:nvSpPr>
              <p:spPr bwMode="auto">
                <a:xfrm>
                  <a:off x="2079"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17" name="Rectangle 493">
                  <a:extLst>
                    <a:ext uri="{FF2B5EF4-FFF2-40B4-BE49-F238E27FC236}">
                      <a16:creationId xmlns:a16="http://schemas.microsoft.com/office/drawing/2014/main" id="{4FE062A6-3680-1378-8526-9AFE4CCDB9E9}"/>
                    </a:ext>
                  </a:extLst>
                </p:cNvPr>
                <p:cNvSpPr>
                  <a:spLocks noChangeArrowheads="1"/>
                </p:cNvSpPr>
                <p:nvPr/>
              </p:nvSpPr>
              <p:spPr bwMode="auto">
                <a:xfrm>
                  <a:off x="2883"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18" name="Rectangle 494">
                  <a:extLst>
                    <a:ext uri="{FF2B5EF4-FFF2-40B4-BE49-F238E27FC236}">
                      <a16:creationId xmlns:a16="http://schemas.microsoft.com/office/drawing/2014/main" id="{601FB57A-6E47-C736-67D4-4FCCE53DC8D0}"/>
                    </a:ext>
                  </a:extLst>
                </p:cNvPr>
                <p:cNvSpPr>
                  <a:spLocks noChangeArrowheads="1"/>
                </p:cNvSpPr>
                <p:nvPr/>
              </p:nvSpPr>
              <p:spPr bwMode="auto">
                <a:xfrm>
                  <a:off x="3290"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519" name="Rectangle 495">
                  <a:extLst>
                    <a:ext uri="{FF2B5EF4-FFF2-40B4-BE49-F238E27FC236}">
                      <a16:creationId xmlns:a16="http://schemas.microsoft.com/office/drawing/2014/main" id="{7D67B5BE-4156-DD93-F6B1-8B3467E93125}"/>
                    </a:ext>
                  </a:extLst>
                </p:cNvPr>
                <p:cNvSpPr>
                  <a:spLocks noChangeArrowheads="1"/>
                </p:cNvSpPr>
                <p:nvPr/>
              </p:nvSpPr>
              <p:spPr bwMode="auto">
                <a:xfrm>
                  <a:off x="3697"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20" name="Rectangle 496">
                  <a:extLst>
                    <a:ext uri="{FF2B5EF4-FFF2-40B4-BE49-F238E27FC236}">
                      <a16:creationId xmlns:a16="http://schemas.microsoft.com/office/drawing/2014/main" id="{54AEF5A9-ABDD-ED95-FF0B-6B3BAC579E29}"/>
                    </a:ext>
                  </a:extLst>
                </p:cNvPr>
                <p:cNvSpPr>
                  <a:spLocks noChangeArrowheads="1"/>
                </p:cNvSpPr>
                <p:nvPr/>
              </p:nvSpPr>
              <p:spPr bwMode="auto">
                <a:xfrm>
                  <a:off x="4511"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21" name="Rectangle 497">
                  <a:extLst>
                    <a:ext uri="{FF2B5EF4-FFF2-40B4-BE49-F238E27FC236}">
                      <a16:creationId xmlns:a16="http://schemas.microsoft.com/office/drawing/2014/main" id="{F8121841-7CDF-C114-5425-F84BEA659872}"/>
                    </a:ext>
                  </a:extLst>
                </p:cNvPr>
                <p:cNvSpPr>
                  <a:spLocks noChangeArrowheads="1"/>
                </p:cNvSpPr>
                <p:nvPr/>
              </p:nvSpPr>
              <p:spPr bwMode="auto">
                <a:xfrm>
                  <a:off x="4918"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22" name="Rectangle 498">
                  <a:extLst>
                    <a:ext uri="{FF2B5EF4-FFF2-40B4-BE49-F238E27FC236}">
                      <a16:creationId xmlns:a16="http://schemas.microsoft.com/office/drawing/2014/main" id="{B175B7E5-0BF4-FA4D-AD91-762EC91637EE}"/>
                    </a:ext>
                  </a:extLst>
                </p:cNvPr>
                <p:cNvSpPr>
                  <a:spLocks noChangeArrowheads="1"/>
                </p:cNvSpPr>
                <p:nvPr/>
              </p:nvSpPr>
              <p:spPr bwMode="auto">
                <a:xfrm>
                  <a:off x="346"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3" name="Rectangle 499">
                  <a:extLst>
                    <a:ext uri="{FF2B5EF4-FFF2-40B4-BE49-F238E27FC236}">
                      <a16:creationId xmlns:a16="http://schemas.microsoft.com/office/drawing/2014/main" id="{E6114BF9-8BD7-D48F-60D0-737ECAD9BEF6}"/>
                    </a:ext>
                  </a:extLst>
                </p:cNvPr>
                <p:cNvSpPr>
                  <a:spLocks noChangeArrowheads="1"/>
                </p:cNvSpPr>
                <p:nvPr/>
              </p:nvSpPr>
              <p:spPr bwMode="auto">
                <a:xfrm>
                  <a:off x="351" y="316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4" name="Rectangle 500">
                  <a:extLst>
                    <a:ext uri="{FF2B5EF4-FFF2-40B4-BE49-F238E27FC236}">
                      <a16:creationId xmlns:a16="http://schemas.microsoft.com/office/drawing/2014/main" id="{33040882-B7A1-6585-2BB0-CC7058B2DFF9}"/>
                    </a:ext>
                  </a:extLst>
                </p:cNvPr>
                <p:cNvSpPr>
                  <a:spLocks noChangeArrowheads="1"/>
                </p:cNvSpPr>
                <p:nvPr/>
              </p:nvSpPr>
              <p:spPr bwMode="auto">
                <a:xfrm>
                  <a:off x="582"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5" name="Rectangle 501">
                  <a:extLst>
                    <a:ext uri="{FF2B5EF4-FFF2-40B4-BE49-F238E27FC236}">
                      <a16:creationId xmlns:a16="http://schemas.microsoft.com/office/drawing/2014/main" id="{1BBE6CFA-0C93-9988-88BD-8D738E224DB4}"/>
                    </a:ext>
                  </a:extLst>
                </p:cNvPr>
                <p:cNvSpPr>
                  <a:spLocks noChangeArrowheads="1"/>
                </p:cNvSpPr>
                <p:nvPr/>
              </p:nvSpPr>
              <p:spPr bwMode="auto">
                <a:xfrm>
                  <a:off x="587" y="316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6" name="Rectangle 502">
                  <a:extLst>
                    <a:ext uri="{FF2B5EF4-FFF2-40B4-BE49-F238E27FC236}">
                      <a16:creationId xmlns:a16="http://schemas.microsoft.com/office/drawing/2014/main" id="{474DE7BD-042A-F2FA-BC4D-79A951B5A5A6}"/>
                    </a:ext>
                  </a:extLst>
                </p:cNvPr>
                <p:cNvSpPr>
                  <a:spLocks noChangeArrowheads="1"/>
                </p:cNvSpPr>
                <p:nvPr/>
              </p:nvSpPr>
              <p:spPr bwMode="auto">
                <a:xfrm>
                  <a:off x="1157"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7" name="Rectangle 503">
                  <a:extLst>
                    <a:ext uri="{FF2B5EF4-FFF2-40B4-BE49-F238E27FC236}">
                      <a16:creationId xmlns:a16="http://schemas.microsoft.com/office/drawing/2014/main" id="{3C53AABF-760B-356E-DDED-7A34CA680F6A}"/>
                    </a:ext>
                  </a:extLst>
                </p:cNvPr>
                <p:cNvSpPr>
                  <a:spLocks noChangeArrowheads="1"/>
                </p:cNvSpPr>
                <p:nvPr/>
              </p:nvSpPr>
              <p:spPr bwMode="auto">
                <a:xfrm>
                  <a:off x="1163"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8" name="Rectangle 504">
                  <a:extLst>
                    <a:ext uri="{FF2B5EF4-FFF2-40B4-BE49-F238E27FC236}">
                      <a16:creationId xmlns:a16="http://schemas.microsoft.com/office/drawing/2014/main" id="{F9BACC09-D723-25F8-19E0-EC0352A4384A}"/>
                    </a:ext>
                  </a:extLst>
                </p:cNvPr>
                <p:cNvSpPr>
                  <a:spLocks noChangeArrowheads="1"/>
                </p:cNvSpPr>
                <p:nvPr/>
              </p:nvSpPr>
              <p:spPr bwMode="auto">
                <a:xfrm>
                  <a:off x="1564"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9" name="Rectangle 505">
                  <a:extLst>
                    <a:ext uri="{FF2B5EF4-FFF2-40B4-BE49-F238E27FC236}">
                      <a16:creationId xmlns:a16="http://schemas.microsoft.com/office/drawing/2014/main" id="{2F3F11F0-61F2-C175-61F2-DD5D0E56534E}"/>
                    </a:ext>
                  </a:extLst>
                </p:cNvPr>
                <p:cNvSpPr>
                  <a:spLocks noChangeArrowheads="1"/>
                </p:cNvSpPr>
                <p:nvPr/>
              </p:nvSpPr>
              <p:spPr bwMode="auto">
                <a:xfrm>
                  <a:off x="1570" y="316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0" name="Rectangle 506">
                  <a:extLst>
                    <a:ext uri="{FF2B5EF4-FFF2-40B4-BE49-F238E27FC236}">
                      <a16:creationId xmlns:a16="http://schemas.microsoft.com/office/drawing/2014/main" id="{12C8DC5C-D705-2F64-DB12-75A3E1E93FE7}"/>
                    </a:ext>
                  </a:extLst>
                </p:cNvPr>
                <p:cNvSpPr>
                  <a:spLocks noChangeArrowheads="1"/>
                </p:cNvSpPr>
                <p:nvPr/>
              </p:nvSpPr>
              <p:spPr bwMode="auto">
                <a:xfrm>
                  <a:off x="1987"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1" name="Rectangle 507">
                  <a:extLst>
                    <a:ext uri="{FF2B5EF4-FFF2-40B4-BE49-F238E27FC236}">
                      <a16:creationId xmlns:a16="http://schemas.microsoft.com/office/drawing/2014/main" id="{BFEB5AF1-37F1-EA84-AF09-EEC3AC45F0A0}"/>
                    </a:ext>
                  </a:extLst>
                </p:cNvPr>
                <p:cNvSpPr>
                  <a:spLocks noChangeArrowheads="1"/>
                </p:cNvSpPr>
                <p:nvPr/>
              </p:nvSpPr>
              <p:spPr bwMode="auto">
                <a:xfrm>
                  <a:off x="1993" y="316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2" name="Rectangle 508">
                  <a:extLst>
                    <a:ext uri="{FF2B5EF4-FFF2-40B4-BE49-F238E27FC236}">
                      <a16:creationId xmlns:a16="http://schemas.microsoft.com/office/drawing/2014/main" id="{F1AC7E97-AB2F-52DB-476B-130F94D0CA32}"/>
                    </a:ext>
                  </a:extLst>
                </p:cNvPr>
                <p:cNvSpPr>
                  <a:spLocks noChangeArrowheads="1"/>
                </p:cNvSpPr>
                <p:nvPr/>
              </p:nvSpPr>
              <p:spPr bwMode="auto">
                <a:xfrm>
                  <a:off x="2378"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3" name="Rectangle 509">
                  <a:extLst>
                    <a:ext uri="{FF2B5EF4-FFF2-40B4-BE49-F238E27FC236}">
                      <a16:creationId xmlns:a16="http://schemas.microsoft.com/office/drawing/2014/main" id="{BCFAB9BA-C118-733C-48B7-775F79707757}"/>
                    </a:ext>
                  </a:extLst>
                </p:cNvPr>
                <p:cNvSpPr>
                  <a:spLocks noChangeArrowheads="1"/>
                </p:cNvSpPr>
                <p:nvPr/>
              </p:nvSpPr>
              <p:spPr bwMode="auto">
                <a:xfrm>
                  <a:off x="2384"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4" name="Rectangle 510">
                  <a:extLst>
                    <a:ext uri="{FF2B5EF4-FFF2-40B4-BE49-F238E27FC236}">
                      <a16:creationId xmlns:a16="http://schemas.microsoft.com/office/drawing/2014/main" id="{B3CD8E08-7BA3-BB4C-E399-E7E9142675D9}"/>
                    </a:ext>
                  </a:extLst>
                </p:cNvPr>
                <p:cNvSpPr>
                  <a:spLocks noChangeArrowheads="1"/>
                </p:cNvSpPr>
                <p:nvPr/>
              </p:nvSpPr>
              <p:spPr bwMode="auto">
                <a:xfrm>
                  <a:off x="2785"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5" name="Rectangle 511">
                  <a:extLst>
                    <a:ext uri="{FF2B5EF4-FFF2-40B4-BE49-F238E27FC236}">
                      <a16:creationId xmlns:a16="http://schemas.microsoft.com/office/drawing/2014/main" id="{D2606AD2-9CA2-C61F-6948-A2D8AAE01220}"/>
                    </a:ext>
                  </a:extLst>
                </p:cNvPr>
                <p:cNvSpPr>
                  <a:spLocks noChangeArrowheads="1"/>
                </p:cNvSpPr>
                <p:nvPr/>
              </p:nvSpPr>
              <p:spPr bwMode="auto">
                <a:xfrm>
                  <a:off x="2791"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6" name="Rectangle 512">
                  <a:extLst>
                    <a:ext uri="{FF2B5EF4-FFF2-40B4-BE49-F238E27FC236}">
                      <a16:creationId xmlns:a16="http://schemas.microsoft.com/office/drawing/2014/main" id="{89F7054A-2687-2749-EE1F-83206C60C9BA}"/>
                    </a:ext>
                  </a:extLst>
                </p:cNvPr>
                <p:cNvSpPr>
                  <a:spLocks noChangeArrowheads="1"/>
                </p:cNvSpPr>
                <p:nvPr/>
              </p:nvSpPr>
              <p:spPr bwMode="auto">
                <a:xfrm>
                  <a:off x="3192"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7" name="Rectangle 513">
                  <a:extLst>
                    <a:ext uri="{FF2B5EF4-FFF2-40B4-BE49-F238E27FC236}">
                      <a16:creationId xmlns:a16="http://schemas.microsoft.com/office/drawing/2014/main" id="{69DEF48C-2F99-2F7D-AB0F-9AABC07C1E14}"/>
                    </a:ext>
                  </a:extLst>
                </p:cNvPr>
                <p:cNvSpPr>
                  <a:spLocks noChangeArrowheads="1"/>
                </p:cNvSpPr>
                <p:nvPr/>
              </p:nvSpPr>
              <p:spPr bwMode="auto">
                <a:xfrm>
                  <a:off x="3198"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8" name="Rectangle 514">
                  <a:extLst>
                    <a:ext uri="{FF2B5EF4-FFF2-40B4-BE49-F238E27FC236}">
                      <a16:creationId xmlns:a16="http://schemas.microsoft.com/office/drawing/2014/main" id="{443EC855-3AD3-E4DD-D1BC-D947131724BC}"/>
                    </a:ext>
                  </a:extLst>
                </p:cNvPr>
                <p:cNvSpPr>
                  <a:spLocks noChangeArrowheads="1"/>
                </p:cNvSpPr>
                <p:nvPr/>
              </p:nvSpPr>
              <p:spPr bwMode="auto">
                <a:xfrm>
                  <a:off x="3599"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9" name="Rectangle 515">
                  <a:extLst>
                    <a:ext uri="{FF2B5EF4-FFF2-40B4-BE49-F238E27FC236}">
                      <a16:creationId xmlns:a16="http://schemas.microsoft.com/office/drawing/2014/main" id="{D2792FED-CD6A-3AA0-2B7A-04E2AA66D2FC}"/>
                    </a:ext>
                  </a:extLst>
                </p:cNvPr>
                <p:cNvSpPr>
                  <a:spLocks noChangeArrowheads="1"/>
                </p:cNvSpPr>
                <p:nvPr/>
              </p:nvSpPr>
              <p:spPr bwMode="auto">
                <a:xfrm>
                  <a:off x="3605" y="316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0" name="Rectangle 516">
                  <a:extLst>
                    <a:ext uri="{FF2B5EF4-FFF2-40B4-BE49-F238E27FC236}">
                      <a16:creationId xmlns:a16="http://schemas.microsoft.com/office/drawing/2014/main" id="{62B9A2FB-B586-0EB7-98AC-BCBAEB3B6ACE}"/>
                    </a:ext>
                  </a:extLst>
                </p:cNvPr>
                <p:cNvSpPr>
                  <a:spLocks noChangeArrowheads="1"/>
                </p:cNvSpPr>
                <p:nvPr/>
              </p:nvSpPr>
              <p:spPr bwMode="auto">
                <a:xfrm>
                  <a:off x="4004"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1" name="Rectangle 517">
                  <a:extLst>
                    <a:ext uri="{FF2B5EF4-FFF2-40B4-BE49-F238E27FC236}">
                      <a16:creationId xmlns:a16="http://schemas.microsoft.com/office/drawing/2014/main" id="{79B2D032-0B8C-C6E5-6299-769728F042C6}"/>
                    </a:ext>
                  </a:extLst>
                </p:cNvPr>
                <p:cNvSpPr>
                  <a:spLocks noChangeArrowheads="1"/>
                </p:cNvSpPr>
                <p:nvPr/>
              </p:nvSpPr>
              <p:spPr bwMode="auto">
                <a:xfrm>
                  <a:off x="4010"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2" name="Rectangle 518">
                  <a:extLst>
                    <a:ext uri="{FF2B5EF4-FFF2-40B4-BE49-F238E27FC236}">
                      <a16:creationId xmlns:a16="http://schemas.microsoft.com/office/drawing/2014/main" id="{47FA9C9D-8716-438B-C9E0-3B458F6A1330}"/>
                    </a:ext>
                  </a:extLst>
                </p:cNvPr>
                <p:cNvSpPr>
                  <a:spLocks noChangeArrowheads="1"/>
                </p:cNvSpPr>
                <p:nvPr/>
              </p:nvSpPr>
              <p:spPr bwMode="auto">
                <a:xfrm>
                  <a:off x="4411"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3" name="Rectangle 519">
                  <a:extLst>
                    <a:ext uri="{FF2B5EF4-FFF2-40B4-BE49-F238E27FC236}">
                      <a16:creationId xmlns:a16="http://schemas.microsoft.com/office/drawing/2014/main" id="{A1027CC8-AD54-B7A6-4F4C-A29EFC89BDA7}"/>
                    </a:ext>
                  </a:extLst>
                </p:cNvPr>
                <p:cNvSpPr>
                  <a:spLocks noChangeArrowheads="1"/>
                </p:cNvSpPr>
                <p:nvPr/>
              </p:nvSpPr>
              <p:spPr bwMode="auto">
                <a:xfrm>
                  <a:off x="4417"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4" name="Rectangle 520">
                  <a:extLst>
                    <a:ext uri="{FF2B5EF4-FFF2-40B4-BE49-F238E27FC236}">
                      <a16:creationId xmlns:a16="http://schemas.microsoft.com/office/drawing/2014/main" id="{DF7402BA-B388-823B-AFC9-0B184ED17422}"/>
                    </a:ext>
                  </a:extLst>
                </p:cNvPr>
                <p:cNvSpPr>
                  <a:spLocks noChangeArrowheads="1"/>
                </p:cNvSpPr>
                <p:nvPr/>
              </p:nvSpPr>
              <p:spPr bwMode="auto">
                <a:xfrm>
                  <a:off x="4818"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5" name="Rectangle 521">
                  <a:extLst>
                    <a:ext uri="{FF2B5EF4-FFF2-40B4-BE49-F238E27FC236}">
                      <a16:creationId xmlns:a16="http://schemas.microsoft.com/office/drawing/2014/main" id="{A5DD0633-68BD-B4B0-4E16-1B90BE6D4ED6}"/>
                    </a:ext>
                  </a:extLst>
                </p:cNvPr>
                <p:cNvSpPr>
                  <a:spLocks noChangeArrowheads="1"/>
                </p:cNvSpPr>
                <p:nvPr/>
              </p:nvSpPr>
              <p:spPr bwMode="auto">
                <a:xfrm>
                  <a:off x="4824"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6" name="Rectangle 522">
                  <a:extLst>
                    <a:ext uri="{FF2B5EF4-FFF2-40B4-BE49-F238E27FC236}">
                      <a16:creationId xmlns:a16="http://schemas.microsoft.com/office/drawing/2014/main" id="{E7BE5201-5286-E05E-6C48-EDDD2F708829}"/>
                    </a:ext>
                  </a:extLst>
                </p:cNvPr>
                <p:cNvSpPr>
                  <a:spLocks noChangeArrowheads="1"/>
                </p:cNvSpPr>
                <p:nvPr/>
              </p:nvSpPr>
              <p:spPr bwMode="auto">
                <a:xfrm>
                  <a:off x="5225"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7" name="Rectangle 523">
                  <a:extLst>
                    <a:ext uri="{FF2B5EF4-FFF2-40B4-BE49-F238E27FC236}">
                      <a16:creationId xmlns:a16="http://schemas.microsoft.com/office/drawing/2014/main" id="{7A25DCE2-C023-7270-8225-A0942BFFA648}"/>
                    </a:ext>
                  </a:extLst>
                </p:cNvPr>
                <p:cNvSpPr>
                  <a:spLocks noChangeArrowheads="1"/>
                </p:cNvSpPr>
                <p:nvPr/>
              </p:nvSpPr>
              <p:spPr bwMode="auto">
                <a:xfrm>
                  <a:off x="346"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8" name="Rectangle 524">
                  <a:extLst>
                    <a:ext uri="{FF2B5EF4-FFF2-40B4-BE49-F238E27FC236}">
                      <a16:creationId xmlns:a16="http://schemas.microsoft.com/office/drawing/2014/main" id="{4EB262B7-D8A4-96C7-5188-D03F572B952B}"/>
                    </a:ext>
                  </a:extLst>
                </p:cNvPr>
                <p:cNvSpPr>
                  <a:spLocks noChangeArrowheads="1"/>
                </p:cNvSpPr>
                <p:nvPr/>
              </p:nvSpPr>
              <p:spPr bwMode="auto">
                <a:xfrm>
                  <a:off x="582"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9" name="Rectangle 525">
                  <a:extLst>
                    <a:ext uri="{FF2B5EF4-FFF2-40B4-BE49-F238E27FC236}">
                      <a16:creationId xmlns:a16="http://schemas.microsoft.com/office/drawing/2014/main" id="{20A16AE8-3512-2FE0-046E-A36F2D214704}"/>
                    </a:ext>
                  </a:extLst>
                </p:cNvPr>
                <p:cNvSpPr>
                  <a:spLocks noChangeArrowheads="1"/>
                </p:cNvSpPr>
                <p:nvPr/>
              </p:nvSpPr>
              <p:spPr bwMode="auto">
                <a:xfrm>
                  <a:off x="1157"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0" name="Rectangle 526">
                  <a:extLst>
                    <a:ext uri="{FF2B5EF4-FFF2-40B4-BE49-F238E27FC236}">
                      <a16:creationId xmlns:a16="http://schemas.microsoft.com/office/drawing/2014/main" id="{EEE62C30-A7D0-2ABC-2B42-DB6CDFB74412}"/>
                    </a:ext>
                  </a:extLst>
                </p:cNvPr>
                <p:cNvSpPr>
                  <a:spLocks noChangeArrowheads="1"/>
                </p:cNvSpPr>
                <p:nvPr/>
              </p:nvSpPr>
              <p:spPr bwMode="auto">
                <a:xfrm>
                  <a:off x="1564"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1" name="Rectangle 527">
                  <a:extLst>
                    <a:ext uri="{FF2B5EF4-FFF2-40B4-BE49-F238E27FC236}">
                      <a16:creationId xmlns:a16="http://schemas.microsoft.com/office/drawing/2014/main" id="{D2625ACB-05B9-A347-FB3C-EEA2554784A8}"/>
                    </a:ext>
                  </a:extLst>
                </p:cNvPr>
                <p:cNvSpPr>
                  <a:spLocks noChangeArrowheads="1"/>
                </p:cNvSpPr>
                <p:nvPr/>
              </p:nvSpPr>
              <p:spPr bwMode="auto">
                <a:xfrm>
                  <a:off x="1987"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2" name="Rectangle 528">
                  <a:extLst>
                    <a:ext uri="{FF2B5EF4-FFF2-40B4-BE49-F238E27FC236}">
                      <a16:creationId xmlns:a16="http://schemas.microsoft.com/office/drawing/2014/main" id="{67F7A3BF-CCF0-DB03-08A2-0D16C1A4D207}"/>
                    </a:ext>
                  </a:extLst>
                </p:cNvPr>
                <p:cNvSpPr>
                  <a:spLocks noChangeArrowheads="1"/>
                </p:cNvSpPr>
                <p:nvPr/>
              </p:nvSpPr>
              <p:spPr bwMode="auto">
                <a:xfrm>
                  <a:off x="2378"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3" name="Rectangle 529">
                  <a:extLst>
                    <a:ext uri="{FF2B5EF4-FFF2-40B4-BE49-F238E27FC236}">
                      <a16:creationId xmlns:a16="http://schemas.microsoft.com/office/drawing/2014/main" id="{082CC7F3-E053-5B42-FBEA-C4EE6269651A}"/>
                    </a:ext>
                  </a:extLst>
                </p:cNvPr>
                <p:cNvSpPr>
                  <a:spLocks noChangeArrowheads="1"/>
                </p:cNvSpPr>
                <p:nvPr/>
              </p:nvSpPr>
              <p:spPr bwMode="auto">
                <a:xfrm>
                  <a:off x="2785"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4" name="Rectangle 530">
                  <a:extLst>
                    <a:ext uri="{FF2B5EF4-FFF2-40B4-BE49-F238E27FC236}">
                      <a16:creationId xmlns:a16="http://schemas.microsoft.com/office/drawing/2014/main" id="{70C118C2-FFC2-3E1A-1D82-31E6A2B652F2}"/>
                    </a:ext>
                  </a:extLst>
                </p:cNvPr>
                <p:cNvSpPr>
                  <a:spLocks noChangeArrowheads="1"/>
                </p:cNvSpPr>
                <p:nvPr/>
              </p:nvSpPr>
              <p:spPr bwMode="auto">
                <a:xfrm>
                  <a:off x="3192"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5" name="Rectangle 531">
                  <a:extLst>
                    <a:ext uri="{FF2B5EF4-FFF2-40B4-BE49-F238E27FC236}">
                      <a16:creationId xmlns:a16="http://schemas.microsoft.com/office/drawing/2014/main" id="{73895AD1-02FD-5FB5-4E10-C0589F1345E5}"/>
                    </a:ext>
                  </a:extLst>
                </p:cNvPr>
                <p:cNvSpPr>
                  <a:spLocks noChangeArrowheads="1"/>
                </p:cNvSpPr>
                <p:nvPr/>
              </p:nvSpPr>
              <p:spPr bwMode="auto">
                <a:xfrm>
                  <a:off x="3599"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6" name="Rectangle 532">
                  <a:extLst>
                    <a:ext uri="{FF2B5EF4-FFF2-40B4-BE49-F238E27FC236}">
                      <a16:creationId xmlns:a16="http://schemas.microsoft.com/office/drawing/2014/main" id="{E4471CB5-D241-33B8-1824-E84580F83415}"/>
                    </a:ext>
                  </a:extLst>
                </p:cNvPr>
                <p:cNvSpPr>
                  <a:spLocks noChangeArrowheads="1"/>
                </p:cNvSpPr>
                <p:nvPr/>
              </p:nvSpPr>
              <p:spPr bwMode="auto">
                <a:xfrm>
                  <a:off x="4004"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7" name="Rectangle 533">
                  <a:extLst>
                    <a:ext uri="{FF2B5EF4-FFF2-40B4-BE49-F238E27FC236}">
                      <a16:creationId xmlns:a16="http://schemas.microsoft.com/office/drawing/2014/main" id="{CEB906C5-245A-A0ED-C62E-E3149682D4F2}"/>
                    </a:ext>
                  </a:extLst>
                </p:cNvPr>
                <p:cNvSpPr>
                  <a:spLocks noChangeArrowheads="1"/>
                </p:cNvSpPr>
                <p:nvPr/>
              </p:nvSpPr>
              <p:spPr bwMode="auto">
                <a:xfrm>
                  <a:off x="4411"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8" name="Rectangle 534">
                  <a:extLst>
                    <a:ext uri="{FF2B5EF4-FFF2-40B4-BE49-F238E27FC236}">
                      <a16:creationId xmlns:a16="http://schemas.microsoft.com/office/drawing/2014/main" id="{9298B7CA-06F1-3E47-F2F9-13B06DFA835B}"/>
                    </a:ext>
                  </a:extLst>
                </p:cNvPr>
                <p:cNvSpPr>
                  <a:spLocks noChangeArrowheads="1"/>
                </p:cNvSpPr>
                <p:nvPr/>
              </p:nvSpPr>
              <p:spPr bwMode="auto">
                <a:xfrm>
                  <a:off x="4818"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9" name="Rectangle 535">
                  <a:extLst>
                    <a:ext uri="{FF2B5EF4-FFF2-40B4-BE49-F238E27FC236}">
                      <a16:creationId xmlns:a16="http://schemas.microsoft.com/office/drawing/2014/main" id="{ADEFCB25-08F3-4DA1-0C83-4B63496814D2}"/>
                    </a:ext>
                  </a:extLst>
                </p:cNvPr>
                <p:cNvSpPr>
                  <a:spLocks noChangeArrowheads="1"/>
                </p:cNvSpPr>
                <p:nvPr/>
              </p:nvSpPr>
              <p:spPr bwMode="auto">
                <a:xfrm>
                  <a:off x="5225"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60" name="Rectangle 536">
                  <a:extLst>
                    <a:ext uri="{FF2B5EF4-FFF2-40B4-BE49-F238E27FC236}">
                      <a16:creationId xmlns:a16="http://schemas.microsoft.com/office/drawing/2014/main" id="{003C47E2-CBDA-E5A7-7751-A37463814A33}"/>
                    </a:ext>
                  </a:extLst>
                </p:cNvPr>
                <p:cNvSpPr>
                  <a:spLocks noChangeArrowheads="1"/>
                </p:cNvSpPr>
                <p:nvPr/>
              </p:nvSpPr>
              <p:spPr bwMode="auto">
                <a:xfrm>
                  <a:off x="374" y="317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10</a:t>
                  </a:r>
                </a:p>
              </p:txBody>
            </p:sp>
            <p:sp>
              <p:nvSpPr>
                <p:cNvPr id="561" name="Rectangle 537">
                  <a:extLst>
                    <a:ext uri="{FF2B5EF4-FFF2-40B4-BE49-F238E27FC236}">
                      <a16:creationId xmlns:a16="http://schemas.microsoft.com/office/drawing/2014/main" id="{DF47978B-52CB-0A2B-D944-6E0594F1B969}"/>
                    </a:ext>
                  </a:extLst>
                </p:cNvPr>
                <p:cNvSpPr>
                  <a:spLocks noChangeArrowheads="1"/>
                </p:cNvSpPr>
                <p:nvPr/>
              </p:nvSpPr>
              <p:spPr bwMode="auto">
                <a:xfrm>
                  <a:off x="681" y="3175"/>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OBR-004</a:t>
                  </a:r>
                </a:p>
              </p:txBody>
            </p:sp>
            <p:sp>
              <p:nvSpPr>
                <p:cNvPr id="562" name="Rectangle 538">
                  <a:extLst>
                    <a:ext uri="{FF2B5EF4-FFF2-40B4-BE49-F238E27FC236}">
                      <a16:creationId xmlns:a16="http://schemas.microsoft.com/office/drawing/2014/main" id="{A3AD81C0-058F-FA9A-9ABB-D11F45BA3576}"/>
                    </a:ext>
                  </a:extLst>
                </p:cNvPr>
                <p:cNvSpPr>
                  <a:spLocks noChangeArrowheads="1"/>
                </p:cNvSpPr>
                <p:nvPr/>
              </p:nvSpPr>
              <p:spPr bwMode="auto">
                <a:xfrm>
                  <a:off x="1272" y="317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a:t>
                  </a:r>
                </a:p>
              </p:txBody>
            </p:sp>
            <p:sp>
              <p:nvSpPr>
                <p:cNvPr id="563" name="Rectangle 539">
                  <a:extLst>
                    <a:ext uri="{FF2B5EF4-FFF2-40B4-BE49-F238E27FC236}">
                      <a16:creationId xmlns:a16="http://schemas.microsoft.com/office/drawing/2014/main" id="{7E67C82C-046D-0EAF-DA77-283D10E2BD19}"/>
                    </a:ext>
                  </a:extLst>
                </p:cNvPr>
                <p:cNvSpPr>
                  <a:spLocks noChangeArrowheads="1"/>
                </p:cNvSpPr>
                <p:nvPr/>
              </p:nvSpPr>
              <p:spPr bwMode="auto">
                <a:xfrm>
                  <a:off x="1704" y="317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a:t>
                  </a:r>
                </a:p>
              </p:txBody>
            </p:sp>
            <p:sp>
              <p:nvSpPr>
                <p:cNvPr id="564" name="Rectangle 540">
                  <a:extLst>
                    <a:ext uri="{FF2B5EF4-FFF2-40B4-BE49-F238E27FC236}">
                      <a16:creationId xmlns:a16="http://schemas.microsoft.com/office/drawing/2014/main" id="{11CA6EBA-36D1-E487-D368-DE729E45FD0E}"/>
                    </a:ext>
                  </a:extLst>
                </p:cNvPr>
                <p:cNvSpPr>
                  <a:spLocks noChangeArrowheads="1"/>
                </p:cNvSpPr>
                <p:nvPr/>
              </p:nvSpPr>
              <p:spPr bwMode="auto">
                <a:xfrm>
                  <a:off x="2079"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5" name="Rectangle 541">
                  <a:extLst>
                    <a:ext uri="{FF2B5EF4-FFF2-40B4-BE49-F238E27FC236}">
                      <a16:creationId xmlns:a16="http://schemas.microsoft.com/office/drawing/2014/main" id="{02868777-712B-8A88-2F72-2E5044D2C1C3}"/>
                    </a:ext>
                  </a:extLst>
                </p:cNvPr>
                <p:cNvSpPr>
                  <a:spLocks noChangeArrowheads="1"/>
                </p:cNvSpPr>
                <p:nvPr/>
              </p:nvSpPr>
              <p:spPr bwMode="auto">
                <a:xfrm>
                  <a:off x="2883"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6" name="Rectangle 542">
                  <a:extLst>
                    <a:ext uri="{FF2B5EF4-FFF2-40B4-BE49-F238E27FC236}">
                      <a16:creationId xmlns:a16="http://schemas.microsoft.com/office/drawing/2014/main" id="{4BCB8F09-05AF-001C-7491-6EFDFA92392C}"/>
                    </a:ext>
                  </a:extLst>
                </p:cNvPr>
                <p:cNvSpPr>
                  <a:spLocks noChangeArrowheads="1"/>
                </p:cNvSpPr>
                <p:nvPr/>
              </p:nvSpPr>
              <p:spPr bwMode="auto">
                <a:xfrm>
                  <a:off x="3290"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567" name="Rectangle 543">
                  <a:extLst>
                    <a:ext uri="{FF2B5EF4-FFF2-40B4-BE49-F238E27FC236}">
                      <a16:creationId xmlns:a16="http://schemas.microsoft.com/office/drawing/2014/main" id="{5CBD34E8-C110-81E6-4A6D-44FAA0B0B8CC}"/>
                    </a:ext>
                  </a:extLst>
                </p:cNvPr>
                <p:cNvSpPr>
                  <a:spLocks noChangeArrowheads="1"/>
                </p:cNvSpPr>
                <p:nvPr/>
              </p:nvSpPr>
              <p:spPr bwMode="auto">
                <a:xfrm>
                  <a:off x="3697"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8" name="Rectangle 544">
                  <a:extLst>
                    <a:ext uri="{FF2B5EF4-FFF2-40B4-BE49-F238E27FC236}">
                      <a16:creationId xmlns:a16="http://schemas.microsoft.com/office/drawing/2014/main" id="{A037F87C-442D-CA26-70EA-D05B9629CE44}"/>
                    </a:ext>
                  </a:extLst>
                </p:cNvPr>
                <p:cNvSpPr>
                  <a:spLocks noChangeArrowheads="1"/>
                </p:cNvSpPr>
                <p:nvPr/>
              </p:nvSpPr>
              <p:spPr bwMode="auto">
                <a:xfrm>
                  <a:off x="4511"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9" name="Rectangle 545">
                  <a:extLst>
                    <a:ext uri="{FF2B5EF4-FFF2-40B4-BE49-F238E27FC236}">
                      <a16:creationId xmlns:a16="http://schemas.microsoft.com/office/drawing/2014/main" id="{7AFCB698-5210-08ED-36E1-7ABB4EDF3A06}"/>
                    </a:ext>
                  </a:extLst>
                </p:cNvPr>
                <p:cNvSpPr>
                  <a:spLocks noChangeArrowheads="1"/>
                </p:cNvSpPr>
                <p:nvPr/>
              </p:nvSpPr>
              <p:spPr bwMode="auto">
                <a:xfrm>
                  <a:off x="4918"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70" name="Rectangle 546">
                  <a:extLst>
                    <a:ext uri="{FF2B5EF4-FFF2-40B4-BE49-F238E27FC236}">
                      <a16:creationId xmlns:a16="http://schemas.microsoft.com/office/drawing/2014/main" id="{AB307C38-EEAF-39BF-E0D3-58EB3E25631A}"/>
                    </a:ext>
                  </a:extLst>
                </p:cNvPr>
                <p:cNvSpPr>
                  <a:spLocks noChangeArrowheads="1"/>
                </p:cNvSpPr>
                <p:nvPr/>
              </p:nvSpPr>
              <p:spPr bwMode="auto">
                <a:xfrm>
                  <a:off x="346"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1" name="Rectangle 547">
                  <a:extLst>
                    <a:ext uri="{FF2B5EF4-FFF2-40B4-BE49-F238E27FC236}">
                      <a16:creationId xmlns:a16="http://schemas.microsoft.com/office/drawing/2014/main" id="{94D98257-42DF-9725-F21B-6FA6F2117B97}"/>
                    </a:ext>
                  </a:extLst>
                </p:cNvPr>
                <p:cNvSpPr>
                  <a:spLocks noChangeArrowheads="1"/>
                </p:cNvSpPr>
                <p:nvPr/>
              </p:nvSpPr>
              <p:spPr bwMode="auto">
                <a:xfrm>
                  <a:off x="351" y="331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2" name="Rectangle 548">
                  <a:extLst>
                    <a:ext uri="{FF2B5EF4-FFF2-40B4-BE49-F238E27FC236}">
                      <a16:creationId xmlns:a16="http://schemas.microsoft.com/office/drawing/2014/main" id="{E54C1389-F27D-84B9-C489-9005890E0FE1}"/>
                    </a:ext>
                  </a:extLst>
                </p:cNvPr>
                <p:cNvSpPr>
                  <a:spLocks noChangeArrowheads="1"/>
                </p:cNvSpPr>
                <p:nvPr/>
              </p:nvSpPr>
              <p:spPr bwMode="auto">
                <a:xfrm>
                  <a:off x="582"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3" name="Rectangle 549">
                  <a:extLst>
                    <a:ext uri="{FF2B5EF4-FFF2-40B4-BE49-F238E27FC236}">
                      <a16:creationId xmlns:a16="http://schemas.microsoft.com/office/drawing/2014/main" id="{A3CD1796-4A45-0FAF-5646-98C2379ED5DD}"/>
                    </a:ext>
                  </a:extLst>
                </p:cNvPr>
                <p:cNvSpPr>
                  <a:spLocks noChangeArrowheads="1"/>
                </p:cNvSpPr>
                <p:nvPr/>
              </p:nvSpPr>
              <p:spPr bwMode="auto">
                <a:xfrm>
                  <a:off x="587" y="331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4" name="Rectangle 550">
                  <a:extLst>
                    <a:ext uri="{FF2B5EF4-FFF2-40B4-BE49-F238E27FC236}">
                      <a16:creationId xmlns:a16="http://schemas.microsoft.com/office/drawing/2014/main" id="{C5CAEF45-5585-8840-803F-CDE6DD53E107}"/>
                    </a:ext>
                  </a:extLst>
                </p:cNvPr>
                <p:cNvSpPr>
                  <a:spLocks noChangeArrowheads="1"/>
                </p:cNvSpPr>
                <p:nvPr/>
              </p:nvSpPr>
              <p:spPr bwMode="auto">
                <a:xfrm>
                  <a:off x="1157"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5" name="Rectangle 551">
                  <a:extLst>
                    <a:ext uri="{FF2B5EF4-FFF2-40B4-BE49-F238E27FC236}">
                      <a16:creationId xmlns:a16="http://schemas.microsoft.com/office/drawing/2014/main" id="{650B50A1-9408-3758-B391-FDEFD4B18EF2}"/>
                    </a:ext>
                  </a:extLst>
                </p:cNvPr>
                <p:cNvSpPr>
                  <a:spLocks noChangeArrowheads="1"/>
                </p:cNvSpPr>
                <p:nvPr/>
              </p:nvSpPr>
              <p:spPr bwMode="auto">
                <a:xfrm>
                  <a:off x="1163"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6" name="Rectangle 552">
                  <a:extLst>
                    <a:ext uri="{FF2B5EF4-FFF2-40B4-BE49-F238E27FC236}">
                      <a16:creationId xmlns:a16="http://schemas.microsoft.com/office/drawing/2014/main" id="{17A6BB44-DFB2-5DDB-A9E5-E3827FFC1436}"/>
                    </a:ext>
                  </a:extLst>
                </p:cNvPr>
                <p:cNvSpPr>
                  <a:spLocks noChangeArrowheads="1"/>
                </p:cNvSpPr>
                <p:nvPr/>
              </p:nvSpPr>
              <p:spPr bwMode="auto">
                <a:xfrm>
                  <a:off x="1564"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7" name="Rectangle 553">
                  <a:extLst>
                    <a:ext uri="{FF2B5EF4-FFF2-40B4-BE49-F238E27FC236}">
                      <a16:creationId xmlns:a16="http://schemas.microsoft.com/office/drawing/2014/main" id="{A57BF545-C5F1-D1C2-2B4A-58280C169CE9}"/>
                    </a:ext>
                  </a:extLst>
                </p:cNvPr>
                <p:cNvSpPr>
                  <a:spLocks noChangeArrowheads="1"/>
                </p:cNvSpPr>
                <p:nvPr/>
              </p:nvSpPr>
              <p:spPr bwMode="auto">
                <a:xfrm>
                  <a:off x="1570" y="331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8" name="Rectangle 554">
                  <a:extLst>
                    <a:ext uri="{FF2B5EF4-FFF2-40B4-BE49-F238E27FC236}">
                      <a16:creationId xmlns:a16="http://schemas.microsoft.com/office/drawing/2014/main" id="{AC25D7CC-11CC-D14F-3E34-ACD993B9320C}"/>
                    </a:ext>
                  </a:extLst>
                </p:cNvPr>
                <p:cNvSpPr>
                  <a:spLocks noChangeArrowheads="1"/>
                </p:cNvSpPr>
                <p:nvPr/>
              </p:nvSpPr>
              <p:spPr bwMode="auto">
                <a:xfrm>
                  <a:off x="1987"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9" name="Rectangle 555">
                  <a:extLst>
                    <a:ext uri="{FF2B5EF4-FFF2-40B4-BE49-F238E27FC236}">
                      <a16:creationId xmlns:a16="http://schemas.microsoft.com/office/drawing/2014/main" id="{4C2B44F0-0BEB-BA72-048A-E79716991994}"/>
                    </a:ext>
                  </a:extLst>
                </p:cNvPr>
                <p:cNvSpPr>
                  <a:spLocks noChangeArrowheads="1"/>
                </p:cNvSpPr>
                <p:nvPr/>
              </p:nvSpPr>
              <p:spPr bwMode="auto">
                <a:xfrm>
                  <a:off x="1993" y="331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0" name="Rectangle 556">
                  <a:extLst>
                    <a:ext uri="{FF2B5EF4-FFF2-40B4-BE49-F238E27FC236}">
                      <a16:creationId xmlns:a16="http://schemas.microsoft.com/office/drawing/2014/main" id="{7DE9B4D2-F52F-AA90-4804-2193B37294CE}"/>
                    </a:ext>
                  </a:extLst>
                </p:cNvPr>
                <p:cNvSpPr>
                  <a:spLocks noChangeArrowheads="1"/>
                </p:cNvSpPr>
                <p:nvPr/>
              </p:nvSpPr>
              <p:spPr bwMode="auto">
                <a:xfrm>
                  <a:off x="2378"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1" name="Rectangle 557">
                  <a:extLst>
                    <a:ext uri="{FF2B5EF4-FFF2-40B4-BE49-F238E27FC236}">
                      <a16:creationId xmlns:a16="http://schemas.microsoft.com/office/drawing/2014/main" id="{36B00693-23E9-3573-A991-AA726E752C98}"/>
                    </a:ext>
                  </a:extLst>
                </p:cNvPr>
                <p:cNvSpPr>
                  <a:spLocks noChangeArrowheads="1"/>
                </p:cNvSpPr>
                <p:nvPr/>
              </p:nvSpPr>
              <p:spPr bwMode="auto">
                <a:xfrm>
                  <a:off x="2384"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2" name="Rectangle 558">
                  <a:extLst>
                    <a:ext uri="{FF2B5EF4-FFF2-40B4-BE49-F238E27FC236}">
                      <a16:creationId xmlns:a16="http://schemas.microsoft.com/office/drawing/2014/main" id="{33AEDDB9-C07C-15B7-A95B-D3FCD0945024}"/>
                    </a:ext>
                  </a:extLst>
                </p:cNvPr>
                <p:cNvSpPr>
                  <a:spLocks noChangeArrowheads="1"/>
                </p:cNvSpPr>
                <p:nvPr/>
              </p:nvSpPr>
              <p:spPr bwMode="auto">
                <a:xfrm>
                  <a:off x="2785"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3" name="Rectangle 559">
                  <a:extLst>
                    <a:ext uri="{FF2B5EF4-FFF2-40B4-BE49-F238E27FC236}">
                      <a16:creationId xmlns:a16="http://schemas.microsoft.com/office/drawing/2014/main" id="{5E1FAAA1-7F7B-96F2-A0C9-F895A02DAF0B}"/>
                    </a:ext>
                  </a:extLst>
                </p:cNvPr>
                <p:cNvSpPr>
                  <a:spLocks noChangeArrowheads="1"/>
                </p:cNvSpPr>
                <p:nvPr/>
              </p:nvSpPr>
              <p:spPr bwMode="auto">
                <a:xfrm>
                  <a:off x="2791"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4" name="Rectangle 560">
                  <a:extLst>
                    <a:ext uri="{FF2B5EF4-FFF2-40B4-BE49-F238E27FC236}">
                      <a16:creationId xmlns:a16="http://schemas.microsoft.com/office/drawing/2014/main" id="{CD5408C8-2525-3D6C-85A6-890AB7C888BA}"/>
                    </a:ext>
                  </a:extLst>
                </p:cNvPr>
                <p:cNvSpPr>
                  <a:spLocks noChangeArrowheads="1"/>
                </p:cNvSpPr>
                <p:nvPr/>
              </p:nvSpPr>
              <p:spPr bwMode="auto">
                <a:xfrm>
                  <a:off x="3192"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5" name="Rectangle 561">
                  <a:extLst>
                    <a:ext uri="{FF2B5EF4-FFF2-40B4-BE49-F238E27FC236}">
                      <a16:creationId xmlns:a16="http://schemas.microsoft.com/office/drawing/2014/main" id="{38618358-BF19-D693-15E4-B07570750768}"/>
                    </a:ext>
                  </a:extLst>
                </p:cNvPr>
                <p:cNvSpPr>
                  <a:spLocks noChangeArrowheads="1"/>
                </p:cNvSpPr>
                <p:nvPr/>
              </p:nvSpPr>
              <p:spPr bwMode="auto">
                <a:xfrm>
                  <a:off x="3198"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6" name="Rectangle 562">
                  <a:extLst>
                    <a:ext uri="{FF2B5EF4-FFF2-40B4-BE49-F238E27FC236}">
                      <a16:creationId xmlns:a16="http://schemas.microsoft.com/office/drawing/2014/main" id="{54AC945F-63F5-4F1E-F2AE-CAD305A98AA0}"/>
                    </a:ext>
                  </a:extLst>
                </p:cNvPr>
                <p:cNvSpPr>
                  <a:spLocks noChangeArrowheads="1"/>
                </p:cNvSpPr>
                <p:nvPr/>
              </p:nvSpPr>
              <p:spPr bwMode="auto">
                <a:xfrm>
                  <a:off x="3599"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7" name="Rectangle 563">
                  <a:extLst>
                    <a:ext uri="{FF2B5EF4-FFF2-40B4-BE49-F238E27FC236}">
                      <a16:creationId xmlns:a16="http://schemas.microsoft.com/office/drawing/2014/main" id="{60779C2F-2C49-6DDA-A680-EC66F23D3D61}"/>
                    </a:ext>
                  </a:extLst>
                </p:cNvPr>
                <p:cNvSpPr>
                  <a:spLocks noChangeArrowheads="1"/>
                </p:cNvSpPr>
                <p:nvPr/>
              </p:nvSpPr>
              <p:spPr bwMode="auto">
                <a:xfrm>
                  <a:off x="3605" y="331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8" name="Rectangle 564">
                  <a:extLst>
                    <a:ext uri="{FF2B5EF4-FFF2-40B4-BE49-F238E27FC236}">
                      <a16:creationId xmlns:a16="http://schemas.microsoft.com/office/drawing/2014/main" id="{A4F49A65-A50D-ABFC-14B7-3354A14CA3FA}"/>
                    </a:ext>
                  </a:extLst>
                </p:cNvPr>
                <p:cNvSpPr>
                  <a:spLocks noChangeArrowheads="1"/>
                </p:cNvSpPr>
                <p:nvPr/>
              </p:nvSpPr>
              <p:spPr bwMode="auto">
                <a:xfrm>
                  <a:off x="4004"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9" name="Rectangle 565">
                  <a:extLst>
                    <a:ext uri="{FF2B5EF4-FFF2-40B4-BE49-F238E27FC236}">
                      <a16:creationId xmlns:a16="http://schemas.microsoft.com/office/drawing/2014/main" id="{5167423A-568B-D90F-B4C6-AA7A970C4609}"/>
                    </a:ext>
                  </a:extLst>
                </p:cNvPr>
                <p:cNvSpPr>
                  <a:spLocks noChangeArrowheads="1"/>
                </p:cNvSpPr>
                <p:nvPr/>
              </p:nvSpPr>
              <p:spPr bwMode="auto">
                <a:xfrm>
                  <a:off x="4010"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0" name="Rectangle 566">
                  <a:extLst>
                    <a:ext uri="{FF2B5EF4-FFF2-40B4-BE49-F238E27FC236}">
                      <a16:creationId xmlns:a16="http://schemas.microsoft.com/office/drawing/2014/main" id="{6F475F6F-F734-F0B4-C443-69677C7A6BA8}"/>
                    </a:ext>
                  </a:extLst>
                </p:cNvPr>
                <p:cNvSpPr>
                  <a:spLocks noChangeArrowheads="1"/>
                </p:cNvSpPr>
                <p:nvPr/>
              </p:nvSpPr>
              <p:spPr bwMode="auto">
                <a:xfrm>
                  <a:off x="4411"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1" name="Rectangle 567">
                  <a:extLst>
                    <a:ext uri="{FF2B5EF4-FFF2-40B4-BE49-F238E27FC236}">
                      <a16:creationId xmlns:a16="http://schemas.microsoft.com/office/drawing/2014/main" id="{228E3210-3389-1109-0604-8FDF87472F7F}"/>
                    </a:ext>
                  </a:extLst>
                </p:cNvPr>
                <p:cNvSpPr>
                  <a:spLocks noChangeArrowheads="1"/>
                </p:cNvSpPr>
                <p:nvPr/>
              </p:nvSpPr>
              <p:spPr bwMode="auto">
                <a:xfrm>
                  <a:off x="4417"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2" name="Rectangle 568">
                  <a:extLst>
                    <a:ext uri="{FF2B5EF4-FFF2-40B4-BE49-F238E27FC236}">
                      <a16:creationId xmlns:a16="http://schemas.microsoft.com/office/drawing/2014/main" id="{CB2C75E6-7BF3-4D28-CFC7-F2C272472431}"/>
                    </a:ext>
                  </a:extLst>
                </p:cNvPr>
                <p:cNvSpPr>
                  <a:spLocks noChangeArrowheads="1"/>
                </p:cNvSpPr>
                <p:nvPr/>
              </p:nvSpPr>
              <p:spPr bwMode="auto">
                <a:xfrm>
                  <a:off x="4818"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3" name="Rectangle 569">
                  <a:extLst>
                    <a:ext uri="{FF2B5EF4-FFF2-40B4-BE49-F238E27FC236}">
                      <a16:creationId xmlns:a16="http://schemas.microsoft.com/office/drawing/2014/main" id="{F1F503C8-455E-CEA0-69E9-B8F543357B39}"/>
                    </a:ext>
                  </a:extLst>
                </p:cNvPr>
                <p:cNvSpPr>
                  <a:spLocks noChangeArrowheads="1"/>
                </p:cNvSpPr>
                <p:nvPr/>
              </p:nvSpPr>
              <p:spPr bwMode="auto">
                <a:xfrm>
                  <a:off x="4824"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4" name="Rectangle 570">
                  <a:extLst>
                    <a:ext uri="{FF2B5EF4-FFF2-40B4-BE49-F238E27FC236}">
                      <a16:creationId xmlns:a16="http://schemas.microsoft.com/office/drawing/2014/main" id="{2D371B31-E140-B440-09B0-2F3AF83BCC2A}"/>
                    </a:ext>
                  </a:extLst>
                </p:cNvPr>
                <p:cNvSpPr>
                  <a:spLocks noChangeArrowheads="1"/>
                </p:cNvSpPr>
                <p:nvPr/>
              </p:nvSpPr>
              <p:spPr bwMode="auto">
                <a:xfrm>
                  <a:off x="5225"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5" name="Rectangle 571">
                  <a:extLst>
                    <a:ext uri="{FF2B5EF4-FFF2-40B4-BE49-F238E27FC236}">
                      <a16:creationId xmlns:a16="http://schemas.microsoft.com/office/drawing/2014/main" id="{F8AA51DE-9187-6A22-A06C-5DE351A7D864}"/>
                    </a:ext>
                  </a:extLst>
                </p:cNvPr>
                <p:cNvSpPr>
                  <a:spLocks noChangeArrowheads="1"/>
                </p:cNvSpPr>
                <p:nvPr/>
              </p:nvSpPr>
              <p:spPr bwMode="auto">
                <a:xfrm>
                  <a:off x="346"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6" name="Rectangle 572">
                  <a:extLst>
                    <a:ext uri="{FF2B5EF4-FFF2-40B4-BE49-F238E27FC236}">
                      <a16:creationId xmlns:a16="http://schemas.microsoft.com/office/drawing/2014/main" id="{D51D0913-741F-D322-0EE0-A68FC162BBE4}"/>
                    </a:ext>
                  </a:extLst>
                </p:cNvPr>
                <p:cNvSpPr>
                  <a:spLocks noChangeArrowheads="1"/>
                </p:cNvSpPr>
                <p:nvPr/>
              </p:nvSpPr>
              <p:spPr bwMode="auto">
                <a:xfrm>
                  <a:off x="582"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7" name="Rectangle 573">
                  <a:extLst>
                    <a:ext uri="{FF2B5EF4-FFF2-40B4-BE49-F238E27FC236}">
                      <a16:creationId xmlns:a16="http://schemas.microsoft.com/office/drawing/2014/main" id="{E92F629E-306B-1166-3BAE-233D3629967E}"/>
                    </a:ext>
                  </a:extLst>
                </p:cNvPr>
                <p:cNvSpPr>
                  <a:spLocks noChangeArrowheads="1"/>
                </p:cNvSpPr>
                <p:nvPr/>
              </p:nvSpPr>
              <p:spPr bwMode="auto">
                <a:xfrm>
                  <a:off x="1157"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8" name="Rectangle 574">
                  <a:extLst>
                    <a:ext uri="{FF2B5EF4-FFF2-40B4-BE49-F238E27FC236}">
                      <a16:creationId xmlns:a16="http://schemas.microsoft.com/office/drawing/2014/main" id="{2686FD41-01A7-A386-5BB9-FD05330A6154}"/>
                    </a:ext>
                  </a:extLst>
                </p:cNvPr>
                <p:cNvSpPr>
                  <a:spLocks noChangeArrowheads="1"/>
                </p:cNvSpPr>
                <p:nvPr/>
              </p:nvSpPr>
              <p:spPr bwMode="auto">
                <a:xfrm>
                  <a:off x="1564"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9" name="Rectangle 575">
                  <a:extLst>
                    <a:ext uri="{FF2B5EF4-FFF2-40B4-BE49-F238E27FC236}">
                      <a16:creationId xmlns:a16="http://schemas.microsoft.com/office/drawing/2014/main" id="{08375347-7209-C315-D60E-5F24208F63C4}"/>
                    </a:ext>
                  </a:extLst>
                </p:cNvPr>
                <p:cNvSpPr>
                  <a:spLocks noChangeArrowheads="1"/>
                </p:cNvSpPr>
                <p:nvPr/>
              </p:nvSpPr>
              <p:spPr bwMode="auto">
                <a:xfrm>
                  <a:off x="1987"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0" name="Rectangle 576">
                  <a:extLst>
                    <a:ext uri="{FF2B5EF4-FFF2-40B4-BE49-F238E27FC236}">
                      <a16:creationId xmlns:a16="http://schemas.microsoft.com/office/drawing/2014/main" id="{484CE977-6AD5-FEC3-2BC8-BA146D753BC4}"/>
                    </a:ext>
                  </a:extLst>
                </p:cNvPr>
                <p:cNvSpPr>
                  <a:spLocks noChangeArrowheads="1"/>
                </p:cNvSpPr>
                <p:nvPr/>
              </p:nvSpPr>
              <p:spPr bwMode="auto">
                <a:xfrm>
                  <a:off x="2378"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1" name="Rectangle 577">
                  <a:extLst>
                    <a:ext uri="{FF2B5EF4-FFF2-40B4-BE49-F238E27FC236}">
                      <a16:creationId xmlns:a16="http://schemas.microsoft.com/office/drawing/2014/main" id="{FEADB16B-3310-985C-064A-C86AFD684856}"/>
                    </a:ext>
                  </a:extLst>
                </p:cNvPr>
                <p:cNvSpPr>
                  <a:spLocks noChangeArrowheads="1"/>
                </p:cNvSpPr>
                <p:nvPr/>
              </p:nvSpPr>
              <p:spPr bwMode="auto">
                <a:xfrm>
                  <a:off x="2785"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2" name="Rectangle 578">
                  <a:extLst>
                    <a:ext uri="{FF2B5EF4-FFF2-40B4-BE49-F238E27FC236}">
                      <a16:creationId xmlns:a16="http://schemas.microsoft.com/office/drawing/2014/main" id="{516D050A-FD7B-1058-D93C-12D0B2E091D7}"/>
                    </a:ext>
                  </a:extLst>
                </p:cNvPr>
                <p:cNvSpPr>
                  <a:spLocks noChangeArrowheads="1"/>
                </p:cNvSpPr>
                <p:nvPr/>
              </p:nvSpPr>
              <p:spPr bwMode="auto">
                <a:xfrm>
                  <a:off x="3192"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3" name="Rectangle 579">
                  <a:extLst>
                    <a:ext uri="{FF2B5EF4-FFF2-40B4-BE49-F238E27FC236}">
                      <a16:creationId xmlns:a16="http://schemas.microsoft.com/office/drawing/2014/main" id="{DB7010A0-5D53-68D1-39FF-06CD398C9CF4}"/>
                    </a:ext>
                  </a:extLst>
                </p:cNvPr>
                <p:cNvSpPr>
                  <a:spLocks noChangeArrowheads="1"/>
                </p:cNvSpPr>
                <p:nvPr/>
              </p:nvSpPr>
              <p:spPr bwMode="auto">
                <a:xfrm>
                  <a:off x="3599"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4" name="Rectangle 580">
                  <a:extLst>
                    <a:ext uri="{FF2B5EF4-FFF2-40B4-BE49-F238E27FC236}">
                      <a16:creationId xmlns:a16="http://schemas.microsoft.com/office/drawing/2014/main" id="{A698C88C-BA00-489C-B543-7468420138FD}"/>
                    </a:ext>
                  </a:extLst>
                </p:cNvPr>
                <p:cNvSpPr>
                  <a:spLocks noChangeArrowheads="1"/>
                </p:cNvSpPr>
                <p:nvPr/>
              </p:nvSpPr>
              <p:spPr bwMode="auto">
                <a:xfrm>
                  <a:off x="4004"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5" name="Rectangle 581">
                  <a:extLst>
                    <a:ext uri="{FF2B5EF4-FFF2-40B4-BE49-F238E27FC236}">
                      <a16:creationId xmlns:a16="http://schemas.microsoft.com/office/drawing/2014/main" id="{382146BC-FAA3-7FB8-EC92-E6E7B76046E5}"/>
                    </a:ext>
                  </a:extLst>
                </p:cNvPr>
                <p:cNvSpPr>
                  <a:spLocks noChangeArrowheads="1"/>
                </p:cNvSpPr>
                <p:nvPr/>
              </p:nvSpPr>
              <p:spPr bwMode="auto">
                <a:xfrm>
                  <a:off x="4411"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6" name="Rectangle 582">
                  <a:extLst>
                    <a:ext uri="{FF2B5EF4-FFF2-40B4-BE49-F238E27FC236}">
                      <a16:creationId xmlns:a16="http://schemas.microsoft.com/office/drawing/2014/main" id="{DEBB6DEC-A8DB-5F43-50FF-40A90D61DFA3}"/>
                    </a:ext>
                  </a:extLst>
                </p:cNvPr>
                <p:cNvSpPr>
                  <a:spLocks noChangeArrowheads="1"/>
                </p:cNvSpPr>
                <p:nvPr/>
              </p:nvSpPr>
              <p:spPr bwMode="auto">
                <a:xfrm>
                  <a:off x="4818"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7" name="Rectangle 583">
                  <a:extLst>
                    <a:ext uri="{FF2B5EF4-FFF2-40B4-BE49-F238E27FC236}">
                      <a16:creationId xmlns:a16="http://schemas.microsoft.com/office/drawing/2014/main" id="{648D3396-1822-8504-C153-14B27CEDAC51}"/>
                    </a:ext>
                  </a:extLst>
                </p:cNvPr>
                <p:cNvSpPr>
                  <a:spLocks noChangeArrowheads="1"/>
                </p:cNvSpPr>
                <p:nvPr/>
              </p:nvSpPr>
              <p:spPr bwMode="auto">
                <a:xfrm>
                  <a:off x="5225"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8" name="Rectangle 584">
                  <a:extLst>
                    <a:ext uri="{FF2B5EF4-FFF2-40B4-BE49-F238E27FC236}">
                      <a16:creationId xmlns:a16="http://schemas.microsoft.com/office/drawing/2014/main" id="{2199591D-E6FA-EFD3-7D54-758D3C72A66A}"/>
                    </a:ext>
                  </a:extLst>
                </p:cNvPr>
                <p:cNvSpPr>
                  <a:spLocks noChangeArrowheads="1"/>
                </p:cNvSpPr>
                <p:nvPr/>
              </p:nvSpPr>
              <p:spPr bwMode="auto">
                <a:xfrm>
                  <a:off x="346"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9" name="Rectangle 585">
                  <a:extLst>
                    <a:ext uri="{FF2B5EF4-FFF2-40B4-BE49-F238E27FC236}">
                      <a16:creationId xmlns:a16="http://schemas.microsoft.com/office/drawing/2014/main" id="{1C66D566-3DF4-F5F9-4067-4BA64853AD6D}"/>
                    </a:ext>
                  </a:extLst>
                </p:cNvPr>
                <p:cNvSpPr>
                  <a:spLocks noChangeArrowheads="1"/>
                </p:cNvSpPr>
                <p:nvPr/>
              </p:nvSpPr>
              <p:spPr bwMode="auto">
                <a:xfrm>
                  <a:off x="351" y="346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0" name="Rectangle 586">
                  <a:extLst>
                    <a:ext uri="{FF2B5EF4-FFF2-40B4-BE49-F238E27FC236}">
                      <a16:creationId xmlns:a16="http://schemas.microsoft.com/office/drawing/2014/main" id="{0FA9B577-3937-CC81-65AE-E54AF1D9DE0F}"/>
                    </a:ext>
                  </a:extLst>
                </p:cNvPr>
                <p:cNvSpPr>
                  <a:spLocks noChangeArrowheads="1"/>
                </p:cNvSpPr>
                <p:nvPr/>
              </p:nvSpPr>
              <p:spPr bwMode="auto">
                <a:xfrm>
                  <a:off x="582"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1" name="Rectangle 587">
                  <a:extLst>
                    <a:ext uri="{FF2B5EF4-FFF2-40B4-BE49-F238E27FC236}">
                      <a16:creationId xmlns:a16="http://schemas.microsoft.com/office/drawing/2014/main" id="{AF603B42-BC8D-9E80-3177-14E039C47147}"/>
                    </a:ext>
                  </a:extLst>
                </p:cNvPr>
                <p:cNvSpPr>
                  <a:spLocks noChangeArrowheads="1"/>
                </p:cNvSpPr>
                <p:nvPr/>
              </p:nvSpPr>
              <p:spPr bwMode="auto">
                <a:xfrm>
                  <a:off x="587" y="346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2" name="Rectangle 588">
                  <a:extLst>
                    <a:ext uri="{FF2B5EF4-FFF2-40B4-BE49-F238E27FC236}">
                      <a16:creationId xmlns:a16="http://schemas.microsoft.com/office/drawing/2014/main" id="{0F177B1C-A51E-4018-75EF-A7398E848608}"/>
                    </a:ext>
                  </a:extLst>
                </p:cNvPr>
                <p:cNvSpPr>
                  <a:spLocks noChangeArrowheads="1"/>
                </p:cNvSpPr>
                <p:nvPr/>
              </p:nvSpPr>
              <p:spPr bwMode="auto">
                <a:xfrm>
                  <a:off x="1157"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3" name="Rectangle 589">
                  <a:extLst>
                    <a:ext uri="{FF2B5EF4-FFF2-40B4-BE49-F238E27FC236}">
                      <a16:creationId xmlns:a16="http://schemas.microsoft.com/office/drawing/2014/main" id="{499D70F3-1F4F-6170-2216-05B7380C7F31}"/>
                    </a:ext>
                  </a:extLst>
                </p:cNvPr>
                <p:cNvSpPr>
                  <a:spLocks noChangeArrowheads="1"/>
                </p:cNvSpPr>
                <p:nvPr/>
              </p:nvSpPr>
              <p:spPr bwMode="auto">
                <a:xfrm>
                  <a:off x="1163"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4" name="Rectangle 590">
                  <a:extLst>
                    <a:ext uri="{FF2B5EF4-FFF2-40B4-BE49-F238E27FC236}">
                      <a16:creationId xmlns:a16="http://schemas.microsoft.com/office/drawing/2014/main" id="{C939ADF9-4575-5E5E-59A6-A98834BB91DD}"/>
                    </a:ext>
                  </a:extLst>
                </p:cNvPr>
                <p:cNvSpPr>
                  <a:spLocks noChangeArrowheads="1"/>
                </p:cNvSpPr>
                <p:nvPr/>
              </p:nvSpPr>
              <p:spPr bwMode="auto">
                <a:xfrm>
                  <a:off x="1564"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5" name="Rectangle 591">
                  <a:extLst>
                    <a:ext uri="{FF2B5EF4-FFF2-40B4-BE49-F238E27FC236}">
                      <a16:creationId xmlns:a16="http://schemas.microsoft.com/office/drawing/2014/main" id="{E8CF5E6C-F4E2-1B57-2A23-73C2FC711282}"/>
                    </a:ext>
                  </a:extLst>
                </p:cNvPr>
                <p:cNvSpPr>
                  <a:spLocks noChangeArrowheads="1"/>
                </p:cNvSpPr>
                <p:nvPr/>
              </p:nvSpPr>
              <p:spPr bwMode="auto">
                <a:xfrm>
                  <a:off x="1570" y="346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6" name="Rectangle 592">
                  <a:extLst>
                    <a:ext uri="{FF2B5EF4-FFF2-40B4-BE49-F238E27FC236}">
                      <a16:creationId xmlns:a16="http://schemas.microsoft.com/office/drawing/2014/main" id="{8A21CB2B-A80C-EF57-FC97-53535DB40C8C}"/>
                    </a:ext>
                  </a:extLst>
                </p:cNvPr>
                <p:cNvSpPr>
                  <a:spLocks noChangeArrowheads="1"/>
                </p:cNvSpPr>
                <p:nvPr/>
              </p:nvSpPr>
              <p:spPr bwMode="auto">
                <a:xfrm>
                  <a:off x="1987"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7" name="Rectangle 593">
                  <a:extLst>
                    <a:ext uri="{FF2B5EF4-FFF2-40B4-BE49-F238E27FC236}">
                      <a16:creationId xmlns:a16="http://schemas.microsoft.com/office/drawing/2014/main" id="{DC8EF1F0-CF8F-A707-EA44-E9EE5A2F6833}"/>
                    </a:ext>
                  </a:extLst>
                </p:cNvPr>
                <p:cNvSpPr>
                  <a:spLocks noChangeArrowheads="1"/>
                </p:cNvSpPr>
                <p:nvPr/>
              </p:nvSpPr>
              <p:spPr bwMode="auto">
                <a:xfrm>
                  <a:off x="1993" y="346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8" name="Rectangle 594">
                  <a:extLst>
                    <a:ext uri="{FF2B5EF4-FFF2-40B4-BE49-F238E27FC236}">
                      <a16:creationId xmlns:a16="http://schemas.microsoft.com/office/drawing/2014/main" id="{368ABF85-A3D0-A4EB-95C9-EE4A385ADF68}"/>
                    </a:ext>
                  </a:extLst>
                </p:cNvPr>
                <p:cNvSpPr>
                  <a:spLocks noChangeArrowheads="1"/>
                </p:cNvSpPr>
                <p:nvPr/>
              </p:nvSpPr>
              <p:spPr bwMode="auto">
                <a:xfrm>
                  <a:off x="2378"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9" name="Rectangle 595">
                  <a:extLst>
                    <a:ext uri="{FF2B5EF4-FFF2-40B4-BE49-F238E27FC236}">
                      <a16:creationId xmlns:a16="http://schemas.microsoft.com/office/drawing/2014/main" id="{5634604F-58AD-76BC-6457-5EBA849C457E}"/>
                    </a:ext>
                  </a:extLst>
                </p:cNvPr>
                <p:cNvSpPr>
                  <a:spLocks noChangeArrowheads="1"/>
                </p:cNvSpPr>
                <p:nvPr/>
              </p:nvSpPr>
              <p:spPr bwMode="auto">
                <a:xfrm>
                  <a:off x="2384"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0" name="Rectangle 596">
                  <a:extLst>
                    <a:ext uri="{FF2B5EF4-FFF2-40B4-BE49-F238E27FC236}">
                      <a16:creationId xmlns:a16="http://schemas.microsoft.com/office/drawing/2014/main" id="{E0F102CD-F2A8-D0CD-2895-77F2EF37A9B9}"/>
                    </a:ext>
                  </a:extLst>
                </p:cNvPr>
                <p:cNvSpPr>
                  <a:spLocks noChangeArrowheads="1"/>
                </p:cNvSpPr>
                <p:nvPr/>
              </p:nvSpPr>
              <p:spPr bwMode="auto">
                <a:xfrm>
                  <a:off x="2785"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1" name="Rectangle 597">
                  <a:extLst>
                    <a:ext uri="{FF2B5EF4-FFF2-40B4-BE49-F238E27FC236}">
                      <a16:creationId xmlns:a16="http://schemas.microsoft.com/office/drawing/2014/main" id="{37CF75DC-6863-F8B6-9BE5-6FC29016B531}"/>
                    </a:ext>
                  </a:extLst>
                </p:cNvPr>
                <p:cNvSpPr>
                  <a:spLocks noChangeArrowheads="1"/>
                </p:cNvSpPr>
                <p:nvPr/>
              </p:nvSpPr>
              <p:spPr bwMode="auto">
                <a:xfrm>
                  <a:off x="2791"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2" name="Rectangle 598">
                  <a:extLst>
                    <a:ext uri="{FF2B5EF4-FFF2-40B4-BE49-F238E27FC236}">
                      <a16:creationId xmlns:a16="http://schemas.microsoft.com/office/drawing/2014/main" id="{2E52CDC5-B3E8-6B7C-862E-9ECB6A7A2AE3}"/>
                    </a:ext>
                  </a:extLst>
                </p:cNvPr>
                <p:cNvSpPr>
                  <a:spLocks noChangeArrowheads="1"/>
                </p:cNvSpPr>
                <p:nvPr/>
              </p:nvSpPr>
              <p:spPr bwMode="auto">
                <a:xfrm>
                  <a:off x="3192"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3" name="Rectangle 599">
                  <a:extLst>
                    <a:ext uri="{FF2B5EF4-FFF2-40B4-BE49-F238E27FC236}">
                      <a16:creationId xmlns:a16="http://schemas.microsoft.com/office/drawing/2014/main" id="{37EBD135-7EDC-F3A2-DDAF-1AAF394437CB}"/>
                    </a:ext>
                  </a:extLst>
                </p:cNvPr>
                <p:cNvSpPr>
                  <a:spLocks noChangeArrowheads="1"/>
                </p:cNvSpPr>
                <p:nvPr/>
              </p:nvSpPr>
              <p:spPr bwMode="auto">
                <a:xfrm>
                  <a:off x="3198"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4" name="Rectangle 600">
                  <a:extLst>
                    <a:ext uri="{FF2B5EF4-FFF2-40B4-BE49-F238E27FC236}">
                      <a16:creationId xmlns:a16="http://schemas.microsoft.com/office/drawing/2014/main" id="{C51C9951-8884-6C07-3D39-22A79E028B42}"/>
                    </a:ext>
                  </a:extLst>
                </p:cNvPr>
                <p:cNvSpPr>
                  <a:spLocks noChangeArrowheads="1"/>
                </p:cNvSpPr>
                <p:nvPr/>
              </p:nvSpPr>
              <p:spPr bwMode="auto">
                <a:xfrm>
                  <a:off x="3599"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5" name="Rectangle 601">
                  <a:extLst>
                    <a:ext uri="{FF2B5EF4-FFF2-40B4-BE49-F238E27FC236}">
                      <a16:creationId xmlns:a16="http://schemas.microsoft.com/office/drawing/2014/main" id="{8B6F8CE0-EC80-2EF4-6B00-DE37A49AECDB}"/>
                    </a:ext>
                  </a:extLst>
                </p:cNvPr>
                <p:cNvSpPr>
                  <a:spLocks noChangeArrowheads="1"/>
                </p:cNvSpPr>
                <p:nvPr/>
              </p:nvSpPr>
              <p:spPr bwMode="auto">
                <a:xfrm>
                  <a:off x="3605" y="346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6" name="Rectangle 602">
                  <a:extLst>
                    <a:ext uri="{FF2B5EF4-FFF2-40B4-BE49-F238E27FC236}">
                      <a16:creationId xmlns:a16="http://schemas.microsoft.com/office/drawing/2014/main" id="{4F02BAA0-F720-FF3D-6646-6199BFE4D4CB}"/>
                    </a:ext>
                  </a:extLst>
                </p:cNvPr>
                <p:cNvSpPr>
                  <a:spLocks noChangeArrowheads="1"/>
                </p:cNvSpPr>
                <p:nvPr/>
              </p:nvSpPr>
              <p:spPr bwMode="auto">
                <a:xfrm>
                  <a:off x="4004"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7" name="Rectangle 603">
                  <a:extLst>
                    <a:ext uri="{FF2B5EF4-FFF2-40B4-BE49-F238E27FC236}">
                      <a16:creationId xmlns:a16="http://schemas.microsoft.com/office/drawing/2014/main" id="{08B6D5EB-2E62-029E-7717-59B6E6D11544}"/>
                    </a:ext>
                  </a:extLst>
                </p:cNvPr>
                <p:cNvSpPr>
                  <a:spLocks noChangeArrowheads="1"/>
                </p:cNvSpPr>
                <p:nvPr/>
              </p:nvSpPr>
              <p:spPr bwMode="auto">
                <a:xfrm>
                  <a:off x="4010"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8" name="Rectangle 604">
                  <a:extLst>
                    <a:ext uri="{FF2B5EF4-FFF2-40B4-BE49-F238E27FC236}">
                      <a16:creationId xmlns:a16="http://schemas.microsoft.com/office/drawing/2014/main" id="{320CDF64-D852-BB5B-5089-40D2EB3149F3}"/>
                    </a:ext>
                  </a:extLst>
                </p:cNvPr>
                <p:cNvSpPr>
                  <a:spLocks noChangeArrowheads="1"/>
                </p:cNvSpPr>
                <p:nvPr/>
              </p:nvSpPr>
              <p:spPr bwMode="auto">
                <a:xfrm>
                  <a:off x="4411"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9" name="Rectangle 605">
                  <a:extLst>
                    <a:ext uri="{FF2B5EF4-FFF2-40B4-BE49-F238E27FC236}">
                      <a16:creationId xmlns:a16="http://schemas.microsoft.com/office/drawing/2014/main" id="{8441BE72-6532-59A8-0F72-9FF7CC0CF9D7}"/>
                    </a:ext>
                  </a:extLst>
                </p:cNvPr>
                <p:cNvSpPr>
                  <a:spLocks noChangeArrowheads="1"/>
                </p:cNvSpPr>
                <p:nvPr/>
              </p:nvSpPr>
              <p:spPr bwMode="auto">
                <a:xfrm>
                  <a:off x="4417"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0" name="Rectangle 606">
                  <a:extLst>
                    <a:ext uri="{FF2B5EF4-FFF2-40B4-BE49-F238E27FC236}">
                      <a16:creationId xmlns:a16="http://schemas.microsoft.com/office/drawing/2014/main" id="{76867B1B-C92F-3050-D625-8371570EFD33}"/>
                    </a:ext>
                  </a:extLst>
                </p:cNvPr>
                <p:cNvSpPr>
                  <a:spLocks noChangeArrowheads="1"/>
                </p:cNvSpPr>
                <p:nvPr/>
              </p:nvSpPr>
              <p:spPr bwMode="auto">
                <a:xfrm>
                  <a:off x="4818"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1" name="Rectangle 607">
                  <a:extLst>
                    <a:ext uri="{FF2B5EF4-FFF2-40B4-BE49-F238E27FC236}">
                      <a16:creationId xmlns:a16="http://schemas.microsoft.com/office/drawing/2014/main" id="{7B201E37-F4DB-99A8-1434-5E151F1BF7CA}"/>
                    </a:ext>
                  </a:extLst>
                </p:cNvPr>
                <p:cNvSpPr>
                  <a:spLocks noChangeArrowheads="1"/>
                </p:cNvSpPr>
                <p:nvPr/>
              </p:nvSpPr>
              <p:spPr bwMode="auto">
                <a:xfrm>
                  <a:off x="4824"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2" name="Rectangle 608">
                  <a:extLst>
                    <a:ext uri="{FF2B5EF4-FFF2-40B4-BE49-F238E27FC236}">
                      <a16:creationId xmlns:a16="http://schemas.microsoft.com/office/drawing/2014/main" id="{15B784E4-6DA8-748A-38B8-94FB129889AE}"/>
                    </a:ext>
                  </a:extLst>
                </p:cNvPr>
                <p:cNvSpPr>
                  <a:spLocks noChangeArrowheads="1"/>
                </p:cNvSpPr>
                <p:nvPr/>
              </p:nvSpPr>
              <p:spPr bwMode="auto">
                <a:xfrm>
                  <a:off x="5225"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3" name="Rectangle 609">
                  <a:extLst>
                    <a:ext uri="{FF2B5EF4-FFF2-40B4-BE49-F238E27FC236}">
                      <a16:creationId xmlns:a16="http://schemas.microsoft.com/office/drawing/2014/main" id="{B62CD5D0-6DFF-E600-E325-C6C14A8D5808}"/>
                    </a:ext>
                  </a:extLst>
                </p:cNvPr>
                <p:cNvSpPr>
                  <a:spLocks noChangeArrowheads="1"/>
                </p:cNvSpPr>
                <p:nvPr/>
              </p:nvSpPr>
              <p:spPr bwMode="auto">
                <a:xfrm>
                  <a:off x="346"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4" name="Rectangle 610">
                  <a:extLst>
                    <a:ext uri="{FF2B5EF4-FFF2-40B4-BE49-F238E27FC236}">
                      <a16:creationId xmlns:a16="http://schemas.microsoft.com/office/drawing/2014/main" id="{D2F2781F-BFD1-5DEF-7B67-6A132D749E26}"/>
                    </a:ext>
                  </a:extLst>
                </p:cNvPr>
                <p:cNvSpPr>
                  <a:spLocks noChangeArrowheads="1"/>
                </p:cNvSpPr>
                <p:nvPr/>
              </p:nvSpPr>
              <p:spPr bwMode="auto">
                <a:xfrm>
                  <a:off x="346"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5" name="Rectangle 611">
                  <a:extLst>
                    <a:ext uri="{FF2B5EF4-FFF2-40B4-BE49-F238E27FC236}">
                      <a16:creationId xmlns:a16="http://schemas.microsoft.com/office/drawing/2014/main" id="{BF9430B6-FFE0-1122-F365-3601EA6310FE}"/>
                    </a:ext>
                  </a:extLst>
                </p:cNvPr>
                <p:cNvSpPr>
                  <a:spLocks noChangeArrowheads="1"/>
                </p:cNvSpPr>
                <p:nvPr/>
              </p:nvSpPr>
              <p:spPr bwMode="auto">
                <a:xfrm>
                  <a:off x="346"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6" name="Rectangle 612">
                  <a:extLst>
                    <a:ext uri="{FF2B5EF4-FFF2-40B4-BE49-F238E27FC236}">
                      <a16:creationId xmlns:a16="http://schemas.microsoft.com/office/drawing/2014/main" id="{2F0AB23A-14BA-0B4D-3369-C870CDDA2AFB}"/>
                    </a:ext>
                  </a:extLst>
                </p:cNvPr>
                <p:cNvSpPr>
                  <a:spLocks noChangeArrowheads="1"/>
                </p:cNvSpPr>
                <p:nvPr/>
              </p:nvSpPr>
              <p:spPr bwMode="auto">
                <a:xfrm>
                  <a:off x="351" y="361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7" name="Rectangle 613">
                  <a:extLst>
                    <a:ext uri="{FF2B5EF4-FFF2-40B4-BE49-F238E27FC236}">
                      <a16:creationId xmlns:a16="http://schemas.microsoft.com/office/drawing/2014/main" id="{1B123077-2AF8-D9CF-BF0C-7FC7C1EB5424}"/>
                    </a:ext>
                  </a:extLst>
                </p:cNvPr>
                <p:cNvSpPr>
                  <a:spLocks noChangeArrowheads="1"/>
                </p:cNvSpPr>
                <p:nvPr/>
              </p:nvSpPr>
              <p:spPr bwMode="auto">
                <a:xfrm>
                  <a:off x="582"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8" name="Rectangle 614">
                  <a:extLst>
                    <a:ext uri="{FF2B5EF4-FFF2-40B4-BE49-F238E27FC236}">
                      <a16:creationId xmlns:a16="http://schemas.microsoft.com/office/drawing/2014/main" id="{4B259B5C-D959-77CA-877A-3ED4A1D83E42}"/>
                    </a:ext>
                  </a:extLst>
                </p:cNvPr>
                <p:cNvSpPr>
                  <a:spLocks noChangeArrowheads="1"/>
                </p:cNvSpPr>
                <p:nvPr/>
              </p:nvSpPr>
              <p:spPr bwMode="auto">
                <a:xfrm>
                  <a:off x="582"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9" name="Rectangle 615">
                  <a:extLst>
                    <a:ext uri="{FF2B5EF4-FFF2-40B4-BE49-F238E27FC236}">
                      <a16:creationId xmlns:a16="http://schemas.microsoft.com/office/drawing/2014/main" id="{20887EFA-225F-685B-DD7F-439F92E276F8}"/>
                    </a:ext>
                  </a:extLst>
                </p:cNvPr>
                <p:cNvSpPr>
                  <a:spLocks noChangeArrowheads="1"/>
                </p:cNvSpPr>
                <p:nvPr/>
              </p:nvSpPr>
              <p:spPr bwMode="auto">
                <a:xfrm>
                  <a:off x="587" y="361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0" name="Rectangle 616">
                  <a:extLst>
                    <a:ext uri="{FF2B5EF4-FFF2-40B4-BE49-F238E27FC236}">
                      <a16:creationId xmlns:a16="http://schemas.microsoft.com/office/drawing/2014/main" id="{D1A334E0-6266-D33A-439D-F6EB98CF7FCB}"/>
                    </a:ext>
                  </a:extLst>
                </p:cNvPr>
                <p:cNvSpPr>
                  <a:spLocks noChangeArrowheads="1"/>
                </p:cNvSpPr>
                <p:nvPr/>
              </p:nvSpPr>
              <p:spPr bwMode="auto">
                <a:xfrm>
                  <a:off x="1157"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1" name="Rectangle 617">
                  <a:extLst>
                    <a:ext uri="{FF2B5EF4-FFF2-40B4-BE49-F238E27FC236}">
                      <a16:creationId xmlns:a16="http://schemas.microsoft.com/office/drawing/2014/main" id="{90F157A7-6E4B-DC97-5AE7-A44532382F37}"/>
                    </a:ext>
                  </a:extLst>
                </p:cNvPr>
                <p:cNvSpPr>
                  <a:spLocks noChangeArrowheads="1"/>
                </p:cNvSpPr>
                <p:nvPr/>
              </p:nvSpPr>
              <p:spPr bwMode="auto">
                <a:xfrm>
                  <a:off x="1157"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2" name="Rectangle 618">
                  <a:extLst>
                    <a:ext uri="{FF2B5EF4-FFF2-40B4-BE49-F238E27FC236}">
                      <a16:creationId xmlns:a16="http://schemas.microsoft.com/office/drawing/2014/main" id="{8D8AA998-E089-9CD0-FF2F-3E0AB07C1472}"/>
                    </a:ext>
                  </a:extLst>
                </p:cNvPr>
                <p:cNvSpPr>
                  <a:spLocks noChangeArrowheads="1"/>
                </p:cNvSpPr>
                <p:nvPr/>
              </p:nvSpPr>
              <p:spPr bwMode="auto">
                <a:xfrm>
                  <a:off x="1163"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3" name="Rectangle 619">
                  <a:extLst>
                    <a:ext uri="{FF2B5EF4-FFF2-40B4-BE49-F238E27FC236}">
                      <a16:creationId xmlns:a16="http://schemas.microsoft.com/office/drawing/2014/main" id="{8780B052-25C2-92F8-75C7-8DA729C6B1F1}"/>
                    </a:ext>
                  </a:extLst>
                </p:cNvPr>
                <p:cNvSpPr>
                  <a:spLocks noChangeArrowheads="1"/>
                </p:cNvSpPr>
                <p:nvPr/>
              </p:nvSpPr>
              <p:spPr bwMode="auto">
                <a:xfrm>
                  <a:off x="1564"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4" name="Rectangle 620">
                  <a:extLst>
                    <a:ext uri="{FF2B5EF4-FFF2-40B4-BE49-F238E27FC236}">
                      <a16:creationId xmlns:a16="http://schemas.microsoft.com/office/drawing/2014/main" id="{0AF2805A-17CB-54D2-5CD3-6104C96962D5}"/>
                    </a:ext>
                  </a:extLst>
                </p:cNvPr>
                <p:cNvSpPr>
                  <a:spLocks noChangeArrowheads="1"/>
                </p:cNvSpPr>
                <p:nvPr/>
              </p:nvSpPr>
              <p:spPr bwMode="auto">
                <a:xfrm>
                  <a:off x="1564"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5" name="Rectangle 621">
                  <a:extLst>
                    <a:ext uri="{FF2B5EF4-FFF2-40B4-BE49-F238E27FC236}">
                      <a16:creationId xmlns:a16="http://schemas.microsoft.com/office/drawing/2014/main" id="{06EF6038-F2A1-F446-2B14-9317B004637B}"/>
                    </a:ext>
                  </a:extLst>
                </p:cNvPr>
                <p:cNvSpPr>
                  <a:spLocks noChangeArrowheads="1"/>
                </p:cNvSpPr>
                <p:nvPr/>
              </p:nvSpPr>
              <p:spPr bwMode="auto">
                <a:xfrm>
                  <a:off x="1570" y="361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6" name="Rectangle 622">
                  <a:extLst>
                    <a:ext uri="{FF2B5EF4-FFF2-40B4-BE49-F238E27FC236}">
                      <a16:creationId xmlns:a16="http://schemas.microsoft.com/office/drawing/2014/main" id="{9071DADF-9720-2150-23A3-CCEA11DD5468}"/>
                    </a:ext>
                  </a:extLst>
                </p:cNvPr>
                <p:cNvSpPr>
                  <a:spLocks noChangeArrowheads="1"/>
                </p:cNvSpPr>
                <p:nvPr/>
              </p:nvSpPr>
              <p:spPr bwMode="auto">
                <a:xfrm>
                  <a:off x="1987"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7" name="Rectangle 623">
                  <a:extLst>
                    <a:ext uri="{FF2B5EF4-FFF2-40B4-BE49-F238E27FC236}">
                      <a16:creationId xmlns:a16="http://schemas.microsoft.com/office/drawing/2014/main" id="{D267BD69-BCBD-912A-0CB7-0DC4FACC2BDB}"/>
                    </a:ext>
                  </a:extLst>
                </p:cNvPr>
                <p:cNvSpPr>
                  <a:spLocks noChangeArrowheads="1"/>
                </p:cNvSpPr>
                <p:nvPr/>
              </p:nvSpPr>
              <p:spPr bwMode="auto">
                <a:xfrm>
                  <a:off x="1987"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8" name="Rectangle 624">
                  <a:extLst>
                    <a:ext uri="{FF2B5EF4-FFF2-40B4-BE49-F238E27FC236}">
                      <a16:creationId xmlns:a16="http://schemas.microsoft.com/office/drawing/2014/main" id="{B7EA7E47-54C9-F126-8391-A9A57823DC10}"/>
                    </a:ext>
                  </a:extLst>
                </p:cNvPr>
                <p:cNvSpPr>
                  <a:spLocks noChangeArrowheads="1"/>
                </p:cNvSpPr>
                <p:nvPr/>
              </p:nvSpPr>
              <p:spPr bwMode="auto">
                <a:xfrm>
                  <a:off x="1993" y="361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9" name="Rectangle 625">
                  <a:extLst>
                    <a:ext uri="{FF2B5EF4-FFF2-40B4-BE49-F238E27FC236}">
                      <a16:creationId xmlns:a16="http://schemas.microsoft.com/office/drawing/2014/main" id="{D1C05CFA-6109-B942-D57E-1A72204B354A}"/>
                    </a:ext>
                  </a:extLst>
                </p:cNvPr>
                <p:cNvSpPr>
                  <a:spLocks noChangeArrowheads="1"/>
                </p:cNvSpPr>
                <p:nvPr/>
              </p:nvSpPr>
              <p:spPr bwMode="auto">
                <a:xfrm>
                  <a:off x="2378"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0" name="Rectangle 626">
                  <a:extLst>
                    <a:ext uri="{FF2B5EF4-FFF2-40B4-BE49-F238E27FC236}">
                      <a16:creationId xmlns:a16="http://schemas.microsoft.com/office/drawing/2014/main" id="{6EBB2DF4-E790-712A-DD1F-E8DC48D420D2}"/>
                    </a:ext>
                  </a:extLst>
                </p:cNvPr>
                <p:cNvSpPr>
                  <a:spLocks noChangeArrowheads="1"/>
                </p:cNvSpPr>
                <p:nvPr/>
              </p:nvSpPr>
              <p:spPr bwMode="auto">
                <a:xfrm>
                  <a:off x="2378"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1" name="Rectangle 627">
                  <a:extLst>
                    <a:ext uri="{FF2B5EF4-FFF2-40B4-BE49-F238E27FC236}">
                      <a16:creationId xmlns:a16="http://schemas.microsoft.com/office/drawing/2014/main" id="{2C8ACC35-0592-9DAE-98A7-51CB3FDE2AF5}"/>
                    </a:ext>
                  </a:extLst>
                </p:cNvPr>
                <p:cNvSpPr>
                  <a:spLocks noChangeArrowheads="1"/>
                </p:cNvSpPr>
                <p:nvPr/>
              </p:nvSpPr>
              <p:spPr bwMode="auto">
                <a:xfrm>
                  <a:off x="2384"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2" name="Rectangle 628">
                  <a:extLst>
                    <a:ext uri="{FF2B5EF4-FFF2-40B4-BE49-F238E27FC236}">
                      <a16:creationId xmlns:a16="http://schemas.microsoft.com/office/drawing/2014/main" id="{5D20ECE1-4095-60A4-AD0E-B5A9D1DB6C51}"/>
                    </a:ext>
                  </a:extLst>
                </p:cNvPr>
                <p:cNvSpPr>
                  <a:spLocks noChangeArrowheads="1"/>
                </p:cNvSpPr>
                <p:nvPr/>
              </p:nvSpPr>
              <p:spPr bwMode="auto">
                <a:xfrm>
                  <a:off x="2785"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3" name="Rectangle 629">
                  <a:extLst>
                    <a:ext uri="{FF2B5EF4-FFF2-40B4-BE49-F238E27FC236}">
                      <a16:creationId xmlns:a16="http://schemas.microsoft.com/office/drawing/2014/main" id="{99DA87D5-4EDA-3C5C-C679-8FB3F08BDB9C}"/>
                    </a:ext>
                  </a:extLst>
                </p:cNvPr>
                <p:cNvSpPr>
                  <a:spLocks noChangeArrowheads="1"/>
                </p:cNvSpPr>
                <p:nvPr/>
              </p:nvSpPr>
              <p:spPr bwMode="auto">
                <a:xfrm>
                  <a:off x="2785"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4" name="Rectangle 630">
                  <a:extLst>
                    <a:ext uri="{FF2B5EF4-FFF2-40B4-BE49-F238E27FC236}">
                      <a16:creationId xmlns:a16="http://schemas.microsoft.com/office/drawing/2014/main" id="{5DC0AE8B-4A91-A7A5-1CBB-DFCBAD32111F}"/>
                    </a:ext>
                  </a:extLst>
                </p:cNvPr>
                <p:cNvSpPr>
                  <a:spLocks noChangeArrowheads="1"/>
                </p:cNvSpPr>
                <p:nvPr/>
              </p:nvSpPr>
              <p:spPr bwMode="auto">
                <a:xfrm>
                  <a:off x="2791"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5" name="Rectangle 631">
                  <a:extLst>
                    <a:ext uri="{FF2B5EF4-FFF2-40B4-BE49-F238E27FC236}">
                      <a16:creationId xmlns:a16="http://schemas.microsoft.com/office/drawing/2014/main" id="{7CB0CFC5-53D9-D8BD-D695-62AC71D54A59}"/>
                    </a:ext>
                  </a:extLst>
                </p:cNvPr>
                <p:cNvSpPr>
                  <a:spLocks noChangeArrowheads="1"/>
                </p:cNvSpPr>
                <p:nvPr/>
              </p:nvSpPr>
              <p:spPr bwMode="auto">
                <a:xfrm>
                  <a:off x="3192"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6" name="Rectangle 632">
                  <a:extLst>
                    <a:ext uri="{FF2B5EF4-FFF2-40B4-BE49-F238E27FC236}">
                      <a16:creationId xmlns:a16="http://schemas.microsoft.com/office/drawing/2014/main" id="{31F0DA3F-D4DA-01BD-BF1A-2631DB31849C}"/>
                    </a:ext>
                  </a:extLst>
                </p:cNvPr>
                <p:cNvSpPr>
                  <a:spLocks noChangeArrowheads="1"/>
                </p:cNvSpPr>
                <p:nvPr/>
              </p:nvSpPr>
              <p:spPr bwMode="auto">
                <a:xfrm>
                  <a:off x="3192"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7" name="Rectangle 633">
                  <a:extLst>
                    <a:ext uri="{FF2B5EF4-FFF2-40B4-BE49-F238E27FC236}">
                      <a16:creationId xmlns:a16="http://schemas.microsoft.com/office/drawing/2014/main" id="{5A0D6828-F920-E0A8-63EB-C1C9C0424812}"/>
                    </a:ext>
                  </a:extLst>
                </p:cNvPr>
                <p:cNvSpPr>
                  <a:spLocks noChangeArrowheads="1"/>
                </p:cNvSpPr>
                <p:nvPr/>
              </p:nvSpPr>
              <p:spPr bwMode="auto">
                <a:xfrm>
                  <a:off x="3198"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8" name="Rectangle 634">
                  <a:extLst>
                    <a:ext uri="{FF2B5EF4-FFF2-40B4-BE49-F238E27FC236}">
                      <a16:creationId xmlns:a16="http://schemas.microsoft.com/office/drawing/2014/main" id="{C8844EBF-36D2-4F81-AFF9-DAD62B974A54}"/>
                    </a:ext>
                  </a:extLst>
                </p:cNvPr>
                <p:cNvSpPr>
                  <a:spLocks noChangeArrowheads="1"/>
                </p:cNvSpPr>
                <p:nvPr/>
              </p:nvSpPr>
              <p:spPr bwMode="auto">
                <a:xfrm>
                  <a:off x="3599"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9" name="Rectangle 635">
                  <a:extLst>
                    <a:ext uri="{FF2B5EF4-FFF2-40B4-BE49-F238E27FC236}">
                      <a16:creationId xmlns:a16="http://schemas.microsoft.com/office/drawing/2014/main" id="{A65F776C-A592-80A8-0900-B1D5C317036E}"/>
                    </a:ext>
                  </a:extLst>
                </p:cNvPr>
                <p:cNvSpPr>
                  <a:spLocks noChangeArrowheads="1"/>
                </p:cNvSpPr>
                <p:nvPr/>
              </p:nvSpPr>
              <p:spPr bwMode="auto">
                <a:xfrm>
                  <a:off x="3599"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0" name="Rectangle 636">
                  <a:extLst>
                    <a:ext uri="{FF2B5EF4-FFF2-40B4-BE49-F238E27FC236}">
                      <a16:creationId xmlns:a16="http://schemas.microsoft.com/office/drawing/2014/main" id="{F1DFB110-F136-FAE7-D7F6-FDCE65F1D180}"/>
                    </a:ext>
                  </a:extLst>
                </p:cNvPr>
                <p:cNvSpPr>
                  <a:spLocks noChangeArrowheads="1"/>
                </p:cNvSpPr>
                <p:nvPr/>
              </p:nvSpPr>
              <p:spPr bwMode="auto">
                <a:xfrm>
                  <a:off x="3605" y="361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1" name="Rectangle 637">
                  <a:extLst>
                    <a:ext uri="{FF2B5EF4-FFF2-40B4-BE49-F238E27FC236}">
                      <a16:creationId xmlns:a16="http://schemas.microsoft.com/office/drawing/2014/main" id="{04C74346-D8B3-3982-D015-55041A3579D2}"/>
                    </a:ext>
                  </a:extLst>
                </p:cNvPr>
                <p:cNvSpPr>
                  <a:spLocks noChangeArrowheads="1"/>
                </p:cNvSpPr>
                <p:nvPr/>
              </p:nvSpPr>
              <p:spPr bwMode="auto">
                <a:xfrm>
                  <a:off x="4004"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2" name="Rectangle 638">
                  <a:extLst>
                    <a:ext uri="{FF2B5EF4-FFF2-40B4-BE49-F238E27FC236}">
                      <a16:creationId xmlns:a16="http://schemas.microsoft.com/office/drawing/2014/main" id="{47FB3E22-97EF-CD7E-F7C3-CA5F7A161D4E}"/>
                    </a:ext>
                  </a:extLst>
                </p:cNvPr>
                <p:cNvSpPr>
                  <a:spLocks noChangeArrowheads="1"/>
                </p:cNvSpPr>
                <p:nvPr/>
              </p:nvSpPr>
              <p:spPr bwMode="auto">
                <a:xfrm>
                  <a:off x="4004"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3" name="Rectangle 639">
                  <a:extLst>
                    <a:ext uri="{FF2B5EF4-FFF2-40B4-BE49-F238E27FC236}">
                      <a16:creationId xmlns:a16="http://schemas.microsoft.com/office/drawing/2014/main" id="{0B001A69-343F-855B-4559-5B3031232B2E}"/>
                    </a:ext>
                  </a:extLst>
                </p:cNvPr>
                <p:cNvSpPr>
                  <a:spLocks noChangeArrowheads="1"/>
                </p:cNvSpPr>
                <p:nvPr/>
              </p:nvSpPr>
              <p:spPr bwMode="auto">
                <a:xfrm>
                  <a:off x="4010"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4" name="Rectangle 640">
                  <a:extLst>
                    <a:ext uri="{FF2B5EF4-FFF2-40B4-BE49-F238E27FC236}">
                      <a16:creationId xmlns:a16="http://schemas.microsoft.com/office/drawing/2014/main" id="{8FA1FC8F-7C0F-9BFE-2DD5-FDB1496B08D8}"/>
                    </a:ext>
                  </a:extLst>
                </p:cNvPr>
                <p:cNvSpPr>
                  <a:spLocks noChangeArrowheads="1"/>
                </p:cNvSpPr>
                <p:nvPr/>
              </p:nvSpPr>
              <p:spPr bwMode="auto">
                <a:xfrm>
                  <a:off x="4411"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5" name="Rectangle 641">
                  <a:extLst>
                    <a:ext uri="{FF2B5EF4-FFF2-40B4-BE49-F238E27FC236}">
                      <a16:creationId xmlns:a16="http://schemas.microsoft.com/office/drawing/2014/main" id="{9981C1D4-0A5F-AB76-F1A1-708995DB840B}"/>
                    </a:ext>
                  </a:extLst>
                </p:cNvPr>
                <p:cNvSpPr>
                  <a:spLocks noChangeArrowheads="1"/>
                </p:cNvSpPr>
                <p:nvPr/>
              </p:nvSpPr>
              <p:spPr bwMode="auto">
                <a:xfrm>
                  <a:off x="4411"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6" name="Rectangle 642">
                  <a:extLst>
                    <a:ext uri="{FF2B5EF4-FFF2-40B4-BE49-F238E27FC236}">
                      <a16:creationId xmlns:a16="http://schemas.microsoft.com/office/drawing/2014/main" id="{5BD21A6F-CE94-CEBE-410B-606B9849A2CD}"/>
                    </a:ext>
                  </a:extLst>
                </p:cNvPr>
                <p:cNvSpPr>
                  <a:spLocks noChangeArrowheads="1"/>
                </p:cNvSpPr>
                <p:nvPr/>
              </p:nvSpPr>
              <p:spPr bwMode="auto">
                <a:xfrm>
                  <a:off x="4417"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7" name="Rectangle 643">
                  <a:extLst>
                    <a:ext uri="{FF2B5EF4-FFF2-40B4-BE49-F238E27FC236}">
                      <a16:creationId xmlns:a16="http://schemas.microsoft.com/office/drawing/2014/main" id="{41E22273-6CBB-EB1E-49D0-9B53580718F8}"/>
                    </a:ext>
                  </a:extLst>
                </p:cNvPr>
                <p:cNvSpPr>
                  <a:spLocks noChangeArrowheads="1"/>
                </p:cNvSpPr>
                <p:nvPr/>
              </p:nvSpPr>
              <p:spPr bwMode="auto">
                <a:xfrm>
                  <a:off x="4818"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8" name="Rectangle 644">
                  <a:extLst>
                    <a:ext uri="{FF2B5EF4-FFF2-40B4-BE49-F238E27FC236}">
                      <a16:creationId xmlns:a16="http://schemas.microsoft.com/office/drawing/2014/main" id="{D7230527-3FE7-AAB4-49E0-04F43F9A784A}"/>
                    </a:ext>
                  </a:extLst>
                </p:cNvPr>
                <p:cNvSpPr>
                  <a:spLocks noChangeArrowheads="1"/>
                </p:cNvSpPr>
                <p:nvPr/>
              </p:nvSpPr>
              <p:spPr bwMode="auto">
                <a:xfrm>
                  <a:off x="4818"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9" name="Rectangle 645">
                  <a:extLst>
                    <a:ext uri="{FF2B5EF4-FFF2-40B4-BE49-F238E27FC236}">
                      <a16:creationId xmlns:a16="http://schemas.microsoft.com/office/drawing/2014/main" id="{9404C47B-B052-A24C-2223-6130D451C3B6}"/>
                    </a:ext>
                  </a:extLst>
                </p:cNvPr>
                <p:cNvSpPr>
                  <a:spLocks noChangeArrowheads="1"/>
                </p:cNvSpPr>
                <p:nvPr/>
              </p:nvSpPr>
              <p:spPr bwMode="auto">
                <a:xfrm>
                  <a:off x="4824"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0" name="Rectangle 646">
                  <a:extLst>
                    <a:ext uri="{FF2B5EF4-FFF2-40B4-BE49-F238E27FC236}">
                      <a16:creationId xmlns:a16="http://schemas.microsoft.com/office/drawing/2014/main" id="{DA0135EE-2F18-96FA-B1A3-7D8ACBFC45BE}"/>
                    </a:ext>
                  </a:extLst>
                </p:cNvPr>
                <p:cNvSpPr>
                  <a:spLocks noChangeArrowheads="1"/>
                </p:cNvSpPr>
                <p:nvPr/>
              </p:nvSpPr>
              <p:spPr bwMode="auto">
                <a:xfrm>
                  <a:off x="5225"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1" name="Rectangle 647">
                  <a:extLst>
                    <a:ext uri="{FF2B5EF4-FFF2-40B4-BE49-F238E27FC236}">
                      <a16:creationId xmlns:a16="http://schemas.microsoft.com/office/drawing/2014/main" id="{ADF0CB6C-1617-C9C6-ED4A-75AB57B272E5}"/>
                    </a:ext>
                  </a:extLst>
                </p:cNvPr>
                <p:cNvSpPr>
                  <a:spLocks noChangeArrowheads="1"/>
                </p:cNvSpPr>
                <p:nvPr/>
              </p:nvSpPr>
              <p:spPr bwMode="auto">
                <a:xfrm>
                  <a:off x="5225"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2" name="Rectangle 648">
                  <a:extLst>
                    <a:ext uri="{FF2B5EF4-FFF2-40B4-BE49-F238E27FC236}">
                      <a16:creationId xmlns:a16="http://schemas.microsoft.com/office/drawing/2014/main" id="{F87C43C7-EDC6-959F-5D92-BE1B396160C1}"/>
                    </a:ext>
                  </a:extLst>
                </p:cNvPr>
                <p:cNvSpPr>
                  <a:spLocks noChangeArrowheads="1"/>
                </p:cNvSpPr>
                <p:nvPr/>
              </p:nvSpPr>
              <p:spPr bwMode="auto">
                <a:xfrm>
                  <a:off x="5225"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3" name="Rectangle 649">
                  <a:extLst>
                    <a:ext uri="{FF2B5EF4-FFF2-40B4-BE49-F238E27FC236}">
                      <a16:creationId xmlns:a16="http://schemas.microsoft.com/office/drawing/2014/main" id="{C21B3EB2-F12B-9344-6B86-CF3B6C25A336}"/>
                    </a:ext>
                  </a:extLst>
                </p:cNvPr>
                <p:cNvSpPr>
                  <a:spLocks noChangeArrowheads="1"/>
                </p:cNvSpPr>
                <p:nvPr/>
              </p:nvSpPr>
              <p:spPr bwMode="auto">
                <a:xfrm>
                  <a:off x="712" y="3474"/>
                  <a:ext cx="2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TOTAL</a:t>
                  </a:r>
                </a:p>
              </p:txBody>
            </p:sp>
            <p:sp>
              <p:nvSpPr>
                <p:cNvPr id="674" name="Rectangle 650">
                  <a:extLst>
                    <a:ext uri="{FF2B5EF4-FFF2-40B4-BE49-F238E27FC236}">
                      <a16:creationId xmlns:a16="http://schemas.microsoft.com/office/drawing/2014/main" id="{3300C103-02C4-4053-C7E4-39E9DACC7F2F}"/>
                    </a:ext>
                  </a:extLst>
                </p:cNvPr>
                <p:cNvSpPr>
                  <a:spLocks noChangeArrowheads="1"/>
                </p:cNvSpPr>
                <p:nvPr/>
              </p:nvSpPr>
              <p:spPr bwMode="auto">
                <a:xfrm>
                  <a:off x="1226" y="3474"/>
                  <a:ext cx="24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1,200</a:t>
                  </a:r>
                </a:p>
              </p:txBody>
            </p:sp>
            <p:sp>
              <p:nvSpPr>
                <p:cNvPr id="675" name="Rectangle 651">
                  <a:extLst>
                    <a:ext uri="{FF2B5EF4-FFF2-40B4-BE49-F238E27FC236}">
                      <a16:creationId xmlns:a16="http://schemas.microsoft.com/office/drawing/2014/main" id="{87ACFC9A-3EDB-AF4F-F880-3BD891CB7195}"/>
                    </a:ext>
                  </a:extLst>
                </p:cNvPr>
                <p:cNvSpPr>
                  <a:spLocks noChangeArrowheads="1"/>
                </p:cNvSpPr>
                <p:nvPr/>
              </p:nvSpPr>
              <p:spPr bwMode="auto">
                <a:xfrm>
                  <a:off x="1668" y="3474"/>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100</a:t>
                  </a:r>
                </a:p>
              </p:txBody>
            </p:sp>
            <p:sp>
              <p:nvSpPr>
                <p:cNvPr id="676" name="Line 652">
                  <a:extLst>
                    <a:ext uri="{FF2B5EF4-FFF2-40B4-BE49-F238E27FC236}">
                      <a16:creationId xmlns:a16="http://schemas.microsoft.com/office/drawing/2014/main" id="{09902B7A-7825-47FB-45EC-C92608F7AEED}"/>
                    </a:ext>
                  </a:extLst>
                </p:cNvPr>
                <p:cNvSpPr>
                  <a:spLocks noChangeShapeType="1"/>
                </p:cNvSpPr>
                <p:nvPr/>
              </p:nvSpPr>
              <p:spPr bwMode="auto">
                <a:xfrm flipV="1">
                  <a:off x="2223" y="181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7" name="Line 653">
                  <a:extLst>
                    <a:ext uri="{FF2B5EF4-FFF2-40B4-BE49-F238E27FC236}">
                      <a16:creationId xmlns:a16="http://schemas.microsoft.com/office/drawing/2014/main" id="{D52DE87E-0E32-7592-D3F5-6ED291C52485}"/>
                    </a:ext>
                  </a:extLst>
                </p:cNvPr>
                <p:cNvSpPr>
                  <a:spLocks noChangeShapeType="1"/>
                </p:cNvSpPr>
                <p:nvPr/>
              </p:nvSpPr>
              <p:spPr bwMode="auto">
                <a:xfrm flipV="1">
                  <a:off x="2227" y="1950"/>
                  <a:ext cx="316"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8" name="Line 654">
                  <a:extLst>
                    <a:ext uri="{FF2B5EF4-FFF2-40B4-BE49-F238E27FC236}">
                      <a16:creationId xmlns:a16="http://schemas.microsoft.com/office/drawing/2014/main" id="{4D7BEC54-D54C-F3D7-559B-526A8081BE48}"/>
                    </a:ext>
                  </a:extLst>
                </p:cNvPr>
                <p:cNvSpPr>
                  <a:spLocks noChangeShapeType="1"/>
                </p:cNvSpPr>
                <p:nvPr/>
              </p:nvSpPr>
              <p:spPr bwMode="auto">
                <a:xfrm flipV="1">
                  <a:off x="2223" y="209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9" name="Line 655">
                  <a:extLst>
                    <a:ext uri="{FF2B5EF4-FFF2-40B4-BE49-F238E27FC236}">
                      <a16:creationId xmlns:a16="http://schemas.microsoft.com/office/drawing/2014/main" id="{D0A3EA70-D094-C965-8D67-2F4E21A1C8C7}"/>
                    </a:ext>
                  </a:extLst>
                </p:cNvPr>
                <p:cNvSpPr>
                  <a:spLocks noChangeShapeType="1"/>
                </p:cNvSpPr>
                <p:nvPr/>
              </p:nvSpPr>
              <p:spPr bwMode="auto">
                <a:xfrm flipV="1">
                  <a:off x="3033" y="2238"/>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0" name="Line 656">
                  <a:extLst>
                    <a:ext uri="{FF2B5EF4-FFF2-40B4-BE49-F238E27FC236}">
                      <a16:creationId xmlns:a16="http://schemas.microsoft.com/office/drawing/2014/main" id="{45262BD0-B983-2029-3624-3C2CC2429F80}"/>
                    </a:ext>
                  </a:extLst>
                </p:cNvPr>
                <p:cNvSpPr>
                  <a:spLocks noChangeShapeType="1"/>
                </p:cNvSpPr>
                <p:nvPr/>
              </p:nvSpPr>
              <p:spPr bwMode="auto">
                <a:xfrm flipV="1">
                  <a:off x="3033" y="2386"/>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1" name="Line 657">
                  <a:extLst>
                    <a:ext uri="{FF2B5EF4-FFF2-40B4-BE49-F238E27FC236}">
                      <a16:creationId xmlns:a16="http://schemas.microsoft.com/office/drawing/2014/main" id="{2ECB7D04-9B51-4EFE-BE0C-E808FC28896F}"/>
                    </a:ext>
                  </a:extLst>
                </p:cNvPr>
                <p:cNvSpPr>
                  <a:spLocks noChangeShapeType="1"/>
                </p:cNvSpPr>
                <p:nvPr/>
              </p:nvSpPr>
              <p:spPr bwMode="auto">
                <a:xfrm flipV="1">
                  <a:off x="3436" y="223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2" name="Line 658">
                  <a:extLst>
                    <a:ext uri="{FF2B5EF4-FFF2-40B4-BE49-F238E27FC236}">
                      <a16:creationId xmlns:a16="http://schemas.microsoft.com/office/drawing/2014/main" id="{58556620-D2C1-F206-B49C-4805B9C02FC1}"/>
                    </a:ext>
                  </a:extLst>
                </p:cNvPr>
                <p:cNvSpPr>
                  <a:spLocks noChangeShapeType="1"/>
                </p:cNvSpPr>
                <p:nvPr/>
              </p:nvSpPr>
              <p:spPr bwMode="auto">
                <a:xfrm flipV="1">
                  <a:off x="3033" y="267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3" name="Line 659">
                  <a:extLst>
                    <a:ext uri="{FF2B5EF4-FFF2-40B4-BE49-F238E27FC236}">
                      <a16:creationId xmlns:a16="http://schemas.microsoft.com/office/drawing/2014/main" id="{D67D95E1-FA6C-6DE5-CF0C-519B618DEC33}"/>
                    </a:ext>
                  </a:extLst>
                </p:cNvPr>
                <p:cNvSpPr>
                  <a:spLocks noChangeShapeType="1"/>
                </p:cNvSpPr>
                <p:nvPr/>
              </p:nvSpPr>
              <p:spPr bwMode="auto">
                <a:xfrm flipV="1">
                  <a:off x="3033" y="281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4" name="Line 660">
                  <a:extLst>
                    <a:ext uri="{FF2B5EF4-FFF2-40B4-BE49-F238E27FC236}">
                      <a16:creationId xmlns:a16="http://schemas.microsoft.com/office/drawing/2014/main" id="{A03E9432-2D8F-494B-B0D6-BD1351A6871F}"/>
                    </a:ext>
                  </a:extLst>
                </p:cNvPr>
                <p:cNvSpPr>
                  <a:spLocks noChangeShapeType="1"/>
                </p:cNvSpPr>
                <p:nvPr/>
              </p:nvSpPr>
              <p:spPr bwMode="auto">
                <a:xfrm flipV="1">
                  <a:off x="3033" y="296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5" name="Line 661">
                  <a:extLst>
                    <a:ext uri="{FF2B5EF4-FFF2-40B4-BE49-F238E27FC236}">
                      <a16:creationId xmlns:a16="http://schemas.microsoft.com/office/drawing/2014/main" id="{FA470386-D8A7-54EB-316B-E3CB2BD3D847}"/>
                    </a:ext>
                  </a:extLst>
                </p:cNvPr>
                <p:cNvSpPr>
                  <a:spLocks noChangeShapeType="1"/>
                </p:cNvSpPr>
                <p:nvPr/>
              </p:nvSpPr>
              <p:spPr bwMode="auto">
                <a:xfrm flipV="1">
                  <a:off x="3436" y="267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 name="Line 662">
                  <a:extLst>
                    <a:ext uri="{FF2B5EF4-FFF2-40B4-BE49-F238E27FC236}">
                      <a16:creationId xmlns:a16="http://schemas.microsoft.com/office/drawing/2014/main" id="{3AA8D7F4-11B8-A822-9402-300E2ACA6855}"/>
                    </a:ext>
                  </a:extLst>
                </p:cNvPr>
                <p:cNvSpPr>
                  <a:spLocks noChangeShapeType="1"/>
                </p:cNvSpPr>
                <p:nvPr/>
              </p:nvSpPr>
              <p:spPr bwMode="auto">
                <a:xfrm flipV="1">
                  <a:off x="3436" y="281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7" name="Line 663">
                  <a:extLst>
                    <a:ext uri="{FF2B5EF4-FFF2-40B4-BE49-F238E27FC236}">
                      <a16:creationId xmlns:a16="http://schemas.microsoft.com/office/drawing/2014/main" id="{00F07335-42ED-8CB1-5049-221640E8D1C4}"/>
                    </a:ext>
                  </a:extLst>
                </p:cNvPr>
                <p:cNvSpPr>
                  <a:spLocks noChangeShapeType="1"/>
                </p:cNvSpPr>
                <p:nvPr/>
              </p:nvSpPr>
              <p:spPr bwMode="auto">
                <a:xfrm flipV="1">
                  <a:off x="3436" y="296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8" name="Line 664">
                  <a:extLst>
                    <a:ext uri="{FF2B5EF4-FFF2-40B4-BE49-F238E27FC236}">
                      <a16:creationId xmlns:a16="http://schemas.microsoft.com/office/drawing/2014/main" id="{62ED6FF0-ECD2-2B20-20D9-3A36527400A6}"/>
                    </a:ext>
                  </a:extLst>
                </p:cNvPr>
                <p:cNvSpPr>
                  <a:spLocks noChangeShapeType="1"/>
                </p:cNvSpPr>
                <p:nvPr/>
              </p:nvSpPr>
              <p:spPr bwMode="auto">
                <a:xfrm flipV="1">
                  <a:off x="3033" y="3102"/>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9" name="Line 665">
                  <a:extLst>
                    <a:ext uri="{FF2B5EF4-FFF2-40B4-BE49-F238E27FC236}">
                      <a16:creationId xmlns:a16="http://schemas.microsoft.com/office/drawing/2014/main" id="{C8814DA3-9D19-6370-C510-873112AF7FF4}"/>
                    </a:ext>
                  </a:extLst>
                </p:cNvPr>
                <p:cNvSpPr>
                  <a:spLocks noChangeShapeType="1"/>
                </p:cNvSpPr>
                <p:nvPr/>
              </p:nvSpPr>
              <p:spPr bwMode="auto">
                <a:xfrm flipV="1">
                  <a:off x="3436" y="3102"/>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0" name="Line 666">
                  <a:extLst>
                    <a:ext uri="{FF2B5EF4-FFF2-40B4-BE49-F238E27FC236}">
                      <a16:creationId xmlns:a16="http://schemas.microsoft.com/office/drawing/2014/main" id="{50953614-2C2F-553B-978D-A4742C11579D}"/>
                    </a:ext>
                  </a:extLst>
                </p:cNvPr>
                <p:cNvSpPr>
                  <a:spLocks noChangeShapeType="1"/>
                </p:cNvSpPr>
                <p:nvPr/>
              </p:nvSpPr>
              <p:spPr bwMode="auto">
                <a:xfrm flipV="1">
                  <a:off x="4661" y="1806"/>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1" name="Line 667">
                  <a:extLst>
                    <a:ext uri="{FF2B5EF4-FFF2-40B4-BE49-F238E27FC236}">
                      <a16:creationId xmlns:a16="http://schemas.microsoft.com/office/drawing/2014/main" id="{F306F1C7-E206-7CA3-9CEF-DACD77EE5D26}"/>
                    </a:ext>
                  </a:extLst>
                </p:cNvPr>
                <p:cNvSpPr>
                  <a:spLocks noChangeShapeType="1"/>
                </p:cNvSpPr>
                <p:nvPr/>
              </p:nvSpPr>
              <p:spPr bwMode="auto">
                <a:xfrm flipV="1">
                  <a:off x="4661" y="1954"/>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2" name="Line 668">
                  <a:extLst>
                    <a:ext uri="{FF2B5EF4-FFF2-40B4-BE49-F238E27FC236}">
                      <a16:creationId xmlns:a16="http://schemas.microsoft.com/office/drawing/2014/main" id="{BF18C20B-604B-5EFA-9D01-35927FB9E7C7}"/>
                    </a:ext>
                  </a:extLst>
                </p:cNvPr>
                <p:cNvSpPr>
                  <a:spLocks noChangeShapeType="1"/>
                </p:cNvSpPr>
                <p:nvPr/>
              </p:nvSpPr>
              <p:spPr bwMode="auto">
                <a:xfrm flipV="1">
                  <a:off x="4661" y="2096"/>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3" name="Line 669">
                  <a:extLst>
                    <a:ext uri="{FF2B5EF4-FFF2-40B4-BE49-F238E27FC236}">
                      <a16:creationId xmlns:a16="http://schemas.microsoft.com/office/drawing/2014/main" id="{067C1CAD-6D62-7975-1EE7-057C022952FE}"/>
                    </a:ext>
                  </a:extLst>
                </p:cNvPr>
                <p:cNvSpPr>
                  <a:spLocks noChangeShapeType="1"/>
                </p:cNvSpPr>
                <p:nvPr/>
              </p:nvSpPr>
              <p:spPr bwMode="auto">
                <a:xfrm flipV="1">
                  <a:off x="4657" y="223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4" name="Line 670">
                  <a:extLst>
                    <a:ext uri="{FF2B5EF4-FFF2-40B4-BE49-F238E27FC236}">
                      <a16:creationId xmlns:a16="http://schemas.microsoft.com/office/drawing/2014/main" id="{D9629BBF-F59E-2187-8336-298351D629D6}"/>
                    </a:ext>
                  </a:extLst>
                </p:cNvPr>
                <p:cNvSpPr>
                  <a:spLocks noChangeShapeType="1"/>
                </p:cNvSpPr>
                <p:nvPr/>
              </p:nvSpPr>
              <p:spPr bwMode="auto">
                <a:xfrm flipV="1">
                  <a:off x="4657" y="2384"/>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5" name="Line 671">
                  <a:extLst>
                    <a:ext uri="{FF2B5EF4-FFF2-40B4-BE49-F238E27FC236}">
                      <a16:creationId xmlns:a16="http://schemas.microsoft.com/office/drawing/2014/main" id="{3184C774-F9D3-6F29-D215-8977E1F2893A}"/>
                    </a:ext>
                  </a:extLst>
                </p:cNvPr>
                <p:cNvSpPr>
                  <a:spLocks noChangeShapeType="1"/>
                </p:cNvSpPr>
                <p:nvPr/>
              </p:nvSpPr>
              <p:spPr bwMode="auto">
                <a:xfrm flipV="1">
                  <a:off x="4657" y="2674"/>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 name="Line 672">
                  <a:extLst>
                    <a:ext uri="{FF2B5EF4-FFF2-40B4-BE49-F238E27FC236}">
                      <a16:creationId xmlns:a16="http://schemas.microsoft.com/office/drawing/2014/main" id="{42C66FB2-6B67-BBF3-9B19-96D3744632DF}"/>
                    </a:ext>
                  </a:extLst>
                </p:cNvPr>
                <p:cNvSpPr>
                  <a:spLocks noChangeShapeType="1"/>
                </p:cNvSpPr>
                <p:nvPr/>
              </p:nvSpPr>
              <p:spPr bwMode="auto">
                <a:xfrm flipV="1">
                  <a:off x="4657" y="281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 name="Line 673">
                  <a:extLst>
                    <a:ext uri="{FF2B5EF4-FFF2-40B4-BE49-F238E27FC236}">
                      <a16:creationId xmlns:a16="http://schemas.microsoft.com/office/drawing/2014/main" id="{8426705A-A49C-6BEB-00D1-C3AE5C73F346}"/>
                    </a:ext>
                  </a:extLst>
                </p:cNvPr>
                <p:cNvSpPr>
                  <a:spLocks noChangeShapeType="1"/>
                </p:cNvSpPr>
                <p:nvPr/>
              </p:nvSpPr>
              <p:spPr bwMode="auto">
                <a:xfrm flipV="1">
                  <a:off x="4657" y="296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8" name="Line 674">
                  <a:extLst>
                    <a:ext uri="{FF2B5EF4-FFF2-40B4-BE49-F238E27FC236}">
                      <a16:creationId xmlns:a16="http://schemas.microsoft.com/office/drawing/2014/main" id="{61B407AF-5E76-6CEA-E93C-69D15666B59F}"/>
                    </a:ext>
                  </a:extLst>
                </p:cNvPr>
                <p:cNvSpPr>
                  <a:spLocks noChangeShapeType="1"/>
                </p:cNvSpPr>
                <p:nvPr/>
              </p:nvSpPr>
              <p:spPr bwMode="auto">
                <a:xfrm flipV="1">
                  <a:off x="4657" y="3106"/>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9" name="Line 675">
                  <a:extLst>
                    <a:ext uri="{FF2B5EF4-FFF2-40B4-BE49-F238E27FC236}">
                      <a16:creationId xmlns:a16="http://schemas.microsoft.com/office/drawing/2014/main" id="{8F9DB3FC-F9CC-0427-9084-D27B5DAB469D}"/>
                    </a:ext>
                  </a:extLst>
                </p:cNvPr>
                <p:cNvSpPr>
                  <a:spLocks noChangeShapeType="1"/>
                </p:cNvSpPr>
                <p:nvPr/>
              </p:nvSpPr>
              <p:spPr bwMode="auto">
                <a:xfrm>
                  <a:off x="3444" y="2382"/>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0" name="Line 676">
                  <a:extLst>
                    <a:ext uri="{FF2B5EF4-FFF2-40B4-BE49-F238E27FC236}">
                      <a16:creationId xmlns:a16="http://schemas.microsoft.com/office/drawing/2014/main" id="{629F6DA0-8408-3FEC-E91D-84CC1556F77A}"/>
                    </a:ext>
                  </a:extLst>
                </p:cNvPr>
                <p:cNvSpPr>
                  <a:spLocks noChangeShapeType="1"/>
                </p:cNvSpPr>
                <p:nvPr/>
              </p:nvSpPr>
              <p:spPr bwMode="auto">
                <a:xfrm>
                  <a:off x="3843" y="2674"/>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1" name="Line 677">
                  <a:extLst>
                    <a:ext uri="{FF2B5EF4-FFF2-40B4-BE49-F238E27FC236}">
                      <a16:creationId xmlns:a16="http://schemas.microsoft.com/office/drawing/2014/main" id="{6785970D-D24B-8E49-C8BC-062F1E7F7D1E}"/>
                    </a:ext>
                  </a:extLst>
                </p:cNvPr>
                <p:cNvSpPr>
                  <a:spLocks noChangeShapeType="1"/>
                </p:cNvSpPr>
                <p:nvPr/>
              </p:nvSpPr>
              <p:spPr bwMode="auto">
                <a:xfrm>
                  <a:off x="3847" y="2814"/>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2" name="Line 678">
                  <a:extLst>
                    <a:ext uri="{FF2B5EF4-FFF2-40B4-BE49-F238E27FC236}">
                      <a16:creationId xmlns:a16="http://schemas.microsoft.com/office/drawing/2014/main" id="{A1A578AB-CFFB-78E2-2E50-141CD5914494}"/>
                    </a:ext>
                  </a:extLst>
                </p:cNvPr>
                <p:cNvSpPr>
                  <a:spLocks noChangeShapeType="1"/>
                </p:cNvSpPr>
                <p:nvPr/>
              </p:nvSpPr>
              <p:spPr bwMode="auto">
                <a:xfrm>
                  <a:off x="3843" y="2966"/>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3" name="Line 679">
                  <a:extLst>
                    <a:ext uri="{FF2B5EF4-FFF2-40B4-BE49-F238E27FC236}">
                      <a16:creationId xmlns:a16="http://schemas.microsoft.com/office/drawing/2014/main" id="{0D7EB3D0-C5CA-63BF-39CB-29A516A47203}"/>
                    </a:ext>
                  </a:extLst>
                </p:cNvPr>
                <p:cNvSpPr>
                  <a:spLocks noChangeShapeType="1"/>
                </p:cNvSpPr>
                <p:nvPr/>
              </p:nvSpPr>
              <p:spPr bwMode="auto">
                <a:xfrm>
                  <a:off x="3847" y="310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4" name="Line 680">
                  <a:extLst>
                    <a:ext uri="{FF2B5EF4-FFF2-40B4-BE49-F238E27FC236}">
                      <a16:creationId xmlns:a16="http://schemas.microsoft.com/office/drawing/2014/main" id="{7E9C4476-D445-CBB8-4E3B-B8B4A0D683CB}"/>
                    </a:ext>
                  </a:extLst>
                </p:cNvPr>
                <p:cNvSpPr>
                  <a:spLocks noChangeShapeType="1"/>
                </p:cNvSpPr>
                <p:nvPr/>
              </p:nvSpPr>
              <p:spPr bwMode="auto">
                <a:xfrm>
                  <a:off x="2219" y="2674"/>
                  <a:ext cx="724"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5" name="Line 681">
                  <a:extLst>
                    <a:ext uri="{FF2B5EF4-FFF2-40B4-BE49-F238E27FC236}">
                      <a16:creationId xmlns:a16="http://schemas.microsoft.com/office/drawing/2014/main" id="{F923675D-AE49-14CE-8D0C-EBAF1A63AE15}"/>
                    </a:ext>
                  </a:extLst>
                </p:cNvPr>
                <p:cNvSpPr>
                  <a:spLocks noChangeShapeType="1"/>
                </p:cNvSpPr>
                <p:nvPr/>
              </p:nvSpPr>
              <p:spPr bwMode="auto">
                <a:xfrm>
                  <a:off x="2223" y="2814"/>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6" name="Line 682">
                  <a:extLst>
                    <a:ext uri="{FF2B5EF4-FFF2-40B4-BE49-F238E27FC236}">
                      <a16:creationId xmlns:a16="http://schemas.microsoft.com/office/drawing/2014/main" id="{A966CF09-32FF-9EF1-D858-24E5BB15C93D}"/>
                    </a:ext>
                  </a:extLst>
                </p:cNvPr>
                <p:cNvSpPr>
                  <a:spLocks noChangeShapeType="1"/>
                </p:cNvSpPr>
                <p:nvPr/>
              </p:nvSpPr>
              <p:spPr bwMode="auto">
                <a:xfrm>
                  <a:off x="2219" y="2966"/>
                  <a:ext cx="724"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7" name="Line 683">
                  <a:extLst>
                    <a:ext uri="{FF2B5EF4-FFF2-40B4-BE49-F238E27FC236}">
                      <a16:creationId xmlns:a16="http://schemas.microsoft.com/office/drawing/2014/main" id="{4A608421-AAE3-3FCD-97BC-7972EE1B5AF7}"/>
                    </a:ext>
                  </a:extLst>
                </p:cNvPr>
                <p:cNvSpPr>
                  <a:spLocks noChangeShapeType="1"/>
                </p:cNvSpPr>
                <p:nvPr/>
              </p:nvSpPr>
              <p:spPr bwMode="auto">
                <a:xfrm>
                  <a:off x="2223" y="310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8" name="Line 684">
                  <a:extLst>
                    <a:ext uri="{FF2B5EF4-FFF2-40B4-BE49-F238E27FC236}">
                      <a16:creationId xmlns:a16="http://schemas.microsoft.com/office/drawing/2014/main" id="{9A1B2638-E42D-6F97-B6B5-9129F15E4215}"/>
                    </a:ext>
                  </a:extLst>
                </p:cNvPr>
                <p:cNvSpPr>
                  <a:spLocks noChangeShapeType="1"/>
                </p:cNvSpPr>
                <p:nvPr/>
              </p:nvSpPr>
              <p:spPr bwMode="auto">
                <a:xfrm>
                  <a:off x="2227" y="224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9" name="Line 685">
                  <a:extLst>
                    <a:ext uri="{FF2B5EF4-FFF2-40B4-BE49-F238E27FC236}">
                      <a16:creationId xmlns:a16="http://schemas.microsoft.com/office/drawing/2014/main" id="{C2707D4E-F1DF-65D3-4062-583AF8F17F8B}"/>
                    </a:ext>
                  </a:extLst>
                </p:cNvPr>
                <p:cNvSpPr>
                  <a:spLocks noChangeShapeType="1"/>
                </p:cNvSpPr>
                <p:nvPr/>
              </p:nvSpPr>
              <p:spPr bwMode="auto">
                <a:xfrm>
                  <a:off x="2223" y="2390"/>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0" name="Line 686">
                  <a:extLst>
                    <a:ext uri="{FF2B5EF4-FFF2-40B4-BE49-F238E27FC236}">
                      <a16:creationId xmlns:a16="http://schemas.microsoft.com/office/drawing/2014/main" id="{DCCDED94-FB11-FBF8-8666-FEEC8717BCF1}"/>
                    </a:ext>
                  </a:extLst>
                </p:cNvPr>
                <p:cNvSpPr>
                  <a:spLocks noChangeShapeType="1"/>
                </p:cNvSpPr>
                <p:nvPr/>
              </p:nvSpPr>
              <p:spPr bwMode="auto">
                <a:xfrm>
                  <a:off x="3037" y="1956"/>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1" name="Line 687">
                  <a:extLst>
                    <a:ext uri="{FF2B5EF4-FFF2-40B4-BE49-F238E27FC236}">
                      <a16:creationId xmlns:a16="http://schemas.microsoft.com/office/drawing/2014/main" id="{DEFD790D-D897-D687-355B-54B81F9C1272}"/>
                    </a:ext>
                  </a:extLst>
                </p:cNvPr>
                <p:cNvSpPr>
                  <a:spLocks noChangeShapeType="1"/>
                </p:cNvSpPr>
                <p:nvPr/>
              </p:nvSpPr>
              <p:spPr bwMode="auto">
                <a:xfrm>
                  <a:off x="3033" y="2098"/>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2" name="Line 688">
                  <a:extLst>
                    <a:ext uri="{FF2B5EF4-FFF2-40B4-BE49-F238E27FC236}">
                      <a16:creationId xmlns:a16="http://schemas.microsoft.com/office/drawing/2014/main" id="{1A7E274B-EC3B-1F2C-780B-270C88DF5986}"/>
                    </a:ext>
                  </a:extLst>
                </p:cNvPr>
                <p:cNvSpPr>
                  <a:spLocks noChangeShapeType="1"/>
                </p:cNvSpPr>
                <p:nvPr/>
              </p:nvSpPr>
              <p:spPr bwMode="auto">
                <a:xfrm flipV="1">
                  <a:off x="2630" y="1946"/>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3" name="Line 689">
                  <a:extLst>
                    <a:ext uri="{FF2B5EF4-FFF2-40B4-BE49-F238E27FC236}">
                      <a16:creationId xmlns:a16="http://schemas.microsoft.com/office/drawing/2014/main" id="{42E2D1F2-495E-687F-8BFD-B6DE80D9DB39}"/>
                    </a:ext>
                  </a:extLst>
                </p:cNvPr>
                <p:cNvSpPr>
                  <a:spLocks noChangeShapeType="1"/>
                </p:cNvSpPr>
                <p:nvPr/>
              </p:nvSpPr>
              <p:spPr bwMode="auto">
                <a:xfrm flipV="1">
                  <a:off x="2626" y="2094"/>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4" name="Line 690">
                  <a:extLst>
                    <a:ext uri="{FF2B5EF4-FFF2-40B4-BE49-F238E27FC236}">
                      <a16:creationId xmlns:a16="http://schemas.microsoft.com/office/drawing/2014/main" id="{3A8BD539-7175-B984-1A17-418309EEB991}"/>
                    </a:ext>
                  </a:extLst>
                </p:cNvPr>
                <p:cNvSpPr>
                  <a:spLocks noChangeShapeType="1"/>
                </p:cNvSpPr>
                <p:nvPr/>
              </p:nvSpPr>
              <p:spPr bwMode="auto">
                <a:xfrm>
                  <a:off x="3033" y="1814"/>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5" name="Line 691">
                  <a:extLst>
                    <a:ext uri="{FF2B5EF4-FFF2-40B4-BE49-F238E27FC236}">
                      <a16:creationId xmlns:a16="http://schemas.microsoft.com/office/drawing/2014/main" id="{C8B5127C-1D5E-E4BF-FD07-7BC862119053}"/>
                    </a:ext>
                  </a:extLst>
                </p:cNvPr>
                <p:cNvSpPr>
                  <a:spLocks noChangeShapeType="1"/>
                </p:cNvSpPr>
                <p:nvPr/>
              </p:nvSpPr>
              <p:spPr bwMode="auto">
                <a:xfrm flipV="1">
                  <a:off x="2626" y="1806"/>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6" name="Line 692">
                  <a:extLst>
                    <a:ext uri="{FF2B5EF4-FFF2-40B4-BE49-F238E27FC236}">
                      <a16:creationId xmlns:a16="http://schemas.microsoft.com/office/drawing/2014/main" id="{214A8424-83F5-2A05-9FC9-E0DE086C939B}"/>
                    </a:ext>
                  </a:extLst>
                </p:cNvPr>
                <p:cNvSpPr>
                  <a:spLocks noChangeShapeType="1"/>
                </p:cNvSpPr>
                <p:nvPr/>
              </p:nvSpPr>
              <p:spPr bwMode="auto">
                <a:xfrm>
                  <a:off x="3851" y="1956"/>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7" name="Line 693">
                  <a:extLst>
                    <a:ext uri="{FF2B5EF4-FFF2-40B4-BE49-F238E27FC236}">
                      <a16:creationId xmlns:a16="http://schemas.microsoft.com/office/drawing/2014/main" id="{C7E4C0DE-5400-F057-F51A-233E2F72896A}"/>
                    </a:ext>
                  </a:extLst>
                </p:cNvPr>
                <p:cNvSpPr>
                  <a:spLocks noChangeShapeType="1"/>
                </p:cNvSpPr>
                <p:nvPr/>
              </p:nvSpPr>
              <p:spPr bwMode="auto">
                <a:xfrm>
                  <a:off x="3847" y="209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8" name="Line 694">
                  <a:extLst>
                    <a:ext uri="{FF2B5EF4-FFF2-40B4-BE49-F238E27FC236}">
                      <a16:creationId xmlns:a16="http://schemas.microsoft.com/office/drawing/2014/main" id="{A1762A30-C0A5-1894-0D12-5748C758F93C}"/>
                    </a:ext>
                  </a:extLst>
                </p:cNvPr>
                <p:cNvSpPr>
                  <a:spLocks noChangeShapeType="1"/>
                </p:cNvSpPr>
                <p:nvPr/>
              </p:nvSpPr>
              <p:spPr bwMode="auto">
                <a:xfrm>
                  <a:off x="3847" y="1814"/>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9" name="Line 695">
                  <a:extLst>
                    <a:ext uri="{FF2B5EF4-FFF2-40B4-BE49-F238E27FC236}">
                      <a16:creationId xmlns:a16="http://schemas.microsoft.com/office/drawing/2014/main" id="{D7E6388E-B83E-FF8C-9AE5-F981D7A247BB}"/>
                    </a:ext>
                  </a:extLst>
                </p:cNvPr>
                <p:cNvSpPr>
                  <a:spLocks noChangeShapeType="1"/>
                </p:cNvSpPr>
                <p:nvPr/>
              </p:nvSpPr>
              <p:spPr bwMode="auto">
                <a:xfrm>
                  <a:off x="3843" y="2244"/>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0" name="Line 696">
                  <a:extLst>
                    <a:ext uri="{FF2B5EF4-FFF2-40B4-BE49-F238E27FC236}">
                      <a16:creationId xmlns:a16="http://schemas.microsoft.com/office/drawing/2014/main" id="{9D208249-ED7B-7647-E259-024BC58AFB8B}"/>
                    </a:ext>
                  </a:extLst>
                </p:cNvPr>
                <p:cNvSpPr>
                  <a:spLocks noChangeShapeType="1"/>
                </p:cNvSpPr>
                <p:nvPr/>
              </p:nvSpPr>
              <p:spPr bwMode="auto">
                <a:xfrm flipV="1">
                  <a:off x="3847" y="2388"/>
                  <a:ext cx="328" cy="11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1" name="Line 697">
                  <a:extLst>
                    <a:ext uri="{FF2B5EF4-FFF2-40B4-BE49-F238E27FC236}">
                      <a16:creationId xmlns:a16="http://schemas.microsoft.com/office/drawing/2014/main" id="{6E6EDC4D-38BA-95B5-E4BB-42A1A3D28945}"/>
                    </a:ext>
                  </a:extLst>
                </p:cNvPr>
                <p:cNvSpPr>
                  <a:spLocks noChangeShapeType="1"/>
                </p:cNvSpPr>
                <p:nvPr/>
              </p:nvSpPr>
              <p:spPr bwMode="auto">
                <a:xfrm flipV="1">
                  <a:off x="3847" y="2382"/>
                  <a:ext cx="731" cy="12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2" name="Line 698">
                  <a:extLst>
                    <a:ext uri="{FF2B5EF4-FFF2-40B4-BE49-F238E27FC236}">
                      <a16:creationId xmlns:a16="http://schemas.microsoft.com/office/drawing/2014/main" id="{2B61CA4D-9634-2000-9ECD-D0B30660536F}"/>
                    </a:ext>
                  </a:extLst>
                </p:cNvPr>
                <p:cNvSpPr>
                  <a:spLocks noChangeShapeType="1"/>
                </p:cNvSpPr>
                <p:nvPr/>
              </p:nvSpPr>
              <p:spPr bwMode="auto">
                <a:xfrm flipV="1">
                  <a:off x="3041" y="3259"/>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3" name="Line 699">
                  <a:extLst>
                    <a:ext uri="{FF2B5EF4-FFF2-40B4-BE49-F238E27FC236}">
                      <a16:creationId xmlns:a16="http://schemas.microsoft.com/office/drawing/2014/main" id="{B96B1A53-DE73-D118-A963-352814A8150F}"/>
                    </a:ext>
                  </a:extLst>
                </p:cNvPr>
                <p:cNvSpPr>
                  <a:spLocks noChangeShapeType="1"/>
                </p:cNvSpPr>
                <p:nvPr/>
              </p:nvSpPr>
              <p:spPr bwMode="auto">
                <a:xfrm flipV="1">
                  <a:off x="3440" y="3259"/>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4" name="Line 700">
                  <a:extLst>
                    <a:ext uri="{FF2B5EF4-FFF2-40B4-BE49-F238E27FC236}">
                      <a16:creationId xmlns:a16="http://schemas.microsoft.com/office/drawing/2014/main" id="{95A00159-78F8-0D91-EE82-61A6A286D563}"/>
                    </a:ext>
                  </a:extLst>
                </p:cNvPr>
                <p:cNvSpPr>
                  <a:spLocks noChangeShapeType="1"/>
                </p:cNvSpPr>
                <p:nvPr/>
              </p:nvSpPr>
              <p:spPr bwMode="auto">
                <a:xfrm flipV="1">
                  <a:off x="4663" y="3259"/>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5" name="Line 701">
                  <a:extLst>
                    <a:ext uri="{FF2B5EF4-FFF2-40B4-BE49-F238E27FC236}">
                      <a16:creationId xmlns:a16="http://schemas.microsoft.com/office/drawing/2014/main" id="{0485952D-7BDA-EC3D-7835-79DD2F88B44E}"/>
                    </a:ext>
                  </a:extLst>
                </p:cNvPr>
                <p:cNvSpPr>
                  <a:spLocks noChangeShapeType="1"/>
                </p:cNvSpPr>
                <p:nvPr/>
              </p:nvSpPr>
              <p:spPr bwMode="auto">
                <a:xfrm>
                  <a:off x="3851" y="3261"/>
                  <a:ext cx="723"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6" name="Line 702">
                  <a:extLst>
                    <a:ext uri="{FF2B5EF4-FFF2-40B4-BE49-F238E27FC236}">
                      <a16:creationId xmlns:a16="http://schemas.microsoft.com/office/drawing/2014/main" id="{DBC6EFEB-C6A3-EAE5-14CA-56D853ED0786}"/>
                    </a:ext>
                  </a:extLst>
                </p:cNvPr>
                <p:cNvSpPr>
                  <a:spLocks noChangeShapeType="1"/>
                </p:cNvSpPr>
                <p:nvPr/>
              </p:nvSpPr>
              <p:spPr bwMode="auto">
                <a:xfrm>
                  <a:off x="2223" y="310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7" name="Line 703">
                  <a:extLst>
                    <a:ext uri="{FF2B5EF4-FFF2-40B4-BE49-F238E27FC236}">
                      <a16:creationId xmlns:a16="http://schemas.microsoft.com/office/drawing/2014/main" id="{7D1BD2AD-CD62-B696-22B2-F1E6F345B192}"/>
                    </a:ext>
                  </a:extLst>
                </p:cNvPr>
                <p:cNvSpPr>
                  <a:spLocks noChangeShapeType="1"/>
                </p:cNvSpPr>
                <p:nvPr/>
              </p:nvSpPr>
              <p:spPr bwMode="auto">
                <a:xfrm>
                  <a:off x="2229" y="3261"/>
                  <a:ext cx="723"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728" name="AutoShape 705">
                <a:extLst>
                  <a:ext uri="{FF2B5EF4-FFF2-40B4-BE49-F238E27FC236}">
                    <a16:creationId xmlns:a16="http://schemas.microsoft.com/office/drawing/2014/main" id="{F5BB6D51-116E-6AD8-7F43-75B6E28A1770}"/>
                  </a:ext>
                </a:extLst>
              </p:cNvPr>
              <p:cNvSpPr>
                <a:spLocks noChangeArrowheads="1"/>
              </p:cNvSpPr>
              <p:nvPr/>
            </p:nvSpPr>
            <p:spPr bwMode="auto">
              <a:xfrm>
                <a:off x="468313" y="2716213"/>
                <a:ext cx="8231187" cy="833437"/>
              </a:xfrm>
              <a:prstGeom prst="roundRect">
                <a:avLst>
                  <a:gd name="adj" fmla="val 16667"/>
                </a:avLst>
              </a:prstGeom>
              <a:noFill/>
              <a:ln w="28575" cap="sq">
                <a:solidFill>
                  <a:schemeClr val="accent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endParaRPr lang="en-US" altLang="en-US" sz="1400" b="0">
                  <a:solidFill>
                    <a:schemeClr val="tx1"/>
                  </a:solidFill>
                </a:endParaRPr>
              </a:p>
            </p:txBody>
          </p:sp>
          <p:sp>
            <p:nvSpPr>
              <p:cNvPr id="729" name="Text Box 706">
                <a:extLst>
                  <a:ext uri="{FF2B5EF4-FFF2-40B4-BE49-F238E27FC236}">
                    <a16:creationId xmlns:a16="http://schemas.microsoft.com/office/drawing/2014/main" id="{8A25F916-4565-CA85-EAD8-2D13278D3AED}"/>
                  </a:ext>
                </a:extLst>
              </p:cNvPr>
              <p:cNvSpPr txBox="1">
                <a:spLocks noChangeArrowheads="1"/>
              </p:cNvSpPr>
              <p:nvPr/>
            </p:nvSpPr>
            <p:spPr bwMode="auto">
              <a:xfrm>
                <a:off x="377825" y="2439988"/>
                <a:ext cx="1179149" cy="33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dirty="0">
                    <a:solidFill>
                      <a:schemeClr val="accent1"/>
                    </a:solidFill>
                    <a:latin typeface="Roboto" panose="02000000000000000000" pitchFamily="2" charset="0"/>
                    <a:ea typeface="Roboto" panose="02000000000000000000" pitchFamily="2" charset="0"/>
                  </a:rPr>
                  <a:t>82% of demand</a:t>
                </a:r>
              </a:p>
            </p:txBody>
          </p:sp>
        </p:grpSp>
        <p:sp>
          <p:nvSpPr>
            <p:cNvPr id="731" name="Text Box 704">
              <a:extLst>
                <a:ext uri="{FF2B5EF4-FFF2-40B4-BE49-F238E27FC236}">
                  <a16:creationId xmlns:a16="http://schemas.microsoft.com/office/drawing/2014/main" id="{18C3E99F-5BFE-9102-F9A1-E33185C4F055}"/>
                </a:ext>
              </a:extLst>
            </p:cNvPr>
            <p:cNvSpPr txBox="1">
              <a:spLocks noChangeArrowheads="1"/>
            </p:cNvSpPr>
            <p:nvPr/>
          </p:nvSpPr>
          <p:spPr bwMode="auto">
            <a:xfrm>
              <a:off x="3282074" y="1416050"/>
              <a:ext cx="2525877" cy="366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1600" dirty="0">
                  <a:solidFill>
                    <a:schemeClr val="tx1"/>
                  </a:solidFill>
                  <a:latin typeface="Roboto" panose="02000000000000000000" pitchFamily="2" charset="0"/>
                  <a:ea typeface="Roboto" panose="02000000000000000000" pitchFamily="2" charset="0"/>
                </a:rPr>
                <a:t>Product Family Matrix Example</a:t>
              </a:r>
            </a:p>
          </p:txBody>
        </p:sp>
      </p:grpSp>
    </p:spTree>
    <p:extLst>
      <p:ext uri="{BB962C8B-B14F-4D97-AF65-F5344CB8AC3E}">
        <p14:creationId xmlns:p14="http://schemas.microsoft.com/office/powerpoint/2010/main" val="195961461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Calculate the Total Demand for the Value Stream</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18</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pSp>
        <p:nvGrpSpPr>
          <p:cNvPr id="732" name="Group 731">
            <a:extLst>
              <a:ext uri="{FF2B5EF4-FFF2-40B4-BE49-F238E27FC236}">
                <a16:creationId xmlns:a16="http://schemas.microsoft.com/office/drawing/2014/main" id="{D9CBA057-AC32-B78D-B819-C7B518784232}"/>
              </a:ext>
            </a:extLst>
          </p:cNvPr>
          <p:cNvGrpSpPr/>
          <p:nvPr/>
        </p:nvGrpSpPr>
        <p:grpSpPr>
          <a:xfrm>
            <a:off x="58379" y="1794662"/>
            <a:ext cx="11092039" cy="4085277"/>
            <a:chOff x="-432789" y="1428223"/>
            <a:chExt cx="9144989" cy="4742390"/>
          </a:xfrm>
        </p:grpSpPr>
        <p:grpSp>
          <p:nvGrpSpPr>
            <p:cNvPr id="730" name="Group 729">
              <a:extLst>
                <a:ext uri="{FF2B5EF4-FFF2-40B4-BE49-F238E27FC236}">
                  <a16:creationId xmlns:a16="http://schemas.microsoft.com/office/drawing/2014/main" id="{E3E2A5F2-82F2-DF0B-89C5-6D4BF027ED41}"/>
                </a:ext>
              </a:extLst>
            </p:cNvPr>
            <p:cNvGrpSpPr/>
            <p:nvPr/>
          </p:nvGrpSpPr>
          <p:grpSpPr>
            <a:xfrm>
              <a:off x="-432789" y="1784350"/>
              <a:ext cx="9144989" cy="4386263"/>
              <a:chOff x="-432789" y="1784350"/>
              <a:chExt cx="9144989" cy="4386263"/>
            </a:xfrm>
          </p:grpSpPr>
          <p:grpSp>
            <p:nvGrpSpPr>
              <p:cNvPr id="24" name="Group 3">
                <a:extLst>
                  <a:ext uri="{FF2B5EF4-FFF2-40B4-BE49-F238E27FC236}">
                    <a16:creationId xmlns:a16="http://schemas.microsoft.com/office/drawing/2014/main" id="{F0ACE995-EBF5-220B-0D87-9A19C3AAD6DD}"/>
                  </a:ext>
                </a:extLst>
              </p:cNvPr>
              <p:cNvGrpSpPr>
                <a:grpSpLocks/>
              </p:cNvGrpSpPr>
              <p:nvPr/>
            </p:nvGrpSpPr>
            <p:grpSpPr bwMode="auto">
              <a:xfrm>
                <a:off x="457200" y="1784350"/>
                <a:ext cx="8255000" cy="4386263"/>
                <a:chOff x="346" y="1173"/>
                <a:chExt cx="4885" cy="2451"/>
              </a:xfrm>
            </p:grpSpPr>
            <p:sp>
              <p:nvSpPr>
                <p:cNvPr id="25" name="Rectangle 4">
                  <a:extLst>
                    <a:ext uri="{FF2B5EF4-FFF2-40B4-BE49-F238E27FC236}">
                      <a16:creationId xmlns:a16="http://schemas.microsoft.com/office/drawing/2014/main" id="{A15A007F-8207-E26D-3589-452AAD1EFC6B}"/>
                    </a:ext>
                  </a:extLst>
                </p:cNvPr>
                <p:cNvSpPr>
                  <a:spLocks noChangeArrowheads="1"/>
                </p:cNvSpPr>
                <p:nvPr/>
              </p:nvSpPr>
              <p:spPr bwMode="auto">
                <a:xfrm>
                  <a:off x="1987"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 name="Rectangle 5">
                  <a:extLst>
                    <a:ext uri="{FF2B5EF4-FFF2-40B4-BE49-F238E27FC236}">
                      <a16:creationId xmlns:a16="http://schemas.microsoft.com/office/drawing/2014/main" id="{3BAE8616-6E5E-7BE6-CB95-52BB610E0201}"/>
                    </a:ext>
                  </a:extLst>
                </p:cNvPr>
                <p:cNvSpPr>
                  <a:spLocks noChangeArrowheads="1"/>
                </p:cNvSpPr>
                <p:nvPr/>
              </p:nvSpPr>
              <p:spPr bwMode="auto">
                <a:xfrm>
                  <a:off x="1987"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 name="Rectangle 6">
                  <a:extLst>
                    <a:ext uri="{FF2B5EF4-FFF2-40B4-BE49-F238E27FC236}">
                      <a16:creationId xmlns:a16="http://schemas.microsoft.com/office/drawing/2014/main" id="{0E4EFE47-DD7D-9B05-8090-DDA95210445A}"/>
                    </a:ext>
                  </a:extLst>
                </p:cNvPr>
                <p:cNvSpPr>
                  <a:spLocks noChangeArrowheads="1"/>
                </p:cNvSpPr>
                <p:nvPr/>
              </p:nvSpPr>
              <p:spPr bwMode="auto">
                <a:xfrm>
                  <a:off x="1993" y="1173"/>
                  <a:ext cx="3233"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 name="Rectangle 7">
                  <a:extLst>
                    <a:ext uri="{FF2B5EF4-FFF2-40B4-BE49-F238E27FC236}">
                      <a16:creationId xmlns:a16="http://schemas.microsoft.com/office/drawing/2014/main" id="{B9A93E4C-93E8-87F5-D2AD-F2B95EB251A4}"/>
                    </a:ext>
                  </a:extLst>
                </p:cNvPr>
                <p:cNvSpPr>
                  <a:spLocks noChangeArrowheads="1"/>
                </p:cNvSpPr>
                <p:nvPr/>
              </p:nvSpPr>
              <p:spPr bwMode="auto">
                <a:xfrm>
                  <a:off x="5225"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2" name="Rectangle 8">
                  <a:extLst>
                    <a:ext uri="{FF2B5EF4-FFF2-40B4-BE49-F238E27FC236}">
                      <a16:creationId xmlns:a16="http://schemas.microsoft.com/office/drawing/2014/main" id="{829A024C-27A4-E7A6-64F6-E37DA17687E8}"/>
                    </a:ext>
                  </a:extLst>
                </p:cNvPr>
                <p:cNvSpPr>
                  <a:spLocks noChangeArrowheads="1"/>
                </p:cNvSpPr>
                <p:nvPr/>
              </p:nvSpPr>
              <p:spPr bwMode="auto">
                <a:xfrm>
                  <a:off x="5225" y="1173"/>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 name="Rectangle 9">
                  <a:extLst>
                    <a:ext uri="{FF2B5EF4-FFF2-40B4-BE49-F238E27FC236}">
                      <a16:creationId xmlns:a16="http://schemas.microsoft.com/office/drawing/2014/main" id="{14E92E15-CF5F-8501-ADE4-E338F99A04DB}"/>
                    </a:ext>
                  </a:extLst>
                </p:cNvPr>
                <p:cNvSpPr>
                  <a:spLocks noChangeArrowheads="1"/>
                </p:cNvSpPr>
                <p:nvPr/>
              </p:nvSpPr>
              <p:spPr bwMode="auto">
                <a:xfrm>
                  <a:off x="1987" y="1179"/>
                  <a:ext cx="6" cy="2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 name="Rectangle 10">
                  <a:extLst>
                    <a:ext uri="{FF2B5EF4-FFF2-40B4-BE49-F238E27FC236}">
                      <a16:creationId xmlns:a16="http://schemas.microsoft.com/office/drawing/2014/main" id="{83A256DD-FBD6-0BEE-BF1B-64E805E5E367}"/>
                    </a:ext>
                  </a:extLst>
                </p:cNvPr>
                <p:cNvSpPr>
                  <a:spLocks noChangeArrowheads="1"/>
                </p:cNvSpPr>
                <p:nvPr/>
              </p:nvSpPr>
              <p:spPr bwMode="auto">
                <a:xfrm>
                  <a:off x="5225" y="1179"/>
                  <a:ext cx="6" cy="2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 name="Rectangle 11">
                  <a:extLst>
                    <a:ext uri="{FF2B5EF4-FFF2-40B4-BE49-F238E27FC236}">
                      <a16:creationId xmlns:a16="http://schemas.microsoft.com/office/drawing/2014/main" id="{39238337-DED4-5D6B-90FA-44260504600B}"/>
                    </a:ext>
                  </a:extLst>
                </p:cNvPr>
                <p:cNvSpPr>
                  <a:spLocks noChangeArrowheads="1"/>
                </p:cNvSpPr>
                <p:nvPr/>
              </p:nvSpPr>
              <p:spPr bwMode="auto">
                <a:xfrm>
                  <a:off x="2912" y="1181"/>
                  <a:ext cx="739"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dirty="0">
                      <a:solidFill>
                        <a:srgbClr val="000000"/>
                      </a:solidFill>
                      <a:latin typeface="Roboto" panose="02000000000000000000" pitchFamily="2" charset="0"/>
                      <a:ea typeface="Roboto" panose="02000000000000000000" pitchFamily="2" charset="0"/>
                    </a:rPr>
                    <a:t>PROCESS NAME</a:t>
                  </a:r>
                </a:p>
              </p:txBody>
            </p:sp>
            <p:sp>
              <p:nvSpPr>
                <p:cNvPr id="36" name="Rectangle 12">
                  <a:extLst>
                    <a:ext uri="{FF2B5EF4-FFF2-40B4-BE49-F238E27FC236}">
                      <a16:creationId xmlns:a16="http://schemas.microsoft.com/office/drawing/2014/main" id="{0E4DBEEF-40A6-15B6-7CA4-5C61D009438A}"/>
                    </a:ext>
                  </a:extLst>
                </p:cNvPr>
                <p:cNvSpPr>
                  <a:spLocks noChangeArrowheads="1"/>
                </p:cNvSpPr>
                <p:nvPr/>
              </p:nvSpPr>
              <p:spPr bwMode="auto">
                <a:xfrm>
                  <a:off x="582"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7" name="Rectangle 13">
                  <a:extLst>
                    <a:ext uri="{FF2B5EF4-FFF2-40B4-BE49-F238E27FC236}">
                      <a16:creationId xmlns:a16="http://schemas.microsoft.com/office/drawing/2014/main" id="{62D17B3A-F79A-2C9E-13AE-98DE02B92B14}"/>
                    </a:ext>
                  </a:extLst>
                </p:cNvPr>
                <p:cNvSpPr>
                  <a:spLocks noChangeArrowheads="1"/>
                </p:cNvSpPr>
                <p:nvPr/>
              </p:nvSpPr>
              <p:spPr bwMode="auto">
                <a:xfrm>
                  <a:off x="582"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 name="Rectangle 14">
                  <a:extLst>
                    <a:ext uri="{FF2B5EF4-FFF2-40B4-BE49-F238E27FC236}">
                      <a16:creationId xmlns:a16="http://schemas.microsoft.com/office/drawing/2014/main" id="{F2D26060-2525-5B44-1A1C-659965852607}"/>
                    </a:ext>
                  </a:extLst>
                </p:cNvPr>
                <p:cNvSpPr>
                  <a:spLocks noChangeArrowheads="1"/>
                </p:cNvSpPr>
                <p:nvPr/>
              </p:nvSpPr>
              <p:spPr bwMode="auto">
                <a:xfrm>
                  <a:off x="587" y="1411"/>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 name="Rectangle 15">
                  <a:extLst>
                    <a:ext uri="{FF2B5EF4-FFF2-40B4-BE49-F238E27FC236}">
                      <a16:creationId xmlns:a16="http://schemas.microsoft.com/office/drawing/2014/main" id="{97C113C0-C985-9A49-BD57-90B428BE6A2C}"/>
                    </a:ext>
                  </a:extLst>
                </p:cNvPr>
                <p:cNvSpPr>
                  <a:spLocks noChangeArrowheads="1"/>
                </p:cNvSpPr>
                <p:nvPr/>
              </p:nvSpPr>
              <p:spPr bwMode="auto">
                <a:xfrm>
                  <a:off x="1157"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 name="Rectangle 16">
                  <a:extLst>
                    <a:ext uri="{FF2B5EF4-FFF2-40B4-BE49-F238E27FC236}">
                      <a16:creationId xmlns:a16="http://schemas.microsoft.com/office/drawing/2014/main" id="{8D4936AC-3EF6-F29E-E4B9-F9B116801BE4}"/>
                    </a:ext>
                  </a:extLst>
                </p:cNvPr>
                <p:cNvSpPr>
                  <a:spLocks noChangeArrowheads="1"/>
                </p:cNvSpPr>
                <p:nvPr/>
              </p:nvSpPr>
              <p:spPr bwMode="auto">
                <a:xfrm>
                  <a:off x="1163"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 name="Rectangle 17">
                  <a:extLst>
                    <a:ext uri="{FF2B5EF4-FFF2-40B4-BE49-F238E27FC236}">
                      <a16:creationId xmlns:a16="http://schemas.microsoft.com/office/drawing/2014/main" id="{91F7E7DD-5AA8-D980-C67C-6BD3C2E39CDC}"/>
                    </a:ext>
                  </a:extLst>
                </p:cNvPr>
                <p:cNvSpPr>
                  <a:spLocks noChangeArrowheads="1"/>
                </p:cNvSpPr>
                <p:nvPr/>
              </p:nvSpPr>
              <p:spPr bwMode="auto">
                <a:xfrm>
                  <a:off x="1564"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 name="Rectangle 18">
                  <a:extLst>
                    <a:ext uri="{FF2B5EF4-FFF2-40B4-BE49-F238E27FC236}">
                      <a16:creationId xmlns:a16="http://schemas.microsoft.com/office/drawing/2014/main" id="{577F7821-36FB-1A32-75E9-C50832BBABEB}"/>
                    </a:ext>
                  </a:extLst>
                </p:cNvPr>
                <p:cNvSpPr>
                  <a:spLocks noChangeArrowheads="1"/>
                </p:cNvSpPr>
                <p:nvPr/>
              </p:nvSpPr>
              <p:spPr bwMode="auto">
                <a:xfrm>
                  <a:off x="1570" y="1411"/>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 name="Rectangle 19">
                  <a:extLst>
                    <a:ext uri="{FF2B5EF4-FFF2-40B4-BE49-F238E27FC236}">
                      <a16:creationId xmlns:a16="http://schemas.microsoft.com/office/drawing/2014/main" id="{6FD2505E-34AE-9DBA-AA65-1FC8309BF1E7}"/>
                    </a:ext>
                  </a:extLst>
                </p:cNvPr>
                <p:cNvSpPr>
                  <a:spLocks noChangeArrowheads="1"/>
                </p:cNvSpPr>
                <p:nvPr/>
              </p:nvSpPr>
              <p:spPr bwMode="auto">
                <a:xfrm>
                  <a:off x="1987"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 name="Rectangle 20">
                  <a:extLst>
                    <a:ext uri="{FF2B5EF4-FFF2-40B4-BE49-F238E27FC236}">
                      <a16:creationId xmlns:a16="http://schemas.microsoft.com/office/drawing/2014/main" id="{D90A9246-053F-CF9C-B509-2D9AA7328B6A}"/>
                    </a:ext>
                  </a:extLst>
                </p:cNvPr>
                <p:cNvSpPr>
                  <a:spLocks noChangeArrowheads="1"/>
                </p:cNvSpPr>
                <p:nvPr/>
              </p:nvSpPr>
              <p:spPr bwMode="auto">
                <a:xfrm>
                  <a:off x="1993" y="1411"/>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 name="Rectangle 21">
                  <a:extLst>
                    <a:ext uri="{FF2B5EF4-FFF2-40B4-BE49-F238E27FC236}">
                      <a16:creationId xmlns:a16="http://schemas.microsoft.com/office/drawing/2014/main" id="{67818947-9643-7934-EA5D-C07BDBC88A01}"/>
                    </a:ext>
                  </a:extLst>
                </p:cNvPr>
                <p:cNvSpPr>
                  <a:spLocks noChangeArrowheads="1"/>
                </p:cNvSpPr>
                <p:nvPr/>
              </p:nvSpPr>
              <p:spPr bwMode="auto">
                <a:xfrm>
                  <a:off x="2378"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 name="Rectangle 22">
                  <a:extLst>
                    <a:ext uri="{FF2B5EF4-FFF2-40B4-BE49-F238E27FC236}">
                      <a16:creationId xmlns:a16="http://schemas.microsoft.com/office/drawing/2014/main" id="{6ADD2E2D-45D0-69EB-ECD0-1F34EEEC29DC}"/>
                    </a:ext>
                  </a:extLst>
                </p:cNvPr>
                <p:cNvSpPr>
                  <a:spLocks noChangeArrowheads="1"/>
                </p:cNvSpPr>
                <p:nvPr/>
              </p:nvSpPr>
              <p:spPr bwMode="auto">
                <a:xfrm>
                  <a:off x="2384"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 name="Rectangle 23">
                  <a:extLst>
                    <a:ext uri="{FF2B5EF4-FFF2-40B4-BE49-F238E27FC236}">
                      <a16:creationId xmlns:a16="http://schemas.microsoft.com/office/drawing/2014/main" id="{AF00D728-A268-386B-3E1C-E1DDF810304F}"/>
                    </a:ext>
                  </a:extLst>
                </p:cNvPr>
                <p:cNvSpPr>
                  <a:spLocks noChangeArrowheads="1"/>
                </p:cNvSpPr>
                <p:nvPr/>
              </p:nvSpPr>
              <p:spPr bwMode="auto">
                <a:xfrm>
                  <a:off x="2785"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 name="Rectangle 24">
                  <a:extLst>
                    <a:ext uri="{FF2B5EF4-FFF2-40B4-BE49-F238E27FC236}">
                      <a16:creationId xmlns:a16="http://schemas.microsoft.com/office/drawing/2014/main" id="{8B5A4C59-3E97-37E8-38DF-C5EE4749BC6A}"/>
                    </a:ext>
                  </a:extLst>
                </p:cNvPr>
                <p:cNvSpPr>
                  <a:spLocks noChangeArrowheads="1"/>
                </p:cNvSpPr>
                <p:nvPr/>
              </p:nvSpPr>
              <p:spPr bwMode="auto">
                <a:xfrm>
                  <a:off x="2791"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 name="Rectangle 25">
                  <a:extLst>
                    <a:ext uri="{FF2B5EF4-FFF2-40B4-BE49-F238E27FC236}">
                      <a16:creationId xmlns:a16="http://schemas.microsoft.com/office/drawing/2014/main" id="{BE11C8EF-A015-E898-0DBD-59371D6E4250}"/>
                    </a:ext>
                  </a:extLst>
                </p:cNvPr>
                <p:cNvSpPr>
                  <a:spLocks noChangeArrowheads="1"/>
                </p:cNvSpPr>
                <p:nvPr/>
              </p:nvSpPr>
              <p:spPr bwMode="auto">
                <a:xfrm>
                  <a:off x="3192"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Rectangle 26">
                  <a:extLst>
                    <a:ext uri="{FF2B5EF4-FFF2-40B4-BE49-F238E27FC236}">
                      <a16:creationId xmlns:a16="http://schemas.microsoft.com/office/drawing/2014/main" id="{5B2B1E21-4F63-94FC-E457-8D956CB6A179}"/>
                    </a:ext>
                  </a:extLst>
                </p:cNvPr>
                <p:cNvSpPr>
                  <a:spLocks noChangeArrowheads="1"/>
                </p:cNvSpPr>
                <p:nvPr/>
              </p:nvSpPr>
              <p:spPr bwMode="auto">
                <a:xfrm>
                  <a:off x="3198"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 name="Rectangle 27">
                  <a:extLst>
                    <a:ext uri="{FF2B5EF4-FFF2-40B4-BE49-F238E27FC236}">
                      <a16:creationId xmlns:a16="http://schemas.microsoft.com/office/drawing/2014/main" id="{CC6AE726-305B-E95F-67B4-37241A4DB1E5}"/>
                    </a:ext>
                  </a:extLst>
                </p:cNvPr>
                <p:cNvSpPr>
                  <a:spLocks noChangeArrowheads="1"/>
                </p:cNvSpPr>
                <p:nvPr/>
              </p:nvSpPr>
              <p:spPr bwMode="auto">
                <a:xfrm>
                  <a:off x="3599"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 name="Rectangle 28">
                  <a:extLst>
                    <a:ext uri="{FF2B5EF4-FFF2-40B4-BE49-F238E27FC236}">
                      <a16:creationId xmlns:a16="http://schemas.microsoft.com/office/drawing/2014/main" id="{EA7B3786-6723-C01C-4003-FEBE9F2913E2}"/>
                    </a:ext>
                  </a:extLst>
                </p:cNvPr>
                <p:cNvSpPr>
                  <a:spLocks noChangeArrowheads="1"/>
                </p:cNvSpPr>
                <p:nvPr/>
              </p:nvSpPr>
              <p:spPr bwMode="auto">
                <a:xfrm>
                  <a:off x="3605" y="1411"/>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 name="Rectangle 29">
                  <a:extLst>
                    <a:ext uri="{FF2B5EF4-FFF2-40B4-BE49-F238E27FC236}">
                      <a16:creationId xmlns:a16="http://schemas.microsoft.com/office/drawing/2014/main" id="{A9587090-117E-AE30-CD56-4FA6D6A213B0}"/>
                    </a:ext>
                  </a:extLst>
                </p:cNvPr>
                <p:cNvSpPr>
                  <a:spLocks noChangeArrowheads="1"/>
                </p:cNvSpPr>
                <p:nvPr/>
              </p:nvSpPr>
              <p:spPr bwMode="auto">
                <a:xfrm>
                  <a:off x="4004"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 name="Rectangle 30">
                  <a:extLst>
                    <a:ext uri="{FF2B5EF4-FFF2-40B4-BE49-F238E27FC236}">
                      <a16:creationId xmlns:a16="http://schemas.microsoft.com/office/drawing/2014/main" id="{0F1FE57A-8FED-58B5-69A7-2C5F650D63C9}"/>
                    </a:ext>
                  </a:extLst>
                </p:cNvPr>
                <p:cNvSpPr>
                  <a:spLocks noChangeArrowheads="1"/>
                </p:cNvSpPr>
                <p:nvPr/>
              </p:nvSpPr>
              <p:spPr bwMode="auto">
                <a:xfrm>
                  <a:off x="4010"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 name="Rectangle 31">
                  <a:extLst>
                    <a:ext uri="{FF2B5EF4-FFF2-40B4-BE49-F238E27FC236}">
                      <a16:creationId xmlns:a16="http://schemas.microsoft.com/office/drawing/2014/main" id="{D12C47DD-642F-EFBF-B5BE-13AB4058E582}"/>
                    </a:ext>
                  </a:extLst>
                </p:cNvPr>
                <p:cNvSpPr>
                  <a:spLocks noChangeArrowheads="1"/>
                </p:cNvSpPr>
                <p:nvPr/>
              </p:nvSpPr>
              <p:spPr bwMode="auto">
                <a:xfrm>
                  <a:off x="4411"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6" name="Rectangle 32">
                  <a:extLst>
                    <a:ext uri="{FF2B5EF4-FFF2-40B4-BE49-F238E27FC236}">
                      <a16:creationId xmlns:a16="http://schemas.microsoft.com/office/drawing/2014/main" id="{B485B49D-C3F6-73EB-4165-11F341CBBC06}"/>
                    </a:ext>
                  </a:extLst>
                </p:cNvPr>
                <p:cNvSpPr>
                  <a:spLocks noChangeArrowheads="1"/>
                </p:cNvSpPr>
                <p:nvPr/>
              </p:nvSpPr>
              <p:spPr bwMode="auto">
                <a:xfrm>
                  <a:off x="4417"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 name="Rectangle 33">
                  <a:extLst>
                    <a:ext uri="{FF2B5EF4-FFF2-40B4-BE49-F238E27FC236}">
                      <a16:creationId xmlns:a16="http://schemas.microsoft.com/office/drawing/2014/main" id="{D3049A06-4BCE-31B1-4E1A-DD5B22B9D09D}"/>
                    </a:ext>
                  </a:extLst>
                </p:cNvPr>
                <p:cNvSpPr>
                  <a:spLocks noChangeArrowheads="1"/>
                </p:cNvSpPr>
                <p:nvPr/>
              </p:nvSpPr>
              <p:spPr bwMode="auto">
                <a:xfrm>
                  <a:off x="4818"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 name="Rectangle 34">
                  <a:extLst>
                    <a:ext uri="{FF2B5EF4-FFF2-40B4-BE49-F238E27FC236}">
                      <a16:creationId xmlns:a16="http://schemas.microsoft.com/office/drawing/2014/main" id="{C3756C47-942E-587F-709B-9A302FF4468F}"/>
                    </a:ext>
                  </a:extLst>
                </p:cNvPr>
                <p:cNvSpPr>
                  <a:spLocks noChangeArrowheads="1"/>
                </p:cNvSpPr>
                <p:nvPr/>
              </p:nvSpPr>
              <p:spPr bwMode="auto">
                <a:xfrm>
                  <a:off x="4824" y="1411"/>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 name="Rectangle 35">
                  <a:extLst>
                    <a:ext uri="{FF2B5EF4-FFF2-40B4-BE49-F238E27FC236}">
                      <a16:creationId xmlns:a16="http://schemas.microsoft.com/office/drawing/2014/main" id="{9E038AAF-C119-C8FA-941A-DC2EDA455685}"/>
                    </a:ext>
                  </a:extLst>
                </p:cNvPr>
                <p:cNvSpPr>
                  <a:spLocks noChangeArrowheads="1"/>
                </p:cNvSpPr>
                <p:nvPr/>
              </p:nvSpPr>
              <p:spPr bwMode="auto">
                <a:xfrm>
                  <a:off x="5225" y="1411"/>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 name="Rectangle 36">
                  <a:extLst>
                    <a:ext uri="{FF2B5EF4-FFF2-40B4-BE49-F238E27FC236}">
                      <a16:creationId xmlns:a16="http://schemas.microsoft.com/office/drawing/2014/main" id="{60596F84-4788-9085-383E-947E5A8ABD86}"/>
                    </a:ext>
                  </a:extLst>
                </p:cNvPr>
                <p:cNvSpPr>
                  <a:spLocks noChangeArrowheads="1"/>
                </p:cNvSpPr>
                <p:nvPr/>
              </p:nvSpPr>
              <p:spPr bwMode="auto">
                <a:xfrm>
                  <a:off x="582"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 name="Rectangle 37">
                  <a:extLst>
                    <a:ext uri="{FF2B5EF4-FFF2-40B4-BE49-F238E27FC236}">
                      <a16:creationId xmlns:a16="http://schemas.microsoft.com/office/drawing/2014/main" id="{8C7A7E51-1C96-4B82-C4DA-9872D8EBF3B3}"/>
                    </a:ext>
                  </a:extLst>
                </p:cNvPr>
                <p:cNvSpPr>
                  <a:spLocks noChangeArrowheads="1"/>
                </p:cNvSpPr>
                <p:nvPr/>
              </p:nvSpPr>
              <p:spPr bwMode="auto">
                <a:xfrm>
                  <a:off x="1157"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 name="Rectangle 38">
                  <a:extLst>
                    <a:ext uri="{FF2B5EF4-FFF2-40B4-BE49-F238E27FC236}">
                      <a16:creationId xmlns:a16="http://schemas.microsoft.com/office/drawing/2014/main" id="{AA7DF6D6-C309-E9F3-3A69-8849D0CC9390}"/>
                    </a:ext>
                  </a:extLst>
                </p:cNvPr>
                <p:cNvSpPr>
                  <a:spLocks noChangeArrowheads="1"/>
                </p:cNvSpPr>
                <p:nvPr/>
              </p:nvSpPr>
              <p:spPr bwMode="auto">
                <a:xfrm>
                  <a:off x="1564"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 name="Rectangle 39">
                  <a:extLst>
                    <a:ext uri="{FF2B5EF4-FFF2-40B4-BE49-F238E27FC236}">
                      <a16:creationId xmlns:a16="http://schemas.microsoft.com/office/drawing/2014/main" id="{F083C893-1C2B-4BC2-9BB9-E04FA9478259}"/>
                    </a:ext>
                  </a:extLst>
                </p:cNvPr>
                <p:cNvSpPr>
                  <a:spLocks noChangeArrowheads="1"/>
                </p:cNvSpPr>
                <p:nvPr/>
              </p:nvSpPr>
              <p:spPr bwMode="auto">
                <a:xfrm>
                  <a:off x="1987"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 name="Rectangle 40">
                  <a:extLst>
                    <a:ext uri="{FF2B5EF4-FFF2-40B4-BE49-F238E27FC236}">
                      <a16:creationId xmlns:a16="http://schemas.microsoft.com/office/drawing/2014/main" id="{FDE44E65-9C62-6240-03D5-1D673EF93A9C}"/>
                    </a:ext>
                  </a:extLst>
                </p:cNvPr>
                <p:cNvSpPr>
                  <a:spLocks noChangeArrowheads="1"/>
                </p:cNvSpPr>
                <p:nvPr/>
              </p:nvSpPr>
              <p:spPr bwMode="auto">
                <a:xfrm>
                  <a:off x="2378"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 name="Rectangle 41">
                  <a:extLst>
                    <a:ext uri="{FF2B5EF4-FFF2-40B4-BE49-F238E27FC236}">
                      <a16:creationId xmlns:a16="http://schemas.microsoft.com/office/drawing/2014/main" id="{1E06C93C-A75D-792C-42C8-8E0079993C51}"/>
                    </a:ext>
                  </a:extLst>
                </p:cNvPr>
                <p:cNvSpPr>
                  <a:spLocks noChangeArrowheads="1"/>
                </p:cNvSpPr>
                <p:nvPr/>
              </p:nvSpPr>
              <p:spPr bwMode="auto">
                <a:xfrm>
                  <a:off x="2785"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 name="Rectangle 42">
                  <a:extLst>
                    <a:ext uri="{FF2B5EF4-FFF2-40B4-BE49-F238E27FC236}">
                      <a16:creationId xmlns:a16="http://schemas.microsoft.com/office/drawing/2014/main" id="{5A61A35A-DD73-79CE-942C-BAA9A89E1D0D}"/>
                    </a:ext>
                  </a:extLst>
                </p:cNvPr>
                <p:cNvSpPr>
                  <a:spLocks noChangeArrowheads="1"/>
                </p:cNvSpPr>
                <p:nvPr/>
              </p:nvSpPr>
              <p:spPr bwMode="auto">
                <a:xfrm>
                  <a:off x="3192"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 name="Rectangle 43">
                  <a:extLst>
                    <a:ext uri="{FF2B5EF4-FFF2-40B4-BE49-F238E27FC236}">
                      <a16:creationId xmlns:a16="http://schemas.microsoft.com/office/drawing/2014/main" id="{5D85B81C-9A98-896F-B649-AE4406653547}"/>
                    </a:ext>
                  </a:extLst>
                </p:cNvPr>
                <p:cNvSpPr>
                  <a:spLocks noChangeArrowheads="1"/>
                </p:cNvSpPr>
                <p:nvPr/>
              </p:nvSpPr>
              <p:spPr bwMode="auto">
                <a:xfrm>
                  <a:off x="3599"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8" name="Rectangle 44">
                  <a:extLst>
                    <a:ext uri="{FF2B5EF4-FFF2-40B4-BE49-F238E27FC236}">
                      <a16:creationId xmlns:a16="http://schemas.microsoft.com/office/drawing/2014/main" id="{7A9F599E-BAB2-3B9B-131D-A9E57A0E6EE2}"/>
                    </a:ext>
                  </a:extLst>
                </p:cNvPr>
                <p:cNvSpPr>
                  <a:spLocks noChangeArrowheads="1"/>
                </p:cNvSpPr>
                <p:nvPr/>
              </p:nvSpPr>
              <p:spPr bwMode="auto">
                <a:xfrm>
                  <a:off x="4004"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9" name="Rectangle 45">
                  <a:extLst>
                    <a:ext uri="{FF2B5EF4-FFF2-40B4-BE49-F238E27FC236}">
                      <a16:creationId xmlns:a16="http://schemas.microsoft.com/office/drawing/2014/main" id="{C43B4B4A-288E-AF44-D37B-46A74BDDC72B}"/>
                    </a:ext>
                  </a:extLst>
                </p:cNvPr>
                <p:cNvSpPr>
                  <a:spLocks noChangeArrowheads="1"/>
                </p:cNvSpPr>
                <p:nvPr/>
              </p:nvSpPr>
              <p:spPr bwMode="auto">
                <a:xfrm>
                  <a:off x="4411"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70" name="Rectangle 46">
                  <a:extLst>
                    <a:ext uri="{FF2B5EF4-FFF2-40B4-BE49-F238E27FC236}">
                      <a16:creationId xmlns:a16="http://schemas.microsoft.com/office/drawing/2014/main" id="{20D57DCB-7852-6BC7-5FCA-69EE08A3E976}"/>
                    </a:ext>
                  </a:extLst>
                </p:cNvPr>
                <p:cNvSpPr>
                  <a:spLocks noChangeArrowheads="1"/>
                </p:cNvSpPr>
                <p:nvPr/>
              </p:nvSpPr>
              <p:spPr bwMode="auto">
                <a:xfrm>
                  <a:off x="4818"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71" name="Rectangle 47">
                  <a:extLst>
                    <a:ext uri="{FF2B5EF4-FFF2-40B4-BE49-F238E27FC236}">
                      <a16:creationId xmlns:a16="http://schemas.microsoft.com/office/drawing/2014/main" id="{DE2BDCA1-566F-4220-A721-EC6D30882C08}"/>
                    </a:ext>
                  </a:extLst>
                </p:cNvPr>
                <p:cNvSpPr>
                  <a:spLocks noChangeArrowheads="1"/>
                </p:cNvSpPr>
                <p:nvPr/>
              </p:nvSpPr>
              <p:spPr bwMode="auto">
                <a:xfrm>
                  <a:off x="5225" y="1417"/>
                  <a:ext cx="6" cy="2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72" name="Rectangle 48">
                  <a:extLst>
                    <a:ext uri="{FF2B5EF4-FFF2-40B4-BE49-F238E27FC236}">
                      <a16:creationId xmlns:a16="http://schemas.microsoft.com/office/drawing/2014/main" id="{05BA9649-9782-D5E5-4332-81136C94B94B}"/>
                    </a:ext>
                  </a:extLst>
                </p:cNvPr>
                <p:cNvSpPr>
                  <a:spLocks noChangeArrowheads="1"/>
                </p:cNvSpPr>
                <p:nvPr/>
              </p:nvSpPr>
              <p:spPr bwMode="auto">
                <a:xfrm>
                  <a:off x="727" y="1490"/>
                  <a:ext cx="260"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Part #</a:t>
                  </a:r>
                </a:p>
              </p:txBody>
            </p:sp>
            <p:sp>
              <p:nvSpPr>
                <p:cNvPr id="73" name="Rectangle 49">
                  <a:extLst>
                    <a:ext uri="{FF2B5EF4-FFF2-40B4-BE49-F238E27FC236}">
                      <a16:creationId xmlns:a16="http://schemas.microsoft.com/office/drawing/2014/main" id="{60FFD8B1-6BF9-BA33-D4E1-739CA466008C}"/>
                    </a:ext>
                  </a:extLst>
                </p:cNvPr>
                <p:cNvSpPr>
                  <a:spLocks noChangeArrowheads="1"/>
                </p:cNvSpPr>
                <p:nvPr/>
              </p:nvSpPr>
              <p:spPr bwMode="auto">
                <a:xfrm>
                  <a:off x="1184" y="1419"/>
                  <a:ext cx="32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Demand</a:t>
                  </a:r>
                </a:p>
              </p:txBody>
            </p:sp>
            <p:sp>
              <p:nvSpPr>
                <p:cNvPr id="74" name="Rectangle 50">
                  <a:extLst>
                    <a:ext uri="{FF2B5EF4-FFF2-40B4-BE49-F238E27FC236}">
                      <a16:creationId xmlns:a16="http://schemas.microsoft.com/office/drawing/2014/main" id="{2090F1D1-38E6-8D2B-453F-84D2E404816C}"/>
                    </a:ext>
                  </a:extLst>
                </p:cNvPr>
                <p:cNvSpPr>
                  <a:spLocks noChangeArrowheads="1"/>
                </p:cNvSpPr>
                <p:nvPr/>
              </p:nvSpPr>
              <p:spPr bwMode="auto">
                <a:xfrm>
                  <a:off x="1186" y="1513"/>
                  <a:ext cx="337"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Arial Narrow" panose="020B0606020202030204" pitchFamily="34" charset="0"/>
                    </a:rPr>
                    <a:t>Quantity</a:t>
                  </a:r>
                </a:p>
              </p:txBody>
            </p:sp>
            <p:sp>
              <p:nvSpPr>
                <p:cNvPr id="75" name="Rectangle 51">
                  <a:extLst>
                    <a:ext uri="{FF2B5EF4-FFF2-40B4-BE49-F238E27FC236}">
                      <a16:creationId xmlns:a16="http://schemas.microsoft.com/office/drawing/2014/main" id="{E8886F38-E520-F907-C8A6-9145EC38F11B}"/>
                    </a:ext>
                  </a:extLst>
                </p:cNvPr>
                <p:cNvSpPr>
                  <a:spLocks noChangeArrowheads="1"/>
                </p:cNvSpPr>
                <p:nvPr/>
              </p:nvSpPr>
              <p:spPr bwMode="auto">
                <a:xfrm>
                  <a:off x="1556" y="1490"/>
                  <a:ext cx="369"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 of Total</a:t>
                  </a:r>
                </a:p>
              </p:txBody>
            </p:sp>
            <p:sp>
              <p:nvSpPr>
                <p:cNvPr id="76" name="Rectangle 52">
                  <a:extLst>
                    <a:ext uri="{FF2B5EF4-FFF2-40B4-BE49-F238E27FC236}">
                      <a16:creationId xmlns:a16="http://schemas.microsoft.com/office/drawing/2014/main" id="{A31B1637-B895-ADA2-C5F1-FDF6CBE9CF42}"/>
                    </a:ext>
                  </a:extLst>
                </p:cNvPr>
                <p:cNvSpPr>
                  <a:spLocks noChangeArrowheads="1"/>
                </p:cNvSpPr>
                <p:nvPr/>
              </p:nvSpPr>
              <p:spPr bwMode="auto">
                <a:xfrm>
                  <a:off x="1996" y="1490"/>
                  <a:ext cx="33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CNC Mill</a:t>
                  </a:r>
                </a:p>
              </p:txBody>
            </p:sp>
            <p:sp>
              <p:nvSpPr>
                <p:cNvPr id="77" name="Rectangle 53">
                  <a:extLst>
                    <a:ext uri="{FF2B5EF4-FFF2-40B4-BE49-F238E27FC236}">
                      <a16:creationId xmlns:a16="http://schemas.microsoft.com/office/drawing/2014/main" id="{4C7507D8-7358-7046-5D93-ED8AFB419A92}"/>
                    </a:ext>
                  </a:extLst>
                </p:cNvPr>
                <p:cNvSpPr>
                  <a:spLocks noChangeArrowheads="1"/>
                </p:cNvSpPr>
                <p:nvPr/>
              </p:nvSpPr>
              <p:spPr bwMode="auto">
                <a:xfrm>
                  <a:off x="2430" y="1419"/>
                  <a:ext cx="27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Center</a:t>
                  </a:r>
                </a:p>
              </p:txBody>
            </p:sp>
            <p:sp>
              <p:nvSpPr>
                <p:cNvPr id="78" name="Rectangle 54">
                  <a:extLst>
                    <a:ext uri="{FF2B5EF4-FFF2-40B4-BE49-F238E27FC236}">
                      <a16:creationId xmlns:a16="http://schemas.microsoft.com/office/drawing/2014/main" id="{D7AB98BA-12EE-F80C-22F5-B808B1AAD20F}"/>
                    </a:ext>
                  </a:extLst>
                </p:cNvPr>
                <p:cNvSpPr>
                  <a:spLocks noChangeArrowheads="1"/>
                </p:cNvSpPr>
                <p:nvPr/>
              </p:nvSpPr>
              <p:spPr bwMode="auto">
                <a:xfrm>
                  <a:off x="2445" y="1513"/>
                  <a:ext cx="24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Lathe</a:t>
                  </a:r>
                </a:p>
              </p:txBody>
            </p:sp>
            <p:sp>
              <p:nvSpPr>
                <p:cNvPr id="79" name="Rectangle 55">
                  <a:extLst>
                    <a:ext uri="{FF2B5EF4-FFF2-40B4-BE49-F238E27FC236}">
                      <a16:creationId xmlns:a16="http://schemas.microsoft.com/office/drawing/2014/main" id="{65DE89DB-F275-18CD-4BD2-31115B9E58EF}"/>
                    </a:ext>
                  </a:extLst>
                </p:cNvPr>
                <p:cNvSpPr>
                  <a:spLocks noChangeArrowheads="1"/>
                </p:cNvSpPr>
                <p:nvPr/>
              </p:nvSpPr>
              <p:spPr bwMode="auto">
                <a:xfrm>
                  <a:off x="2852" y="1490"/>
                  <a:ext cx="239"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Grind</a:t>
                  </a:r>
                </a:p>
              </p:txBody>
            </p:sp>
            <p:sp>
              <p:nvSpPr>
                <p:cNvPr id="80" name="Rectangle 56">
                  <a:extLst>
                    <a:ext uri="{FF2B5EF4-FFF2-40B4-BE49-F238E27FC236}">
                      <a16:creationId xmlns:a16="http://schemas.microsoft.com/office/drawing/2014/main" id="{6E5A69BE-2AC3-D33A-53F9-443B4197C105}"/>
                    </a:ext>
                  </a:extLst>
                </p:cNvPr>
                <p:cNvSpPr>
                  <a:spLocks noChangeArrowheads="1"/>
                </p:cNvSpPr>
                <p:nvPr/>
              </p:nvSpPr>
              <p:spPr bwMode="auto">
                <a:xfrm>
                  <a:off x="3282" y="1490"/>
                  <a:ext cx="19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Roll</a:t>
                  </a:r>
                </a:p>
              </p:txBody>
            </p:sp>
            <p:sp>
              <p:nvSpPr>
                <p:cNvPr id="81" name="Rectangle 57">
                  <a:extLst>
                    <a:ext uri="{FF2B5EF4-FFF2-40B4-BE49-F238E27FC236}">
                      <a16:creationId xmlns:a16="http://schemas.microsoft.com/office/drawing/2014/main" id="{885F29FC-CCD5-634E-E215-ED59CB55C534}"/>
                    </a:ext>
                  </a:extLst>
                </p:cNvPr>
                <p:cNvSpPr>
                  <a:spLocks noChangeArrowheads="1"/>
                </p:cNvSpPr>
                <p:nvPr/>
              </p:nvSpPr>
              <p:spPr bwMode="auto">
                <a:xfrm>
                  <a:off x="3660" y="1490"/>
                  <a:ext cx="248"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Clean</a:t>
                  </a:r>
                </a:p>
              </p:txBody>
            </p:sp>
            <p:sp>
              <p:nvSpPr>
                <p:cNvPr id="82" name="Rectangle 58">
                  <a:extLst>
                    <a:ext uri="{FF2B5EF4-FFF2-40B4-BE49-F238E27FC236}">
                      <a16:creationId xmlns:a16="http://schemas.microsoft.com/office/drawing/2014/main" id="{CE1682CD-B61D-A187-BEAF-0509520D930E}"/>
                    </a:ext>
                  </a:extLst>
                </p:cNvPr>
                <p:cNvSpPr>
                  <a:spLocks noChangeArrowheads="1"/>
                </p:cNvSpPr>
                <p:nvPr/>
              </p:nvSpPr>
              <p:spPr bwMode="auto">
                <a:xfrm>
                  <a:off x="4081" y="1394"/>
                  <a:ext cx="22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Gear</a:t>
                  </a:r>
                </a:p>
              </p:txBody>
            </p:sp>
            <p:sp>
              <p:nvSpPr>
                <p:cNvPr id="83" name="Rectangle 59">
                  <a:extLst>
                    <a:ext uri="{FF2B5EF4-FFF2-40B4-BE49-F238E27FC236}">
                      <a16:creationId xmlns:a16="http://schemas.microsoft.com/office/drawing/2014/main" id="{CD2AFB87-63A3-0544-DFFF-CF957A6A2AB9}"/>
                    </a:ext>
                  </a:extLst>
                </p:cNvPr>
                <p:cNvSpPr>
                  <a:spLocks noChangeArrowheads="1"/>
                </p:cNvSpPr>
                <p:nvPr/>
              </p:nvSpPr>
              <p:spPr bwMode="auto">
                <a:xfrm>
                  <a:off x="4069" y="1488"/>
                  <a:ext cx="249"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Teeth</a:t>
                  </a:r>
                </a:p>
              </p:txBody>
            </p:sp>
            <p:sp>
              <p:nvSpPr>
                <p:cNvPr id="84" name="Rectangle 60">
                  <a:extLst>
                    <a:ext uri="{FF2B5EF4-FFF2-40B4-BE49-F238E27FC236}">
                      <a16:creationId xmlns:a16="http://schemas.microsoft.com/office/drawing/2014/main" id="{D1507153-78D6-F1DF-843A-0E482E4F266B}"/>
                    </a:ext>
                  </a:extLst>
                </p:cNvPr>
                <p:cNvSpPr>
                  <a:spLocks noChangeArrowheads="1"/>
                </p:cNvSpPr>
                <p:nvPr/>
              </p:nvSpPr>
              <p:spPr bwMode="auto">
                <a:xfrm>
                  <a:off x="4048" y="1582"/>
                  <a:ext cx="29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Cutting</a:t>
                  </a:r>
                </a:p>
              </p:txBody>
            </p:sp>
            <p:sp>
              <p:nvSpPr>
                <p:cNvPr id="85" name="Rectangle 61">
                  <a:extLst>
                    <a:ext uri="{FF2B5EF4-FFF2-40B4-BE49-F238E27FC236}">
                      <a16:creationId xmlns:a16="http://schemas.microsoft.com/office/drawing/2014/main" id="{2D12478E-CABD-DCBC-B7DE-4CE6F966622D}"/>
                    </a:ext>
                  </a:extLst>
                </p:cNvPr>
                <p:cNvSpPr>
                  <a:spLocks noChangeArrowheads="1"/>
                </p:cNvSpPr>
                <p:nvPr/>
              </p:nvSpPr>
              <p:spPr bwMode="auto">
                <a:xfrm>
                  <a:off x="4401" y="1490"/>
                  <a:ext cx="36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Assembly</a:t>
                  </a:r>
                </a:p>
              </p:txBody>
            </p:sp>
            <p:sp>
              <p:nvSpPr>
                <p:cNvPr id="86" name="Rectangle 62">
                  <a:extLst>
                    <a:ext uri="{FF2B5EF4-FFF2-40B4-BE49-F238E27FC236}">
                      <a16:creationId xmlns:a16="http://schemas.microsoft.com/office/drawing/2014/main" id="{057A977A-D892-330E-6C05-4A82A6100C4C}"/>
                    </a:ext>
                  </a:extLst>
                </p:cNvPr>
                <p:cNvSpPr>
                  <a:spLocks noChangeArrowheads="1"/>
                </p:cNvSpPr>
                <p:nvPr/>
              </p:nvSpPr>
              <p:spPr bwMode="auto">
                <a:xfrm>
                  <a:off x="4808" y="1490"/>
                  <a:ext cx="3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Packaging</a:t>
                  </a:r>
                </a:p>
              </p:txBody>
            </p:sp>
            <p:sp>
              <p:nvSpPr>
                <p:cNvPr id="87" name="Rectangle 63">
                  <a:extLst>
                    <a:ext uri="{FF2B5EF4-FFF2-40B4-BE49-F238E27FC236}">
                      <a16:creationId xmlns:a16="http://schemas.microsoft.com/office/drawing/2014/main" id="{141709FE-55CC-C66D-BBEC-5E4F5402AB95}"/>
                    </a:ext>
                  </a:extLst>
                </p:cNvPr>
                <p:cNvSpPr>
                  <a:spLocks noChangeArrowheads="1"/>
                </p:cNvSpPr>
                <p:nvPr/>
              </p:nvSpPr>
              <p:spPr bwMode="auto">
                <a:xfrm>
                  <a:off x="346"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8" name="Rectangle 64">
                  <a:extLst>
                    <a:ext uri="{FF2B5EF4-FFF2-40B4-BE49-F238E27FC236}">
                      <a16:creationId xmlns:a16="http://schemas.microsoft.com/office/drawing/2014/main" id="{3820A43A-0928-67AB-D1F0-8BE9C97401E6}"/>
                    </a:ext>
                  </a:extLst>
                </p:cNvPr>
                <p:cNvSpPr>
                  <a:spLocks noChangeArrowheads="1"/>
                </p:cNvSpPr>
                <p:nvPr/>
              </p:nvSpPr>
              <p:spPr bwMode="auto">
                <a:xfrm>
                  <a:off x="346"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9" name="Rectangle 65">
                  <a:extLst>
                    <a:ext uri="{FF2B5EF4-FFF2-40B4-BE49-F238E27FC236}">
                      <a16:creationId xmlns:a16="http://schemas.microsoft.com/office/drawing/2014/main" id="{BB7BFA65-4F53-40CC-3100-99E4103D43D2}"/>
                    </a:ext>
                  </a:extLst>
                </p:cNvPr>
                <p:cNvSpPr>
                  <a:spLocks noChangeArrowheads="1"/>
                </p:cNvSpPr>
                <p:nvPr/>
              </p:nvSpPr>
              <p:spPr bwMode="auto">
                <a:xfrm>
                  <a:off x="351"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0" name="Rectangle 66">
                  <a:extLst>
                    <a:ext uri="{FF2B5EF4-FFF2-40B4-BE49-F238E27FC236}">
                      <a16:creationId xmlns:a16="http://schemas.microsoft.com/office/drawing/2014/main" id="{2911B3BE-8DF3-DC49-FC45-780FDE27A93F}"/>
                    </a:ext>
                  </a:extLst>
                </p:cNvPr>
                <p:cNvSpPr>
                  <a:spLocks noChangeArrowheads="1"/>
                </p:cNvSpPr>
                <p:nvPr/>
              </p:nvSpPr>
              <p:spPr bwMode="auto">
                <a:xfrm>
                  <a:off x="357" y="1699"/>
                  <a:ext cx="225"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1" name="Rectangle 67">
                  <a:extLst>
                    <a:ext uri="{FF2B5EF4-FFF2-40B4-BE49-F238E27FC236}">
                      <a16:creationId xmlns:a16="http://schemas.microsoft.com/office/drawing/2014/main" id="{7F36E90B-3978-D6CF-6597-C5C738D889D2}"/>
                    </a:ext>
                  </a:extLst>
                </p:cNvPr>
                <p:cNvSpPr>
                  <a:spLocks noChangeArrowheads="1"/>
                </p:cNvSpPr>
                <p:nvPr/>
              </p:nvSpPr>
              <p:spPr bwMode="auto">
                <a:xfrm>
                  <a:off x="582"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2" name="Rectangle 68">
                  <a:extLst>
                    <a:ext uri="{FF2B5EF4-FFF2-40B4-BE49-F238E27FC236}">
                      <a16:creationId xmlns:a16="http://schemas.microsoft.com/office/drawing/2014/main" id="{5D694103-BEA3-5B3B-51F3-CD01AC446FB6}"/>
                    </a:ext>
                  </a:extLst>
                </p:cNvPr>
                <p:cNvSpPr>
                  <a:spLocks noChangeArrowheads="1"/>
                </p:cNvSpPr>
                <p:nvPr/>
              </p:nvSpPr>
              <p:spPr bwMode="auto">
                <a:xfrm>
                  <a:off x="587" y="169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3" name="Rectangle 69">
                  <a:extLst>
                    <a:ext uri="{FF2B5EF4-FFF2-40B4-BE49-F238E27FC236}">
                      <a16:creationId xmlns:a16="http://schemas.microsoft.com/office/drawing/2014/main" id="{6753F559-80BE-935C-7695-0F0A301E1304}"/>
                    </a:ext>
                  </a:extLst>
                </p:cNvPr>
                <p:cNvSpPr>
                  <a:spLocks noChangeArrowheads="1"/>
                </p:cNvSpPr>
                <p:nvPr/>
              </p:nvSpPr>
              <p:spPr bwMode="auto">
                <a:xfrm>
                  <a:off x="1157"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4" name="Rectangle 70">
                  <a:extLst>
                    <a:ext uri="{FF2B5EF4-FFF2-40B4-BE49-F238E27FC236}">
                      <a16:creationId xmlns:a16="http://schemas.microsoft.com/office/drawing/2014/main" id="{6DCC5D2A-9E27-1281-7355-952E6248D3F8}"/>
                    </a:ext>
                  </a:extLst>
                </p:cNvPr>
                <p:cNvSpPr>
                  <a:spLocks noChangeArrowheads="1"/>
                </p:cNvSpPr>
                <p:nvPr/>
              </p:nvSpPr>
              <p:spPr bwMode="auto">
                <a:xfrm>
                  <a:off x="1163"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5" name="Rectangle 71">
                  <a:extLst>
                    <a:ext uri="{FF2B5EF4-FFF2-40B4-BE49-F238E27FC236}">
                      <a16:creationId xmlns:a16="http://schemas.microsoft.com/office/drawing/2014/main" id="{8FB37BBB-802A-4A12-1E3F-810353D17F88}"/>
                    </a:ext>
                  </a:extLst>
                </p:cNvPr>
                <p:cNvSpPr>
                  <a:spLocks noChangeArrowheads="1"/>
                </p:cNvSpPr>
                <p:nvPr/>
              </p:nvSpPr>
              <p:spPr bwMode="auto">
                <a:xfrm>
                  <a:off x="1564"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6" name="Rectangle 72">
                  <a:extLst>
                    <a:ext uri="{FF2B5EF4-FFF2-40B4-BE49-F238E27FC236}">
                      <a16:creationId xmlns:a16="http://schemas.microsoft.com/office/drawing/2014/main" id="{5B8D7771-71BF-6119-96EB-89C0B2F2C694}"/>
                    </a:ext>
                  </a:extLst>
                </p:cNvPr>
                <p:cNvSpPr>
                  <a:spLocks noChangeArrowheads="1"/>
                </p:cNvSpPr>
                <p:nvPr/>
              </p:nvSpPr>
              <p:spPr bwMode="auto">
                <a:xfrm>
                  <a:off x="1570" y="169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Rectangle 73">
                  <a:extLst>
                    <a:ext uri="{FF2B5EF4-FFF2-40B4-BE49-F238E27FC236}">
                      <a16:creationId xmlns:a16="http://schemas.microsoft.com/office/drawing/2014/main" id="{E0487231-2486-AF71-7A41-5FD44A91C283}"/>
                    </a:ext>
                  </a:extLst>
                </p:cNvPr>
                <p:cNvSpPr>
                  <a:spLocks noChangeArrowheads="1"/>
                </p:cNvSpPr>
                <p:nvPr/>
              </p:nvSpPr>
              <p:spPr bwMode="auto">
                <a:xfrm>
                  <a:off x="1987"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8" name="Rectangle 74">
                  <a:extLst>
                    <a:ext uri="{FF2B5EF4-FFF2-40B4-BE49-F238E27FC236}">
                      <a16:creationId xmlns:a16="http://schemas.microsoft.com/office/drawing/2014/main" id="{94761E60-6BD9-F6D0-69D9-07760E242625}"/>
                    </a:ext>
                  </a:extLst>
                </p:cNvPr>
                <p:cNvSpPr>
                  <a:spLocks noChangeArrowheads="1"/>
                </p:cNvSpPr>
                <p:nvPr/>
              </p:nvSpPr>
              <p:spPr bwMode="auto">
                <a:xfrm>
                  <a:off x="1993" y="169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9" name="Rectangle 75">
                  <a:extLst>
                    <a:ext uri="{FF2B5EF4-FFF2-40B4-BE49-F238E27FC236}">
                      <a16:creationId xmlns:a16="http://schemas.microsoft.com/office/drawing/2014/main" id="{020991D5-05C4-7A54-FE04-9D50B32ACBA2}"/>
                    </a:ext>
                  </a:extLst>
                </p:cNvPr>
                <p:cNvSpPr>
                  <a:spLocks noChangeArrowheads="1"/>
                </p:cNvSpPr>
                <p:nvPr/>
              </p:nvSpPr>
              <p:spPr bwMode="auto">
                <a:xfrm>
                  <a:off x="2378"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0" name="Rectangle 76">
                  <a:extLst>
                    <a:ext uri="{FF2B5EF4-FFF2-40B4-BE49-F238E27FC236}">
                      <a16:creationId xmlns:a16="http://schemas.microsoft.com/office/drawing/2014/main" id="{9A86D4A2-4795-19B3-692B-6E5BED53AC34}"/>
                    </a:ext>
                  </a:extLst>
                </p:cNvPr>
                <p:cNvSpPr>
                  <a:spLocks noChangeArrowheads="1"/>
                </p:cNvSpPr>
                <p:nvPr/>
              </p:nvSpPr>
              <p:spPr bwMode="auto">
                <a:xfrm>
                  <a:off x="2384"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1" name="Rectangle 77">
                  <a:extLst>
                    <a:ext uri="{FF2B5EF4-FFF2-40B4-BE49-F238E27FC236}">
                      <a16:creationId xmlns:a16="http://schemas.microsoft.com/office/drawing/2014/main" id="{20F44FEB-D274-860B-7FAF-D8A9F0B79353}"/>
                    </a:ext>
                  </a:extLst>
                </p:cNvPr>
                <p:cNvSpPr>
                  <a:spLocks noChangeArrowheads="1"/>
                </p:cNvSpPr>
                <p:nvPr/>
              </p:nvSpPr>
              <p:spPr bwMode="auto">
                <a:xfrm>
                  <a:off x="2785"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Rectangle 78">
                  <a:extLst>
                    <a:ext uri="{FF2B5EF4-FFF2-40B4-BE49-F238E27FC236}">
                      <a16:creationId xmlns:a16="http://schemas.microsoft.com/office/drawing/2014/main" id="{500DAA98-9A55-9462-296C-BD7496CD2AEC}"/>
                    </a:ext>
                  </a:extLst>
                </p:cNvPr>
                <p:cNvSpPr>
                  <a:spLocks noChangeArrowheads="1"/>
                </p:cNvSpPr>
                <p:nvPr/>
              </p:nvSpPr>
              <p:spPr bwMode="auto">
                <a:xfrm>
                  <a:off x="2791"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3" name="Rectangle 79">
                  <a:extLst>
                    <a:ext uri="{FF2B5EF4-FFF2-40B4-BE49-F238E27FC236}">
                      <a16:creationId xmlns:a16="http://schemas.microsoft.com/office/drawing/2014/main" id="{CCAD0E99-14F8-1085-92A0-D41B6D84AEBB}"/>
                    </a:ext>
                  </a:extLst>
                </p:cNvPr>
                <p:cNvSpPr>
                  <a:spLocks noChangeArrowheads="1"/>
                </p:cNvSpPr>
                <p:nvPr/>
              </p:nvSpPr>
              <p:spPr bwMode="auto">
                <a:xfrm>
                  <a:off x="3192"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4" name="Rectangle 80">
                  <a:extLst>
                    <a:ext uri="{FF2B5EF4-FFF2-40B4-BE49-F238E27FC236}">
                      <a16:creationId xmlns:a16="http://schemas.microsoft.com/office/drawing/2014/main" id="{A759C9C8-E2BD-50E9-F083-A36CD2E0EA39}"/>
                    </a:ext>
                  </a:extLst>
                </p:cNvPr>
                <p:cNvSpPr>
                  <a:spLocks noChangeArrowheads="1"/>
                </p:cNvSpPr>
                <p:nvPr/>
              </p:nvSpPr>
              <p:spPr bwMode="auto">
                <a:xfrm>
                  <a:off x="3198"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5" name="Rectangle 81">
                  <a:extLst>
                    <a:ext uri="{FF2B5EF4-FFF2-40B4-BE49-F238E27FC236}">
                      <a16:creationId xmlns:a16="http://schemas.microsoft.com/office/drawing/2014/main" id="{8BFA1CC2-282A-245F-3B67-1D6F9B86556B}"/>
                    </a:ext>
                  </a:extLst>
                </p:cNvPr>
                <p:cNvSpPr>
                  <a:spLocks noChangeArrowheads="1"/>
                </p:cNvSpPr>
                <p:nvPr/>
              </p:nvSpPr>
              <p:spPr bwMode="auto">
                <a:xfrm>
                  <a:off x="3599"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6" name="Rectangle 82">
                  <a:extLst>
                    <a:ext uri="{FF2B5EF4-FFF2-40B4-BE49-F238E27FC236}">
                      <a16:creationId xmlns:a16="http://schemas.microsoft.com/office/drawing/2014/main" id="{C27231B9-B212-2510-C7F9-65D3FC88216B}"/>
                    </a:ext>
                  </a:extLst>
                </p:cNvPr>
                <p:cNvSpPr>
                  <a:spLocks noChangeArrowheads="1"/>
                </p:cNvSpPr>
                <p:nvPr/>
              </p:nvSpPr>
              <p:spPr bwMode="auto">
                <a:xfrm>
                  <a:off x="3605" y="169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Rectangle 83">
                  <a:extLst>
                    <a:ext uri="{FF2B5EF4-FFF2-40B4-BE49-F238E27FC236}">
                      <a16:creationId xmlns:a16="http://schemas.microsoft.com/office/drawing/2014/main" id="{076E37A0-E065-9D81-8B51-227BC5F85815}"/>
                    </a:ext>
                  </a:extLst>
                </p:cNvPr>
                <p:cNvSpPr>
                  <a:spLocks noChangeArrowheads="1"/>
                </p:cNvSpPr>
                <p:nvPr/>
              </p:nvSpPr>
              <p:spPr bwMode="auto">
                <a:xfrm>
                  <a:off x="4004"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8" name="Rectangle 84">
                  <a:extLst>
                    <a:ext uri="{FF2B5EF4-FFF2-40B4-BE49-F238E27FC236}">
                      <a16:creationId xmlns:a16="http://schemas.microsoft.com/office/drawing/2014/main" id="{FA211F80-1F6F-5281-1F2E-A66415A93BB3}"/>
                    </a:ext>
                  </a:extLst>
                </p:cNvPr>
                <p:cNvSpPr>
                  <a:spLocks noChangeArrowheads="1"/>
                </p:cNvSpPr>
                <p:nvPr/>
              </p:nvSpPr>
              <p:spPr bwMode="auto">
                <a:xfrm>
                  <a:off x="4010"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9" name="Rectangle 85">
                  <a:extLst>
                    <a:ext uri="{FF2B5EF4-FFF2-40B4-BE49-F238E27FC236}">
                      <a16:creationId xmlns:a16="http://schemas.microsoft.com/office/drawing/2014/main" id="{EE327648-8654-E348-3B62-3993AC49023A}"/>
                    </a:ext>
                  </a:extLst>
                </p:cNvPr>
                <p:cNvSpPr>
                  <a:spLocks noChangeArrowheads="1"/>
                </p:cNvSpPr>
                <p:nvPr/>
              </p:nvSpPr>
              <p:spPr bwMode="auto">
                <a:xfrm>
                  <a:off x="4411"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0" name="Rectangle 86">
                  <a:extLst>
                    <a:ext uri="{FF2B5EF4-FFF2-40B4-BE49-F238E27FC236}">
                      <a16:creationId xmlns:a16="http://schemas.microsoft.com/office/drawing/2014/main" id="{0B28B6A8-A2D1-4718-9FF7-ADACF91FA3E9}"/>
                    </a:ext>
                  </a:extLst>
                </p:cNvPr>
                <p:cNvSpPr>
                  <a:spLocks noChangeArrowheads="1"/>
                </p:cNvSpPr>
                <p:nvPr/>
              </p:nvSpPr>
              <p:spPr bwMode="auto">
                <a:xfrm>
                  <a:off x="4417"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1" name="Rectangle 87">
                  <a:extLst>
                    <a:ext uri="{FF2B5EF4-FFF2-40B4-BE49-F238E27FC236}">
                      <a16:creationId xmlns:a16="http://schemas.microsoft.com/office/drawing/2014/main" id="{6C49B587-5E52-1852-4BD4-D4E8C4A0517B}"/>
                    </a:ext>
                  </a:extLst>
                </p:cNvPr>
                <p:cNvSpPr>
                  <a:spLocks noChangeArrowheads="1"/>
                </p:cNvSpPr>
                <p:nvPr/>
              </p:nvSpPr>
              <p:spPr bwMode="auto">
                <a:xfrm>
                  <a:off x="4818"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2" name="Rectangle 88">
                  <a:extLst>
                    <a:ext uri="{FF2B5EF4-FFF2-40B4-BE49-F238E27FC236}">
                      <a16:creationId xmlns:a16="http://schemas.microsoft.com/office/drawing/2014/main" id="{2598A11F-6B3D-4C9B-6561-47A12D2866A3}"/>
                    </a:ext>
                  </a:extLst>
                </p:cNvPr>
                <p:cNvSpPr>
                  <a:spLocks noChangeArrowheads="1"/>
                </p:cNvSpPr>
                <p:nvPr/>
              </p:nvSpPr>
              <p:spPr bwMode="auto">
                <a:xfrm>
                  <a:off x="4824" y="169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3" name="Rectangle 89">
                  <a:extLst>
                    <a:ext uri="{FF2B5EF4-FFF2-40B4-BE49-F238E27FC236}">
                      <a16:creationId xmlns:a16="http://schemas.microsoft.com/office/drawing/2014/main" id="{8BB98D3A-59CE-269B-0F3D-6DC25AB5ABC7}"/>
                    </a:ext>
                  </a:extLst>
                </p:cNvPr>
                <p:cNvSpPr>
                  <a:spLocks noChangeArrowheads="1"/>
                </p:cNvSpPr>
                <p:nvPr/>
              </p:nvSpPr>
              <p:spPr bwMode="auto">
                <a:xfrm>
                  <a:off x="5225" y="169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4" name="Rectangle 90">
                  <a:extLst>
                    <a:ext uri="{FF2B5EF4-FFF2-40B4-BE49-F238E27FC236}">
                      <a16:creationId xmlns:a16="http://schemas.microsoft.com/office/drawing/2014/main" id="{72E695C3-51C0-A2B6-3F60-9D138AAF511F}"/>
                    </a:ext>
                  </a:extLst>
                </p:cNvPr>
                <p:cNvSpPr>
                  <a:spLocks noChangeArrowheads="1"/>
                </p:cNvSpPr>
                <p:nvPr/>
              </p:nvSpPr>
              <p:spPr bwMode="auto">
                <a:xfrm>
                  <a:off x="346"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5" name="Rectangle 91">
                  <a:extLst>
                    <a:ext uri="{FF2B5EF4-FFF2-40B4-BE49-F238E27FC236}">
                      <a16:creationId xmlns:a16="http://schemas.microsoft.com/office/drawing/2014/main" id="{C63953D3-DB1A-94BB-A686-8D6241E0EC16}"/>
                    </a:ext>
                  </a:extLst>
                </p:cNvPr>
                <p:cNvSpPr>
                  <a:spLocks noChangeArrowheads="1"/>
                </p:cNvSpPr>
                <p:nvPr/>
              </p:nvSpPr>
              <p:spPr bwMode="auto">
                <a:xfrm>
                  <a:off x="582"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6" name="Rectangle 92">
                  <a:extLst>
                    <a:ext uri="{FF2B5EF4-FFF2-40B4-BE49-F238E27FC236}">
                      <a16:creationId xmlns:a16="http://schemas.microsoft.com/office/drawing/2014/main" id="{686A6126-FAAE-863C-645E-B20EB1016F7D}"/>
                    </a:ext>
                  </a:extLst>
                </p:cNvPr>
                <p:cNvSpPr>
                  <a:spLocks noChangeArrowheads="1"/>
                </p:cNvSpPr>
                <p:nvPr/>
              </p:nvSpPr>
              <p:spPr bwMode="auto">
                <a:xfrm>
                  <a:off x="1157"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7" name="Rectangle 93">
                  <a:extLst>
                    <a:ext uri="{FF2B5EF4-FFF2-40B4-BE49-F238E27FC236}">
                      <a16:creationId xmlns:a16="http://schemas.microsoft.com/office/drawing/2014/main" id="{93638E23-4EE7-5141-4501-1B3748CAD349}"/>
                    </a:ext>
                  </a:extLst>
                </p:cNvPr>
                <p:cNvSpPr>
                  <a:spLocks noChangeArrowheads="1"/>
                </p:cNvSpPr>
                <p:nvPr/>
              </p:nvSpPr>
              <p:spPr bwMode="auto">
                <a:xfrm>
                  <a:off x="1564"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8" name="Rectangle 94">
                  <a:extLst>
                    <a:ext uri="{FF2B5EF4-FFF2-40B4-BE49-F238E27FC236}">
                      <a16:creationId xmlns:a16="http://schemas.microsoft.com/office/drawing/2014/main" id="{07D78A62-4A86-0F50-DA83-E2BFE3748254}"/>
                    </a:ext>
                  </a:extLst>
                </p:cNvPr>
                <p:cNvSpPr>
                  <a:spLocks noChangeArrowheads="1"/>
                </p:cNvSpPr>
                <p:nvPr/>
              </p:nvSpPr>
              <p:spPr bwMode="auto">
                <a:xfrm>
                  <a:off x="1987"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19" name="Rectangle 95">
                  <a:extLst>
                    <a:ext uri="{FF2B5EF4-FFF2-40B4-BE49-F238E27FC236}">
                      <a16:creationId xmlns:a16="http://schemas.microsoft.com/office/drawing/2014/main" id="{54FB708D-CBFE-117E-CF2F-C32190F0AFB0}"/>
                    </a:ext>
                  </a:extLst>
                </p:cNvPr>
                <p:cNvSpPr>
                  <a:spLocks noChangeArrowheads="1"/>
                </p:cNvSpPr>
                <p:nvPr/>
              </p:nvSpPr>
              <p:spPr bwMode="auto">
                <a:xfrm>
                  <a:off x="2378"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0" name="Rectangle 96">
                  <a:extLst>
                    <a:ext uri="{FF2B5EF4-FFF2-40B4-BE49-F238E27FC236}">
                      <a16:creationId xmlns:a16="http://schemas.microsoft.com/office/drawing/2014/main" id="{8666E5CF-A2D8-495D-269A-3AFD0CE34BBC}"/>
                    </a:ext>
                  </a:extLst>
                </p:cNvPr>
                <p:cNvSpPr>
                  <a:spLocks noChangeArrowheads="1"/>
                </p:cNvSpPr>
                <p:nvPr/>
              </p:nvSpPr>
              <p:spPr bwMode="auto">
                <a:xfrm>
                  <a:off x="2785"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1" name="Rectangle 97">
                  <a:extLst>
                    <a:ext uri="{FF2B5EF4-FFF2-40B4-BE49-F238E27FC236}">
                      <a16:creationId xmlns:a16="http://schemas.microsoft.com/office/drawing/2014/main" id="{A3F80AFB-ACF2-417F-ED73-546FF16C0E19}"/>
                    </a:ext>
                  </a:extLst>
                </p:cNvPr>
                <p:cNvSpPr>
                  <a:spLocks noChangeArrowheads="1"/>
                </p:cNvSpPr>
                <p:nvPr/>
              </p:nvSpPr>
              <p:spPr bwMode="auto">
                <a:xfrm>
                  <a:off x="3192"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2" name="Rectangle 98">
                  <a:extLst>
                    <a:ext uri="{FF2B5EF4-FFF2-40B4-BE49-F238E27FC236}">
                      <a16:creationId xmlns:a16="http://schemas.microsoft.com/office/drawing/2014/main" id="{742512FA-A22E-9560-8783-05FBDFBA4260}"/>
                    </a:ext>
                  </a:extLst>
                </p:cNvPr>
                <p:cNvSpPr>
                  <a:spLocks noChangeArrowheads="1"/>
                </p:cNvSpPr>
                <p:nvPr/>
              </p:nvSpPr>
              <p:spPr bwMode="auto">
                <a:xfrm>
                  <a:off x="3599"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3" name="Rectangle 99">
                  <a:extLst>
                    <a:ext uri="{FF2B5EF4-FFF2-40B4-BE49-F238E27FC236}">
                      <a16:creationId xmlns:a16="http://schemas.microsoft.com/office/drawing/2014/main" id="{11665C4E-7860-0612-E517-E95BB0DB5F85}"/>
                    </a:ext>
                  </a:extLst>
                </p:cNvPr>
                <p:cNvSpPr>
                  <a:spLocks noChangeArrowheads="1"/>
                </p:cNvSpPr>
                <p:nvPr/>
              </p:nvSpPr>
              <p:spPr bwMode="auto">
                <a:xfrm>
                  <a:off x="4004"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4" name="Rectangle 100">
                  <a:extLst>
                    <a:ext uri="{FF2B5EF4-FFF2-40B4-BE49-F238E27FC236}">
                      <a16:creationId xmlns:a16="http://schemas.microsoft.com/office/drawing/2014/main" id="{2C54B632-3524-B98B-5032-764992737686}"/>
                    </a:ext>
                  </a:extLst>
                </p:cNvPr>
                <p:cNvSpPr>
                  <a:spLocks noChangeArrowheads="1"/>
                </p:cNvSpPr>
                <p:nvPr/>
              </p:nvSpPr>
              <p:spPr bwMode="auto">
                <a:xfrm>
                  <a:off x="4411"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Rectangle 101">
                  <a:extLst>
                    <a:ext uri="{FF2B5EF4-FFF2-40B4-BE49-F238E27FC236}">
                      <a16:creationId xmlns:a16="http://schemas.microsoft.com/office/drawing/2014/main" id="{62257A52-930D-EE37-6BB4-9569E785BDCC}"/>
                    </a:ext>
                  </a:extLst>
                </p:cNvPr>
                <p:cNvSpPr>
                  <a:spLocks noChangeArrowheads="1"/>
                </p:cNvSpPr>
                <p:nvPr/>
              </p:nvSpPr>
              <p:spPr bwMode="auto">
                <a:xfrm>
                  <a:off x="4818"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Rectangle 102">
                  <a:extLst>
                    <a:ext uri="{FF2B5EF4-FFF2-40B4-BE49-F238E27FC236}">
                      <a16:creationId xmlns:a16="http://schemas.microsoft.com/office/drawing/2014/main" id="{44D99833-BC27-16B6-CC62-550A90FC70E3}"/>
                    </a:ext>
                  </a:extLst>
                </p:cNvPr>
                <p:cNvSpPr>
                  <a:spLocks noChangeArrowheads="1"/>
                </p:cNvSpPr>
                <p:nvPr/>
              </p:nvSpPr>
              <p:spPr bwMode="auto">
                <a:xfrm>
                  <a:off x="5225" y="170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7" name="Rectangle 103">
                  <a:extLst>
                    <a:ext uri="{FF2B5EF4-FFF2-40B4-BE49-F238E27FC236}">
                      <a16:creationId xmlns:a16="http://schemas.microsoft.com/office/drawing/2014/main" id="{992A2025-6E8B-F4BE-BF3D-513D3C849A96}"/>
                    </a:ext>
                  </a:extLst>
                </p:cNvPr>
                <p:cNvSpPr>
                  <a:spLocks noChangeArrowheads="1"/>
                </p:cNvSpPr>
                <p:nvPr/>
              </p:nvSpPr>
              <p:spPr bwMode="auto">
                <a:xfrm>
                  <a:off x="393" y="1707"/>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dirty="0">
                      <a:solidFill>
                        <a:srgbClr val="000000"/>
                      </a:solidFill>
                      <a:latin typeface="Roboto" panose="02000000000000000000" pitchFamily="2" charset="0"/>
                      <a:ea typeface="Roboto" panose="02000000000000000000" pitchFamily="2" charset="0"/>
                    </a:rPr>
                    <a:t>1</a:t>
                  </a:r>
                </a:p>
              </p:txBody>
            </p:sp>
            <p:sp>
              <p:nvSpPr>
                <p:cNvPr id="128" name="Rectangle 104">
                  <a:extLst>
                    <a:ext uri="{FF2B5EF4-FFF2-40B4-BE49-F238E27FC236}">
                      <a16:creationId xmlns:a16="http://schemas.microsoft.com/office/drawing/2014/main" id="{9297A0D5-CB7B-6F9B-C1F6-EC101BEA3411}"/>
                    </a:ext>
                  </a:extLst>
                </p:cNvPr>
                <p:cNvSpPr>
                  <a:spLocks noChangeArrowheads="1"/>
                </p:cNvSpPr>
                <p:nvPr/>
              </p:nvSpPr>
              <p:spPr bwMode="auto">
                <a:xfrm>
                  <a:off x="681" y="1707"/>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OBR-026</a:t>
                  </a:r>
                </a:p>
              </p:txBody>
            </p:sp>
            <p:sp>
              <p:nvSpPr>
                <p:cNvPr id="129" name="Rectangle 105">
                  <a:extLst>
                    <a:ext uri="{FF2B5EF4-FFF2-40B4-BE49-F238E27FC236}">
                      <a16:creationId xmlns:a16="http://schemas.microsoft.com/office/drawing/2014/main" id="{5B4E6807-A682-7363-B0C7-BE8F4D76EBD6}"/>
                    </a:ext>
                  </a:extLst>
                </p:cNvPr>
                <p:cNvSpPr>
                  <a:spLocks noChangeArrowheads="1"/>
                </p:cNvSpPr>
                <p:nvPr/>
              </p:nvSpPr>
              <p:spPr bwMode="auto">
                <a:xfrm>
                  <a:off x="1255" y="1707"/>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420</a:t>
                  </a:r>
                </a:p>
              </p:txBody>
            </p:sp>
            <p:sp>
              <p:nvSpPr>
                <p:cNvPr id="130" name="Rectangle 106">
                  <a:extLst>
                    <a:ext uri="{FF2B5EF4-FFF2-40B4-BE49-F238E27FC236}">
                      <a16:creationId xmlns:a16="http://schemas.microsoft.com/office/drawing/2014/main" id="{10C5E0D7-1A55-8092-64B2-D23B6B6E5DFF}"/>
                    </a:ext>
                  </a:extLst>
                </p:cNvPr>
                <p:cNvSpPr>
                  <a:spLocks noChangeArrowheads="1"/>
                </p:cNvSpPr>
                <p:nvPr/>
              </p:nvSpPr>
              <p:spPr bwMode="auto">
                <a:xfrm>
                  <a:off x="1687" y="1707"/>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35</a:t>
                  </a:r>
                </a:p>
              </p:txBody>
            </p:sp>
            <p:sp>
              <p:nvSpPr>
                <p:cNvPr id="131" name="Rectangle 107">
                  <a:extLst>
                    <a:ext uri="{FF2B5EF4-FFF2-40B4-BE49-F238E27FC236}">
                      <a16:creationId xmlns:a16="http://schemas.microsoft.com/office/drawing/2014/main" id="{755A73A5-DAE7-02DC-C9BA-0EA6BE8200CF}"/>
                    </a:ext>
                  </a:extLst>
                </p:cNvPr>
                <p:cNvSpPr>
                  <a:spLocks noChangeArrowheads="1"/>
                </p:cNvSpPr>
                <p:nvPr/>
              </p:nvSpPr>
              <p:spPr bwMode="auto">
                <a:xfrm>
                  <a:off x="2079"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2" name="Rectangle 108">
                  <a:extLst>
                    <a:ext uri="{FF2B5EF4-FFF2-40B4-BE49-F238E27FC236}">
                      <a16:creationId xmlns:a16="http://schemas.microsoft.com/office/drawing/2014/main" id="{8D9C9A80-B45D-7AE0-413D-47B24B8DDC5E}"/>
                    </a:ext>
                  </a:extLst>
                </p:cNvPr>
                <p:cNvSpPr>
                  <a:spLocks noChangeArrowheads="1"/>
                </p:cNvSpPr>
                <p:nvPr/>
              </p:nvSpPr>
              <p:spPr bwMode="auto">
                <a:xfrm>
                  <a:off x="2478" y="1683"/>
                  <a:ext cx="202"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3" name="Rectangle 109">
                  <a:extLst>
                    <a:ext uri="{FF2B5EF4-FFF2-40B4-BE49-F238E27FC236}">
                      <a16:creationId xmlns:a16="http://schemas.microsoft.com/office/drawing/2014/main" id="{FE1A2525-BB48-0553-32DF-F84145382977}"/>
                    </a:ext>
                  </a:extLst>
                </p:cNvPr>
                <p:cNvSpPr>
                  <a:spLocks noChangeArrowheads="1"/>
                </p:cNvSpPr>
                <p:nvPr/>
              </p:nvSpPr>
              <p:spPr bwMode="auto">
                <a:xfrm>
                  <a:off x="2883"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134" name="Rectangle 110">
                  <a:extLst>
                    <a:ext uri="{FF2B5EF4-FFF2-40B4-BE49-F238E27FC236}">
                      <a16:creationId xmlns:a16="http://schemas.microsoft.com/office/drawing/2014/main" id="{C7F532A1-B0A9-BB1C-3567-C8C574A6D48F}"/>
                    </a:ext>
                  </a:extLst>
                </p:cNvPr>
                <p:cNvSpPr>
                  <a:spLocks noChangeArrowheads="1"/>
                </p:cNvSpPr>
                <p:nvPr/>
              </p:nvSpPr>
              <p:spPr bwMode="auto">
                <a:xfrm>
                  <a:off x="3697"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5" name="Rectangle 111">
                  <a:extLst>
                    <a:ext uri="{FF2B5EF4-FFF2-40B4-BE49-F238E27FC236}">
                      <a16:creationId xmlns:a16="http://schemas.microsoft.com/office/drawing/2014/main" id="{FB32D3F2-F1F3-8E36-A492-61BBB8D8EAE5}"/>
                    </a:ext>
                  </a:extLst>
                </p:cNvPr>
                <p:cNvSpPr>
                  <a:spLocks noChangeArrowheads="1"/>
                </p:cNvSpPr>
                <p:nvPr/>
              </p:nvSpPr>
              <p:spPr bwMode="auto">
                <a:xfrm>
                  <a:off x="4511"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6" name="Rectangle 112">
                  <a:extLst>
                    <a:ext uri="{FF2B5EF4-FFF2-40B4-BE49-F238E27FC236}">
                      <a16:creationId xmlns:a16="http://schemas.microsoft.com/office/drawing/2014/main" id="{053E69F1-7FF5-07D8-C889-C92C5C89E08B}"/>
                    </a:ext>
                  </a:extLst>
                </p:cNvPr>
                <p:cNvSpPr>
                  <a:spLocks noChangeArrowheads="1"/>
                </p:cNvSpPr>
                <p:nvPr/>
              </p:nvSpPr>
              <p:spPr bwMode="auto">
                <a:xfrm>
                  <a:off x="4918" y="16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37" name="Rectangle 113">
                  <a:extLst>
                    <a:ext uri="{FF2B5EF4-FFF2-40B4-BE49-F238E27FC236}">
                      <a16:creationId xmlns:a16="http://schemas.microsoft.com/office/drawing/2014/main" id="{749F0E23-AB36-06AC-A80D-B3C579AC4950}"/>
                    </a:ext>
                  </a:extLst>
                </p:cNvPr>
                <p:cNvSpPr>
                  <a:spLocks noChangeArrowheads="1"/>
                </p:cNvSpPr>
                <p:nvPr/>
              </p:nvSpPr>
              <p:spPr bwMode="auto">
                <a:xfrm>
                  <a:off x="346"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8" name="Rectangle 114">
                  <a:extLst>
                    <a:ext uri="{FF2B5EF4-FFF2-40B4-BE49-F238E27FC236}">
                      <a16:creationId xmlns:a16="http://schemas.microsoft.com/office/drawing/2014/main" id="{92CECC23-5DA0-8FC3-5EAC-3F1116329564}"/>
                    </a:ext>
                  </a:extLst>
                </p:cNvPr>
                <p:cNvSpPr>
                  <a:spLocks noChangeArrowheads="1"/>
                </p:cNvSpPr>
                <p:nvPr/>
              </p:nvSpPr>
              <p:spPr bwMode="auto">
                <a:xfrm>
                  <a:off x="351" y="184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9" name="Rectangle 115">
                  <a:extLst>
                    <a:ext uri="{FF2B5EF4-FFF2-40B4-BE49-F238E27FC236}">
                      <a16:creationId xmlns:a16="http://schemas.microsoft.com/office/drawing/2014/main" id="{A3E53FA8-C5D6-E3FE-8A5E-CF95E391202D}"/>
                    </a:ext>
                  </a:extLst>
                </p:cNvPr>
                <p:cNvSpPr>
                  <a:spLocks noChangeArrowheads="1"/>
                </p:cNvSpPr>
                <p:nvPr/>
              </p:nvSpPr>
              <p:spPr bwMode="auto">
                <a:xfrm>
                  <a:off x="582"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0" name="Rectangle 116">
                  <a:extLst>
                    <a:ext uri="{FF2B5EF4-FFF2-40B4-BE49-F238E27FC236}">
                      <a16:creationId xmlns:a16="http://schemas.microsoft.com/office/drawing/2014/main" id="{C4956E08-67B2-ACC4-01DE-3B722CBC506B}"/>
                    </a:ext>
                  </a:extLst>
                </p:cNvPr>
                <p:cNvSpPr>
                  <a:spLocks noChangeArrowheads="1"/>
                </p:cNvSpPr>
                <p:nvPr/>
              </p:nvSpPr>
              <p:spPr bwMode="auto">
                <a:xfrm>
                  <a:off x="587" y="184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1" name="Rectangle 117">
                  <a:extLst>
                    <a:ext uri="{FF2B5EF4-FFF2-40B4-BE49-F238E27FC236}">
                      <a16:creationId xmlns:a16="http://schemas.microsoft.com/office/drawing/2014/main" id="{EE539278-18E2-70AB-C739-5EE9811CCB0C}"/>
                    </a:ext>
                  </a:extLst>
                </p:cNvPr>
                <p:cNvSpPr>
                  <a:spLocks noChangeArrowheads="1"/>
                </p:cNvSpPr>
                <p:nvPr/>
              </p:nvSpPr>
              <p:spPr bwMode="auto">
                <a:xfrm>
                  <a:off x="1157"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2" name="Rectangle 118">
                  <a:extLst>
                    <a:ext uri="{FF2B5EF4-FFF2-40B4-BE49-F238E27FC236}">
                      <a16:creationId xmlns:a16="http://schemas.microsoft.com/office/drawing/2014/main" id="{F9614183-DDBF-EEE8-F695-32D9F3DD7A6D}"/>
                    </a:ext>
                  </a:extLst>
                </p:cNvPr>
                <p:cNvSpPr>
                  <a:spLocks noChangeArrowheads="1"/>
                </p:cNvSpPr>
                <p:nvPr/>
              </p:nvSpPr>
              <p:spPr bwMode="auto">
                <a:xfrm>
                  <a:off x="1163"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3" name="Rectangle 119">
                  <a:extLst>
                    <a:ext uri="{FF2B5EF4-FFF2-40B4-BE49-F238E27FC236}">
                      <a16:creationId xmlns:a16="http://schemas.microsoft.com/office/drawing/2014/main" id="{04ACD105-22AA-C652-C641-99ABF63C8DF9}"/>
                    </a:ext>
                  </a:extLst>
                </p:cNvPr>
                <p:cNvSpPr>
                  <a:spLocks noChangeArrowheads="1"/>
                </p:cNvSpPr>
                <p:nvPr/>
              </p:nvSpPr>
              <p:spPr bwMode="auto">
                <a:xfrm>
                  <a:off x="1564"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4" name="Rectangle 120">
                  <a:extLst>
                    <a:ext uri="{FF2B5EF4-FFF2-40B4-BE49-F238E27FC236}">
                      <a16:creationId xmlns:a16="http://schemas.microsoft.com/office/drawing/2014/main" id="{D08FC182-03A4-3D4F-C69D-BBE68C22D87D}"/>
                    </a:ext>
                  </a:extLst>
                </p:cNvPr>
                <p:cNvSpPr>
                  <a:spLocks noChangeArrowheads="1"/>
                </p:cNvSpPr>
                <p:nvPr/>
              </p:nvSpPr>
              <p:spPr bwMode="auto">
                <a:xfrm>
                  <a:off x="1570" y="184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5" name="Rectangle 121">
                  <a:extLst>
                    <a:ext uri="{FF2B5EF4-FFF2-40B4-BE49-F238E27FC236}">
                      <a16:creationId xmlns:a16="http://schemas.microsoft.com/office/drawing/2014/main" id="{B921F3CA-2665-E366-5480-195C3B8F243A}"/>
                    </a:ext>
                  </a:extLst>
                </p:cNvPr>
                <p:cNvSpPr>
                  <a:spLocks noChangeArrowheads="1"/>
                </p:cNvSpPr>
                <p:nvPr/>
              </p:nvSpPr>
              <p:spPr bwMode="auto">
                <a:xfrm>
                  <a:off x="1987"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6" name="Rectangle 122">
                  <a:extLst>
                    <a:ext uri="{FF2B5EF4-FFF2-40B4-BE49-F238E27FC236}">
                      <a16:creationId xmlns:a16="http://schemas.microsoft.com/office/drawing/2014/main" id="{0C84B396-9CFE-E95E-5C9A-C496CE0C0DC7}"/>
                    </a:ext>
                  </a:extLst>
                </p:cNvPr>
                <p:cNvSpPr>
                  <a:spLocks noChangeArrowheads="1"/>
                </p:cNvSpPr>
                <p:nvPr/>
              </p:nvSpPr>
              <p:spPr bwMode="auto">
                <a:xfrm>
                  <a:off x="1993" y="184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7" name="Rectangle 123">
                  <a:extLst>
                    <a:ext uri="{FF2B5EF4-FFF2-40B4-BE49-F238E27FC236}">
                      <a16:creationId xmlns:a16="http://schemas.microsoft.com/office/drawing/2014/main" id="{466AF08E-E1F4-166C-4FF5-BECACE829E94}"/>
                    </a:ext>
                  </a:extLst>
                </p:cNvPr>
                <p:cNvSpPr>
                  <a:spLocks noChangeArrowheads="1"/>
                </p:cNvSpPr>
                <p:nvPr/>
              </p:nvSpPr>
              <p:spPr bwMode="auto">
                <a:xfrm>
                  <a:off x="2378"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8" name="Rectangle 124">
                  <a:extLst>
                    <a:ext uri="{FF2B5EF4-FFF2-40B4-BE49-F238E27FC236}">
                      <a16:creationId xmlns:a16="http://schemas.microsoft.com/office/drawing/2014/main" id="{50A13910-5F49-2024-170D-3DEADD94BE2C}"/>
                    </a:ext>
                  </a:extLst>
                </p:cNvPr>
                <p:cNvSpPr>
                  <a:spLocks noChangeArrowheads="1"/>
                </p:cNvSpPr>
                <p:nvPr/>
              </p:nvSpPr>
              <p:spPr bwMode="auto">
                <a:xfrm>
                  <a:off x="2384"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9" name="Rectangle 125">
                  <a:extLst>
                    <a:ext uri="{FF2B5EF4-FFF2-40B4-BE49-F238E27FC236}">
                      <a16:creationId xmlns:a16="http://schemas.microsoft.com/office/drawing/2014/main" id="{3A200F1E-3C11-0233-F653-22DCE7F411E4}"/>
                    </a:ext>
                  </a:extLst>
                </p:cNvPr>
                <p:cNvSpPr>
                  <a:spLocks noChangeArrowheads="1"/>
                </p:cNvSpPr>
                <p:nvPr/>
              </p:nvSpPr>
              <p:spPr bwMode="auto">
                <a:xfrm>
                  <a:off x="2785"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0" name="Rectangle 126">
                  <a:extLst>
                    <a:ext uri="{FF2B5EF4-FFF2-40B4-BE49-F238E27FC236}">
                      <a16:creationId xmlns:a16="http://schemas.microsoft.com/office/drawing/2014/main" id="{765543C0-B618-411B-B2E4-FED5D7AEC999}"/>
                    </a:ext>
                  </a:extLst>
                </p:cNvPr>
                <p:cNvSpPr>
                  <a:spLocks noChangeArrowheads="1"/>
                </p:cNvSpPr>
                <p:nvPr/>
              </p:nvSpPr>
              <p:spPr bwMode="auto">
                <a:xfrm>
                  <a:off x="2791"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1" name="Rectangle 127">
                  <a:extLst>
                    <a:ext uri="{FF2B5EF4-FFF2-40B4-BE49-F238E27FC236}">
                      <a16:creationId xmlns:a16="http://schemas.microsoft.com/office/drawing/2014/main" id="{900F33CE-948C-0299-F6C3-50074F0DBB20}"/>
                    </a:ext>
                  </a:extLst>
                </p:cNvPr>
                <p:cNvSpPr>
                  <a:spLocks noChangeArrowheads="1"/>
                </p:cNvSpPr>
                <p:nvPr/>
              </p:nvSpPr>
              <p:spPr bwMode="auto">
                <a:xfrm>
                  <a:off x="3192"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2" name="Rectangle 128">
                  <a:extLst>
                    <a:ext uri="{FF2B5EF4-FFF2-40B4-BE49-F238E27FC236}">
                      <a16:creationId xmlns:a16="http://schemas.microsoft.com/office/drawing/2014/main" id="{5F11DA03-1754-5192-79DB-14CF7CC6B897}"/>
                    </a:ext>
                  </a:extLst>
                </p:cNvPr>
                <p:cNvSpPr>
                  <a:spLocks noChangeArrowheads="1"/>
                </p:cNvSpPr>
                <p:nvPr/>
              </p:nvSpPr>
              <p:spPr bwMode="auto">
                <a:xfrm>
                  <a:off x="3198"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3" name="Rectangle 129">
                  <a:extLst>
                    <a:ext uri="{FF2B5EF4-FFF2-40B4-BE49-F238E27FC236}">
                      <a16:creationId xmlns:a16="http://schemas.microsoft.com/office/drawing/2014/main" id="{86FBF142-7368-607C-51C3-F72B18A8A0F6}"/>
                    </a:ext>
                  </a:extLst>
                </p:cNvPr>
                <p:cNvSpPr>
                  <a:spLocks noChangeArrowheads="1"/>
                </p:cNvSpPr>
                <p:nvPr/>
              </p:nvSpPr>
              <p:spPr bwMode="auto">
                <a:xfrm>
                  <a:off x="3599"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4" name="Rectangle 130">
                  <a:extLst>
                    <a:ext uri="{FF2B5EF4-FFF2-40B4-BE49-F238E27FC236}">
                      <a16:creationId xmlns:a16="http://schemas.microsoft.com/office/drawing/2014/main" id="{0A112840-1142-6FFF-7514-3ADFE6FACD22}"/>
                    </a:ext>
                  </a:extLst>
                </p:cNvPr>
                <p:cNvSpPr>
                  <a:spLocks noChangeArrowheads="1"/>
                </p:cNvSpPr>
                <p:nvPr/>
              </p:nvSpPr>
              <p:spPr bwMode="auto">
                <a:xfrm>
                  <a:off x="3605" y="184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5" name="Rectangle 131">
                  <a:extLst>
                    <a:ext uri="{FF2B5EF4-FFF2-40B4-BE49-F238E27FC236}">
                      <a16:creationId xmlns:a16="http://schemas.microsoft.com/office/drawing/2014/main" id="{21194FBD-A468-0F5E-A144-77D4CD15E212}"/>
                    </a:ext>
                  </a:extLst>
                </p:cNvPr>
                <p:cNvSpPr>
                  <a:spLocks noChangeArrowheads="1"/>
                </p:cNvSpPr>
                <p:nvPr/>
              </p:nvSpPr>
              <p:spPr bwMode="auto">
                <a:xfrm>
                  <a:off x="4004"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6" name="Rectangle 132">
                  <a:extLst>
                    <a:ext uri="{FF2B5EF4-FFF2-40B4-BE49-F238E27FC236}">
                      <a16:creationId xmlns:a16="http://schemas.microsoft.com/office/drawing/2014/main" id="{80FF1817-0307-6830-5BD9-5C44C818DD9B}"/>
                    </a:ext>
                  </a:extLst>
                </p:cNvPr>
                <p:cNvSpPr>
                  <a:spLocks noChangeArrowheads="1"/>
                </p:cNvSpPr>
                <p:nvPr/>
              </p:nvSpPr>
              <p:spPr bwMode="auto">
                <a:xfrm>
                  <a:off x="4010"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7" name="Rectangle 133">
                  <a:extLst>
                    <a:ext uri="{FF2B5EF4-FFF2-40B4-BE49-F238E27FC236}">
                      <a16:creationId xmlns:a16="http://schemas.microsoft.com/office/drawing/2014/main" id="{2DAA2606-7C40-BE93-A7B2-6DB7A3C264A0}"/>
                    </a:ext>
                  </a:extLst>
                </p:cNvPr>
                <p:cNvSpPr>
                  <a:spLocks noChangeArrowheads="1"/>
                </p:cNvSpPr>
                <p:nvPr/>
              </p:nvSpPr>
              <p:spPr bwMode="auto">
                <a:xfrm>
                  <a:off x="4411"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8" name="Rectangle 134">
                  <a:extLst>
                    <a:ext uri="{FF2B5EF4-FFF2-40B4-BE49-F238E27FC236}">
                      <a16:creationId xmlns:a16="http://schemas.microsoft.com/office/drawing/2014/main" id="{F376F8BA-4C91-2D0F-7AA6-AAC3E4BC02D2}"/>
                    </a:ext>
                  </a:extLst>
                </p:cNvPr>
                <p:cNvSpPr>
                  <a:spLocks noChangeArrowheads="1"/>
                </p:cNvSpPr>
                <p:nvPr/>
              </p:nvSpPr>
              <p:spPr bwMode="auto">
                <a:xfrm>
                  <a:off x="4417"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9" name="Rectangle 135">
                  <a:extLst>
                    <a:ext uri="{FF2B5EF4-FFF2-40B4-BE49-F238E27FC236}">
                      <a16:creationId xmlns:a16="http://schemas.microsoft.com/office/drawing/2014/main" id="{0EA475FD-AA0B-1724-7656-E7625903E89E}"/>
                    </a:ext>
                  </a:extLst>
                </p:cNvPr>
                <p:cNvSpPr>
                  <a:spLocks noChangeArrowheads="1"/>
                </p:cNvSpPr>
                <p:nvPr/>
              </p:nvSpPr>
              <p:spPr bwMode="auto">
                <a:xfrm>
                  <a:off x="4818"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0" name="Rectangle 136">
                  <a:extLst>
                    <a:ext uri="{FF2B5EF4-FFF2-40B4-BE49-F238E27FC236}">
                      <a16:creationId xmlns:a16="http://schemas.microsoft.com/office/drawing/2014/main" id="{387A2258-7778-F3A2-CC3B-70FA9CE9F491}"/>
                    </a:ext>
                  </a:extLst>
                </p:cNvPr>
                <p:cNvSpPr>
                  <a:spLocks noChangeArrowheads="1"/>
                </p:cNvSpPr>
                <p:nvPr/>
              </p:nvSpPr>
              <p:spPr bwMode="auto">
                <a:xfrm>
                  <a:off x="4824" y="184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1" name="Rectangle 137">
                  <a:extLst>
                    <a:ext uri="{FF2B5EF4-FFF2-40B4-BE49-F238E27FC236}">
                      <a16:creationId xmlns:a16="http://schemas.microsoft.com/office/drawing/2014/main" id="{463829AF-F783-C790-675E-7D45B19E8A71}"/>
                    </a:ext>
                  </a:extLst>
                </p:cNvPr>
                <p:cNvSpPr>
                  <a:spLocks noChangeArrowheads="1"/>
                </p:cNvSpPr>
                <p:nvPr/>
              </p:nvSpPr>
              <p:spPr bwMode="auto">
                <a:xfrm>
                  <a:off x="5225" y="184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2" name="Rectangle 138">
                  <a:extLst>
                    <a:ext uri="{FF2B5EF4-FFF2-40B4-BE49-F238E27FC236}">
                      <a16:creationId xmlns:a16="http://schemas.microsoft.com/office/drawing/2014/main" id="{6664F60C-C863-EE99-9292-B2AAFB38548E}"/>
                    </a:ext>
                  </a:extLst>
                </p:cNvPr>
                <p:cNvSpPr>
                  <a:spLocks noChangeArrowheads="1"/>
                </p:cNvSpPr>
                <p:nvPr/>
              </p:nvSpPr>
              <p:spPr bwMode="auto">
                <a:xfrm>
                  <a:off x="346"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3" name="Rectangle 139">
                  <a:extLst>
                    <a:ext uri="{FF2B5EF4-FFF2-40B4-BE49-F238E27FC236}">
                      <a16:creationId xmlns:a16="http://schemas.microsoft.com/office/drawing/2014/main" id="{F4F43D1D-9204-167A-8C6C-13347C8820BE}"/>
                    </a:ext>
                  </a:extLst>
                </p:cNvPr>
                <p:cNvSpPr>
                  <a:spLocks noChangeArrowheads="1"/>
                </p:cNvSpPr>
                <p:nvPr/>
              </p:nvSpPr>
              <p:spPr bwMode="auto">
                <a:xfrm>
                  <a:off x="582"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4" name="Rectangle 140">
                  <a:extLst>
                    <a:ext uri="{FF2B5EF4-FFF2-40B4-BE49-F238E27FC236}">
                      <a16:creationId xmlns:a16="http://schemas.microsoft.com/office/drawing/2014/main" id="{D1A6A970-488A-B121-2247-ED0A64E421EC}"/>
                    </a:ext>
                  </a:extLst>
                </p:cNvPr>
                <p:cNvSpPr>
                  <a:spLocks noChangeArrowheads="1"/>
                </p:cNvSpPr>
                <p:nvPr/>
              </p:nvSpPr>
              <p:spPr bwMode="auto">
                <a:xfrm>
                  <a:off x="1157"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5" name="Rectangle 141">
                  <a:extLst>
                    <a:ext uri="{FF2B5EF4-FFF2-40B4-BE49-F238E27FC236}">
                      <a16:creationId xmlns:a16="http://schemas.microsoft.com/office/drawing/2014/main" id="{251BDC1F-F6E8-2325-C6F6-57D125D8B1DB}"/>
                    </a:ext>
                  </a:extLst>
                </p:cNvPr>
                <p:cNvSpPr>
                  <a:spLocks noChangeArrowheads="1"/>
                </p:cNvSpPr>
                <p:nvPr/>
              </p:nvSpPr>
              <p:spPr bwMode="auto">
                <a:xfrm>
                  <a:off x="1564"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6" name="Rectangle 142">
                  <a:extLst>
                    <a:ext uri="{FF2B5EF4-FFF2-40B4-BE49-F238E27FC236}">
                      <a16:creationId xmlns:a16="http://schemas.microsoft.com/office/drawing/2014/main" id="{7B4F7DB4-74E8-2CAD-8A44-1C66649BB046}"/>
                    </a:ext>
                  </a:extLst>
                </p:cNvPr>
                <p:cNvSpPr>
                  <a:spLocks noChangeArrowheads="1"/>
                </p:cNvSpPr>
                <p:nvPr/>
              </p:nvSpPr>
              <p:spPr bwMode="auto">
                <a:xfrm>
                  <a:off x="1987"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7" name="Rectangle 143">
                  <a:extLst>
                    <a:ext uri="{FF2B5EF4-FFF2-40B4-BE49-F238E27FC236}">
                      <a16:creationId xmlns:a16="http://schemas.microsoft.com/office/drawing/2014/main" id="{1E1BCBFE-E9A1-A0AB-B3B3-51D306C79994}"/>
                    </a:ext>
                  </a:extLst>
                </p:cNvPr>
                <p:cNvSpPr>
                  <a:spLocks noChangeArrowheads="1"/>
                </p:cNvSpPr>
                <p:nvPr/>
              </p:nvSpPr>
              <p:spPr bwMode="auto">
                <a:xfrm>
                  <a:off x="2378"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8" name="Rectangle 144">
                  <a:extLst>
                    <a:ext uri="{FF2B5EF4-FFF2-40B4-BE49-F238E27FC236}">
                      <a16:creationId xmlns:a16="http://schemas.microsoft.com/office/drawing/2014/main" id="{4EB8F096-ECEA-3A03-0B08-FD4F515F170A}"/>
                    </a:ext>
                  </a:extLst>
                </p:cNvPr>
                <p:cNvSpPr>
                  <a:spLocks noChangeArrowheads="1"/>
                </p:cNvSpPr>
                <p:nvPr/>
              </p:nvSpPr>
              <p:spPr bwMode="auto">
                <a:xfrm>
                  <a:off x="2785"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9" name="Rectangle 145">
                  <a:extLst>
                    <a:ext uri="{FF2B5EF4-FFF2-40B4-BE49-F238E27FC236}">
                      <a16:creationId xmlns:a16="http://schemas.microsoft.com/office/drawing/2014/main" id="{8AD6C71D-50C4-3A93-E1C2-6308C76DECC5}"/>
                    </a:ext>
                  </a:extLst>
                </p:cNvPr>
                <p:cNvSpPr>
                  <a:spLocks noChangeArrowheads="1"/>
                </p:cNvSpPr>
                <p:nvPr/>
              </p:nvSpPr>
              <p:spPr bwMode="auto">
                <a:xfrm>
                  <a:off x="3192"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0" name="Rectangle 146">
                  <a:extLst>
                    <a:ext uri="{FF2B5EF4-FFF2-40B4-BE49-F238E27FC236}">
                      <a16:creationId xmlns:a16="http://schemas.microsoft.com/office/drawing/2014/main" id="{1CA556FB-988F-E27E-EC46-4C52424B54FA}"/>
                    </a:ext>
                  </a:extLst>
                </p:cNvPr>
                <p:cNvSpPr>
                  <a:spLocks noChangeArrowheads="1"/>
                </p:cNvSpPr>
                <p:nvPr/>
              </p:nvSpPr>
              <p:spPr bwMode="auto">
                <a:xfrm>
                  <a:off x="3599"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1" name="Rectangle 147">
                  <a:extLst>
                    <a:ext uri="{FF2B5EF4-FFF2-40B4-BE49-F238E27FC236}">
                      <a16:creationId xmlns:a16="http://schemas.microsoft.com/office/drawing/2014/main" id="{194AD215-297B-6132-9508-1581D2F77D2F}"/>
                    </a:ext>
                  </a:extLst>
                </p:cNvPr>
                <p:cNvSpPr>
                  <a:spLocks noChangeArrowheads="1"/>
                </p:cNvSpPr>
                <p:nvPr/>
              </p:nvSpPr>
              <p:spPr bwMode="auto">
                <a:xfrm>
                  <a:off x="4004"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2" name="Rectangle 148">
                  <a:extLst>
                    <a:ext uri="{FF2B5EF4-FFF2-40B4-BE49-F238E27FC236}">
                      <a16:creationId xmlns:a16="http://schemas.microsoft.com/office/drawing/2014/main" id="{AD35A7D0-4C4B-5CCF-1ADD-A475849CE073}"/>
                    </a:ext>
                  </a:extLst>
                </p:cNvPr>
                <p:cNvSpPr>
                  <a:spLocks noChangeArrowheads="1"/>
                </p:cNvSpPr>
                <p:nvPr/>
              </p:nvSpPr>
              <p:spPr bwMode="auto">
                <a:xfrm>
                  <a:off x="4411"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3" name="Rectangle 149">
                  <a:extLst>
                    <a:ext uri="{FF2B5EF4-FFF2-40B4-BE49-F238E27FC236}">
                      <a16:creationId xmlns:a16="http://schemas.microsoft.com/office/drawing/2014/main" id="{61DF3A50-F23D-0424-4DC0-6FBBD69925D9}"/>
                    </a:ext>
                  </a:extLst>
                </p:cNvPr>
                <p:cNvSpPr>
                  <a:spLocks noChangeArrowheads="1"/>
                </p:cNvSpPr>
                <p:nvPr/>
              </p:nvSpPr>
              <p:spPr bwMode="auto">
                <a:xfrm>
                  <a:off x="4818"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4" name="Rectangle 150">
                  <a:extLst>
                    <a:ext uri="{FF2B5EF4-FFF2-40B4-BE49-F238E27FC236}">
                      <a16:creationId xmlns:a16="http://schemas.microsoft.com/office/drawing/2014/main" id="{21C07EAA-0675-54A4-6096-2C337D8B75DE}"/>
                    </a:ext>
                  </a:extLst>
                </p:cNvPr>
                <p:cNvSpPr>
                  <a:spLocks noChangeArrowheads="1"/>
                </p:cNvSpPr>
                <p:nvPr/>
              </p:nvSpPr>
              <p:spPr bwMode="auto">
                <a:xfrm>
                  <a:off x="5225" y="18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5" name="Rectangle 151">
                  <a:extLst>
                    <a:ext uri="{FF2B5EF4-FFF2-40B4-BE49-F238E27FC236}">
                      <a16:creationId xmlns:a16="http://schemas.microsoft.com/office/drawing/2014/main" id="{CFAA43BE-CF62-C4E1-4508-FBCFBD72D835}"/>
                    </a:ext>
                  </a:extLst>
                </p:cNvPr>
                <p:cNvSpPr>
                  <a:spLocks noChangeArrowheads="1"/>
                </p:cNvSpPr>
                <p:nvPr/>
              </p:nvSpPr>
              <p:spPr bwMode="auto">
                <a:xfrm>
                  <a:off x="393" y="185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a:t>
                  </a:r>
                </a:p>
              </p:txBody>
            </p:sp>
            <p:sp>
              <p:nvSpPr>
                <p:cNvPr id="176" name="Rectangle 152">
                  <a:extLst>
                    <a:ext uri="{FF2B5EF4-FFF2-40B4-BE49-F238E27FC236}">
                      <a16:creationId xmlns:a16="http://schemas.microsoft.com/office/drawing/2014/main" id="{09F34CBB-8C32-23D0-9ADE-201F0D9C63BB}"/>
                    </a:ext>
                  </a:extLst>
                </p:cNvPr>
                <p:cNvSpPr>
                  <a:spLocks noChangeArrowheads="1"/>
                </p:cNvSpPr>
                <p:nvPr/>
              </p:nvSpPr>
              <p:spPr bwMode="auto">
                <a:xfrm>
                  <a:off x="681" y="1856"/>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OBR-030</a:t>
                  </a:r>
                </a:p>
              </p:txBody>
            </p:sp>
            <p:sp>
              <p:nvSpPr>
                <p:cNvPr id="177" name="Rectangle 153">
                  <a:extLst>
                    <a:ext uri="{FF2B5EF4-FFF2-40B4-BE49-F238E27FC236}">
                      <a16:creationId xmlns:a16="http://schemas.microsoft.com/office/drawing/2014/main" id="{93761FA6-419F-B74C-85C1-D1FBF6E54204}"/>
                    </a:ext>
                  </a:extLst>
                </p:cNvPr>
                <p:cNvSpPr>
                  <a:spLocks noChangeArrowheads="1"/>
                </p:cNvSpPr>
                <p:nvPr/>
              </p:nvSpPr>
              <p:spPr bwMode="auto">
                <a:xfrm>
                  <a:off x="1255" y="1856"/>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288</a:t>
                  </a:r>
                </a:p>
              </p:txBody>
            </p:sp>
            <p:sp>
              <p:nvSpPr>
                <p:cNvPr id="178" name="Rectangle 154">
                  <a:extLst>
                    <a:ext uri="{FF2B5EF4-FFF2-40B4-BE49-F238E27FC236}">
                      <a16:creationId xmlns:a16="http://schemas.microsoft.com/office/drawing/2014/main" id="{D6077ED8-79AA-09E2-26A4-C3FADBA681C9}"/>
                    </a:ext>
                  </a:extLst>
                </p:cNvPr>
                <p:cNvSpPr>
                  <a:spLocks noChangeArrowheads="1"/>
                </p:cNvSpPr>
                <p:nvPr/>
              </p:nvSpPr>
              <p:spPr bwMode="auto">
                <a:xfrm>
                  <a:off x="1687" y="185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24</a:t>
                  </a:r>
                </a:p>
              </p:txBody>
            </p:sp>
            <p:sp>
              <p:nvSpPr>
                <p:cNvPr id="179" name="Rectangle 155">
                  <a:extLst>
                    <a:ext uri="{FF2B5EF4-FFF2-40B4-BE49-F238E27FC236}">
                      <a16:creationId xmlns:a16="http://schemas.microsoft.com/office/drawing/2014/main" id="{49A5771E-DEBA-99E4-A3DA-8D3AFC8E9838}"/>
                    </a:ext>
                  </a:extLst>
                </p:cNvPr>
                <p:cNvSpPr>
                  <a:spLocks noChangeArrowheads="1"/>
                </p:cNvSpPr>
                <p:nvPr/>
              </p:nvSpPr>
              <p:spPr bwMode="auto">
                <a:xfrm>
                  <a:off x="2079"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0" name="Rectangle 156">
                  <a:extLst>
                    <a:ext uri="{FF2B5EF4-FFF2-40B4-BE49-F238E27FC236}">
                      <a16:creationId xmlns:a16="http://schemas.microsoft.com/office/drawing/2014/main" id="{250D48D4-1155-D08A-7FF7-D9105EF13418}"/>
                    </a:ext>
                  </a:extLst>
                </p:cNvPr>
                <p:cNvSpPr>
                  <a:spLocks noChangeArrowheads="1"/>
                </p:cNvSpPr>
                <p:nvPr/>
              </p:nvSpPr>
              <p:spPr bwMode="auto">
                <a:xfrm>
                  <a:off x="2478" y="1833"/>
                  <a:ext cx="202"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1" name="Rectangle 157">
                  <a:extLst>
                    <a:ext uri="{FF2B5EF4-FFF2-40B4-BE49-F238E27FC236}">
                      <a16:creationId xmlns:a16="http://schemas.microsoft.com/office/drawing/2014/main" id="{9CF6663C-B546-758D-9785-FDA0AADF21AC}"/>
                    </a:ext>
                  </a:extLst>
                </p:cNvPr>
                <p:cNvSpPr>
                  <a:spLocks noChangeArrowheads="1"/>
                </p:cNvSpPr>
                <p:nvPr/>
              </p:nvSpPr>
              <p:spPr bwMode="auto">
                <a:xfrm>
                  <a:off x="2883"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182" name="Rectangle 158">
                  <a:extLst>
                    <a:ext uri="{FF2B5EF4-FFF2-40B4-BE49-F238E27FC236}">
                      <a16:creationId xmlns:a16="http://schemas.microsoft.com/office/drawing/2014/main" id="{0647AE21-4215-2375-10DF-264EF8C0A1A4}"/>
                    </a:ext>
                  </a:extLst>
                </p:cNvPr>
                <p:cNvSpPr>
                  <a:spLocks noChangeArrowheads="1"/>
                </p:cNvSpPr>
                <p:nvPr/>
              </p:nvSpPr>
              <p:spPr bwMode="auto">
                <a:xfrm>
                  <a:off x="3697"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3" name="Rectangle 159">
                  <a:extLst>
                    <a:ext uri="{FF2B5EF4-FFF2-40B4-BE49-F238E27FC236}">
                      <a16:creationId xmlns:a16="http://schemas.microsoft.com/office/drawing/2014/main" id="{89D1265A-2731-07DA-9D38-CDE516580825}"/>
                    </a:ext>
                  </a:extLst>
                </p:cNvPr>
                <p:cNvSpPr>
                  <a:spLocks noChangeArrowheads="1"/>
                </p:cNvSpPr>
                <p:nvPr/>
              </p:nvSpPr>
              <p:spPr bwMode="auto">
                <a:xfrm>
                  <a:off x="4511"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4" name="Rectangle 160">
                  <a:extLst>
                    <a:ext uri="{FF2B5EF4-FFF2-40B4-BE49-F238E27FC236}">
                      <a16:creationId xmlns:a16="http://schemas.microsoft.com/office/drawing/2014/main" id="{03E08E1F-FDF6-2F08-F6BC-CCB1D954BECA}"/>
                    </a:ext>
                  </a:extLst>
                </p:cNvPr>
                <p:cNvSpPr>
                  <a:spLocks noChangeArrowheads="1"/>
                </p:cNvSpPr>
                <p:nvPr/>
              </p:nvSpPr>
              <p:spPr bwMode="auto">
                <a:xfrm>
                  <a:off x="4918" y="183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185" name="Rectangle 161">
                  <a:extLst>
                    <a:ext uri="{FF2B5EF4-FFF2-40B4-BE49-F238E27FC236}">
                      <a16:creationId xmlns:a16="http://schemas.microsoft.com/office/drawing/2014/main" id="{E1B25D66-30DB-EC0E-968F-0718829C3532}"/>
                    </a:ext>
                  </a:extLst>
                </p:cNvPr>
                <p:cNvSpPr>
                  <a:spLocks noChangeArrowheads="1"/>
                </p:cNvSpPr>
                <p:nvPr/>
              </p:nvSpPr>
              <p:spPr bwMode="auto">
                <a:xfrm>
                  <a:off x="346"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6" name="Rectangle 162">
                  <a:extLst>
                    <a:ext uri="{FF2B5EF4-FFF2-40B4-BE49-F238E27FC236}">
                      <a16:creationId xmlns:a16="http://schemas.microsoft.com/office/drawing/2014/main" id="{C3102585-0CA8-6E0A-9B3A-D5DB55B95970}"/>
                    </a:ext>
                  </a:extLst>
                </p:cNvPr>
                <p:cNvSpPr>
                  <a:spLocks noChangeArrowheads="1"/>
                </p:cNvSpPr>
                <p:nvPr/>
              </p:nvSpPr>
              <p:spPr bwMode="auto">
                <a:xfrm>
                  <a:off x="351" y="199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7" name="Rectangle 163">
                  <a:extLst>
                    <a:ext uri="{FF2B5EF4-FFF2-40B4-BE49-F238E27FC236}">
                      <a16:creationId xmlns:a16="http://schemas.microsoft.com/office/drawing/2014/main" id="{F92FDF08-097E-AB0A-53E4-15FC2BFEBB7E}"/>
                    </a:ext>
                  </a:extLst>
                </p:cNvPr>
                <p:cNvSpPr>
                  <a:spLocks noChangeArrowheads="1"/>
                </p:cNvSpPr>
                <p:nvPr/>
              </p:nvSpPr>
              <p:spPr bwMode="auto">
                <a:xfrm>
                  <a:off x="582"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8" name="Rectangle 164">
                  <a:extLst>
                    <a:ext uri="{FF2B5EF4-FFF2-40B4-BE49-F238E27FC236}">
                      <a16:creationId xmlns:a16="http://schemas.microsoft.com/office/drawing/2014/main" id="{C9430574-C042-5773-80FB-3654EF9AFF9B}"/>
                    </a:ext>
                  </a:extLst>
                </p:cNvPr>
                <p:cNvSpPr>
                  <a:spLocks noChangeArrowheads="1"/>
                </p:cNvSpPr>
                <p:nvPr/>
              </p:nvSpPr>
              <p:spPr bwMode="auto">
                <a:xfrm>
                  <a:off x="587" y="199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9" name="Rectangle 165">
                  <a:extLst>
                    <a:ext uri="{FF2B5EF4-FFF2-40B4-BE49-F238E27FC236}">
                      <a16:creationId xmlns:a16="http://schemas.microsoft.com/office/drawing/2014/main" id="{5E72DFE2-0E4D-7618-742E-A2F92C46EBEA}"/>
                    </a:ext>
                  </a:extLst>
                </p:cNvPr>
                <p:cNvSpPr>
                  <a:spLocks noChangeArrowheads="1"/>
                </p:cNvSpPr>
                <p:nvPr/>
              </p:nvSpPr>
              <p:spPr bwMode="auto">
                <a:xfrm>
                  <a:off x="1157"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0" name="Rectangle 166">
                  <a:extLst>
                    <a:ext uri="{FF2B5EF4-FFF2-40B4-BE49-F238E27FC236}">
                      <a16:creationId xmlns:a16="http://schemas.microsoft.com/office/drawing/2014/main" id="{9703BEA7-1C0F-7DC7-ADE0-AAD649DEF699}"/>
                    </a:ext>
                  </a:extLst>
                </p:cNvPr>
                <p:cNvSpPr>
                  <a:spLocks noChangeArrowheads="1"/>
                </p:cNvSpPr>
                <p:nvPr/>
              </p:nvSpPr>
              <p:spPr bwMode="auto">
                <a:xfrm>
                  <a:off x="1163"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1" name="Rectangle 167">
                  <a:extLst>
                    <a:ext uri="{FF2B5EF4-FFF2-40B4-BE49-F238E27FC236}">
                      <a16:creationId xmlns:a16="http://schemas.microsoft.com/office/drawing/2014/main" id="{E32614A9-C24A-1634-3577-85792BF177BF}"/>
                    </a:ext>
                  </a:extLst>
                </p:cNvPr>
                <p:cNvSpPr>
                  <a:spLocks noChangeArrowheads="1"/>
                </p:cNvSpPr>
                <p:nvPr/>
              </p:nvSpPr>
              <p:spPr bwMode="auto">
                <a:xfrm>
                  <a:off x="1564"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2" name="Rectangle 168">
                  <a:extLst>
                    <a:ext uri="{FF2B5EF4-FFF2-40B4-BE49-F238E27FC236}">
                      <a16:creationId xmlns:a16="http://schemas.microsoft.com/office/drawing/2014/main" id="{DB6F32F0-751C-3928-6756-EFAAFB1BA55F}"/>
                    </a:ext>
                  </a:extLst>
                </p:cNvPr>
                <p:cNvSpPr>
                  <a:spLocks noChangeArrowheads="1"/>
                </p:cNvSpPr>
                <p:nvPr/>
              </p:nvSpPr>
              <p:spPr bwMode="auto">
                <a:xfrm>
                  <a:off x="1570" y="199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3" name="Rectangle 169">
                  <a:extLst>
                    <a:ext uri="{FF2B5EF4-FFF2-40B4-BE49-F238E27FC236}">
                      <a16:creationId xmlns:a16="http://schemas.microsoft.com/office/drawing/2014/main" id="{9E132EFF-47B2-AA0D-E787-0EAB699155D0}"/>
                    </a:ext>
                  </a:extLst>
                </p:cNvPr>
                <p:cNvSpPr>
                  <a:spLocks noChangeArrowheads="1"/>
                </p:cNvSpPr>
                <p:nvPr/>
              </p:nvSpPr>
              <p:spPr bwMode="auto">
                <a:xfrm>
                  <a:off x="1987"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4" name="Rectangle 170">
                  <a:extLst>
                    <a:ext uri="{FF2B5EF4-FFF2-40B4-BE49-F238E27FC236}">
                      <a16:creationId xmlns:a16="http://schemas.microsoft.com/office/drawing/2014/main" id="{E562D1C0-6614-95DC-8962-86D98328EECD}"/>
                    </a:ext>
                  </a:extLst>
                </p:cNvPr>
                <p:cNvSpPr>
                  <a:spLocks noChangeArrowheads="1"/>
                </p:cNvSpPr>
                <p:nvPr/>
              </p:nvSpPr>
              <p:spPr bwMode="auto">
                <a:xfrm>
                  <a:off x="1993" y="199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5" name="Rectangle 171">
                  <a:extLst>
                    <a:ext uri="{FF2B5EF4-FFF2-40B4-BE49-F238E27FC236}">
                      <a16:creationId xmlns:a16="http://schemas.microsoft.com/office/drawing/2014/main" id="{C4D83757-50B1-EF8F-D2E6-F67184FDA10E}"/>
                    </a:ext>
                  </a:extLst>
                </p:cNvPr>
                <p:cNvSpPr>
                  <a:spLocks noChangeArrowheads="1"/>
                </p:cNvSpPr>
                <p:nvPr/>
              </p:nvSpPr>
              <p:spPr bwMode="auto">
                <a:xfrm>
                  <a:off x="2378"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6" name="Rectangle 172">
                  <a:extLst>
                    <a:ext uri="{FF2B5EF4-FFF2-40B4-BE49-F238E27FC236}">
                      <a16:creationId xmlns:a16="http://schemas.microsoft.com/office/drawing/2014/main" id="{213656FF-E667-EB5F-0DE4-EB9E0FA990DF}"/>
                    </a:ext>
                  </a:extLst>
                </p:cNvPr>
                <p:cNvSpPr>
                  <a:spLocks noChangeArrowheads="1"/>
                </p:cNvSpPr>
                <p:nvPr/>
              </p:nvSpPr>
              <p:spPr bwMode="auto">
                <a:xfrm>
                  <a:off x="2384"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7" name="Rectangle 173">
                  <a:extLst>
                    <a:ext uri="{FF2B5EF4-FFF2-40B4-BE49-F238E27FC236}">
                      <a16:creationId xmlns:a16="http://schemas.microsoft.com/office/drawing/2014/main" id="{92E7B175-2C57-DC12-B377-CDAF7A04205A}"/>
                    </a:ext>
                  </a:extLst>
                </p:cNvPr>
                <p:cNvSpPr>
                  <a:spLocks noChangeArrowheads="1"/>
                </p:cNvSpPr>
                <p:nvPr/>
              </p:nvSpPr>
              <p:spPr bwMode="auto">
                <a:xfrm>
                  <a:off x="2785"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8" name="Rectangle 174">
                  <a:extLst>
                    <a:ext uri="{FF2B5EF4-FFF2-40B4-BE49-F238E27FC236}">
                      <a16:creationId xmlns:a16="http://schemas.microsoft.com/office/drawing/2014/main" id="{8CE70186-81C3-4D7B-315E-439E76F12FD9}"/>
                    </a:ext>
                  </a:extLst>
                </p:cNvPr>
                <p:cNvSpPr>
                  <a:spLocks noChangeArrowheads="1"/>
                </p:cNvSpPr>
                <p:nvPr/>
              </p:nvSpPr>
              <p:spPr bwMode="auto">
                <a:xfrm>
                  <a:off x="2791"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9" name="Rectangle 175">
                  <a:extLst>
                    <a:ext uri="{FF2B5EF4-FFF2-40B4-BE49-F238E27FC236}">
                      <a16:creationId xmlns:a16="http://schemas.microsoft.com/office/drawing/2014/main" id="{44AB8A48-4BD7-2B33-ACFC-CBCE5B06866F}"/>
                    </a:ext>
                  </a:extLst>
                </p:cNvPr>
                <p:cNvSpPr>
                  <a:spLocks noChangeArrowheads="1"/>
                </p:cNvSpPr>
                <p:nvPr/>
              </p:nvSpPr>
              <p:spPr bwMode="auto">
                <a:xfrm>
                  <a:off x="3192"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0" name="Rectangle 176">
                  <a:extLst>
                    <a:ext uri="{FF2B5EF4-FFF2-40B4-BE49-F238E27FC236}">
                      <a16:creationId xmlns:a16="http://schemas.microsoft.com/office/drawing/2014/main" id="{CCC717FA-C6F5-7452-8C24-529870C0F88A}"/>
                    </a:ext>
                  </a:extLst>
                </p:cNvPr>
                <p:cNvSpPr>
                  <a:spLocks noChangeArrowheads="1"/>
                </p:cNvSpPr>
                <p:nvPr/>
              </p:nvSpPr>
              <p:spPr bwMode="auto">
                <a:xfrm>
                  <a:off x="3198"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1" name="Rectangle 177">
                  <a:extLst>
                    <a:ext uri="{FF2B5EF4-FFF2-40B4-BE49-F238E27FC236}">
                      <a16:creationId xmlns:a16="http://schemas.microsoft.com/office/drawing/2014/main" id="{7CB064CD-8A94-0D19-8D76-A5DD4BFD3D08}"/>
                    </a:ext>
                  </a:extLst>
                </p:cNvPr>
                <p:cNvSpPr>
                  <a:spLocks noChangeArrowheads="1"/>
                </p:cNvSpPr>
                <p:nvPr/>
              </p:nvSpPr>
              <p:spPr bwMode="auto">
                <a:xfrm>
                  <a:off x="3599"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2" name="Rectangle 178">
                  <a:extLst>
                    <a:ext uri="{FF2B5EF4-FFF2-40B4-BE49-F238E27FC236}">
                      <a16:creationId xmlns:a16="http://schemas.microsoft.com/office/drawing/2014/main" id="{A595670D-806D-8986-7547-5A679E8EBA95}"/>
                    </a:ext>
                  </a:extLst>
                </p:cNvPr>
                <p:cNvSpPr>
                  <a:spLocks noChangeArrowheads="1"/>
                </p:cNvSpPr>
                <p:nvPr/>
              </p:nvSpPr>
              <p:spPr bwMode="auto">
                <a:xfrm>
                  <a:off x="3605" y="199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3" name="Rectangle 179">
                  <a:extLst>
                    <a:ext uri="{FF2B5EF4-FFF2-40B4-BE49-F238E27FC236}">
                      <a16:creationId xmlns:a16="http://schemas.microsoft.com/office/drawing/2014/main" id="{648CC946-AE44-52AF-3C27-565B64939F23}"/>
                    </a:ext>
                  </a:extLst>
                </p:cNvPr>
                <p:cNvSpPr>
                  <a:spLocks noChangeArrowheads="1"/>
                </p:cNvSpPr>
                <p:nvPr/>
              </p:nvSpPr>
              <p:spPr bwMode="auto">
                <a:xfrm>
                  <a:off x="4004"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4" name="Rectangle 180">
                  <a:extLst>
                    <a:ext uri="{FF2B5EF4-FFF2-40B4-BE49-F238E27FC236}">
                      <a16:creationId xmlns:a16="http://schemas.microsoft.com/office/drawing/2014/main" id="{43432331-5287-FCA9-4C44-5912A7F7D058}"/>
                    </a:ext>
                  </a:extLst>
                </p:cNvPr>
                <p:cNvSpPr>
                  <a:spLocks noChangeArrowheads="1"/>
                </p:cNvSpPr>
                <p:nvPr/>
              </p:nvSpPr>
              <p:spPr bwMode="auto">
                <a:xfrm>
                  <a:off x="4010"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5" name="Rectangle 181">
                  <a:extLst>
                    <a:ext uri="{FF2B5EF4-FFF2-40B4-BE49-F238E27FC236}">
                      <a16:creationId xmlns:a16="http://schemas.microsoft.com/office/drawing/2014/main" id="{67545EBB-8168-2C69-152B-81D43320A3CF}"/>
                    </a:ext>
                  </a:extLst>
                </p:cNvPr>
                <p:cNvSpPr>
                  <a:spLocks noChangeArrowheads="1"/>
                </p:cNvSpPr>
                <p:nvPr/>
              </p:nvSpPr>
              <p:spPr bwMode="auto">
                <a:xfrm>
                  <a:off x="4411"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6" name="Rectangle 182">
                  <a:extLst>
                    <a:ext uri="{FF2B5EF4-FFF2-40B4-BE49-F238E27FC236}">
                      <a16:creationId xmlns:a16="http://schemas.microsoft.com/office/drawing/2014/main" id="{482B1F19-2F51-90EB-8BA1-B3BAF532B7A5}"/>
                    </a:ext>
                  </a:extLst>
                </p:cNvPr>
                <p:cNvSpPr>
                  <a:spLocks noChangeArrowheads="1"/>
                </p:cNvSpPr>
                <p:nvPr/>
              </p:nvSpPr>
              <p:spPr bwMode="auto">
                <a:xfrm>
                  <a:off x="4417"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7" name="Rectangle 183">
                  <a:extLst>
                    <a:ext uri="{FF2B5EF4-FFF2-40B4-BE49-F238E27FC236}">
                      <a16:creationId xmlns:a16="http://schemas.microsoft.com/office/drawing/2014/main" id="{80FAACC4-9A8C-3B99-9950-EC3442021472}"/>
                    </a:ext>
                  </a:extLst>
                </p:cNvPr>
                <p:cNvSpPr>
                  <a:spLocks noChangeArrowheads="1"/>
                </p:cNvSpPr>
                <p:nvPr/>
              </p:nvSpPr>
              <p:spPr bwMode="auto">
                <a:xfrm>
                  <a:off x="4818"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8" name="Rectangle 184">
                  <a:extLst>
                    <a:ext uri="{FF2B5EF4-FFF2-40B4-BE49-F238E27FC236}">
                      <a16:creationId xmlns:a16="http://schemas.microsoft.com/office/drawing/2014/main" id="{749FAE73-EE35-3CC5-2C85-8EBF185EB759}"/>
                    </a:ext>
                  </a:extLst>
                </p:cNvPr>
                <p:cNvSpPr>
                  <a:spLocks noChangeArrowheads="1"/>
                </p:cNvSpPr>
                <p:nvPr/>
              </p:nvSpPr>
              <p:spPr bwMode="auto">
                <a:xfrm>
                  <a:off x="4824" y="19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9" name="Rectangle 185">
                  <a:extLst>
                    <a:ext uri="{FF2B5EF4-FFF2-40B4-BE49-F238E27FC236}">
                      <a16:creationId xmlns:a16="http://schemas.microsoft.com/office/drawing/2014/main" id="{57AD2EE7-FBEE-3FD5-49C0-453A692A79C8}"/>
                    </a:ext>
                  </a:extLst>
                </p:cNvPr>
                <p:cNvSpPr>
                  <a:spLocks noChangeArrowheads="1"/>
                </p:cNvSpPr>
                <p:nvPr/>
              </p:nvSpPr>
              <p:spPr bwMode="auto">
                <a:xfrm>
                  <a:off x="5225" y="19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0" name="Rectangle 186">
                  <a:extLst>
                    <a:ext uri="{FF2B5EF4-FFF2-40B4-BE49-F238E27FC236}">
                      <a16:creationId xmlns:a16="http://schemas.microsoft.com/office/drawing/2014/main" id="{48762E7F-6026-C909-643B-ADE84F59A6EB}"/>
                    </a:ext>
                  </a:extLst>
                </p:cNvPr>
                <p:cNvSpPr>
                  <a:spLocks noChangeArrowheads="1"/>
                </p:cNvSpPr>
                <p:nvPr/>
              </p:nvSpPr>
              <p:spPr bwMode="auto">
                <a:xfrm>
                  <a:off x="346"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1" name="Rectangle 187">
                  <a:extLst>
                    <a:ext uri="{FF2B5EF4-FFF2-40B4-BE49-F238E27FC236}">
                      <a16:creationId xmlns:a16="http://schemas.microsoft.com/office/drawing/2014/main" id="{4C6122BD-C670-C0B9-37DF-62D7877768C2}"/>
                    </a:ext>
                  </a:extLst>
                </p:cNvPr>
                <p:cNvSpPr>
                  <a:spLocks noChangeArrowheads="1"/>
                </p:cNvSpPr>
                <p:nvPr/>
              </p:nvSpPr>
              <p:spPr bwMode="auto">
                <a:xfrm>
                  <a:off x="582"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2" name="Rectangle 188">
                  <a:extLst>
                    <a:ext uri="{FF2B5EF4-FFF2-40B4-BE49-F238E27FC236}">
                      <a16:creationId xmlns:a16="http://schemas.microsoft.com/office/drawing/2014/main" id="{BE3854B7-EDF5-B927-B88F-7CEC6CACF040}"/>
                    </a:ext>
                  </a:extLst>
                </p:cNvPr>
                <p:cNvSpPr>
                  <a:spLocks noChangeArrowheads="1"/>
                </p:cNvSpPr>
                <p:nvPr/>
              </p:nvSpPr>
              <p:spPr bwMode="auto">
                <a:xfrm>
                  <a:off x="1157"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3" name="Rectangle 189">
                  <a:extLst>
                    <a:ext uri="{FF2B5EF4-FFF2-40B4-BE49-F238E27FC236}">
                      <a16:creationId xmlns:a16="http://schemas.microsoft.com/office/drawing/2014/main" id="{E610FB8F-DEC9-9114-DDDB-11F47653504E}"/>
                    </a:ext>
                  </a:extLst>
                </p:cNvPr>
                <p:cNvSpPr>
                  <a:spLocks noChangeArrowheads="1"/>
                </p:cNvSpPr>
                <p:nvPr/>
              </p:nvSpPr>
              <p:spPr bwMode="auto">
                <a:xfrm>
                  <a:off x="1564"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4" name="Rectangle 190">
                  <a:extLst>
                    <a:ext uri="{FF2B5EF4-FFF2-40B4-BE49-F238E27FC236}">
                      <a16:creationId xmlns:a16="http://schemas.microsoft.com/office/drawing/2014/main" id="{0FB53AFE-2FEE-7DFD-150B-F5B9274FF7BE}"/>
                    </a:ext>
                  </a:extLst>
                </p:cNvPr>
                <p:cNvSpPr>
                  <a:spLocks noChangeArrowheads="1"/>
                </p:cNvSpPr>
                <p:nvPr/>
              </p:nvSpPr>
              <p:spPr bwMode="auto">
                <a:xfrm>
                  <a:off x="1987"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5" name="Rectangle 191">
                  <a:extLst>
                    <a:ext uri="{FF2B5EF4-FFF2-40B4-BE49-F238E27FC236}">
                      <a16:creationId xmlns:a16="http://schemas.microsoft.com/office/drawing/2014/main" id="{3DD83BFD-48F8-93BD-42F4-13217BA69F71}"/>
                    </a:ext>
                  </a:extLst>
                </p:cNvPr>
                <p:cNvSpPr>
                  <a:spLocks noChangeArrowheads="1"/>
                </p:cNvSpPr>
                <p:nvPr/>
              </p:nvSpPr>
              <p:spPr bwMode="auto">
                <a:xfrm>
                  <a:off x="2378"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6" name="Rectangle 192">
                  <a:extLst>
                    <a:ext uri="{FF2B5EF4-FFF2-40B4-BE49-F238E27FC236}">
                      <a16:creationId xmlns:a16="http://schemas.microsoft.com/office/drawing/2014/main" id="{74A05BD9-44F6-F0B1-CF37-12D6B1805E2A}"/>
                    </a:ext>
                  </a:extLst>
                </p:cNvPr>
                <p:cNvSpPr>
                  <a:spLocks noChangeArrowheads="1"/>
                </p:cNvSpPr>
                <p:nvPr/>
              </p:nvSpPr>
              <p:spPr bwMode="auto">
                <a:xfrm>
                  <a:off x="2785"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7" name="Rectangle 193">
                  <a:extLst>
                    <a:ext uri="{FF2B5EF4-FFF2-40B4-BE49-F238E27FC236}">
                      <a16:creationId xmlns:a16="http://schemas.microsoft.com/office/drawing/2014/main" id="{DFDD3949-80FE-E95B-6ACE-D752AECA7799}"/>
                    </a:ext>
                  </a:extLst>
                </p:cNvPr>
                <p:cNvSpPr>
                  <a:spLocks noChangeArrowheads="1"/>
                </p:cNvSpPr>
                <p:nvPr/>
              </p:nvSpPr>
              <p:spPr bwMode="auto">
                <a:xfrm>
                  <a:off x="3192"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8" name="Rectangle 194">
                  <a:extLst>
                    <a:ext uri="{FF2B5EF4-FFF2-40B4-BE49-F238E27FC236}">
                      <a16:creationId xmlns:a16="http://schemas.microsoft.com/office/drawing/2014/main" id="{7AA9F06A-F56B-A609-2318-3485BAC4FAEA}"/>
                    </a:ext>
                  </a:extLst>
                </p:cNvPr>
                <p:cNvSpPr>
                  <a:spLocks noChangeArrowheads="1"/>
                </p:cNvSpPr>
                <p:nvPr/>
              </p:nvSpPr>
              <p:spPr bwMode="auto">
                <a:xfrm>
                  <a:off x="3599"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19" name="Rectangle 195">
                  <a:extLst>
                    <a:ext uri="{FF2B5EF4-FFF2-40B4-BE49-F238E27FC236}">
                      <a16:creationId xmlns:a16="http://schemas.microsoft.com/office/drawing/2014/main" id="{7C8F78B4-9537-037F-B029-715AE0B8EF1F}"/>
                    </a:ext>
                  </a:extLst>
                </p:cNvPr>
                <p:cNvSpPr>
                  <a:spLocks noChangeArrowheads="1"/>
                </p:cNvSpPr>
                <p:nvPr/>
              </p:nvSpPr>
              <p:spPr bwMode="auto">
                <a:xfrm>
                  <a:off x="4004"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0" name="Rectangle 196">
                  <a:extLst>
                    <a:ext uri="{FF2B5EF4-FFF2-40B4-BE49-F238E27FC236}">
                      <a16:creationId xmlns:a16="http://schemas.microsoft.com/office/drawing/2014/main" id="{A8860676-F0D6-1408-6B4E-DE48DADAD192}"/>
                    </a:ext>
                  </a:extLst>
                </p:cNvPr>
                <p:cNvSpPr>
                  <a:spLocks noChangeArrowheads="1"/>
                </p:cNvSpPr>
                <p:nvPr/>
              </p:nvSpPr>
              <p:spPr bwMode="auto">
                <a:xfrm>
                  <a:off x="4411"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1" name="Rectangle 197">
                  <a:extLst>
                    <a:ext uri="{FF2B5EF4-FFF2-40B4-BE49-F238E27FC236}">
                      <a16:creationId xmlns:a16="http://schemas.microsoft.com/office/drawing/2014/main" id="{2A0B1892-128B-7982-550F-77258AFF88B8}"/>
                    </a:ext>
                  </a:extLst>
                </p:cNvPr>
                <p:cNvSpPr>
                  <a:spLocks noChangeArrowheads="1"/>
                </p:cNvSpPr>
                <p:nvPr/>
              </p:nvSpPr>
              <p:spPr bwMode="auto">
                <a:xfrm>
                  <a:off x="4818"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2" name="Rectangle 198">
                  <a:extLst>
                    <a:ext uri="{FF2B5EF4-FFF2-40B4-BE49-F238E27FC236}">
                      <a16:creationId xmlns:a16="http://schemas.microsoft.com/office/drawing/2014/main" id="{DFD5CB44-3D0A-92A6-B174-A650FD1D8A43}"/>
                    </a:ext>
                  </a:extLst>
                </p:cNvPr>
                <p:cNvSpPr>
                  <a:spLocks noChangeArrowheads="1"/>
                </p:cNvSpPr>
                <p:nvPr/>
              </p:nvSpPr>
              <p:spPr bwMode="auto">
                <a:xfrm>
                  <a:off x="5225" y="200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23" name="Rectangle 199">
                  <a:extLst>
                    <a:ext uri="{FF2B5EF4-FFF2-40B4-BE49-F238E27FC236}">
                      <a16:creationId xmlns:a16="http://schemas.microsoft.com/office/drawing/2014/main" id="{7DDF1B7B-6657-AAD5-D27A-24669C9D79DC}"/>
                    </a:ext>
                  </a:extLst>
                </p:cNvPr>
                <p:cNvSpPr>
                  <a:spLocks noChangeArrowheads="1"/>
                </p:cNvSpPr>
                <p:nvPr/>
              </p:nvSpPr>
              <p:spPr bwMode="auto">
                <a:xfrm>
                  <a:off x="393" y="200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a:t>
                  </a:r>
                </a:p>
              </p:txBody>
            </p:sp>
            <p:sp>
              <p:nvSpPr>
                <p:cNvPr id="224" name="Rectangle 200">
                  <a:extLst>
                    <a:ext uri="{FF2B5EF4-FFF2-40B4-BE49-F238E27FC236}">
                      <a16:creationId xmlns:a16="http://schemas.microsoft.com/office/drawing/2014/main" id="{B7BD73D7-020D-393F-B959-AEB9B2E57A98}"/>
                    </a:ext>
                  </a:extLst>
                </p:cNvPr>
                <p:cNvSpPr>
                  <a:spLocks noChangeArrowheads="1"/>
                </p:cNvSpPr>
                <p:nvPr/>
              </p:nvSpPr>
              <p:spPr bwMode="auto">
                <a:xfrm>
                  <a:off x="681" y="2006"/>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OBR-008</a:t>
                  </a:r>
                </a:p>
              </p:txBody>
            </p:sp>
            <p:sp>
              <p:nvSpPr>
                <p:cNvPr id="225" name="Rectangle 201">
                  <a:extLst>
                    <a:ext uri="{FF2B5EF4-FFF2-40B4-BE49-F238E27FC236}">
                      <a16:creationId xmlns:a16="http://schemas.microsoft.com/office/drawing/2014/main" id="{BA380C39-A8FD-BB5C-E421-9E87E0B2D81A}"/>
                    </a:ext>
                  </a:extLst>
                </p:cNvPr>
                <p:cNvSpPr>
                  <a:spLocks noChangeArrowheads="1"/>
                </p:cNvSpPr>
                <p:nvPr/>
              </p:nvSpPr>
              <p:spPr bwMode="auto">
                <a:xfrm>
                  <a:off x="1255" y="2006"/>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276</a:t>
                  </a:r>
                </a:p>
              </p:txBody>
            </p:sp>
            <p:sp>
              <p:nvSpPr>
                <p:cNvPr id="226" name="Rectangle 202">
                  <a:extLst>
                    <a:ext uri="{FF2B5EF4-FFF2-40B4-BE49-F238E27FC236}">
                      <a16:creationId xmlns:a16="http://schemas.microsoft.com/office/drawing/2014/main" id="{F0B97243-BC0D-F0ED-6436-2E78E608E490}"/>
                    </a:ext>
                  </a:extLst>
                </p:cNvPr>
                <p:cNvSpPr>
                  <a:spLocks noChangeArrowheads="1"/>
                </p:cNvSpPr>
                <p:nvPr/>
              </p:nvSpPr>
              <p:spPr bwMode="auto">
                <a:xfrm>
                  <a:off x="1687" y="200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23</a:t>
                  </a:r>
                </a:p>
              </p:txBody>
            </p:sp>
            <p:sp>
              <p:nvSpPr>
                <p:cNvPr id="227" name="Rectangle 203">
                  <a:extLst>
                    <a:ext uri="{FF2B5EF4-FFF2-40B4-BE49-F238E27FC236}">
                      <a16:creationId xmlns:a16="http://schemas.microsoft.com/office/drawing/2014/main" id="{88BC9BC7-0E53-9D18-37F7-821621A4CA7E}"/>
                    </a:ext>
                  </a:extLst>
                </p:cNvPr>
                <p:cNvSpPr>
                  <a:spLocks noChangeArrowheads="1"/>
                </p:cNvSpPr>
                <p:nvPr/>
              </p:nvSpPr>
              <p:spPr bwMode="auto">
                <a:xfrm>
                  <a:off x="2079"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28" name="Rectangle 204">
                  <a:extLst>
                    <a:ext uri="{FF2B5EF4-FFF2-40B4-BE49-F238E27FC236}">
                      <a16:creationId xmlns:a16="http://schemas.microsoft.com/office/drawing/2014/main" id="{5EA7292B-EE61-A635-250C-74FFC5A36931}"/>
                    </a:ext>
                  </a:extLst>
                </p:cNvPr>
                <p:cNvSpPr>
                  <a:spLocks noChangeArrowheads="1"/>
                </p:cNvSpPr>
                <p:nvPr/>
              </p:nvSpPr>
              <p:spPr bwMode="auto">
                <a:xfrm>
                  <a:off x="2478" y="1983"/>
                  <a:ext cx="202"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29" name="Rectangle 205">
                  <a:extLst>
                    <a:ext uri="{FF2B5EF4-FFF2-40B4-BE49-F238E27FC236}">
                      <a16:creationId xmlns:a16="http://schemas.microsoft.com/office/drawing/2014/main" id="{DE7AF145-665A-DE09-28C7-F33F3A3B47A9}"/>
                    </a:ext>
                  </a:extLst>
                </p:cNvPr>
                <p:cNvSpPr>
                  <a:spLocks noChangeArrowheads="1"/>
                </p:cNvSpPr>
                <p:nvPr/>
              </p:nvSpPr>
              <p:spPr bwMode="auto">
                <a:xfrm>
                  <a:off x="2883"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230" name="Rectangle 206">
                  <a:extLst>
                    <a:ext uri="{FF2B5EF4-FFF2-40B4-BE49-F238E27FC236}">
                      <a16:creationId xmlns:a16="http://schemas.microsoft.com/office/drawing/2014/main" id="{7FE629F5-2252-157D-1683-7D89C282AD43}"/>
                    </a:ext>
                  </a:extLst>
                </p:cNvPr>
                <p:cNvSpPr>
                  <a:spLocks noChangeArrowheads="1"/>
                </p:cNvSpPr>
                <p:nvPr/>
              </p:nvSpPr>
              <p:spPr bwMode="auto">
                <a:xfrm>
                  <a:off x="3697"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31" name="Rectangle 207">
                  <a:extLst>
                    <a:ext uri="{FF2B5EF4-FFF2-40B4-BE49-F238E27FC236}">
                      <a16:creationId xmlns:a16="http://schemas.microsoft.com/office/drawing/2014/main" id="{4F7042DC-86C5-E4B5-7D0C-792B93B45AC1}"/>
                    </a:ext>
                  </a:extLst>
                </p:cNvPr>
                <p:cNvSpPr>
                  <a:spLocks noChangeArrowheads="1"/>
                </p:cNvSpPr>
                <p:nvPr/>
              </p:nvSpPr>
              <p:spPr bwMode="auto">
                <a:xfrm>
                  <a:off x="4511"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32" name="Rectangle 208">
                  <a:extLst>
                    <a:ext uri="{FF2B5EF4-FFF2-40B4-BE49-F238E27FC236}">
                      <a16:creationId xmlns:a16="http://schemas.microsoft.com/office/drawing/2014/main" id="{E2346394-D4AF-DA78-2341-C707CE16A534}"/>
                    </a:ext>
                  </a:extLst>
                </p:cNvPr>
                <p:cNvSpPr>
                  <a:spLocks noChangeArrowheads="1"/>
                </p:cNvSpPr>
                <p:nvPr/>
              </p:nvSpPr>
              <p:spPr bwMode="auto">
                <a:xfrm>
                  <a:off x="4918" y="1983"/>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33" name="Rectangle 209">
                  <a:extLst>
                    <a:ext uri="{FF2B5EF4-FFF2-40B4-BE49-F238E27FC236}">
                      <a16:creationId xmlns:a16="http://schemas.microsoft.com/office/drawing/2014/main" id="{3DC62FA7-ECF1-DEC0-78B5-56BD4006F238}"/>
                    </a:ext>
                  </a:extLst>
                </p:cNvPr>
                <p:cNvSpPr>
                  <a:spLocks noChangeArrowheads="1"/>
                </p:cNvSpPr>
                <p:nvPr/>
              </p:nvSpPr>
              <p:spPr bwMode="auto">
                <a:xfrm>
                  <a:off x="346"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4" name="Rectangle 210">
                  <a:extLst>
                    <a:ext uri="{FF2B5EF4-FFF2-40B4-BE49-F238E27FC236}">
                      <a16:creationId xmlns:a16="http://schemas.microsoft.com/office/drawing/2014/main" id="{20A92F84-4E3F-C40F-74D4-83535C829E80}"/>
                    </a:ext>
                  </a:extLst>
                </p:cNvPr>
                <p:cNvSpPr>
                  <a:spLocks noChangeArrowheads="1"/>
                </p:cNvSpPr>
                <p:nvPr/>
              </p:nvSpPr>
              <p:spPr bwMode="auto">
                <a:xfrm>
                  <a:off x="351" y="214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5" name="Rectangle 211">
                  <a:extLst>
                    <a:ext uri="{FF2B5EF4-FFF2-40B4-BE49-F238E27FC236}">
                      <a16:creationId xmlns:a16="http://schemas.microsoft.com/office/drawing/2014/main" id="{383C7C6F-1B63-1FAA-3D0D-BEE8581A3197}"/>
                    </a:ext>
                  </a:extLst>
                </p:cNvPr>
                <p:cNvSpPr>
                  <a:spLocks noChangeArrowheads="1"/>
                </p:cNvSpPr>
                <p:nvPr/>
              </p:nvSpPr>
              <p:spPr bwMode="auto">
                <a:xfrm>
                  <a:off x="582"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6" name="Rectangle 212">
                  <a:extLst>
                    <a:ext uri="{FF2B5EF4-FFF2-40B4-BE49-F238E27FC236}">
                      <a16:creationId xmlns:a16="http://schemas.microsoft.com/office/drawing/2014/main" id="{D2FD7AE0-38D9-EFCA-3FE7-3DA184E8E702}"/>
                    </a:ext>
                  </a:extLst>
                </p:cNvPr>
                <p:cNvSpPr>
                  <a:spLocks noChangeArrowheads="1"/>
                </p:cNvSpPr>
                <p:nvPr/>
              </p:nvSpPr>
              <p:spPr bwMode="auto">
                <a:xfrm>
                  <a:off x="587" y="214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7" name="Rectangle 213">
                  <a:extLst>
                    <a:ext uri="{FF2B5EF4-FFF2-40B4-BE49-F238E27FC236}">
                      <a16:creationId xmlns:a16="http://schemas.microsoft.com/office/drawing/2014/main" id="{D387583A-5401-7F50-7D4E-A5FC89F25072}"/>
                    </a:ext>
                  </a:extLst>
                </p:cNvPr>
                <p:cNvSpPr>
                  <a:spLocks noChangeArrowheads="1"/>
                </p:cNvSpPr>
                <p:nvPr/>
              </p:nvSpPr>
              <p:spPr bwMode="auto">
                <a:xfrm>
                  <a:off x="1157"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8" name="Rectangle 214">
                  <a:extLst>
                    <a:ext uri="{FF2B5EF4-FFF2-40B4-BE49-F238E27FC236}">
                      <a16:creationId xmlns:a16="http://schemas.microsoft.com/office/drawing/2014/main" id="{B54C9EF4-5141-CD70-D4AE-8F555E5641C5}"/>
                    </a:ext>
                  </a:extLst>
                </p:cNvPr>
                <p:cNvSpPr>
                  <a:spLocks noChangeArrowheads="1"/>
                </p:cNvSpPr>
                <p:nvPr/>
              </p:nvSpPr>
              <p:spPr bwMode="auto">
                <a:xfrm>
                  <a:off x="1163"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39" name="Rectangle 215">
                  <a:extLst>
                    <a:ext uri="{FF2B5EF4-FFF2-40B4-BE49-F238E27FC236}">
                      <a16:creationId xmlns:a16="http://schemas.microsoft.com/office/drawing/2014/main" id="{B3BB86A6-1679-FE48-B85B-9395BBD461C0}"/>
                    </a:ext>
                  </a:extLst>
                </p:cNvPr>
                <p:cNvSpPr>
                  <a:spLocks noChangeArrowheads="1"/>
                </p:cNvSpPr>
                <p:nvPr/>
              </p:nvSpPr>
              <p:spPr bwMode="auto">
                <a:xfrm>
                  <a:off x="1564"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0" name="Rectangle 216">
                  <a:extLst>
                    <a:ext uri="{FF2B5EF4-FFF2-40B4-BE49-F238E27FC236}">
                      <a16:creationId xmlns:a16="http://schemas.microsoft.com/office/drawing/2014/main" id="{F112409D-58C0-77B4-C0F4-4A261BA5CAE8}"/>
                    </a:ext>
                  </a:extLst>
                </p:cNvPr>
                <p:cNvSpPr>
                  <a:spLocks noChangeArrowheads="1"/>
                </p:cNvSpPr>
                <p:nvPr/>
              </p:nvSpPr>
              <p:spPr bwMode="auto">
                <a:xfrm>
                  <a:off x="1570" y="214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1" name="Rectangle 217">
                  <a:extLst>
                    <a:ext uri="{FF2B5EF4-FFF2-40B4-BE49-F238E27FC236}">
                      <a16:creationId xmlns:a16="http://schemas.microsoft.com/office/drawing/2014/main" id="{5E5735C4-505D-2E7C-3323-61DD51A61F29}"/>
                    </a:ext>
                  </a:extLst>
                </p:cNvPr>
                <p:cNvSpPr>
                  <a:spLocks noChangeArrowheads="1"/>
                </p:cNvSpPr>
                <p:nvPr/>
              </p:nvSpPr>
              <p:spPr bwMode="auto">
                <a:xfrm>
                  <a:off x="1987"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2" name="Rectangle 218">
                  <a:extLst>
                    <a:ext uri="{FF2B5EF4-FFF2-40B4-BE49-F238E27FC236}">
                      <a16:creationId xmlns:a16="http://schemas.microsoft.com/office/drawing/2014/main" id="{55853489-66B6-4981-6A66-BFBAA0D8401B}"/>
                    </a:ext>
                  </a:extLst>
                </p:cNvPr>
                <p:cNvSpPr>
                  <a:spLocks noChangeArrowheads="1"/>
                </p:cNvSpPr>
                <p:nvPr/>
              </p:nvSpPr>
              <p:spPr bwMode="auto">
                <a:xfrm>
                  <a:off x="1993" y="214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3" name="Rectangle 219">
                  <a:extLst>
                    <a:ext uri="{FF2B5EF4-FFF2-40B4-BE49-F238E27FC236}">
                      <a16:creationId xmlns:a16="http://schemas.microsoft.com/office/drawing/2014/main" id="{FADAB9DC-97F0-98CD-A947-06F930C6E08A}"/>
                    </a:ext>
                  </a:extLst>
                </p:cNvPr>
                <p:cNvSpPr>
                  <a:spLocks noChangeArrowheads="1"/>
                </p:cNvSpPr>
                <p:nvPr/>
              </p:nvSpPr>
              <p:spPr bwMode="auto">
                <a:xfrm>
                  <a:off x="2378"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4" name="Rectangle 220">
                  <a:extLst>
                    <a:ext uri="{FF2B5EF4-FFF2-40B4-BE49-F238E27FC236}">
                      <a16:creationId xmlns:a16="http://schemas.microsoft.com/office/drawing/2014/main" id="{32AC8D4C-B444-D0A6-32DE-8D9CC6057F70}"/>
                    </a:ext>
                  </a:extLst>
                </p:cNvPr>
                <p:cNvSpPr>
                  <a:spLocks noChangeArrowheads="1"/>
                </p:cNvSpPr>
                <p:nvPr/>
              </p:nvSpPr>
              <p:spPr bwMode="auto">
                <a:xfrm>
                  <a:off x="2384"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5" name="Rectangle 221">
                  <a:extLst>
                    <a:ext uri="{FF2B5EF4-FFF2-40B4-BE49-F238E27FC236}">
                      <a16:creationId xmlns:a16="http://schemas.microsoft.com/office/drawing/2014/main" id="{B43E0905-B818-3848-7647-43442BB837FC}"/>
                    </a:ext>
                  </a:extLst>
                </p:cNvPr>
                <p:cNvSpPr>
                  <a:spLocks noChangeArrowheads="1"/>
                </p:cNvSpPr>
                <p:nvPr/>
              </p:nvSpPr>
              <p:spPr bwMode="auto">
                <a:xfrm>
                  <a:off x="2785"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6" name="Rectangle 222">
                  <a:extLst>
                    <a:ext uri="{FF2B5EF4-FFF2-40B4-BE49-F238E27FC236}">
                      <a16:creationId xmlns:a16="http://schemas.microsoft.com/office/drawing/2014/main" id="{0E5071C6-247D-6413-BA69-E359D1AA52C9}"/>
                    </a:ext>
                  </a:extLst>
                </p:cNvPr>
                <p:cNvSpPr>
                  <a:spLocks noChangeArrowheads="1"/>
                </p:cNvSpPr>
                <p:nvPr/>
              </p:nvSpPr>
              <p:spPr bwMode="auto">
                <a:xfrm>
                  <a:off x="2791"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7" name="Rectangle 223">
                  <a:extLst>
                    <a:ext uri="{FF2B5EF4-FFF2-40B4-BE49-F238E27FC236}">
                      <a16:creationId xmlns:a16="http://schemas.microsoft.com/office/drawing/2014/main" id="{5A370D70-6C13-2FD7-87A1-18AD9BCB45C9}"/>
                    </a:ext>
                  </a:extLst>
                </p:cNvPr>
                <p:cNvSpPr>
                  <a:spLocks noChangeArrowheads="1"/>
                </p:cNvSpPr>
                <p:nvPr/>
              </p:nvSpPr>
              <p:spPr bwMode="auto">
                <a:xfrm>
                  <a:off x="3192"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8" name="Rectangle 224">
                  <a:extLst>
                    <a:ext uri="{FF2B5EF4-FFF2-40B4-BE49-F238E27FC236}">
                      <a16:creationId xmlns:a16="http://schemas.microsoft.com/office/drawing/2014/main" id="{B9563C79-A178-A20B-88C0-4C86400C4891}"/>
                    </a:ext>
                  </a:extLst>
                </p:cNvPr>
                <p:cNvSpPr>
                  <a:spLocks noChangeArrowheads="1"/>
                </p:cNvSpPr>
                <p:nvPr/>
              </p:nvSpPr>
              <p:spPr bwMode="auto">
                <a:xfrm>
                  <a:off x="3198"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49" name="Rectangle 225">
                  <a:extLst>
                    <a:ext uri="{FF2B5EF4-FFF2-40B4-BE49-F238E27FC236}">
                      <a16:creationId xmlns:a16="http://schemas.microsoft.com/office/drawing/2014/main" id="{80C77DED-F6C1-E051-5CA9-094278FA3A78}"/>
                    </a:ext>
                  </a:extLst>
                </p:cNvPr>
                <p:cNvSpPr>
                  <a:spLocks noChangeArrowheads="1"/>
                </p:cNvSpPr>
                <p:nvPr/>
              </p:nvSpPr>
              <p:spPr bwMode="auto">
                <a:xfrm>
                  <a:off x="3599"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0" name="Rectangle 226">
                  <a:extLst>
                    <a:ext uri="{FF2B5EF4-FFF2-40B4-BE49-F238E27FC236}">
                      <a16:creationId xmlns:a16="http://schemas.microsoft.com/office/drawing/2014/main" id="{D743405A-0D5E-9837-DF6F-B75A7035F2BA}"/>
                    </a:ext>
                  </a:extLst>
                </p:cNvPr>
                <p:cNvSpPr>
                  <a:spLocks noChangeArrowheads="1"/>
                </p:cNvSpPr>
                <p:nvPr/>
              </p:nvSpPr>
              <p:spPr bwMode="auto">
                <a:xfrm>
                  <a:off x="3605" y="214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1" name="Rectangle 227">
                  <a:extLst>
                    <a:ext uri="{FF2B5EF4-FFF2-40B4-BE49-F238E27FC236}">
                      <a16:creationId xmlns:a16="http://schemas.microsoft.com/office/drawing/2014/main" id="{FBADF4EC-B60C-8EF6-1966-4EFB0F06F394}"/>
                    </a:ext>
                  </a:extLst>
                </p:cNvPr>
                <p:cNvSpPr>
                  <a:spLocks noChangeArrowheads="1"/>
                </p:cNvSpPr>
                <p:nvPr/>
              </p:nvSpPr>
              <p:spPr bwMode="auto">
                <a:xfrm>
                  <a:off x="4004"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2" name="Rectangle 228">
                  <a:extLst>
                    <a:ext uri="{FF2B5EF4-FFF2-40B4-BE49-F238E27FC236}">
                      <a16:creationId xmlns:a16="http://schemas.microsoft.com/office/drawing/2014/main" id="{EEAD8BE8-E0E9-4100-49FE-224B3B603AEE}"/>
                    </a:ext>
                  </a:extLst>
                </p:cNvPr>
                <p:cNvSpPr>
                  <a:spLocks noChangeArrowheads="1"/>
                </p:cNvSpPr>
                <p:nvPr/>
              </p:nvSpPr>
              <p:spPr bwMode="auto">
                <a:xfrm>
                  <a:off x="4010"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3" name="Rectangle 229">
                  <a:extLst>
                    <a:ext uri="{FF2B5EF4-FFF2-40B4-BE49-F238E27FC236}">
                      <a16:creationId xmlns:a16="http://schemas.microsoft.com/office/drawing/2014/main" id="{C47ADE16-5CE1-96DE-DEA6-1D8F200A3766}"/>
                    </a:ext>
                  </a:extLst>
                </p:cNvPr>
                <p:cNvSpPr>
                  <a:spLocks noChangeArrowheads="1"/>
                </p:cNvSpPr>
                <p:nvPr/>
              </p:nvSpPr>
              <p:spPr bwMode="auto">
                <a:xfrm>
                  <a:off x="4411"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4" name="Rectangle 230">
                  <a:extLst>
                    <a:ext uri="{FF2B5EF4-FFF2-40B4-BE49-F238E27FC236}">
                      <a16:creationId xmlns:a16="http://schemas.microsoft.com/office/drawing/2014/main" id="{CAD481FD-303F-7519-9F68-FA21061FA88D}"/>
                    </a:ext>
                  </a:extLst>
                </p:cNvPr>
                <p:cNvSpPr>
                  <a:spLocks noChangeArrowheads="1"/>
                </p:cNvSpPr>
                <p:nvPr/>
              </p:nvSpPr>
              <p:spPr bwMode="auto">
                <a:xfrm>
                  <a:off x="4417"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5" name="Rectangle 231">
                  <a:extLst>
                    <a:ext uri="{FF2B5EF4-FFF2-40B4-BE49-F238E27FC236}">
                      <a16:creationId xmlns:a16="http://schemas.microsoft.com/office/drawing/2014/main" id="{9348E261-05DD-B5EE-77A8-E972B95648DC}"/>
                    </a:ext>
                  </a:extLst>
                </p:cNvPr>
                <p:cNvSpPr>
                  <a:spLocks noChangeArrowheads="1"/>
                </p:cNvSpPr>
                <p:nvPr/>
              </p:nvSpPr>
              <p:spPr bwMode="auto">
                <a:xfrm>
                  <a:off x="4818"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6" name="Rectangle 232">
                  <a:extLst>
                    <a:ext uri="{FF2B5EF4-FFF2-40B4-BE49-F238E27FC236}">
                      <a16:creationId xmlns:a16="http://schemas.microsoft.com/office/drawing/2014/main" id="{8365C186-86ED-BBF7-99FE-8D28B1B9CF38}"/>
                    </a:ext>
                  </a:extLst>
                </p:cNvPr>
                <p:cNvSpPr>
                  <a:spLocks noChangeArrowheads="1"/>
                </p:cNvSpPr>
                <p:nvPr/>
              </p:nvSpPr>
              <p:spPr bwMode="auto">
                <a:xfrm>
                  <a:off x="4824" y="214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7" name="Rectangle 233">
                  <a:extLst>
                    <a:ext uri="{FF2B5EF4-FFF2-40B4-BE49-F238E27FC236}">
                      <a16:creationId xmlns:a16="http://schemas.microsoft.com/office/drawing/2014/main" id="{6707CB96-5FC0-1C28-9C2D-E7B05133019D}"/>
                    </a:ext>
                  </a:extLst>
                </p:cNvPr>
                <p:cNvSpPr>
                  <a:spLocks noChangeArrowheads="1"/>
                </p:cNvSpPr>
                <p:nvPr/>
              </p:nvSpPr>
              <p:spPr bwMode="auto">
                <a:xfrm>
                  <a:off x="5225" y="214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8" name="Rectangle 234">
                  <a:extLst>
                    <a:ext uri="{FF2B5EF4-FFF2-40B4-BE49-F238E27FC236}">
                      <a16:creationId xmlns:a16="http://schemas.microsoft.com/office/drawing/2014/main" id="{6FC070F1-461F-4777-B158-31774CA61BAE}"/>
                    </a:ext>
                  </a:extLst>
                </p:cNvPr>
                <p:cNvSpPr>
                  <a:spLocks noChangeArrowheads="1"/>
                </p:cNvSpPr>
                <p:nvPr/>
              </p:nvSpPr>
              <p:spPr bwMode="auto">
                <a:xfrm>
                  <a:off x="346"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59" name="Rectangle 235">
                  <a:extLst>
                    <a:ext uri="{FF2B5EF4-FFF2-40B4-BE49-F238E27FC236}">
                      <a16:creationId xmlns:a16="http://schemas.microsoft.com/office/drawing/2014/main" id="{43A1E904-9481-81BE-FB04-27092BB6BE77}"/>
                    </a:ext>
                  </a:extLst>
                </p:cNvPr>
                <p:cNvSpPr>
                  <a:spLocks noChangeArrowheads="1"/>
                </p:cNvSpPr>
                <p:nvPr/>
              </p:nvSpPr>
              <p:spPr bwMode="auto">
                <a:xfrm>
                  <a:off x="582"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0" name="Rectangle 236">
                  <a:extLst>
                    <a:ext uri="{FF2B5EF4-FFF2-40B4-BE49-F238E27FC236}">
                      <a16:creationId xmlns:a16="http://schemas.microsoft.com/office/drawing/2014/main" id="{9811C3C0-4DE3-D84E-C65F-755FE7A66A22}"/>
                    </a:ext>
                  </a:extLst>
                </p:cNvPr>
                <p:cNvSpPr>
                  <a:spLocks noChangeArrowheads="1"/>
                </p:cNvSpPr>
                <p:nvPr/>
              </p:nvSpPr>
              <p:spPr bwMode="auto">
                <a:xfrm>
                  <a:off x="1157"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1" name="Rectangle 237">
                  <a:extLst>
                    <a:ext uri="{FF2B5EF4-FFF2-40B4-BE49-F238E27FC236}">
                      <a16:creationId xmlns:a16="http://schemas.microsoft.com/office/drawing/2014/main" id="{4450EC95-6DC8-87F8-13BD-8F57F4A57F72}"/>
                    </a:ext>
                  </a:extLst>
                </p:cNvPr>
                <p:cNvSpPr>
                  <a:spLocks noChangeArrowheads="1"/>
                </p:cNvSpPr>
                <p:nvPr/>
              </p:nvSpPr>
              <p:spPr bwMode="auto">
                <a:xfrm>
                  <a:off x="1564"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2" name="Rectangle 238">
                  <a:extLst>
                    <a:ext uri="{FF2B5EF4-FFF2-40B4-BE49-F238E27FC236}">
                      <a16:creationId xmlns:a16="http://schemas.microsoft.com/office/drawing/2014/main" id="{30FB30D2-3F70-3AF5-02F4-1D1B23687A75}"/>
                    </a:ext>
                  </a:extLst>
                </p:cNvPr>
                <p:cNvSpPr>
                  <a:spLocks noChangeArrowheads="1"/>
                </p:cNvSpPr>
                <p:nvPr/>
              </p:nvSpPr>
              <p:spPr bwMode="auto">
                <a:xfrm>
                  <a:off x="1987"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3" name="Rectangle 239">
                  <a:extLst>
                    <a:ext uri="{FF2B5EF4-FFF2-40B4-BE49-F238E27FC236}">
                      <a16:creationId xmlns:a16="http://schemas.microsoft.com/office/drawing/2014/main" id="{AF903C4F-5994-93AF-918D-319FE28F8C7A}"/>
                    </a:ext>
                  </a:extLst>
                </p:cNvPr>
                <p:cNvSpPr>
                  <a:spLocks noChangeArrowheads="1"/>
                </p:cNvSpPr>
                <p:nvPr/>
              </p:nvSpPr>
              <p:spPr bwMode="auto">
                <a:xfrm>
                  <a:off x="2378"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4" name="Rectangle 240">
                  <a:extLst>
                    <a:ext uri="{FF2B5EF4-FFF2-40B4-BE49-F238E27FC236}">
                      <a16:creationId xmlns:a16="http://schemas.microsoft.com/office/drawing/2014/main" id="{A84A30A2-4C48-45D9-D327-A12BC3D09B3C}"/>
                    </a:ext>
                  </a:extLst>
                </p:cNvPr>
                <p:cNvSpPr>
                  <a:spLocks noChangeArrowheads="1"/>
                </p:cNvSpPr>
                <p:nvPr/>
              </p:nvSpPr>
              <p:spPr bwMode="auto">
                <a:xfrm>
                  <a:off x="2785"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5" name="Rectangle 241">
                  <a:extLst>
                    <a:ext uri="{FF2B5EF4-FFF2-40B4-BE49-F238E27FC236}">
                      <a16:creationId xmlns:a16="http://schemas.microsoft.com/office/drawing/2014/main" id="{6EECF91C-0F88-03AC-1874-916FA6FA3760}"/>
                    </a:ext>
                  </a:extLst>
                </p:cNvPr>
                <p:cNvSpPr>
                  <a:spLocks noChangeArrowheads="1"/>
                </p:cNvSpPr>
                <p:nvPr/>
              </p:nvSpPr>
              <p:spPr bwMode="auto">
                <a:xfrm>
                  <a:off x="3192"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6" name="Rectangle 242">
                  <a:extLst>
                    <a:ext uri="{FF2B5EF4-FFF2-40B4-BE49-F238E27FC236}">
                      <a16:creationId xmlns:a16="http://schemas.microsoft.com/office/drawing/2014/main" id="{6D859DBF-B18C-8D23-B342-A3E751B44209}"/>
                    </a:ext>
                  </a:extLst>
                </p:cNvPr>
                <p:cNvSpPr>
                  <a:spLocks noChangeArrowheads="1"/>
                </p:cNvSpPr>
                <p:nvPr/>
              </p:nvSpPr>
              <p:spPr bwMode="auto">
                <a:xfrm>
                  <a:off x="3599"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7" name="Rectangle 243">
                  <a:extLst>
                    <a:ext uri="{FF2B5EF4-FFF2-40B4-BE49-F238E27FC236}">
                      <a16:creationId xmlns:a16="http://schemas.microsoft.com/office/drawing/2014/main" id="{43BC1F1D-A17B-4983-733D-820FD036E8BF}"/>
                    </a:ext>
                  </a:extLst>
                </p:cNvPr>
                <p:cNvSpPr>
                  <a:spLocks noChangeArrowheads="1"/>
                </p:cNvSpPr>
                <p:nvPr/>
              </p:nvSpPr>
              <p:spPr bwMode="auto">
                <a:xfrm>
                  <a:off x="4004"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8" name="Rectangle 244">
                  <a:extLst>
                    <a:ext uri="{FF2B5EF4-FFF2-40B4-BE49-F238E27FC236}">
                      <a16:creationId xmlns:a16="http://schemas.microsoft.com/office/drawing/2014/main" id="{108FB91D-ED99-AAAF-928A-EBE75A951FC7}"/>
                    </a:ext>
                  </a:extLst>
                </p:cNvPr>
                <p:cNvSpPr>
                  <a:spLocks noChangeArrowheads="1"/>
                </p:cNvSpPr>
                <p:nvPr/>
              </p:nvSpPr>
              <p:spPr bwMode="auto">
                <a:xfrm>
                  <a:off x="4411"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9" name="Rectangle 245">
                  <a:extLst>
                    <a:ext uri="{FF2B5EF4-FFF2-40B4-BE49-F238E27FC236}">
                      <a16:creationId xmlns:a16="http://schemas.microsoft.com/office/drawing/2014/main" id="{03DCECC7-967F-814B-F92F-C4495368C25F}"/>
                    </a:ext>
                  </a:extLst>
                </p:cNvPr>
                <p:cNvSpPr>
                  <a:spLocks noChangeArrowheads="1"/>
                </p:cNvSpPr>
                <p:nvPr/>
              </p:nvSpPr>
              <p:spPr bwMode="auto">
                <a:xfrm>
                  <a:off x="4818"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70" name="Rectangle 246">
                  <a:extLst>
                    <a:ext uri="{FF2B5EF4-FFF2-40B4-BE49-F238E27FC236}">
                      <a16:creationId xmlns:a16="http://schemas.microsoft.com/office/drawing/2014/main" id="{A06A1FA3-3DF3-0F0F-D623-C5C28E151323}"/>
                    </a:ext>
                  </a:extLst>
                </p:cNvPr>
                <p:cNvSpPr>
                  <a:spLocks noChangeArrowheads="1"/>
                </p:cNvSpPr>
                <p:nvPr/>
              </p:nvSpPr>
              <p:spPr bwMode="auto">
                <a:xfrm>
                  <a:off x="5225" y="215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71" name="Rectangle 247">
                  <a:extLst>
                    <a:ext uri="{FF2B5EF4-FFF2-40B4-BE49-F238E27FC236}">
                      <a16:creationId xmlns:a16="http://schemas.microsoft.com/office/drawing/2014/main" id="{FF2BB8B7-5353-7EE3-A041-868FAD5756B0}"/>
                    </a:ext>
                  </a:extLst>
                </p:cNvPr>
                <p:cNvSpPr>
                  <a:spLocks noChangeArrowheads="1"/>
                </p:cNvSpPr>
                <p:nvPr/>
              </p:nvSpPr>
              <p:spPr bwMode="auto">
                <a:xfrm>
                  <a:off x="393" y="2154"/>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a:t>
                  </a:r>
                </a:p>
              </p:txBody>
            </p:sp>
            <p:sp>
              <p:nvSpPr>
                <p:cNvPr id="272" name="Rectangle 248">
                  <a:extLst>
                    <a:ext uri="{FF2B5EF4-FFF2-40B4-BE49-F238E27FC236}">
                      <a16:creationId xmlns:a16="http://schemas.microsoft.com/office/drawing/2014/main" id="{CF067A1F-5E58-D4D8-57C9-A5BAA6C5CE2A}"/>
                    </a:ext>
                  </a:extLst>
                </p:cNvPr>
                <p:cNvSpPr>
                  <a:spLocks noChangeArrowheads="1"/>
                </p:cNvSpPr>
                <p:nvPr/>
              </p:nvSpPr>
              <p:spPr bwMode="auto">
                <a:xfrm>
                  <a:off x="708" y="2154"/>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320147</a:t>
                  </a:r>
                </a:p>
              </p:txBody>
            </p:sp>
            <p:sp>
              <p:nvSpPr>
                <p:cNvPr id="273" name="Rectangle 249">
                  <a:extLst>
                    <a:ext uri="{FF2B5EF4-FFF2-40B4-BE49-F238E27FC236}">
                      <a16:creationId xmlns:a16="http://schemas.microsoft.com/office/drawing/2014/main" id="{C87B7F00-3C7D-3D3A-CBA0-C70CE15F80C6}"/>
                    </a:ext>
                  </a:extLst>
                </p:cNvPr>
                <p:cNvSpPr>
                  <a:spLocks noChangeArrowheads="1"/>
                </p:cNvSpPr>
                <p:nvPr/>
              </p:nvSpPr>
              <p:spPr bwMode="auto">
                <a:xfrm>
                  <a:off x="1272" y="2154"/>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84</a:t>
                  </a:r>
                </a:p>
              </p:txBody>
            </p:sp>
            <p:sp>
              <p:nvSpPr>
                <p:cNvPr id="274" name="Rectangle 250">
                  <a:extLst>
                    <a:ext uri="{FF2B5EF4-FFF2-40B4-BE49-F238E27FC236}">
                      <a16:creationId xmlns:a16="http://schemas.microsoft.com/office/drawing/2014/main" id="{28E7DC37-06A9-CD37-E273-267D560331CE}"/>
                    </a:ext>
                  </a:extLst>
                </p:cNvPr>
                <p:cNvSpPr>
                  <a:spLocks noChangeArrowheads="1"/>
                </p:cNvSpPr>
                <p:nvPr/>
              </p:nvSpPr>
              <p:spPr bwMode="auto">
                <a:xfrm>
                  <a:off x="1704" y="2154"/>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7</a:t>
                  </a:r>
                </a:p>
              </p:txBody>
            </p:sp>
            <p:sp>
              <p:nvSpPr>
                <p:cNvPr id="275" name="Rectangle 251">
                  <a:extLst>
                    <a:ext uri="{FF2B5EF4-FFF2-40B4-BE49-F238E27FC236}">
                      <a16:creationId xmlns:a16="http://schemas.microsoft.com/office/drawing/2014/main" id="{1EB414C3-C16A-EAAE-E164-377C54342D8A}"/>
                    </a:ext>
                  </a:extLst>
                </p:cNvPr>
                <p:cNvSpPr>
                  <a:spLocks noChangeArrowheads="1"/>
                </p:cNvSpPr>
                <p:nvPr/>
              </p:nvSpPr>
              <p:spPr bwMode="auto">
                <a:xfrm>
                  <a:off x="2079"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76" name="Rectangle 252">
                  <a:extLst>
                    <a:ext uri="{FF2B5EF4-FFF2-40B4-BE49-F238E27FC236}">
                      <a16:creationId xmlns:a16="http://schemas.microsoft.com/office/drawing/2014/main" id="{C2C50BB4-55D5-5244-66F8-2C021C668976}"/>
                    </a:ext>
                  </a:extLst>
                </p:cNvPr>
                <p:cNvSpPr>
                  <a:spLocks noChangeArrowheads="1"/>
                </p:cNvSpPr>
                <p:nvPr/>
              </p:nvSpPr>
              <p:spPr bwMode="auto">
                <a:xfrm>
                  <a:off x="2883"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77" name="Rectangle 253">
                  <a:extLst>
                    <a:ext uri="{FF2B5EF4-FFF2-40B4-BE49-F238E27FC236}">
                      <a16:creationId xmlns:a16="http://schemas.microsoft.com/office/drawing/2014/main" id="{B56A1386-8AD4-D007-4A46-60C46AB995C7}"/>
                    </a:ext>
                  </a:extLst>
                </p:cNvPr>
                <p:cNvSpPr>
                  <a:spLocks noChangeArrowheads="1"/>
                </p:cNvSpPr>
                <p:nvPr/>
              </p:nvSpPr>
              <p:spPr bwMode="auto">
                <a:xfrm>
                  <a:off x="3290"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278" name="Rectangle 254">
                  <a:extLst>
                    <a:ext uri="{FF2B5EF4-FFF2-40B4-BE49-F238E27FC236}">
                      <a16:creationId xmlns:a16="http://schemas.microsoft.com/office/drawing/2014/main" id="{1ABC0E4A-6785-97C3-6019-87AF6BE49E3A}"/>
                    </a:ext>
                  </a:extLst>
                </p:cNvPr>
                <p:cNvSpPr>
                  <a:spLocks noChangeArrowheads="1"/>
                </p:cNvSpPr>
                <p:nvPr/>
              </p:nvSpPr>
              <p:spPr bwMode="auto">
                <a:xfrm>
                  <a:off x="3697"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79" name="Rectangle 255">
                  <a:extLst>
                    <a:ext uri="{FF2B5EF4-FFF2-40B4-BE49-F238E27FC236}">
                      <a16:creationId xmlns:a16="http://schemas.microsoft.com/office/drawing/2014/main" id="{18D1E3F9-AC21-1B50-B436-02BE0D4BC48B}"/>
                    </a:ext>
                  </a:extLst>
                </p:cNvPr>
                <p:cNvSpPr>
                  <a:spLocks noChangeArrowheads="1"/>
                </p:cNvSpPr>
                <p:nvPr/>
              </p:nvSpPr>
              <p:spPr bwMode="auto">
                <a:xfrm>
                  <a:off x="4511"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80" name="Rectangle 256">
                  <a:extLst>
                    <a:ext uri="{FF2B5EF4-FFF2-40B4-BE49-F238E27FC236}">
                      <a16:creationId xmlns:a16="http://schemas.microsoft.com/office/drawing/2014/main" id="{B4FE11ED-9337-F7BD-0602-6219E8E7C70C}"/>
                    </a:ext>
                  </a:extLst>
                </p:cNvPr>
                <p:cNvSpPr>
                  <a:spLocks noChangeArrowheads="1"/>
                </p:cNvSpPr>
                <p:nvPr/>
              </p:nvSpPr>
              <p:spPr bwMode="auto">
                <a:xfrm>
                  <a:off x="4918" y="213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281" name="Rectangle 257">
                  <a:extLst>
                    <a:ext uri="{FF2B5EF4-FFF2-40B4-BE49-F238E27FC236}">
                      <a16:creationId xmlns:a16="http://schemas.microsoft.com/office/drawing/2014/main" id="{28EA1533-E188-B524-4E5B-7F1E24B6546B}"/>
                    </a:ext>
                  </a:extLst>
                </p:cNvPr>
                <p:cNvSpPr>
                  <a:spLocks noChangeArrowheads="1"/>
                </p:cNvSpPr>
                <p:nvPr/>
              </p:nvSpPr>
              <p:spPr bwMode="auto">
                <a:xfrm>
                  <a:off x="346"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2" name="Rectangle 258">
                  <a:extLst>
                    <a:ext uri="{FF2B5EF4-FFF2-40B4-BE49-F238E27FC236}">
                      <a16:creationId xmlns:a16="http://schemas.microsoft.com/office/drawing/2014/main" id="{6CECD718-B804-AC91-CE18-8BF8A998685D}"/>
                    </a:ext>
                  </a:extLst>
                </p:cNvPr>
                <p:cNvSpPr>
                  <a:spLocks noChangeArrowheads="1"/>
                </p:cNvSpPr>
                <p:nvPr/>
              </p:nvSpPr>
              <p:spPr bwMode="auto">
                <a:xfrm>
                  <a:off x="351" y="229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3" name="Rectangle 259">
                  <a:extLst>
                    <a:ext uri="{FF2B5EF4-FFF2-40B4-BE49-F238E27FC236}">
                      <a16:creationId xmlns:a16="http://schemas.microsoft.com/office/drawing/2014/main" id="{B0CB5A45-794D-8EE6-1A56-956111376BC7}"/>
                    </a:ext>
                  </a:extLst>
                </p:cNvPr>
                <p:cNvSpPr>
                  <a:spLocks noChangeArrowheads="1"/>
                </p:cNvSpPr>
                <p:nvPr/>
              </p:nvSpPr>
              <p:spPr bwMode="auto">
                <a:xfrm>
                  <a:off x="582"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4" name="Rectangle 260">
                  <a:extLst>
                    <a:ext uri="{FF2B5EF4-FFF2-40B4-BE49-F238E27FC236}">
                      <a16:creationId xmlns:a16="http://schemas.microsoft.com/office/drawing/2014/main" id="{43DADCC8-7491-5625-B250-E984C752A301}"/>
                    </a:ext>
                  </a:extLst>
                </p:cNvPr>
                <p:cNvSpPr>
                  <a:spLocks noChangeArrowheads="1"/>
                </p:cNvSpPr>
                <p:nvPr/>
              </p:nvSpPr>
              <p:spPr bwMode="auto">
                <a:xfrm>
                  <a:off x="587" y="229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5" name="Rectangle 261">
                  <a:extLst>
                    <a:ext uri="{FF2B5EF4-FFF2-40B4-BE49-F238E27FC236}">
                      <a16:creationId xmlns:a16="http://schemas.microsoft.com/office/drawing/2014/main" id="{8401C9B0-8C63-A989-501C-8A761DBCD5BC}"/>
                    </a:ext>
                  </a:extLst>
                </p:cNvPr>
                <p:cNvSpPr>
                  <a:spLocks noChangeArrowheads="1"/>
                </p:cNvSpPr>
                <p:nvPr/>
              </p:nvSpPr>
              <p:spPr bwMode="auto">
                <a:xfrm>
                  <a:off x="1157"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6" name="Rectangle 262">
                  <a:extLst>
                    <a:ext uri="{FF2B5EF4-FFF2-40B4-BE49-F238E27FC236}">
                      <a16:creationId xmlns:a16="http://schemas.microsoft.com/office/drawing/2014/main" id="{F97D1436-4A18-6E85-6B9E-34BCD83B907B}"/>
                    </a:ext>
                  </a:extLst>
                </p:cNvPr>
                <p:cNvSpPr>
                  <a:spLocks noChangeArrowheads="1"/>
                </p:cNvSpPr>
                <p:nvPr/>
              </p:nvSpPr>
              <p:spPr bwMode="auto">
                <a:xfrm>
                  <a:off x="1163"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7" name="Rectangle 263">
                  <a:extLst>
                    <a:ext uri="{FF2B5EF4-FFF2-40B4-BE49-F238E27FC236}">
                      <a16:creationId xmlns:a16="http://schemas.microsoft.com/office/drawing/2014/main" id="{FB64FD21-9AAF-953E-7106-9A248D7E0317}"/>
                    </a:ext>
                  </a:extLst>
                </p:cNvPr>
                <p:cNvSpPr>
                  <a:spLocks noChangeArrowheads="1"/>
                </p:cNvSpPr>
                <p:nvPr/>
              </p:nvSpPr>
              <p:spPr bwMode="auto">
                <a:xfrm>
                  <a:off x="1564"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8" name="Rectangle 264">
                  <a:extLst>
                    <a:ext uri="{FF2B5EF4-FFF2-40B4-BE49-F238E27FC236}">
                      <a16:creationId xmlns:a16="http://schemas.microsoft.com/office/drawing/2014/main" id="{C6AB0E34-6AA9-4D3C-356B-661FC2207705}"/>
                    </a:ext>
                  </a:extLst>
                </p:cNvPr>
                <p:cNvSpPr>
                  <a:spLocks noChangeArrowheads="1"/>
                </p:cNvSpPr>
                <p:nvPr/>
              </p:nvSpPr>
              <p:spPr bwMode="auto">
                <a:xfrm>
                  <a:off x="1570" y="229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89" name="Rectangle 265">
                  <a:extLst>
                    <a:ext uri="{FF2B5EF4-FFF2-40B4-BE49-F238E27FC236}">
                      <a16:creationId xmlns:a16="http://schemas.microsoft.com/office/drawing/2014/main" id="{3A844D0F-F1D4-44CC-A012-728C9EBC40D7}"/>
                    </a:ext>
                  </a:extLst>
                </p:cNvPr>
                <p:cNvSpPr>
                  <a:spLocks noChangeArrowheads="1"/>
                </p:cNvSpPr>
                <p:nvPr/>
              </p:nvSpPr>
              <p:spPr bwMode="auto">
                <a:xfrm>
                  <a:off x="1987"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0" name="Rectangle 266">
                  <a:extLst>
                    <a:ext uri="{FF2B5EF4-FFF2-40B4-BE49-F238E27FC236}">
                      <a16:creationId xmlns:a16="http://schemas.microsoft.com/office/drawing/2014/main" id="{11E2B3FB-09C1-8562-31F3-249077F31282}"/>
                    </a:ext>
                  </a:extLst>
                </p:cNvPr>
                <p:cNvSpPr>
                  <a:spLocks noChangeArrowheads="1"/>
                </p:cNvSpPr>
                <p:nvPr/>
              </p:nvSpPr>
              <p:spPr bwMode="auto">
                <a:xfrm>
                  <a:off x="1993" y="229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1" name="Rectangle 267">
                  <a:extLst>
                    <a:ext uri="{FF2B5EF4-FFF2-40B4-BE49-F238E27FC236}">
                      <a16:creationId xmlns:a16="http://schemas.microsoft.com/office/drawing/2014/main" id="{E2FD2852-9670-8A3D-D3FF-70F2BB99ECE8}"/>
                    </a:ext>
                  </a:extLst>
                </p:cNvPr>
                <p:cNvSpPr>
                  <a:spLocks noChangeArrowheads="1"/>
                </p:cNvSpPr>
                <p:nvPr/>
              </p:nvSpPr>
              <p:spPr bwMode="auto">
                <a:xfrm>
                  <a:off x="2378"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2" name="Rectangle 268">
                  <a:extLst>
                    <a:ext uri="{FF2B5EF4-FFF2-40B4-BE49-F238E27FC236}">
                      <a16:creationId xmlns:a16="http://schemas.microsoft.com/office/drawing/2014/main" id="{221D0665-4998-BFC0-D0F7-22362C7A23F8}"/>
                    </a:ext>
                  </a:extLst>
                </p:cNvPr>
                <p:cNvSpPr>
                  <a:spLocks noChangeArrowheads="1"/>
                </p:cNvSpPr>
                <p:nvPr/>
              </p:nvSpPr>
              <p:spPr bwMode="auto">
                <a:xfrm>
                  <a:off x="2384"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3" name="Rectangle 269">
                  <a:extLst>
                    <a:ext uri="{FF2B5EF4-FFF2-40B4-BE49-F238E27FC236}">
                      <a16:creationId xmlns:a16="http://schemas.microsoft.com/office/drawing/2014/main" id="{364E8B1F-8976-4E1E-B118-597F909FCDB8}"/>
                    </a:ext>
                  </a:extLst>
                </p:cNvPr>
                <p:cNvSpPr>
                  <a:spLocks noChangeArrowheads="1"/>
                </p:cNvSpPr>
                <p:nvPr/>
              </p:nvSpPr>
              <p:spPr bwMode="auto">
                <a:xfrm>
                  <a:off x="2785"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4" name="Rectangle 270">
                  <a:extLst>
                    <a:ext uri="{FF2B5EF4-FFF2-40B4-BE49-F238E27FC236}">
                      <a16:creationId xmlns:a16="http://schemas.microsoft.com/office/drawing/2014/main" id="{B8FE3CF8-9F84-C40A-A0AB-40ED50100ECB}"/>
                    </a:ext>
                  </a:extLst>
                </p:cNvPr>
                <p:cNvSpPr>
                  <a:spLocks noChangeArrowheads="1"/>
                </p:cNvSpPr>
                <p:nvPr/>
              </p:nvSpPr>
              <p:spPr bwMode="auto">
                <a:xfrm>
                  <a:off x="2791"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5" name="Rectangle 271">
                  <a:extLst>
                    <a:ext uri="{FF2B5EF4-FFF2-40B4-BE49-F238E27FC236}">
                      <a16:creationId xmlns:a16="http://schemas.microsoft.com/office/drawing/2014/main" id="{8457A553-689C-6578-1919-E28B1A8A7D8E}"/>
                    </a:ext>
                  </a:extLst>
                </p:cNvPr>
                <p:cNvSpPr>
                  <a:spLocks noChangeArrowheads="1"/>
                </p:cNvSpPr>
                <p:nvPr/>
              </p:nvSpPr>
              <p:spPr bwMode="auto">
                <a:xfrm>
                  <a:off x="3192"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6" name="Rectangle 272">
                  <a:extLst>
                    <a:ext uri="{FF2B5EF4-FFF2-40B4-BE49-F238E27FC236}">
                      <a16:creationId xmlns:a16="http://schemas.microsoft.com/office/drawing/2014/main" id="{7B7E6E24-DD21-048D-6A68-1289170A1FCF}"/>
                    </a:ext>
                  </a:extLst>
                </p:cNvPr>
                <p:cNvSpPr>
                  <a:spLocks noChangeArrowheads="1"/>
                </p:cNvSpPr>
                <p:nvPr/>
              </p:nvSpPr>
              <p:spPr bwMode="auto">
                <a:xfrm>
                  <a:off x="3198"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7" name="Rectangle 273">
                  <a:extLst>
                    <a:ext uri="{FF2B5EF4-FFF2-40B4-BE49-F238E27FC236}">
                      <a16:creationId xmlns:a16="http://schemas.microsoft.com/office/drawing/2014/main" id="{E2585EF3-DE80-23CB-B435-C29366C34FB8}"/>
                    </a:ext>
                  </a:extLst>
                </p:cNvPr>
                <p:cNvSpPr>
                  <a:spLocks noChangeArrowheads="1"/>
                </p:cNvSpPr>
                <p:nvPr/>
              </p:nvSpPr>
              <p:spPr bwMode="auto">
                <a:xfrm>
                  <a:off x="3599"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8" name="Rectangle 274">
                  <a:extLst>
                    <a:ext uri="{FF2B5EF4-FFF2-40B4-BE49-F238E27FC236}">
                      <a16:creationId xmlns:a16="http://schemas.microsoft.com/office/drawing/2014/main" id="{5E16F493-5007-AD1E-6DF4-4260CC535FAE}"/>
                    </a:ext>
                  </a:extLst>
                </p:cNvPr>
                <p:cNvSpPr>
                  <a:spLocks noChangeArrowheads="1"/>
                </p:cNvSpPr>
                <p:nvPr/>
              </p:nvSpPr>
              <p:spPr bwMode="auto">
                <a:xfrm>
                  <a:off x="3605" y="229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99" name="Rectangle 275">
                  <a:extLst>
                    <a:ext uri="{FF2B5EF4-FFF2-40B4-BE49-F238E27FC236}">
                      <a16:creationId xmlns:a16="http://schemas.microsoft.com/office/drawing/2014/main" id="{949BD480-C1A0-CAF3-3B4F-54D65BE18A24}"/>
                    </a:ext>
                  </a:extLst>
                </p:cNvPr>
                <p:cNvSpPr>
                  <a:spLocks noChangeArrowheads="1"/>
                </p:cNvSpPr>
                <p:nvPr/>
              </p:nvSpPr>
              <p:spPr bwMode="auto">
                <a:xfrm>
                  <a:off x="4004"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0" name="Rectangle 276">
                  <a:extLst>
                    <a:ext uri="{FF2B5EF4-FFF2-40B4-BE49-F238E27FC236}">
                      <a16:creationId xmlns:a16="http://schemas.microsoft.com/office/drawing/2014/main" id="{D54C125D-9C33-BF0F-591F-0637140B057D}"/>
                    </a:ext>
                  </a:extLst>
                </p:cNvPr>
                <p:cNvSpPr>
                  <a:spLocks noChangeArrowheads="1"/>
                </p:cNvSpPr>
                <p:nvPr/>
              </p:nvSpPr>
              <p:spPr bwMode="auto">
                <a:xfrm>
                  <a:off x="4010"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1" name="Rectangle 277">
                  <a:extLst>
                    <a:ext uri="{FF2B5EF4-FFF2-40B4-BE49-F238E27FC236}">
                      <a16:creationId xmlns:a16="http://schemas.microsoft.com/office/drawing/2014/main" id="{776D87D8-FABA-BFE8-02D4-F1FA55DCFEF3}"/>
                    </a:ext>
                  </a:extLst>
                </p:cNvPr>
                <p:cNvSpPr>
                  <a:spLocks noChangeArrowheads="1"/>
                </p:cNvSpPr>
                <p:nvPr/>
              </p:nvSpPr>
              <p:spPr bwMode="auto">
                <a:xfrm>
                  <a:off x="4411"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2" name="Rectangle 278">
                  <a:extLst>
                    <a:ext uri="{FF2B5EF4-FFF2-40B4-BE49-F238E27FC236}">
                      <a16:creationId xmlns:a16="http://schemas.microsoft.com/office/drawing/2014/main" id="{A9AD5F2E-1FA0-18EC-9835-ED7CDE0D1731}"/>
                    </a:ext>
                  </a:extLst>
                </p:cNvPr>
                <p:cNvSpPr>
                  <a:spLocks noChangeArrowheads="1"/>
                </p:cNvSpPr>
                <p:nvPr/>
              </p:nvSpPr>
              <p:spPr bwMode="auto">
                <a:xfrm>
                  <a:off x="4417"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3" name="Rectangle 279">
                  <a:extLst>
                    <a:ext uri="{FF2B5EF4-FFF2-40B4-BE49-F238E27FC236}">
                      <a16:creationId xmlns:a16="http://schemas.microsoft.com/office/drawing/2014/main" id="{3C1C2EB5-670D-CE87-3DCF-BF55914EB04E}"/>
                    </a:ext>
                  </a:extLst>
                </p:cNvPr>
                <p:cNvSpPr>
                  <a:spLocks noChangeArrowheads="1"/>
                </p:cNvSpPr>
                <p:nvPr/>
              </p:nvSpPr>
              <p:spPr bwMode="auto">
                <a:xfrm>
                  <a:off x="4818"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4" name="Rectangle 280">
                  <a:extLst>
                    <a:ext uri="{FF2B5EF4-FFF2-40B4-BE49-F238E27FC236}">
                      <a16:creationId xmlns:a16="http://schemas.microsoft.com/office/drawing/2014/main" id="{FF59AC22-0D65-98E3-6AE8-F773CC9A4DC9}"/>
                    </a:ext>
                  </a:extLst>
                </p:cNvPr>
                <p:cNvSpPr>
                  <a:spLocks noChangeArrowheads="1"/>
                </p:cNvSpPr>
                <p:nvPr/>
              </p:nvSpPr>
              <p:spPr bwMode="auto">
                <a:xfrm>
                  <a:off x="4824" y="229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5" name="Rectangle 281">
                  <a:extLst>
                    <a:ext uri="{FF2B5EF4-FFF2-40B4-BE49-F238E27FC236}">
                      <a16:creationId xmlns:a16="http://schemas.microsoft.com/office/drawing/2014/main" id="{CD2E99BE-957F-4E54-D5E3-38348D6BF8AC}"/>
                    </a:ext>
                  </a:extLst>
                </p:cNvPr>
                <p:cNvSpPr>
                  <a:spLocks noChangeArrowheads="1"/>
                </p:cNvSpPr>
                <p:nvPr/>
              </p:nvSpPr>
              <p:spPr bwMode="auto">
                <a:xfrm>
                  <a:off x="5225" y="229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6" name="Rectangle 282">
                  <a:extLst>
                    <a:ext uri="{FF2B5EF4-FFF2-40B4-BE49-F238E27FC236}">
                      <a16:creationId xmlns:a16="http://schemas.microsoft.com/office/drawing/2014/main" id="{81694AE7-3C38-C60B-8784-83BE9532CB12}"/>
                    </a:ext>
                  </a:extLst>
                </p:cNvPr>
                <p:cNvSpPr>
                  <a:spLocks noChangeArrowheads="1"/>
                </p:cNvSpPr>
                <p:nvPr/>
              </p:nvSpPr>
              <p:spPr bwMode="auto">
                <a:xfrm>
                  <a:off x="346"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7" name="Rectangle 283">
                  <a:extLst>
                    <a:ext uri="{FF2B5EF4-FFF2-40B4-BE49-F238E27FC236}">
                      <a16:creationId xmlns:a16="http://schemas.microsoft.com/office/drawing/2014/main" id="{12778A00-65EF-5DE5-9190-16A53F01175F}"/>
                    </a:ext>
                  </a:extLst>
                </p:cNvPr>
                <p:cNvSpPr>
                  <a:spLocks noChangeArrowheads="1"/>
                </p:cNvSpPr>
                <p:nvPr/>
              </p:nvSpPr>
              <p:spPr bwMode="auto">
                <a:xfrm>
                  <a:off x="582"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8" name="Rectangle 284">
                  <a:extLst>
                    <a:ext uri="{FF2B5EF4-FFF2-40B4-BE49-F238E27FC236}">
                      <a16:creationId xmlns:a16="http://schemas.microsoft.com/office/drawing/2014/main" id="{B4072F4B-9269-23D0-9121-FCD9006E5A88}"/>
                    </a:ext>
                  </a:extLst>
                </p:cNvPr>
                <p:cNvSpPr>
                  <a:spLocks noChangeArrowheads="1"/>
                </p:cNvSpPr>
                <p:nvPr/>
              </p:nvSpPr>
              <p:spPr bwMode="auto">
                <a:xfrm>
                  <a:off x="1157"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09" name="Rectangle 285">
                  <a:extLst>
                    <a:ext uri="{FF2B5EF4-FFF2-40B4-BE49-F238E27FC236}">
                      <a16:creationId xmlns:a16="http://schemas.microsoft.com/office/drawing/2014/main" id="{B003098F-57E4-DAD4-F35B-9F11686B8323}"/>
                    </a:ext>
                  </a:extLst>
                </p:cNvPr>
                <p:cNvSpPr>
                  <a:spLocks noChangeArrowheads="1"/>
                </p:cNvSpPr>
                <p:nvPr/>
              </p:nvSpPr>
              <p:spPr bwMode="auto">
                <a:xfrm>
                  <a:off x="1564"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0" name="Rectangle 286">
                  <a:extLst>
                    <a:ext uri="{FF2B5EF4-FFF2-40B4-BE49-F238E27FC236}">
                      <a16:creationId xmlns:a16="http://schemas.microsoft.com/office/drawing/2014/main" id="{FB230610-5821-D6A2-BBC7-B6BF40B645A8}"/>
                    </a:ext>
                  </a:extLst>
                </p:cNvPr>
                <p:cNvSpPr>
                  <a:spLocks noChangeArrowheads="1"/>
                </p:cNvSpPr>
                <p:nvPr/>
              </p:nvSpPr>
              <p:spPr bwMode="auto">
                <a:xfrm>
                  <a:off x="1987"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1" name="Rectangle 287">
                  <a:extLst>
                    <a:ext uri="{FF2B5EF4-FFF2-40B4-BE49-F238E27FC236}">
                      <a16:creationId xmlns:a16="http://schemas.microsoft.com/office/drawing/2014/main" id="{2CBB2045-235C-2462-B4B8-F9F8DC7CD604}"/>
                    </a:ext>
                  </a:extLst>
                </p:cNvPr>
                <p:cNvSpPr>
                  <a:spLocks noChangeArrowheads="1"/>
                </p:cNvSpPr>
                <p:nvPr/>
              </p:nvSpPr>
              <p:spPr bwMode="auto">
                <a:xfrm>
                  <a:off x="2378"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2" name="Rectangle 288">
                  <a:extLst>
                    <a:ext uri="{FF2B5EF4-FFF2-40B4-BE49-F238E27FC236}">
                      <a16:creationId xmlns:a16="http://schemas.microsoft.com/office/drawing/2014/main" id="{4CAD2007-A394-059C-5AE4-453DE6B1EADC}"/>
                    </a:ext>
                  </a:extLst>
                </p:cNvPr>
                <p:cNvSpPr>
                  <a:spLocks noChangeArrowheads="1"/>
                </p:cNvSpPr>
                <p:nvPr/>
              </p:nvSpPr>
              <p:spPr bwMode="auto">
                <a:xfrm>
                  <a:off x="2785"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3" name="Rectangle 289">
                  <a:extLst>
                    <a:ext uri="{FF2B5EF4-FFF2-40B4-BE49-F238E27FC236}">
                      <a16:creationId xmlns:a16="http://schemas.microsoft.com/office/drawing/2014/main" id="{8AD2F477-2633-E81D-9459-C366DDDBCB6D}"/>
                    </a:ext>
                  </a:extLst>
                </p:cNvPr>
                <p:cNvSpPr>
                  <a:spLocks noChangeArrowheads="1"/>
                </p:cNvSpPr>
                <p:nvPr/>
              </p:nvSpPr>
              <p:spPr bwMode="auto">
                <a:xfrm>
                  <a:off x="3192"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4" name="Rectangle 290">
                  <a:extLst>
                    <a:ext uri="{FF2B5EF4-FFF2-40B4-BE49-F238E27FC236}">
                      <a16:creationId xmlns:a16="http://schemas.microsoft.com/office/drawing/2014/main" id="{3AD61A85-BE08-4E00-4E0A-F35B0DBB8E60}"/>
                    </a:ext>
                  </a:extLst>
                </p:cNvPr>
                <p:cNvSpPr>
                  <a:spLocks noChangeArrowheads="1"/>
                </p:cNvSpPr>
                <p:nvPr/>
              </p:nvSpPr>
              <p:spPr bwMode="auto">
                <a:xfrm>
                  <a:off x="3599"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5" name="Rectangle 291">
                  <a:extLst>
                    <a:ext uri="{FF2B5EF4-FFF2-40B4-BE49-F238E27FC236}">
                      <a16:creationId xmlns:a16="http://schemas.microsoft.com/office/drawing/2014/main" id="{2D45A61F-83B9-4863-FD47-8C0094975448}"/>
                    </a:ext>
                  </a:extLst>
                </p:cNvPr>
                <p:cNvSpPr>
                  <a:spLocks noChangeArrowheads="1"/>
                </p:cNvSpPr>
                <p:nvPr/>
              </p:nvSpPr>
              <p:spPr bwMode="auto">
                <a:xfrm>
                  <a:off x="4004"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6" name="Rectangle 292">
                  <a:extLst>
                    <a:ext uri="{FF2B5EF4-FFF2-40B4-BE49-F238E27FC236}">
                      <a16:creationId xmlns:a16="http://schemas.microsoft.com/office/drawing/2014/main" id="{50F563E6-B96B-EFE2-0CDB-ACF2B76D618B}"/>
                    </a:ext>
                  </a:extLst>
                </p:cNvPr>
                <p:cNvSpPr>
                  <a:spLocks noChangeArrowheads="1"/>
                </p:cNvSpPr>
                <p:nvPr/>
              </p:nvSpPr>
              <p:spPr bwMode="auto">
                <a:xfrm>
                  <a:off x="4411"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7" name="Rectangle 293">
                  <a:extLst>
                    <a:ext uri="{FF2B5EF4-FFF2-40B4-BE49-F238E27FC236}">
                      <a16:creationId xmlns:a16="http://schemas.microsoft.com/office/drawing/2014/main" id="{24DE4BC0-062E-0559-2A96-5629CB1ECA78}"/>
                    </a:ext>
                  </a:extLst>
                </p:cNvPr>
                <p:cNvSpPr>
                  <a:spLocks noChangeArrowheads="1"/>
                </p:cNvSpPr>
                <p:nvPr/>
              </p:nvSpPr>
              <p:spPr bwMode="auto">
                <a:xfrm>
                  <a:off x="4818"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8" name="Rectangle 294">
                  <a:extLst>
                    <a:ext uri="{FF2B5EF4-FFF2-40B4-BE49-F238E27FC236}">
                      <a16:creationId xmlns:a16="http://schemas.microsoft.com/office/drawing/2014/main" id="{5EF21B22-8B6A-61F2-CD2D-FDE182355E4D}"/>
                    </a:ext>
                  </a:extLst>
                </p:cNvPr>
                <p:cNvSpPr>
                  <a:spLocks noChangeArrowheads="1"/>
                </p:cNvSpPr>
                <p:nvPr/>
              </p:nvSpPr>
              <p:spPr bwMode="auto">
                <a:xfrm>
                  <a:off x="5225" y="2303"/>
                  <a:ext cx="6" cy="2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19" name="Rectangle 295">
                  <a:extLst>
                    <a:ext uri="{FF2B5EF4-FFF2-40B4-BE49-F238E27FC236}">
                      <a16:creationId xmlns:a16="http://schemas.microsoft.com/office/drawing/2014/main" id="{630DA4A3-65D8-204F-5B9B-0392E2D3F1D5}"/>
                    </a:ext>
                  </a:extLst>
                </p:cNvPr>
                <p:cNvSpPr>
                  <a:spLocks noChangeArrowheads="1"/>
                </p:cNvSpPr>
                <p:nvPr/>
              </p:nvSpPr>
              <p:spPr bwMode="auto">
                <a:xfrm>
                  <a:off x="393" y="2303"/>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5</a:t>
                  </a:r>
                </a:p>
              </p:txBody>
            </p:sp>
            <p:sp>
              <p:nvSpPr>
                <p:cNvPr id="320" name="Rectangle 296">
                  <a:extLst>
                    <a:ext uri="{FF2B5EF4-FFF2-40B4-BE49-F238E27FC236}">
                      <a16:creationId xmlns:a16="http://schemas.microsoft.com/office/drawing/2014/main" id="{2D8C18F9-5C82-E486-A9EE-81A521E6A6C7}"/>
                    </a:ext>
                  </a:extLst>
                </p:cNvPr>
                <p:cNvSpPr>
                  <a:spLocks noChangeArrowheads="1"/>
                </p:cNvSpPr>
                <p:nvPr/>
              </p:nvSpPr>
              <p:spPr bwMode="auto">
                <a:xfrm>
                  <a:off x="708" y="2303"/>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330033</a:t>
                  </a:r>
                </a:p>
              </p:txBody>
            </p:sp>
            <p:sp>
              <p:nvSpPr>
                <p:cNvPr id="321" name="Rectangle 297">
                  <a:extLst>
                    <a:ext uri="{FF2B5EF4-FFF2-40B4-BE49-F238E27FC236}">
                      <a16:creationId xmlns:a16="http://schemas.microsoft.com/office/drawing/2014/main" id="{B436DCA8-D207-C12E-A21A-231ECE21E81D}"/>
                    </a:ext>
                  </a:extLst>
                </p:cNvPr>
                <p:cNvSpPr>
                  <a:spLocks noChangeArrowheads="1"/>
                </p:cNvSpPr>
                <p:nvPr/>
              </p:nvSpPr>
              <p:spPr bwMode="auto">
                <a:xfrm>
                  <a:off x="1272" y="2303"/>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48</a:t>
                  </a:r>
                </a:p>
              </p:txBody>
            </p:sp>
            <p:sp>
              <p:nvSpPr>
                <p:cNvPr id="322" name="Rectangle 298">
                  <a:extLst>
                    <a:ext uri="{FF2B5EF4-FFF2-40B4-BE49-F238E27FC236}">
                      <a16:creationId xmlns:a16="http://schemas.microsoft.com/office/drawing/2014/main" id="{E3C99742-FF42-6F5B-4F55-BC395AFCF998}"/>
                    </a:ext>
                  </a:extLst>
                </p:cNvPr>
                <p:cNvSpPr>
                  <a:spLocks noChangeArrowheads="1"/>
                </p:cNvSpPr>
                <p:nvPr/>
              </p:nvSpPr>
              <p:spPr bwMode="auto">
                <a:xfrm>
                  <a:off x="1704" y="2303"/>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4</a:t>
                  </a:r>
                </a:p>
              </p:txBody>
            </p:sp>
            <p:sp>
              <p:nvSpPr>
                <p:cNvPr id="323" name="Rectangle 299">
                  <a:extLst>
                    <a:ext uri="{FF2B5EF4-FFF2-40B4-BE49-F238E27FC236}">
                      <a16:creationId xmlns:a16="http://schemas.microsoft.com/office/drawing/2014/main" id="{FEEAB6A0-9089-F219-1DE6-4B6CD237C179}"/>
                    </a:ext>
                  </a:extLst>
                </p:cNvPr>
                <p:cNvSpPr>
                  <a:spLocks noChangeArrowheads="1"/>
                </p:cNvSpPr>
                <p:nvPr/>
              </p:nvSpPr>
              <p:spPr bwMode="auto">
                <a:xfrm>
                  <a:off x="2079"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4" name="Rectangle 300">
                  <a:extLst>
                    <a:ext uri="{FF2B5EF4-FFF2-40B4-BE49-F238E27FC236}">
                      <a16:creationId xmlns:a16="http://schemas.microsoft.com/office/drawing/2014/main" id="{E21F1C93-3C11-ECBF-E875-D08B4B4B83DD}"/>
                    </a:ext>
                  </a:extLst>
                </p:cNvPr>
                <p:cNvSpPr>
                  <a:spLocks noChangeArrowheads="1"/>
                </p:cNvSpPr>
                <p:nvPr/>
              </p:nvSpPr>
              <p:spPr bwMode="auto">
                <a:xfrm>
                  <a:off x="2883"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5" name="Rectangle 301">
                  <a:extLst>
                    <a:ext uri="{FF2B5EF4-FFF2-40B4-BE49-F238E27FC236}">
                      <a16:creationId xmlns:a16="http://schemas.microsoft.com/office/drawing/2014/main" id="{4EF8C866-9960-D199-7317-349A92727471}"/>
                    </a:ext>
                  </a:extLst>
                </p:cNvPr>
                <p:cNvSpPr>
                  <a:spLocks noChangeArrowheads="1"/>
                </p:cNvSpPr>
                <p:nvPr/>
              </p:nvSpPr>
              <p:spPr bwMode="auto">
                <a:xfrm>
                  <a:off x="3290"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326" name="Rectangle 302">
                  <a:extLst>
                    <a:ext uri="{FF2B5EF4-FFF2-40B4-BE49-F238E27FC236}">
                      <a16:creationId xmlns:a16="http://schemas.microsoft.com/office/drawing/2014/main" id="{C272AA07-AE26-F3F8-91C3-DC75E6905D74}"/>
                    </a:ext>
                  </a:extLst>
                </p:cNvPr>
                <p:cNvSpPr>
                  <a:spLocks noChangeArrowheads="1"/>
                </p:cNvSpPr>
                <p:nvPr/>
              </p:nvSpPr>
              <p:spPr bwMode="auto">
                <a:xfrm>
                  <a:off x="3697" y="2409"/>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7" name="Rectangle 303">
                  <a:extLst>
                    <a:ext uri="{FF2B5EF4-FFF2-40B4-BE49-F238E27FC236}">
                      <a16:creationId xmlns:a16="http://schemas.microsoft.com/office/drawing/2014/main" id="{2EA7FE4D-7E8E-3A9E-44C6-2B781C5984C6}"/>
                    </a:ext>
                  </a:extLst>
                </p:cNvPr>
                <p:cNvSpPr>
                  <a:spLocks noChangeArrowheads="1"/>
                </p:cNvSpPr>
                <p:nvPr/>
              </p:nvSpPr>
              <p:spPr bwMode="auto">
                <a:xfrm>
                  <a:off x="4104"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8" name="Rectangle 304">
                  <a:extLst>
                    <a:ext uri="{FF2B5EF4-FFF2-40B4-BE49-F238E27FC236}">
                      <a16:creationId xmlns:a16="http://schemas.microsoft.com/office/drawing/2014/main" id="{24FDCDEE-7D8A-05D0-0DE0-AD51C5CA0F64}"/>
                    </a:ext>
                  </a:extLst>
                </p:cNvPr>
                <p:cNvSpPr>
                  <a:spLocks noChangeArrowheads="1"/>
                </p:cNvSpPr>
                <p:nvPr/>
              </p:nvSpPr>
              <p:spPr bwMode="auto">
                <a:xfrm>
                  <a:off x="4511"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29" name="Rectangle 305">
                  <a:extLst>
                    <a:ext uri="{FF2B5EF4-FFF2-40B4-BE49-F238E27FC236}">
                      <a16:creationId xmlns:a16="http://schemas.microsoft.com/office/drawing/2014/main" id="{568CE3BD-DE7F-7C94-A792-F852E0E05F74}"/>
                    </a:ext>
                  </a:extLst>
                </p:cNvPr>
                <p:cNvSpPr>
                  <a:spLocks noChangeArrowheads="1"/>
                </p:cNvSpPr>
                <p:nvPr/>
              </p:nvSpPr>
              <p:spPr bwMode="auto">
                <a:xfrm>
                  <a:off x="4918" y="2280"/>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30" name="Rectangle 306">
                  <a:extLst>
                    <a:ext uri="{FF2B5EF4-FFF2-40B4-BE49-F238E27FC236}">
                      <a16:creationId xmlns:a16="http://schemas.microsoft.com/office/drawing/2014/main" id="{FBCF87C6-E10C-1D40-22E6-89DDE017B808}"/>
                    </a:ext>
                  </a:extLst>
                </p:cNvPr>
                <p:cNvSpPr>
                  <a:spLocks noChangeArrowheads="1"/>
                </p:cNvSpPr>
                <p:nvPr/>
              </p:nvSpPr>
              <p:spPr bwMode="auto">
                <a:xfrm>
                  <a:off x="346"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1" name="Rectangle 307">
                  <a:extLst>
                    <a:ext uri="{FF2B5EF4-FFF2-40B4-BE49-F238E27FC236}">
                      <a16:creationId xmlns:a16="http://schemas.microsoft.com/office/drawing/2014/main" id="{87C01895-C9B2-551E-540F-57B50106D38F}"/>
                    </a:ext>
                  </a:extLst>
                </p:cNvPr>
                <p:cNvSpPr>
                  <a:spLocks noChangeArrowheads="1"/>
                </p:cNvSpPr>
                <p:nvPr/>
              </p:nvSpPr>
              <p:spPr bwMode="auto">
                <a:xfrm>
                  <a:off x="351" y="2570"/>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2" name="Rectangle 308">
                  <a:extLst>
                    <a:ext uri="{FF2B5EF4-FFF2-40B4-BE49-F238E27FC236}">
                      <a16:creationId xmlns:a16="http://schemas.microsoft.com/office/drawing/2014/main" id="{2ED39329-EE15-569B-3085-0DFEA5BAEBF7}"/>
                    </a:ext>
                  </a:extLst>
                </p:cNvPr>
                <p:cNvSpPr>
                  <a:spLocks noChangeArrowheads="1"/>
                </p:cNvSpPr>
                <p:nvPr/>
              </p:nvSpPr>
              <p:spPr bwMode="auto">
                <a:xfrm>
                  <a:off x="582"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3" name="Rectangle 309">
                  <a:extLst>
                    <a:ext uri="{FF2B5EF4-FFF2-40B4-BE49-F238E27FC236}">
                      <a16:creationId xmlns:a16="http://schemas.microsoft.com/office/drawing/2014/main" id="{B002EC59-8C26-CB6C-EE65-A3DC0967E08A}"/>
                    </a:ext>
                  </a:extLst>
                </p:cNvPr>
                <p:cNvSpPr>
                  <a:spLocks noChangeArrowheads="1"/>
                </p:cNvSpPr>
                <p:nvPr/>
              </p:nvSpPr>
              <p:spPr bwMode="auto">
                <a:xfrm>
                  <a:off x="587" y="2570"/>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4" name="Rectangle 310">
                  <a:extLst>
                    <a:ext uri="{FF2B5EF4-FFF2-40B4-BE49-F238E27FC236}">
                      <a16:creationId xmlns:a16="http://schemas.microsoft.com/office/drawing/2014/main" id="{D47F390D-3633-D510-2E62-2A93B971AEBC}"/>
                    </a:ext>
                  </a:extLst>
                </p:cNvPr>
                <p:cNvSpPr>
                  <a:spLocks noChangeArrowheads="1"/>
                </p:cNvSpPr>
                <p:nvPr/>
              </p:nvSpPr>
              <p:spPr bwMode="auto">
                <a:xfrm>
                  <a:off x="1157"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5" name="Rectangle 311">
                  <a:extLst>
                    <a:ext uri="{FF2B5EF4-FFF2-40B4-BE49-F238E27FC236}">
                      <a16:creationId xmlns:a16="http://schemas.microsoft.com/office/drawing/2014/main" id="{400FE077-47B8-D314-A50F-207ECCB51B24}"/>
                    </a:ext>
                  </a:extLst>
                </p:cNvPr>
                <p:cNvSpPr>
                  <a:spLocks noChangeArrowheads="1"/>
                </p:cNvSpPr>
                <p:nvPr/>
              </p:nvSpPr>
              <p:spPr bwMode="auto">
                <a:xfrm>
                  <a:off x="1163"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6" name="Rectangle 312">
                  <a:extLst>
                    <a:ext uri="{FF2B5EF4-FFF2-40B4-BE49-F238E27FC236}">
                      <a16:creationId xmlns:a16="http://schemas.microsoft.com/office/drawing/2014/main" id="{758EA90D-9F44-0C3E-01D5-88D37921D701}"/>
                    </a:ext>
                  </a:extLst>
                </p:cNvPr>
                <p:cNvSpPr>
                  <a:spLocks noChangeArrowheads="1"/>
                </p:cNvSpPr>
                <p:nvPr/>
              </p:nvSpPr>
              <p:spPr bwMode="auto">
                <a:xfrm>
                  <a:off x="1564"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7" name="Rectangle 313">
                  <a:extLst>
                    <a:ext uri="{FF2B5EF4-FFF2-40B4-BE49-F238E27FC236}">
                      <a16:creationId xmlns:a16="http://schemas.microsoft.com/office/drawing/2014/main" id="{D50A06E1-BA70-8D09-BC03-72B66934A3FF}"/>
                    </a:ext>
                  </a:extLst>
                </p:cNvPr>
                <p:cNvSpPr>
                  <a:spLocks noChangeArrowheads="1"/>
                </p:cNvSpPr>
                <p:nvPr/>
              </p:nvSpPr>
              <p:spPr bwMode="auto">
                <a:xfrm>
                  <a:off x="1570" y="2570"/>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8" name="Rectangle 314">
                  <a:extLst>
                    <a:ext uri="{FF2B5EF4-FFF2-40B4-BE49-F238E27FC236}">
                      <a16:creationId xmlns:a16="http://schemas.microsoft.com/office/drawing/2014/main" id="{ABE3D244-88B3-BED3-D82F-A063E163681B}"/>
                    </a:ext>
                  </a:extLst>
                </p:cNvPr>
                <p:cNvSpPr>
                  <a:spLocks noChangeArrowheads="1"/>
                </p:cNvSpPr>
                <p:nvPr/>
              </p:nvSpPr>
              <p:spPr bwMode="auto">
                <a:xfrm>
                  <a:off x="1987"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39" name="Rectangle 315">
                  <a:extLst>
                    <a:ext uri="{FF2B5EF4-FFF2-40B4-BE49-F238E27FC236}">
                      <a16:creationId xmlns:a16="http://schemas.microsoft.com/office/drawing/2014/main" id="{3D469490-12FE-C310-E488-439F6175FD4C}"/>
                    </a:ext>
                  </a:extLst>
                </p:cNvPr>
                <p:cNvSpPr>
                  <a:spLocks noChangeArrowheads="1"/>
                </p:cNvSpPr>
                <p:nvPr/>
              </p:nvSpPr>
              <p:spPr bwMode="auto">
                <a:xfrm>
                  <a:off x="1993" y="2570"/>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0" name="Rectangle 316">
                  <a:extLst>
                    <a:ext uri="{FF2B5EF4-FFF2-40B4-BE49-F238E27FC236}">
                      <a16:creationId xmlns:a16="http://schemas.microsoft.com/office/drawing/2014/main" id="{2E861B31-E48A-EDFC-854E-DF1F9EE1E459}"/>
                    </a:ext>
                  </a:extLst>
                </p:cNvPr>
                <p:cNvSpPr>
                  <a:spLocks noChangeArrowheads="1"/>
                </p:cNvSpPr>
                <p:nvPr/>
              </p:nvSpPr>
              <p:spPr bwMode="auto">
                <a:xfrm>
                  <a:off x="2378"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1" name="Rectangle 317">
                  <a:extLst>
                    <a:ext uri="{FF2B5EF4-FFF2-40B4-BE49-F238E27FC236}">
                      <a16:creationId xmlns:a16="http://schemas.microsoft.com/office/drawing/2014/main" id="{B2048CCD-F5FB-6D9E-C603-70E7DF1A1651}"/>
                    </a:ext>
                  </a:extLst>
                </p:cNvPr>
                <p:cNvSpPr>
                  <a:spLocks noChangeArrowheads="1"/>
                </p:cNvSpPr>
                <p:nvPr/>
              </p:nvSpPr>
              <p:spPr bwMode="auto">
                <a:xfrm>
                  <a:off x="2384"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2" name="Rectangle 318">
                  <a:extLst>
                    <a:ext uri="{FF2B5EF4-FFF2-40B4-BE49-F238E27FC236}">
                      <a16:creationId xmlns:a16="http://schemas.microsoft.com/office/drawing/2014/main" id="{05D2C112-6FF0-84B3-5B4A-5BBDEE270995}"/>
                    </a:ext>
                  </a:extLst>
                </p:cNvPr>
                <p:cNvSpPr>
                  <a:spLocks noChangeArrowheads="1"/>
                </p:cNvSpPr>
                <p:nvPr/>
              </p:nvSpPr>
              <p:spPr bwMode="auto">
                <a:xfrm>
                  <a:off x="2785"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3" name="Rectangle 319">
                  <a:extLst>
                    <a:ext uri="{FF2B5EF4-FFF2-40B4-BE49-F238E27FC236}">
                      <a16:creationId xmlns:a16="http://schemas.microsoft.com/office/drawing/2014/main" id="{B3499677-72F5-9BAE-0C58-5FEFAA4577A8}"/>
                    </a:ext>
                  </a:extLst>
                </p:cNvPr>
                <p:cNvSpPr>
                  <a:spLocks noChangeArrowheads="1"/>
                </p:cNvSpPr>
                <p:nvPr/>
              </p:nvSpPr>
              <p:spPr bwMode="auto">
                <a:xfrm>
                  <a:off x="2791"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4" name="Rectangle 320">
                  <a:extLst>
                    <a:ext uri="{FF2B5EF4-FFF2-40B4-BE49-F238E27FC236}">
                      <a16:creationId xmlns:a16="http://schemas.microsoft.com/office/drawing/2014/main" id="{7349680B-3909-03C2-42C3-C60047D0C983}"/>
                    </a:ext>
                  </a:extLst>
                </p:cNvPr>
                <p:cNvSpPr>
                  <a:spLocks noChangeArrowheads="1"/>
                </p:cNvSpPr>
                <p:nvPr/>
              </p:nvSpPr>
              <p:spPr bwMode="auto">
                <a:xfrm>
                  <a:off x="3192"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5" name="Rectangle 321">
                  <a:extLst>
                    <a:ext uri="{FF2B5EF4-FFF2-40B4-BE49-F238E27FC236}">
                      <a16:creationId xmlns:a16="http://schemas.microsoft.com/office/drawing/2014/main" id="{A9761968-BB31-B13F-1358-CA192DDB9B50}"/>
                    </a:ext>
                  </a:extLst>
                </p:cNvPr>
                <p:cNvSpPr>
                  <a:spLocks noChangeArrowheads="1"/>
                </p:cNvSpPr>
                <p:nvPr/>
              </p:nvSpPr>
              <p:spPr bwMode="auto">
                <a:xfrm>
                  <a:off x="3198"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6" name="Rectangle 322">
                  <a:extLst>
                    <a:ext uri="{FF2B5EF4-FFF2-40B4-BE49-F238E27FC236}">
                      <a16:creationId xmlns:a16="http://schemas.microsoft.com/office/drawing/2014/main" id="{C3302BC8-61BE-A80F-2026-9CE99D1557F1}"/>
                    </a:ext>
                  </a:extLst>
                </p:cNvPr>
                <p:cNvSpPr>
                  <a:spLocks noChangeArrowheads="1"/>
                </p:cNvSpPr>
                <p:nvPr/>
              </p:nvSpPr>
              <p:spPr bwMode="auto">
                <a:xfrm>
                  <a:off x="3599"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7" name="Rectangle 323">
                  <a:extLst>
                    <a:ext uri="{FF2B5EF4-FFF2-40B4-BE49-F238E27FC236}">
                      <a16:creationId xmlns:a16="http://schemas.microsoft.com/office/drawing/2014/main" id="{88DB177F-53D4-B472-BB88-1E8ED3A49222}"/>
                    </a:ext>
                  </a:extLst>
                </p:cNvPr>
                <p:cNvSpPr>
                  <a:spLocks noChangeArrowheads="1"/>
                </p:cNvSpPr>
                <p:nvPr/>
              </p:nvSpPr>
              <p:spPr bwMode="auto">
                <a:xfrm>
                  <a:off x="3605" y="2570"/>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8" name="Rectangle 324">
                  <a:extLst>
                    <a:ext uri="{FF2B5EF4-FFF2-40B4-BE49-F238E27FC236}">
                      <a16:creationId xmlns:a16="http://schemas.microsoft.com/office/drawing/2014/main" id="{C59CF3B2-A323-7031-C15C-E7C676092E6C}"/>
                    </a:ext>
                  </a:extLst>
                </p:cNvPr>
                <p:cNvSpPr>
                  <a:spLocks noChangeArrowheads="1"/>
                </p:cNvSpPr>
                <p:nvPr/>
              </p:nvSpPr>
              <p:spPr bwMode="auto">
                <a:xfrm>
                  <a:off x="4004"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49" name="Rectangle 325">
                  <a:extLst>
                    <a:ext uri="{FF2B5EF4-FFF2-40B4-BE49-F238E27FC236}">
                      <a16:creationId xmlns:a16="http://schemas.microsoft.com/office/drawing/2014/main" id="{B7415A4E-7A23-9697-0853-D8C76EB46BB2}"/>
                    </a:ext>
                  </a:extLst>
                </p:cNvPr>
                <p:cNvSpPr>
                  <a:spLocks noChangeArrowheads="1"/>
                </p:cNvSpPr>
                <p:nvPr/>
              </p:nvSpPr>
              <p:spPr bwMode="auto">
                <a:xfrm>
                  <a:off x="4010"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0" name="Rectangle 326">
                  <a:extLst>
                    <a:ext uri="{FF2B5EF4-FFF2-40B4-BE49-F238E27FC236}">
                      <a16:creationId xmlns:a16="http://schemas.microsoft.com/office/drawing/2014/main" id="{90AE8CB4-667E-37C8-4352-92A5D33AA283}"/>
                    </a:ext>
                  </a:extLst>
                </p:cNvPr>
                <p:cNvSpPr>
                  <a:spLocks noChangeArrowheads="1"/>
                </p:cNvSpPr>
                <p:nvPr/>
              </p:nvSpPr>
              <p:spPr bwMode="auto">
                <a:xfrm>
                  <a:off x="4411"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1" name="Rectangle 327">
                  <a:extLst>
                    <a:ext uri="{FF2B5EF4-FFF2-40B4-BE49-F238E27FC236}">
                      <a16:creationId xmlns:a16="http://schemas.microsoft.com/office/drawing/2014/main" id="{82B94611-1954-FC8E-C941-2E20B620289D}"/>
                    </a:ext>
                  </a:extLst>
                </p:cNvPr>
                <p:cNvSpPr>
                  <a:spLocks noChangeArrowheads="1"/>
                </p:cNvSpPr>
                <p:nvPr/>
              </p:nvSpPr>
              <p:spPr bwMode="auto">
                <a:xfrm>
                  <a:off x="4417"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2" name="Rectangle 328">
                  <a:extLst>
                    <a:ext uri="{FF2B5EF4-FFF2-40B4-BE49-F238E27FC236}">
                      <a16:creationId xmlns:a16="http://schemas.microsoft.com/office/drawing/2014/main" id="{231B927B-1890-2FAA-8581-4AA2CC776D59}"/>
                    </a:ext>
                  </a:extLst>
                </p:cNvPr>
                <p:cNvSpPr>
                  <a:spLocks noChangeArrowheads="1"/>
                </p:cNvSpPr>
                <p:nvPr/>
              </p:nvSpPr>
              <p:spPr bwMode="auto">
                <a:xfrm>
                  <a:off x="4818"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3" name="Rectangle 329">
                  <a:extLst>
                    <a:ext uri="{FF2B5EF4-FFF2-40B4-BE49-F238E27FC236}">
                      <a16:creationId xmlns:a16="http://schemas.microsoft.com/office/drawing/2014/main" id="{55C8E9DD-8B62-B923-7FCD-AA9BF643363C}"/>
                    </a:ext>
                  </a:extLst>
                </p:cNvPr>
                <p:cNvSpPr>
                  <a:spLocks noChangeArrowheads="1"/>
                </p:cNvSpPr>
                <p:nvPr/>
              </p:nvSpPr>
              <p:spPr bwMode="auto">
                <a:xfrm>
                  <a:off x="4824" y="25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4" name="Rectangle 330">
                  <a:extLst>
                    <a:ext uri="{FF2B5EF4-FFF2-40B4-BE49-F238E27FC236}">
                      <a16:creationId xmlns:a16="http://schemas.microsoft.com/office/drawing/2014/main" id="{08AFA908-E769-1581-B32C-F7782885B69C}"/>
                    </a:ext>
                  </a:extLst>
                </p:cNvPr>
                <p:cNvSpPr>
                  <a:spLocks noChangeArrowheads="1"/>
                </p:cNvSpPr>
                <p:nvPr/>
              </p:nvSpPr>
              <p:spPr bwMode="auto">
                <a:xfrm>
                  <a:off x="5225" y="25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5" name="Rectangle 331">
                  <a:extLst>
                    <a:ext uri="{FF2B5EF4-FFF2-40B4-BE49-F238E27FC236}">
                      <a16:creationId xmlns:a16="http://schemas.microsoft.com/office/drawing/2014/main" id="{7EE9BDC1-4281-95D6-4985-471D9E872BAE}"/>
                    </a:ext>
                  </a:extLst>
                </p:cNvPr>
                <p:cNvSpPr>
                  <a:spLocks noChangeArrowheads="1"/>
                </p:cNvSpPr>
                <p:nvPr/>
              </p:nvSpPr>
              <p:spPr bwMode="auto">
                <a:xfrm>
                  <a:off x="346"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6" name="Rectangle 332">
                  <a:extLst>
                    <a:ext uri="{FF2B5EF4-FFF2-40B4-BE49-F238E27FC236}">
                      <a16:creationId xmlns:a16="http://schemas.microsoft.com/office/drawing/2014/main" id="{25475CD6-E357-8AA8-9D74-7F5391A0004E}"/>
                    </a:ext>
                  </a:extLst>
                </p:cNvPr>
                <p:cNvSpPr>
                  <a:spLocks noChangeArrowheads="1"/>
                </p:cNvSpPr>
                <p:nvPr/>
              </p:nvSpPr>
              <p:spPr bwMode="auto">
                <a:xfrm>
                  <a:off x="582"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7" name="Rectangle 333">
                  <a:extLst>
                    <a:ext uri="{FF2B5EF4-FFF2-40B4-BE49-F238E27FC236}">
                      <a16:creationId xmlns:a16="http://schemas.microsoft.com/office/drawing/2014/main" id="{71F9EDF0-0771-EAB3-1C46-0F5EFA3EDE5D}"/>
                    </a:ext>
                  </a:extLst>
                </p:cNvPr>
                <p:cNvSpPr>
                  <a:spLocks noChangeArrowheads="1"/>
                </p:cNvSpPr>
                <p:nvPr/>
              </p:nvSpPr>
              <p:spPr bwMode="auto">
                <a:xfrm>
                  <a:off x="1157"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8" name="Rectangle 334">
                  <a:extLst>
                    <a:ext uri="{FF2B5EF4-FFF2-40B4-BE49-F238E27FC236}">
                      <a16:creationId xmlns:a16="http://schemas.microsoft.com/office/drawing/2014/main" id="{3551CCFA-D15C-BE8F-956D-A70330A5BBFB}"/>
                    </a:ext>
                  </a:extLst>
                </p:cNvPr>
                <p:cNvSpPr>
                  <a:spLocks noChangeArrowheads="1"/>
                </p:cNvSpPr>
                <p:nvPr/>
              </p:nvSpPr>
              <p:spPr bwMode="auto">
                <a:xfrm>
                  <a:off x="1564"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59" name="Rectangle 335">
                  <a:extLst>
                    <a:ext uri="{FF2B5EF4-FFF2-40B4-BE49-F238E27FC236}">
                      <a16:creationId xmlns:a16="http://schemas.microsoft.com/office/drawing/2014/main" id="{737FBD17-FABB-A37F-E9EF-515F68407B81}"/>
                    </a:ext>
                  </a:extLst>
                </p:cNvPr>
                <p:cNvSpPr>
                  <a:spLocks noChangeArrowheads="1"/>
                </p:cNvSpPr>
                <p:nvPr/>
              </p:nvSpPr>
              <p:spPr bwMode="auto">
                <a:xfrm>
                  <a:off x="1987"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0" name="Rectangle 336">
                  <a:extLst>
                    <a:ext uri="{FF2B5EF4-FFF2-40B4-BE49-F238E27FC236}">
                      <a16:creationId xmlns:a16="http://schemas.microsoft.com/office/drawing/2014/main" id="{7B90AC2B-226C-BD04-7969-19616DEFC345}"/>
                    </a:ext>
                  </a:extLst>
                </p:cNvPr>
                <p:cNvSpPr>
                  <a:spLocks noChangeArrowheads="1"/>
                </p:cNvSpPr>
                <p:nvPr/>
              </p:nvSpPr>
              <p:spPr bwMode="auto">
                <a:xfrm>
                  <a:off x="2378"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1" name="Rectangle 337">
                  <a:extLst>
                    <a:ext uri="{FF2B5EF4-FFF2-40B4-BE49-F238E27FC236}">
                      <a16:creationId xmlns:a16="http://schemas.microsoft.com/office/drawing/2014/main" id="{63D5F94A-9AB1-DDD8-7042-B3D6F2257AC4}"/>
                    </a:ext>
                  </a:extLst>
                </p:cNvPr>
                <p:cNvSpPr>
                  <a:spLocks noChangeArrowheads="1"/>
                </p:cNvSpPr>
                <p:nvPr/>
              </p:nvSpPr>
              <p:spPr bwMode="auto">
                <a:xfrm>
                  <a:off x="2785"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2" name="Rectangle 338">
                  <a:extLst>
                    <a:ext uri="{FF2B5EF4-FFF2-40B4-BE49-F238E27FC236}">
                      <a16:creationId xmlns:a16="http://schemas.microsoft.com/office/drawing/2014/main" id="{E5327DFB-B17E-2D4B-83A7-27AC06EC1054}"/>
                    </a:ext>
                  </a:extLst>
                </p:cNvPr>
                <p:cNvSpPr>
                  <a:spLocks noChangeArrowheads="1"/>
                </p:cNvSpPr>
                <p:nvPr/>
              </p:nvSpPr>
              <p:spPr bwMode="auto">
                <a:xfrm>
                  <a:off x="3192"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3" name="Rectangle 339">
                  <a:extLst>
                    <a:ext uri="{FF2B5EF4-FFF2-40B4-BE49-F238E27FC236}">
                      <a16:creationId xmlns:a16="http://schemas.microsoft.com/office/drawing/2014/main" id="{421F167C-1103-7846-525D-BA5E1FE19AB0}"/>
                    </a:ext>
                  </a:extLst>
                </p:cNvPr>
                <p:cNvSpPr>
                  <a:spLocks noChangeArrowheads="1"/>
                </p:cNvSpPr>
                <p:nvPr/>
              </p:nvSpPr>
              <p:spPr bwMode="auto">
                <a:xfrm>
                  <a:off x="3599"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4" name="Rectangle 340">
                  <a:extLst>
                    <a:ext uri="{FF2B5EF4-FFF2-40B4-BE49-F238E27FC236}">
                      <a16:creationId xmlns:a16="http://schemas.microsoft.com/office/drawing/2014/main" id="{FD15278B-398D-99D3-DCED-CB0F457E328D}"/>
                    </a:ext>
                  </a:extLst>
                </p:cNvPr>
                <p:cNvSpPr>
                  <a:spLocks noChangeArrowheads="1"/>
                </p:cNvSpPr>
                <p:nvPr/>
              </p:nvSpPr>
              <p:spPr bwMode="auto">
                <a:xfrm>
                  <a:off x="4004"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5" name="Rectangle 341">
                  <a:extLst>
                    <a:ext uri="{FF2B5EF4-FFF2-40B4-BE49-F238E27FC236}">
                      <a16:creationId xmlns:a16="http://schemas.microsoft.com/office/drawing/2014/main" id="{C175C6B0-C629-E9F6-1BFB-8612277436D2}"/>
                    </a:ext>
                  </a:extLst>
                </p:cNvPr>
                <p:cNvSpPr>
                  <a:spLocks noChangeArrowheads="1"/>
                </p:cNvSpPr>
                <p:nvPr/>
              </p:nvSpPr>
              <p:spPr bwMode="auto">
                <a:xfrm>
                  <a:off x="4411"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6" name="Rectangle 342">
                  <a:extLst>
                    <a:ext uri="{FF2B5EF4-FFF2-40B4-BE49-F238E27FC236}">
                      <a16:creationId xmlns:a16="http://schemas.microsoft.com/office/drawing/2014/main" id="{494324AA-CE7A-3B76-BFDB-5B1402E59F65}"/>
                    </a:ext>
                  </a:extLst>
                </p:cNvPr>
                <p:cNvSpPr>
                  <a:spLocks noChangeArrowheads="1"/>
                </p:cNvSpPr>
                <p:nvPr/>
              </p:nvSpPr>
              <p:spPr bwMode="auto">
                <a:xfrm>
                  <a:off x="4818"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7" name="Rectangle 343">
                  <a:extLst>
                    <a:ext uri="{FF2B5EF4-FFF2-40B4-BE49-F238E27FC236}">
                      <a16:creationId xmlns:a16="http://schemas.microsoft.com/office/drawing/2014/main" id="{72AC9618-6783-CC64-F542-5342D503D34F}"/>
                    </a:ext>
                  </a:extLst>
                </p:cNvPr>
                <p:cNvSpPr>
                  <a:spLocks noChangeArrowheads="1"/>
                </p:cNvSpPr>
                <p:nvPr/>
              </p:nvSpPr>
              <p:spPr bwMode="auto">
                <a:xfrm>
                  <a:off x="5225" y="257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68" name="Rectangle 344">
                  <a:extLst>
                    <a:ext uri="{FF2B5EF4-FFF2-40B4-BE49-F238E27FC236}">
                      <a16:creationId xmlns:a16="http://schemas.microsoft.com/office/drawing/2014/main" id="{782DB213-34CA-5B97-4E96-2B88CE36DF4E}"/>
                    </a:ext>
                  </a:extLst>
                </p:cNvPr>
                <p:cNvSpPr>
                  <a:spLocks noChangeArrowheads="1"/>
                </p:cNvSpPr>
                <p:nvPr/>
              </p:nvSpPr>
              <p:spPr bwMode="auto">
                <a:xfrm>
                  <a:off x="393" y="257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6</a:t>
                  </a:r>
                </a:p>
              </p:txBody>
            </p:sp>
            <p:sp>
              <p:nvSpPr>
                <p:cNvPr id="369" name="Rectangle 345">
                  <a:extLst>
                    <a:ext uri="{FF2B5EF4-FFF2-40B4-BE49-F238E27FC236}">
                      <a16:creationId xmlns:a16="http://schemas.microsoft.com/office/drawing/2014/main" id="{F85A856A-AB24-851E-D9FA-F9D19F6AEBB2}"/>
                    </a:ext>
                  </a:extLst>
                </p:cNvPr>
                <p:cNvSpPr>
                  <a:spLocks noChangeArrowheads="1"/>
                </p:cNvSpPr>
                <p:nvPr/>
              </p:nvSpPr>
              <p:spPr bwMode="auto">
                <a:xfrm>
                  <a:off x="708" y="2576"/>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330003</a:t>
                  </a:r>
                </a:p>
              </p:txBody>
            </p:sp>
            <p:sp>
              <p:nvSpPr>
                <p:cNvPr id="370" name="Rectangle 346">
                  <a:extLst>
                    <a:ext uri="{FF2B5EF4-FFF2-40B4-BE49-F238E27FC236}">
                      <a16:creationId xmlns:a16="http://schemas.microsoft.com/office/drawing/2014/main" id="{3FF58BC0-D553-9EE0-91B0-8C35CAEC2073}"/>
                    </a:ext>
                  </a:extLst>
                </p:cNvPr>
                <p:cNvSpPr>
                  <a:spLocks noChangeArrowheads="1"/>
                </p:cNvSpPr>
                <p:nvPr/>
              </p:nvSpPr>
              <p:spPr bwMode="auto">
                <a:xfrm>
                  <a:off x="1272" y="257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24</a:t>
                  </a:r>
                </a:p>
              </p:txBody>
            </p:sp>
            <p:sp>
              <p:nvSpPr>
                <p:cNvPr id="371" name="Rectangle 347">
                  <a:extLst>
                    <a:ext uri="{FF2B5EF4-FFF2-40B4-BE49-F238E27FC236}">
                      <a16:creationId xmlns:a16="http://schemas.microsoft.com/office/drawing/2014/main" id="{3B6150AD-94FF-6FE1-1517-9DC25C0F27FF}"/>
                    </a:ext>
                  </a:extLst>
                </p:cNvPr>
                <p:cNvSpPr>
                  <a:spLocks noChangeArrowheads="1"/>
                </p:cNvSpPr>
                <p:nvPr/>
              </p:nvSpPr>
              <p:spPr bwMode="auto">
                <a:xfrm>
                  <a:off x="1704" y="257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a:t>
                  </a:r>
                </a:p>
              </p:txBody>
            </p:sp>
            <p:sp>
              <p:nvSpPr>
                <p:cNvPr id="372" name="Rectangle 348">
                  <a:extLst>
                    <a:ext uri="{FF2B5EF4-FFF2-40B4-BE49-F238E27FC236}">
                      <a16:creationId xmlns:a16="http://schemas.microsoft.com/office/drawing/2014/main" id="{AC4D9784-4E10-BCF0-FC47-F0910E95627C}"/>
                    </a:ext>
                  </a:extLst>
                </p:cNvPr>
                <p:cNvSpPr>
                  <a:spLocks noChangeArrowheads="1"/>
                </p:cNvSpPr>
                <p:nvPr/>
              </p:nvSpPr>
              <p:spPr bwMode="auto">
                <a:xfrm>
                  <a:off x="2079"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3" name="Rectangle 349">
                  <a:extLst>
                    <a:ext uri="{FF2B5EF4-FFF2-40B4-BE49-F238E27FC236}">
                      <a16:creationId xmlns:a16="http://schemas.microsoft.com/office/drawing/2014/main" id="{89122757-A883-2C31-FC6B-B45EA86D7986}"/>
                    </a:ext>
                  </a:extLst>
                </p:cNvPr>
                <p:cNvSpPr>
                  <a:spLocks noChangeArrowheads="1"/>
                </p:cNvSpPr>
                <p:nvPr/>
              </p:nvSpPr>
              <p:spPr bwMode="auto">
                <a:xfrm>
                  <a:off x="2883"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4" name="Rectangle 350">
                  <a:extLst>
                    <a:ext uri="{FF2B5EF4-FFF2-40B4-BE49-F238E27FC236}">
                      <a16:creationId xmlns:a16="http://schemas.microsoft.com/office/drawing/2014/main" id="{0D065E59-9942-DDC9-1624-180216DFEA16}"/>
                    </a:ext>
                  </a:extLst>
                </p:cNvPr>
                <p:cNvSpPr>
                  <a:spLocks noChangeArrowheads="1"/>
                </p:cNvSpPr>
                <p:nvPr/>
              </p:nvSpPr>
              <p:spPr bwMode="auto">
                <a:xfrm>
                  <a:off x="3290"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375" name="Rectangle 351">
                  <a:extLst>
                    <a:ext uri="{FF2B5EF4-FFF2-40B4-BE49-F238E27FC236}">
                      <a16:creationId xmlns:a16="http://schemas.microsoft.com/office/drawing/2014/main" id="{C9782F22-77E4-452E-44F1-6BA2F1120FF7}"/>
                    </a:ext>
                  </a:extLst>
                </p:cNvPr>
                <p:cNvSpPr>
                  <a:spLocks noChangeArrowheads="1"/>
                </p:cNvSpPr>
                <p:nvPr/>
              </p:nvSpPr>
              <p:spPr bwMode="auto">
                <a:xfrm>
                  <a:off x="3697"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6" name="Rectangle 352">
                  <a:extLst>
                    <a:ext uri="{FF2B5EF4-FFF2-40B4-BE49-F238E27FC236}">
                      <a16:creationId xmlns:a16="http://schemas.microsoft.com/office/drawing/2014/main" id="{6DDC4766-56F2-8066-E114-2E7D93BCB945}"/>
                    </a:ext>
                  </a:extLst>
                </p:cNvPr>
                <p:cNvSpPr>
                  <a:spLocks noChangeArrowheads="1"/>
                </p:cNvSpPr>
                <p:nvPr/>
              </p:nvSpPr>
              <p:spPr bwMode="auto">
                <a:xfrm>
                  <a:off x="4511"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7" name="Rectangle 353">
                  <a:extLst>
                    <a:ext uri="{FF2B5EF4-FFF2-40B4-BE49-F238E27FC236}">
                      <a16:creationId xmlns:a16="http://schemas.microsoft.com/office/drawing/2014/main" id="{73136DFB-50E7-FC6B-B7C8-558D24E76D0E}"/>
                    </a:ext>
                  </a:extLst>
                </p:cNvPr>
                <p:cNvSpPr>
                  <a:spLocks noChangeArrowheads="1"/>
                </p:cNvSpPr>
                <p:nvPr/>
              </p:nvSpPr>
              <p:spPr bwMode="auto">
                <a:xfrm>
                  <a:off x="4918" y="2553"/>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378" name="Rectangle 354">
                  <a:extLst>
                    <a:ext uri="{FF2B5EF4-FFF2-40B4-BE49-F238E27FC236}">
                      <a16:creationId xmlns:a16="http://schemas.microsoft.com/office/drawing/2014/main" id="{179C7FC7-0153-2743-2FB5-89E3360F7DF0}"/>
                    </a:ext>
                  </a:extLst>
                </p:cNvPr>
                <p:cNvSpPr>
                  <a:spLocks noChangeArrowheads="1"/>
                </p:cNvSpPr>
                <p:nvPr/>
              </p:nvSpPr>
              <p:spPr bwMode="auto">
                <a:xfrm>
                  <a:off x="346"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79" name="Rectangle 355">
                  <a:extLst>
                    <a:ext uri="{FF2B5EF4-FFF2-40B4-BE49-F238E27FC236}">
                      <a16:creationId xmlns:a16="http://schemas.microsoft.com/office/drawing/2014/main" id="{BA334029-555E-A4A1-FDDA-5F8D857C830A}"/>
                    </a:ext>
                  </a:extLst>
                </p:cNvPr>
                <p:cNvSpPr>
                  <a:spLocks noChangeArrowheads="1"/>
                </p:cNvSpPr>
                <p:nvPr/>
              </p:nvSpPr>
              <p:spPr bwMode="auto">
                <a:xfrm>
                  <a:off x="351" y="2720"/>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0" name="Rectangle 356">
                  <a:extLst>
                    <a:ext uri="{FF2B5EF4-FFF2-40B4-BE49-F238E27FC236}">
                      <a16:creationId xmlns:a16="http://schemas.microsoft.com/office/drawing/2014/main" id="{F059BF2E-003F-309B-4ACF-A0418A53FAA0}"/>
                    </a:ext>
                  </a:extLst>
                </p:cNvPr>
                <p:cNvSpPr>
                  <a:spLocks noChangeArrowheads="1"/>
                </p:cNvSpPr>
                <p:nvPr/>
              </p:nvSpPr>
              <p:spPr bwMode="auto">
                <a:xfrm>
                  <a:off x="582"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1" name="Rectangle 357">
                  <a:extLst>
                    <a:ext uri="{FF2B5EF4-FFF2-40B4-BE49-F238E27FC236}">
                      <a16:creationId xmlns:a16="http://schemas.microsoft.com/office/drawing/2014/main" id="{16E8352F-ED24-6B07-01B7-FE549C19151E}"/>
                    </a:ext>
                  </a:extLst>
                </p:cNvPr>
                <p:cNvSpPr>
                  <a:spLocks noChangeArrowheads="1"/>
                </p:cNvSpPr>
                <p:nvPr/>
              </p:nvSpPr>
              <p:spPr bwMode="auto">
                <a:xfrm>
                  <a:off x="587" y="2720"/>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2" name="Rectangle 358">
                  <a:extLst>
                    <a:ext uri="{FF2B5EF4-FFF2-40B4-BE49-F238E27FC236}">
                      <a16:creationId xmlns:a16="http://schemas.microsoft.com/office/drawing/2014/main" id="{F5BC8443-0F24-A453-19FB-2615EAA4EE3B}"/>
                    </a:ext>
                  </a:extLst>
                </p:cNvPr>
                <p:cNvSpPr>
                  <a:spLocks noChangeArrowheads="1"/>
                </p:cNvSpPr>
                <p:nvPr/>
              </p:nvSpPr>
              <p:spPr bwMode="auto">
                <a:xfrm>
                  <a:off x="1157"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3" name="Rectangle 359">
                  <a:extLst>
                    <a:ext uri="{FF2B5EF4-FFF2-40B4-BE49-F238E27FC236}">
                      <a16:creationId xmlns:a16="http://schemas.microsoft.com/office/drawing/2014/main" id="{FA9543FA-6525-60DA-D882-92086CBBBB10}"/>
                    </a:ext>
                  </a:extLst>
                </p:cNvPr>
                <p:cNvSpPr>
                  <a:spLocks noChangeArrowheads="1"/>
                </p:cNvSpPr>
                <p:nvPr/>
              </p:nvSpPr>
              <p:spPr bwMode="auto">
                <a:xfrm>
                  <a:off x="1163"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4" name="Rectangle 360">
                  <a:extLst>
                    <a:ext uri="{FF2B5EF4-FFF2-40B4-BE49-F238E27FC236}">
                      <a16:creationId xmlns:a16="http://schemas.microsoft.com/office/drawing/2014/main" id="{2687738E-4139-0237-56EB-54971A23B93D}"/>
                    </a:ext>
                  </a:extLst>
                </p:cNvPr>
                <p:cNvSpPr>
                  <a:spLocks noChangeArrowheads="1"/>
                </p:cNvSpPr>
                <p:nvPr/>
              </p:nvSpPr>
              <p:spPr bwMode="auto">
                <a:xfrm>
                  <a:off x="1564"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5" name="Rectangle 361">
                  <a:extLst>
                    <a:ext uri="{FF2B5EF4-FFF2-40B4-BE49-F238E27FC236}">
                      <a16:creationId xmlns:a16="http://schemas.microsoft.com/office/drawing/2014/main" id="{783BF8FA-37D2-F782-F27A-0D2BD277F269}"/>
                    </a:ext>
                  </a:extLst>
                </p:cNvPr>
                <p:cNvSpPr>
                  <a:spLocks noChangeArrowheads="1"/>
                </p:cNvSpPr>
                <p:nvPr/>
              </p:nvSpPr>
              <p:spPr bwMode="auto">
                <a:xfrm>
                  <a:off x="1570" y="2720"/>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6" name="Rectangle 362">
                  <a:extLst>
                    <a:ext uri="{FF2B5EF4-FFF2-40B4-BE49-F238E27FC236}">
                      <a16:creationId xmlns:a16="http://schemas.microsoft.com/office/drawing/2014/main" id="{30D3B8D2-8E39-F15E-5FC2-BC694EA8D888}"/>
                    </a:ext>
                  </a:extLst>
                </p:cNvPr>
                <p:cNvSpPr>
                  <a:spLocks noChangeArrowheads="1"/>
                </p:cNvSpPr>
                <p:nvPr/>
              </p:nvSpPr>
              <p:spPr bwMode="auto">
                <a:xfrm>
                  <a:off x="1987"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7" name="Rectangle 363">
                  <a:extLst>
                    <a:ext uri="{FF2B5EF4-FFF2-40B4-BE49-F238E27FC236}">
                      <a16:creationId xmlns:a16="http://schemas.microsoft.com/office/drawing/2014/main" id="{4AD7242B-6265-3F4E-0BF2-DEBD8F6793AD}"/>
                    </a:ext>
                  </a:extLst>
                </p:cNvPr>
                <p:cNvSpPr>
                  <a:spLocks noChangeArrowheads="1"/>
                </p:cNvSpPr>
                <p:nvPr/>
              </p:nvSpPr>
              <p:spPr bwMode="auto">
                <a:xfrm>
                  <a:off x="1993" y="2720"/>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8" name="Rectangle 364">
                  <a:extLst>
                    <a:ext uri="{FF2B5EF4-FFF2-40B4-BE49-F238E27FC236}">
                      <a16:creationId xmlns:a16="http://schemas.microsoft.com/office/drawing/2014/main" id="{CCE99C23-46C5-2086-1288-7036AF97377F}"/>
                    </a:ext>
                  </a:extLst>
                </p:cNvPr>
                <p:cNvSpPr>
                  <a:spLocks noChangeArrowheads="1"/>
                </p:cNvSpPr>
                <p:nvPr/>
              </p:nvSpPr>
              <p:spPr bwMode="auto">
                <a:xfrm>
                  <a:off x="2378"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89" name="Rectangle 365">
                  <a:extLst>
                    <a:ext uri="{FF2B5EF4-FFF2-40B4-BE49-F238E27FC236}">
                      <a16:creationId xmlns:a16="http://schemas.microsoft.com/office/drawing/2014/main" id="{B946C1C8-C108-DC2E-2275-C70E44908C86}"/>
                    </a:ext>
                  </a:extLst>
                </p:cNvPr>
                <p:cNvSpPr>
                  <a:spLocks noChangeArrowheads="1"/>
                </p:cNvSpPr>
                <p:nvPr/>
              </p:nvSpPr>
              <p:spPr bwMode="auto">
                <a:xfrm>
                  <a:off x="2384"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0" name="Rectangle 366">
                  <a:extLst>
                    <a:ext uri="{FF2B5EF4-FFF2-40B4-BE49-F238E27FC236}">
                      <a16:creationId xmlns:a16="http://schemas.microsoft.com/office/drawing/2014/main" id="{EE289428-3103-917E-109D-375069E184AD}"/>
                    </a:ext>
                  </a:extLst>
                </p:cNvPr>
                <p:cNvSpPr>
                  <a:spLocks noChangeArrowheads="1"/>
                </p:cNvSpPr>
                <p:nvPr/>
              </p:nvSpPr>
              <p:spPr bwMode="auto">
                <a:xfrm>
                  <a:off x="2785"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1" name="Rectangle 367">
                  <a:extLst>
                    <a:ext uri="{FF2B5EF4-FFF2-40B4-BE49-F238E27FC236}">
                      <a16:creationId xmlns:a16="http://schemas.microsoft.com/office/drawing/2014/main" id="{DB0A688C-3BBD-17AE-EB27-DE69FA69E2A6}"/>
                    </a:ext>
                  </a:extLst>
                </p:cNvPr>
                <p:cNvSpPr>
                  <a:spLocks noChangeArrowheads="1"/>
                </p:cNvSpPr>
                <p:nvPr/>
              </p:nvSpPr>
              <p:spPr bwMode="auto">
                <a:xfrm>
                  <a:off x="2791"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2" name="Rectangle 368">
                  <a:extLst>
                    <a:ext uri="{FF2B5EF4-FFF2-40B4-BE49-F238E27FC236}">
                      <a16:creationId xmlns:a16="http://schemas.microsoft.com/office/drawing/2014/main" id="{0007D9A0-942C-2549-5B13-6A9EDEB659EE}"/>
                    </a:ext>
                  </a:extLst>
                </p:cNvPr>
                <p:cNvSpPr>
                  <a:spLocks noChangeArrowheads="1"/>
                </p:cNvSpPr>
                <p:nvPr/>
              </p:nvSpPr>
              <p:spPr bwMode="auto">
                <a:xfrm>
                  <a:off x="3192"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3" name="Rectangle 369">
                  <a:extLst>
                    <a:ext uri="{FF2B5EF4-FFF2-40B4-BE49-F238E27FC236}">
                      <a16:creationId xmlns:a16="http://schemas.microsoft.com/office/drawing/2014/main" id="{BCB4A093-B0DF-BB02-D24B-BE739F574A83}"/>
                    </a:ext>
                  </a:extLst>
                </p:cNvPr>
                <p:cNvSpPr>
                  <a:spLocks noChangeArrowheads="1"/>
                </p:cNvSpPr>
                <p:nvPr/>
              </p:nvSpPr>
              <p:spPr bwMode="auto">
                <a:xfrm>
                  <a:off x="3198"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4" name="Rectangle 370">
                  <a:extLst>
                    <a:ext uri="{FF2B5EF4-FFF2-40B4-BE49-F238E27FC236}">
                      <a16:creationId xmlns:a16="http://schemas.microsoft.com/office/drawing/2014/main" id="{7E936676-D766-6F36-70C2-19EFED43D117}"/>
                    </a:ext>
                  </a:extLst>
                </p:cNvPr>
                <p:cNvSpPr>
                  <a:spLocks noChangeArrowheads="1"/>
                </p:cNvSpPr>
                <p:nvPr/>
              </p:nvSpPr>
              <p:spPr bwMode="auto">
                <a:xfrm>
                  <a:off x="3599"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5" name="Rectangle 371">
                  <a:extLst>
                    <a:ext uri="{FF2B5EF4-FFF2-40B4-BE49-F238E27FC236}">
                      <a16:creationId xmlns:a16="http://schemas.microsoft.com/office/drawing/2014/main" id="{6B3570C5-AB48-D290-DA27-9A46957F34A1}"/>
                    </a:ext>
                  </a:extLst>
                </p:cNvPr>
                <p:cNvSpPr>
                  <a:spLocks noChangeArrowheads="1"/>
                </p:cNvSpPr>
                <p:nvPr/>
              </p:nvSpPr>
              <p:spPr bwMode="auto">
                <a:xfrm>
                  <a:off x="3605" y="2720"/>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6" name="Rectangle 372">
                  <a:extLst>
                    <a:ext uri="{FF2B5EF4-FFF2-40B4-BE49-F238E27FC236}">
                      <a16:creationId xmlns:a16="http://schemas.microsoft.com/office/drawing/2014/main" id="{B6F08510-C79C-6CAC-A3DC-1A14AB4D5861}"/>
                    </a:ext>
                  </a:extLst>
                </p:cNvPr>
                <p:cNvSpPr>
                  <a:spLocks noChangeArrowheads="1"/>
                </p:cNvSpPr>
                <p:nvPr/>
              </p:nvSpPr>
              <p:spPr bwMode="auto">
                <a:xfrm>
                  <a:off x="4004"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7" name="Rectangle 373">
                  <a:extLst>
                    <a:ext uri="{FF2B5EF4-FFF2-40B4-BE49-F238E27FC236}">
                      <a16:creationId xmlns:a16="http://schemas.microsoft.com/office/drawing/2014/main" id="{B4AEFB83-C0E6-FE34-5008-3F9FF4E5ECEA}"/>
                    </a:ext>
                  </a:extLst>
                </p:cNvPr>
                <p:cNvSpPr>
                  <a:spLocks noChangeArrowheads="1"/>
                </p:cNvSpPr>
                <p:nvPr/>
              </p:nvSpPr>
              <p:spPr bwMode="auto">
                <a:xfrm>
                  <a:off x="4010"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8" name="Rectangle 374">
                  <a:extLst>
                    <a:ext uri="{FF2B5EF4-FFF2-40B4-BE49-F238E27FC236}">
                      <a16:creationId xmlns:a16="http://schemas.microsoft.com/office/drawing/2014/main" id="{CE663968-B86F-1422-4FB4-6A4459699C36}"/>
                    </a:ext>
                  </a:extLst>
                </p:cNvPr>
                <p:cNvSpPr>
                  <a:spLocks noChangeArrowheads="1"/>
                </p:cNvSpPr>
                <p:nvPr/>
              </p:nvSpPr>
              <p:spPr bwMode="auto">
                <a:xfrm>
                  <a:off x="4411"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399" name="Rectangle 375">
                  <a:extLst>
                    <a:ext uri="{FF2B5EF4-FFF2-40B4-BE49-F238E27FC236}">
                      <a16:creationId xmlns:a16="http://schemas.microsoft.com/office/drawing/2014/main" id="{81B915FD-35C8-CEF6-86E8-CEECBA0FF214}"/>
                    </a:ext>
                  </a:extLst>
                </p:cNvPr>
                <p:cNvSpPr>
                  <a:spLocks noChangeArrowheads="1"/>
                </p:cNvSpPr>
                <p:nvPr/>
              </p:nvSpPr>
              <p:spPr bwMode="auto">
                <a:xfrm>
                  <a:off x="4417"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0" name="Rectangle 376">
                  <a:extLst>
                    <a:ext uri="{FF2B5EF4-FFF2-40B4-BE49-F238E27FC236}">
                      <a16:creationId xmlns:a16="http://schemas.microsoft.com/office/drawing/2014/main" id="{3A4D94A0-8029-FD90-7723-89C5DBBB879A}"/>
                    </a:ext>
                  </a:extLst>
                </p:cNvPr>
                <p:cNvSpPr>
                  <a:spLocks noChangeArrowheads="1"/>
                </p:cNvSpPr>
                <p:nvPr/>
              </p:nvSpPr>
              <p:spPr bwMode="auto">
                <a:xfrm>
                  <a:off x="4818"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1" name="Rectangle 377">
                  <a:extLst>
                    <a:ext uri="{FF2B5EF4-FFF2-40B4-BE49-F238E27FC236}">
                      <a16:creationId xmlns:a16="http://schemas.microsoft.com/office/drawing/2014/main" id="{6BB741FC-480C-6546-2EE5-5D3940600A19}"/>
                    </a:ext>
                  </a:extLst>
                </p:cNvPr>
                <p:cNvSpPr>
                  <a:spLocks noChangeArrowheads="1"/>
                </p:cNvSpPr>
                <p:nvPr/>
              </p:nvSpPr>
              <p:spPr bwMode="auto">
                <a:xfrm>
                  <a:off x="4824" y="272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2" name="Rectangle 378">
                  <a:extLst>
                    <a:ext uri="{FF2B5EF4-FFF2-40B4-BE49-F238E27FC236}">
                      <a16:creationId xmlns:a16="http://schemas.microsoft.com/office/drawing/2014/main" id="{CB924437-2185-E779-2A0C-E008213B977B}"/>
                    </a:ext>
                  </a:extLst>
                </p:cNvPr>
                <p:cNvSpPr>
                  <a:spLocks noChangeArrowheads="1"/>
                </p:cNvSpPr>
                <p:nvPr/>
              </p:nvSpPr>
              <p:spPr bwMode="auto">
                <a:xfrm>
                  <a:off x="5225" y="272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3" name="Rectangle 379">
                  <a:extLst>
                    <a:ext uri="{FF2B5EF4-FFF2-40B4-BE49-F238E27FC236}">
                      <a16:creationId xmlns:a16="http://schemas.microsoft.com/office/drawing/2014/main" id="{F0B793F2-E4BB-1BA2-0149-79B39D4B5D86}"/>
                    </a:ext>
                  </a:extLst>
                </p:cNvPr>
                <p:cNvSpPr>
                  <a:spLocks noChangeArrowheads="1"/>
                </p:cNvSpPr>
                <p:nvPr/>
              </p:nvSpPr>
              <p:spPr bwMode="auto">
                <a:xfrm>
                  <a:off x="346"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4" name="Rectangle 380">
                  <a:extLst>
                    <a:ext uri="{FF2B5EF4-FFF2-40B4-BE49-F238E27FC236}">
                      <a16:creationId xmlns:a16="http://schemas.microsoft.com/office/drawing/2014/main" id="{15B85418-7264-A4C2-92DA-56A1ADCEF4C8}"/>
                    </a:ext>
                  </a:extLst>
                </p:cNvPr>
                <p:cNvSpPr>
                  <a:spLocks noChangeArrowheads="1"/>
                </p:cNvSpPr>
                <p:nvPr/>
              </p:nvSpPr>
              <p:spPr bwMode="auto">
                <a:xfrm>
                  <a:off x="582"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5" name="Rectangle 381">
                  <a:extLst>
                    <a:ext uri="{FF2B5EF4-FFF2-40B4-BE49-F238E27FC236}">
                      <a16:creationId xmlns:a16="http://schemas.microsoft.com/office/drawing/2014/main" id="{D80CAB22-39E6-9D97-433B-E22AC640D8D9}"/>
                    </a:ext>
                  </a:extLst>
                </p:cNvPr>
                <p:cNvSpPr>
                  <a:spLocks noChangeArrowheads="1"/>
                </p:cNvSpPr>
                <p:nvPr/>
              </p:nvSpPr>
              <p:spPr bwMode="auto">
                <a:xfrm>
                  <a:off x="1157"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6" name="Rectangle 382">
                  <a:extLst>
                    <a:ext uri="{FF2B5EF4-FFF2-40B4-BE49-F238E27FC236}">
                      <a16:creationId xmlns:a16="http://schemas.microsoft.com/office/drawing/2014/main" id="{CB2E94AB-444C-13A7-97E1-9C0DB7F6B9B0}"/>
                    </a:ext>
                  </a:extLst>
                </p:cNvPr>
                <p:cNvSpPr>
                  <a:spLocks noChangeArrowheads="1"/>
                </p:cNvSpPr>
                <p:nvPr/>
              </p:nvSpPr>
              <p:spPr bwMode="auto">
                <a:xfrm>
                  <a:off x="1564"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7" name="Rectangle 383">
                  <a:extLst>
                    <a:ext uri="{FF2B5EF4-FFF2-40B4-BE49-F238E27FC236}">
                      <a16:creationId xmlns:a16="http://schemas.microsoft.com/office/drawing/2014/main" id="{71AF1286-F864-762D-779B-9A77EFD75626}"/>
                    </a:ext>
                  </a:extLst>
                </p:cNvPr>
                <p:cNvSpPr>
                  <a:spLocks noChangeArrowheads="1"/>
                </p:cNvSpPr>
                <p:nvPr/>
              </p:nvSpPr>
              <p:spPr bwMode="auto">
                <a:xfrm>
                  <a:off x="1987"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8" name="Rectangle 384">
                  <a:extLst>
                    <a:ext uri="{FF2B5EF4-FFF2-40B4-BE49-F238E27FC236}">
                      <a16:creationId xmlns:a16="http://schemas.microsoft.com/office/drawing/2014/main" id="{DD4DBDA0-9965-5551-23FD-14AC5959C733}"/>
                    </a:ext>
                  </a:extLst>
                </p:cNvPr>
                <p:cNvSpPr>
                  <a:spLocks noChangeArrowheads="1"/>
                </p:cNvSpPr>
                <p:nvPr/>
              </p:nvSpPr>
              <p:spPr bwMode="auto">
                <a:xfrm>
                  <a:off x="2378"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09" name="Rectangle 385">
                  <a:extLst>
                    <a:ext uri="{FF2B5EF4-FFF2-40B4-BE49-F238E27FC236}">
                      <a16:creationId xmlns:a16="http://schemas.microsoft.com/office/drawing/2014/main" id="{0564168C-4CAD-8D68-B705-84947302C162}"/>
                    </a:ext>
                  </a:extLst>
                </p:cNvPr>
                <p:cNvSpPr>
                  <a:spLocks noChangeArrowheads="1"/>
                </p:cNvSpPr>
                <p:nvPr/>
              </p:nvSpPr>
              <p:spPr bwMode="auto">
                <a:xfrm>
                  <a:off x="2785"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0" name="Rectangle 386">
                  <a:extLst>
                    <a:ext uri="{FF2B5EF4-FFF2-40B4-BE49-F238E27FC236}">
                      <a16:creationId xmlns:a16="http://schemas.microsoft.com/office/drawing/2014/main" id="{CB1BD674-84A5-00A5-F20B-CBECCDD2A033}"/>
                    </a:ext>
                  </a:extLst>
                </p:cNvPr>
                <p:cNvSpPr>
                  <a:spLocks noChangeArrowheads="1"/>
                </p:cNvSpPr>
                <p:nvPr/>
              </p:nvSpPr>
              <p:spPr bwMode="auto">
                <a:xfrm>
                  <a:off x="3192"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1" name="Rectangle 387">
                  <a:extLst>
                    <a:ext uri="{FF2B5EF4-FFF2-40B4-BE49-F238E27FC236}">
                      <a16:creationId xmlns:a16="http://schemas.microsoft.com/office/drawing/2014/main" id="{3FA2F32F-F1E6-6A14-2473-D61A24710142}"/>
                    </a:ext>
                  </a:extLst>
                </p:cNvPr>
                <p:cNvSpPr>
                  <a:spLocks noChangeArrowheads="1"/>
                </p:cNvSpPr>
                <p:nvPr/>
              </p:nvSpPr>
              <p:spPr bwMode="auto">
                <a:xfrm>
                  <a:off x="3599"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2" name="Rectangle 388">
                  <a:extLst>
                    <a:ext uri="{FF2B5EF4-FFF2-40B4-BE49-F238E27FC236}">
                      <a16:creationId xmlns:a16="http://schemas.microsoft.com/office/drawing/2014/main" id="{CFF3A70C-D60E-CF70-050E-B052AEC2B7FF}"/>
                    </a:ext>
                  </a:extLst>
                </p:cNvPr>
                <p:cNvSpPr>
                  <a:spLocks noChangeArrowheads="1"/>
                </p:cNvSpPr>
                <p:nvPr/>
              </p:nvSpPr>
              <p:spPr bwMode="auto">
                <a:xfrm>
                  <a:off x="4004"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3" name="Rectangle 389">
                  <a:extLst>
                    <a:ext uri="{FF2B5EF4-FFF2-40B4-BE49-F238E27FC236}">
                      <a16:creationId xmlns:a16="http://schemas.microsoft.com/office/drawing/2014/main" id="{E19AB277-3008-9556-FB52-9F32CAA42939}"/>
                    </a:ext>
                  </a:extLst>
                </p:cNvPr>
                <p:cNvSpPr>
                  <a:spLocks noChangeArrowheads="1"/>
                </p:cNvSpPr>
                <p:nvPr/>
              </p:nvSpPr>
              <p:spPr bwMode="auto">
                <a:xfrm>
                  <a:off x="4411"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4" name="Rectangle 390">
                  <a:extLst>
                    <a:ext uri="{FF2B5EF4-FFF2-40B4-BE49-F238E27FC236}">
                      <a16:creationId xmlns:a16="http://schemas.microsoft.com/office/drawing/2014/main" id="{7CE13D63-6CCD-0BF6-89E6-F03A8D061015}"/>
                    </a:ext>
                  </a:extLst>
                </p:cNvPr>
                <p:cNvSpPr>
                  <a:spLocks noChangeArrowheads="1"/>
                </p:cNvSpPr>
                <p:nvPr/>
              </p:nvSpPr>
              <p:spPr bwMode="auto">
                <a:xfrm>
                  <a:off x="4818"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5" name="Rectangle 391">
                  <a:extLst>
                    <a:ext uri="{FF2B5EF4-FFF2-40B4-BE49-F238E27FC236}">
                      <a16:creationId xmlns:a16="http://schemas.microsoft.com/office/drawing/2014/main" id="{A0044BA6-3BA2-620C-C45A-788E34DED9E8}"/>
                    </a:ext>
                  </a:extLst>
                </p:cNvPr>
                <p:cNvSpPr>
                  <a:spLocks noChangeArrowheads="1"/>
                </p:cNvSpPr>
                <p:nvPr/>
              </p:nvSpPr>
              <p:spPr bwMode="auto">
                <a:xfrm>
                  <a:off x="5225" y="2726"/>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6" name="Rectangle 392">
                  <a:extLst>
                    <a:ext uri="{FF2B5EF4-FFF2-40B4-BE49-F238E27FC236}">
                      <a16:creationId xmlns:a16="http://schemas.microsoft.com/office/drawing/2014/main" id="{FC126FD2-45E2-3371-8A02-FEF94CD34752}"/>
                    </a:ext>
                  </a:extLst>
                </p:cNvPr>
                <p:cNvSpPr>
                  <a:spLocks noChangeArrowheads="1"/>
                </p:cNvSpPr>
                <p:nvPr/>
              </p:nvSpPr>
              <p:spPr bwMode="auto">
                <a:xfrm>
                  <a:off x="393" y="272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7</a:t>
                  </a:r>
                </a:p>
              </p:txBody>
            </p:sp>
            <p:sp>
              <p:nvSpPr>
                <p:cNvPr id="417" name="Rectangle 393">
                  <a:extLst>
                    <a:ext uri="{FF2B5EF4-FFF2-40B4-BE49-F238E27FC236}">
                      <a16:creationId xmlns:a16="http://schemas.microsoft.com/office/drawing/2014/main" id="{94A6C0A2-AEC6-C393-AD60-3E442A090524}"/>
                    </a:ext>
                  </a:extLst>
                </p:cNvPr>
                <p:cNvSpPr>
                  <a:spLocks noChangeArrowheads="1"/>
                </p:cNvSpPr>
                <p:nvPr/>
              </p:nvSpPr>
              <p:spPr bwMode="auto">
                <a:xfrm>
                  <a:off x="708" y="2726"/>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330030</a:t>
                  </a:r>
                </a:p>
              </p:txBody>
            </p:sp>
            <p:sp>
              <p:nvSpPr>
                <p:cNvPr id="418" name="Rectangle 394">
                  <a:extLst>
                    <a:ext uri="{FF2B5EF4-FFF2-40B4-BE49-F238E27FC236}">
                      <a16:creationId xmlns:a16="http://schemas.microsoft.com/office/drawing/2014/main" id="{3B05700E-A63B-EE2F-6744-F1FC6AC8EF36}"/>
                    </a:ext>
                  </a:extLst>
                </p:cNvPr>
                <p:cNvSpPr>
                  <a:spLocks noChangeArrowheads="1"/>
                </p:cNvSpPr>
                <p:nvPr/>
              </p:nvSpPr>
              <p:spPr bwMode="auto">
                <a:xfrm>
                  <a:off x="1272" y="2726"/>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24</a:t>
                  </a:r>
                </a:p>
              </p:txBody>
            </p:sp>
            <p:sp>
              <p:nvSpPr>
                <p:cNvPr id="419" name="Rectangle 395">
                  <a:extLst>
                    <a:ext uri="{FF2B5EF4-FFF2-40B4-BE49-F238E27FC236}">
                      <a16:creationId xmlns:a16="http://schemas.microsoft.com/office/drawing/2014/main" id="{787CB277-50F7-1896-BF09-2299BF95BE26}"/>
                    </a:ext>
                  </a:extLst>
                </p:cNvPr>
                <p:cNvSpPr>
                  <a:spLocks noChangeArrowheads="1"/>
                </p:cNvSpPr>
                <p:nvPr/>
              </p:nvSpPr>
              <p:spPr bwMode="auto">
                <a:xfrm>
                  <a:off x="1704" y="2726"/>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2</a:t>
                  </a:r>
                </a:p>
              </p:txBody>
            </p:sp>
            <p:sp>
              <p:nvSpPr>
                <p:cNvPr id="420" name="Rectangle 396">
                  <a:extLst>
                    <a:ext uri="{FF2B5EF4-FFF2-40B4-BE49-F238E27FC236}">
                      <a16:creationId xmlns:a16="http://schemas.microsoft.com/office/drawing/2014/main" id="{23AEDC9E-3BF9-7F90-C4FB-9B7A8D41236E}"/>
                    </a:ext>
                  </a:extLst>
                </p:cNvPr>
                <p:cNvSpPr>
                  <a:spLocks noChangeArrowheads="1"/>
                </p:cNvSpPr>
                <p:nvPr/>
              </p:nvSpPr>
              <p:spPr bwMode="auto">
                <a:xfrm>
                  <a:off x="2079"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1" name="Rectangle 397">
                  <a:extLst>
                    <a:ext uri="{FF2B5EF4-FFF2-40B4-BE49-F238E27FC236}">
                      <a16:creationId xmlns:a16="http://schemas.microsoft.com/office/drawing/2014/main" id="{D0D0A01E-85EE-76BA-3567-AF6A5B57CDCD}"/>
                    </a:ext>
                  </a:extLst>
                </p:cNvPr>
                <p:cNvSpPr>
                  <a:spLocks noChangeArrowheads="1"/>
                </p:cNvSpPr>
                <p:nvPr/>
              </p:nvSpPr>
              <p:spPr bwMode="auto">
                <a:xfrm>
                  <a:off x="2883"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2" name="Rectangle 398">
                  <a:extLst>
                    <a:ext uri="{FF2B5EF4-FFF2-40B4-BE49-F238E27FC236}">
                      <a16:creationId xmlns:a16="http://schemas.microsoft.com/office/drawing/2014/main" id="{EF76EE18-DDDC-0DDF-3567-528D77727C4C}"/>
                    </a:ext>
                  </a:extLst>
                </p:cNvPr>
                <p:cNvSpPr>
                  <a:spLocks noChangeArrowheads="1"/>
                </p:cNvSpPr>
                <p:nvPr/>
              </p:nvSpPr>
              <p:spPr bwMode="auto">
                <a:xfrm>
                  <a:off x="3290"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423" name="Rectangle 399">
                  <a:extLst>
                    <a:ext uri="{FF2B5EF4-FFF2-40B4-BE49-F238E27FC236}">
                      <a16:creationId xmlns:a16="http://schemas.microsoft.com/office/drawing/2014/main" id="{C10CD73F-25AB-CDC0-2BCC-BA92021AE737}"/>
                    </a:ext>
                  </a:extLst>
                </p:cNvPr>
                <p:cNvSpPr>
                  <a:spLocks noChangeArrowheads="1"/>
                </p:cNvSpPr>
                <p:nvPr/>
              </p:nvSpPr>
              <p:spPr bwMode="auto">
                <a:xfrm>
                  <a:off x="3697"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4" name="Rectangle 400">
                  <a:extLst>
                    <a:ext uri="{FF2B5EF4-FFF2-40B4-BE49-F238E27FC236}">
                      <a16:creationId xmlns:a16="http://schemas.microsoft.com/office/drawing/2014/main" id="{D1BE2DAA-4CAB-BE2E-C2E9-3E2D4FB27A49}"/>
                    </a:ext>
                  </a:extLst>
                </p:cNvPr>
                <p:cNvSpPr>
                  <a:spLocks noChangeArrowheads="1"/>
                </p:cNvSpPr>
                <p:nvPr/>
              </p:nvSpPr>
              <p:spPr bwMode="auto">
                <a:xfrm>
                  <a:off x="4511"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5" name="Rectangle 401">
                  <a:extLst>
                    <a:ext uri="{FF2B5EF4-FFF2-40B4-BE49-F238E27FC236}">
                      <a16:creationId xmlns:a16="http://schemas.microsoft.com/office/drawing/2014/main" id="{C8749300-EA00-1865-6277-9500C3827894}"/>
                    </a:ext>
                  </a:extLst>
                </p:cNvPr>
                <p:cNvSpPr>
                  <a:spLocks noChangeArrowheads="1"/>
                </p:cNvSpPr>
                <p:nvPr/>
              </p:nvSpPr>
              <p:spPr bwMode="auto">
                <a:xfrm>
                  <a:off x="4918" y="270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26" name="Rectangle 402">
                  <a:extLst>
                    <a:ext uri="{FF2B5EF4-FFF2-40B4-BE49-F238E27FC236}">
                      <a16:creationId xmlns:a16="http://schemas.microsoft.com/office/drawing/2014/main" id="{43392DB3-E2DB-1CF1-39A9-5E5724E1958A}"/>
                    </a:ext>
                  </a:extLst>
                </p:cNvPr>
                <p:cNvSpPr>
                  <a:spLocks noChangeArrowheads="1"/>
                </p:cNvSpPr>
                <p:nvPr/>
              </p:nvSpPr>
              <p:spPr bwMode="auto">
                <a:xfrm>
                  <a:off x="346"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7" name="Rectangle 403">
                  <a:extLst>
                    <a:ext uri="{FF2B5EF4-FFF2-40B4-BE49-F238E27FC236}">
                      <a16:creationId xmlns:a16="http://schemas.microsoft.com/office/drawing/2014/main" id="{87C804BF-C1E7-9706-C216-8198994FED92}"/>
                    </a:ext>
                  </a:extLst>
                </p:cNvPr>
                <p:cNvSpPr>
                  <a:spLocks noChangeArrowheads="1"/>
                </p:cNvSpPr>
                <p:nvPr/>
              </p:nvSpPr>
              <p:spPr bwMode="auto">
                <a:xfrm>
                  <a:off x="351" y="2870"/>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8" name="Rectangle 404">
                  <a:extLst>
                    <a:ext uri="{FF2B5EF4-FFF2-40B4-BE49-F238E27FC236}">
                      <a16:creationId xmlns:a16="http://schemas.microsoft.com/office/drawing/2014/main" id="{679D35F3-19EE-7BF6-4106-772FEBD5FD4C}"/>
                    </a:ext>
                  </a:extLst>
                </p:cNvPr>
                <p:cNvSpPr>
                  <a:spLocks noChangeArrowheads="1"/>
                </p:cNvSpPr>
                <p:nvPr/>
              </p:nvSpPr>
              <p:spPr bwMode="auto">
                <a:xfrm>
                  <a:off x="582"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29" name="Rectangle 405">
                  <a:extLst>
                    <a:ext uri="{FF2B5EF4-FFF2-40B4-BE49-F238E27FC236}">
                      <a16:creationId xmlns:a16="http://schemas.microsoft.com/office/drawing/2014/main" id="{A1BFAB42-02D2-CAF3-4EFD-E17B187A0B7B}"/>
                    </a:ext>
                  </a:extLst>
                </p:cNvPr>
                <p:cNvSpPr>
                  <a:spLocks noChangeArrowheads="1"/>
                </p:cNvSpPr>
                <p:nvPr/>
              </p:nvSpPr>
              <p:spPr bwMode="auto">
                <a:xfrm>
                  <a:off x="587" y="2870"/>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0" name="Rectangle 406">
                  <a:extLst>
                    <a:ext uri="{FF2B5EF4-FFF2-40B4-BE49-F238E27FC236}">
                      <a16:creationId xmlns:a16="http://schemas.microsoft.com/office/drawing/2014/main" id="{09F645D6-47D4-6D25-F911-25D5837BF507}"/>
                    </a:ext>
                  </a:extLst>
                </p:cNvPr>
                <p:cNvSpPr>
                  <a:spLocks noChangeArrowheads="1"/>
                </p:cNvSpPr>
                <p:nvPr/>
              </p:nvSpPr>
              <p:spPr bwMode="auto">
                <a:xfrm>
                  <a:off x="1157"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1" name="Rectangle 407">
                  <a:extLst>
                    <a:ext uri="{FF2B5EF4-FFF2-40B4-BE49-F238E27FC236}">
                      <a16:creationId xmlns:a16="http://schemas.microsoft.com/office/drawing/2014/main" id="{5588DC2E-0AE7-E31B-E62E-113CF69076C8}"/>
                    </a:ext>
                  </a:extLst>
                </p:cNvPr>
                <p:cNvSpPr>
                  <a:spLocks noChangeArrowheads="1"/>
                </p:cNvSpPr>
                <p:nvPr/>
              </p:nvSpPr>
              <p:spPr bwMode="auto">
                <a:xfrm>
                  <a:off x="1163"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2" name="Rectangle 408">
                  <a:extLst>
                    <a:ext uri="{FF2B5EF4-FFF2-40B4-BE49-F238E27FC236}">
                      <a16:creationId xmlns:a16="http://schemas.microsoft.com/office/drawing/2014/main" id="{C14243DC-4885-FFCC-6AE4-869289CCD1D2}"/>
                    </a:ext>
                  </a:extLst>
                </p:cNvPr>
                <p:cNvSpPr>
                  <a:spLocks noChangeArrowheads="1"/>
                </p:cNvSpPr>
                <p:nvPr/>
              </p:nvSpPr>
              <p:spPr bwMode="auto">
                <a:xfrm>
                  <a:off x="1564"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3" name="Rectangle 409">
                  <a:extLst>
                    <a:ext uri="{FF2B5EF4-FFF2-40B4-BE49-F238E27FC236}">
                      <a16:creationId xmlns:a16="http://schemas.microsoft.com/office/drawing/2014/main" id="{772CEB07-8F0D-2CE7-1F58-27FF5339ECB1}"/>
                    </a:ext>
                  </a:extLst>
                </p:cNvPr>
                <p:cNvSpPr>
                  <a:spLocks noChangeArrowheads="1"/>
                </p:cNvSpPr>
                <p:nvPr/>
              </p:nvSpPr>
              <p:spPr bwMode="auto">
                <a:xfrm>
                  <a:off x="1570" y="2870"/>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4" name="Rectangle 410">
                  <a:extLst>
                    <a:ext uri="{FF2B5EF4-FFF2-40B4-BE49-F238E27FC236}">
                      <a16:creationId xmlns:a16="http://schemas.microsoft.com/office/drawing/2014/main" id="{9959F140-329C-8283-2637-88E7805B4F34}"/>
                    </a:ext>
                  </a:extLst>
                </p:cNvPr>
                <p:cNvSpPr>
                  <a:spLocks noChangeArrowheads="1"/>
                </p:cNvSpPr>
                <p:nvPr/>
              </p:nvSpPr>
              <p:spPr bwMode="auto">
                <a:xfrm>
                  <a:off x="1987"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5" name="Rectangle 411">
                  <a:extLst>
                    <a:ext uri="{FF2B5EF4-FFF2-40B4-BE49-F238E27FC236}">
                      <a16:creationId xmlns:a16="http://schemas.microsoft.com/office/drawing/2014/main" id="{8FECD8CE-4DAA-EB79-88A5-A2BFCD08E281}"/>
                    </a:ext>
                  </a:extLst>
                </p:cNvPr>
                <p:cNvSpPr>
                  <a:spLocks noChangeArrowheads="1"/>
                </p:cNvSpPr>
                <p:nvPr/>
              </p:nvSpPr>
              <p:spPr bwMode="auto">
                <a:xfrm>
                  <a:off x="1993" y="2870"/>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6" name="Rectangle 412">
                  <a:extLst>
                    <a:ext uri="{FF2B5EF4-FFF2-40B4-BE49-F238E27FC236}">
                      <a16:creationId xmlns:a16="http://schemas.microsoft.com/office/drawing/2014/main" id="{906E5CFD-FEC6-DE2D-FB64-E413FD821E31}"/>
                    </a:ext>
                  </a:extLst>
                </p:cNvPr>
                <p:cNvSpPr>
                  <a:spLocks noChangeArrowheads="1"/>
                </p:cNvSpPr>
                <p:nvPr/>
              </p:nvSpPr>
              <p:spPr bwMode="auto">
                <a:xfrm>
                  <a:off x="2378"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7" name="Rectangle 413">
                  <a:extLst>
                    <a:ext uri="{FF2B5EF4-FFF2-40B4-BE49-F238E27FC236}">
                      <a16:creationId xmlns:a16="http://schemas.microsoft.com/office/drawing/2014/main" id="{1CC8962A-7A73-0BE8-133C-7B64EB9F28C2}"/>
                    </a:ext>
                  </a:extLst>
                </p:cNvPr>
                <p:cNvSpPr>
                  <a:spLocks noChangeArrowheads="1"/>
                </p:cNvSpPr>
                <p:nvPr/>
              </p:nvSpPr>
              <p:spPr bwMode="auto">
                <a:xfrm>
                  <a:off x="2384"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8" name="Rectangle 414">
                  <a:extLst>
                    <a:ext uri="{FF2B5EF4-FFF2-40B4-BE49-F238E27FC236}">
                      <a16:creationId xmlns:a16="http://schemas.microsoft.com/office/drawing/2014/main" id="{2023BD25-2841-B865-4BF4-4C2731553F14}"/>
                    </a:ext>
                  </a:extLst>
                </p:cNvPr>
                <p:cNvSpPr>
                  <a:spLocks noChangeArrowheads="1"/>
                </p:cNvSpPr>
                <p:nvPr/>
              </p:nvSpPr>
              <p:spPr bwMode="auto">
                <a:xfrm>
                  <a:off x="2785"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9" name="Rectangle 415">
                  <a:extLst>
                    <a:ext uri="{FF2B5EF4-FFF2-40B4-BE49-F238E27FC236}">
                      <a16:creationId xmlns:a16="http://schemas.microsoft.com/office/drawing/2014/main" id="{D93BB566-9BFF-4C45-8732-CB0A0AC676FE}"/>
                    </a:ext>
                  </a:extLst>
                </p:cNvPr>
                <p:cNvSpPr>
                  <a:spLocks noChangeArrowheads="1"/>
                </p:cNvSpPr>
                <p:nvPr/>
              </p:nvSpPr>
              <p:spPr bwMode="auto">
                <a:xfrm>
                  <a:off x="2791"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0" name="Rectangle 416">
                  <a:extLst>
                    <a:ext uri="{FF2B5EF4-FFF2-40B4-BE49-F238E27FC236}">
                      <a16:creationId xmlns:a16="http://schemas.microsoft.com/office/drawing/2014/main" id="{A85CF9AE-CE14-127A-F4A2-9B6791082DAA}"/>
                    </a:ext>
                  </a:extLst>
                </p:cNvPr>
                <p:cNvSpPr>
                  <a:spLocks noChangeArrowheads="1"/>
                </p:cNvSpPr>
                <p:nvPr/>
              </p:nvSpPr>
              <p:spPr bwMode="auto">
                <a:xfrm>
                  <a:off x="3192"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1" name="Rectangle 417">
                  <a:extLst>
                    <a:ext uri="{FF2B5EF4-FFF2-40B4-BE49-F238E27FC236}">
                      <a16:creationId xmlns:a16="http://schemas.microsoft.com/office/drawing/2014/main" id="{A9252E2A-BF68-4A8D-85B4-0D5D96B17EA1}"/>
                    </a:ext>
                  </a:extLst>
                </p:cNvPr>
                <p:cNvSpPr>
                  <a:spLocks noChangeArrowheads="1"/>
                </p:cNvSpPr>
                <p:nvPr/>
              </p:nvSpPr>
              <p:spPr bwMode="auto">
                <a:xfrm>
                  <a:off x="3198"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2" name="Rectangle 418">
                  <a:extLst>
                    <a:ext uri="{FF2B5EF4-FFF2-40B4-BE49-F238E27FC236}">
                      <a16:creationId xmlns:a16="http://schemas.microsoft.com/office/drawing/2014/main" id="{974EC976-77AE-FC44-4770-8B9664944852}"/>
                    </a:ext>
                  </a:extLst>
                </p:cNvPr>
                <p:cNvSpPr>
                  <a:spLocks noChangeArrowheads="1"/>
                </p:cNvSpPr>
                <p:nvPr/>
              </p:nvSpPr>
              <p:spPr bwMode="auto">
                <a:xfrm>
                  <a:off x="3599"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3" name="Rectangle 419">
                  <a:extLst>
                    <a:ext uri="{FF2B5EF4-FFF2-40B4-BE49-F238E27FC236}">
                      <a16:creationId xmlns:a16="http://schemas.microsoft.com/office/drawing/2014/main" id="{32C8EA5F-4618-F480-9600-6DC4710650C3}"/>
                    </a:ext>
                  </a:extLst>
                </p:cNvPr>
                <p:cNvSpPr>
                  <a:spLocks noChangeArrowheads="1"/>
                </p:cNvSpPr>
                <p:nvPr/>
              </p:nvSpPr>
              <p:spPr bwMode="auto">
                <a:xfrm>
                  <a:off x="3605" y="2870"/>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4" name="Rectangle 420">
                  <a:extLst>
                    <a:ext uri="{FF2B5EF4-FFF2-40B4-BE49-F238E27FC236}">
                      <a16:creationId xmlns:a16="http://schemas.microsoft.com/office/drawing/2014/main" id="{FCB17C5E-9FFF-40BC-CB74-3AF5648CAF38}"/>
                    </a:ext>
                  </a:extLst>
                </p:cNvPr>
                <p:cNvSpPr>
                  <a:spLocks noChangeArrowheads="1"/>
                </p:cNvSpPr>
                <p:nvPr/>
              </p:nvSpPr>
              <p:spPr bwMode="auto">
                <a:xfrm>
                  <a:off x="4004"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5" name="Rectangle 421">
                  <a:extLst>
                    <a:ext uri="{FF2B5EF4-FFF2-40B4-BE49-F238E27FC236}">
                      <a16:creationId xmlns:a16="http://schemas.microsoft.com/office/drawing/2014/main" id="{BBD9A4D9-7E1F-1CC8-B627-E2B3AC71F97E}"/>
                    </a:ext>
                  </a:extLst>
                </p:cNvPr>
                <p:cNvSpPr>
                  <a:spLocks noChangeArrowheads="1"/>
                </p:cNvSpPr>
                <p:nvPr/>
              </p:nvSpPr>
              <p:spPr bwMode="auto">
                <a:xfrm>
                  <a:off x="4010"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6" name="Rectangle 422">
                  <a:extLst>
                    <a:ext uri="{FF2B5EF4-FFF2-40B4-BE49-F238E27FC236}">
                      <a16:creationId xmlns:a16="http://schemas.microsoft.com/office/drawing/2014/main" id="{BA74BFBE-FDEA-F81E-9B95-79F3BF9B0638}"/>
                    </a:ext>
                  </a:extLst>
                </p:cNvPr>
                <p:cNvSpPr>
                  <a:spLocks noChangeArrowheads="1"/>
                </p:cNvSpPr>
                <p:nvPr/>
              </p:nvSpPr>
              <p:spPr bwMode="auto">
                <a:xfrm>
                  <a:off x="4411"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7" name="Rectangle 423">
                  <a:extLst>
                    <a:ext uri="{FF2B5EF4-FFF2-40B4-BE49-F238E27FC236}">
                      <a16:creationId xmlns:a16="http://schemas.microsoft.com/office/drawing/2014/main" id="{1D23A187-2DAE-088A-2E66-676ABAA9D835}"/>
                    </a:ext>
                  </a:extLst>
                </p:cNvPr>
                <p:cNvSpPr>
                  <a:spLocks noChangeArrowheads="1"/>
                </p:cNvSpPr>
                <p:nvPr/>
              </p:nvSpPr>
              <p:spPr bwMode="auto">
                <a:xfrm>
                  <a:off x="4417"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8" name="Rectangle 424">
                  <a:extLst>
                    <a:ext uri="{FF2B5EF4-FFF2-40B4-BE49-F238E27FC236}">
                      <a16:creationId xmlns:a16="http://schemas.microsoft.com/office/drawing/2014/main" id="{4A592B85-27F9-5EFA-2F3A-10D42DF0E346}"/>
                    </a:ext>
                  </a:extLst>
                </p:cNvPr>
                <p:cNvSpPr>
                  <a:spLocks noChangeArrowheads="1"/>
                </p:cNvSpPr>
                <p:nvPr/>
              </p:nvSpPr>
              <p:spPr bwMode="auto">
                <a:xfrm>
                  <a:off x="4818"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49" name="Rectangle 425">
                  <a:extLst>
                    <a:ext uri="{FF2B5EF4-FFF2-40B4-BE49-F238E27FC236}">
                      <a16:creationId xmlns:a16="http://schemas.microsoft.com/office/drawing/2014/main" id="{B44569C3-B9BF-7916-D927-4A2B2AC7BF62}"/>
                    </a:ext>
                  </a:extLst>
                </p:cNvPr>
                <p:cNvSpPr>
                  <a:spLocks noChangeArrowheads="1"/>
                </p:cNvSpPr>
                <p:nvPr/>
              </p:nvSpPr>
              <p:spPr bwMode="auto">
                <a:xfrm>
                  <a:off x="4824" y="2870"/>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0" name="Rectangle 426">
                  <a:extLst>
                    <a:ext uri="{FF2B5EF4-FFF2-40B4-BE49-F238E27FC236}">
                      <a16:creationId xmlns:a16="http://schemas.microsoft.com/office/drawing/2014/main" id="{82CF671E-03A8-7EDE-6F97-81D630D3A433}"/>
                    </a:ext>
                  </a:extLst>
                </p:cNvPr>
                <p:cNvSpPr>
                  <a:spLocks noChangeArrowheads="1"/>
                </p:cNvSpPr>
                <p:nvPr/>
              </p:nvSpPr>
              <p:spPr bwMode="auto">
                <a:xfrm>
                  <a:off x="5225" y="2870"/>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1" name="Rectangle 427">
                  <a:extLst>
                    <a:ext uri="{FF2B5EF4-FFF2-40B4-BE49-F238E27FC236}">
                      <a16:creationId xmlns:a16="http://schemas.microsoft.com/office/drawing/2014/main" id="{0AB9C9FD-2ABF-BE9C-4743-CFBFC4E3BF71}"/>
                    </a:ext>
                  </a:extLst>
                </p:cNvPr>
                <p:cNvSpPr>
                  <a:spLocks noChangeArrowheads="1"/>
                </p:cNvSpPr>
                <p:nvPr/>
              </p:nvSpPr>
              <p:spPr bwMode="auto">
                <a:xfrm>
                  <a:off x="346"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2" name="Rectangle 428">
                  <a:extLst>
                    <a:ext uri="{FF2B5EF4-FFF2-40B4-BE49-F238E27FC236}">
                      <a16:creationId xmlns:a16="http://schemas.microsoft.com/office/drawing/2014/main" id="{FE41B757-8202-2419-F7B7-38F6D2CB2C82}"/>
                    </a:ext>
                  </a:extLst>
                </p:cNvPr>
                <p:cNvSpPr>
                  <a:spLocks noChangeArrowheads="1"/>
                </p:cNvSpPr>
                <p:nvPr/>
              </p:nvSpPr>
              <p:spPr bwMode="auto">
                <a:xfrm>
                  <a:off x="582"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3" name="Rectangle 429">
                  <a:extLst>
                    <a:ext uri="{FF2B5EF4-FFF2-40B4-BE49-F238E27FC236}">
                      <a16:creationId xmlns:a16="http://schemas.microsoft.com/office/drawing/2014/main" id="{758AA3CA-ACEA-973F-0DA2-4613172A49A6}"/>
                    </a:ext>
                  </a:extLst>
                </p:cNvPr>
                <p:cNvSpPr>
                  <a:spLocks noChangeArrowheads="1"/>
                </p:cNvSpPr>
                <p:nvPr/>
              </p:nvSpPr>
              <p:spPr bwMode="auto">
                <a:xfrm>
                  <a:off x="1157"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4" name="Rectangle 430">
                  <a:extLst>
                    <a:ext uri="{FF2B5EF4-FFF2-40B4-BE49-F238E27FC236}">
                      <a16:creationId xmlns:a16="http://schemas.microsoft.com/office/drawing/2014/main" id="{B9952E31-E6B3-F837-B177-D29A48D42A4D}"/>
                    </a:ext>
                  </a:extLst>
                </p:cNvPr>
                <p:cNvSpPr>
                  <a:spLocks noChangeArrowheads="1"/>
                </p:cNvSpPr>
                <p:nvPr/>
              </p:nvSpPr>
              <p:spPr bwMode="auto">
                <a:xfrm>
                  <a:off x="1564"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5" name="Rectangle 431">
                  <a:extLst>
                    <a:ext uri="{FF2B5EF4-FFF2-40B4-BE49-F238E27FC236}">
                      <a16:creationId xmlns:a16="http://schemas.microsoft.com/office/drawing/2014/main" id="{F8221379-9A42-B796-DF81-E7E295521E64}"/>
                    </a:ext>
                  </a:extLst>
                </p:cNvPr>
                <p:cNvSpPr>
                  <a:spLocks noChangeArrowheads="1"/>
                </p:cNvSpPr>
                <p:nvPr/>
              </p:nvSpPr>
              <p:spPr bwMode="auto">
                <a:xfrm>
                  <a:off x="1987"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6" name="Rectangle 432">
                  <a:extLst>
                    <a:ext uri="{FF2B5EF4-FFF2-40B4-BE49-F238E27FC236}">
                      <a16:creationId xmlns:a16="http://schemas.microsoft.com/office/drawing/2014/main" id="{8AFD33DC-5D8D-19FD-E500-7660F667A422}"/>
                    </a:ext>
                  </a:extLst>
                </p:cNvPr>
                <p:cNvSpPr>
                  <a:spLocks noChangeArrowheads="1"/>
                </p:cNvSpPr>
                <p:nvPr/>
              </p:nvSpPr>
              <p:spPr bwMode="auto">
                <a:xfrm>
                  <a:off x="2378"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7" name="Rectangle 433">
                  <a:extLst>
                    <a:ext uri="{FF2B5EF4-FFF2-40B4-BE49-F238E27FC236}">
                      <a16:creationId xmlns:a16="http://schemas.microsoft.com/office/drawing/2014/main" id="{A24F7ECB-5581-70A7-3924-1AFAA1E6F0C0}"/>
                    </a:ext>
                  </a:extLst>
                </p:cNvPr>
                <p:cNvSpPr>
                  <a:spLocks noChangeArrowheads="1"/>
                </p:cNvSpPr>
                <p:nvPr/>
              </p:nvSpPr>
              <p:spPr bwMode="auto">
                <a:xfrm>
                  <a:off x="2785"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8" name="Rectangle 434">
                  <a:extLst>
                    <a:ext uri="{FF2B5EF4-FFF2-40B4-BE49-F238E27FC236}">
                      <a16:creationId xmlns:a16="http://schemas.microsoft.com/office/drawing/2014/main" id="{DE1204C9-12EB-0EF9-84B0-B5F627974973}"/>
                    </a:ext>
                  </a:extLst>
                </p:cNvPr>
                <p:cNvSpPr>
                  <a:spLocks noChangeArrowheads="1"/>
                </p:cNvSpPr>
                <p:nvPr/>
              </p:nvSpPr>
              <p:spPr bwMode="auto">
                <a:xfrm>
                  <a:off x="3192"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59" name="Rectangle 435">
                  <a:extLst>
                    <a:ext uri="{FF2B5EF4-FFF2-40B4-BE49-F238E27FC236}">
                      <a16:creationId xmlns:a16="http://schemas.microsoft.com/office/drawing/2014/main" id="{74851EAD-796F-E051-ECED-E4D8EB4E3891}"/>
                    </a:ext>
                  </a:extLst>
                </p:cNvPr>
                <p:cNvSpPr>
                  <a:spLocks noChangeArrowheads="1"/>
                </p:cNvSpPr>
                <p:nvPr/>
              </p:nvSpPr>
              <p:spPr bwMode="auto">
                <a:xfrm>
                  <a:off x="3599"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0" name="Rectangle 436">
                  <a:extLst>
                    <a:ext uri="{FF2B5EF4-FFF2-40B4-BE49-F238E27FC236}">
                      <a16:creationId xmlns:a16="http://schemas.microsoft.com/office/drawing/2014/main" id="{3DD1A952-C140-061F-13D2-C8F6960847A5}"/>
                    </a:ext>
                  </a:extLst>
                </p:cNvPr>
                <p:cNvSpPr>
                  <a:spLocks noChangeArrowheads="1"/>
                </p:cNvSpPr>
                <p:nvPr/>
              </p:nvSpPr>
              <p:spPr bwMode="auto">
                <a:xfrm>
                  <a:off x="4004"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1" name="Rectangle 437">
                  <a:extLst>
                    <a:ext uri="{FF2B5EF4-FFF2-40B4-BE49-F238E27FC236}">
                      <a16:creationId xmlns:a16="http://schemas.microsoft.com/office/drawing/2014/main" id="{2EBA2D88-E031-8210-677C-AB2932A16E9A}"/>
                    </a:ext>
                  </a:extLst>
                </p:cNvPr>
                <p:cNvSpPr>
                  <a:spLocks noChangeArrowheads="1"/>
                </p:cNvSpPr>
                <p:nvPr/>
              </p:nvSpPr>
              <p:spPr bwMode="auto">
                <a:xfrm>
                  <a:off x="4411"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2" name="Rectangle 438">
                  <a:extLst>
                    <a:ext uri="{FF2B5EF4-FFF2-40B4-BE49-F238E27FC236}">
                      <a16:creationId xmlns:a16="http://schemas.microsoft.com/office/drawing/2014/main" id="{D0956CDF-063C-C578-C50E-87BFD2466AC2}"/>
                    </a:ext>
                  </a:extLst>
                </p:cNvPr>
                <p:cNvSpPr>
                  <a:spLocks noChangeArrowheads="1"/>
                </p:cNvSpPr>
                <p:nvPr/>
              </p:nvSpPr>
              <p:spPr bwMode="auto">
                <a:xfrm>
                  <a:off x="4818"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3" name="Rectangle 439">
                  <a:extLst>
                    <a:ext uri="{FF2B5EF4-FFF2-40B4-BE49-F238E27FC236}">
                      <a16:creationId xmlns:a16="http://schemas.microsoft.com/office/drawing/2014/main" id="{1B5ADF0E-936E-21DD-4E9D-1342C21B3FE5}"/>
                    </a:ext>
                  </a:extLst>
                </p:cNvPr>
                <p:cNvSpPr>
                  <a:spLocks noChangeArrowheads="1"/>
                </p:cNvSpPr>
                <p:nvPr/>
              </p:nvSpPr>
              <p:spPr bwMode="auto">
                <a:xfrm>
                  <a:off x="5225" y="28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64" name="Rectangle 440">
                  <a:extLst>
                    <a:ext uri="{FF2B5EF4-FFF2-40B4-BE49-F238E27FC236}">
                      <a16:creationId xmlns:a16="http://schemas.microsoft.com/office/drawing/2014/main" id="{3390C377-DED8-4197-8C52-A8BE946B3B8B}"/>
                    </a:ext>
                  </a:extLst>
                </p:cNvPr>
                <p:cNvSpPr>
                  <a:spLocks noChangeArrowheads="1"/>
                </p:cNvSpPr>
                <p:nvPr/>
              </p:nvSpPr>
              <p:spPr bwMode="auto">
                <a:xfrm>
                  <a:off x="393" y="287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8</a:t>
                  </a:r>
                </a:p>
              </p:txBody>
            </p:sp>
            <p:sp>
              <p:nvSpPr>
                <p:cNvPr id="465" name="Rectangle 441">
                  <a:extLst>
                    <a:ext uri="{FF2B5EF4-FFF2-40B4-BE49-F238E27FC236}">
                      <a16:creationId xmlns:a16="http://schemas.microsoft.com/office/drawing/2014/main" id="{9FD7B71D-C79A-9B1C-8181-95561DF9CF86}"/>
                    </a:ext>
                  </a:extLst>
                </p:cNvPr>
                <p:cNvSpPr>
                  <a:spLocks noChangeArrowheads="1"/>
                </p:cNvSpPr>
                <p:nvPr/>
              </p:nvSpPr>
              <p:spPr bwMode="auto">
                <a:xfrm>
                  <a:off x="708" y="2875"/>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320148</a:t>
                  </a:r>
                </a:p>
              </p:txBody>
            </p:sp>
            <p:sp>
              <p:nvSpPr>
                <p:cNvPr id="466" name="Rectangle 442">
                  <a:extLst>
                    <a:ext uri="{FF2B5EF4-FFF2-40B4-BE49-F238E27FC236}">
                      <a16:creationId xmlns:a16="http://schemas.microsoft.com/office/drawing/2014/main" id="{4F71E601-93A7-9AE2-4644-015075E27936}"/>
                    </a:ext>
                  </a:extLst>
                </p:cNvPr>
                <p:cNvSpPr>
                  <a:spLocks noChangeArrowheads="1"/>
                </p:cNvSpPr>
                <p:nvPr/>
              </p:nvSpPr>
              <p:spPr bwMode="auto">
                <a:xfrm>
                  <a:off x="1272" y="287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a:t>
                  </a:r>
                </a:p>
              </p:txBody>
            </p:sp>
            <p:sp>
              <p:nvSpPr>
                <p:cNvPr id="467" name="Rectangle 443">
                  <a:extLst>
                    <a:ext uri="{FF2B5EF4-FFF2-40B4-BE49-F238E27FC236}">
                      <a16:creationId xmlns:a16="http://schemas.microsoft.com/office/drawing/2014/main" id="{0E29B682-BDC3-79DA-33AA-EC6105D4C2DA}"/>
                    </a:ext>
                  </a:extLst>
                </p:cNvPr>
                <p:cNvSpPr>
                  <a:spLocks noChangeArrowheads="1"/>
                </p:cNvSpPr>
                <p:nvPr/>
              </p:nvSpPr>
              <p:spPr bwMode="auto">
                <a:xfrm>
                  <a:off x="1704" y="287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a:t>
                  </a:r>
                </a:p>
              </p:txBody>
            </p:sp>
            <p:sp>
              <p:nvSpPr>
                <p:cNvPr id="468" name="Rectangle 444">
                  <a:extLst>
                    <a:ext uri="{FF2B5EF4-FFF2-40B4-BE49-F238E27FC236}">
                      <a16:creationId xmlns:a16="http://schemas.microsoft.com/office/drawing/2014/main" id="{3F0A8BD4-D953-CA50-9BF7-3A72FEEC722D}"/>
                    </a:ext>
                  </a:extLst>
                </p:cNvPr>
                <p:cNvSpPr>
                  <a:spLocks noChangeArrowheads="1"/>
                </p:cNvSpPr>
                <p:nvPr/>
              </p:nvSpPr>
              <p:spPr bwMode="auto">
                <a:xfrm>
                  <a:off x="2079"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69" name="Rectangle 445">
                  <a:extLst>
                    <a:ext uri="{FF2B5EF4-FFF2-40B4-BE49-F238E27FC236}">
                      <a16:creationId xmlns:a16="http://schemas.microsoft.com/office/drawing/2014/main" id="{62955153-74B5-921B-EE5E-B6C46901EEEC}"/>
                    </a:ext>
                  </a:extLst>
                </p:cNvPr>
                <p:cNvSpPr>
                  <a:spLocks noChangeArrowheads="1"/>
                </p:cNvSpPr>
                <p:nvPr/>
              </p:nvSpPr>
              <p:spPr bwMode="auto">
                <a:xfrm>
                  <a:off x="2883"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0" name="Rectangle 446">
                  <a:extLst>
                    <a:ext uri="{FF2B5EF4-FFF2-40B4-BE49-F238E27FC236}">
                      <a16:creationId xmlns:a16="http://schemas.microsoft.com/office/drawing/2014/main" id="{B4EFD9E4-77AC-A000-C641-B2D767683AC0}"/>
                    </a:ext>
                  </a:extLst>
                </p:cNvPr>
                <p:cNvSpPr>
                  <a:spLocks noChangeArrowheads="1"/>
                </p:cNvSpPr>
                <p:nvPr/>
              </p:nvSpPr>
              <p:spPr bwMode="auto">
                <a:xfrm>
                  <a:off x="3290"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471" name="Rectangle 447">
                  <a:extLst>
                    <a:ext uri="{FF2B5EF4-FFF2-40B4-BE49-F238E27FC236}">
                      <a16:creationId xmlns:a16="http://schemas.microsoft.com/office/drawing/2014/main" id="{50ADD61D-DC66-6B8C-6CC7-9E24D5BA4AB6}"/>
                    </a:ext>
                  </a:extLst>
                </p:cNvPr>
                <p:cNvSpPr>
                  <a:spLocks noChangeArrowheads="1"/>
                </p:cNvSpPr>
                <p:nvPr/>
              </p:nvSpPr>
              <p:spPr bwMode="auto">
                <a:xfrm>
                  <a:off x="3697"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2" name="Rectangle 448">
                  <a:extLst>
                    <a:ext uri="{FF2B5EF4-FFF2-40B4-BE49-F238E27FC236}">
                      <a16:creationId xmlns:a16="http://schemas.microsoft.com/office/drawing/2014/main" id="{B7C45DFB-CF2C-29E1-4CBE-3E72058B2C9A}"/>
                    </a:ext>
                  </a:extLst>
                </p:cNvPr>
                <p:cNvSpPr>
                  <a:spLocks noChangeArrowheads="1"/>
                </p:cNvSpPr>
                <p:nvPr/>
              </p:nvSpPr>
              <p:spPr bwMode="auto">
                <a:xfrm>
                  <a:off x="4511"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3" name="Rectangle 449">
                  <a:extLst>
                    <a:ext uri="{FF2B5EF4-FFF2-40B4-BE49-F238E27FC236}">
                      <a16:creationId xmlns:a16="http://schemas.microsoft.com/office/drawing/2014/main" id="{C08E0456-9F46-C5BF-26B1-5291C1E79F15}"/>
                    </a:ext>
                  </a:extLst>
                </p:cNvPr>
                <p:cNvSpPr>
                  <a:spLocks noChangeArrowheads="1"/>
                </p:cNvSpPr>
                <p:nvPr/>
              </p:nvSpPr>
              <p:spPr bwMode="auto">
                <a:xfrm>
                  <a:off x="4918" y="2852"/>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474" name="Rectangle 450">
                  <a:extLst>
                    <a:ext uri="{FF2B5EF4-FFF2-40B4-BE49-F238E27FC236}">
                      <a16:creationId xmlns:a16="http://schemas.microsoft.com/office/drawing/2014/main" id="{72CFE58C-6520-C919-AF00-B0D8235ABBA8}"/>
                    </a:ext>
                  </a:extLst>
                </p:cNvPr>
                <p:cNvSpPr>
                  <a:spLocks noChangeArrowheads="1"/>
                </p:cNvSpPr>
                <p:nvPr/>
              </p:nvSpPr>
              <p:spPr bwMode="auto">
                <a:xfrm>
                  <a:off x="346"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5" name="Rectangle 451">
                  <a:extLst>
                    <a:ext uri="{FF2B5EF4-FFF2-40B4-BE49-F238E27FC236}">
                      <a16:creationId xmlns:a16="http://schemas.microsoft.com/office/drawing/2014/main" id="{F6D78BB3-54CE-41D9-0516-DE171FEC30A5}"/>
                    </a:ext>
                  </a:extLst>
                </p:cNvPr>
                <p:cNvSpPr>
                  <a:spLocks noChangeArrowheads="1"/>
                </p:cNvSpPr>
                <p:nvPr/>
              </p:nvSpPr>
              <p:spPr bwMode="auto">
                <a:xfrm>
                  <a:off x="351" y="301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6" name="Rectangle 452">
                  <a:extLst>
                    <a:ext uri="{FF2B5EF4-FFF2-40B4-BE49-F238E27FC236}">
                      <a16:creationId xmlns:a16="http://schemas.microsoft.com/office/drawing/2014/main" id="{02FAC7F1-FB94-E535-C872-D06FED941433}"/>
                    </a:ext>
                  </a:extLst>
                </p:cNvPr>
                <p:cNvSpPr>
                  <a:spLocks noChangeArrowheads="1"/>
                </p:cNvSpPr>
                <p:nvPr/>
              </p:nvSpPr>
              <p:spPr bwMode="auto">
                <a:xfrm>
                  <a:off x="582"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7" name="Rectangle 453">
                  <a:extLst>
                    <a:ext uri="{FF2B5EF4-FFF2-40B4-BE49-F238E27FC236}">
                      <a16:creationId xmlns:a16="http://schemas.microsoft.com/office/drawing/2014/main" id="{FAFC47A4-A0F9-CEA2-BDD6-26467179ED0F}"/>
                    </a:ext>
                  </a:extLst>
                </p:cNvPr>
                <p:cNvSpPr>
                  <a:spLocks noChangeArrowheads="1"/>
                </p:cNvSpPr>
                <p:nvPr/>
              </p:nvSpPr>
              <p:spPr bwMode="auto">
                <a:xfrm>
                  <a:off x="587" y="301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8" name="Rectangle 454">
                  <a:extLst>
                    <a:ext uri="{FF2B5EF4-FFF2-40B4-BE49-F238E27FC236}">
                      <a16:creationId xmlns:a16="http://schemas.microsoft.com/office/drawing/2014/main" id="{68B329F1-FE0B-A465-C3A1-29AB1ACB6A9C}"/>
                    </a:ext>
                  </a:extLst>
                </p:cNvPr>
                <p:cNvSpPr>
                  <a:spLocks noChangeArrowheads="1"/>
                </p:cNvSpPr>
                <p:nvPr/>
              </p:nvSpPr>
              <p:spPr bwMode="auto">
                <a:xfrm>
                  <a:off x="1157"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79" name="Rectangle 455">
                  <a:extLst>
                    <a:ext uri="{FF2B5EF4-FFF2-40B4-BE49-F238E27FC236}">
                      <a16:creationId xmlns:a16="http://schemas.microsoft.com/office/drawing/2014/main" id="{153077FB-6256-BEE9-3646-2E4030A5A88E}"/>
                    </a:ext>
                  </a:extLst>
                </p:cNvPr>
                <p:cNvSpPr>
                  <a:spLocks noChangeArrowheads="1"/>
                </p:cNvSpPr>
                <p:nvPr/>
              </p:nvSpPr>
              <p:spPr bwMode="auto">
                <a:xfrm>
                  <a:off x="1163"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0" name="Rectangle 456">
                  <a:extLst>
                    <a:ext uri="{FF2B5EF4-FFF2-40B4-BE49-F238E27FC236}">
                      <a16:creationId xmlns:a16="http://schemas.microsoft.com/office/drawing/2014/main" id="{947F4B93-ADF8-6070-4D22-C992CEC1733E}"/>
                    </a:ext>
                  </a:extLst>
                </p:cNvPr>
                <p:cNvSpPr>
                  <a:spLocks noChangeArrowheads="1"/>
                </p:cNvSpPr>
                <p:nvPr/>
              </p:nvSpPr>
              <p:spPr bwMode="auto">
                <a:xfrm>
                  <a:off x="1564"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1" name="Rectangle 457">
                  <a:extLst>
                    <a:ext uri="{FF2B5EF4-FFF2-40B4-BE49-F238E27FC236}">
                      <a16:creationId xmlns:a16="http://schemas.microsoft.com/office/drawing/2014/main" id="{45B46B01-0D04-D7E7-C768-61D3817F5FEE}"/>
                    </a:ext>
                  </a:extLst>
                </p:cNvPr>
                <p:cNvSpPr>
                  <a:spLocks noChangeArrowheads="1"/>
                </p:cNvSpPr>
                <p:nvPr/>
              </p:nvSpPr>
              <p:spPr bwMode="auto">
                <a:xfrm>
                  <a:off x="1570" y="301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2" name="Rectangle 458">
                  <a:extLst>
                    <a:ext uri="{FF2B5EF4-FFF2-40B4-BE49-F238E27FC236}">
                      <a16:creationId xmlns:a16="http://schemas.microsoft.com/office/drawing/2014/main" id="{C659CDF5-B484-CF90-EDD5-3CC340E4FE5D}"/>
                    </a:ext>
                  </a:extLst>
                </p:cNvPr>
                <p:cNvSpPr>
                  <a:spLocks noChangeArrowheads="1"/>
                </p:cNvSpPr>
                <p:nvPr/>
              </p:nvSpPr>
              <p:spPr bwMode="auto">
                <a:xfrm>
                  <a:off x="1987"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3" name="Rectangle 459">
                  <a:extLst>
                    <a:ext uri="{FF2B5EF4-FFF2-40B4-BE49-F238E27FC236}">
                      <a16:creationId xmlns:a16="http://schemas.microsoft.com/office/drawing/2014/main" id="{90AD0E51-EA4B-DD62-5CD4-F817F3A4C284}"/>
                    </a:ext>
                  </a:extLst>
                </p:cNvPr>
                <p:cNvSpPr>
                  <a:spLocks noChangeArrowheads="1"/>
                </p:cNvSpPr>
                <p:nvPr/>
              </p:nvSpPr>
              <p:spPr bwMode="auto">
                <a:xfrm>
                  <a:off x="1993" y="301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4" name="Rectangle 460">
                  <a:extLst>
                    <a:ext uri="{FF2B5EF4-FFF2-40B4-BE49-F238E27FC236}">
                      <a16:creationId xmlns:a16="http://schemas.microsoft.com/office/drawing/2014/main" id="{DB8EDBF9-E1B6-0971-10B3-F8691B9D5C95}"/>
                    </a:ext>
                  </a:extLst>
                </p:cNvPr>
                <p:cNvSpPr>
                  <a:spLocks noChangeArrowheads="1"/>
                </p:cNvSpPr>
                <p:nvPr/>
              </p:nvSpPr>
              <p:spPr bwMode="auto">
                <a:xfrm>
                  <a:off x="2378"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5" name="Rectangle 461">
                  <a:extLst>
                    <a:ext uri="{FF2B5EF4-FFF2-40B4-BE49-F238E27FC236}">
                      <a16:creationId xmlns:a16="http://schemas.microsoft.com/office/drawing/2014/main" id="{09AB2A44-5C2E-1DEC-894F-398A081B578C}"/>
                    </a:ext>
                  </a:extLst>
                </p:cNvPr>
                <p:cNvSpPr>
                  <a:spLocks noChangeArrowheads="1"/>
                </p:cNvSpPr>
                <p:nvPr/>
              </p:nvSpPr>
              <p:spPr bwMode="auto">
                <a:xfrm>
                  <a:off x="2384"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6" name="Rectangle 462">
                  <a:extLst>
                    <a:ext uri="{FF2B5EF4-FFF2-40B4-BE49-F238E27FC236}">
                      <a16:creationId xmlns:a16="http://schemas.microsoft.com/office/drawing/2014/main" id="{08BB33F5-1F10-3681-C7DE-5B0D0480ACA8}"/>
                    </a:ext>
                  </a:extLst>
                </p:cNvPr>
                <p:cNvSpPr>
                  <a:spLocks noChangeArrowheads="1"/>
                </p:cNvSpPr>
                <p:nvPr/>
              </p:nvSpPr>
              <p:spPr bwMode="auto">
                <a:xfrm>
                  <a:off x="2785"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7" name="Rectangle 463">
                  <a:extLst>
                    <a:ext uri="{FF2B5EF4-FFF2-40B4-BE49-F238E27FC236}">
                      <a16:creationId xmlns:a16="http://schemas.microsoft.com/office/drawing/2014/main" id="{EFB90E4F-4059-1F16-2E57-68C991577524}"/>
                    </a:ext>
                  </a:extLst>
                </p:cNvPr>
                <p:cNvSpPr>
                  <a:spLocks noChangeArrowheads="1"/>
                </p:cNvSpPr>
                <p:nvPr/>
              </p:nvSpPr>
              <p:spPr bwMode="auto">
                <a:xfrm>
                  <a:off x="2791"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8" name="Rectangle 464">
                  <a:extLst>
                    <a:ext uri="{FF2B5EF4-FFF2-40B4-BE49-F238E27FC236}">
                      <a16:creationId xmlns:a16="http://schemas.microsoft.com/office/drawing/2014/main" id="{9D799EE4-7ACA-BBA5-4EDF-FA032C24FFB6}"/>
                    </a:ext>
                  </a:extLst>
                </p:cNvPr>
                <p:cNvSpPr>
                  <a:spLocks noChangeArrowheads="1"/>
                </p:cNvSpPr>
                <p:nvPr/>
              </p:nvSpPr>
              <p:spPr bwMode="auto">
                <a:xfrm>
                  <a:off x="3192"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89" name="Rectangle 465">
                  <a:extLst>
                    <a:ext uri="{FF2B5EF4-FFF2-40B4-BE49-F238E27FC236}">
                      <a16:creationId xmlns:a16="http://schemas.microsoft.com/office/drawing/2014/main" id="{79C827D0-4C56-0C44-71C2-F30FB85F730F}"/>
                    </a:ext>
                  </a:extLst>
                </p:cNvPr>
                <p:cNvSpPr>
                  <a:spLocks noChangeArrowheads="1"/>
                </p:cNvSpPr>
                <p:nvPr/>
              </p:nvSpPr>
              <p:spPr bwMode="auto">
                <a:xfrm>
                  <a:off x="3198"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0" name="Rectangle 466">
                  <a:extLst>
                    <a:ext uri="{FF2B5EF4-FFF2-40B4-BE49-F238E27FC236}">
                      <a16:creationId xmlns:a16="http://schemas.microsoft.com/office/drawing/2014/main" id="{D681D992-BEFA-B926-E09A-37C57A0FF96E}"/>
                    </a:ext>
                  </a:extLst>
                </p:cNvPr>
                <p:cNvSpPr>
                  <a:spLocks noChangeArrowheads="1"/>
                </p:cNvSpPr>
                <p:nvPr/>
              </p:nvSpPr>
              <p:spPr bwMode="auto">
                <a:xfrm>
                  <a:off x="3599"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1" name="Rectangle 467">
                  <a:extLst>
                    <a:ext uri="{FF2B5EF4-FFF2-40B4-BE49-F238E27FC236}">
                      <a16:creationId xmlns:a16="http://schemas.microsoft.com/office/drawing/2014/main" id="{0F589CCE-77DA-2056-6F6B-3E122D04CF85}"/>
                    </a:ext>
                  </a:extLst>
                </p:cNvPr>
                <p:cNvSpPr>
                  <a:spLocks noChangeArrowheads="1"/>
                </p:cNvSpPr>
                <p:nvPr/>
              </p:nvSpPr>
              <p:spPr bwMode="auto">
                <a:xfrm>
                  <a:off x="3605" y="301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2" name="Rectangle 468">
                  <a:extLst>
                    <a:ext uri="{FF2B5EF4-FFF2-40B4-BE49-F238E27FC236}">
                      <a16:creationId xmlns:a16="http://schemas.microsoft.com/office/drawing/2014/main" id="{79C7666C-1EF4-670D-B602-6951BABE6F0D}"/>
                    </a:ext>
                  </a:extLst>
                </p:cNvPr>
                <p:cNvSpPr>
                  <a:spLocks noChangeArrowheads="1"/>
                </p:cNvSpPr>
                <p:nvPr/>
              </p:nvSpPr>
              <p:spPr bwMode="auto">
                <a:xfrm>
                  <a:off x="4004"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3" name="Rectangle 469">
                  <a:extLst>
                    <a:ext uri="{FF2B5EF4-FFF2-40B4-BE49-F238E27FC236}">
                      <a16:creationId xmlns:a16="http://schemas.microsoft.com/office/drawing/2014/main" id="{35C683BF-FC4F-1992-0DC5-09F8D5A606B7}"/>
                    </a:ext>
                  </a:extLst>
                </p:cNvPr>
                <p:cNvSpPr>
                  <a:spLocks noChangeArrowheads="1"/>
                </p:cNvSpPr>
                <p:nvPr/>
              </p:nvSpPr>
              <p:spPr bwMode="auto">
                <a:xfrm>
                  <a:off x="4010"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4" name="Rectangle 470">
                  <a:extLst>
                    <a:ext uri="{FF2B5EF4-FFF2-40B4-BE49-F238E27FC236}">
                      <a16:creationId xmlns:a16="http://schemas.microsoft.com/office/drawing/2014/main" id="{06CFF2A0-25E4-53B6-5297-7F830336838C}"/>
                    </a:ext>
                  </a:extLst>
                </p:cNvPr>
                <p:cNvSpPr>
                  <a:spLocks noChangeArrowheads="1"/>
                </p:cNvSpPr>
                <p:nvPr/>
              </p:nvSpPr>
              <p:spPr bwMode="auto">
                <a:xfrm>
                  <a:off x="4411"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5" name="Rectangle 471">
                  <a:extLst>
                    <a:ext uri="{FF2B5EF4-FFF2-40B4-BE49-F238E27FC236}">
                      <a16:creationId xmlns:a16="http://schemas.microsoft.com/office/drawing/2014/main" id="{F77D0F7C-78E8-B273-E0A8-010E9EB9B3E8}"/>
                    </a:ext>
                  </a:extLst>
                </p:cNvPr>
                <p:cNvSpPr>
                  <a:spLocks noChangeArrowheads="1"/>
                </p:cNvSpPr>
                <p:nvPr/>
              </p:nvSpPr>
              <p:spPr bwMode="auto">
                <a:xfrm>
                  <a:off x="4417"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6" name="Rectangle 472">
                  <a:extLst>
                    <a:ext uri="{FF2B5EF4-FFF2-40B4-BE49-F238E27FC236}">
                      <a16:creationId xmlns:a16="http://schemas.microsoft.com/office/drawing/2014/main" id="{5E18E23C-DD04-936F-A107-D58A71EA77E4}"/>
                    </a:ext>
                  </a:extLst>
                </p:cNvPr>
                <p:cNvSpPr>
                  <a:spLocks noChangeArrowheads="1"/>
                </p:cNvSpPr>
                <p:nvPr/>
              </p:nvSpPr>
              <p:spPr bwMode="auto">
                <a:xfrm>
                  <a:off x="4818"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7" name="Rectangle 473">
                  <a:extLst>
                    <a:ext uri="{FF2B5EF4-FFF2-40B4-BE49-F238E27FC236}">
                      <a16:creationId xmlns:a16="http://schemas.microsoft.com/office/drawing/2014/main" id="{CF09116B-46F7-5C5D-808C-E4756C029064}"/>
                    </a:ext>
                  </a:extLst>
                </p:cNvPr>
                <p:cNvSpPr>
                  <a:spLocks noChangeArrowheads="1"/>
                </p:cNvSpPr>
                <p:nvPr/>
              </p:nvSpPr>
              <p:spPr bwMode="auto">
                <a:xfrm>
                  <a:off x="4824" y="30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8" name="Rectangle 474">
                  <a:extLst>
                    <a:ext uri="{FF2B5EF4-FFF2-40B4-BE49-F238E27FC236}">
                      <a16:creationId xmlns:a16="http://schemas.microsoft.com/office/drawing/2014/main" id="{9AB1435C-FEDE-E0DE-6A2E-FD4473F6344E}"/>
                    </a:ext>
                  </a:extLst>
                </p:cNvPr>
                <p:cNvSpPr>
                  <a:spLocks noChangeArrowheads="1"/>
                </p:cNvSpPr>
                <p:nvPr/>
              </p:nvSpPr>
              <p:spPr bwMode="auto">
                <a:xfrm>
                  <a:off x="5225" y="30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9" name="Rectangle 475">
                  <a:extLst>
                    <a:ext uri="{FF2B5EF4-FFF2-40B4-BE49-F238E27FC236}">
                      <a16:creationId xmlns:a16="http://schemas.microsoft.com/office/drawing/2014/main" id="{2A8091B2-2265-BEEC-A7FD-53E04A9610F2}"/>
                    </a:ext>
                  </a:extLst>
                </p:cNvPr>
                <p:cNvSpPr>
                  <a:spLocks noChangeArrowheads="1"/>
                </p:cNvSpPr>
                <p:nvPr/>
              </p:nvSpPr>
              <p:spPr bwMode="auto">
                <a:xfrm>
                  <a:off x="346"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0" name="Rectangle 476">
                  <a:extLst>
                    <a:ext uri="{FF2B5EF4-FFF2-40B4-BE49-F238E27FC236}">
                      <a16:creationId xmlns:a16="http://schemas.microsoft.com/office/drawing/2014/main" id="{B159CE15-EBCB-48FE-2FC5-6BA28B139B2E}"/>
                    </a:ext>
                  </a:extLst>
                </p:cNvPr>
                <p:cNvSpPr>
                  <a:spLocks noChangeArrowheads="1"/>
                </p:cNvSpPr>
                <p:nvPr/>
              </p:nvSpPr>
              <p:spPr bwMode="auto">
                <a:xfrm>
                  <a:off x="582"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1" name="Rectangle 477">
                  <a:extLst>
                    <a:ext uri="{FF2B5EF4-FFF2-40B4-BE49-F238E27FC236}">
                      <a16:creationId xmlns:a16="http://schemas.microsoft.com/office/drawing/2014/main" id="{2EF96F0B-475A-6680-843B-059CD07CDC4C}"/>
                    </a:ext>
                  </a:extLst>
                </p:cNvPr>
                <p:cNvSpPr>
                  <a:spLocks noChangeArrowheads="1"/>
                </p:cNvSpPr>
                <p:nvPr/>
              </p:nvSpPr>
              <p:spPr bwMode="auto">
                <a:xfrm>
                  <a:off x="1157"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2" name="Rectangle 478">
                  <a:extLst>
                    <a:ext uri="{FF2B5EF4-FFF2-40B4-BE49-F238E27FC236}">
                      <a16:creationId xmlns:a16="http://schemas.microsoft.com/office/drawing/2014/main" id="{3928D8DD-9137-8ECF-1DF3-1DB34B0CAA9B}"/>
                    </a:ext>
                  </a:extLst>
                </p:cNvPr>
                <p:cNvSpPr>
                  <a:spLocks noChangeArrowheads="1"/>
                </p:cNvSpPr>
                <p:nvPr/>
              </p:nvSpPr>
              <p:spPr bwMode="auto">
                <a:xfrm>
                  <a:off x="1564"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3" name="Rectangle 479">
                  <a:extLst>
                    <a:ext uri="{FF2B5EF4-FFF2-40B4-BE49-F238E27FC236}">
                      <a16:creationId xmlns:a16="http://schemas.microsoft.com/office/drawing/2014/main" id="{7F0F68E0-DFEF-9EC5-625B-C5A03AA91890}"/>
                    </a:ext>
                  </a:extLst>
                </p:cNvPr>
                <p:cNvSpPr>
                  <a:spLocks noChangeArrowheads="1"/>
                </p:cNvSpPr>
                <p:nvPr/>
              </p:nvSpPr>
              <p:spPr bwMode="auto">
                <a:xfrm>
                  <a:off x="1987"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4" name="Rectangle 480">
                  <a:extLst>
                    <a:ext uri="{FF2B5EF4-FFF2-40B4-BE49-F238E27FC236}">
                      <a16:creationId xmlns:a16="http://schemas.microsoft.com/office/drawing/2014/main" id="{AC827004-80E0-3C40-4A54-BDE4ADFE104F}"/>
                    </a:ext>
                  </a:extLst>
                </p:cNvPr>
                <p:cNvSpPr>
                  <a:spLocks noChangeArrowheads="1"/>
                </p:cNvSpPr>
                <p:nvPr/>
              </p:nvSpPr>
              <p:spPr bwMode="auto">
                <a:xfrm>
                  <a:off x="2378"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5" name="Rectangle 481">
                  <a:extLst>
                    <a:ext uri="{FF2B5EF4-FFF2-40B4-BE49-F238E27FC236}">
                      <a16:creationId xmlns:a16="http://schemas.microsoft.com/office/drawing/2014/main" id="{ACBA8E88-2393-3935-EAA6-38C146AD4D6B}"/>
                    </a:ext>
                  </a:extLst>
                </p:cNvPr>
                <p:cNvSpPr>
                  <a:spLocks noChangeArrowheads="1"/>
                </p:cNvSpPr>
                <p:nvPr/>
              </p:nvSpPr>
              <p:spPr bwMode="auto">
                <a:xfrm>
                  <a:off x="2785"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6" name="Rectangle 482">
                  <a:extLst>
                    <a:ext uri="{FF2B5EF4-FFF2-40B4-BE49-F238E27FC236}">
                      <a16:creationId xmlns:a16="http://schemas.microsoft.com/office/drawing/2014/main" id="{2FF5B6DF-D9D0-1E2E-9742-B231C8681DB6}"/>
                    </a:ext>
                  </a:extLst>
                </p:cNvPr>
                <p:cNvSpPr>
                  <a:spLocks noChangeArrowheads="1"/>
                </p:cNvSpPr>
                <p:nvPr/>
              </p:nvSpPr>
              <p:spPr bwMode="auto">
                <a:xfrm>
                  <a:off x="3192"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7" name="Rectangle 483">
                  <a:extLst>
                    <a:ext uri="{FF2B5EF4-FFF2-40B4-BE49-F238E27FC236}">
                      <a16:creationId xmlns:a16="http://schemas.microsoft.com/office/drawing/2014/main" id="{4EB654C0-1EFC-B639-8589-1A607B9E2A15}"/>
                    </a:ext>
                  </a:extLst>
                </p:cNvPr>
                <p:cNvSpPr>
                  <a:spLocks noChangeArrowheads="1"/>
                </p:cNvSpPr>
                <p:nvPr/>
              </p:nvSpPr>
              <p:spPr bwMode="auto">
                <a:xfrm>
                  <a:off x="3599"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8" name="Rectangle 484">
                  <a:extLst>
                    <a:ext uri="{FF2B5EF4-FFF2-40B4-BE49-F238E27FC236}">
                      <a16:creationId xmlns:a16="http://schemas.microsoft.com/office/drawing/2014/main" id="{859E52A1-5B23-8AFA-D728-F6E6C5EC9BD0}"/>
                    </a:ext>
                  </a:extLst>
                </p:cNvPr>
                <p:cNvSpPr>
                  <a:spLocks noChangeArrowheads="1"/>
                </p:cNvSpPr>
                <p:nvPr/>
              </p:nvSpPr>
              <p:spPr bwMode="auto">
                <a:xfrm>
                  <a:off x="4004"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9" name="Rectangle 485">
                  <a:extLst>
                    <a:ext uri="{FF2B5EF4-FFF2-40B4-BE49-F238E27FC236}">
                      <a16:creationId xmlns:a16="http://schemas.microsoft.com/office/drawing/2014/main" id="{6C6264AB-2A0D-5C18-C76C-8A01F5B64069}"/>
                    </a:ext>
                  </a:extLst>
                </p:cNvPr>
                <p:cNvSpPr>
                  <a:spLocks noChangeArrowheads="1"/>
                </p:cNvSpPr>
                <p:nvPr/>
              </p:nvSpPr>
              <p:spPr bwMode="auto">
                <a:xfrm>
                  <a:off x="4411"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0" name="Rectangle 486">
                  <a:extLst>
                    <a:ext uri="{FF2B5EF4-FFF2-40B4-BE49-F238E27FC236}">
                      <a16:creationId xmlns:a16="http://schemas.microsoft.com/office/drawing/2014/main" id="{9DD8F8E6-B3FF-DFCC-0F5F-22C46950E9B1}"/>
                    </a:ext>
                  </a:extLst>
                </p:cNvPr>
                <p:cNvSpPr>
                  <a:spLocks noChangeArrowheads="1"/>
                </p:cNvSpPr>
                <p:nvPr/>
              </p:nvSpPr>
              <p:spPr bwMode="auto">
                <a:xfrm>
                  <a:off x="4818"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1" name="Rectangle 487">
                  <a:extLst>
                    <a:ext uri="{FF2B5EF4-FFF2-40B4-BE49-F238E27FC236}">
                      <a16:creationId xmlns:a16="http://schemas.microsoft.com/office/drawing/2014/main" id="{4B20662A-73B0-B43B-4448-4E2BFE444936}"/>
                    </a:ext>
                  </a:extLst>
                </p:cNvPr>
                <p:cNvSpPr>
                  <a:spLocks noChangeArrowheads="1"/>
                </p:cNvSpPr>
                <p:nvPr/>
              </p:nvSpPr>
              <p:spPr bwMode="auto">
                <a:xfrm>
                  <a:off x="5225" y="30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12" name="Rectangle 488">
                  <a:extLst>
                    <a:ext uri="{FF2B5EF4-FFF2-40B4-BE49-F238E27FC236}">
                      <a16:creationId xmlns:a16="http://schemas.microsoft.com/office/drawing/2014/main" id="{4AB4880B-2A6B-1B80-77EE-CF1726127183}"/>
                    </a:ext>
                  </a:extLst>
                </p:cNvPr>
                <p:cNvSpPr>
                  <a:spLocks noChangeArrowheads="1"/>
                </p:cNvSpPr>
                <p:nvPr/>
              </p:nvSpPr>
              <p:spPr bwMode="auto">
                <a:xfrm>
                  <a:off x="393" y="302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9</a:t>
                  </a:r>
                </a:p>
              </p:txBody>
            </p:sp>
            <p:sp>
              <p:nvSpPr>
                <p:cNvPr id="513" name="Rectangle 489">
                  <a:extLst>
                    <a:ext uri="{FF2B5EF4-FFF2-40B4-BE49-F238E27FC236}">
                      <a16:creationId xmlns:a16="http://schemas.microsoft.com/office/drawing/2014/main" id="{29EDA0DD-E4DA-B439-584D-3707DFC8370B}"/>
                    </a:ext>
                  </a:extLst>
                </p:cNvPr>
                <p:cNvSpPr>
                  <a:spLocks noChangeArrowheads="1"/>
                </p:cNvSpPr>
                <p:nvPr/>
              </p:nvSpPr>
              <p:spPr bwMode="auto">
                <a:xfrm>
                  <a:off x="708" y="3025"/>
                  <a:ext cx="30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320087</a:t>
                  </a:r>
                </a:p>
              </p:txBody>
            </p:sp>
            <p:sp>
              <p:nvSpPr>
                <p:cNvPr id="514" name="Rectangle 490">
                  <a:extLst>
                    <a:ext uri="{FF2B5EF4-FFF2-40B4-BE49-F238E27FC236}">
                      <a16:creationId xmlns:a16="http://schemas.microsoft.com/office/drawing/2014/main" id="{8E768388-23D0-6FCD-0F39-731269F68169}"/>
                    </a:ext>
                  </a:extLst>
                </p:cNvPr>
                <p:cNvSpPr>
                  <a:spLocks noChangeArrowheads="1"/>
                </p:cNvSpPr>
                <p:nvPr/>
              </p:nvSpPr>
              <p:spPr bwMode="auto">
                <a:xfrm>
                  <a:off x="1272" y="302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a:t>
                  </a:r>
                </a:p>
              </p:txBody>
            </p:sp>
            <p:sp>
              <p:nvSpPr>
                <p:cNvPr id="515" name="Rectangle 491">
                  <a:extLst>
                    <a:ext uri="{FF2B5EF4-FFF2-40B4-BE49-F238E27FC236}">
                      <a16:creationId xmlns:a16="http://schemas.microsoft.com/office/drawing/2014/main" id="{E822E277-F320-D8A0-32FE-F87DE327DF08}"/>
                    </a:ext>
                  </a:extLst>
                </p:cNvPr>
                <p:cNvSpPr>
                  <a:spLocks noChangeArrowheads="1"/>
                </p:cNvSpPr>
                <p:nvPr/>
              </p:nvSpPr>
              <p:spPr bwMode="auto">
                <a:xfrm>
                  <a:off x="1704" y="302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a:t>
                  </a:r>
                </a:p>
              </p:txBody>
            </p:sp>
            <p:sp>
              <p:nvSpPr>
                <p:cNvPr id="516" name="Rectangle 492">
                  <a:extLst>
                    <a:ext uri="{FF2B5EF4-FFF2-40B4-BE49-F238E27FC236}">
                      <a16:creationId xmlns:a16="http://schemas.microsoft.com/office/drawing/2014/main" id="{A481C1A1-7CEA-FB95-43ED-3C86A5EF12D6}"/>
                    </a:ext>
                  </a:extLst>
                </p:cNvPr>
                <p:cNvSpPr>
                  <a:spLocks noChangeArrowheads="1"/>
                </p:cNvSpPr>
                <p:nvPr/>
              </p:nvSpPr>
              <p:spPr bwMode="auto">
                <a:xfrm>
                  <a:off x="2079"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17" name="Rectangle 493">
                  <a:extLst>
                    <a:ext uri="{FF2B5EF4-FFF2-40B4-BE49-F238E27FC236}">
                      <a16:creationId xmlns:a16="http://schemas.microsoft.com/office/drawing/2014/main" id="{4FE062A6-3680-1378-8526-9AFE4CCDB9E9}"/>
                    </a:ext>
                  </a:extLst>
                </p:cNvPr>
                <p:cNvSpPr>
                  <a:spLocks noChangeArrowheads="1"/>
                </p:cNvSpPr>
                <p:nvPr/>
              </p:nvSpPr>
              <p:spPr bwMode="auto">
                <a:xfrm>
                  <a:off x="2883"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18" name="Rectangle 494">
                  <a:extLst>
                    <a:ext uri="{FF2B5EF4-FFF2-40B4-BE49-F238E27FC236}">
                      <a16:creationId xmlns:a16="http://schemas.microsoft.com/office/drawing/2014/main" id="{601FB57A-6E47-C736-67D4-4FCCE53DC8D0}"/>
                    </a:ext>
                  </a:extLst>
                </p:cNvPr>
                <p:cNvSpPr>
                  <a:spLocks noChangeArrowheads="1"/>
                </p:cNvSpPr>
                <p:nvPr/>
              </p:nvSpPr>
              <p:spPr bwMode="auto">
                <a:xfrm>
                  <a:off x="3290"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519" name="Rectangle 495">
                  <a:extLst>
                    <a:ext uri="{FF2B5EF4-FFF2-40B4-BE49-F238E27FC236}">
                      <a16:creationId xmlns:a16="http://schemas.microsoft.com/office/drawing/2014/main" id="{7D67B5BE-4156-DD93-F6B1-8B3467E93125}"/>
                    </a:ext>
                  </a:extLst>
                </p:cNvPr>
                <p:cNvSpPr>
                  <a:spLocks noChangeArrowheads="1"/>
                </p:cNvSpPr>
                <p:nvPr/>
              </p:nvSpPr>
              <p:spPr bwMode="auto">
                <a:xfrm>
                  <a:off x="3697"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20" name="Rectangle 496">
                  <a:extLst>
                    <a:ext uri="{FF2B5EF4-FFF2-40B4-BE49-F238E27FC236}">
                      <a16:creationId xmlns:a16="http://schemas.microsoft.com/office/drawing/2014/main" id="{54AEF5A9-ABDD-ED95-FF0B-6B3BAC579E29}"/>
                    </a:ext>
                  </a:extLst>
                </p:cNvPr>
                <p:cNvSpPr>
                  <a:spLocks noChangeArrowheads="1"/>
                </p:cNvSpPr>
                <p:nvPr/>
              </p:nvSpPr>
              <p:spPr bwMode="auto">
                <a:xfrm>
                  <a:off x="4511"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21" name="Rectangle 497">
                  <a:extLst>
                    <a:ext uri="{FF2B5EF4-FFF2-40B4-BE49-F238E27FC236}">
                      <a16:creationId xmlns:a16="http://schemas.microsoft.com/office/drawing/2014/main" id="{F8121841-7CDF-C114-5425-F84BEA659872}"/>
                    </a:ext>
                  </a:extLst>
                </p:cNvPr>
                <p:cNvSpPr>
                  <a:spLocks noChangeArrowheads="1"/>
                </p:cNvSpPr>
                <p:nvPr/>
              </p:nvSpPr>
              <p:spPr bwMode="auto">
                <a:xfrm>
                  <a:off x="4918" y="3002"/>
                  <a:ext cx="203"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22" name="Rectangle 498">
                  <a:extLst>
                    <a:ext uri="{FF2B5EF4-FFF2-40B4-BE49-F238E27FC236}">
                      <a16:creationId xmlns:a16="http://schemas.microsoft.com/office/drawing/2014/main" id="{B175B7E5-0BF4-FA4D-AD91-762EC91637EE}"/>
                    </a:ext>
                  </a:extLst>
                </p:cNvPr>
                <p:cNvSpPr>
                  <a:spLocks noChangeArrowheads="1"/>
                </p:cNvSpPr>
                <p:nvPr/>
              </p:nvSpPr>
              <p:spPr bwMode="auto">
                <a:xfrm>
                  <a:off x="346"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3" name="Rectangle 499">
                  <a:extLst>
                    <a:ext uri="{FF2B5EF4-FFF2-40B4-BE49-F238E27FC236}">
                      <a16:creationId xmlns:a16="http://schemas.microsoft.com/office/drawing/2014/main" id="{E6114BF9-8BD7-D48F-60D0-737ECAD9BEF6}"/>
                    </a:ext>
                  </a:extLst>
                </p:cNvPr>
                <p:cNvSpPr>
                  <a:spLocks noChangeArrowheads="1"/>
                </p:cNvSpPr>
                <p:nvPr/>
              </p:nvSpPr>
              <p:spPr bwMode="auto">
                <a:xfrm>
                  <a:off x="351" y="316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4" name="Rectangle 500">
                  <a:extLst>
                    <a:ext uri="{FF2B5EF4-FFF2-40B4-BE49-F238E27FC236}">
                      <a16:creationId xmlns:a16="http://schemas.microsoft.com/office/drawing/2014/main" id="{33040882-B7A1-6585-2BB0-CC7058B2DFF9}"/>
                    </a:ext>
                  </a:extLst>
                </p:cNvPr>
                <p:cNvSpPr>
                  <a:spLocks noChangeArrowheads="1"/>
                </p:cNvSpPr>
                <p:nvPr/>
              </p:nvSpPr>
              <p:spPr bwMode="auto">
                <a:xfrm>
                  <a:off x="582"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5" name="Rectangle 501">
                  <a:extLst>
                    <a:ext uri="{FF2B5EF4-FFF2-40B4-BE49-F238E27FC236}">
                      <a16:creationId xmlns:a16="http://schemas.microsoft.com/office/drawing/2014/main" id="{1BBE6CFA-0C93-9988-88BD-8D738E224DB4}"/>
                    </a:ext>
                  </a:extLst>
                </p:cNvPr>
                <p:cNvSpPr>
                  <a:spLocks noChangeArrowheads="1"/>
                </p:cNvSpPr>
                <p:nvPr/>
              </p:nvSpPr>
              <p:spPr bwMode="auto">
                <a:xfrm>
                  <a:off x="587" y="316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6" name="Rectangle 502">
                  <a:extLst>
                    <a:ext uri="{FF2B5EF4-FFF2-40B4-BE49-F238E27FC236}">
                      <a16:creationId xmlns:a16="http://schemas.microsoft.com/office/drawing/2014/main" id="{474DE7BD-042A-F2FA-BC4D-79A951B5A5A6}"/>
                    </a:ext>
                  </a:extLst>
                </p:cNvPr>
                <p:cNvSpPr>
                  <a:spLocks noChangeArrowheads="1"/>
                </p:cNvSpPr>
                <p:nvPr/>
              </p:nvSpPr>
              <p:spPr bwMode="auto">
                <a:xfrm>
                  <a:off x="1157"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7" name="Rectangle 503">
                  <a:extLst>
                    <a:ext uri="{FF2B5EF4-FFF2-40B4-BE49-F238E27FC236}">
                      <a16:creationId xmlns:a16="http://schemas.microsoft.com/office/drawing/2014/main" id="{3C53AABF-760B-356E-DDED-7A34CA680F6A}"/>
                    </a:ext>
                  </a:extLst>
                </p:cNvPr>
                <p:cNvSpPr>
                  <a:spLocks noChangeArrowheads="1"/>
                </p:cNvSpPr>
                <p:nvPr/>
              </p:nvSpPr>
              <p:spPr bwMode="auto">
                <a:xfrm>
                  <a:off x="1163"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8" name="Rectangle 504">
                  <a:extLst>
                    <a:ext uri="{FF2B5EF4-FFF2-40B4-BE49-F238E27FC236}">
                      <a16:creationId xmlns:a16="http://schemas.microsoft.com/office/drawing/2014/main" id="{F9BACC09-D723-25F8-19E0-EC0352A4384A}"/>
                    </a:ext>
                  </a:extLst>
                </p:cNvPr>
                <p:cNvSpPr>
                  <a:spLocks noChangeArrowheads="1"/>
                </p:cNvSpPr>
                <p:nvPr/>
              </p:nvSpPr>
              <p:spPr bwMode="auto">
                <a:xfrm>
                  <a:off x="1564"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9" name="Rectangle 505">
                  <a:extLst>
                    <a:ext uri="{FF2B5EF4-FFF2-40B4-BE49-F238E27FC236}">
                      <a16:creationId xmlns:a16="http://schemas.microsoft.com/office/drawing/2014/main" id="{2F3F11F0-61F2-C175-61F2-DD5D0E56534E}"/>
                    </a:ext>
                  </a:extLst>
                </p:cNvPr>
                <p:cNvSpPr>
                  <a:spLocks noChangeArrowheads="1"/>
                </p:cNvSpPr>
                <p:nvPr/>
              </p:nvSpPr>
              <p:spPr bwMode="auto">
                <a:xfrm>
                  <a:off x="1570" y="316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0" name="Rectangle 506">
                  <a:extLst>
                    <a:ext uri="{FF2B5EF4-FFF2-40B4-BE49-F238E27FC236}">
                      <a16:creationId xmlns:a16="http://schemas.microsoft.com/office/drawing/2014/main" id="{12C8DC5C-D705-2F64-DB12-75A3E1E93FE7}"/>
                    </a:ext>
                  </a:extLst>
                </p:cNvPr>
                <p:cNvSpPr>
                  <a:spLocks noChangeArrowheads="1"/>
                </p:cNvSpPr>
                <p:nvPr/>
              </p:nvSpPr>
              <p:spPr bwMode="auto">
                <a:xfrm>
                  <a:off x="1987"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1" name="Rectangle 507">
                  <a:extLst>
                    <a:ext uri="{FF2B5EF4-FFF2-40B4-BE49-F238E27FC236}">
                      <a16:creationId xmlns:a16="http://schemas.microsoft.com/office/drawing/2014/main" id="{BFEB5AF1-37F1-EA84-AF09-EEC3AC45F0A0}"/>
                    </a:ext>
                  </a:extLst>
                </p:cNvPr>
                <p:cNvSpPr>
                  <a:spLocks noChangeArrowheads="1"/>
                </p:cNvSpPr>
                <p:nvPr/>
              </p:nvSpPr>
              <p:spPr bwMode="auto">
                <a:xfrm>
                  <a:off x="1993" y="316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2" name="Rectangle 508">
                  <a:extLst>
                    <a:ext uri="{FF2B5EF4-FFF2-40B4-BE49-F238E27FC236}">
                      <a16:creationId xmlns:a16="http://schemas.microsoft.com/office/drawing/2014/main" id="{F1AC7E97-AB2F-52DB-476B-130F94D0CA32}"/>
                    </a:ext>
                  </a:extLst>
                </p:cNvPr>
                <p:cNvSpPr>
                  <a:spLocks noChangeArrowheads="1"/>
                </p:cNvSpPr>
                <p:nvPr/>
              </p:nvSpPr>
              <p:spPr bwMode="auto">
                <a:xfrm>
                  <a:off x="2378"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3" name="Rectangle 509">
                  <a:extLst>
                    <a:ext uri="{FF2B5EF4-FFF2-40B4-BE49-F238E27FC236}">
                      <a16:creationId xmlns:a16="http://schemas.microsoft.com/office/drawing/2014/main" id="{BCFAB9BA-C118-733C-48B7-775F79707757}"/>
                    </a:ext>
                  </a:extLst>
                </p:cNvPr>
                <p:cNvSpPr>
                  <a:spLocks noChangeArrowheads="1"/>
                </p:cNvSpPr>
                <p:nvPr/>
              </p:nvSpPr>
              <p:spPr bwMode="auto">
                <a:xfrm>
                  <a:off x="2384"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4" name="Rectangle 510">
                  <a:extLst>
                    <a:ext uri="{FF2B5EF4-FFF2-40B4-BE49-F238E27FC236}">
                      <a16:creationId xmlns:a16="http://schemas.microsoft.com/office/drawing/2014/main" id="{B3CD8E08-7BA3-BB4C-E399-E7E9142675D9}"/>
                    </a:ext>
                  </a:extLst>
                </p:cNvPr>
                <p:cNvSpPr>
                  <a:spLocks noChangeArrowheads="1"/>
                </p:cNvSpPr>
                <p:nvPr/>
              </p:nvSpPr>
              <p:spPr bwMode="auto">
                <a:xfrm>
                  <a:off x="2785"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5" name="Rectangle 511">
                  <a:extLst>
                    <a:ext uri="{FF2B5EF4-FFF2-40B4-BE49-F238E27FC236}">
                      <a16:creationId xmlns:a16="http://schemas.microsoft.com/office/drawing/2014/main" id="{D2606AD2-9CA2-C61F-6948-A2D8AAE01220}"/>
                    </a:ext>
                  </a:extLst>
                </p:cNvPr>
                <p:cNvSpPr>
                  <a:spLocks noChangeArrowheads="1"/>
                </p:cNvSpPr>
                <p:nvPr/>
              </p:nvSpPr>
              <p:spPr bwMode="auto">
                <a:xfrm>
                  <a:off x="2791"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6" name="Rectangle 512">
                  <a:extLst>
                    <a:ext uri="{FF2B5EF4-FFF2-40B4-BE49-F238E27FC236}">
                      <a16:creationId xmlns:a16="http://schemas.microsoft.com/office/drawing/2014/main" id="{89F7054A-2687-2749-EE1F-83206C60C9BA}"/>
                    </a:ext>
                  </a:extLst>
                </p:cNvPr>
                <p:cNvSpPr>
                  <a:spLocks noChangeArrowheads="1"/>
                </p:cNvSpPr>
                <p:nvPr/>
              </p:nvSpPr>
              <p:spPr bwMode="auto">
                <a:xfrm>
                  <a:off x="3192"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7" name="Rectangle 513">
                  <a:extLst>
                    <a:ext uri="{FF2B5EF4-FFF2-40B4-BE49-F238E27FC236}">
                      <a16:creationId xmlns:a16="http://schemas.microsoft.com/office/drawing/2014/main" id="{69DEF48C-2F99-2F7D-AB0F-9AABC07C1E14}"/>
                    </a:ext>
                  </a:extLst>
                </p:cNvPr>
                <p:cNvSpPr>
                  <a:spLocks noChangeArrowheads="1"/>
                </p:cNvSpPr>
                <p:nvPr/>
              </p:nvSpPr>
              <p:spPr bwMode="auto">
                <a:xfrm>
                  <a:off x="3198"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8" name="Rectangle 514">
                  <a:extLst>
                    <a:ext uri="{FF2B5EF4-FFF2-40B4-BE49-F238E27FC236}">
                      <a16:creationId xmlns:a16="http://schemas.microsoft.com/office/drawing/2014/main" id="{443EC855-3AD3-E4DD-D1BC-D947131724BC}"/>
                    </a:ext>
                  </a:extLst>
                </p:cNvPr>
                <p:cNvSpPr>
                  <a:spLocks noChangeArrowheads="1"/>
                </p:cNvSpPr>
                <p:nvPr/>
              </p:nvSpPr>
              <p:spPr bwMode="auto">
                <a:xfrm>
                  <a:off x="3599"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39" name="Rectangle 515">
                  <a:extLst>
                    <a:ext uri="{FF2B5EF4-FFF2-40B4-BE49-F238E27FC236}">
                      <a16:creationId xmlns:a16="http://schemas.microsoft.com/office/drawing/2014/main" id="{D2792FED-CD6A-3AA0-2B7A-04E2AA66D2FC}"/>
                    </a:ext>
                  </a:extLst>
                </p:cNvPr>
                <p:cNvSpPr>
                  <a:spLocks noChangeArrowheads="1"/>
                </p:cNvSpPr>
                <p:nvPr/>
              </p:nvSpPr>
              <p:spPr bwMode="auto">
                <a:xfrm>
                  <a:off x="3605" y="316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0" name="Rectangle 516">
                  <a:extLst>
                    <a:ext uri="{FF2B5EF4-FFF2-40B4-BE49-F238E27FC236}">
                      <a16:creationId xmlns:a16="http://schemas.microsoft.com/office/drawing/2014/main" id="{62B9A2FB-B586-0EB7-98AC-BCBAEB3B6ACE}"/>
                    </a:ext>
                  </a:extLst>
                </p:cNvPr>
                <p:cNvSpPr>
                  <a:spLocks noChangeArrowheads="1"/>
                </p:cNvSpPr>
                <p:nvPr/>
              </p:nvSpPr>
              <p:spPr bwMode="auto">
                <a:xfrm>
                  <a:off x="4004"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1" name="Rectangle 517">
                  <a:extLst>
                    <a:ext uri="{FF2B5EF4-FFF2-40B4-BE49-F238E27FC236}">
                      <a16:creationId xmlns:a16="http://schemas.microsoft.com/office/drawing/2014/main" id="{79B2D032-0B8C-C6E5-6299-769728F042C6}"/>
                    </a:ext>
                  </a:extLst>
                </p:cNvPr>
                <p:cNvSpPr>
                  <a:spLocks noChangeArrowheads="1"/>
                </p:cNvSpPr>
                <p:nvPr/>
              </p:nvSpPr>
              <p:spPr bwMode="auto">
                <a:xfrm>
                  <a:off x="4010"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2" name="Rectangle 518">
                  <a:extLst>
                    <a:ext uri="{FF2B5EF4-FFF2-40B4-BE49-F238E27FC236}">
                      <a16:creationId xmlns:a16="http://schemas.microsoft.com/office/drawing/2014/main" id="{47FA9C9D-8716-438B-C9E0-3B458F6A1330}"/>
                    </a:ext>
                  </a:extLst>
                </p:cNvPr>
                <p:cNvSpPr>
                  <a:spLocks noChangeArrowheads="1"/>
                </p:cNvSpPr>
                <p:nvPr/>
              </p:nvSpPr>
              <p:spPr bwMode="auto">
                <a:xfrm>
                  <a:off x="4411"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3" name="Rectangle 519">
                  <a:extLst>
                    <a:ext uri="{FF2B5EF4-FFF2-40B4-BE49-F238E27FC236}">
                      <a16:creationId xmlns:a16="http://schemas.microsoft.com/office/drawing/2014/main" id="{A1027CC8-AD54-B7A6-4F4C-A29EFC89BDA7}"/>
                    </a:ext>
                  </a:extLst>
                </p:cNvPr>
                <p:cNvSpPr>
                  <a:spLocks noChangeArrowheads="1"/>
                </p:cNvSpPr>
                <p:nvPr/>
              </p:nvSpPr>
              <p:spPr bwMode="auto">
                <a:xfrm>
                  <a:off x="4417"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4" name="Rectangle 520">
                  <a:extLst>
                    <a:ext uri="{FF2B5EF4-FFF2-40B4-BE49-F238E27FC236}">
                      <a16:creationId xmlns:a16="http://schemas.microsoft.com/office/drawing/2014/main" id="{DF7402BA-B388-823B-AFC9-0B184ED17422}"/>
                    </a:ext>
                  </a:extLst>
                </p:cNvPr>
                <p:cNvSpPr>
                  <a:spLocks noChangeArrowheads="1"/>
                </p:cNvSpPr>
                <p:nvPr/>
              </p:nvSpPr>
              <p:spPr bwMode="auto">
                <a:xfrm>
                  <a:off x="4818"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5" name="Rectangle 521">
                  <a:extLst>
                    <a:ext uri="{FF2B5EF4-FFF2-40B4-BE49-F238E27FC236}">
                      <a16:creationId xmlns:a16="http://schemas.microsoft.com/office/drawing/2014/main" id="{A5DD0633-68BD-B4B0-4E16-1B90BE6D4ED6}"/>
                    </a:ext>
                  </a:extLst>
                </p:cNvPr>
                <p:cNvSpPr>
                  <a:spLocks noChangeArrowheads="1"/>
                </p:cNvSpPr>
                <p:nvPr/>
              </p:nvSpPr>
              <p:spPr bwMode="auto">
                <a:xfrm>
                  <a:off x="4824" y="316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6" name="Rectangle 522">
                  <a:extLst>
                    <a:ext uri="{FF2B5EF4-FFF2-40B4-BE49-F238E27FC236}">
                      <a16:creationId xmlns:a16="http://schemas.microsoft.com/office/drawing/2014/main" id="{E7BE5201-5286-E05E-6C48-EDDD2F708829}"/>
                    </a:ext>
                  </a:extLst>
                </p:cNvPr>
                <p:cNvSpPr>
                  <a:spLocks noChangeArrowheads="1"/>
                </p:cNvSpPr>
                <p:nvPr/>
              </p:nvSpPr>
              <p:spPr bwMode="auto">
                <a:xfrm>
                  <a:off x="5225" y="316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7" name="Rectangle 523">
                  <a:extLst>
                    <a:ext uri="{FF2B5EF4-FFF2-40B4-BE49-F238E27FC236}">
                      <a16:creationId xmlns:a16="http://schemas.microsoft.com/office/drawing/2014/main" id="{7A25DCE2-C023-7270-8225-A0942BFFA648}"/>
                    </a:ext>
                  </a:extLst>
                </p:cNvPr>
                <p:cNvSpPr>
                  <a:spLocks noChangeArrowheads="1"/>
                </p:cNvSpPr>
                <p:nvPr/>
              </p:nvSpPr>
              <p:spPr bwMode="auto">
                <a:xfrm>
                  <a:off x="346"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8" name="Rectangle 524">
                  <a:extLst>
                    <a:ext uri="{FF2B5EF4-FFF2-40B4-BE49-F238E27FC236}">
                      <a16:creationId xmlns:a16="http://schemas.microsoft.com/office/drawing/2014/main" id="{4EB262B7-D8A4-96C7-5188-D03F572B952B}"/>
                    </a:ext>
                  </a:extLst>
                </p:cNvPr>
                <p:cNvSpPr>
                  <a:spLocks noChangeArrowheads="1"/>
                </p:cNvSpPr>
                <p:nvPr/>
              </p:nvSpPr>
              <p:spPr bwMode="auto">
                <a:xfrm>
                  <a:off x="582"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9" name="Rectangle 525">
                  <a:extLst>
                    <a:ext uri="{FF2B5EF4-FFF2-40B4-BE49-F238E27FC236}">
                      <a16:creationId xmlns:a16="http://schemas.microsoft.com/office/drawing/2014/main" id="{20A16AE8-3512-2FE0-046E-A36F2D214704}"/>
                    </a:ext>
                  </a:extLst>
                </p:cNvPr>
                <p:cNvSpPr>
                  <a:spLocks noChangeArrowheads="1"/>
                </p:cNvSpPr>
                <p:nvPr/>
              </p:nvSpPr>
              <p:spPr bwMode="auto">
                <a:xfrm>
                  <a:off x="1157"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0" name="Rectangle 526">
                  <a:extLst>
                    <a:ext uri="{FF2B5EF4-FFF2-40B4-BE49-F238E27FC236}">
                      <a16:creationId xmlns:a16="http://schemas.microsoft.com/office/drawing/2014/main" id="{EEE62C30-A7D0-2ABC-2B42-DB6CDFB74412}"/>
                    </a:ext>
                  </a:extLst>
                </p:cNvPr>
                <p:cNvSpPr>
                  <a:spLocks noChangeArrowheads="1"/>
                </p:cNvSpPr>
                <p:nvPr/>
              </p:nvSpPr>
              <p:spPr bwMode="auto">
                <a:xfrm>
                  <a:off x="1564"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1" name="Rectangle 527">
                  <a:extLst>
                    <a:ext uri="{FF2B5EF4-FFF2-40B4-BE49-F238E27FC236}">
                      <a16:creationId xmlns:a16="http://schemas.microsoft.com/office/drawing/2014/main" id="{D2625ACB-05B9-A347-FB3C-EEA2554784A8}"/>
                    </a:ext>
                  </a:extLst>
                </p:cNvPr>
                <p:cNvSpPr>
                  <a:spLocks noChangeArrowheads="1"/>
                </p:cNvSpPr>
                <p:nvPr/>
              </p:nvSpPr>
              <p:spPr bwMode="auto">
                <a:xfrm>
                  <a:off x="1987"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2" name="Rectangle 528">
                  <a:extLst>
                    <a:ext uri="{FF2B5EF4-FFF2-40B4-BE49-F238E27FC236}">
                      <a16:creationId xmlns:a16="http://schemas.microsoft.com/office/drawing/2014/main" id="{67F7A3BF-CCF0-DB03-08A2-0D16C1A4D207}"/>
                    </a:ext>
                  </a:extLst>
                </p:cNvPr>
                <p:cNvSpPr>
                  <a:spLocks noChangeArrowheads="1"/>
                </p:cNvSpPr>
                <p:nvPr/>
              </p:nvSpPr>
              <p:spPr bwMode="auto">
                <a:xfrm>
                  <a:off x="2378"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3" name="Rectangle 529">
                  <a:extLst>
                    <a:ext uri="{FF2B5EF4-FFF2-40B4-BE49-F238E27FC236}">
                      <a16:creationId xmlns:a16="http://schemas.microsoft.com/office/drawing/2014/main" id="{082CC7F3-E053-5B42-FBEA-C4EE6269651A}"/>
                    </a:ext>
                  </a:extLst>
                </p:cNvPr>
                <p:cNvSpPr>
                  <a:spLocks noChangeArrowheads="1"/>
                </p:cNvSpPr>
                <p:nvPr/>
              </p:nvSpPr>
              <p:spPr bwMode="auto">
                <a:xfrm>
                  <a:off x="2785"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4" name="Rectangle 530">
                  <a:extLst>
                    <a:ext uri="{FF2B5EF4-FFF2-40B4-BE49-F238E27FC236}">
                      <a16:creationId xmlns:a16="http://schemas.microsoft.com/office/drawing/2014/main" id="{70C118C2-FFC2-3E1A-1D82-31E6A2B652F2}"/>
                    </a:ext>
                  </a:extLst>
                </p:cNvPr>
                <p:cNvSpPr>
                  <a:spLocks noChangeArrowheads="1"/>
                </p:cNvSpPr>
                <p:nvPr/>
              </p:nvSpPr>
              <p:spPr bwMode="auto">
                <a:xfrm>
                  <a:off x="3192"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5" name="Rectangle 531">
                  <a:extLst>
                    <a:ext uri="{FF2B5EF4-FFF2-40B4-BE49-F238E27FC236}">
                      <a16:creationId xmlns:a16="http://schemas.microsoft.com/office/drawing/2014/main" id="{73895AD1-02FD-5FB5-4E10-C0589F1345E5}"/>
                    </a:ext>
                  </a:extLst>
                </p:cNvPr>
                <p:cNvSpPr>
                  <a:spLocks noChangeArrowheads="1"/>
                </p:cNvSpPr>
                <p:nvPr/>
              </p:nvSpPr>
              <p:spPr bwMode="auto">
                <a:xfrm>
                  <a:off x="3599"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6" name="Rectangle 532">
                  <a:extLst>
                    <a:ext uri="{FF2B5EF4-FFF2-40B4-BE49-F238E27FC236}">
                      <a16:creationId xmlns:a16="http://schemas.microsoft.com/office/drawing/2014/main" id="{E4471CB5-D241-33B8-1824-E84580F83415}"/>
                    </a:ext>
                  </a:extLst>
                </p:cNvPr>
                <p:cNvSpPr>
                  <a:spLocks noChangeArrowheads="1"/>
                </p:cNvSpPr>
                <p:nvPr/>
              </p:nvSpPr>
              <p:spPr bwMode="auto">
                <a:xfrm>
                  <a:off x="4004"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7" name="Rectangle 533">
                  <a:extLst>
                    <a:ext uri="{FF2B5EF4-FFF2-40B4-BE49-F238E27FC236}">
                      <a16:creationId xmlns:a16="http://schemas.microsoft.com/office/drawing/2014/main" id="{CEB906C5-245A-A0ED-C62E-E3149682D4F2}"/>
                    </a:ext>
                  </a:extLst>
                </p:cNvPr>
                <p:cNvSpPr>
                  <a:spLocks noChangeArrowheads="1"/>
                </p:cNvSpPr>
                <p:nvPr/>
              </p:nvSpPr>
              <p:spPr bwMode="auto">
                <a:xfrm>
                  <a:off x="4411"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8" name="Rectangle 534">
                  <a:extLst>
                    <a:ext uri="{FF2B5EF4-FFF2-40B4-BE49-F238E27FC236}">
                      <a16:creationId xmlns:a16="http://schemas.microsoft.com/office/drawing/2014/main" id="{9298B7CA-06F1-3E47-F2F9-13B06DFA835B}"/>
                    </a:ext>
                  </a:extLst>
                </p:cNvPr>
                <p:cNvSpPr>
                  <a:spLocks noChangeArrowheads="1"/>
                </p:cNvSpPr>
                <p:nvPr/>
              </p:nvSpPr>
              <p:spPr bwMode="auto">
                <a:xfrm>
                  <a:off x="4818"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59" name="Rectangle 535">
                  <a:extLst>
                    <a:ext uri="{FF2B5EF4-FFF2-40B4-BE49-F238E27FC236}">
                      <a16:creationId xmlns:a16="http://schemas.microsoft.com/office/drawing/2014/main" id="{ADEFCB25-08F3-4DA1-0C83-4B63496814D2}"/>
                    </a:ext>
                  </a:extLst>
                </p:cNvPr>
                <p:cNvSpPr>
                  <a:spLocks noChangeArrowheads="1"/>
                </p:cNvSpPr>
                <p:nvPr/>
              </p:nvSpPr>
              <p:spPr bwMode="auto">
                <a:xfrm>
                  <a:off x="5225" y="317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60" name="Rectangle 536">
                  <a:extLst>
                    <a:ext uri="{FF2B5EF4-FFF2-40B4-BE49-F238E27FC236}">
                      <a16:creationId xmlns:a16="http://schemas.microsoft.com/office/drawing/2014/main" id="{003C47E2-CBDA-E5A7-7751-A37463814A33}"/>
                    </a:ext>
                  </a:extLst>
                </p:cNvPr>
                <p:cNvSpPr>
                  <a:spLocks noChangeArrowheads="1"/>
                </p:cNvSpPr>
                <p:nvPr/>
              </p:nvSpPr>
              <p:spPr bwMode="auto">
                <a:xfrm>
                  <a:off x="374" y="317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10</a:t>
                  </a:r>
                </a:p>
              </p:txBody>
            </p:sp>
            <p:sp>
              <p:nvSpPr>
                <p:cNvPr id="561" name="Rectangle 537">
                  <a:extLst>
                    <a:ext uri="{FF2B5EF4-FFF2-40B4-BE49-F238E27FC236}">
                      <a16:creationId xmlns:a16="http://schemas.microsoft.com/office/drawing/2014/main" id="{DF47978B-52CB-0A2B-D944-6E0594F1B969}"/>
                    </a:ext>
                  </a:extLst>
                </p:cNvPr>
                <p:cNvSpPr>
                  <a:spLocks noChangeArrowheads="1"/>
                </p:cNvSpPr>
                <p:nvPr/>
              </p:nvSpPr>
              <p:spPr bwMode="auto">
                <a:xfrm>
                  <a:off x="681" y="3175"/>
                  <a:ext cx="33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OBR-004</a:t>
                  </a:r>
                </a:p>
              </p:txBody>
            </p:sp>
            <p:sp>
              <p:nvSpPr>
                <p:cNvPr id="562" name="Rectangle 538">
                  <a:extLst>
                    <a:ext uri="{FF2B5EF4-FFF2-40B4-BE49-F238E27FC236}">
                      <a16:creationId xmlns:a16="http://schemas.microsoft.com/office/drawing/2014/main" id="{A3AD81C0-058F-FA9A-9ABB-D11F45BA3576}"/>
                    </a:ext>
                  </a:extLst>
                </p:cNvPr>
                <p:cNvSpPr>
                  <a:spLocks noChangeArrowheads="1"/>
                </p:cNvSpPr>
                <p:nvPr/>
              </p:nvSpPr>
              <p:spPr bwMode="auto">
                <a:xfrm>
                  <a:off x="1272" y="3175"/>
                  <a:ext cx="161"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a:t>
                  </a:r>
                </a:p>
              </p:txBody>
            </p:sp>
            <p:sp>
              <p:nvSpPr>
                <p:cNvPr id="563" name="Rectangle 539">
                  <a:extLst>
                    <a:ext uri="{FF2B5EF4-FFF2-40B4-BE49-F238E27FC236}">
                      <a16:creationId xmlns:a16="http://schemas.microsoft.com/office/drawing/2014/main" id="{7E67C82C-046D-0EAF-DA77-283D10E2BD19}"/>
                    </a:ext>
                  </a:extLst>
                </p:cNvPr>
                <p:cNvSpPr>
                  <a:spLocks noChangeArrowheads="1"/>
                </p:cNvSpPr>
                <p:nvPr/>
              </p:nvSpPr>
              <p:spPr bwMode="auto">
                <a:xfrm>
                  <a:off x="1704" y="3175"/>
                  <a:ext cx="12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a:t>
                  </a:r>
                </a:p>
              </p:txBody>
            </p:sp>
            <p:sp>
              <p:nvSpPr>
                <p:cNvPr id="564" name="Rectangle 540">
                  <a:extLst>
                    <a:ext uri="{FF2B5EF4-FFF2-40B4-BE49-F238E27FC236}">
                      <a16:creationId xmlns:a16="http://schemas.microsoft.com/office/drawing/2014/main" id="{11CA6EBA-36D1-E487-D368-DE729E45FD0E}"/>
                    </a:ext>
                  </a:extLst>
                </p:cNvPr>
                <p:cNvSpPr>
                  <a:spLocks noChangeArrowheads="1"/>
                </p:cNvSpPr>
                <p:nvPr/>
              </p:nvSpPr>
              <p:spPr bwMode="auto">
                <a:xfrm>
                  <a:off x="2079"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5" name="Rectangle 541">
                  <a:extLst>
                    <a:ext uri="{FF2B5EF4-FFF2-40B4-BE49-F238E27FC236}">
                      <a16:creationId xmlns:a16="http://schemas.microsoft.com/office/drawing/2014/main" id="{02868777-712B-8A88-2F72-2E5044D2C1C3}"/>
                    </a:ext>
                  </a:extLst>
                </p:cNvPr>
                <p:cNvSpPr>
                  <a:spLocks noChangeArrowheads="1"/>
                </p:cNvSpPr>
                <p:nvPr/>
              </p:nvSpPr>
              <p:spPr bwMode="auto">
                <a:xfrm>
                  <a:off x="2883"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6" name="Rectangle 542">
                  <a:extLst>
                    <a:ext uri="{FF2B5EF4-FFF2-40B4-BE49-F238E27FC236}">
                      <a16:creationId xmlns:a16="http://schemas.microsoft.com/office/drawing/2014/main" id="{4BCB8F09-05AF-001C-7491-6EFDFA92392C}"/>
                    </a:ext>
                  </a:extLst>
                </p:cNvPr>
                <p:cNvSpPr>
                  <a:spLocks noChangeArrowheads="1"/>
                </p:cNvSpPr>
                <p:nvPr/>
              </p:nvSpPr>
              <p:spPr bwMode="auto">
                <a:xfrm>
                  <a:off x="3290"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ƒ</a:t>
                  </a:r>
                </a:p>
              </p:txBody>
            </p:sp>
            <p:sp>
              <p:nvSpPr>
                <p:cNvPr id="567" name="Rectangle 543">
                  <a:extLst>
                    <a:ext uri="{FF2B5EF4-FFF2-40B4-BE49-F238E27FC236}">
                      <a16:creationId xmlns:a16="http://schemas.microsoft.com/office/drawing/2014/main" id="{5CBD34E8-C110-81E6-4A6D-44FAA0B0B8CC}"/>
                    </a:ext>
                  </a:extLst>
                </p:cNvPr>
                <p:cNvSpPr>
                  <a:spLocks noChangeArrowheads="1"/>
                </p:cNvSpPr>
                <p:nvPr/>
              </p:nvSpPr>
              <p:spPr bwMode="auto">
                <a:xfrm>
                  <a:off x="3697"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8" name="Rectangle 544">
                  <a:extLst>
                    <a:ext uri="{FF2B5EF4-FFF2-40B4-BE49-F238E27FC236}">
                      <a16:creationId xmlns:a16="http://schemas.microsoft.com/office/drawing/2014/main" id="{A037F87C-442D-CA26-70EA-D05B9629CE44}"/>
                    </a:ext>
                  </a:extLst>
                </p:cNvPr>
                <p:cNvSpPr>
                  <a:spLocks noChangeArrowheads="1"/>
                </p:cNvSpPr>
                <p:nvPr/>
              </p:nvSpPr>
              <p:spPr bwMode="auto">
                <a:xfrm>
                  <a:off x="4511"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69" name="Rectangle 545">
                  <a:extLst>
                    <a:ext uri="{FF2B5EF4-FFF2-40B4-BE49-F238E27FC236}">
                      <a16:creationId xmlns:a16="http://schemas.microsoft.com/office/drawing/2014/main" id="{7AFCB698-5210-08ED-36E1-7ABB4EDF3A06}"/>
                    </a:ext>
                  </a:extLst>
                </p:cNvPr>
                <p:cNvSpPr>
                  <a:spLocks noChangeArrowheads="1"/>
                </p:cNvSpPr>
                <p:nvPr/>
              </p:nvSpPr>
              <p:spPr bwMode="auto">
                <a:xfrm>
                  <a:off x="4918" y="3151"/>
                  <a:ext cx="203" cy="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400" b="0">
                      <a:solidFill>
                        <a:srgbClr val="000000"/>
                      </a:solidFill>
                      <a:latin typeface="Wingdings" panose="05000000000000000000" pitchFamily="2" charset="2"/>
                    </a:rPr>
                    <a:t>†</a:t>
                  </a:r>
                </a:p>
              </p:txBody>
            </p:sp>
            <p:sp>
              <p:nvSpPr>
                <p:cNvPr id="570" name="Rectangle 546">
                  <a:extLst>
                    <a:ext uri="{FF2B5EF4-FFF2-40B4-BE49-F238E27FC236}">
                      <a16:creationId xmlns:a16="http://schemas.microsoft.com/office/drawing/2014/main" id="{AB307C38-EEAF-39BF-E0D3-58EB3E25631A}"/>
                    </a:ext>
                  </a:extLst>
                </p:cNvPr>
                <p:cNvSpPr>
                  <a:spLocks noChangeArrowheads="1"/>
                </p:cNvSpPr>
                <p:nvPr/>
              </p:nvSpPr>
              <p:spPr bwMode="auto">
                <a:xfrm>
                  <a:off x="346"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1" name="Rectangle 547">
                  <a:extLst>
                    <a:ext uri="{FF2B5EF4-FFF2-40B4-BE49-F238E27FC236}">
                      <a16:creationId xmlns:a16="http://schemas.microsoft.com/office/drawing/2014/main" id="{94D98257-42DF-9725-F21B-6FA6F2117B97}"/>
                    </a:ext>
                  </a:extLst>
                </p:cNvPr>
                <p:cNvSpPr>
                  <a:spLocks noChangeArrowheads="1"/>
                </p:cNvSpPr>
                <p:nvPr/>
              </p:nvSpPr>
              <p:spPr bwMode="auto">
                <a:xfrm>
                  <a:off x="351" y="3319"/>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2" name="Rectangle 548">
                  <a:extLst>
                    <a:ext uri="{FF2B5EF4-FFF2-40B4-BE49-F238E27FC236}">
                      <a16:creationId xmlns:a16="http://schemas.microsoft.com/office/drawing/2014/main" id="{E54C1389-F27D-84B9-C489-9005890E0FE1}"/>
                    </a:ext>
                  </a:extLst>
                </p:cNvPr>
                <p:cNvSpPr>
                  <a:spLocks noChangeArrowheads="1"/>
                </p:cNvSpPr>
                <p:nvPr/>
              </p:nvSpPr>
              <p:spPr bwMode="auto">
                <a:xfrm>
                  <a:off x="582"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3" name="Rectangle 549">
                  <a:extLst>
                    <a:ext uri="{FF2B5EF4-FFF2-40B4-BE49-F238E27FC236}">
                      <a16:creationId xmlns:a16="http://schemas.microsoft.com/office/drawing/2014/main" id="{A3CD1796-4A45-0FAF-5646-98C2379ED5DD}"/>
                    </a:ext>
                  </a:extLst>
                </p:cNvPr>
                <p:cNvSpPr>
                  <a:spLocks noChangeArrowheads="1"/>
                </p:cNvSpPr>
                <p:nvPr/>
              </p:nvSpPr>
              <p:spPr bwMode="auto">
                <a:xfrm>
                  <a:off x="587" y="3319"/>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4" name="Rectangle 550">
                  <a:extLst>
                    <a:ext uri="{FF2B5EF4-FFF2-40B4-BE49-F238E27FC236}">
                      <a16:creationId xmlns:a16="http://schemas.microsoft.com/office/drawing/2014/main" id="{C5CAEF45-5585-8840-803F-CDE6DD53E107}"/>
                    </a:ext>
                  </a:extLst>
                </p:cNvPr>
                <p:cNvSpPr>
                  <a:spLocks noChangeArrowheads="1"/>
                </p:cNvSpPr>
                <p:nvPr/>
              </p:nvSpPr>
              <p:spPr bwMode="auto">
                <a:xfrm>
                  <a:off x="1157"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5" name="Rectangle 551">
                  <a:extLst>
                    <a:ext uri="{FF2B5EF4-FFF2-40B4-BE49-F238E27FC236}">
                      <a16:creationId xmlns:a16="http://schemas.microsoft.com/office/drawing/2014/main" id="{650B50A1-9408-3758-B391-FDEFD4B18EF2}"/>
                    </a:ext>
                  </a:extLst>
                </p:cNvPr>
                <p:cNvSpPr>
                  <a:spLocks noChangeArrowheads="1"/>
                </p:cNvSpPr>
                <p:nvPr/>
              </p:nvSpPr>
              <p:spPr bwMode="auto">
                <a:xfrm>
                  <a:off x="1163"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6" name="Rectangle 552">
                  <a:extLst>
                    <a:ext uri="{FF2B5EF4-FFF2-40B4-BE49-F238E27FC236}">
                      <a16:creationId xmlns:a16="http://schemas.microsoft.com/office/drawing/2014/main" id="{17A6BB44-DFB2-5DDB-A9E5-E3827FFC1436}"/>
                    </a:ext>
                  </a:extLst>
                </p:cNvPr>
                <p:cNvSpPr>
                  <a:spLocks noChangeArrowheads="1"/>
                </p:cNvSpPr>
                <p:nvPr/>
              </p:nvSpPr>
              <p:spPr bwMode="auto">
                <a:xfrm>
                  <a:off x="1564"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7" name="Rectangle 553">
                  <a:extLst>
                    <a:ext uri="{FF2B5EF4-FFF2-40B4-BE49-F238E27FC236}">
                      <a16:creationId xmlns:a16="http://schemas.microsoft.com/office/drawing/2014/main" id="{A57BF545-C5F1-D1C2-2B4A-58280C169CE9}"/>
                    </a:ext>
                  </a:extLst>
                </p:cNvPr>
                <p:cNvSpPr>
                  <a:spLocks noChangeArrowheads="1"/>
                </p:cNvSpPr>
                <p:nvPr/>
              </p:nvSpPr>
              <p:spPr bwMode="auto">
                <a:xfrm>
                  <a:off x="1570" y="3319"/>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8" name="Rectangle 554">
                  <a:extLst>
                    <a:ext uri="{FF2B5EF4-FFF2-40B4-BE49-F238E27FC236}">
                      <a16:creationId xmlns:a16="http://schemas.microsoft.com/office/drawing/2014/main" id="{AC25D7CC-11CC-D14F-3E34-ACD993B9320C}"/>
                    </a:ext>
                  </a:extLst>
                </p:cNvPr>
                <p:cNvSpPr>
                  <a:spLocks noChangeArrowheads="1"/>
                </p:cNvSpPr>
                <p:nvPr/>
              </p:nvSpPr>
              <p:spPr bwMode="auto">
                <a:xfrm>
                  <a:off x="1987"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79" name="Rectangle 555">
                  <a:extLst>
                    <a:ext uri="{FF2B5EF4-FFF2-40B4-BE49-F238E27FC236}">
                      <a16:creationId xmlns:a16="http://schemas.microsoft.com/office/drawing/2014/main" id="{4C2B44F0-0BEB-BA72-048A-E79716991994}"/>
                    </a:ext>
                  </a:extLst>
                </p:cNvPr>
                <p:cNvSpPr>
                  <a:spLocks noChangeArrowheads="1"/>
                </p:cNvSpPr>
                <p:nvPr/>
              </p:nvSpPr>
              <p:spPr bwMode="auto">
                <a:xfrm>
                  <a:off x="1993" y="3319"/>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0" name="Rectangle 556">
                  <a:extLst>
                    <a:ext uri="{FF2B5EF4-FFF2-40B4-BE49-F238E27FC236}">
                      <a16:creationId xmlns:a16="http://schemas.microsoft.com/office/drawing/2014/main" id="{7DE9B4D2-F52F-AA90-4804-2193B37294CE}"/>
                    </a:ext>
                  </a:extLst>
                </p:cNvPr>
                <p:cNvSpPr>
                  <a:spLocks noChangeArrowheads="1"/>
                </p:cNvSpPr>
                <p:nvPr/>
              </p:nvSpPr>
              <p:spPr bwMode="auto">
                <a:xfrm>
                  <a:off x="2378"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1" name="Rectangle 557">
                  <a:extLst>
                    <a:ext uri="{FF2B5EF4-FFF2-40B4-BE49-F238E27FC236}">
                      <a16:creationId xmlns:a16="http://schemas.microsoft.com/office/drawing/2014/main" id="{36B00693-23E9-3573-A991-AA726E752C98}"/>
                    </a:ext>
                  </a:extLst>
                </p:cNvPr>
                <p:cNvSpPr>
                  <a:spLocks noChangeArrowheads="1"/>
                </p:cNvSpPr>
                <p:nvPr/>
              </p:nvSpPr>
              <p:spPr bwMode="auto">
                <a:xfrm>
                  <a:off x="2384"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2" name="Rectangle 558">
                  <a:extLst>
                    <a:ext uri="{FF2B5EF4-FFF2-40B4-BE49-F238E27FC236}">
                      <a16:creationId xmlns:a16="http://schemas.microsoft.com/office/drawing/2014/main" id="{33AEDDB9-C07C-15B7-A95B-D3FCD0945024}"/>
                    </a:ext>
                  </a:extLst>
                </p:cNvPr>
                <p:cNvSpPr>
                  <a:spLocks noChangeArrowheads="1"/>
                </p:cNvSpPr>
                <p:nvPr/>
              </p:nvSpPr>
              <p:spPr bwMode="auto">
                <a:xfrm>
                  <a:off x="2785"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3" name="Rectangle 559">
                  <a:extLst>
                    <a:ext uri="{FF2B5EF4-FFF2-40B4-BE49-F238E27FC236}">
                      <a16:creationId xmlns:a16="http://schemas.microsoft.com/office/drawing/2014/main" id="{5E1FAAA1-7F7B-96F2-A0C9-F895A02DAF0B}"/>
                    </a:ext>
                  </a:extLst>
                </p:cNvPr>
                <p:cNvSpPr>
                  <a:spLocks noChangeArrowheads="1"/>
                </p:cNvSpPr>
                <p:nvPr/>
              </p:nvSpPr>
              <p:spPr bwMode="auto">
                <a:xfrm>
                  <a:off x="2791"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4" name="Rectangle 560">
                  <a:extLst>
                    <a:ext uri="{FF2B5EF4-FFF2-40B4-BE49-F238E27FC236}">
                      <a16:creationId xmlns:a16="http://schemas.microsoft.com/office/drawing/2014/main" id="{CD5408C8-2525-3D6C-85A6-890AB7C888BA}"/>
                    </a:ext>
                  </a:extLst>
                </p:cNvPr>
                <p:cNvSpPr>
                  <a:spLocks noChangeArrowheads="1"/>
                </p:cNvSpPr>
                <p:nvPr/>
              </p:nvSpPr>
              <p:spPr bwMode="auto">
                <a:xfrm>
                  <a:off x="3192"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5" name="Rectangle 561">
                  <a:extLst>
                    <a:ext uri="{FF2B5EF4-FFF2-40B4-BE49-F238E27FC236}">
                      <a16:creationId xmlns:a16="http://schemas.microsoft.com/office/drawing/2014/main" id="{38618358-BF19-D693-15E4-B07570750768}"/>
                    </a:ext>
                  </a:extLst>
                </p:cNvPr>
                <p:cNvSpPr>
                  <a:spLocks noChangeArrowheads="1"/>
                </p:cNvSpPr>
                <p:nvPr/>
              </p:nvSpPr>
              <p:spPr bwMode="auto">
                <a:xfrm>
                  <a:off x="3198"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6" name="Rectangle 562">
                  <a:extLst>
                    <a:ext uri="{FF2B5EF4-FFF2-40B4-BE49-F238E27FC236}">
                      <a16:creationId xmlns:a16="http://schemas.microsoft.com/office/drawing/2014/main" id="{54AC945F-63F5-4F1E-F2AE-CAD305A98AA0}"/>
                    </a:ext>
                  </a:extLst>
                </p:cNvPr>
                <p:cNvSpPr>
                  <a:spLocks noChangeArrowheads="1"/>
                </p:cNvSpPr>
                <p:nvPr/>
              </p:nvSpPr>
              <p:spPr bwMode="auto">
                <a:xfrm>
                  <a:off x="3599"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7" name="Rectangle 563">
                  <a:extLst>
                    <a:ext uri="{FF2B5EF4-FFF2-40B4-BE49-F238E27FC236}">
                      <a16:creationId xmlns:a16="http://schemas.microsoft.com/office/drawing/2014/main" id="{60779C2F-2C49-6DDA-A680-EC66F23D3D61}"/>
                    </a:ext>
                  </a:extLst>
                </p:cNvPr>
                <p:cNvSpPr>
                  <a:spLocks noChangeArrowheads="1"/>
                </p:cNvSpPr>
                <p:nvPr/>
              </p:nvSpPr>
              <p:spPr bwMode="auto">
                <a:xfrm>
                  <a:off x="3605" y="3319"/>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8" name="Rectangle 564">
                  <a:extLst>
                    <a:ext uri="{FF2B5EF4-FFF2-40B4-BE49-F238E27FC236}">
                      <a16:creationId xmlns:a16="http://schemas.microsoft.com/office/drawing/2014/main" id="{A4F49A65-A50D-ABFC-14B7-3354A14CA3FA}"/>
                    </a:ext>
                  </a:extLst>
                </p:cNvPr>
                <p:cNvSpPr>
                  <a:spLocks noChangeArrowheads="1"/>
                </p:cNvSpPr>
                <p:nvPr/>
              </p:nvSpPr>
              <p:spPr bwMode="auto">
                <a:xfrm>
                  <a:off x="4004"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9" name="Rectangle 565">
                  <a:extLst>
                    <a:ext uri="{FF2B5EF4-FFF2-40B4-BE49-F238E27FC236}">
                      <a16:creationId xmlns:a16="http://schemas.microsoft.com/office/drawing/2014/main" id="{5167423A-568B-D90F-B4C6-AA7A970C4609}"/>
                    </a:ext>
                  </a:extLst>
                </p:cNvPr>
                <p:cNvSpPr>
                  <a:spLocks noChangeArrowheads="1"/>
                </p:cNvSpPr>
                <p:nvPr/>
              </p:nvSpPr>
              <p:spPr bwMode="auto">
                <a:xfrm>
                  <a:off x="4010"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0" name="Rectangle 566">
                  <a:extLst>
                    <a:ext uri="{FF2B5EF4-FFF2-40B4-BE49-F238E27FC236}">
                      <a16:creationId xmlns:a16="http://schemas.microsoft.com/office/drawing/2014/main" id="{6F475F6F-F734-F0B4-C443-69677C7A6BA8}"/>
                    </a:ext>
                  </a:extLst>
                </p:cNvPr>
                <p:cNvSpPr>
                  <a:spLocks noChangeArrowheads="1"/>
                </p:cNvSpPr>
                <p:nvPr/>
              </p:nvSpPr>
              <p:spPr bwMode="auto">
                <a:xfrm>
                  <a:off x="4411"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1" name="Rectangle 567">
                  <a:extLst>
                    <a:ext uri="{FF2B5EF4-FFF2-40B4-BE49-F238E27FC236}">
                      <a16:creationId xmlns:a16="http://schemas.microsoft.com/office/drawing/2014/main" id="{228E3210-3389-1109-0604-8FDF87472F7F}"/>
                    </a:ext>
                  </a:extLst>
                </p:cNvPr>
                <p:cNvSpPr>
                  <a:spLocks noChangeArrowheads="1"/>
                </p:cNvSpPr>
                <p:nvPr/>
              </p:nvSpPr>
              <p:spPr bwMode="auto">
                <a:xfrm>
                  <a:off x="4417"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2" name="Rectangle 568">
                  <a:extLst>
                    <a:ext uri="{FF2B5EF4-FFF2-40B4-BE49-F238E27FC236}">
                      <a16:creationId xmlns:a16="http://schemas.microsoft.com/office/drawing/2014/main" id="{CB2C75E6-7BF3-4D28-CFC7-F2C272472431}"/>
                    </a:ext>
                  </a:extLst>
                </p:cNvPr>
                <p:cNvSpPr>
                  <a:spLocks noChangeArrowheads="1"/>
                </p:cNvSpPr>
                <p:nvPr/>
              </p:nvSpPr>
              <p:spPr bwMode="auto">
                <a:xfrm>
                  <a:off x="4818"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3" name="Rectangle 569">
                  <a:extLst>
                    <a:ext uri="{FF2B5EF4-FFF2-40B4-BE49-F238E27FC236}">
                      <a16:creationId xmlns:a16="http://schemas.microsoft.com/office/drawing/2014/main" id="{F1F503C8-455E-CEA0-69E9-B8F543357B39}"/>
                    </a:ext>
                  </a:extLst>
                </p:cNvPr>
                <p:cNvSpPr>
                  <a:spLocks noChangeArrowheads="1"/>
                </p:cNvSpPr>
                <p:nvPr/>
              </p:nvSpPr>
              <p:spPr bwMode="auto">
                <a:xfrm>
                  <a:off x="4824" y="3319"/>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4" name="Rectangle 570">
                  <a:extLst>
                    <a:ext uri="{FF2B5EF4-FFF2-40B4-BE49-F238E27FC236}">
                      <a16:creationId xmlns:a16="http://schemas.microsoft.com/office/drawing/2014/main" id="{2D371B31-E140-B440-09B0-2F3AF83BCC2A}"/>
                    </a:ext>
                  </a:extLst>
                </p:cNvPr>
                <p:cNvSpPr>
                  <a:spLocks noChangeArrowheads="1"/>
                </p:cNvSpPr>
                <p:nvPr/>
              </p:nvSpPr>
              <p:spPr bwMode="auto">
                <a:xfrm>
                  <a:off x="5225" y="3319"/>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5" name="Rectangle 571">
                  <a:extLst>
                    <a:ext uri="{FF2B5EF4-FFF2-40B4-BE49-F238E27FC236}">
                      <a16:creationId xmlns:a16="http://schemas.microsoft.com/office/drawing/2014/main" id="{F8AA51DE-9187-6A22-A06C-5DE351A7D864}"/>
                    </a:ext>
                  </a:extLst>
                </p:cNvPr>
                <p:cNvSpPr>
                  <a:spLocks noChangeArrowheads="1"/>
                </p:cNvSpPr>
                <p:nvPr/>
              </p:nvSpPr>
              <p:spPr bwMode="auto">
                <a:xfrm>
                  <a:off x="346"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6" name="Rectangle 572">
                  <a:extLst>
                    <a:ext uri="{FF2B5EF4-FFF2-40B4-BE49-F238E27FC236}">
                      <a16:creationId xmlns:a16="http://schemas.microsoft.com/office/drawing/2014/main" id="{D51D0913-741F-D322-0EE0-A68FC162BBE4}"/>
                    </a:ext>
                  </a:extLst>
                </p:cNvPr>
                <p:cNvSpPr>
                  <a:spLocks noChangeArrowheads="1"/>
                </p:cNvSpPr>
                <p:nvPr/>
              </p:nvSpPr>
              <p:spPr bwMode="auto">
                <a:xfrm>
                  <a:off x="582"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7" name="Rectangle 573">
                  <a:extLst>
                    <a:ext uri="{FF2B5EF4-FFF2-40B4-BE49-F238E27FC236}">
                      <a16:creationId xmlns:a16="http://schemas.microsoft.com/office/drawing/2014/main" id="{E92F629E-306B-1166-3BAE-233D3629967E}"/>
                    </a:ext>
                  </a:extLst>
                </p:cNvPr>
                <p:cNvSpPr>
                  <a:spLocks noChangeArrowheads="1"/>
                </p:cNvSpPr>
                <p:nvPr/>
              </p:nvSpPr>
              <p:spPr bwMode="auto">
                <a:xfrm>
                  <a:off x="1157"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8" name="Rectangle 574">
                  <a:extLst>
                    <a:ext uri="{FF2B5EF4-FFF2-40B4-BE49-F238E27FC236}">
                      <a16:creationId xmlns:a16="http://schemas.microsoft.com/office/drawing/2014/main" id="{2686FD41-01A7-A386-5BB9-FD05330A6154}"/>
                    </a:ext>
                  </a:extLst>
                </p:cNvPr>
                <p:cNvSpPr>
                  <a:spLocks noChangeArrowheads="1"/>
                </p:cNvSpPr>
                <p:nvPr/>
              </p:nvSpPr>
              <p:spPr bwMode="auto">
                <a:xfrm>
                  <a:off x="1564"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99" name="Rectangle 575">
                  <a:extLst>
                    <a:ext uri="{FF2B5EF4-FFF2-40B4-BE49-F238E27FC236}">
                      <a16:creationId xmlns:a16="http://schemas.microsoft.com/office/drawing/2014/main" id="{08375347-7209-C315-D60E-5F24208F63C4}"/>
                    </a:ext>
                  </a:extLst>
                </p:cNvPr>
                <p:cNvSpPr>
                  <a:spLocks noChangeArrowheads="1"/>
                </p:cNvSpPr>
                <p:nvPr/>
              </p:nvSpPr>
              <p:spPr bwMode="auto">
                <a:xfrm>
                  <a:off x="1987"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0" name="Rectangle 576">
                  <a:extLst>
                    <a:ext uri="{FF2B5EF4-FFF2-40B4-BE49-F238E27FC236}">
                      <a16:creationId xmlns:a16="http://schemas.microsoft.com/office/drawing/2014/main" id="{484CE977-6AD5-FEC3-2BC8-BA146D753BC4}"/>
                    </a:ext>
                  </a:extLst>
                </p:cNvPr>
                <p:cNvSpPr>
                  <a:spLocks noChangeArrowheads="1"/>
                </p:cNvSpPr>
                <p:nvPr/>
              </p:nvSpPr>
              <p:spPr bwMode="auto">
                <a:xfrm>
                  <a:off x="2378"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1" name="Rectangle 577">
                  <a:extLst>
                    <a:ext uri="{FF2B5EF4-FFF2-40B4-BE49-F238E27FC236}">
                      <a16:creationId xmlns:a16="http://schemas.microsoft.com/office/drawing/2014/main" id="{FEADB16B-3310-985C-064A-C86AFD684856}"/>
                    </a:ext>
                  </a:extLst>
                </p:cNvPr>
                <p:cNvSpPr>
                  <a:spLocks noChangeArrowheads="1"/>
                </p:cNvSpPr>
                <p:nvPr/>
              </p:nvSpPr>
              <p:spPr bwMode="auto">
                <a:xfrm>
                  <a:off x="2785"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2" name="Rectangle 578">
                  <a:extLst>
                    <a:ext uri="{FF2B5EF4-FFF2-40B4-BE49-F238E27FC236}">
                      <a16:creationId xmlns:a16="http://schemas.microsoft.com/office/drawing/2014/main" id="{516D050A-FD7B-1058-D93C-12D0B2E091D7}"/>
                    </a:ext>
                  </a:extLst>
                </p:cNvPr>
                <p:cNvSpPr>
                  <a:spLocks noChangeArrowheads="1"/>
                </p:cNvSpPr>
                <p:nvPr/>
              </p:nvSpPr>
              <p:spPr bwMode="auto">
                <a:xfrm>
                  <a:off x="3192"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3" name="Rectangle 579">
                  <a:extLst>
                    <a:ext uri="{FF2B5EF4-FFF2-40B4-BE49-F238E27FC236}">
                      <a16:creationId xmlns:a16="http://schemas.microsoft.com/office/drawing/2014/main" id="{DB7010A0-5D53-68D1-39FF-06CD398C9CF4}"/>
                    </a:ext>
                  </a:extLst>
                </p:cNvPr>
                <p:cNvSpPr>
                  <a:spLocks noChangeArrowheads="1"/>
                </p:cNvSpPr>
                <p:nvPr/>
              </p:nvSpPr>
              <p:spPr bwMode="auto">
                <a:xfrm>
                  <a:off x="3599"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4" name="Rectangle 580">
                  <a:extLst>
                    <a:ext uri="{FF2B5EF4-FFF2-40B4-BE49-F238E27FC236}">
                      <a16:creationId xmlns:a16="http://schemas.microsoft.com/office/drawing/2014/main" id="{A698C88C-BA00-489C-B543-7468420138FD}"/>
                    </a:ext>
                  </a:extLst>
                </p:cNvPr>
                <p:cNvSpPr>
                  <a:spLocks noChangeArrowheads="1"/>
                </p:cNvSpPr>
                <p:nvPr/>
              </p:nvSpPr>
              <p:spPr bwMode="auto">
                <a:xfrm>
                  <a:off x="4004"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5" name="Rectangle 581">
                  <a:extLst>
                    <a:ext uri="{FF2B5EF4-FFF2-40B4-BE49-F238E27FC236}">
                      <a16:creationId xmlns:a16="http://schemas.microsoft.com/office/drawing/2014/main" id="{382146BC-FAA3-7FB8-EC92-E6E7B76046E5}"/>
                    </a:ext>
                  </a:extLst>
                </p:cNvPr>
                <p:cNvSpPr>
                  <a:spLocks noChangeArrowheads="1"/>
                </p:cNvSpPr>
                <p:nvPr/>
              </p:nvSpPr>
              <p:spPr bwMode="auto">
                <a:xfrm>
                  <a:off x="4411"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6" name="Rectangle 582">
                  <a:extLst>
                    <a:ext uri="{FF2B5EF4-FFF2-40B4-BE49-F238E27FC236}">
                      <a16:creationId xmlns:a16="http://schemas.microsoft.com/office/drawing/2014/main" id="{DEBB6DEC-A8DB-5F43-50FF-40A90D61DFA3}"/>
                    </a:ext>
                  </a:extLst>
                </p:cNvPr>
                <p:cNvSpPr>
                  <a:spLocks noChangeArrowheads="1"/>
                </p:cNvSpPr>
                <p:nvPr/>
              </p:nvSpPr>
              <p:spPr bwMode="auto">
                <a:xfrm>
                  <a:off x="4818"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7" name="Rectangle 583">
                  <a:extLst>
                    <a:ext uri="{FF2B5EF4-FFF2-40B4-BE49-F238E27FC236}">
                      <a16:creationId xmlns:a16="http://schemas.microsoft.com/office/drawing/2014/main" id="{648D3396-1822-8504-C153-14B27CEDAC51}"/>
                    </a:ext>
                  </a:extLst>
                </p:cNvPr>
                <p:cNvSpPr>
                  <a:spLocks noChangeArrowheads="1"/>
                </p:cNvSpPr>
                <p:nvPr/>
              </p:nvSpPr>
              <p:spPr bwMode="auto">
                <a:xfrm>
                  <a:off x="5225" y="3325"/>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8" name="Rectangle 584">
                  <a:extLst>
                    <a:ext uri="{FF2B5EF4-FFF2-40B4-BE49-F238E27FC236}">
                      <a16:creationId xmlns:a16="http://schemas.microsoft.com/office/drawing/2014/main" id="{2199591D-E6FA-EFD3-7D54-758D3C72A66A}"/>
                    </a:ext>
                  </a:extLst>
                </p:cNvPr>
                <p:cNvSpPr>
                  <a:spLocks noChangeArrowheads="1"/>
                </p:cNvSpPr>
                <p:nvPr/>
              </p:nvSpPr>
              <p:spPr bwMode="auto">
                <a:xfrm>
                  <a:off x="346"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09" name="Rectangle 585">
                  <a:extLst>
                    <a:ext uri="{FF2B5EF4-FFF2-40B4-BE49-F238E27FC236}">
                      <a16:creationId xmlns:a16="http://schemas.microsoft.com/office/drawing/2014/main" id="{1C66D566-3DF4-F5F9-4067-4BA64853AD6D}"/>
                    </a:ext>
                  </a:extLst>
                </p:cNvPr>
                <p:cNvSpPr>
                  <a:spLocks noChangeArrowheads="1"/>
                </p:cNvSpPr>
                <p:nvPr/>
              </p:nvSpPr>
              <p:spPr bwMode="auto">
                <a:xfrm>
                  <a:off x="351" y="346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0" name="Rectangle 586">
                  <a:extLst>
                    <a:ext uri="{FF2B5EF4-FFF2-40B4-BE49-F238E27FC236}">
                      <a16:creationId xmlns:a16="http://schemas.microsoft.com/office/drawing/2014/main" id="{0FA9B577-3937-CC81-65AE-E54AF1D9DE0F}"/>
                    </a:ext>
                  </a:extLst>
                </p:cNvPr>
                <p:cNvSpPr>
                  <a:spLocks noChangeArrowheads="1"/>
                </p:cNvSpPr>
                <p:nvPr/>
              </p:nvSpPr>
              <p:spPr bwMode="auto">
                <a:xfrm>
                  <a:off x="582"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1" name="Rectangle 587">
                  <a:extLst>
                    <a:ext uri="{FF2B5EF4-FFF2-40B4-BE49-F238E27FC236}">
                      <a16:creationId xmlns:a16="http://schemas.microsoft.com/office/drawing/2014/main" id="{AF603B42-BC8D-9E80-3177-14E039C47147}"/>
                    </a:ext>
                  </a:extLst>
                </p:cNvPr>
                <p:cNvSpPr>
                  <a:spLocks noChangeArrowheads="1"/>
                </p:cNvSpPr>
                <p:nvPr/>
              </p:nvSpPr>
              <p:spPr bwMode="auto">
                <a:xfrm>
                  <a:off x="587" y="346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2" name="Rectangle 588">
                  <a:extLst>
                    <a:ext uri="{FF2B5EF4-FFF2-40B4-BE49-F238E27FC236}">
                      <a16:creationId xmlns:a16="http://schemas.microsoft.com/office/drawing/2014/main" id="{0F177B1C-A51E-4018-75EF-A7398E848608}"/>
                    </a:ext>
                  </a:extLst>
                </p:cNvPr>
                <p:cNvSpPr>
                  <a:spLocks noChangeArrowheads="1"/>
                </p:cNvSpPr>
                <p:nvPr/>
              </p:nvSpPr>
              <p:spPr bwMode="auto">
                <a:xfrm>
                  <a:off x="1157"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3" name="Rectangle 589">
                  <a:extLst>
                    <a:ext uri="{FF2B5EF4-FFF2-40B4-BE49-F238E27FC236}">
                      <a16:creationId xmlns:a16="http://schemas.microsoft.com/office/drawing/2014/main" id="{499D70F3-1F4F-6170-2216-05B7380C7F31}"/>
                    </a:ext>
                  </a:extLst>
                </p:cNvPr>
                <p:cNvSpPr>
                  <a:spLocks noChangeArrowheads="1"/>
                </p:cNvSpPr>
                <p:nvPr/>
              </p:nvSpPr>
              <p:spPr bwMode="auto">
                <a:xfrm>
                  <a:off x="1163"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4" name="Rectangle 590">
                  <a:extLst>
                    <a:ext uri="{FF2B5EF4-FFF2-40B4-BE49-F238E27FC236}">
                      <a16:creationId xmlns:a16="http://schemas.microsoft.com/office/drawing/2014/main" id="{C939ADF9-4575-5E5E-59A6-A98834BB91DD}"/>
                    </a:ext>
                  </a:extLst>
                </p:cNvPr>
                <p:cNvSpPr>
                  <a:spLocks noChangeArrowheads="1"/>
                </p:cNvSpPr>
                <p:nvPr/>
              </p:nvSpPr>
              <p:spPr bwMode="auto">
                <a:xfrm>
                  <a:off x="1564"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5" name="Rectangle 591">
                  <a:extLst>
                    <a:ext uri="{FF2B5EF4-FFF2-40B4-BE49-F238E27FC236}">
                      <a16:creationId xmlns:a16="http://schemas.microsoft.com/office/drawing/2014/main" id="{E8CF5E6C-F4E2-1B57-2A23-73C2FC711282}"/>
                    </a:ext>
                  </a:extLst>
                </p:cNvPr>
                <p:cNvSpPr>
                  <a:spLocks noChangeArrowheads="1"/>
                </p:cNvSpPr>
                <p:nvPr/>
              </p:nvSpPr>
              <p:spPr bwMode="auto">
                <a:xfrm>
                  <a:off x="1570" y="346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6" name="Rectangle 592">
                  <a:extLst>
                    <a:ext uri="{FF2B5EF4-FFF2-40B4-BE49-F238E27FC236}">
                      <a16:creationId xmlns:a16="http://schemas.microsoft.com/office/drawing/2014/main" id="{8A21CB2B-A80C-EF57-FC97-53535DB40C8C}"/>
                    </a:ext>
                  </a:extLst>
                </p:cNvPr>
                <p:cNvSpPr>
                  <a:spLocks noChangeArrowheads="1"/>
                </p:cNvSpPr>
                <p:nvPr/>
              </p:nvSpPr>
              <p:spPr bwMode="auto">
                <a:xfrm>
                  <a:off x="1987"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7" name="Rectangle 593">
                  <a:extLst>
                    <a:ext uri="{FF2B5EF4-FFF2-40B4-BE49-F238E27FC236}">
                      <a16:creationId xmlns:a16="http://schemas.microsoft.com/office/drawing/2014/main" id="{DC8EF1F0-CF8F-A707-EA44-E9EE5A2F6833}"/>
                    </a:ext>
                  </a:extLst>
                </p:cNvPr>
                <p:cNvSpPr>
                  <a:spLocks noChangeArrowheads="1"/>
                </p:cNvSpPr>
                <p:nvPr/>
              </p:nvSpPr>
              <p:spPr bwMode="auto">
                <a:xfrm>
                  <a:off x="1993" y="346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8" name="Rectangle 594">
                  <a:extLst>
                    <a:ext uri="{FF2B5EF4-FFF2-40B4-BE49-F238E27FC236}">
                      <a16:creationId xmlns:a16="http://schemas.microsoft.com/office/drawing/2014/main" id="{368ABF85-A3D0-A4EB-95C9-EE4A385ADF68}"/>
                    </a:ext>
                  </a:extLst>
                </p:cNvPr>
                <p:cNvSpPr>
                  <a:spLocks noChangeArrowheads="1"/>
                </p:cNvSpPr>
                <p:nvPr/>
              </p:nvSpPr>
              <p:spPr bwMode="auto">
                <a:xfrm>
                  <a:off x="2378"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19" name="Rectangle 595">
                  <a:extLst>
                    <a:ext uri="{FF2B5EF4-FFF2-40B4-BE49-F238E27FC236}">
                      <a16:creationId xmlns:a16="http://schemas.microsoft.com/office/drawing/2014/main" id="{5634604F-58AD-76BC-6457-5EBA849C457E}"/>
                    </a:ext>
                  </a:extLst>
                </p:cNvPr>
                <p:cNvSpPr>
                  <a:spLocks noChangeArrowheads="1"/>
                </p:cNvSpPr>
                <p:nvPr/>
              </p:nvSpPr>
              <p:spPr bwMode="auto">
                <a:xfrm>
                  <a:off x="2384"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0" name="Rectangle 596">
                  <a:extLst>
                    <a:ext uri="{FF2B5EF4-FFF2-40B4-BE49-F238E27FC236}">
                      <a16:creationId xmlns:a16="http://schemas.microsoft.com/office/drawing/2014/main" id="{E0F102CD-F2A8-D0CD-2895-77F2EF37A9B9}"/>
                    </a:ext>
                  </a:extLst>
                </p:cNvPr>
                <p:cNvSpPr>
                  <a:spLocks noChangeArrowheads="1"/>
                </p:cNvSpPr>
                <p:nvPr/>
              </p:nvSpPr>
              <p:spPr bwMode="auto">
                <a:xfrm>
                  <a:off x="2785"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1" name="Rectangle 597">
                  <a:extLst>
                    <a:ext uri="{FF2B5EF4-FFF2-40B4-BE49-F238E27FC236}">
                      <a16:creationId xmlns:a16="http://schemas.microsoft.com/office/drawing/2014/main" id="{37CF75DC-6863-F8B6-9BE5-6FC29016B531}"/>
                    </a:ext>
                  </a:extLst>
                </p:cNvPr>
                <p:cNvSpPr>
                  <a:spLocks noChangeArrowheads="1"/>
                </p:cNvSpPr>
                <p:nvPr/>
              </p:nvSpPr>
              <p:spPr bwMode="auto">
                <a:xfrm>
                  <a:off x="2791"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2" name="Rectangle 598">
                  <a:extLst>
                    <a:ext uri="{FF2B5EF4-FFF2-40B4-BE49-F238E27FC236}">
                      <a16:creationId xmlns:a16="http://schemas.microsoft.com/office/drawing/2014/main" id="{2E52CDC5-B3E8-6B7C-862E-9ECB6A7A2AE3}"/>
                    </a:ext>
                  </a:extLst>
                </p:cNvPr>
                <p:cNvSpPr>
                  <a:spLocks noChangeArrowheads="1"/>
                </p:cNvSpPr>
                <p:nvPr/>
              </p:nvSpPr>
              <p:spPr bwMode="auto">
                <a:xfrm>
                  <a:off x="3192"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3" name="Rectangle 599">
                  <a:extLst>
                    <a:ext uri="{FF2B5EF4-FFF2-40B4-BE49-F238E27FC236}">
                      <a16:creationId xmlns:a16="http://schemas.microsoft.com/office/drawing/2014/main" id="{37EBD135-7EDC-F3A2-DDAF-1AAF394437CB}"/>
                    </a:ext>
                  </a:extLst>
                </p:cNvPr>
                <p:cNvSpPr>
                  <a:spLocks noChangeArrowheads="1"/>
                </p:cNvSpPr>
                <p:nvPr/>
              </p:nvSpPr>
              <p:spPr bwMode="auto">
                <a:xfrm>
                  <a:off x="3198"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4" name="Rectangle 600">
                  <a:extLst>
                    <a:ext uri="{FF2B5EF4-FFF2-40B4-BE49-F238E27FC236}">
                      <a16:creationId xmlns:a16="http://schemas.microsoft.com/office/drawing/2014/main" id="{C51C9951-8884-6C07-3D39-22A79E028B42}"/>
                    </a:ext>
                  </a:extLst>
                </p:cNvPr>
                <p:cNvSpPr>
                  <a:spLocks noChangeArrowheads="1"/>
                </p:cNvSpPr>
                <p:nvPr/>
              </p:nvSpPr>
              <p:spPr bwMode="auto">
                <a:xfrm>
                  <a:off x="3599"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5" name="Rectangle 601">
                  <a:extLst>
                    <a:ext uri="{FF2B5EF4-FFF2-40B4-BE49-F238E27FC236}">
                      <a16:creationId xmlns:a16="http://schemas.microsoft.com/office/drawing/2014/main" id="{8B6F8CE0-EC80-2EF4-6B00-DE37A49AECDB}"/>
                    </a:ext>
                  </a:extLst>
                </p:cNvPr>
                <p:cNvSpPr>
                  <a:spLocks noChangeArrowheads="1"/>
                </p:cNvSpPr>
                <p:nvPr/>
              </p:nvSpPr>
              <p:spPr bwMode="auto">
                <a:xfrm>
                  <a:off x="3605" y="346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6" name="Rectangle 602">
                  <a:extLst>
                    <a:ext uri="{FF2B5EF4-FFF2-40B4-BE49-F238E27FC236}">
                      <a16:creationId xmlns:a16="http://schemas.microsoft.com/office/drawing/2014/main" id="{4F02BAA0-F720-FF3D-6646-6199BFE4D4CB}"/>
                    </a:ext>
                  </a:extLst>
                </p:cNvPr>
                <p:cNvSpPr>
                  <a:spLocks noChangeArrowheads="1"/>
                </p:cNvSpPr>
                <p:nvPr/>
              </p:nvSpPr>
              <p:spPr bwMode="auto">
                <a:xfrm>
                  <a:off x="4004"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7" name="Rectangle 603">
                  <a:extLst>
                    <a:ext uri="{FF2B5EF4-FFF2-40B4-BE49-F238E27FC236}">
                      <a16:creationId xmlns:a16="http://schemas.microsoft.com/office/drawing/2014/main" id="{08B6D5EB-2E62-029E-7717-59B6E6D11544}"/>
                    </a:ext>
                  </a:extLst>
                </p:cNvPr>
                <p:cNvSpPr>
                  <a:spLocks noChangeArrowheads="1"/>
                </p:cNvSpPr>
                <p:nvPr/>
              </p:nvSpPr>
              <p:spPr bwMode="auto">
                <a:xfrm>
                  <a:off x="4010"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8" name="Rectangle 604">
                  <a:extLst>
                    <a:ext uri="{FF2B5EF4-FFF2-40B4-BE49-F238E27FC236}">
                      <a16:creationId xmlns:a16="http://schemas.microsoft.com/office/drawing/2014/main" id="{320CDF64-D852-BB5B-5089-40D2EB3149F3}"/>
                    </a:ext>
                  </a:extLst>
                </p:cNvPr>
                <p:cNvSpPr>
                  <a:spLocks noChangeArrowheads="1"/>
                </p:cNvSpPr>
                <p:nvPr/>
              </p:nvSpPr>
              <p:spPr bwMode="auto">
                <a:xfrm>
                  <a:off x="4411"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9" name="Rectangle 605">
                  <a:extLst>
                    <a:ext uri="{FF2B5EF4-FFF2-40B4-BE49-F238E27FC236}">
                      <a16:creationId xmlns:a16="http://schemas.microsoft.com/office/drawing/2014/main" id="{8441BE72-6532-59A8-0F72-9FF7CC0CF9D7}"/>
                    </a:ext>
                  </a:extLst>
                </p:cNvPr>
                <p:cNvSpPr>
                  <a:spLocks noChangeArrowheads="1"/>
                </p:cNvSpPr>
                <p:nvPr/>
              </p:nvSpPr>
              <p:spPr bwMode="auto">
                <a:xfrm>
                  <a:off x="4417"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0" name="Rectangle 606">
                  <a:extLst>
                    <a:ext uri="{FF2B5EF4-FFF2-40B4-BE49-F238E27FC236}">
                      <a16:creationId xmlns:a16="http://schemas.microsoft.com/office/drawing/2014/main" id="{76867B1B-C92F-3050-D625-8371570EFD33}"/>
                    </a:ext>
                  </a:extLst>
                </p:cNvPr>
                <p:cNvSpPr>
                  <a:spLocks noChangeArrowheads="1"/>
                </p:cNvSpPr>
                <p:nvPr/>
              </p:nvSpPr>
              <p:spPr bwMode="auto">
                <a:xfrm>
                  <a:off x="4818"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1" name="Rectangle 607">
                  <a:extLst>
                    <a:ext uri="{FF2B5EF4-FFF2-40B4-BE49-F238E27FC236}">
                      <a16:creationId xmlns:a16="http://schemas.microsoft.com/office/drawing/2014/main" id="{7B201E37-F4DB-99A8-1434-5E151F1BF7CA}"/>
                    </a:ext>
                  </a:extLst>
                </p:cNvPr>
                <p:cNvSpPr>
                  <a:spLocks noChangeArrowheads="1"/>
                </p:cNvSpPr>
                <p:nvPr/>
              </p:nvSpPr>
              <p:spPr bwMode="auto">
                <a:xfrm>
                  <a:off x="4824" y="346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2" name="Rectangle 608">
                  <a:extLst>
                    <a:ext uri="{FF2B5EF4-FFF2-40B4-BE49-F238E27FC236}">
                      <a16:creationId xmlns:a16="http://schemas.microsoft.com/office/drawing/2014/main" id="{15B784E4-6DA8-748A-38B8-94FB129889AE}"/>
                    </a:ext>
                  </a:extLst>
                </p:cNvPr>
                <p:cNvSpPr>
                  <a:spLocks noChangeArrowheads="1"/>
                </p:cNvSpPr>
                <p:nvPr/>
              </p:nvSpPr>
              <p:spPr bwMode="auto">
                <a:xfrm>
                  <a:off x="5225" y="346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3" name="Rectangle 609">
                  <a:extLst>
                    <a:ext uri="{FF2B5EF4-FFF2-40B4-BE49-F238E27FC236}">
                      <a16:creationId xmlns:a16="http://schemas.microsoft.com/office/drawing/2014/main" id="{B62CD5D0-6DFF-E600-E325-C6C14A8D5808}"/>
                    </a:ext>
                  </a:extLst>
                </p:cNvPr>
                <p:cNvSpPr>
                  <a:spLocks noChangeArrowheads="1"/>
                </p:cNvSpPr>
                <p:nvPr/>
              </p:nvSpPr>
              <p:spPr bwMode="auto">
                <a:xfrm>
                  <a:off x="346"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4" name="Rectangle 610">
                  <a:extLst>
                    <a:ext uri="{FF2B5EF4-FFF2-40B4-BE49-F238E27FC236}">
                      <a16:creationId xmlns:a16="http://schemas.microsoft.com/office/drawing/2014/main" id="{D2F2781F-BFD1-5DEF-7B67-6A132D749E26}"/>
                    </a:ext>
                  </a:extLst>
                </p:cNvPr>
                <p:cNvSpPr>
                  <a:spLocks noChangeArrowheads="1"/>
                </p:cNvSpPr>
                <p:nvPr/>
              </p:nvSpPr>
              <p:spPr bwMode="auto">
                <a:xfrm>
                  <a:off x="346"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5" name="Rectangle 611">
                  <a:extLst>
                    <a:ext uri="{FF2B5EF4-FFF2-40B4-BE49-F238E27FC236}">
                      <a16:creationId xmlns:a16="http://schemas.microsoft.com/office/drawing/2014/main" id="{BF9430B6-FFE0-1122-F365-3601EA6310FE}"/>
                    </a:ext>
                  </a:extLst>
                </p:cNvPr>
                <p:cNvSpPr>
                  <a:spLocks noChangeArrowheads="1"/>
                </p:cNvSpPr>
                <p:nvPr/>
              </p:nvSpPr>
              <p:spPr bwMode="auto">
                <a:xfrm>
                  <a:off x="346"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6" name="Rectangle 612">
                  <a:extLst>
                    <a:ext uri="{FF2B5EF4-FFF2-40B4-BE49-F238E27FC236}">
                      <a16:creationId xmlns:a16="http://schemas.microsoft.com/office/drawing/2014/main" id="{2F0AB23A-14BA-0B4D-3369-C870CDDA2AFB}"/>
                    </a:ext>
                  </a:extLst>
                </p:cNvPr>
                <p:cNvSpPr>
                  <a:spLocks noChangeArrowheads="1"/>
                </p:cNvSpPr>
                <p:nvPr/>
              </p:nvSpPr>
              <p:spPr bwMode="auto">
                <a:xfrm>
                  <a:off x="351" y="3618"/>
                  <a:ext cx="23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7" name="Rectangle 613">
                  <a:extLst>
                    <a:ext uri="{FF2B5EF4-FFF2-40B4-BE49-F238E27FC236}">
                      <a16:creationId xmlns:a16="http://schemas.microsoft.com/office/drawing/2014/main" id="{1B123077-2AF8-D9CF-BF0C-7FC7C1EB5424}"/>
                    </a:ext>
                  </a:extLst>
                </p:cNvPr>
                <p:cNvSpPr>
                  <a:spLocks noChangeArrowheads="1"/>
                </p:cNvSpPr>
                <p:nvPr/>
              </p:nvSpPr>
              <p:spPr bwMode="auto">
                <a:xfrm>
                  <a:off x="582"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8" name="Rectangle 614">
                  <a:extLst>
                    <a:ext uri="{FF2B5EF4-FFF2-40B4-BE49-F238E27FC236}">
                      <a16:creationId xmlns:a16="http://schemas.microsoft.com/office/drawing/2014/main" id="{4B259B5C-D959-77CA-877A-3ED4A1D83E42}"/>
                    </a:ext>
                  </a:extLst>
                </p:cNvPr>
                <p:cNvSpPr>
                  <a:spLocks noChangeArrowheads="1"/>
                </p:cNvSpPr>
                <p:nvPr/>
              </p:nvSpPr>
              <p:spPr bwMode="auto">
                <a:xfrm>
                  <a:off x="582"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39" name="Rectangle 615">
                  <a:extLst>
                    <a:ext uri="{FF2B5EF4-FFF2-40B4-BE49-F238E27FC236}">
                      <a16:creationId xmlns:a16="http://schemas.microsoft.com/office/drawing/2014/main" id="{20887EFA-225F-685B-DD7F-439F92E276F8}"/>
                    </a:ext>
                  </a:extLst>
                </p:cNvPr>
                <p:cNvSpPr>
                  <a:spLocks noChangeArrowheads="1"/>
                </p:cNvSpPr>
                <p:nvPr/>
              </p:nvSpPr>
              <p:spPr bwMode="auto">
                <a:xfrm>
                  <a:off x="587" y="3618"/>
                  <a:ext cx="570"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0" name="Rectangle 616">
                  <a:extLst>
                    <a:ext uri="{FF2B5EF4-FFF2-40B4-BE49-F238E27FC236}">
                      <a16:creationId xmlns:a16="http://schemas.microsoft.com/office/drawing/2014/main" id="{D1A334E0-6266-D33A-439D-F6EB98CF7FCB}"/>
                    </a:ext>
                  </a:extLst>
                </p:cNvPr>
                <p:cNvSpPr>
                  <a:spLocks noChangeArrowheads="1"/>
                </p:cNvSpPr>
                <p:nvPr/>
              </p:nvSpPr>
              <p:spPr bwMode="auto">
                <a:xfrm>
                  <a:off x="1157"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1" name="Rectangle 617">
                  <a:extLst>
                    <a:ext uri="{FF2B5EF4-FFF2-40B4-BE49-F238E27FC236}">
                      <a16:creationId xmlns:a16="http://schemas.microsoft.com/office/drawing/2014/main" id="{90F157A7-6E4B-DC97-5AE7-A44532382F37}"/>
                    </a:ext>
                  </a:extLst>
                </p:cNvPr>
                <p:cNvSpPr>
                  <a:spLocks noChangeArrowheads="1"/>
                </p:cNvSpPr>
                <p:nvPr/>
              </p:nvSpPr>
              <p:spPr bwMode="auto">
                <a:xfrm>
                  <a:off x="1157"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2" name="Rectangle 618">
                  <a:extLst>
                    <a:ext uri="{FF2B5EF4-FFF2-40B4-BE49-F238E27FC236}">
                      <a16:creationId xmlns:a16="http://schemas.microsoft.com/office/drawing/2014/main" id="{8D8AA998-E089-9CD0-FF2F-3E0AB07C1472}"/>
                    </a:ext>
                  </a:extLst>
                </p:cNvPr>
                <p:cNvSpPr>
                  <a:spLocks noChangeArrowheads="1"/>
                </p:cNvSpPr>
                <p:nvPr/>
              </p:nvSpPr>
              <p:spPr bwMode="auto">
                <a:xfrm>
                  <a:off x="1163"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3" name="Rectangle 619">
                  <a:extLst>
                    <a:ext uri="{FF2B5EF4-FFF2-40B4-BE49-F238E27FC236}">
                      <a16:creationId xmlns:a16="http://schemas.microsoft.com/office/drawing/2014/main" id="{8780B052-25C2-92F8-75C7-8DA729C6B1F1}"/>
                    </a:ext>
                  </a:extLst>
                </p:cNvPr>
                <p:cNvSpPr>
                  <a:spLocks noChangeArrowheads="1"/>
                </p:cNvSpPr>
                <p:nvPr/>
              </p:nvSpPr>
              <p:spPr bwMode="auto">
                <a:xfrm>
                  <a:off x="1564"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4" name="Rectangle 620">
                  <a:extLst>
                    <a:ext uri="{FF2B5EF4-FFF2-40B4-BE49-F238E27FC236}">
                      <a16:creationId xmlns:a16="http://schemas.microsoft.com/office/drawing/2014/main" id="{0AF2805A-17CB-54D2-5CD3-6104C96962D5}"/>
                    </a:ext>
                  </a:extLst>
                </p:cNvPr>
                <p:cNvSpPr>
                  <a:spLocks noChangeArrowheads="1"/>
                </p:cNvSpPr>
                <p:nvPr/>
              </p:nvSpPr>
              <p:spPr bwMode="auto">
                <a:xfrm>
                  <a:off x="1564"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5" name="Rectangle 621">
                  <a:extLst>
                    <a:ext uri="{FF2B5EF4-FFF2-40B4-BE49-F238E27FC236}">
                      <a16:creationId xmlns:a16="http://schemas.microsoft.com/office/drawing/2014/main" id="{06EF6038-F2A1-F446-2B14-9317B004637B}"/>
                    </a:ext>
                  </a:extLst>
                </p:cNvPr>
                <p:cNvSpPr>
                  <a:spLocks noChangeArrowheads="1"/>
                </p:cNvSpPr>
                <p:nvPr/>
              </p:nvSpPr>
              <p:spPr bwMode="auto">
                <a:xfrm>
                  <a:off x="1570" y="3618"/>
                  <a:ext cx="4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6" name="Rectangle 622">
                  <a:extLst>
                    <a:ext uri="{FF2B5EF4-FFF2-40B4-BE49-F238E27FC236}">
                      <a16:creationId xmlns:a16="http://schemas.microsoft.com/office/drawing/2014/main" id="{9071DADF-9720-2150-23A3-CCEA11DD5468}"/>
                    </a:ext>
                  </a:extLst>
                </p:cNvPr>
                <p:cNvSpPr>
                  <a:spLocks noChangeArrowheads="1"/>
                </p:cNvSpPr>
                <p:nvPr/>
              </p:nvSpPr>
              <p:spPr bwMode="auto">
                <a:xfrm>
                  <a:off x="1987"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7" name="Rectangle 623">
                  <a:extLst>
                    <a:ext uri="{FF2B5EF4-FFF2-40B4-BE49-F238E27FC236}">
                      <a16:creationId xmlns:a16="http://schemas.microsoft.com/office/drawing/2014/main" id="{D267BD69-BCBD-912A-0CB7-0DC4FACC2BDB}"/>
                    </a:ext>
                  </a:extLst>
                </p:cNvPr>
                <p:cNvSpPr>
                  <a:spLocks noChangeArrowheads="1"/>
                </p:cNvSpPr>
                <p:nvPr/>
              </p:nvSpPr>
              <p:spPr bwMode="auto">
                <a:xfrm>
                  <a:off x="1987"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8" name="Rectangle 624">
                  <a:extLst>
                    <a:ext uri="{FF2B5EF4-FFF2-40B4-BE49-F238E27FC236}">
                      <a16:creationId xmlns:a16="http://schemas.microsoft.com/office/drawing/2014/main" id="{B7EA7E47-54C9-F126-8391-A9A57823DC10}"/>
                    </a:ext>
                  </a:extLst>
                </p:cNvPr>
                <p:cNvSpPr>
                  <a:spLocks noChangeArrowheads="1"/>
                </p:cNvSpPr>
                <p:nvPr/>
              </p:nvSpPr>
              <p:spPr bwMode="auto">
                <a:xfrm>
                  <a:off x="1993" y="3618"/>
                  <a:ext cx="38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9" name="Rectangle 625">
                  <a:extLst>
                    <a:ext uri="{FF2B5EF4-FFF2-40B4-BE49-F238E27FC236}">
                      <a16:creationId xmlns:a16="http://schemas.microsoft.com/office/drawing/2014/main" id="{D1C05CFA-6109-B942-D57E-1A72204B354A}"/>
                    </a:ext>
                  </a:extLst>
                </p:cNvPr>
                <p:cNvSpPr>
                  <a:spLocks noChangeArrowheads="1"/>
                </p:cNvSpPr>
                <p:nvPr/>
              </p:nvSpPr>
              <p:spPr bwMode="auto">
                <a:xfrm>
                  <a:off x="2378"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0" name="Rectangle 626">
                  <a:extLst>
                    <a:ext uri="{FF2B5EF4-FFF2-40B4-BE49-F238E27FC236}">
                      <a16:creationId xmlns:a16="http://schemas.microsoft.com/office/drawing/2014/main" id="{6EBB2DF4-E790-712A-DD1F-E8DC48D420D2}"/>
                    </a:ext>
                  </a:extLst>
                </p:cNvPr>
                <p:cNvSpPr>
                  <a:spLocks noChangeArrowheads="1"/>
                </p:cNvSpPr>
                <p:nvPr/>
              </p:nvSpPr>
              <p:spPr bwMode="auto">
                <a:xfrm>
                  <a:off x="2378"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1" name="Rectangle 627">
                  <a:extLst>
                    <a:ext uri="{FF2B5EF4-FFF2-40B4-BE49-F238E27FC236}">
                      <a16:creationId xmlns:a16="http://schemas.microsoft.com/office/drawing/2014/main" id="{2C8ACC35-0592-9DAE-98A7-51CB3FDE2AF5}"/>
                    </a:ext>
                  </a:extLst>
                </p:cNvPr>
                <p:cNvSpPr>
                  <a:spLocks noChangeArrowheads="1"/>
                </p:cNvSpPr>
                <p:nvPr/>
              </p:nvSpPr>
              <p:spPr bwMode="auto">
                <a:xfrm>
                  <a:off x="2384"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2" name="Rectangle 628">
                  <a:extLst>
                    <a:ext uri="{FF2B5EF4-FFF2-40B4-BE49-F238E27FC236}">
                      <a16:creationId xmlns:a16="http://schemas.microsoft.com/office/drawing/2014/main" id="{5D20ECE1-4095-60A4-AD0E-B5A9D1DB6C51}"/>
                    </a:ext>
                  </a:extLst>
                </p:cNvPr>
                <p:cNvSpPr>
                  <a:spLocks noChangeArrowheads="1"/>
                </p:cNvSpPr>
                <p:nvPr/>
              </p:nvSpPr>
              <p:spPr bwMode="auto">
                <a:xfrm>
                  <a:off x="2785"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3" name="Rectangle 629">
                  <a:extLst>
                    <a:ext uri="{FF2B5EF4-FFF2-40B4-BE49-F238E27FC236}">
                      <a16:creationId xmlns:a16="http://schemas.microsoft.com/office/drawing/2014/main" id="{99DA87D5-4EDA-3C5C-C679-8FB3F08BDB9C}"/>
                    </a:ext>
                  </a:extLst>
                </p:cNvPr>
                <p:cNvSpPr>
                  <a:spLocks noChangeArrowheads="1"/>
                </p:cNvSpPr>
                <p:nvPr/>
              </p:nvSpPr>
              <p:spPr bwMode="auto">
                <a:xfrm>
                  <a:off x="2785"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4" name="Rectangle 630">
                  <a:extLst>
                    <a:ext uri="{FF2B5EF4-FFF2-40B4-BE49-F238E27FC236}">
                      <a16:creationId xmlns:a16="http://schemas.microsoft.com/office/drawing/2014/main" id="{5DC0AE8B-4A91-A7A5-1CBB-DFCBAD32111F}"/>
                    </a:ext>
                  </a:extLst>
                </p:cNvPr>
                <p:cNvSpPr>
                  <a:spLocks noChangeArrowheads="1"/>
                </p:cNvSpPr>
                <p:nvPr/>
              </p:nvSpPr>
              <p:spPr bwMode="auto">
                <a:xfrm>
                  <a:off x="2791"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5" name="Rectangle 631">
                  <a:extLst>
                    <a:ext uri="{FF2B5EF4-FFF2-40B4-BE49-F238E27FC236}">
                      <a16:creationId xmlns:a16="http://schemas.microsoft.com/office/drawing/2014/main" id="{7CB0CFC5-53D9-D8BD-D695-62AC71D54A59}"/>
                    </a:ext>
                  </a:extLst>
                </p:cNvPr>
                <p:cNvSpPr>
                  <a:spLocks noChangeArrowheads="1"/>
                </p:cNvSpPr>
                <p:nvPr/>
              </p:nvSpPr>
              <p:spPr bwMode="auto">
                <a:xfrm>
                  <a:off x="3192"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6" name="Rectangle 632">
                  <a:extLst>
                    <a:ext uri="{FF2B5EF4-FFF2-40B4-BE49-F238E27FC236}">
                      <a16:creationId xmlns:a16="http://schemas.microsoft.com/office/drawing/2014/main" id="{31F0DA3F-D4DA-01BD-BF1A-2631DB31849C}"/>
                    </a:ext>
                  </a:extLst>
                </p:cNvPr>
                <p:cNvSpPr>
                  <a:spLocks noChangeArrowheads="1"/>
                </p:cNvSpPr>
                <p:nvPr/>
              </p:nvSpPr>
              <p:spPr bwMode="auto">
                <a:xfrm>
                  <a:off x="3192"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7" name="Rectangle 633">
                  <a:extLst>
                    <a:ext uri="{FF2B5EF4-FFF2-40B4-BE49-F238E27FC236}">
                      <a16:creationId xmlns:a16="http://schemas.microsoft.com/office/drawing/2014/main" id="{5A0D6828-F920-E0A8-63EB-C1C9C0424812}"/>
                    </a:ext>
                  </a:extLst>
                </p:cNvPr>
                <p:cNvSpPr>
                  <a:spLocks noChangeArrowheads="1"/>
                </p:cNvSpPr>
                <p:nvPr/>
              </p:nvSpPr>
              <p:spPr bwMode="auto">
                <a:xfrm>
                  <a:off x="3198"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8" name="Rectangle 634">
                  <a:extLst>
                    <a:ext uri="{FF2B5EF4-FFF2-40B4-BE49-F238E27FC236}">
                      <a16:creationId xmlns:a16="http://schemas.microsoft.com/office/drawing/2014/main" id="{C8844EBF-36D2-4F81-AFF9-DAD62B974A54}"/>
                    </a:ext>
                  </a:extLst>
                </p:cNvPr>
                <p:cNvSpPr>
                  <a:spLocks noChangeArrowheads="1"/>
                </p:cNvSpPr>
                <p:nvPr/>
              </p:nvSpPr>
              <p:spPr bwMode="auto">
                <a:xfrm>
                  <a:off x="3599"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9" name="Rectangle 635">
                  <a:extLst>
                    <a:ext uri="{FF2B5EF4-FFF2-40B4-BE49-F238E27FC236}">
                      <a16:creationId xmlns:a16="http://schemas.microsoft.com/office/drawing/2014/main" id="{A65F776C-A592-80A8-0900-B1D5C317036E}"/>
                    </a:ext>
                  </a:extLst>
                </p:cNvPr>
                <p:cNvSpPr>
                  <a:spLocks noChangeArrowheads="1"/>
                </p:cNvSpPr>
                <p:nvPr/>
              </p:nvSpPr>
              <p:spPr bwMode="auto">
                <a:xfrm>
                  <a:off x="3599"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0" name="Rectangle 636">
                  <a:extLst>
                    <a:ext uri="{FF2B5EF4-FFF2-40B4-BE49-F238E27FC236}">
                      <a16:creationId xmlns:a16="http://schemas.microsoft.com/office/drawing/2014/main" id="{F1DFB110-F136-FAE7-D7F6-FDCE65F1D180}"/>
                    </a:ext>
                  </a:extLst>
                </p:cNvPr>
                <p:cNvSpPr>
                  <a:spLocks noChangeArrowheads="1"/>
                </p:cNvSpPr>
                <p:nvPr/>
              </p:nvSpPr>
              <p:spPr bwMode="auto">
                <a:xfrm>
                  <a:off x="3605" y="3618"/>
                  <a:ext cx="399"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1" name="Rectangle 637">
                  <a:extLst>
                    <a:ext uri="{FF2B5EF4-FFF2-40B4-BE49-F238E27FC236}">
                      <a16:creationId xmlns:a16="http://schemas.microsoft.com/office/drawing/2014/main" id="{04C74346-D8B3-3982-D015-55041A3579D2}"/>
                    </a:ext>
                  </a:extLst>
                </p:cNvPr>
                <p:cNvSpPr>
                  <a:spLocks noChangeArrowheads="1"/>
                </p:cNvSpPr>
                <p:nvPr/>
              </p:nvSpPr>
              <p:spPr bwMode="auto">
                <a:xfrm>
                  <a:off x="4004"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2" name="Rectangle 638">
                  <a:extLst>
                    <a:ext uri="{FF2B5EF4-FFF2-40B4-BE49-F238E27FC236}">
                      <a16:creationId xmlns:a16="http://schemas.microsoft.com/office/drawing/2014/main" id="{47FB3E22-97EF-CD7E-F7C3-CA5F7A161D4E}"/>
                    </a:ext>
                  </a:extLst>
                </p:cNvPr>
                <p:cNvSpPr>
                  <a:spLocks noChangeArrowheads="1"/>
                </p:cNvSpPr>
                <p:nvPr/>
              </p:nvSpPr>
              <p:spPr bwMode="auto">
                <a:xfrm>
                  <a:off x="4004"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3" name="Rectangle 639">
                  <a:extLst>
                    <a:ext uri="{FF2B5EF4-FFF2-40B4-BE49-F238E27FC236}">
                      <a16:creationId xmlns:a16="http://schemas.microsoft.com/office/drawing/2014/main" id="{0B001A69-343F-855B-4559-5B3031232B2E}"/>
                    </a:ext>
                  </a:extLst>
                </p:cNvPr>
                <p:cNvSpPr>
                  <a:spLocks noChangeArrowheads="1"/>
                </p:cNvSpPr>
                <p:nvPr/>
              </p:nvSpPr>
              <p:spPr bwMode="auto">
                <a:xfrm>
                  <a:off x="4010"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4" name="Rectangle 640">
                  <a:extLst>
                    <a:ext uri="{FF2B5EF4-FFF2-40B4-BE49-F238E27FC236}">
                      <a16:creationId xmlns:a16="http://schemas.microsoft.com/office/drawing/2014/main" id="{8FA1FC8F-7C0F-9BFE-2DD5-FDB1496B08D8}"/>
                    </a:ext>
                  </a:extLst>
                </p:cNvPr>
                <p:cNvSpPr>
                  <a:spLocks noChangeArrowheads="1"/>
                </p:cNvSpPr>
                <p:nvPr/>
              </p:nvSpPr>
              <p:spPr bwMode="auto">
                <a:xfrm>
                  <a:off x="4411"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5" name="Rectangle 641">
                  <a:extLst>
                    <a:ext uri="{FF2B5EF4-FFF2-40B4-BE49-F238E27FC236}">
                      <a16:creationId xmlns:a16="http://schemas.microsoft.com/office/drawing/2014/main" id="{9981C1D4-0A5F-AB76-F1A1-708995DB840B}"/>
                    </a:ext>
                  </a:extLst>
                </p:cNvPr>
                <p:cNvSpPr>
                  <a:spLocks noChangeArrowheads="1"/>
                </p:cNvSpPr>
                <p:nvPr/>
              </p:nvSpPr>
              <p:spPr bwMode="auto">
                <a:xfrm>
                  <a:off x="4411"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6" name="Rectangle 642">
                  <a:extLst>
                    <a:ext uri="{FF2B5EF4-FFF2-40B4-BE49-F238E27FC236}">
                      <a16:creationId xmlns:a16="http://schemas.microsoft.com/office/drawing/2014/main" id="{5BD21A6F-CE94-CEBE-410B-606B9849A2CD}"/>
                    </a:ext>
                  </a:extLst>
                </p:cNvPr>
                <p:cNvSpPr>
                  <a:spLocks noChangeArrowheads="1"/>
                </p:cNvSpPr>
                <p:nvPr/>
              </p:nvSpPr>
              <p:spPr bwMode="auto">
                <a:xfrm>
                  <a:off x="4417"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7" name="Rectangle 643">
                  <a:extLst>
                    <a:ext uri="{FF2B5EF4-FFF2-40B4-BE49-F238E27FC236}">
                      <a16:creationId xmlns:a16="http://schemas.microsoft.com/office/drawing/2014/main" id="{41E22273-6CBB-EB1E-49D0-9B53580718F8}"/>
                    </a:ext>
                  </a:extLst>
                </p:cNvPr>
                <p:cNvSpPr>
                  <a:spLocks noChangeArrowheads="1"/>
                </p:cNvSpPr>
                <p:nvPr/>
              </p:nvSpPr>
              <p:spPr bwMode="auto">
                <a:xfrm>
                  <a:off x="4818"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8" name="Rectangle 644">
                  <a:extLst>
                    <a:ext uri="{FF2B5EF4-FFF2-40B4-BE49-F238E27FC236}">
                      <a16:creationId xmlns:a16="http://schemas.microsoft.com/office/drawing/2014/main" id="{D7230527-3FE7-AAB4-49E0-04F43F9A784A}"/>
                    </a:ext>
                  </a:extLst>
                </p:cNvPr>
                <p:cNvSpPr>
                  <a:spLocks noChangeArrowheads="1"/>
                </p:cNvSpPr>
                <p:nvPr/>
              </p:nvSpPr>
              <p:spPr bwMode="auto">
                <a:xfrm>
                  <a:off x="4818"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9" name="Rectangle 645">
                  <a:extLst>
                    <a:ext uri="{FF2B5EF4-FFF2-40B4-BE49-F238E27FC236}">
                      <a16:creationId xmlns:a16="http://schemas.microsoft.com/office/drawing/2014/main" id="{9404C47B-B052-A24C-2223-6130D451C3B6}"/>
                    </a:ext>
                  </a:extLst>
                </p:cNvPr>
                <p:cNvSpPr>
                  <a:spLocks noChangeArrowheads="1"/>
                </p:cNvSpPr>
                <p:nvPr/>
              </p:nvSpPr>
              <p:spPr bwMode="auto">
                <a:xfrm>
                  <a:off x="4824" y="3618"/>
                  <a:ext cx="401"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0" name="Rectangle 646">
                  <a:extLst>
                    <a:ext uri="{FF2B5EF4-FFF2-40B4-BE49-F238E27FC236}">
                      <a16:creationId xmlns:a16="http://schemas.microsoft.com/office/drawing/2014/main" id="{DA0135EE-2F18-96FA-B1A3-7D8ACBFC45BE}"/>
                    </a:ext>
                  </a:extLst>
                </p:cNvPr>
                <p:cNvSpPr>
                  <a:spLocks noChangeArrowheads="1"/>
                </p:cNvSpPr>
                <p:nvPr/>
              </p:nvSpPr>
              <p:spPr bwMode="auto">
                <a:xfrm>
                  <a:off x="5225" y="3474"/>
                  <a:ext cx="6" cy="1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1" name="Rectangle 647">
                  <a:extLst>
                    <a:ext uri="{FF2B5EF4-FFF2-40B4-BE49-F238E27FC236}">
                      <a16:creationId xmlns:a16="http://schemas.microsoft.com/office/drawing/2014/main" id="{ADF0CB6C-1617-C9C6-ED4A-75AB57B272E5}"/>
                    </a:ext>
                  </a:extLst>
                </p:cNvPr>
                <p:cNvSpPr>
                  <a:spLocks noChangeArrowheads="1"/>
                </p:cNvSpPr>
                <p:nvPr/>
              </p:nvSpPr>
              <p:spPr bwMode="auto">
                <a:xfrm>
                  <a:off x="5225"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2" name="Rectangle 648">
                  <a:extLst>
                    <a:ext uri="{FF2B5EF4-FFF2-40B4-BE49-F238E27FC236}">
                      <a16:creationId xmlns:a16="http://schemas.microsoft.com/office/drawing/2014/main" id="{F87C43C7-EDC6-959F-5D92-BE1B396160C1}"/>
                    </a:ext>
                  </a:extLst>
                </p:cNvPr>
                <p:cNvSpPr>
                  <a:spLocks noChangeArrowheads="1"/>
                </p:cNvSpPr>
                <p:nvPr/>
              </p:nvSpPr>
              <p:spPr bwMode="auto">
                <a:xfrm>
                  <a:off x="5225" y="3618"/>
                  <a:ext cx="6"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3" name="Rectangle 649">
                  <a:extLst>
                    <a:ext uri="{FF2B5EF4-FFF2-40B4-BE49-F238E27FC236}">
                      <a16:creationId xmlns:a16="http://schemas.microsoft.com/office/drawing/2014/main" id="{C21B3EB2-F12B-9344-6B86-CF3B6C25A336}"/>
                    </a:ext>
                  </a:extLst>
                </p:cNvPr>
                <p:cNvSpPr>
                  <a:spLocks noChangeArrowheads="1"/>
                </p:cNvSpPr>
                <p:nvPr/>
              </p:nvSpPr>
              <p:spPr bwMode="auto">
                <a:xfrm>
                  <a:off x="712" y="3474"/>
                  <a:ext cx="2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TOTAL</a:t>
                  </a:r>
                </a:p>
              </p:txBody>
            </p:sp>
            <p:sp>
              <p:nvSpPr>
                <p:cNvPr id="674" name="Rectangle 650">
                  <a:extLst>
                    <a:ext uri="{FF2B5EF4-FFF2-40B4-BE49-F238E27FC236}">
                      <a16:creationId xmlns:a16="http://schemas.microsoft.com/office/drawing/2014/main" id="{3300C103-02C4-4053-C7E4-39E9DACC7F2F}"/>
                    </a:ext>
                  </a:extLst>
                </p:cNvPr>
                <p:cNvSpPr>
                  <a:spLocks noChangeArrowheads="1"/>
                </p:cNvSpPr>
                <p:nvPr/>
              </p:nvSpPr>
              <p:spPr bwMode="auto">
                <a:xfrm>
                  <a:off x="1226" y="3474"/>
                  <a:ext cx="244"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1,200</a:t>
                  </a:r>
                </a:p>
              </p:txBody>
            </p:sp>
            <p:sp>
              <p:nvSpPr>
                <p:cNvPr id="675" name="Rectangle 651">
                  <a:extLst>
                    <a:ext uri="{FF2B5EF4-FFF2-40B4-BE49-F238E27FC236}">
                      <a16:creationId xmlns:a16="http://schemas.microsoft.com/office/drawing/2014/main" id="{87ACFC9A-3EDB-AF4F-F880-3BD891CB7195}"/>
                    </a:ext>
                  </a:extLst>
                </p:cNvPr>
                <p:cNvSpPr>
                  <a:spLocks noChangeArrowheads="1"/>
                </p:cNvSpPr>
                <p:nvPr/>
              </p:nvSpPr>
              <p:spPr bwMode="auto">
                <a:xfrm>
                  <a:off x="1668" y="3474"/>
                  <a:ext cx="196"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1000" b="0">
                      <a:solidFill>
                        <a:srgbClr val="000000"/>
                      </a:solidFill>
                      <a:latin typeface="Roboto" panose="02000000000000000000" pitchFamily="2" charset="0"/>
                      <a:ea typeface="Roboto" panose="02000000000000000000" pitchFamily="2" charset="0"/>
                    </a:rPr>
                    <a:t>100</a:t>
                  </a:r>
                </a:p>
              </p:txBody>
            </p:sp>
            <p:sp>
              <p:nvSpPr>
                <p:cNvPr id="676" name="Line 652">
                  <a:extLst>
                    <a:ext uri="{FF2B5EF4-FFF2-40B4-BE49-F238E27FC236}">
                      <a16:creationId xmlns:a16="http://schemas.microsoft.com/office/drawing/2014/main" id="{09902B7A-7825-47FB-45EC-C92608F7AEED}"/>
                    </a:ext>
                  </a:extLst>
                </p:cNvPr>
                <p:cNvSpPr>
                  <a:spLocks noChangeShapeType="1"/>
                </p:cNvSpPr>
                <p:nvPr/>
              </p:nvSpPr>
              <p:spPr bwMode="auto">
                <a:xfrm flipV="1">
                  <a:off x="2223" y="181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7" name="Line 653">
                  <a:extLst>
                    <a:ext uri="{FF2B5EF4-FFF2-40B4-BE49-F238E27FC236}">
                      <a16:creationId xmlns:a16="http://schemas.microsoft.com/office/drawing/2014/main" id="{D52DE87E-0E32-7592-D3F5-6ED291C52485}"/>
                    </a:ext>
                  </a:extLst>
                </p:cNvPr>
                <p:cNvSpPr>
                  <a:spLocks noChangeShapeType="1"/>
                </p:cNvSpPr>
                <p:nvPr/>
              </p:nvSpPr>
              <p:spPr bwMode="auto">
                <a:xfrm flipV="1">
                  <a:off x="2227" y="1950"/>
                  <a:ext cx="316"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8" name="Line 654">
                  <a:extLst>
                    <a:ext uri="{FF2B5EF4-FFF2-40B4-BE49-F238E27FC236}">
                      <a16:creationId xmlns:a16="http://schemas.microsoft.com/office/drawing/2014/main" id="{4D7BEC54-D54C-F3D7-559B-526A8081BE48}"/>
                    </a:ext>
                  </a:extLst>
                </p:cNvPr>
                <p:cNvSpPr>
                  <a:spLocks noChangeShapeType="1"/>
                </p:cNvSpPr>
                <p:nvPr/>
              </p:nvSpPr>
              <p:spPr bwMode="auto">
                <a:xfrm flipV="1">
                  <a:off x="2223" y="209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9" name="Line 655">
                  <a:extLst>
                    <a:ext uri="{FF2B5EF4-FFF2-40B4-BE49-F238E27FC236}">
                      <a16:creationId xmlns:a16="http://schemas.microsoft.com/office/drawing/2014/main" id="{D0A3EA70-D094-C965-8D67-2F4E21A1C8C7}"/>
                    </a:ext>
                  </a:extLst>
                </p:cNvPr>
                <p:cNvSpPr>
                  <a:spLocks noChangeShapeType="1"/>
                </p:cNvSpPr>
                <p:nvPr/>
              </p:nvSpPr>
              <p:spPr bwMode="auto">
                <a:xfrm flipV="1">
                  <a:off x="3033" y="2238"/>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0" name="Line 656">
                  <a:extLst>
                    <a:ext uri="{FF2B5EF4-FFF2-40B4-BE49-F238E27FC236}">
                      <a16:creationId xmlns:a16="http://schemas.microsoft.com/office/drawing/2014/main" id="{45262BD0-B983-2029-3624-3C2CC2429F80}"/>
                    </a:ext>
                  </a:extLst>
                </p:cNvPr>
                <p:cNvSpPr>
                  <a:spLocks noChangeShapeType="1"/>
                </p:cNvSpPr>
                <p:nvPr/>
              </p:nvSpPr>
              <p:spPr bwMode="auto">
                <a:xfrm flipV="1">
                  <a:off x="3033" y="2386"/>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1" name="Line 657">
                  <a:extLst>
                    <a:ext uri="{FF2B5EF4-FFF2-40B4-BE49-F238E27FC236}">
                      <a16:creationId xmlns:a16="http://schemas.microsoft.com/office/drawing/2014/main" id="{2ECB7D04-9B51-4EFE-BE0C-E808FC28896F}"/>
                    </a:ext>
                  </a:extLst>
                </p:cNvPr>
                <p:cNvSpPr>
                  <a:spLocks noChangeShapeType="1"/>
                </p:cNvSpPr>
                <p:nvPr/>
              </p:nvSpPr>
              <p:spPr bwMode="auto">
                <a:xfrm flipV="1">
                  <a:off x="3436" y="223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2" name="Line 658">
                  <a:extLst>
                    <a:ext uri="{FF2B5EF4-FFF2-40B4-BE49-F238E27FC236}">
                      <a16:creationId xmlns:a16="http://schemas.microsoft.com/office/drawing/2014/main" id="{58556620-D2C1-F206-B49C-4805B9C02FC1}"/>
                    </a:ext>
                  </a:extLst>
                </p:cNvPr>
                <p:cNvSpPr>
                  <a:spLocks noChangeShapeType="1"/>
                </p:cNvSpPr>
                <p:nvPr/>
              </p:nvSpPr>
              <p:spPr bwMode="auto">
                <a:xfrm flipV="1">
                  <a:off x="3033" y="267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3" name="Line 659">
                  <a:extLst>
                    <a:ext uri="{FF2B5EF4-FFF2-40B4-BE49-F238E27FC236}">
                      <a16:creationId xmlns:a16="http://schemas.microsoft.com/office/drawing/2014/main" id="{D67D95E1-FA6C-6DE5-CF0C-519B618DEC33}"/>
                    </a:ext>
                  </a:extLst>
                </p:cNvPr>
                <p:cNvSpPr>
                  <a:spLocks noChangeShapeType="1"/>
                </p:cNvSpPr>
                <p:nvPr/>
              </p:nvSpPr>
              <p:spPr bwMode="auto">
                <a:xfrm flipV="1">
                  <a:off x="3033" y="281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4" name="Line 660">
                  <a:extLst>
                    <a:ext uri="{FF2B5EF4-FFF2-40B4-BE49-F238E27FC236}">
                      <a16:creationId xmlns:a16="http://schemas.microsoft.com/office/drawing/2014/main" id="{A03E9432-2D8F-494B-B0D6-BD1351A6871F}"/>
                    </a:ext>
                  </a:extLst>
                </p:cNvPr>
                <p:cNvSpPr>
                  <a:spLocks noChangeShapeType="1"/>
                </p:cNvSpPr>
                <p:nvPr/>
              </p:nvSpPr>
              <p:spPr bwMode="auto">
                <a:xfrm flipV="1">
                  <a:off x="3033" y="296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5" name="Line 661">
                  <a:extLst>
                    <a:ext uri="{FF2B5EF4-FFF2-40B4-BE49-F238E27FC236}">
                      <a16:creationId xmlns:a16="http://schemas.microsoft.com/office/drawing/2014/main" id="{FA470386-D8A7-54EB-316B-E3CB2BD3D847}"/>
                    </a:ext>
                  </a:extLst>
                </p:cNvPr>
                <p:cNvSpPr>
                  <a:spLocks noChangeShapeType="1"/>
                </p:cNvSpPr>
                <p:nvPr/>
              </p:nvSpPr>
              <p:spPr bwMode="auto">
                <a:xfrm flipV="1">
                  <a:off x="3436" y="267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 name="Line 662">
                  <a:extLst>
                    <a:ext uri="{FF2B5EF4-FFF2-40B4-BE49-F238E27FC236}">
                      <a16:creationId xmlns:a16="http://schemas.microsoft.com/office/drawing/2014/main" id="{3AA8D7F4-11B8-A822-9402-300E2ACA6855}"/>
                    </a:ext>
                  </a:extLst>
                </p:cNvPr>
                <p:cNvSpPr>
                  <a:spLocks noChangeShapeType="1"/>
                </p:cNvSpPr>
                <p:nvPr/>
              </p:nvSpPr>
              <p:spPr bwMode="auto">
                <a:xfrm flipV="1">
                  <a:off x="3436" y="281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7" name="Line 663">
                  <a:extLst>
                    <a:ext uri="{FF2B5EF4-FFF2-40B4-BE49-F238E27FC236}">
                      <a16:creationId xmlns:a16="http://schemas.microsoft.com/office/drawing/2014/main" id="{00F07335-42ED-8CB1-5049-221640E8D1C4}"/>
                    </a:ext>
                  </a:extLst>
                </p:cNvPr>
                <p:cNvSpPr>
                  <a:spLocks noChangeShapeType="1"/>
                </p:cNvSpPr>
                <p:nvPr/>
              </p:nvSpPr>
              <p:spPr bwMode="auto">
                <a:xfrm flipV="1">
                  <a:off x="3436" y="296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8" name="Line 664">
                  <a:extLst>
                    <a:ext uri="{FF2B5EF4-FFF2-40B4-BE49-F238E27FC236}">
                      <a16:creationId xmlns:a16="http://schemas.microsoft.com/office/drawing/2014/main" id="{62ED6FF0-ECD2-2B20-20D9-3A36527400A6}"/>
                    </a:ext>
                  </a:extLst>
                </p:cNvPr>
                <p:cNvSpPr>
                  <a:spLocks noChangeShapeType="1"/>
                </p:cNvSpPr>
                <p:nvPr/>
              </p:nvSpPr>
              <p:spPr bwMode="auto">
                <a:xfrm flipV="1">
                  <a:off x="3033" y="3102"/>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9" name="Line 665">
                  <a:extLst>
                    <a:ext uri="{FF2B5EF4-FFF2-40B4-BE49-F238E27FC236}">
                      <a16:creationId xmlns:a16="http://schemas.microsoft.com/office/drawing/2014/main" id="{C8814DA3-9D19-6370-C510-873112AF7FF4}"/>
                    </a:ext>
                  </a:extLst>
                </p:cNvPr>
                <p:cNvSpPr>
                  <a:spLocks noChangeShapeType="1"/>
                </p:cNvSpPr>
                <p:nvPr/>
              </p:nvSpPr>
              <p:spPr bwMode="auto">
                <a:xfrm flipV="1">
                  <a:off x="3436" y="3102"/>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0" name="Line 666">
                  <a:extLst>
                    <a:ext uri="{FF2B5EF4-FFF2-40B4-BE49-F238E27FC236}">
                      <a16:creationId xmlns:a16="http://schemas.microsoft.com/office/drawing/2014/main" id="{50953614-2C2F-553B-978D-A4742C11579D}"/>
                    </a:ext>
                  </a:extLst>
                </p:cNvPr>
                <p:cNvSpPr>
                  <a:spLocks noChangeShapeType="1"/>
                </p:cNvSpPr>
                <p:nvPr/>
              </p:nvSpPr>
              <p:spPr bwMode="auto">
                <a:xfrm flipV="1">
                  <a:off x="4661" y="1806"/>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1" name="Line 667">
                  <a:extLst>
                    <a:ext uri="{FF2B5EF4-FFF2-40B4-BE49-F238E27FC236}">
                      <a16:creationId xmlns:a16="http://schemas.microsoft.com/office/drawing/2014/main" id="{F306F1C7-E206-7CA3-9CEF-DACD77EE5D26}"/>
                    </a:ext>
                  </a:extLst>
                </p:cNvPr>
                <p:cNvSpPr>
                  <a:spLocks noChangeShapeType="1"/>
                </p:cNvSpPr>
                <p:nvPr/>
              </p:nvSpPr>
              <p:spPr bwMode="auto">
                <a:xfrm flipV="1">
                  <a:off x="4661" y="1954"/>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2" name="Line 668">
                  <a:extLst>
                    <a:ext uri="{FF2B5EF4-FFF2-40B4-BE49-F238E27FC236}">
                      <a16:creationId xmlns:a16="http://schemas.microsoft.com/office/drawing/2014/main" id="{BF18C20B-604B-5EFA-9D01-35927FB9E7C7}"/>
                    </a:ext>
                  </a:extLst>
                </p:cNvPr>
                <p:cNvSpPr>
                  <a:spLocks noChangeShapeType="1"/>
                </p:cNvSpPr>
                <p:nvPr/>
              </p:nvSpPr>
              <p:spPr bwMode="auto">
                <a:xfrm flipV="1">
                  <a:off x="4661" y="2096"/>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3" name="Line 669">
                  <a:extLst>
                    <a:ext uri="{FF2B5EF4-FFF2-40B4-BE49-F238E27FC236}">
                      <a16:creationId xmlns:a16="http://schemas.microsoft.com/office/drawing/2014/main" id="{067C1CAD-6D62-7975-1EE7-057C022952FE}"/>
                    </a:ext>
                  </a:extLst>
                </p:cNvPr>
                <p:cNvSpPr>
                  <a:spLocks noChangeShapeType="1"/>
                </p:cNvSpPr>
                <p:nvPr/>
              </p:nvSpPr>
              <p:spPr bwMode="auto">
                <a:xfrm flipV="1">
                  <a:off x="4657" y="223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4" name="Line 670">
                  <a:extLst>
                    <a:ext uri="{FF2B5EF4-FFF2-40B4-BE49-F238E27FC236}">
                      <a16:creationId xmlns:a16="http://schemas.microsoft.com/office/drawing/2014/main" id="{D9629BBF-F59E-2187-8336-298351D629D6}"/>
                    </a:ext>
                  </a:extLst>
                </p:cNvPr>
                <p:cNvSpPr>
                  <a:spLocks noChangeShapeType="1"/>
                </p:cNvSpPr>
                <p:nvPr/>
              </p:nvSpPr>
              <p:spPr bwMode="auto">
                <a:xfrm flipV="1">
                  <a:off x="4657" y="2384"/>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5" name="Line 671">
                  <a:extLst>
                    <a:ext uri="{FF2B5EF4-FFF2-40B4-BE49-F238E27FC236}">
                      <a16:creationId xmlns:a16="http://schemas.microsoft.com/office/drawing/2014/main" id="{3184C774-F9D3-6F29-D215-8977E1F2893A}"/>
                    </a:ext>
                  </a:extLst>
                </p:cNvPr>
                <p:cNvSpPr>
                  <a:spLocks noChangeShapeType="1"/>
                </p:cNvSpPr>
                <p:nvPr/>
              </p:nvSpPr>
              <p:spPr bwMode="auto">
                <a:xfrm flipV="1">
                  <a:off x="4657" y="2674"/>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 name="Line 672">
                  <a:extLst>
                    <a:ext uri="{FF2B5EF4-FFF2-40B4-BE49-F238E27FC236}">
                      <a16:creationId xmlns:a16="http://schemas.microsoft.com/office/drawing/2014/main" id="{42C66FB2-6B67-BBF3-9B19-96D3744632DF}"/>
                    </a:ext>
                  </a:extLst>
                </p:cNvPr>
                <p:cNvSpPr>
                  <a:spLocks noChangeShapeType="1"/>
                </p:cNvSpPr>
                <p:nvPr/>
              </p:nvSpPr>
              <p:spPr bwMode="auto">
                <a:xfrm flipV="1">
                  <a:off x="4657" y="2818"/>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 name="Line 673">
                  <a:extLst>
                    <a:ext uri="{FF2B5EF4-FFF2-40B4-BE49-F238E27FC236}">
                      <a16:creationId xmlns:a16="http://schemas.microsoft.com/office/drawing/2014/main" id="{8426705A-A49C-6BEB-00D1-C3AE5C73F346}"/>
                    </a:ext>
                  </a:extLst>
                </p:cNvPr>
                <p:cNvSpPr>
                  <a:spLocks noChangeShapeType="1"/>
                </p:cNvSpPr>
                <p:nvPr/>
              </p:nvSpPr>
              <p:spPr bwMode="auto">
                <a:xfrm flipV="1">
                  <a:off x="4657" y="2960"/>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8" name="Line 674">
                  <a:extLst>
                    <a:ext uri="{FF2B5EF4-FFF2-40B4-BE49-F238E27FC236}">
                      <a16:creationId xmlns:a16="http://schemas.microsoft.com/office/drawing/2014/main" id="{61B407AF-5E76-6CEA-E93C-69D15666B59F}"/>
                    </a:ext>
                  </a:extLst>
                </p:cNvPr>
                <p:cNvSpPr>
                  <a:spLocks noChangeShapeType="1"/>
                </p:cNvSpPr>
                <p:nvPr/>
              </p:nvSpPr>
              <p:spPr bwMode="auto">
                <a:xfrm flipV="1">
                  <a:off x="4657" y="3106"/>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9" name="Line 675">
                  <a:extLst>
                    <a:ext uri="{FF2B5EF4-FFF2-40B4-BE49-F238E27FC236}">
                      <a16:creationId xmlns:a16="http://schemas.microsoft.com/office/drawing/2014/main" id="{8F9DB3FC-F9CC-0427-9084-D27B5DAB469D}"/>
                    </a:ext>
                  </a:extLst>
                </p:cNvPr>
                <p:cNvSpPr>
                  <a:spLocks noChangeShapeType="1"/>
                </p:cNvSpPr>
                <p:nvPr/>
              </p:nvSpPr>
              <p:spPr bwMode="auto">
                <a:xfrm>
                  <a:off x="3444" y="2382"/>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0" name="Line 676">
                  <a:extLst>
                    <a:ext uri="{FF2B5EF4-FFF2-40B4-BE49-F238E27FC236}">
                      <a16:creationId xmlns:a16="http://schemas.microsoft.com/office/drawing/2014/main" id="{629F6DA0-8408-3FEC-E91D-84CC1556F77A}"/>
                    </a:ext>
                  </a:extLst>
                </p:cNvPr>
                <p:cNvSpPr>
                  <a:spLocks noChangeShapeType="1"/>
                </p:cNvSpPr>
                <p:nvPr/>
              </p:nvSpPr>
              <p:spPr bwMode="auto">
                <a:xfrm>
                  <a:off x="3843" y="2674"/>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1" name="Line 677">
                  <a:extLst>
                    <a:ext uri="{FF2B5EF4-FFF2-40B4-BE49-F238E27FC236}">
                      <a16:creationId xmlns:a16="http://schemas.microsoft.com/office/drawing/2014/main" id="{6785970D-D24B-8E49-C8BC-062F1E7F7D1E}"/>
                    </a:ext>
                  </a:extLst>
                </p:cNvPr>
                <p:cNvSpPr>
                  <a:spLocks noChangeShapeType="1"/>
                </p:cNvSpPr>
                <p:nvPr/>
              </p:nvSpPr>
              <p:spPr bwMode="auto">
                <a:xfrm>
                  <a:off x="3847" y="2814"/>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2" name="Line 678">
                  <a:extLst>
                    <a:ext uri="{FF2B5EF4-FFF2-40B4-BE49-F238E27FC236}">
                      <a16:creationId xmlns:a16="http://schemas.microsoft.com/office/drawing/2014/main" id="{A1A578AB-CFFB-78E2-2E50-141CD5914494}"/>
                    </a:ext>
                  </a:extLst>
                </p:cNvPr>
                <p:cNvSpPr>
                  <a:spLocks noChangeShapeType="1"/>
                </p:cNvSpPr>
                <p:nvPr/>
              </p:nvSpPr>
              <p:spPr bwMode="auto">
                <a:xfrm>
                  <a:off x="3843" y="2966"/>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3" name="Line 679">
                  <a:extLst>
                    <a:ext uri="{FF2B5EF4-FFF2-40B4-BE49-F238E27FC236}">
                      <a16:creationId xmlns:a16="http://schemas.microsoft.com/office/drawing/2014/main" id="{0D7EB3D0-C5CA-63BF-39CB-29A516A47203}"/>
                    </a:ext>
                  </a:extLst>
                </p:cNvPr>
                <p:cNvSpPr>
                  <a:spLocks noChangeShapeType="1"/>
                </p:cNvSpPr>
                <p:nvPr/>
              </p:nvSpPr>
              <p:spPr bwMode="auto">
                <a:xfrm>
                  <a:off x="3847" y="310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4" name="Line 680">
                  <a:extLst>
                    <a:ext uri="{FF2B5EF4-FFF2-40B4-BE49-F238E27FC236}">
                      <a16:creationId xmlns:a16="http://schemas.microsoft.com/office/drawing/2014/main" id="{7E9C4476-D445-CBB8-4E3B-B8B4A0D683CB}"/>
                    </a:ext>
                  </a:extLst>
                </p:cNvPr>
                <p:cNvSpPr>
                  <a:spLocks noChangeShapeType="1"/>
                </p:cNvSpPr>
                <p:nvPr/>
              </p:nvSpPr>
              <p:spPr bwMode="auto">
                <a:xfrm>
                  <a:off x="2219" y="2674"/>
                  <a:ext cx="724"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5" name="Line 681">
                  <a:extLst>
                    <a:ext uri="{FF2B5EF4-FFF2-40B4-BE49-F238E27FC236}">
                      <a16:creationId xmlns:a16="http://schemas.microsoft.com/office/drawing/2014/main" id="{F923675D-AE49-14CE-8D0C-EBAF1A63AE15}"/>
                    </a:ext>
                  </a:extLst>
                </p:cNvPr>
                <p:cNvSpPr>
                  <a:spLocks noChangeShapeType="1"/>
                </p:cNvSpPr>
                <p:nvPr/>
              </p:nvSpPr>
              <p:spPr bwMode="auto">
                <a:xfrm>
                  <a:off x="2223" y="2814"/>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6" name="Line 682">
                  <a:extLst>
                    <a:ext uri="{FF2B5EF4-FFF2-40B4-BE49-F238E27FC236}">
                      <a16:creationId xmlns:a16="http://schemas.microsoft.com/office/drawing/2014/main" id="{A966CF09-32FF-9EF1-D858-24E5BB15C93D}"/>
                    </a:ext>
                  </a:extLst>
                </p:cNvPr>
                <p:cNvSpPr>
                  <a:spLocks noChangeShapeType="1"/>
                </p:cNvSpPr>
                <p:nvPr/>
              </p:nvSpPr>
              <p:spPr bwMode="auto">
                <a:xfrm>
                  <a:off x="2219" y="2966"/>
                  <a:ext cx="724"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7" name="Line 683">
                  <a:extLst>
                    <a:ext uri="{FF2B5EF4-FFF2-40B4-BE49-F238E27FC236}">
                      <a16:creationId xmlns:a16="http://schemas.microsoft.com/office/drawing/2014/main" id="{4A608421-AAE3-3FCD-97BC-7972EE1B5AF7}"/>
                    </a:ext>
                  </a:extLst>
                </p:cNvPr>
                <p:cNvSpPr>
                  <a:spLocks noChangeShapeType="1"/>
                </p:cNvSpPr>
                <p:nvPr/>
              </p:nvSpPr>
              <p:spPr bwMode="auto">
                <a:xfrm>
                  <a:off x="2223" y="310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8" name="Line 684">
                  <a:extLst>
                    <a:ext uri="{FF2B5EF4-FFF2-40B4-BE49-F238E27FC236}">
                      <a16:creationId xmlns:a16="http://schemas.microsoft.com/office/drawing/2014/main" id="{9A1B2638-E42D-6F97-B6B5-9129F15E4215}"/>
                    </a:ext>
                  </a:extLst>
                </p:cNvPr>
                <p:cNvSpPr>
                  <a:spLocks noChangeShapeType="1"/>
                </p:cNvSpPr>
                <p:nvPr/>
              </p:nvSpPr>
              <p:spPr bwMode="auto">
                <a:xfrm>
                  <a:off x="2227" y="224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09" name="Line 685">
                  <a:extLst>
                    <a:ext uri="{FF2B5EF4-FFF2-40B4-BE49-F238E27FC236}">
                      <a16:creationId xmlns:a16="http://schemas.microsoft.com/office/drawing/2014/main" id="{C2707D4E-F1DF-65D3-4062-583AF8F17F8B}"/>
                    </a:ext>
                  </a:extLst>
                </p:cNvPr>
                <p:cNvSpPr>
                  <a:spLocks noChangeShapeType="1"/>
                </p:cNvSpPr>
                <p:nvPr/>
              </p:nvSpPr>
              <p:spPr bwMode="auto">
                <a:xfrm>
                  <a:off x="2223" y="2390"/>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0" name="Line 686">
                  <a:extLst>
                    <a:ext uri="{FF2B5EF4-FFF2-40B4-BE49-F238E27FC236}">
                      <a16:creationId xmlns:a16="http://schemas.microsoft.com/office/drawing/2014/main" id="{DCCDED94-FB11-FBF8-8666-FEEC8717BCF1}"/>
                    </a:ext>
                  </a:extLst>
                </p:cNvPr>
                <p:cNvSpPr>
                  <a:spLocks noChangeShapeType="1"/>
                </p:cNvSpPr>
                <p:nvPr/>
              </p:nvSpPr>
              <p:spPr bwMode="auto">
                <a:xfrm>
                  <a:off x="3037" y="1956"/>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1" name="Line 687">
                  <a:extLst>
                    <a:ext uri="{FF2B5EF4-FFF2-40B4-BE49-F238E27FC236}">
                      <a16:creationId xmlns:a16="http://schemas.microsoft.com/office/drawing/2014/main" id="{DEFD790D-D897-D687-355B-54B81F9C1272}"/>
                    </a:ext>
                  </a:extLst>
                </p:cNvPr>
                <p:cNvSpPr>
                  <a:spLocks noChangeShapeType="1"/>
                </p:cNvSpPr>
                <p:nvPr/>
              </p:nvSpPr>
              <p:spPr bwMode="auto">
                <a:xfrm>
                  <a:off x="3033" y="2098"/>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2" name="Line 688">
                  <a:extLst>
                    <a:ext uri="{FF2B5EF4-FFF2-40B4-BE49-F238E27FC236}">
                      <a16:creationId xmlns:a16="http://schemas.microsoft.com/office/drawing/2014/main" id="{1A7E274B-EC3B-1F2C-780B-270C88DF5986}"/>
                    </a:ext>
                  </a:extLst>
                </p:cNvPr>
                <p:cNvSpPr>
                  <a:spLocks noChangeShapeType="1"/>
                </p:cNvSpPr>
                <p:nvPr/>
              </p:nvSpPr>
              <p:spPr bwMode="auto">
                <a:xfrm flipV="1">
                  <a:off x="2630" y="1946"/>
                  <a:ext cx="317" cy="6"/>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3" name="Line 689">
                  <a:extLst>
                    <a:ext uri="{FF2B5EF4-FFF2-40B4-BE49-F238E27FC236}">
                      <a16:creationId xmlns:a16="http://schemas.microsoft.com/office/drawing/2014/main" id="{42E2D1F2-495E-687F-8BFD-B6DE80D9DB39}"/>
                    </a:ext>
                  </a:extLst>
                </p:cNvPr>
                <p:cNvSpPr>
                  <a:spLocks noChangeShapeType="1"/>
                </p:cNvSpPr>
                <p:nvPr/>
              </p:nvSpPr>
              <p:spPr bwMode="auto">
                <a:xfrm flipV="1">
                  <a:off x="2626" y="2094"/>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4" name="Line 690">
                  <a:extLst>
                    <a:ext uri="{FF2B5EF4-FFF2-40B4-BE49-F238E27FC236}">
                      <a16:creationId xmlns:a16="http://schemas.microsoft.com/office/drawing/2014/main" id="{3A8BD539-7175-B984-1A17-418309EEB991}"/>
                    </a:ext>
                  </a:extLst>
                </p:cNvPr>
                <p:cNvSpPr>
                  <a:spLocks noChangeShapeType="1"/>
                </p:cNvSpPr>
                <p:nvPr/>
              </p:nvSpPr>
              <p:spPr bwMode="auto">
                <a:xfrm>
                  <a:off x="3033" y="1814"/>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5" name="Line 691">
                  <a:extLst>
                    <a:ext uri="{FF2B5EF4-FFF2-40B4-BE49-F238E27FC236}">
                      <a16:creationId xmlns:a16="http://schemas.microsoft.com/office/drawing/2014/main" id="{C8B5127C-1D5E-E4BF-FD07-7BC862119053}"/>
                    </a:ext>
                  </a:extLst>
                </p:cNvPr>
                <p:cNvSpPr>
                  <a:spLocks noChangeShapeType="1"/>
                </p:cNvSpPr>
                <p:nvPr/>
              </p:nvSpPr>
              <p:spPr bwMode="auto">
                <a:xfrm flipV="1">
                  <a:off x="2626" y="1806"/>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6" name="Line 692">
                  <a:extLst>
                    <a:ext uri="{FF2B5EF4-FFF2-40B4-BE49-F238E27FC236}">
                      <a16:creationId xmlns:a16="http://schemas.microsoft.com/office/drawing/2014/main" id="{214A8424-83F5-2A05-9FC9-E0DE086C939B}"/>
                    </a:ext>
                  </a:extLst>
                </p:cNvPr>
                <p:cNvSpPr>
                  <a:spLocks noChangeShapeType="1"/>
                </p:cNvSpPr>
                <p:nvPr/>
              </p:nvSpPr>
              <p:spPr bwMode="auto">
                <a:xfrm>
                  <a:off x="3851" y="1956"/>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7" name="Line 693">
                  <a:extLst>
                    <a:ext uri="{FF2B5EF4-FFF2-40B4-BE49-F238E27FC236}">
                      <a16:creationId xmlns:a16="http://schemas.microsoft.com/office/drawing/2014/main" id="{C7E4C0DE-5400-F057-F51A-233E2F72896A}"/>
                    </a:ext>
                  </a:extLst>
                </p:cNvPr>
                <p:cNvSpPr>
                  <a:spLocks noChangeShapeType="1"/>
                </p:cNvSpPr>
                <p:nvPr/>
              </p:nvSpPr>
              <p:spPr bwMode="auto">
                <a:xfrm>
                  <a:off x="3847" y="209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8" name="Line 694">
                  <a:extLst>
                    <a:ext uri="{FF2B5EF4-FFF2-40B4-BE49-F238E27FC236}">
                      <a16:creationId xmlns:a16="http://schemas.microsoft.com/office/drawing/2014/main" id="{A1762A30-C0A5-1894-0D12-5748C758F93C}"/>
                    </a:ext>
                  </a:extLst>
                </p:cNvPr>
                <p:cNvSpPr>
                  <a:spLocks noChangeShapeType="1"/>
                </p:cNvSpPr>
                <p:nvPr/>
              </p:nvSpPr>
              <p:spPr bwMode="auto">
                <a:xfrm>
                  <a:off x="3847" y="1814"/>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19" name="Line 695">
                  <a:extLst>
                    <a:ext uri="{FF2B5EF4-FFF2-40B4-BE49-F238E27FC236}">
                      <a16:creationId xmlns:a16="http://schemas.microsoft.com/office/drawing/2014/main" id="{D7E6388E-B83E-FF8C-9AE5-F981D7A247BB}"/>
                    </a:ext>
                  </a:extLst>
                </p:cNvPr>
                <p:cNvSpPr>
                  <a:spLocks noChangeShapeType="1"/>
                </p:cNvSpPr>
                <p:nvPr/>
              </p:nvSpPr>
              <p:spPr bwMode="auto">
                <a:xfrm>
                  <a:off x="3843" y="2244"/>
                  <a:ext cx="726"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0" name="Line 696">
                  <a:extLst>
                    <a:ext uri="{FF2B5EF4-FFF2-40B4-BE49-F238E27FC236}">
                      <a16:creationId xmlns:a16="http://schemas.microsoft.com/office/drawing/2014/main" id="{9D208249-ED7B-7647-E259-024BC58AFB8B}"/>
                    </a:ext>
                  </a:extLst>
                </p:cNvPr>
                <p:cNvSpPr>
                  <a:spLocks noChangeShapeType="1"/>
                </p:cNvSpPr>
                <p:nvPr/>
              </p:nvSpPr>
              <p:spPr bwMode="auto">
                <a:xfrm flipV="1">
                  <a:off x="3847" y="2388"/>
                  <a:ext cx="328" cy="11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1" name="Line 697">
                  <a:extLst>
                    <a:ext uri="{FF2B5EF4-FFF2-40B4-BE49-F238E27FC236}">
                      <a16:creationId xmlns:a16="http://schemas.microsoft.com/office/drawing/2014/main" id="{6E6EDC4D-38BA-95B5-E4BB-42A1A3D28945}"/>
                    </a:ext>
                  </a:extLst>
                </p:cNvPr>
                <p:cNvSpPr>
                  <a:spLocks noChangeShapeType="1"/>
                </p:cNvSpPr>
                <p:nvPr/>
              </p:nvSpPr>
              <p:spPr bwMode="auto">
                <a:xfrm flipV="1">
                  <a:off x="3847" y="2382"/>
                  <a:ext cx="731" cy="12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2" name="Line 698">
                  <a:extLst>
                    <a:ext uri="{FF2B5EF4-FFF2-40B4-BE49-F238E27FC236}">
                      <a16:creationId xmlns:a16="http://schemas.microsoft.com/office/drawing/2014/main" id="{2B61CA4D-9634-2000-9ECD-D0B30660536F}"/>
                    </a:ext>
                  </a:extLst>
                </p:cNvPr>
                <p:cNvSpPr>
                  <a:spLocks noChangeShapeType="1"/>
                </p:cNvSpPr>
                <p:nvPr/>
              </p:nvSpPr>
              <p:spPr bwMode="auto">
                <a:xfrm flipV="1">
                  <a:off x="3041" y="3259"/>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3" name="Line 699">
                  <a:extLst>
                    <a:ext uri="{FF2B5EF4-FFF2-40B4-BE49-F238E27FC236}">
                      <a16:creationId xmlns:a16="http://schemas.microsoft.com/office/drawing/2014/main" id="{B96B1A53-DE73-D118-A963-352814A8150F}"/>
                    </a:ext>
                  </a:extLst>
                </p:cNvPr>
                <p:cNvSpPr>
                  <a:spLocks noChangeShapeType="1"/>
                </p:cNvSpPr>
                <p:nvPr/>
              </p:nvSpPr>
              <p:spPr bwMode="auto">
                <a:xfrm flipV="1">
                  <a:off x="3440" y="3259"/>
                  <a:ext cx="317"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4" name="Line 700">
                  <a:extLst>
                    <a:ext uri="{FF2B5EF4-FFF2-40B4-BE49-F238E27FC236}">
                      <a16:creationId xmlns:a16="http://schemas.microsoft.com/office/drawing/2014/main" id="{95A00159-78F8-0D91-EE82-61A6A286D563}"/>
                    </a:ext>
                  </a:extLst>
                </p:cNvPr>
                <p:cNvSpPr>
                  <a:spLocks noChangeShapeType="1"/>
                </p:cNvSpPr>
                <p:nvPr/>
              </p:nvSpPr>
              <p:spPr bwMode="auto">
                <a:xfrm flipV="1">
                  <a:off x="4663" y="3259"/>
                  <a:ext cx="316" cy="4"/>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5" name="Line 701">
                  <a:extLst>
                    <a:ext uri="{FF2B5EF4-FFF2-40B4-BE49-F238E27FC236}">
                      <a16:creationId xmlns:a16="http://schemas.microsoft.com/office/drawing/2014/main" id="{0485952D-7BDA-EC3D-7835-79DD2F88B44E}"/>
                    </a:ext>
                  </a:extLst>
                </p:cNvPr>
                <p:cNvSpPr>
                  <a:spLocks noChangeShapeType="1"/>
                </p:cNvSpPr>
                <p:nvPr/>
              </p:nvSpPr>
              <p:spPr bwMode="auto">
                <a:xfrm>
                  <a:off x="3851" y="3261"/>
                  <a:ext cx="723"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6" name="Line 702">
                  <a:extLst>
                    <a:ext uri="{FF2B5EF4-FFF2-40B4-BE49-F238E27FC236}">
                      <a16:creationId xmlns:a16="http://schemas.microsoft.com/office/drawing/2014/main" id="{DBC6EFEB-C6A3-EAE5-14CA-56D853ED0786}"/>
                    </a:ext>
                  </a:extLst>
                </p:cNvPr>
                <p:cNvSpPr>
                  <a:spLocks noChangeShapeType="1"/>
                </p:cNvSpPr>
                <p:nvPr/>
              </p:nvSpPr>
              <p:spPr bwMode="auto">
                <a:xfrm>
                  <a:off x="2223" y="3108"/>
                  <a:ext cx="725"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27" name="Line 703">
                  <a:extLst>
                    <a:ext uri="{FF2B5EF4-FFF2-40B4-BE49-F238E27FC236}">
                      <a16:creationId xmlns:a16="http://schemas.microsoft.com/office/drawing/2014/main" id="{7D1BD2AD-CD62-B696-22B2-F1E6F345B192}"/>
                    </a:ext>
                  </a:extLst>
                </p:cNvPr>
                <p:cNvSpPr>
                  <a:spLocks noChangeShapeType="1"/>
                </p:cNvSpPr>
                <p:nvPr/>
              </p:nvSpPr>
              <p:spPr bwMode="auto">
                <a:xfrm>
                  <a:off x="2229" y="3261"/>
                  <a:ext cx="723"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728" name="AutoShape 705">
                <a:extLst>
                  <a:ext uri="{FF2B5EF4-FFF2-40B4-BE49-F238E27FC236}">
                    <a16:creationId xmlns:a16="http://schemas.microsoft.com/office/drawing/2014/main" id="{F5BB6D51-116E-6AD8-7F43-75B6E28A1770}"/>
                  </a:ext>
                </a:extLst>
              </p:cNvPr>
              <p:cNvSpPr>
                <a:spLocks noChangeArrowheads="1"/>
              </p:cNvSpPr>
              <p:nvPr/>
            </p:nvSpPr>
            <p:spPr bwMode="auto">
              <a:xfrm>
                <a:off x="1817213" y="2206692"/>
                <a:ext cx="708383" cy="1342958"/>
              </a:xfrm>
              <a:prstGeom prst="roundRect">
                <a:avLst>
                  <a:gd name="adj" fmla="val 16667"/>
                </a:avLst>
              </a:prstGeom>
              <a:noFill/>
              <a:ln w="28575" cap="sq">
                <a:solidFill>
                  <a:schemeClr val="accent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endParaRPr lang="en-US" altLang="en-US" sz="1400" b="0">
                  <a:solidFill>
                    <a:schemeClr val="tx1"/>
                  </a:solidFill>
                </a:endParaRPr>
              </a:p>
            </p:txBody>
          </p:sp>
          <p:sp>
            <p:nvSpPr>
              <p:cNvPr id="729" name="Text Box 706">
                <a:extLst>
                  <a:ext uri="{FF2B5EF4-FFF2-40B4-BE49-F238E27FC236}">
                    <a16:creationId xmlns:a16="http://schemas.microsoft.com/office/drawing/2014/main" id="{8A25F916-4565-CA85-EAD8-2D13278D3AED}"/>
                  </a:ext>
                </a:extLst>
              </p:cNvPr>
              <p:cNvSpPr txBox="1">
                <a:spLocks noChangeArrowheads="1"/>
              </p:cNvSpPr>
              <p:nvPr/>
            </p:nvSpPr>
            <p:spPr bwMode="auto">
              <a:xfrm>
                <a:off x="-432789" y="2722035"/>
                <a:ext cx="723213" cy="8574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accent1"/>
                    </a:solidFill>
                    <a:latin typeface="Roboto" panose="02000000000000000000" pitchFamily="2" charset="0"/>
                    <a:ea typeface="Roboto" panose="02000000000000000000" pitchFamily="2" charset="0"/>
                  </a:rPr>
                  <a:t>Defined Product Family</a:t>
                </a:r>
              </a:p>
            </p:txBody>
          </p:sp>
        </p:grpSp>
        <p:sp>
          <p:nvSpPr>
            <p:cNvPr id="731" name="Text Box 704">
              <a:extLst>
                <a:ext uri="{FF2B5EF4-FFF2-40B4-BE49-F238E27FC236}">
                  <a16:creationId xmlns:a16="http://schemas.microsoft.com/office/drawing/2014/main" id="{18C3E99F-5BFE-9102-F9A1-E33185C4F055}"/>
                </a:ext>
              </a:extLst>
            </p:cNvPr>
            <p:cNvSpPr txBox="1">
              <a:spLocks noChangeArrowheads="1"/>
            </p:cNvSpPr>
            <p:nvPr/>
          </p:nvSpPr>
          <p:spPr bwMode="auto">
            <a:xfrm>
              <a:off x="-281974" y="1428223"/>
              <a:ext cx="6777339" cy="900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1600" dirty="0">
                  <a:solidFill>
                    <a:schemeClr val="tx1"/>
                  </a:solidFill>
                  <a:latin typeface="Roboto" panose="02000000000000000000" pitchFamily="2" charset="0"/>
                  <a:ea typeface="Roboto" panose="02000000000000000000" pitchFamily="2" charset="0"/>
                </a:rPr>
                <a:t>The aggregate demand for all products within the product family will be used to calculate the Takt time* for the value stream</a:t>
              </a:r>
            </a:p>
            <a:p>
              <a:pPr algn="l" eaLnBrk="1" hangingPunct="1">
                <a:lnSpc>
                  <a:spcPct val="100000"/>
                </a:lnSpc>
                <a:spcBef>
                  <a:spcPct val="0"/>
                </a:spcBef>
              </a:pPr>
              <a:endParaRPr lang="en-US" altLang="en-US" sz="1600" dirty="0">
                <a:solidFill>
                  <a:schemeClr val="tx1"/>
                </a:solidFill>
                <a:latin typeface="Roboto" panose="02000000000000000000" pitchFamily="2" charset="0"/>
                <a:ea typeface="Roboto" panose="02000000000000000000" pitchFamily="2" charset="0"/>
              </a:endParaRPr>
            </a:p>
          </p:txBody>
        </p:sp>
      </p:grpSp>
      <p:sp>
        <p:nvSpPr>
          <p:cNvPr id="13" name="AutoShape 706">
            <a:extLst>
              <a:ext uri="{FF2B5EF4-FFF2-40B4-BE49-F238E27FC236}">
                <a16:creationId xmlns:a16="http://schemas.microsoft.com/office/drawing/2014/main" id="{6D9C1441-6BC9-AC68-C0C8-C41429DC503A}"/>
              </a:ext>
            </a:extLst>
          </p:cNvPr>
          <p:cNvSpPr>
            <a:spLocks/>
          </p:cNvSpPr>
          <p:nvPr/>
        </p:nvSpPr>
        <p:spPr bwMode="auto">
          <a:xfrm>
            <a:off x="997915" y="2931414"/>
            <a:ext cx="165100" cy="706437"/>
          </a:xfrm>
          <a:prstGeom prst="leftBrace">
            <a:avLst>
              <a:gd name="adj1" fmla="val 35657"/>
              <a:gd name="adj2" fmla="val 50000"/>
            </a:avLst>
          </a:prstGeom>
          <a:noFill/>
          <a:ln w="28575" cap="sq">
            <a:solidFill>
              <a:schemeClr val="accent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 name="Text Box 717">
            <a:extLst>
              <a:ext uri="{FF2B5EF4-FFF2-40B4-BE49-F238E27FC236}">
                <a16:creationId xmlns:a16="http://schemas.microsoft.com/office/drawing/2014/main" id="{A24A0544-240E-890A-CE2C-C8B418F2D0F1}"/>
              </a:ext>
            </a:extLst>
          </p:cNvPr>
          <p:cNvSpPr txBox="1">
            <a:spLocks noChangeArrowheads="1"/>
          </p:cNvSpPr>
          <p:nvPr/>
        </p:nvSpPr>
        <p:spPr bwMode="auto">
          <a:xfrm>
            <a:off x="357188" y="6018213"/>
            <a:ext cx="52148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0800" cmpd="dbl">
                <a:solidFill>
                  <a:srgbClr val="000000"/>
                </a:solidFill>
                <a:miter lim="800000"/>
                <a:headEnd/>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i="1" dirty="0">
                <a:solidFill>
                  <a:schemeClr val="tx1"/>
                </a:solidFill>
                <a:latin typeface="Roboto" panose="02000000000000000000" pitchFamily="2" charset="0"/>
                <a:ea typeface="Roboto" panose="02000000000000000000" pitchFamily="2" charset="0"/>
              </a:rPr>
              <a:t>* Takt time = rate at which one product needs to be produced to meet aggregate customer demand</a:t>
            </a:r>
          </a:p>
        </p:txBody>
      </p:sp>
    </p:spTree>
    <p:extLst>
      <p:ext uri="{BB962C8B-B14F-4D97-AF65-F5344CB8AC3E}">
        <p14:creationId xmlns:p14="http://schemas.microsoft.com/office/powerpoint/2010/main" val="260359854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sz="4000" dirty="0"/>
              <a:t>Determine the Boundaries of the Value Stream</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19</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pSp>
        <p:nvGrpSpPr>
          <p:cNvPr id="29" name="Group 28">
            <a:extLst>
              <a:ext uri="{FF2B5EF4-FFF2-40B4-BE49-F238E27FC236}">
                <a16:creationId xmlns:a16="http://schemas.microsoft.com/office/drawing/2014/main" id="{ECA727FA-4B52-8C62-2B11-B256F6CF7D70}"/>
              </a:ext>
            </a:extLst>
          </p:cNvPr>
          <p:cNvGrpSpPr/>
          <p:nvPr/>
        </p:nvGrpSpPr>
        <p:grpSpPr>
          <a:xfrm>
            <a:off x="1956435" y="1998663"/>
            <a:ext cx="8279130" cy="3807777"/>
            <a:chOff x="1447800" y="1998663"/>
            <a:chExt cx="6248400" cy="3030537"/>
          </a:xfrm>
        </p:grpSpPr>
        <p:sp>
          <p:nvSpPr>
            <p:cNvPr id="24" name="Freeform 3">
              <a:extLst>
                <a:ext uri="{FF2B5EF4-FFF2-40B4-BE49-F238E27FC236}">
                  <a16:creationId xmlns:a16="http://schemas.microsoft.com/office/drawing/2014/main" id="{586F2EFF-B27D-D696-44A0-494915811C25}"/>
                </a:ext>
              </a:extLst>
            </p:cNvPr>
            <p:cNvSpPr>
              <a:spLocks/>
            </p:cNvSpPr>
            <p:nvPr/>
          </p:nvSpPr>
          <p:spPr bwMode="auto">
            <a:xfrm>
              <a:off x="2755900" y="1998663"/>
              <a:ext cx="4940300" cy="3030537"/>
            </a:xfrm>
            <a:custGeom>
              <a:avLst/>
              <a:gdLst>
                <a:gd name="T0" fmla="*/ 2147483646 w 2092"/>
                <a:gd name="T1" fmla="*/ 2147483646 h 1668"/>
                <a:gd name="T2" fmla="*/ 2147483646 w 2092"/>
                <a:gd name="T3" fmla="*/ 2147483646 h 1668"/>
                <a:gd name="T4" fmla="*/ 2147483646 w 2092"/>
                <a:gd name="T5" fmla="*/ 2135754599 h 1668"/>
                <a:gd name="T6" fmla="*/ 2147483646 w 2092"/>
                <a:gd name="T7" fmla="*/ 1944296609 h 1668"/>
                <a:gd name="T8" fmla="*/ 2147483646 w 2092"/>
                <a:gd name="T9" fmla="*/ 1723127364 h 1668"/>
                <a:gd name="T10" fmla="*/ 2147483646 w 2092"/>
                <a:gd name="T11" fmla="*/ 1495359253 h 1668"/>
                <a:gd name="T12" fmla="*/ 2147483646 w 2092"/>
                <a:gd name="T13" fmla="*/ 1320403881 h 1668"/>
                <a:gd name="T14" fmla="*/ 2147483646 w 2092"/>
                <a:gd name="T15" fmla="*/ 1092635769 h 1668"/>
                <a:gd name="T16" fmla="*/ 2147483646 w 2092"/>
                <a:gd name="T17" fmla="*/ 953992335 h 1668"/>
                <a:gd name="T18" fmla="*/ 2147483646 w 2092"/>
                <a:gd name="T19" fmla="*/ 792241965 h 1668"/>
                <a:gd name="T20" fmla="*/ 2147483646 w 2092"/>
                <a:gd name="T21" fmla="*/ 673406034 h 1668"/>
                <a:gd name="T22" fmla="*/ 2147483646 w 2092"/>
                <a:gd name="T23" fmla="*/ 557871353 h 1668"/>
                <a:gd name="T24" fmla="*/ 2147483646 w 2092"/>
                <a:gd name="T25" fmla="*/ 485249294 h 1668"/>
                <a:gd name="T26" fmla="*/ 2147483646 w 2092"/>
                <a:gd name="T27" fmla="*/ 392819732 h 1668"/>
                <a:gd name="T28" fmla="*/ 2147483646 w 2092"/>
                <a:gd name="T29" fmla="*/ 326800174 h 1668"/>
                <a:gd name="T30" fmla="*/ 2147483646 w 2092"/>
                <a:gd name="T31" fmla="*/ 267381300 h 1668"/>
                <a:gd name="T32" fmla="*/ 2147483646 w 2092"/>
                <a:gd name="T33" fmla="*/ 221167427 h 1668"/>
                <a:gd name="T34" fmla="*/ 2147483646 w 2092"/>
                <a:gd name="T35" fmla="*/ 171652305 h 1668"/>
                <a:gd name="T36" fmla="*/ 2147483646 w 2092"/>
                <a:gd name="T37" fmla="*/ 128739683 h 1668"/>
                <a:gd name="T38" fmla="*/ 2147483646 w 2092"/>
                <a:gd name="T39" fmla="*/ 92427745 h 1668"/>
                <a:gd name="T40" fmla="*/ 2147483646 w 2092"/>
                <a:gd name="T41" fmla="*/ 59418874 h 1668"/>
                <a:gd name="T42" fmla="*/ 2147483646 w 2092"/>
                <a:gd name="T43" fmla="*/ 42912622 h 1668"/>
                <a:gd name="T44" fmla="*/ 2147483646 w 2092"/>
                <a:gd name="T45" fmla="*/ 23106936 h 1668"/>
                <a:gd name="T46" fmla="*/ 2147483646 w 2092"/>
                <a:gd name="T47" fmla="*/ 13203185 h 1668"/>
                <a:gd name="T48" fmla="*/ 2147483646 w 2092"/>
                <a:gd name="T49" fmla="*/ 9903751 h 1668"/>
                <a:gd name="T50" fmla="*/ 2147483646 w 2092"/>
                <a:gd name="T51" fmla="*/ 3301250 h 1668"/>
                <a:gd name="T52" fmla="*/ 2147483646 w 2092"/>
                <a:gd name="T53" fmla="*/ 0 h 1668"/>
                <a:gd name="T54" fmla="*/ 2147483646 w 2092"/>
                <a:gd name="T55" fmla="*/ 0 h 1668"/>
                <a:gd name="T56" fmla="*/ 0 w 2092"/>
                <a:gd name="T57" fmla="*/ 0 h 1668"/>
                <a:gd name="T58" fmla="*/ 2035524038 w 2092"/>
                <a:gd name="T59" fmla="*/ 1165257828 h 1668"/>
                <a:gd name="T60" fmla="*/ 2147483646 w 2092"/>
                <a:gd name="T61" fmla="*/ 1168559079 h 1668"/>
                <a:gd name="T62" fmla="*/ 2147483646 w 2092"/>
                <a:gd name="T63" fmla="*/ 1175159763 h 1668"/>
                <a:gd name="T64" fmla="*/ 2147483646 w 2092"/>
                <a:gd name="T65" fmla="*/ 1188364765 h 1668"/>
                <a:gd name="T66" fmla="*/ 2147483646 w 2092"/>
                <a:gd name="T67" fmla="*/ 1214772951 h 1668"/>
                <a:gd name="T68" fmla="*/ 2147483646 w 2092"/>
                <a:gd name="T69" fmla="*/ 1254384323 h 1668"/>
                <a:gd name="T70" fmla="*/ 2147483646 w 2092"/>
                <a:gd name="T71" fmla="*/ 1307200696 h 1668"/>
                <a:gd name="T72" fmla="*/ 2147483646 w 2092"/>
                <a:gd name="T73" fmla="*/ 1376521504 h 1668"/>
                <a:gd name="T74" fmla="*/ 2147483646 w 2092"/>
                <a:gd name="T75" fmla="*/ 1459047315 h 1668"/>
                <a:gd name="T76" fmla="*/ 2147483646 w 2092"/>
                <a:gd name="T77" fmla="*/ 1551475060 h 1668"/>
                <a:gd name="T78" fmla="*/ 2147483646 w 2092"/>
                <a:gd name="T79" fmla="*/ 1653806556 h 1668"/>
                <a:gd name="T80" fmla="*/ 2147483646 w 2092"/>
                <a:gd name="T81" fmla="*/ 1766041803 h 1668"/>
                <a:gd name="T82" fmla="*/ 2147483646 w 2092"/>
                <a:gd name="T83" fmla="*/ 1881576484 h 1668"/>
                <a:gd name="T84" fmla="*/ 2147483646 w 2092"/>
                <a:gd name="T85" fmla="*/ 2007014916 h 1668"/>
                <a:gd name="T86" fmla="*/ 2147483646 w 2092"/>
                <a:gd name="T87" fmla="*/ 2135754599 h 1668"/>
                <a:gd name="T88" fmla="*/ 2147483646 w 2092"/>
                <a:gd name="T89" fmla="*/ 2147483646 h 1668"/>
                <a:gd name="T90" fmla="*/ 2147483646 w 2092"/>
                <a:gd name="T91" fmla="*/ 2147483646 h 1668"/>
                <a:gd name="T92" fmla="*/ 2147483646 w 2092"/>
                <a:gd name="T93" fmla="*/ 2147483646 h 1668"/>
                <a:gd name="T94" fmla="*/ 2147483646 w 2092"/>
                <a:gd name="T95" fmla="*/ 2147483646 h 1668"/>
                <a:gd name="T96" fmla="*/ 2147483646 w 2092"/>
                <a:gd name="T97" fmla="*/ 2147483646 h 1668"/>
                <a:gd name="T98" fmla="*/ 2147483646 w 2092"/>
                <a:gd name="T99" fmla="*/ 2147483646 h 1668"/>
                <a:gd name="T100" fmla="*/ 2147483646 w 2092"/>
                <a:gd name="T101" fmla="*/ 2147483646 h 16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92"/>
                <a:gd name="T154" fmla="*/ 0 h 1668"/>
                <a:gd name="T155" fmla="*/ 2092 w 2092"/>
                <a:gd name="T156" fmla="*/ 1668 h 16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92" h="1668">
                  <a:moveTo>
                    <a:pt x="1892" y="1296"/>
                  </a:moveTo>
                  <a:lnTo>
                    <a:pt x="1892" y="705"/>
                  </a:lnTo>
                  <a:lnTo>
                    <a:pt x="1889" y="647"/>
                  </a:lnTo>
                  <a:lnTo>
                    <a:pt x="1881" y="589"/>
                  </a:lnTo>
                  <a:lnTo>
                    <a:pt x="1867" y="522"/>
                  </a:lnTo>
                  <a:lnTo>
                    <a:pt x="1843" y="453"/>
                  </a:lnTo>
                  <a:lnTo>
                    <a:pt x="1824" y="400"/>
                  </a:lnTo>
                  <a:lnTo>
                    <a:pt x="1790" y="331"/>
                  </a:lnTo>
                  <a:lnTo>
                    <a:pt x="1764" y="289"/>
                  </a:lnTo>
                  <a:lnTo>
                    <a:pt x="1727" y="240"/>
                  </a:lnTo>
                  <a:lnTo>
                    <a:pt x="1694" y="204"/>
                  </a:lnTo>
                  <a:lnTo>
                    <a:pt x="1656" y="169"/>
                  </a:lnTo>
                  <a:lnTo>
                    <a:pt x="1627" y="147"/>
                  </a:lnTo>
                  <a:lnTo>
                    <a:pt x="1590" y="119"/>
                  </a:lnTo>
                  <a:lnTo>
                    <a:pt x="1558" y="99"/>
                  </a:lnTo>
                  <a:lnTo>
                    <a:pt x="1525" y="81"/>
                  </a:lnTo>
                  <a:lnTo>
                    <a:pt x="1496" y="67"/>
                  </a:lnTo>
                  <a:lnTo>
                    <a:pt x="1457" y="52"/>
                  </a:lnTo>
                  <a:lnTo>
                    <a:pt x="1425" y="39"/>
                  </a:lnTo>
                  <a:lnTo>
                    <a:pt x="1384" y="28"/>
                  </a:lnTo>
                  <a:lnTo>
                    <a:pt x="1346" y="18"/>
                  </a:lnTo>
                  <a:lnTo>
                    <a:pt x="1306" y="13"/>
                  </a:lnTo>
                  <a:lnTo>
                    <a:pt x="1266" y="7"/>
                  </a:lnTo>
                  <a:lnTo>
                    <a:pt x="1216" y="4"/>
                  </a:lnTo>
                  <a:lnTo>
                    <a:pt x="1177" y="3"/>
                  </a:lnTo>
                  <a:lnTo>
                    <a:pt x="1133" y="1"/>
                  </a:lnTo>
                  <a:lnTo>
                    <a:pt x="1091" y="0"/>
                  </a:lnTo>
                  <a:lnTo>
                    <a:pt x="1046" y="0"/>
                  </a:lnTo>
                  <a:lnTo>
                    <a:pt x="0" y="0"/>
                  </a:lnTo>
                  <a:lnTo>
                    <a:pt x="365" y="353"/>
                  </a:lnTo>
                  <a:lnTo>
                    <a:pt x="1049" y="354"/>
                  </a:lnTo>
                  <a:lnTo>
                    <a:pt x="1091" y="356"/>
                  </a:lnTo>
                  <a:lnTo>
                    <a:pt x="1135" y="360"/>
                  </a:lnTo>
                  <a:lnTo>
                    <a:pt x="1179" y="368"/>
                  </a:lnTo>
                  <a:lnTo>
                    <a:pt x="1221" y="380"/>
                  </a:lnTo>
                  <a:lnTo>
                    <a:pt x="1261" y="396"/>
                  </a:lnTo>
                  <a:lnTo>
                    <a:pt x="1300" y="417"/>
                  </a:lnTo>
                  <a:lnTo>
                    <a:pt x="1334" y="442"/>
                  </a:lnTo>
                  <a:lnTo>
                    <a:pt x="1367" y="470"/>
                  </a:lnTo>
                  <a:lnTo>
                    <a:pt x="1394" y="501"/>
                  </a:lnTo>
                  <a:lnTo>
                    <a:pt x="1418" y="535"/>
                  </a:lnTo>
                  <a:lnTo>
                    <a:pt x="1437" y="570"/>
                  </a:lnTo>
                  <a:lnTo>
                    <a:pt x="1450" y="608"/>
                  </a:lnTo>
                  <a:lnTo>
                    <a:pt x="1459" y="647"/>
                  </a:lnTo>
                  <a:lnTo>
                    <a:pt x="1464" y="687"/>
                  </a:lnTo>
                  <a:lnTo>
                    <a:pt x="1464" y="729"/>
                  </a:lnTo>
                  <a:lnTo>
                    <a:pt x="1464" y="1298"/>
                  </a:lnTo>
                  <a:lnTo>
                    <a:pt x="1275" y="1298"/>
                  </a:lnTo>
                  <a:lnTo>
                    <a:pt x="1671" y="1667"/>
                  </a:lnTo>
                  <a:lnTo>
                    <a:pt x="2091" y="1296"/>
                  </a:lnTo>
                  <a:lnTo>
                    <a:pt x="1892" y="1296"/>
                  </a:lnTo>
                </a:path>
              </a:pathLst>
            </a:custGeom>
            <a:solidFill>
              <a:schemeClr val="accent1"/>
            </a:solidFill>
            <a:ln w="6350" cap="rnd">
              <a:solidFill>
                <a:schemeClr val="folHlink"/>
              </a:solidFill>
              <a:round/>
              <a:headEnd/>
              <a:tailEnd/>
            </a:ln>
          </p:spPr>
          <p:txBody>
            <a:bodyPr/>
            <a:lstStyle/>
            <a:p>
              <a:endParaRPr lang="en-US">
                <a:latin typeface="Roboto" panose="02000000000000000000" pitchFamily="2" charset="0"/>
                <a:ea typeface="Roboto" panose="02000000000000000000" pitchFamily="2" charset="0"/>
              </a:endParaRPr>
            </a:p>
          </p:txBody>
        </p:sp>
        <p:sp>
          <p:nvSpPr>
            <p:cNvPr id="25" name="Freeform 4">
              <a:extLst>
                <a:ext uri="{FF2B5EF4-FFF2-40B4-BE49-F238E27FC236}">
                  <a16:creationId xmlns:a16="http://schemas.microsoft.com/office/drawing/2014/main" id="{B5EEEE71-9B53-C319-A34A-DAC5CCBD289B}"/>
                </a:ext>
              </a:extLst>
            </p:cNvPr>
            <p:cNvSpPr>
              <a:spLocks/>
            </p:cNvSpPr>
            <p:nvPr/>
          </p:nvSpPr>
          <p:spPr bwMode="auto">
            <a:xfrm>
              <a:off x="1447800" y="1998663"/>
              <a:ext cx="4894263" cy="3022600"/>
            </a:xfrm>
            <a:custGeom>
              <a:avLst/>
              <a:gdLst>
                <a:gd name="T0" fmla="*/ 998729638 w 2072"/>
                <a:gd name="T1" fmla="*/ 1199177927 h 1663"/>
                <a:gd name="T2" fmla="*/ 998729638 w 2072"/>
                <a:gd name="T3" fmla="*/ 2147483646 h 1663"/>
                <a:gd name="T4" fmla="*/ 1004308909 w 2072"/>
                <a:gd name="T5" fmla="*/ 2147483646 h 1663"/>
                <a:gd name="T6" fmla="*/ 1048945438 w 2072"/>
                <a:gd name="T7" fmla="*/ 2147483646 h 1663"/>
                <a:gd name="T8" fmla="*/ 1115899050 w 2072"/>
                <a:gd name="T9" fmla="*/ 2147483646 h 1663"/>
                <a:gd name="T10" fmla="*/ 1210751379 w 2072"/>
                <a:gd name="T11" fmla="*/ 2147483646 h 1663"/>
                <a:gd name="T12" fmla="*/ 1333500062 w 2072"/>
                <a:gd name="T13" fmla="*/ 2147483646 h 1663"/>
                <a:gd name="T14" fmla="*/ 1478565828 w 2072"/>
                <a:gd name="T15" fmla="*/ 2147483646 h 1663"/>
                <a:gd name="T16" fmla="*/ 1651530311 w 2072"/>
                <a:gd name="T17" fmla="*/ 2147483646 h 1663"/>
                <a:gd name="T18" fmla="*/ 1857972781 w 2072"/>
                <a:gd name="T19" fmla="*/ 2147483646 h 1663"/>
                <a:gd name="T20" fmla="*/ 2075573793 w 2072"/>
                <a:gd name="T21" fmla="*/ 2147483646 h 1663"/>
                <a:gd name="T22" fmla="*/ 2147483646 w 2072"/>
                <a:gd name="T23" fmla="*/ 2147483646 h 1663"/>
                <a:gd name="T24" fmla="*/ 2147483646 w 2072"/>
                <a:gd name="T25" fmla="*/ 2147483646 h 1663"/>
                <a:gd name="T26" fmla="*/ 2147483646 w 2072"/>
                <a:gd name="T27" fmla="*/ 2147483646 h 1663"/>
                <a:gd name="T28" fmla="*/ 2147483646 w 2072"/>
                <a:gd name="T29" fmla="*/ 2147483646 h 1663"/>
                <a:gd name="T30" fmla="*/ 2147483646 w 2072"/>
                <a:gd name="T31" fmla="*/ 2147483646 h 1663"/>
                <a:gd name="T32" fmla="*/ 2147483646 w 2072"/>
                <a:gd name="T33" fmla="*/ 2147483646 h 1663"/>
                <a:gd name="T34" fmla="*/ 2147483646 w 2072"/>
                <a:gd name="T35" fmla="*/ 2147483646 h 1663"/>
                <a:gd name="T36" fmla="*/ 2147483646 w 2072"/>
                <a:gd name="T37" fmla="*/ 2147483646 h 1663"/>
                <a:gd name="T38" fmla="*/ 2147483646 w 2072"/>
                <a:gd name="T39" fmla="*/ 2147483646 h 1663"/>
                <a:gd name="T40" fmla="*/ 2147483646 w 2072"/>
                <a:gd name="T41" fmla="*/ 2147483646 h 1663"/>
                <a:gd name="T42" fmla="*/ 2147483646 w 2072"/>
                <a:gd name="T43" fmla="*/ 2147483646 h 1663"/>
                <a:gd name="T44" fmla="*/ 2147483646 w 2072"/>
                <a:gd name="T45" fmla="*/ 2147483646 h 1663"/>
                <a:gd name="T46" fmla="*/ 2147483646 w 2072"/>
                <a:gd name="T47" fmla="*/ 2147483646 h 1663"/>
                <a:gd name="T48" fmla="*/ 2147483646 w 2072"/>
                <a:gd name="T49" fmla="*/ 2147483646 h 1663"/>
                <a:gd name="T50" fmla="*/ 2147483646 w 2072"/>
                <a:gd name="T51" fmla="*/ 2147483646 h 1663"/>
                <a:gd name="T52" fmla="*/ 2147483646 w 2072"/>
                <a:gd name="T53" fmla="*/ 2147483646 h 1663"/>
                <a:gd name="T54" fmla="*/ 2147483646 w 2072"/>
                <a:gd name="T55" fmla="*/ 2147483646 h 1663"/>
                <a:gd name="T56" fmla="*/ 2147483646 w 2072"/>
                <a:gd name="T57" fmla="*/ 2147483646 h 1663"/>
                <a:gd name="T58" fmla="*/ 2147483646 w 2072"/>
                <a:gd name="T59" fmla="*/ 2147483646 h 1663"/>
                <a:gd name="T60" fmla="*/ 2147483646 w 2072"/>
                <a:gd name="T61" fmla="*/ 2147483646 h 1663"/>
                <a:gd name="T62" fmla="*/ 2147483646 w 2072"/>
                <a:gd name="T63" fmla="*/ 2147483646 h 1663"/>
                <a:gd name="T64" fmla="*/ 2147483646 w 2072"/>
                <a:gd name="T65" fmla="*/ 2147483646 h 1663"/>
                <a:gd name="T66" fmla="*/ 2147483646 w 2072"/>
                <a:gd name="T67" fmla="*/ 2147483646 h 1663"/>
                <a:gd name="T68" fmla="*/ 2147483646 w 2072"/>
                <a:gd name="T69" fmla="*/ 2147483646 h 1663"/>
                <a:gd name="T70" fmla="*/ 2147483646 w 2072"/>
                <a:gd name="T71" fmla="*/ 2147483646 h 1663"/>
                <a:gd name="T72" fmla="*/ 2147483646 w 2072"/>
                <a:gd name="T73" fmla="*/ 2147483646 h 1663"/>
                <a:gd name="T74" fmla="*/ 2147483646 w 2072"/>
                <a:gd name="T75" fmla="*/ 2147483646 h 1663"/>
                <a:gd name="T76" fmla="*/ 2147483646 w 2072"/>
                <a:gd name="T77" fmla="*/ 2147483646 h 1663"/>
                <a:gd name="T78" fmla="*/ 2147483646 w 2072"/>
                <a:gd name="T79" fmla="*/ 2147483646 h 1663"/>
                <a:gd name="T80" fmla="*/ 2147483646 w 2072"/>
                <a:gd name="T81" fmla="*/ 2147483646 h 1663"/>
                <a:gd name="T82" fmla="*/ 2147483646 w 2072"/>
                <a:gd name="T83" fmla="*/ 2147483646 h 1663"/>
                <a:gd name="T84" fmla="*/ 2147483646 w 2072"/>
                <a:gd name="T85" fmla="*/ 2147483646 h 1663"/>
                <a:gd name="T86" fmla="*/ 2147483646 w 2072"/>
                <a:gd name="T87" fmla="*/ 2147483646 h 1663"/>
                <a:gd name="T88" fmla="*/ 2147483646 w 2072"/>
                <a:gd name="T89" fmla="*/ 2147483646 h 1663"/>
                <a:gd name="T90" fmla="*/ 2147483646 w 2072"/>
                <a:gd name="T91" fmla="*/ 2147483646 h 1663"/>
                <a:gd name="T92" fmla="*/ 2147483646 w 2072"/>
                <a:gd name="T93" fmla="*/ 1199177927 h 1663"/>
                <a:gd name="T94" fmla="*/ 2147483646 w 2072"/>
                <a:gd name="T95" fmla="*/ 1199177927 h 1663"/>
                <a:gd name="T96" fmla="*/ 2147483646 w 2072"/>
                <a:gd name="T97" fmla="*/ 0 h 1663"/>
                <a:gd name="T98" fmla="*/ 0 w 2072"/>
                <a:gd name="T99" fmla="*/ 1199177927 h 1663"/>
                <a:gd name="T100" fmla="*/ 998729638 w 2072"/>
                <a:gd name="T101" fmla="*/ 1199177927 h 16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72"/>
                <a:gd name="T154" fmla="*/ 0 h 1663"/>
                <a:gd name="T155" fmla="*/ 2072 w 2072"/>
                <a:gd name="T156" fmla="*/ 1663 h 16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72" h="1663">
                  <a:moveTo>
                    <a:pt x="179" y="363"/>
                  </a:moveTo>
                  <a:lnTo>
                    <a:pt x="179" y="957"/>
                  </a:lnTo>
                  <a:lnTo>
                    <a:pt x="180" y="1016"/>
                  </a:lnTo>
                  <a:lnTo>
                    <a:pt x="188" y="1072"/>
                  </a:lnTo>
                  <a:lnTo>
                    <a:pt x="200" y="1130"/>
                  </a:lnTo>
                  <a:lnTo>
                    <a:pt x="217" y="1186"/>
                  </a:lnTo>
                  <a:lnTo>
                    <a:pt x="239" y="1241"/>
                  </a:lnTo>
                  <a:lnTo>
                    <a:pt x="265" y="1294"/>
                  </a:lnTo>
                  <a:lnTo>
                    <a:pt x="296" y="1345"/>
                  </a:lnTo>
                  <a:lnTo>
                    <a:pt x="333" y="1392"/>
                  </a:lnTo>
                  <a:lnTo>
                    <a:pt x="372" y="1439"/>
                  </a:lnTo>
                  <a:lnTo>
                    <a:pt x="416" y="1482"/>
                  </a:lnTo>
                  <a:lnTo>
                    <a:pt x="464" y="1521"/>
                  </a:lnTo>
                  <a:lnTo>
                    <a:pt x="509" y="1553"/>
                  </a:lnTo>
                  <a:lnTo>
                    <a:pt x="552" y="1579"/>
                  </a:lnTo>
                  <a:lnTo>
                    <a:pt x="589" y="1597"/>
                  </a:lnTo>
                  <a:lnTo>
                    <a:pt x="618" y="1609"/>
                  </a:lnTo>
                  <a:lnTo>
                    <a:pt x="657" y="1624"/>
                  </a:lnTo>
                  <a:lnTo>
                    <a:pt x="691" y="1632"/>
                  </a:lnTo>
                  <a:lnTo>
                    <a:pt x="730" y="1642"/>
                  </a:lnTo>
                  <a:lnTo>
                    <a:pt x="772" y="1650"/>
                  </a:lnTo>
                  <a:lnTo>
                    <a:pt x="813" y="1655"/>
                  </a:lnTo>
                  <a:lnTo>
                    <a:pt x="852" y="1658"/>
                  </a:lnTo>
                  <a:lnTo>
                    <a:pt x="893" y="1661"/>
                  </a:lnTo>
                  <a:lnTo>
                    <a:pt x="935" y="1660"/>
                  </a:lnTo>
                  <a:lnTo>
                    <a:pt x="980" y="1662"/>
                  </a:lnTo>
                  <a:lnTo>
                    <a:pt x="1023" y="1662"/>
                  </a:lnTo>
                  <a:lnTo>
                    <a:pt x="2071" y="1662"/>
                  </a:lnTo>
                  <a:lnTo>
                    <a:pt x="1704" y="1306"/>
                  </a:lnTo>
                  <a:lnTo>
                    <a:pt x="1008" y="1306"/>
                  </a:lnTo>
                  <a:lnTo>
                    <a:pt x="966" y="1306"/>
                  </a:lnTo>
                  <a:lnTo>
                    <a:pt x="935" y="1302"/>
                  </a:lnTo>
                  <a:lnTo>
                    <a:pt x="891" y="1294"/>
                  </a:lnTo>
                  <a:lnTo>
                    <a:pt x="849" y="1282"/>
                  </a:lnTo>
                  <a:lnTo>
                    <a:pt x="808" y="1265"/>
                  </a:lnTo>
                  <a:lnTo>
                    <a:pt x="770" y="1244"/>
                  </a:lnTo>
                  <a:lnTo>
                    <a:pt x="734" y="1220"/>
                  </a:lnTo>
                  <a:lnTo>
                    <a:pt x="704" y="1192"/>
                  </a:lnTo>
                  <a:lnTo>
                    <a:pt x="674" y="1161"/>
                  </a:lnTo>
                  <a:lnTo>
                    <a:pt x="652" y="1128"/>
                  </a:lnTo>
                  <a:lnTo>
                    <a:pt x="638" y="1105"/>
                  </a:lnTo>
                  <a:lnTo>
                    <a:pt x="626" y="1077"/>
                  </a:lnTo>
                  <a:lnTo>
                    <a:pt x="615" y="1045"/>
                  </a:lnTo>
                  <a:lnTo>
                    <a:pt x="609" y="1014"/>
                  </a:lnTo>
                  <a:lnTo>
                    <a:pt x="605" y="974"/>
                  </a:lnTo>
                  <a:lnTo>
                    <a:pt x="602" y="936"/>
                  </a:lnTo>
                  <a:lnTo>
                    <a:pt x="602" y="363"/>
                  </a:lnTo>
                  <a:lnTo>
                    <a:pt x="793" y="363"/>
                  </a:lnTo>
                  <a:lnTo>
                    <a:pt x="404" y="0"/>
                  </a:lnTo>
                  <a:lnTo>
                    <a:pt x="0" y="363"/>
                  </a:lnTo>
                  <a:lnTo>
                    <a:pt x="179" y="363"/>
                  </a:lnTo>
                </a:path>
              </a:pathLst>
            </a:custGeom>
            <a:solidFill>
              <a:schemeClr val="accent1"/>
            </a:solidFill>
            <a:ln w="6350" cap="rnd">
              <a:solidFill>
                <a:schemeClr val="folHlink"/>
              </a:solidFill>
              <a:round/>
              <a:headEnd/>
              <a:tailEnd/>
            </a:ln>
          </p:spPr>
          <p:txBody>
            <a:bodyPr/>
            <a:lstStyle/>
            <a:p>
              <a:endParaRPr lang="en-US">
                <a:latin typeface="Roboto" panose="02000000000000000000" pitchFamily="2" charset="0"/>
                <a:ea typeface="Roboto" panose="02000000000000000000" pitchFamily="2" charset="0"/>
              </a:endParaRPr>
            </a:p>
          </p:txBody>
        </p:sp>
        <p:sp>
          <p:nvSpPr>
            <p:cNvPr id="26" name="Text Box 5">
              <a:extLst>
                <a:ext uri="{FF2B5EF4-FFF2-40B4-BE49-F238E27FC236}">
                  <a16:creationId xmlns:a16="http://schemas.microsoft.com/office/drawing/2014/main" id="{881B2A08-5287-B72D-DD2A-6924661128C8}"/>
                </a:ext>
              </a:extLst>
            </p:cNvPr>
            <p:cNvSpPr txBox="1">
              <a:spLocks noChangeArrowheads="1"/>
            </p:cNvSpPr>
            <p:nvPr/>
          </p:nvSpPr>
          <p:spPr bwMode="auto">
            <a:xfrm>
              <a:off x="2971800" y="4572000"/>
              <a:ext cx="2016125" cy="228600"/>
            </a:xfrm>
            <a:prstGeom prst="rect">
              <a:avLst/>
            </a:prstGeom>
            <a:noFill/>
            <a:ln w="6350">
              <a:noFill/>
              <a:miter lim="800000"/>
              <a:headEnd/>
              <a:tailEnd/>
            </a:ln>
            <a:effectLst/>
          </p:spPr>
          <p:txBody>
            <a:bodyPr lIns="45720" rIns="45720"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2000" b="0">
                  <a:effectLst>
                    <a:outerShdw blurRad="38100" dist="38100" dir="2700000" algn="tl">
                      <a:srgbClr val="C0C0C0"/>
                    </a:outerShdw>
                  </a:effectLst>
                  <a:latin typeface="Roboto" panose="02000000000000000000" pitchFamily="2" charset="0"/>
                  <a:ea typeface="Roboto" panose="02000000000000000000" pitchFamily="2" charset="0"/>
                </a:rPr>
                <a:t>Receipt by Customer</a:t>
              </a:r>
            </a:p>
          </p:txBody>
        </p:sp>
        <p:sp>
          <p:nvSpPr>
            <p:cNvPr id="27" name="Text Box 6">
              <a:extLst>
                <a:ext uri="{FF2B5EF4-FFF2-40B4-BE49-F238E27FC236}">
                  <a16:creationId xmlns:a16="http://schemas.microsoft.com/office/drawing/2014/main" id="{21E7BB8D-6AAA-B99E-CE9C-18507EEBDB94}"/>
                </a:ext>
              </a:extLst>
            </p:cNvPr>
            <p:cNvSpPr txBox="1">
              <a:spLocks noChangeArrowheads="1"/>
            </p:cNvSpPr>
            <p:nvPr/>
          </p:nvSpPr>
          <p:spPr bwMode="auto">
            <a:xfrm>
              <a:off x="4191000" y="2190750"/>
              <a:ext cx="1828800" cy="312738"/>
            </a:xfrm>
            <a:prstGeom prst="rect">
              <a:avLst/>
            </a:prstGeom>
            <a:noFill/>
            <a:ln w="6350">
              <a:noFill/>
              <a:miter lim="800000"/>
              <a:headEnd/>
              <a:tailEnd/>
            </a:ln>
            <a:effectLst/>
          </p:spPr>
          <p:txBody>
            <a:bodyPr lIns="45720" rIns="45720"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2000" b="0" dirty="0">
                  <a:effectLst>
                    <a:outerShdw blurRad="38100" dist="38100" dir="2700000" algn="tl">
                      <a:srgbClr val="C0C0C0"/>
                    </a:outerShdw>
                  </a:effectLst>
                  <a:latin typeface="Roboto" panose="02000000000000000000" pitchFamily="2" charset="0"/>
                  <a:ea typeface="Roboto" panose="02000000000000000000" pitchFamily="2" charset="0"/>
                </a:rPr>
                <a:t>Inception Point</a:t>
              </a:r>
            </a:p>
          </p:txBody>
        </p:sp>
        <p:sp>
          <p:nvSpPr>
            <p:cNvPr id="28" name="Text Box 7">
              <a:extLst>
                <a:ext uri="{FF2B5EF4-FFF2-40B4-BE49-F238E27FC236}">
                  <a16:creationId xmlns:a16="http://schemas.microsoft.com/office/drawing/2014/main" id="{6963BEA2-84A6-B070-C083-F661EDF3E7F1}"/>
                </a:ext>
              </a:extLst>
            </p:cNvPr>
            <p:cNvSpPr txBox="1">
              <a:spLocks noChangeArrowheads="1"/>
            </p:cNvSpPr>
            <p:nvPr/>
          </p:nvSpPr>
          <p:spPr bwMode="auto">
            <a:xfrm>
              <a:off x="2984500" y="3057525"/>
              <a:ext cx="3162300"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600" dirty="0">
                  <a:latin typeface="Roboto" panose="02000000000000000000" pitchFamily="2" charset="0"/>
                  <a:ea typeface="Roboto" panose="02000000000000000000" pitchFamily="2" charset="0"/>
                </a:rPr>
                <a:t>Typically the boundaries span the processes over which the team can influence</a:t>
              </a:r>
            </a:p>
          </p:txBody>
        </p:sp>
      </p:grpSp>
    </p:spTree>
    <p:extLst>
      <p:ext uri="{BB962C8B-B14F-4D97-AF65-F5344CB8AC3E}">
        <p14:creationId xmlns:p14="http://schemas.microsoft.com/office/powerpoint/2010/main" val="325893053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Identify “Who is the Customer”</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When mapping transactional processes there are many times that the end customer is not the actual “purchaser” of the final product or service</a:t>
            </a:r>
          </a:p>
          <a:p>
            <a:r>
              <a:rPr lang="en-US" dirty="0"/>
              <a:t>The customer would be defined in this case as the individual, function, team, or organization “receiving or getting the benefit from” the output of the process to be mapped</a:t>
            </a:r>
          </a:p>
          <a:p>
            <a:r>
              <a:rPr lang="en-US" dirty="0"/>
              <a:t>It is important to know who our customer is so that we can identify what </a:t>
            </a:r>
            <a:r>
              <a:rPr lang="en-US" u="sng" dirty="0"/>
              <a:t>they</a:t>
            </a:r>
            <a:r>
              <a:rPr lang="en-US" dirty="0"/>
              <a:t> consider to be value-added activity in this process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20</a:t>
            </a:fld>
            <a:endParaRPr lang="en-US"/>
          </a:p>
        </p:txBody>
      </p:sp>
      <p:grpSp>
        <p:nvGrpSpPr>
          <p:cNvPr id="4" name="Group 3">
            <a:extLst>
              <a:ext uri="{FF2B5EF4-FFF2-40B4-BE49-F238E27FC236}">
                <a16:creationId xmlns:a16="http://schemas.microsoft.com/office/drawing/2014/main" id="{EF50CE79-583F-4515-3F6C-6A15E6A07757}"/>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7AA0ECBE-65D5-3E1E-A427-FF4E13F393F4}"/>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DE9F457F-DE00-AA7C-6E93-B022ACB31247}"/>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2FE72489-9C41-B844-24D7-C5C574AE1C7D}"/>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90A70B8F-A509-0655-B253-ECCE5380E95A}"/>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7025C212-1004-DD3C-D19A-B5E9DB9190A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CE38A970-7982-D21D-3935-37F3D9ADC61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10">
                  <a:extLst>
                    <a:ext uri="{FF2B5EF4-FFF2-40B4-BE49-F238E27FC236}">
                      <a16:creationId xmlns:a16="http://schemas.microsoft.com/office/drawing/2014/main" id="{796A464F-328B-9C31-E231-3DBF2BB0781E}"/>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7" name="TextBox 6">
              <a:extLst>
                <a:ext uri="{FF2B5EF4-FFF2-40B4-BE49-F238E27FC236}">
                  <a16:creationId xmlns:a16="http://schemas.microsoft.com/office/drawing/2014/main" id="{D242B8D0-B265-C605-6432-0E3C211B15AC}"/>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spTree>
    <p:extLst>
      <p:ext uri="{BB962C8B-B14F-4D97-AF65-F5344CB8AC3E}">
        <p14:creationId xmlns:p14="http://schemas.microsoft.com/office/powerpoint/2010/main" val="371378272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Completing Customer Analysis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21</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aphicFrame>
        <p:nvGraphicFramePr>
          <p:cNvPr id="14" name="Group 11">
            <a:extLst>
              <a:ext uri="{FF2B5EF4-FFF2-40B4-BE49-F238E27FC236}">
                <a16:creationId xmlns:a16="http://schemas.microsoft.com/office/drawing/2014/main" id="{09BB3780-E582-4C5A-F234-27E7335F9B2D}"/>
              </a:ext>
            </a:extLst>
          </p:cNvPr>
          <p:cNvGraphicFramePr>
            <a:graphicFrameLocks noGrp="1"/>
          </p:cNvGraphicFramePr>
          <p:nvPr>
            <p:extLst>
              <p:ext uri="{D42A27DB-BD31-4B8C-83A1-F6EECF244321}">
                <p14:modId xmlns:p14="http://schemas.microsoft.com/office/powerpoint/2010/main" val="1500767821"/>
              </p:ext>
            </p:extLst>
          </p:nvPr>
        </p:nvGraphicFramePr>
        <p:xfrm>
          <a:off x="1547495" y="2080259"/>
          <a:ext cx="9097010" cy="3990341"/>
        </p:xfrm>
        <a:graphic>
          <a:graphicData uri="http://schemas.openxmlformats.org/drawingml/2006/table">
            <a:tbl>
              <a:tblPr/>
              <a:tblGrid>
                <a:gridCol w="2781438">
                  <a:extLst>
                    <a:ext uri="{9D8B030D-6E8A-4147-A177-3AD203B41FA5}">
                      <a16:colId xmlns:a16="http://schemas.microsoft.com/office/drawing/2014/main" val="20000"/>
                    </a:ext>
                  </a:extLst>
                </a:gridCol>
                <a:gridCol w="2538140">
                  <a:extLst>
                    <a:ext uri="{9D8B030D-6E8A-4147-A177-3AD203B41FA5}">
                      <a16:colId xmlns:a16="http://schemas.microsoft.com/office/drawing/2014/main" val="1288843615"/>
                    </a:ext>
                  </a:extLst>
                </a:gridCol>
                <a:gridCol w="2538140">
                  <a:extLst>
                    <a:ext uri="{9D8B030D-6E8A-4147-A177-3AD203B41FA5}">
                      <a16:colId xmlns:a16="http://schemas.microsoft.com/office/drawing/2014/main" val="20001"/>
                    </a:ext>
                  </a:extLst>
                </a:gridCol>
                <a:gridCol w="1239292">
                  <a:extLst>
                    <a:ext uri="{9D8B030D-6E8A-4147-A177-3AD203B41FA5}">
                      <a16:colId xmlns:a16="http://schemas.microsoft.com/office/drawing/2014/main" val="20002"/>
                    </a:ext>
                  </a:extLst>
                </a:gridCol>
              </a:tblGrid>
              <a:tr h="84082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Customer(s)</a:t>
                      </a: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Reason they a customer/stakeholder</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What they value from the process</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 Primary Customer </a:t>
                      </a:r>
                      <a:r>
                        <a:rPr kumimoji="0" lang="ja-JP" altLang="en-US" sz="1400" b="1" i="0" u="none" strike="noStrike" cap="none" normalizeH="0" baseline="0" dirty="0">
                          <a:ln>
                            <a:noFill/>
                          </a:ln>
                          <a:solidFill>
                            <a:schemeClr val="bg1"/>
                          </a:solidFill>
                          <a:effectLst/>
                          <a:latin typeface="Roboto" panose="02000000000000000000" pitchFamily="2" charset="0"/>
                          <a:ea typeface="MS PGothic" panose="020B0600070205080204" pitchFamily="34" charset="-128"/>
                        </a:rPr>
                        <a:t>“</a:t>
                      </a:r>
                      <a:r>
                        <a:rPr kumimoji="0" lang="en-US" altLang="ja-JP"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X</a:t>
                      </a:r>
                      <a:r>
                        <a:rPr kumimoji="0" lang="ja-JP" altLang="en-US" sz="1400" b="1" i="0" u="none" strike="noStrike" cap="none" normalizeH="0" baseline="0" dirty="0">
                          <a:ln>
                            <a:noFill/>
                          </a:ln>
                          <a:solidFill>
                            <a:schemeClr val="bg1"/>
                          </a:solidFill>
                          <a:effectLst/>
                          <a:latin typeface="Roboto" panose="02000000000000000000" pitchFamily="2" charset="0"/>
                          <a:ea typeface="MS PGothic" panose="020B0600070205080204" pitchFamily="34" charset="-128"/>
                        </a:rPr>
                        <a:t>”</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0"/>
                  </a:ext>
                </a:extLst>
              </a:tr>
              <a:tr h="523724">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5844482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Complete Customer/Stakeholder Analysis</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22</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customer/stakeholder analysis of the process to be mapped.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use the chart on the previous slide to make a list of :</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The customers of this process</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Why they are a customer </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value they are looking for</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Determine who is the primary customer</a:t>
            </a: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Put answers on a flip chart</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30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702991"/>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listing. </a:t>
            </a:r>
          </a:p>
        </p:txBody>
      </p:sp>
      <p:grpSp>
        <p:nvGrpSpPr>
          <p:cNvPr id="3" name="Group 2">
            <a:extLst>
              <a:ext uri="{FF2B5EF4-FFF2-40B4-BE49-F238E27FC236}">
                <a16:creationId xmlns:a16="http://schemas.microsoft.com/office/drawing/2014/main" id="{79F1945D-449F-C591-D50C-EDBABF0BBDE7}"/>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63E9334A-8E5B-29AB-1FA4-A510809856C4}"/>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6E6A80D-61C1-04F5-F1EC-398814DEFFE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ADD4561-0412-BFB7-53DF-09F352D65BA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A514B47F-369D-EB63-1591-71A158319471}"/>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6B6F23B-9627-2E5B-DC49-556E92964262}"/>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4A7B36C4-4E0C-EE5D-641D-33BF08D3287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10">
                  <a:extLst>
                    <a:ext uri="{FF2B5EF4-FFF2-40B4-BE49-F238E27FC236}">
                      <a16:creationId xmlns:a16="http://schemas.microsoft.com/office/drawing/2014/main" id="{DE19B47B-AE5C-7D6A-1944-341DD6DB5882}"/>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C7529600-195C-2D28-583C-B3641A4649F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spTree>
    <p:extLst>
      <p:ext uri="{BB962C8B-B14F-4D97-AF65-F5344CB8AC3E}">
        <p14:creationId xmlns:p14="http://schemas.microsoft.com/office/powerpoint/2010/main" val="177928418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Kaizen Charter Validation</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23</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Evaluate the Event Charter.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answer on chart paper:  </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Why are we doing this event?</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Has the product or service family been clearly identified?</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Have the boundaries been validated?</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are the sources of information for the value stream?</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initiates the demand for the value stream?</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30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56"/>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Presentation of any revisions made to the charter as a result of exercise.</a:t>
            </a:r>
          </a:p>
        </p:txBody>
      </p:sp>
      <p:grpSp>
        <p:nvGrpSpPr>
          <p:cNvPr id="3" name="Group 2">
            <a:extLst>
              <a:ext uri="{FF2B5EF4-FFF2-40B4-BE49-F238E27FC236}">
                <a16:creationId xmlns:a16="http://schemas.microsoft.com/office/drawing/2014/main" id="{E33014C1-9B8F-5CF5-899B-FF39A52FF01E}"/>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52A0885C-AC4C-ADC1-BC96-7B4F601434E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B0F00E3F-CA2A-7B5D-2C1B-BF4DFCCC430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044D6EE-B10A-3E59-9FAE-A1B0D1880B8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80E9E131-960C-D4AB-86E9-83D6EA56E95B}"/>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868C2E5B-94EF-C6FC-E4C2-C9163CE9312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77851444-B62F-B915-2DBC-3A2294AA591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10">
                  <a:extLst>
                    <a:ext uri="{FF2B5EF4-FFF2-40B4-BE49-F238E27FC236}">
                      <a16:creationId xmlns:a16="http://schemas.microsoft.com/office/drawing/2014/main" id="{C49482C6-C970-BF5C-228D-4B2451CDBAF9}"/>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2C01D80C-EAAA-D87D-950F-ED193361404B}"/>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spTree>
    <p:extLst>
      <p:ext uri="{BB962C8B-B14F-4D97-AF65-F5344CB8AC3E}">
        <p14:creationId xmlns:p14="http://schemas.microsoft.com/office/powerpoint/2010/main" val="404127832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24</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fontScale="90000"/>
          </a:bodyPr>
          <a:lstStyle/>
          <a:p>
            <a:r>
              <a:rPr lang="en-US" sz="4000" dirty="0">
                <a:latin typeface="Roboto Medium"/>
                <a:ea typeface="Roboto Medium"/>
                <a:cs typeface="Roboto Medium"/>
              </a:rPr>
              <a:t>Creating the Current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method to create the Current State Map</a:t>
            </a:r>
          </a:p>
          <a:p>
            <a:r>
              <a:rPr lang="en-US" dirty="0"/>
              <a:t>Define general layout of a Value Stream Map</a:t>
            </a:r>
          </a:p>
          <a:p>
            <a:r>
              <a:rPr lang="en-US" dirty="0"/>
              <a:t>Review Case Study Example</a:t>
            </a:r>
          </a:p>
          <a:p>
            <a:r>
              <a:rPr lang="en-US" dirty="0"/>
              <a:t>Complete the steps to draw a Current State Map</a:t>
            </a:r>
          </a:p>
          <a:p>
            <a:r>
              <a:rPr lang="en-US" dirty="0"/>
              <a:t>Perform Current State Map Exercise</a:t>
            </a:r>
          </a:p>
          <a:p>
            <a:r>
              <a:rPr lang="en-US" dirty="0"/>
              <a:t>Complete Current State Map for Business</a:t>
            </a:r>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Current</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59327202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668A9-873A-57D2-016B-C3B5AEEC0C72}"/>
              </a:ext>
            </a:extLst>
          </p:cNvPr>
          <p:cNvSpPr>
            <a:spLocks noGrp="1"/>
          </p:cNvSpPr>
          <p:nvPr>
            <p:ph type="title"/>
          </p:nvPr>
        </p:nvSpPr>
        <p:spPr/>
        <p:txBody>
          <a:bodyPr/>
          <a:lstStyle/>
          <a:p>
            <a:r>
              <a:rPr lang="en-US" dirty="0"/>
              <a:t>Method to Create the Current State Map</a:t>
            </a:r>
          </a:p>
        </p:txBody>
      </p:sp>
      <p:sp>
        <p:nvSpPr>
          <p:cNvPr id="6" name="Slide Number Placeholder 5">
            <a:extLst>
              <a:ext uri="{FF2B5EF4-FFF2-40B4-BE49-F238E27FC236}">
                <a16:creationId xmlns:a16="http://schemas.microsoft.com/office/drawing/2014/main" id="{513532D1-AE2A-ADCD-94E6-52E41022128B}"/>
              </a:ext>
            </a:extLst>
          </p:cNvPr>
          <p:cNvSpPr>
            <a:spLocks noGrp="1"/>
          </p:cNvSpPr>
          <p:nvPr>
            <p:ph type="sldNum" sz="quarter" idx="4294967295"/>
          </p:nvPr>
        </p:nvSpPr>
        <p:spPr>
          <a:xfrm>
            <a:off x="9448800" y="6332538"/>
            <a:ext cx="2743200" cy="365125"/>
          </a:xfrm>
        </p:spPr>
        <p:txBody>
          <a:bodyPr/>
          <a:lstStyle/>
          <a:p>
            <a:fld id="{CC6D4273-7FC1-0947-B9FE-19CB3C0D1FB6}" type="slidenum">
              <a:rPr lang="en-US" smtClean="0"/>
              <a:t>25</a:t>
            </a:fld>
            <a:endParaRPr lang="en-US"/>
          </a:p>
        </p:txBody>
      </p:sp>
      <p:grpSp>
        <p:nvGrpSpPr>
          <p:cNvPr id="5" name="Group 4">
            <a:extLst>
              <a:ext uri="{FF2B5EF4-FFF2-40B4-BE49-F238E27FC236}">
                <a16:creationId xmlns:a16="http://schemas.microsoft.com/office/drawing/2014/main" id="{DE35709B-72C9-6B92-D788-D983FC21C92F}"/>
              </a:ext>
            </a:extLst>
          </p:cNvPr>
          <p:cNvGrpSpPr/>
          <p:nvPr/>
        </p:nvGrpSpPr>
        <p:grpSpPr>
          <a:xfrm>
            <a:off x="838200" y="297639"/>
            <a:ext cx="5391150" cy="307138"/>
            <a:chOff x="838200" y="297639"/>
            <a:chExt cx="5391150" cy="307138"/>
          </a:xfrm>
        </p:grpSpPr>
        <p:grpSp>
          <p:nvGrpSpPr>
            <p:cNvPr id="7" name="Group 6">
              <a:extLst>
                <a:ext uri="{FF2B5EF4-FFF2-40B4-BE49-F238E27FC236}">
                  <a16:creationId xmlns:a16="http://schemas.microsoft.com/office/drawing/2014/main" id="{0D2BDAE3-2B5E-D305-8D5F-D8019F93281F}"/>
                </a:ext>
              </a:extLst>
            </p:cNvPr>
            <p:cNvGrpSpPr/>
            <p:nvPr/>
          </p:nvGrpSpPr>
          <p:grpSpPr>
            <a:xfrm>
              <a:off x="838200" y="297639"/>
              <a:ext cx="1687517" cy="290657"/>
              <a:chOff x="838200" y="297639"/>
              <a:chExt cx="1687517" cy="290657"/>
            </a:xfrm>
          </p:grpSpPr>
          <p:sp>
            <p:nvSpPr>
              <p:cNvPr id="9" name="AutoShape 9">
                <a:extLst>
                  <a:ext uri="{FF2B5EF4-FFF2-40B4-BE49-F238E27FC236}">
                    <a16:creationId xmlns:a16="http://schemas.microsoft.com/office/drawing/2014/main" id="{EFFC2EDC-1783-AA9A-B0CD-6CE617AC1F22}"/>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0A835AE4-E892-D6EB-46EA-C65AB76783F4}"/>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1" name="Group 10">
                <a:extLst>
                  <a:ext uri="{FF2B5EF4-FFF2-40B4-BE49-F238E27FC236}">
                    <a16:creationId xmlns:a16="http://schemas.microsoft.com/office/drawing/2014/main" id="{5498620D-3E7E-00A2-F9E7-81BB4AA31F0C}"/>
                  </a:ext>
                </a:extLst>
              </p:cNvPr>
              <p:cNvGrpSpPr/>
              <p:nvPr/>
            </p:nvGrpSpPr>
            <p:grpSpPr>
              <a:xfrm>
                <a:off x="838200" y="297639"/>
                <a:ext cx="1060167" cy="290657"/>
                <a:chOff x="826426" y="4041857"/>
                <a:chExt cx="1060167" cy="290657"/>
              </a:xfrm>
            </p:grpSpPr>
            <p:sp>
              <p:nvSpPr>
                <p:cNvPr id="12" name="AutoShape 9">
                  <a:extLst>
                    <a:ext uri="{FF2B5EF4-FFF2-40B4-BE49-F238E27FC236}">
                      <a16:creationId xmlns:a16="http://schemas.microsoft.com/office/drawing/2014/main" id="{4DD944EB-2B26-3CAB-DB7E-D2EC1BBAA2C0}"/>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11">
                  <a:extLst>
                    <a:ext uri="{FF2B5EF4-FFF2-40B4-BE49-F238E27FC236}">
                      <a16:creationId xmlns:a16="http://schemas.microsoft.com/office/drawing/2014/main" id="{9D16A83C-1C27-C240-55AC-B0A7FEAD1B24}"/>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4" name="AutoShape 10">
                  <a:extLst>
                    <a:ext uri="{FF2B5EF4-FFF2-40B4-BE49-F238E27FC236}">
                      <a16:creationId xmlns:a16="http://schemas.microsoft.com/office/drawing/2014/main" id="{90E3585B-960A-2C28-3F33-89ED08FA9B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8" name="TextBox 7">
              <a:extLst>
                <a:ext uri="{FF2B5EF4-FFF2-40B4-BE49-F238E27FC236}">
                  <a16:creationId xmlns:a16="http://schemas.microsoft.com/office/drawing/2014/main" id="{CE6099A9-544D-D4D1-8652-EFA1274A58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8" name="Group 27">
            <a:extLst>
              <a:ext uri="{FF2B5EF4-FFF2-40B4-BE49-F238E27FC236}">
                <a16:creationId xmlns:a16="http://schemas.microsoft.com/office/drawing/2014/main" id="{13B5C6DD-4AB0-9075-456B-326FDAB1E9DD}"/>
              </a:ext>
            </a:extLst>
          </p:cNvPr>
          <p:cNvGrpSpPr/>
          <p:nvPr/>
        </p:nvGrpSpPr>
        <p:grpSpPr>
          <a:xfrm>
            <a:off x="1868488" y="1783428"/>
            <a:ext cx="8455025" cy="4314159"/>
            <a:chOff x="492125" y="1500188"/>
            <a:chExt cx="8455025" cy="4597400"/>
          </a:xfrm>
        </p:grpSpPr>
        <p:sp>
          <p:nvSpPr>
            <p:cNvPr id="15" name="Rectangle 2">
              <a:extLst>
                <a:ext uri="{FF2B5EF4-FFF2-40B4-BE49-F238E27FC236}">
                  <a16:creationId xmlns:a16="http://schemas.microsoft.com/office/drawing/2014/main" id="{55938018-C6F8-8852-591F-2FA05B3DFE99}"/>
                </a:ext>
              </a:extLst>
            </p:cNvPr>
            <p:cNvSpPr>
              <a:spLocks noChangeArrowheads="1"/>
            </p:cNvSpPr>
            <p:nvPr/>
          </p:nvSpPr>
          <p:spPr bwMode="auto">
            <a:xfrm>
              <a:off x="492125" y="18970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#1:</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6" name="Rectangle 3">
              <a:extLst>
                <a:ext uri="{FF2B5EF4-FFF2-40B4-BE49-F238E27FC236}">
                  <a16:creationId xmlns:a16="http://schemas.microsoft.com/office/drawing/2014/main" id="{AD06063C-6596-5FC2-99C8-CF7921980C70}"/>
                </a:ext>
              </a:extLst>
            </p:cNvPr>
            <p:cNvSpPr>
              <a:spLocks noChangeArrowheads="1"/>
            </p:cNvSpPr>
            <p:nvPr/>
          </p:nvSpPr>
          <p:spPr bwMode="auto">
            <a:xfrm>
              <a:off x="492125" y="36306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#2:</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Data Gathering</a:t>
              </a:r>
            </a:p>
          </p:txBody>
        </p:sp>
        <p:sp>
          <p:nvSpPr>
            <p:cNvPr id="17" name="Rectangle 4">
              <a:extLst>
                <a:ext uri="{FF2B5EF4-FFF2-40B4-BE49-F238E27FC236}">
                  <a16:creationId xmlns:a16="http://schemas.microsoft.com/office/drawing/2014/main" id="{2BBDAE9C-1821-AD22-93E3-5B39301A77A4}"/>
                </a:ext>
              </a:extLst>
            </p:cNvPr>
            <p:cNvSpPr>
              <a:spLocks noChangeArrowheads="1"/>
            </p:cNvSpPr>
            <p:nvPr/>
          </p:nvSpPr>
          <p:spPr bwMode="auto">
            <a:xfrm>
              <a:off x="492125" y="52403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Map Creation</a:t>
              </a:r>
            </a:p>
          </p:txBody>
        </p:sp>
        <p:cxnSp>
          <p:nvCxnSpPr>
            <p:cNvPr id="18" name="AutoShape 5">
              <a:extLst>
                <a:ext uri="{FF2B5EF4-FFF2-40B4-BE49-F238E27FC236}">
                  <a16:creationId xmlns:a16="http://schemas.microsoft.com/office/drawing/2014/main" id="{B4088A70-DB9E-124F-B695-C78C40A287FA}"/>
                </a:ext>
              </a:extLst>
            </p:cNvPr>
            <p:cNvCxnSpPr>
              <a:cxnSpLocks noChangeShapeType="1"/>
              <a:stCxn id="15" idx="2"/>
              <a:endCxn id="16" idx="0"/>
            </p:cNvCxnSpPr>
            <p:nvPr/>
          </p:nvCxnSpPr>
          <p:spPr bwMode="auto">
            <a:xfrm>
              <a:off x="1951038" y="27352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9" name="AutoShape 6">
              <a:extLst>
                <a:ext uri="{FF2B5EF4-FFF2-40B4-BE49-F238E27FC236}">
                  <a16:creationId xmlns:a16="http://schemas.microsoft.com/office/drawing/2014/main" id="{45140D24-F58A-9179-CB29-935D242DD5ED}"/>
                </a:ext>
              </a:extLst>
            </p:cNvPr>
            <p:cNvCxnSpPr>
              <a:cxnSpLocks noChangeShapeType="1"/>
              <a:stCxn id="16" idx="2"/>
              <a:endCxn id="17" idx="0"/>
            </p:cNvCxnSpPr>
            <p:nvPr/>
          </p:nvCxnSpPr>
          <p:spPr bwMode="auto">
            <a:xfrm>
              <a:off x="1951038" y="44719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0" name="AutoShape 7">
              <a:extLst>
                <a:ext uri="{FF2B5EF4-FFF2-40B4-BE49-F238E27FC236}">
                  <a16:creationId xmlns:a16="http://schemas.microsoft.com/office/drawing/2014/main" id="{9BED093A-C902-E756-BE66-8F34945999F5}"/>
                </a:ext>
              </a:extLst>
            </p:cNvPr>
            <p:cNvSpPr>
              <a:spLocks noChangeArrowheads="1"/>
            </p:cNvSpPr>
            <p:nvPr/>
          </p:nvSpPr>
          <p:spPr bwMode="auto">
            <a:xfrm>
              <a:off x="3573463" y="2143125"/>
              <a:ext cx="401637" cy="498475"/>
            </a:xfrm>
            <a:prstGeom prst="rightArrow">
              <a:avLst>
                <a:gd name="adj1" fmla="val 58185"/>
                <a:gd name="adj2" fmla="val 60870"/>
              </a:avLst>
            </a:prstGeom>
            <a:solidFill>
              <a:schemeClr val="accent1"/>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AutoShape 8">
              <a:extLst>
                <a:ext uri="{FF2B5EF4-FFF2-40B4-BE49-F238E27FC236}">
                  <a16:creationId xmlns:a16="http://schemas.microsoft.com/office/drawing/2014/main" id="{1A367DCD-C543-1B11-2223-E542F3CFB4AC}"/>
                </a:ext>
              </a:extLst>
            </p:cNvPr>
            <p:cNvSpPr>
              <a:spLocks noChangeArrowheads="1"/>
            </p:cNvSpPr>
            <p:nvPr/>
          </p:nvSpPr>
          <p:spPr bwMode="auto">
            <a:xfrm>
              <a:off x="3573463" y="3763963"/>
              <a:ext cx="401637" cy="498475"/>
            </a:xfrm>
            <a:prstGeom prst="rightArrow">
              <a:avLst>
                <a:gd name="adj1" fmla="val 58185"/>
                <a:gd name="adj2" fmla="val 60870"/>
              </a:avLst>
            </a:prstGeom>
            <a:solidFill>
              <a:schemeClr val="accent1"/>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 name="AutoShape 9">
              <a:extLst>
                <a:ext uri="{FF2B5EF4-FFF2-40B4-BE49-F238E27FC236}">
                  <a16:creationId xmlns:a16="http://schemas.microsoft.com/office/drawing/2014/main" id="{031B05E6-95B7-39F6-8823-015B44A5A6D4}"/>
                </a:ext>
              </a:extLst>
            </p:cNvPr>
            <p:cNvSpPr>
              <a:spLocks noChangeArrowheads="1"/>
            </p:cNvSpPr>
            <p:nvPr/>
          </p:nvSpPr>
          <p:spPr bwMode="auto">
            <a:xfrm>
              <a:off x="3573463" y="5302250"/>
              <a:ext cx="401637" cy="498475"/>
            </a:xfrm>
            <a:prstGeom prst="rightArrow">
              <a:avLst>
                <a:gd name="adj1" fmla="val 58185"/>
                <a:gd name="adj2" fmla="val 60870"/>
              </a:avLst>
            </a:prstGeom>
            <a:solidFill>
              <a:schemeClr val="accent1"/>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3" name="Line 10">
              <a:extLst>
                <a:ext uri="{FF2B5EF4-FFF2-40B4-BE49-F238E27FC236}">
                  <a16:creationId xmlns:a16="http://schemas.microsoft.com/office/drawing/2014/main" id="{6E935A94-1753-86C1-A80B-9900DF595BAE}"/>
                </a:ext>
              </a:extLst>
            </p:cNvPr>
            <p:cNvSpPr>
              <a:spLocks noChangeShapeType="1"/>
            </p:cNvSpPr>
            <p:nvPr/>
          </p:nvSpPr>
          <p:spPr bwMode="auto">
            <a:xfrm>
              <a:off x="4090988" y="1849438"/>
              <a:ext cx="461645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4" name="Text Box 11">
              <a:extLst>
                <a:ext uri="{FF2B5EF4-FFF2-40B4-BE49-F238E27FC236}">
                  <a16:creationId xmlns:a16="http://schemas.microsoft.com/office/drawing/2014/main" id="{47B704C6-0987-5368-1D3C-AB37DEBDA0B4}"/>
                </a:ext>
              </a:extLst>
            </p:cNvPr>
            <p:cNvSpPr txBox="1">
              <a:spLocks noChangeArrowheads="1"/>
            </p:cNvSpPr>
            <p:nvPr/>
          </p:nvSpPr>
          <p:spPr bwMode="auto">
            <a:xfrm>
              <a:off x="3987800" y="1500188"/>
              <a:ext cx="3536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5" name="AutoShape 20">
              <a:extLst>
                <a:ext uri="{FF2B5EF4-FFF2-40B4-BE49-F238E27FC236}">
                  <a16:creationId xmlns:a16="http://schemas.microsoft.com/office/drawing/2014/main" id="{6A48F752-85BC-D471-ED59-35B5F52644B6}"/>
                </a:ext>
              </a:extLst>
            </p:cNvPr>
            <p:cNvSpPr>
              <a:spLocks noChangeArrowheads="1"/>
            </p:cNvSpPr>
            <p:nvPr/>
          </p:nvSpPr>
          <p:spPr bwMode="auto">
            <a:xfrm>
              <a:off x="3946525" y="1857375"/>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Draw map of process using pencil and paper</a:t>
              </a:r>
            </a:p>
          </p:txBody>
        </p:sp>
        <p:sp>
          <p:nvSpPr>
            <p:cNvPr id="26" name="AutoShape 21">
              <a:extLst>
                <a:ext uri="{FF2B5EF4-FFF2-40B4-BE49-F238E27FC236}">
                  <a16:creationId xmlns:a16="http://schemas.microsoft.com/office/drawing/2014/main" id="{97B4A004-3D93-A1D0-24CD-A93430A493D7}"/>
                </a:ext>
              </a:extLst>
            </p:cNvPr>
            <p:cNvSpPr>
              <a:spLocks noChangeArrowheads="1"/>
            </p:cNvSpPr>
            <p:nvPr/>
          </p:nvSpPr>
          <p:spPr bwMode="auto">
            <a:xfrm>
              <a:off x="3944938" y="3273425"/>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Decide what data will be collected for each process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Walk reverse flow again and collect data and </a:t>
              </a:r>
              <a:br>
                <a:rPr lang="en-US" altLang="en-US" sz="1400" dirty="0">
                  <a:latin typeface="Roboto" panose="02000000000000000000" pitchFamily="2" charset="0"/>
                  <a:ea typeface="Roboto" panose="02000000000000000000" pitchFamily="2" charset="0"/>
                </a:rPr>
              </a:br>
              <a:r>
                <a:rPr lang="en-US" altLang="en-US" sz="1400" dirty="0">
                  <a:latin typeface="Roboto" panose="02000000000000000000" pitchFamily="2" charset="0"/>
                  <a:ea typeface="Roboto" panose="02000000000000000000" pitchFamily="2" charset="0"/>
                </a:rPr>
                <a:t>information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actual, observed data wherever possible</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smallest time units whenever possible – </a:t>
              </a:r>
              <a:br>
                <a:rPr lang="en-US" altLang="en-US" sz="1400" dirty="0">
                  <a:latin typeface="Roboto" panose="02000000000000000000" pitchFamily="2" charset="0"/>
                  <a:ea typeface="Roboto" panose="02000000000000000000" pitchFamily="2" charset="0"/>
                </a:rPr>
              </a:br>
              <a:r>
                <a:rPr lang="en-US" altLang="en-US" sz="1400" dirty="0">
                  <a:latin typeface="Roboto" panose="02000000000000000000" pitchFamily="2" charset="0"/>
                  <a:ea typeface="Roboto" panose="02000000000000000000" pitchFamily="2" charset="0"/>
                </a:rPr>
                <a:t>be consistent</a:t>
              </a:r>
            </a:p>
          </p:txBody>
        </p:sp>
        <p:sp>
          <p:nvSpPr>
            <p:cNvPr id="27" name="AutoShape 22">
              <a:extLst>
                <a:ext uri="{FF2B5EF4-FFF2-40B4-BE49-F238E27FC236}">
                  <a16:creationId xmlns:a16="http://schemas.microsoft.com/office/drawing/2014/main" id="{F3C533A4-D8C0-EF35-740E-767FEC86EFFE}"/>
                </a:ext>
              </a:extLst>
            </p:cNvPr>
            <p:cNvSpPr>
              <a:spLocks noChangeArrowheads="1"/>
            </p:cNvSpPr>
            <p:nvPr/>
          </p:nvSpPr>
          <p:spPr bwMode="auto">
            <a:xfrm>
              <a:off x="3944938" y="4818063"/>
              <a:ext cx="4986337"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Consolidate individual maps into a single map by </a:t>
              </a:r>
              <a:br>
                <a:rPr lang="en-US" altLang="en-US" sz="1400" dirty="0">
                  <a:latin typeface="Roboto" panose="02000000000000000000" pitchFamily="2" charset="0"/>
                  <a:ea typeface="Roboto" panose="02000000000000000000" pitchFamily="2" charset="0"/>
                </a:rPr>
              </a:br>
              <a:r>
                <a:rPr lang="en-US" altLang="en-US" sz="1400" dirty="0">
                  <a:latin typeface="Roboto" panose="02000000000000000000" pitchFamily="2" charset="0"/>
                  <a:ea typeface="Roboto" panose="02000000000000000000" pitchFamily="2" charset="0"/>
                </a:rPr>
                <a:t>consensus of the team </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post-it notes to facilitate any necessary changes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Review map as a team to ensure accuracy and </a:t>
              </a:r>
              <a:br>
                <a:rPr lang="en-US" altLang="en-US" sz="1400" dirty="0">
                  <a:latin typeface="Roboto" panose="02000000000000000000" pitchFamily="2" charset="0"/>
                  <a:ea typeface="Roboto" panose="02000000000000000000" pitchFamily="2" charset="0"/>
                </a:rPr>
              </a:br>
              <a:r>
                <a:rPr lang="en-US" altLang="en-US" sz="1400" dirty="0">
                  <a:latin typeface="Roboto" panose="02000000000000000000" pitchFamily="2" charset="0"/>
                  <a:ea typeface="Roboto" panose="02000000000000000000" pitchFamily="2" charset="0"/>
                </a:rPr>
                <a:t>validate flow</a:t>
              </a:r>
            </a:p>
          </p:txBody>
        </p:sp>
      </p:grpSp>
    </p:spTree>
    <p:extLst>
      <p:ext uri="{BB962C8B-B14F-4D97-AF65-F5344CB8AC3E}">
        <p14:creationId xmlns:p14="http://schemas.microsoft.com/office/powerpoint/2010/main" val="296804428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668A9-873A-57D2-016B-C3B5AEEC0C72}"/>
              </a:ext>
            </a:extLst>
          </p:cNvPr>
          <p:cNvSpPr>
            <a:spLocks noGrp="1"/>
          </p:cNvSpPr>
          <p:nvPr>
            <p:ph type="title"/>
          </p:nvPr>
        </p:nvSpPr>
        <p:spPr/>
        <p:txBody>
          <a:bodyPr/>
          <a:lstStyle/>
          <a:p>
            <a:r>
              <a:rPr lang="en-US" dirty="0"/>
              <a:t>Method to Create the Current State Map</a:t>
            </a:r>
          </a:p>
        </p:txBody>
      </p:sp>
      <p:sp>
        <p:nvSpPr>
          <p:cNvPr id="6" name="Slide Number Placeholder 5">
            <a:extLst>
              <a:ext uri="{FF2B5EF4-FFF2-40B4-BE49-F238E27FC236}">
                <a16:creationId xmlns:a16="http://schemas.microsoft.com/office/drawing/2014/main" id="{513532D1-AE2A-ADCD-94E6-52E41022128B}"/>
              </a:ext>
            </a:extLst>
          </p:cNvPr>
          <p:cNvSpPr>
            <a:spLocks noGrp="1"/>
          </p:cNvSpPr>
          <p:nvPr>
            <p:ph type="sldNum" sz="quarter" idx="4294967295"/>
          </p:nvPr>
        </p:nvSpPr>
        <p:spPr>
          <a:xfrm>
            <a:off x="9448800" y="6332538"/>
            <a:ext cx="2743200" cy="365125"/>
          </a:xfrm>
        </p:spPr>
        <p:txBody>
          <a:bodyPr/>
          <a:lstStyle/>
          <a:p>
            <a:fld id="{CC6D4273-7FC1-0947-B9FE-19CB3C0D1FB6}" type="slidenum">
              <a:rPr lang="en-US" smtClean="0"/>
              <a:t>26</a:t>
            </a:fld>
            <a:endParaRPr lang="en-US"/>
          </a:p>
        </p:txBody>
      </p:sp>
      <p:grpSp>
        <p:nvGrpSpPr>
          <p:cNvPr id="5" name="Group 4">
            <a:extLst>
              <a:ext uri="{FF2B5EF4-FFF2-40B4-BE49-F238E27FC236}">
                <a16:creationId xmlns:a16="http://schemas.microsoft.com/office/drawing/2014/main" id="{DE35709B-72C9-6B92-D788-D983FC21C92F}"/>
              </a:ext>
            </a:extLst>
          </p:cNvPr>
          <p:cNvGrpSpPr/>
          <p:nvPr/>
        </p:nvGrpSpPr>
        <p:grpSpPr>
          <a:xfrm>
            <a:off x="838200" y="297639"/>
            <a:ext cx="5391150" cy="307138"/>
            <a:chOff x="838200" y="297639"/>
            <a:chExt cx="5391150" cy="307138"/>
          </a:xfrm>
        </p:grpSpPr>
        <p:grpSp>
          <p:nvGrpSpPr>
            <p:cNvPr id="7" name="Group 6">
              <a:extLst>
                <a:ext uri="{FF2B5EF4-FFF2-40B4-BE49-F238E27FC236}">
                  <a16:creationId xmlns:a16="http://schemas.microsoft.com/office/drawing/2014/main" id="{0D2BDAE3-2B5E-D305-8D5F-D8019F93281F}"/>
                </a:ext>
              </a:extLst>
            </p:cNvPr>
            <p:cNvGrpSpPr/>
            <p:nvPr/>
          </p:nvGrpSpPr>
          <p:grpSpPr>
            <a:xfrm>
              <a:off x="838200" y="297639"/>
              <a:ext cx="1687517" cy="290657"/>
              <a:chOff x="838200" y="297639"/>
              <a:chExt cx="1687517" cy="290657"/>
            </a:xfrm>
          </p:grpSpPr>
          <p:sp>
            <p:nvSpPr>
              <p:cNvPr id="9" name="AutoShape 9">
                <a:extLst>
                  <a:ext uri="{FF2B5EF4-FFF2-40B4-BE49-F238E27FC236}">
                    <a16:creationId xmlns:a16="http://schemas.microsoft.com/office/drawing/2014/main" id="{EFFC2EDC-1783-AA9A-B0CD-6CE617AC1F22}"/>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0A835AE4-E892-D6EB-46EA-C65AB76783F4}"/>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1" name="Group 10">
                <a:extLst>
                  <a:ext uri="{FF2B5EF4-FFF2-40B4-BE49-F238E27FC236}">
                    <a16:creationId xmlns:a16="http://schemas.microsoft.com/office/drawing/2014/main" id="{5498620D-3E7E-00A2-F9E7-81BB4AA31F0C}"/>
                  </a:ext>
                </a:extLst>
              </p:cNvPr>
              <p:cNvGrpSpPr/>
              <p:nvPr/>
            </p:nvGrpSpPr>
            <p:grpSpPr>
              <a:xfrm>
                <a:off x="838200" y="297639"/>
                <a:ext cx="1060167" cy="290657"/>
                <a:chOff x="826426" y="4041857"/>
                <a:chExt cx="1060167" cy="290657"/>
              </a:xfrm>
            </p:grpSpPr>
            <p:sp>
              <p:nvSpPr>
                <p:cNvPr id="12" name="AutoShape 9">
                  <a:extLst>
                    <a:ext uri="{FF2B5EF4-FFF2-40B4-BE49-F238E27FC236}">
                      <a16:creationId xmlns:a16="http://schemas.microsoft.com/office/drawing/2014/main" id="{4DD944EB-2B26-3CAB-DB7E-D2EC1BBAA2C0}"/>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11">
                  <a:extLst>
                    <a:ext uri="{FF2B5EF4-FFF2-40B4-BE49-F238E27FC236}">
                      <a16:creationId xmlns:a16="http://schemas.microsoft.com/office/drawing/2014/main" id="{9D16A83C-1C27-C240-55AC-B0A7FEAD1B24}"/>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4" name="AutoShape 10">
                  <a:extLst>
                    <a:ext uri="{FF2B5EF4-FFF2-40B4-BE49-F238E27FC236}">
                      <a16:creationId xmlns:a16="http://schemas.microsoft.com/office/drawing/2014/main" id="{90E3585B-960A-2C28-3F33-89ED08FA9B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8" name="TextBox 7">
              <a:extLst>
                <a:ext uri="{FF2B5EF4-FFF2-40B4-BE49-F238E27FC236}">
                  <a16:creationId xmlns:a16="http://schemas.microsoft.com/office/drawing/2014/main" id="{CE6099A9-544D-D4D1-8652-EFA1274A58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90" name="Group 89">
            <a:extLst>
              <a:ext uri="{FF2B5EF4-FFF2-40B4-BE49-F238E27FC236}">
                <a16:creationId xmlns:a16="http://schemas.microsoft.com/office/drawing/2014/main" id="{4AD4A978-CA61-684A-C832-9AADB9D5DB8B}"/>
              </a:ext>
            </a:extLst>
          </p:cNvPr>
          <p:cNvGrpSpPr/>
          <p:nvPr/>
        </p:nvGrpSpPr>
        <p:grpSpPr>
          <a:xfrm>
            <a:off x="1988344" y="1898248"/>
            <a:ext cx="8215313" cy="4335782"/>
            <a:chOff x="434975" y="1398588"/>
            <a:chExt cx="8215313" cy="4866731"/>
          </a:xfrm>
        </p:grpSpPr>
        <p:sp>
          <p:nvSpPr>
            <p:cNvPr id="3" name="Rectangle 2">
              <a:extLst>
                <a:ext uri="{FF2B5EF4-FFF2-40B4-BE49-F238E27FC236}">
                  <a16:creationId xmlns:a16="http://schemas.microsoft.com/office/drawing/2014/main" id="{D09D648C-4EAB-B2AE-0F96-085AF3613F15}"/>
                </a:ext>
              </a:extLst>
            </p:cNvPr>
            <p:cNvSpPr>
              <a:spLocks noChangeArrowheads="1"/>
            </p:cNvSpPr>
            <p:nvPr/>
          </p:nvSpPr>
          <p:spPr bwMode="auto">
            <a:xfrm>
              <a:off x="1654175" y="1398588"/>
              <a:ext cx="5830888" cy="3160712"/>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grpSp>
          <p:nvGrpSpPr>
            <p:cNvPr id="4" name="Group 4">
              <a:extLst>
                <a:ext uri="{FF2B5EF4-FFF2-40B4-BE49-F238E27FC236}">
                  <a16:creationId xmlns:a16="http://schemas.microsoft.com/office/drawing/2014/main" id="{AD17A929-5476-F819-8321-7C1135F16156}"/>
                </a:ext>
              </a:extLst>
            </p:cNvPr>
            <p:cNvGrpSpPr>
              <a:grpSpLocks/>
            </p:cNvGrpSpPr>
            <p:nvPr/>
          </p:nvGrpSpPr>
          <p:grpSpPr bwMode="auto">
            <a:xfrm>
              <a:off x="1790700" y="1617663"/>
              <a:ext cx="1044575" cy="608012"/>
              <a:chOff x="933" y="2179"/>
              <a:chExt cx="658" cy="463"/>
            </a:xfrm>
          </p:grpSpPr>
          <p:sp>
            <p:nvSpPr>
              <p:cNvPr id="29" name="Rectangle 5">
                <a:extLst>
                  <a:ext uri="{FF2B5EF4-FFF2-40B4-BE49-F238E27FC236}">
                    <a16:creationId xmlns:a16="http://schemas.microsoft.com/office/drawing/2014/main" id="{634B9D79-0D1A-1EE5-73CD-D9A6972E385D}"/>
                  </a:ext>
                </a:extLst>
              </p:cNvPr>
              <p:cNvSpPr>
                <a:spLocks noChangeArrowheads="1"/>
              </p:cNvSpPr>
              <p:nvPr/>
            </p:nvSpPr>
            <p:spPr bwMode="auto">
              <a:xfrm>
                <a:off x="1544" y="2179"/>
                <a:ext cx="42" cy="250"/>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0" name="Rectangle 6">
                <a:extLst>
                  <a:ext uri="{FF2B5EF4-FFF2-40B4-BE49-F238E27FC236}">
                    <a16:creationId xmlns:a16="http://schemas.microsoft.com/office/drawing/2014/main" id="{DF1D99F9-3367-C0D4-D706-200C3A26676F}"/>
                  </a:ext>
                </a:extLst>
              </p:cNvPr>
              <p:cNvSpPr>
                <a:spLocks noChangeArrowheads="1"/>
              </p:cNvSpPr>
              <p:nvPr/>
            </p:nvSpPr>
            <p:spPr bwMode="auto">
              <a:xfrm>
                <a:off x="933" y="2435"/>
                <a:ext cx="658" cy="207"/>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1" name="AutoShape 7">
                <a:extLst>
                  <a:ext uri="{FF2B5EF4-FFF2-40B4-BE49-F238E27FC236}">
                    <a16:creationId xmlns:a16="http://schemas.microsoft.com/office/drawing/2014/main" id="{BACEE59F-8B28-9B20-A203-6474D308A676}"/>
                  </a:ext>
                </a:extLst>
              </p:cNvPr>
              <p:cNvSpPr>
                <a:spLocks noChangeArrowheads="1"/>
              </p:cNvSpPr>
              <p:nvPr/>
            </p:nvSpPr>
            <p:spPr bwMode="auto">
              <a:xfrm>
                <a:off x="1342" y="2245"/>
                <a:ext cx="202" cy="190"/>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2" name="AutoShape 8">
                <a:extLst>
                  <a:ext uri="{FF2B5EF4-FFF2-40B4-BE49-F238E27FC236}">
                    <a16:creationId xmlns:a16="http://schemas.microsoft.com/office/drawing/2014/main" id="{015852D6-91A1-A92A-B855-C3404DCFF131}"/>
                  </a:ext>
                </a:extLst>
              </p:cNvPr>
              <p:cNvSpPr>
                <a:spLocks noChangeArrowheads="1"/>
              </p:cNvSpPr>
              <p:nvPr/>
            </p:nvSpPr>
            <p:spPr bwMode="auto">
              <a:xfrm>
                <a:off x="1138" y="2245"/>
                <a:ext cx="202" cy="190"/>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3" name="AutoShape 9">
                <a:extLst>
                  <a:ext uri="{FF2B5EF4-FFF2-40B4-BE49-F238E27FC236}">
                    <a16:creationId xmlns:a16="http://schemas.microsoft.com/office/drawing/2014/main" id="{F6B321B8-3F58-28D5-9604-94A707821B73}"/>
                  </a:ext>
                </a:extLst>
              </p:cNvPr>
              <p:cNvSpPr>
                <a:spLocks noChangeArrowheads="1"/>
              </p:cNvSpPr>
              <p:nvPr/>
            </p:nvSpPr>
            <p:spPr bwMode="auto">
              <a:xfrm>
                <a:off x="934" y="2245"/>
                <a:ext cx="202" cy="190"/>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4" name="Rectangle 10">
                <a:extLst>
                  <a:ext uri="{FF2B5EF4-FFF2-40B4-BE49-F238E27FC236}">
                    <a16:creationId xmlns:a16="http://schemas.microsoft.com/office/drawing/2014/main" id="{0976AD5A-284A-224E-4E7B-E8D4BA116BA5}"/>
                  </a:ext>
                </a:extLst>
              </p:cNvPr>
              <p:cNvSpPr>
                <a:spLocks noChangeArrowheads="1"/>
              </p:cNvSpPr>
              <p:nvPr/>
            </p:nvSpPr>
            <p:spPr bwMode="auto">
              <a:xfrm>
                <a:off x="974" y="2354"/>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Rectangle 11">
                <a:extLst>
                  <a:ext uri="{FF2B5EF4-FFF2-40B4-BE49-F238E27FC236}">
                    <a16:creationId xmlns:a16="http://schemas.microsoft.com/office/drawing/2014/main" id="{DB3C3F4E-1B2E-C676-95C3-0791A6CB7787}"/>
                  </a:ext>
                </a:extLst>
              </p:cNvPr>
              <p:cNvSpPr>
                <a:spLocks noChangeArrowheads="1"/>
              </p:cNvSpPr>
              <p:nvPr/>
            </p:nvSpPr>
            <p:spPr bwMode="auto">
              <a:xfrm>
                <a:off x="1185" y="2354"/>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6" name="Rectangle 12">
                <a:extLst>
                  <a:ext uri="{FF2B5EF4-FFF2-40B4-BE49-F238E27FC236}">
                    <a16:creationId xmlns:a16="http://schemas.microsoft.com/office/drawing/2014/main" id="{DB81F42D-9316-2FB5-C22C-CC4301527BAC}"/>
                  </a:ext>
                </a:extLst>
              </p:cNvPr>
              <p:cNvSpPr>
                <a:spLocks noChangeArrowheads="1"/>
              </p:cNvSpPr>
              <p:nvPr/>
            </p:nvSpPr>
            <p:spPr bwMode="auto">
              <a:xfrm>
                <a:off x="1396" y="2354"/>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7" name="Group 13">
              <a:extLst>
                <a:ext uri="{FF2B5EF4-FFF2-40B4-BE49-F238E27FC236}">
                  <a16:creationId xmlns:a16="http://schemas.microsoft.com/office/drawing/2014/main" id="{69695BF1-0026-BDD3-331E-BDA01DE425AF}"/>
                </a:ext>
              </a:extLst>
            </p:cNvPr>
            <p:cNvGrpSpPr>
              <a:grpSpLocks/>
            </p:cNvGrpSpPr>
            <p:nvPr/>
          </p:nvGrpSpPr>
          <p:grpSpPr bwMode="auto">
            <a:xfrm>
              <a:off x="6191250" y="1617663"/>
              <a:ext cx="1044575" cy="608012"/>
              <a:chOff x="933" y="2179"/>
              <a:chExt cx="658" cy="463"/>
            </a:xfrm>
          </p:grpSpPr>
          <p:sp>
            <p:nvSpPr>
              <p:cNvPr id="38" name="Rectangle 14">
                <a:extLst>
                  <a:ext uri="{FF2B5EF4-FFF2-40B4-BE49-F238E27FC236}">
                    <a16:creationId xmlns:a16="http://schemas.microsoft.com/office/drawing/2014/main" id="{2D06871F-3516-9C25-35A9-1BCD3DC0C4A7}"/>
                  </a:ext>
                </a:extLst>
              </p:cNvPr>
              <p:cNvSpPr>
                <a:spLocks noChangeArrowheads="1"/>
              </p:cNvSpPr>
              <p:nvPr/>
            </p:nvSpPr>
            <p:spPr bwMode="auto">
              <a:xfrm>
                <a:off x="1544" y="2179"/>
                <a:ext cx="42" cy="250"/>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9" name="Rectangle 15">
                <a:extLst>
                  <a:ext uri="{FF2B5EF4-FFF2-40B4-BE49-F238E27FC236}">
                    <a16:creationId xmlns:a16="http://schemas.microsoft.com/office/drawing/2014/main" id="{A0252E15-F1F6-6B90-0354-685C4EDA3C74}"/>
                  </a:ext>
                </a:extLst>
              </p:cNvPr>
              <p:cNvSpPr>
                <a:spLocks noChangeArrowheads="1"/>
              </p:cNvSpPr>
              <p:nvPr/>
            </p:nvSpPr>
            <p:spPr bwMode="auto">
              <a:xfrm>
                <a:off x="933" y="2435"/>
                <a:ext cx="658" cy="207"/>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0" name="AutoShape 16">
                <a:extLst>
                  <a:ext uri="{FF2B5EF4-FFF2-40B4-BE49-F238E27FC236}">
                    <a16:creationId xmlns:a16="http://schemas.microsoft.com/office/drawing/2014/main" id="{4C80A715-BD6A-389F-3321-C7B35E8E42FB}"/>
                  </a:ext>
                </a:extLst>
              </p:cNvPr>
              <p:cNvSpPr>
                <a:spLocks noChangeArrowheads="1"/>
              </p:cNvSpPr>
              <p:nvPr/>
            </p:nvSpPr>
            <p:spPr bwMode="auto">
              <a:xfrm>
                <a:off x="1342" y="2245"/>
                <a:ext cx="202" cy="190"/>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1" name="AutoShape 17">
                <a:extLst>
                  <a:ext uri="{FF2B5EF4-FFF2-40B4-BE49-F238E27FC236}">
                    <a16:creationId xmlns:a16="http://schemas.microsoft.com/office/drawing/2014/main" id="{A30D70B8-3D7E-546E-A787-886493FEDB6F}"/>
                  </a:ext>
                </a:extLst>
              </p:cNvPr>
              <p:cNvSpPr>
                <a:spLocks noChangeArrowheads="1"/>
              </p:cNvSpPr>
              <p:nvPr/>
            </p:nvSpPr>
            <p:spPr bwMode="auto">
              <a:xfrm>
                <a:off x="1138" y="2245"/>
                <a:ext cx="202" cy="190"/>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2" name="AutoShape 18">
                <a:extLst>
                  <a:ext uri="{FF2B5EF4-FFF2-40B4-BE49-F238E27FC236}">
                    <a16:creationId xmlns:a16="http://schemas.microsoft.com/office/drawing/2014/main" id="{DBF8B692-C432-0011-E831-FEB8FB51E554}"/>
                  </a:ext>
                </a:extLst>
              </p:cNvPr>
              <p:cNvSpPr>
                <a:spLocks noChangeArrowheads="1"/>
              </p:cNvSpPr>
              <p:nvPr/>
            </p:nvSpPr>
            <p:spPr bwMode="auto">
              <a:xfrm>
                <a:off x="934" y="2245"/>
                <a:ext cx="202" cy="190"/>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3" name="Rectangle 19">
                <a:extLst>
                  <a:ext uri="{FF2B5EF4-FFF2-40B4-BE49-F238E27FC236}">
                    <a16:creationId xmlns:a16="http://schemas.microsoft.com/office/drawing/2014/main" id="{62460C1C-E047-EDAB-D8FE-F484A2E8AC3A}"/>
                  </a:ext>
                </a:extLst>
              </p:cNvPr>
              <p:cNvSpPr>
                <a:spLocks noChangeArrowheads="1"/>
              </p:cNvSpPr>
              <p:nvPr/>
            </p:nvSpPr>
            <p:spPr bwMode="auto">
              <a:xfrm>
                <a:off x="974" y="2354"/>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4" name="Rectangle 20">
                <a:extLst>
                  <a:ext uri="{FF2B5EF4-FFF2-40B4-BE49-F238E27FC236}">
                    <a16:creationId xmlns:a16="http://schemas.microsoft.com/office/drawing/2014/main" id="{84E2CA3D-8679-9E56-5242-0BD95B91A9FE}"/>
                  </a:ext>
                </a:extLst>
              </p:cNvPr>
              <p:cNvSpPr>
                <a:spLocks noChangeArrowheads="1"/>
              </p:cNvSpPr>
              <p:nvPr/>
            </p:nvSpPr>
            <p:spPr bwMode="auto">
              <a:xfrm>
                <a:off x="1185" y="2354"/>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5" name="Rectangle 21">
                <a:extLst>
                  <a:ext uri="{FF2B5EF4-FFF2-40B4-BE49-F238E27FC236}">
                    <a16:creationId xmlns:a16="http://schemas.microsoft.com/office/drawing/2014/main" id="{2B71BA44-8A65-0668-4ED0-01F39208E308}"/>
                  </a:ext>
                </a:extLst>
              </p:cNvPr>
              <p:cNvSpPr>
                <a:spLocks noChangeArrowheads="1"/>
              </p:cNvSpPr>
              <p:nvPr/>
            </p:nvSpPr>
            <p:spPr bwMode="auto">
              <a:xfrm>
                <a:off x="1396" y="2354"/>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6" name="Group 79">
              <a:extLst>
                <a:ext uri="{FF2B5EF4-FFF2-40B4-BE49-F238E27FC236}">
                  <a16:creationId xmlns:a16="http://schemas.microsoft.com/office/drawing/2014/main" id="{EBA6C799-DE8F-3731-95F4-6DB605232C79}"/>
                </a:ext>
              </a:extLst>
            </p:cNvPr>
            <p:cNvGrpSpPr>
              <a:grpSpLocks/>
            </p:cNvGrpSpPr>
            <p:nvPr/>
          </p:nvGrpSpPr>
          <p:grpSpPr bwMode="auto">
            <a:xfrm>
              <a:off x="5432425" y="2959100"/>
              <a:ext cx="485775" cy="1263650"/>
              <a:chOff x="3422" y="2069"/>
              <a:chExt cx="306" cy="796"/>
            </a:xfrm>
          </p:grpSpPr>
          <p:grpSp>
            <p:nvGrpSpPr>
              <p:cNvPr id="47" name="Group 76">
                <a:extLst>
                  <a:ext uri="{FF2B5EF4-FFF2-40B4-BE49-F238E27FC236}">
                    <a16:creationId xmlns:a16="http://schemas.microsoft.com/office/drawing/2014/main" id="{8576B537-7023-8B4B-FF61-A727D79A6FA7}"/>
                  </a:ext>
                </a:extLst>
              </p:cNvPr>
              <p:cNvGrpSpPr>
                <a:grpSpLocks/>
              </p:cNvGrpSpPr>
              <p:nvPr/>
            </p:nvGrpSpPr>
            <p:grpSpPr bwMode="auto">
              <a:xfrm>
                <a:off x="3422" y="2069"/>
                <a:ext cx="306" cy="796"/>
                <a:chOff x="3422" y="2069"/>
                <a:chExt cx="306" cy="796"/>
              </a:xfrm>
            </p:grpSpPr>
            <p:sp>
              <p:nvSpPr>
                <p:cNvPr id="49" name="Rectangle 24">
                  <a:extLst>
                    <a:ext uri="{FF2B5EF4-FFF2-40B4-BE49-F238E27FC236}">
                      <a16:creationId xmlns:a16="http://schemas.microsoft.com/office/drawing/2014/main" id="{81348198-3171-D25E-AC8A-4293256B6797}"/>
                    </a:ext>
                  </a:extLst>
                </p:cNvPr>
                <p:cNvSpPr>
                  <a:spLocks noChangeArrowheads="1"/>
                </p:cNvSpPr>
                <p:nvPr/>
              </p:nvSpPr>
              <p:spPr bwMode="auto">
                <a:xfrm>
                  <a:off x="3422" y="2069"/>
                  <a:ext cx="305" cy="381"/>
                </a:xfrm>
                <a:prstGeom prst="rect">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50" name="Group 44">
                  <a:extLst>
                    <a:ext uri="{FF2B5EF4-FFF2-40B4-BE49-F238E27FC236}">
                      <a16:creationId xmlns:a16="http://schemas.microsoft.com/office/drawing/2014/main" id="{6F0E14C8-E5AF-2A88-A674-B1B3A394C3C2}"/>
                    </a:ext>
                  </a:extLst>
                </p:cNvPr>
                <p:cNvGrpSpPr>
                  <a:grpSpLocks/>
                </p:cNvGrpSpPr>
                <p:nvPr/>
              </p:nvGrpSpPr>
              <p:grpSpPr bwMode="auto">
                <a:xfrm>
                  <a:off x="3423" y="2551"/>
                  <a:ext cx="305" cy="314"/>
                  <a:chOff x="1702" y="2990"/>
                  <a:chExt cx="269" cy="301"/>
                </a:xfrm>
              </p:grpSpPr>
              <p:sp>
                <p:nvSpPr>
                  <p:cNvPr id="51" name="Rectangle 45">
                    <a:extLst>
                      <a:ext uri="{FF2B5EF4-FFF2-40B4-BE49-F238E27FC236}">
                        <a16:creationId xmlns:a16="http://schemas.microsoft.com/office/drawing/2014/main" id="{A64A1ED9-91B6-02CC-6C31-D6197C46BA93}"/>
                      </a:ext>
                    </a:extLst>
                  </p:cNvPr>
                  <p:cNvSpPr>
                    <a:spLocks noChangeArrowheads="1"/>
                  </p:cNvSpPr>
                  <p:nvPr/>
                </p:nvSpPr>
                <p:spPr bwMode="auto">
                  <a:xfrm>
                    <a:off x="1702" y="2990"/>
                    <a:ext cx="269" cy="301"/>
                  </a:xfrm>
                  <a:prstGeom prst="rect">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Line 46">
                    <a:extLst>
                      <a:ext uri="{FF2B5EF4-FFF2-40B4-BE49-F238E27FC236}">
                        <a16:creationId xmlns:a16="http://schemas.microsoft.com/office/drawing/2014/main" id="{1C96BAE6-8A2F-E2C7-B30C-06F5B68760BC}"/>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3" name="Line 47">
                    <a:extLst>
                      <a:ext uri="{FF2B5EF4-FFF2-40B4-BE49-F238E27FC236}">
                        <a16:creationId xmlns:a16="http://schemas.microsoft.com/office/drawing/2014/main" id="{ECA0A188-8177-F2CD-6286-DDA538237EF6}"/>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4" name="Line 48">
                    <a:extLst>
                      <a:ext uri="{FF2B5EF4-FFF2-40B4-BE49-F238E27FC236}">
                        <a16:creationId xmlns:a16="http://schemas.microsoft.com/office/drawing/2014/main" id="{5CEC4EB5-71B8-1685-6F07-8D0E72B813AF}"/>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5" name="Line 49">
                    <a:extLst>
                      <a:ext uri="{FF2B5EF4-FFF2-40B4-BE49-F238E27FC236}">
                        <a16:creationId xmlns:a16="http://schemas.microsoft.com/office/drawing/2014/main" id="{86AA34FD-E98F-FFA1-E632-DC2A97A00321}"/>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6" name="Line 50">
                    <a:extLst>
                      <a:ext uri="{FF2B5EF4-FFF2-40B4-BE49-F238E27FC236}">
                        <a16:creationId xmlns:a16="http://schemas.microsoft.com/office/drawing/2014/main" id="{9AAFBEAE-9CCC-27D6-6012-B9B685390C5E}"/>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7" name="Line 51">
                    <a:extLst>
                      <a:ext uri="{FF2B5EF4-FFF2-40B4-BE49-F238E27FC236}">
                        <a16:creationId xmlns:a16="http://schemas.microsoft.com/office/drawing/2014/main" id="{C5FD95B4-6FB9-F0EF-7547-82413E26D3E9}"/>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sp>
            <p:nvSpPr>
              <p:cNvPr id="48" name="Line 27">
                <a:extLst>
                  <a:ext uri="{FF2B5EF4-FFF2-40B4-BE49-F238E27FC236}">
                    <a16:creationId xmlns:a16="http://schemas.microsoft.com/office/drawing/2014/main" id="{28A911D9-F4FB-5055-045E-E552D485F41E}"/>
                  </a:ext>
                </a:extLst>
              </p:cNvPr>
              <p:cNvSpPr>
                <a:spLocks noChangeShapeType="1"/>
              </p:cNvSpPr>
              <p:nvPr/>
            </p:nvSpPr>
            <p:spPr bwMode="auto">
              <a:xfrm>
                <a:off x="3424" y="2157"/>
                <a:ext cx="30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58" name="Group 81">
              <a:extLst>
                <a:ext uri="{FF2B5EF4-FFF2-40B4-BE49-F238E27FC236}">
                  <a16:creationId xmlns:a16="http://schemas.microsoft.com/office/drawing/2014/main" id="{0A163E66-16F9-A5CC-A8B8-41E5A564B7B2}"/>
                </a:ext>
              </a:extLst>
            </p:cNvPr>
            <p:cNvGrpSpPr>
              <a:grpSpLocks/>
            </p:cNvGrpSpPr>
            <p:nvPr/>
          </p:nvGrpSpPr>
          <p:grpSpPr bwMode="auto">
            <a:xfrm>
              <a:off x="2825750" y="2959100"/>
              <a:ext cx="495300" cy="1249363"/>
              <a:chOff x="1780" y="2069"/>
              <a:chExt cx="312" cy="787"/>
            </a:xfrm>
          </p:grpSpPr>
          <p:sp>
            <p:nvSpPr>
              <p:cNvPr id="59" name="Rectangle 22">
                <a:extLst>
                  <a:ext uri="{FF2B5EF4-FFF2-40B4-BE49-F238E27FC236}">
                    <a16:creationId xmlns:a16="http://schemas.microsoft.com/office/drawing/2014/main" id="{5812FB19-AF53-4727-EB19-839542AED852}"/>
                  </a:ext>
                </a:extLst>
              </p:cNvPr>
              <p:cNvSpPr>
                <a:spLocks noChangeArrowheads="1"/>
              </p:cNvSpPr>
              <p:nvPr/>
            </p:nvSpPr>
            <p:spPr bwMode="auto">
              <a:xfrm>
                <a:off x="1780" y="2069"/>
                <a:ext cx="305" cy="381"/>
              </a:xfrm>
              <a:prstGeom prst="rect">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0" name="Line 25">
                <a:extLst>
                  <a:ext uri="{FF2B5EF4-FFF2-40B4-BE49-F238E27FC236}">
                    <a16:creationId xmlns:a16="http://schemas.microsoft.com/office/drawing/2014/main" id="{DF4E7CD9-77F2-016D-B2C3-9940DDF20F90}"/>
                  </a:ext>
                </a:extLst>
              </p:cNvPr>
              <p:cNvSpPr>
                <a:spLocks noChangeShapeType="1"/>
              </p:cNvSpPr>
              <p:nvPr/>
            </p:nvSpPr>
            <p:spPr bwMode="auto">
              <a:xfrm>
                <a:off x="1787" y="2169"/>
                <a:ext cx="303"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61" name="Group 28">
                <a:extLst>
                  <a:ext uri="{FF2B5EF4-FFF2-40B4-BE49-F238E27FC236}">
                    <a16:creationId xmlns:a16="http://schemas.microsoft.com/office/drawing/2014/main" id="{4D53CCD1-B38F-ED74-56BD-0AB14492F86B}"/>
                  </a:ext>
                </a:extLst>
              </p:cNvPr>
              <p:cNvGrpSpPr>
                <a:grpSpLocks/>
              </p:cNvGrpSpPr>
              <p:nvPr/>
            </p:nvGrpSpPr>
            <p:grpSpPr bwMode="auto">
              <a:xfrm>
                <a:off x="1787" y="2542"/>
                <a:ext cx="305" cy="314"/>
                <a:chOff x="1702" y="2990"/>
                <a:chExt cx="269" cy="301"/>
              </a:xfrm>
            </p:grpSpPr>
            <p:sp>
              <p:nvSpPr>
                <p:cNvPr id="62" name="Rectangle 29">
                  <a:extLst>
                    <a:ext uri="{FF2B5EF4-FFF2-40B4-BE49-F238E27FC236}">
                      <a16:creationId xmlns:a16="http://schemas.microsoft.com/office/drawing/2014/main" id="{6D8BE90D-1C28-E551-598F-84B87EA4B9ED}"/>
                    </a:ext>
                  </a:extLst>
                </p:cNvPr>
                <p:cNvSpPr>
                  <a:spLocks noChangeArrowheads="1"/>
                </p:cNvSpPr>
                <p:nvPr/>
              </p:nvSpPr>
              <p:spPr bwMode="auto">
                <a:xfrm>
                  <a:off x="1702" y="2990"/>
                  <a:ext cx="269" cy="301"/>
                </a:xfrm>
                <a:prstGeom prst="rect">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3" name="Line 30">
                  <a:extLst>
                    <a:ext uri="{FF2B5EF4-FFF2-40B4-BE49-F238E27FC236}">
                      <a16:creationId xmlns:a16="http://schemas.microsoft.com/office/drawing/2014/main" id="{CFAD80B8-A2D9-3C66-4A34-9B6A92A16188}"/>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Line 31">
                  <a:extLst>
                    <a:ext uri="{FF2B5EF4-FFF2-40B4-BE49-F238E27FC236}">
                      <a16:creationId xmlns:a16="http://schemas.microsoft.com/office/drawing/2014/main" id="{0FC0BF02-94A9-3075-8B4E-56D6A7016095}"/>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5" name="Line 32">
                  <a:extLst>
                    <a:ext uri="{FF2B5EF4-FFF2-40B4-BE49-F238E27FC236}">
                      <a16:creationId xmlns:a16="http://schemas.microsoft.com/office/drawing/2014/main" id="{31CBC461-39D8-BB13-25C9-43447F907ACF}"/>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6" name="Line 33">
                  <a:extLst>
                    <a:ext uri="{FF2B5EF4-FFF2-40B4-BE49-F238E27FC236}">
                      <a16:creationId xmlns:a16="http://schemas.microsoft.com/office/drawing/2014/main" id="{F48F4C29-E88B-0354-DFB3-E946423F495D}"/>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7" name="Line 34">
                  <a:extLst>
                    <a:ext uri="{FF2B5EF4-FFF2-40B4-BE49-F238E27FC236}">
                      <a16:creationId xmlns:a16="http://schemas.microsoft.com/office/drawing/2014/main" id="{6F63C8BF-8424-4D52-573D-F734DC0075AD}"/>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8" name="Line 35">
                  <a:extLst>
                    <a:ext uri="{FF2B5EF4-FFF2-40B4-BE49-F238E27FC236}">
                      <a16:creationId xmlns:a16="http://schemas.microsoft.com/office/drawing/2014/main" id="{BEBD76AC-E14C-50F8-71E8-CD8008887C7E}"/>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grpSp>
          <p:nvGrpSpPr>
            <p:cNvPr id="69" name="Group 78">
              <a:extLst>
                <a:ext uri="{FF2B5EF4-FFF2-40B4-BE49-F238E27FC236}">
                  <a16:creationId xmlns:a16="http://schemas.microsoft.com/office/drawing/2014/main" id="{A7E8052B-081C-8B82-1519-E2625D1D3744}"/>
                </a:ext>
              </a:extLst>
            </p:cNvPr>
            <p:cNvGrpSpPr>
              <a:grpSpLocks/>
            </p:cNvGrpSpPr>
            <p:nvPr/>
          </p:nvGrpSpPr>
          <p:grpSpPr bwMode="auto">
            <a:xfrm>
              <a:off x="4141788" y="2959100"/>
              <a:ext cx="487362" cy="1282700"/>
              <a:chOff x="2609" y="2069"/>
              <a:chExt cx="307" cy="808"/>
            </a:xfrm>
          </p:grpSpPr>
          <p:sp>
            <p:nvSpPr>
              <p:cNvPr id="70" name="Rectangle 23">
                <a:extLst>
                  <a:ext uri="{FF2B5EF4-FFF2-40B4-BE49-F238E27FC236}">
                    <a16:creationId xmlns:a16="http://schemas.microsoft.com/office/drawing/2014/main" id="{B6AC6D5D-11BE-BEF5-075B-A234DC513EBB}"/>
                  </a:ext>
                </a:extLst>
              </p:cNvPr>
              <p:cNvSpPr>
                <a:spLocks noChangeArrowheads="1"/>
              </p:cNvSpPr>
              <p:nvPr/>
            </p:nvSpPr>
            <p:spPr bwMode="auto">
              <a:xfrm>
                <a:off x="2611" y="2069"/>
                <a:ext cx="305" cy="381"/>
              </a:xfrm>
              <a:prstGeom prst="rect">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1" name="Line 26">
                <a:extLst>
                  <a:ext uri="{FF2B5EF4-FFF2-40B4-BE49-F238E27FC236}">
                    <a16:creationId xmlns:a16="http://schemas.microsoft.com/office/drawing/2014/main" id="{0937D156-C361-E48A-CD66-8A4893CA1996}"/>
                  </a:ext>
                </a:extLst>
              </p:cNvPr>
              <p:cNvSpPr>
                <a:spLocks noChangeShapeType="1"/>
              </p:cNvSpPr>
              <p:nvPr/>
            </p:nvSpPr>
            <p:spPr bwMode="auto">
              <a:xfrm>
                <a:off x="2609" y="2163"/>
                <a:ext cx="303"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72" name="Group 36">
                <a:extLst>
                  <a:ext uri="{FF2B5EF4-FFF2-40B4-BE49-F238E27FC236}">
                    <a16:creationId xmlns:a16="http://schemas.microsoft.com/office/drawing/2014/main" id="{E0EA60F1-A365-FA00-6E90-64725E54AC20}"/>
                  </a:ext>
                </a:extLst>
              </p:cNvPr>
              <p:cNvGrpSpPr>
                <a:grpSpLocks/>
              </p:cNvGrpSpPr>
              <p:nvPr/>
            </p:nvGrpSpPr>
            <p:grpSpPr bwMode="auto">
              <a:xfrm>
                <a:off x="2611" y="2563"/>
                <a:ext cx="305" cy="314"/>
                <a:chOff x="1702" y="2990"/>
                <a:chExt cx="269" cy="301"/>
              </a:xfrm>
            </p:grpSpPr>
            <p:sp>
              <p:nvSpPr>
                <p:cNvPr id="73" name="Rectangle 37">
                  <a:extLst>
                    <a:ext uri="{FF2B5EF4-FFF2-40B4-BE49-F238E27FC236}">
                      <a16:creationId xmlns:a16="http://schemas.microsoft.com/office/drawing/2014/main" id="{2DA3F524-C4AF-AA47-CD03-9210ED866420}"/>
                    </a:ext>
                  </a:extLst>
                </p:cNvPr>
                <p:cNvSpPr>
                  <a:spLocks noChangeArrowheads="1"/>
                </p:cNvSpPr>
                <p:nvPr/>
              </p:nvSpPr>
              <p:spPr bwMode="auto">
                <a:xfrm>
                  <a:off x="1702" y="2990"/>
                  <a:ext cx="269" cy="301"/>
                </a:xfrm>
                <a:prstGeom prst="rect">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4" name="Line 38">
                  <a:extLst>
                    <a:ext uri="{FF2B5EF4-FFF2-40B4-BE49-F238E27FC236}">
                      <a16:creationId xmlns:a16="http://schemas.microsoft.com/office/drawing/2014/main" id="{90AA8961-4908-8DD9-A772-95E5A522BDEE}"/>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5" name="Line 39">
                  <a:extLst>
                    <a:ext uri="{FF2B5EF4-FFF2-40B4-BE49-F238E27FC236}">
                      <a16:creationId xmlns:a16="http://schemas.microsoft.com/office/drawing/2014/main" id="{FE6F1927-07CD-0873-4B2E-DDFA42F0E5AA}"/>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6" name="Line 40">
                  <a:extLst>
                    <a:ext uri="{FF2B5EF4-FFF2-40B4-BE49-F238E27FC236}">
                      <a16:creationId xmlns:a16="http://schemas.microsoft.com/office/drawing/2014/main" id="{6899DE7A-0D81-DF58-DC2C-7C27CB1E426A}"/>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7" name="Line 41">
                  <a:extLst>
                    <a:ext uri="{FF2B5EF4-FFF2-40B4-BE49-F238E27FC236}">
                      <a16:creationId xmlns:a16="http://schemas.microsoft.com/office/drawing/2014/main" id="{4C826526-B42A-E143-9100-29B172641E56}"/>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8" name="Line 42">
                  <a:extLst>
                    <a:ext uri="{FF2B5EF4-FFF2-40B4-BE49-F238E27FC236}">
                      <a16:creationId xmlns:a16="http://schemas.microsoft.com/office/drawing/2014/main" id="{A2B25203-E03B-3C72-4B5B-96A49ACAF25C}"/>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9" name="Line 43">
                  <a:extLst>
                    <a:ext uri="{FF2B5EF4-FFF2-40B4-BE49-F238E27FC236}">
                      <a16:creationId xmlns:a16="http://schemas.microsoft.com/office/drawing/2014/main" id="{06AC47E9-91D0-4F69-15D7-7F3B39B3BFB4}"/>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grpSp>
          <p:nvGrpSpPr>
            <p:cNvPr id="80" name="Group 80">
              <a:extLst>
                <a:ext uri="{FF2B5EF4-FFF2-40B4-BE49-F238E27FC236}">
                  <a16:creationId xmlns:a16="http://schemas.microsoft.com/office/drawing/2014/main" id="{953A0F3F-621C-3EDB-5A2F-9F5D3CFD4516}"/>
                </a:ext>
              </a:extLst>
            </p:cNvPr>
            <p:cNvGrpSpPr>
              <a:grpSpLocks/>
            </p:cNvGrpSpPr>
            <p:nvPr/>
          </p:nvGrpSpPr>
          <p:grpSpPr bwMode="auto">
            <a:xfrm>
              <a:off x="3321050" y="3125788"/>
              <a:ext cx="825500" cy="265112"/>
              <a:chOff x="2092" y="2174"/>
              <a:chExt cx="520" cy="167"/>
            </a:xfrm>
          </p:grpSpPr>
          <p:sp>
            <p:nvSpPr>
              <p:cNvPr id="81" name="Line 52">
                <a:extLst>
                  <a:ext uri="{FF2B5EF4-FFF2-40B4-BE49-F238E27FC236}">
                    <a16:creationId xmlns:a16="http://schemas.microsoft.com/office/drawing/2014/main" id="{22D01E88-FA4A-DAEE-6805-3732A780F987}"/>
                  </a:ext>
                </a:extLst>
              </p:cNvPr>
              <p:cNvSpPr>
                <a:spLocks noChangeShapeType="1"/>
              </p:cNvSpPr>
              <p:nvPr/>
            </p:nvSpPr>
            <p:spPr bwMode="auto">
              <a:xfrm flipV="1">
                <a:off x="2092" y="2260"/>
                <a:ext cx="520" cy="1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2" name="AutoShape 53">
                <a:extLst>
                  <a:ext uri="{FF2B5EF4-FFF2-40B4-BE49-F238E27FC236}">
                    <a16:creationId xmlns:a16="http://schemas.microsoft.com/office/drawing/2014/main" id="{7A2C3776-B77F-0F7D-5048-40206E264D8C}"/>
                  </a:ext>
                </a:extLst>
              </p:cNvPr>
              <p:cNvSpPr>
                <a:spLocks noChangeArrowheads="1"/>
              </p:cNvSpPr>
              <p:nvPr/>
            </p:nvSpPr>
            <p:spPr bwMode="auto">
              <a:xfrm>
                <a:off x="2258" y="2174"/>
                <a:ext cx="166" cy="167"/>
              </a:xfrm>
              <a:prstGeom prst="triangle">
                <a:avLst>
                  <a:gd name="adj" fmla="val 50000"/>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grpSp>
        <p:grpSp>
          <p:nvGrpSpPr>
            <p:cNvPr id="83" name="Group 77">
              <a:extLst>
                <a:ext uri="{FF2B5EF4-FFF2-40B4-BE49-F238E27FC236}">
                  <a16:creationId xmlns:a16="http://schemas.microsoft.com/office/drawing/2014/main" id="{0FA8DC73-FEAC-CB5F-9FAA-95A61F7E51E1}"/>
                </a:ext>
              </a:extLst>
            </p:cNvPr>
            <p:cNvGrpSpPr>
              <a:grpSpLocks/>
            </p:cNvGrpSpPr>
            <p:nvPr/>
          </p:nvGrpSpPr>
          <p:grpSpPr bwMode="auto">
            <a:xfrm>
              <a:off x="4665663" y="3125788"/>
              <a:ext cx="825500" cy="265112"/>
              <a:chOff x="2939" y="2174"/>
              <a:chExt cx="520" cy="167"/>
            </a:xfrm>
          </p:grpSpPr>
          <p:sp>
            <p:nvSpPr>
              <p:cNvPr id="84" name="Line 54">
                <a:extLst>
                  <a:ext uri="{FF2B5EF4-FFF2-40B4-BE49-F238E27FC236}">
                    <a16:creationId xmlns:a16="http://schemas.microsoft.com/office/drawing/2014/main" id="{405B67D1-559C-16EF-E896-604E49A32278}"/>
                  </a:ext>
                </a:extLst>
              </p:cNvPr>
              <p:cNvSpPr>
                <a:spLocks noChangeShapeType="1"/>
              </p:cNvSpPr>
              <p:nvPr/>
            </p:nvSpPr>
            <p:spPr bwMode="auto">
              <a:xfrm flipV="1">
                <a:off x="2939" y="2260"/>
                <a:ext cx="520" cy="1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5" name="AutoShape 55">
                <a:extLst>
                  <a:ext uri="{FF2B5EF4-FFF2-40B4-BE49-F238E27FC236}">
                    <a16:creationId xmlns:a16="http://schemas.microsoft.com/office/drawing/2014/main" id="{61E9CD67-BA55-909C-B058-B1FF94C1E24D}"/>
                  </a:ext>
                </a:extLst>
              </p:cNvPr>
              <p:cNvSpPr>
                <a:spLocks noChangeArrowheads="1"/>
              </p:cNvSpPr>
              <p:nvPr/>
            </p:nvSpPr>
            <p:spPr bwMode="auto">
              <a:xfrm>
                <a:off x="3085" y="2174"/>
                <a:ext cx="166" cy="167"/>
              </a:xfrm>
              <a:prstGeom prst="triangle">
                <a:avLst>
                  <a:gd name="adj" fmla="val 50000"/>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grpSp>
        <p:sp>
          <p:nvSpPr>
            <p:cNvPr id="86" name="AutoShape 56">
              <a:extLst>
                <a:ext uri="{FF2B5EF4-FFF2-40B4-BE49-F238E27FC236}">
                  <a16:creationId xmlns:a16="http://schemas.microsoft.com/office/drawing/2014/main" id="{74CF1772-6DD0-3992-EF23-23CBEFED6595}"/>
                </a:ext>
              </a:extLst>
            </p:cNvPr>
            <p:cNvSpPr>
              <a:spLocks noChangeArrowheads="1"/>
            </p:cNvSpPr>
            <p:nvPr/>
          </p:nvSpPr>
          <p:spPr bwMode="auto">
            <a:xfrm rot="18900000">
              <a:off x="5845175" y="2492375"/>
              <a:ext cx="1122363" cy="317500"/>
            </a:xfrm>
            <a:prstGeom prst="rightArrow">
              <a:avLst>
                <a:gd name="adj1" fmla="val 50000"/>
                <a:gd name="adj2" fmla="val 88375"/>
              </a:avLst>
            </a:prstGeom>
            <a:solidFill>
              <a:schemeClr val="tx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AutoShape 57">
              <a:extLst>
                <a:ext uri="{FF2B5EF4-FFF2-40B4-BE49-F238E27FC236}">
                  <a16:creationId xmlns:a16="http://schemas.microsoft.com/office/drawing/2014/main" id="{5672FB80-34DE-9244-6DEE-36D3B7C27AD5}"/>
                </a:ext>
              </a:extLst>
            </p:cNvPr>
            <p:cNvSpPr>
              <a:spLocks noChangeArrowheads="1"/>
            </p:cNvSpPr>
            <p:nvPr/>
          </p:nvSpPr>
          <p:spPr bwMode="auto">
            <a:xfrm rot="2772363">
              <a:off x="1877219" y="2518569"/>
              <a:ext cx="1035050" cy="344488"/>
            </a:xfrm>
            <a:prstGeom prst="rightArrow">
              <a:avLst>
                <a:gd name="adj1" fmla="val 50000"/>
                <a:gd name="adj2" fmla="val 75115"/>
              </a:avLst>
            </a:prstGeom>
            <a:solidFill>
              <a:schemeClr val="tx2"/>
            </a:solidFill>
            <a:ln w="12700" cap="sq">
              <a:solidFill>
                <a:schemeClr val="tx1"/>
              </a:solidFill>
              <a:miter lim="800000"/>
              <a:headEnd type="none" w="sm" len="sm"/>
              <a:tailEnd type="none" w="sm" len="sm"/>
            </a:ln>
          </p:spPr>
          <p:txBody>
            <a:bodyPr rot="10800000" vert="eaVert"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Text Box 115">
              <a:extLst>
                <a:ext uri="{FF2B5EF4-FFF2-40B4-BE49-F238E27FC236}">
                  <a16:creationId xmlns:a16="http://schemas.microsoft.com/office/drawing/2014/main" id="{37155C94-10E4-47D6-CC41-59E7819851CF}"/>
                </a:ext>
              </a:extLst>
            </p:cNvPr>
            <p:cNvSpPr txBox="1">
              <a:spLocks noChangeArrowheads="1"/>
            </p:cNvSpPr>
            <p:nvPr/>
          </p:nvSpPr>
          <p:spPr bwMode="auto">
            <a:xfrm>
              <a:off x="3665538" y="1768475"/>
              <a:ext cx="1688283" cy="310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solidFill>
                    <a:schemeClr val="tx1"/>
                  </a:solidFill>
                  <a:latin typeface="Roboto" panose="02000000000000000000" pitchFamily="2" charset="0"/>
                  <a:ea typeface="Roboto" panose="02000000000000000000" pitchFamily="2" charset="0"/>
                </a:rPr>
                <a:t>VALUE STREAM MAP</a:t>
              </a:r>
            </a:p>
          </p:txBody>
        </p:sp>
        <p:sp>
          <p:nvSpPr>
            <p:cNvPr id="89" name="Text Box 82">
              <a:extLst>
                <a:ext uri="{FF2B5EF4-FFF2-40B4-BE49-F238E27FC236}">
                  <a16:creationId xmlns:a16="http://schemas.microsoft.com/office/drawing/2014/main" id="{35E1E38F-7525-B38C-6E07-CD0C804FF44F}"/>
                </a:ext>
              </a:extLst>
            </p:cNvPr>
            <p:cNvSpPr txBox="1">
              <a:spLocks noChangeArrowheads="1"/>
            </p:cNvSpPr>
            <p:nvPr/>
          </p:nvSpPr>
          <p:spPr bwMode="auto">
            <a:xfrm>
              <a:off x="434975" y="5056188"/>
              <a:ext cx="8215313" cy="1209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spAutoFit/>
            </a:bodyPr>
            <a:lstStyle>
              <a:lvl1pPr marL="231775" indent="-231775">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spcBef>
                  <a:spcPct val="5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When creating the Current State Map the team walks the process in reverse</a:t>
              </a:r>
            </a:p>
            <a:p>
              <a:pPr marL="285750" indent="-285750" algn="l">
                <a:spcBef>
                  <a:spcPct val="5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We see the process from the customer</a:t>
              </a:r>
              <a:r>
                <a:rPr lang="ja-JP" altLang="en-US" sz="1600" dirty="0">
                  <a:solidFill>
                    <a:schemeClr val="tx1"/>
                  </a:solidFill>
                  <a:latin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rPr>
                <a:t>s perspective</a:t>
              </a:r>
            </a:p>
            <a:p>
              <a:pPr marL="285750" indent="-285750" algn="l">
                <a:spcBef>
                  <a:spcPct val="5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Walking from the end to the beginning allows the team to SEE the waste!</a:t>
              </a:r>
            </a:p>
          </p:txBody>
        </p:sp>
      </p:grpSp>
    </p:spTree>
    <p:extLst>
      <p:ext uri="{BB962C8B-B14F-4D97-AF65-F5344CB8AC3E}">
        <p14:creationId xmlns:p14="http://schemas.microsoft.com/office/powerpoint/2010/main" val="241728667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668A9-873A-57D2-016B-C3B5AEEC0C72}"/>
              </a:ext>
            </a:extLst>
          </p:cNvPr>
          <p:cNvSpPr>
            <a:spLocks noGrp="1"/>
          </p:cNvSpPr>
          <p:nvPr>
            <p:ph type="title"/>
          </p:nvPr>
        </p:nvSpPr>
        <p:spPr/>
        <p:txBody>
          <a:bodyPr/>
          <a:lstStyle/>
          <a:p>
            <a:r>
              <a:rPr lang="en-US" dirty="0"/>
              <a:t>Layout of the Current State Map</a:t>
            </a:r>
          </a:p>
        </p:txBody>
      </p:sp>
      <p:sp>
        <p:nvSpPr>
          <p:cNvPr id="6" name="Slide Number Placeholder 5">
            <a:extLst>
              <a:ext uri="{FF2B5EF4-FFF2-40B4-BE49-F238E27FC236}">
                <a16:creationId xmlns:a16="http://schemas.microsoft.com/office/drawing/2014/main" id="{513532D1-AE2A-ADCD-94E6-52E41022128B}"/>
              </a:ext>
            </a:extLst>
          </p:cNvPr>
          <p:cNvSpPr>
            <a:spLocks noGrp="1"/>
          </p:cNvSpPr>
          <p:nvPr>
            <p:ph type="sldNum" sz="quarter" idx="4294967295"/>
          </p:nvPr>
        </p:nvSpPr>
        <p:spPr>
          <a:xfrm>
            <a:off x="9448800" y="6332538"/>
            <a:ext cx="2743200" cy="365125"/>
          </a:xfrm>
        </p:spPr>
        <p:txBody>
          <a:bodyPr/>
          <a:lstStyle/>
          <a:p>
            <a:fld id="{CC6D4273-7FC1-0947-B9FE-19CB3C0D1FB6}" type="slidenum">
              <a:rPr lang="en-US" smtClean="0"/>
              <a:t>27</a:t>
            </a:fld>
            <a:endParaRPr lang="en-US"/>
          </a:p>
        </p:txBody>
      </p:sp>
      <p:grpSp>
        <p:nvGrpSpPr>
          <p:cNvPr id="5" name="Group 4">
            <a:extLst>
              <a:ext uri="{FF2B5EF4-FFF2-40B4-BE49-F238E27FC236}">
                <a16:creationId xmlns:a16="http://schemas.microsoft.com/office/drawing/2014/main" id="{DE35709B-72C9-6B92-D788-D983FC21C92F}"/>
              </a:ext>
            </a:extLst>
          </p:cNvPr>
          <p:cNvGrpSpPr/>
          <p:nvPr/>
        </p:nvGrpSpPr>
        <p:grpSpPr>
          <a:xfrm>
            <a:off x="838200" y="297639"/>
            <a:ext cx="5391150" cy="307138"/>
            <a:chOff x="838200" y="297639"/>
            <a:chExt cx="5391150" cy="307138"/>
          </a:xfrm>
        </p:grpSpPr>
        <p:grpSp>
          <p:nvGrpSpPr>
            <p:cNvPr id="7" name="Group 6">
              <a:extLst>
                <a:ext uri="{FF2B5EF4-FFF2-40B4-BE49-F238E27FC236}">
                  <a16:creationId xmlns:a16="http://schemas.microsoft.com/office/drawing/2014/main" id="{0D2BDAE3-2B5E-D305-8D5F-D8019F93281F}"/>
                </a:ext>
              </a:extLst>
            </p:cNvPr>
            <p:cNvGrpSpPr/>
            <p:nvPr/>
          </p:nvGrpSpPr>
          <p:grpSpPr>
            <a:xfrm>
              <a:off x="838200" y="297639"/>
              <a:ext cx="1687517" cy="290657"/>
              <a:chOff x="838200" y="297639"/>
              <a:chExt cx="1687517" cy="290657"/>
            </a:xfrm>
          </p:grpSpPr>
          <p:sp>
            <p:nvSpPr>
              <p:cNvPr id="9" name="AutoShape 9">
                <a:extLst>
                  <a:ext uri="{FF2B5EF4-FFF2-40B4-BE49-F238E27FC236}">
                    <a16:creationId xmlns:a16="http://schemas.microsoft.com/office/drawing/2014/main" id="{EFFC2EDC-1783-AA9A-B0CD-6CE617AC1F22}"/>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0A835AE4-E892-D6EB-46EA-C65AB76783F4}"/>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1" name="Group 10">
                <a:extLst>
                  <a:ext uri="{FF2B5EF4-FFF2-40B4-BE49-F238E27FC236}">
                    <a16:creationId xmlns:a16="http://schemas.microsoft.com/office/drawing/2014/main" id="{5498620D-3E7E-00A2-F9E7-81BB4AA31F0C}"/>
                  </a:ext>
                </a:extLst>
              </p:cNvPr>
              <p:cNvGrpSpPr/>
              <p:nvPr/>
            </p:nvGrpSpPr>
            <p:grpSpPr>
              <a:xfrm>
                <a:off x="838200" y="297639"/>
                <a:ext cx="1060167" cy="290657"/>
                <a:chOff x="826426" y="4041857"/>
                <a:chExt cx="1060167" cy="290657"/>
              </a:xfrm>
            </p:grpSpPr>
            <p:sp>
              <p:nvSpPr>
                <p:cNvPr id="12" name="AutoShape 9">
                  <a:extLst>
                    <a:ext uri="{FF2B5EF4-FFF2-40B4-BE49-F238E27FC236}">
                      <a16:creationId xmlns:a16="http://schemas.microsoft.com/office/drawing/2014/main" id="{4DD944EB-2B26-3CAB-DB7E-D2EC1BBAA2C0}"/>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11">
                  <a:extLst>
                    <a:ext uri="{FF2B5EF4-FFF2-40B4-BE49-F238E27FC236}">
                      <a16:creationId xmlns:a16="http://schemas.microsoft.com/office/drawing/2014/main" id="{9D16A83C-1C27-C240-55AC-B0A7FEAD1B24}"/>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4" name="AutoShape 10">
                  <a:extLst>
                    <a:ext uri="{FF2B5EF4-FFF2-40B4-BE49-F238E27FC236}">
                      <a16:creationId xmlns:a16="http://schemas.microsoft.com/office/drawing/2014/main" id="{90E3585B-960A-2C28-3F33-89ED08FA9B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8" name="TextBox 7">
              <a:extLst>
                <a:ext uri="{FF2B5EF4-FFF2-40B4-BE49-F238E27FC236}">
                  <a16:creationId xmlns:a16="http://schemas.microsoft.com/office/drawing/2014/main" id="{CE6099A9-544D-D4D1-8652-EFA1274A58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24" name="Group 223">
            <a:extLst>
              <a:ext uri="{FF2B5EF4-FFF2-40B4-BE49-F238E27FC236}">
                <a16:creationId xmlns:a16="http://schemas.microsoft.com/office/drawing/2014/main" id="{32DC5B60-75F0-0EE9-E422-5D0FF01A0212}"/>
              </a:ext>
            </a:extLst>
          </p:cNvPr>
          <p:cNvGrpSpPr/>
          <p:nvPr/>
        </p:nvGrpSpPr>
        <p:grpSpPr>
          <a:xfrm>
            <a:off x="1158240" y="1766948"/>
            <a:ext cx="9875520" cy="4386202"/>
            <a:chOff x="457200" y="1476375"/>
            <a:chExt cx="8266113" cy="4676775"/>
          </a:xfrm>
        </p:grpSpPr>
        <p:sp>
          <p:nvSpPr>
            <p:cNvPr id="15" name="Rectangle 2">
              <a:extLst>
                <a:ext uri="{FF2B5EF4-FFF2-40B4-BE49-F238E27FC236}">
                  <a16:creationId xmlns:a16="http://schemas.microsoft.com/office/drawing/2014/main" id="{B0C96B7E-58B6-A6C4-BC1A-AF0C1F907DD1}"/>
                </a:ext>
              </a:extLst>
            </p:cNvPr>
            <p:cNvSpPr>
              <a:spLocks noChangeArrowheads="1"/>
            </p:cNvSpPr>
            <p:nvPr/>
          </p:nvSpPr>
          <p:spPr bwMode="auto">
            <a:xfrm>
              <a:off x="457200" y="1476375"/>
              <a:ext cx="8266113" cy="4676775"/>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grpSp>
          <p:nvGrpSpPr>
            <p:cNvPr id="16" name="Group 3">
              <a:extLst>
                <a:ext uri="{FF2B5EF4-FFF2-40B4-BE49-F238E27FC236}">
                  <a16:creationId xmlns:a16="http://schemas.microsoft.com/office/drawing/2014/main" id="{72775B0D-B538-87C3-1193-59B58382A7ED}"/>
                </a:ext>
              </a:extLst>
            </p:cNvPr>
            <p:cNvGrpSpPr>
              <a:grpSpLocks/>
            </p:cNvGrpSpPr>
            <p:nvPr/>
          </p:nvGrpSpPr>
          <p:grpSpPr bwMode="auto">
            <a:xfrm>
              <a:off x="1250950" y="5578475"/>
              <a:ext cx="6103938" cy="231775"/>
              <a:chOff x="788" y="3649"/>
              <a:chExt cx="3845" cy="146"/>
            </a:xfrm>
          </p:grpSpPr>
          <p:sp>
            <p:nvSpPr>
              <p:cNvPr id="17" name="Line 4">
                <a:extLst>
                  <a:ext uri="{FF2B5EF4-FFF2-40B4-BE49-F238E27FC236}">
                    <a16:creationId xmlns:a16="http://schemas.microsoft.com/office/drawing/2014/main" id="{3EACED64-9FBF-01BC-DEEA-F387BEC25D59}"/>
                  </a:ext>
                </a:extLst>
              </p:cNvPr>
              <p:cNvSpPr>
                <a:spLocks noChangeShapeType="1"/>
              </p:cNvSpPr>
              <p:nvPr/>
            </p:nvSpPr>
            <p:spPr bwMode="auto">
              <a:xfrm>
                <a:off x="788" y="3658"/>
                <a:ext cx="701" cy="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8" name="Line 5">
                <a:extLst>
                  <a:ext uri="{FF2B5EF4-FFF2-40B4-BE49-F238E27FC236}">
                    <a16:creationId xmlns:a16="http://schemas.microsoft.com/office/drawing/2014/main" id="{2A581EC5-D416-0C97-26EB-2F3D9D9F0C6D}"/>
                  </a:ext>
                </a:extLst>
              </p:cNvPr>
              <p:cNvSpPr>
                <a:spLocks noChangeShapeType="1"/>
              </p:cNvSpPr>
              <p:nvPr/>
            </p:nvSpPr>
            <p:spPr bwMode="auto">
              <a:xfrm>
                <a:off x="1486"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9" name="Line 6">
                <a:extLst>
                  <a:ext uri="{FF2B5EF4-FFF2-40B4-BE49-F238E27FC236}">
                    <a16:creationId xmlns:a16="http://schemas.microsoft.com/office/drawing/2014/main" id="{03A44653-0D36-F36C-F608-FD4CE73960B2}"/>
                  </a:ext>
                </a:extLst>
              </p:cNvPr>
              <p:cNvSpPr>
                <a:spLocks noChangeShapeType="1"/>
              </p:cNvSpPr>
              <p:nvPr/>
            </p:nvSpPr>
            <p:spPr bwMode="auto">
              <a:xfrm>
                <a:off x="1479"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0" name="Line 7">
                <a:extLst>
                  <a:ext uri="{FF2B5EF4-FFF2-40B4-BE49-F238E27FC236}">
                    <a16:creationId xmlns:a16="http://schemas.microsoft.com/office/drawing/2014/main" id="{6F5AE091-2A71-AA85-701C-7D051B7DA8C6}"/>
                  </a:ext>
                </a:extLst>
              </p:cNvPr>
              <p:cNvSpPr>
                <a:spLocks noChangeShapeType="1"/>
              </p:cNvSpPr>
              <p:nvPr/>
            </p:nvSpPr>
            <p:spPr bwMode="auto">
              <a:xfrm>
                <a:off x="1795"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1" name="Line 8">
                <a:extLst>
                  <a:ext uri="{FF2B5EF4-FFF2-40B4-BE49-F238E27FC236}">
                    <a16:creationId xmlns:a16="http://schemas.microsoft.com/office/drawing/2014/main" id="{0017F0CA-4287-489C-7B84-242E44F168AB}"/>
                  </a:ext>
                </a:extLst>
              </p:cNvPr>
              <p:cNvSpPr>
                <a:spLocks noChangeShapeType="1"/>
              </p:cNvSpPr>
              <p:nvPr/>
            </p:nvSpPr>
            <p:spPr bwMode="auto">
              <a:xfrm>
                <a:off x="1795"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2" name="Line 9">
                <a:extLst>
                  <a:ext uri="{FF2B5EF4-FFF2-40B4-BE49-F238E27FC236}">
                    <a16:creationId xmlns:a16="http://schemas.microsoft.com/office/drawing/2014/main" id="{A1EE6C94-A55E-EA0E-9ABF-870B9749ADF2}"/>
                  </a:ext>
                </a:extLst>
              </p:cNvPr>
              <p:cNvSpPr>
                <a:spLocks noChangeShapeType="1"/>
              </p:cNvSpPr>
              <p:nvPr/>
            </p:nvSpPr>
            <p:spPr bwMode="auto">
              <a:xfrm>
                <a:off x="2234"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3" name="Line 10">
                <a:extLst>
                  <a:ext uri="{FF2B5EF4-FFF2-40B4-BE49-F238E27FC236}">
                    <a16:creationId xmlns:a16="http://schemas.microsoft.com/office/drawing/2014/main" id="{29652A52-576B-443A-861A-AE005FBEDC9B}"/>
                  </a:ext>
                </a:extLst>
              </p:cNvPr>
              <p:cNvSpPr>
                <a:spLocks noChangeShapeType="1"/>
              </p:cNvSpPr>
              <p:nvPr/>
            </p:nvSpPr>
            <p:spPr bwMode="auto">
              <a:xfrm>
                <a:off x="250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4" name="Line 11">
                <a:extLst>
                  <a:ext uri="{FF2B5EF4-FFF2-40B4-BE49-F238E27FC236}">
                    <a16:creationId xmlns:a16="http://schemas.microsoft.com/office/drawing/2014/main" id="{341DE163-6106-72DC-D3B0-46D3BA5A1C70}"/>
                  </a:ext>
                </a:extLst>
              </p:cNvPr>
              <p:cNvSpPr>
                <a:spLocks noChangeShapeType="1"/>
              </p:cNvSpPr>
              <p:nvPr/>
            </p:nvSpPr>
            <p:spPr bwMode="auto">
              <a:xfrm>
                <a:off x="2503"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5" name="Line 12">
                <a:extLst>
                  <a:ext uri="{FF2B5EF4-FFF2-40B4-BE49-F238E27FC236}">
                    <a16:creationId xmlns:a16="http://schemas.microsoft.com/office/drawing/2014/main" id="{CE697638-A550-9D3C-6A85-4FC1EB51C8A9}"/>
                  </a:ext>
                </a:extLst>
              </p:cNvPr>
              <p:cNvSpPr>
                <a:spLocks noChangeShapeType="1"/>
              </p:cNvSpPr>
              <p:nvPr/>
            </p:nvSpPr>
            <p:spPr bwMode="auto">
              <a:xfrm>
                <a:off x="2943"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6" name="Line 13">
                <a:extLst>
                  <a:ext uri="{FF2B5EF4-FFF2-40B4-BE49-F238E27FC236}">
                    <a16:creationId xmlns:a16="http://schemas.microsoft.com/office/drawing/2014/main" id="{B69A83C2-0927-6B4E-3C17-B4F6150C3CB2}"/>
                  </a:ext>
                </a:extLst>
              </p:cNvPr>
              <p:cNvSpPr>
                <a:spLocks noChangeShapeType="1"/>
              </p:cNvSpPr>
              <p:nvPr/>
            </p:nvSpPr>
            <p:spPr bwMode="auto">
              <a:xfrm>
                <a:off x="2238" y="3792"/>
                <a:ext cx="2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7" name="Line 14">
                <a:extLst>
                  <a:ext uri="{FF2B5EF4-FFF2-40B4-BE49-F238E27FC236}">
                    <a16:creationId xmlns:a16="http://schemas.microsoft.com/office/drawing/2014/main" id="{3CEDDF52-61E8-DCA4-F415-4FCF14E4030A}"/>
                  </a:ext>
                </a:extLst>
              </p:cNvPr>
              <p:cNvSpPr>
                <a:spLocks noChangeShapeType="1"/>
              </p:cNvSpPr>
              <p:nvPr/>
            </p:nvSpPr>
            <p:spPr bwMode="auto">
              <a:xfrm>
                <a:off x="2943"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8" name="Line 15">
                <a:extLst>
                  <a:ext uri="{FF2B5EF4-FFF2-40B4-BE49-F238E27FC236}">
                    <a16:creationId xmlns:a16="http://schemas.microsoft.com/office/drawing/2014/main" id="{9B2D9B25-3C7C-95AC-DB91-AB234C3138A6}"/>
                  </a:ext>
                </a:extLst>
              </p:cNvPr>
              <p:cNvSpPr>
                <a:spLocks noChangeShapeType="1"/>
              </p:cNvSpPr>
              <p:nvPr/>
            </p:nvSpPr>
            <p:spPr bwMode="auto">
              <a:xfrm>
                <a:off x="3258"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1" name="Line 16">
                <a:extLst>
                  <a:ext uri="{FF2B5EF4-FFF2-40B4-BE49-F238E27FC236}">
                    <a16:creationId xmlns:a16="http://schemas.microsoft.com/office/drawing/2014/main" id="{D27C61BB-9D14-5E16-9FF5-2701D61E008C}"/>
                  </a:ext>
                </a:extLst>
              </p:cNvPr>
              <p:cNvSpPr>
                <a:spLocks noChangeShapeType="1"/>
              </p:cNvSpPr>
              <p:nvPr/>
            </p:nvSpPr>
            <p:spPr bwMode="auto">
              <a:xfrm>
                <a:off x="3258" y="3652"/>
                <a:ext cx="386" cy="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2" name="Line 17">
                <a:extLst>
                  <a:ext uri="{FF2B5EF4-FFF2-40B4-BE49-F238E27FC236}">
                    <a16:creationId xmlns:a16="http://schemas.microsoft.com/office/drawing/2014/main" id="{73C5B170-90DF-76B4-3478-B7B91D56025A}"/>
                  </a:ext>
                </a:extLst>
              </p:cNvPr>
              <p:cNvSpPr>
                <a:spLocks noChangeShapeType="1"/>
              </p:cNvSpPr>
              <p:nvPr/>
            </p:nvSpPr>
            <p:spPr bwMode="auto">
              <a:xfrm>
                <a:off x="3638"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3" name="Line 18">
                <a:extLst>
                  <a:ext uri="{FF2B5EF4-FFF2-40B4-BE49-F238E27FC236}">
                    <a16:creationId xmlns:a16="http://schemas.microsoft.com/office/drawing/2014/main" id="{EBB40133-5F65-BEDF-52A1-DCB4605FBA2E}"/>
                  </a:ext>
                </a:extLst>
              </p:cNvPr>
              <p:cNvSpPr>
                <a:spLocks noChangeShapeType="1"/>
              </p:cNvSpPr>
              <p:nvPr/>
            </p:nvSpPr>
            <p:spPr bwMode="auto">
              <a:xfrm>
                <a:off x="3638"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4" name="Line 19">
                <a:extLst>
                  <a:ext uri="{FF2B5EF4-FFF2-40B4-BE49-F238E27FC236}">
                    <a16:creationId xmlns:a16="http://schemas.microsoft.com/office/drawing/2014/main" id="{E53BE370-16F0-8082-2984-4C294520B582}"/>
                  </a:ext>
                </a:extLst>
              </p:cNvPr>
              <p:cNvSpPr>
                <a:spLocks noChangeShapeType="1"/>
              </p:cNvSpPr>
              <p:nvPr/>
            </p:nvSpPr>
            <p:spPr bwMode="auto">
              <a:xfrm>
                <a:off x="395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5" name="Line 20">
                <a:extLst>
                  <a:ext uri="{FF2B5EF4-FFF2-40B4-BE49-F238E27FC236}">
                    <a16:creationId xmlns:a16="http://schemas.microsoft.com/office/drawing/2014/main" id="{AC92BCAD-5D4C-C14F-8A9A-513B5B3D7A42}"/>
                  </a:ext>
                </a:extLst>
              </p:cNvPr>
              <p:cNvSpPr>
                <a:spLocks noChangeShapeType="1"/>
              </p:cNvSpPr>
              <p:nvPr/>
            </p:nvSpPr>
            <p:spPr bwMode="auto">
              <a:xfrm flipV="1">
                <a:off x="3953" y="3651"/>
                <a:ext cx="680"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grpSp>
          <p:nvGrpSpPr>
            <p:cNvPr id="96" name="Group 21">
              <a:extLst>
                <a:ext uri="{FF2B5EF4-FFF2-40B4-BE49-F238E27FC236}">
                  <a16:creationId xmlns:a16="http://schemas.microsoft.com/office/drawing/2014/main" id="{A36DF01E-765F-9E65-FF5A-1AD067CEBACA}"/>
                </a:ext>
              </a:extLst>
            </p:cNvPr>
            <p:cNvGrpSpPr>
              <a:grpSpLocks/>
            </p:cNvGrpSpPr>
            <p:nvPr/>
          </p:nvGrpSpPr>
          <p:grpSpPr bwMode="auto">
            <a:xfrm>
              <a:off x="1016000" y="2171700"/>
              <a:ext cx="922338" cy="582613"/>
              <a:chOff x="933" y="2179"/>
              <a:chExt cx="658" cy="463"/>
            </a:xfrm>
          </p:grpSpPr>
          <p:sp>
            <p:nvSpPr>
              <p:cNvPr id="97" name="Rectangle 22">
                <a:extLst>
                  <a:ext uri="{FF2B5EF4-FFF2-40B4-BE49-F238E27FC236}">
                    <a16:creationId xmlns:a16="http://schemas.microsoft.com/office/drawing/2014/main" id="{A087EFE6-FADD-31AD-6E61-BDD1D4805461}"/>
                  </a:ext>
                </a:extLst>
              </p:cNvPr>
              <p:cNvSpPr>
                <a:spLocks noChangeArrowheads="1"/>
              </p:cNvSpPr>
              <p:nvPr/>
            </p:nvSpPr>
            <p:spPr bwMode="auto">
              <a:xfrm>
                <a:off x="1544" y="2179"/>
                <a:ext cx="42" cy="250"/>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98" name="Rectangle 23">
                <a:extLst>
                  <a:ext uri="{FF2B5EF4-FFF2-40B4-BE49-F238E27FC236}">
                    <a16:creationId xmlns:a16="http://schemas.microsoft.com/office/drawing/2014/main" id="{A63B67CC-1E05-0BAB-BF35-2BC6667D6A90}"/>
                  </a:ext>
                </a:extLst>
              </p:cNvPr>
              <p:cNvSpPr>
                <a:spLocks noChangeArrowheads="1"/>
              </p:cNvSpPr>
              <p:nvPr/>
            </p:nvSpPr>
            <p:spPr bwMode="auto">
              <a:xfrm>
                <a:off x="933" y="2435"/>
                <a:ext cx="658" cy="207"/>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99" name="AutoShape 24">
                <a:extLst>
                  <a:ext uri="{FF2B5EF4-FFF2-40B4-BE49-F238E27FC236}">
                    <a16:creationId xmlns:a16="http://schemas.microsoft.com/office/drawing/2014/main" id="{EBD8873B-5BCD-EE4F-2AD3-94F7981213AE}"/>
                  </a:ext>
                </a:extLst>
              </p:cNvPr>
              <p:cNvSpPr>
                <a:spLocks noChangeArrowheads="1"/>
              </p:cNvSpPr>
              <p:nvPr/>
            </p:nvSpPr>
            <p:spPr bwMode="auto">
              <a:xfrm>
                <a:off x="1342"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0" name="AutoShape 25">
                <a:extLst>
                  <a:ext uri="{FF2B5EF4-FFF2-40B4-BE49-F238E27FC236}">
                    <a16:creationId xmlns:a16="http://schemas.microsoft.com/office/drawing/2014/main" id="{D8A7E2EF-06C7-C40F-C547-FBECD42E3892}"/>
                  </a:ext>
                </a:extLst>
              </p:cNvPr>
              <p:cNvSpPr>
                <a:spLocks noChangeArrowheads="1"/>
              </p:cNvSpPr>
              <p:nvPr/>
            </p:nvSpPr>
            <p:spPr bwMode="auto">
              <a:xfrm>
                <a:off x="1138"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1" name="AutoShape 26">
                <a:extLst>
                  <a:ext uri="{FF2B5EF4-FFF2-40B4-BE49-F238E27FC236}">
                    <a16:creationId xmlns:a16="http://schemas.microsoft.com/office/drawing/2014/main" id="{5717649E-1B49-0D7C-C395-15C9087AE448}"/>
                  </a:ext>
                </a:extLst>
              </p:cNvPr>
              <p:cNvSpPr>
                <a:spLocks noChangeArrowheads="1"/>
              </p:cNvSpPr>
              <p:nvPr/>
            </p:nvSpPr>
            <p:spPr bwMode="auto">
              <a:xfrm>
                <a:off x="934"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2" name="Rectangle 27">
                <a:extLst>
                  <a:ext uri="{FF2B5EF4-FFF2-40B4-BE49-F238E27FC236}">
                    <a16:creationId xmlns:a16="http://schemas.microsoft.com/office/drawing/2014/main" id="{A3F46652-47F2-A87C-BF7C-9AF44D69CFB5}"/>
                  </a:ext>
                </a:extLst>
              </p:cNvPr>
              <p:cNvSpPr>
                <a:spLocks noChangeArrowheads="1"/>
              </p:cNvSpPr>
              <p:nvPr/>
            </p:nvSpPr>
            <p:spPr bwMode="auto">
              <a:xfrm>
                <a:off x="974"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3" name="Rectangle 28">
                <a:extLst>
                  <a:ext uri="{FF2B5EF4-FFF2-40B4-BE49-F238E27FC236}">
                    <a16:creationId xmlns:a16="http://schemas.microsoft.com/office/drawing/2014/main" id="{59F3153D-DC04-CAF6-C688-50D8A2C77276}"/>
                  </a:ext>
                </a:extLst>
              </p:cNvPr>
              <p:cNvSpPr>
                <a:spLocks noChangeArrowheads="1"/>
              </p:cNvSpPr>
              <p:nvPr/>
            </p:nvSpPr>
            <p:spPr bwMode="auto">
              <a:xfrm>
                <a:off x="1185"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4" name="Rectangle 29">
                <a:extLst>
                  <a:ext uri="{FF2B5EF4-FFF2-40B4-BE49-F238E27FC236}">
                    <a16:creationId xmlns:a16="http://schemas.microsoft.com/office/drawing/2014/main" id="{AE3058B2-0706-C519-BAD5-4ADBB0E54D1C}"/>
                  </a:ext>
                </a:extLst>
              </p:cNvPr>
              <p:cNvSpPr>
                <a:spLocks noChangeArrowheads="1"/>
              </p:cNvSpPr>
              <p:nvPr/>
            </p:nvSpPr>
            <p:spPr bwMode="auto">
              <a:xfrm>
                <a:off x="1396"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105" name="Group 30">
              <a:extLst>
                <a:ext uri="{FF2B5EF4-FFF2-40B4-BE49-F238E27FC236}">
                  <a16:creationId xmlns:a16="http://schemas.microsoft.com/office/drawing/2014/main" id="{85DD8D73-2F51-B3D7-A21A-7FAEB9A22C28}"/>
                </a:ext>
              </a:extLst>
            </p:cNvPr>
            <p:cNvGrpSpPr>
              <a:grpSpLocks/>
            </p:cNvGrpSpPr>
            <p:nvPr/>
          </p:nvGrpSpPr>
          <p:grpSpPr bwMode="auto">
            <a:xfrm>
              <a:off x="6886575" y="2151063"/>
              <a:ext cx="922338" cy="582612"/>
              <a:chOff x="933" y="2179"/>
              <a:chExt cx="658" cy="463"/>
            </a:xfrm>
          </p:grpSpPr>
          <p:sp>
            <p:nvSpPr>
              <p:cNvPr id="106" name="Rectangle 31">
                <a:extLst>
                  <a:ext uri="{FF2B5EF4-FFF2-40B4-BE49-F238E27FC236}">
                    <a16:creationId xmlns:a16="http://schemas.microsoft.com/office/drawing/2014/main" id="{8260B3D2-DCD5-F077-0D2E-A4C7933E7D5A}"/>
                  </a:ext>
                </a:extLst>
              </p:cNvPr>
              <p:cNvSpPr>
                <a:spLocks noChangeArrowheads="1"/>
              </p:cNvSpPr>
              <p:nvPr/>
            </p:nvSpPr>
            <p:spPr bwMode="auto">
              <a:xfrm>
                <a:off x="1544" y="2179"/>
                <a:ext cx="42" cy="250"/>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7" name="Rectangle 32">
                <a:extLst>
                  <a:ext uri="{FF2B5EF4-FFF2-40B4-BE49-F238E27FC236}">
                    <a16:creationId xmlns:a16="http://schemas.microsoft.com/office/drawing/2014/main" id="{2286385A-CB1A-B004-8182-97417F296498}"/>
                  </a:ext>
                </a:extLst>
              </p:cNvPr>
              <p:cNvSpPr>
                <a:spLocks noChangeArrowheads="1"/>
              </p:cNvSpPr>
              <p:nvPr/>
            </p:nvSpPr>
            <p:spPr bwMode="auto">
              <a:xfrm>
                <a:off x="933" y="2435"/>
                <a:ext cx="658" cy="207"/>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8" name="AutoShape 33">
                <a:extLst>
                  <a:ext uri="{FF2B5EF4-FFF2-40B4-BE49-F238E27FC236}">
                    <a16:creationId xmlns:a16="http://schemas.microsoft.com/office/drawing/2014/main" id="{E38A0BD3-BA18-EB2C-E0F9-FB9A4625A06C}"/>
                  </a:ext>
                </a:extLst>
              </p:cNvPr>
              <p:cNvSpPr>
                <a:spLocks noChangeArrowheads="1"/>
              </p:cNvSpPr>
              <p:nvPr/>
            </p:nvSpPr>
            <p:spPr bwMode="auto">
              <a:xfrm>
                <a:off x="1342"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9" name="AutoShape 34">
                <a:extLst>
                  <a:ext uri="{FF2B5EF4-FFF2-40B4-BE49-F238E27FC236}">
                    <a16:creationId xmlns:a16="http://schemas.microsoft.com/office/drawing/2014/main" id="{096877D7-E2BB-220B-4E07-D128DBE6B4E3}"/>
                  </a:ext>
                </a:extLst>
              </p:cNvPr>
              <p:cNvSpPr>
                <a:spLocks noChangeArrowheads="1"/>
              </p:cNvSpPr>
              <p:nvPr/>
            </p:nvSpPr>
            <p:spPr bwMode="auto">
              <a:xfrm>
                <a:off x="1138"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0" name="AutoShape 35">
                <a:extLst>
                  <a:ext uri="{FF2B5EF4-FFF2-40B4-BE49-F238E27FC236}">
                    <a16:creationId xmlns:a16="http://schemas.microsoft.com/office/drawing/2014/main" id="{3BC70A26-73BD-1339-80E0-D50EE7F1CAA5}"/>
                  </a:ext>
                </a:extLst>
              </p:cNvPr>
              <p:cNvSpPr>
                <a:spLocks noChangeArrowheads="1"/>
              </p:cNvSpPr>
              <p:nvPr/>
            </p:nvSpPr>
            <p:spPr bwMode="auto">
              <a:xfrm>
                <a:off x="934"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1" name="Rectangle 36">
                <a:extLst>
                  <a:ext uri="{FF2B5EF4-FFF2-40B4-BE49-F238E27FC236}">
                    <a16:creationId xmlns:a16="http://schemas.microsoft.com/office/drawing/2014/main" id="{50247301-ED4C-964D-39C1-A5D6A4298634}"/>
                  </a:ext>
                </a:extLst>
              </p:cNvPr>
              <p:cNvSpPr>
                <a:spLocks noChangeArrowheads="1"/>
              </p:cNvSpPr>
              <p:nvPr/>
            </p:nvSpPr>
            <p:spPr bwMode="auto">
              <a:xfrm>
                <a:off x="974"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2" name="Rectangle 37">
                <a:extLst>
                  <a:ext uri="{FF2B5EF4-FFF2-40B4-BE49-F238E27FC236}">
                    <a16:creationId xmlns:a16="http://schemas.microsoft.com/office/drawing/2014/main" id="{7BC8D76D-14AC-A5A4-0AB8-6E81E7B3B250}"/>
                  </a:ext>
                </a:extLst>
              </p:cNvPr>
              <p:cNvSpPr>
                <a:spLocks noChangeArrowheads="1"/>
              </p:cNvSpPr>
              <p:nvPr/>
            </p:nvSpPr>
            <p:spPr bwMode="auto">
              <a:xfrm>
                <a:off x="1185"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3" name="Rectangle 38">
                <a:extLst>
                  <a:ext uri="{FF2B5EF4-FFF2-40B4-BE49-F238E27FC236}">
                    <a16:creationId xmlns:a16="http://schemas.microsoft.com/office/drawing/2014/main" id="{75195AF8-1560-C098-5127-A2CDE8C7DB81}"/>
                  </a:ext>
                </a:extLst>
              </p:cNvPr>
              <p:cNvSpPr>
                <a:spLocks noChangeArrowheads="1"/>
              </p:cNvSpPr>
              <p:nvPr/>
            </p:nvSpPr>
            <p:spPr bwMode="auto">
              <a:xfrm>
                <a:off x="1396"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114" name="Rectangle 39">
              <a:extLst>
                <a:ext uri="{FF2B5EF4-FFF2-40B4-BE49-F238E27FC236}">
                  <a16:creationId xmlns:a16="http://schemas.microsoft.com/office/drawing/2014/main" id="{AF6B25DD-5839-564E-4E24-9387B3E1549C}"/>
                </a:ext>
              </a:extLst>
            </p:cNvPr>
            <p:cNvSpPr>
              <a:spLocks noChangeArrowheads="1"/>
            </p:cNvSpPr>
            <p:nvPr/>
          </p:nvSpPr>
          <p:spPr bwMode="auto">
            <a:xfrm>
              <a:off x="2397125" y="4046538"/>
              <a:ext cx="427038" cy="57943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5" name="Rectangle 40">
              <a:extLst>
                <a:ext uri="{FF2B5EF4-FFF2-40B4-BE49-F238E27FC236}">
                  <a16:creationId xmlns:a16="http://schemas.microsoft.com/office/drawing/2014/main" id="{1FC96D86-2E34-7717-A453-3B017D9C2E4B}"/>
                </a:ext>
              </a:extLst>
            </p:cNvPr>
            <p:cNvSpPr>
              <a:spLocks noChangeArrowheads="1"/>
            </p:cNvSpPr>
            <p:nvPr/>
          </p:nvSpPr>
          <p:spPr bwMode="auto">
            <a:xfrm>
              <a:off x="3562350" y="4046538"/>
              <a:ext cx="427038" cy="57943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6" name="Rectangle 41">
              <a:extLst>
                <a:ext uri="{FF2B5EF4-FFF2-40B4-BE49-F238E27FC236}">
                  <a16:creationId xmlns:a16="http://schemas.microsoft.com/office/drawing/2014/main" id="{4E805908-7A4F-BB43-D877-7B748EDC82AC}"/>
                </a:ext>
              </a:extLst>
            </p:cNvPr>
            <p:cNvSpPr>
              <a:spLocks noChangeArrowheads="1"/>
            </p:cNvSpPr>
            <p:nvPr/>
          </p:nvSpPr>
          <p:spPr bwMode="auto">
            <a:xfrm>
              <a:off x="4699000" y="4046538"/>
              <a:ext cx="427038" cy="57943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7" name="Rectangle 42">
              <a:extLst>
                <a:ext uri="{FF2B5EF4-FFF2-40B4-BE49-F238E27FC236}">
                  <a16:creationId xmlns:a16="http://schemas.microsoft.com/office/drawing/2014/main" id="{5605A234-1057-CF4A-DB83-166D9AFEF0B1}"/>
                </a:ext>
              </a:extLst>
            </p:cNvPr>
            <p:cNvSpPr>
              <a:spLocks noChangeArrowheads="1"/>
            </p:cNvSpPr>
            <p:nvPr/>
          </p:nvSpPr>
          <p:spPr bwMode="auto">
            <a:xfrm>
              <a:off x="5807075" y="4046538"/>
              <a:ext cx="427038" cy="57943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8" name="Line 43">
              <a:extLst>
                <a:ext uri="{FF2B5EF4-FFF2-40B4-BE49-F238E27FC236}">
                  <a16:creationId xmlns:a16="http://schemas.microsoft.com/office/drawing/2014/main" id="{571AFF16-F836-A5EE-9B2C-D184503FC143}"/>
                </a:ext>
              </a:extLst>
            </p:cNvPr>
            <p:cNvSpPr>
              <a:spLocks noChangeShapeType="1"/>
            </p:cNvSpPr>
            <p:nvPr/>
          </p:nvSpPr>
          <p:spPr bwMode="auto">
            <a:xfrm>
              <a:off x="2406650" y="4198938"/>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9" name="Line 44">
              <a:extLst>
                <a:ext uri="{FF2B5EF4-FFF2-40B4-BE49-F238E27FC236}">
                  <a16:creationId xmlns:a16="http://schemas.microsoft.com/office/drawing/2014/main" id="{08DBC672-82B2-DFB4-431E-5FE6A0C295DC}"/>
                </a:ext>
              </a:extLst>
            </p:cNvPr>
            <p:cNvSpPr>
              <a:spLocks noChangeShapeType="1"/>
            </p:cNvSpPr>
            <p:nvPr/>
          </p:nvSpPr>
          <p:spPr bwMode="auto">
            <a:xfrm>
              <a:off x="3559175" y="4189413"/>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0" name="Line 45">
              <a:extLst>
                <a:ext uri="{FF2B5EF4-FFF2-40B4-BE49-F238E27FC236}">
                  <a16:creationId xmlns:a16="http://schemas.microsoft.com/office/drawing/2014/main" id="{57D3AE7D-8977-2500-AF43-7990758FF38A}"/>
                </a:ext>
              </a:extLst>
            </p:cNvPr>
            <p:cNvSpPr>
              <a:spLocks noChangeShapeType="1"/>
            </p:cNvSpPr>
            <p:nvPr/>
          </p:nvSpPr>
          <p:spPr bwMode="auto">
            <a:xfrm>
              <a:off x="4702175" y="4179888"/>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1" name="Line 46">
              <a:extLst>
                <a:ext uri="{FF2B5EF4-FFF2-40B4-BE49-F238E27FC236}">
                  <a16:creationId xmlns:a16="http://schemas.microsoft.com/office/drawing/2014/main" id="{FAACA706-3207-49A8-321A-3CD7D542764B}"/>
                </a:ext>
              </a:extLst>
            </p:cNvPr>
            <p:cNvSpPr>
              <a:spLocks noChangeShapeType="1"/>
            </p:cNvSpPr>
            <p:nvPr/>
          </p:nvSpPr>
          <p:spPr bwMode="auto">
            <a:xfrm>
              <a:off x="5797550" y="4170363"/>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122" name="Group 47">
              <a:extLst>
                <a:ext uri="{FF2B5EF4-FFF2-40B4-BE49-F238E27FC236}">
                  <a16:creationId xmlns:a16="http://schemas.microsoft.com/office/drawing/2014/main" id="{03E61AC6-6D12-3390-E469-4ADB23E41944}"/>
                </a:ext>
              </a:extLst>
            </p:cNvPr>
            <p:cNvGrpSpPr>
              <a:grpSpLocks/>
            </p:cNvGrpSpPr>
            <p:nvPr/>
          </p:nvGrpSpPr>
          <p:grpSpPr bwMode="auto">
            <a:xfrm>
              <a:off x="2406650" y="4665663"/>
              <a:ext cx="427038" cy="477837"/>
              <a:chOff x="1702" y="2990"/>
              <a:chExt cx="269" cy="301"/>
            </a:xfrm>
          </p:grpSpPr>
          <p:sp>
            <p:nvSpPr>
              <p:cNvPr id="123" name="Rectangle 48">
                <a:extLst>
                  <a:ext uri="{FF2B5EF4-FFF2-40B4-BE49-F238E27FC236}">
                    <a16:creationId xmlns:a16="http://schemas.microsoft.com/office/drawing/2014/main" id="{41047D2E-6353-AE42-0163-220B1E5D538C}"/>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24" name="Line 49">
                <a:extLst>
                  <a:ext uri="{FF2B5EF4-FFF2-40B4-BE49-F238E27FC236}">
                    <a16:creationId xmlns:a16="http://schemas.microsoft.com/office/drawing/2014/main" id="{93DA55BB-C8CE-2DD6-AE11-62C0C804C462}"/>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5" name="Line 50">
                <a:extLst>
                  <a:ext uri="{FF2B5EF4-FFF2-40B4-BE49-F238E27FC236}">
                    <a16:creationId xmlns:a16="http://schemas.microsoft.com/office/drawing/2014/main" id="{6266BCA9-9EA3-0EA8-AD2A-7992751D2833}"/>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6" name="Line 51">
                <a:extLst>
                  <a:ext uri="{FF2B5EF4-FFF2-40B4-BE49-F238E27FC236}">
                    <a16:creationId xmlns:a16="http://schemas.microsoft.com/office/drawing/2014/main" id="{06159B74-618D-E33D-CE7A-22FE25CC4F4A}"/>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7" name="Line 52">
                <a:extLst>
                  <a:ext uri="{FF2B5EF4-FFF2-40B4-BE49-F238E27FC236}">
                    <a16:creationId xmlns:a16="http://schemas.microsoft.com/office/drawing/2014/main" id="{11E9040B-C9F5-2556-371F-5A5FD5B40CEC}"/>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8" name="Line 53">
                <a:extLst>
                  <a:ext uri="{FF2B5EF4-FFF2-40B4-BE49-F238E27FC236}">
                    <a16:creationId xmlns:a16="http://schemas.microsoft.com/office/drawing/2014/main" id="{8DA98DF6-FCAB-EFCA-1B99-AF1D9C48DA8E}"/>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9" name="Line 54">
                <a:extLst>
                  <a:ext uri="{FF2B5EF4-FFF2-40B4-BE49-F238E27FC236}">
                    <a16:creationId xmlns:a16="http://schemas.microsoft.com/office/drawing/2014/main" id="{EC0BE940-2C97-5F50-B50B-4173EEDFC006}"/>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30" name="Group 55">
              <a:extLst>
                <a:ext uri="{FF2B5EF4-FFF2-40B4-BE49-F238E27FC236}">
                  <a16:creationId xmlns:a16="http://schemas.microsoft.com/office/drawing/2014/main" id="{07844BC2-E741-FD6B-1B62-9A31B776C71B}"/>
                </a:ext>
              </a:extLst>
            </p:cNvPr>
            <p:cNvGrpSpPr>
              <a:grpSpLocks/>
            </p:cNvGrpSpPr>
            <p:nvPr/>
          </p:nvGrpSpPr>
          <p:grpSpPr bwMode="auto">
            <a:xfrm>
              <a:off x="3562350" y="4697413"/>
              <a:ext cx="427038" cy="477837"/>
              <a:chOff x="1702" y="2990"/>
              <a:chExt cx="269" cy="301"/>
            </a:xfrm>
          </p:grpSpPr>
          <p:sp>
            <p:nvSpPr>
              <p:cNvPr id="131" name="Rectangle 56">
                <a:extLst>
                  <a:ext uri="{FF2B5EF4-FFF2-40B4-BE49-F238E27FC236}">
                    <a16:creationId xmlns:a16="http://schemas.microsoft.com/office/drawing/2014/main" id="{778C21DC-2064-43E8-6838-7BCC982E39C4}"/>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32" name="Line 57">
                <a:extLst>
                  <a:ext uri="{FF2B5EF4-FFF2-40B4-BE49-F238E27FC236}">
                    <a16:creationId xmlns:a16="http://schemas.microsoft.com/office/drawing/2014/main" id="{7AA4961C-702B-870D-F8D7-EF2D9E0AB071}"/>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3" name="Line 58">
                <a:extLst>
                  <a:ext uri="{FF2B5EF4-FFF2-40B4-BE49-F238E27FC236}">
                    <a16:creationId xmlns:a16="http://schemas.microsoft.com/office/drawing/2014/main" id="{B7328611-062A-0ACD-5D48-778F6287150B}"/>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4" name="Line 59">
                <a:extLst>
                  <a:ext uri="{FF2B5EF4-FFF2-40B4-BE49-F238E27FC236}">
                    <a16:creationId xmlns:a16="http://schemas.microsoft.com/office/drawing/2014/main" id="{D016FACA-FEEE-08B7-7A7A-A062ED35C518}"/>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5" name="Line 60">
                <a:extLst>
                  <a:ext uri="{FF2B5EF4-FFF2-40B4-BE49-F238E27FC236}">
                    <a16:creationId xmlns:a16="http://schemas.microsoft.com/office/drawing/2014/main" id="{FC7BF56F-5A92-6D6F-2D66-826B443F21A2}"/>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6" name="Line 61">
                <a:extLst>
                  <a:ext uri="{FF2B5EF4-FFF2-40B4-BE49-F238E27FC236}">
                    <a16:creationId xmlns:a16="http://schemas.microsoft.com/office/drawing/2014/main" id="{DAC2A5D7-DDD0-9B60-E675-4C272ABF555E}"/>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7" name="Line 62">
                <a:extLst>
                  <a:ext uri="{FF2B5EF4-FFF2-40B4-BE49-F238E27FC236}">
                    <a16:creationId xmlns:a16="http://schemas.microsoft.com/office/drawing/2014/main" id="{5D15437A-0375-96BC-D68D-CD6D858A2DB2}"/>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38" name="Group 63">
              <a:extLst>
                <a:ext uri="{FF2B5EF4-FFF2-40B4-BE49-F238E27FC236}">
                  <a16:creationId xmlns:a16="http://schemas.microsoft.com/office/drawing/2014/main" id="{04AEEE7F-B89D-7F50-2066-7546D5EAC6C1}"/>
                </a:ext>
              </a:extLst>
            </p:cNvPr>
            <p:cNvGrpSpPr>
              <a:grpSpLocks/>
            </p:cNvGrpSpPr>
            <p:nvPr/>
          </p:nvGrpSpPr>
          <p:grpSpPr bwMode="auto">
            <a:xfrm>
              <a:off x="4700588" y="4679950"/>
              <a:ext cx="427037" cy="477838"/>
              <a:chOff x="1702" y="2990"/>
              <a:chExt cx="269" cy="301"/>
            </a:xfrm>
          </p:grpSpPr>
          <p:sp>
            <p:nvSpPr>
              <p:cNvPr id="139" name="Rectangle 64">
                <a:extLst>
                  <a:ext uri="{FF2B5EF4-FFF2-40B4-BE49-F238E27FC236}">
                    <a16:creationId xmlns:a16="http://schemas.microsoft.com/office/drawing/2014/main" id="{249C26FE-09F4-A1F9-12A4-C5024F1A8F05}"/>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40" name="Line 65">
                <a:extLst>
                  <a:ext uri="{FF2B5EF4-FFF2-40B4-BE49-F238E27FC236}">
                    <a16:creationId xmlns:a16="http://schemas.microsoft.com/office/drawing/2014/main" id="{13BEBEA2-D336-D91B-303A-78833BA76A27}"/>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1" name="Line 66">
                <a:extLst>
                  <a:ext uri="{FF2B5EF4-FFF2-40B4-BE49-F238E27FC236}">
                    <a16:creationId xmlns:a16="http://schemas.microsoft.com/office/drawing/2014/main" id="{2943C9CB-1031-27E0-E242-961F18A9D6E3}"/>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2" name="Line 67">
                <a:extLst>
                  <a:ext uri="{FF2B5EF4-FFF2-40B4-BE49-F238E27FC236}">
                    <a16:creationId xmlns:a16="http://schemas.microsoft.com/office/drawing/2014/main" id="{BEE5DD88-763E-0371-B24C-18234ABE74C0}"/>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3" name="Line 68">
                <a:extLst>
                  <a:ext uri="{FF2B5EF4-FFF2-40B4-BE49-F238E27FC236}">
                    <a16:creationId xmlns:a16="http://schemas.microsoft.com/office/drawing/2014/main" id="{EEED5C9F-D8CA-A25B-CCB0-8943C6ED2AF5}"/>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4" name="Line 69">
                <a:extLst>
                  <a:ext uri="{FF2B5EF4-FFF2-40B4-BE49-F238E27FC236}">
                    <a16:creationId xmlns:a16="http://schemas.microsoft.com/office/drawing/2014/main" id="{0706162A-0733-7F3E-891E-D98F4665C82E}"/>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5" name="Line 70">
                <a:extLst>
                  <a:ext uri="{FF2B5EF4-FFF2-40B4-BE49-F238E27FC236}">
                    <a16:creationId xmlns:a16="http://schemas.microsoft.com/office/drawing/2014/main" id="{583E7121-A473-306D-6E36-018D5FDA7D19}"/>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46" name="Group 71">
              <a:extLst>
                <a:ext uri="{FF2B5EF4-FFF2-40B4-BE49-F238E27FC236}">
                  <a16:creationId xmlns:a16="http://schemas.microsoft.com/office/drawing/2014/main" id="{1B0CCC5D-9BDD-AD44-DD13-4D38DA83189C}"/>
                </a:ext>
              </a:extLst>
            </p:cNvPr>
            <p:cNvGrpSpPr>
              <a:grpSpLocks/>
            </p:cNvGrpSpPr>
            <p:nvPr/>
          </p:nvGrpSpPr>
          <p:grpSpPr bwMode="auto">
            <a:xfrm>
              <a:off x="5776913" y="4700588"/>
              <a:ext cx="427037" cy="477837"/>
              <a:chOff x="1702" y="2990"/>
              <a:chExt cx="269" cy="301"/>
            </a:xfrm>
          </p:grpSpPr>
          <p:sp>
            <p:nvSpPr>
              <p:cNvPr id="147" name="Rectangle 72">
                <a:extLst>
                  <a:ext uri="{FF2B5EF4-FFF2-40B4-BE49-F238E27FC236}">
                    <a16:creationId xmlns:a16="http://schemas.microsoft.com/office/drawing/2014/main" id="{FFD899E0-D4D0-C5DE-6A01-D69696EA7750}"/>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48" name="Line 73">
                <a:extLst>
                  <a:ext uri="{FF2B5EF4-FFF2-40B4-BE49-F238E27FC236}">
                    <a16:creationId xmlns:a16="http://schemas.microsoft.com/office/drawing/2014/main" id="{9C7329C6-E9D9-DF52-1D18-F2D77B1D1DE6}"/>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9" name="Line 74">
                <a:extLst>
                  <a:ext uri="{FF2B5EF4-FFF2-40B4-BE49-F238E27FC236}">
                    <a16:creationId xmlns:a16="http://schemas.microsoft.com/office/drawing/2014/main" id="{E4D0199A-F264-9602-03D5-DE9784A2CC11}"/>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0" name="Line 75">
                <a:extLst>
                  <a:ext uri="{FF2B5EF4-FFF2-40B4-BE49-F238E27FC236}">
                    <a16:creationId xmlns:a16="http://schemas.microsoft.com/office/drawing/2014/main" id="{85DA181F-4118-D9D3-8505-9398575F78BD}"/>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1" name="Line 76">
                <a:extLst>
                  <a:ext uri="{FF2B5EF4-FFF2-40B4-BE49-F238E27FC236}">
                    <a16:creationId xmlns:a16="http://schemas.microsoft.com/office/drawing/2014/main" id="{5702EEE4-D7C5-78B4-F695-2B4AE980B9F6}"/>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2" name="Line 77">
                <a:extLst>
                  <a:ext uri="{FF2B5EF4-FFF2-40B4-BE49-F238E27FC236}">
                    <a16:creationId xmlns:a16="http://schemas.microsoft.com/office/drawing/2014/main" id="{1CBD1A37-F982-FB87-59D3-1830D685FE84}"/>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3" name="Line 78">
                <a:extLst>
                  <a:ext uri="{FF2B5EF4-FFF2-40B4-BE49-F238E27FC236}">
                    <a16:creationId xmlns:a16="http://schemas.microsoft.com/office/drawing/2014/main" id="{FC698DB8-AA15-CAB1-455B-EDA5C7127CD2}"/>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54" name="Line 79">
              <a:extLst>
                <a:ext uri="{FF2B5EF4-FFF2-40B4-BE49-F238E27FC236}">
                  <a16:creationId xmlns:a16="http://schemas.microsoft.com/office/drawing/2014/main" id="{D55CF019-EEF2-73E5-2DAC-A9A8907D9E2B}"/>
                </a:ext>
              </a:extLst>
            </p:cNvPr>
            <p:cNvSpPr>
              <a:spLocks noChangeShapeType="1"/>
            </p:cNvSpPr>
            <p:nvPr/>
          </p:nvSpPr>
          <p:spPr bwMode="auto">
            <a:xfrm flipV="1">
              <a:off x="2833688" y="4337050"/>
              <a:ext cx="730250" cy="2063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5" name="AutoShape 80">
              <a:extLst>
                <a:ext uri="{FF2B5EF4-FFF2-40B4-BE49-F238E27FC236}">
                  <a16:creationId xmlns:a16="http://schemas.microsoft.com/office/drawing/2014/main" id="{F49FF333-337D-4627-F23A-AF048AC40F83}"/>
                </a:ext>
              </a:extLst>
            </p:cNvPr>
            <p:cNvSpPr>
              <a:spLocks noChangeArrowheads="1"/>
            </p:cNvSpPr>
            <p:nvPr/>
          </p:nvSpPr>
          <p:spPr bwMode="auto">
            <a:xfrm>
              <a:off x="3067050" y="4206875"/>
              <a:ext cx="233363" cy="254000"/>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156" name="Line 81">
              <a:extLst>
                <a:ext uri="{FF2B5EF4-FFF2-40B4-BE49-F238E27FC236}">
                  <a16:creationId xmlns:a16="http://schemas.microsoft.com/office/drawing/2014/main" id="{9B58771B-4D8A-003C-2475-3CCF9607D6A5}"/>
                </a:ext>
              </a:extLst>
            </p:cNvPr>
            <p:cNvSpPr>
              <a:spLocks noChangeShapeType="1"/>
            </p:cNvSpPr>
            <p:nvPr/>
          </p:nvSpPr>
          <p:spPr bwMode="auto">
            <a:xfrm flipV="1">
              <a:off x="4021138" y="4337050"/>
              <a:ext cx="730250" cy="2063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7" name="AutoShape 82">
              <a:extLst>
                <a:ext uri="{FF2B5EF4-FFF2-40B4-BE49-F238E27FC236}">
                  <a16:creationId xmlns:a16="http://schemas.microsoft.com/office/drawing/2014/main" id="{7E06961E-D559-2DA4-3206-09F8FEE6A70A}"/>
                </a:ext>
              </a:extLst>
            </p:cNvPr>
            <p:cNvSpPr>
              <a:spLocks noChangeArrowheads="1"/>
            </p:cNvSpPr>
            <p:nvPr/>
          </p:nvSpPr>
          <p:spPr bwMode="auto">
            <a:xfrm>
              <a:off x="4225925" y="4206875"/>
              <a:ext cx="233363" cy="254000"/>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158" name="Line 83">
              <a:extLst>
                <a:ext uri="{FF2B5EF4-FFF2-40B4-BE49-F238E27FC236}">
                  <a16:creationId xmlns:a16="http://schemas.microsoft.com/office/drawing/2014/main" id="{FE42A7A2-C2DD-FA1F-000B-AE8EA63474F3}"/>
                </a:ext>
              </a:extLst>
            </p:cNvPr>
            <p:cNvSpPr>
              <a:spLocks noChangeShapeType="1"/>
            </p:cNvSpPr>
            <p:nvPr/>
          </p:nvSpPr>
          <p:spPr bwMode="auto">
            <a:xfrm flipV="1">
              <a:off x="5141913" y="4346575"/>
              <a:ext cx="649287" cy="111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9" name="AutoShape 84">
              <a:extLst>
                <a:ext uri="{FF2B5EF4-FFF2-40B4-BE49-F238E27FC236}">
                  <a16:creationId xmlns:a16="http://schemas.microsoft.com/office/drawing/2014/main" id="{4F0F28FA-930A-CF1B-F3D5-0C59911CFEFD}"/>
                </a:ext>
              </a:extLst>
            </p:cNvPr>
            <p:cNvSpPr>
              <a:spLocks noChangeArrowheads="1"/>
            </p:cNvSpPr>
            <p:nvPr/>
          </p:nvSpPr>
          <p:spPr bwMode="auto">
            <a:xfrm>
              <a:off x="5346700" y="4206875"/>
              <a:ext cx="233363" cy="254000"/>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160" name="Rectangle 85">
              <a:extLst>
                <a:ext uri="{FF2B5EF4-FFF2-40B4-BE49-F238E27FC236}">
                  <a16:creationId xmlns:a16="http://schemas.microsoft.com/office/drawing/2014/main" id="{7B84D6CB-EB4A-0B5B-1331-442BF4150398}"/>
                </a:ext>
              </a:extLst>
            </p:cNvPr>
            <p:cNvSpPr>
              <a:spLocks noChangeArrowheads="1"/>
            </p:cNvSpPr>
            <p:nvPr/>
          </p:nvSpPr>
          <p:spPr bwMode="auto">
            <a:xfrm>
              <a:off x="6902450" y="4037013"/>
              <a:ext cx="427038" cy="57943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61" name="Line 86">
              <a:extLst>
                <a:ext uri="{FF2B5EF4-FFF2-40B4-BE49-F238E27FC236}">
                  <a16:creationId xmlns:a16="http://schemas.microsoft.com/office/drawing/2014/main" id="{B311C2F9-7752-CF5C-3118-30380C8FC953}"/>
                </a:ext>
              </a:extLst>
            </p:cNvPr>
            <p:cNvSpPr>
              <a:spLocks noChangeShapeType="1"/>
            </p:cNvSpPr>
            <p:nvPr/>
          </p:nvSpPr>
          <p:spPr bwMode="auto">
            <a:xfrm>
              <a:off x="6892925" y="4160838"/>
              <a:ext cx="42545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162" name="Group 87">
              <a:extLst>
                <a:ext uri="{FF2B5EF4-FFF2-40B4-BE49-F238E27FC236}">
                  <a16:creationId xmlns:a16="http://schemas.microsoft.com/office/drawing/2014/main" id="{B9E24566-7490-341A-3D1D-07B83C442977}"/>
                </a:ext>
              </a:extLst>
            </p:cNvPr>
            <p:cNvGrpSpPr>
              <a:grpSpLocks/>
            </p:cNvGrpSpPr>
            <p:nvPr/>
          </p:nvGrpSpPr>
          <p:grpSpPr bwMode="auto">
            <a:xfrm>
              <a:off x="6872288" y="4691063"/>
              <a:ext cx="427037" cy="477837"/>
              <a:chOff x="1702" y="2990"/>
              <a:chExt cx="269" cy="301"/>
            </a:xfrm>
          </p:grpSpPr>
          <p:sp>
            <p:nvSpPr>
              <p:cNvPr id="163" name="Rectangle 88">
                <a:extLst>
                  <a:ext uri="{FF2B5EF4-FFF2-40B4-BE49-F238E27FC236}">
                    <a16:creationId xmlns:a16="http://schemas.microsoft.com/office/drawing/2014/main" id="{DB27ED41-24E6-B51F-8A6D-36D607E75727}"/>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64" name="Line 89">
                <a:extLst>
                  <a:ext uri="{FF2B5EF4-FFF2-40B4-BE49-F238E27FC236}">
                    <a16:creationId xmlns:a16="http://schemas.microsoft.com/office/drawing/2014/main" id="{C4D34B83-F8F1-79E5-789D-CE1CF080D278}"/>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65" name="Line 90">
                <a:extLst>
                  <a:ext uri="{FF2B5EF4-FFF2-40B4-BE49-F238E27FC236}">
                    <a16:creationId xmlns:a16="http://schemas.microsoft.com/office/drawing/2014/main" id="{FEE9EB10-62B0-62FB-AC55-DE4A3CCD69BA}"/>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66" name="Line 91">
                <a:extLst>
                  <a:ext uri="{FF2B5EF4-FFF2-40B4-BE49-F238E27FC236}">
                    <a16:creationId xmlns:a16="http://schemas.microsoft.com/office/drawing/2014/main" id="{BDFCE84C-DFDB-8262-D430-2966DBC6177B}"/>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67" name="Line 92">
                <a:extLst>
                  <a:ext uri="{FF2B5EF4-FFF2-40B4-BE49-F238E27FC236}">
                    <a16:creationId xmlns:a16="http://schemas.microsoft.com/office/drawing/2014/main" id="{984C6039-75D6-D364-0918-29D2A5125A85}"/>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68" name="Line 93">
                <a:extLst>
                  <a:ext uri="{FF2B5EF4-FFF2-40B4-BE49-F238E27FC236}">
                    <a16:creationId xmlns:a16="http://schemas.microsoft.com/office/drawing/2014/main" id="{73D50EAB-B728-AA6F-9EA0-9885C7CFDD5A}"/>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69" name="Line 94">
                <a:extLst>
                  <a:ext uri="{FF2B5EF4-FFF2-40B4-BE49-F238E27FC236}">
                    <a16:creationId xmlns:a16="http://schemas.microsoft.com/office/drawing/2014/main" id="{89AD5CAB-6026-5D1D-3943-D831C3314A64}"/>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70" name="Line 95">
              <a:extLst>
                <a:ext uri="{FF2B5EF4-FFF2-40B4-BE49-F238E27FC236}">
                  <a16:creationId xmlns:a16="http://schemas.microsoft.com/office/drawing/2014/main" id="{E462C9D1-9E53-2246-6000-26B450E918B2}"/>
                </a:ext>
              </a:extLst>
            </p:cNvPr>
            <p:cNvSpPr>
              <a:spLocks noChangeShapeType="1"/>
            </p:cNvSpPr>
            <p:nvPr/>
          </p:nvSpPr>
          <p:spPr bwMode="auto">
            <a:xfrm flipV="1">
              <a:off x="6237288" y="4337050"/>
              <a:ext cx="649287" cy="111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1" name="AutoShape 96">
              <a:extLst>
                <a:ext uri="{FF2B5EF4-FFF2-40B4-BE49-F238E27FC236}">
                  <a16:creationId xmlns:a16="http://schemas.microsoft.com/office/drawing/2014/main" id="{8607638A-8D6C-F680-A805-3A2A94660857}"/>
                </a:ext>
              </a:extLst>
            </p:cNvPr>
            <p:cNvSpPr>
              <a:spLocks noChangeArrowheads="1"/>
            </p:cNvSpPr>
            <p:nvPr/>
          </p:nvSpPr>
          <p:spPr bwMode="auto">
            <a:xfrm>
              <a:off x="6442075" y="4197350"/>
              <a:ext cx="233363" cy="254000"/>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172" name="Line 97">
              <a:extLst>
                <a:ext uri="{FF2B5EF4-FFF2-40B4-BE49-F238E27FC236}">
                  <a16:creationId xmlns:a16="http://schemas.microsoft.com/office/drawing/2014/main" id="{2E846E66-7103-BF53-81B8-94D2DEBF0565}"/>
                </a:ext>
              </a:extLst>
            </p:cNvPr>
            <p:cNvSpPr>
              <a:spLocks noChangeShapeType="1"/>
            </p:cNvSpPr>
            <p:nvPr/>
          </p:nvSpPr>
          <p:spPr bwMode="auto">
            <a:xfrm flipV="1">
              <a:off x="1554163" y="4356100"/>
              <a:ext cx="892175" cy="158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3" name="Rectangle 98">
              <a:extLst>
                <a:ext uri="{FF2B5EF4-FFF2-40B4-BE49-F238E27FC236}">
                  <a16:creationId xmlns:a16="http://schemas.microsoft.com/office/drawing/2014/main" id="{F2806AA0-B008-9A7F-EC64-37C547098E59}"/>
                </a:ext>
              </a:extLst>
            </p:cNvPr>
            <p:cNvSpPr>
              <a:spLocks noChangeArrowheads="1"/>
            </p:cNvSpPr>
            <p:nvPr/>
          </p:nvSpPr>
          <p:spPr bwMode="auto">
            <a:xfrm>
              <a:off x="3787775" y="2093913"/>
              <a:ext cx="974725" cy="70961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XYZ</a:t>
              </a:r>
            </a:p>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Scheduling </a:t>
              </a:r>
            </a:p>
            <a:p>
              <a:pPr>
                <a:lnSpc>
                  <a:spcPct val="100000"/>
                </a:lnSpc>
                <a:spcBef>
                  <a:spcPct val="0"/>
                </a:spcBef>
              </a:pPr>
              <a:r>
                <a:rPr lang="en-US" altLang="en-US" sz="1200" b="0">
                  <a:solidFill>
                    <a:schemeClr val="tx1"/>
                  </a:solidFill>
                  <a:latin typeface="Roboto" panose="02000000000000000000" pitchFamily="2" charset="0"/>
                  <a:ea typeface="Roboto" panose="02000000000000000000" pitchFamily="2" charset="0"/>
                </a:rPr>
                <a:t>System</a:t>
              </a:r>
            </a:p>
          </p:txBody>
        </p:sp>
        <p:sp>
          <p:nvSpPr>
            <p:cNvPr id="174" name="Line 99">
              <a:extLst>
                <a:ext uri="{FF2B5EF4-FFF2-40B4-BE49-F238E27FC236}">
                  <a16:creationId xmlns:a16="http://schemas.microsoft.com/office/drawing/2014/main" id="{D08CCC1F-6343-D78A-7731-945520570FCB}"/>
                </a:ext>
              </a:extLst>
            </p:cNvPr>
            <p:cNvSpPr>
              <a:spLocks noChangeShapeType="1"/>
            </p:cNvSpPr>
            <p:nvPr/>
          </p:nvSpPr>
          <p:spPr bwMode="auto">
            <a:xfrm flipH="1">
              <a:off x="2863850" y="2813050"/>
              <a:ext cx="1027113" cy="1189038"/>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5" name="Line 100">
              <a:extLst>
                <a:ext uri="{FF2B5EF4-FFF2-40B4-BE49-F238E27FC236}">
                  <a16:creationId xmlns:a16="http://schemas.microsoft.com/office/drawing/2014/main" id="{067524C1-DFCA-35FA-97AB-F8B58DBBB89A}"/>
                </a:ext>
              </a:extLst>
            </p:cNvPr>
            <p:cNvSpPr>
              <a:spLocks noChangeShapeType="1"/>
            </p:cNvSpPr>
            <p:nvPr/>
          </p:nvSpPr>
          <p:spPr bwMode="auto">
            <a:xfrm flipH="1">
              <a:off x="3911600" y="2833688"/>
              <a:ext cx="273050" cy="1157287"/>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6" name="Line 101">
              <a:extLst>
                <a:ext uri="{FF2B5EF4-FFF2-40B4-BE49-F238E27FC236}">
                  <a16:creationId xmlns:a16="http://schemas.microsoft.com/office/drawing/2014/main" id="{C6C91F2B-EBAF-3D00-737B-14714AF2A157}"/>
                </a:ext>
              </a:extLst>
            </p:cNvPr>
            <p:cNvSpPr>
              <a:spLocks noChangeShapeType="1"/>
            </p:cNvSpPr>
            <p:nvPr/>
          </p:nvSpPr>
          <p:spPr bwMode="auto">
            <a:xfrm>
              <a:off x="4457700" y="2833688"/>
              <a:ext cx="500063" cy="1127125"/>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7" name="Line 102">
              <a:extLst>
                <a:ext uri="{FF2B5EF4-FFF2-40B4-BE49-F238E27FC236}">
                  <a16:creationId xmlns:a16="http://schemas.microsoft.com/office/drawing/2014/main" id="{0974B7F0-5DBB-55C1-EBA9-76C9B0895E19}"/>
                </a:ext>
              </a:extLst>
            </p:cNvPr>
            <p:cNvSpPr>
              <a:spLocks noChangeShapeType="1"/>
            </p:cNvSpPr>
            <p:nvPr/>
          </p:nvSpPr>
          <p:spPr bwMode="auto">
            <a:xfrm>
              <a:off x="4775200" y="2782888"/>
              <a:ext cx="2144713" cy="1300162"/>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8" name="Line 103">
              <a:extLst>
                <a:ext uri="{FF2B5EF4-FFF2-40B4-BE49-F238E27FC236}">
                  <a16:creationId xmlns:a16="http://schemas.microsoft.com/office/drawing/2014/main" id="{BBF507FB-EA10-3A15-4ACE-0DDEC207F09F}"/>
                </a:ext>
              </a:extLst>
            </p:cNvPr>
            <p:cNvSpPr>
              <a:spLocks noChangeShapeType="1"/>
            </p:cNvSpPr>
            <p:nvPr/>
          </p:nvSpPr>
          <p:spPr bwMode="auto">
            <a:xfrm>
              <a:off x="4632325" y="2801938"/>
              <a:ext cx="1209675" cy="135255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9" name="Text Box 104">
              <a:extLst>
                <a:ext uri="{FF2B5EF4-FFF2-40B4-BE49-F238E27FC236}">
                  <a16:creationId xmlns:a16="http://schemas.microsoft.com/office/drawing/2014/main" id="{6269AF46-60E4-9268-F46C-4CFC8507C0BD}"/>
                </a:ext>
              </a:extLst>
            </p:cNvPr>
            <p:cNvSpPr txBox="1">
              <a:spLocks noChangeArrowheads="1"/>
            </p:cNvSpPr>
            <p:nvPr/>
          </p:nvSpPr>
          <p:spPr bwMode="auto">
            <a:xfrm>
              <a:off x="1036638" y="1841500"/>
              <a:ext cx="697986" cy="328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accent1"/>
                  </a:solidFill>
                  <a:latin typeface="Roboto" panose="02000000000000000000" pitchFamily="2" charset="0"/>
                  <a:ea typeface="Roboto" panose="02000000000000000000" pitchFamily="2" charset="0"/>
                </a:rPr>
                <a:t>Supplier</a:t>
              </a:r>
            </a:p>
          </p:txBody>
        </p:sp>
        <p:sp>
          <p:nvSpPr>
            <p:cNvPr id="180" name="Text Box 105">
              <a:extLst>
                <a:ext uri="{FF2B5EF4-FFF2-40B4-BE49-F238E27FC236}">
                  <a16:creationId xmlns:a16="http://schemas.microsoft.com/office/drawing/2014/main" id="{CE87E0F4-0C98-94B2-55F9-E98B5A9113E8}"/>
                </a:ext>
              </a:extLst>
            </p:cNvPr>
            <p:cNvSpPr txBox="1">
              <a:spLocks noChangeArrowheads="1"/>
            </p:cNvSpPr>
            <p:nvPr/>
          </p:nvSpPr>
          <p:spPr bwMode="auto">
            <a:xfrm>
              <a:off x="6902450" y="1741488"/>
              <a:ext cx="810693" cy="328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accent1"/>
                  </a:solidFill>
                  <a:latin typeface="Roboto" panose="02000000000000000000" pitchFamily="2" charset="0"/>
                  <a:ea typeface="Roboto" panose="02000000000000000000" pitchFamily="2" charset="0"/>
                </a:rPr>
                <a:t>Customer</a:t>
              </a:r>
            </a:p>
          </p:txBody>
        </p:sp>
        <p:sp>
          <p:nvSpPr>
            <p:cNvPr id="181" name="Text Box 106">
              <a:extLst>
                <a:ext uri="{FF2B5EF4-FFF2-40B4-BE49-F238E27FC236}">
                  <a16:creationId xmlns:a16="http://schemas.microsoft.com/office/drawing/2014/main" id="{2D3FB5C5-75D3-C070-23F0-02A2A6600B55}"/>
                </a:ext>
              </a:extLst>
            </p:cNvPr>
            <p:cNvSpPr txBox="1">
              <a:spLocks noChangeArrowheads="1"/>
            </p:cNvSpPr>
            <p:nvPr/>
          </p:nvSpPr>
          <p:spPr bwMode="auto">
            <a:xfrm>
              <a:off x="3292475" y="1547812"/>
              <a:ext cx="1548662" cy="557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400" b="0">
                  <a:solidFill>
                    <a:schemeClr val="accent1"/>
                  </a:solidFill>
                  <a:latin typeface="Roboto" panose="02000000000000000000" pitchFamily="2" charset="0"/>
                  <a:ea typeface="Roboto" panose="02000000000000000000" pitchFamily="2" charset="0"/>
                </a:rPr>
                <a:t>Information Systems</a:t>
              </a:r>
            </a:p>
            <a:p>
              <a:pPr>
                <a:lnSpc>
                  <a:spcPct val="100000"/>
                </a:lnSpc>
                <a:spcBef>
                  <a:spcPct val="0"/>
                </a:spcBef>
              </a:pPr>
              <a:r>
                <a:rPr lang="en-US" altLang="en-US" sz="1400" b="0">
                  <a:solidFill>
                    <a:schemeClr val="accent1"/>
                  </a:solidFill>
                  <a:latin typeface="Roboto" panose="02000000000000000000" pitchFamily="2" charset="0"/>
                  <a:ea typeface="Roboto" panose="02000000000000000000" pitchFamily="2" charset="0"/>
                </a:rPr>
                <a:t>&amp; Flow</a:t>
              </a:r>
            </a:p>
          </p:txBody>
        </p:sp>
        <p:sp>
          <p:nvSpPr>
            <p:cNvPr id="182" name="AutoShape 107">
              <a:extLst>
                <a:ext uri="{FF2B5EF4-FFF2-40B4-BE49-F238E27FC236}">
                  <a16:creationId xmlns:a16="http://schemas.microsoft.com/office/drawing/2014/main" id="{7033229F-0983-2E96-1A8B-E706795D7AB3}"/>
                </a:ext>
              </a:extLst>
            </p:cNvPr>
            <p:cNvSpPr>
              <a:spLocks noChangeArrowheads="1"/>
            </p:cNvSpPr>
            <p:nvPr/>
          </p:nvSpPr>
          <p:spPr bwMode="auto">
            <a:xfrm>
              <a:off x="600075" y="1838325"/>
              <a:ext cx="1787525" cy="1687513"/>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83" name="AutoShape 108">
              <a:extLst>
                <a:ext uri="{FF2B5EF4-FFF2-40B4-BE49-F238E27FC236}">
                  <a16:creationId xmlns:a16="http://schemas.microsoft.com/office/drawing/2014/main" id="{DB6E6721-3E3D-F73A-2F1C-DD438568AD3D}"/>
                </a:ext>
              </a:extLst>
            </p:cNvPr>
            <p:cNvSpPr>
              <a:spLocks noChangeArrowheads="1"/>
            </p:cNvSpPr>
            <p:nvPr/>
          </p:nvSpPr>
          <p:spPr bwMode="auto">
            <a:xfrm>
              <a:off x="5770563" y="1685925"/>
              <a:ext cx="2581275" cy="1768475"/>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84" name="AutoShape 109">
              <a:extLst>
                <a:ext uri="{FF2B5EF4-FFF2-40B4-BE49-F238E27FC236}">
                  <a16:creationId xmlns:a16="http://schemas.microsoft.com/office/drawing/2014/main" id="{9846CDB8-DB9B-E442-BAF1-73582003F4A2}"/>
                </a:ext>
              </a:extLst>
            </p:cNvPr>
            <p:cNvSpPr>
              <a:spLocks noChangeArrowheads="1"/>
            </p:cNvSpPr>
            <p:nvPr/>
          </p:nvSpPr>
          <p:spPr bwMode="auto">
            <a:xfrm>
              <a:off x="2936875" y="1584325"/>
              <a:ext cx="2470150" cy="2205038"/>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85" name="Line 110">
              <a:extLst>
                <a:ext uri="{FF2B5EF4-FFF2-40B4-BE49-F238E27FC236}">
                  <a16:creationId xmlns:a16="http://schemas.microsoft.com/office/drawing/2014/main" id="{CBA74765-670A-23D5-0580-ECA7F11B4E39}"/>
                </a:ext>
              </a:extLst>
            </p:cNvPr>
            <p:cNvSpPr>
              <a:spLocks noChangeShapeType="1"/>
            </p:cNvSpPr>
            <p:nvPr/>
          </p:nvSpPr>
          <p:spPr bwMode="auto">
            <a:xfrm flipH="1">
              <a:off x="1941513" y="2581275"/>
              <a:ext cx="1808162" cy="1588"/>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86" name="Line 111">
              <a:extLst>
                <a:ext uri="{FF2B5EF4-FFF2-40B4-BE49-F238E27FC236}">
                  <a16:creationId xmlns:a16="http://schemas.microsoft.com/office/drawing/2014/main" id="{1A989BFC-0255-A281-28F2-317D52F446B5}"/>
                </a:ext>
              </a:extLst>
            </p:cNvPr>
            <p:cNvSpPr>
              <a:spLocks noChangeShapeType="1"/>
            </p:cNvSpPr>
            <p:nvPr/>
          </p:nvSpPr>
          <p:spPr bwMode="auto">
            <a:xfrm flipH="1">
              <a:off x="4754563" y="2576513"/>
              <a:ext cx="2103437"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87" name="AutoShape 112">
              <a:extLst>
                <a:ext uri="{FF2B5EF4-FFF2-40B4-BE49-F238E27FC236}">
                  <a16:creationId xmlns:a16="http://schemas.microsoft.com/office/drawing/2014/main" id="{3C0373C9-6067-CD94-A91E-19E5622591AC}"/>
                </a:ext>
              </a:extLst>
            </p:cNvPr>
            <p:cNvSpPr>
              <a:spLocks noChangeArrowheads="1"/>
            </p:cNvSpPr>
            <p:nvPr/>
          </p:nvSpPr>
          <p:spPr bwMode="auto">
            <a:xfrm>
              <a:off x="1127125" y="3919538"/>
              <a:ext cx="6807200" cy="1519237"/>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88" name="Group 113">
              <a:extLst>
                <a:ext uri="{FF2B5EF4-FFF2-40B4-BE49-F238E27FC236}">
                  <a16:creationId xmlns:a16="http://schemas.microsoft.com/office/drawing/2014/main" id="{E3591D57-858B-5083-989E-B2496BB2ADE3}"/>
                </a:ext>
              </a:extLst>
            </p:cNvPr>
            <p:cNvGrpSpPr>
              <a:grpSpLocks/>
            </p:cNvGrpSpPr>
            <p:nvPr/>
          </p:nvGrpSpPr>
          <p:grpSpPr bwMode="auto">
            <a:xfrm>
              <a:off x="7502525" y="5541958"/>
              <a:ext cx="974725" cy="476249"/>
              <a:chOff x="5002" y="3566"/>
              <a:chExt cx="614" cy="300"/>
            </a:xfrm>
          </p:grpSpPr>
          <p:sp>
            <p:nvSpPr>
              <p:cNvPr id="189" name="Text Box 114">
                <a:extLst>
                  <a:ext uri="{FF2B5EF4-FFF2-40B4-BE49-F238E27FC236}">
                    <a16:creationId xmlns:a16="http://schemas.microsoft.com/office/drawing/2014/main" id="{764D74E7-D37D-D9CD-0D38-C2343BE6319F}"/>
                  </a:ext>
                </a:extLst>
              </p:cNvPr>
              <p:cNvSpPr txBox="1">
                <a:spLocks noChangeArrowheads="1"/>
              </p:cNvSpPr>
              <p:nvPr/>
            </p:nvSpPr>
            <p:spPr bwMode="auto">
              <a:xfrm>
                <a:off x="5002" y="3566"/>
                <a:ext cx="601"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chemeClr val="tx1"/>
                    </a:solidFill>
                    <a:latin typeface="Roboto" panose="02000000000000000000" pitchFamily="2" charset="0"/>
                    <a:ea typeface="Roboto" panose="02000000000000000000" pitchFamily="2" charset="0"/>
                  </a:rPr>
                  <a:t>Production L.T.</a:t>
                </a:r>
              </a:p>
              <a:p>
                <a:pPr>
                  <a:lnSpc>
                    <a:spcPct val="100000"/>
                  </a:lnSpc>
                  <a:spcBef>
                    <a:spcPct val="30000"/>
                  </a:spcBef>
                </a:pPr>
                <a:r>
                  <a:rPr lang="en-US" altLang="en-US" sz="1000" b="0">
                    <a:solidFill>
                      <a:schemeClr val="tx1"/>
                    </a:solidFill>
                    <a:latin typeface="Roboto" panose="02000000000000000000" pitchFamily="2" charset="0"/>
                    <a:ea typeface="Roboto" panose="02000000000000000000" pitchFamily="2" charset="0"/>
                  </a:rPr>
                  <a:t>Processing Time</a:t>
                </a:r>
              </a:p>
            </p:txBody>
          </p:sp>
          <p:sp>
            <p:nvSpPr>
              <p:cNvPr id="190" name="Line 115">
                <a:extLst>
                  <a:ext uri="{FF2B5EF4-FFF2-40B4-BE49-F238E27FC236}">
                    <a16:creationId xmlns:a16="http://schemas.microsoft.com/office/drawing/2014/main" id="{662C90ED-8873-F613-2EA0-E096BDF2070C}"/>
                  </a:ext>
                </a:extLst>
              </p:cNvPr>
              <p:cNvSpPr>
                <a:spLocks noChangeShapeType="1"/>
              </p:cNvSpPr>
              <p:nvPr/>
            </p:nvSpPr>
            <p:spPr bwMode="auto">
              <a:xfrm>
                <a:off x="5072" y="3693"/>
                <a:ext cx="544" cy="6"/>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91" name="AutoShape 116">
              <a:extLst>
                <a:ext uri="{FF2B5EF4-FFF2-40B4-BE49-F238E27FC236}">
                  <a16:creationId xmlns:a16="http://schemas.microsoft.com/office/drawing/2014/main" id="{D624E773-DA0F-8B05-7F03-894B4138AE82}"/>
                </a:ext>
              </a:extLst>
            </p:cNvPr>
            <p:cNvSpPr>
              <a:spLocks noChangeArrowheads="1"/>
            </p:cNvSpPr>
            <p:nvPr/>
          </p:nvSpPr>
          <p:spPr bwMode="auto">
            <a:xfrm>
              <a:off x="890588" y="5503863"/>
              <a:ext cx="7708900" cy="577850"/>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92" name="Text Box 117">
              <a:extLst>
                <a:ext uri="{FF2B5EF4-FFF2-40B4-BE49-F238E27FC236}">
                  <a16:creationId xmlns:a16="http://schemas.microsoft.com/office/drawing/2014/main" id="{CE0D30D2-C0CD-43D8-927E-7A470956B3AF}"/>
                </a:ext>
              </a:extLst>
            </p:cNvPr>
            <p:cNvSpPr txBox="1">
              <a:spLocks noChangeArrowheads="1"/>
            </p:cNvSpPr>
            <p:nvPr/>
          </p:nvSpPr>
          <p:spPr bwMode="auto">
            <a:xfrm>
              <a:off x="3248025" y="5165725"/>
              <a:ext cx="1980710" cy="328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accent1"/>
                  </a:solidFill>
                  <a:latin typeface="Roboto" panose="02000000000000000000" pitchFamily="2" charset="0"/>
                  <a:ea typeface="Roboto" panose="02000000000000000000" pitchFamily="2" charset="0"/>
                </a:rPr>
                <a:t>Processes and Data Blocks</a:t>
              </a:r>
            </a:p>
          </p:txBody>
        </p:sp>
        <p:sp>
          <p:nvSpPr>
            <p:cNvPr id="193" name="Text Box 118">
              <a:extLst>
                <a:ext uri="{FF2B5EF4-FFF2-40B4-BE49-F238E27FC236}">
                  <a16:creationId xmlns:a16="http://schemas.microsoft.com/office/drawing/2014/main" id="{55C90BC7-D8ED-10F2-CC29-76D898B68329}"/>
                </a:ext>
              </a:extLst>
            </p:cNvPr>
            <p:cNvSpPr txBox="1">
              <a:spLocks noChangeArrowheads="1"/>
            </p:cNvSpPr>
            <p:nvPr/>
          </p:nvSpPr>
          <p:spPr bwMode="auto">
            <a:xfrm>
              <a:off x="2833688" y="5778500"/>
              <a:ext cx="3170854" cy="328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accent1"/>
                  </a:solidFill>
                  <a:latin typeface="Roboto" panose="02000000000000000000" pitchFamily="2" charset="0"/>
                  <a:ea typeface="Roboto" panose="02000000000000000000" pitchFamily="2" charset="0"/>
                </a:rPr>
                <a:t>Lead Time and Processing Time Calculations</a:t>
              </a:r>
            </a:p>
          </p:txBody>
        </p:sp>
        <p:sp>
          <p:nvSpPr>
            <p:cNvPr id="194" name="Rectangle 119">
              <a:extLst>
                <a:ext uri="{FF2B5EF4-FFF2-40B4-BE49-F238E27FC236}">
                  <a16:creationId xmlns:a16="http://schemas.microsoft.com/office/drawing/2014/main" id="{89EAED44-8788-2A54-4A2F-3B6535903E93}"/>
                </a:ext>
              </a:extLst>
            </p:cNvPr>
            <p:cNvSpPr>
              <a:spLocks noChangeArrowheads="1"/>
            </p:cNvSpPr>
            <p:nvPr/>
          </p:nvSpPr>
          <p:spPr bwMode="auto">
            <a:xfrm>
              <a:off x="5883275" y="2730500"/>
              <a:ext cx="833438" cy="477838"/>
            </a:xfrm>
            <a:prstGeom prst="rect">
              <a:avLst/>
            </a:prstGeom>
            <a:solidFill>
              <a:schemeClr val="bg1"/>
            </a:solidFill>
            <a:ln w="12700" cap="sq">
              <a:solidFill>
                <a:schemeClr val="tx1"/>
              </a:solidFill>
              <a:miter lim="800000"/>
              <a:headEnd type="none" w="sm" len="sm"/>
              <a:tailEnd type="none" w="sm" len="sm"/>
            </a:ln>
            <a:effectLst>
              <a:outerShdw dist="45791" dir="2021404" algn="ctr" rotWithShape="0">
                <a:schemeClr val="tx1">
                  <a:alpha val="50000"/>
                </a:schemeClr>
              </a:outerShdw>
            </a:effectLst>
          </p:spPr>
          <p:txBody>
            <a:bodyPr wrap="none" anchor="ctr"/>
            <a:lstStyle/>
            <a:p>
              <a:pPr>
                <a:lnSpc>
                  <a:spcPct val="100000"/>
                </a:lnSpc>
                <a:spcBef>
                  <a:spcPct val="0"/>
                </a:spcBef>
                <a:defRPr/>
              </a:pPr>
              <a:r>
                <a:rPr lang="en-US" sz="1200" b="0">
                  <a:solidFill>
                    <a:schemeClr val="tx1"/>
                  </a:solidFill>
                  <a:latin typeface="Roboto" panose="02000000000000000000" pitchFamily="2" charset="0"/>
                  <a:ea typeface="Roboto" panose="02000000000000000000" pitchFamily="2" charset="0"/>
                </a:rPr>
                <a:t>Takt</a:t>
              </a:r>
            </a:p>
            <a:p>
              <a:pPr>
                <a:lnSpc>
                  <a:spcPct val="100000"/>
                </a:lnSpc>
                <a:spcBef>
                  <a:spcPct val="0"/>
                </a:spcBef>
                <a:defRPr/>
              </a:pPr>
              <a:r>
                <a:rPr lang="en-US" sz="1200" b="0">
                  <a:solidFill>
                    <a:schemeClr val="tx1"/>
                  </a:solidFill>
                  <a:latin typeface="Roboto" panose="02000000000000000000" pitchFamily="2" charset="0"/>
                  <a:ea typeface="Roboto" panose="02000000000000000000" pitchFamily="2" charset="0"/>
                </a:rPr>
                <a:t>Time</a:t>
              </a:r>
            </a:p>
          </p:txBody>
        </p:sp>
        <p:grpSp>
          <p:nvGrpSpPr>
            <p:cNvPr id="195" name="Group 120">
              <a:extLst>
                <a:ext uri="{FF2B5EF4-FFF2-40B4-BE49-F238E27FC236}">
                  <a16:creationId xmlns:a16="http://schemas.microsoft.com/office/drawing/2014/main" id="{0DFC307B-F770-56E5-B101-28D41B6DF48A}"/>
                </a:ext>
              </a:extLst>
            </p:cNvPr>
            <p:cNvGrpSpPr>
              <a:grpSpLocks/>
            </p:cNvGrpSpPr>
            <p:nvPr/>
          </p:nvGrpSpPr>
          <p:grpSpPr bwMode="auto">
            <a:xfrm>
              <a:off x="884238" y="2835275"/>
              <a:ext cx="427037" cy="477838"/>
              <a:chOff x="1702" y="2990"/>
              <a:chExt cx="269" cy="301"/>
            </a:xfrm>
          </p:grpSpPr>
          <p:sp>
            <p:nvSpPr>
              <p:cNvPr id="196" name="Rectangle 121">
                <a:extLst>
                  <a:ext uri="{FF2B5EF4-FFF2-40B4-BE49-F238E27FC236}">
                    <a16:creationId xmlns:a16="http://schemas.microsoft.com/office/drawing/2014/main" id="{36CFAA29-00E8-269D-F390-ECE456873E3B}"/>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97" name="Line 122">
                <a:extLst>
                  <a:ext uri="{FF2B5EF4-FFF2-40B4-BE49-F238E27FC236}">
                    <a16:creationId xmlns:a16="http://schemas.microsoft.com/office/drawing/2014/main" id="{DC6EBCD6-B980-D617-DC57-BB287A753239}"/>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98" name="Line 123">
                <a:extLst>
                  <a:ext uri="{FF2B5EF4-FFF2-40B4-BE49-F238E27FC236}">
                    <a16:creationId xmlns:a16="http://schemas.microsoft.com/office/drawing/2014/main" id="{6AD78BC9-880D-3783-2B95-7872FA3BC19E}"/>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99" name="Line 124">
                <a:extLst>
                  <a:ext uri="{FF2B5EF4-FFF2-40B4-BE49-F238E27FC236}">
                    <a16:creationId xmlns:a16="http://schemas.microsoft.com/office/drawing/2014/main" id="{F4E2732E-1F07-D3D7-C81F-991DAA2C7583}"/>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0" name="Line 125">
                <a:extLst>
                  <a:ext uri="{FF2B5EF4-FFF2-40B4-BE49-F238E27FC236}">
                    <a16:creationId xmlns:a16="http://schemas.microsoft.com/office/drawing/2014/main" id="{05A16E01-9268-10A7-51F1-EEA249B32479}"/>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1" name="Line 126">
                <a:extLst>
                  <a:ext uri="{FF2B5EF4-FFF2-40B4-BE49-F238E27FC236}">
                    <a16:creationId xmlns:a16="http://schemas.microsoft.com/office/drawing/2014/main" id="{556A4686-C526-8CA2-61FF-2104FEB4215A}"/>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2" name="Line 127">
                <a:extLst>
                  <a:ext uri="{FF2B5EF4-FFF2-40B4-BE49-F238E27FC236}">
                    <a16:creationId xmlns:a16="http://schemas.microsoft.com/office/drawing/2014/main" id="{9EF2883F-874D-27E4-F2CD-09E2547473CE}"/>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203" name="Group 128">
              <a:extLst>
                <a:ext uri="{FF2B5EF4-FFF2-40B4-BE49-F238E27FC236}">
                  <a16:creationId xmlns:a16="http://schemas.microsoft.com/office/drawing/2014/main" id="{FEDD2676-FCFB-47B1-1CCD-F7973ED900B6}"/>
                </a:ext>
              </a:extLst>
            </p:cNvPr>
            <p:cNvGrpSpPr>
              <a:grpSpLocks/>
            </p:cNvGrpSpPr>
            <p:nvPr/>
          </p:nvGrpSpPr>
          <p:grpSpPr bwMode="auto">
            <a:xfrm>
              <a:off x="7248525" y="2814638"/>
              <a:ext cx="427038" cy="477837"/>
              <a:chOff x="1702" y="2990"/>
              <a:chExt cx="269" cy="301"/>
            </a:xfrm>
          </p:grpSpPr>
          <p:sp>
            <p:nvSpPr>
              <p:cNvPr id="204" name="Rectangle 129">
                <a:extLst>
                  <a:ext uri="{FF2B5EF4-FFF2-40B4-BE49-F238E27FC236}">
                    <a16:creationId xmlns:a16="http://schemas.microsoft.com/office/drawing/2014/main" id="{18B3794E-D6BA-4B95-5E04-566971FFEFE1}"/>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05" name="Line 130">
                <a:extLst>
                  <a:ext uri="{FF2B5EF4-FFF2-40B4-BE49-F238E27FC236}">
                    <a16:creationId xmlns:a16="http://schemas.microsoft.com/office/drawing/2014/main" id="{40C26B82-807C-2431-D261-36BF9BCD0C48}"/>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6" name="Line 131">
                <a:extLst>
                  <a:ext uri="{FF2B5EF4-FFF2-40B4-BE49-F238E27FC236}">
                    <a16:creationId xmlns:a16="http://schemas.microsoft.com/office/drawing/2014/main" id="{D09E9F08-7BF2-F6B2-D3BB-4FAFAC76D282}"/>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7" name="Line 132">
                <a:extLst>
                  <a:ext uri="{FF2B5EF4-FFF2-40B4-BE49-F238E27FC236}">
                    <a16:creationId xmlns:a16="http://schemas.microsoft.com/office/drawing/2014/main" id="{08484D1A-48E9-9FBA-F5C6-59A1BCBD0AF9}"/>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8" name="Line 133">
                <a:extLst>
                  <a:ext uri="{FF2B5EF4-FFF2-40B4-BE49-F238E27FC236}">
                    <a16:creationId xmlns:a16="http://schemas.microsoft.com/office/drawing/2014/main" id="{44A9CED4-FDAE-17BD-C83E-D58635F706FC}"/>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9" name="Line 134">
                <a:extLst>
                  <a:ext uri="{FF2B5EF4-FFF2-40B4-BE49-F238E27FC236}">
                    <a16:creationId xmlns:a16="http://schemas.microsoft.com/office/drawing/2014/main" id="{1797C2BD-5A18-EFE0-09CA-B304A5872B5F}"/>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10" name="Line 135">
                <a:extLst>
                  <a:ext uri="{FF2B5EF4-FFF2-40B4-BE49-F238E27FC236}">
                    <a16:creationId xmlns:a16="http://schemas.microsoft.com/office/drawing/2014/main" id="{E41C22DF-1C4B-7BB2-37F5-B63F665D7B8F}"/>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211" name="AutoShape 136">
              <a:extLst>
                <a:ext uri="{FF2B5EF4-FFF2-40B4-BE49-F238E27FC236}">
                  <a16:creationId xmlns:a16="http://schemas.microsoft.com/office/drawing/2014/main" id="{FCD3F01D-16B0-D6E5-412C-D93A5F3C069A}"/>
                </a:ext>
              </a:extLst>
            </p:cNvPr>
            <p:cNvSpPr>
              <a:spLocks noChangeArrowheads="1"/>
            </p:cNvSpPr>
            <p:nvPr/>
          </p:nvSpPr>
          <p:spPr bwMode="auto">
            <a:xfrm>
              <a:off x="1387475" y="4219575"/>
              <a:ext cx="233363" cy="254000"/>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212" name="Line 137">
              <a:extLst>
                <a:ext uri="{FF2B5EF4-FFF2-40B4-BE49-F238E27FC236}">
                  <a16:creationId xmlns:a16="http://schemas.microsoft.com/office/drawing/2014/main" id="{2F3B9D6B-5F3A-7CDA-19BC-CA3432E9D2FC}"/>
                </a:ext>
              </a:extLst>
            </p:cNvPr>
            <p:cNvSpPr>
              <a:spLocks noChangeShapeType="1"/>
            </p:cNvSpPr>
            <p:nvPr/>
          </p:nvSpPr>
          <p:spPr bwMode="auto">
            <a:xfrm flipH="1">
              <a:off x="1503363" y="2819400"/>
              <a:ext cx="20637" cy="1366838"/>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nvGrpSpPr>
            <p:cNvPr id="213" name="Group 138">
              <a:extLst>
                <a:ext uri="{FF2B5EF4-FFF2-40B4-BE49-F238E27FC236}">
                  <a16:creationId xmlns:a16="http://schemas.microsoft.com/office/drawing/2014/main" id="{734FE6CE-0590-811E-13CB-6628D019CEED}"/>
                </a:ext>
              </a:extLst>
            </p:cNvPr>
            <p:cNvGrpSpPr>
              <a:grpSpLocks/>
            </p:cNvGrpSpPr>
            <p:nvPr/>
          </p:nvGrpSpPr>
          <p:grpSpPr bwMode="auto">
            <a:xfrm>
              <a:off x="1304925" y="3590925"/>
              <a:ext cx="434975" cy="282575"/>
              <a:chOff x="536" y="3744"/>
              <a:chExt cx="415" cy="261"/>
            </a:xfrm>
          </p:grpSpPr>
          <p:sp>
            <p:nvSpPr>
              <p:cNvPr id="214" name="Rectangle 139">
                <a:extLst>
                  <a:ext uri="{FF2B5EF4-FFF2-40B4-BE49-F238E27FC236}">
                    <a16:creationId xmlns:a16="http://schemas.microsoft.com/office/drawing/2014/main" id="{AAF1832D-771B-8DB6-8D79-A560A5FC19CD}"/>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15" name="Rectangle 140">
                <a:extLst>
                  <a:ext uri="{FF2B5EF4-FFF2-40B4-BE49-F238E27FC236}">
                    <a16:creationId xmlns:a16="http://schemas.microsoft.com/office/drawing/2014/main" id="{B48047C7-E75C-B8E2-CCFC-C3A87AFA9156}"/>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16" name="Oval 141">
                <a:extLst>
                  <a:ext uri="{FF2B5EF4-FFF2-40B4-BE49-F238E27FC236}">
                    <a16:creationId xmlns:a16="http://schemas.microsoft.com/office/drawing/2014/main" id="{1FBCCB18-EAC7-7132-4B34-E9376C46F34C}"/>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17" name="Oval 142">
                <a:extLst>
                  <a:ext uri="{FF2B5EF4-FFF2-40B4-BE49-F238E27FC236}">
                    <a16:creationId xmlns:a16="http://schemas.microsoft.com/office/drawing/2014/main" id="{F4CDA76C-2FAB-5C31-6DD1-0C71743BFC79}"/>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218" name="Line 143">
              <a:extLst>
                <a:ext uri="{FF2B5EF4-FFF2-40B4-BE49-F238E27FC236}">
                  <a16:creationId xmlns:a16="http://schemas.microsoft.com/office/drawing/2014/main" id="{F5E9F292-390B-5AFB-B7BE-4C02B8F31540}"/>
                </a:ext>
              </a:extLst>
            </p:cNvPr>
            <p:cNvSpPr>
              <a:spLocks noChangeShapeType="1"/>
            </p:cNvSpPr>
            <p:nvPr/>
          </p:nvSpPr>
          <p:spPr bwMode="auto">
            <a:xfrm flipH="1" flipV="1">
              <a:off x="7113588" y="2770188"/>
              <a:ext cx="9525" cy="1244600"/>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nvGrpSpPr>
            <p:cNvPr id="219" name="Group 144">
              <a:extLst>
                <a:ext uri="{FF2B5EF4-FFF2-40B4-BE49-F238E27FC236}">
                  <a16:creationId xmlns:a16="http://schemas.microsoft.com/office/drawing/2014/main" id="{A6CB1B2B-D4FF-8789-21AD-C0FEB42DE093}"/>
                </a:ext>
              </a:extLst>
            </p:cNvPr>
            <p:cNvGrpSpPr>
              <a:grpSpLocks/>
            </p:cNvGrpSpPr>
            <p:nvPr/>
          </p:nvGrpSpPr>
          <p:grpSpPr bwMode="auto">
            <a:xfrm>
              <a:off x="6883400" y="3590925"/>
              <a:ext cx="434975" cy="282575"/>
              <a:chOff x="536" y="3744"/>
              <a:chExt cx="415" cy="261"/>
            </a:xfrm>
          </p:grpSpPr>
          <p:sp>
            <p:nvSpPr>
              <p:cNvPr id="220" name="Rectangle 145">
                <a:extLst>
                  <a:ext uri="{FF2B5EF4-FFF2-40B4-BE49-F238E27FC236}">
                    <a16:creationId xmlns:a16="http://schemas.microsoft.com/office/drawing/2014/main" id="{AD478D1D-108D-4F73-DF9B-6B1DE0FFF290}"/>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21" name="Rectangle 146">
                <a:extLst>
                  <a:ext uri="{FF2B5EF4-FFF2-40B4-BE49-F238E27FC236}">
                    <a16:creationId xmlns:a16="http://schemas.microsoft.com/office/drawing/2014/main" id="{55FD3E77-F989-707D-3BC4-FAB9376C39DB}"/>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22" name="Oval 147">
                <a:extLst>
                  <a:ext uri="{FF2B5EF4-FFF2-40B4-BE49-F238E27FC236}">
                    <a16:creationId xmlns:a16="http://schemas.microsoft.com/office/drawing/2014/main" id="{FD3808B3-95E1-CC70-BC4E-5223A24D44AC}"/>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23" name="Oval 148">
                <a:extLst>
                  <a:ext uri="{FF2B5EF4-FFF2-40B4-BE49-F238E27FC236}">
                    <a16:creationId xmlns:a16="http://schemas.microsoft.com/office/drawing/2014/main" id="{EC25F87A-7BBB-4241-67DF-14B26F95228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spTree>
    <p:extLst>
      <p:ext uri="{BB962C8B-B14F-4D97-AF65-F5344CB8AC3E}">
        <p14:creationId xmlns:p14="http://schemas.microsoft.com/office/powerpoint/2010/main" val="297002779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Current State Map Drawing Exercise</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28</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an accurate Current State Value Stream Map from case study example data.</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Read through the case study data handout for </a:t>
            </a:r>
            <a:b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Mike’s Metal Enclosures (MME). Make notes </a:t>
            </a:r>
            <a:b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needed.</a:t>
            </a:r>
          </a:p>
          <a:p>
            <a:pPr marL="0" marR="0" indent="0" algn="l" defTabSz="584200" rtl="0" fontAlgn="auto" latinLnBrk="0" hangingPunct="0">
              <a:lnSpc>
                <a:spcPct val="100000"/>
              </a:lnSpc>
              <a:spcBef>
                <a:spcPts val="0"/>
              </a:spcBef>
              <a:spcAft>
                <a:spcPts val="0"/>
              </a:spcAft>
              <a:buClrTx/>
              <a:buSzTx/>
              <a:buFontTx/>
              <a:buNone/>
              <a:tabLst/>
            </a:pP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The instructor will lead a step-by-step discussion </a:t>
            </a:r>
            <a:b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of translating the case study data into a Current</a:t>
            </a:r>
            <a:b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State Map.</a:t>
            </a:r>
          </a:p>
          <a:p>
            <a:pPr marL="0" marR="0" indent="0" algn="l" defTabSz="584200" rtl="0" fontAlgn="auto" latinLnBrk="0" hangingPunct="0">
              <a:lnSpc>
                <a:spcPct val="100000"/>
              </a:lnSpc>
              <a:spcBef>
                <a:spcPts val="0"/>
              </a:spcBef>
              <a:spcAft>
                <a:spcPts val="0"/>
              </a:spcAft>
              <a:buClrTx/>
              <a:buSzTx/>
              <a:buFontTx/>
              <a:buNone/>
              <a:tabLst/>
            </a:pP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Use 11x17” paper and pencil to draw the Current </a:t>
            </a:r>
            <a:b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State Map along with the instructor. </a:t>
            </a:r>
          </a:p>
          <a:p>
            <a:pPr marL="0" marR="0" indent="0" algn="l" defTabSz="584200" rtl="0" fontAlgn="auto" latinLnBrk="0" hangingPunct="0">
              <a:lnSpc>
                <a:spcPct val="100000"/>
              </a:lnSpc>
              <a:spcBef>
                <a:spcPts val="0"/>
              </a:spcBef>
              <a:spcAft>
                <a:spcPts val="0"/>
              </a:spcAft>
              <a:buClrTx/>
              <a:buSzTx/>
              <a:buFontTx/>
              <a:buNone/>
              <a:tabLst/>
            </a:pPr>
            <a:r>
              <a:rPr kumimoji="0" lang="en-US" sz="15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NOTE: KEEP YOUR COMPLETED MAP FOR LATER EXERCISE</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60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157992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Review map for completeness, </a:t>
            </a:r>
            <a:b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proper form and use of icons, placement and layout, and accuracy of numbers.</a:t>
            </a:r>
          </a:p>
        </p:txBody>
      </p:sp>
      <p:grpSp>
        <p:nvGrpSpPr>
          <p:cNvPr id="21" name="Group 20">
            <a:extLst>
              <a:ext uri="{FF2B5EF4-FFF2-40B4-BE49-F238E27FC236}">
                <a16:creationId xmlns:a16="http://schemas.microsoft.com/office/drawing/2014/main" id="{49CBBB41-EA32-7F2B-5860-A278A42125C2}"/>
              </a:ext>
            </a:extLst>
          </p:cNvPr>
          <p:cNvGrpSpPr/>
          <p:nvPr/>
        </p:nvGrpSpPr>
        <p:grpSpPr>
          <a:xfrm>
            <a:off x="838200" y="297639"/>
            <a:ext cx="5391150" cy="307138"/>
            <a:chOff x="838200" y="297639"/>
            <a:chExt cx="5391150" cy="307138"/>
          </a:xfrm>
        </p:grpSpPr>
        <p:grpSp>
          <p:nvGrpSpPr>
            <p:cNvPr id="22" name="Group 21">
              <a:extLst>
                <a:ext uri="{FF2B5EF4-FFF2-40B4-BE49-F238E27FC236}">
                  <a16:creationId xmlns:a16="http://schemas.microsoft.com/office/drawing/2014/main" id="{5194602A-14D2-5D7D-C89F-DA3C51659722}"/>
                </a:ext>
              </a:extLst>
            </p:cNvPr>
            <p:cNvGrpSpPr/>
            <p:nvPr/>
          </p:nvGrpSpPr>
          <p:grpSpPr>
            <a:xfrm>
              <a:off x="838200" y="297639"/>
              <a:ext cx="1687517" cy="290657"/>
              <a:chOff x="838200" y="297639"/>
              <a:chExt cx="1687517" cy="290657"/>
            </a:xfrm>
          </p:grpSpPr>
          <p:sp>
            <p:nvSpPr>
              <p:cNvPr id="24" name="AutoShape 9">
                <a:extLst>
                  <a:ext uri="{FF2B5EF4-FFF2-40B4-BE49-F238E27FC236}">
                    <a16:creationId xmlns:a16="http://schemas.microsoft.com/office/drawing/2014/main" id="{CE34A77E-6676-42ED-DBCC-97E73DA258D2}"/>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F6C76FE0-209B-8378-28D3-65DEBBA429BD}"/>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26" name="Group 25">
                <a:extLst>
                  <a:ext uri="{FF2B5EF4-FFF2-40B4-BE49-F238E27FC236}">
                    <a16:creationId xmlns:a16="http://schemas.microsoft.com/office/drawing/2014/main" id="{49607D19-8C22-A68D-6757-2C92EC7E1508}"/>
                  </a:ext>
                </a:extLst>
              </p:cNvPr>
              <p:cNvGrpSpPr/>
              <p:nvPr/>
            </p:nvGrpSpPr>
            <p:grpSpPr>
              <a:xfrm>
                <a:off x="838200" y="297639"/>
                <a:ext cx="1060167" cy="290657"/>
                <a:chOff x="826426" y="4041857"/>
                <a:chExt cx="1060167" cy="290657"/>
              </a:xfrm>
            </p:grpSpPr>
            <p:sp>
              <p:nvSpPr>
                <p:cNvPr id="27" name="AutoShape 9">
                  <a:extLst>
                    <a:ext uri="{FF2B5EF4-FFF2-40B4-BE49-F238E27FC236}">
                      <a16:creationId xmlns:a16="http://schemas.microsoft.com/office/drawing/2014/main" id="{3966066E-C1F9-E7FF-4FEF-A08BC5033CF2}"/>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0C4B537A-8305-307E-80C7-77E29D0C61E6}"/>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9" name="AutoShape 10">
                  <a:extLst>
                    <a:ext uri="{FF2B5EF4-FFF2-40B4-BE49-F238E27FC236}">
                      <a16:creationId xmlns:a16="http://schemas.microsoft.com/office/drawing/2014/main" id="{BCBEA076-F85D-7568-40A8-04232E7972E7}"/>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23" name="TextBox 22">
              <a:extLst>
                <a:ext uri="{FF2B5EF4-FFF2-40B4-BE49-F238E27FC236}">
                  <a16:creationId xmlns:a16="http://schemas.microsoft.com/office/drawing/2014/main" id="{8BCE9636-9CF5-D602-3224-00A294BD665C}"/>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74407295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Case Study Example: Mike’s Metal Enclosures (MME) </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85000" lnSpcReduction="20000"/>
          </a:bodyPr>
          <a:lstStyle/>
          <a:p>
            <a:r>
              <a:rPr lang="en-US" dirty="0"/>
              <a:t>Background</a:t>
            </a:r>
          </a:p>
          <a:p>
            <a:pPr lvl="1"/>
            <a:r>
              <a:rPr lang="en-US" dirty="0"/>
              <a:t>Mike’s Metal Enclosures (MME) produces sheet metal enclosures that are used to make electrical chassis for industrial and commercial applications. These enclosures are made exclusively for Ed’s Electrical Supply, who uses them to build rack-mounted computer and network cabinets.  </a:t>
            </a:r>
          </a:p>
          <a:p>
            <a:r>
              <a:rPr lang="en-US" dirty="0"/>
              <a:t> Customer Requirements</a:t>
            </a:r>
          </a:p>
          <a:p>
            <a:pPr lvl="1"/>
            <a:r>
              <a:rPr lang="en-US" dirty="0"/>
              <a:t>Ed’s Electrical Supply Company, orders an average of 30,000 enclosures a month</a:t>
            </a:r>
          </a:p>
          <a:p>
            <a:pPr lvl="1"/>
            <a:r>
              <a:rPr lang="en-US" dirty="0"/>
              <a:t>Daily customer orders are sent via EDI link to MME’s order entry module of their MRP system</a:t>
            </a:r>
          </a:p>
          <a:p>
            <a:pPr lvl="1"/>
            <a:r>
              <a:rPr lang="en-US" dirty="0"/>
              <a:t>Daily orders are processed and shipped the next day by truck</a:t>
            </a:r>
          </a:p>
          <a:p>
            <a:pPr lvl="1"/>
            <a:r>
              <a:rPr lang="en-US" dirty="0"/>
              <a:t>Ed’s Electrical Supply Company works one shift</a:t>
            </a:r>
          </a:p>
          <a:p>
            <a:r>
              <a:rPr lang="en-US" dirty="0"/>
              <a:t>MME Work Time</a:t>
            </a:r>
          </a:p>
          <a:p>
            <a:pPr lvl="1"/>
            <a:r>
              <a:rPr lang="en-US" dirty="0"/>
              <a:t>20 days in a month</a:t>
            </a:r>
          </a:p>
          <a:p>
            <a:pPr lvl="1"/>
            <a:r>
              <a:rPr lang="en-US" dirty="0"/>
              <a:t>One 8 hour shift operation in all departments</a:t>
            </a:r>
          </a:p>
          <a:p>
            <a:pPr lvl="1"/>
            <a:r>
              <a:rPr lang="en-US" dirty="0"/>
              <a:t>Two 15-minute breaks, unpaid lunch</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29</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115143958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Case Study Example: Mike’s Metal Enclosures (MME) </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62500" lnSpcReduction="20000"/>
          </a:bodyPr>
          <a:lstStyle/>
          <a:p>
            <a:r>
              <a:rPr lang="en-US" dirty="0"/>
              <a:t>Ship</a:t>
            </a:r>
          </a:p>
          <a:p>
            <a:pPr lvl="1"/>
            <a:r>
              <a:rPr lang="en-US" dirty="0"/>
              <a:t>Daily orders are shipped daily by truck</a:t>
            </a:r>
          </a:p>
          <a:p>
            <a:r>
              <a:rPr lang="en-US" dirty="0"/>
              <a:t>Production Process – Brake Form</a:t>
            </a:r>
          </a:p>
          <a:p>
            <a:pPr lvl="1"/>
            <a:r>
              <a:rPr lang="en-US" dirty="0"/>
              <a:t>Stamped pieces are formed into enclosures using a brake form manually operated by one person</a:t>
            </a:r>
          </a:p>
          <a:p>
            <a:pPr lvl="1"/>
            <a:r>
              <a:rPr lang="en-US" dirty="0"/>
              <a:t>It takes 20 seconds to load a piece, operate the machine, and unload the piece </a:t>
            </a:r>
          </a:p>
          <a:p>
            <a:pPr lvl="1"/>
            <a:r>
              <a:rPr lang="en-US" dirty="0"/>
              <a:t>It takes 2 hours to change over the machine for another product, however this machine is currently dedicated to the one product</a:t>
            </a:r>
          </a:p>
          <a:p>
            <a:pPr lvl="1"/>
            <a:r>
              <a:rPr lang="en-US" dirty="0"/>
              <a:t>The brake form is quite reliable with an uptime of 99%</a:t>
            </a:r>
          </a:p>
          <a:p>
            <a:pPr lvl="1"/>
            <a:r>
              <a:rPr lang="en-US" dirty="0"/>
              <a:t>The first pass yield for this operation is 85%, mostly due to material handling and alignment by the operator</a:t>
            </a:r>
          </a:p>
          <a:p>
            <a:r>
              <a:rPr lang="en-US" dirty="0"/>
              <a:t>Production Process - Stamp</a:t>
            </a:r>
          </a:p>
          <a:p>
            <a:pPr lvl="1"/>
            <a:r>
              <a:rPr lang="en-US" dirty="0"/>
              <a:t>Cut sheet metal pieces are stamped by machine to add features such as holes, slots and bend tabs</a:t>
            </a:r>
          </a:p>
          <a:p>
            <a:pPr lvl="1"/>
            <a:r>
              <a:rPr lang="en-US" dirty="0"/>
              <a:t>There is a single stamping press, operated by one person</a:t>
            </a:r>
          </a:p>
          <a:p>
            <a:pPr lvl="1"/>
            <a:r>
              <a:rPr lang="en-US" dirty="0"/>
              <a:t>It takes 15 seconds to load a piece, operate the machine, and unload the piece</a:t>
            </a:r>
          </a:p>
          <a:p>
            <a:pPr lvl="1"/>
            <a:r>
              <a:rPr lang="en-US" dirty="0"/>
              <a:t>It takes 30 minutes to change over the press for another product, however this machine is currently dedicated to the one product</a:t>
            </a:r>
          </a:p>
          <a:p>
            <a:pPr lvl="1"/>
            <a:r>
              <a:rPr lang="en-US" dirty="0"/>
              <a:t>The stamping press is highly reliable with an uptime of 99%</a:t>
            </a:r>
          </a:p>
          <a:p>
            <a:pPr lvl="1"/>
            <a:r>
              <a:rPr lang="en-US" dirty="0"/>
              <a:t>An occasional misalignment in the machine produces a defective piece, about 1 in 50</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30</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425425221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Case Study Example: Mike’s Metal Enclosures (MME) </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85000" lnSpcReduction="20000"/>
          </a:bodyPr>
          <a:lstStyle/>
          <a:p>
            <a:r>
              <a:rPr lang="en-US" dirty="0"/>
              <a:t>Production Process - Cut</a:t>
            </a:r>
          </a:p>
          <a:p>
            <a:pPr lvl="1"/>
            <a:r>
              <a:rPr lang="en-US" dirty="0"/>
              <a:t>Purchased sheets of aluminum are cut to size in the cutting department, which has five operators, each running a cutting machine</a:t>
            </a:r>
          </a:p>
          <a:p>
            <a:pPr lvl="1"/>
            <a:r>
              <a:rPr lang="en-US" dirty="0"/>
              <a:t>Four enclosures can be made from one 4’ x 8’ sheet</a:t>
            </a:r>
          </a:p>
          <a:p>
            <a:pPr lvl="1"/>
            <a:r>
              <a:rPr lang="en-US" dirty="0"/>
              <a:t>It takes 4 minutes for each cutting machine to cut the sheet into 4 pieces</a:t>
            </a:r>
          </a:p>
          <a:p>
            <a:pPr lvl="1"/>
            <a:r>
              <a:rPr lang="en-US" dirty="0"/>
              <a:t>It takes 30 minutes to change over the cutting machines for another product, however these machines are currently dedicated to the one product</a:t>
            </a:r>
          </a:p>
          <a:p>
            <a:pPr lvl="1"/>
            <a:r>
              <a:rPr lang="en-US" dirty="0"/>
              <a:t>The cutting machines are quite reliable and are available 99% of the time without a breakdown</a:t>
            </a:r>
          </a:p>
          <a:p>
            <a:pPr lvl="1"/>
            <a:r>
              <a:rPr lang="en-US" dirty="0"/>
              <a:t>The quality level is high, with a yield of 99%</a:t>
            </a:r>
          </a:p>
          <a:p>
            <a:r>
              <a:rPr lang="en-US" dirty="0"/>
              <a:t>Purchased Raw Material</a:t>
            </a:r>
          </a:p>
          <a:p>
            <a:pPr lvl="1"/>
            <a:r>
              <a:rPr lang="en-US" dirty="0"/>
              <a:t>4’ x8’ Sheets of aluminum are purchased from the Acme Sheet Metal Company, sole supplier for this product family</a:t>
            </a:r>
          </a:p>
          <a:p>
            <a:pPr lvl="1"/>
            <a:r>
              <a:rPr lang="en-US" dirty="0"/>
              <a:t>Purchase orders are sent to Acme once a month via Fax</a:t>
            </a:r>
          </a:p>
          <a:p>
            <a:pPr lvl="1"/>
            <a:r>
              <a:rPr lang="en-US" dirty="0"/>
              <a:t>Acme delivers weekly by truck to MME’s requirements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31</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7761042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Case Study Example: Mike’s Metal Enclosures (MME) </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10000"/>
          </a:bodyPr>
          <a:lstStyle/>
          <a:p>
            <a:r>
              <a:rPr lang="en-US" dirty="0"/>
              <a:t>Production Scheduling</a:t>
            </a:r>
          </a:p>
          <a:p>
            <a:pPr lvl="1"/>
            <a:r>
              <a:rPr lang="en-US" dirty="0"/>
              <a:t>MME has an integrated MRP System, managed by the Production Control Department, that includes Forecasting, Order Entry, MRP planning, Inventory Control, Purchasing, and Shop Floor Scheduling</a:t>
            </a:r>
          </a:p>
          <a:p>
            <a:pPr lvl="1"/>
            <a:r>
              <a:rPr lang="en-US" dirty="0"/>
              <a:t>EDI orders received from the customer are entered into MRP and are hand-delivered in hard copy to the shipping department on a daily basis to drive next-day shipments</a:t>
            </a:r>
          </a:p>
          <a:p>
            <a:pPr lvl="1"/>
            <a:r>
              <a:rPr lang="en-US" dirty="0"/>
              <a:t>After the weekly MRP run, each production department gets a weekly hard-copy schedule of products to make, broken out by day</a:t>
            </a:r>
          </a:p>
          <a:p>
            <a:pPr lvl="1"/>
            <a:r>
              <a:rPr lang="en-US" dirty="0"/>
              <a:t>Purchase orders are created or revised on a monthly basis from MRP and sent to the suppliers via Fax</a:t>
            </a:r>
          </a:p>
          <a:p>
            <a:pPr lvl="1"/>
            <a:r>
              <a:rPr lang="en-US" dirty="0"/>
              <a:t>Sales forecasts are internally generated and entered into MRP without direct communication with the customer</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32</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02534807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Mapping the Current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33</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7" y="1934137"/>
            <a:ext cx="10174793"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57667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Takt Time</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7" y="3861757"/>
            <a:ext cx="10174791"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Data Boxes and Inventory Levels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789379"/>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7" y="4504297"/>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Supplier Data</a:t>
            </a:r>
          </a:p>
        </p:txBody>
      </p:sp>
      <p:sp>
        <p:nvSpPr>
          <p:cNvPr id="18" name="Rectangle 17">
            <a:extLst>
              <a:ext uri="{FF2B5EF4-FFF2-40B4-BE49-F238E27FC236}">
                <a16:creationId xmlns:a16="http://schemas.microsoft.com/office/drawing/2014/main" id="{50BBF7A0-ECFA-06CB-A66C-31B4C7516E5E}"/>
              </a:ext>
            </a:extLst>
          </p:cNvPr>
          <p:cNvSpPr>
            <a:spLocks/>
          </p:cNvSpPr>
          <p:nvPr/>
        </p:nvSpPr>
        <p:spPr>
          <a:xfrm>
            <a:off x="940248" y="321921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9" name="Rectangle 18">
            <a:extLst>
              <a:ext uri="{FF2B5EF4-FFF2-40B4-BE49-F238E27FC236}">
                <a16:creationId xmlns:a16="http://schemas.microsoft.com/office/drawing/2014/main" id="{D94E3980-5557-1182-3882-58280A403140}"/>
              </a:ext>
            </a:extLst>
          </p:cNvPr>
          <p:cNvSpPr>
            <a:spLocks/>
          </p:cNvSpPr>
          <p:nvPr/>
        </p:nvSpPr>
        <p:spPr>
          <a:xfrm>
            <a:off x="940248" y="514683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Production Lead Time</a:t>
            </a:r>
          </a:p>
        </p:txBody>
      </p:sp>
    </p:spTree>
    <p:extLst>
      <p:ext uri="{BB962C8B-B14F-4D97-AF65-F5344CB8AC3E}">
        <p14:creationId xmlns:p14="http://schemas.microsoft.com/office/powerpoint/2010/main" val="32449894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Mapping Customer Data</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34</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99997F6E-2A47-824A-EB1B-C0C62F9E7A22}"/>
              </a:ext>
            </a:extLst>
          </p:cNvPr>
          <p:cNvGrpSpPr/>
          <p:nvPr/>
        </p:nvGrpSpPr>
        <p:grpSpPr>
          <a:xfrm>
            <a:off x="1986238" y="2037367"/>
            <a:ext cx="8219524" cy="4139595"/>
            <a:chOff x="479425" y="1600200"/>
            <a:chExt cx="8219524" cy="4139595"/>
          </a:xfrm>
        </p:grpSpPr>
        <p:sp>
          <p:nvSpPr>
            <p:cNvPr id="21" name="Rectangle 3">
              <a:extLst>
                <a:ext uri="{FF2B5EF4-FFF2-40B4-BE49-F238E27FC236}">
                  <a16:creationId xmlns:a16="http://schemas.microsoft.com/office/drawing/2014/main" id="{2BA2635C-3897-64CE-DADD-5C9A44803119}"/>
                </a:ext>
              </a:extLst>
            </p:cNvPr>
            <p:cNvSpPr>
              <a:spLocks noChangeArrowheads="1"/>
            </p:cNvSpPr>
            <p:nvPr/>
          </p:nvSpPr>
          <p:spPr bwMode="auto">
            <a:xfrm>
              <a:off x="479425" y="1600200"/>
              <a:ext cx="3675063" cy="4139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233363" indent="-233363">
                <a:defRPr sz="900" b="1">
                  <a:solidFill>
                    <a:schemeClr val="bg1"/>
                  </a:solidFill>
                  <a:latin typeface="Arial" panose="020B0604020202020204" pitchFamily="34" charset="0"/>
                  <a:ea typeface="MS PGothic" panose="020B0600070205080204" pitchFamily="34" charset="-128"/>
                </a:defRPr>
              </a:lvl1pPr>
              <a:lvl2pPr marL="690563" indent="-233363">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5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Customer Requirements</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Ed</a:t>
              </a:r>
              <a:r>
                <a:rPr lang="ja-JP" altLang="en-US" sz="1200" dirty="0">
                  <a:solidFill>
                    <a:schemeClr val="tx1"/>
                  </a:solidFill>
                  <a:latin typeface="Roboto" panose="02000000000000000000" pitchFamily="2" charset="0"/>
                </a:rPr>
                <a:t>’</a:t>
              </a:r>
              <a:r>
                <a:rPr lang="en-US" altLang="ja-JP" sz="1200" dirty="0">
                  <a:solidFill>
                    <a:schemeClr val="tx1"/>
                  </a:solidFill>
                  <a:latin typeface="Roboto" panose="02000000000000000000" pitchFamily="2" charset="0"/>
                  <a:ea typeface="Roboto" panose="02000000000000000000" pitchFamily="2" charset="0"/>
                </a:rPr>
                <a:t>s Electrical Supply Company, orders an average of 30,000 enclosures a month</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Daily customer orders are sent via EDI link to MME</a:t>
              </a:r>
              <a:r>
                <a:rPr lang="ja-JP" altLang="en-US" sz="1200" dirty="0">
                  <a:solidFill>
                    <a:schemeClr val="tx1"/>
                  </a:solidFill>
                  <a:latin typeface="Roboto" panose="02000000000000000000" pitchFamily="2" charset="0"/>
                </a:rPr>
                <a:t>’</a:t>
              </a:r>
              <a:r>
                <a:rPr lang="en-US" altLang="ja-JP" sz="1200" dirty="0">
                  <a:solidFill>
                    <a:schemeClr val="tx1"/>
                  </a:solidFill>
                  <a:latin typeface="Roboto" panose="02000000000000000000" pitchFamily="2" charset="0"/>
                  <a:ea typeface="Roboto" panose="02000000000000000000" pitchFamily="2" charset="0"/>
                </a:rPr>
                <a:t>s order entry module of their MRP system</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Daily orders are processed and shipped the next day by truck</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Ed</a:t>
              </a:r>
              <a:r>
                <a:rPr lang="ja-JP" altLang="en-US" sz="1200" dirty="0">
                  <a:solidFill>
                    <a:schemeClr val="tx1"/>
                  </a:solidFill>
                  <a:latin typeface="Roboto" panose="02000000000000000000" pitchFamily="2" charset="0"/>
                </a:rPr>
                <a:t>’</a:t>
              </a:r>
              <a:r>
                <a:rPr lang="en-US" altLang="ja-JP" sz="1200" dirty="0">
                  <a:solidFill>
                    <a:schemeClr val="tx1"/>
                  </a:solidFill>
                  <a:latin typeface="Roboto" panose="02000000000000000000" pitchFamily="2" charset="0"/>
                  <a:ea typeface="Roboto" panose="02000000000000000000" pitchFamily="2" charset="0"/>
                </a:rPr>
                <a:t>s Electrical Supply Company works one shift</a:t>
              </a:r>
            </a:p>
            <a:p>
              <a:pPr marL="285750" indent="-285750" algn="l" eaLnBrk="1" hangingPunct="1">
                <a:lnSpc>
                  <a:spcPct val="100000"/>
                </a:lnSpc>
                <a:spcBef>
                  <a:spcPct val="5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MME Work Time</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20 days in a month</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One 8 hour shift operation in all departments</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Two 15-minute breaks, unpaid lunch</a:t>
              </a:r>
            </a:p>
            <a:p>
              <a:pPr lvl="1" algn="l" eaLnBrk="1" hangingPunct="1">
                <a:lnSpc>
                  <a:spcPct val="100000"/>
                </a:lnSpc>
                <a:spcBef>
                  <a:spcPct val="50000"/>
                </a:spcBef>
                <a:buClr>
                  <a:schemeClr val="tx1"/>
                </a:buClr>
                <a:buSzPct val="90000"/>
                <a:buFont typeface="Arial" panose="020B0604020202020204" pitchFamily="34" charset="0"/>
                <a:buChar char="•"/>
              </a:pPr>
              <a:endParaRPr lang="en-US" altLang="en-US" sz="1200" dirty="0">
                <a:solidFill>
                  <a:schemeClr val="tx1"/>
                </a:solidFill>
                <a:latin typeface="Roboto" panose="02000000000000000000" pitchFamily="2" charset="0"/>
                <a:ea typeface="Roboto" panose="02000000000000000000" pitchFamily="2" charset="0"/>
              </a:endParaRPr>
            </a:p>
          </p:txBody>
        </p:sp>
        <p:sp>
          <p:nvSpPr>
            <p:cNvPr id="22" name="Text Box 4">
              <a:extLst>
                <a:ext uri="{FF2B5EF4-FFF2-40B4-BE49-F238E27FC236}">
                  <a16:creationId xmlns:a16="http://schemas.microsoft.com/office/drawing/2014/main" id="{82916B6B-E161-A687-588F-71558D6F294C}"/>
                </a:ext>
              </a:extLst>
            </p:cNvPr>
            <p:cNvSpPr txBox="1">
              <a:spLocks noChangeArrowheads="1"/>
            </p:cNvSpPr>
            <p:nvPr/>
          </p:nvSpPr>
          <p:spPr bwMode="auto">
            <a:xfrm>
              <a:off x="6654800" y="2292350"/>
              <a:ext cx="20441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400" b="0">
                  <a:solidFill>
                    <a:schemeClr val="accent1"/>
                  </a:solidFill>
                  <a:latin typeface="Roboto" panose="02000000000000000000" pitchFamily="2" charset="0"/>
                  <a:ea typeface="Roboto" panose="02000000000000000000" pitchFamily="2" charset="0"/>
                </a:rPr>
                <a:t>= 1,500 enclosures/day</a:t>
              </a:r>
            </a:p>
          </p:txBody>
        </p:sp>
        <p:grpSp>
          <p:nvGrpSpPr>
            <p:cNvPr id="23" name="Group 5">
              <a:extLst>
                <a:ext uri="{FF2B5EF4-FFF2-40B4-BE49-F238E27FC236}">
                  <a16:creationId xmlns:a16="http://schemas.microsoft.com/office/drawing/2014/main" id="{0A34CABB-E296-2714-6D55-C4CD5D48D347}"/>
                </a:ext>
              </a:extLst>
            </p:cNvPr>
            <p:cNvGrpSpPr>
              <a:grpSpLocks/>
            </p:cNvGrpSpPr>
            <p:nvPr/>
          </p:nvGrpSpPr>
          <p:grpSpPr bwMode="auto">
            <a:xfrm>
              <a:off x="965200" y="1939925"/>
              <a:ext cx="5765800" cy="579438"/>
              <a:chOff x="608" y="1261"/>
              <a:chExt cx="3632" cy="365"/>
            </a:xfrm>
          </p:grpSpPr>
          <p:sp>
            <p:nvSpPr>
              <p:cNvPr id="24" name="Text Box 6">
                <a:extLst>
                  <a:ext uri="{FF2B5EF4-FFF2-40B4-BE49-F238E27FC236}">
                    <a16:creationId xmlns:a16="http://schemas.microsoft.com/office/drawing/2014/main" id="{7F7EBEB6-2811-4298-E005-02FA1DA99E17}"/>
                  </a:ext>
                </a:extLst>
              </p:cNvPr>
              <p:cNvSpPr txBox="1">
                <a:spLocks noChangeArrowheads="1"/>
              </p:cNvSpPr>
              <p:nvPr/>
            </p:nvSpPr>
            <p:spPr bwMode="auto">
              <a:xfrm>
                <a:off x="2826" y="1399"/>
                <a:ext cx="1414"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accent1"/>
                    </a:solidFill>
                    <a:latin typeface="Roboto" panose="02000000000000000000" pitchFamily="2" charset="0"/>
                    <a:ea typeface="Roboto" panose="02000000000000000000" pitchFamily="2" charset="0"/>
                  </a:rPr>
                  <a:t>30,000 Enclosures/month</a:t>
                </a:r>
              </a:p>
            </p:txBody>
          </p:sp>
          <p:sp>
            <p:nvSpPr>
              <p:cNvPr id="25" name="AutoShape 7">
                <a:extLst>
                  <a:ext uri="{FF2B5EF4-FFF2-40B4-BE49-F238E27FC236}">
                    <a16:creationId xmlns:a16="http://schemas.microsoft.com/office/drawing/2014/main" id="{C845826E-4BE0-7407-D20C-7E3184D2540F}"/>
                  </a:ext>
                </a:extLst>
              </p:cNvPr>
              <p:cNvSpPr>
                <a:spLocks noChangeArrowheads="1"/>
              </p:cNvSpPr>
              <p:nvPr/>
            </p:nvSpPr>
            <p:spPr bwMode="auto">
              <a:xfrm>
                <a:off x="608" y="1261"/>
                <a:ext cx="1453" cy="365"/>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6" name="Line 8">
                <a:extLst>
                  <a:ext uri="{FF2B5EF4-FFF2-40B4-BE49-F238E27FC236}">
                    <a16:creationId xmlns:a16="http://schemas.microsoft.com/office/drawing/2014/main" id="{06D9E231-1E50-2B0C-1222-6691B934F6C1}"/>
                  </a:ext>
                </a:extLst>
              </p:cNvPr>
              <p:cNvSpPr>
                <a:spLocks noChangeShapeType="1"/>
              </p:cNvSpPr>
              <p:nvPr/>
            </p:nvSpPr>
            <p:spPr bwMode="auto">
              <a:xfrm>
                <a:off x="2061" y="1472"/>
                <a:ext cx="781" cy="32"/>
              </a:xfrm>
              <a:prstGeom prst="line">
                <a:avLst/>
              </a:prstGeom>
              <a:noFill/>
              <a:ln w="12700"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7" name="Line 9">
                <a:extLst>
                  <a:ext uri="{FF2B5EF4-FFF2-40B4-BE49-F238E27FC236}">
                    <a16:creationId xmlns:a16="http://schemas.microsoft.com/office/drawing/2014/main" id="{6C0C0FE4-CA74-E51A-A535-6BE30FC3621D}"/>
                  </a:ext>
                </a:extLst>
              </p:cNvPr>
              <p:cNvSpPr>
                <a:spLocks noChangeShapeType="1"/>
              </p:cNvSpPr>
              <p:nvPr/>
            </p:nvSpPr>
            <p:spPr bwMode="auto">
              <a:xfrm>
                <a:off x="2867" y="1581"/>
                <a:ext cx="1299"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28" name="Group 10">
              <a:extLst>
                <a:ext uri="{FF2B5EF4-FFF2-40B4-BE49-F238E27FC236}">
                  <a16:creationId xmlns:a16="http://schemas.microsoft.com/office/drawing/2014/main" id="{0EF42FA9-05D1-3AB0-ACB7-0FE06A37AE1A}"/>
                </a:ext>
              </a:extLst>
            </p:cNvPr>
            <p:cNvGrpSpPr>
              <a:grpSpLocks/>
            </p:cNvGrpSpPr>
            <p:nvPr/>
          </p:nvGrpSpPr>
          <p:grpSpPr bwMode="auto">
            <a:xfrm>
              <a:off x="925513" y="2444750"/>
              <a:ext cx="5338762" cy="2481263"/>
              <a:chOff x="583" y="1579"/>
              <a:chExt cx="3363" cy="1563"/>
            </a:xfrm>
          </p:grpSpPr>
          <p:sp>
            <p:nvSpPr>
              <p:cNvPr id="29" name="Rectangle 11">
                <a:extLst>
                  <a:ext uri="{FF2B5EF4-FFF2-40B4-BE49-F238E27FC236}">
                    <a16:creationId xmlns:a16="http://schemas.microsoft.com/office/drawing/2014/main" id="{A395A3F4-79BC-8F41-2CEB-94A559A923E9}"/>
                  </a:ext>
                </a:extLst>
              </p:cNvPr>
              <p:cNvSpPr>
                <a:spLocks noChangeArrowheads="1"/>
              </p:cNvSpPr>
              <p:nvPr/>
            </p:nvSpPr>
            <p:spPr bwMode="auto">
              <a:xfrm>
                <a:off x="3064" y="1579"/>
                <a:ext cx="88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accent1"/>
                    </a:solidFill>
                    <a:latin typeface="Roboto" panose="02000000000000000000" pitchFamily="2" charset="0"/>
                    <a:ea typeface="Roboto" panose="02000000000000000000" pitchFamily="2" charset="0"/>
                  </a:rPr>
                  <a:t>20 days/month</a:t>
                </a:r>
              </a:p>
            </p:txBody>
          </p:sp>
          <p:sp>
            <p:nvSpPr>
              <p:cNvPr id="30" name="AutoShape 12">
                <a:extLst>
                  <a:ext uri="{FF2B5EF4-FFF2-40B4-BE49-F238E27FC236}">
                    <a16:creationId xmlns:a16="http://schemas.microsoft.com/office/drawing/2014/main" id="{F4E4ECF6-E19C-8A41-9123-AA35F37DC8F5}"/>
                  </a:ext>
                </a:extLst>
              </p:cNvPr>
              <p:cNvSpPr>
                <a:spLocks noChangeArrowheads="1"/>
              </p:cNvSpPr>
              <p:nvPr/>
            </p:nvSpPr>
            <p:spPr bwMode="auto">
              <a:xfrm>
                <a:off x="583" y="2822"/>
                <a:ext cx="940" cy="180"/>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1" name="Line 13">
                <a:extLst>
                  <a:ext uri="{FF2B5EF4-FFF2-40B4-BE49-F238E27FC236}">
                    <a16:creationId xmlns:a16="http://schemas.microsoft.com/office/drawing/2014/main" id="{E304B402-FB51-43B3-EA3D-860788A4486F}"/>
                  </a:ext>
                </a:extLst>
              </p:cNvPr>
              <p:cNvSpPr>
                <a:spLocks noChangeShapeType="1"/>
              </p:cNvSpPr>
              <p:nvPr/>
            </p:nvSpPr>
            <p:spPr bwMode="auto">
              <a:xfrm flipV="1">
                <a:off x="1524" y="1747"/>
                <a:ext cx="1574" cy="1177"/>
              </a:xfrm>
              <a:prstGeom prst="line">
                <a:avLst/>
              </a:prstGeom>
              <a:noFill/>
              <a:ln w="12700"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2" name="AutoShape 14">
                <a:extLst>
                  <a:ext uri="{FF2B5EF4-FFF2-40B4-BE49-F238E27FC236}">
                    <a16:creationId xmlns:a16="http://schemas.microsoft.com/office/drawing/2014/main" id="{5F04F7DE-06E7-62BC-CAF8-FBDCD0B38676}"/>
                  </a:ext>
                </a:extLst>
              </p:cNvPr>
              <p:cNvSpPr>
                <a:spLocks noChangeArrowheads="1"/>
              </p:cNvSpPr>
              <p:nvPr/>
            </p:nvSpPr>
            <p:spPr bwMode="auto">
              <a:xfrm>
                <a:off x="589" y="2995"/>
                <a:ext cx="748" cy="147"/>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3" name="AutoShape 15">
                <a:extLst>
                  <a:ext uri="{FF2B5EF4-FFF2-40B4-BE49-F238E27FC236}">
                    <a16:creationId xmlns:a16="http://schemas.microsoft.com/office/drawing/2014/main" id="{8C94BD74-1AAE-3BC8-C4AF-CDDBA215EAD9}"/>
                  </a:ext>
                </a:extLst>
              </p:cNvPr>
              <p:cNvSpPr>
                <a:spLocks noChangeArrowheads="1"/>
              </p:cNvSpPr>
              <p:nvPr/>
            </p:nvSpPr>
            <p:spPr bwMode="auto">
              <a:xfrm>
                <a:off x="597" y="2329"/>
                <a:ext cx="1733" cy="294"/>
              </a:xfrm>
              <a:prstGeom prst="roundRect">
                <a:avLst>
                  <a:gd name="adj" fmla="val 16667"/>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34" name="Rectangle 16">
              <a:extLst>
                <a:ext uri="{FF2B5EF4-FFF2-40B4-BE49-F238E27FC236}">
                  <a16:creationId xmlns:a16="http://schemas.microsoft.com/office/drawing/2014/main" id="{55AEF52E-B1E6-8E82-F20F-EF6AA7CC2F7B}"/>
                </a:ext>
              </a:extLst>
            </p:cNvPr>
            <p:cNvSpPr>
              <a:spLocks noChangeArrowheads="1"/>
            </p:cNvSpPr>
            <p:nvPr/>
          </p:nvSpPr>
          <p:spPr bwMode="auto">
            <a:xfrm>
              <a:off x="5240338" y="1612900"/>
              <a:ext cx="23955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a:solidFill>
                    <a:schemeClr val="accent1"/>
                  </a:solidFill>
                  <a:latin typeface="Roboto" panose="02000000000000000000" pitchFamily="2" charset="0"/>
                  <a:ea typeface="Roboto" panose="02000000000000000000" pitchFamily="2" charset="0"/>
                </a:rPr>
                <a:t>Daily Customer Demand</a:t>
              </a:r>
            </a:p>
          </p:txBody>
        </p:sp>
        <p:grpSp>
          <p:nvGrpSpPr>
            <p:cNvPr id="35" name="Group 18">
              <a:extLst>
                <a:ext uri="{FF2B5EF4-FFF2-40B4-BE49-F238E27FC236}">
                  <a16:creationId xmlns:a16="http://schemas.microsoft.com/office/drawing/2014/main" id="{1EBD21F6-C2FA-17A9-3A28-F4861EA4CB92}"/>
                </a:ext>
              </a:extLst>
            </p:cNvPr>
            <p:cNvGrpSpPr>
              <a:grpSpLocks/>
            </p:cNvGrpSpPr>
            <p:nvPr/>
          </p:nvGrpSpPr>
          <p:grpSpPr bwMode="auto">
            <a:xfrm>
              <a:off x="974725" y="3171825"/>
              <a:ext cx="6589713" cy="1504950"/>
              <a:chOff x="614" y="1998"/>
              <a:chExt cx="4151" cy="948"/>
            </a:xfrm>
          </p:grpSpPr>
          <p:sp>
            <p:nvSpPr>
              <p:cNvPr id="36" name="Rectangle 19">
                <a:extLst>
                  <a:ext uri="{FF2B5EF4-FFF2-40B4-BE49-F238E27FC236}">
                    <a16:creationId xmlns:a16="http://schemas.microsoft.com/office/drawing/2014/main" id="{358B191E-2E36-EF18-AC8A-4BC0CC8EDE2F}"/>
                  </a:ext>
                </a:extLst>
              </p:cNvPr>
              <p:cNvSpPr>
                <a:spLocks noChangeArrowheads="1"/>
              </p:cNvSpPr>
              <p:nvPr/>
            </p:nvSpPr>
            <p:spPr bwMode="auto">
              <a:xfrm>
                <a:off x="3290" y="2217"/>
                <a:ext cx="147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a:solidFill>
                      <a:schemeClr val="accent1"/>
                    </a:solidFill>
                    <a:latin typeface="Roboto" panose="02000000000000000000" pitchFamily="2" charset="0"/>
                    <a:ea typeface="Roboto" panose="02000000000000000000" pitchFamily="2" charset="0"/>
                  </a:rPr>
                  <a:t>Shipments to Customer</a:t>
                </a:r>
              </a:p>
            </p:txBody>
          </p:sp>
          <p:sp>
            <p:nvSpPr>
              <p:cNvPr id="37" name="Text Box 20">
                <a:extLst>
                  <a:ext uri="{FF2B5EF4-FFF2-40B4-BE49-F238E27FC236}">
                    <a16:creationId xmlns:a16="http://schemas.microsoft.com/office/drawing/2014/main" id="{A49F86AE-F06B-FD68-54B4-80A8A6A099A2}"/>
                  </a:ext>
                </a:extLst>
              </p:cNvPr>
              <p:cNvSpPr txBox="1">
                <a:spLocks noChangeArrowheads="1"/>
              </p:cNvSpPr>
              <p:nvPr/>
            </p:nvSpPr>
            <p:spPr bwMode="auto">
              <a:xfrm>
                <a:off x="3445" y="2462"/>
                <a:ext cx="103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173038" indent="-1730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1400" b="0" dirty="0">
                    <a:solidFill>
                      <a:schemeClr val="accent1"/>
                    </a:solidFill>
                    <a:latin typeface="Roboto" panose="02000000000000000000" pitchFamily="2" charset="0"/>
                    <a:ea typeface="Roboto" panose="02000000000000000000" pitchFamily="2" charset="0"/>
                  </a:rPr>
                  <a:t>Daily Shipments</a:t>
                </a:r>
              </a:p>
              <a:p>
                <a:pPr algn="l">
                  <a:lnSpc>
                    <a:spcPct val="100000"/>
                  </a:lnSpc>
                  <a:spcBef>
                    <a:spcPct val="0"/>
                  </a:spcBef>
                  <a:buFontTx/>
                  <a:buChar char="•"/>
                </a:pPr>
                <a:r>
                  <a:rPr lang="en-US" altLang="en-US" sz="1400" b="0" dirty="0">
                    <a:solidFill>
                      <a:schemeClr val="accent1"/>
                    </a:solidFill>
                    <a:latin typeface="Roboto" panose="02000000000000000000" pitchFamily="2" charset="0"/>
                    <a:ea typeface="Roboto" panose="02000000000000000000" pitchFamily="2" charset="0"/>
                  </a:rPr>
                  <a:t>By Truck</a:t>
                </a:r>
              </a:p>
            </p:txBody>
          </p:sp>
          <p:sp>
            <p:nvSpPr>
              <p:cNvPr id="38" name="AutoShape 21">
                <a:extLst>
                  <a:ext uri="{FF2B5EF4-FFF2-40B4-BE49-F238E27FC236}">
                    <a16:creationId xmlns:a16="http://schemas.microsoft.com/office/drawing/2014/main" id="{72FB1BC7-3D1F-BAF8-2D05-697C4E228901}"/>
                  </a:ext>
                </a:extLst>
              </p:cNvPr>
              <p:cNvSpPr>
                <a:spLocks noChangeArrowheads="1"/>
              </p:cNvSpPr>
              <p:nvPr/>
            </p:nvSpPr>
            <p:spPr bwMode="auto">
              <a:xfrm>
                <a:off x="614" y="1998"/>
                <a:ext cx="1529" cy="275"/>
              </a:xfrm>
              <a:prstGeom prst="roundRect">
                <a:avLst>
                  <a:gd name="adj" fmla="val 16667"/>
                </a:avLst>
              </a:prstGeom>
              <a:noFill/>
              <a:ln w="12700">
                <a:solidFill>
                  <a:srgbClr val="003399"/>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a:solidFill>
                      <a:srgbClr val="FF0000"/>
                    </a:solidFill>
                    <a:latin typeface="Roboto" panose="02000000000000000000" pitchFamily="2" charset="0"/>
                    <a:ea typeface="Roboto" panose="02000000000000000000" pitchFamily="2" charset="0"/>
                  </a:rPr>
                  <a:t>`````</a:t>
                </a:r>
              </a:p>
            </p:txBody>
          </p:sp>
          <p:sp>
            <p:nvSpPr>
              <p:cNvPr id="39" name="Line 22">
                <a:extLst>
                  <a:ext uri="{FF2B5EF4-FFF2-40B4-BE49-F238E27FC236}">
                    <a16:creationId xmlns:a16="http://schemas.microsoft.com/office/drawing/2014/main" id="{156C797F-8DCC-5803-CEB8-2C311C63A84D}"/>
                  </a:ext>
                </a:extLst>
              </p:cNvPr>
              <p:cNvSpPr>
                <a:spLocks noChangeShapeType="1"/>
              </p:cNvSpPr>
              <p:nvPr/>
            </p:nvSpPr>
            <p:spPr bwMode="auto">
              <a:xfrm>
                <a:off x="2146" y="2140"/>
                <a:ext cx="1332" cy="447"/>
              </a:xfrm>
              <a:prstGeom prst="line">
                <a:avLst/>
              </a:prstGeom>
              <a:noFill/>
              <a:ln w="12700"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40" name="Group 23">
                <a:extLst>
                  <a:ext uri="{FF2B5EF4-FFF2-40B4-BE49-F238E27FC236}">
                    <a16:creationId xmlns:a16="http://schemas.microsoft.com/office/drawing/2014/main" id="{11B0D629-C2DB-86A4-E895-D06CEEB6544C}"/>
                  </a:ext>
                </a:extLst>
              </p:cNvPr>
              <p:cNvGrpSpPr>
                <a:grpSpLocks/>
              </p:cNvGrpSpPr>
              <p:nvPr/>
            </p:nvGrpSpPr>
            <p:grpSpPr bwMode="auto">
              <a:xfrm>
                <a:off x="4128" y="2688"/>
                <a:ext cx="374" cy="258"/>
                <a:chOff x="4176" y="3024"/>
                <a:chExt cx="374" cy="258"/>
              </a:xfrm>
            </p:grpSpPr>
            <p:sp>
              <p:nvSpPr>
                <p:cNvPr id="41" name="Rectangle 24">
                  <a:extLst>
                    <a:ext uri="{FF2B5EF4-FFF2-40B4-BE49-F238E27FC236}">
                      <a16:creationId xmlns:a16="http://schemas.microsoft.com/office/drawing/2014/main" id="{FBB3FAE4-113D-1C26-3D6E-1AF327630EF2}"/>
                    </a:ext>
                  </a:extLst>
                </p:cNvPr>
                <p:cNvSpPr>
                  <a:spLocks noChangeArrowheads="1"/>
                </p:cNvSpPr>
                <p:nvPr/>
              </p:nvSpPr>
              <p:spPr bwMode="auto">
                <a:xfrm>
                  <a:off x="4213" y="3046"/>
                  <a:ext cx="232" cy="177"/>
                </a:xfrm>
                <a:prstGeom prst="rect">
                  <a:avLst/>
                </a:prstGeom>
                <a:solidFill>
                  <a:schemeClr val="bg1"/>
                </a:solidFill>
                <a:ln w="9525">
                  <a:solidFill>
                    <a:schemeClr val="accent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2" name="Rectangle 25">
                  <a:extLst>
                    <a:ext uri="{FF2B5EF4-FFF2-40B4-BE49-F238E27FC236}">
                      <a16:creationId xmlns:a16="http://schemas.microsoft.com/office/drawing/2014/main" id="{0BB35F91-5F77-A0F9-5514-02D0B56BBAEA}"/>
                    </a:ext>
                  </a:extLst>
                </p:cNvPr>
                <p:cNvSpPr>
                  <a:spLocks noChangeArrowheads="1"/>
                </p:cNvSpPr>
                <p:nvPr/>
              </p:nvSpPr>
              <p:spPr bwMode="auto">
                <a:xfrm>
                  <a:off x="4447" y="3105"/>
                  <a:ext cx="103" cy="118"/>
                </a:xfrm>
                <a:prstGeom prst="rect">
                  <a:avLst/>
                </a:prstGeom>
                <a:solidFill>
                  <a:schemeClr val="bg1"/>
                </a:solidFill>
                <a:ln w="9525">
                  <a:solidFill>
                    <a:schemeClr val="accent4"/>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3" name="Oval 26">
                  <a:extLst>
                    <a:ext uri="{FF2B5EF4-FFF2-40B4-BE49-F238E27FC236}">
                      <a16:creationId xmlns:a16="http://schemas.microsoft.com/office/drawing/2014/main" id="{18C4C77F-44A0-3681-361F-8706E01F9848}"/>
                    </a:ext>
                  </a:extLst>
                </p:cNvPr>
                <p:cNvSpPr>
                  <a:spLocks noChangeArrowheads="1"/>
                </p:cNvSpPr>
                <p:nvPr/>
              </p:nvSpPr>
              <p:spPr bwMode="auto">
                <a:xfrm>
                  <a:off x="4471" y="3223"/>
                  <a:ext cx="51" cy="59"/>
                </a:xfrm>
                <a:prstGeom prst="ellipse">
                  <a:avLst/>
                </a:prstGeom>
                <a:solidFill>
                  <a:schemeClr val="accent4"/>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4" name="Oval 27">
                  <a:extLst>
                    <a:ext uri="{FF2B5EF4-FFF2-40B4-BE49-F238E27FC236}">
                      <a16:creationId xmlns:a16="http://schemas.microsoft.com/office/drawing/2014/main" id="{0AF7774E-3422-8CD2-9FD8-7968CDE7E6BE}"/>
                    </a:ext>
                  </a:extLst>
                </p:cNvPr>
                <p:cNvSpPr>
                  <a:spLocks noChangeArrowheads="1"/>
                </p:cNvSpPr>
                <p:nvPr/>
              </p:nvSpPr>
              <p:spPr bwMode="auto">
                <a:xfrm>
                  <a:off x="4239" y="3223"/>
                  <a:ext cx="51" cy="59"/>
                </a:xfrm>
                <a:prstGeom prst="ellipse">
                  <a:avLst/>
                </a:prstGeom>
                <a:solidFill>
                  <a:schemeClr val="accent4"/>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5" name="Text Box 28">
                  <a:extLst>
                    <a:ext uri="{FF2B5EF4-FFF2-40B4-BE49-F238E27FC236}">
                      <a16:creationId xmlns:a16="http://schemas.microsoft.com/office/drawing/2014/main" id="{EB5BCD14-6E6D-BB31-5DCE-716F9F01FBBB}"/>
                    </a:ext>
                  </a:extLst>
                </p:cNvPr>
                <p:cNvSpPr txBox="1">
                  <a:spLocks noChangeArrowheads="1"/>
                </p:cNvSpPr>
                <p:nvPr/>
              </p:nvSpPr>
              <p:spPr bwMode="auto">
                <a:xfrm>
                  <a:off x="4176" y="3024"/>
                  <a:ext cx="308"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accent4"/>
                      </a:solidFill>
                      <a:latin typeface="Roboto" panose="02000000000000000000" pitchFamily="2" charset="0"/>
                      <a:ea typeface="Roboto" panose="02000000000000000000" pitchFamily="2" charset="0"/>
                    </a:rPr>
                    <a:t>Daily</a:t>
                  </a:r>
                </a:p>
              </p:txBody>
            </p:sp>
          </p:grpSp>
        </p:grpSp>
      </p:grpSp>
    </p:spTree>
    <p:extLst>
      <p:ext uri="{BB962C8B-B14F-4D97-AF65-F5344CB8AC3E}">
        <p14:creationId xmlns:p14="http://schemas.microsoft.com/office/powerpoint/2010/main" val="149029715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35</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68" name="Group 67">
            <a:extLst>
              <a:ext uri="{FF2B5EF4-FFF2-40B4-BE49-F238E27FC236}">
                <a16:creationId xmlns:a16="http://schemas.microsoft.com/office/drawing/2014/main" id="{5CA9CDDD-C2E0-5CFB-FEB7-206152D71E24}"/>
              </a:ext>
            </a:extLst>
          </p:cNvPr>
          <p:cNvGrpSpPr/>
          <p:nvPr/>
        </p:nvGrpSpPr>
        <p:grpSpPr>
          <a:xfrm>
            <a:off x="769055" y="1783431"/>
            <a:ext cx="10653890" cy="4549717"/>
            <a:chOff x="493713" y="1387475"/>
            <a:chExt cx="8334375" cy="4632325"/>
          </a:xfrm>
        </p:grpSpPr>
        <p:sp>
          <p:nvSpPr>
            <p:cNvPr id="12" name="Rectangle 33">
              <a:extLst>
                <a:ext uri="{FF2B5EF4-FFF2-40B4-BE49-F238E27FC236}">
                  <a16:creationId xmlns:a16="http://schemas.microsoft.com/office/drawing/2014/main" id="{6DFA1E39-0ECF-DCC0-61D7-2159091E9C53}"/>
                </a:ext>
              </a:extLst>
            </p:cNvPr>
            <p:cNvSpPr>
              <a:spLocks noChangeArrowheads="1"/>
            </p:cNvSpPr>
            <p:nvPr/>
          </p:nvSpPr>
          <p:spPr bwMode="auto">
            <a:xfrm>
              <a:off x="493713" y="1387475"/>
              <a:ext cx="8207375" cy="4632325"/>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grpSp>
          <p:nvGrpSpPr>
            <p:cNvPr id="13" name="Group 3">
              <a:extLst>
                <a:ext uri="{FF2B5EF4-FFF2-40B4-BE49-F238E27FC236}">
                  <a16:creationId xmlns:a16="http://schemas.microsoft.com/office/drawing/2014/main" id="{4F41A624-2B04-2CDE-56E5-6E0DCFA05A14}"/>
                </a:ext>
              </a:extLst>
            </p:cNvPr>
            <p:cNvGrpSpPr>
              <a:grpSpLocks/>
            </p:cNvGrpSpPr>
            <p:nvPr/>
          </p:nvGrpSpPr>
          <p:grpSpPr bwMode="auto">
            <a:xfrm>
              <a:off x="7023100" y="2520950"/>
              <a:ext cx="833438" cy="1884363"/>
              <a:chOff x="4424" y="1588"/>
              <a:chExt cx="525" cy="1187"/>
            </a:xfrm>
          </p:grpSpPr>
          <p:sp>
            <p:nvSpPr>
              <p:cNvPr id="14" name="Line 4">
                <a:extLst>
                  <a:ext uri="{FF2B5EF4-FFF2-40B4-BE49-F238E27FC236}">
                    <a16:creationId xmlns:a16="http://schemas.microsoft.com/office/drawing/2014/main" id="{F0160BB0-9CB9-A1F3-796C-DF3E522B32B7}"/>
                  </a:ext>
                </a:extLst>
              </p:cNvPr>
              <p:cNvSpPr>
                <a:spLocks noChangeShapeType="1"/>
              </p:cNvSpPr>
              <p:nvPr/>
            </p:nvSpPr>
            <p:spPr bwMode="auto">
              <a:xfrm flipH="1" flipV="1">
                <a:off x="4645" y="1588"/>
                <a:ext cx="1" cy="817"/>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nvGrpSpPr>
              <p:cNvPr id="15" name="Group 5">
                <a:extLst>
                  <a:ext uri="{FF2B5EF4-FFF2-40B4-BE49-F238E27FC236}">
                    <a16:creationId xmlns:a16="http://schemas.microsoft.com/office/drawing/2014/main" id="{9A5898B6-57E0-F9F1-C2E5-F3DFBF61CF15}"/>
                  </a:ext>
                </a:extLst>
              </p:cNvPr>
              <p:cNvGrpSpPr>
                <a:grpSpLocks/>
              </p:cNvGrpSpPr>
              <p:nvPr/>
            </p:nvGrpSpPr>
            <p:grpSpPr bwMode="auto">
              <a:xfrm>
                <a:off x="4424" y="2385"/>
                <a:ext cx="525" cy="390"/>
                <a:chOff x="4424" y="2385"/>
                <a:chExt cx="525" cy="390"/>
              </a:xfrm>
            </p:grpSpPr>
            <p:grpSp>
              <p:nvGrpSpPr>
                <p:cNvPr id="16" name="Group 6">
                  <a:extLst>
                    <a:ext uri="{FF2B5EF4-FFF2-40B4-BE49-F238E27FC236}">
                      <a16:creationId xmlns:a16="http://schemas.microsoft.com/office/drawing/2014/main" id="{B4811B16-5522-60AC-3D8F-759BF98E3723}"/>
                    </a:ext>
                  </a:extLst>
                </p:cNvPr>
                <p:cNvGrpSpPr>
                  <a:grpSpLocks/>
                </p:cNvGrpSpPr>
                <p:nvPr/>
              </p:nvGrpSpPr>
              <p:grpSpPr bwMode="auto">
                <a:xfrm>
                  <a:off x="4424" y="2410"/>
                  <a:ext cx="525" cy="365"/>
                  <a:chOff x="418" y="2981"/>
                  <a:chExt cx="352" cy="36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8" name="Text Box 9">
                  <a:extLst>
                    <a:ext uri="{FF2B5EF4-FFF2-40B4-BE49-F238E27FC236}">
                      <a16:creationId xmlns:a16="http://schemas.microsoft.com/office/drawing/2014/main" id="{83F5AF63-9963-FCAF-C363-253F23DFD0FF}"/>
                    </a:ext>
                  </a:extLst>
                </p:cNvPr>
                <p:cNvSpPr txBox="1">
                  <a:spLocks noChangeArrowheads="1"/>
                </p:cNvSpPr>
                <p:nvPr/>
              </p:nvSpPr>
              <p:spPr bwMode="auto">
                <a:xfrm>
                  <a:off x="4442" y="2385"/>
                  <a:ext cx="492" cy="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Ship</a:t>
                  </a:r>
                </a:p>
              </p:txBody>
            </p:sp>
          </p:grpSp>
        </p:gr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6940551" y="1939925"/>
              <a:ext cx="806450" cy="552450"/>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3534679" y="1493838"/>
              <a:ext cx="2252443" cy="313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7693025" y="2090738"/>
              <a:ext cx="1135063" cy="47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a:solidFill>
                    <a:schemeClr val="tx1"/>
                  </a:solidFill>
                  <a:latin typeface="Roboto" panose="02000000000000000000" pitchFamily="2" charset="0"/>
                  <a:ea typeface="Roboto" panose="02000000000000000000" pitchFamily="2" charset="0"/>
                </a:rPr>
                <a:t>1 Shift</a:t>
              </a:r>
            </a:p>
          </p:txBody>
        </p:sp>
        <p:grpSp>
          <p:nvGrpSpPr>
            <p:cNvPr id="62" name="Group 24">
              <a:extLst>
                <a:ext uri="{FF2B5EF4-FFF2-40B4-BE49-F238E27FC236}">
                  <a16:creationId xmlns:a16="http://schemas.microsoft.com/office/drawing/2014/main" id="{04838F35-ACE3-4757-E4A0-E64078ABFC50}"/>
                </a:ext>
              </a:extLst>
            </p:cNvPr>
            <p:cNvGrpSpPr>
              <a:grpSpLocks/>
            </p:cNvGrpSpPr>
            <p:nvPr/>
          </p:nvGrpSpPr>
          <p:grpSpPr bwMode="auto">
            <a:xfrm>
              <a:off x="7148513" y="3217863"/>
              <a:ext cx="534988" cy="374650"/>
              <a:chOff x="536" y="3744"/>
              <a:chExt cx="415" cy="261"/>
            </a:xfrm>
          </p:grpSpPr>
          <p:sp>
            <p:nvSpPr>
              <p:cNvPr id="64" name="Rectangle 25">
                <a:extLst>
                  <a:ext uri="{FF2B5EF4-FFF2-40B4-BE49-F238E27FC236}">
                    <a16:creationId xmlns:a16="http://schemas.microsoft.com/office/drawing/2014/main" id="{E4C3FE84-FDC0-8990-3058-394EA8D73D54}"/>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b="0" dirty="0">
                    <a:solidFill>
                      <a:schemeClr val="tx1"/>
                    </a:solidFill>
                    <a:latin typeface="Roboto" panose="02000000000000000000" pitchFamily="2" charset="0"/>
                    <a:ea typeface="Roboto" panose="02000000000000000000" pitchFamily="2" charset="0"/>
                  </a:rPr>
                  <a:t>Daily</a:t>
                </a:r>
              </a:p>
            </p:txBody>
          </p:sp>
          <p:sp>
            <p:nvSpPr>
              <p:cNvPr id="65" name="Rectangle 26">
                <a:extLst>
                  <a:ext uri="{FF2B5EF4-FFF2-40B4-BE49-F238E27FC236}">
                    <a16:creationId xmlns:a16="http://schemas.microsoft.com/office/drawing/2014/main" id="{86E663C3-30EE-32AC-B1E9-6C8AB2560CA9}"/>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6" name="Oval 27">
                <a:extLst>
                  <a:ext uri="{FF2B5EF4-FFF2-40B4-BE49-F238E27FC236}">
                    <a16:creationId xmlns:a16="http://schemas.microsoft.com/office/drawing/2014/main" id="{7A1B54E4-5FB9-3271-E29D-ABBE85DC4961}"/>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7" name="Oval 28">
                <a:extLst>
                  <a:ext uri="{FF2B5EF4-FFF2-40B4-BE49-F238E27FC236}">
                    <a16:creationId xmlns:a16="http://schemas.microsoft.com/office/drawing/2014/main" id="{A87FC8CD-4E0B-4D42-057E-703F3270BC1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spTree>
    <p:extLst>
      <p:ext uri="{BB962C8B-B14F-4D97-AF65-F5344CB8AC3E}">
        <p14:creationId xmlns:p14="http://schemas.microsoft.com/office/powerpoint/2010/main" val="66411493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Mapping the Current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7" y="193413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576677"/>
            <a:ext cx="10174792"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Takt Time</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7" y="3861757"/>
            <a:ext cx="10174791"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Data Boxes and Inventory Levels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789379"/>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7" y="4504297"/>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Supplier Data</a:t>
            </a:r>
          </a:p>
        </p:txBody>
      </p:sp>
      <p:sp>
        <p:nvSpPr>
          <p:cNvPr id="18" name="Rectangle 17">
            <a:extLst>
              <a:ext uri="{FF2B5EF4-FFF2-40B4-BE49-F238E27FC236}">
                <a16:creationId xmlns:a16="http://schemas.microsoft.com/office/drawing/2014/main" id="{50BBF7A0-ECFA-06CB-A66C-31B4C7516E5E}"/>
              </a:ext>
            </a:extLst>
          </p:cNvPr>
          <p:cNvSpPr>
            <a:spLocks/>
          </p:cNvSpPr>
          <p:nvPr/>
        </p:nvSpPr>
        <p:spPr>
          <a:xfrm>
            <a:off x="940248" y="321921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9" name="Rectangle 18">
            <a:extLst>
              <a:ext uri="{FF2B5EF4-FFF2-40B4-BE49-F238E27FC236}">
                <a16:creationId xmlns:a16="http://schemas.microsoft.com/office/drawing/2014/main" id="{D94E3980-5557-1182-3882-58280A403140}"/>
              </a:ext>
            </a:extLst>
          </p:cNvPr>
          <p:cNvSpPr>
            <a:spLocks/>
          </p:cNvSpPr>
          <p:nvPr/>
        </p:nvSpPr>
        <p:spPr>
          <a:xfrm>
            <a:off x="940248" y="514683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Production Lead Time</a:t>
            </a:r>
          </a:p>
        </p:txBody>
      </p:sp>
    </p:spTree>
    <p:extLst>
      <p:ext uri="{BB962C8B-B14F-4D97-AF65-F5344CB8AC3E}">
        <p14:creationId xmlns:p14="http://schemas.microsoft.com/office/powerpoint/2010/main" val="22539202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Calculating Takt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37</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56" name="Group 55">
            <a:extLst>
              <a:ext uri="{FF2B5EF4-FFF2-40B4-BE49-F238E27FC236}">
                <a16:creationId xmlns:a16="http://schemas.microsoft.com/office/drawing/2014/main" id="{858ABF6C-4876-C0F3-6FF9-B3D6E6778599}"/>
              </a:ext>
            </a:extLst>
          </p:cNvPr>
          <p:cNvGrpSpPr/>
          <p:nvPr/>
        </p:nvGrpSpPr>
        <p:grpSpPr>
          <a:xfrm>
            <a:off x="975360" y="2091465"/>
            <a:ext cx="10515600" cy="3835771"/>
            <a:chOff x="479425" y="1568079"/>
            <a:chExt cx="8499475" cy="3835771"/>
          </a:xfrm>
        </p:grpSpPr>
        <p:sp>
          <p:nvSpPr>
            <p:cNvPr id="45" name="Text Box 41">
              <a:extLst>
                <a:ext uri="{FF2B5EF4-FFF2-40B4-BE49-F238E27FC236}">
                  <a16:creationId xmlns:a16="http://schemas.microsoft.com/office/drawing/2014/main" id="{AE14DB08-2F1F-1968-745E-4D6B264B0301}"/>
                </a:ext>
              </a:extLst>
            </p:cNvPr>
            <p:cNvSpPr txBox="1">
              <a:spLocks noChangeArrowheads="1"/>
            </p:cNvSpPr>
            <p:nvPr/>
          </p:nvSpPr>
          <p:spPr bwMode="auto">
            <a:xfrm>
              <a:off x="2283680" y="2482850"/>
              <a:ext cx="6110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Cure </a:t>
              </a:r>
            </a:p>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Oven</a:t>
              </a:r>
            </a:p>
          </p:txBody>
        </p:sp>
        <p:sp>
          <p:nvSpPr>
            <p:cNvPr id="46" name="Rectangle 44">
              <a:extLst>
                <a:ext uri="{FF2B5EF4-FFF2-40B4-BE49-F238E27FC236}">
                  <a16:creationId xmlns:a16="http://schemas.microsoft.com/office/drawing/2014/main" id="{4A6D61C3-929D-541A-80ED-2BE8C77E1BD7}"/>
                </a:ext>
              </a:extLst>
            </p:cNvPr>
            <p:cNvSpPr>
              <a:spLocks noChangeArrowheads="1"/>
            </p:cNvSpPr>
            <p:nvPr/>
          </p:nvSpPr>
          <p:spPr bwMode="auto">
            <a:xfrm>
              <a:off x="479425" y="1752600"/>
              <a:ext cx="4414838" cy="320198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7" name="Text Box 45">
              <a:extLst>
                <a:ext uri="{FF2B5EF4-FFF2-40B4-BE49-F238E27FC236}">
                  <a16:creationId xmlns:a16="http://schemas.microsoft.com/office/drawing/2014/main" id="{BEAF0EAA-188C-802A-3901-606E9811AC50}"/>
                </a:ext>
              </a:extLst>
            </p:cNvPr>
            <p:cNvSpPr txBox="1">
              <a:spLocks noChangeArrowheads="1"/>
            </p:cNvSpPr>
            <p:nvPr/>
          </p:nvSpPr>
          <p:spPr bwMode="auto">
            <a:xfrm>
              <a:off x="703654" y="1568079"/>
              <a:ext cx="2307042"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Takt Time Definition</a:t>
              </a:r>
            </a:p>
          </p:txBody>
        </p:sp>
        <p:sp>
          <p:nvSpPr>
            <p:cNvPr id="48" name="Rectangle 46">
              <a:extLst>
                <a:ext uri="{FF2B5EF4-FFF2-40B4-BE49-F238E27FC236}">
                  <a16:creationId xmlns:a16="http://schemas.microsoft.com/office/drawing/2014/main" id="{A22AEFCA-D7F5-B5E3-3352-6858461BA424}"/>
                </a:ext>
              </a:extLst>
            </p:cNvPr>
            <p:cNvSpPr>
              <a:spLocks noChangeArrowheads="1"/>
            </p:cNvSpPr>
            <p:nvPr/>
          </p:nvSpPr>
          <p:spPr bwMode="auto">
            <a:xfrm>
              <a:off x="5434013" y="1704975"/>
              <a:ext cx="326866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Takt Time Calculation</a:t>
              </a:r>
            </a:p>
          </p:txBody>
        </p:sp>
        <p:sp>
          <p:nvSpPr>
            <p:cNvPr id="49" name="Rectangle 47">
              <a:extLst>
                <a:ext uri="{FF2B5EF4-FFF2-40B4-BE49-F238E27FC236}">
                  <a16:creationId xmlns:a16="http://schemas.microsoft.com/office/drawing/2014/main" id="{999FDE5A-00AA-9749-E254-2A3A4481ADBC}"/>
                </a:ext>
              </a:extLst>
            </p:cNvPr>
            <p:cNvSpPr>
              <a:spLocks noChangeArrowheads="1"/>
            </p:cNvSpPr>
            <p:nvPr/>
          </p:nvSpPr>
          <p:spPr bwMode="auto">
            <a:xfrm>
              <a:off x="5434013" y="3852863"/>
              <a:ext cx="3282950"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MME Example </a:t>
              </a:r>
            </a:p>
          </p:txBody>
        </p:sp>
        <p:sp>
          <p:nvSpPr>
            <p:cNvPr id="50" name="Rectangle 48">
              <a:extLst>
                <a:ext uri="{FF2B5EF4-FFF2-40B4-BE49-F238E27FC236}">
                  <a16:creationId xmlns:a16="http://schemas.microsoft.com/office/drawing/2014/main" id="{8DA87BAE-5D16-3E63-B77E-7E09BBCC5B74}"/>
                </a:ext>
              </a:extLst>
            </p:cNvPr>
            <p:cNvSpPr>
              <a:spLocks noChangeArrowheads="1"/>
            </p:cNvSpPr>
            <p:nvPr/>
          </p:nvSpPr>
          <p:spPr bwMode="auto">
            <a:xfrm>
              <a:off x="5276850" y="3070225"/>
              <a:ext cx="3702050"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1600" dirty="0">
                  <a:solidFill>
                    <a:srgbClr val="FF0000"/>
                  </a:solidFill>
                  <a:latin typeface="Roboto" panose="02000000000000000000" pitchFamily="2" charset="0"/>
                  <a:ea typeface="Roboto" panose="02000000000000000000" pitchFamily="2" charset="0"/>
                </a:rPr>
                <a:t>27,000 seconds</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baseline="30000" dirty="0">
                  <a:solidFill>
                    <a:srgbClr val="FF0000"/>
                  </a:solidFill>
                  <a:latin typeface="Roboto" panose="02000000000000000000" pitchFamily="2" charset="0"/>
                  <a:ea typeface="Roboto" panose="02000000000000000000" pitchFamily="2" charset="0"/>
                </a:rPr>
                <a:t>____________________________ </a:t>
              </a:r>
              <a:r>
                <a:rPr lang="en-US" altLang="en-US" sz="1600" dirty="0">
                  <a:solidFill>
                    <a:srgbClr val="FF0000"/>
                  </a:solidFill>
                  <a:latin typeface="Roboto" panose="02000000000000000000" pitchFamily="2" charset="0"/>
                  <a:ea typeface="Roboto" panose="02000000000000000000" pitchFamily="2" charset="0"/>
                </a:rPr>
                <a:t>= 18 seconds</a:t>
              </a:r>
              <a:endParaRPr lang="en-US" altLang="en-US" sz="16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dirty="0">
                  <a:solidFill>
                    <a:srgbClr val="FF0000"/>
                  </a:solidFill>
                  <a:latin typeface="Roboto" panose="02000000000000000000" pitchFamily="2" charset="0"/>
                  <a:ea typeface="Roboto" panose="02000000000000000000" pitchFamily="2" charset="0"/>
                </a:rPr>
                <a:t>1,500 enclosures</a:t>
              </a:r>
            </a:p>
          </p:txBody>
        </p:sp>
        <p:cxnSp>
          <p:nvCxnSpPr>
            <p:cNvPr id="51" name="AutoShape 49">
              <a:extLst>
                <a:ext uri="{FF2B5EF4-FFF2-40B4-BE49-F238E27FC236}">
                  <a16:creationId xmlns:a16="http://schemas.microsoft.com/office/drawing/2014/main" id="{9E7D051F-17F6-6ECA-C674-924F020C2578}"/>
                </a:ext>
              </a:extLst>
            </p:cNvPr>
            <p:cNvCxnSpPr>
              <a:cxnSpLocks noChangeShapeType="1"/>
              <a:stCxn id="46" idx="3"/>
              <a:endCxn id="48" idx="1"/>
            </p:cNvCxnSpPr>
            <p:nvPr/>
          </p:nvCxnSpPr>
          <p:spPr bwMode="auto">
            <a:xfrm flipV="1">
              <a:off x="4903788" y="1858963"/>
              <a:ext cx="530225" cy="1495425"/>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52" name="AutoShape 50">
              <a:extLst>
                <a:ext uri="{FF2B5EF4-FFF2-40B4-BE49-F238E27FC236}">
                  <a16:creationId xmlns:a16="http://schemas.microsoft.com/office/drawing/2014/main" id="{F733EDBC-9DA3-7CA5-0F41-DF66D230C33A}"/>
                </a:ext>
              </a:extLst>
            </p:cNvPr>
            <p:cNvCxnSpPr>
              <a:cxnSpLocks noChangeShapeType="1"/>
              <a:stCxn id="46" idx="3"/>
              <a:endCxn id="49" idx="1"/>
            </p:cNvCxnSpPr>
            <p:nvPr/>
          </p:nvCxnSpPr>
          <p:spPr bwMode="auto">
            <a:xfrm>
              <a:off x="4903788" y="3354388"/>
              <a:ext cx="530225" cy="65246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53" name="Rectangle 51">
              <a:extLst>
                <a:ext uri="{FF2B5EF4-FFF2-40B4-BE49-F238E27FC236}">
                  <a16:creationId xmlns:a16="http://schemas.microsoft.com/office/drawing/2014/main" id="{FE6EB1C3-1FA9-C2AF-1749-1DC00A20C398}"/>
                </a:ext>
              </a:extLst>
            </p:cNvPr>
            <p:cNvSpPr>
              <a:spLocks noChangeArrowheads="1"/>
            </p:cNvSpPr>
            <p:nvPr/>
          </p:nvSpPr>
          <p:spPr bwMode="auto">
            <a:xfrm>
              <a:off x="5341938" y="4187825"/>
              <a:ext cx="33766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marL="0" indent="0" eaLnBrk="1" hangingPunct="1">
                <a:lnSpc>
                  <a:spcPct val="100000"/>
                </a:lnSpc>
                <a:spcBef>
                  <a:spcPct val="30000"/>
                </a:spcBef>
                <a:spcAft>
                  <a:spcPct val="0"/>
                </a:spcAft>
                <a:buClr>
                  <a:schemeClr val="tx1"/>
                </a:buClr>
                <a:buSzPct val="90000"/>
                <a:buNone/>
              </a:pPr>
              <a:r>
                <a:rPr lang="en-US" altLang="en-US" sz="1400" dirty="0">
                  <a:latin typeface="Roboto" panose="02000000000000000000" pitchFamily="2" charset="0"/>
                  <a:ea typeface="Roboto" panose="02000000000000000000" pitchFamily="2" charset="0"/>
                </a:rPr>
                <a:t>1 shift x 8 hours = 28,800 seconds</a:t>
              </a:r>
            </a:p>
            <a:p>
              <a:pPr marL="0" indent="0" eaLnBrk="1" hangingPunct="1">
                <a:lnSpc>
                  <a:spcPct val="100000"/>
                </a:lnSpc>
                <a:spcBef>
                  <a:spcPct val="30000"/>
                </a:spcBef>
                <a:spcAft>
                  <a:spcPct val="0"/>
                </a:spcAft>
                <a:buClr>
                  <a:schemeClr val="tx1"/>
                </a:buClr>
                <a:buSzPct val="90000"/>
                <a:buNone/>
              </a:pPr>
              <a:r>
                <a:rPr lang="en-US" altLang="en-US" sz="1400" dirty="0">
                  <a:latin typeface="Roboto" panose="02000000000000000000" pitchFamily="2" charset="0"/>
                  <a:ea typeface="Roboto" panose="02000000000000000000" pitchFamily="2" charset="0"/>
                </a:rPr>
                <a:t>2 15 min breaks/shift = -1,800 seconds</a:t>
              </a:r>
            </a:p>
            <a:p>
              <a:pPr marL="0" indent="0" eaLnBrk="1" hangingPunct="1">
                <a:lnSpc>
                  <a:spcPct val="100000"/>
                </a:lnSpc>
                <a:spcBef>
                  <a:spcPct val="30000"/>
                </a:spcBef>
                <a:spcAft>
                  <a:spcPct val="0"/>
                </a:spcAft>
                <a:buClr>
                  <a:schemeClr val="tx1"/>
                </a:buClr>
                <a:buSzPct val="90000"/>
                <a:buNone/>
              </a:pPr>
              <a:r>
                <a:rPr lang="en-US" altLang="en-US" sz="1400" dirty="0">
                  <a:latin typeface="Roboto" panose="02000000000000000000" pitchFamily="2" charset="0"/>
                  <a:ea typeface="Roboto" panose="02000000000000000000" pitchFamily="2" charset="0"/>
                </a:rPr>
                <a:t>Available Working Time = 27,000 seconds</a:t>
              </a:r>
            </a:p>
            <a:p>
              <a:pPr marL="0" indent="0" eaLnBrk="1" hangingPunct="1">
                <a:lnSpc>
                  <a:spcPct val="100000"/>
                </a:lnSpc>
                <a:spcBef>
                  <a:spcPct val="30000"/>
                </a:spcBef>
                <a:spcAft>
                  <a:spcPct val="0"/>
                </a:spcAft>
                <a:buClr>
                  <a:schemeClr val="tx1"/>
                </a:buClr>
                <a:buSzPct val="90000"/>
                <a:buNone/>
              </a:pPr>
              <a:r>
                <a:rPr lang="en-US" altLang="en-US" sz="1400" dirty="0">
                  <a:latin typeface="Roboto" panose="02000000000000000000" pitchFamily="2" charset="0"/>
                  <a:ea typeface="Roboto" panose="02000000000000000000" pitchFamily="2" charset="0"/>
                </a:rPr>
                <a:t>Customer Demand/Month = 30,000 enclosures</a:t>
              </a:r>
            </a:p>
            <a:p>
              <a:pPr marL="0" indent="0" eaLnBrk="1" hangingPunct="1">
                <a:lnSpc>
                  <a:spcPct val="100000"/>
                </a:lnSpc>
                <a:spcBef>
                  <a:spcPct val="30000"/>
                </a:spcBef>
                <a:spcAft>
                  <a:spcPct val="0"/>
                </a:spcAft>
                <a:buClr>
                  <a:schemeClr val="tx1"/>
                </a:buClr>
                <a:buSzPct val="90000"/>
                <a:buNone/>
              </a:pPr>
              <a:r>
                <a:rPr lang="en-US" altLang="en-US" sz="1400" dirty="0">
                  <a:latin typeface="Roboto" panose="02000000000000000000" pitchFamily="2" charset="0"/>
                  <a:ea typeface="Roboto" panose="02000000000000000000" pitchFamily="2" charset="0"/>
                </a:rPr>
                <a:t>20 days/month x 1 shift = 20 </a:t>
              </a:r>
            </a:p>
            <a:p>
              <a:pPr marL="0" indent="0" eaLnBrk="1" hangingPunct="1">
                <a:lnSpc>
                  <a:spcPct val="100000"/>
                </a:lnSpc>
                <a:spcBef>
                  <a:spcPct val="30000"/>
                </a:spcBef>
                <a:spcAft>
                  <a:spcPct val="0"/>
                </a:spcAft>
                <a:buClr>
                  <a:schemeClr val="tx1"/>
                </a:buClr>
                <a:buSzPct val="90000"/>
                <a:buNone/>
              </a:pPr>
              <a:r>
                <a:rPr lang="en-US" altLang="en-US" sz="1400" dirty="0">
                  <a:latin typeface="Roboto" panose="02000000000000000000" pitchFamily="2" charset="0"/>
                  <a:ea typeface="Roboto" panose="02000000000000000000" pitchFamily="2" charset="0"/>
                </a:rPr>
                <a:t>Enclosures per day = 1500 enclosures</a:t>
              </a:r>
            </a:p>
          </p:txBody>
        </p:sp>
        <p:sp>
          <p:nvSpPr>
            <p:cNvPr id="54" name="Text Box 53">
              <a:extLst>
                <a:ext uri="{FF2B5EF4-FFF2-40B4-BE49-F238E27FC236}">
                  <a16:creationId xmlns:a16="http://schemas.microsoft.com/office/drawing/2014/main" id="{60ACF22E-C0FD-1810-8E60-91C53E31E5AD}"/>
                </a:ext>
              </a:extLst>
            </p:cNvPr>
            <p:cNvSpPr txBox="1">
              <a:spLocks noChangeArrowheads="1"/>
            </p:cNvSpPr>
            <p:nvPr/>
          </p:nvSpPr>
          <p:spPr bwMode="auto">
            <a:xfrm>
              <a:off x="791369" y="2726581"/>
              <a:ext cx="379095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How often should one product be </a:t>
              </a:r>
              <a:br>
                <a:rPr lang="en-US" altLang="en-US" sz="1800" dirty="0">
                  <a:latin typeface="Roboto" panose="02000000000000000000" pitchFamily="2" charset="0"/>
                  <a:ea typeface="Roboto" panose="02000000000000000000" pitchFamily="2" charset="0"/>
                </a:rPr>
              </a:br>
              <a:r>
                <a:rPr lang="en-US" altLang="en-US" sz="1800" dirty="0">
                  <a:latin typeface="Roboto" panose="02000000000000000000" pitchFamily="2" charset="0"/>
                  <a:ea typeface="Roboto" panose="02000000000000000000" pitchFamily="2" charset="0"/>
                </a:rPr>
                <a:t>produced, based on the rate of sales to meet customer requirements.</a:t>
              </a:r>
            </a:p>
          </p:txBody>
        </p:sp>
        <p:sp>
          <p:nvSpPr>
            <p:cNvPr id="55" name="Rectangle 62">
              <a:extLst>
                <a:ext uri="{FF2B5EF4-FFF2-40B4-BE49-F238E27FC236}">
                  <a16:creationId xmlns:a16="http://schemas.microsoft.com/office/drawing/2014/main" id="{7B37F3AA-24C8-8505-F90F-223D7F538A05}"/>
                </a:ext>
              </a:extLst>
            </p:cNvPr>
            <p:cNvSpPr>
              <a:spLocks noChangeArrowheads="1"/>
            </p:cNvSpPr>
            <p:nvPr/>
          </p:nvSpPr>
          <p:spPr bwMode="auto">
            <a:xfrm>
              <a:off x="5340350" y="2117725"/>
              <a:ext cx="3376613"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Available Working Time</a:t>
              </a:r>
            </a:p>
            <a:p>
              <a:pPr algn="ct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baseline="30000">
                  <a:latin typeface="Roboto" panose="02000000000000000000" pitchFamily="2" charset="0"/>
                  <a:ea typeface="Roboto" panose="02000000000000000000" pitchFamily="2" charset="0"/>
                </a:rPr>
                <a:t>_____________________________</a:t>
              </a:r>
              <a:endParaRPr lang="en-US" altLang="en-US" sz="1600" u="sng">
                <a:latin typeface="Roboto" panose="02000000000000000000" pitchFamily="2" charset="0"/>
                <a:ea typeface="Roboto" panose="02000000000000000000" pitchFamily="2" charset="0"/>
              </a:endParaRPr>
            </a:p>
            <a:p>
              <a:pPr algn="ct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Customer Demand</a:t>
              </a:r>
            </a:p>
          </p:txBody>
        </p:sp>
      </p:grpSp>
    </p:spTree>
    <p:extLst>
      <p:ext uri="{BB962C8B-B14F-4D97-AF65-F5344CB8AC3E}">
        <p14:creationId xmlns:p14="http://schemas.microsoft.com/office/powerpoint/2010/main" val="357324068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38</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8" name="Group 27">
            <a:extLst>
              <a:ext uri="{FF2B5EF4-FFF2-40B4-BE49-F238E27FC236}">
                <a16:creationId xmlns:a16="http://schemas.microsoft.com/office/drawing/2014/main" id="{9141591B-32EE-A5BE-2F1E-EB9AE2E48F82}"/>
              </a:ext>
            </a:extLst>
          </p:cNvPr>
          <p:cNvGrpSpPr/>
          <p:nvPr/>
        </p:nvGrpSpPr>
        <p:grpSpPr>
          <a:xfrm>
            <a:off x="428263" y="1783431"/>
            <a:ext cx="10994682" cy="4549717"/>
            <a:chOff x="428263" y="1783431"/>
            <a:chExt cx="10994682" cy="4549717"/>
          </a:xfrm>
        </p:grpSpPr>
        <p:grpSp>
          <p:nvGrpSpPr>
            <p:cNvPr id="68" name="Group 67">
              <a:extLst>
                <a:ext uri="{FF2B5EF4-FFF2-40B4-BE49-F238E27FC236}">
                  <a16:creationId xmlns:a16="http://schemas.microsoft.com/office/drawing/2014/main" id="{5CA9CDDD-C2E0-5CFB-FEB7-206152D71E24}"/>
                </a:ext>
              </a:extLst>
            </p:cNvPr>
            <p:cNvGrpSpPr/>
            <p:nvPr/>
          </p:nvGrpSpPr>
          <p:grpSpPr>
            <a:xfrm>
              <a:off x="428263" y="1783431"/>
              <a:ext cx="10994682" cy="4549717"/>
              <a:chOff x="227116" y="1387475"/>
              <a:chExt cx="8600972" cy="4632325"/>
            </a:xfrm>
          </p:grpSpPr>
          <p:sp>
            <p:nvSpPr>
              <p:cNvPr id="12" name="Rectangle 33">
                <a:extLst>
                  <a:ext uri="{FF2B5EF4-FFF2-40B4-BE49-F238E27FC236}">
                    <a16:creationId xmlns:a16="http://schemas.microsoft.com/office/drawing/2014/main" id="{6DFA1E39-0ECF-DCC0-61D7-2159091E9C53}"/>
                  </a:ext>
                </a:extLst>
              </p:cNvPr>
              <p:cNvSpPr>
                <a:spLocks noChangeArrowheads="1"/>
              </p:cNvSpPr>
              <p:nvPr/>
            </p:nvSpPr>
            <p:spPr bwMode="auto">
              <a:xfrm>
                <a:off x="227116" y="1387475"/>
                <a:ext cx="8473972" cy="4632325"/>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grpSp>
            <p:nvGrpSpPr>
              <p:cNvPr id="13" name="Group 3">
                <a:extLst>
                  <a:ext uri="{FF2B5EF4-FFF2-40B4-BE49-F238E27FC236}">
                    <a16:creationId xmlns:a16="http://schemas.microsoft.com/office/drawing/2014/main" id="{4F41A624-2B04-2CDE-56E5-6E0DCFA05A14}"/>
                  </a:ext>
                </a:extLst>
              </p:cNvPr>
              <p:cNvGrpSpPr>
                <a:grpSpLocks/>
              </p:cNvGrpSpPr>
              <p:nvPr/>
            </p:nvGrpSpPr>
            <p:grpSpPr bwMode="auto">
              <a:xfrm>
                <a:off x="7023100" y="2520950"/>
                <a:ext cx="833438" cy="1884363"/>
                <a:chOff x="4424" y="1588"/>
                <a:chExt cx="525" cy="1187"/>
              </a:xfrm>
            </p:grpSpPr>
            <p:sp>
              <p:nvSpPr>
                <p:cNvPr id="14" name="Line 4">
                  <a:extLst>
                    <a:ext uri="{FF2B5EF4-FFF2-40B4-BE49-F238E27FC236}">
                      <a16:creationId xmlns:a16="http://schemas.microsoft.com/office/drawing/2014/main" id="{F0160BB0-9CB9-A1F3-796C-DF3E522B32B7}"/>
                    </a:ext>
                  </a:extLst>
                </p:cNvPr>
                <p:cNvSpPr>
                  <a:spLocks noChangeShapeType="1"/>
                </p:cNvSpPr>
                <p:nvPr/>
              </p:nvSpPr>
              <p:spPr bwMode="auto">
                <a:xfrm flipH="1" flipV="1">
                  <a:off x="4645" y="1588"/>
                  <a:ext cx="1" cy="817"/>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nvGrpSpPr>
                <p:cNvPr id="15" name="Group 5">
                  <a:extLst>
                    <a:ext uri="{FF2B5EF4-FFF2-40B4-BE49-F238E27FC236}">
                      <a16:creationId xmlns:a16="http://schemas.microsoft.com/office/drawing/2014/main" id="{9A5898B6-57E0-F9F1-C2E5-F3DFBF61CF15}"/>
                    </a:ext>
                  </a:extLst>
                </p:cNvPr>
                <p:cNvGrpSpPr>
                  <a:grpSpLocks/>
                </p:cNvGrpSpPr>
                <p:nvPr/>
              </p:nvGrpSpPr>
              <p:grpSpPr bwMode="auto">
                <a:xfrm>
                  <a:off x="4424" y="2385"/>
                  <a:ext cx="525" cy="390"/>
                  <a:chOff x="4424" y="2385"/>
                  <a:chExt cx="525" cy="390"/>
                </a:xfrm>
              </p:grpSpPr>
              <p:grpSp>
                <p:nvGrpSpPr>
                  <p:cNvPr id="16" name="Group 6">
                    <a:extLst>
                      <a:ext uri="{FF2B5EF4-FFF2-40B4-BE49-F238E27FC236}">
                        <a16:creationId xmlns:a16="http://schemas.microsoft.com/office/drawing/2014/main" id="{B4811B16-5522-60AC-3D8F-759BF98E3723}"/>
                      </a:ext>
                    </a:extLst>
                  </p:cNvPr>
                  <p:cNvGrpSpPr>
                    <a:grpSpLocks/>
                  </p:cNvGrpSpPr>
                  <p:nvPr/>
                </p:nvGrpSpPr>
                <p:grpSpPr bwMode="auto">
                  <a:xfrm>
                    <a:off x="4424" y="2410"/>
                    <a:ext cx="525" cy="365"/>
                    <a:chOff x="418" y="2981"/>
                    <a:chExt cx="352" cy="36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8" name="Text Box 9">
                    <a:extLst>
                      <a:ext uri="{FF2B5EF4-FFF2-40B4-BE49-F238E27FC236}">
                        <a16:creationId xmlns:a16="http://schemas.microsoft.com/office/drawing/2014/main" id="{83F5AF63-9963-FCAF-C363-253F23DFD0FF}"/>
                      </a:ext>
                    </a:extLst>
                  </p:cNvPr>
                  <p:cNvSpPr txBox="1">
                    <a:spLocks noChangeArrowheads="1"/>
                  </p:cNvSpPr>
                  <p:nvPr/>
                </p:nvSpPr>
                <p:spPr bwMode="auto">
                  <a:xfrm>
                    <a:off x="4442" y="2385"/>
                    <a:ext cx="492" cy="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Ship</a:t>
                    </a:r>
                  </a:p>
                </p:txBody>
              </p:sp>
            </p:grpSp>
          </p:gr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6940551" y="1939925"/>
                <a:ext cx="806450" cy="552450"/>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sz="800" b="0" dirty="0">
                      <a:solidFill>
                        <a:schemeClr val="tx1"/>
                      </a:solidFill>
                      <a:latin typeface="Roboto" panose="02000000000000000000" pitchFamily="2" charset="0"/>
                      <a:ea typeface="Roboto" panose="02000000000000000000" pitchFamily="2" charset="0"/>
                    </a:rPr>
                    <a:t>Ed</a:t>
                  </a:r>
                  <a:r>
                    <a:rPr lang="ja-JP" altLang="en-US" sz="800" b="0" dirty="0">
                      <a:solidFill>
                        <a:schemeClr val="tx1"/>
                      </a:solidFill>
                      <a:latin typeface="Roboto" panose="02000000000000000000" pitchFamily="2" charset="0"/>
                    </a:rPr>
                    <a:t>’</a:t>
                  </a:r>
                  <a:r>
                    <a:rPr lang="en-US" altLang="ja-JP" sz="800" b="0" dirty="0">
                      <a:solidFill>
                        <a:schemeClr val="tx1"/>
                      </a:solidFill>
                      <a:latin typeface="Roboto" panose="02000000000000000000" pitchFamily="2" charset="0"/>
                      <a:ea typeface="Roboto" panose="02000000000000000000" pitchFamily="2" charset="0"/>
                    </a:rPr>
                    <a:t>s Electrical Supply</a:t>
                  </a:r>
                  <a:endParaRPr lang="en-US" altLang="en-US" sz="800" b="0" dirty="0">
                    <a:solidFill>
                      <a:schemeClr val="tx1"/>
                    </a:solidFill>
                    <a:latin typeface="Roboto" panose="02000000000000000000" pitchFamily="2" charset="0"/>
                    <a:ea typeface="Roboto" panose="02000000000000000000" pitchFamily="2" charset="0"/>
                  </a:endParaRP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3534679" y="1493838"/>
                <a:ext cx="2252443" cy="313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7693025" y="2090738"/>
                <a:ext cx="1135063" cy="47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62" name="Group 24">
                <a:extLst>
                  <a:ext uri="{FF2B5EF4-FFF2-40B4-BE49-F238E27FC236}">
                    <a16:creationId xmlns:a16="http://schemas.microsoft.com/office/drawing/2014/main" id="{04838F35-ACE3-4757-E4A0-E64078ABFC50}"/>
                  </a:ext>
                </a:extLst>
              </p:cNvPr>
              <p:cNvGrpSpPr>
                <a:grpSpLocks/>
              </p:cNvGrpSpPr>
              <p:nvPr/>
            </p:nvGrpSpPr>
            <p:grpSpPr bwMode="auto">
              <a:xfrm>
                <a:off x="7148513" y="3217863"/>
                <a:ext cx="534988" cy="374650"/>
                <a:chOff x="536" y="3744"/>
                <a:chExt cx="415" cy="261"/>
              </a:xfrm>
            </p:grpSpPr>
            <p:sp>
              <p:nvSpPr>
                <p:cNvPr id="64" name="Rectangle 25">
                  <a:extLst>
                    <a:ext uri="{FF2B5EF4-FFF2-40B4-BE49-F238E27FC236}">
                      <a16:creationId xmlns:a16="http://schemas.microsoft.com/office/drawing/2014/main" id="{E4C3FE84-FDC0-8990-3058-394EA8D73D54}"/>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65" name="Rectangle 26">
                  <a:extLst>
                    <a:ext uri="{FF2B5EF4-FFF2-40B4-BE49-F238E27FC236}">
                      <a16:creationId xmlns:a16="http://schemas.microsoft.com/office/drawing/2014/main" id="{86E663C3-30EE-32AC-B1E9-6C8AB2560CA9}"/>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6" name="Oval 27">
                  <a:extLst>
                    <a:ext uri="{FF2B5EF4-FFF2-40B4-BE49-F238E27FC236}">
                      <a16:creationId xmlns:a16="http://schemas.microsoft.com/office/drawing/2014/main" id="{7A1B54E4-5FB9-3271-E29D-ABBE85DC4961}"/>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7" name="Oval 28">
                  <a:extLst>
                    <a:ext uri="{FF2B5EF4-FFF2-40B4-BE49-F238E27FC236}">
                      <a16:creationId xmlns:a16="http://schemas.microsoft.com/office/drawing/2014/main" id="{A87FC8CD-4E0B-4D42-057E-703F3270BC1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spTree>
    <p:extLst>
      <p:ext uri="{BB962C8B-B14F-4D97-AF65-F5344CB8AC3E}">
        <p14:creationId xmlns:p14="http://schemas.microsoft.com/office/powerpoint/2010/main" val="89030274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Mapping the Current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39</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7" y="193413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57667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Takt Time</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7" y="3861757"/>
            <a:ext cx="10174791"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Data Boxes and Inventory Levels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789379"/>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7" y="4504297"/>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Supplier Data</a:t>
            </a:r>
          </a:p>
        </p:txBody>
      </p:sp>
      <p:sp>
        <p:nvSpPr>
          <p:cNvPr id="18" name="Rectangle 17">
            <a:extLst>
              <a:ext uri="{FF2B5EF4-FFF2-40B4-BE49-F238E27FC236}">
                <a16:creationId xmlns:a16="http://schemas.microsoft.com/office/drawing/2014/main" id="{50BBF7A0-ECFA-06CB-A66C-31B4C7516E5E}"/>
              </a:ext>
            </a:extLst>
          </p:cNvPr>
          <p:cNvSpPr>
            <a:spLocks/>
          </p:cNvSpPr>
          <p:nvPr/>
        </p:nvSpPr>
        <p:spPr>
          <a:xfrm>
            <a:off x="940248" y="3219217"/>
            <a:ext cx="10174792"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9" name="Rectangle 18">
            <a:extLst>
              <a:ext uri="{FF2B5EF4-FFF2-40B4-BE49-F238E27FC236}">
                <a16:creationId xmlns:a16="http://schemas.microsoft.com/office/drawing/2014/main" id="{D94E3980-5557-1182-3882-58280A403140}"/>
              </a:ext>
            </a:extLst>
          </p:cNvPr>
          <p:cNvSpPr>
            <a:spLocks/>
          </p:cNvSpPr>
          <p:nvPr/>
        </p:nvSpPr>
        <p:spPr>
          <a:xfrm>
            <a:off x="940248" y="514683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Production Lead Time</a:t>
            </a:r>
          </a:p>
        </p:txBody>
      </p:sp>
    </p:spTree>
    <p:extLst>
      <p:ext uri="{BB962C8B-B14F-4D97-AF65-F5344CB8AC3E}">
        <p14:creationId xmlns:p14="http://schemas.microsoft.com/office/powerpoint/2010/main" val="34818907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What Defines a Process in VSM?</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40</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73" name="Group 72">
            <a:extLst>
              <a:ext uri="{FF2B5EF4-FFF2-40B4-BE49-F238E27FC236}">
                <a16:creationId xmlns:a16="http://schemas.microsoft.com/office/drawing/2014/main" id="{B79DA8F2-E565-C0FA-C019-393DC0B86BED}"/>
              </a:ext>
            </a:extLst>
          </p:cNvPr>
          <p:cNvGrpSpPr/>
          <p:nvPr/>
        </p:nvGrpSpPr>
        <p:grpSpPr>
          <a:xfrm>
            <a:off x="1167527" y="1783431"/>
            <a:ext cx="9856946" cy="4335498"/>
            <a:chOff x="452438" y="1517650"/>
            <a:chExt cx="9174740" cy="3974555"/>
          </a:xfrm>
        </p:grpSpPr>
        <p:sp>
          <p:nvSpPr>
            <p:cNvPr id="28" name="Rectangle 2">
              <a:extLst>
                <a:ext uri="{FF2B5EF4-FFF2-40B4-BE49-F238E27FC236}">
                  <a16:creationId xmlns:a16="http://schemas.microsoft.com/office/drawing/2014/main" id="{B4E76A25-A4C3-3F4C-A601-C532D641ED56}"/>
                </a:ext>
              </a:extLst>
            </p:cNvPr>
            <p:cNvSpPr>
              <a:spLocks noChangeArrowheads="1"/>
            </p:cNvSpPr>
            <p:nvPr/>
          </p:nvSpPr>
          <p:spPr bwMode="auto">
            <a:xfrm>
              <a:off x="452438" y="1651000"/>
              <a:ext cx="5268912" cy="3533775"/>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9" name="Text Box 3">
              <a:extLst>
                <a:ext uri="{FF2B5EF4-FFF2-40B4-BE49-F238E27FC236}">
                  <a16:creationId xmlns:a16="http://schemas.microsoft.com/office/drawing/2014/main" id="{55A657B0-59D6-AC52-E49B-D3D2C48E7798}"/>
                </a:ext>
              </a:extLst>
            </p:cNvPr>
            <p:cNvSpPr txBox="1">
              <a:spLocks noChangeArrowheads="1"/>
            </p:cNvSpPr>
            <p:nvPr/>
          </p:nvSpPr>
          <p:spPr bwMode="auto">
            <a:xfrm>
              <a:off x="528638" y="1517650"/>
              <a:ext cx="3285811" cy="33858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800">
                  <a:solidFill>
                    <a:schemeClr val="tx1"/>
                  </a:solidFill>
                  <a:latin typeface="Roboto" panose="02000000000000000000" pitchFamily="2" charset="0"/>
                  <a:ea typeface="Roboto" panose="02000000000000000000" pitchFamily="2" charset="0"/>
                </a:rPr>
                <a:t>MAPPING VSM PROCESS FLOW</a:t>
              </a:r>
              <a:endParaRPr lang="en-US" altLang="en-US" sz="1400">
                <a:solidFill>
                  <a:schemeClr val="tx1"/>
                </a:solidFill>
                <a:latin typeface="Roboto" panose="02000000000000000000" pitchFamily="2" charset="0"/>
                <a:ea typeface="Roboto" panose="02000000000000000000" pitchFamily="2" charset="0"/>
              </a:endParaRPr>
            </a:p>
          </p:txBody>
        </p:sp>
        <p:sp>
          <p:nvSpPr>
            <p:cNvPr id="30" name="Rectangle 4">
              <a:extLst>
                <a:ext uri="{FF2B5EF4-FFF2-40B4-BE49-F238E27FC236}">
                  <a16:creationId xmlns:a16="http://schemas.microsoft.com/office/drawing/2014/main" id="{F4CAB780-A0EA-4940-F65C-9303DF2F9592}"/>
                </a:ext>
              </a:extLst>
            </p:cNvPr>
            <p:cNvSpPr>
              <a:spLocks noChangeArrowheads="1"/>
            </p:cNvSpPr>
            <p:nvPr/>
          </p:nvSpPr>
          <p:spPr bwMode="auto">
            <a:xfrm>
              <a:off x="5973763" y="1573213"/>
              <a:ext cx="3653415" cy="391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520700" indent="-174625"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50000"/>
                </a:spcBef>
                <a:buClr>
                  <a:schemeClr val="tx1"/>
                </a:buClr>
                <a:buSzPct val="90000"/>
                <a:buFont typeface="Arial" panose="020B0604020202020204" pitchFamily="34" charset="0"/>
                <a:buChar char="•"/>
              </a:pPr>
              <a:r>
                <a:rPr lang="en-US" altLang="en-US" sz="2400" dirty="0">
                  <a:solidFill>
                    <a:schemeClr val="tx1"/>
                  </a:solidFill>
                  <a:latin typeface="Roboto" panose="02000000000000000000" pitchFamily="2" charset="0"/>
                  <a:ea typeface="Roboto" panose="02000000000000000000" pitchFamily="2" charset="0"/>
                </a:rPr>
                <a:t>Processes are delineated wherever flow stops and where inventory has an </a:t>
              </a:r>
              <a:r>
                <a:rPr lang="en-US" altLang="en-US" sz="2400" u="sng" dirty="0">
                  <a:solidFill>
                    <a:schemeClr val="tx1"/>
                  </a:solidFill>
                  <a:latin typeface="Roboto" panose="02000000000000000000" pitchFamily="2" charset="0"/>
                  <a:ea typeface="Roboto" panose="02000000000000000000" pitchFamily="2" charset="0"/>
                </a:rPr>
                <a:t>opportunity</a:t>
              </a:r>
              <a:r>
                <a:rPr lang="en-US" altLang="en-US" sz="2400" dirty="0">
                  <a:solidFill>
                    <a:schemeClr val="tx1"/>
                  </a:solidFill>
                  <a:latin typeface="Roboto" panose="02000000000000000000" pitchFamily="2" charset="0"/>
                  <a:ea typeface="Roboto" panose="02000000000000000000" pitchFamily="2" charset="0"/>
                </a:rPr>
                <a:t> to accumulate</a:t>
              </a:r>
            </a:p>
            <a:p>
              <a:pPr lvl="1" algn="l" eaLnBrk="1" hangingPunct="1">
                <a:lnSpc>
                  <a:spcPct val="100000"/>
                </a:lnSpc>
                <a:spcBef>
                  <a:spcPct val="5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Rule applies even if no inventory is actually observed</a:t>
              </a:r>
            </a:p>
            <a:p>
              <a:pPr marL="285750" indent="-285750" algn="l" eaLnBrk="1" hangingPunct="1">
                <a:lnSpc>
                  <a:spcPct val="100000"/>
                </a:lnSpc>
                <a:spcBef>
                  <a:spcPct val="50000"/>
                </a:spcBef>
                <a:buClr>
                  <a:schemeClr val="tx1"/>
                </a:buClr>
                <a:buSzPct val="90000"/>
                <a:buFont typeface="Arial" panose="020B0604020202020204" pitchFamily="34" charset="0"/>
                <a:buChar char="•"/>
              </a:pPr>
              <a:r>
                <a:rPr lang="en-US" altLang="en-US" sz="2400" dirty="0">
                  <a:solidFill>
                    <a:schemeClr val="tx1"/>
                  </a:solidFill>
                  <a:latin typeface="Roboto" panose="02000000000000000000" pitchFamily="2" charset="0"/>
                  <a:ea typeface="Roboto" panose="02000000000000000000" pitchFamily="2" charset="0"/>
                </a:rPr>
                <a:t>Further breakdown of processes addressed as part of subsequent events</a:t>
              </a:r>
            </a:p>
          </p:txBody>
        </p:sp>
        <p:grpSp>
          <p:nvGrpSpPr>
            <p:cNvPr id="31" name="Group 6">
              <a:extLst>
                <a:ext uri="{FF2B5EF4-FFF2-40B4-BE49-F238E27FC236}">
                  <a16:creationId xmlns:a16="http://schemas.microsoft.com/office/drawing/2014/main" id="{462D3C54-BC0A-33A6-8034-29C69A599535}"/>
                </a:ext>
              </a:extLst>
            </p:cNvPr>
            <p:cNvGrpSpPr>
              <a:grpSpLocks/>
            </p:cNvGrpSpPr>
            <p:nvPr/>
          </p:nvGrpSpPr>
          <p:grpSpPr bwMode="auto">
            <a:xfrm>
              <a:off x="609600" y="2403475"/>
              <a:ext cx="4876800" cy="1758950"/>
              <a:chOff x="336" y="1514"/>
              <a:chExt cx="3072" cy="1108"/>
            </a:xfrm>
          </p:grpSpPr>
          <p:sp>
            <p:nvSpPr>
              <p:cNvPr id="32" name="Line 7">
                <a:extLst>
                  <a:ext uri="{FF2B5EF4-FFF2-40B4-BE49-F238E27FC236}">
                    <a16:creationId xmlns:a16="http://schemas.microsoft.com/office/drawing/2014/main" id="{26752387-9608-E530-E708-04BAB89F9E2B}"/>
                  </a:ext>
                </a:extLst>
              </p:cNvPr>
              <p:cNvSpPr>
                <a:spLocks noChangeShapeType="1"/>
              </p:cNvSpPr>
              <p:nvPr/>
            </p:nvSpPr>
            <p:spPr bwMode="auto">
              <a:xfrm>
                <a:off x="1331" y="2144"/>
                <a:ext cx="1069" cy="15"/>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3" name="AutoShape 8">
                <a:extLst>
                  <a:ext uri="{FF2B5EF4-FFF2-40B4-BE49-F238E27FC236}">
                    <a16:creationId xmlns:a16="http://schemas.microsoft.com/office/drawing/2014/main" id="{FC035530-3EF6-544B-42E3-D11D28213016}"/>
                  </a:ext>
                </a:extLst>
              </p:cNvPr>
              <p:cNvSpPr>
                <a:spLocks noChangeArrowheads="1"/>
              </p:cNvSpPr>
              <p:nvPr/>
            </p:nvSpPr>
            <p:spPr bwMode="auto">
              <a:xfrm>
                <a:off x="1653" y="1779"/>
                <a:ext cx="388" cy="576"/>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a:solidFill>
                      <a:schemeClr val="tx1"/>
                    </a:solidFill>
                    <a:latin typeface="Roboto" panose="02000000000000000000" pitchFamily="2" charset="0"/>
                    <a:ea typeface="Roboto" panose="02000000000000000000" pitchFamily="2" charset="0"/>
                  </a:rPr>
                  <a:t>I</a:t>
                </a:r>
              </a:p>
            </p:txBody>
          </p:sp>
          <p:grpSp>
            <p:nvGrpSpPr>
              <p:cNvPr id="34" name="Group 9">
                <a:extLst>
                  <a:ext uri="{FF2B5EF4-FFF2-40B4-BE49-F238E27FC236}">
                    <a16:creationId xmlns:a16="http://schemas.microsoft.com/office/drawing/2014/main" id="{235128BD-D0A9-1C71-EE84-9570E0E7EE2E}"/>
                  </a:ext>
                </a:extLst>
              </p:cNvPr>
              <p:cNvGrpSpPr>
                <a:grpSpLocks/>
              </p:cNvGrpSpPr>
              <p:nvPr/>
            </p:nvGrpSpPr>
            <p:grpSpPr bwMode="auto">
              <a:xfrm>
                <a:off x="336" y="1528"/>
                <a:ext cx="969" cy="1085"/>
                <a:chOff x="418" y="2981"/>
                <a:chExt cx="352" cy="365"/>
              </a:xfrm>
            </p:grpSpPr>
            <p:sp>
              <p:nvSpPr>
                <p:cNvPr id="71" name="Rectangle 10">
                  <a:extLst>
                    <a:ext uri="{FF2B5EF4-FFF2-40B4-BE49-F238E27FC236}">
                      <a16:creationId xmlns:a16="http://schemas.microsoft.com/office/drawing/2014/main" id="{7820D1D5-042A-DE90-900A-F18122C15CC9}"/>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2" name="Line 11">
                  <a:extLst>
                    <a:ext uri="{FF2B5EF4-FFF2-40B4-BE49-F238E27FC236}">
                      <a16:creationId xmlns:a16="http://schemas.microsoft.com/office/drawing/2014/main" id="{9E6D7093-C0B9-59B3-D067-190277E142A9}"/>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5" name="Group 12">
                <a:extLst>
                  <a:ext uri="{FF2B5EF4-FFF2-40B4-BE49-F238E27FC236}">
                    <a16:creationId xmlns:a16="http://schemas.microsoft.com/office/drawing/2014/main" id="{DB33B55B-412F-F3A9-AA12-ADBF02F9594E}"/>
                  </a:ext>
                </a:extLst>
              </p:cNvPr>
              <p:cNvGrpSpPr>
                <a:grpSpLocks/>
              </p:cNvGrpSpPr>
              <p:nvPr/>
            </p:nvGrpSpPr>
            <p:grpSpPr bwMode="auto">
              <a:xfrm flipV="1">
                <a:off x="548" y="2096"/>
                <a:ext cx="214" cy="333"/>
                <a:chOff x="720" y="3354"/>
                <a:chExt cx="192" cy="198"/>
              </a:xfrm>
            </p:grpSpPr>
            <p:sp>
              <p:nvSpPr>
                <p:cNvPr id="69" name="Oval 13">
                  <a:extLst>
                    <a:ext uri="{FF2B5EF4-FFF2-40B4-BE49-F238E27FC236}">
                      <a16:creationId xmlns:a16="http://schemas.microsoft.com/office/drawing/2014/main" id="{0A8ABAD0-868D-6058-2CBE-4B2D8E604C33}"/>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0" name="AutoShape 14">
                  <a:extLst>
                    <a:ext uri="{FF2B5EF4-FFF2-40B4-BE49-F238E27FC236}">
                      <a16:creationId xmlns:a16="http://schemas.microsoft.com/office/drawing/2014/main" id="{78CAB16A-896E-C66B-D457-BF203A0C24C2}"/>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
            <p:nvSpPr>
              <p:cNvPr id="36" name="Text Box 15">
                <a:extLst>
                  <a:ext uri="{FF2B5EF4-FFF2-40B4-BE49-F238E27FC236}">
                    <a16:creationId xmlns:a16="http://schemas.microsoft.com/office/drawing/2014/main" id="{884F4747-4B60-82D6-DC27-49055607DD25}"/>
                  </a:ext>
                </a:extLst>
              </p:cNvPr>
              <p:cNvSpPr txBox="1">
                <a:spLocks noChangeArrowheads="1"/>
              </p:cNvSpPr>
              <p:nvPr/>
            </p:nvSpPr>
            <p:spPr bwMode="auto">
              <a:xfrm>
                <a:off x="800" y="2150"/>
                <a:ext cx="31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b="0">
                    <a:solidFill>
                      <a:schemeClr val="tx1"/>
                    </a:solidFill>
                    <a:latin typeface="Roboto" panose="02000000000000000000" pitchFamily="2" charset="0"/>
                    <a:ea typeface="Roboto" panose="02000000000000000000" pitchFamily="2" charset="0"/>
                  </a:rPr>
                  <a:t>= 3</a:t>
                </a:r>
              </a:p>
            </p:txBody>
          </p:sp>
          <p:sp>
            <p:nvSpPr>
              <p:cNvPr id="37" name="Text Box 16">
                <a:extLst>
                  <a:ext uri="{FF2B5EF4-FFF2-40B4-BE49-F238E27FC236}">
                    <a16:creationId xmlns:a16="http://schemas.microsoft.com/office/drawing/2014/main" id="{F56C4745-2A8B-4202-C504-FF97D1C89166}"/>
                  </a:ext>
                </a:extLst>
              </p:cNvPr>
              <p:cNvSpPr txBox="1">
                <a:spLocks noChangeArrowheads="1"/>
              </p:cNvSpPr>
              <p:nvPr/>
            </p:nvSpPr>
            <p:spPr bwMode="auto">
              <a:xfrm>
                <a:off x="369" y="1574"/>
                <a:ext cx="90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b="0">
                    <a:solidFill>
                      <a:schemeClr val="tx1"/>
                    </a:solidFill>
                    <a:latin typeface="Roboto" panose="02000000000000000000" pitchFamily="2" charset="0"/>
                    <a:ea typeface="Roboto" panose="02000000000000000000" pitchFamily="2" charset="0"/>
                  </a:rPr>
                  <a:t>Process 1</a:t>
                </a:r>
              </a:p>
            </p:txBody>
          </p:sp>
          <p:grpSp>
            <p:nvGrpSpPr>
              <p:cNvPr id="38" name="Group 17">
                <a:extLst>
                  <a:ext uri="{FF2B5EF4-FFF2-40B4-BE49-F238E27FC236}">
                    <a16:creationId xmlns:a16="http://schemas.microsoft.com/office/drawing/2014/main" id="{D7D2F24C-10A8-9D6D-3D98-713232B7B88E}"/>
                  </a:ext>
                </a:extLst>
              </p:cNvPr>
              <p:cNvGrpSpPr>
                <a:grpSpLocks/>
              </p:cNvGrpSpPr>
              <p:nvPr/>
            </p:nvGrpSpPr>
            <p:grpSpPr bwMode="auto">
              <a:xfrm>
                <a:off x="2439" y="1514"/>
                <a:ext cx="969" cy="1085"/>
                <a:chOff x="418" y="2981"/>
                <a:chExt cx="352" cy="365"/>
              </a:xfrm>
            </p:grpSpPr>
            <p:sp>
              <p:nvSpPr>
                <p:cNvPr id="45" name="Rectangle 18">
                  <a:extLst>
                    <a:ext uri="{FF2B5EF4-FFF2-40B4-BE49-F238E27FC236}">
                      <a16:creationId xmlns:a16="http://schemas.microsoft.com/office/drawing/2014/main" id="{5D8CE27C-2092-8FC3-44E3-0980E587100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6" name="Line 19">
                  <a:extLst>
                    <a:ext uri="{FF2B5EF4-FFF2-40B4-BE49-F238E27FC236}">
                      <a16:creationId xmlns:a16="http://schemas.microsoft.com/office/drawing/2014/main" id="{59944E41-B0F9-1F57-1ECE-07D8DB83ADC7}"/>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9" name="Group 20">
                <a:extLst>
                  <a:ext uri="{FF2B5EF4-FFF2-40B4-BE49-F238E27FC236}">
                    <a16:creationId xmlns:a16="http://schemas.microsoft.com/office/drawing/2014/main" id="{7118D564-6723-066F-B0C1-FB7AA8B66A60}"/>
                  </a:ext>
                </a:extLst>
              </p:cNvPr>
              <p:cNvGrpSpPr>
                <a:grpSpLocks/>
              </p:cNvGrpSpPr>
              <p:nvPr/>
            </p:nvGrpSpPr>
            <p:grpSpPr bwMode="auto">
              <a:xfrm flipV="1">
                <a:off x="2651" y="2082"/>
                <a:ext cx="214" cy="333"/>
                <a:chOff x="720" y="3354"/>
                <a:chExt cx="192" cy="198"/>
              </a:xfrm>
            </p:grpSpPr>
            <p:sp>
              <p:nvSpPr>
                <p:cNvPr id="43" name="Oval 21">
                  <a:extLst>
                    <a:ext uri="{FF2B5EF4-FFF2-40B4-BE49-F238E27FC236}">
                      <a16:creationId xmlns:a16="http://schemas.microsoft.com/office/drawing/2014/main" id="{95A28CF9-BCE7-6433-BF3F-5047644E9A7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4" name="AutoShape 22">
                  <a:extLst>
                    <a:ext uri="{FF2B5EF4-FFF2-40B4-BE49-F238E27FC236}">
                      <a16:creationId xmlns:a16="http://schemas.microsoft.com/office/drawing/2014/main" id="{537C1311-9503-9463-BDA6-A2523539F63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
            <p:nvSpPr>
              <p:cNvPr id="40" name="Text Box 23">
                <a:extLst>
                  <a:ext uri="{FF2B5EF4-FFF2-40B4-BE49-F238E27FC236}">
                    <a16:creationId xmlns:a16="http://schemas.microsoft.com/office/drawing/2014/main" id="{6C062A9E-7455-A4FE-3B5A-6D1C6B49670B}"/>
                  </a:ext>
                </a:extLst>
              </p:cNvPr>
              <p:cNvSpPr txBox="1">
                <a:spLocks noChangeArrowheads="1"/>
              </p:cNvSpPr>
              <p:nvPr/>
            </p:nvSpPr>
            <p:spPr bwMode="auto">
              <a:xfrm>
                <a:off x="2903" y="2150"/>
                <a:ext cx="31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b="0">
                    <a:solidFill>
                      <a:schemeClr val="tx1"/>
                    </a:solidFill>
                    <a:latin typeface="Roboto" panose="02000000000000000000" pitchFamily="2" charset="0"/>
                    <a:ea typeface="Roboto" panose="02000000000000000000" pitchFamily="2" charset="0"/>
                  </a:rPr>
                  <a:t>= 2</a:t>
                </a:r>
              </a:p>
            </p:txBody>
          </p:sp>
          <p:sp>
            <p:nvSpPr>
              <p:cNvPr id="41" name="Text Box 24">
                <a:extLst>
                  <a:ext uri="{FF2B5EF4-FFF2-40B4-BE49-F238E27FC236}">
                    <a16:creationId xmlns:a16="http://schemas.microsoft.com/office/drawing/2014/main" id="{3EB2C597-856A-25FA-9F8F-AF831079AE02}"/>
                  </a:ext>
                </a:extLst>
              </p:cNvPr>
              <p:cNvSpPr txBox="1">
                <a:spLocks noChangeArrowheads="1"/>
              </p:cNvSpPr>
              <p:nvPr/>
            </p:nvSpPr>
            <p:spPr bwMode="auto">
              <a:xfrm>
                <a:off x="2472" y="1574"/>
                <a:ext cx="90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2000" b="0">
                    <a:solidFill>
                      <a:schemeClr val="tx1"/>
                    </a:solidFill>
                    <a:latin typeface="Roboto" panose="02000000000000000000" pitchFamily="2" charset="0"/>
                    <a:ea typeface="Roboto" panose="02000000000000000000" pitchFamily="2" charset="0"/>
                  </a:rPr>
                  <a:t>Process 2</a:t>
                </a:r>
              </a:p>
            </p:txBody>
          </p:sp>
          <p:sp>
            <p:nvSpPr>
              <p:cNvPr id="42" name="Rectangle 25">
                <a:extLst>
                  <a:ext uri="{FF2B5EF4-FFF2-40B4-BE49-F238E27FC236}">
                    <a16:creationId xmlns:a16="http://schemas.microsoft.com/office/drawing/2014/main" id="{B171B4AF-2994-AB71-EC09-A2A707189B7C}"/>
                  </a:ext>
                </a:extLst>
              </p:cNvPr>
              <p:cNvSpPr>
                <a:spLocks noChangeArrowheads="1"/>
              </p:cNvSpPr>
              <p:nvPr/>
            </p:nvSpPr>
            <p:spPr bwMode="auto">
              <a:xfrm>
                <a:off x="1431" y="2391"/>
                <a:ext cx="82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2000" b="0" dirty="0">
                    <a:solidFill>
                      <a:schemeClr val="accent1"/>
                    </a:solidFill>
                    <a:latin typeface="Roboto" panose="02000000000000000000" pitchFamily="2" charset="0"/>
                    <a:ea typeface="Roboto" panose="02000000000000000000" pitchFamily="2" charset="0"/>
                  </a:rPr>
                  <a:t>xxx Pieces</a:t>
                </a:r>
              </a:p>
            </p:txBody>
          </p:sp>
        </p:grpSp>
      </p:grpSp>
    </p:spTree>
    <p:extLst>
      <p:ext uri="{BB962C8B-B14F-4D97-AF65-F5344CB8AC3E}">
        <p14:creationId xmlns:p14="http://schemas.microsoft.com/office/powerpoint/2010/main" val="300941156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41</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892434" cy="1961534"/>
            <a:chOff x="479425" y="1538288"/>
            <a:chExt cx="8256588" cy="1811337"/>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864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Ship</a:t>
              </a:r>
            </a:p>
            <a:p>
              <a:pPr lvl="1" eaLnBrk="1" hangingPunct="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Daily orders are shipped daily by truck</a:t>
              </a: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flipV="1">
              <a:off x="4102042" y="2168524"/>
              <a:ext cx="2748021" cy="12906"/>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Ship</a:t>
              </a:r>
              <a:endParaRPr lang="en-US" altLang="en-US" sz="1200" dirty="0">
                <a:latin typeface="Roboto" panose="02000000000000000000" pitchFamily="2" charset="0"/>
                <a:ea typeface="Roboto" panose="02000000000000000000" pitchFamily="2" charset="0"/>
              </a:endParaRPr>
            </a:p>
          </p:txBody>
        </p:sp>
      </p:gr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Tree>
    <p:extLst>
      <p:ext uri="{BB962C8B-B14F-4D97-AF65-F5344CB8AC3E}">
        <p14:creationId xmlns:p14="http://schemas.microsoft.com/office/powerpoint/2010/main" val="313303555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42</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892434" cy="1961534"/>
            <a:chOff x="479425" y="1538288"/>
            <a:chExt cx="8256588" cy="1811337"/>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112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Production Process – Brake Form</a:t>
              </a:r>
            </a:p>
            <a:p>
              <a:pPr lvl="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Stamped pieces are formed into enclosures using a </a:t>
              </a:r>
              <a:r>
                <a:rPr lang="en-US" altLang="en-US" dirty="0">
                  <a:solidFill>
                    <a:schemeClr val="accent1"/>
                  </a:solidFill>
                  <a:latin typeface="Roboto" panose="02000000000000000000" pitchFamily="2" charset="0"/>
                  <a:ea typeface="Roboto" panose="02000000000000000000" pitchFamily="2" charset="0"/>
                </a:rPr>
                <a:t>brake form</a:t>
              </a: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flipV="1">
              <a:off x="2127283" y="2186528"/>
              <a:ext cx="4867241" cy="325040"/>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Brake Form</a:t>
              </a:r>
              <a:endParaRPr lang="en-US" altLang="en-US" sz="1200" dirty="0">
                <a:latin typeface="Roboto" panose="02000000000000000000" pitchFamily="2" charset="0"/>
                <a:ea typeface="Roboto" panose="02000000000000000000" pitchFamily="2" charset="0"/>
              </a:endParaRPr>
            </a:p>
          </p:txBody>
        </p:sp>
      </p:gr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Tree>
    <p:extLst>
      <p:ext uri="{BB962C8B-B14F-4D97-AF65-F5344CB8AC3E}">
        <p14:creationId xmlns:p14="http://schemas.microsoft.com/office/powerpoint/2010/main" val="113298063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43</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892434" cy="1961534"/>
            <a:chOff x="479425" y="1538288"/>
            <a:chExt cx="8256588" cy="1811337"/>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16147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Production Process - </a:t>
              </a:r>
              <a:r>
                <a:rPr lang="en-US" altLang="en-US" sz="1800" dirty="0">
                  <a:solidFill>
                    <a:schemeClr val="accent1"/>
                  </a:solidFill>
                  <a:latin typeface="Roboto" panose="02000000000000000000" pitchFamily="2" charset="0"/>
                  <a:ea typeface="Roboto" panose="02000000000000000000" pitchFamily="2" charset="0"/>
                </a:rPr>
                <a:t>Stamp</a:t>
              </a:r>
            </a:p>
            <a:p>
              <a:pPr lvl="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Cut sheet metal pieces are stamped by machine to add features such as holes, slots and bend tabs</a:t>
              </a:r>
            </a:p>
            <a:p>
              <a:pPr lvl="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There is a single stamping press</a:t>
              </a:r>
              <a:endParaRPr lang="en-US" altLang="en-US" sz="200" dirty="0">
                <a:latin typeface="Roboto" panose="02000000000000000000" pitchFamily="2" charset="0"/>
                <a:ea typeface="Roboto" panose="02000000000000000000" pitchFamily="2" charset="0"/>
              </a:endParaRP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a:off x="3224371" y="1827473"/>
              <a:ext cx="3625692" cy="341051"/>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Stamp</a:t>
              </a:r>
              <a:endParaRPr lang="en-US" altLang="en-US" sz="1200" dirty="0">
                <a:latin typeface="Roboto" panose="02000000000000000000" pitchFamily="2" charset="0"/>
                <a:ea typeface="Roboto" panose="02000000000000000000" pitchFamily="2" charset="0"/>
              </a:endParaRPr>
            </a:p>
          </p:txBody>
        </p:sp>
      </p:gr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Tree>
    <p:extLst>
      <p:ext uri="{BB962C8B-B14F-4D97-AF65-F5344CB8AC3E}">
        <p14:creationId xmlns:p14="http://schemas.microsoft.com/office/powerpoint/2010/main" val="419723985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44</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892434" cy="1961534"/>
            <a:chOff x="479425" y="1538288"/>
            <a:chExt cx="8256588" cy="1811337"/>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112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Production Process - </a:t>
              </a:r>
              <a:r>
                <a:rPr lang="en-US" altLang="en-US" sz="1800" dirty="0">
                  <a:solidFill>
                    <a:schemeClr val="accent1"/>
                  </a:solidFill>
                  <a:latin typeface="Roboto" panose="02000000000000000000" pitchFamily="2" charset="0"/>
                  <a:ea typeface="Roboto" panose="02000000000000000000" pitchFamily="2" charset="0"/>
                </a:rPr>
                <a:t>Cut</a:t>
              </a:r>
            </a:p>
            <a:p>
              <a:pPr lvl="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Purchased sheets of aluminum are cut to size in the cutting department</a:t>
              </a: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a:off x="3224371" y="1827473"/>
              <a:ext cx="3625692" cy="341051"/>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Cut</a:t>
              </a:r>
              <a:endParaRPr lang="en-US" altLang="en-US" sz="1200" dirty="0">
                <a:latin typeface="Roboto" panose="02000000000000000000" pitchFamily="2" charset="0"/>
                <a:ea typeface="Roboto" panose="02000000000000000000" pitchFamily="2" charset="0"/>
              </a:endParaRPr>
            </a:p>
          </p:txBody>
        </p:sp>
      </p:gr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Tree>
    <p:extLst>
      <p:ext uri="{BB962C8B-B14F-4D97-AF65-F5344CB8AC3E}">
        <p14:creationId xmlns:p14="http://schemas.microsoft.com/office/powerpoint/2010/main" val="307346590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45</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sz="800" b="0" dirty="0">
                    <a:solidFill>
                      <a:schemeClr val="tx1"/>
                    </a:solidFill>
                    <a:latin typeface="Roboto" panose="02000000000000000000" pitchFamily="2" charset="0"/>
                    <a:ea typeface="Roboto" panose="02000000000000000000" pitchFamily="2" charset="0"/>
                  </a:rPr>
                  <a:t>Ed</a:t>
                </a:r>
                <a:r>
                  <a:rPr lang="ja-JP" altLang="en-US" sz="800" b="0" dirty="0">
                    <a:solidFill>
                      <a:schemeClr val="tx1"/>
                    </a:solidFill>
                    <a:latin typeface="Roboto" panose="02000000000000000000" pitchFamily="2" charset="0"/>
                  </a:rPr>
                  <a:t>’</a:t>
                </a:r>
                <a:r>
                  <a:rPr lang="en-US" altLang="ja-JP" sz="800" b="0" dirty="0">
                    <a:solidFill>
                      <a:schemeClr val="tx1"/>
                    </a:solidFill>
                    <a:latin typeface="Roboto" panose="02000000000000000000" pitchFamily="2" charset="0"/>
                    <a:ea typeface="Roboto" panose="02000000000000000000" pitchFamily="2" charset="0"/>
                  </a:rPr>
                  <a:t>s Electrical Supply</a:t>
                </a:r>
                <a:endParaRPr lang="en-US" altLang="en-US" sz="800" b="0" dirty="0">
                  <a:solidFill>
                    <a:schemeClr val="tx1"/>
                  </a:solidFill>
                  <a:latin typeface="Roboto" panose="02000000000000000000" pitchFamily="2" charset="0"/>
                  <a:ea typeface="Roboto" panose="02000000000000000000" pitchFamily="2" charset="0"/>
                </a:endParaRP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spTree>
    <p:extLst>
      <p:ext uri="{BB962C8B-B14F-4D97-AF65-F5344CB8AC3E}">
        <p14:creationId xmlns:p14="http://schemas.microsoft.com/office/powerpoint/2010/main" val="304616801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Mapping the Current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46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7" y="193413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57667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Takt Time</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7" y="3861757"/>
            <a:ext cx="10174791"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Data Boxes and Inventory Levels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789379"/>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7" y="4504297"/>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Supplier Data</a:t>
            </a:r>
          </a:p>
        </p:txBody>
      </p:sp>
      <p:sp>
        <p:nvSpPr>
          <p:cNvPr id="18" name="Rectangle 17">
            <a:extLst>
              <a:ext uri="{FF2B5EF4-FFF2-40B4-BE49-F238E27FC236}">
                <a16:creationId xmlns:a16="http://schemas.microsoft.com/office/drawing/2014/main" id="{50BBF7A0-ECFA-06CB-A66C-31B4C7516E5E}"/>
              </a:ext>
            </a:extLst>
          </p:cNvPr>
          <p:cNvSpPr>
            <a:spLocks/>
          </p:cNvSpPr>
          <p:nvPr/>
        </p:nvSpPr>
        <p:spPr>
          <a:xfrm>
            <a:off x="940248" y="321921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9" name="Rectangle 18">
            <a:extLst>
              <a:ext uri="{FF2B5EF4-FFF2-40B4-BE49-F238E27FC236}">
                <a16:creationId xmlns:a16="http://schemas.microsoft.com/office/drawing/2014/main" id="{D94E3980-5557-1182-3882-58280A403140}"/>
              </a:ext>
            </a:extLst>
          </p:cNvPr>
          <p:cNvSpPr>
            <a:spLocks/>
          </p:cNvSpPr>
          <p:nvPr/>
        </p:nvSpPr>
        <p:spPr>
          <a:xfrm>
            <a:off x="940248" y="514683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Production Lead Time</a:t>
            </a:r>
          </a:p>
        </p:txBody>
      </p:sp>
    </p:spTree>
    <p:extLst>
      <p:ext uri="{BB962C8B-B14F-4D97-AF65-F5344CB8AC3E}">
        <p14:creationId xmlns:p14="http://schemas.microsoft.com/office/powerpoint/2010/main" val="219900774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Drop Off Interval (DOI)</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47</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84" name="Group 83">
            <a:extLst>
              <a:ext uri="{FF2B5EF4-FFF2-40B4-BE49-F238E27FC236}">
                <a16:creationId xmlns:a16="http://schemas.microsoft.com/office/drawing/2014/main" id="{99050188-03A8-BA4F-05FC-0AC6CF4D9786}"/>
              </a:ext>
            </a:extLst>
          </p:cNvPr>
          <p:cNvGrpSpPr/>
          <p:nvPr/>
        </p:nvGrpSpPr>
        <p:grpSpPr>
          <a:xfrm>
            <a:off x="1063784" y="2096599"/>
            <a:ext cx="10064432" cy="3830637"/>
            <a:chOff x="420688" y="1573213"/>
            <a:chExt cx="8297862" cy="3830637"/>
          </a:xfrm>
        </p:grpSpPr>
        <p:sp>
          <p:nvSpPr>
            <p:cNvPr id="14" name="Rectangle 2">
              <a:extLst>
                <a:ext uri="{FF2B5EF4-FFF2-40B4-BE49-F238E27FC236}">
                  <a16:creationId xmlns:a16="http://schemas.microsoft.com/office/drawing/2014/main" id="{FC5F151B-6146-4E97-CF10-67D9F139FF7F}"/>
                </a:ext>
              </a:extLst>
            </p:cNvPr>
            <p:cNvSpPr>
              <a:spLocks noChangeArrowheads="1"/>
            </p:cNvSpPr>
            <p:nvPr/>
          </p:nvSpPr>
          <p:spPr bwMode="auto">
            <a:xfrm>
              <a:off x="479425" y="1752600"/>
              <a:ext cx="4414838" cy="320198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5" name="Text Box 3">
              <a:extLst>
                <a:ext uri="{FF2B5EF4-FFF2-40B4-BE49-F238E27FC236}">
                  <a16:creationId xmlns:a16="http://schemas.microsoft.com/office/drawing/2014/main" id="{9B8AFE3E-A95C-0683-B00B-4B18050D9018}"/>
                </a:ext>
              </a:extLst>
            </p:cNvPr>
            <p:cNvSpPr txBox="1">
              <a:spLocks noChangeArrowheads="1"/>
            </p:cNvSpPr>
            <p:nvPr/>
          </p:nvSpPr>
          <p:spPr bwMode="auto">
            <a:xfrm>
              <a:off x="590550" y="1573213"/>
              <a:ext cx="1875835" cy="3693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800" dirty="0">
                  <a:solidFill>
                    <a:schemeClr val="tx1"/>
                  </a:solidFill>
                  <a:latin typeface="Roboto" panose="02000000000000000000" pitchFamily="2" charset="0"/>
                  <a:ea typeface="Roboto" panose="02000000000000000000" pitchFamily="2" charset="0"/>
                </a:rPr>
                <a:t>DOI Observation</a:t>
              </a:r>
            </a:p>
          </p:txBody>
        </p:sp>
        <p:sp>
          <p:nvSpPr>
            <p:cNvPr id="16" name="Rectangle 4">
              <a:extLst>
                <a:ext uri="{FF2B5EF4-FFF2-40B4-BE49-F238E27FC236}">
                  <a16:creationId xmlns:a16="http://schemas.microsoft.com/office/drawing/2014/main" id="{6A65C644-EFEE-B468-A8FC-2A55B3596E66}"/>
                </a:ext>
              </a:extLst>
            </p:cNvPr>
            <p:cNvSpPr>
              <a:spLocks noChangeArrowheads="1"/>
            </p:cNvSpPr>
            <p:nvPr/>
          </p:nvSpPr>
          <p:spPr bwMode="auto">
            <a:xfrm>
              <a:off x="5434013" y="1704975"/>
              <a:ext cx="3268662" cy="307975"/>
            </a:xfrm>
            <a:prstGeom prst="rect">
              <a:avLst/>
            </a:prstGeom>
            <a:solidFill>
              <a:schemeClr val="accent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dirty="0">
                  <a:latin typeface="Roboto" panose="02000000000000000000" pitchFamily="2" charset="0"/>
                  <a:ea typeface="Roboto" panose="02000000000000000000" pitchFamily="2" charset="0"/>
                </a:rPr>
                <a:t>DOI Definition</a:t>
              </a:r>
            </a:p>
          </p:txBody>
        </p:sp>
        <p:sp>
          <p:nvSpPr>
            <p:cNvPr id="17" name="Rectangle 5">
              <a:extLst>
                <a:ext uri="{FF2B5EF4-FFF2-40B4-BE49-F238E27FC236}">
                  <a16:creationId xmlns:a16="http://schemas.microsoft.com/office/drawing/2014/main" id="{EE5527FC-820A-FB2B-0B61-63705681FB3C}"/>
                </a:ext>
              </a:extLst>
            </p:cNvPr>
            <p:cNvSpPr>
              <a:spLocks noChangeArrowheads="1"/>
            </p:cNvSpPr>
            <p:nvPr/>
          </p:nvSpPr>
          <p:spPr bwMode="auto">
            <a:xfrm>
              <a:off x="5434013" y="3852863"/>
              <a:ext cx="3282950" cy="307975"/>
            </a:xfrm>
            <a:prstGeom prst="rect">
              <a:avLst/>
            </a:prstGeom>
            <a:solidFill>
              <a:schemeClr val="accent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Note on DOI</a:t>
              </a:r>
            </a:p>
          </p:txBody>
        </p:sp>
        <p:sp>
          <p:nvSpPr>
            <p:cNvPr id="18" name="Rectangle 6">
              <a:extLst>
                <a:ext uri="{FF2B5EF4-FFF2-40B4-BE49-F238E27FC236}">
                  <a16:creationId xmlns:a16="http://schemas.microsoft.com/office/drawing/2014/main" id="{C028568D-4669-6968-94BA-2DA0DE6BAB53}"/>
                </a:ext>
              </a:extLst>
            </p:cNvPr>
            <p:cNvSpPr>
              <a:spLocks noChangeArrowheads="1"/>
            </p:cNvSpPr>
            <p:nvPr/>
          </p:nvSpPr>
          <p:spPr bwMode="auto">
            <a:xfrm>
              <a:off x="5340350" y="2058988"/>
              <a:ext cx="337661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The frequency with which a single product or service  </a:t>
              </a:r>
              <a:r>
                <a:rPr lang="ja-JP" altLang="en-US" sz="1600" dirty="0">
                  <a:solidFill>
                    <a:schemeClr val="tx1"/>
                  </a:solidFill>
                  <a:latin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rPr>
                <a:t>drops off</a:t>
              </a:r>
              <a:r>
                <a:rPr lang="ja-JP" altLang="en-US" sz="1600" dirty="0">
                  <a:solidFill>
                    <a:schemeClr val="tx1"/>
                  </a:solidFill>
                  <a:latin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rPr>
                <a:t> from the end of a process</a:t>
              </a:r>
            </a:p>
            <a:p>
              <a:pPr algn="l" eaLnBrk="1" hangingPunct="1">
                <a:lnSpc>
                  <a:spcPct val="100000"/>
                </a:lnSpc>
                <a:spcBef>
                  <a:spcPct val="30000"/>
                </a:spcBef>
                <a:buClr>
                  <a:schemeClr val="tx1"/>
                </a:buClr>
                <a:buSzPct val="90000"/>
                <a:buFont typeface="Arial" panose="020B0604020202020204" pitchFamily="34" charset="0"/>
                <a:buChar char="•"/>
              </a:pPr>
              <a:endParaRPr lang="en-US" altLang="en-US" sz="1600" dirty="0">
                <a:solidFill>
                  <a:schemeClr val="tx1"/>
                </a:solidFill>
                <a:latin typeface="Roboto" panose="02000000000000000000" pitchFamily="2" charset="0"/>
                <a:ea typeface="Roboto" panose="02000000000000000000" pitchFamily="2" charset="0"/>
              </a:endParaRPr>
            </a:p>
          </p:txBody>
        </p:sp>
        <p:cxnSp>
          <p:nvCxnSpPr>
            <p:cNvPr id="19" name="AutoShape 7">
              <a:extLst>
                <a:ext uri="{FF2B5EF4-FFF2-40B4-BE49-F238E27FC236}">
                  <a16:creationId xmlns:a16="http://schemas.microsoft.com/office/drawing/2014/main" id="{FFA2ABFB-9C39-D644-0A8D-756330B59F65}"/>
                </a:ext>
              </a:extLst>
            </p:cNvPr>
            <p:cNvCxnSpPr>
              <a:cxnSpLocks noChangeShapeType="1"/>
              <a:stCxn id="14" idx="3"/>
              <a:endCxn id="16" idx="1"/>
            </p:cNvCxnSpPr>
            <p:nvPr/>
          </p:nvCxnSpPr>
          <p:spPr bwMode="auto">
            <a:xfrm flipV="1">
              <a:off x="4903788" y="1858963"/>
              <a:ext cx="530225" cy="1495425"/>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0" name="AutoShape 8">
              <a:extLst>
                <a:ext uri="{FF2B5EF4-FFF2-40B4-BE49-F238E27FC236}">
                  <a16:creationId xmlns:a16="http://schemas.microsoft.com/office/drawing/2014/main" id="{6026B8A5-FCD2-1B41-C9ED-047CEF47E394}"/>
                </a:ext>
              </a:extLst>
            </p:cNvPr>
            <p:cNvCxnSpPr>
              <a:cxnSpLocks noChangeShapeType="1"/>
              <a:stCxn id="14" idx="3"/>
              <a:endCxn id="17" idx="1"/>
            </p:cNvCxnSpPr>
            <p:nvPr/>
          </p:nvCxnSpPr>
          <p:spPr bwMode="auto">
            <a:xfrm>
              <a:off x="4903788" y="3354388"/>
              <a:ext cx="530225" cy="65246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Rectangle 9">
              <a:extLst>
                <a:ext uri="{FF2B5EF4-FFF2-40B4-BE49-F238E27FC236}">
                  <a16:creationId xmlns:a16="http://schemas.microsoft.com/office/drawing/2014/main" id="{2381CEDA-0749-0A73-1793-838B40F2A872}"/>
                </a:ext>
              </a:extLst>
            </p:cNvPr>
            <p:cNvSpPr>
              <a:spLocks noChangeArrowheads="1"/>
            </p:cNvSpPr>
            <p:nvPr/>
          </p:nvSpPr>
          <p:spPr bwMode="auto">
            <a:xfrm>
              <a:off x="5341938" y="4187825"/>
              <a:ext cx="33766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DOI is ideally </a:t>
              </a:r>
              <a:r>
                <a:rPr lang="en-US" altLang="en-US" sz="1600" u="sng" dirty="0">
                  <a:solidFill>
                    <a:schemeClr val="tx1"/>
                  </a:solidFill>
                  <a:latin typeface="Roboto" panose="02000000000000000000" pitchFamily="2" charset="0"/>
                  <a:ea typeface="Roboto" panose="02000000000000000000" pitchFamily="2" charset="0"/>
                </a:rPr>
                <a:t>observed</a:t>
              </a:r>
              <a:r>
                <a:rPr lang="en-US" altLang="en-US" sz="1600" dirty="0">
                  <a:solidFill>
                    <a:schemeClr val="tx1"/>
                  </a:solidFill>
                  <a:latin typeface="Roboto" panose="02000000000000000000" pitchFamily="2" charset="0"/>
                  <a:ea typeface="Roboto" panose="02000000000000000000" pitchFamily="2" charset="0"/>
                </a:rPr>
                <a:t>, not calculated</a:t>
              </a:r>
            </a:p>
            <a:p>
              <a:pPr algn="l" eaLnBrk="1" hangingPunct="1">
                <a:lnSpc>
                  <a:spcPct val="100000"/>
                </a:lnSpc>
                <a:spcBef>
                  <a:spcPct val="3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If DOI can</a:t>
              </a:r>
              <a:r>
                <a:rPr lang="ja-JP" altLang="en-US" sz="1600" dirty="0">
                  <a:solidFill>
                    <a:schemeClr val="tx1"/>
                  </a:solidFill>
                  <a:latin typeface="Roboto" panose="02000000000000000000" pitchFamily="2" charset="0"/>
                </a:rPr>
                <a:t>’</a:t>
              </a:r>
              <a:r>
                <a:rPr lang="en-US" altLang="ja-JP" sz="1600" dirty="0">
                  <a:solidFill>
                    <a:schemeClr val="tx1"/>
                  </a:solidFill>
                  <a:latin typeface="Roboto" panose="02000000000000000000" pitchFamily="2" charset="0"/>
                  <a:ea typeface="Roboto" panose="02000000000000000000" pitchFamily="2" charset="0"/>
                </a:rPr>
                <a:t>t be observed in the workplace other sources of data need to be identified</a:t>
              </a:r>
            </a:p>
            <a:p>
              <a:pPr algn="l" eaLnBrk="1" hangingPunct="1">
                <a:lnSpc>
                  <a:spcPct val="100000"/>
                </a:lnSpc>
                <a:spcBef>
                  <a:spcPct val="3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DOI should be less than takt time</a:t>
              </a:r>
            </a:p>
            <a:p>
              <a:pPr algn="l" eaLnBrk="1" hangingPunct="1">
                <a:lnSpc>
                  <a:spcPct val="100000"/>
                </a:lnSpc>
                <a:spcBef>
                  <a:spcPct val="30000"/>
                </a:spcBef>
                <a:buClr>
                  <a:schemeClr val="tx1"/>
                </a:buClr>
                <a:buSzPct val="90000"/>
                <a:buFont typeface="Arial" panose="020B0604020202020204" pitchFamily="34" charset="0"/>
                <a:buChar char="•"/>
              </a:pPr>
              <a:endParaRPr lang="en-US" altLang="en-US" sz="1600" dirty="0">
                <a:solidFill>
                  <a:schemeClr val="tx1"/>
                </a:solidFill>
                <a:latin typeface="Roboto" panose="02000000000000000000" pitchFamily="2" charset="0"/>
                <a:ea typeface="Roboto" panose="02000000000000000000" pitchFamily="2" charset="0"/>
              </a:endParaRPr>
            </a:p>
          </p:txBody>
        </p:sp>
        <p:sp>
          <p:nvSpPr>
            <p:cNvPr id="22" name="AutoShape 30">
              <a:extLst>
                <a:ext uri="{FF2B5EF4-FFF2-40B4-BE49-F238E27FC236}">
                  <a16:creationId xmlns:a16="http://schemas.microsoft.com/office/drawing/2014/main" id="{1277884E-142C-B06C-2849-D6E348D3E1B3}"/>
                </a:ext>
              </a:extLst>
            </p:cNvPr>
            <p:cNvSpPr>
              <a:spLocks noChangeArrowheads="1"/>
            </p:cNvSpPr>
            <p:nvPr/>
          </p:nvSpPr>
          <p:spPr bwMode="auto">
            <a:xfrm>
              <a:off x="1965325" y="2597150"/>
              <a:ext cx="1042988" cy="914400"/>
            </a:xfrm>
            <a:prstGeom prst="cube">
              <a:avLst>
                <a:gd name="adj" fmla="val 25000"/>
              </a:avLst>
            </a:prstGeom>
            <a:solidFill>
              <a:schemeClr val="accent4"/>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97120659-8ECC-E45B-6240-42DAE4AD0525}"/>
                </a:ext>
              </a:extLst>
            </p:cNvPr>
            <p:cNvSpPr txBox="1">
              <a:spLocks noChangeArrowheads="1"/>
            </p:cNvSpPr>
            <p:nvPr/>
          </p:nvSpPr>
          <p:spPr bwMode="auto">
            <a:xfrm>
              <a:off x="2097088" y="2881313"/>
              <a:ext cx="6110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400">
                  <a:latin typeface="Roboto" panose="02000000000000000000" pitchFamily="2" charset="0"/>
                  <a:ea typeface="Roboto" panose="02000000000000000000" pitchFamily="2" charset="0"/>
                </a:rPr>
                <a:t>Cure </a:t>
              </a:r>
            </a:p>
            <a:p>
              <a:pPr>
                <a:lnSpc>
                  <a:spcPct val="100000"/>
                </a:lnSpc>
                <a:spcBef>
                  <a:spcPct val="0"/>
                </a:spcBef>
              </a:pPr>
              <a:r>
                <a:rPr lang="en-US" altLang="en-US" sz="1400">
                  <a:latin typeface="Roboto" panose="02000000000000000000" pitchFamily="2" charset="0"/>
                  <a:ea typeface="Roboto" panose="02000000000000000000" pitchFamily="2" charset="0"/>
                </a:rPr>
                <a:t>Oven</a:t>
              </a:r>
            </a:p>
          </p:txBody>
        </p:sp>
        <p:grpSp>
          <p:nvGrpSpPr>
            <p:cNvPr id="24" name="Group 32">
              <a:extLst>
                <a:ext uri="{FF2B5EF4-FFF2-40B4-BE49-F238E27FC236}">
                  <a16:creationId xmlns:a16="http://schemas.microsoft.com/office/drawing/2014/main" id="{7A01E118-D310-903C-BDC6-F437414B67C6}"/>
                </a:ext>
              </a:extLst>
            </p:cNvPr>
            <p:cNvGrpSpPr>
              <a:grpSpLocks/>
            </p:cNvGrpSpPr>
            <p:nvPr/>
          </p:nvGrpSpPr>
          <p:grpSpPr bwMode="auto">
            <a:xfrm>
              <a:off x="547688" y="2933700"/>
              <a:ext cx="1179512" cy="452438"/>
              <a:chOff x="2442" y="2199"/>
              <a:chExt cx="743" cy="285"/>
            </a:xfrm>
          </p:grpSpPr>
          <p:sp>
            <p:nvSpPr>
              <p:cNvPr id="25" name="AutoShape 33">
                <a:extLst>
                  <a:ext uri="{FF2B5EF4-FFF2-40B4-BE49-F238E27FC236}">
                    <a16:creationId xmlns:a16="http://schemas.microsoft.com/office/drawing/2014/main" id="{2805C4B1-834E-C86D-8E7B-A46F37BF7B14}"/>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6" name="Line 34">
                <a:extLst>
                  <a:ext uri="{FF2B5EF4-FFF2-40B4-BE49-F238E27FC236}">
                    <a16:creationId xmlns:a16="http://schemas.microsoft.com/office/drawing/2014/main" id="{B787B159-8DCD-2565-D9DF-37A7118CE971}"/>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7" name="Line 35">
                <a:extLst>
                  <a:ext uri="{FF2B5EF4-FFF2-40B4-BE49-F238E27FC236}">
                    <a16:creationId xmlns:a16="http://schemas.microsoft.com/office/drawing/2014/main" id="{43B50673-A2B2-1662-CB4F-B701AB89B84C}"/>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8" name="Line 36">
                <a:extLst>
                  <a:ext uri="{FF2B5EF4-FFF2-40B4-BE49-F238E27FC236}">
                    <a16:creationId xmlns:a16="http://schemas.microsoft.com/office/drawing/2014/main" id="{05E1E3B8-FBD2-8484-A06D-27EC1896FEEE}"/>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9" name="Line 37">
                <a:extLst>
                  <a:ext uri="{FF2B5EF4-FFF2-40B4-BE49-F238E27FC236}">
                    <a16:creationId xmlns:a16="http://schemas.microsoft.com/office/drawing/2014/main" id="{EAFDDA50-BF4D-1E6B-1D14-E72BCFCFABB5}"/>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0" name="Line 38">
                <a:extLst>
                  <a:ext uri="{FF2B5EF4-FFF2-40B4-BE49-F238E27FC236}">
                    <a16:creationId xmlns:a16="http://schemas.microsoft.com/office/drawing/2014/main" id="{CBED4BC2-D86A-6939-37A5-348D451AF608}"/>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4" name="Line 39">
                <a:extLst>
                  <a:ext uri="{FF2B5EF4-FFF2-40B4-BE49-F238E27FC236}">
                    <a16:creationId xmlns:a16="http://schemas.microsoft.com/office/drawing/2014/main" id="{693B3702-9AFF-5DBF-BB8D-418E4D3A5281}"/>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35" name="AutoShape 40">
              <a:extLst>
                <a:ext uri="{FF2B5EF4-FFF2-40B4-BE49-F238E27FC236}">
                  <a16:creationId xmlns:a16="http://schemas.microsoft.com/office/drawing/2014/main" id="{D48F422B-0ED9-4CBD-4144-0852CBA62789}"/>
                </a:ext>
              </a:extLst>
            </p:cNvPr>
            <p:cNvSpPr>
              <a:spLocks noChangeArrowheads="1"/>
            </p:cNvSpPr>
            <p:nvPr/>
          </p:nvSpPr>
          <p:spPr bwMode="auto">
            <a:xfrm>
              <a:off x="1592263" y="2994025"/>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sp>
          <p:nvSpPr>
            <p:cNvPr id="38" name="Text Box 41">
              <a:extLst>
                <a:ext uri="{FF2B5EF4-FFF2-40B4-BE49-F238E27FC236}">
                  <a16:creationId xmlns:a16="http://schemas.microsoft.com/office/drawing/2014/main" id="{CA72C9E9-4161-34D8-ADE8-AB9D9652104F}"/>
                </a:ext>
              </a:extLst>
            </p:cNvPr>
            <p:cNvSpPr txBox="1">
              <a:spLocks noChangeArrowheads="1"/>
            </p:cNvSpPr>
            <p:nvPr/>
          </p:nvSpPr>
          <p:spPr bwMode="auto">
            <a:xfrm>
              <a:off x="420688" y="3354388"/>
              <a:ext cx="11477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60 piece Tray</a:t>
              </a:r>
            </a:p>
          </p:txBody>
        </p:sp>
        <p:sp>
          <p:nvSpPr>
            <p:cNvPr id="39" name="Text Box 42">
              <a:extLst>
                <a:ext uri="{FF2B5EF4-FFF2-40B4-BE49-F238E27FC236}">
                  <a16:creationId xmlns:a16="http://schemas.microsoft.com/office/drawing/2014/main" id="{AFC0A949-D345-650C-A748-EFDF64B65E84}"/>
                </a:ext>
              </a:extLst>
            </p:cNvPr>
            <p:cNvSpPr txBox="1">
              <a:spLocks noChangeArrowheads="1"/>
            </p:cNvSpPr>
            <p:nvPr/>
          </p:nvSpPr>
          <p:spPr bwMode="auto">
            <a:xfrm>
              <a:off x="1454150" y="3544888"/>
              <a:ext cx="18133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Oven Capacity = 5 trays</a:t>
              </a:r>
            </a:p>
            <a:p>
              <a:pPr>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Cure Time = 2 hours</a:t>
              </a:r>
            </a:p>
          </p:txBody>
        </p:sp>
        <p:sp>
          <p:nvSpPr>
            <p:cNvPr id="40" name="AutoShape 43">
              <a:extLst>
                <a:ext uri="{FF2B5EF4-FFF2-40B4-BE49-F238E27FC236}">
                  <a16:creationId xmlns:a16="http://schemas.microsoft.com/office/drawing/2014/main" id="{0F1ECABE-BBB8-A6C2-3C00-42FC3C81DD2E}"/>
                </a:ext>
              </a:extLst>
            </p:cNvPr>
            <p:cNvSpPr>
              <a:spLocks noChangeArrowheads="1"/>
            </p:cNvSpPr>
            <p:nvPr/>
          </p:nvSpPr>
          <p:spPr bwMode="auto">
            <a:xfrm>
              <a:off x="3043238" y="2984500"/>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grpSp>
          <p:nvGrpSpPr>
            <p:cNvPr id="41" name="Group 44">
              <a:extLst>
                <a:ext uri="{FF2B5EF4-FFF2-40B4-BE49-F238E27FC236}">
                  <a16:creationId xmlns:a16="http://schemas.microsoft.com/office/drawing/2014/main" id="{DAD10743-A294-316D-B0B6-C3732C3328A8}"/>
                </a:ext>
              </a:extLst>
            </p:cNvPr>
            <p:cNvGrpSpPr>
              <a:grpSpLocks/>
            </p:cNvGrpSpPr>
            <p:nvPr/>
          </p:nvGrpSpPr>
          <p:grpSpPr bwMode="auto">
            <a:xfrm>
              <a:off x="3330575" y="2560638"/>
              <a:ext cx="1538288" cy="1058862"/>
              <a:chOff x="4402" y="1946"/>
              <a:chExt cx="969" cy="667"/>
            </a:xfrm>
          </p:grpSpPr>
          <p:grpSp>
            <p:nvGrpSpPr>
              <p:cNvPr id="42" name="Group 45">
                <a:extLst>
                  <a:ext uri="{FF2B5EF4-FFF2-40B4-BE49-F238E27FC236}">
                    <a16:creationId xmlns:a16="http://schemas.microsoft.com/office/drawing/2014/main" id="{BCB0BEBC-B8C1-4FA6-5657-C1AA3A39B02E}"/>
                  </a:ext>
                </a:extLst>
              </p:cNvPr>
              <p:cNvGrpSpPr>
                <a:grpSpLocks/>
              </p:cNvGrpSpPr>
              <p:nvPr/>
            </p:nvGrpSpPr>
            <p:grpSpPr bwMode="auto">
              <a:xfrm>
                <a:off x="4628" y="2328"/>
                <a:ext cx="743" cy="285"/>
                <a:chOff x="2442" y="2199"/>
                <a:chExt cx="743" cy="285"/>
              </a:xfrm>
            </p:grpSpPr>
            <p:sp>
              <p:nvSpPr>
                <p:cNvPr id="76" name="AutoShape 46">
                  <a:extLst>
                    <a:ext uri="{FF2B5EF4-FFF2-40B4-BE49-F238E27FC236}">
                      <a16:creationId xmlns:a16="http://schemas.microsoft.com/office/drawing/2014/main" id="{FA385E18-D667-E0CA-462A-707A3CA22845}"/>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7" name="Line 47">
                  <a:extLst>
                    <a:ext uri="{FF2B5EF4-FFF2-40B4-BE49-F238E27FC236}">
                      <a16:creationId xmlns:a16="http://schemas.microsoft.com/office/drawing/2014/main" id="{B7B0496E-DB55-E3EB-74AA-EC23631EDD8D}"/>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8" name="Line 48">
                  <a:extLst>
                    <a:ext uri="{FF2B5EF4-FFF2-40B4-BE49-F238E27FC236}">
                      <a16:creationId xmlns:a16="http://schemas.microsoft.com/office/drawing/2014/main" id="{2104CE3B-5BC6-D78C-9A7A-D8957C74B2EE}"/>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9" name="Line 49">
                  <a:extLst>
                    <a:ext uri="{FF2B5EF4-FFF2-40B4-BE49-F238E27FC236}">
                      <a16:creationId xmlns:a16="http://schemas.microsoft.com/office/drawing/2014/main" id="{20C28E3F-1EED-EEB1-31B8-BEBF21CD66C9}"/>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0" name="Line 50">
                  <a:extLst>
                    <a:ext uri="{FF2B5EF4-FFF2-40B4-BE49-F238E27FC236}">
                      <a16:creationId xmlns:a16="http://schemas.microsoft.com/office/drawing/2014/main" id="{2C61F8FE-CA08-EACC-854A-0C89D2D1CD08}"/>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1" name="Line 51">
                  <a:extLst>
                    <a:ext uri="{FF2B5EF4-FFF2-40B4-BE49-F238E27FC236}">
                      <a16:creationId xmlns:a16="http://schemas.microsoft.com/office/drawing/2014/main" id="{BFA49E9F-F668-3D1E-81BC-D4C478838C19}"/>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2" name="Line 52">
                  <a:extLst>
                    <a:ext uri="{FF2B5EF4-FFF2-40B4-BE49-F238E27FC236}">
                      <a16:creationId xmlns:a16="http://schemas.microsoft.com/office/drawing/2014/main" id="{5870064C-A92E-E631-3A5D-5C9B0BE51EEC}"/>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3" name="Group 53">
                <a:extLst>
                  <a:ext uri="{FF2B5EF4-FFF2-40B4-BE49-F238E27FC236}">
                    <a16:creationId xmlns:a16="http://schemas.microsoft.com/office/drawing/2014/main" id="{CC4AAD4D-BBDB-52F8-63F6-ACEB7C838143}"/>
                  </a:ext>
                </a:extLst>
              </p:cNvPr>
              <p:cNvGrpSpPr>
                <a:grpSpLocks/>
              </p:cNvGrpSpPr>
              <p:nvPr/>
            </p:nvGrpSpPr>
            <p:grpSpPr bwMode="auto">
              <a:xfrm>
                <a:off x="4583" y="2251"/>
                <a:ext cx="743" cy="285"/>
                <a:chOff x="2442" y="2199"/>
                <a:chExt cx="743" cy="285"/>
              </a:xfrm>
            </p:grpSpPr>
            <p:sp>
              <p:nvSpPr>
                <p:cNvPr id="69" name="AutoShape 54">
                  <a:extLst>
                    <a:ext uri="{FF2B5EF4-FFF2-40B4-BE49-F238E27FC236}">
                      <a16:creationId xmlns:a16="http://schemas.microsoft.com/office/drawing/2014/main" id="{C4CF89DA-311C-29CF-B0F9-6AF731DFE224}"/>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0" name="Line 55">
                  <a:extLst>
                    <a:ext uri="{FF2B5EF4-FFF2-40B4-BE49-F238E27FC236}">
                      <a16:creationId xmlns:a16="http://schemas.microsoft.com/office/drawing/2014/main" id="{16857AEC-C731-A7E3-424F-9C2CA9100558}"/>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1" name="Line 56">
                  <a:extLst>
                    <a:ext uri="{FF2B5EF4-FFF2-40B4-BE49-F238E27FC236}">
                      <a16:creationId xmlns:a16="http://schemas.microsoft.com/office/drawing/2014/main" id="{C7B17478-1270-851D-F9A1-7AD3478D8FD8}"/>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2" name="Line 57">
                  <a:extLst>
                    <a:ext uri="{FF2B5EF4-FFF2-40B4-BE49-F238E27FC236}">
                      <a16:creationId xmlns:a16="http://schemas.microsoft.com/office/drawing/2014/main" id="{C76E294E-4543-820F-D2DE-0F12A4E0ECAF}"/>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3" name="Line 58">
                  <a:extLst>
                    <a:ext uri="{FF2B5EF4-FFF2-40B4-BE49-F238E27FC236}">
                      <a16:creationId xmlns:a16="http://schemas.microsoft.com/office/drawing/2014/main" id="{E09D3F9A-ECA8-DA6E-EFC4-4579F7A52578}"/>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4" name="Line 59">
                  <a:extLst>
                    <a:ext uri="{FF2B5EF4-FFF2-40B4-BE49-F238E27FC236}">
                      <a16:creationId xmlns:a16="http://schemas.microsoft.com/office/drawing/2014/main" id="{F1E17240-4405-447A-6195-C14D50E0466A}"/>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5" name="Line 60">
                  <a:extLst>
                    <a:ext uri="{FF2B5EF4-FFF2-40B4-BE49-F238E27FC236}">
                      <a16:creationId xmlns:a16="http://schemas.microsoft.com/office/drawing/2014/main" id="{EA0B8462-F3A2-30FC-220A-EF8657AD260C}"/>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4" name="Group 61">
                <a:extLst>
                  <a:ext uri="{FF2B5EF4-FFF2-40B4-BE49-F238E27FC236}">
                    <a16:creationId xmlns:a16="http://schemas.microsoft.com/office/drawing/2014/main" id="{3DD7FD21-D9CD-BD36-6333-DC0F79F0D167}"/>
                  </a:ext>
                </a:extLst>
              </p:cNvPr>
              <p:cNvGrpSpPr>
                <a:grpSpLocks/>
              </p:cNvGrpSpPr>
              <p:nvPr/>
            </p:nvGrpSpPr>
            <p:grpSpPr bwMode="auto">
              <a:xfrm>
                <a:off x="4544" y="2143"/>
                <a:ext cx="743" cy="285"/>
                <a:chOff x="2442" y="2199"/>
                <a:chExt cx="743" cy="285"/>
              </a:xfrm>
            </p:grpSpPr>
            <p:sp>
              <p:nvSpPr>
                <p:cNvPr id="62" name="AutoShape 62">
                  <a:extLst>
                    <a:ext uri="{FF2B5EF4-FFF2-40B4-BE49-F238E27FC236}">
                      <a16:creationId xmlns:a16="http://schemas.microsoft.com/office/drawing/2014/main" id="{627EC75E-C14B-35A1-E42C-1BEF920CC32C}"/>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3" name="Line 63">
                  <a:extLst>
                    <a:ext uri="{FF2B5EF4-FFF2-40B4-BE49-F238E27FC236}">
                      <a16:creationId xmlns:a16="http://schemas.microsoft.com/office/drawing/2014/main" id="{9A1DE970-2D4D-6CC1-9DC2-F429DB1ABDC5}"/>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Line 64">
                  <a:extLst>
                    <a:ext uri="{FF2B5EF4-FFF2-40B4-BE49-F238E27FC236}">
                      <a16:creationId xmlns:a16="http://schemas.microsoft.com/office/drawing/2014/main" id="{80B2818B-F150-079C-E39A-AC4C61133ADA}"/>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5" name="Line 65">
                  <a:extLst>
                    <a:ext uri="{FF2B5EF4-FFF2-40B4-BE49-F238E27FC236}">
                      <a16:creationId xmlns:a16="http://schemas.microsoft.com/office/drawing/2014/main" id="{61589DC8-FE89-1BAA-337E-09E88A2DDE6C}"/>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6" name="Line 66">
                  <a:extLst>
                    <a:ext uri="{FF2B5EF4-FFF2-40B4-BE49-F238E27FC236}">
                      <a16:creationId xmlns:a16="http://schemas.microsoft.com/office/drawing/2014/main" id="{934912D0-68E2-85AB-47DE-568078D817E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7" name="Line 67">
                  <a:extLst>
                    <a:ext uri="{FF2B5EF4-FFF2-40B4-BE49-F238E27FC236}">
                      <a16:creationId xmlns:a16="http://schemas.microsoft.com/office/drawing/2014/main" id="{4DA598C4-598D-1321-692D-23A6B2ED88AF}"/>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8" name="Line 68">
                  <a:extLst>
                    <a:ext uri="{FF2B5EF4-FFF2-40B4-BE49-F238E27FC236}">
                      <a16:creationId xmlns:a16="http://schemas.microsoft.com/office/drawing/2014/main" id="{473683CF-0FF7-79C6-8BEC-A7A5186BC462}"/>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5" name="Group 69">
                <a:extLst>
                  <a:ext uri="{FF2B5EF4-FFF2-40B4-BE49-F238E27FC236}">
                    <a16:creationId xmlns:a16="http://schemas.microsoft.com/office/drawing/2014/main" id="{D14FF157-95C0-B2A3-1F89-3234DDABAC01}"/>
                  </a:ext>
                </a:extLst>
              </p:cNvPr>
              <p:cNvGrpSpPr>
                <a:grpSpLocks/>
              </p:cNvGrpSpPr>
              <p:nvPr/>
            </p:nvGrpSpPr>
            <p:grpSpPr bwMode="auto">
              <a:xfrm>
                <a:off x="4473" y="2061"/>
                <a:ext cx="743" cy="285"/>
                <a:chOff x="2442" y="2199"/>
                <a:chExt cx="743" cy="285"/>
              </a:xfrm>
            </p:grpSpPr>
            <p:sp>
              <p:nvSpPr>
                <p:cNvPr id="55" name="AutoShape 70">
                  <a:extLst>
                    <a:ext uri="{FF2B5EF4-FFF2-40B4-BE49-F238E27FC236}">
                      <a16:creationId xmlns:a16="http://schemas.microsoft.com/office/drawing/2014/main" id="{8604E3BA-C760-F6F8-124D-5600170B0D7E}"/>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Line 71">
                  <a:extLst>
                    <a:ext uri="{FF2B5EF4-FFF2-40B4-BE49-F238E27FC236}">
                      <a16:creationId xmlns:a16="http://schemas.microsoft.com/office/drawing/2014/main" id="{D3FB58C6-327E-BBFE-618F-C005C5B95E36}"/>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7" name="Line 72">
                  <a:extLst>
                    <a:ext uri="{FF2B5EF4-FFF2-40B4-BE49-F238E27FC236}">
                      <a16:creationId xmlns:a16="http://schemas.microsoft.com/office/drawing/2014/main" id="{EBCAA12F-8C32-A09A-BAE6-63991180CF34}"/>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8" name="Line 73">
                  <a:extLst>
                    <a:ext uri="{FF2B5EF4-FFF2-40B4-BE49-F238E27FC236}">
                      <a16:creationId xmlns:a16="http://schemas.microsoft.com/office/drawing/2014/main" id="{9F699A80-01D4-A9DD-AC55-DE66F687B44B}"/>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9" name="Line 74">
                  <a:extLst>
                    <a:ext uri="{FF2B5EF4-FFF2-40B4-BE49-F238E27FC236}">
                      <a16:creationId xmlns:a16="http://schemas.microsoft.com/office/drawing/2014/main" id="{C96DFCB7-3944-0897-3F55-39343503168E}"/>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0" name="Line 75">
                  <a:extLst>
                    <a:ext uri="{FF2B5EF4-FFF2-40B4-BE49-F238E27FC236}">
                      <a16:creationId xmlns:a16="http://schemas.microsoft.com/office/drawing/2014/main" id="{962C86A0-86C1-34F2-B738-3042C063B307}"/>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1" name="Line 76">
                  <a:extLst>
                    <a:ext uri="{FF2B5EF4-FFF2-40B4-BE49-F238E27FC236}">
                      <a16:creationId xmlns:a16="http://schemas.microsoft.com/office/drawing/2014/main" id="{D613297F-C9E3-C3B4-CE62-FF6444E1D829}"/>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7" name="Group 77">
                <a:extLst>
                  <a:ext uri="{FF2B5EF4-FFF2-40B4-BE49-F238E27FC236}">
                    <a16:creationId xmlns:a16="http://schemas.microsoft.com/office/drawing/2014/main" id="{E901A1FF-8E6F-59B8-5EA2-CFCCE0B4F5FB}"/>
                  </a:ext>
                </a:extLst>
              </p:cNvPr>
              <p:cNvGrpSpPr>
                <a:grpSpLocks/>
              </p:cNvGrpSpPr>
              <p:nvPr/>
            </p:nvGrpSpPr>
            <p:grpSpPr bwMode="auto">
              <a:xfrm>
                <a:off x="4402" y="1946"/>
                <a:ext cx="743" cy="285"/>
                <a:chOff x="2442" y="2199"/>
                <a:chExt cx="743" cy="285"/>
              </a:xfrm>
            </p:grpSpPr>
            <p:sp>
              <p:nvSpPr>
                <p:cNvPr id="48" name="AutoShape 78">
                  <a:extLst>
                    <a:ext uri="{FF2B5EF4-FFF2-40B4-BE49-F238E27FC236}">
                      <a16:creationId xmlns:a16="http://schemas.microsoft.com/office/drawing/2014/main" id="{F25C292C-7FBF-0013-E3B4-52F4CB8354D8}"/>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9" name="Line 79">
                  <a:extLst>
                    <a:ext uri="{FF2B5EF4-FFF2-40B4-BE49-F238E27FC236}">
                      <a16:creationId xmlns:a16="http://schemas.microsoft.com/office/drawing/2014/main" id="{B8DE4058-ADCD-A7CF-BFB3-9A8653415405}"/>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0" name="Line 80">
                  <a:extLst>
                    <a:ext uri="{FF2B5EF4-FFF2-40B4-BE49-F238E27FC236}">
                      <a16:creationId xmlns:a16="http://schemas.microsoft.com/office/drawing/2014/main" id="{D0A5BA4E-ADAC-6F93-35C0-AC69F1B87D03}"/>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1" name="Line 81">
                  <a:extLst>
                    <a:ext uri="{FF2B5EF4-FFF2-40B4-BE49-F238E27FC236}">
                      <a16:creationId xmlns:a16="http://schemas.microsoft.com/office/drawing/2014/main" id="{6B3D5CFA-88D5-1356-E4B0-56E6AFE7E9E2}"/>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2" name="Line 82">
                  <a:extLst>
                    <a:ext uri="{FF2B5EF4-FFF2-40B4-BE49-F238E27FC236}">
                      <a16:creationId xmlns:a16="http://schemas.microsoft.com/office/drawing/2014/main" id="{BBC4D584-D637-6409-BAF6-6DF23E592B29}"/>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3" name="Line 83">
                  <a:extLst>
                    <a:ext uri="{FF2B5EF4-FFF2-40B4-BE49-F238E27FC236}">
                      <a16:creationId xmlns:a16="http://schemas.microsoft.com/office/drawing/2014/main" id="{1994330A-35CE-868F-F20E-228D577E690C}"/>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4" name="Line 84">
                  <a:extLst>
                    <a:ext uri="{FF2B5EF4-FFF2-40B4-BE49-F238E27FC236}">
                      <a16:creationId xmlns:a16="http://schemas.microsoft.com/office/drawing/2014/main" id="{D7544AF6-ADF7-87DC-A38B-762E86C1CF16}"/>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sp>
          <p:nvSpPr>
            <p:cNvPr id="83" name="Text Box 85">
              <a:extLst>
                <a:ext uri="{FF2B5EF4-FFF2-40B4-BE49-F238E27FC236}">
                  <a16:creationId xmlns:a16="http://schemas.microsoft.com/office/drawing/2014/main" id="{AD66B499-7FCD-72E4-F4B0-030C99E72C5B}"/>
                </a:ext>
              </a:extLst>
            </p:cNvPr>
            <p:cNvSpPr txBox="1">
              <a:spLocks noChangeArrowheads="1"/>
            </p:cNvSpPr>
            <p:nvPr/>
          </p:nvSpPr>
          <p:spPr bwMode="auto">
            <a:xfrm>
              <a:off x="635000" y="4116388"/>
              <a:ext cx="3079672" cy="587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400" dirty="0">
                  <a:solidFill>
                    <a:schemeClr val="accent1"/>
                  </a:solidFill>
                  <a:latin typeface="Roboto" panose="02000000000000000000" pitchFamily="2" charset="0"/>
                  <a:ea typeface="Roboto" panose="02000000000000000000" pitchFamily="2" charset="0"/>
                </a:rPr>
                <a:t>DOI = 120 min. cycle </a:t>
              </a:r>
              <a:r>
                <a:rPr lang="en-US" altLang="en-US" sz="1400" dirty="0">
                  <a:solidFill>
                    <a:schemeClr val="accent1"/>
                  </a:solidFill>
                  <a:latin typeface="Roboto" panose="02000000000000000000" pitchFamily="2" charset="0"/>
                  <a:ea typeface="Roboto" panose="02000000000000000000" pitchFamily="2" charset="0"/>
                  <a:cs typeface="Arial" panose="020B0604020202020204" pitchFamily="34" charset="0"/>
                </a:rPr>
                <a:t>÷ 300 pieces x 60 sec. </a:t>
              </a:r>
            </a:p>
            <a:p>
              <a:pPr algn="l">
                <a:lnSpc>
                  <a:spcPct val="100000"/>
                </a:lnSpc>
                <a:spcBef>
                  <a:spcPct val="30000"/>
                </a:spcBef>
              </a:pPr>
              <a:r>
                <a:rPr lang="en-US" altLang="en-US" sz="1400" dirty="0">
                  <a:solidFill>
                    <a:schemeClr val="accent1"/>
                  </a:solidFill>
                  <a:latin typeface="Roboto" panose="02000000000000000000" pitchFamily="2" charset="0"/>
                  <a:ea typeface="Roboto" panose="02000000000000000000" pitchFamily="2" charset="0"/>
                  <a:cs typeface="Arial" panose="020B0604020202020204" pitchFamily="34" charset="0"/>
                </a:rPr>
                <a:t>DOI = 24 sec.</a:t>
              </a:r>
            </a:p>
          </p:txBody>
        </p:sp>
      </p:grpSp>
    </p:spTree>
    <p:extLst>
      <p:ext uri="{BB962C8B-B14F-4D97-AF65-F5344CB8AC3E}">
        <p14:creationId xmlns:p14="http://schemas.microsoft.com/office/powerpoint/2010/main" val="109199522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Processing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48</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84" name="Group 83">
            <a:extLst>
              <a:ext uri="{FF2B5EF4-FFF2-40B4-BE49-F238E27FC236}">
                <a16:creationId xmlns:a16="http://schemas.microsoft.com/office/drawing/2014/main" id="{99050188-03A8-BA4F-05FC-0AC6CF4D9786}"/>
              </a:ext>
            </a:extLst>
          </p:cNvPr>
          <p:cNvGrpSpPr/>
          <p:nvPr/>
        </p:nvGrpSpPr>
        <p:grpSpPr>
          <a:xfrm>
            <a:off x="1063784" y="2096599"/>
            <a:ext cx="10064432" cy="3830637"/>
            <a:chOff x="420688" y="1573213"/>
            <a:chExt cx="8297862" cy="3830637"/>
          </a:xfrm>
        </p:grpSpPr>
        <p:sp>
          <p:nvSpPr>
            <p:cNvPr id="14" name="Rectangle 2">
              <a:extLst>
                <a:ext uri="{FF2B5EF4-FFF2-40B4-BE49-F238E27FC236}">
                  <a16:creationId xmlns:a16="http://schemas.microsoft.com/office/drawing/2014/main" id="{FC5F151B-6146-4E97-CF10-67D9F139FF7F}"/>
                </a:ext>
              </a:extLst>
            </p:cNvPr>
            <p:cNvSpPr>
              <a:spLocks noChangeArrowheads="1"/>
            </p:cNvSpPr>
            <p:nvPr/>
          </p:nvSpPr>
          <p:spPr bwMode="auto">
            <a:xfrm>
              <a:off x="479425" y="1752600"/>
              <a:ext cx="4414838" cy="320198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5" name="Text Box 3">
              <a:extLst>
                <a:ext uri="{FF2B5EF4-FFF2-40B4-BE49-F238E27FC236}">
                  <a16:creationId xmlns:a16="http://schemas.microsoft.com/office/drawing/2014/main" id="{9B8AFE3E-A95C-0683-B00B-4B18050D9018}"/>
                </a:ext>
              </a:extLst>
            </p:cNvPr>
            <p:cNvSpPr txBox="1">
              <a:spLocks noChangeArrowheads="1"/>
            </p:cNvSpPr>
            <p:nvPr/>
          </p:nvSpPr>
          <p:spPr bwMode="auto">
            <a:xfrm>
              <a:off x="590550" y="1573213"/>
              <a:ext cx="2610491" cy="3693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800" dirty="0">
                  <a:solidFill>
                    <a:schemeClr val="tx1"/>
                  </a:solidFill>
                  <a:latin typeface="Roboto" panose="02000000000000000000" pitchFamily="2" charset="0"/>
                  <a:ea typeface="Roboto" panose="02000000000000000000" pitchFamily="2" charset="0"/>
                </a:rPr>
                <a:t>Processing Time Calculation</a:t>
              </a:r>
            </a:p>
          </p:txBody>
        </p:sp>
        <p:sp>
          <p:nvSpPr>
            <p:cNvPr id="16" name="Rectangle 4">
              <a:extLst>
                <a:ext uri="{FF2B5EF4-FFF2-40B4-BE49-F238E27FC236}">
                  <a16:creationId xmlns:a16="http://schemas.microsoft.com/office/drawing/2014/main" id="{6A65C644-EFEE-B468-A8FC-2A55B3596E66}"/>
                </a:ext>
              </a:extLst>
            </p:cNvPr>
            <p:cNvSpPr>
              <a:spLocks noChangeArrowheads="1"/>
            </p:cNvSpPr>
            <p:nvPr/>
          </p:nvSpPr>
          <p:spPr bwMode="auto">
            <a:xfrm>
              <a:off x="5434013" y="1704975"/>
              <a:ext cx="3268662" cy="307975"/>
            </a:xfrm>
            <a:prstGeom prst="rect">
              <a:avLst/>
            </a:prstGeom>
            <a:solidFill>
              <a:schemeClr val="accent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dirty="0">
                  <a:latin typeface="Roboto" panose="02000000000000000000" pitchFamily="2" charset="0"/>
                  <a:ea typeface="Roboto" panose="02000000000000000000" pitchFamily="2" charset="0"/>
                </a:rPr>
                <a:t>Processing Time Definition</a:t>
              </a:r>
            </a:p>
          </p:txBody>
        </p:sp>
        <p:sp>
          <p:nvSpPr>
            <p:cNvPr id="17" name="Rectangle 5">
              <a:extLst>
                <a:ext uri="{FF2B5EF4-FFF2-40B4-BE49-F238E27FC236}">
                  <a16:creationId xmlns:a16="http://schemas.microsoft.com/office/drawing/2014/main" id="{EE5527FC-820A-FB2B-0B61-63705681FB3C}"/>
                </a:ext>
              </a:extLst>
            </p:cNvPr>
            <p:cNvSpPr>
              <a:spLocks noChangeArrowheads="1"/>
            </p:cNvSpPr>
            <p:nvPr/>
          </p:nvSpPr>
          <p:spPr bwMode="auto">
            <a:xfrm>
              <a:off x="5434013" y="3852863"/>
              <a:ext cx="3282950" cy="307975"/>
            </a:xfrm>
            <a:prstGeom prst="rect">
              <a:avLst/>
            </a:prstGeom>
            <a:solidFill>
              <a:schemeClr val="accent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Note on DOI</a:t>
              </a:r>
            </a:p>
          </p:txBody>
        </p:sp>
        <p:sp>
          <p:nvSpPr>
            <p:cNvPr id="18" name="Rectangle 6">
              <a:extLst>
                <a:ext uri="{FF2B5EF4-FFF2-40B4-BE49-F238E27FC236}">
                  <a16:creationId xmlns:a16="http://schemas.microsoft.com/office/drawing/2014/main" id="{C028568D-4669-6968-94BA-2DA0DE6BAB53}"/>
                </a:ext>
              </a:extLst>
            </p:cNvPr>
            <p:cNvSpPr>
              <a:spLocks noChangeArrowheads="1"/>
            </p:cNvSpPr>
            <p:nvPr/>
          </p:nvSpPr>
          <p:spPr bwMode="auto">
            <a:xfrm>
              <a:off x="5340350" y="2058988"/>
              <a:ext cx="337661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The time it takes for a single product or service to go completely through a process</a:t>
              </a:r>
            </a:p>
            <a:p>
              <a:pPr algn="l" eaLnBrk="1" hangingPunct="1">
                <a:lnSpc>
                  <a:spcPct val="100000"/>
                </a:lnSpc>
                <a:spcBef>
                  <a:spcPct val="30000"/>
                </a:spcBef>
                <a:buClr>
                  <a:schemeClr val="tx1"/>
                </a:buClr>
                <a:buSzPct val="90000"/>
                <a:buFont typeface="Arial" panose="020B0604020202020204" pitchFamily="34" charset="0"/>
                <a:buChar char="•"/>
              </a:pPr>
              <a:endParaRPr lang="en-US" altLang="en-US" sz="1600" dirty="0">
                <a:solidFill>
                  <a:schemeClr val="tx1"/>
                </a:solidFill>
                <a:latin typeface="Roboto" panose="02000000000000000000" pitchFamily="2" charset="0"/>
                <a:ea typeface="Roboto" panose="02000000000000000000" pitchFamily="2" charset="0"/>
              </a:endParaRPr>
            </a:p>
          </p:txBody>
        </p:sp>
        <p:cxnSp>
          <p:nvCxnSpPr>
            <p:cNvPr id="19" name="AutoShape 7">
              <a:extLst>
                <a:ext uri="{FF2B5EF4-FFF2-40B4-BE49-F238E27FC236}">
                  <a16:creationId xmlns:a16="http://schemas.microsoft.com/office/drawing/2014/main" id="{FFA2ABFB-9C39-D644-0A8D-756330B59F65}"/>
                </a:ext>
              </a:extLst>
            </p:cNvPr>
            <p:cNvCxnSpPr>
              <a:cxnSpLocks noChangeShapeType="1"/>
              <a:stCxn id="14" idx="3"/>
              <a:endCxn id="16" idx="1"/>
            </p:cNvCxnSpPr>
            <p:nvPr/>
          </p:nvCxnSpPr>
          <p:spPr bwMode="auto">
            <a:xfrm flipV="1">
              <a:off x="4903788" y="1858963"/>
              <a:ext cx="530225" cy="1495425"/>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0" name="AutoShape 8">
              <a:extLst>
                <a:ext uri="{FF2B5EF4-FFF2-40B4-BE49-F238E27FC236}">
                  <a16:creationId xmlns:a16="http://schemas.microsoft.com/office/drawing/2014/main" id="{6026B8A5-FCD2-1B41-C9ED-047CEF47E394}"/>
                </a:ext>
              </a:extLst>
            </p:cNvPr>
            <p:cNvCxnSpPr>
              <a:cxnSpLocks noChangeShapeType="1"/>
              <a:stCxn id="14" idx="3"/>
              <a:endCxn id="17" idx="1"/>
            </p:cNvCxnSpPr>
            <p:nvPr/>
          </p:nvCxnSpPr>
          <p:spPr bwMode="auto">
            <a:xfrm>
              <a:off x="4903788" y="3354388"/>
              <a:ext cx="530225" cy="65246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Rectangle 9">
              <a:extLst>
                <a:ext uri="{FF2B5EF4-FFF2-40B4-BE49-F238E27FC236}">
                  <a16:creationId xmlns:a16="http://schemas.microsoft.com/office/drawing/2014/main" id="{2381CEDA-0749-0A73-1793-838B40F2A872}"/>
                </a:ext>
              </a:extLst>
            </p:cNvPr>
            <p:cNvSpPr>
              <a:spLocks noChangeArrowheads="1"/>
            </p:cNvSpPr>
            <p:nvPr/>
          </p:nvSpPr>
          <p:spPr bwMode="auto">
            <a:xfrm>
              <a:off x="5341938" y="4187825"/>
              <a:ext cx="33766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3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Processing Time for </a:t>
              </a:r>
              <a:r>
                <a:rPr lang="en-US" altLang="en-US" sz="1600" u="sng" dirty="0">
                  <a:solidFill>
                    <a:schemeClr val="tx1"/>
                  </a:solidFill>
                  <a:latin typeface="Roboto" panose="02000000000000000000" pitchFamily="2" charset="0"/>
                  <a:ea typeface="Roboto" panose="02000000000000000000" pitchFamily="2" charset="0"/>
                </a:rPr>
                <a:t>one unit </a:t>
              </a:r>
              <a:r>
                <a:rPr lang="en-US" altLang="en-US" sz="1600" dirty="0">
                  <a:solidFill>
                    <a:schemeClr val="tx1"/>
                  </a:solidFill>
                  <a:latin typeface="Roboto" panose="02000000000000000000" pitchFamily="2" charset="0"/>
                  <a:ea typeface="Roboto" panose="02000000000000000000" pitchFamily="2" charset="0"/>
                </a:rPr>
                <a:t>is independent of how many are processed simultaneously</a:t>
              </a:r>
            </a:p>
            <a:p>
              <a:pPr algn="l" eaLnBrk="1" hangingPunct="1">
                <a:lnSpc>
                  <a:spcPct val="100000"/>
                </a:lnSpc>
                <a:spcBef>
                  <a:spcPct val="3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Processing Time ideally is </a:t>
              </a:r>
              <a:r>
                <a:rPr lang="en-US" altLang="en-US" sz="1600" u="sng" dirty="0">
                  <a:solidFill>
                    <a:schemeClr val="tx1"/>
                  </a:solidFill>
                  <a:latin typeface="Roboto" panose="02000000000000000000" pitchFamily="2" charset="0"/>
                  <a:ea typeface="Roboto" panose="02000000000000000000" pitchFamily="2" charset="0"/>
                </a:rPr>
                <a:t>observed</a:t>
              </a:r>
              <a:r>
                <a:rPr lang="en-US" altLang="en-US" sz="1600" dirty="0">
                  <a:solidFill>
                    <a:schemeClr val="tx1"/>
                  </a:solidFill>
                  <a:latin typeface="Roboto" panose="02000000000000000000" pitchFamily="2" charset="0"/>
                  <a:ea typeface="Roboto" panose="02000000000000000000" pitchFamily="2" charset="0"/>
                </a:rPr>
                <a:t>, not calculated</a:t>
              </a:r>
            </a:p>
          </p:txBody>
        </p:sp>
        <p:sp>
          <p:nvSpPr>
            <p:cNvPr id="22" name="AutoShape 30">
              <a:extLst>
                <a:ext uri="{FF2B5EF4-FFF2-40B4-BE49-F238E27FC236}">
                  <a16:creationId xmlns:a16="http://schemas.microsoft.com/office/drawing/2014/main" id="{1277884E-142C-B06C-2849-D6E348D3E1B3}"/>
                </a:ext>
              </a:extLst>
            </p:cNvPr>
            <p:cNvSpPr>
              <a:spLocks noChangeArrowheads="1"/>
            </p:cNvSpPr>
            <p:nvPr/>
          </p:nvSpPr>
          <p:spPr bwMode="auto">
            <a:xfrm>
              <a:off x="1965325" y="2597150"/>
              <a:ext cx="1042988" cy="914400"/>
            </a:xfrm>
            <a:prstGeom prst="cube">
              <a:avLst>
                <a:gd name="adj" fmla="val 25000"/>
              </a:avLst>
            </a:prstGeom>
            <a:solidFill>
              <a:schemeClr val="accent4"/>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endParaRPr lang="en-US" altLang="en-US" sz="1400" b="0">
                <a:solidFill>
                  <a:srgbClr val="FF0000"/>
                </a:solidFill>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97120659-8ECC-E45B-6240-42DAE4AD0525}"/>
                </a:ext>
              </a:extLst>
            </p:cNvPr>
            <p:cNvSpPr txBox="1">
              <a:spLocks noChangeArrowheads="1"/>
            </p:cNvSpPr>
            <p:nvPr/>
          </p:nvSpPr>
          <p:spPr bwMode="auto">
            <a:xfrm>
              <a:off x="2097088" y="2881313"/>
              <a:ext cx="6110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400">
                  <a:latin typeface="Roboto" panose="02000000000000000000" pitchFamily="2" charset="0"/>
                  <a:ea typeface="Roboto" panose="02000000000000000000" pitchFamily="2" charset="0"/>
                </a:rPr>
                <a:t>Cure </a:t>
              </a:r>
            </a:p>
            <a:p>
              <a:pPr>
                <a:lnSpc>
                  <a:spcPct val="100000"/>
                </a:lnSpc>
                <a:spcBef>
                  <a:spcPct val="0"/>
                </a:spcBef>
              </a:pPr>
              <a:r>
                <a:rPr lang="en-US" altLang="en-US" sz="1400">
                  <a:latin typeface="Roboto" panose="02000000000000000000" pitchFamily="2" charset="0"/>
                  <a:ea typeface="Roboto" panose="02000000000000000000" pitchFamily="2" charset="0"/>
                </a:rPr>
                <a:t>Oven</a:t>
              </a:r>
            </a:p>
          </p:txBody>
        </p:sp>
        <p:grpSp>
          <p:nvGrpSpPr>
            <p:cNvPr id="24" name="Group 32">
              <a:extLst>
                <a:ext uri="{FF2B5EF4-FFF2-40B4-BE49-F238E27FC236}">
                  <a16:creationId xmlns:a16="http://schemas.microsoft.com/office/drawing/2014/main" id="{7A01E118-D310-903C-BDC6-F437414B67C6}"/>
                </a:ext>
              </a:extLst>
            </p:cNvPr>
            <p:cNvGrpSpPr>
              <a:grpSpLocks/>
            </p:cNvGrpSpPr>
            <p:nvPr/>
          </p:nvGrpSpPr>
          <p:grpSpPr bwMode="auto">
            <a:xfrm>
              <a:off x="547688" y="2933700"/>
              <a:ext cx="1179512" cy="452438"/>
              <a:chOff x="2442" y="2199"/>
              <a:chExt cx="743" cy="285"/>
            </a:xfrm>
          </p:grpSpPr>
          <p:sp>
            <p:nvSpPr>
              <p:cNvPr id="25" name="AutoShape 33">
                <a:extLst>
                  <a:ext uri="{FF2B5EF4-FFF2-40B4-BE49-F238E27FC236}">
                    <a16:creationId xmlns:a16="http://schemas.microsoft.com/office/drawing/2014/main" id="{2805C4B1-834E-C86D-8E7B-A46F37BF7B14}"/>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6" name="Line 34">
                <a:extLst>
                  <a:ext uri="{FF2B5EF4-FFF2-40B4-BE49-F238E27FC236}">
                    <a16:creationId xmlns:a16="http://schemas.microsoft.com/office/drawing/2014/main" id="{B787B159-8DCD-2565-D9DF-37A7118CE971}"/>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7" name="Line 35">
                <a:extLst>
                  <a:ext uri="{FF2B5EF4-FFF2-40B4-BE49-F238E27FC236}">
                    <a16:creationId xmlns:a16="http://schemas.microsoft.com/office/drawing/2014/main" id="{43B50673-A2B2-1662-CB4F-B701AB89B84C}"/>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8" name="Line 36">
                <a:extLst>
                  <a:ext uri="{FF2B5EF4-FFF2-40B4-BE49-F238E27FC236}">
                    <a16:creationId xmlns:a16="http://schemas.microsoft.com/office/drawing/2014/main" id="{05E1E3B8-FBD2-8484-A06D-27EC1896FEEE}"/>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9" name="Line 37">
                <a:extLst>
                  <a:ext uri="{FF2B5EF4-FFF2-40B4-BE49-F238E27FC236}">
                    <a16:creationId xmlns:a16="http://schemas.microsoft.com/office/drawing/2014/main" id="{EAFDDA50-BF4D-1E6B-1D14-E72BCFCFABB5}"/>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0" name="Line 38">
                <a:extLst>
                  <a:ext uri="{FF2B5EF4-FFF2-40B4-BE49-F238E27FC236}">
                    <a16:creationId xmlns:a16="http://schemas.microsoft.com/office/drawing/2014/main" id="{CBED4BC2-D86A-6939-37A5-348D451AF608}"/>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4" name="Line 39">
                <a:extLst>
                  <a:ext uri="{FF2B5EF4-FFF2-40B4-BE49-F238E27FC236}">
                    <a16:creationId xmlns:a16="http://schemas.microsoft.com/office/drawing/2014/main" id="{693B3702-9AFF-5DBF-BB8D-418E4D3A5281}"/>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35" name="AutoShape 40">
              <a:extLst>
                <a:ext uri="{FF2B5EF4-FFF2-40B4-BE49-F238E27FC236}">
                  <a16:creationId xmlns:a16="http://schemas.microsoft.com/office/drawing/2014/main" id="{D48F422B-0ED9-4CBD-4144-0852CBA62789}"/>
                </a:ext>
              </a:extLst>
            </p:cNvPr>
            <p:cNvSpPr>
              <a:spLocks noChangeArrowheads="1"/>
            </p:cNvSpPr>
            <p:nvPr/>
          </p:nvSpPr>
          <p:spPr bwMode="auto">
            <a:xfrm>
              <a:off x="1592263" y="2994025"/>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sp>
          <p:nvSpPr>
            <p:cNvPr id="38" name="Text Box 41">
              <a:extLst>
                <a:ext uri="{FF2B5EF4-FFF2-40B4-BE49-F238E27FC236}">
                  <a16:creationId xmlns:a16="http://schemas.microsoft.com/office/drawing/2014/main" id="{CA72C9E9-4161-34D8-ADE8-AB9D9652104F}"/>
                </a:ext>
              </a:extLst>
            </p:cNvPr>
            <p:cNvSpPr txBox="1">
              <a:spLocks noChangeArrowheads="1"/>
            </p:cNvSpPr>
            <p:nvPr/>
          </p:nvSpPr>
          <p:spPr bwMode="auto">
            <a:xfrm>
              <a:off x="420688" y="3354388"/>
              <a:ext cx="11477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60 piece Tray</a:t>
              </a:r>
            </a:p>
          </p:txBody>
        </p:sp>
        <p:sp>
          <p:nvSpPr>
            <p:cNvPr id="39" name="Text Box 42">
              <a:extLst>
                <a:ext uri="{FF2B5EF4-FFF2-40B4-BE49-F238E27FC236}">
                  <a16:creationId xmlns:a16="http://schemas.microsoft.com/office/drawing/2014/main" id="{AFC0A949-D345-650C-A748-EFDF64B65E84}"/>
                </a:ext>
              </a:extLst>
            </p:cNvPr>
            <p:cNvSpPr txBox="1">
              <a:spLocks noChangeArrowheads="1"/>
            </p:cNvSpPr>
            <p:nvPr/>
          </p:nvSpPr>
          <p:spPr bwMode="auto">
            <a:xfrm>
              <a:off x="1454150" y="3544888"/>
              <a:ext cx="18133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Oven Capacity = 5 trays</a:t>
              </a:r>
            </a:p>
            <a:p>
              <a:pPr>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Cure Time = 2 hours</a:t>
              </a:r>
            </a:p>
          </p:txBody>
        </p:sp>
        <p:sp>
          <p:nvSpPr>
            <p:cNvPr id="40" name="AutoShape 43">
              <a:extLst>
                <a:ext uri="{FF2B5EF4-FFF2-40B4-BE49-F238E27FC236}">
                  <a16:creationId xmlns:a16="http://schemas.microsoft.com/office/drawing/2014/main" id="{0F1ECABE-BBB8-A6C2-3C00-42FC3C81DD2E}"/>
                </a:ext>
              </a:extLst>
            </p:cNvPr>
            <p:cNvSpPr>
              <a:spLocks noChangeArrowheads="1"/>
            </p:cNvSpPr>
            <p:nvPr/>
          </p:nvSpPr>
          <p:spPr bwMode="auto">
            <a:xfrm>
              <a:off x="3043238" y="2984500"/>
              <a:ext cx="342900" cy="296863"/>
            </a:xfrm>
            <a:custGeom>
              <a:avLst/>
              <a:gdLst>
                <a:gd name="T0" fmla="*/ 64812116 w 21600"/>
                <a:gd name="T1" fmla="*/ 0 h 21600"/>
                <a:gd name="T2" fmla="*/ 0 w 21600"/>
                <a:gd name="T3" fmla="*/ 28037047 h 21600"/>
                <a:gd name="T4" fmla="*/ 64812116 w 21600"/>
                <a:gd name="T5" fmla="*/ 56073902 h 21600"/>
                <a:gd name="T6" fmla="*/ 86416166 w 21600"/>
                <a:gd name="T7" fmla="*/ 280370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grpSp>
          <p:nvGrpSpPr>
            <p:cNvPr id="41" name="Group 44">
              <a:extLst>
                <a:ext uri="{FF2B5EF4-FFF2-40B4-BE49-F238E27FC236}">
                  <a16:creationId xmlns:a16="http://schemas.microsoft.com/office/drawing/2014/main" id="{DAD10743-A294-316D-B0B6-C3732C3328A8}"/>
                </a:ext>
              </a:extLst>
            </p:cNvPr>
            <p:cNvGrpSpPr>
              <a:grpSpLocks/>
            </p:cNvGrpSpPr>
            <p:nvPr/>
          </p:nvGrpSpPr>
          <p:grpSpPr bwMode="auto">
            <a:xfrm>
              <a:off x="3330575" y="2560638"/>
              <a:ext cx="1538288" cy="1058862"/>
              <a:chOff x="4402" y="1946"/>
              <a:chExt cx="969" cy="667"/>
            </a:xfrm>
          </p:grpSpPr>
          <p:grpSp>
            <p:nvGrpSpPr>
              <p:cNvPr id="42" name="Group 45">
                <a:extLst>
                  <a:ext uri="{FF2B5EF4-FFF2-40B4-BE49-F238E27FC236}">
                    <a16:creationId xmlns:a16="http://schemas.microsoft.com/office/drawing/2014/main" id="{BCB0BEBC-B8C1-4FA6-5657-C1AA3A39B02E}"/>
                  </a:ext>
                </a:extLst>
              </p:cNvPr>
              <p:cNvGrpSpPr>
                <a:grpSpLocks/>
              </p:cNvGrpSpPr>
              <p:nvPr/>
            </p:nvGrpSpPr>
            <p:grpSpPr bwMode="auto">
              <a:xfrm>
                <a:off x="4628" y="2328"/>
                <a:ext cx="743" cy="285"/>
                <a:chOff x="2442" y="2199"/>
                <a:chExt cx="743" cy="285"/>
              </a:xfrm>
            </p:grpSpPr>
            <p:sp>
              <p:nvSpPr>
                <p:cNvPr id="76" name="AutoShape 46">
                  <a:extLst>
                    <a:ext uri="{FF2B5EF4-FFF2-40B4-BE49-F238E27FC236}">
                      <a16:creationId xmlns:a16="http://schemas.microsoft.com/office/drawing/2014/main" id="{FA385E18-D667-E0CA-462A-707A3CA22845}"/>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7" name="Line 47">
                  <a:extLst>
                    <a:ext uri="{FF2B5EF4-FFF2-40B4-BE49-F238E27FC236}">
                      <a16:creationId xmlns:a16="http://schemas.microsoft.com/office/drawing/2014/main" id="{B7B0496E-DB55-E3EB-74AA-EC23631EDD8D}"/>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8" name="Line 48">
                  <a:extLst>
                    <a:ext uri="{FF2B5EF4-FFF2-40B4-BE49-F238E27FC236}">
                      <a16:creationId xmlns:a16="http://schemas.microsoft.com/office/drawing/2014/main" id="{2104CE3B-5BC6-D78C-9A7A-D8957C74B2EE}"/>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9" name="Line 49">
                  <a:extLst>
                    <a:ext uri="{FF2B5EF4-FFF2-40B4-BE49-F238E27FC236}">
                      <a16:creationId xmlns:a16="http://schemas.microsoft.com/office/drawing/2014/main" id="{20C28E3F-1EED-EEB1-31B8-BEBF21CD66C9}"/>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0" name="Line 50">
                  <a:extLst>
                    <a:ext uri="{FF2B5EF4-FFF2-40B4-BE49-F238E27FC236}">
                      <a16:creationId xmlns:a16="http://schemas.microsoft.com/office/drawing/2014/main" id="{2C61F8FE-CA08-EACC-854A-0C89D2D1CD08}"/>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1" name="Line 51">
                  <a:extLst>
                    <a:ext uri="{FF2B5EF4-FFF2-40B4-BE49-F238E27FC236}">
                      <a16:creationId xmlns:a16="http://schemas.microsoft.com/office/drawing/2014/main" id="{BFA49E9F-F668-3D1E-81BC-D4C478838C19}"/>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2" name="Line 52">
                  <a:extLst>
                    <a:ext uri="{FF2B5EF4-FFF2-40B4-BE49-F238E27FC236}">
                      <a16:creationId xmlns:a16="http://schemas.microsoft.com/office/drawing/2014/main" id="{5870064C-A92E-E631-3A5D-5C9B0BE51EEC}"/>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3" name="Group 53">
                <a:extLst>
                  <a:ext uri="{FF2B5EF4-FFF2-40B4-BE49-F238E27FC236}">
                    <a16:creationId xmlns:a16="http://schemas.microsoft.com/office/drawing/2014/main" id="{CC4AAD4D-BBDB-52F8-63F6-ACEB7C838143}"/>
                  </a:ext>
                </a:extLst>
              </p:cNvPr>
              <p:cNvGrpSpPr>
                <a:grpSpLocks/>
              </p:cNvGrpSpPr>
              <p:nvPr/>
            </p:nvGrpSpPr>
            <p:grpSpPr bwMode="auto">
              <a:xfrm>
                <a:off x="4583" y="2251"/>
                <a:ext cx="743" cy="285"/>
                <a:chOff x="2442" y="2199"/>
                <a:chExt cx="743" cy="285"/>
              </a:xfrm>
            </p:grpSpPr>
            <p:sp>
              <p:nvSpPr>
                <p:cNvPr id="69" name="AutoShape 54">
                  <a:extLst>
                    <a:ext uri="{FF2B5EF4-FFF2-40B4-BE49-F238E27FC236}">
                      <a16:creationId xmlns:a16="http://schemas.microsoft.com/office/drawing/2014/main" id="{C4CF89DA-311C-29CF-B0F9-6AF731DFE224}"/>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0" name="Line 55">
                  <a:extLst>
                    <a:ext uri="{FF2B5EF4-FFF2-40B4-BE49-F238E27FC236}">
                      <a16:creationId xmlns:a16="http://schemas.microsoft.com/office/drawing/2014/main" id="{16857AEC-C731-A7E3-424F-9C2CA9100558}"/>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1" name="Line 56">
                  <a:extLst>
                    <a:ext uri="{FF2B5EF4-FFF2-40B4-BE49-F238E27FC236}">
                      <a16:creationId xmlns:a16="http://schemas.microsoft.com/office/drawing/2014/main" id="{C7B17478-1270-851D-F9A1-7AD3478D8FD8}"/>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2" name="Line 57">
                  <a:extLst>
                    <a:ext uri="{FF2B5EF4-FFF2-40B4-BE49-F238E27FC236}">
                      <a16:creationId xmlns:a16="http://schemas.microsoft.com/office/drawing/2014/main" id="{C76E294E-4543-820F-D2DE-0F12A4E0ECAF}"/>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3" name="Line 58">
                  <a:extLst>
                    <a:ext uri="{FF2B5EF4-FFF2-40B4-BE49-F238E27FC236}">
                      <a16:creationId xmlns:a16="http://schemas.microsoft.com/office/drawing/2014/main" id="{E09D3F9A-ECA8-DA6E-EFC4-4579F7A52578}"/>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4" name="Line 59">
                  <a:extLst>
                    <a:ext uri="{FF2B5EF4-FFF2-40B4-BE49-F238E27FC236}">
                      <a16:creationId xmlns:a16="http://schemas.microsoft.com/office/drawing/2014/main" id="{F1E17240-4405-447A-6195-C14D50E0466A}"/>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5" name="Line 60">
                  <a:extLst>
                    <a:ext uri="{FF2B5EF4-FFF2-40B4-BE49-F238E27FC236}">
                      <a16:creationId xmlns:a16="http://schemas.microsoft.com/office/drawing/2014/main" id="{EA0B8462-F3A2-30FC-220A-EF8657AD260C}"/>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4" name="Group 61">
                <a:extLst>
                  <a:ext uri="{FF2B5EF4-FFF2-40B4-BE49-F238E27FC236}">
                    <a16:creationId xmlns:a16="http://schemas.microsoft.com/office/drawing/2014/main" id="{3DD7FD21-D9CD-BD36-6333-DC0F79F0D167}"/>
                  </a:ext>
                </a:extLst>
              </p:cNvPr>
              <p:cNvGrpSpPr>
                <a:grpSpLocks/>
              </p:cNvGrpSpPr>
              <p:nvPr/>
            </p:nvGrpSpPr>
            <p:grpSpPr bwMode="auto">
              <a:xfrm>
                <a:off x="4544" y="2143"/>
                <a:ext cx="743" cy="285"/>
                <a:chOff x="2442" y="2199"/>
                <a:chExt cx="743" cy="285"/>
              </a:xfrm>
            </p:grpSpPr>
            <p:sp>
              <p:nvSpPr>
                <p:cNvPr id="62" name="AutoShape 62">
                  <a:extLst>
                    <a:ext uri="{FF2B5EF4-FFF2-40B4-BE49-F238E27FC236}">
                      <a16:creationId xmlns:a16="http://schemas.microsoft.com/office/drawing/2014/main" id="{627EC75E-C14B-35A1-E42C-1BEF920CC32C}"/>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3" name="Line 63">
                  <a:extLst>
                    <a:ext uri="{FF2B5EF4-FFF2-40B4-BE49-F238E27FC236}">
                      <a16:creationId xmlns:a16="http://schemas.microsoft.com/office/drawing/2014/main" id="{9A1DE970-2D4D-6CC1-9DC2-F429DB1ABDC5}"/>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Line 64">
                  <a:extLst>
                    <a:ext uri="{FF2B5EF4-FFF2-40B4-BE49-F238E27FC236}">
                      <a16:creationId xmlns:a16="http://schemas.microsoft.com/office/drawing/2014/main" id="{80B2818B-F150-079C-E39A-AC4C61133ADA}"/>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5" name="Line 65">
                  <a:extLst>
                    <a:ext uri="{FF2B5EF4-FFF2-40B4-BE49-F238E27FC236}">
                      <a16:creationId xmlns:a16="http://schemas.microsoft.com/office/drawing/2014/main" id="{61589DC8-FE89-1BAA-337E-09E88A2DDE6C}"/>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6" name="Line 66">
                  <a:extLst>
                    <a:ext uri="{FF2B5EF4-FFF2-40B4-BE49-F238E27FC236}">
                      <a16:creationId xmlns:a16="http://schemas.microsoft.com/office/drawing/2014/main" id="{934912D0-68E2-85AB-47DE-568078D817E2}"/>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7" name="Line 67">
                  <a:extLst>
                    <a:ext uri="{FF2B5EF4-FFF2-40B4-BE49-F238E27FC236}">
                      <a16:creationId xmlns:a16="http://schemas.microsoft.com/office/drawing/2014/main" id="{4DA598C4-598D-1321-692D-23A6B2ED88AF}"/>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8" name="Line 68">
                  <a:extLst>
                    <a:ext uri="{FF2B5EF4-FFF2-40B4-BE49-F238E27FC236}">
                      <a16:creationId xmlns:a16="http://schemas.microsoft.com/office/drawing/2014/main" id="{473683CF-0FF7-79C6-8BEC-A7A5186BC462}"/>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5" name="Group 69">
                <a:extLst>
                  <a:ext uri="{FF2B5EF4-FFF2-40B4-BE49-F238E27FC236}">
                    <a16:creationId xmlns:a16="http://schemas.microsoft.com/office/drawing/2014/main" id="{D14FF157-95C0-B2A3-1F89-3234DDABAC01}"/>
                  </a:ext>
                </a:extLst>
              </p:cNvPr>
              <p:cNvGrpSpPr>
                <a:grpSpLocks/>
              </p:cNvGrpSpPr>
              <p:nvPr/>
            </p:nvGrpSpPr>
            <p:grpSpPr bwMode="auto">
              <a:xfrm>
                <a:off x="4473" y="2061"/>
                <a:ext cx="743" cy="285"/>
                <a:chOff x="2442" y="2199"/>
                <a:chExt cx="743" cy="285"/>
              </a:xfrm>
            </p:grpSpPr>
            <p:sp>
              <p:nvSpPr>
                <p:cNvPr id="55" name="AutoShape 70">
                  <a:extLst>
                    <a:ext uri="{FF2B5EF4-FFF2-40B4-BE49-F238E27FC236}">
                      <a16:creationId xmlns:a16="http://schemas.microsoft.com/office/drawing/2014/main" id="{8604E3BA-C760-F6F8-124D-5600170B0D7E}"/>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Line 71">
                  <a:extLst>
                    <a:ext uri="{FF2B5EF4-FFF2-40B4-BE49-F238E27FC236}">
                      <a16:creationId xmlns:a16="http://schemas.microsoft.com/office/drawing/2014/main" id="{D3FB58C6-327E-BBFE-618F-C005C5B95E36}"/>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7" name="Line 72">
                  <a:extLst>
                    <a:ext uri="{FF2B5EF4-FFF2-40B4-BE49-F238E27FC236}">
                      <a16:creationId xmlns:a16="http://schemas.microsoft.com/office/drawing/2014/main" id="{EBCAA12F-8C32-A09A-BAE6-63991180CF34}"/>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8" name="Line 73">
                  <a:extLst>
                    <a:ext uri="{FF2B5EF4-FFF2-40B4-BE49-F238E27FC236}">
                      <a16:creationId xmlns:a16="http://schemas.microsoft.com/office/drawing/2014/main" id="{9F699A80-01D4-A9DD-AC55-DE66F687B44B}"/>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9" name="Line 74">
                  <a:extLst>
                    <a:ext uri="{FF2B5EF4-FFF2-40B4-BE49-F238E27FC236}">
                      <a16:creationId xmlns:a16="http://schemas.microsoft.com/office/drawing/2014/main" id="{C96DFCB7-3944-0897-3F55-39343503168E}"/>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0" name="Line 75">
                  <a:extLst>
                    <a:ext uri="{FF2B5EF4-FFF2-40B4-BE49-F238E27FC236}">
                      <a16:creationId xmlns:a16="http://schemas.microsoft.com/office/drawing/2014/main" id="{962C86A0-86C1-34F2-B738-3042C063B307}"/>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1" name="Line 76">
                  <a:extLst>
                    <a:ext uri="{FF2B5EF4-FFF2-40B4-BE49-F238E27FC236}">
                      <a16:creationId xmlns:a16="http://schemas.microsoft.com/office/drawing/2014/main" id="{D613297F-C9E3-C3B4-CE62-FF6444E1D829}"/>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7" name="Group 77">
                <a:extLst>
                  <a:ext uri="{FF2B5EF4-FFF2-40B4-BE49-F238E27FC236}">
                    <a16:creationId xmlns:a16="http://schemas.microsoft.com/office/drawing/2014/main" id="{E901A1FF-8E6F-59B8-5EA2-CFCCE0B4F5FB}"/>
                  </a:ext>
                </a:extLst>
              </p:cNvPr>
              <p:cNvGrpSpPr>
                <a:grpSpLocks/>
              </p:cNvGrpSpPr>
              <p:nvPr/>
            </p:nvGrpSpPr>
            <p:grpSpPr bwMode="auto">
              <a:xfrm>
                <a:off x="4402" y="1946"/>
                <a:ext cx="743" cy="285"/>
                <a:chOff x="2442" y="2199"/>
                <a:chExt cx="743" cy="285"/>
              </a:xfrm>
            </p:grpSpPr>
            <p:sp>
              <p:nvSpPr>
                <p:cNvPr id="48" name="AutoShape 78">
                  <a:extLst>
                    <a:ext uri="{FF2B5EF4-FFF2-40B4-BE49-F238E27FC236}">
                      <a16:creationId xmlns:a16="http://schemas.microsoft.com/office/drawing/2014/main" id="{F25C292C-7FBF-0013-E3B4-52F4CB8354D8}"/>
                    </a:ext>
                  </a:extLst>
                </p:cNvPr>
                <p:cNvSpPr>
                  <a:spLocks noChangeArrowheads="1"/>
                </p:cNvSpPr>
                <p:nvPr/>
              </p:nvSpPr>
              <p:spPr bwMode="auto">
                <a:xfrm>
                  <a:off x="2442" y="2199"/>
                  <a:ext cx="743" cy="285"/>
                </a:xfrm>
                <a:prstGeom prst="cube">
                  <a:avLst>
                    <a:gd name="adj" fmla="val 89856"/>
                  </a:avLst>
                </a:prstGeom>
                <a:solidFill>
                  <a:schemeClr val="accent2"/>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9" name="Line 79">
                  <a:extLst>
                    <a:ext uri="{FF2B5EF4-FFF2-40B4-BE49-F238E27FC236}">
                      <a16:creationId xmlns:a16="http://schemas.microsoft.com/office/drawing/2014/main" id="{B8DE4058-ADCD-A7CF-BFB3-9A8653415405}"/>
                    </a:ext>
                  </a:extLst>
                </p:cNvPr>
                <p:cNvSpPr>
                  <a:spLocks noChangeShapeType="1"/>
                </p:cNvSpPr>
                <p:nvPr/>
              </p:nvSpPr>
              <p:spPr bwMode="auto">
                <a:xfrm flipV="1">
                  <a:off x="2617" y="2301"/>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0" name="Line 80">
                  <a:extLst>
                    <a:ext uri="{FF2B5EF4-FFF2-40B4-BE49-F238E27FC236}">
                      <a16:creationId xmlns:a16="http://schemas.microsoft.com/office/drawing/2014/main" id="{D0A5BA4E-ADAC-6F93-35C0-AC69F1B87D03}"/>
                    </a:ext>
                  </a:extLst>
                </p:cNvPr>
                <p:cNvSpPr>
                  <a:spLocks noChangeShapeType="1"/>
                </p:cNvSpPr>
                <p:nvPr/>
              </p:nvSpPr>
              <p:spPr bwMode="auto">
                <a:xfrm flipV="1">
                  <a:off x="2578" y="234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1" name="Line 81">
                  <a:extLst>
                    <a:ext uri="{FF2B5EF4-FFF2-40B4-BE49-F238E27FC236}">
                      <a16:creationId xmlns:a16="http://schemas.microsoft.com/office/drawing/2014/main" id="{6B3D5CFA-88D5-1356-E4B0-56E6AFE7E9E2}"/>
                    </a:ext>
                  </a:extLst>
                </p:cNvPr>
                <p:cNvSpPr>
                  <a:spLocks noChangeShapeType="1"/>
                </p:cNvSpPr>
                <p:nvPr/>
              </p:nvSpPr>
              <p:spPr bwMode="auto">
                <a:xfrm flipV="1">
                  <a:off x="2539" y="238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2" name="Line 82">
                  <a:extLst>
                    <a:ext uri="{FF2B5EF4-FFF2-40B4-BE49-F238E27FC236}">
                      <a16:creationId xmlns:a16="http://schemas.microsoft.com/office/drawing/2014/main" id="{BBC4D584-D637-6409-BAF6-6DF23E592B29}"/>
                    </a:ext>
                  </a:extLst>
                </p:cNvPr>
                <p:cNvSpPr>
                  <a:spLocks noChangeShapeType="1"/>
                </p:cNvSpPr>
                <p:nvPr/>
              </p:nvSpPr>
              <p:spPr bwMode="auto">
                <a:xfrm flipV="1">
                  <a:off x="2500" y="2424"/>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3" name="Line 83">
                  <a:extLst>
                    <a:ext uri="{FF2B5EF4-FFF2-40B4-BE49-F238E27FC236}">
                      <a16:creationId xmlns:a16="http://schemas.microsoft.com/office/drawing/2014/main" id="{1994330A-35CE-868F-F20E-228D577E690C}"/>
                    </a:ext>
                  </a:extLst>
                </p:cNvPr>
                <p:cNvSpPr>
                  <a:spLocks noChangeShapeType="1"/>
                </p:cNvSpPr>
                <p:nvPr/>
              </p:nvSpPr>
              <p:spPr bwMode="auto">
                <a:xfrm flipV="1">
                  <a:off x="2658" y="2262"/>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4" name="Line 84">
                  <a:extLst>
                    <a:ext uri="{FF2B5EF4-FFF2-40B4-BE49-F238E27FC236}">
                      <a16:creationId xmlns:a16="http://schemas.microsoft.com/office/drawing/2014/main" id="{D7544AF6-ADF7-87DC-A38B-762E86C1CF16}"/>
                    </a:ext>
                  </a:extLst>
                </p:cNvPr>
                <p:cNvSpPr>
                  <a:spLocks noChangeShapeType="1"/>
                </p:cNvSpPr>
                <p:nvPr/>
              </p:nvSpPr>
              <p:spPr bwMode="auto">
                <a:xfrm flipV="1">
                  <a:off x="2694" y="2223"/>
                  <a:ext cx="457" cy="5"/>
                </a:xfrm>
                <a:prstGeom prst="line">
                  <a:avLst/>
                </a:prstGeom>
                <a:noFill/>
                <a:ln w="38100" cap="rnd">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sp>
          <p:nvSpPr>
            <p:cNvPr id="83" name="Text Box 85">
              <a:extLst>
                <a:ext uri="{FF2B5EF4-FFF2-40B4-BE49-F238E27FC236}">
                  <a16:creationId xmlns:a16="http://schemas.microsoft.com/office/drawing/2014/main" id="{AD66B499-7FCD-72E4-F4B0-030C99E72C5B}"/>
                </a:ext>
              </a:extLst>
            </p:cNvPr>
            <p:cNvSpPr txBox="1">
              <a:spLocks noChangeArrowheads="1"/>
            </p:cNvSpPr>
            <p:nvPr/>
          </p:nvSpPr>
          <p:spPr bwMode="auto">
            <a:xfrm>
              <a:off x="635000" y="4116388"/>
              <a:ext cx="3079672" cy="587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400" dirty="0">
                  <a:solidFill>
                    <a:schemeClr val="accent1"/>
                  </a:solidFill>
                  <a:latin typeface="Roboto" panose="02000000000000000000" pitchFamily="2" charset="0"/>
                  <a:ea typeface="Roboto" panose="02000000000000000000" pitchFamily="2" charset="0"/>
                </a:rPr>
                <a:t>Processing Time = 120 min. cycle x 60 sec.</a:t>
              </a:r>
            </a:p>
            <a:p>
              <a:pPr algn="l">
                <a:lnSpc>
                  <a:spcPct val="100000"/>
                </a:lnSpc>
                <a:spcBef>
                  <a:spcPct val="30000"/>
                </a:spcBef>
              </a:pPr>
              <a:r>
                <a:rPr lang="en-US" altLang="en-US" sz="1400" dirty="0">
                  <a:solidFill>
                    <a:schemeClr val="accent1"/>
                  </a:solidFill>
                  <a:latin typeface="Roboto" panose="02000000000000000000" pitchFamily="2" charset="0"/>
                  <a:ea typeface="Roboto" panose="02000000000000000000" pitchFamily="2" charset="0"/>
                </a:rPr>
                <a:t>Processing Time = 7,200 sec.</a:t>
              </a:r>
            </a:p>
          </p:txBody>
        </p:sp>
      </p:grpSp>
    </p:spTree>
    <p:extLst>
      <p:ext uri="{BB962C8B-B14F-4D97-AF65-F5344CB8AC3E}">
        <p14:creationId xmlns:p14="http://schemas.microsoft.com/office/powerpoint/2010/main" val="353886835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49</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892434" cy="1961534"/>
            <a:chOff x="479425" y="1538288"/>
            <a:chExt cx="8256588" cy="1811337"/>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864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Ship</a:t>
              </a:r>
            </a:p>
            <a:p>
              <a:pPr lvl="1" eaLnBrk="1" hangingPunct="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Daily orders are shipped daily by truck</a:t>
              </a: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flipV="1">
              <a:off x="4102042" y="2168524"/>
              <a:ext cx="2748021" cy="12906"/>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Ship</a:t>
              </a:r>
              <a:endParaRPr lang="en-US" altLang="en-US" sz="1200" dirty="0">
                <a:latin typeface="Roboto" panose="02000000000000000000" pitchFamily="2" charset="0"/>
                <a:ea typeface="Roboto" panose="02000000000000000000" pitchFamily="2" charset="0"/>
              </a:endParaRPr>
            </a:p>
          </p:txBody>
        </p:sp>
      </p:gr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Rectangle 8">
            <a:extLst>
              <a:ext uri="{FF2B5EF4-FFF2-40B4-BE49-F238E27FC236}">
                <a16:creationId xmlns:a16="http://schemas.microsoft.com/office/drawing/2014/main" id="{8943F33B-8575-0292-1F46-D8A8FD2C7241}"/>
              </a:ext>
            </a:extLst>
          </p:cNvPr>
          <p:cNvSpPr>
            <a:spLocks noChangeArrowheads="1"/>
          </p:cNvSpPr>
          <p:nvPr/>
        </p:nvSpPr>
        <p:spPr bwMode="auto">
          <a:xfrm>
            <a:off x="8845304" y="4354409"/>
            <a:ext cx="2097934"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 name="Text Box 9">
            <a:extLst>
              <a:ext uri="{FF2B5EF4-FFF2-40B4-BE49-F238E27FC236}">
                <a16:creationId xmlns:a16="http://schemas.microsoft.com/office/drawing/2014/main" id="{CF71B0AF-055D-0FFE-AC07-51C8D66F11B0}"/>
              </a:ext>
            </a:extLst>
          </p:cNvPr>
          <p:cNvSpPr txBox="1">
            <a:spLocks noChangeArrowheads="1"/>
          </p:cNvSpPr>
          <p:nvPr/>
        </p:nvSpPr>
        <p:spPr bwMode="auto">
          <a:xfrm>
            <a:off x="9347377" y="4003277"/>
            <a:ext cx="11128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800" dirty="0">
                <a:solidFill>
                  <a:schemeClr val="accent1"/>
                </a:solidFill>
                <a:latin typeface="Roboto" panose="02000000000000000000" pitchFamily="2" charset="0"/>
                <a:ea typeface="Roboto" panose="02000000000000000000" pitchFamily="2" charset="0"/>
              </a:rPr>
              <a:t>Data Box</a:t>
            </a:r>
          </a:p>
        </p:txBody>
      </p:sp>
    </p:spTree>
    <p:extLst>
      <p:ext uri="{BB962C8B-B14F-4D97-AF65-F5344CB8AC3E}">
        <p14:creationId xmlns:p14="http://schemas.microsoft.com/office/powerpoint/2010/main" val="377536640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50</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1054608" y="1969793"/>
            <a:ext cx="7335012" cy="4429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ts val="600"/>
              </a:spcBef>
              <a:spcAft>
                <a:spcPts val="60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Production Process – Brake Form</a:t>
            </a:r>
          </a:p>
          <a:p>
            <a:pPr lvl="1">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Stamped pieces are formed into enclosures using a </a:t>
            </a:r>
            <a:r>
              <a:rPr lang="en-US" altLang="en-US" dirty="0">
                <a:solidFill>
                  <a:schemeClr val="accent1"/>
                </a:solidFill>
                <a:latin typeface="Roboto" panose="02000000000000000000" pitchFamily="2" charset="0"/>
                <a:ea typeface="Roboto" panose="02000000000000000000" pitchFamily="2" charset="0"/>
              </a:rPr>
              <a:t>brake form </a:t>
            </a:r>
            <a:r>
              <a:rPr lang="en-US" altLang="en-US" dirty="0">
                <a:latin typeface="Roboto" panose="02000000000000000000" pitchFamily="2" charset="0"/>
                <a:ea typeface="Roboto" panose="02000000000000000000" pitchFamily="2" charset="0"/>
              </a:rPr>
              <a:t>manually operated by </a:t>
            </a:r>
            <a:r>
              <a:rPr lang="en-US" altLang="en-US" dirty="0">
                <a:solidFill>
                  <a:schemeClr val="accent1"/>
                </a:solidFill>
                <a:latin typeface="Roboto" panose="02000000000000000000" pitchFamily="2" charset="0"/>
                <a:ea typeface="Roboto" panose="02000000000000000000" pitchFamily="2" charset="0"/>
              </a:rPr>
              <a:t>one person</a:t>
            </a:r>
          </a:p>
          <a:p>
            <a:pPr lvl="1">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takes </a:t>
            </a:r>
            <a:r>
              <a:rPr lang="en-US" altLang="en-US" dirty="0">
                <a:solidFill>
                  <a:schemeClr val="accent1"/>
                </a:solidFill>
                <a:latin typeface="Roboto" panose="02000000000000000000" pitchFamily="2" charset="0"/>
                <a:ea typeface="Roboto" panose="02000000000000000000" pitchFamily="2" charset="0"/>
              </a:rPr>
              <a:t>20 seconds </a:t>
            </a:r>
            <a:r>
              <a:rPr lang="en-US" altLang="en-US" dirty="0">
                <a:latin typeface="Roboto" panose="02000000000000000000" pitchFamily="2" charset="0"/>
                <a:ea typeface="Roboto" panose="02000000000000000000" pitchFamily="2" charset="0"/>
              </a:rPr>
              <a:t>to load a piece, operate the machine, and unload the piece </a:t>
            </a:r>
          </a:p>
          <a:p>
            <a:pPr lvl="1">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takes </a:t>
            </a:r>
            <a:r>
              <a:rPr lang="en-US" altLang="en-US" dirty="0">
                <a:solidFill>
                  <a:schemeClr val="accent1"/>
                </a:solidFill>
                <a:latin typeface="Roboto" panose="02000000000000000000" pitchFamily="2" charset="0"/>
                <a:ea typeface="Roboto" panose="02000000000000000000" pitchFamily="2" charset="0"/>
              </a:rPr>
              <a:t>2 hours </a:t>
            </a:r>
            <a:r>
              <a:rPr lang="en-US" altLang="en-US" dirty="0">
                <a:latin typeface="Roboto" panose="02000000000000000000" pitchFamily="2" charset="0"/>
                <a:ea typeface="Roboto" panose="02000000000000000000" pitchFamily="2" charset="0"/>
              </a:rPr>
              <a:t>to change over the machine for another product, however this machine is currently dedicated to the one product</a:t>
            </a:r>
          </a:p>
          <a:p>
            <a:pPr lvl="1">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 brake form is quite reliable with an uptime of </a:t>
            </a:r>
            <a:r>
              <a:rPr lang="en-US" altLang="en-US" dirty="0">
                <a:solidFill>
                  <a:schemeClr val="accent1"/>
                </a:solidFill>
                <a:latin typeface="Roboto" panose="02000000000000000000" pitchFamily="2" charset="0"/>
                <a:ea typeface="Roboto" panose="02000000000000000000" pitchFamily="2" charset="0"/>
              </a:rPr>
              <a:t>99%</a:t>
            </a:r>
          </a:p>
          <a:p>
            <a:pPr lvl="1">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 first pass yield for this operation is </a:t>
            </a:r>
            <a:r>
              <a:rPr lang="en-US" altLang="en-US" dirty="0">
                <a:solidFill>
                  <a:schemeClr val="accent1"/>
                </a:solidFill>
                <a:latin typeface="Roboto" panose="02000000000000000000" pitchFamily="2" charset="0"/>
                <a:ea typeface="Roboto" panose="02000000000000000000" pitchFamily="2" charset="0"/>
              </a:rPr>
              <a:t>85%</a:t>
            </a:r>
            <a:r>
              <a:rPr lang="en-US" altLang="en-US" dirty="0">
                <a:latin typeface="Roboto" panose="02000000000000000000" pitchFamily="2" charset="0"/>
                <a:ea typeface="Roboto" panose="02000000000000000000" pitchFamily="2" charset="0"/>
              </a:rPr>
              <a:t>, mostly due to material handling and alignment by the operator</a:t>
            </a:r>
          </a:p>
          <a:p>
            <a:pPr lvl="1">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After this operation, the finished product is ready to be shipped to the customer</a:t>
            </a:r>
            <a:endParaRPr lang="en-US" altLang="en-US" dirty="0">
              <a:solidFill>
                <a:schemeClr val="accent1"/>
              </a:solidFill>
              <a:latin typeface="Roboto" panose="02000000000000000000" pitchFamily="2" charset="0"/>
              <a:ea typeface="Roboto" panose="02000000000000000000" pitchFamily="2" charset="0"/>
            </a:endParaRP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8849108" y="2349723"/>
            <a:ext cx="2097934" cy="157301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9123240" y="1961198"/>
            <a:ext cx="14830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flipV="1">
            <a:off x="7646671" y="2663189"/>
            <a:ext cx="1213850" cy="0"/>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8898560" y="2401297"/>
            <a:ext cx="20104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Brake Form</a:t>
            </a:r>
            <a:endParaRPr lang="en-US" altLang="en-US" sz="1200" dirty="0">
              <a:latin typeface="Roboto" panose="02000000000000000000" pitchFamily="2" charset="0"/>
              <a:ea typeface="Roboto" panose="02000000000000000000" pitchFamily="2" charset="0"/>
            </a:endParaRPr>
          </a:p>
        </p:txBody>
      </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11">
            <a:extLst>
              <a:ext uri="{FF2B5EF4-FFF2-40B4-BE49-F238E27FC236}">
                <a16:creationId xmlns:a16="http://schemas.microsoft.com/office/drawing/2014/main" id="{693E7632-5E04-461E-B5B7-5F453A6AAC13}"/>
              </a:ext>
            </a:extLst>
          </p:cNvPr>
          <p:cNvSpPr>
            <a:spLocks noChangeShapeType="1"/>
          </p:cNvSpPr>
          <p:nvPr/>
        </p:nvSpPr>
        <p:spPr bwMode="auto">
          <a:xfrm>
            <a:off x="4914900" y="2899611"/>
            <a:ext cx="4081645" cy="236018"/>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18" name="Group 17">
            <a:extLst>
              <a:ext uri="{FF2B5EF4-FFF2-40B4-BE49-F238E27FC236}">
                <a16:creationId xmlns:a16="http://schemas.microsoft.com/office/drawing/2014/main" id="{235750ED-3311-DA14-2A72-D951B20AFA49}"/>
              </a:ext>
            </a:extLst>
          </p:cNvPr>
          <p:cNvGrpSpPr/>
          <p:nvPr/>
        </p:nvGrpSpPr>
        <p:grpSpPr>
          <a:xfrm>
            <a:off x="9543962" y="3064732"/>
            <a:ext cx="855663" cy="360363"/>
            <a:chOff x="7523163" y="2673351"/>
            <a:chExt cx="855663" cy="360363"/>
          </a:xfrm>
        </p:grpSpPr>
        <p:sp>
          <p:nvSpPr>
            <p:cNvPr id="15" name="Oval 32">
              <a:extLst>
                <a:ext uri="{FF2B5EF4-FFF2-40B4-BE49-F238E27FC236}">
                  <a16:creationId xmlns:a16="http://schemas.microsoft.com/office/drawing/2014/main" id="{07EA2B19-7120-C987-5208-52FF69726A20}"/>
                </a:ext>
              </a:extLst>
            </p:cNvPr>
            <p:cNvSpPr>
              <a:spLocks noChangeArrowheads="1"/>
            </p:cNvSpPr>
            <p:nvPr/>
          </p:nvSpPr>
          <p:spPr bwMode="auto">
            <a:xfrm flipV="1">
              <a:off x="7604919" y="2760327"/>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 name="AutoShape 33">
              <a:extLst>
                <a:ext uri="{FF2B5EF4-FFF2-40B4-BE49-F238E27FC236}">
                  <a16:creationId xmlns:a16="http://schemas.microsoft.com/office/drawing/2014/main" id="{9681B1A7-D789-3503-08D4-EA611D45E86F}"/>
                </a:ext>
              </a:extLst>
            </p:cNvPr>
            <p:cNvSpPr>
              <a:spLocks noChangeArrowheads="1"/>
            </p:cNvSpPr>
            <p:nvPr/>
          </p:nvSpPr>
          <p:spPr bwMode="auto">
            <a:xfrm flipV="1">
              <a:off x="7523163" y="2673351"/>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7" name="Text Box 34">
              <a:extLst>
                <a:ext uri="{FF2B5EF4-FFF2-40B4-BE49-F238E27FC236}">
                  <a16:creationId xmlns:a16="http://schemas.microsoft.com/office/drawing/2014/main" id="{A8558176-07F6-79C9-1BC1-B4CD8F4088AA}"/>
                </a:ext>
              </a:extLst>
            </p:cNvPr>
            <p:cNvSpPr txBox="1">
              <a:spLocks noChangeArrowheads="1"/>
            </p:cNvSpPr>
            <p:nvPr/>
          </p:nvSpPr>
          <p:spPr bwMode="auto">
            <a:xfrm>
              <a:off x="7943851" y="2728914"/>
              <a:ext cx="434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tx1"/>
                  </a:solidFill>
                </a:rPr>
                <a:t>= 1</a:t>
              </a:r>
            </a:p>
          </p:txBody>
        </p:sp>
      </p:grpSp>
      <p:sp>
        <p:nvSpPr>
          <p:cNvPr id="19" name="Rectangle 5">
            <a:extLst>
              <a:ext uri="{FF2B5EF4-FFF2-40B4-BE49-F238E27FC236}">
                <a16:creationId xmlns:a16="http://schemas.microsoft.com/office/drawing/2014/main" id="{A65EBC6A-C86D-5F6C-7768-D8521BACB8F6}"/>
              </a:ext>
            </a:extLst>
          </p:cNvPr>
          <p:cNvSpPr>
            <a:spLocks noChangeArrowheads="1"/>
          </p:cNvSpPr>
          <p:nvPr/>
        </p:nvSpPr>
        <p:spPr bwMode="auto">
          <a:xfrm>
            <a:off x="8860521" y="4455929"/>
            <a:ext cx="2097934" cy="1759007"/>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DOI = 20 sec</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CO/Time = 120min</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Uptime = 99%</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Quality = 85%</a:t>
            </a:r>
          </a:p>
        </p:txBody>
      </p:sp>
      <p:sp>
        <p:nvSpPr>
          <p:cNvPr id="20" name="Text Box 7">
            <a:extLst>
              <a:ext uri="{FF2B5EF4-FFF2-40B4-BE49-F238E27FC236}">
                <a16:creationId xmlns:a16="http://schemas.microsoft.com/office/drawing/2014/main" id="{002E0ED5-B687-A8FC-EAB3-CBF1DDFB577B}"/>
              </a:ext>
            </a:extLst>
          </p:cNvPr>
          <p:cNvSpPr txBox="1">
            <a:spLocks noChangeArrowheads="1"/>
          </p:cNvSpPr>
          <p:nvPr/>
        </p:nvSpPr>
        <p:spPr bwMode="auto">
          <a:xfrm>
            <a:off x="9347377" y="4076961"/>
            <a:ext cx="11128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Data Box</a:t>
            </a:r>
          </a:p>
        </p:txBody>
      </p:sp>
      <p:sp>
        <p:nvSpPr>
          <p:cNvPr id="22" name="Line 11">
            <a:extLst>
              <a:ext uri="{FF2B5EF4-FFF2-40B4-BE49-F238E27FC236}">
                <a16:creationId xmlns:a16="http://schemas.microsoft.com/office/drawing/2014/main" id="{568E7C18-DD48-DDD8-507B-AFA315C6E81A}"/>
              </a:ext>
            </a:extLst>
          </p:cNvPr>
          <p:cNvSpPr>
            <a:spLocks noChangeShapeType="1"/>
          </p:cNvSpPr>
          <p:nvPr/>
        </p:nvSpPr>
        <p:spPr bwMode="auto">
          <a:xfrm>
            <a:off x="3657600" y="3464016"/>
            <a:ext cx="5689777" cy="87369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3" name="Line 11">
            <a:extLst>
              <a:ext uri="{FF2B5EF4-FFF2-40B4-BE49-F238E27FC236}">
                <a16:creationId xmlns:a16="http://schemas.microsoft.com/office/drawing/2014/main" id="{05427E27-7B88-85D8-2A30-B9FD92689B4C}"/>
              </a:ext>
            </a:extLst>
          </p:cNvPr>
          <p:cNvSpPr>
            <a:spLocks noChangeShapeType="1"/>
          </p:cNvSpPr>
          <p:nvPr/>
        </p:nvSpPr>
        <p:spPr bwMode="auto">
          <a:xfrm>
            <a:off x="3246120" y="4076960"/>
            <a:ext cx="5614401" cy="94336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4" name="Line 11">
            <a:extLst>
              <a:ext uri="{FF2B5EF4-FFF2-40B4-BE49-F238E27FC236}">
                <a16:creationId xmlns:a16="http://schemas.microsoft.com/office/drawing/2014/main" id="{EB316C69-DC9A-2B2D-89C2-D59D5FC611FE}"/>
              </a:ext>
            </a:extLst>
          </p:cNvPr>
          <p:cNvSpPr>
            <a:spLocks noChangeShapeType="1"/>
          </p:cNvSpPr>
          <p:nvPr/>
        </p:nvSpPr>
        <p:spPr bwMode="auto">
          <a:xfrm>
            <a:off x="6800851" y="4849270"/>
            <a:ext cx="2044454" cy="56768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5" name="Line 11">
            <a:extLst>
              <a:ext uri="{FF2B5EF4-FFF2-40B4-BE49-F238E27FC236}">
                <a16:creationId xmlns:a16="http://schemas.microsoft.com/office/drawing/2014/main" id="{44659B2E-95C9-F6D5-B254-11A9F8D21A93}"/>
              </a:ext>
            </a:extLst>
          </p:cNvPr>
          <p:cNvSpPr>
            <a:spLocks noChangeShapeType="1"/>
          </p:cNvSpPr>
          <p:nvPr/>
        </p:nvSpPr>
        <p:spPr bwMode="auto">
          <a:xfrm>
            <a:off x="5875021" y="5299429"/>
            <a:ext cx="3023540" cy="601440"/>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1" name="Rectangle 40">
            <a:extLst>
              <a:ext uri="{FF2B5EF4-FFF2-40B4-BE49-F238E27FC236}">
                <a16:creationId xmlns:a16="http://schemas.microsoft.com/office/drawing/2014/main" id="{24784AAD-59C0-6D79-A7FE-FDF787D35F84}"/>
              </a:ext>
            </a:extLst>
          </p:cNvPr>
          <p:cNvSpPr>
            <a:spLocks noChangeArrowheads="1"/>
          </p:cNvSpPr>
          <p:nvPr/>
        </p:nvSpPr>
        <p:spPr bwMode="auto">
          <a:xfrm>
            <a:off x="5105083" y="4400348"/>
            <a:ext cx="1539875" cy="265750"/>
          </a:xfrm>
          <a:prstGeom prst="rect">
            <a:avLst/>
          </a:prstGeom>
          <a:solidFill>
            <a:schemeClr val="bg1"/>
          </a:solidFill>
          <a:ln w="12700"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accent1"/>
                </a:solidFill>
                <a:latin typeface="Roboto" panose="02000000000000000000" pitchFamily="2" charset="0"/>
                <a:ea typeface="Roboto" panose="02000000000000000000" pitchFamily="2" charset="0"/>
              </a:rPr>
              <a:t>2 hours </a:t>
            </a:r>
            <a:r>
              <a:rPr lang="en-US" altLang="en-US" b="0" dirty="0">
                <a:solidFill>
                  <a:schemeClr val="accent1"/>
                </a:solidFill>
                <a:latin typeface="Roboto" panose="02000000000000000000" pitchFamily="2" charset="0"/>
                <a:ea typeface="Roboto" panose="02000000000000000000" pitchFamily="2" charset="0"/>
                <a:cs typeface="Arial" panose="020B0604020202020204" pitchFamily="34" charset="0"/>
              </a:rPr>
              <a:t>x 60 = 120 minutes</a:t>
            </a:r>
          </a:p>
        </p:txBody>
      </p:sp>
    </p:spTree>
    <p:extLst>
      <p:ext uri="{BB962C8B-B14F-4D97-AF65-F5344CB8AC3E}">
        <p14:creationId xmlns:p14="http://schemas.microsoft.com/office/powerpoint/2010/main" val="110912033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51</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892434" cy="4502133"/>
            <a:chOff x="479425" y="1538288"/>
            <a:chExt cx="8256588" cy="4157399"/>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4149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ts val="600"/>
                </a:spcBef>
                <a:spcAft>
                  <a:spcPts val="60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Production Process - Stamp</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Cut sheet metal pieces are stamped by machine to add features such as holes, slots and bend tabs</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There is a single stamping press, operated by </a:t>
              </a:r>
              <a:r>
                <a:rPr lang="en-US" altLang="en-US" dirty="0">
                  <a:solidFill>
                    <a:schemeClr val="accent1"/>
                  </a:solidFill>
                  <a:latin typeface="Roboto" panose="02000000000000000000" pitchFamily="2" charset="0"/>
                  <a:ea typeface="Roboto" panose="02000000000000000000" pitchFamily="2" charset="0"/>
                </a:rPr>
                <a:t>one person</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takes </a:t>
              </a:r>
              <a:r>
                <a:rPr lang="en-US" altLang="en-US" dirty="0">
                  <a:solidFill>
                    <a:schemeClr val="accent1"/>
                  </a:solidFill>
                  <a:latin typeface="Roboto" panose="02000000000000000000" pitchFamily="2" charset="0"/>
                  <a:ea typeface="Roboto" panose="02000000000000000000" pitchFamily="2" charset="0"/>
                </a:rPr>
                <a:t>15 seconds </a:t>
              </a:r>
              <a:r>
                <a:rPr lang="en-US" altLang="en-US" dirty="0">
                  <a:latin typeface="Roboto" panose="02000000000000000000" pitchFamily="2" charset="0"/>
                  <a:ea typeface="Roboto" panose="02000000000000000000" pitchFamily="2" charset="0"/>
                </a:rPr>
                <a:t>to load a piece, operate the machine, and unload the piece</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takes </a:t>
              </a:r>
              <a:r>
                <a:rPr lang="en-US" altLang="en-US" dirty="0">
                  <a:solidFill>
                    <a:schemeClr val="accent1"/>
                  </a:solidFill>
                  <a:latin typeface="Roboto" panose="02000000000000000000" pitchFamily="2" charset="0"/>
                  <a:ea typeface="Roboto" panose="02000000000000000000" pitchFamily="2" charset="0"/>
                </a:rPr>
                <a:t>30 minutes </a:t>
              </a:r>
              <a:r>
                <a:rPr lang="en-US" altLang="en-US" dirty="0">
                  <a:latin typeface="Roboto" panose="02000000000000000000" pitchFamily="2" charset="0"/>
                  <a:ea typeface="Roboto" panose="02000000000000000000" pitchFamily="2" charset="0"/>
                </a:rPr>
                <a:t>to change over the press for another product, however this machine is currently dedicated to the one product</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 stamping press is highly reliable with an </a:t>
              </a:r>
              <a:r>
                <a:rPr lang="en-US" altLang="en-US" dirty="0">
                  <a:solidFill>
                    <a:schemeClr val="accent1"/>
                  </a:solidFill>
                  <a:latin typeface="Roboto" panose="02000000000000000000" pitchFamily="2" charset="0"/>
                  <a:ea typeface="Roboto" panose="02000000000000000000" pitchFamily="2" charset="0"/>
                </a:rPr>
                <a:t>uptime of 99%</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An occasional misalignment in the machine </a:t>
              </a:r>
              <a:r>
                <a:rPr lang="en-US" altLang="en-US" dirty="0">
                  <a:solidFill>
                    <a:schemeClr val="accent1"/>
                  </a:solidFill>
                  <a:latin typeface="Roboto" panose="02000000000000000000" pitchFamily="2" charset="0"/>
                  <a:ea typeface="Roboto" panose="02000000000000000000" pitchFamily="2" charset="0"/>
                </a:rPr>
                <a:t>produces a defective piece, about 1 in 50</a:t>
              </a: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a:off x="3224371" y="1827473"/>
              <a:ext cx="3625692" cy="341051"/>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Stamp</a:t>
              </a:r>
              <a:endParaRPr lang="en-US" altLang="en-US" sz="1200" dirty="0">
                <a:latin typeface="Roboto" panose="02000000000000000000" pitchFamily="2" charset="0"/>
                <a:ea typeface="Roboto" panose="02000000000000000000" pitchFamily="2" charset="0"/>
              </a:endParaRPr>
            </a:p>
          </p:txBody>
        </p:sp>
      </p:gr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14" name="Group 13">
            <a:extLst>
              <a:ext uri="{FF2B5EF4-FFF2-40B4-BE49-F238E27FC236}">
                <a16:creationId xmlns:a16="http://schemas.microsoft.com/office/drawing/2014/main" id="{02A3E31C-BCEF-DAE8-32CF-F45D06AC55E2}"/>
              </a:ext>
            </a:extLst>
          </p:cNvPr>
          <p:cNvGrpSpPr/>
          <p:nvPr/>
        </p:nvGrpSpPr>
        <p:grpSpPr>
          <a:xfrm>
            <a:off x="9543962" y="3064732"/>
            <a:ext cx="855663" cy="360363"/>
            <a:chOff x="7523163" y="2673351"/>
            <a:chExt cx="855663" cy="360363"/>
          </a:xfrm>
        </p:grpSpPr>
        <p:sp>
          <p:nvSpPr>
            <p:cNvPr id="15" name="Oval 32">
              <a:extLst>
                <a:ext uri="{FF2B5EF4-FFF2-40B4-BE49-F238E27FC236}">
                  <a16:creationId xmlns:a16="http://schemas.microsoft.com/office/drawing/2014/main" id="{3188EF80-AF9E-B023-526E-B7A353318966}"/>
                </a:ext>
              </a:extLst>
            </p:cNvPr>
            <p:cNvSpPr>
              <a:spLocks noChangeArrowheads="1"/>
            </p:cNvSpPr>
            <p:nvPr/>
          </p:nvSpPr>
          <p:spPr bwMode="auto">
            <a:xfrm flipV="1">
              <a:off x="7604919" y="2760327"/>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 name="AutoShape 33">
              <a:extLst>
                <a:ext uri="{FF2B5EF4-FFF2-40B4-BE49-F238E27FC236}">
                  <a16:creationId xmlns:a16="http://schemas.microsoft.com/office/drawing/2014/main" id="{D6498B93-817A-F71A-0886-87AC721EBE4A}"/>
                </a:ext>
              </a:extLst>
            </p:cNvPr>
            <p:cNvSpPr>
              <a:spLocks noChangeArrowheads="1"/>
            </p:cNvSpPr>
            <p:nvPr/>
          </p:nvSpPr>
          <p:spPr bwMode="auto">
            <a:xfrm flipV="1">
              <a:off x="7523163" y="2673351"/>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7" name="Text Box 34">
              <a:extLst>
                <a:ext uri="{FF2B5EF4-FFF2-40B4-BE49-F238E27FC236}">
                  <a16:creationId xmlns:a16="http://schemas.microsoft.com/office/drawing/2014/main" id="{7753EBA3-E9DC-116E-9928-1705AB0CD08C}"/>
                </a:ext>
              </a:extLst>
            </p:cNvPr>
            <p:cNvSpPr txBox="1">
              <a:spLocks noChangeArrowheads="1"/>
            </p:cNvSpPr>
            <p:nvPr/>
          </p:nvSpPr>
          <p:spPr bwMode="auto">
            <a:xfrm>
              <a:off x="7943851" y="2728914"/>
              <a:ext cx="434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tx1"/>
                  </a:solidFill>
                </a:rPr>
                <a:t>= 1</a:t>
              </a:r>
            </a:p>
          </p:txBody>
        </p:sp>
      </p:grpSp>
      <p:sp>
        <p:nvSpPr>
          <p:cNvPr id="18" name="Rectangle 5">
            <a:extLst>
              <a:ext uri="{FF2B5EF4-FFF2-40B4-BE49-F238E27FC236}">
                <a16:creationId xmlns:a16="http://schemas.microsoft.com/office/drawing/2014/main" id="{4F3DC1CB-DBC2-CE67-F113-64D31E10A0E1}"/>
              </a:ext>
            </a:extLst>
          </p:cNvPr>
          <p:cNvSpPr>
            <a:spLocks noChangeArrowheads="1"/>
          </p:cNvSpPr>
          <p:nvPr/>
        </p:nvSpPr>
        <p:spPr bwMode="auto">
          <a:xfrm>
            <a:off x="8860521" y="4455929"/>
            <a:ext cx="2097934" cy="1759007"/>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DOI = 15 sec</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CO/Time = 30min</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Uptime = 99%</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Quality = 98%</a:t>
            </a:r>
          </a:p>
        </p:txBody>
      </p:sp>
      <p:sp>
        <p:nvSpPr>
          <p:cNvPr id="19" name="Text Box 7">
            <a:extLst>
              <a:ext uri="{FF2B5EF4-FFF2-40B4-BE49-F238E27FC236}">
                <a16:creationId xmlns:a16="http://schemas.microsoft.com/office/drawing/2014/main" id="{46E851C2-B64E-5B27-8337-745F19544874}"/>
              </a:ext>
            </a:extLst>
          </p:cNvPr>
          <p:cNvSpPr txBox="1">
            <a:spLocks noChangeArrowheads="1"/>
          </p:cNvSpPr>
          <p:nvPr/>
        </p:nvSpPr>
        <p:spPr bwMode="auto">
          <a:xfrm>
            <a:off x="9347377" y="4076961"/>
            <a:ext cx="11128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Data Box</a:t>
            </a:r>
          </a:p>
        </p:txBody>
      </p:sp>
      <p:sp>
        <p:nvSpPr>
          <p:cNvPr id="20" name="Line 11">
            <a:extLst>
              <a:ext uri="{FF2B5EF4-FFF2-40B4-BE49-F238E27FC236}">
                <a16:creationId xmlns:a16="http://schemas.microsoft.com/office/drawing/2014/main" id="{9F6A9F31-C7EA-0358-5F65-EC8DF8EA7258}"/>
              </a:ext>
            </a:extLst>
          </p:cNvPr>
          <p:cNvSpPr>
            <a:spLocks noChangeShapeType="1"/>
          </p:cNvSpPr>
          <p:nvPr/>
        </p:nvSpPr>
        <p:spPr bwMode="auto">
          <a:xfrm>
            <a:off x="6412230" y="3176889"/>
            <a:ext cx="2935146" cy="125837"/>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1" name="Line 11">
            <a:extLst>
              <a:ext uri="{FF2B5EF4-FFF2-40B4-BE49-F238E27FC236}">
                <a16:creationId xmlns:a16="http://schemas.microsoft.com/office/drawing/2014/main" id="{08680B00-D81D-C679-1995-3F4DC312ECE4}"/>
              </a:ext>
            </a:extLst>
          </p:cNvPr>
          <p:cNvSpPr>
            <a:spLocks noChangeShapeType="1"/>
          </p:cNvSpPr>
          <p:nvPr/>
        </p:nvSpPr>
        <p:spPr bwMode="auto">
          <a:xfrm>
            <a:off x="3589019" y="3805743"/>
            <a:ext cx="5271501" cy="776023"/>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2" name="Line 11">
            <a:extLst>
              <a:ext uri="{FF2B5EF4-FFF2-40B4-BE49-F238E27FC236}">
                <a16:creationId xmlns:a16="http://schemas.microsoft.com/office/drawing/2014/main" id="{A32861D7-7854-30B2-C455-88AB5EAB9854}"/>
              </a:ext>
            </a:extLst>
          </p:cNvPr>
          <p:cNvSpPr>
            <a:spLocks noChangeShapeType="1"/>
          </p:cNvSpPr>
          <p:nvPr/>
        </p:nvSpPr>
        <p:spPr bwMode="auto">
          <a:xfrm>
            <a:off x="3568335" y="4532778"/>
            <a:ext cx="5292185" cy="48066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3" name="Line 11">
            <a:extLst>
              <a:ext uri="{FF2B5EF4-FFF2-40B4-BE49-F238E27FC236}">
                <a16:creationId xmlns:a16="http://schemas.microsoft.com/office/drawing/2014/main" id="{5863959B-D91D-D577-1B25-F9521E83A73B}"/>
              </a:ext>
            </a:extLst>
          </p:cNvPr>
          <p:cNvSpPr>
            <a:spLocks noChangeShapeType="1"/>
          </p:cNvSpPr>
          <p:nvPr/>
        </p:nvSpPr>
        <p:spPr bwMode="auto">
          <a:xfrm flipV="1">
            <a:off x="3177540" y="5532119"/>
            <a:ext cx="5662296" cy="1"/>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4" name="Line 11">
            <a:extLst>
              <a:ext uri="{FF2B5EF4-FFF2-40B4-BE49-F238E27FC236}">
                <a16:creationId xmlns:a16="http://schemas.microsoft.com/office/drawing/2014/main" id="{7097ABC1-CCF0-8B65-AB45-03DE73D4DE8C}"/>
              </a:ext>
            </a:extLst>
          </p:cNvPr>
          <p:cNvSpPr>
            <a:spLocks noChangeShapeType="1"/>
          </p:cNvSpPr>
          <p:nvPr/>
        </p:nvSpPr>
        <p:spPr bwMode="auto">
          <a:xfrm flipV="1">
            <a:off x="5577840" y="5901470"/>
            <a:ext cx="3320720" cy="275491"/>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5" name="Rectangle 82">
            <a:extLst>
              <a:ext uri="{FF2B5EF4-FFF2-40B4-BE49-F238E27FC236}">
                <a16:creationId xmlns:a16="http://schemas.microsoft.com/office/drawing/2014/main" id="{23EA5F22-00BE-F9CD-C139-679FC7255F12}"/>
              </a:ext>
            </a:extLst>
          </p:cNvPr>
          <p:cNvSpPr>
            <a:spLocks noChangeArrowheads="1"/>
          </p:cNvSpPr>
          <p:nvPr/>
        </p:nvSpPr>
        <p:spPr bwMode="auto">
          <a:xfrm>
            <a:off x="6521443" y="5890724"/>
            <a:ext cx="1433513" cy="252413"/>
          </a:xfrm>
          <a:prstGeom prst="rect">
            <a:avLst/>
          </a:prstGeom>
          <a:solidFill>
            <a:schemeClr val="bg1"/>
          </a:solidFill>
          <a:ln w="12700" cap="sq">
            <a:solidFill>
              <a:srgbClr val="FF0000"/>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b="0" dirty="0">
                <a:solidFill>
                  <a:schemeClr val="accent1"/>
                </a:solidFill>
                <a:latin typeface="Roboto" panose="02000000000000000000" pitchFamily="2" charset="0"/>
                <a:ea typeface="Roboto" panose="02000000000000000000" pitchFamily="2" charset="0"/>
              </a:rPr>
              <a:t>49</a:t>
            </a:r>
            <a:r>
              <a:rPr lang="en-US" altLang="en-US" b="0" dirty="0">
                <a:solidFill>
                  <a:schemeClr val="accent1"/>
                </a:solidFill>
                <a:latin typeface="Roboto" panose="02000000000000000000" pitchFamily="2" charset="0"/>
                <a:ea typeface="Roboto" panose="02000000000000000000" pitchFamily="2" charset="0"/>
                <a:cs typeface="Arial" panose="020B0604020202020204" pitchFamily="34" charset="0"/>
              </a:rPr>
              <a:t>÷</a:t>
            </a:r>
            <a:r>
              <a:rPr lang="en-US" altLang="en-US" b="0" dirty="0">
                <a:solidFill>
                  <a:schemeClr val="accent1"/>
                </a:solidFill>
                <a:latin typeface="Roboto" panose="02000000000000000000" pitchFamily="2" charset="0"/>
                <a:ea typeface="Roboto" panose="02000000000000000000" pitchFamily="2" charset="0"/>
              </a:rPr>
              <a:t>50</a:t>
            </a:r>
            <a:r>
              <a:rPr lang="en-US" altLang="en-US" b="0" dirty="0">
                <a:solidFill>
                  <a:schemeClr val="accent1"/>
                </a:solidFill>
                <a:latin typeface="Roboto" panose="02000000000000000000" pitchFamily="2" charset="0"/>
                <a:ea typeface="Roboto" panose="02000000000000000000" pitchFamily="2" charset="0"/>
                <a:cs typeface="Arial" panose="020B0604020202020204" pitchFamily="34" charset="0"/>
              </a:rPr>
              <a:t> x 100 = 98%</a:t>
            </a:r>
          </a:p>
        </p:txBody>
      </p:sp>
    </p:spTree>
    <p:extLst>
      <p:ext uri="{BB962C8B-B14F-4D97-AF65-F5344CB8AC3E}">
        <p14:creationId xmlns:p14="http://schemas.microsoft.com/office/powerpoint/2010/main" val="177372648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52</a:t>
            </a:fld>
            <a:endParaRPr lang="en-US" dirty="0"/>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892434" cy="4502133"/>
            <a:chOff x="479425" y="1538288"/>
            <a:chExt cx="8256588" cy="4157399"/>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4149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ts val="600"/>
                </a:spcBef>
                <a:spcAft>
                  <a:spcPts val="60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Production Process - Cut</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Purchased sheets of aluminum are cut to size in the cutting department, which has </a:t>
              </a:r>
              <a:r>
                <a:rPr lang="en-US" altLang="en-US" dirty="0">
                  <a:solidFill>
                    <a:schemeClr val="accent1"/>
                  </a:solidFill>
                  <a:latin typeface="Roboto" panose="02000000000000000000" pitchFamily="2" charset="0"/>
                  <a:ea typeface="Roboto" panose="02000000000000000000" pitchFamily="2" charset="0"/>
                </a:rPr>
                <a:t>five operators, each running a cutting machine</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Four enclosures can be made from one 4’ x 8’ sheet</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takes </a:t>
              </a:r>
              <a:r>
                <a:rPr lang="en-US" altLang="en-US" dirty="0">
                  <a:solidFill>
                    <a:schemeClr val="accent1"/>
                  </a:solidFill>
                  <a:latin typeface="Roboto" panose="02000000000000000000" pitchFamily="2" charset="0"/>
                  <a:ea typeface="Roboto" panose="02000000000000000000" pitchFamily="2" charset="0"/>
                </a:rPr>
                <a:t>4 minutes </a:t>
              </a:r>
              <a:r>
                <a:rPr lang="en-US" altLang="en-US" dirty="0">
                  <a:latin typeface="Roboto" panose="02000000000000000000" pitchFamily="2" charset="0"/>
                  <a:ea typeface="Roboto" panose="02000000000000000000" pitchFamily="2" charset="0"/>
                </a:rPr>
                <a:t>for each cutting machine to cut the sheet into 4 pieces</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takes </a:t>
              </a:r>
              <a:r>
                <a:rPr lang="en-US" altLang="en-US" dirty="0">
                  <a:solidFill>
                    <a:schemeClr val="accent1"/>
                  </a:solidFill>
                  <a:latin typeface="Roboto" panose="02000000000000000000" pitchFamily="2" charset="0"/>
                  <a:ea typeface="Roboto" panose="02000000000000000000" pitchFamily="2" charset="0"/>
                </a:rPr>
                <a:t>30 minutes </a:t>
              </a:r>
              <a:r>
                <a:rPr lang="en-US" altLang="en-US" dirty="0">
                  <a:latin typeface="Roboto" panose="02000000000000000000" pitchFamily="2" charset="0"/>
                  <a:ea typeface="Roboto" panose="02000000000000000000" pitchFamily="2" charset="0"/>
                </a:rPr>
                <a:t>to change over the cutting machines for another product, however these machines are currently dedicated to the one product</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 cutting machines are quite reliable and are available </a:t>
              </a:r>
              <a:r>
                <a:rPr lang="en-US" altLang="en-US" dirty="0">
                  <a:solidFill>
                    <a:schemeClr val="accent1"/>
                  </a:solidFill>
                  <a:latin typeface="Roboto" panose="02000000000000000000" pitchFamily="2" charset="0"/>
                  <a:ea typeface="Roboto" panose="02000000000000000000" pitchFamily="2" charset="0"/>
                </a:rPr>
                <a:t>99%</a:t>
              </a:r>
              <a:r>
                <a:rPr lang="en-US" altLang="en-US" dirty="0">
                  <a:latin typeface="Roboto" panose="02000000000000000000" pitchFamily="2" charset="0"/>
                  <a:ea typeface="Roboto" panose="02000000000000000000" pitchFamily="2" charset="0"/>
                </a:rPr>
                <a:t> of the time without a breakdown</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 quality level is high, with a yield of </a:t>
              </a:r>
              <a:r>
                <a:rPr lang="en-US" altLang="en-US" dirty="0">
                  <a:solidFill>
                    <a:schemeClr val="accent1"/>
                  </a:solidFill>
                  <a:latin typeface="Roboto" panose="02000000000000000000" pitchFamily="2" charset="0"/>
                  <a:ea typeface="Roboto" panose="02000000000000000000" pitchFamily="2" charset="0"/>
                </a:rPr>
                <a:t>99%</a:t>
              </a: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a:off x="3224371" y="1827473"/>
              <a:ext cx="3625692" cy="341051"/>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Cut</a:t>
              </a:r>
              <a:endParaRPr lang="en-US" altLang="en-US" sz="1200" dirty="0">
                <a:latin typeface="Roboto" panose="02000000000000000000" pitchFamily="2" charset="0"/>
                <a:ea typeface="Roboto" panose="02000000000000000000" pitchFamily="2" charset="0"/>
              </a:endParaRPr>
            </a:p>
          </p:txBody>
        </p:sp>
      </p:gr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Rectangle 5">
            <a:extLst>
              <a:ext uri="{FF2B5EF4-FFF2-40B4-BE49-F238E27FC236}">
                <a16:creationId xmlns:a16="http://schemas.microsoft.com/office/drawing/2014/main" id="{D5CAC5D6-DEAC-355A-1852-590E41E26022}"/>
              </a:ext>
            </a:extLst>
          </p:cNvPr>
          <p:cNvSpPr>
            <a:spLocks noChangeArrowheads="1"/>
          </p:cNvSpPr>
          <p:nvPr/>
        </p:nvSpPr>
        <p:spPr bwMode="auto">
          <a:xfrm>
            <a:off x="8860521" y="4455929"/>
            <a:ext cx="2097934" cy="1759007"/>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DOI = 12 sec</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CO/Time = 30min</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Uptime = 99%</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Quality = 99%</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5 Machines</a:t>
            </a:r>
          </a:p>
        </p:txBody>
      </p:sp>
      <p:sp>
        <p:nvSpPr>
          <p:cNvPr id="15" name="Text Box 7">
            <a:extLst>
              <a:ext uri="{FF2B5EF4-FFF2-40B4-BE49-F238E27FC236}">
                <a16:creationId xmlns:a16="http://schemas.microsoft.com/office/drawing/2014/main" id="{4EDF73AC-8E26-04EB-FC6D-F650F7667DD5}"/>
              </a:ext>
            </a:extLst>
          </p:cNvPr>
          <p:cNvSpPr txBox="1">
            <a:spLocks noChangeArrowheads="1"/>
          </p:cNvSpPr>
          <p:nvPr/>
        </p:nvSpPr>
        <p:spPr bwMode="auto">
          <a:xfrm>
            <a:off x="9347377" y="4076961"/>
            <a:ext cx="11128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Data Box</a:t>
            </a:r>
          </a:p>
        </p:txBody>
      </p:sp>
      <p:grpSp>
        <p:nvGrpSpPr>
          <p:cNvPr id="18" name="Group 17">
            <a:extLst>
              <a:ext uri="{FF2B5EF4-FFF2-40B4-BE49-F238E27FC236}">
                <a16:creationId xmlns:a16="http://schemas.microsoft.com/office/drawing/2014/main" id="{5E413BB3-D842-882E-291E-4270C9B15147}"/>
              </a:ext>
            </a:extLst>
          </p:cNvPr>
          <p:cNvGrpSpPr/>
          <p:nvPr/>
        </p:nvGrpSpPr>
        <p:grpSpPr>
          <a:xfrm>
            <a:off x="9543962" y="3064732"/>
            <a:ext cx="855663" cy="360363"/>
            <a:chOff x="7523163" y="2673351"/>
            <a:chExt cx="855663" cy="360363"/>
          </a:xfrm>
        </p:grpSpPr>
        <p:sp>
          <p:nvSpPr>
            <p:cNvPr id="19" name="Oval 32">
              <a:extLst>
                <a:ext uri="{FF2B5EF4-FFF2-40B4-BE49-F238E27FC236}">
                  <a16:creationId xmlns:a16="http://schemas.microsoft.com/office/drawing/2014/main" id="{A509F37D-FABD-529F-0573-F8AAFB4E2820}"/>
                </a:ext>
              </a:extLst>
            </p:cNvPr>
            <p:cNvSpPr>
              <a:spLocks noChangeArrowheads="1"/>
            </p:cNvSpPr>
            <p:nvPr/>
          </p:nvSpPr>
          <p:spPr bwMode="auto">
            <a:xfrm flipV="1">
              <a:off x="7604919" y="2760327"/>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 name="AutoShape 33">
              <a:extLst>
                <a:ext uri="{FF2B5EF4-FFF2-40B4-BE49-F238E27FC236}">
                  <a16:creationId xmlns:a16="http://schemas.microsoft.com/office/drawing/2014/main" id="{1975E0EC-1277-FE1F-DA94-C2C3108C5A79}"/>
                </a:ext>
              </a:extLst>
            </p:cNvPr>
            <p:cNvSpPr>
              <a:spLocks noChangeArrowheads="1"/>
            </p:cNvSpPr>
            <p:nvPr/>
          </p:nvSpPr>
          <p:spPr bwMode="auto">
            <a:xfrm flipV="1">
              <a:off x="7523163" y="2673351"/>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 name="Text Box 34">
              <a:extLst>
                <a:ext uri="{FF2B5EF4-FFF2-40B4-BE49-F238E27FC236}">
                  <a16:creationId xmlns:a16="http://schemas.microsoft.com/office/drawing/2014/main" id="{04C44394-F641-EA2D-E753-D8A492279AF7}"/>
                </a:ext>
              </a:extLst>
            </p:cNvPr>
            <p:cNvSpPr txBox="1">
              <a:spLocks noChangeArrowheads="1"/>
            </p:cNvSpPr>
            <p:nvPr/>
          </p:nvSpPr>
          <p:spPr bwMode="auto">
            <a:xfrm>
              <a:off x="7943851" y="2728914"/>
              <a:ext cx="434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rPr>
                <a:t>= 5</a:t>
              </a:r>
            </a:p>
          </p:txBody>
        </p:sp>
      </p:grpSp>
      <p:sp>
        <p:nvSpPr>
          <p:cNvPr id="22" name="Line 11">
            <a:extLst>
              <a:ext uri="{FF2B5EF4-FFF2-40B4-BE49-F238E27FC236}">
                <a16:creationId xmlns:a16="http://schemas.microsoft.com/office/drawing/2014/main" id="{B5A51755-7584-7AE6-900A-34771D41CDBC}"/>
              </a:ext>
            </a:extLst>
          </p:cNvPr>
          <p:cNvSpPr>
            <a:spLocks noChangeShapeType="1"/>
          </p:cNvSpPr>
          <p:nvPr/>
        </p:nvSpPr>
        <p:spPr bwMode="auto">
          <a:xfrm>
            <a:off x="6320789" y="2781400"/>
            <a:ext cx="3096443" cy="36512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3" name="Line 11">
            <a:extLst>
              <a:ext uri="{FF2B5EF4-FFF2-40B4-BE49-F238E27FC236}">
                <a16:creationId xmlns:a16="http://schemas.microsoft.com/office/drawing/2014/main" id="{73142484-558A-E272-7A4C-A58925201FF0}"/>
              </a:ext>
            </a:extLst>
          </p:cNvPr>
          <p:cNvSpPr>
            <a:spLocks noChangeShapeType="1"/>
          </p:cNvSpPr>
          <p:nvPr/>
        </p:nvSpPr>
        <p:spPr bwMode="auto">
          <a:xfrm>
            <a:off x="4790978" y="3015191"/>
            <a:ext cx="4107582" cy="307699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4" name="Line 11">
            <a:extLst>
              <a:ext uri="{FF2B5EF4-FFF2-40B4-BE49-F238E27FC236}">
                <a16:creationId xmlns:a16="http://schemas.microsoft.com/office/drawing/2014/main" id="{8CE9DAC5-67A1-68F1-2F32-B5BBA2C2DC9E}"/>
              </a:ext>
            </a:extLst>
          </p:cNvPr>
          <p:cNvSpPr>
            <a:spLocks noChangeShapeType="1"/>
          </p:cNvSpPr>
          <p:nvPr/>
        </p:nvSpPr>
        <p:spPr bwMode="auto">
          <a:xfrm>
            <a:off x="3497580" y="3872113"/>
            <a:ext cx="5347724" cy="709653"/>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5" name="Line 11">
            <a:extLst>
              <a:ext uri="{FF2B5EF4-FFF2-40B4-BE49-F238E27FC236}">
                <a16:creationId xmlns:a16="http://schemas.microsoft.com/office/drawing/2014/main" id="{F190188C-BC03-D6E2-B93E-CFEEA1F8786A}"/>
              </a:ext>
            </a:extLst>
          </p:cNvPr>
          <p:cNvSpPr>
            <a:spLocks noChangeShapeType="1"/>
          </p:cNvSpPr>
          <p:nvPr/>
        </p:nvSpPr>
        <p:spPr bwMode="auto">
          <a:xfrm>
            <a:off x="3492112" y="4455928"/>
            <a:ext cx="5406448" cy="55751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6" name="Line 11">
            <a:extLst>
              <a:ext uri="{FF2B5EF4-FFF2-40B4-BE49-F238E27FC236}">
                <a16:creationId xmlns:a16="http://schemas.microsoft.com/office/drawing/2014/main" id="{EC16D5D5-17E4-4127-B829-9820ADC8E390}"/>
              </a:ext>
            </a:extLst>
          </p:cNvPr>
          <p:cNvSpPr>
            <a:spLocks noChangeShapeType="1"/>
          </p:cNvSpPr>
          <p:nvPr/>
        </p:nvSpPr>
        <p:spPr bwMode="auto">
          <a:xfrm flipV="1">
            <a:off x="3048763" y="5315571"/>
            <a:ext cx="5849797" cy="557516"/>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7" name="Line 11">
            <a:extLst>
              <a:ext uri="{FF2B5EF4-FFF2-40B4-BE49-F238E27FC236}">
                <a16:creationId xmlns:a16="http://schemas.microsoft.com/office/drawing/2014/main" id="{43FCEED9-72CF-3303-5692-E429E7AD030A}"/>
              </a:ext>
            </a:extLst>
          </p:cNvPr>
          <p:cNvSpPr>
            <a:spLocks noChangeShapeType="1"/>
          </p:cNvSpPr>
          <p:nvPr/>
        </p:nvSpPr>
        <p:spPr bwMode="auto">
          <a:xfrm flipV="1">
            <a:off x="5773371" y="5747247"/>
            <a:ext cx="3087149" cy="467685"/>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8" name="Rectangle 64">
            <a:extLst>
              <a:ext uri="{FF2B5EF4-FFF2-40B4-BE49-F238E27FC236}">
                <a16:creationId xmlns:a16="http://schemas.microsoft.com/office/drawing/2014/main" id="{4E248692-D2E7-C0BE-2612-07FDF5CD24AB}"/>
              </a:ext>
            </a:extLst>
          </p:cNvPr>
          <p:cNvSpPr>
            <a:spLocks noChangeArrowheads="1"/>
          </p:cNvSpPr>
          <p:nvPr/>
        </p:nvSpPr>
        <p:spPr bwMode="auto">
          <a:xfrm>
            <a:off x="5190388" y="3950555"/>
            <a:ext cx="3119438" cy="425450"/>
          </a:xfrm>
          <a:prstGeom prst="rect">
            <a:avLst/>
          </a:prstGeom>
          <a:solidFill>
            <a:schemeClr val="bg1"/>
          </a:solidFill>
          <a:ln w="12700" cap="sq">
            <a:solidFill>
              <a:srgbClr val="FF0000"/>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accent1"/>
                </a:solidFill>
                <a:latin typeface="Roboto" panose="02000000000000000000" pitchFamily="2" charset="0"/>
                <a:ea typeface="Roboto" panose="02000000000000000000" pitchFamily="2" charset="0"/>
              </a:rPr>
              <a:t>P/T (1 machine) = 240 sec </a:t>
            </a:r>
            <a:r>
              <a:rPr lang="en-US" altLang="en-US" b="0" dirty="0">
                <a:solidFill>
                  <a:schemeClr val="accent1"/>
                </a:solidFill>
                <a:latin typeface="Roboto" panose="02000000000000000000" pitchFamily="2" charset="0"/>
                <a:ea typeface="Roboto" panose="02000000000000000000" pitchFamily="2" charset="0"/>
                <a:cs typeface="Arial" panose="020B0604020202020204" pitchFamily="34" charset="0"/>
              </a:rPr>
              <a:t>÷ 4 pieces / cycle = 60 sec</a:t>
            </a:r>
          </a:p>
          <a:p>
            <a:pPr>
              <a:lnSpc>
                <a:spcPct val="100000"/>
              </a:lnSpc>
              <a:spcBef>
                <a:spcPct val="30000"/>
              </a:spcBef>
            </a:pPr>
            <a:r>
              <a:rPr lang="en-US" altLang="en-US" b="0" dirty="0">
                <a:solidFill>
                  <a:schemeClr val="accent1"/>
                </a:solidFill>
                <a:latin typeface="Roboto" panose="02000000000000000000" pitchFamily="2" charset="0"/>
                <a:ea typeface="Roboto" panose="02000000000000000000" pitchFamily="2" charset="0"/>
                <a:cs typeface="Arial" panose="020B0604020202020204" pitchFamily="34" charset="0"/>
              </a:rPr>
              <a:t>DOI (5 machines) = 60 sec ÷ 5 operators = 12 sec</a:t>
            </a:r>
          </a:p>
        </p:txBody>
      </p:sp>
    </p:spTree>
    <p:extLst>
      <p:ext uri="{BB962C8B-B14F-4D97-AF65-F5344CB8AC3E}">
        <p14:creationId xmlns:p14="http://schemas.microsoft.com/office/powerpoint/2010/main" val="38102233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53</a:t>
            </a:fld>
            <a:endParaRPr lang="en-US" dirty="0"/>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83" name="Group 82">
            <a:extLst>
              <a:ext uri="{FF2B5EF4-FFF2-40B4-BE49-F238E27FC236}">
                <a16:creationId xmlns:a16="http://schemas.microsoft.com/office/drawing/2014/main" id="{471B6593-E85C-89D1-A602-DF353411AE09}"/>
              </a:ext>
            </a:extLst>
          </p:cNvPr>
          <p:cNvGrpSpPr/>
          <p:nvPr/>
        </p:nvGrpSpPr>
        <p:grpSpPr>
          <a:xfrm>
            <a:off x="1151875" y="1868805"/>
            <a:ext cx="9626615" cy="3856045"/>
            <a:chOff x="454025" y="1571625"/>
            <a:chExt cx="8156575" cy="3856045"/>
          </a:xfrm>
        </p:grpSpPr>
        <p:sp>
          <p:nvSpPr>
            <p:cNvPr id="16" name="Rectangle 2">
              <a:extLst>
                <a:ext uri="{FF2B5EF4-FFF2-40B4-BE49-F238E27FC236}">
                  <a16:creationId xmlns:a16="http://schemas.microsoft.com/office/drawing/2014/main" id="{8D1B8655-3CD3-1036-778B-D412F52A643D}"/>
                </a:ext>
              </a:extLst>
            </p:cNvPr>
            <p:cNvSpPr>
              <a:spLocks noChangeArrowheads="1"/>
            </p:cNvSpPr>
            <p:nvPr/>
          </p:nvSpPr>
          <p:spPr bwMode="auto">
            <a:xfrm>
              <a:off x="5029200" y="1676400"/>
              <a:ext cx="3581400" cy="2057400"/>
            </a:xfrm>
            <a:prstGeom prst="rect">
              <a:avLst/>
            </a:prstGeom>
            <a:solidFill>
              <a:srgbClr val="DDDDDD"/>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7" name="Rectangle 4">
              <a:extLst>
                <a:ext uri="{FF2B5EF4-FFF2-40B4-BE49-F238E27FC236}">
                  <a16:creationId xmlns:a16="http://schemas.microsoft.com/office/drawing/2014/main" id="{6648AE99-299B-FCDD-9E18-C44859CD8951}"/>
                </a:ext>
              </a:extLst>
            </p:cNvPr>
            <p:cNvSpPr>
              <a:spLocks noChangeArrowheads="1"/>
            </p:cNvSpPr>
            <p:nvPr/>
          </p:nvSpPr>
          <p:spPr bwMode="auto">
            <a:xfrm>
              <a:off x="454025" y="1571625"/>
              <a:ext cx="4527550" cy="227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defRPr sz="900" b="1">
                  <a:solidFill>
                    <a:schemeClr val="bg1"/>
                  </a:solidFill>
                  <a:latin typeface="Arial" panose="020B0604020202020204" pitchFamily="34" charset="0"/>
                  <a:ea typeface="MS PGothic" panose="020B0600070205080204" pitchFamily="34" charset="-128"/>
                </a:defRPr>
              </a:lvl1pPr>
              <a:lvl2pPr marL="630238" indent="-173038">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50000"/>
                </a:spcBef>
                <a:buClr>
                  <a:schemeClr val="tx1"/>
                </a:buClr>
                <a:buSzPct val="90000"/>
                <a:buFont typeface="Arial" panose="020B0604020202020204" pitchFamily="34" charset="0"/>
                <a:buChar char="•"/>
              </a:pPr>
              <a:r>
                <a:rPr lang="en-US" altLang="en-US" sz="1600" dirty="0">
                  <a:solidFill>
                    <a:schemeClr val="tx1"/>
                  </a:solidFill>
                  <a:latin typeface="Roboto" panose="02000000000000000000" pitchFamily="2" charset="0"/>
                  <a:ea typeface="Roboto" panose="02000000000000000000" pitchFamily="2" charset="0"/>
                </a:rPr>
                <a:t>Inventory</a:t>
              </a:r>
            </a:p>
            <a:p>
              <a:pPr marL="742950" lvl="1" indent="-285750" algn="l" eaLnBrk="1" hangingPunct="1">
                <a:lnSpc>
                  <a:spcPct val="100000"/>
                </a:lnSpc>
                <a:spcBef>
                  <a:spcPct val="5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There are </a:t>
              </a:r>
              <a:r>
                <a:rPr lang="en-US" altLang="en-US" sz="1400" dirty="0">
                  <a:solidFill>
                    <a:schemeClr val="accent1"/>
                  </a:solidFill>
                  <a:latin typeface="Roboto" panose="02000000000000000000" pitchFamily="2" charset="0"/>
                  <a:ea typeface="Roboto" panose="02000000000000000000" pitchFamily="2" charset="0"/>
                </a:rPr>
                <a:t>3,200</a:t>
              </a:r>
              <a:r>
                <a:rPr lang="en-US" altLang="en-US" sz="1400" dirty="0">
                  <a:solidFill>
                    <a:schemeClr val="tx1"/>
                  </a:solidFill>
                  <a:latin typeface="Roboto" panose="02000000000000000000" pitchFamily="2" charset="0"/>
                  <a:ea typeface="Roboto" panose="02000000000000000000" pitchFamily="2" charset="0"/>
                </a:rPr>
                <a:t> sheets of raw material received from the supplier and waiting for cutting</a:t>
              </a:r>
            </a:p>
            <a:p>
              <a:pPr marL="742950" lvl="1" indent="-285750" algn="l" eaLnBrk="1" hangingPunct="1">
                <a:lnSpc>
                  <a:spcPct val="100000"/>
                </a:lnSpc>
                <a:spcBef>
                  <a:spcPct val="5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There are </a:t>
              </a:r>
              <a:r>
                <a:rPr lang="en-US" altLang="en-US" sz="1400" dirty="0">
                  <a:solidFill>
                    <a:schemeClr val="accent1"/>
                  </a:solidFill>
                  <a:latin typeface="Roboto" panose="02000000000000000000" pitchFamily="2" charset="0"/>
                  <a:ea typeface="Roboto" panose="02000000000000000000" pitchFamily="2" charset="0"/>
                </a:rPr>
                <a:t>5,250</a:t>
              </a:r>
              <a:r>
                <a:rPr lang="en-US" altLang="en-US" sz="1400" dirty="0">
                  <a:solidFill>
                    <a:schemeClr val="tx1"/>
                  </a:solidFill>
                  <a:latin typeface="Roboto" panose="02000000000000000000" pitchFamily="2" charset="0"/>
                  <a:ea typeface="Roboto" panose="02000000000000000000" pitchFamily="2" charset="0"/>
                </a:rPr>
                <a:t> cut pieces waiting for stamping</a:t>
              </a:r>
            </a:p>
            <a:p>
              <a:pPr marL="742950" lvl="1" indent="-285750" algn="l" eaLnBrk="1" hangingPunct="1">
                <a:lnSpc>
                  <a:spcPct val="100000"/>
                </a:lnSpc>
                <a:spcBef>
                  <a:spcPct val="5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There are </a:t>
              </a:r>
              <a:r>
                <a:rPr lang="en-US" altLang="en-US" sz="1400" dirty="0">
                  <a:solidFill>
                    <a:schemeClr val="accent1"/>
                  </a:solidFill>
                  <a:latin typeface="Roboto" panose="02000000000000000000" pitchFamily="2" charset="0"/>
                  <a:ea typeface="Roboto" panose="02000000000000000000" pitchFamily="2" charset="0"/>
                </a:rPr>
                <a:t>9,300</a:t>
              </a:r>
              <a:r>
                <a:rPr lang="en-US" altLang="en-US" sz="1400" dirty="0">
                  <a:solidFill>
                    <a:schemeClr val="tx1"/>
                  </a:solidFill>
                  <a:latin typeface="Roboto" panose="02000000000000000000" pitchFamily="2" charset="0"/>
                  <a:ea typeface="Roboto" panose="02000000000000000000" pitchFamily="2" charset="0"/>
                </a:rPr>
                <a:t> stamped pieces waiting for brake forming</a:t>
              </a:r>
            </a:p>
            <a:p>
              <a:pPr marL="742950" lvl="1" indent="-285750" algn="l" eaLnBrk="1" hangingPunct="1">
                <a:lnSpc>
                  <a:spcPct val="100000"/>
                </a:lnSpc>
                <a:spcBef>
                  <a:spcPct val="5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There are </a:t>
              </a:r>
              <a:r>
                <a:rPr lang="en-US" altLang="en-US" sz="1400" dirty="0">
                  <a:solidFill>
                    <a:schemeClr val="accent1"/>
                  </a:solidFill>
                  <a:latin typeface="Roboto" panose="02000000000000000000" pitchFamily="2" charset="0"/>
                  <a:ea typeface="Roboto" panose="02000000000000000000" pitchFamily="2" charset="0"/>
                </a:rPr>
                <a:t>2,300</a:t>
              </a:r>
              <a:r>
                <a:rPr lang="en-US" altLang="en-US" sz="1400" dirty="0">
                  <a:solidFill>
                    <a:schemeClr val="tx1"/>
                  </a:solidFill>
                  <a:latin typeface="Roboto" panose="02000000000000000000" pitchFamily="2" charset="0"/>
                  <a:ea typeface="Roboto" panose="02000000000000000000" pitchFamily="2" charset="0"/>
                </a:rPr>
                <a:t> finished enclosures waiting to be shipped to the customer</a:t>
              </a:r>
            </a:p>
          </p:txBody>
        </p:sp>
        <p:grpSp>
          <p:nvGrpSpPr>
            <p:cNvPr id="29" name="Group 5">
              <a:extLst>
                <a:ext uri="{FF2B5EF4-FFF2-40B4-BE49-F238E27FC236}">
                  <a16:creationId xmlns:a16="http://schemas.microsoft.com/office/drawing/2014/main" id="{5997C2FF-48AC-75E3-6417-9873A4A333C6}"/>
                </a:ext>
              </a:extLst>
            </p:cNvPr>
            <p:cNvGrpSpPr>
              <a:grpSpLocks/>
            </p:cNvGrpSpPr>
            <p:nvPr/>
          </p:nvGrpSpPr>
          <p:grpSpPr bwMode="auto">
            <a:xfrm>
              <a:off x="766763" y="4710119"/>
              <a:ext cx="7151687" cy="717551"/>
              <a:chOff x="483" y="2967"/>
              <a:chExt cx="4505" cy="452"/>
            </a:xfrm>
          </p:grpSpPr>
          <p:sp>
            <p:nvSpPr>
              <p:cNvPr id="30" name="Line 6">
                <a:extLst>
                  <a:ext uri="{FF2B5EF4-FFF2-40B4-BE49-F238E27FC236}">
                    <a16:creationId xmlns:a16="http://schemas.microsoft.com/office/drawing/2014/main" id="{84E85982-4120-A3F8-177B-84CFEB73701E}"/>
                  </a:ext>
                </a:extLst>
              </p:cNvPr>
              <p:cNvSpPr>
                <a:spLocks noChangeShapeType="1"/>
              </p:cNvSpPr>
              <p:nvPr/>
            </p:nvSpPr>
            <p:spPr bwMode="auto">
              <a:xfrm flipV="1">
                <a:off x="1586" y="3201"/>
                <a:ext cx="618"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4" name="AutoShape 7">
                <a:extLst>
                  <a:ext uri="{FF2B5EF4-FFF2-40B4-BE49-F238E27FC236}">
                    <a16:creationId xmlns:a16="http://schemas.microsoft.com/office/drawing/2014/main" id="{C40333B2-BA78-82D3-C135-7A7489DA08C5}"/>
                  </a:ext>
                </a:extLst>
              </p:cNvPr>
              <p:cNvSpPr>
                <a:spLocks noChangeArrowheads="1"/>
              </p:cNvSpPr>
              <p:nvPr/>
            </p:nvSpPr>
            <p:spPr bwMode="auto">
              <a:xfrm>
                <a:off x="1760" y="308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grpSp>
            <p:nvGrpSpPr>
              <p:cNvPr id="35" name="Group 8">
                <a:extLst>
                  <a:ext uri="{FF2B5EF4-FFF2-40B4-BE49-F238E27FC236}">
                    <a16:creationId xmlns:a16="http://schemas.microsoft.com/office/drawing/2014/main" id="{FD00FB71-869C-A82E-2858-BF1D5F480AF7}"/>
                  </a:ext>
                </a:extLst>
              </p:cNvPr>
              <p:cNvGrpSpPr>
                <a:grpSpLocks/>
              </p:cNvGrpSpPr>
              <p:nvPr/>
            </p:nvGrpSpPr>
            <p:grpSpPr bwMode="auto">
              <a:xfrm>
                <a:off x="1047" y="2977"/>
                <a:ext cx="525" cy="390"/>
                <a:chOff x="1367" y="2370"/>
                <a:chExt cx="434" cy="390"/>
              </a:xfrm>
            </p:grpSpPr>
            <p:grpSp>
              <p:nvGrpSpPr>
                <p:cNvPr id="72" name="Group 9">
                  <a:extLst>
                    <a:ext uri="{FF2B5EF4-FFF2-40B4-BE49-F238E27FC236}">
                      <a16:creationId xmlns:a16="http://schemas.microsoft.com/office/drawing/2014/main" id="{363880D6-BEBE-89C8-F9E8-BD95B025BEA3}"/>
                    </a:ext>
                  </a:extLst>
                </p:cNvPr>
                <p:cNvGrpSpPr>
                  <a:grpSpLocks/>
                </p:cNvGrpSpPr>
                <p:nvPr/>
              </p:nvGrpSpPr>
              <p:grpSpPr bwMode="auto">
                <a:xfrm>
                  <a:off x="1367" y="2395"/>
                  <a:ext cx="434" cy="365"/>
                  <a:chOff x="418" y="2981"/>
                  <a:chExt cx="352" cy="365"/>
                </a:xfrm>
              </p:grpSpPr>
              <p:sp>
                <p:nvSpPr>
                  <p:cNvPr id="78" name="Rectangle 10">
                    <a:extLst>
                      <a:ext uri="{FF2B5EF4-FFF2-40B4-BE49-F238E27FC236}">
                        <a16:creationId xmlns:a16="http://schemas.microsoft.com/office/drawing/2014/main" id="{96D46C5F-46D0-6BB9-943F-69773F07682B}"/>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9" name="Line 11">
                    <a:extLst>
                      <a:ext uri="{FF2B5EF4-FFF2-40B4-BE49-F238E27FC236}">
                        <a16:creationId xmlns:a16="http://schemas.microsoft.com/office/drawing/2014/main" id="{6B9C53F6-F69D-D47A-C0E4-85E3BC6457DF}"/>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73" name="Group 12">
                  <a:extLst>
                    <a:ext uri="{FF2B5EF4-FFF2-40B4-BE49-F238E27FC236}">
                      <a16:creationId xmlns:a16="http://schemas.microsoft.com/office/drawing/2014/main" id="{26939E39-9AA5-0968-F6DC-D50A66C51A4C}"/>
                    </a:ext>
                  </a:extLst>
                </p:cNvPr>
                <p:cNvGrpSpPr>
                  <a:grpSpLocks/>
                </p:cNvGrpSpPr>
                <p:nvPr/>
              </p:nvGrpSpPr>
              <p:grpSpPr bwMode="auto">
                <a:xfrm flipV="1">
                  <a:off x="1462" y="2586"/>
                  <a:ext cx="96" cy="112"/>
                  <a:chOff x="720" y="3354"/>
                  <a:chExt cx="192" cy="198"/>
                </a:xfrm>
              </p:grpSpPr>
              <p:sp>
                <p:nvSpPr>
                  <p:cNvPr id="76" name="Oval 13">
                    <a:extLst>
                      <a:ext uri="{FF2B5EF4-FFF2-40B4-BE49-F238E27FC236}">
                        <a16:creationId xmlns:a16="http://schemas.microsoft.com/office/drawing/2014/main" id="{1E93C5E1-3A24-43FC-5BF3-D45D34A2171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7" name="AutoShape 14">
                    <a:extLst>
                      <a:ext uri="{FF2B5EF4-FFF2-40B4-BE49-F238E27FC236}">
                        <a16:creationId xmlns:a16="http://schemas.microsoft.com/office/drawing/2014/main" id="{F7CA7CA1-A7F2-67A5-A18D-AA10A9566255}"/>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
              <p:nvSpPr>
                <p:cNvPr id="74" name="Text Box 15">
                  <a:extLst>
                    <a:ext uri="{FF2B5EF4-FFF2-40B4-BE49-F238E27FC236}">
                      <a16:creationId xmlns:a16="http://schemas.microsoft.com/office/drawing/2014/main" id="{EEDC7CF4-EFA8-1DF0-3E9C-75BD401CD35E}"/>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 5</a:t>
                  </a:r>
                </a:p>
              </p:txBody>
            </p:sp>
            <p:sp>
              <p:nvSpPr>
                <p:cNvPr id="75" name="Text Box 16">
                  <a:extLst>
                    <a:ext uri="{FF2B5EF4-FFF2-40B4-BE49-F238E27FC236}">
                      <a16:creationId xmlns:a16="http://schemas.microsoft.com/office/drawing/2014/main" id="{EDD8675D-4005-6191-E893-F0FF1A1544F7}"/>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Cut</a:t>
                  </a:r>
                </a:p>
              </p:txBody>
            </p:sp>
          </p:grpSp>
          <p:grpSp>
            <p:nvGrpSpPr>
              <p:cNvPr id="38" name="Group 17">
                <a:extLst>
                  <a:ext uri="{FF2B5EF4-FFF2-40B4-BE49-F238E27FC236}">
                    <a16:creationId xmlns:a16="http://schemas.microsoft.com/office/drawing/2014/main" id="{85D8E2B7-781B-45A1-BC2C-2B253266A278}"/>
                  </a:ext>
                </a:extLst>
              </p:cNvPr>
              <p:cNvGrpSpPr>
                <a:grpSpLocks/>
              </p:cNvGrpSpPr>
              <p:nvPr/>
            </p:nvGrpSpPr>
            <p:grpSpPr bwMode="auto">
              <a:xfrm>
                <a:off x="2185" y="2972"/>
                <a:ext cx="525" cy="390"/>
                <a:chOff x="1367" y="2370"/>
                <a:chExt cx="434" cy="390"/>
              </a:xfrm>
            </p:grpSpPr>
            <p:grpSp>
              <p:nvGrpSpPr>
                <p:cNvPr id="64" name="Group 18">
                  <a:extLst>
                    <a:ext uri="{FF2B5EF4-FFF2-40B4-BE49-F238E27FC236}">
                      <a16:creationId xmlns:a16="http://schemas.microsoft.com/office/drawing/2014/main" id="{320A4A05-C278-0990-8F82-87FDCF27479F}"/>
                    </a:ext>
                  </a:extLst>
                </p:cNvPr>
                <p:cNvGrpSpPr>
                  <a:grpSpLocks/>
                </p:cNvGrpSpPr>
                <p:nvPr/>
              </p:nvGrpSpPr>
              <p:grpSpPr bwMode="auto">
                <a:xfrm>
                  <a:off x="1367" y="2395"/>
                  <a:ext cx="434" cy="365"/>
                  <a:chOff x="418" y="2981"/>
                  <a:chExt cx="352" cy="365"/>
                </a:xfrm>
              </p:grpSpPr>
              <p:sp>
                <p:nvSpPr>
                  <p:cNvPr id="70" name="Rectangle 19">
                    <a:extLst>
                      <a:ext uri="{FF2B5EF4-FFF2-40B4-BE49-F238E27FC236}">
                        <a16:creationId xmlns:a16="http://schemas.microsoft.com/office/drawing/2014/main" id="{8B7ADD5A-3C61-7E15-49FD-7D1277EE17BD}"/>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1" name="Line 20">
                    <a:extLst>
                      <a:ext uri="{FF2B5EF4-FFF2-40B4-BE49-F238E27FC236}">
                        <a16:creationId xmlns:a16="http://schemas.microsoft.com/office/drawing/2014/main" id="{DB4CAA26-D2A1-522B-5DAB-2A00D0DC8C80}"/>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65" name="Group 21">
                  <a:extLst>
                    <a:ext uri="{FF2B5EF4-FFF2-40B4-BE49-F238E27FC236}">
                      <a16:creationId xmlns:a16="http://schemas.microsoft.com/office/drawing/2014/main" id="{D9E9A71F-FD21-493F-F6FB-5EECA01DB171}"/>
                    </a:ext>
                  </a:extLst>
                </p:cNvPr>
                <p:cNvGrpSpPr>
                  <a:grpSpLocks/>
                </p:cNvGrpSpPr>
                <p:nvPr/>
              </p:nvGrpSpPr>
              <p:grpSpPr bwMode="auto">
                <a:xfrm flipV="1">
                  <a:off x="1462" y="2586"/>
                  <a:ext cx="96" cy="112"/>
                  <a:chOff x="720" y="3354"/>
                  <a:chExt cx="192" cy="198"/>
                </a:xfrm>
              </p:grpSpPr>
              <p:sp>
                <p:nvSpPr>
                  <p:cNvPr id="68" name="Oval 22">
                    <a:extLst>
                      <a:ext uri="{FF2B5EF4-FFF2-40B4-BE49-F238E27FC236}">
                        <a16:creationId xmlns:a16="http://schemas.microsoft.com/office/drawing/2014/main" id="{D298FC27-2AEE-54F6-3B20-91D455270AE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9" name="AutoShape 23">
                    <a:extLst>
                      <a:ext uri="{FF2B5EF4-FFF2-40B4-BE49-F238E27FC236}">
                        <a16:creationId xmlns:a16="http://schemas.microsoft.com/office/drawing/2014/main" id="{D26C6C61-E7FB-F3C3-E6CD-20F7D8A5503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
              <p:nvSpPr>
                <p:cNvPr id="66" name="Text Box 24">
                  <a:extLst>
                    <a:ext uri="{FF2B5EF4-FFF2-40B4-BE49-F238E27FC236}">
                      <a16:creationId xmlns:a16="http://schemas.microsoft.com/office/drawing/2014/main" id="{C070F1FE-DE61-032C-50DE-E7E6A827234E}"/>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 1</a:t>
                  </a:r>
                </a:p>
              </p:txBody>
            </p:sp>
            <p:sp>
              <p:nvSpPr>
                <p:cNvPr id="67" name="Text Box 25">
                  <a:extLst>
                    <a:ext uri="{FF2B5EF4-FFF2-40B4-BE49-F238E27FC236}">
                      <a16:creationId xmlns:a16="http://schemas.microsoft.com/office/drawing/2014/main" id="{899E01AA-8341-0CCD-445E-B7BD2DFF1447}"/>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Stamp</a:t>
                  </a:r>
                </a:p>
              </p:txBody>
            </p:sp>
          </p:grpSp>
          <p:grpSp>
            <p:nvGrpSpPr>
              <p:cNvPr id="39" name="Group 26">
                <a:extLst>
                  <a:ext uri="{FF2B5EF4-FFF2-40B4-BE49-F238E27FC236}">
                    <a16:creationId xmlns:a16="http://schemas.microsoft.com/office/drawing/2014/main" id="{E40CFF87-B234-1F5E-CB61-D6910B142932}"/>
                  </a:ext>
                </a:extLst>
              </p:cNvPr>
              <p:cNvGrpSpPr>
                <a:grpSpLocks/>
              </p:cNvGrpSpPr>
              <p:nvPr/>
            </p:nvGrpSpPr>
            <p:grpSpPr bwMode="auto">
              <a:xfrm>
                <a:off x="3324" y="2967"/>
                <a:ext cx="525" cy="390"/>
                <a:chOff x="1367" y="2370"/>
                <a:chExt cx="434" cy="390"/>
              </a:xfrm>
            </p:grpSpPr>
            <p:grpSp>
              <p:nvGrpSpPr>
                <p:cNvPr id="56" name="Group 27">
                  <a:extLst>
                    <a:ext uri="{FF2B5EF4-FFF2-40B4-BE49-F238E27FC236}">
                      <a16:creationId xmlns:a16="http://schemas.microsoft.com/office/drawing/2014/main" id="{4F8FF6B7-B43F-B724-81B0-A79FE2F52EB3}"/>
                    </a:ext>
                  </a:extLst>
                </p:cNvPr>
                <p:cNvGrpSpPr>
                  <a:grpSpLocks/>
                </p:cNvGrpSpPr>
                <p:nvPr/>
              </p:nvGrpSpPr>
              <p:grpSpPr bwMode="auto">
                <a:xfrm>
                  <a:off x="1367" y="2395"/>
                  <a:ext cx="434" cy="365"/>
                  <a:chOff x="418" y="2981"/>
                  <a:chExt cx="352" cy="365"/>
                </a:xfrm>
              </p:grpSpPr>
              <p:sp>
                <p:nvSpPr>
                  <p:cNvPr id="62" name="Rectangle 28">
                    <a:extLst>
                      <a:ext uri="{FF2B5EF4-FFF2-40B4-BE49-F238E27FC236}">
                        <a16:creationId xmlns:a16="http://schemas.microsoft.com/office/drawing/2014/main" id="{4D6C44DE-122B-F1E1-1754-348883FEFBA6}"/>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3" name="Line 29">
                    <a:extLst>
                      <a:ext uri="{FF2B5EF4-FFF2-40B4-BE49-F238E27FC236}">
                        <a16:creationId xmlns:a16="http://schemas.microsoft.com/office/drawing/2014/main" id="{B07C280C-38C4-A792-099B-072161A157D9}"/>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57" name="Group 30">
                  <a:extLst>
                    <a:ext uri="{FF2B5EF4-FFF2-40B4-BE49-F238E27FC236}">
                      <a16:creationId xmlns:a16="http://schemas.microsoft.com/office/drawing/2014/main" id="{24B40725-A3E4-20AD-228D-8980A056189A}"/>
                    </a:ext>
                  </a:extLst>
                </p:cNvPr>
                <p:cNvGrpSpPr>
                  <a:grpSpLocks/>
                </p:cNvGrpSpPr>
                <p:nvPr/>
              </p:nvGrpSpPr>
              <p:grpSpPr bwMode="auto">
                <a:xfrm flipV="1">
                  <a:off x="1462" y="2586"/>
                  <a:ext cx="96" cy="112"/>
                  <a:chOff x="720" y="3354"/>
                  <a:chExt cx="192" cy="198"/>
                </a:xfrm>
              </p:grpSpPr>
              <p:sp>
                <p:nvSpPr>
                  <p:cNvPr id="60" name="Oval 31">
                    <a:extLst>
                      <a:ext uri="{FF2B5EF4-FFF2-40B4-BE49-F238E27FC236}">
                        <a16:creationId xmlns:a16="http://schemas.microsoft.com/office/drawing/2014/main" id="{5AFE6085-D58B-B521-4778-EC055D57F023}"/>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1" name="AutoShape 32">
                    <a:extLst>
                      <a:ext uri="{FF2B5EF4-FFF2-40B4-BE49-F238E27FC236}">
                        <a16:creationId xmlns:a16="http://schemas.microsoft.com/office/drawing/2014/main" id="{1CEDD780-1F62-1094-A470-F44B6870DD34}"/>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
              <p:nvSpPr>
                <p:cNvPr id="58" name="Text Box 33">
                  <a:extLst>
                    <a:ext uri="{FF2B5EF4-FFF2-40B4-BE49-F238E27FC236}">
                      <a16:creationId xmlns:a16="http://schemas.microsoft.com/office/drawing/2014/main" id="{5B638D16-A434-C746-6C81-621EEBBC5CDB}"/>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 1</a:t>
                  </a:r>
                </a:p>
              </p:txBody>
            </p:sp>
            <p:sp>
              <p:nvSpPr>
                <p:cNvPr id="59" name="Text Box 34">
                  <a:extLst>
                    <a:ext uri="{FF2B5EF4-FFF2-40B4-BE49-F238E27FC236}">
                      <a16:creationId xmlns:a16="http://schemas.microsoft.com/office/drawing/2014/main" id="{FF77516A-31B1-7400-4CC8-5A06FDBE6AF6}"/>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Brake Form</a:t>
                  </a:r>
                </a:p>
              </p:txBody>
            </p:sp>
          </p:grpSp>
          <p:grpSp>
            <p:nvGrpSpPr>
              <p:cNvPr id="40" name="Group 35">
                <a:extLst>
                  <a:ext uri="{FF2B5EF4-FFF2-40B4-BE49-F238E27FC236}">
                    <a16:creationId xmlns:a16="http://schemas.microsoft.com/office/drawing/2014/main" id="{728D73AA-3A17-690F-361A-72E7F1C4B901}"/>
                  </a:ext>
                </a:extLst>
              </p:cNvPr>
              <p:cNvGrpSpPr>
                <a:grpSpLocks/>
              </p:cNvGrpSpPr>
              <p:nvPr/>
            </p:nvGrpSpPr>
            <p:grpSpPr bwMode="auto">
              <a:xfrm>
                <a:off x="4463" y="2982"/>
                <a:ext cx="525" cy="390"/>
                <a:chOff x="4424" y="2385"/>
                <a:chExt cx="525" cy="390"/>
              </a:xfrm>
            </p:grpSpPr>
            <p:grpSp>
              <p:nvGrpSpPr>
                <p:cNvPr id="52" name="Group 36">
                  <a:extLst>
                    <a:ext uri="{FF2B5EF4-FFF2-40B4-BE49-F238E27FC236}">
                      <a16:creationId xmlns:a16="http://schemas.microsoft.com/office/drawing/2014/main" id="{401855DD-1983-528F-F36F-B42A715A9149}"/>
                    </a:ext>
                  </a:extLst>
                </p:cNvPr>
                <p:cNvGrpSpPr>
                  <a:grpSpLocks/>
                </p:cNvGrpSpPr>
                <p:nvPr/>
              </p:nvGrpSpPr>
              <p:grpSpPr bwMode="auto">
                <a:xfrm>
                  <a:off x="4424" y="2410"/>
                  <a:ext cx="525" cy="365"/>
                  <a:chOff x="418" y="2981"/>
                  <a:chExt cx="352" cy="365"/>
                </a:xfrm>
              </p:grpSpPr>
              <p:sp>
                <p:nvSpPr>
                  <p:cNvPr id="54" name="Rectangle 37">
                    <a:extLst>
                      <a:ext uri="{FF2B5EF4-FFF2-40B4-BE49-F238E27FC236}">
                        <a16:creationId xmlns:a16="http://schemas.microsoft.com/office/drawing/2014/main" id="{B10601A2-E8A3-E461-569B-442B94273B00}"/>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Line 38">
                    <a:extLst>
                      <a:ext uri="{FF2B5EF4-FFF2-40B4-BE49-F238E27FC236}">
                        <a16:creationId xmlns:a16="http://schemas.microsoft.com/office/drawing/2014/main" id="{068D1A99-8AB0-59E9-F2CE-A185D29B8B7C}"/>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3" name="Text Box 39">
                  <a:extLst>
                    <a:ext uri="{FF2B5EF4-FFF2-40B4-BE49-F238E27FC236}">
                      <a16:creationId xmlns:a16="http://schemas.microsoft.com/office/drawing/2014/main" id="{A7FD942D-83C9-BCF8-5810-4568035E62E5}"/>
                    </a:ext>
                  </a:extLst>
                </p:cNvPr>
                <p:cNvSpPr txBox="1">
                  <a:spLocks noChangeArrowheads="1"/>
                </p:cNvSpPr>
                <p:nvPr/>
              </p:nvSpPr>
              <p:spPr bwMode="auto">
                <a:xfrm>
                  <a:off x="4442" y="2385"/>
                  <a:ext cx="49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latin typeface="Roboto" panose="02000000000000000000" pitchFamily="2" charset="0"/>
                      <a:ea typeface="Roboto" panose="02000000000000000000" pitchFamily="2" charset="0"/>
                    </a:rPr>
                    <a:t>Ship</a:t>
                  </a:r>
                </a:p>
              </p:txBody>
            </p:sp>
          </p:grpSp>
          <p:sp>
            <p:nvSpPr>
              <p:cNvPr id="41" name="Line 40">
                <a:extLst>
                  <a:ext uri="{FF2B5EF4-FFF2-40B4-BE49-F238E27FC236}">
                    <a16:creationId xmlns:a16="http://schemas.microsoft.com/office/drawing/2014/main" id="{6094EE55-B451-5FAA-E38A-954060A9DB9B}"/>
                  </a:ext>
                </a:extLst>
              </p:cNvPr>
              <p:cNvSpPr>
                <a:spLocks noChangeShapeType="1"/>
              </p:cNvSpPr>
              <p:nvPr/>
            </p:nvSpPr>
            <p:spPr bwMode="auto">
              <a:xfrm flipV="1">
                <a:off x="2724" y="3201"/>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2" name="Line 41">
                <a:extLst>
                  <a:ext uri="{FF2B5EF4-FFF2-40B4-BE49-F238E27FC236}">
                    <a16:creationId xmlns:a16="http://schemas.microsoft.com/office/drawing/2014/main" id="{46814C0D-89B0-B53D-002A-A9C4FDA69554}"/>
                  </a:ext>
                </a:extLst>
              </p:cNvPr>
              <p:cNvSpPr>
                <a:spLocks noChangeShapeType="1"/>
              </p:cNvSpPr>
              <p:nvPr/>
            </p:nvSpPr>
            <p:spPr bwMode="auto">
              <a:xfrm flipV="1">
                <a:off x="3862" y="3201"/>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3" name="AutoShape 42">
                <a:extLst>
                  <a:ext uri="{FF2B5EF4-FFF2-40B4-BE49-F238E27FC236}">
                    <a16:creationId xmlns:a16="http://schemas.microsoft.com/office/drawing/2014/main" id="{0F55DE36-5FF5-B77C-CA72-0E152EB021A5}"/>
                  </a:ext>
                </a:extLst>
              </p:cNvPr>
              <p:cNvSpPr>
                <a:spLocks noChangeArrowheads="1"/>
              </p:cNvSpPr>
              <p:nvPr/>
            </p:nvSpPr>
            <p:spPr bwMode="auto">
              <a:xfrm>
                <a:off x="2898" y="308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44" name="AutoShape 43">
                <a:extLst>
                  <a:ext uri="{FF2B5EF4-FFF2-40B4-BE49-F238E27FC236}">
                    <a16:creationId xmlns:a16="http://schemas.microsoft.com/office/drawing/2014/main" id="{0D47BB17-2664-DE7C-F77B-42875AE06F1B}"/>
                  </a:ext>
                </a:extLst>
              </p:cNvPr>
              <p:cNvSpPr>
                <a:spLocks noChangeArrowheads="1"/>
              </p:cNvSpPr>
              <p:nvPr/>
            </p:nvSpPr>
            <p:spPr bwMode="auto">
              <a:xfrm>
                <a:off x="4036" y="308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45" name="Line 44">
                <a:extLst>
                  <a:ext uri="{FF2B5EF4-FFF2-40B4-BE49-F238E27FC236}">
                    <a16:creationId xmlns:a16="http://schemas.microsoft.com/office/drawing/2014/main" id="{996C6DE9-CE78-E1B7-50BF-463D0F17E4F8}"/>
                  </a:ext>
                </a:extLst>
              </p:cNvPr>
              <p:cNvSpPr>
                <a:spLocks noChangeShapeType="1"/>
              </p:cNvSpPr>
              <p:nvPr/>
            </p:nvSpPr>
            <p:spPr bwMode="auto">
              <a:xfrm flipV="1">
                <a:off x="778" y="3202"/>
                <a:ext cx="268" cy="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7" name="AutoShape 45">
                <a:extLst>
                  <a:ext uri="{FF2B5EF4-FFF2-40B4-BE49-F238E27FC236}">
                    <a16:creationId xmlns:a16="http://schemas.microsoft.com/office/drawing/2014/main" id="{44853CD0-CEAE-D63E-BD77-8F8CD3B665FC}"/>
                  </a:ext>
                </a:extLst>
              </p:cNvPr>
              <p:cNvSpPr>
                <a:spLocks noChangeArrowheads="1"/>
              </p:cNvSpPr>
              <p:nvPr/>
            </p:nvSpPr>
            <p:spPr bwMode="auto">
              <a:xfrm>
                <a:off x="618" y="3082"/>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48" name="Rectangle 46">
                <a:extLst>
                  <a:ext uri="{FF2B5EF4-FFF2-40B4-BE49-F238E27FC236}">
                    <a16:creationId xmlns:a16="http://schemas.microsoft.com/office/drawing/2014/main" id="{1F0C34CC-D685-69D2-6181-E673ECFC5E96}"/>
                  </a:ext>
                </a:extLst>
              </p:cNvPr>
              <p:cNvSpPr>
                <a:spLocks noChangeArrowheads="1"/>
              </p:cNvSpPr>
              <p:nvPr/>
            </p:nvSpPr>
            <p:spPr bwMode="auto">
              <a:xfrm>
                <a:off x="483" y="3264"/>
                <a:ext cx="508"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dirty="0">
                    <a:solidFill>
                      <a:schemeClr val="accent1"/>
                    </a:solidFill>
                    <a:latin typeface="Roboto" panose="02000000000000000000" pitchFamily="2" charset="0"/>
                    <a:ea typeface="Roboto" panose="02000000000000000000" pitchFamily="2" charset="0"/>
                  </a:rPr>
                  <a:t>3,200 Sheets </a:t>
                </a:r>
              </a:p>
            </p:txBody>
          </p:sp>
          <p:sp>
            <p:nvSpPr>
              <p:cNvPr id="49" name="Rectangle 47">
                <a:extLst>
                  <a:ext uri="{FF2B5EF4-FFF2-40B4-BE49-F238E27FC236}">
                    <a16:creationId xmlns:a16="http://schemas.microsoft.com/office/drawing/2014/main" id="{901A8670-FB40-FF39-BBF4-BB389E38DA2F}"/>
                  </a:ext>
                </a:extLst>
              </p:cNvPr>
              <p:cNvSpPr>
                <a:spLocks noChangeArrowheads="1"/>
              </p:cNvSpPr>
              <p:nvPr/>
            </p:nvSpPr>
            <p:spPr bwMode="auto">
              <a:xfrm>
                <a:off x="1634" y="3264"/>
                <a:ext cx="485"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a:solidFill>
                      <a:schemeClr val="accent1"/>
                    </a:solidFill>
                    <a:latin typeface="Roboto" panose="02000000000000000000" pitchFamily="2" charset="0"/>
                    <a:ea typeface="Roboto" panose="02000000000000000000" pitchFamily="2" charset="0"/>
                  </a:rPr>
                  <a:t>5,250 Pieces</a:t>
                </a:r>
              </a:p>
            </p:txBody>
          </p:sp>
          <p:sp>
            <p:nvSpPr>
              <p:cNvPr id="50" name="Rectangle 48">
                <a:extLst>
                  <a:ext uri="{FF2B5EF4-FFF2-40B4-BE49-F238E27FC236}">
                    <a16:creationId xmlns:a16="http://schemas.microsoft.com/office/drawing/2014/main" id="{3ED4FD5F-77DB-0234-A479-990D163471DA}"/>
                  </a:ext>
                </a:extLst>
              </p:cNvPr>
              <p:cNvSpPr>
                <a:spLocks noChangeArrowheads="1"/>
              </p:cNvSpPr>
              <p:nvPr/>
            </p:nvSpPr>
            <p:spPr bwMode="auto">
              <a:xfrm>
                <a:off x="2762" y="3264"/>
                <a:ext cx="485"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a:solidFill>
                      <a:schemeClr val="accent1"/>
                    </a:solidFill>
                    <a:latin typeface="Roboto" panose="02000000000000000000" pitchFamily="2" charset="0"/>
                    <a:ea typeface="Roboto" panose="02000000000000000000" pitchFamily="2" charset="0"/>
                  </a:rPr>
                  <a:t>9,300 Pieces</a:t>
                </a:r>
              </a:p>
            </p:txBody>
          </p:sp>
          <p:sp>
            <p:nvSpPr>
              <p:cNvPr id="51" name="Rectangle 49">
                <a:extLst>
                  <a:ext uri="{FF2B5EF4-FFF2-40B4-BE49-F238E27FC236}">
                    <a16:creationId xmlns:a16="http://schemas.microsoft.com/office/drawing/2014/main" id="{5AF4A3C1-3F13-0B19-025E-698266467177}"/>
                  </a:ext>
                </a:extLst>
              </p:cNvPr>
              <p:cNvSpPr>
                <a:spLocks noChangeArrowheads="1"/>
              </p:cNvSpPr>
              <p:nvPr/>
            </p:nvSpPr>
            <p:spPr bwMode="auto">
              <a:xfrm>
                <a:off x="3852" y="3264"/>
                <a:ext cx="618"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000" b="0">
                    <a:solidFill>
                      <a:schemeClr val="accent1"/>
                    </a:solidFill>
                    <a:latin typeface="Roboto" panose="02000000000000000000" pitchFamily="2" charset="0"/>
                    <a:ea typeface="Roboto" panose="02000000000000000000" pitchFamily="2" charset="0"/>
                  </a:rPr>
                  <a:t>2,300 Enclosures</a:t>
                </a:r>
              </a:p>
            </p:txBody>
          </p:sp>
        </p:grpSp>
        <p:sp>
          <p:nvSpPr>
            <p:cNvPr id="80" name="Line 51">
              <a:extLst>
                <a:ext uri="{FF2B5EF4-FFF2-40B4-BE49-F238E27FC236}">
                  <a16:creationId xmlns:a16="http://schemas.microsoft.com/office/drawing/2014/main" id="{7C02E780-4EC6-543A-173B-0239EB8B156B}"/>
                </a:ext>
              </a:extLst>
            </p:cNvPr>
            <p:cNvSpPr>
              <a:spLocks noChangeShapeType="1"/>
            </p:cNvSpPr>
            <p:nvPr/>
          </p:nvSpPr>
          <p:spPr bwMode="auto">
            <a:xfrm flipV="1">
              <a:off x="6248400" y="2057400"/>
              <a:ext cx="1209675" cy="0"/>
            </a:xfrm>
            <a:prstGeom prst="line">
              <a:avLst/>
            </a:prstGeom>
            <a:noFill/>
            <a:ln w="762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1" name="AutoShape 52">
              <a:extLst>
                <a:ext uri="{FF2B5EF4-FFF2-40B4-BE49-F238E27FC236}">
                  <a16:creationId xmlns:a16="http://schemas.microsoft.com/office/drawing/2014/main" id="{8B106D2A-44A3-7321-3D4B-FF34996090E2}"/>
                </a:ext>
              </a:extLst>
            </p:cNvPr>
            <p:cNvSpPr>
              <a:spLocks noChangeArrowheads="1"/>
            </p:cNvSpPr>
            <p:nvPr/>
          </p:nvSpPr>
          <p:spPr bwMode="auto">
            <a:xfrm>
              <a:off x="6553200" y="1828800"/>
              <a:ext cx="463550" cy="381000"/>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a:solidFill>
                    <a:schemeClr val="tx1"/>
                  </a:solidFill>
                  <a:latin typeface="Roboto" panose="02000000000000000000" pitchFamily="2" charset="0"/>
                  <a:ea typeface="Roboto" panose="02000000000000000000" pitchFamily="2" charset="0"/>
                </a:rPr>
                <a:t>I</a:t>
              </a:r>
            </a:p>
          </p:txBody>
        </p:sp>
        <p:sp>
          <p:nvSpPr>
            <p:cNvPr id="82" name="Text Box 53">
              <a:extLst>
                <a:ext uri="{FF2B5EF4-FFF2-40B4-BE49-F238E27FC236}">
                  <a16:creationId xmlns:a16="http://schemas.microsoft.com/office/drawing/2014/main" id="{F1CABF69-328B-62D8-D302-D7291F08708A}"/>
                </a:ext>
              </a:extLst>
            </p:cNvPr>
            <p:cNvSpPr txBox="1">
              <a:spLocks noChangeArrowheads="1"/>
            </p:cNvSpPr>
            <p:nvPr/>
          </p:nvSpPr>
          <p:spPr bwMode="auto">
            <a:xfrm>
              <a:off x="5246483" y="2313711"/>
              <a:ext cx="3197225"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rPr>
                <a:t>PUSH Arrow (Thick Dashed Line)</a:t>
              </a:r>
              <a:r>
                <a:rPr lang="en-US" altLang="en-US" sz="1200" b="0" dirty="0">
                  <a:solidFill>
                    <a:schemeClr val="tx1"/>
                  </a:solidFill>
                  <a:latin typeface="Roboto" panose="02000000000000000000" pitchFamily="2" charset="0"/>
                  <a:ea typeface="Roboto" panose="02000000000000000000" pitchFamily="2" charset="0"/>
                </a:rPr>
                <a:t> – Indicates an accumulation of material that has been delivered from a producing process or supplier and is waiting for the next process. The physical location of the inventory is not relevant. What is relevant is the fact that there is not a pull system in place to regulate the production of the producing process.</a:t>
              </a:r>
            </a:p>
          </p:txBody>
        </p:sp>
      </p:grpSp>
    </p:spTree>
    <p:extLst>
      <p:ext uri="{BB962C8B-B14F-4D97-AF65-F5344CB8AC3E}">
        <p14:creationId xmlns:p14="http://schemas.microsoft.com/office/powerpoint/2010/main" val="108098955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54</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Tree>
    <p:extLst>
      <p:ext uri="{BB962C8B-B14F-4D97-AF65-F5344CB8AC3E}">
        <p14:creationId xmlns:p14="http://schemas.microsoft.com/office/powerpoint/2010/main" val="3283435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Mapping the Current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55</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7" y="193413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57667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Takt Time</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7" y="3861757"/>
            <a:ext cx="10174791"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Data Boxes and Inventory Levels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789379"/>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7" y="4504297"/>
            <a:ext cx="10174793"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Supplier Data</a:t>
            </a:r>
          </a:p>
        </p:txBody>
      </p:sp>
      <p:sp>
        <p:nvSpPr>
          <p:cNvPr id="18" name="Rectangle 17">
            <a:extLst>
              <a:ext uri="{FF2B5EF4-FFF2-40B4-BE49-F238E27FC236}">
                <a16:creationId xmlns:a16="http://schemas.microsoft.com/office/drawing/2014/main" id="{50BBF7A0-ECFA-06CB-A66C-31B4C7516E5E}"/>
              </a:ext>
            </a:extLst>
          </p:cNvPr>
          <p:cNvSpPr>
            <a:spLocks/>
          </p:cNvSpPr>
          <p:nvPr/>
        </p:nvSpPr>
        <p:spPr>
          <a:xfrm>
            <a:off x="940248" y="321921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9" name="Rectangle 18">
            <a:extLst>
              <a:ext uri="{FF2B5EF4-FFF2-40B4-BE49-F238E27FC236}">
                <a16:creationId xmlns:a16="http://schemas.microsoft.com/office/drawing/2014/main" id="{D94E3980-5557-1182-3882-58280A403140}"/>
              </a:ext>
            </a:extLst>
          </p:cNvPr>
          <p:cNvSpPr>
            <a:spLocks/>
          </p:cNvSpPr>
          <p:nvPr/>
        </p:nvSpPr>
        <p:spPr>
          <a:xfrm>
            <a:off x="940248" y="5146837"/>
            <a:ext cx="1017479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Production Lead Time</a:t>
            </a:r>
          </a:p>
        </p:txBody>
      </p:sp>
    </p:spTree>
    <p:extLst>
      <p:ext uri="{BB962C8B-B14F-4D97-AF65-F5344CB8AC3E}">
        <p14:creationId xmlns:p14="http://schemas.microsoft.com/office/powerpoint/2010/main" val="347555942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56</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1054608" y="1969793"/>
            <a:ext cx="5551932" cy="3127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Purchased Raw Material</a:t>
            </a:r>
          </a:p>
          <a:p>
            <a:pPr lvl="1" eaLnBrk="1" hangingPunct="1">
              <a:buClr>
                <a:schemeClr val="tx1"/>
              </a:buClr>
              <a:buSzPct val="90000"/>
              <a:buFont typeface="Arial" panose="020B0604020202020204" pitchFamily="34" charset="0"/>
              <a:buChar char="•"/>
            </a:pPr>
            <a:r>
              <a:rPr lang="en-US" altLang="en-US" dirty="0">
                <a:solidFill>
                  <a:schemeClr val="accent1"/>
                </a:solidFill>
                <a:latin typeface="Roboto" panose="02000000000000000000" pitchFamily="2" charset="0"/>
                <a:ea typeface="Roboto" panose="02000000000000000000" pitchFamily="2" charset="0"/>
              </a:rPr>
              <a:t>4’ x8’ Sheets </a:t>
            </a:r>
            <a:r>
              <a:rPr lang="en-US" altLang="en-US" dirty="0">
                <a:latin typeface="Roboto" panose="02000000000000000000" pitchFamily="2" charset="0"/>
                <a:ea typeface="Roboto" panose="02000000000000000000" pitchFamily="2" charset="0"/>
              </a:rPr>
              <a:t>of aluminum are purchased from the </a:t>
            </a:r>
            <a:r>
              <a:rPr lang="en-US" altLang="en-US" dirty="0">
                <a:solidFill>
                  <a:schemeClr val="accent1"/>
                </a:solidFill>
                <a:latin typeface="Roboto" panose="02000000000000000000" pitchFamily="2" charset="0"/>
                <a:ea typeface="Roboto" panose="02000000000000000000" pitchFamily="2" charset="0"/>
              </a:rPr>
              <a:t>Acme Sheet Metal Company</a:t>
            </a:r>
            <a:r>
              <a:rPr lang="en-US" altLang="en-US" dirty="0">
                <a:latin typeface="Roboto" panose="02000000000000000000" pitchFamily="2" charset="0"/>
                <a:ea typeface="Roboto" panose="02000000000000000000" pitchFamily="2" charset="0"/>
              </a:rPr>
              <a:t>, </a:t>
            </a:r>
            <a:r>
              <a:rPr lang="en-US" altLang="en-US" dirty="0">
                <a:solidFill>
                  <a:schemeClr val="accent1"/>
                </a:solidFill>
                <a:latin typeface="Roboto" panose="02000000000000000000" pitchFamily="2" charset="0"/>
                <a:ea typeface="Roboto" panose="02000000000000000000" pitchFamily="2" charset="0"/>
              </a:rPr>
              <a:t>sole supplier </a:t>
            </a:r>
            <a:r>
              <a:rPr lang="en-US" altLang="en-US" dirty="0">
                <a:latin typeface="Roboto" panose="02000000000000000000" pitchFamily="2" charset="0"/>
                <a:ea typeface="Roboto" panose="02000000000000000000" pitchFamily="2" charset="0"/>
              </a:rPr>
              <a:t>for this product family</a:t>
            </a:r>
          </a:p>
          <a:p>
            <a:pPr lvl="1" eaLnBrk="1" hangingPunct="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Purchase orders are sent to Acme once a month via Fax</a:t>
            </a:r>
          </a:p>
          <a:p>
            <a:pPr lvl="1" eaLnBrk="1" hangingPunct="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Acme delivers </a:t>
            </a:r>
            <a:r>
              <a:rPr lang="en-US" altLang="en-US" dirty="0">
                <a:solidFill>
                  <a:schemeClr val="accent1"/>
                </a:solidFill>
                <a:latin typeface="Roboto" panose="02000000000000000000" pitchFamily="2" charset="0"/>
                <a:ea typeface="Roboto" panose="02000000000000000000" pitchFamily="2" charset="0"/>
              </a:rPr>
              <a:t>weekly by truck </a:t>
            </a:r>
            <a:r>
              <a:rPr lang="en-US" altLang="en-US" dirty="0">
                <a:latin typeface="Roboto" panose="02000000000000000000" pitchFamily="2" charset="0"/>
                <a:ea typeface="Roboto" panose="02000000000000000000" pitchFamily="2" charset="0"/>
              </a:rPr>
              <a:t>to MME’s requirements</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flipV="1">
            <a:off x="6421120" y="2643692"/>
            <a:ext cx="2266316" cy="170627"/>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17" name="Group 5">
            <a:extLst>
              <a:ext uri="{FF2B5EF4-FFF2-40B4-BE49-F238E27FC236}">
                <a16:creationId xmlns:a16="http://schemas.microsoft.com/office/drawing/2014/main" id="{391B4A4B-F818-38D4-F4A8-22ACAA9B4E26}"/>
              </a:ext>
            </a:extLst>
          </p:cNvPr>
          <p:cNvGrpSpPr>
            <a:grpSpLocks/>
          </p:cNvGrpSpPr>
          <p:nvPr/>
        </p:nvGrpSpPr>
        <p:grpSpPr bwMode="auto">
          <a:xfrm>
            <a:off x="8887968" y="1862849"/>
            <a:ext cx="1676400" cy="3861295"/>
            <a:chOff x="429" y="1247"/>
            <a:chExt cx="508" cy="1230"/>
          </a:xfrm>
        </p:grpSpPr>
        <p:sp>
          <p:nvSpPr>
            <p:cNvPr id="20" name="Line 6">
              <a:extLst>
                <a:ext uri="{FF2B5EF4-FFF2-40B4-BE49-F238E27FC236}">
                  <a16:creationId xmlns:a16="http://schemas.microsoft.com/office/drawing/2014/main" id="{EC06B626-F76B-6C52-5F2E-C0FC23119F6A}"/>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nvGrpSpPr>
            <p:cNvPr id="29" name="Group 8">
              <a:extLst>
                <a:ext uri="{FF2B5EF4-FFF2-40B4-BE49-F238E27FC236}">
                  <a16:creationId xmlns:a16="http://schemas.microsoft.com/office/drawing/2014/main" id="{820A80C3-D65F-E8BA-F734-E00615229F27}"/>
                </a:ext>
              </a:extLst>
            </p:cNvPr>
            <p:cNvGrpSpPr>
              <a:grpSpLocks/>
            </p:cNvGrpSpPr>
            <p:nvPr/>
          </p:nvGrpSpPr>
          <p:grpSpPr bwMode="auto">
            <a:xfrm>
              <a:off x="429" y="1247"/>
              <a:ext cx="508" cy="348"/>
              <a:chOff x="536" y="1322"/>
              <a:chExt cx="446" cy="348"/>
            </a:xfrm>
          </p:grpSpPr>
          <p:sp>
            <p:nvSpPr>
              <p:cNvPr id="34" name="Rectangle 9">
                <a:extLst>
                  <a:ext uri="{FF2B5EF4-FFF2-40B4-BE49-F238E27FC236}">
                    <a16:creationId xmlns:a16="http://schemas.microsoft.com/office/drawing/2014/main" id="{80926FC6-5457-0370-3911-2F6FBC1CB91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Rectangle 10">
                <a:extLst>
                  <a:ext uri="{FF2B5EF4-FFF2-40B4-BE49-F238E27FC236}">
                    <a16:creationId xmlns:a16="http://schemas.microsoft.com/office/drawing/2014/main" id="{C866C3F6-0541-D61D-40B7-22DFD6B4F838}"/>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1100" b="0" dirty="0">
                    <a:solidFill>
                      <a:schemeClr val="tx1"/>
                    </a:solidFill>
                    <a:latin typeface="Roboto" panose="02000000000000000000" pitchFamily="2" charset="0"/>
                    <a:ea typeface="Roboto" panose="02000000000000000000" pitchFamily="2" charset="0"/>
                  </a:rPr>
                  <a:t>Acme Sheet Metal Co.</a:t>
                </a:r>
              </a:p>
            </p:txBody>
          </p:sp>
          <p:sp>
            <p:nvSpPr>
              <p:cNvPr id="38" name="AutoShape 11">
                <a:extLst>
                  <a:ext uri="{FF2B5EF4-FFF2-40B4-BE49-F238E27FC236}">
                    <a16:creationId xmlns:a16="http://schemas.microsoft.com/office/drawing/2014/main" id="{875A4952-F56E-BFC1-CA7F-349F277A2FC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9" name="AutoShape 12">
                <a:extLst>
                  <a:ext uri="{FF2B5EF4-FFF2-40B4-BE49-F238E27FC236}">
                    <a16:creationId xmlns:a16="http://schemas.microsoft.com/office/drawing/2014/main" id="{CA22381A-FEF1-6A1A-82F0-52FE01720BF3}"/>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0" name="AutoShape 13">
                <a:extLst>
                  <a:ext uri="{FF2B5EF4-FFF2-40B4-BE49-F238E27FC236}">
                    <a16:creationId xmlns:a16="http://schemas.microsoft.com/office/drawing/2014/main" id="{7863AD2E-92F1-6035-9B3D-F22A21FA37C7}"/>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1" name="Rectangle 14">
                <a:extLst>
                  <a:ext uri="{FF2B5EF4-FFF2-40B4-BE49-F238E27FC236}">
                    <a16:creationId xmlns:a16="http://schemas.microsoft.com/office/drawing/2014/main" id="{C853349A-F3DE-6BE7-6F9D-BC3D017987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2" name="Rectangle 15">
                <a:extLst>
                  <a:ext uri="{FF2B5EF4-FFF2-40B4-BE49-F238E27FC236}">
                    <a16:creationId xmlns:a16="http://schemas.microsoft.com/office/drawing/2014/main" id="{EB2DEBEC-A31E-14C0-13BE-B1D5DE0E3761}"/>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3" name="Rectangle 16">
                <a:extLst>
                  <a:ext uri="{FF2B5EF4-FFF2-40B4-BE49-F238E27FC236}">
                    <a16:creationId xmlns:a16="http://schemas.microsoft.com/office/drawing/2014/main" id="{FD8C5451-5DBD-2A05-F116-D03C8ED86BF8}"/>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23" name="Group 19">
              <a:extLst>
                <a:ext uri="{FF2B5EF4-FFF2-40B4-BE49-F238E27FC236}">
                  <a16:creationId xmlns:a16="http://schemas.microsoft.com/office/drawing/2014/main" id="{D81F3BA2-E93F-2F95-1B67-BAB69EEDD438}"/>
                </a:ext>
              </a:extLst>
            </p:cNvPr>
            <p:cNvGrpSpPr>
              <a:grpSpLocks/>
            </p:cNvGrpSpPr>
            <p:nvPr/>
          </p:nvGrpSpPr>
          <p:grpSpPr bwMode="auto">
            <a:xfrm>
              <a:off x="530" y="1926"/>
              <a:ext cx="337" cy="236"/>
              <a:chOff x="536" y="3744"/>
              <a:chExt cx="415" cy="261"/>
            </a:xfrm>
          </p:grpSpPr>
          <p:sp>
            <p:nvSpPr>
              <p:cNvPr id="25" name="Rectangle 20">
                <a:extLst>
                  <a:ext uri="{FF2B5EF4-FFF2-40B4-BE49-F238E27FC236}">
                    <a16:creationId xmlns:a16="http://schemas.microsoft.com/office/drawing/2014/main" id="{B6FD5396-4699-67CE-D59B-39BB9447ADAC}"/>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1100" b="0" dirty="0">
                    <a:solidFill>
                      <a:schemeClr val="tx1"/>
                    </a:solidFill>
                    <a:latin typeface="Roboto" panose="02000000000000000000" pitchFamily="2" charset="0"/>
                    <a:ea typeface="Roboto" panose="02000000000000000000" pitchFamily="2" charset="0"/>
                  </a:rPr>
                  <a:t>1X Week</a:t>
                </a:r>
              </a:p>
            </p:txBody>
          </p:sp>
          <p:sp>
            <p:nvSpPr>
              <p:cNvPr id="26" name="Rectangle 21">
                <a:extLst>
                  <a:ext uri="{FF2B5EF4-FFF2-40B4-BE49-F238E27FC236}">
                    <a16:creationId xmlns:a16="http://schemas.microsoft.com/office/drawing/2014/main" id="{DDE906C6-1849-6E5B-DCC2-2557A952E18B}"/>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7" name="Oval 22">
                <a:extLst>
                  <a:ext uri="{FF2B5EF4-FFF2-40B4-BE49-F238E27FC236}">
                    <a16:creationId xmlns:a16="http://schemas.microsoft.com/office/drawing/2014/main" id="{E4FF30E1-22D4-5E44-B856-886805E7123B}"/>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8" name="Oval 23">
                <a:extLst>
                  <a:ext uri="{FF2B5EF4-FFF2-40B4-BE49-F238E27FC236}">
                    <a16:creationId xmlns:a16="http://schemas.microsoft.com/office/drawing/2014/main" id="{7C245BA5-1F4F-C49B-27DC-F071C43A3030}"/>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sp>
        <p:nvSpPr>
          <p:cNvPr id="44" name="Line 11">
            <a:extLst>
              <a:ext uri="{FF2B5EF4-FFF2-40B4-BE49-F238E27FC236}">
                <a16:creationId xmlns:a16="http://schemas.microsoft.com/office/drawing/2014/main" id="{0E3EDB20-9530-CEB1-B6F6-3E7D09815267}"/>
              </a:ext>
            </a:extLst>
          </p:cNvPr>
          <p:cNvSpPr>
            <a:spLocks noChangeShapeType="1"/>
          </p:cNvSpPr>
          <p:nvPr/>
        </p:nvSpPr>
        <p:spPr bwMode="auto">
          <a:xfrm flipV="1">
            <a:off x="5580360" y="4301707"/>
            <a:ext cx="3480510" cy="170628"/>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Tree>
    <p:extLst>
      <p:ext uri="{BB962C8B-B14F-4D97-AF65-F5344CB8AC3E}">
        <p14:creationId xmlns:p14="http://schemas.microsoft.com/office/powerpoint/2010/main" val="258371301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Rectangle 33">
            <a:extLst>
              <a:ext uri="{FF2B5EF4-FFF2-40B4-BE49-F238E27FC236}">
                <a16:creationId xmlns:a16="http://schemas.microsoft.com/office/drawing/2014/main" id="{A8003FCF-22DF-C32E-D514-BBEC7E3603BD}"/>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57</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Tree>
    <p:extLst>
      <p:ext uri="{BB962C8B-B14F-4D97-AF65-F5344CB8AC3E}">
        <p14:creationId xmlns:p14="http://schemas.microsoft.com/office/powerpoint/2010/main" val="3240910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Mapping the Current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58</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7" y="193413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57667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Takt Time</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7" y="3861757"/>
            <a:ext cx="10174791"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Data Boxes and Inventory Levels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789379"/>
            <a:ext cx="10174793"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7" y="450429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Supplier Data</a:t>
            </a:r>
          </a:p>
        </p:txBody>
      </p:sp>
      <p:sp>
        <p:nvSpPr>
          <p:cNvPr id="18" name="Rectangle 17">
            <a:extLst>
              <a:ext uri="{FF2B5EF4-FFF2-40B4-BE49-F238E27FC236}">
                <a16:creationId xmlns:a16="http://schemas.microsoft.com/office/drawing/2014/main" id="{50BBF7A0-ECFA-06CB-A66C-31B4C7516E5E}"/>
              </a:ext>
            </a:extLst>
          </p:cNvPr>
          <p:cNvSpPr>
            <a:spLocks/>
          </p:cNvSpPr>
          <p:nvPr/>
        </p:nvSpPr>
        <p:spPr>
          <a:xfrm>
            <a:off x="940248" y="321921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9" name="Rectangle 18">
            <a:extLst>
              <a:ext uri="{FF2B5EF4-FFF2-40B4-BE49-F238E27FC236}">
                <a16:creationId xmlns:a16="http://schemas.microsoft.com/office/drawing/2014/main" id="{D94E3980-5557-1182-3882-58280A403140}"/>
              </a:ext>
            </a:extLst>
          </p:cNvPr>
          <p:cNvSpPr>
            <a:spLocks/>
          </p:cNvSpPr>
          <p:nvPr/>
        </p:nvSpPr>
        <p:spPr>
          <a:xfrm>
            <a:off x="940248" y="5146837"/>
            <a:ext cx="10174792"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Production Lead Time</a:t>
            </a:r>
          </a:p>
        </p:txBody>
      </p:sp>
    </p:spTree>
    <p:extLst>
      <p:ext uri="{BB962C8B-B14F-4D97-AF65-F5344CB8AC3E}">
        <p14:creationId xmlns:p14="http://schemas.microsoft.com/office/powerpoint/2010/main" val="62103999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Calculating Processing Time for Each Process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59</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1054608" y="1969793"/>
            <a:ext cx="5551932" cy="2561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When Processing Time and DOI are equal:</a:t>
            </a:r>
          </a:p>
          <a:p>
            <a:pPr lvl="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When there are no parallel operations (e.g. multiple operators) and there is only 1 “VALUE OBJECT” in the process at any one time</a:t>
            </a:r>
          </a:p>
          <a:p>
            <a:pPr lvl="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Stamp: </a:t>
            </a:r>
            <a:r>
              <a:rPr lang="en-US" altLang="en-US" dirty="0">
                <a:solidFill>
                  <a:schemeClr val="accent1"/>
                </a:solidFill>
                <a:latin typeface="Roboto" panose="02000000000000000000" pitchFamily="2" charset="0"/>
                <a:ea typeface="Roboto" panose="02000000000000000000" pitchFamily="2" charset="0"/>
              </a:rPr>
              <a:t>15 seconds</a:t>
            </a:r>
          </a:p>
          <a:p>
            <a:pPr lvl="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Brake Form: </a:t>
            </a:r>
            <a:r>
              <a:rPr lang="en-US" altLang="en-US" dirty="0">
                <a:solidFill>
                  <a:schemeClr val="accent1"/>
                </a:solidFill>
                <a:latin typeface="Roboto" panose="02000000000000000000" pitchFamily="2" charset="0"/>
                <a:ea typeface="Roboto" panose="02000000000000000000" pitchFamily="2" charset="0"/>
              </a:rPr>
              <a:t>20 seconds </a:t>
            </a:r>
          </a:p>
        </p:txBody>
      </p:sp>
      <p:grpSp>
        <p:nvGrpSpPr>
          <p:cNvPr id="30" name="Group 29">
            <a:extLst>
              <a:ext uri="{FF2B5EF4-FFF2-40B4-BE49-F238E27FC236}">
                <a16:creationId xmlns:a16="http://schemas.microsoft.com/office/drawing/2014/main" id="{D3961C6E-176C-0493-1FD7-DEF6F1752DB5}"/>
              </a:ext>
            </a:extLst>
          </p:cNvPr>
          <p:cNvGrpSpPr/>
          <p:nvPr/>
        </p:nvGrpSpPr>
        <p:grpSpPr>
          <a:xfrm>
            <a:off x="9322824" y="1862043"/>
            <a:ext cx="2113151" cy="3865213"/>
            <a:chOff x="8845304" y="2349723"/>
            <a:chExt cx="2113151" cy="3865213"/>
          </a:xfrm>
        </p:grpSpPr>
        <p:sp>
          <p:nvSpPr>
            <p:cNvPr id="13" name="Rectangle 5">
              <a:extLst>
                <a:ext uri="{FF2B5EF4-FFF2-40B4-BE49-F238E27FC236}">
                  <a16:creationId xmlns:a16="http://schemas.microsoft.com/office/drawing/2014/main" id="{6EBCA784-26EA-977D-25BE-7C9A82EFF307}"/>
                </a:ext>
              </a:extLst>
            </p:cNvPr>
            <p:cNvSpPr>
              <a:spLocks noChangeArrowheads="1"/>
            </p:cNvSpPr>
            <p:nvPr/>
          </p:nvSpPr>
          <p:spPr bwMode="auto">
            <a:xfrm>
              <a:off x="8849108" y="2349723"/>
              <a:ext cx="2097934" cy="1573010"/>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800" dirty="0">
                  <a:latin typeface="Roboto" panose="02000000000000000000" pitchFamily="2" charset="0"/>
                  <a:ea typeface="Roboto" panose="02000000000000000000" pitchFamily="2" charset="0"/>
                </a:rPr>
                <a:t>Brake Form</a:t>
              </a:r>
              <a:endParaRPr lang="en-US" altLang="en-US" sz="1600" dirty="0">
                <a:latin typeface="Roboto" panose="02000000000000000000" pitchFamily="2" charset="0"/>
                <a:ea typeface="Roboto" panose="02000000000000000000" pitchFamily="2" charset="0"/>
              </a:endParaRPr>
            </a:p>
          </p:txBody>
        </p:sp>
        <p:sp>
          <p:nvSpPr>
            <p:cNvPr id="15" name="Line 6">
              <a:extLst>
                <a:ext uri="{FF2B5EF4-FFF2-40B4-BE49-F238E27FC236}">
                  <a16:creationId xmlns:a16="http://schemas.microsoft.com/office/drawing/2014/main" id="{1FABEE2D-D9D2-1DE2-29D0-C593DE72266F}"/>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16" name="Group 15">
              <a:extLst>
                <a:ext uri="{FF2B5EF4-FFF2-40B4-BE49-F238E27FC236}">
                  <a16:creationId xmlns:a16="http://schemas.microsoft.com/office/drawing/2014/main" id="{14D3BECD-D6F0-236F-A91C-993B07194D08}"/>
                </a:ext>
              </a:extLst>
            </p:cNvPr>
            <p:cNvGrpSpPr/>
            <p:nvPr/>
          </p:nvGrpSpPr>
          <p:grpSpPr>
            <a:xfrm>
              <a:off x="9543962" y="3064732"/>
              <a:ext cx="855663" cy="360363"/>
              <a:chOff x="7523163" y="2673351"/>
              <a:chExt cx="855663" cy="360363"/>
            </a:xfrm>
          </p:grpSpPr>
          <p:sp>
            <p:nvSpPr>
              <p:cNvPr id="18" name="Oval 32">
                <a:extLst>
                  <a:ext uri="{FF2B5EF4-FFF2-40B4-BE49-F238E27FC236}">
                    <a16:creationId xmlns:a16="http://schemas.microsoft.com/office/drawing/2014/main" id="{4692D97D-401D-04E0-4622-8AD97CA4D9E5}"/>
                  </a:ext>
                </a:extLst>
              </p:cNvPr>
              <p:cNvSpPr>
                <a:spLocks noChangeArrowheads="1"/>
              </p:cNvSpPr>
              <p:nvPr/>
            </p:nvSpPr>
            <p:spPr bwMode="auto">
              <a:xfrm flipV="1">
                <a:off x="7604919" y="2760327"/>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 name="AutoShape 33">
                <a:extLst>
                  <a:ext uri="{FF2B5EF4-FFF2-40B4-BE49-F238E27FC236}">
                    <a16:creationId xmlns:a16="http://schemas.microsoft.com/office/drawing/2014/main" id="{3CADCE14-8E99-2BF8-0ADE-8053DD68BF21}"/>
                  </a:ext>
                </a:extLst>
              </p:cNvPr>
              <p:cNvSpPr>
                <a:spLocks noChangeArrowheads="1"/>
              </p:cNvSpPr>
              <p:nvPr/>
            </p:nvSpPr>
            <p:spPr bwMode="auto">
              <a:xfrm flipV="1">
                <a:off x="7523163" y="2673351"/>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 name="Text Box 34">
                <a:extLst>
                  <a:ext uri="{FF2B5EF4-FFF2-40B4-BE49-F238E27FC236}">
                    <a16:creationId xmlns:a16="http://schemas.microsoft.com/office/drawing/2014/main" id="{E0D0476B-927E-9325-74F9-DA5A9B3ED3E2}"/>
                  </a:ext>
                </a:extLst>
              </p:cNvPr>
              <p:cNvSpPr txBox="1">
                <a:spLocks noChangeArrowheads="1"/>
              </p:cNvSpPr>
              <p:nvPr/>
            </p:nvSpPr>
            <p:spPr bwMode="auto">
              <a:xfrm>
                <a:off x="7943851" y="2728914"/>
                <a:ext cx="434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tx1"/>
                    </a:solidFill>
                  </a:rPr>
                  <a:t>= 1</a:t>
                </a:r>
              </a:p>
            </p:txBody>
          </p:sp>
        </p:grpSp>
        <p:sp>
          <p:nvSpPr>
            <p:cNvPr id="22" name="Rectangle 5">
              <a:extLst>
                <a:ext uri="{FF2B5EF4-FFF2-40B4-BE49-F238E27FC236}">
                  <a16:creationId xmlns:a16="http://schemas.microsoft.com/office/drawing/2014/main" id="{A29202F3-8120-7457-258F-6E6DEA0EF102}"/>
                </a:ext>
              </a:extLst>
            </p:cNvPr>
            <p:cNvSpPr>
              <a:spLocks noChangeArrowheads="1"/>
            </p:cNvSpPr>
            <p:nvPr/>
          </p:nvSpPr>
          <p:spPr bwMode="auto">
            <a:xfrm>
              <a:off x="8860521" y="4455929"/>
              <a:ext cx="2097934" cy="1759007"/>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DOI = 20 sec</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CO/Time = 120min</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Uptime = 99%</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Quality = 85%</a:t>
              </a:r>
            </a:p>
          </p:txBody>
        </p:sp>
      </p:grpSp>
      <p:grpSp>
        <p:nvGrpSpPr>
          <p:cNvPr id="32" name="Group 31">
            <a:extLst>
              <a:ext uri="{FF2B5EF4-FFF2-40B4-BE49-F238E27FC236}">
                <a16:creationId xmlns:a16="http://schemas.microsoft.com/office/drawing/2014/main" id="{C8AF0408-2E72-5E6D-4B10-1A01513CF44D}"/>
              </a:ext>
            </a:extLst>
          </p:cNvPr>
          <p:cNvGrpSpPr/>
          <p:nvPr/>
        </p:nvGrpSpPr>
        <p:grpSpPr>
          <a:xfrm>
            <a:off x="6996184" y="1864969"/>
            <a:ext cx="2113151" cy="3865213"/>
            <a:chOff x="8845304" y="2349723"/>
            <a:chExt cx="2113151" cy="3865213"/>
          </a:xfrm>
        </p:grpSpPr>
        <p:sp>
          <p:nvSpPr>
            <p:cNvPr id="33" name="Rectangle 5">
              <a:extLst>
                <a:ext uri="{FF2B5EF4-FFF2-40B4-BE49-F238E27FC236}">
                  <a16:creationId xmlns:a16="http://schemas.microsoft.com/office/drawing/2014/main" id="{8691BE9D-9EFF-68B0-60E2-F0AED2E0DC3B}"/>
                </a:ext>
              </a:extLst>
            </p:cNvPr>
            <p:cNvSpPr>
              <a:spLocks noChangeArrowheads="1"/>
            </p:cNvSpPr>
            <p:nvPr/>
          </p:nvSpPr>
          <p:spPr bwMode="auto">
            <a:xfrm>
              <a:off x="8849108" y="2349723"/>
              <a:ext cx="2097934" cy="1573010"/>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Stamp</a:t>
              </a:r>
              <a:endParaRPr lang="en-US" altLang="en-US" sz="900" dirty="0">
                <a:solidFill>
                  <a:schemeClr val="bg1"/>
                </a:solidFill>
                <a:latin typeface="Roboto" panose="02000000000000000000" pitchFamily="2" charset="0"/>
                <a:ea typeface="Roboto" panose="02000000000000000000" pitchFamily="2" charset="0"/>
              </a:endParaRPr>
            </a:p>
          </p:txBody>
        </p:sp>
        <p:sp>
          <p:nvSpPr>
            <p:cNvPr id="45" name="Line 6">
              <a:extLst>
                <a:ext uri="{FF2B5EF4-FFF2-40B4-BE49-F238E27FC236}">
                  <a16:creationId xmlns:a16="http://schemas.microsoft.com/office/drawing/2014/main" id="{50A6C32F-6399-FC4D-E390-75686FDEF431}"/>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46" name="Group 45">
              <a:extLst>
                <a:ext uri="{FF2B5EF4-FFF2-40B4-BE49-F238E27FC236}">
                  <a16:creationId xmlns:a16="http://schemas.microsoft.com/office/drawing/2014/main" id="{9AF46C40-4F00-E261-19DA-EB2172F61890}"/>
                </a:ext>
              </a:extLst>
            </p:cNvPr>
            <p:cNvGrpSpPr/>
            <p:nvPr/>
          </p:nvGrpSpPr>
          <p:grpSpPr>
            <a:xfrm>
              <a:off x="9543962" y="3064732"/>
              <a:ext cx="855663" cy="360363"/>
              <a:chOff x="7523163" y="2673351"/>
              <a:chExt cx="855663" cy="360363"/>
            </a:xfrm>
          </p:grpSpPr>
          <p:sp>
            <p:nvSpPr>
              <p:cNvPr id="48" name="Oval 32">
                <a:extLst>
                  <a:ext uri="{FF2B5EF4-FFF2-40B4-BE49-F238E27FC236}">
                    <a16:creationId xmlns:a16="http://schemas.microsoft.com/office/drawing/2014/main" id="{E741AE7B-F5A1-DB15-D97C-B82E787C421E}"/>
                  </a:ext>
                </a:extLst>
              </p:cNvPr>
              <p:cNvSpPr>
                <a:spLocks noChangeArrowheads="1"/>
              </p:cNvSpPr>
              <p:nvPr/>
            </p:nvSpPr>
            <p:spPr bwMode="auto">
              <a:xfrm flipV="1">
                <a:off x="7604919" y="2760327"/>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9" name="AutoShape 33">
                <a:extLst>
                  <a:ext uri="{FF2B5EF4-FFF2-40B4-BE49-F238E27FC236}">
                    <a16:creationId xmlns:a16="http://schemas.microsoft.com/office/drawing/2014/main" id="{FFFDB26C-0472-95C5-C2BC-ADF263BC0872}"/>
                  </a:ext>
                </a:extLst>
              </p:cNvPr>
              <p:cNvSpPr>
                <a:spLocks noChangeArrowheads="1"/>
              </p:cNvSpPr>
              <p:nvPr/>
            </p:nvSpPr>
            <p:spPr bwMode="auto">
              <a:xfrm flipV="1">
                <a:off x="7523163" y="2673351"/>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50" name="Text Box 34">
                <a:extLst>
                  <a:ext uri="{FF2B5EF4-FFF2-40B4-BE49-F238E27FC236}">
                    <a16:creationId xmlns:a16="http://schemas.microsoft.com/office/drawing/2014/main" id="{9AF1FB48-7FAC-D72C-AE76-E6743202E6D2}"/>
                  </a:ext>
                </a:extLst>
              </p:cNvPr>
              <p:cNvSpPr txBox="1">
                <a:spLocks noChangeArrowheads="1"/>
              </p:cNvSpPr>
              <p:nvPr/>
            </p:nvSpPr>
            <p:spPr bwMode="auto">
              <a:xfrm>
                <a:off x="7943851" y="2728914"/>
                <a:ext cx="434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a:solidFill>
                      <a:schemeClr val="tx1"/>
                    </a:solidFill>
                  </a:rPr>
                  <a:t>= 1</a:t>
                </a:r>
              </a:p>
            </p:txBody>
          </p:sp>
        </p:grpSp>
        <p:sp>
          <p:nvSpPr>
            <p:cNvPr id="47" name="Rectangle 5">
              <a:extLst>
                <a:ext uri="{FF2B5EF4-FFF2-40B4-BE49-F238E27FC236}">
                  <a16:creationId xmlns:a16="http://schemas.microsoft.com/office/drawing/2014/main" id="{6F8B0214-95BD-35EF-94E2-1204980318E5}"/>
                </a:ext>
              </a:extLst>
            </p:cNvPr>
            <p:cNvSpPr>
              <a:spLocks noChangeArrowheads="1"/>
            </p:cNvSpPr>
            <p:nvPr/>
          </p:nvSpPr>
          <p:spPr bwMode="auto">
            <a:xfrm>
              <a:off x="8860521" y="4455929"/>
              <a:ext cx="2097934" cy="1759007"/>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DOI = 15 sec</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CO/Time = 30min</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Uptime = 99%</a:t>
              </a:r>
            </a:p>
            <a:p>
              <a:pPr>
                <a:lnSpc>
                  <a:spcPct val="100000"/>
                </a:lnSpc>
                <a:spcBef>
                  <a:spcPts val="600"/>
                </a:spcBef>
                <a:spcAft>
                  <a:spcPts val="600"/>
                </a:spcAft>
                <a:buClrTx/>
                <a:buSzTx/>
                <a:buFontTx/>
                <a:buNone/>
              </a:pPr>
              <a:r>
                <a:rPr lang="en-US" altLang="en-US" sz="1800" b="0" dirty="0">
                  <a:latin typeface="Roboto" panose="02000000000000000000" pitchFamily="2" charset="0"/>
                  <a:ea typeface="Roboto" panose="02000000000000000000" pitchFamily="2" charset="0"/>
                </a:rPr>
                <a:t>Quality = 98%</a:t>
              </a:r>
            </a:p>
          </p:txBody>
        </p:sp>
      </p:grpSp>
      <p:grpSp>
        <p:nvGrpSpPr>
          <p:cNvPr id="62" name="Group 61">
            <a:extLst>
              <a:ext uri="{FF2B5EF4-FFF2-40B4-BE49-F238E27FC236}">
                <a16:creationId xmlns:a16="http://schemas.microsoft.com/office/drawing/2014/main" id="{F7547012-FDBD-C854-D958-C26C4FC495BF}"/>
              </a:ext>
            </a:extLst>
          </p:cNvPr>
          <p:cNvGrpSpPr/>
          <p:nvPr/>
        </p:nvGrpSpPr>
        <p:grpSpPr>
          <a:xfrm>
            <a:off x="6996184" y="5912594"/>
            <a:ext cx="2097934" cy="374559"/>
            <a:chOff x="6996184" y="5912594"/>
            <a:chExt cx="2097934" cy="374559"/>
          </a:xfrm>
        </p:grpSpPr>
        <p:grpSp>
          <p:nvGrpSpPr>
            <p:cNvPr id="51" name="Group 40">
              <a:extLst>
                <a:ext uri="{FF2B5EF4-FFF2-40B4-BE49-F238E27FC236}">
                  <a16:creationId xmlns:a16="http://schemas.microsoft.com/office/drawing/2014/main" id="{440152E6-EBFA-46F5-B7B7-3ADA702BD10E}"/>
                </a:ext>
              </a:extLst>
            </p:cNvPr>
            <p:cNvGrpSpPr>
              <a:grpSpLocks/>
            </p:cNvGrpSpPr>
            <p:nvPr/>
          </p:nvGrpSpPr>
          <p:grpSpPr bwMode="auto">
            <a:xfrm>
              <a:off x="6996184" y="5912594"/>
              <a:ext cx="2097934" cy="374559"/>
              <a:chOff x="3154" y="3438"/>
              <a:chExt cx="1130" cy="192"/>
            </a:xfrm>
          </p:grpSpPr>
          <p:sp>
            <p:nvSpPr>
              <p:cNvPr id="52" name="Line 41">
                <a:extLst>
                  <a:ext uri="{FF2B5EF4-FFF2-40B4-BE49-F238E27FC236}">
                    <a16:creationId xmlns:a16="http://schemas.microsoft.com/office/drawing/2014/main" id="{03D7FE0A-3829-F525-FED3-B7814F1CC77C}"/>
                  </a:ext>
                </a:extLst>
              </p:cNvPr>
              <p:cNvSpPr>
                <a:spLocks noChangeShapeType="1"/>
              </p:cNvSpPr>
              <p:nvPr/>
            </p:nvSpPr>
            <p:spPr bwMode="auto">
              <a:xfrm>
                <a:off x="3154"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3" name="Line 42">
                <a:extLst>
                  <a:ext uri="{FF2B5EF4-FFF2-40B4-BE49-F238E27FC236}">
                    <a16:creationId xmlns:a16="http://schemas.microsoft.com/office/drawing/2014/main" id="{311C975D-F155-B667-44CA-8F1EB6B8F94D}"/>
                  </a:ext>
                </a:extLst>
              </p:cNvPr>
              <p:cNvSpPr>
                <a:spLocks noChangeShapeType="1"/>
              </p:cNvSpPr>
              <p:nvPr/>
            </p:nvSpPr>
            <p:spPr bwMode="auto">
              <a:xfrm>
                <a:off x="3162" y="3630"/>
                <a:ext cx="112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4" name="Line 43">
                <a:extLst>
                  <a:ext uri="{FF2B5EF4-FFF2-40B4-BE49-F238E27FC236}">
                    <a16:creationId xmlns:a16="http://schemas.microsoft.com/office/drawing/2014/main" id="{D6DE2009-1FD6-481F-1993-9EC443C64D69}"/>
                  </a:ext>
                </a:extLst>
              </p:cNvPr>
              <p:cNvSpPr>
                <a:spLocks noChangeShapeType="1"/>
              </p:cNvSpPr>
              <p:nvPr/>
            </p:nvSpPr>
            <p:spPr bwMode="auto">
              <a:xfrm>
                <a:off x="4282"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59" name="Text Box 48">
              <a:extLst>
                <a:ext uri="{FF2B5EF4-FFF2-40B4-BE49-F238E27FC236}">
                  <a16:creationId xmlns:a16="http://schemas.microsoft.com/office/drawing/2014/main" id="{F2B53EEC-EC1E-EFD9-AF0E-08621A81C0D1}"/>
                </a:ext>
              </a:extLst>
            </p:cNvPr>
            <p:cNvSpPr txBox="1">
              <a:spLocks noChangeArrowheads="1"/>
            </p:cNvSpPr>
            <p:nvPr/>
          </p:nvSpPr>
          <p:spPr bwMode="auto">
            <a:xfrm>
              <a:off x="7562699" y="5961373"/>
              <a:ext cx="9797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dirty="0">
                  <a:solidFill>
                    <a:schemeClr val="accent1"/>
                  </a:solidFill>
                  <a:latin typeface="Roboto" panose="02000000000000000000" pitchFamily="2" charset="0"/>
                  <a:ea typeface="Roboto" panose="02000000000000000000" pitchFamily="2" charset="0"/>
                </a:rPr>
                <a:t>15 seconds</a:t>
              </a:r>
            </a:p>
          </p:txBody>
        </p:sp>
      </p:grpSp>
      <p:grpSp>
        <p:nvGrpSpPr>
          <p:cNvPr id="61" name="Group 60">
            <a:extLst>
              <a:ext uri="{FF2B5EF4-FFF2-40B4-BE49-F238E27FC236}">
                <a16:creationId xmlns:a16="http://schemas.microsoft.com/office/drawing/2014/main" id="{36773997-8617-DC2B-D813-C7178809E322}"/>
              </a:ext>
            </a:extLst>
          </p:cNvPr>
          <p:cNvGrpSpPr/>
          <p:nvPr/>
        </p:nvGrpSpPr>
        <p:grpSpPr>
          <a:xfrm>
            <a:off x="9338041" y="5912594"/>
            <a:ext cx="2097934" cy="374559"/>
            <a:chOff x="9338041" y="5912594"/>
            <a:chExt cx="2097934" cy="374559"/>
          </a:xfrm>
        </p:grpSpPr>
        <p:grpSp>
          <p:nvGrpSpPr>
            <p:cNvPr id="55" name="Group 40">
              <a:extLst>
                <a:ext uri="{FF2B5EF4-FFF2-40B4-BE49-F238E27FC236}">
                  <a16:creationId xmlns:a16="http://schemas.microsoft.com/office/drawing/2014/main" id="{6AAE652A-BF9F-F305-3D8D-11DE4FBBE8F0}"/>
                </a:ext>
              </a:extLst>
            </p:cNvPr>
            <p:cNvGrpSpPr>
              <a:grpSpLocks/>
            </p:cNvGrpSpPr>
            <p:nvPr/>
          </p:nvGrpSpPr>
          <p:grpSpPr bwMode="auto">
            <a:xfrm>
              <a:off x="9338041" y="5912594"/>
              <a:ext cx="2097934" cy="374559"/>
              <a:chOff x="3154" y="3438"/>
              <a:chExt cx="1130" cy="192"/>
            </a:xfrm>
          </p:grpSpPr>
          <p:sp>
            <p:nvSpPr>
              <p:cNvPr id="56" name="Line 41">
                <a:extLst>
                  <a:ext uri="{FF2B5EF4-FFF2-40B4-BE49-F238E27FC236}">
                    <a16:creationId xmlns:a16="http://schemas.microsoft.com/office/drawing/2014/main" id="{26819D81-0165-84F2-723A-6CF9C0AEE595}"/>
                  </a:ext>
                </a:extLst>
              </p:cNvPr>
              <p:cNvSpPr>
                <a:spLocks noChangeShapeType="1"/>
              </p:cNvSpPr>
              <p:nvPr/>
            </p:nvSpPr>
            <p:spPr bwMode="auto">
              <a:xfrm>
                <a:off x="3154"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42">
                <a:extLst>
                  <a:ext uri="{FF2B5EF4-FFF2-40B4-BE49-F238E27FC236}">
                    <a16:creationId xmlns:a16="http://schemas.microsoft.com/office/drawing/2014/main" id="{D4A75EAE-0685-DCF8-37C3-E8F3C35F2899}"/>
                  </a:ext>
                </a:extLst>
              </p:cNvPr>
              <p:cNvSpPr>
                <a:spLocks noChangeShapeType="1"/>
              </p:cNvSpPr>
              <p:nvPr/>
            </p:nvSpPr>
            <p:spPr bwMode="auto">
              <a:xfrm>
                <a:off x="3162" y="3630"/>
                <a:ext cx="112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43">
                <a:extLst>
                  <a:ext uri="{FF2B5EF4-FFF2-40B4-BE49-F238E27FC236}">
                    <a16:creationId xmlns:a16="http://schemas.microsoft.com/office/drawing/2014/main" id="{E226B00A-8412-FD37-097D-17AFD6117491}"/>
                  </a:ext>
                </a:extLst>
              </p:cNvPr>
              <p:cNvSpPr>
                <a:spLocks noChangeShapeType="1"/>
              </p:cNvSpPr>
              <p:nvPr/>
            </p:nvSpPr>
            <p:spPr bwMode="auto">
              <a:xfrm>
                <a:off x="4282"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60" name="Text Box 48">
              <a:extLst>
                <a:ext uri="{FF2B5EF4-FFF2-40B4-BE49-F238E27FC236}">
                  <a16:creationId xmlns:a16="http://schemas.microsoft.com/office/drawing/2014/main" id="{12EAE218-2D40-8437-50F6-CD5ECBBFC0DF}"/>
                </a:ext>
              </a:extLst>
            </p:cNvPr>
            <p:cNvSpPr txBox="1">
              <a:spLocks noChangeArrowheads="1"/>
            </p:cNvSpPr>
            <p:nvPr/>
          </p:nvSpPr>
          <p:spPr bwMode="auto">
            <a:xfrm>
              <a:off x="9858629" y="5961373"/>
              <a:ext cx="9797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dirty="0">
                  <a:solidFill>
                    <a:schemeClr val="accent1"/>
                  </a:solidFill>
                  <a:latin typeface="Roboto" panose="02000000000000000000" pitchFamily="2" charset="0"/>
                  <a:ea typeface="Roboto" panose="02000000000000000000" pitchFamily="2" charset="0"/>
                </a:rPr>
                <a:t>20 seconds</a:t>
              </a:r>
            </a:p>
          </p:txBody>
        </p:sp>
      </p:grpSp>
    </p:spTree>
    <p:extLst>
      <p:ext uri="{BB962C8B-B14F-4D97-AF65-F5344CB8AC3E}">
        <p14:creationId xmlns:p14="http://schemas.microsoft.com/office/powerpoint/2010/main" val="178231833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Calculating Processing Time for Each Process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60</a:t>
            </a:fld>
            <a:endParaRPr lang="en-US" dirty="0"/>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1054608" y="1969793"/>
            <a:ext cx="5551932" cy="4308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ts val="600"/>
              </a:spcBef>
              <a:spcAft>
                <a:spcPts val="600"/>
              </a:spcAft>
              <a:buClr>
                <a:schemeClr val="tx1"/>
              </a:buClr>
              <a:buSzPct val="90000"/>
              <a:buFont typeface="Arial" panose="020B0604020202020204" pitchFamily="34" charset="0"/>
              <a:buChar char="•"/>
            </a:pPr>
            <a:r>
              <a:rPr lang="en-US" altLang="en-US" sz="2400" dirty="0">
                <a:latin typeface="Roboto" panose="02000000000000000000" pitchFamily="2" charset="0"/>
                <a:ea typeface="Roboto" panose="02000000000000000000" pitchFamily="2" charset="0"/>
              </a:rPr>
              <a:t>When Processing Time and DOI are different:</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sz="2000" dirty="0">
                <a:latin typeface="Roboto" panose="02000000000000000000" pitchFamily="2" charset="0"/>
                <a:ea typeface="Roboto" panose="02000000000000000000" pitchFamily="2" charset="0"/>
              </a:rPr>
              <a:t>if there are multiple operators performing identical (or similar) functions on multiple, </a:t>
            </a:r>
          </a:p>
          <a:p>
            <a:pPr lvl="1">
              <a:lnSpc>
                <a:spcPct val="100000"/>
              </a:lnSpc>
              <a:spcBef>
                <a:spcPts val="600"/>
              </a:spcBef>
              <a:spcAft>
                <a:spcPts val="600"/>
              </a:spcAft>
              <a:buClr>
                <a:schemeClr val="tx1"/>
              </a:buClr>
              <a:buSzPct val="90000"/>
              <a:buFont typeface="Arial" panose="020B0604020202020204" pitchFamily="34" charset="0"/>
              <a:buChar char="•"/>
            </a:pPr>
            <a:r>
              <a:rPr lang="en-US" altLang="en-US" sz="2000" dirty="0">
                <a:latin typeface="Roboto" panose="02000000000000000000" pitchFamily="2" charset="0"/>
                <a:ea typeface="Roboto" panose="02000000000000000000" pitchFamily="2" charset="0"/>
              </a:rPr>
              <a:t>multiple “VALUE OBJECTs” going through the value stream concurrently.</a:t>
            </a:r>
          </a:p>
          <a:p>
            <a:pPr eaLnBrk="1" hangingPunct="1">
              <a:lnSpc>
                <a:spcPct val="100000"/>
              </a:lnSpc>
              <a:spcBef>
                <a:spcPts val="600"/>
              </a:spcBef>
              <a:spcAft>
                <a:spcPts val="600"/>
              </a:spcAft>
              <a:buClr>
                <a:schemeClr val="tx1"/>
              </a:buClr>
              <a:buSzPct val="90000"/>
              <a:buFont typeface="Arial" panose="020B0604020202020204" pitchFamily="34" charset="0"/>
              <a:buChar char="•"/>
            </a:pPr>
            <a:r>
              <a:rPr lang="en-US" altLang="en-US" sz="2400" dirty="0">
                <a:latin typeface="Roboto" panose="02000000000000000000" pitchFamily="2" charset="0"/>
                <a:ea typeface="Roboto" panose="02000000000000000000" pitchFamily="2" charset="0"/>
              </a:rPr>
              <a:t>The amount of time required for </a:t>
            </a:r>
            <a:br>
              <a:rPr lang="en-US" altLang="en-US" sz="2400" dirty="0">
                <a:latin typeface="Roboto" panose="02000000000000000000" pitchFamily="2" charset="0"/>
                <a:ea typeface="Roboto" panose="02000000000000000000" pitchFamily="2" charset="0"/>
              </a:rPr>
            </a:br>
            <a:r>
              <a:rPr lang="en-US" altLang="en-US" sz="2400" dirty="0">
                <a:latin typeface="Roboto" panose="02000000000000000000" pitchFamily="2" charset="0"/>
                <a:ea typeface="Roboto" panose="02000000000000000000" pitchFamily="2" charset="0"/>
              </a:rPr>
              <a:t>a single operator to process the “VALUE OBJECT” is what is reflected in the map for process time</a:t>
            </a: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8849108" y="2349723"/>
            <a:ext cx="2097934" cy="1573009"/>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Cut</a:t>
            </a:r>
          </a:p>
        </p:txBody>
      </p:sp>
      <p:sp>
        <p:nvSpPr>
          <p:cNvPr id="13" name="Line 6">
            <a:extLst>
              <a:ext uri="{FF2B5EF4-FFF2-40B4-BE49-F238E27FC236}">
                <a16:creationId xmlns:a16="http://schemas.microsoft.com/office/drawing/2014/main" id="{8B58CA14-7994-35FD-0E2A-1DFD29E7DA9E}"/>
              </a:ext>
            </a:extLst>
          </p:cNvPr>
          <p:cNvSpPr>
            <a:spLocks noChangeShapeType="1"/>
          </p:cNvSpPr>
          <p:nvPr/>
        </p:nvSpPr>
        <p:spPr bwMode="auto">
          <a:xfrm>
            <a:off x="8845304" y="2781400"/>
            <a:ext cx="209793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Rectangle 5">
            <a:extLst>
              <a:ext uri="{FF2B5EF4-FFF2-40B4-BE49-F238E27FC236}">
                <a16:creationId xmlns:a16="http://schemas.microsoft.com/office/drawing/2014/main" id="{D5CAC5D6-DEAC-355A-1852-590E41E26022}"/>
              </a:ext>
            </a:extLst>
          </p:cNvPr>
          <p:cNvSpPr>
            <a:spLocks noChangeArrowheads="1"/>
          </p:cNvSpPr>
          <p:nvPr/>
        </p:nvSpPr>
        <p:spPr bwMode="auto">
          <a:xfrm>
            <a:off x="8845304" y="4063399"/>
            <a:ext cx="2097934" cy="1759007"/>
          </a:xfrm>
          <a:prstGeom prst="rect">
            <a:avLst/>
          </a:prstGeom>
          <a:solidFill>
            <a:schemeClr val="bg1"/>
          </a:solidFill>
          <a:ln w="12700" cap="sq">
            <a:solidFill>
              <a:schemeClr val="tx1"/>
            </a:solidFill>
            <a:miter lim="800000"/>
            <a:headEnd type="none" w="sm" len="sm"/>
            <a:tailEnd type="none" w="sm" len="sm"/>
          </a:ln>
        </p:spPr>
        <p:txBody>
          <a:bodyPr wrap="none" anchor="t"/>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DOI = 12 sec</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CO/Time = 30min</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Uptime = 99%</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Quality = 99%</a:t>
            </a:r>
          </a:p>
          <a:p>
            <a:pPr>
              <a:lnSpc>
                <a:spcPct val="100000"/>
              </a:lnSpc>
              <a:spcBef>
                <a:spcPts val="0"/>
              </a:spcBef>
              <a:spcAft>
                <a:spcPts val="600"/>
              </a:spcAft>
              <a:buClrTx/>
              <a:buSzTx/>
              <a:buFontTx/>
              <a:buNone/>
            </a:pPr>
            <a:r>
              <a:rPr lang="en-US" altLang="en-US" sz="1800" b="0" dirty="0">
                <a:latin typeface="Roboto" panose="02000000000000000000" pitchFamily="2" charset="0"/>
                <a:ea typeface="Roboto" panose="02000000000000000000" pitchFamily="2" charset="0"/>
              </a:rPr>
              <a:t>5 Machines</a:t>
            </a:r>
          </a:p>
        </p:txBody>
      </p:sp>
      <p:sp>
        <p:nvSpPr>
          <p:cNvPr id="19" name="Oval 32">
            <a:extLst>
              <a:ext uri="{FF2B5EF4-FFF2-40B4-BE49-F238E27FC236}">
                <a16:creationId xmlns:a16="http://schemas.microsoft.com/office/drawing/2014/main" id="{A509F37D-FABD-529F-0573-F8AAFB4E2820}"/>
              </a:ext>
            </a:extLst>
          </p:cNvPr>
          <p:cNvSpPr>
            <a:spLocks noChangeArrowheads="1"/>
          </p:cNvSpPr>
          <p:nvPr/>
        </p:nvSpPr>
        <p:spPr bwMode="auto">
          <a:xfrm flipV="1">
            <a:off x="9625718" y="3151708"/>
            <a:ext cx="163513" cy="173952"/>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0" name="AutoShape 33">
            <a:extLst>
              <a:ext uri="{FF2B5EF4-FFF2-40B4-BE49-F238E27FC236}">
                <a16:creationId xmlns:a16="http://schemas.microsoft.com/office/drawing/2014/main" id="{1975E0EC-1277-FE1F-DA94-C2C3108C5A79}"/>
              </a:ext>
            </a:extLst>
          </p:cNvPr>
          <p:cNvSpPr>
            <a:spLocks noChangeArrowheads="1"/>
          </p:cNvSpPr>
          <p:nvPr/>
        </p:nvSpPr>
        <p:spPr bwMode="auto">
          <a:xfrm flipV="1">
            <a:off x="9543962" y="3064732"/>
            <a:ext cx="327025" cy="3587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 name="Text Box 34">
            <a:extLst>
              <a:ext uri="{FF2B5EF4-FFF2-40B4-BE49-F238E27FC236}">
                <a16:creationId xmlns:a16="http://schemas.microsoft.com/office/drawing/2014/main" id="{04C44394-F641-EA2D-E753-D8A492279AF7}"/>
              </a:ext>
            </a:extLst>
          </p:cNvPr>
          <p:cNvSpPr txBox="1">
            <a:spLocks noChangeArrowheads="1"/>
          </p:cNvSpPr>
          <p:nvPr/>
        </p:nvSpPr>
        <p:spPr bwMode="auto">
          <a:xfrm>
            <a:off x="9964650" y="3120295"/>
            <a:ext cx="434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b="0" dirty="0">
                <a:solidFill>
                  <a:schemeClr val="tx1"/>
                </a:solidFill>
              </a:rPr>
              <a:t>= 5</a:t>
            </a:r>
          </a:p>
        </p:txBody>
      </p:sp>
      <p:sp>
        <p:nvSpPr>
          <p:cNvPr id="27" name="Line 11">
            <a:extLst>
              <a:ext uri="{FF2B5EF4-FFF2-40B4-BE49-F238E27FC236}">
                <a16:creationId xmlns:a16="http://schemas.microsoft.com/office/drawing/2014/main" id="{43FCEED9-72CF-3303-5692-E429E7AD030A}"/>
              </a:ext>
            </a:extLst>
          </p:cNvPr>
          <p:cNvSpPr>
            <a:spLocks noChangeShapeType="1"/>
          </p:cNvSpPr>
          <p:nvPr/>
        </p:nvSpPr>
        <p:spPr bwMode="auto">
          <a:xfrm flipV="1">
            <a:off x="5958862" y="3292141"/>
            <a:ext cx="3119438" cy="148289"/>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8" name="Rectangle 64">
            <a:extLst>
              <a:ext uri="{FF2B5EF4-FFF2-40B4-BE49-F238E27FC236}">
                <a16:creationId xmlns:a16="http://schemas.microsoft.com/office/drawing/2014/main" id="{4E248692-D2E7-C0BE-2612-07FDF5CD24AB}"/>
              </a:ext>
            </a:extLst>
          </p:cNvPr>
          <p:cNvSpPr>
            <a:spLocks noChangeArrowheads="1"/>
          </p:cNvSpPr>
          <p:nvPr/>
        </p:nvSpPr>
        <p:spPr bwMode="auto">
          <a:xfrm>
            <a:off x="4943950" y="3468856"/>
            <a:ext cx="3119438" cy="425450"/>
          </a:xfrm>
          <a:prstGeom prst="rect">
            <a:avLst/>
          </a:prstGeom>
          <a:solidFill>
            <a:schemeClr val="bg1"/>
          </a:solidFill>
          <a:ln w="12700" cap="sq">
            <a:solidFill>
              <a:srgbClr val="FF0000"/>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accent1"/>
                </a:solidFill>
                <a:latin typeface="Roboto" panose="02000000000000000000" pitchFamily="2" charset="0"/>
                <a:ea typeface="Roboto" panose="02000000000000000000" pitchFamily="2" charset="0"/>
              </a:rPr>
              <a:t>P/T (1 machine) = 240 sec </a:t>
            </a:r>
            <a:r>
              <a:rPr lang="en-US" altLang="en-US" b="0" dirty="0">
                <a:solidFill>
                  <a:schemeClr val="accent1"/>
                </a:solidFill>
                <a:latin typeface="Roboto" panose="02000000000000000000" pitchFamily="2" charset="0"/>
                <a:ea typeface="Roboto" panose="02000000000000000000" pitchFamily="2" charset="0"/>
                <a:cs typeface="Arial" panose="020B0604020202020204" pitchFamily="34" charset="0"/>
              </a:rPr>
              <a:t>÷ 4 pieces / cycle = 60 sec</a:t>
            </a:r>
          </a:p>
          <a:p>
            <a:pPr>
              <a:lnSpc>
                <a:spcPct val="100000"/>
              </a:lnSpc>
              <a:spcBef>
                <a:spcPct val="30000"/>
              </a:spcBef>
            </a:pPr>
            <a:r>
              <a:rPr lang="en-US" altLang="en-US" b="0" dirty="0">
                <a:solidFill>
                  <a:schemeClr val="accent1"/>
                </a:solidFill>
                <a:latin typeface="Roboto" panose="02000000000000000000" pitchFamily="2" charset="0"/>
                <a:ea typeface="Roboto" panose="02000000000000000000" pitchFamily="2" charset="0"/>
                <a:cs typeface="Arial" panose="020B0604020202020204" pitchFamily="34" charset="0"/>
              </a:rPr>
              <a:t>DOI (5 machines) = 60 sec ÷ 5 operators = 12 sec</a:t>
            </a:r>
          </a:p>
        </p:txBody>
      </p:sp>
      <p:sp>
        <p:nvSpPr>
          <p:cNvPr id="16" name="Line 11">
            <a:extLst>
              <a:ext uri="{FF2B5EF4-FFF2-40B4-BE49-F238E27FC236}">
                <a16:creationId xmlns:a16="http://schemas.microsoft.com/office/drawing/2014/main" id="{4A866D23-5BC6-57CE-E7C8-682385A50642}"/>
              </a:ext>
            </a:extLst>
          </p:cNvPr>
          <p:cNvSpPr>
            <a:spLocks noChangeShapeType="1"/>
          </p:cNvSpPr>
          <p:nvPr/>
        </p:nvSpPr>
        <p:spPr bwMode="auto">
          <a:xfrm>
            <a:off x="5870203" y="3867590"/>
            <a:ext cx="2975101" cy="1691500"/>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17" name="Group 16">
            <a:extLst>
              <a:ext uri="{FF2B5EF4-FFF2-40B4-BE49-F238E27FC236}">
                <a16:creationId xmlns:a16="http://schemas.microsoft.com/office/drawing/2014/main" id="{C0918CE6-D240-93ED-942E-58AFF92B6305}"/>
              </a:ext>
            </a:extLst>
          </p:cNvPr>
          <p:cNvGrpSpPr/>
          <p:nvPr/>
        </p:nvGrpSpPr>
        <p:grpSpPr>
          <a:xfrm>
            <a:off x="8845304" y="5890497"/>
            <a:ext cx="2097934" cy="374559"/>
            <a:chOff x="6996184" y="5912594"/>
            <a:chExt cx="2097934" cy="374559"/>
          </a:xfrm>
        </p:grpSpPr>
        <p:grpSp>
          <p:nvGrpSpPr>
            <p:cNvPr id="29" name="Group 40">
              <a:extLst>
                <a:ext uri="{FF2B5EF4-FFF2-40B4-BE49-F238E27FC236}">
                  <a16:creationId xmlns:a16="http://schemas.microsoft.com/office/drawing/2014/main" id="{04B025A5-F801-85A5-94CA-68DBE67BFF51}"/>
                </a:ext>
              </a:extLst>
            </p:cNvPr>
            <p:cNvGrpSpPr>
              <a:grpSpLocks/>
            </p:cNvGrpSpPr>
            <p:nvPr/>
          </p:nvGrpSpPr>
          <p:grpSpPr bwMode="auto">
            <a:xfrm>
              <a:off x="6996184" y="5912594"/>
              <a:ext cx="2097934" cy="374559"/>
              <a:chOff x="3154" y="3438"/>
              <a:chExt cx="1130" cy="192"/>
            </a:xfrm>
          </p:grpSpPr>
          <p:sp>
            <p:nvSpPr>
              <p:cNvPr id="34" name="Line 41">
                <a:extLst>
                  <a:ext uri="{FF2B5EF4-FFF2-40B4-BE49-F238E27FC236}">
                    <a16:creationId xmlns:a16="http://schemas.microsoft.com/office/drawing/2014/main" id="{171379B9-4590-38EB-343A-767D559F716B}"/>
                  </a:ext>
                </a:extLst>
              </p:cNvPr>
              <p:cNvSpPr>
                <a:spLocks noChangeShapeType="1"/>
              </p:cNvSpPr>
              <p:nvPr/>
            </p:nvSpPr>
            <p:spPr bwMode="auto">
              <a:xfrm>
                <a:off x="3154"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5" name="Line 42">
                <a:extLst>
                  <a:ext uri="{FF2B5EF4-FFF2-40B4-BE49-F238E27FC236}">
                    <a16:creationId xmlns:a16="http://schemas.microsoft.com/office/drawing/2014/main" id="{AD4571C8-B214-6A1F-9172-BCAAE4DD5B4F}"/>
                  </a:ext>
                </a:extLst>
              </p:cNvPr>
              <p:cNvSpPr>
                <a:spLocks noChangeShapeType="1"/>
              </p:cNvSpPr>
              <p:nvPr/>
            </p:nvSpPr>
            <p:spPr bwMode="auto">
              <a:xfrm>
                <a:off x="3162" y="3630"/>
                <a:ext cx="112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38" name="Line 43">
                <a:extLst>
                  <a:ext uri="{FF2B5EF4-FFF2-40B4-BE49-F238E27FC236}">
                    <a16:creationId xmlns:a16="http://schemas.microsoft.com/office/drawing/2014/main" id="{9BE7D0CC-5C93-46DF-2A9F-35B4D73261BE}"/>
                  </a:ext>
                </a:extLst>
              </p:cNvPr>
              <p:cNvSpPr>
                <a:spLocks noChangeShapeType="1"/>
              </p:cNvSpPr>
              <p:nvPr/>
            </p:nvSpPr>
            <p:spPr bwMode="auto">
              <a:xfrm>
                <a:off x="4282"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30" name="Text Box 48">
              <a:extLst>
                <a:ext uri="{FF2B5EF4-FFF2-40B4-BE49-F238E27FC236}">
                  <a16:creationId xmlns:a16="http://schemas.microsoft.com/office/drawing/2014/main" id="{891F6B79-4380-90DF-A5B7-71DE5AE0A2E5}"/>
                </a:ext>
              </a:extLst>
            </p:cNvPr>
            <p:cNvSpPr txBox="1">
              <a:spLocks noChangeArrowheads="1"/>
            </p:cNvSpPr>
            <p:nvPr/>
          </p:nvSpPr>
          <p:spPr bwMode="auto">
            <a:xfrm>
              <a:off x="7562699" y="5961373"/>
              <a:ext cx="9797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dirty="0">
                  <a:solidFill>
                    <a:schemeClr val="accent1"/>
                  </a:solidFill>
                  <a:latin typeface="Roboto" panose="02000000000000000000" pitchFamily="2" charset="0"/>
                  <a:ea typeface="Roboto" panose="02000000000000000000" pitchFamily="2" charset="0"/>
                </a:rPr>
                <a:t>60 seconds</a:t>
              </a:r>
            </a:p>
          </p:txBody>
        </p:sp>
      </p:grpSp>
    </p:spTree>
    <p:extLst>
      <p:ext uri="{BB962C8B-B14F-4D97-AF65-F5344CB8AC3E}">
        <p14:creationId xmlns:p14="http://schemas.microsoft.com/office/powerpoint/2010/main" val="291971554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61</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extLst>
              <p:ext uri="{D42A27DB-BD31-4B8C-83A1-F6EECF244321}">
                <p14:modId xmlns:p14="http://schemas.microsoft.com/office/powerpoint/2010/main" val="1031135400"/>
              </p:ext>
            </p:extLst>
          </p:nvPr>
        </p:nvGraphicFramePr>
        <p:xfrm>
          <a:off x="590264" y="5549609"/>
          <a:ext cx="8521589" cy="741680"/>
        </p:xfrm>
        <a:graphic>
          <a:graphicData uri="http://schemas.openxmlformats.org/drawingml/2006/table">
            <a:tbl>
              <a:tblPr firstRow="1" bandRow="1">
                <a:tableStyleId>{5C22544A-7EE6-4342-B048-85BDC9FD1C3A}</a:tableStyleId>
              </a:tblPr>
              <a:tblGrid>
                <a:gridCol w="1035336">
                  <a:extLst>
                    <a:ext uri="{9D8B030D-6E8A-4147-A177-3AD203B41FA5}">
                      <a16:colId xmlns:a16="http://schemas.microsoft.com/office/drawing/2014/main" val="1793455730"/>
                    </a:ext>
                  </a:extLst>
                </a:gridCol>
                <a:gridCol w="1076960">
                  <a:extLst>
                    <a:ext uri="{9D8B030D-6E8A-4147-A177-3AD203B41FA5}">
                      <a16:colId xmlns:a16="http://schemas.microsoft.com/office/drawing/2014/main" val="2931103683"/>
                    </a:ext>
                  </a:extLst>
                </a:gridCol>
                <a:gridCol w="1452880">
                  <a:extLst>
                    <a:ext uri="{9D8B030D-6E8A-4147-A177-3AD203B41FA5}">
                      <a16:colId xmlns:a16="http://schemas.microsoft.com/office/drawing/2014/main" val="167016645"/>
                    </a:ext>
                  </a:extLst>
                </a:gridCol>
                <a:gridCol w="1036320">
                  <a:extLst>
                    <a:ext uri="{9D8B030D-6E8A-4147-A177-3AD203B41FA5}">
                      <a16:colId xmlns:a16="http://schemas.microsoft.com/office/drawing/2014/main" val="2153114181"/>
                    </a:ext>
                  </a:extLst>
                </a:gridCol>
                <a:gridCol w="1452880">
                  <a:extLst>
                    <a:ext uri="{9D8B030D-6E8A-4147-A177-3AD203B41FA5}">
                      <a16:colId xmlns:a16="http://schemas.microsoft.com/office/drawing/2014/main" val="2013974765"/>
                    </a:ext>
                  </a:extLst>
                </a:gridCol>
                <a:gridCol w="1046480">
                  <a:extLst>
                    <a:ext uri="{9D8B030D-6E8A-4147-A177-3AD203B41FA5}">
                      <a16:colId xmlns:a16="http://schemas.microsoft.com/office/drawing/2014/main" val="3797680054"/>
                    </a:ext>
                  </a:extLst>
                </a:gridCol>
                <a:gridCol w="1420733">
                  <a:extLst>
                    <a:ext uri="{9D8B030D-6E8A-4147-A177-3AD203B41FA5}">
                      <a16:colId xmlns:a16="http://schemas.microsoft.com/office/drawing/2014/main" val="3656946534"/>
                    </a:ext>
                  </a:extLst>
                </a:gridCol>
              </a:tblGrid>
              <a:tr h="370840">
                <a:tc>
                  <a:txBody>
                    <a:bodyPr/>
                    <a:lstStyle/>
                    <a:p>
                      <a:pPr algn="ctr"/>
                      <a:endParaRPr lang="en-US" sz="1200" dirty="0">
                        <a:latin typeface="Roboto" panose="02000000000000000000" pitchFamily="2" charset="0"/>
                        <a:ea typeface="Roboto" panose="02000000000000000000" pitchFamily="2" charset="0"/>
                      </a:endParaRPr>
                    </a:p>
                  </a:txBody>
                  <a:tcPr anchor="b">
                    <a:lnB w="12700" cap="flat" cmpd="sng" algn="ctr">
                      <a:solidFill>
                        <a:schemeClr val="tx1"/>
                      </a:solidFill>
                      <a:prstDash val="solid"/>
                      <a:round/>
                      <a:headEnd type="none" w="med" len="med"/>
                      <a:tailEnd type="none" w="med" len="med"/>
                    </a:lnB>
                    <a:noFill/>
                  </a:tcPr>
                </a:tc>
                <a:tc>
                  <a:txBody>
                    <a:bodyPr/>
                    <a:lstStyle/>
                    <a:p>
                      <a:pPr algn="ctr"/>
                      <a:endParaRPr lang="en-US" sz="1200" dirty="0">
                        <a:latin typeface="Roboto" panose="02000000000000000000" pitchFamily="2" charset="0"/>
                        <a:ea typeface="Roboto" panose="02000000000000000000" pitchFamily="2" charset="0"/>
                      </a:endParaRPr>
                    </a:p>
                  </a:txBody>
                  <a:tcPr anchor="b">
                    <a:noFill/>
                  </a:tcPr>
                </a:tc>
                <a:tc>
                  <a:txBody>
                    <a:bodyPr/>
                    <a:lstStyle/>
                    <a:p>
                      <a:pPr algn="ctr"/>
                      <a:endParaRPr lang="en-US" sz="1200" dirty="0">
                        <a:latin typeface="Roboto" panose="02000000000000000000" pitchFamily="2" charset="0"/>
                        <a:ea typeface="Roboto" panose="02000000000000000000" pitchFamily="2" charset="0"/>
                      </a:endParaRPr>
                    </a:p>
                  </a:txBody>
                  <a:tcPr anchor="b">
                    <a:lnB w="12700" cap="flat" cmpd="sng" algn="ctr">
                      <a:solidFill>
                        <a:schemeClr val="tx1"/>
                      </a:solidFill>
                      <a:prstDash val="solid"/>
                      <a:round/>
                      <a:headEnd type="none" w="med" len="med"/>
                      <a:tailEnd type="none" w="med" len="med"/>
                    </a:lnB>
                    <a:noFill/>
                  </a:tcPr>
                </a:tc>
                <a:tc>
                  <a:txBody>
                    <a:bodyPr/>
                    <a:lstStyle/>
                    <a:p>
                      <a:pPr algn="ctr"/>
                      <a:endParaRPr lang="en-US" sz="1200" dirty="0">
                        <a:latin typeface="Roboto" panose="02000000000000000000" pitchFamily="2" charset="0"/>
                        <a:ea typeface="Roboto" panose="02000000000000000000" pitchFamily="2" charset="0"/>
                      </a:endParaRPr>
                    </a:p>
                  </a:txBody>
                  <a:tcPr anchor="b">
                    <a:noFill/>
                  </a:tcPr>
                </a:tc>
                <a:tc>
                  <a:txBody>
                    <a:bodyPr/>
                    <a:lstStyle/>
                    <a:p>
                      <a:pPr algn="ctr"/>
                      <a:endParaRPr lang="en-US" sz="1200" dirty="0">
                        <a:latin typeface="Roboto" panose="02000000000000000000" pitchFamily="2" charset="0"/>
                        <a:ea typeface="Roboto" panose="02000000000000000000" pitchFamily="2" charset="0"/>
                      </a:endParaRPr>
                    </a:p>
                  </a:txBody>
                  <a:tcPr anchor="b">
                    <a:lnB w="12700" cap="flat" cmpd="sng" algn="ctr">
                      <a:solidFill>
                        <a:schemeClr val="tx1"/>
                      </a:solidFill>
                      <a:prstDash val="solid"/>
                      <a:round/>
                      <a:headEnd type="none" w="med" len="med"/>
                      <a:tailEnd type="none" w="med" len="med"/>
                    </a:lnB>
                    <a:noFill/>
                  </a:tcPr>
                </a:tc>
                <a:tc>
                  <a:txBody>
                    <a:bodyPr/>
                    <a:lstStyle/>
                    <a:p>
                      <a:pPr algn="ctr"/>
                      <a:endParaRPr lang="en-US" sz="1200" dirty="0">
                        <a:latin typeface="Roboto" panose="02000000000000000000" pitchFamily="2" charset="0"/>
                        <a:ea typeface="Roboto" panose="02000000000000000000" pitchFamily="2" charset="0"/>
                      </a:endParaRPr>
                    </a:p>
                  </a:txBody>
                  <a:tcPr anchor="b">
                    <a:noFill/>
                  </a:tcPr>
                </a:tc>
                <a:tc>
                  <a:txBody>
                    <a:bodyPr/>
                    <a:lstStyle/>
                    <a:p>
                      <a:pPr algn="ctr"/>
                      <a:endParaRPr lang="en-US" sz="1200" dirty="0">
                        <a:latin typeface="Roboto" panose="02000000000000000000" pitchFamily="2" charset="0"/>
                        <a:ea typeface="Roboto" panose="02000000000000000000" pitchFamily="2" charset="0"/>
                      </a:endParaRPr>
                    </a:p>
                  </a:txBody>
                  <a:tcPr anchor="b">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1902235"/>
                  </a:ext>
                </a:extLst>
              </a:tr>
              <a:tr h="370840">
                <a:tc>
                  <a:txBody>
                    <a:bodyPr/>
                    <a:lstStyle/>
                    <a:p>
                      <a:pPr algn="ctr"/>
                      <a:endParaRPr lang="en-US" sz="1200" dirty="0">
                        <a:latin typeface="Roboto" panose="02000000000000000000" pitchFamily="2" charset="0"/>
                        <a:ea typeface="Roboto" panose="02000000000000000000" pitchFamily="2" charset="0"/>
                      </a:endParaRPr>
                    </a:p>
                  </a:txBody>
                  <a:tcPr anchor="b">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200" dirty="0">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endParaRPr lang="en-US" sz="1200" dirty="0">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200" dirty="0">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endParaRPr lang="en-US" sz="1200" dirty="0">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200" dirty="0">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endParaRPr lang="en-US" sz="1200" dirty="0">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39903419"/>
                  </a:ext>
                </a:extLst>
              </a:tr>
            </a:tbl>
          </a:graphicData>
        </a:graphic>
      </p:graphicFrame>
    </p:spTree>
    <p:extLst>
      <p:ext uri="{BB962C8B-B14F-4D97-AF65-F5344CB8AC3E}">
        <p14:creationId xmlns:p14="http://schemas.microsoft.com/office/powerpoint/2010/main" val="3426076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Calculating Lead Time for each Process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62</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023632" y="3067434"/>
            <a:ext cx="9157374" cy="1680021"/>
            <a:chOff x="1023632" y="3067434"/>
            <a:chExt cx="9157374" cy="1680021"/>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27" name="Group 26">
              <a:extLst>
                <a:ext uri="{FF2B5EF4-FFF2-40B4-BE49-F238E27FC236}">
                  <a16:creationId xmlns:a16="http://schemas.microsoft.com/office/drawing/2014/main" id="{9ABE4D39-E1A3-B1AD-CD85-827A505A2066}"/>
                </a:ext>
              </a:extLst>
            </p:cNvPr>
            <p:cNvGrpSpPr/>
            <p:nvPr/>
          </p:nvGrpSpPr>
          <p:grpSpPr>
            <a:xfrm>
              <a:off x="1023632" y="3067434"/>
              <a:ext cx="1776165" cy="582613"/>
              <a:chOff x="1023632" y="3067434"/>
              <a:chExt cx="1776165"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1023632" y="3067434"/>
                <a:ext cx="1655763" cy="582613"/>
                <a:chOff x="-664" y="1670"/>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605" y="1696"/>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664" y="1781"/>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582" y="1896"/>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9" y="1670"/>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dirty="0">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1859997" y="333239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extLst>
              <p:ext uri="{D42A27DB-BD31-4B8C-83A1-F6EECF244321}">
                <p14:modId xmlns:p14="http://schemas.microsoft.com/office/powerpoint/2010/main" val="3484345311"/>
              </p:ext>
            </p:extLst>
          </p:nvPr>
        </p:nvGraphicFramePr>
        <p:xfrm>
          <a:off x="590264" y="5549609"/>
          <a:ext cx="8521589" cy="741680"/>
        </p:xfrm>
        <a:graphic>
          <a:graphicData uri="http://schemas.openxmlformats.org/drawingml/2006/table">
            <a:tbl>
              <a:tblPr firstRow="1" bandRow="1">
                <a:tableStyleId>{5C22544A-7EE6-4342-B048-85BDC9FD1C3A}</a:tableStyleId>
              </a:tblPr>
              <a:tblGrid>
                <a:gridCol w="1035336">
                  <a:extLst>
                    <a:ext uri="{9D8B030D-6E8A-4147-A177-3AD203B41FA5}">
                      <a16:colId xmlns:a16="http://schemas.microsoft.com/office/drawing/2014/main" val="1793455730"/>
                    </a:ext>
                  </a:extLst>
                </a:gridCol>
                <a:gridCol w="1076960">
                  <a:extLst>
                    <a:ext uri="{9D8B030D-6E8A-4147-A177-3AD203B41FA5}">
                      <a16:colId xmlns:a16="http://schemas.microsoft.com/office/drawing/2014/main" val="2931103683"/>
                    </a:ext>
                  </a:extLst>
                </a:gridCol>
                <a:gridCol w="1452880">
                  <a:extLst>
                    <a:ext uri="{9D8B030D-6E8A-4147-A177-3AD203B41FA5}">
                      <a16:colId xmlns:a16="http://schemas.microsoft.com/office/drawing/2014/main" val="167016645"/>
                    </a:ext>
                  </a:extLst>
                </a:gridCol>
                <a:gridCol w="1036320">
                  <a:extLst>
                    <a:ext uri="{9D8B030D-6E8A-4147-A177-3AD203B41FA5}">
                      <a16:colId xmlns:a16="http://schemas.microsoft.com/office/drawing/2014/main" val="2153114181"/>
                    </a:ext>
                  </a:extLst>
                </a:gridCol>
                <a:gridCol w="1452880">
                  <a:extLst>
                    <a:ext uri="{9D8B030D-6E8A-4147-A177-3AD203B41FA5}">
                      <a16:colId xmlns:a16="http://schemas.microsoft.com/office/drawing/2014/main" val="2013974765"/>
                    </a:ext>
                  </a:extLst>
                </a:gridCol>
                <a:gridCol w="1046480">
                  <a:extLst>
                    <a:ext uri="{9D8B030D-6E8A-4147-A177-3AD203B41FA5}">
                      <a16:colId xmlns:a16="http://schemas.microsoft.com/office/drawing/2014/main" val="3797680054"/>
                    </a:ext>
                  </a:extLst>
                </a:gridCol>
                <a:gridCol w="1420733">
                  <a:extLst>
                    <a:ext uri="{9D8B030D-6E8A-4147-A177-3AD203B41FA5}">
                      <a16:colId xmlns:a16="http://schemas.microsoft.com/office/drawing/2014/main" val="3656946534"/>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B w="12700" cap="flat" cmpd="sng" algn="ctr">
                      <a:solidFill>
                        <a:schemeClr val="tx1"/>
                      </a:solidFill>
                      <a:prstDash val="solid"/>
                      <a:round/>
                      <a:headEnd type="none" w="med" len="med"/>
                      <a:tailEnd type="none" w="med" len="med"/>
                    </a:lnB>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B w="12700" cap="flat" cmpd="sng" algn="ctr">
                      <a:solidFill>
                        <a:schemeClr val="tx1"/>
                      </a:solidFill>
                      <a:prstDash val="solid"/>
                      <a:round/>
                      <a:headEnd type="none" w="med" len="med"/>
                      <a:tailEnd type="none" w="med" len="med"/>
                    </a:lnB>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B w="12700" cap="flat" cmpd="sng" algn="ctr">
                      <a:solidFill>
                        <a:schemeClr val="tx1"/>
                      </a:solidFill>
                      <a:prstDash val="solid"/>
                      <a:round/>
                      <a:headEnd type="none" w="med" len="med"/>
                      <a:tailEnd type="none" w="med" len="med"/>
                    </a:lnB>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39903419"/>
                  </a:ext>
                </a:extLst>
              </a:tr>
            </a:tbl>
          </a:graphicData>
        </a:graphic>
      </p:graphicFrame>
      <p:sp>
        <p:nvSpPr>
          <p:cNvPr id="14" name="TextBox 13">
            <a:extLst>
              <a:ext uri="{FF2B5EF4-FFF2-40B4-BE49-F238E27FC236}">
                <a16:creationId xmlns:a16="http://schemas.microsoft.com/office/drawing/2014/main" id="{60FF5645-4FFE-4B9B-8869-1DC393211E3C}"/>
              </a:ext>
            </a:extLst>
          </p:cNvPr>
          <p:cNvSpPr txBox="1"/>
          <p:nvPr/>
        </p:nvSpPr>
        <p:spPr>
          <a:xfrm>
            <a:off x="1036320" y="1926859"/>
            <a:ext cx="3529312" cy="1200329"/>
          </a:xfrm>
          <a:prstGeom prst="rect">
            <a:avLst/>
          </a:prstGeom>
          <a:noFill/>
        </p:spPr>
        <p:txBody>
          <a:bodyPr wrap="square" rtlCol="0">
            <a:spAutoFit/>
          </a:bodyPr>
          <a:lstStyle/>
          <a:p>
            <a:pPr marL="285750" indent="-285750">
              <a:buFont typeface="Arial" panose="020B0604020202020204" pitchFamily="34" charset="0"/>
              <a:buChar char="•"/>
            </a:pPr>
            <a:r>
              <a:rPr lang="en-US" dirty="0">
                <a:latin typeface="Roboto" panose="02000000000000000000" pitchFamily="2" charset="0"/>
                <a:ea typeface="Roboto" panose="02000000000000000000" pitchFamily="2" charset="0"/>
              </a:rPr>
              <a:t>Divide the amount of inventory by the daily demand to derive lead time for that process</a:t>
            </a:r>
          </a:p>
        </p:txBody>
      </p:sp>
      <p:sp>
        <p:nvSpPr>
          <p:cNvPr id="15" name="TextBox 14">
            <a:extLst>
              <a:ext uri="{FF2B5EF4-FFF2-40B4-BE49-F238E27FC236}">
                <a16:creationId xmlns:a16="http://schemas.microsoft.com/office/drawing/2014/main" id="{EA503F38-FE93-9315-9F01-0FE62B74CCA8}"/>
              </a:ext>
            </a:extLst>
          </p:cNvPr>
          <p:cNvSpPr txBox="1"/>
          <p:nvPr/>
        </p:nvSpPr>
        <p:spPr>
          <a:xfrm>
            <a:off x="5357078" y="1896884"/>
            <a:ext cx="4975642" cy="1200329"/>
          </a:xfrm>
          <a:prstGeom prst="rect">
            <a:avLst/>
          </a:prstGeom>
          <a:noFill/>
        </p:spPr>
        <p:txBody>
          <a:bodyPr wrap="square" rtlCol="0">
            <a:spAutoFit/>
          </a:bodyPr>
          <a:lstStyle/>
          <a:p>
            <a:pPr marL="285750" indent="-285750">
              <a:buFont typeface="Arial" panose="020B0604020202020204" pitchFamily="34" charset="0"/>
              <a:buChar char="•"/>
            </a:pPr>
            <a:r>
              <a:rPr lang="en-US" dirty="0">
                <a:latin typeface="Roboto" panose="02000000000000000000" pitchFamily="2" charset="0"/>
                <a:ea typeface="Roboto" panose="02000000000000000000" pitchFamily="2" charset="0"/>
              </a:rPr>
              <a:t>Cut: 		3,200 * 4 / 1,500 	= </a:t>
            </a:r>
            <a:r>
              <a:rPr lang="en-US" dirty="0">
                <a:solidFill>
                  <a:schemeClr val="accent1"/>
                </a:solidFill>
                <a:latin typeface="Roboto" panose="02000000000000000000" pitchFamily="2" charset="0"/>
                <a:ea typeface="Roboto" panose="02000000000000000000" pitchFamily="2" charset="0"/>
              </a:rPr>
              <a:t>8.5 days</a:t>
            </a:r>
          </a:p>
          <a:p>
            <a:pPr marL="285750" indent="-285750">
              <a:buFont typeface="Arial" panose="020B0604020202020204" pitchFamily="34" charset="0"/>
              <a:buChar char="•"/>
            </a:pPr>
            <a:r>
              <a:rPr lang="en-US" dirty="0">
                <a:latin typeface="Roboto" panose="02000000000000000000" pitchFamily="2" charset="0"/>
                <a:ea typeface="Roboto" panose="02000000000000000000" pitchFamily="2" charset="0"/>
              </a:rPr>
              <a:t>Stamp: 	5,250 / 1,500 	= </a:t>
            </a:r>
            <a:r>
              <a:rPr lang="en-US" dirty="0">
                <a:solidFill>
                  <a:schemeClr val="accent1"/>
                </a:solidFill>
                <a:latin typeface="Roboto" panose="02000000000000000000" pitchFamily="2" charset="0"/>
                <a:ea typeface="Roboto" panose="02000000000000000000" pitchFamily="2" charset="0"/>
              </a:rPr>
              <a:t>3.5 days</a:t>
            </a:r>
          </a:p>
          <a:p>
            <a:pPr marL="285750" indent="-285750">
              <a:buFont typeface="Arial" panose="020B0604020202020204" pitchFamily="34" charset="0"/>
              <a:buChar char="•"/>
            </a:pPr>
            <a:r>
              <a:rPr lang="en-US" dirty="0">
                <a:latin typeface="Roboto" panose="02000000000000000000" pitchFamily="2" charset="0"/>
                <a:ea typeface="Roboto" panose="02000000000000000000" pitchFamily="2" charset="0"/>
              </a:rPr>
              <a:t>Brake Form: 	9,300 / 1,500 	= </a:t>
            </a:r>
            <a:r>
              <a:rPr lang="en-US" dirty="0">
                <a:solidFill>
                  <a:schemeClr val="accent1"/>
                </a:solidFill>
                <a:latin typeface="Roboto" panose="02000000000000000000" pitchFamily="2" charset="0"/>
                <a:ea typeface="Roboto" panose="02000000000000000000" pitchFamily="2" charset="0"/>
              </a:rPr>
              <a:t>6.2 days</a:t>
            </a:r>
          </a:p>
          <a:p>
            <a:pPr marL="285750" indent="-285750">
              <a:buFont typeface="Arial" panose="020B0604020202020204" pitchFamily="34" charset="0"/>
              <a:buChar char="•"/>
            </a:pPr>
            <a:r>
              <a:rPr lang="en-US" dirty="0">
                <a:latin typeface="Roboto" panose="02000000000000000000" pitchFamily="2" charset="0"/>
                <a:ea typeface="Roboto" panose="02000000000000000000" pitchFamily="2" charset="0"/>
              </a:rPr>
              <a:t>Ship: 		2,300 / 1,500 	= </a:t>
            </a:r>
            <a:r>
              <a:rPr lang="en-US" dirty="0">
                <a:solidFill>
                  <a:schemeClr val="accent1"/>
                </a:solidFill>
                <a:latin typeface="Roboto" panose="02000000000000000000" pitchFamily="2" charset="0"/>
                <a:ea typeface="Roboto" panose="02000000000000000000" pitchFamily="2" charset="0"/>
              </a:rPr>
              <a:t>1.5 days</a:t>
            </a:r>
          </a:p>
        </p:txBody>
      </p:sp>
      <p:sp>
        <p:nvSpPr>
          <p:cNvPr id="48" name="Text Box 42">
            <a:extLst>
              <a:ext uri="{FF2B5EF4-FFF2-40B4-BE49-F238E27FC236}">
                <a16:creationId xmlns:a16="http://schemas.microsoft.com/office/drawing/2014/main" id="{ED393876-46A2-12E4-2279-7AC49AA671CA}"/>
              </a:ext>
            </a:extLst>
          </p:cNvPr>
          <p:cNvSpPr txBox="1">
            <a:spLocks noChangeArrowheads="1"/>
          </p:cNvSpPr>
          <p:nvPr/>
        </p:nvSpPr>
        <p:spPr bwMode="auto">
          <a:xfrm>
            <a:off x="3014110" y="3096928"/>
            <a:ext cx="16986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spcBef>
                <a:spcPct val="50000"/>
              </a:spcBef>
            </a:pPr>
            <a:r>
              <a:rPr lang="en-US" altLang="en-US" sz="1400" dirty="0">
                <a:solidFill>
                  <a:schemeClr val="accent1"/>
                </a:solidFill>
                <a:latin typeface="Roboto" panose="02000000000000000000" pitchFamily="2" charset="0"/>
                <a:ea typeface="Roboto" panose="02000000000000000000" pitchFamily="2" charset="0"/>
              </a:rPr>
              <a:t>Daily Demand = 1,500  pieces</a:t>
            </a:r>
          </a:p>
        </p:txBody>
      </p:sp>
    </p:spTree>
    <p:extLst>
      <p:ext uri="{BB962C8B-B14F-4D97-AF65-F5344CB8AC3E}">
        <p14:creationId xmlns:p14="http://schemas.microsoft.com/office/powerpoint/2010/main" val="84150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Calculating Totals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63</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4178350"/>
            <a:ext cx="8546635" cy="569105"/>
            <a:chOff x="1634371" y="4178350"/>
            <a:chExt cx="8546635" cy="569105"/>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14" name="TextBox 13">
            <a:extLst>
              <a:ext uri="{FF2B5EF4-FFF2-40B4-BE49-F238E27FC236}">
                <a16:creationId xmlns:a16="http://schemas.microsoft.com/office/drawing/2014/main" id="{60FF5645-4FFE-4B9B-8869-1DC393211E3C}"/>
              </a:ext>
            </a:extLst>
          </p:cNvPr>
          <p:cNvSpPr txBox="1"/>
          <p:nvPr/>
        </p:nvSpPr>
        <p:spPr>
          <a:xfrm>
            <a:off x="1036320" y="1926859"/>
            <a:ext cx="3931254" cy="923330"/>
          </a:xfrm>
          <a:prstGeom prst="rect">
            <a:avLst/>
          </a:prstGeom>
          <a:noFill/>
        </p:spPr>
        <p:txBody>
          <a:bodyPr wrap="square" rtlCol="0">
            <a:spAutoFit/>
          </a:bodyPr>
          <a:lstStyle/>
          <a:p>
            <a:pPr marL="285750" indent="-285750">
              <a:buFont typeface="Arial" panose="020B0604020202020204" pitchFamily="34" charset="0"/>
              <a:buChar char="•"/>
            </a:pPr>
            <a:r>
              <a:rPr lang="en-US" dirty="0">
                <a:latin typeface="Roboto" panose="02000000000000000000" pitchFamily="2" charset="0"/>
                <a:ea typeface="Roboto" panose="02000000000000000000" pitchFamily="2" charset="0"/>
              </a:rPr>
              <a:t>Add Processing Times and Lead Times for each process to derive the totals for the Value Stream</a:t>
            </a:r>
          </a:p>
        </p:txBody>
      </p:sp>
      <p:graphicFrame>
        <p:nvGraphicFramePr>
          <p:cNvPr id="41" name="Table 13">
            <a:extLst>
              <a:ext uri="{FF2B5EF4-FFF2-40B4-BE49-F238E27FC236}">
                <a16:creationId xmlns:a16="http://schemas.microsoft.com/office/drawing/2014/main" id="{2ABEE834-1005-D34C-25A0-378B48DB9780}"/>
              </a:ext>
            </a:extLst>
          </p:cNvPr>
          <p:cNvGraphicFramePr>
            <a:graphicFrameLocks noGrp="1"/>
          </p:cNvGraphicFramePr>
          <p:nvPr>
            <p:extLst>
              <p:ext uri="{D42A27DB-BD31-4B8C-83A1-F6EECF244321}">
                <p14:modId xmlns:p14="http://schemas.microsoft.com/office/powerpoint/2010/main" val="3011418427"/>
              </p:ext>
            </p:extLst>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spTree>
    <p:extLst>
      <p:ext uri="{BB962C8B-B14F-4D97-AF65-F5344CB8AC3E}">
        <p14:creationId xmlns:p14="http://schemas.microsoft.com/office/powerpoint/2010/main" val="2564457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3">
            <a:extLst>
              <a:ext uri="{FF2B5EF4-FFF2-40B4-BE49-F238E27FC236}">
                <a16:creationId xmlns:a16="http://schemas.microsoft.com/office/drawing/2014/main" id="{64FDBA4C-8558-C39D-74CB-AFB74044A2C6}"/>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64</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extLst>
              <p:ext uri="{D42A27DB-BD31-4B8C-83A1-F6EECF244321}">
                <p14:modId xmlns:p14="http://schemas.microsoft.com/office/powerpoint/2010/main" val="3549409005"/>
              </p:ext>
            </p:extLst>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spTree>
    <p:extLst>
      <p:ext uri="{BB962C8B-B14F-4D97-AF65-F5344CB8AC3E}">
        <p14:creationId xmlns:p14="http://schemas.microsoft.com/office/powerpoint/2010/main" val="876294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Mapping the Current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65</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7" y="193413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57667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Takt Time</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7" y="3861757"/>
            <a:ext cx="10174791"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Data Boxes and Inventory Levels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789379"/>
            <a:ext cx="10174793"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7" y="4504297"/>
            <a:ext cx="10174793"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Supplier Data</a:t>
            </a:r>
          </a:p>
        </p:txBody>
      </p:sp>
      <p:sp>
        <p:nvSpPr>
          <p:cNvPr id="18" name="Rectangle 17">
            <a:extLst>
              <a:ext uri="{FF2B5EF4-FFF2-40B4-BE49-F238E27FC236}">
                <a16:creationId xmlns:a16="http://schemas.microsoft.com/office/drawing/2014/main" id="{50BBF7A0-ECFA-06CB-A66C-31B4C7516E5E}"/>
              </a:ext>
            </a:extLst>
          </p:cNvPr>
          <p:cNvSpPr>
            <a:spLocks/>
          </p:cNvSpPr>
          <p:nvPr/>
        </p:nvSpPr>
        <p:spPr>
          <a:xfrm>
            <a:off x="940248" y="321921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9" name="Rectangle 18">
            <a:extLst>
              <a:ext uri="{FF2B5EF4-FFF2-40B4-BE49-F238E27FC236}">
                <a16:creationId xmlns:a16="http://schemas.microsoft.com/office/drawing/2014/main" id="{D94E3980-5557-1182-3882-58280A403140}"/>
              </a:ext>
            </a:extLst>
          </p:cNvPr>
          <p:cNvSpPr>
            <a:spLocks/>
          </p:cNvSpPr>
          <p:nvPr/>
        </p:nvSpPr>
        <p:spPr>
          <a:xfrm>
            <a:off x="940248" y="5146837"/>
            <a:ext cx="1017479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Production Lead Time</a:t>
            </a:r>
          </a:p>
        </p:txBody>
      </p:sp>
    </p:spTree>
    <p:extLst>
      <p:ext uri="{BB962C8B-B14F-4D97-AF65-F5344CB8AC3E}">
        <p14:creationId xmlns:p14="http://schemas.microsoft.com/office/powerpoint/2010/main" val="321649602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Information Flow</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66</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325120" y="1690688"/>
            <a:ext cx="6228080" cy="4755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ts val="600"/>
              </a:spcBef>
              <a:spcAft>
                <a:spcPts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Customer Requirements</a:t>
            </a:r>
          </a:p>
          <a:p>
            <a:pPr lvl="1">
              <a:lnSpc>
                <a:spcPct val="100000"/>
              </a:lnSpc>
              <a:spcBef>
                <a:spcPts val="600"/>
              </a:spcBef>
              <a:spcAft>
                <a:spcPts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Daily customer orders are sent via </a:t>
            </a:r>
            <a:r>
              <a:rPr lang="en-US" altLang="en-US" sz="1400" dirty="0">
                <a:solidFill>
                  <a:schemeClr val="accent1"/>
                </a:solidFill>
                <a:latin typeface="Roboto" panose="02000000000000000000" pitchFamily="2" charset="0"/>
                <a:ea typeface="Roboto" panose="02000000000000000000" pitchFamily="2" charset="0"/>
              </a:rPr>
              <a:t>EDI link </a:t>
            </a:r>
            <a:r>
              <a:rPr lang="en-US" altLang="en-US" sz="1400" dirty="0">
                <a:latin typeface="Roboto" panose="02000000000000000000" pitchFamily="2" charset="0"/>
                <a:ea typeface="Roboto" panose="02000000000000000000" pitchFamily="2" charset="0"/>
              </a:rPr>
              <a:t>to MME’s </a:t>
            </a:r>
            <a:r>
              <a:rPr lang="en-US" altLang="en-US" sz="1400" dirty="0">
                <a:solidFill>
                  <a:schemeClr val="accent1"/>
                </a:solidFill>
                <a:latin typeface="Roboto" panose="02000000000000000000" pitchFamily="2" charset="0"/>
                <a:ea typeface="Roboto" panose="02000000000000000000" pitchFamily="2" charset="0"/>
              </a:rPr>
              <a:t>order entry module of their MRP system</a:t>
            </a:r>
          </a:p>
          <a:p>
            <a:pPr eaLnBrk="1" hangingPunct="1">
              <a:lnSpc>
                <a:spcPct val="100000"/>
              </a:lnSpc>
              <a:spcBef>
                <a:spcPts val="600"/>
              </a:spcBef>
              <a:spcAft>
                <a:spcPts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Purchased Raw Material</a:t>
            </a:r>
          </a:p>
          <a:p>
            <a:pPr lvl="1">
              <a:lnSpc>
                <a:spcPct val="100000"/>
              </a:lnSpc>
              <a:spcBef>
                <a:spcPts val="600"/>
              </a:spcBef>
              <a:spcAft>
                <a:spcPts val="0"/>
              </a:spcAft>
              <a:buClr>
                <a:schemeClr val="tx1"/>
              </a:buClr>
              <a:buSzPct val="90000"/>
              <a:buFont typeface="Arial" panose="020B0604020202020204" pitchFamily="34" charset="0"/>
              <a:buChar char="•"/>
            </a:pPr>
            <a:r>
              <a:rPr lang="en-US" altLang="en-US" sz="1400" dirty="0">
                <a:solidFill>
                  <a:schemeClr val="accent1"/>
                </a:solidFill>
                <a:latin typeface="Roboto" panose="02000000000000000000" pitchFamily="2" charset="0"/>
                <a:ea typeface="Roboto" panose="02000000000000000000" pitchFamily="2" charset="0"/>
              </a:rPr>
              <a:t>Purchase orders are sent to Acme once a month via Fax</a:t>
            </a:r>
          </a:p>
          <a:p>
            <a:pPr eaLnBrk="1" hangingPunct="1">
              <a:lnSpc>
                <a:spcPct val="100000"/>
              </a:lnSpc>
              <a:spcBef>
                <a:spcPts val="600"/>
              </a:spcBef>
              <a:spcAft>
                <a:spcPts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Production Scheduling</a:t>
            </a:r>
          </a:p>
          <a:p>
            <a:pPr lvl="1">
              <a:lnSpc>
                <a:spcPct val="100000"/>
              </a:lnSpc>
              <a:spcBef>
                <a:spcPts val="600"/>
              </a:spcBef>
              <a:spcAft>
                <a:spcPts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MME has an </a:t>
            </a:r>
            <a:r>
              <a:rPr lang="en-US" altLang="en-US" sz="1400" dirty="0">
                <a:solidFill>
                  <a:schemeClr val="accent1"/>
                </a:solidFill>
                <a:latin typeface="Roboto" panose="02000000000000000000" pitchFamily="2" charset="0"/>
                <a:ea typeface="Roboto" panose="02000000000000000000" pitchFamily="2" charset="0"/>
              </a:rPr>
              <a:t>integrated MRP System</a:t>
            </a:r>
            <a:r>
              <a:rPr lang="en-US" altLang="en-US" sz="1400" dirty="0">
                <a:latin typeface="Roboto" panose="02000000000000000000" pitchFamily="2" charset="0"/>
                <a:ea typeface="Roboto" panose="02000000000000000000" pitchFamily="2" charset="0"/>
              </a:rPr>
              <a:t>, managed by the </a:t>
            </a:r>
            <a:r>
              <a:rPr lang="en-US" altLang="en-US" sz="1400" dirty="0">
                <a:solidFill>
                  <a:schemeClr val="accent1"/>
                </a:solidFill>
                <a:latin typeface="Roboto" panose="02000000000000000000" pitchFamily="2" charset="0"/>
                <a:ea typeface="Roboto" panose="02000000000000000000" pitchFamily="2" charset="0"/>
              </a:rPr>
              <a:t>Production Control Department</a:t>
            </a:r>
            <a:r>
              <a:rPr lang="en-US" altLang="en-US" sz="1400" dirty="0">
                <a:latin typeface="Roboto" panose="02000000000000000000" pitchFamily="2" charset="0"/>
                <a:ea typeface="Roboto" panose="02000000000000000000" pitchFamily="2" charset="0"/>
              </a:rPr>
              <a:t>, that includes Forecasting, Order Entry, MRP planning, Inventory Control, Purchasing, and </a:t>
            </a:r>
            <a:r>
              <a:rPr lang="en-US" altLang="en-US" sz="1400" dirty="0">
                <a:solidFill>
                  <a:schemeClr val="accent1"/>
                </a:solidFill>
                <a:latin typeface="Roboto" panose="02000000000000000000" pitchFamily="2" charset="0"/>
                <a:ea typeface="Roboto" panose="02000000000000000000" pitchFamily="2" charset="0"/>
              </a:rPr>
              <a:t>Shop Floor Scheduling</a:t>
            </a:r>
          </a:p>
          <a:p>
            <a:pPr lvl="1">
              <a:lnSpc>
                <a:spcPct val="100000"/>
              </a:lnSpc>
              <a:spcBef>
                <a:spcPts val="600"/>
              </a:spcBef>
              <a:spcAft>
                <a:spcPts val="0"/>
              </a:spcAft>
              <a:buClr>
                <a:schemeClr val="tx1"/>
              </a:buClr>
              <a:buSzPct val="90000"/>
              <a:buFont typeface="Arial" panose="020B0604020202020204" pitchFamily="34" charset="0"/>
              <a:buChar char="•"/>
            </a:pPr>
            <a:r>
              <a:rPr lang="en-US" altLang="en-US" sz="1400" dirty="0">
                <a:solidFill>
                  <a:schemeClr val="accent1"/>
                </a:solidFill>
                <a:latin typeface="Roboto" panose="02000000000000000000" pitchFamily="2" charset="0"/>
                <a:ea typeface="Roboto" panose="02000000000000000000" pitchFamily="2" charset="0"/>
              </a:rPr>
              <a:t>EDI orders received from the customer </a:t>
            </a:r>
            <a:r>
              <a:rPr lang="en-US" altLang="en-US" sz="1400" dirty="0">
                <a:latin typeface="Roboto" panose="02000000000000000000" pitchFamily="2" charset="0"/>
                <a:ea typeface="Roboto" panose="02000000000000000000" pitchFamily="2" charset="0"/>
              </a:rPr>
              <a:t>are entered into MRP and are hand-delivered in </a:t>
            </a:r>
            <a:r>
              <a:rPr lang="en-US" altLang="en-US" sz="1400" dirty="0">
                <a:solidFill>
                  <a:schemeClr val="accent1"/>
                </a:solidFill>
                <a:latin typeface="Roboto" panose="02000000000000000000" pitchFamily="2" charset="0"/>
                <a:ea typeface="Roboto" panose="02000000000000000000" pitchFamily="2" charset="0"/>
              </a:rPr>
              <a:t>hard copy to the shipping department on a daily basis </a:t>
            </a:r>
            <a:r>
              <a:rPr lang="en-US" altLang="en-US" sz="1400" dirty="0">
                <a:latin typeface="Roboto" panose="02000000000000000000" pitchFamily="2" charset="0"/>
                <a:ea typeface="Roboto" panose="02000000000000000000" pitchFamily="2" charset="0"/>
              </a:rPr>
              <a:t>to drive next-day shipments</a:t>
            </a:r>
          </a:p>
          <a:p>
            <a:pPr lvl="1">
              <a:lnSpc>
                <a:spcPct val="100000"/>
              </a:lnSpc>
              <a:spcBef>
                <a:spcPts val="600"/>
              </a:spcBef>
              <a:spcAft>
                <a:spcPts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After the weekly MRP run, </a:t>
            </a:r>
            <a:r>
              <a:rPr lang="en-US" altLang="en-US" sz="1400" dirty="0">
                <a:solidFill>
                  <a:schemeClr val="accent1"/>
                </a:solidFill>
                <a:latin typeface="Roboto" panose="02000000000000000000" pitchFamily="2" charset="0"/>
                <a:ea typeface="Roboto" panose="02000000000000000000" pitchFamily="2" charset="0"/>
              </a:rPr>
              <a:t>each production department </a:t>
            </a:r>
            <a:r>
              <a:rPr lang="en-US" altLang="en-US" sz="1400" dirty="0">
                <a:latin typeface="Roboto" panose="02000000000000000000" pitchFamily="2" charset="0"/>
                <a:ea typeface="Roboto" panose="02000000000000000000" pitchFamily="2" charset="0"/>
              </a:rPr>
              <a:t>gets a </a:t>
            </a:r>
            <a:r>
              <a:rPr lang="en-US" altLang="en-US" sz="1400" dirty="0">
                <a:solidFill>
                  <a:schemeClr val="accent1"/>
                </a:solidFill>
                <a:latin typeface="Roboto" panose="02000000000000000000" pitchFamily="2" charset="0"/>
                <a:ea typeface="Roboto" panose="02000000000000000000" pitchFamily="2" charset="0"/>
              </a:rPr>
              <a:t>weekly hard-copy schedule </a:t>
            </a:r>
            <a:r>
              <a:rPr lang="en-US" altLang="en-US" sz="1400" dirty="0">
                <a:latin typeface="Roboto" panose="02000000000000000000" pitchFamily="2" charset="0"/>
                <a:ea typeface="Roboto" panose="02000000000000000000" pitchFamily="2" charset="0"/>
              </a:rPr>
              <a:t>of products to make, broken out by day</a:t>
            </a:r>
          </a:p>
          <a:p>
            <a:pPr lvl="1">
              <a:lnSpc>
                <a:spcPct val="100000"/>
              </a:lnSpc>
              <a:spcBef>
                <a:spcPts val="600"/>
              </a:spcBef>
              <a:spcAft>
                <a:spcPts val="0"/>
              </a:spcAft>
              <a:buClr>
                <a:schemeClr val="tx1"/>
              </a:buClr>
              <a:buSzPct val="90000"/>
              <a:buFont typeface="Arial" panose="020B0604020202020204" pitchFamily="34" charset="0"/>
              <a:buChar char="•"/>
            </a:pPr>
            <a:r>
              <a:rPr lang="en-US" altLang="en-US" sz="1400" dirty="0">
                <a:solidFill>
                  <a:schemeClr val="accent1"/>
                </a:solidFill>
                <a:latin typeface="Roboto" panose="02000000000000000000" pitchFamily="2" charset="0"/>
                <a:ea typeface="Roboto" panose="02000000000000000000" pitchFamily="2" charset="0"/>
              </a:rPr>
              <a:t>Purchase orders are created or revised on a monthly basis</a:t>
            </a:r>
            <a:r>
              <a:rPr lang="en-US" altLang="en-US" sz="1400" dirty="0">
                <a:latin typeface="Roboto" panose="02000000000000000000" pitchFamily="2" charset="0"/>
                <a:ea typeface="Roboto" panose="02000000000000000000" pitchFamily="2" charset="0"/>
              </a:rPr>
              <a:t> from MRP and </a:t>
            </a:r>
            <a:r>
              <a:rPr lang="en-US" altLang="en-US" sz="1400" dirty="0">
                <a:solidFill>
                  <a:schemeClr val="accent1"/>
                </a:solidFill>
                <a:latin typeface="Roboto" panose="02000000000000000000" pitchFamily="2" charset="0"/>
                <a:ea typeface="Roboto" panose="02000000000000000000" pitchFamily="2" charset="0"/>
              </a:rPr>
              <a:t>sent to the suppliers via Fax</a:t>
            </a:r>
          </a:p>
          <a:p>
            <a:pPr lvl="1">
              <a:lnSpc>
                <a:spcPct val="100000"/>
              </a:lnSpc>
              <a:spcBef>
                <a:spcPts val="600"/>
              </a:spcBef>
              <a:spcAft>
                <a:spcPts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Sales forecasts are internally generated and entered into MRP without direct communication with the customer</a:t>
            </a:r>
          </a:p>
        </p:txBody>
      </p:sp>
      <p:sp>
        <p:nvSpPr>
          <p:cNvPr id="15" name="Line 5">
            <a:extLst>
              <a:ext uri="{FF2B5EF4-FFF2-40B4-BE49-F238E27FC236}">
                <a16:creationId xmlns:a16="http://schemas.microsoft.com/office/drawing/2014/main" id="{6540E16A-38DD-6893-C050-A80A83BD3646}"/>
              </a:ext>
            </a:extLst>
          </p:cNvPr>
          <p:cNvSpPr>
            <a:spLocks noChangeShapeType="1"/>
          </p:cNvSpPr>
          <p:nvPr/>
        </p:nvSpPr>
        <p:spPr bwMode="auto">
          <a:xfrm flipV="1">
            <a:off x="3966210" y="3038391"/>
            <a:ext cx="4721132" cy="435974"/>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2" name="Line 13">
            <a:extLst>
              <a:ext uri="{FF2B5EF4-FFF2-40B4-BE49-F238E27FC236}">
                <a16:creationId xmlns:a16="http://schemas.microsoft.com/office/drawing/2014/main" id="{31B88D42-4382-1A80-BEC5-41E8BFEB8E9D}"/>
              </a:ext>
            </a:extLst>
          </p:cNvPr>
          <p:cNvSpPr>
            <a:spLocks noChangeShapeType="1"/>
          </p:cNvSpPr>
          <p:nvPr/>
        </p:nvSpPr>
        <p:spPr bwMode="auto">
          <a:xfrm flipV="1">
            <a:off x="6135336" y="4235861"/>
            <a:ext cx="3936419" cy="896085"/>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55" name="Line 25">
            <a:extLst>
              <a:ext uri="{FF2B5EF4-FFF2-40B4-BE49-F238E27FC236}">
                <a16:creationId xmlns:a16="http://schemas.microsoft.com/office/drawing/2014/main" id="{A3D1713D-415A-3EF3-037C-5A9EED8CF4C1}"/>
              </a:ext>
            </a:extLst>
          </p:cNvPr>
          <p:cNvSpPr>
            <a:spLocks noChangeShapeType="1"/>
          </p:cNvSpPr>
          <p:nvPr/>
        </p:nvSpPr>
        <p:spPr bwMode="auto">
          <a:xfrm flipV="1">
            <a:off x="6258214" y="3637279"/>
            <a:ext cx="4235788" cy="952245"/>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65" name="Group 64">
            <a:extLst>
              <a:ext uri="{FF2B5EF4-FFF2-40B4-BE49-F238E27FC236}">
                <a16:creationId xmlns:a16="http://schemas.microsoft.com/office/drawing/2014/main" id="{ACCB8936-DF1A-E859-165B-29B142035758}"/>
              </a:ext>
            </a:extLst>
          </p:cNvPr>
          <p:cNvGrpSpPr/>
          <p:nvPr/>
        </p:nvGrpSpPr>
        <p:grpSpPr>
          <a:xfrm>
            <a:off x="7291388" y="2032795"/>
            <a:ext cx="4575492" cy="2868389"/>
            <a:chOff x="7291388" y="2032795"/>
            <a:chExt cx="3148012" cy="2055813"/>
          </a:xfrm>
        </p:grpSpPr>
        <p:grpSp>
          <p:nvGrpSpPr>
            <p:cNvPr id="16" name="Group 6">
              <a:extLst>
                <a:ext uri="{FF2B5EF4-FFF2-40B4-BE49-F238E27FC236}">
                  <a16:creationId xmlns:a16="http://schemas.microsoft.com/office/drawing/2014/main" id="{35E23D88-9CD6-E2DB-50E5-2D566D682E49}"/>
                </a:ext>
              </a:extLst>
            </p:cNvPr>
            <p:cNvGrpSpPr>
              <a:grpSpLocks/>
            </p:cNvGrpSpPr>
            <p:nvPr/>
          </p:nvGrpSpPr>
          <p:grpSpPr bwMode="auto">
            <a:xfrm>
              <a:off x="9318625" y="2248695"/>
              <a:ext cx="1120775" cy="260350"/>
              <a:chOff x="4076" y="1131"/>
              <a:chExt cx="706" cy="164"/>
            </a:xfrm>
          </p:grpSpPr>
          <p:grpSp>
            <p:nvGrpSpPr>
              <p:cNvPr id="18" name="Group 7">
                <a:extLst>
                  <a:ext uri="{FF2B5EF4-FFF2-40B4-BE49-F238E27FC236}">
                    <a16:creationId xmlns:a16="http://schemas.microsoft.com/office/drawing/2014/main" id="{37AA0CAC-715C-C6E8-1870-8085427C104C}"/>
                  </a:ext>
                </a:extLst>
              </p:cNvPr>
              <p:cNvGrpSpPr>
                <a:grpSpLocks/>
              </p:cNvGrpSpPr>
              <p:nvPr/>
            </p:nvGrpSpPr>
            <p:grpSpPr bwMode="auto">
              <a:xfrm>
                <a:off x="4076" y="1160"/>
                <a:ext cx="448" cy="68"/>
                <a:chOff x="3049" y="1442"/>
                <a:chExt cx="1329" cy="51"/>
              </a:xfrm>
            </p:grpSpPr>
            <p:sp>
              <p:nvSpPr>
                <p:cNvPr id="21" name="Line 8">
                  <a:extLst>
                    <a:ext uri="{FF2B5EF4-FFF2-40B4-BE49-F238E27FC236}">
                      <a16:creationId xmlns:a16="http://schemas.microsoft.com/office/drawing/2014/main" id="{1694BA50-7E5E-C33D-8DE3-A479587FC361}"/>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2" name="Line 9">
                  <a:extLst>
                    <a:ext uri="{FF2B5EF4-FFF2-40B4-BE49-F238E27FC236}">
                      <a16:creationId xmlns:a16="http://schemas.microsoft.com/office/drawing/2014/main" id="{BCC45941-C6A2-8A87-7011-BB8D6A4D58D8}"/>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4" name="Line 10">
                  <a:extLst>
                    <a:ext uri="{FF2B5EF4-FFF2-40B4-BE49-F238E27FC236}">
                      <a16:creationId xmlns:a16="http://schemas.microsoft.com/office/drawing/2014/main" id="{D04BD9C2-670F-3704-F4EC-18EA29934F68}"/>
                    </a:ext>
                  </a:extLst>
                </p:cNvPr>
                <p:cNvSpPr>
                  <a:spLocks noChangeShapeType="1"/>
                </p:cNvSpPr>
                <p:nvPr/>
              </p:nvSpPr>
              <p:spPr bwMode="auto">
                <a:xfrm flipV="1">
                  <a:off x="3651" y="1442"/>
                  <a:ext cx="80" cy="5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9" name="Rectangle 11">
                <a:extLst>
                  <a:ext uri="{FF2B5EF4-FFF2-40B4-BE49-F238E27FC236}">
                    <a16:creationId xmlns:a16="http://schemas.microsoft.com/office/drawing/2014/main" id="{4B1D07C5-713E-02A1-AFE2-91F87D949831}"/>
                  </a:ext>
                </a:extLst>
              </p:cNvPr>
              <p:cNvSpPr>
                <a:spLocks noChangeArrowheads="1"/>
              </p:cNvSpPr>
              <p:nvPr/>
            </p:nvSpPr>
            <p:spPr bwMode="auto">
              <a:xfrm>
                <a:off x="4378" y="1131"/>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33" name="Group 14">
              <a:extLst>
                <a:ext uri="{FF2B5EF4-FFF2-40B4-BE49-F238E27FC236}">
                  <a16:creationId xmlns:a16="http://schemas.microsoft.com/office/drawing/2014/main" id="{C1B77B0A-6593-63C0-D246-7A0326566C70}"/>
                </a:ext>
              </a:extLst>
            </p:cNvPr>
            <p:cNvGrpSpPr>
              <a:grpSpLocks/>
            </p:cNvGrpSpPr>
            <p:nvPr/>
          </p:nvGrpSpPr>
          <p:grpSpPr bwMode="auto">
            <a:xfrm>
              <a:off x="8351839" y="2032795"/>
              <a:ext cx="974725" cy="711200"/>
              <a:chOff x="3467" y="995"/>
              <a:chExt cx="614" cy="448"/>
            </a:xfrm>
          </p:grpSpPr>
          <p:sp>
            <p:nvSpPr>
              <p:cNvPr id="37" name="Rectangle 15">
                <a:extLst>
                  <a:ext uri="{FF2B5EF4-FFF2-40B4-BE49-F238E27FC236}">
                    <a16:creationId xmlns:a16="http://schemas.microsoft.com/office/drawing/2014/main" id="{ACCFF552-8BB8-1B86-712A-C573764CDC34}"/>
                  </a:ext>
                </a:extLst>
              </p:cNvPr>
              <p:cNvSpPr>
                <a:spLocks noChangeArrowheads="1"/>
              </p:cNvSpPr>
              <p:nvPr/>
            </p:nvSpPr>
            <p:spPr bwMode="auto">
              <a:xfrm>
                <a:off x="3467" y="995"/>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45" name="Rectangle 16">
                <a:extLst>
                  <a:ext uri="{FF2B5EF4-FFF2-40B4-BE49-F238E27FC236}">
                    <a16:creationId xmlns:a16="http://schemas.microsoft.com/office/drawing/2014/main" id="{5E2A532F-B3F7-ADC7-9A2C-46D371D964A7}"/>
                  </a:ext>
                </a:extLst>
              </p:cNvPr>
              <p:cNvSpPr>
                <a:spLocks noChangeArrowheads="1"/>
              </p:cNvSpPr>
              <p:nvPr/>
            </p:nvSpPr>
            <p:spPr bwMode="auto">
              <a:xfrm>
                <a:off x="3528" y="1284"/>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sp>
          <p:nvSpPr>
            <p:cNvPr id="48" name="Line 20">
              <a:extLst>
                <a:ext uri="{FF2B5EF4-FFF2-40B4-BE49-F238E27FC236}">
                  <a16:creationId xmlns:a16="http://schemas.microsoft.com/office/drawing/2014/main" id="{D7923E98-99B8-4228-9E25-0B5C4AC18C40}"/>
                </a:ext>
              </a:extLst>
            </p:cNvPr>
            <p:cNvSpPr>
              <a:spLocks noChangeShapeType="1"/>
            </p:cNvSpPr>
            <p:nvPr/>
          </p:nvSpPr>
          <p:spPr bwMode="auto">
            <a:xfrm>
              <a:off x="9201150" y="2745583"/>
              <a:ext cx="949325" cy="658812"/>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1" name="Rectangle 21">
              <a:extLst>
                <a:ext uri="{FF2B5EF4-FFF2-40B4-BE49-F238E27FC236}">
                  <a16:creationId xmlns:a16="http://schemas.microsoft.com/office/drawing/2014/main" id="{6CA297FD-D5C3-32C1-08A6-B1B8C05CD203}"/>
                </a:ext>
              </a:extLst>
            </p:cNvPr>
            <p:cNvSpPr>
              <a:spLocks noChangeArrowheads="1"/>
            </p:cNvSpPr>
            <p:nvPr/>
          </p:nvSpPr>
          <p:spPr bwMode="auto">
            <a:xfrm>
              <a:off x="9494838" y="2912270"/>
              <a:ext cx="627063" cy="311150"/>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53" name="Line 23">
              <a:extLst>
                <a:ext uri="{FF2B5EF4-FFF2-40B4-BE49-F238E27FC236}">
                  <a16:creationId xmlns:a16="http://schemas.microsoft.com/office/drawing/2014/main" id="{36CEB9BE-B935-68E3-D89E-0D2AB465788B}"/>
                </a:ext>
              </a:extLst>
            </p:cNvPr>
            <p:cNvSpPr>
              <a:spLocks noChangeShapeType="1"/>
            </p:cNvSpPr>
            <p:nvPr/>
          </p:nvSpPr>
          <p:spPr bwMode="auto">
            <a:xfrm>
              <a:off x="8951913" y="2753520"/>
              <a:ext cx="893763" cy="1335088"/>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4" name="Rectangle 24">
              <a:extLst>
                <a:ext uri="{FF2B5EF4-FFF2-40B4-BE49-F238E27FC236}">
                  <a16:creationId xmlns:a16="http://schemas.microsoft.com/office/drawing/2014/main" id="{2F296763-910F-9AB6-6364-1A6D30A352D2}"/>
                </a:ext>
              </a:extLst>
            </p:cNvPr>
            <p:cNvSpPr>
              <a:spLocks noChangeArrowheads="1"/>
            </p:cNvSpPr>
            <p:nvPr/>
          </p:nvSpPr>
          <p:spPr bwMode="auto">
            <a:xfrm>
              <a:off x="9204325" y="3467895"/>
              <a:ext cx="627063" cy="322263"/>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nvGrpSpPr>
            <p:cNvPr id="57" name="Group 27">
              <a:extLst>
                <a:ext uri="{FF2B5EF4-FFF2-40B4-BE49-F238E27FC236}">
                  <a16:creationId xmlns:a16="http://schemas.microsoft.com/office/drawing/2014/main" id="{6FF9BED6-985F-7017-2256-A53C7C70CE8E}"/>
                </a:ext>
              </a:extLst>
            </p:cNvPr>
            <p:cNvGrpSpPr>
              <a:grpSpLocks/>
            </p:cNvGrpSpPr>
            <p:nvPr/>
          </p:nvGrpSpPr>
          <p:grpSpPr bwMode="auto">
            <a:xfrm>
              <a:off x="7291388" y="2228058"/>
              <a:ext cx="1068387" cy="271463"/>
              <a:chOff x="2799" y="1118"/>
              <a:chExt cx="673" cy="171"/>
            </a:xfrm>
          </p:grpSpPr>
          <p:sp>
            <p:nvSpPr>
              <p:cNvPr id="61" name="Line 28">
                <a:extLst>
                  <a:ext uri="{FF2B5EF4-FFF2-40B4-BE49-F238E27FC236}">
                    <a16:creationId xmlns:a16="http://schemas.microsoft.com/office/drawing/2014/main" id="{ED58F1EC-E1DA-7580-BFB8-235853797F17}"/>
                  </a:ext>
                </a:extLst>
              </p:cNvPr>
              <p:cNvSpPr>
                <a:spLocks noChangeShapeType="1"/>
              </p:cNvSpPr>
              <p:nvPr/>
            </p:nvSpPr>
            <p:spPr bwMode="auto">
              <a:xfrm flipH="1">
                <a:off x="2799" y="1199"/>
                <a:ext cx="539" cy="5"/>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2" name="Line 29">
                <a:extLst>
                  <a:ext uri="{FF2B5EF4-FFF2-40B4-BE49-F238E27FC236}">
                    <a16:creationId xmlns:a16="http://schemas.microsoft.com/office/drawing/2014/main" id="{A1D0DB13-A855-D5BF-C6F8-E722877B2200}"/>
                  </a:ext>
                </a:extLst>
              </p:cNvPr>
              <p:cNvSpPr>
                <a:spLocks noChangeShapeType="1"/>
              </p:cNvSpPr>
              <p:nvPr/>
            </p:nvSpPr>
            <p:spPr bwMode="auto">
              <a:xfrm flipV="1">
                <a:off x="3303" y="1265"/>
                <a:ext cx="169" cy="7"/>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3" name="Line 30">
                <a:extLst>
                  <a:ext uri="{FF2B5EF4-FFF2-40B4-BE49-F238E27FC236}">
                    <a16:creationId xmlns:a16="http://schemas.microsoft.com/office/drawing/2014/main" id="{3FCF4A98-7E50-FF4F-FE9C-8714DAFF6CED}"/>
                  </a:ext>
                </a:extLst>
              </p:cNvPr>
              <p:cNvSpPr>
                <a:spLocks noChangeShapeType="1"/>
              </p:cNvSpPr>
              <p:nvPr/>
            </p:nvSpPr>
            <p:spPr bwMode="auto">
              <a:xfrm flipV="1">
                <a:off x="3303" y="1199"/>
                <a:ext cx="35" cy="7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Rectangle 31">
                <a:extLst>
                  <a:ext uri="{FF2B5EF4-FFF2-40B4-BE49-F238E27FC236}">
                    <a16:creationId xmlns:a16="http://schemas.microsoft.com/office/drawing/2014/main" id="{468E694B-C043-7BC8-27B4-8D751DDC0243}"/>
                  </a:ext>
                </a:extLst>
              </p:cNvPr>
              <p:cNvSpPr>
                <a:spLocks noChangeArrowheads="1"/>
              </p:cNvSpPr>
              <p:nvPr/>
            </p:nvSpPr>
            <p:spPr bwMode="auto">
              <a:xfrm>
                <a:off x="2874" y="1118"/>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grpSp>
        <p:nvGrpSpPr>
          <p:cNvPr id="58" name="Group 32">
            <a:extLst>
              <a:ext uri="{FF2B5EF4-FFF2-40B4-BE49-F238E27FC236}">
                <a16:creationId xmlns:a16="http://schemas.microsoft.com/office/drawing/2014/main" id="{19AE4F78-23D9-BBC7-DAA1-344F92612C37}"/>
              </a:ext>
            </a:extLst>
          </p:cNvPr>
          <p:cNvGrpSpPr>
            <a:grpSpLocks/>
          </p:cNvGrpSpPr>
          <p:nvPr/>
        </p:nvGrpSpPr>
        <p:grpSpPr bwMode="auto">
          <a:xfrm>
            <a:off x="6190160" y="2730297"/>
            <a:ext cx="1221232" cy="2861001"/>
            <a:chOff x="3066" y="1918"/>
            <a:chExt cx="1633" cy="1820"/>
          </a:xfrm>
        </p:grpSpPr>
        <p:sp>
          <p:nvSpPr>
            <p:cNvPr id="59" name="Line 33">
              <a:extLst>
                <a:ext uri="{FF2B5EF4-FFF2-40B4-BE49-F238E27FC236}">
                  <a16:creationId xmlns:a16="http://schemas.microsoft.com/office/drawing/2014/main" id="{11D95D42-B635-CB23-9219-D33439F863C7}"/>
                </a:ext>
              </a:extLst>
            </p:cNvPr>
            <p:cNvSpPr>
              <a:spLocks noChangeShapeType="1"/>
            </p:cNvSpPr>
            <p:nvPr/>
          </p:nvSpPr>
          <p:spPr bwMode="auto">
            <a:xfrm flipV="1">
              <a:off x="3157" y="1918"/>
              <a:ext cx="1542" cy="1820"/>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0" name="Line 34">
              <a:extLst>
                <a:ext uri="{FF2B5EF4-FFF2-40B4-BE49-F238E27FC236}">
                  <a16:creationId xmlns:a16="http://schemas.microsoft.com/office/drawing/2014/main" id="{CB97B2F3-205E-14E2-86E2-2D96BA642BAF}"/>
                </a:ext>
              </a:extLst>
            </p:cNvPr>
            <p:cNvSpPr>
              <a:spLocks noChangeShapeType="1"/>
            </p:cNvSpPr>
            <p:nvPr/>
          </p:nvSpPr>
          <p:spPr bwMode="auto">
            <a:xfrm>
              <a:off x="3066" y="3733"/>
              <a:ext cx="91" cy="0"/>
            </a:xfrm>
            <a:prstGeom prst="line">
              <a:avLst/>
            </a:prstGeom>
            <a:noFill/>
            <a:ln w="28575"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50" name="Line 19">
            <a:extLst>
              <a:ext uri="{FF2B5EF4-FFF2-40B4-BE49-F238E27FC236}">
                <a16:creationId xmlns:a16="http://schemas.microsoft.com/office/drawing/2014/main" id="{5D4C200F-78C4-E48A-4011-3A44B98FF786}"/>
              </a:ext>
            </a:extLst>
          </p:cNvPr>
          <p:cNvSpPr>
            <a:spLocks noChangeShapeType="1"/>
          </p:cNvSpPr>
          <p:nvPr/>
        </p:nvSpPr>
        <p:spPr bwMode="auto">
          <a:xfrm flipV="1">
            <a:off x="6258214" y="2707742"/>
            <a:ext cx="4602070" cy="1597399"/>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Tree>
    <p:extLst>
      <p:ext uri="{BB962C8B-B14F-4D97-AF65-F5344CB8AC3E}">
        <p14:creationId xmlns:p14="http://schemas.microsoft.com/office/powerpoint/2010/main" val="324594281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3">
            <a:extLst>
              <a:ext uri="{FF2B5EF4-FFF2-40B4-BE49-F238E27FC236}">
                <a16:creationId xmlns:a16="http://schemas.microsoft.com/office/drawing/2014/main" id="{64FDBA4C-8558-C39D-74CB-AFB74044A2C6}"/>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Case Study Example: Mike’s Metal Enclosures (MME) </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67</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Tree>
    <p:extLst>
      <p:ext uri="{BB962C8B-B14F-4D97-AF65-F5344CB8AC3E}">
        <p14:creationId xmlns:p14="http://schemas.microsoft.com/office/powerpoint/2010/main" val="640249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Exercise: </a:t>
            </a:r>
            <a:r>
              <a:rPr lang="en-US" sz="4000" dirty="0" err="1">
                <a:latin typeface="Roboto Medium"/>
                <a:ea typeface="Roboto Medium"/>
                <a:cs typeface="Roboto Medium"/>
              </a:rPr>
              <a:t>Rusty’s</a:t>
            </a:r>
            <a:r>
              <a:rPr lang="en-US" sz="4000" dirty="0">
                <a:latin typeface="Roboto Medium"/>
                <a:ea typeface="Roboto Medium"/>
                <a:cs typeface="Roboto Medium"/>
              </a:rPr>
              <a:t> Wrench</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68</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Create an accurate Current State Value Stream Map from case study example data.</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Read through the case study data handout for </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err="1">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Rusty’s</a:t>
            </a: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 Wrench. Make notes where needed.</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In small groups, create the Current State Map using chart paper and post-it notes. </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NOTE: KEEP YOUR COMPLETED MAP FOR</a:t>
            </a:r>
            <a:br>
              <a:rPr kumimoji="0" lang="en-US" sz="16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LATER EXERCISE</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40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157992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One person from each group will present map to the class. </a:t>
            </a:r>
          </a:p>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Comments and feedback encouraged. </a:t>
            </a:r>
          </a:p>
        </p:txBody>
      </p:sp>
      <p:grpSp>
        <p:nvGrpSpPr>
          <p:cNvPr id="3" name="Group 2">
            <a:extLst>
              <a:ext uri="{FF2B5EF4-FFF2-40B4-BE49-F238E27FC236}">
                <a16:creationId xmlns:a16="http://schemas.microsoft.com/office/drawing/2014/main" id="{8E2A306C-A63B-5D3A-D075-180556C0811C}"/>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597F3A19-DE76-19B1-30C6-B6AC67978F9C}"/>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F91D1F-4110-E49B-8713-EB7D9CB611D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7DD026B-538A-C77C-5DD6-3A9E927FB40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CA3B1731-A775-A614-FCD6-E7DFC2DE5429}"/>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FB37A13B-CBDA-FECB-D663-568C4A547CF6}"/>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8D652AC8-DAB5-E9A9-AF92-18F72F910615}"/>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1F54795B-24B1-6F48-F98C-6B403F8ED3E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71C14653-1FDC-2BB4-3E50-58E6F38D9E5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82471599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Case Study Example: </a:t>
            </a:r>
            <a:r>
              <a:rPr lang="en-US" dirty="0" err="1"/>
              <a:t>Rusty’s</a:t>
            </a:r>
            <a:r>
              <a:rPr lang="en-US" dirty="0"/>
              <a:t> Wrench </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77500" lnSpcReduction="20000"/>
          </a:bodyPr>
          <a:lstStyle/>
          <a:p>
            <a:r>
              <a:rPr lang="en-US" dirty="0"/>
              <a:t>Background</a:t>
            </a:r>
          </a:p>
          <a:p>
            <a:pPr lvl="1"/>
            <a:r>
              <a:rPr lang="en-US" dirty="0" err="1"/>
              <a:t>Rusty’s</a:t>
            </a:r>
            <a:r>
              <a:rPr lang="en-US" dirty="0"/>
              <a:t> Wrench Factory produces several types of wrenches and is the sole supplier to Giant Tool Supply, the nation’s largest supplier of tools to the industrial community. Rusty produces metric and SAE sizes of open-end wrenches.   </a:t>
            </a:r>
          </a:p>
          <a:p>
            <a:r>
              <a:rPr lang="en-US" dirty="0"/>
              <a:t>Customer Requirements</a:t>
            </a:r>
          </a:p>
          <a:p>
            <a:pPr lvl="1"/>
            <a:r>
              <a:rPr lang="en-US" dirty="0"/>
              <a:t>3,200 sets per month: 2,200 SAE/1,000 metric</a:t>
            </a:r>
          </a:p>
          <a:p>
            <a:pPr lvl="1"/>
            <a:r>
              <a:rPr lang="en-US" dirty="0"/>
              <a:t>Customer operates on one shift</a:t>
            </a:r>
          </a:p>
          <a:p>
            <a:pPr lvl="1"/>
            <a:r>
              <a:rPr lang="en-US" dirty="0"/>
              <a:t>Wrenches are packed in sets of 25</a:t>
            </a:r>
          </a:p>
          <a:p>
            <a:pPr lvl="1"/>
            <a:r>
              <a:rPr lang="en-US" dirty="0"/>
              <a:t>The customer orders by sets</a:t>
            </a:r>
          </a:p>
          <a:p>
            <a:pPr lvl="1"/>
            <a:r>
              <a:rPr lang="en-US" dirty="0" err="1"/>
              <a:t>Rusty’s</a:t>
            </a:r>
            <a:r>
              <a:rPr lang="en-US" dirty="0"/>
              <a:t> Wrench provides a daily shipment by truckload to Giant Tool Supply</a:t>
            </a:r>
          </a:p>
          <a:p>
            <a:r>
              <a:rPr lang="en-US" dirty="0" err="1"/>
              <a:t>Rusty’s</a:t>
            </a:r>
            <a:r>
              <a:rPr lang="en-US" dirty="0"/>
              <a:t> Wrench Work Time</a:t>
            </a:r>
          </a:p>
          <a:p>
            <a:pPr lvl="1"/>
            <a:r>
              <a:rPr lang="en-US" dirty="0"/>
              <a:t>20 days in a month</a:t>
            </a:r>
          </a:p>
          <a:p>
            <a:pPr lvl="1"/>
            <a:r>
              <a:rPr lang="en-US" dirty="0"/>
              <a:t>Two shift operation in all departments</a:t>
            </a:r>
          </a:p>
          <a:p>
            <a:pPr lvl="1"/>
            <a:r>
              <a:rPr lang="en-US" dirty="0"/>
              <a:t>Eight (8) hour shifts</a:t>
            </a:r>
          </a:p>
          <a:p>
            <a:pPr lvl="1"/>
            <a:r>
              <a:rPr lang="en-US" dirty="0"/>
              <a:t>Two 10- minute breaks during each shift, 10- minute cleanup allowed during each shift, unpaid lunch</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69</a:t>
            </a:fld>
            <a:endParaRPr lang="en-US"/>
          </a:p>
        </p:txBody>
      </p:sp>
      <p:grpSp>
        <p:nvGrpSpPr>
          <p:cNvPr id="4" name="Group 3">
            <a:extLst>
              <a:ext uri="{FF2B5EF4-FFF2-40B4-BE49-F238E27FC236}">
                <a16:creationId xmlns:a16="http://schemas.microsoft.com/office/drawing/2014/main" id="{3FCCD593-B300-7832-3A2A-B626285A0D80}"/>
              </a:ext>
            </a:extLst>
          </p:cNvPr>
          <p:cNvGrpSpPr/>
          <p:nvPr/>
        </p:nvGrpSpPr>
        <p:grpSpPr>
          <a:xfrm>
            <a:off x="838200" y="297639"/>
            <a:ext cx="4202430" cy="307138"/>
            <a:chOff x="838200" y="297639"/>
            <a:chExt cx="4202430" cy="307138"/>
          </a:xfrm>
        </p:grpSpPr>
        <p:grpSp>
          <p:nvGrpSpPr>
            <p:cNvPr id="6" name="Group 5">
              <a:extLst>
                <a:ext uri="{FF2B5EF4-FFF2-40B4-BE49-F238E27FC236}">
                  <a16:creationId xmlns:a16="http://schemas.microsoft.com/office/drawing/2014/main" id="{7F2BABE1-293B-44BB-B3FD-6CB2267D2AAF}"/>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6A1F70A-8BC5-DE3B-52FE-2E5B9072EC7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B1ECD146-4627-651F-D888-9BBE437EF74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C5445DE-6E67-1157-8346-5FF92762DE97}"/>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BABB42D8-5555-9CE5-9B4C-A255A7C2684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8725B62-0D09-94B9-5EA4-39E3B2E6C175}"/>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8A517FF-93C7-3D52-449D-EBBE628310A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AB69792-0192-0728-32D7-7D9047A2D591}"/>
                </a:ext>
              </a:extLst>
            </p:cNvPr>
            <p:cNvSpPr txBox="1"/>
            <p:nvPr/>
          </p:nvSpPr>
          <p:spPr>
            <a:xfrm>
              <a:off x="2525717" y="313415"/>
              <a:ext cx="251491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47814519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Case Study Example: </a:t>
            </a:r>
            <a:r>
              <a:rPr lang="en-US" dirty="0" err="1"/>
              <a:t>Rusty’s</a:t>
            </a:r>
            <a:r>
              <a:rPr lang="en-US" dirty="0"/>
              <a:t> Wrench </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85000" lnSpcReduction="20000"/>
          </a:bodyPr>
          <a:lstStyle/>
          <a:p>
            <a:r>
              <a:rPr lang="en-US" dirty="0"/>
              <a:t>Production Processes</a:t>
            </a:r>
          </a:p>
          <a:p>
            <a:pPr lvl="1"/>
            <a:r>
              <a:rPr lang="en-US" dirty="0" err="1"/>
              <a:t>Rusty’s</a:t>
            </a:r>
            <a:r>
              <a:rPr lang="en-US" dirty="0"/>
              <a:t> process begins with hot forging (drop forge) a wrench, followed by machining, polishing, plating, and packing into sets. The sets are then staged and shipped to Giant Tool Supply on a daily basis.</a:t>
            </a:r>
          </a:p>
          <a:p>
            <a:pPr lvl="1"/>
            <a:r>
              <a:rPr lang="en-US" dirty="0"/>
              <a:t>Changing over between SAE and Metric requires 1 hour changeover in Forging, and 20 minutes in Machining</a:t>
            </a:r>
          </a:p>
          <a:p>
            <a:pPr lvl="1"/>
            <a:r>
              <a:rPr lang="en-US" dirty="0"/>
              <a:t>Steel bar stock is supplied by Lean Steel Company, delivering twice a week on Monday and Thursday</a:t>
            </a:r>
          </a:p>
          <a:p>
            <a:r>
              <a:rPr lang="en-US" dirty="0" err="1"/>
              <a:t>Rusty’s</a:t>
            </a:r>
            <a:r>
              <a:rPr lang="en-US" dirty="0"/>
              <a:t> Production Control Department</a:t>
            </a:r>
          </a:p>
          <a:p>
            <a:pPr lvl="1"/>
            <a:r>
              <a:rPr lang="en-US" dirty="0"/>
              <a:t>Receives Giant’s 90/60/30 day forecast and enters into MRP</a:t>
            </a:r>
          </a:p>
          <a:p>
            <a:pPr lvl="1"/>
            <a:r>
              <a:rPr lang="en-US" dirty="0"/>
              <a:t>Issues an 8 week forecast to Lean Steel via MRP</a:t>
            </a:r>
          </a:p>
          <a:p>
            <a:pPr lvl="1"/>
            <a:r>
              <a:rPr lang="en-US" dirty="0"/>
              <a:t>Releases for cut bar stock via weekly faxed orders to Lean Steel</a:t>
            </a:r>
          </a:p>
          <a:p>
            <a:pPr lvl="1"/>
            <a:r>
              <a:rPr lang="en-US" dirty="0"/>
              <a:t>Receives daily firm order from Giant Tool Supply</a:t>
            </a:r>
          </a:p>
          <a:p>
            <a:pPr lvl="1"/>
            <a:r>
              <a:rPr lang="en-US" dirty="0"/>
              <a:t>Generates weekly MRP-based build schedules to all manufacturing departments</a:t>
            </a:r>
          </a:p>
          <a:p>
            <a:pPr lvl="1"/>
            <a:r>
              <a:rPr lang="en-US" dirty="0"/>
              <a:t>Issues daily shipping schedule to Shipping Department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70</a:t>
            </a:fld>
            <a:endParaRPr lang="en-US"/>
          </a:p>
        </p:txBody>
      </p:sp>
      <p:grpSp>
        <p:nvGrpSpPr>
          <p:cNvPr id="4" name="Group 3">
            <a:extLst>
              <a:ext uri="{FF2B5EF4-FFF2-40B4-BE49-F238E27FC236}">
                <a16:creationId xmlns:a16="http://schemas.microsoft.com/office/drawing/2014/main" id="{3FCCD593-B300-7832-3A2A-B626285A0D80}"/>
              </a:ext>
            </a:extLst>
          </p:cNvPr>
          <p:cNvGrpSpPr/>
          <p:nvPr/>
        </p:nvGrpSpPr>
        <p:grpSpPr>
          <a:xfrm>
            <a:off x="838200" y="297639"/>
            <a:ext cx="4202430" cy="307138"/>
            <a:chOff x="838200" y="297639"/>
            <a:chExt cx="4202430" cy="307138"/>
          </a:xfrm>
        </p:grpSpPr>
        <p:grpSp>
          <p:nvGrpSpPr>
            <p:cNvPr id="6" name="Group 5">
              <a:extLst>
                <a:ext uri="{FF2B5EF4-FFF2-40B4-BE49-F238E27FC236}">
                  <a16:creationId xmlns:a16="http://schemas.microsoft.com/office/drawing/2014/main" id="{7F2BABE1-293B-44BB-B3FD-6CB2267D2AAF}"/>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6A1F70A-8BC5-DE3B-52FE-2E5B9072EC7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B1ECD146-4627-651F-D888-9BBE437EF74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C5445DE-6E67-1157-8346-5FF92762DE97}"/>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BABB42D8-5555-9CE5-9B4C-A255A7C2684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8725B62-0D09-94B9-5EA4-39E3B2E6C175}"/>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8A517FF-93C7-3D52-449D-EBBE628310A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AB69792-0192-0728-32D7-7D9047A2D591}"/>
                </a:ext>
              </a:extLst>
            </p:cNvPr>
            <p:cNvSpPr txBox="1"/>
            <p:nvPr/>
          </p:nvSpPr>
          <p:spPr>
            <a:xfrm>
              <a:off x="2525717" y="313415"/>
              <a:ext cx="251491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96941091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err="1"/>
              <a:t>Rusty’s</a:t>
            </a:r>
            <a:r>
              <a:rPr lang="en-US" dirty="0"/>
              <a:t> Wrench Factory – Data Set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71</a:t>
            </a:fld>
            <a:endParaRPr lang="en-US"/>
          </a:p>
        </p:txBody>
      </p:sp>
      <p:grpSp>
        <p:nvGrpSpPr>
          <p:cNvPr id="4" name="Group 3">
            <a:extLst>
              <a:ext uri="{FF2B5EF4-FFF2-40B4-BE49-F238E27FC236}">
                <a16:creationId xmlns:a16="http://schemas.microsoft.com/office/drawing/2014/main" id="{3FCCD593-B300-7832-3A2A-B626285A0D80}"/>
              </a:ext>
            </a:extLst>
          </p:cNvPr>
          <p:cNvGrpSpPr/>
          <p:nvPr/>
        </p:nvGrpSpPr>
        <p:grpSpPr>
          <a:xfrm>
            <a:off x="838200" y="297639"/>
            <a:ext cx="4202430" cy="307138"/>
            <a:chOff x="838200" y="297639"/>
            <a:chExt cx="4202430" cy="307138"/>
          </a:xfrm>
        </p:grpSpPr>
        <p:grpSp>
          <p:nvGrpSpPr>
            <p:cNvPr id="6" name="Group 5">
              <a:extLst>
                <a:ext uri="{FF2B5EF4-FFF2-40B4-BE49-F238E27FC236}">
                  <a16:creationId xmlns:a16="http://schemas.microsoft.com/office/drawing/2014/main" id="{7F2BABE1-293B-44BB-B3FD-6CB2267D2AAF}"/>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6A1F70A-8BC5-DE3B-52FE-2E5B9072EC7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B1ECD146-4627-651F-D888-9BBE437EF74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C5445DE-6E67-1157-8346-5FF92762DE97}"/>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BABB42D8-5555-9CE5-9B4C-A255A7C2684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8725B62-0D09-94B9-5EA4-39E3B2E6C175}"/>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8A517FF-93C7-3D52-449D-EBBE628310A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AB69792-0192-0728-32D7-7D9047A2D591}"/>
                </a:ext>
              </a:extLst>
            </p:cNvPr>
            <p:cNvSpPr txBox="1"/>
            <p:nvPr/>
          </p:nvSpPr>
          <p:spPr>
            <a:xfrm>
              <a:off x="2525717" y="313415"/>
              <a:ext cx="251491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aphicFrame>
        <p:nvGraphicFramePr>
          <p:cNvPr id="16" name="Group 81">
            <a:extLst>
              <a:ext uri="{FF2B5EF4-FFF2-40B4-BE49-F238E27FC236}">
                <a16:creationId xmlns:a16="http://schemas.microsoft.com/office/drawing/2014/main" id="{E3BFAB97-929D-FC91-58D0-C8B7920D78F1}"/>
              </a:ext>
            </a:extLst>
          </p:cNvPr>
          <p:cNvGraphicFramePr>
            <a:graphicFrameLocks noGrp="1"/>
          </p:cNvGraphicFramePr>
          <p:nvPr/>
        </p:nvGraphicFramePr>
        <p:xfrm>
          <a:off x="2431479" y="2027298"/>
          <a:ext cx="7129463" cy="4237026"/>
        </p:xfrm>
        <a:graphic>
          <a:graphicData uri="http://schemas.openxmlformats.org/drawingml/2006/table">
            <a:tbl>
              <a:tblPr/>
              <a:tblGrid>
                <a:gridCol w="1187450">
                  <a:extLst>
                    <a:ext uri="{9D8B030D-6E8A-4147-A177-3AD203B41FA5}">
                      <a16:colId xmlns:a16="http://schemas.microsoft.com/office/drawing/2014/main" val="20000"/>
                    </a:ext>
                  </a:extLst>
                </a:gridCol>
                <a:gridCol w="1189038">
                  <a:extLst>
                    <a:ext uri="{9D8B030D-6E8A-4147-A177-3AD203B41FA5}">
                      <a16:colId xmlns:a16="http://schemas.microsoft.com/office/drawing/2014/main" val="20001"/>
                    </a:ext>
                  </a:extLst>
                </a:gridCol>
                <a:gridCol w="1189037">
                  <a:extLst>
                    <a:ext uri="{9D8B030D-6E8A-4147-A177-3AD203B41FA5}">
                      <a16:colId xmlns:a16="http://schemas.microsoft.com/office/drawing/2014/main" val="20002"/>
                    </a:ext>
                  </a:extLst>
                </a:gridCol>
                <a:gridCol w="1187450">
                  <a:extLst>
                    <a:ext uri="{9D8B030D-6E8A-4147-A177-3AD203B41FA5}">
                      <a16:colId xmlns:a16="http://schemas.microsoft.com/office/drawing/2014/main" val="20003"/>
                    </a:ext>
                  </a:extLst>
                </a:gridCol>
                <a:gridCol w="1189038">
                  <a:extLst>
                    <a:ext uri="{9D8B030D-6E8A-4147-A177-3AD203B41FA5}">
                      <a16:colId xmlns:a16="http://schemas.microsoft.com/office/drawing/2014/main" val="20004"/>
                    </a:ext>
                  </a:extLst>
                </a:gridCol>
                <a:gridCol w="1187450">
                  <a:extLst>
                    <a:ext uri="{9D8B030D-6E8A-4147-A177-3AD203B41FA5}">
                      <a16:colId xmlns:a16="http://schemas.microsoft.com/office/drawing/2014/main" val="20005"/>
                    </a:ext>
                  </a:extLst>
                </a:gridCol>
              </a:tblGrid>
              <a:tr h="102820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Manual Drop Forge Press and Trimming. Process includes trim after forge.</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(6 operators)</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Manual process w/continuously running </a:t>
                      </a:r>
                      <a:r>
                        <a:rPr kumimoji="0" lang="en-US" altLang="en-US" sz="900" b="1" i="0" u="none" strike="noStrike" cap="none" normalizeH="0" baseline="0" dirty="0" err="1">
                          <a:ln>
                            <a:noFill/>
                          </a:ln>
                          <a:solidFill>
                            <a:schemeClr val="tx1"/>
                          </a:solidFill>
                          <a:effectLst/>
                          <a:latin typeface="Roboto" panose="02000000000000000000" pitchFamily="2" charset="0"/>
                          <a:ea typeface="Roboto" panose="02000000000000000000" pitchFamily="2" charset="0"/>
                        </a:rPr>
                        <a:t>machines.Needs</a:t>
                      </a: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to be processed thru 6 machines.</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(6 operators)</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Manual polish operation.  Operator relies on visual inspection of parts.</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(1 operator)</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Parts are manually hung on a rack and processed through the plating process.</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(5 operators)</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Operators manually pack wrenches into sets.  </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(2 operators)</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Removes sets from Pack and stages for daily truck shipment to the customer.</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200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DOI = 12</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ja-JP"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Proc Time = 12</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DOI = 12</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ja-JP"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Proc Time = 12</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DOI = 10</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ja-JP"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Proc Time = 10</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DOI = 16</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ja-JP"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Proc Time = 90</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(Per Set)</a:t>
                      </a: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DOI = 225</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ja-JP"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Proc Time = 450</a:t>
                      </a:r>
                      <a:r>
                        <a:rPr kumimoji="0" lang="ja-JP" altLang="en-US" sz="900" b="1" i="0" u="none" strike="noStrike" cap="none" normalizeH="0" baseline="0">
                          <a:ln>
                            <a:noFill/>
                          </a:ln>
                          <a:solidFill>
                            <a:schemeClr val="tx1"/>
                          </a:solidFill>
                          <a:effectLst/>
                          <a:latin typeface="Roboto" panose="02000000000000000000" pitchFamily="2" charset="0"/>
                          <a:ea typeface="ＭＳ Ｐゴシック" panose="020B0600070205080204" pitchFamily="34" charset="-128"/>
                        </a:rPr>
                        <a:t>”</a:t>
                      </a: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N/A</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0395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I Hour from SAE to Metric</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20 Minutes (entire cell)</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None</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None</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None</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N/A</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0541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100 %</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98%</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99%</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99%</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N/A</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endPar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N/A</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51439">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95%, all rejected parts are scrapped.</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98% first pass, most parts can be reworked.</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94% first pass, most parts can be reworked</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98% first pass, most parts can be reworked</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99.5% first pass</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N/A</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74065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6000 pcs of cut bar stock before forge.  18000 after forge (12k SAE, 6k Metric)</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25000 units:</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18k SAE,</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 7k Metric</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55000 units:</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35k SAE,</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20k Metric</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6000 units</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All SAE</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75000 units</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50k SAE</a:t>
                      </a:r>
                    </a:p>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a:ln>
                            <a:noFill/>
                          </a:ln>
                          <a:solidFill>
                            <a:schemeClr val="tx1"/>
                          </a:solidFill>
                          <a:effectLst/>
                          <a:latin typeface="Roboto" panose="02000000000000000000" pitchFamily="2" charset="0"/>
                          <a:ea typeface="Roboto" panose="02000000000000000000" pitchFamily="2" charset="0"/>
                        </a:rPr>
                        <a:t>25k Metric</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ＭＳ Ｐゴシック"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ＭＳ Ｐゴシック"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ＭＳ Ｐゴシック"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ＭＳ Ｐゴシック"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ＭＳ Ｐゴシック"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20000"/>
                        </a:spcAft>
                        <a:buClr>
                          <a:srgbClr val="006699"/>
                        </a:buClr>
                        <a:buSzPct val="40000"/>
                        <a:buFont typeface="Wingdings" panose="05000000000000000000" pitchFamily="2" charset="2"/>
                        <a:buNone/>
                        <a:tabLst/>
                      </a:pPr>
                      <a:r>
                        <a:rPr kumimoji="0" lang="en-US" altLang="en-US" sz="9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None – just daily ship quantities.</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17" name="Text Box 53">
            <a:extLst>
              <a:ext uri="{FF2B5EF4-FFF2-40B4-BE49-F238E27FC236}">
                <a16:creationId xmlns:a16="http://schemas.microsoft.com/office/drawing/2014/main" id="{8D225CC8-0ACE-BF1F-AC7E-9D5A5C8302C4}"/>
              </a:ext>
            </a:extLst>
          </p:cNvPr>
          <p:cNvSpPr txBox="1">
            <a:spLocks noChangeArrowheads="1"/>
          </p:cNvSpPr>
          <p:nvPr/>
        </p:nvSpPr>
        <p:spPr bwMode="auto">
          <a:xfrm>
            <a:off x="2697011" y="1709798"/>
            <a:ext cx="6495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400" dirty="0">
                <a:solidFill>
                  <a:schemeClr val="tx1"/>
                </a:solidFill>
                <a:latin typeface="Roboto" panose="02000000000000000000" pitchFamily="2" charset="0"/>
                <a:ea typeface="Roboto" panose="02000000000000000000" pitchFamily="2" charset="0"/>
              </a:rPr>
              <a:t>Forge</a:t>
            </a:r>
          </a:p>
        </p:txBody>
      </p:sp>
      <p:sp>
        <p:nvSpPr>
          <p:cNvPr id="18" name="Text Box 54">
            <a:extLst>
              <a:ext uri="{FF2B5EF4-FFF2-40B4-BE49-F238E27FC236}">
                <a16:creationId xmlns:a16="http://schemas.microsoft.com/office/drawing/2014/main" id="{AD7D38E9-1790-28AC-AFCC-D9E54B26B7D5}"/>
              </a:ext>
            </a:extLst>
          </p:cNvPr>
          <p:cNvSpPr txBox="1">
            <a:spLocks noChangeArrowheads="1"/>
          </p:cNvSpPr>
          <p:nvPr/>
        </p:nvSpPr>
        <p:spPr bwMode="auto">
          <a:xfrm>
            <a:off x="3837587" y="1709798"/>
            <a:ext cx="8921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400">
                <a:solidFill>
                  <a:schemeClr val="tx1"/>
                </a:solidFill>
                <a:latin typeface="Roboto" panose="02000000000000000000" pitchFamily="2" charset="0"/>
                <a:ea typeface="Roboto" panose="02000000000000000000" pitchFamily="2" charset="0"/>
              </a:rPr>
              <a:t>Machine</a:t>
            </a:r>
          </a:p>
        </p:txBody>
      </p:sp>
      <p:sp>
        <p:nvSpPr>
          <p:cNvPr id="19" name="Text Box 55">
            <a:extLst>
              <a:ext uri="{FF2B5EF4-FFF2-40B4-BE49-F238E27FC236}">
                <a16:creationId xmlns:a16="http://schemas.microsoft.com/office/drawing/2014/main" id="{6B8DCAC0-5666-2781-9380-2157F47B4850}"/>
              </a:ext>
            </a:extLst>
          </p:cNvPr>
          <p:cNvSpPr txBox="1">
            <a:spLocks noChangeArrowheads="1"/>
          </p:cNvSpPr>
          <p:nvPr/>
        </p:nvSpPr>
        <p:spPr bwMode="auto">
          <a:xfrm>
            <a:off x="5220801" y="1709798"/>
            <a:ext cx="7159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400">
                <a:solidFill>
                  <a:schemeClr val="tx1"/>
                </a:solidFill>
                <a:latin typeface="Roboto" panose="02000000000000000000" pitchFamily="2" charset="0"/>
                <a:ea typeface="Roboto" panose="02000000000000000000" pitchFamily="2" charset="0"/>
              </a:rPr>
              <a:t>Polish</a:t>
            </a:r>
          </a:p>
        </p:txBody>
      </p:sp>
      <p:sp>
        <p:nvSpPr>
          <p:cNvPr id="20" name="Text Box 56">
            <a:extLst>
              <a:ext uri="{FF2B5EF4-FFF2-40B4-BE49-F238E27FC236}">
                <a16:creationId xmlns:a16="http://schemas.microsoft.com/office/drawing/2014/main" id="{A2B59F5D-BC19-B5A8-D41B-B56E65E935C6}"/>
              </a:ext>
            </a:extLst>
          </p:cNvPr>
          <p:cNvSpPr txBox="1">
            <a:spLocks noChangeArrowheads="1"/>
          </p:cNvSpPr>
          <p:nvPr/>
        </p:nvSpPr>
        <p:spPr bwMode="auto">
          <a:xfrm>
            <a:off x="6427803" y="1724086"/>
            <a:ext cx="6080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400">
                <a:solidFill>
                  <a:schemeClr val="tx1"/>
                </a:solidFill>
                <a:latin typeface="Roboto" panose="02000000000000000000" pitchFamily="2" charset="0"/>
                <a:ea typeface="Roboto" panose="02000000000000000000" pitchFamily="2" charset="0"/>
              </a:rPr>
              <a:t>Plate</a:t>
            </a:r>
          </a:p>
        </p:txBody>
      </p:sp>
      <p:sp>
        <p:nvSpPr>
          <p:cNvPr id="21" name="Text Box 57">
            <a:extLst>
              <a:ext uri="{FF2B5EF4-FFF2-40B4-BE49-F238E27FC236}">
                <a16:creationId xmlns:a16="http://schemas.microsoft.com/office/drawing/2014/main" id="{9B262CA8-4052-FA43-929E-5CDA4249BF0E}"/>
              </a:ext>
            </a:extLst>
          </p:cNvPr>
          <p:cNvSpPr txBox="1">
            <a:spLocks noChangeArrowheads="1"/>
          </p:cNvSpPr>
          <p:nvPr/>
        </p:nvSpPr>
        <p:spPr bwMode="auto">
          <a:xfrm>
            <a:off x="7526855" y="1716148"/>
            <a:ext cx="5984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400">
                <a:solidFill>
                  <a:schemeClr val="tx1"/>
                </a:solidFill>
                <a:latin typeface="Roboto" panose="02000000000000000000" pitchFamily="2" charset="0"/>
                <a:ea typeface="Roboto" panose="02000000000000000000" pitchFamily="2" charset="0"/>
              </a:rPr>
              <a:t>Pack</a:t>
            </a:r>
          </a:p>
        </p:txBody>
      </p:sp>
      <p:sp>
        <p:nvSpPr>
          <p:cNvPr id="22" name="Text Box 58">
            <a:extLst>
              <a:ext uri="{FF2B5EF4-FFF2-40B4-BE49-F238E27FC236}">
                <a16:creationId xmlns:a16="http://schemas.microsoft.com/office/drawing/2014/main" id="{28369F1B-BBEB-981C-2812-24C0C4032C6A}"/>
              </a:ext>
            </a:extLst>
          </p:cNvPr>
          <p:cNvSpPr txBox="1">
            <a:spLocks noChangeArrowheads="1"/>
          </p:cNvSpPr>
          <p:nvPr/>
        </p:nvSpPr>
        <p:spPr bwMode="auto">
          <a:xfrm>
            <a:off x="8616379" y="1724086"/>
            <a:ext cx="545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400" dirty="0">
                <a:solidFill>
                  <a:schemeClr val="tx1"/>
                </a:solidFill>
                <a:latin typeface="Roboto" panose="02000000000000000000" pitchFamily="2" charset="0"/>
                <a:ea typeface="Roboto" panose="02000000000000000000" pitchFamily="2" charset="0"/>
              </a:rPr>
              <a:t>Ship</a:t>
            </a:r>
          </a:p>
        </p:txBody>
      </p:sp>
      <p:sp>
        <p:nvSpPr>
          <p:cNvPr id="23" name="Text Box 59">
            <a:extLst>
              <a:ext uri="{FF2B5EF4-FFF2-40B4-BE49-F238E27FC236}">
                <a16:creationId xmlns:a16="http://schemas.microsoft.com/office/drawing/2014/main" id="{DA03CF9D-5B05-C647-6C01-6D0D5E31C0C8}"/>
              </a:ext>
            </a:extLst>
          </p:cNvPr>
          <p:cNvSpPr txBox="1">
            <a:spLocks noChangeArrowheads="1"/>
          </p:cNvSpPr>
          <p:nvPr/>
        </p:nvSpPr>
        <p:spPr bwMode="auto">
          <a:xfrm>
            <a:off x="1272604" y="2206686"/>
            <a:ext cx="9733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200">
                <a:solidFill>
                  <a:schemeClr val="tx1"/>
                </a:solidFill>
                <a:latin typeface="Roboto" panose="02000000000000000000" pitchFamily="2" charset="0"/>
                <a:ea typeface="Roboto" panose="02000000000000000000" pitchFamily="2" charset="0"/>
              </a:rPr>
              <a:t>Operation</a:t>
            </a:r>
          </a:p>
          <a:p>
            <a:pPr algn="l" eaLnBrk="1" hangingPunct="1">
              <a:lnSpc>
                <a:spcPct val="100000"/>
              </a:lnSpc>
              <a:spcBef>
                <a:spcPct val="0"/>
              </a:spcBef>
            </a:pPr>
            <a:r>
              <a:rPr lang="en-US" altLang="en-US" sz="1200">
                <a:solidFill>
                  <a:schemeClr val="tx1"/>
                </a:solidFill>
                <a:latin typeface="Roboto" panose="02000000000000000000" pitchFamily="2" charset="0"/>
                <a:ea typeface="Roboto" panose="02000000000000000000" pitchFamily="2" charset="0"/>
              </a:rPr>
              <a:t>Description</a:t>
            </a:r>
          </a:p>
        </p:txBody>
      </p:sp>
      <p:sp>
        <p:nvSpPr>
          <p:cNvPr id="24" name="Text Box 60">
            <a:extLst>
              <a:ext uri="{FF2B5EF4-FFF2-40B4-BE49-F238E27FC236}">
                <a16:creationId xmlns:a16="http://schemas.microsoft.com/office/drawing/2014/main" id="{70D8682F-545D-524F-F644-FCA9E66938A4}"/>
              </a:ext>
            </a:extLst>
          </p:cNvPr>
          <p:cNvSpPr txBox="1">
            <a:spLocks noChangeArrowheads="1"/>
          </p:cNvSpPr>
          <p:nvPr/>
        </p:nvSpPr>
        <p:spPr bwMode="auto">
          <a:xfrm>
            <a:off x="1029075" y="3184349"/>
            <a:ext cx="14603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DOI Observed &amp;</a:t>
            </a:r>
          </a:p>
          <a:p>
            <a:pPr algn="l" eaLnBrk="1" hangingPunct="1">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Processing Time</a:t>
            </a:r>
          </a:p>
        </p:txBody>
      </p:sp>
      <p:sp>
        <p:nvSpPr>
          <p:cNvPr id="25" name="Text Box 61">
            <a:extLst>
              <a:ext uri="{FF2B5EF4-FFF2-40B4-BE49-F238E27FC236}">
                <a16:creationId xmlns:a16="http://schemas.microsoft.com/office/drawing/2014/main" id="{2B74C3FD-9E56-45FD-E746-232679387ABC}"/>
              </a:ext>
            </a:extLst>
          </p:cNvPr>
          <p:cNvSpPr txBox="1">
            <a:spLocks noChangeArrowheads="1"/>
          </p:cNvSpPr>
          <p:nvPr/>
        </p:nvSpPr>
        <p:spPr bwMode="auto">
          <a:xfrm>
            <a:off x="1250961" y="3866908"/>
            <a:ext cx="10166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Changeover</a:t>
            </a:r>
          </a:p>
        </p:txBody>
      </p:sp>
      <p:sp>
        <p:nvSpPr>
          <p:cNvPr id="26" name="Text Box 62">
            <a:extLst>
              <a:ext uri="{FF2B5EF4-FFF2-40B4-BE49-F238E27FC236}">
                <a16:creationId xmlns:a16="http://schemas.microsoft.com/office/drawing/2014/main" id="{8948E103-EC45-E66A-824B-92AF2927B4CE}"/>
              </a:ext>
            </a:extLst>
          </p:cNvPr>
          <p:cNvSpPr txBox="1">
            <a:spLocks noChangeArrowheads="1"/>
          </p:cNvSpPr>
          <p:nvPr/>
        </p:nvSpPr>
        <p:spPr bwMode="auto">
          <a:xfrm>
            <a:off x="1327904" y="4375378"/>
            <a:ext cx="862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Machine</a:t>
            </a:r>
          </a:p>
          <a:p>
            <a:pPr algn="l" eaLnBrk="1" hangingPunct="1">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Reliability</a:t>
            </a:r>
          </a:p>
        </p:txBody>
      </p:sp>
      <p:sp>
        <p:nvSpPr>
          <p:cNvPr id="27" name="Text Box 63">
            <a:extLst>
              <a:ext uri="{FF2B5EF4-FFF2-40B4-BE49-F238E27FC236}">
                <a16:creationId xmlns:a16="http://schemas.microsoft.com/office/drawing/2014/main" id="{5C8A817A-2E15-6B3F-E1B9-3FBBD454A96E}"/>
              </a:ext>
            </a:extLst>
          </p:cNvPr>
          <p:cNvSpPr txBox="1">
            <a:spLocks noChangeArrowheads="1"/>
          </p:cNvSpPr>
          <p:nvPr/>
        </p:nvSpPr>
        <p:spPr bwMode="auto">
          <a:xfrm>
            <a:off x="1348373" y="5206608"/>
            <a:ext cx="667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200" dirty="0">
                <a:solidFill>
                  <a:schemeClr val="tx1"/>
                </a:solidFill>
                <a:latin typeface="Roboto" panose="02000000000000000000" pitchFamily="2" charset="0"/>
                <a:ea typeface="Roboto" panose="02000000000000000000" pitchFamily="2" charset="0"/>
              </a:rPr>
              <a:t>Quality</a:t>
            </a:r>
          </a:p>
        </p:txBody>
      </p:sp>
      <p:sp>
        <p:nvSpPr>
          <p:cNvPr id="28" name="Text Box 64">
            <a:extLst>
              <a:ext uri="{FF2B5EF4-FFF2-40B4-BE49-F238E27FC236}">
                <a16:creationId xmlns:a16="http://schemas.microsoft.com/office/drawing/2014/main" id="{33B73AC0-C787-DD21-2A1E-F0FA197E7E16}"/>
              </a:ext>
            </a:extLst>
          </p:cNvPr>
          <p:cNvSpPr txBox="1">
            <a:spLocks noChangeArrowheads="1"/>
          </p:cNvSpPr>
          <p:nvPr/>
        </p:nvSpPr>
        <p:spPr bwMode="auto">
          <a:xfrm>
            <a:off x="1341529" y="5714672"/>
            <a:ext cx="83548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ＭＳ Ｐゴシック"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ＭＳ Ｐゴシック" panose="020B0600070205080204" pitchFamily="34" charset="-128"/>
              </a:defRPr>
            </a:lvl9pPr>
          </a:lstStyle>
          <a:p>
            <a:pPr algn="l" eaLnBrk="1" hangingPunct="1">
              <a:lnSpc>
                <a:spcPct val="100000"/>
              </a:lnSpc>
              <a:spcBef>
                <a:spcPct val="0"/>
              </a:spcBef>
            </a:pPr>
            <a:r>
              <a:rPr lang="en-US" altLang="en-US" sz="1200">
                <a:solidFill>
                  <a:schemeClr val="tx1"/>
                </a:solidFill>
                <a:latin typeface="Roboto" panose="02000000000000000000" pitchFamily="2" charset="0"/>
                <a:ea typeface="Roboto" panose="02000000000000000000" pitchFamily="2" charset="0"/>
              </a:rPr>
              <a:t>Inventory</a:t>
            </a:r>
          </a:p>
        </p:txBody>
      </p:sp>
    </p:spTree>
    <p:extLst>
      <p:ext uri="{BB962C8B-B14F-4D97-AF65-F5344CB8AC3E}">
        <p14:creationId xmlns:p14="http://schemas.microsoft.com/office/powerpoint/2010/main" val="71979231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Review Exercise</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pPr marL="0" indent="0">
              <a:buNone/>
            </a:pPr>
            <a:r>
              <a:rPr lang="en-US" b="1" dirty="0"/>
              <a:t>2 Minute Review</a:t>
            </a:r>
          </a:p>
          <a:p>
            <a:r>
              <a:rPr lang="en-US" dirty="0"/>
              <a:t>In pairs, or in small groups, spend 2 minutes discussing key learnings and take-aways from this Value Stream Mapping Event thus far</a:t>
            </a:r>
          </a:p>
          <a:p>
            <a:r>
              <a:rPr lang="en-US" dirty="0"/>
              <a:t>One person from each group will share one learning that was discussed with the rest of the class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72</a:t>
            </a:fld>
            <a:endParaRPr lang="en-US"/>
          </a:p>
        </p:txBody>
      </p:sp>
      <p:grpSp>
        <p:nvGrpSpPr>
          <p:cNvPr id="4" name="Group 3">
            <a:extLst>
              <a:ext uri="{FF2B5EF4-FFF2-40B4-BE49-F238E27FC236}">
                <a16:creationId xmlns:a16="http://schemas.microsoft.com/office/drawing/2014/main" id="{3FCCD593-B300-7832-3A2A-B626285A0D80}"/>
              </a:ext>
            </a:extLst>
          </p:cNvPr>
          <p:cNvGrpSpPr/>
          <p:nvPr/>
        </p:nvGrpSpPr>
        <p:grpSpPr>
          <a:xfrm>
            <a:off x="838200" y="297639"/>
            <a:ext cx="4202430" cy="307138"/>
            <a:chOff x="838200" y="297639"/>
            <a:chExt cx="4202430" cy="307138"/>
          </a:xfrm>
        </p:grpSpPr>
        <p:grpSp>
          <p:nvGrpSpPr>
            <p:cNvPr id="6" name="Group 5">
              <a:extLst>
                <a:ext uri="{FF2B5EF4-FFF2-40B4-BE49-F238E27FC236}">
                  <a16:creationId xmlns:a16="http://schemas.microsoft.com/office/drawing/2014/main" id="{7F2BABE1-293B-44BB-B3FD-6CB2267D2AAF}"/>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6A1F70A-8BC5-DE3B-52FE-2E5B9072EC7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B1ECD146-4627-651F-D888-9BBE437EF74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C5445DE-6E67-1157-8346-5FF92762DE97}"/>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BABB42D8-5555-9CE5-9B4C-A255A7C2684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8725B62-0D09-94B9-5EA4-39E3B2E6C175}"/>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8A517FF-93C7-3D52-449D-EBBE628310A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AB69792-0192-0728-32D7-7D9047A2D591}"/>
                </a:ext>
              </a:extLst>
            </p:cNvPr>
            <p:cNvSpPr txBox="1"/>
            <p:nvPr/>
          </p:nvSpPr>
          <p:spPr>
            <a:xfrm>
              <a:off x="2525717" y="313415"/>
              <a:ext cx="251491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77648971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Your Turn….</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dirty="0"/>
              <a:t>The following pages review the process for your team to start creating the current state map for your business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73</a:t>
            </a:fld>
            <a:endParaRPr lang="en-US"/>
          </a:p>
        </p:txBody>
      </p:sp>
      <p:grpSp>
        <p:nvGrpSpPr>
          <p:cNvPr id="4" name="Group 3">
            <a:extLst>
              <a:ext uri="{FF2B5EF4-FFF2-40B4-BE49-F238E27FC236}">
                <a16:creationId xmlns:a16="http://schemas.microsoft.com/office/drawing/2014/main" id="{3FCCD593-B300-7832-3A2A-B626285A0D80}"/>
              </a:ext>
            </a:extLst>
          </p:cNvPr>
          <p:cNvGrpSpPr/>
          <p:nvPr/>
        </p:nvGrpSpPr>
        <p:grpSpPr>
          <a:xfrm>
            <a:off x="838200" y="297639"/>
            <a:ext cx="4202430" cy="307138"/>
            <a:chOff x="838200" y="297639"/>
            <a:chExt cx="4202430" cy="307138"/>
          </a:xfrm>
        </p:grpSpPr>
        <p:grpSp>
          <p:nvGrpSpPr>
            <p:cNvPr id="6" name="Group 5">
              <a:extLst>
                <a:ext uri="{FF2B5EF4-FFF2-40B4-BE49-F238E27FC236}">
                  <a16:creationId xmlns:a16="http://schemas.microsoft.com/office/drawing/2014/main" id="{7F2BABE1-293B-44BB-B3FD-6CB2267D2AAF}"/>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6A1F70A-8BC5-DE3B-52FE-2E5B9072EC7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B1ECD146-4627-651F-D888-9BBE437EF74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C5445DE-6E67-1157-8346-5FF92762DE97}"/>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BABB42D8-5555-9CE5-9B4C-A255A7C2684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8725B62-0D09-94B9-5EA4-39E3B2E6C175}"/>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8A517FF-93C7-3D52-449D-EBBE628310A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AB69792-0192-0728-32D7-7D9047A2D591}"/>
                </a:ext>
              </a:extLst>
            </p:cNvPr>
            <p:cNvSpPr txBox="1"/>
            <p:nvPr/>
          </p:nvSpPr>
          <p:spPr>
            <a:xfrm>
              <a:off x="2525717" y="313415"/>
              <a:ext cx="251491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20466026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rmAutofit fontScale="90000"/>
          </a:bodyPr>
          <a:lstStyle/>
          <a:p>
            <a:r>
              <a:rPr lang="en-US" dirty="0"/>
              <a:t>Supplies for the Current State Process Walk</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dirty="0"/>
              <a:t>All team members will require: </a:t>
            </a:r>
          </a:p>
          <a:p>
            <a:pPr lvl="1"/>
            <a:r>
              <a:rPr lang="en-US" dirty="0"/>
              <a:t>Personal Protective Equipment (PPE) required by facility</a:t>
            </a:r>
          </a:p>
          <a:p>
            <a:pPr lvl="2"/>
            <a:r>
              <a:rPr lang="en-US" dirty="0" err="1"/>
              <a:t>Ie</a:t>
            </a:r>
            <a:r>
              <a:rPr lang="en-US" dirty="0"/>
              <a:t>: safety glasses, earplugs, steel-toed shoes, etc. </a:t>
            </a:r>
          </a:p>
          <a:p>
            <a:pPr lvl="1"/>
            <a:r>
              <a:rPr lang="en-US" dirty="0"/>
              <a:t>11x17” paper </a:t>
            </a:r>
          </a:p>
          <a:p>
            <a:pPr lvl="1"/>
            <a:r>
              <a:rPr lang="en-US" dirty="0"/>
              <a:t>clipboard </a:t>
            </a:r>
          </a:p>
          <a:p>
            <a:pPr lvl="1"/>
            <a:r>
              <a:rPr lang="en-US" dirty="0"/>
              <a:t>icon sheet  </a:t>
            </a:r>
          </a:p>
          <a:p>
            <a:pPr lvl="1"/>
            <a:r>
              <a:rPr lang="en-US" dirty="0"/>
              <a:t>completed Current State Map example drawn in class </a:t>
            </a:r>
          </a:p>
          <a:p>
            <a:pPr lvl="1"/>
            <a:r>
              <a:rPr lang="en-US" dirty="0"/>
              <a:t>pencil</a:t>
            </a:r>
          </a:p>
          <a:p>
            <a:pPr lvl="1"/>
            <a:r>
              <a:rPr lang="en-US" dirty="0"/>
              <a:t>two stopwatches needed for team</a:t>
            </a:r>
          </a:p>
          <a:p>
            <a:endParaRPr lang="en-US" dirty="0"/>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74</a:t>
            </a:fld>
            <a:endParaRPr lang="en-US"/>
          </a:p>
        </p:txBody>
      </p:sp>
      <p:grpSp>
        <p:nvGrpSpPr>
          <p:cNvPr id="4" name="Group 3">
            <a:extLst>
              <a:ext uri="{FF2B5EF4-FFF2-40B4-BE49-F238E27FC236}">
                <a16:creationId xmlns:a16="http://schemas.microsoft.com/office/drawing/2014/main" id="{3FCCD593-B300-7832-3A2A-B626285A0D80}"/>
              </a:ext>
            </a:extLst>
          </p:cNvPr>
          <p:cNvGrpSpPr/>
          <p:nvPr/>
        </p:nvGrpSpPr>
        <p:grpSpPr>
          <a:xfrm>
            <a:off x="838200" y="297639"/>
            <a:ext cx="4202430" cy="307138"/>
            <a:chOff x="838200" y="297639"/>
            <a:chExt cx="4202430" cy="307138"/>
          </a:xfrm>
        </p:grpSpPr>
        <p:grpSp>
          <p:nvGrpSpPr>
            <p:cNvPr id="6" name="Group 5">
              <a:extLst>
                <a:ext uri="{FF2B5EF4-FFF2-40B4-BE49-F238E27FC236}">
                  <a16:creationId xmlns:a16="http://schemas.microsoft.com/office/drawing/2014/main" id="{7F2BABE1-293B-44BB-B3FD-6CB2267D2AAF}"/>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6A1F70A-8BC5-DE3B-52FE-2E5B9072EC7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B1ECD146-4627-651F-D888-9BBE437EF74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C5445DE-6E67-1157-8346-5FF92762DE97}"/>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BABB42D8-5555-9CE5-9B4C-A255A7C2684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8725B62-0D09-94B9-5EA4-39E3B2E6C175}"/>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8A517FF-93C7-3D52-449D-EBBE628310A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AB69792-0192-0728-32D7-7D9047A2D591}"/>
                </a:ext>
              </a:extLst>
            </p:cNvPr>
            <p:cNvSpPr txBox="1"/>
            <p:nvPr/>
          </p:nvSpPr>
          <p:spPr>
            <a:xfrm>
              <a:off x="2525717" y="313415"/>
              <a:ext cx="251491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84766050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Method to Create the Current State Map: Team Walk #1</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75</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4" name="Group 23">
            <a:extLst>
              <a:ext uri="{FF2B5EF4-FFF2-40B4-BE49-F238E27FC236}">
                <a16:creationId xmlns:a16="http://schemas.microsoft.com/office/drawing/2014/main" id="{4A643D09-B72F-5A90-3011-EC5CCA9070B6}"/>
              </a:ext>
            </a:extLst>
          </p:cNvPr>
          <p:cNvGrpSpPr/>
          <p:nvPr/>
        </p:nvGrpSpPr>
        <p:grpSpPr>
          <a:xfrm>
            <a:off x="492125" y="1757666"/>
            <a:ext cx="9977755" cy="4041458"/>
            <a:chOff x="492125" y="1372197"/>
            <a:chExt cx="8455025" cy="4426941"/>
          </a:xfrm>
        </p:grpSpPr>
        <p:sp>
          <p:nvSpPr>
            <p:cNvPr id="13" name="Rectangle 32">
              <a:extLst>
                <a:ext uri="{FF2B5EF4-FFF2-40B4-BE49-F238E27FC236}">
                  <a16:creationId xmlns:a16="http://schemas.microsoft.com/office/drawing/2014/main" id="{1E055644-3FAA-1D3B-179E-84628769A46C}"/>
                </a:ext>
              </a:extLst>
            </p:cNvPr>
            <p:cNvSpPr>
              <a:spLocks noChangeArrowheads="1"/>
            </p:cNvSpPr>
            <p:nvPr/>
          </p:nvSpPr>
          <p:spPr bwMode="auto">
            <a:xfrm>
              <a:off x="492125" y="16176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#1:</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4" name="Rectangle 33">
              <a:extLst>
                <a:ext uri="{FF2B5EF4-FFF2-40B4-BE49-F238E27FC236}">
                  <a16:creationId xmlns:a16="http://schemas.microsoft.com/office/drawing/2014/main" id="{E3A8CA09-A2CF-F13B-FC01-E68E39A541B4}"/>
                </a:ext>
              </a:extLst>
            </p:cNvPr>
            <p:cNvSpPr>
              <a:spLocks noChangeArrowheads="1"/>
            </p:cNvSpPr>
            <p:nvPr/>
          </p:nvSpPr>
          <p:spPr bwMode="auto">
            <a:xfrm>
              <a:off x="492125" y="33512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#2:</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Data Gathering</a:t>
              </a:r>
            </a:p>
          </p:txBody>
        </p:sp>
        <p:sp>
          <p:nvSpPr>
            <p:cNvPr id="15" name="Rectangle 34">
              <a:extLst>
                <a:ext uri="{FF2B5EF4-FFF2-40B4-BE49-F238E27FC236}">
                  <a16:creationId xmlns:a16="http://schemas.microsoft.com/office/drawing/2014/main" id="{32193B1D-98B7-641C-9C71-ED4329A58B58}"/>
                </a:ext>
              </a:extLst>
            </p:cNvPr>
            <p:cNvSpPr>
              <a:spLocks noChangeArrowheads="1"/>
            </p:cNvSpPr>
            <p:nvPr/>
          </p:nvSpPr>
          <p:spPr bwMode="auto">
            <a:xfrm>
              <a:off x="492125" y="49609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Map Creation</a:t>
              </a:r>
            </a:p>
          </p:txBody>
        </p:sp>
        <p:cxnSp>
          <p:nvCxnSpPr>
            <p:cNvPr id="16" name="AutoShape 35">
              <a:extLst>
                <a:ext uri="{FF2B5EF4-FFF2-40B4-BE49-F238E27FC236}">
                  <a16:creationId xmlns:a16="http://schemas.microsoft.com/office/drawing/2014/main" id="{5E090796-6773-D372-A839-84AD84CDBB79}"/>
                </a:ext>
              </a:extLst>
            </p:cNvPr>
            <p:cNvCxnSpPr>
              <a:cxnSpLocks noChangeShapeType="1"/>
              <a:stCxn id="13" idx="2"/>
              <a:endCxn id="14" idx="0"/>
            </p:cNvCxnSpPr>
            <p:nvPr/>
          </p:nvCxnSpPr>
          <p:spPr bwMode="auto">
            <a:xfrm>
              <a:off x="1951038" y="24558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7" name="AutoShape 36">
              <a:extLst>
                <a:ext uri="{FF2B5EF4-FFF2-40B4-BE49-F238E27FC236}">
                  <a16:creationId xmlns:a16="http://schemas.microsoft.com/office/drawing/2014/main" id="{F4080B85-42B9-54EA-C4C0-AB13C4B58EE6}"/>
                </a:ext>
              </a:extLst>
            </p:cNvPr>
            <p:cNvCxnSpPr>
              <a:cxnSpLocks noChangeShapeType="1"/>
              <a:stCxn id="14" idx="2"/>
              <a:endCxn id="15" idx="0"/>
            </p:cNvCxnSpPr>
            <p:nvPr/>
          </p:nvCxnSpPr>
          <p:spPr bwMode="auto">
            <a:xfrm>
              <a:off x="1951038" y="41925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8" name="AutoShape 37">
              <a:extLst>
                <a:ext uri="{FF2B5EF4-FFF2-40B4-BE49-F238E27FC236}">
                  <a16:creationId xmlns:a16="http://schemas.microsoft.com/office/drawing/2014/main" id="{C10027CB-4E62-4350-7923-FD5490DC6BF1}"/>
                </a:ext>
              </a:extLst>
            </p:cNvPr>
            <p:cNvSpPr>
              <a:spLocks noChangeArrowheads="1"/>
            </p:cNvSpPr>
            <p:nvPr/>
          </p:nvSpPr>
          <p:spPr bwMode="auto">
            <a:xfrm>
              <a:off x="3573463" y="1863725"/>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AutoShape 38">
              <a:extLst>
                <a:ext uri="{FF2B5EF4-FFF2-40B4-BE49-F238E27FC236}">
                  <a16:creationId xmlns:a16="http://schemas.microsoft.com/office/drawing/2014/main" id="{05789914-D54D-7E4A-18E9-56AF83109CCD}"/>
                </a:ext>
              </a:extLst>
            </p:cNvPr>
            <p:cNvSpPr>
              <a:spLocks noChangeArrowheads="1"/>
            </p:cNvSpPr>
            <p:nvPr/>
          </p:nvSpPr>
          <p:spPr bwMode="auto">
            <a:xfrm>
              <a:off x="3573463" y="3484563"/>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AutoShape 39">
              <a:extLst>
                <a:ext uri="{FF2B5EF4-FFF2-40B4-BE49-F238E27FC236}">
                  <a16:creationId xmlns:a16="http://schemas.microsoft.com/office/drawing/2014/main" id="{A0EF2711-2464-185C-3300-35E66F926A8A}"/>
                </a:ext>
              </a:extLst>
            </p:cNvPr>
            <p:cNvSpPr>
              <a:spLocks noChangeArrowheads="1"/>
            </p:cNvSpPr>
            <p:nvPr/>
          </p:nvSpPr>
          <p:spPr bwMode="auto">
            <a:xfrm>
              <a:off x="3573463" y="5022850"/>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Line 40">
              <a:extLst>
                <a:ext uri="{FF2B5EF4-FFF2-40B4-BE49-F238E27FC236}">
                  <a16:creationId xmlns:a16="http://schemas.microsoft.com/office/drawing/2014/main" id="{3D1443E5-24B6-5E2E-9F44-6062935D3A16}"/>
                </a:ext>
              </a:extLst>
            </p:cNvPr>
            <p:cNvSpPr>
              <a:spLocks noChangeShapeType="1"/>
            </p:cNvSpPr>
            <p:nvPr/>
          </p:nvSpPr>
          <p:spPr bwMode="auto">
            <a:xfrm>
              <a:off x="4090988" y="1721451"/>
              <a:ext cx="4616450" cy="0"/>
            </a:xfrm>
            <a:prstGeom prst="line">
              <a:avLst/>
            </a:prstGeom>
            <a:noFill/>
            <a:ln w="28575">
              <a:solidFill>
                <a:srgbClr val="000054"/>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2" name="Text Box 41">
              <a:extLst>
                <a:ext uri="{FF2B5EF4-FFF2-40B4-BE49-F238E27FC236}">
                  <a16:creationId xmlns:a16="http://schemas.microsoft.com/office/drawing/2014/main" id="{6C33F7CC-3F2B-1EF8-EE1A-EE46548F5A18}"/>
                </a:ext>
              </a:extLst>
            </p:cNvPr>
            <p:cNvSpPr txBox="1">
              <a:spLocks noChangeArrowheads="1"/>
            </p:cNvSpPr>
            <p:nvPr/>
          </p:nvSpPr>
          <p:spPr bwMode="auto">
            <a:xfrm>
              <a:off x="3987800" y="1372197"/>
              <a:ext cx="3536950" cy="404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3" name="AutoShape 42">
              <a:extLst>
                <a:ext uri="{FF2B5EF4-FFF2-40B4-BE49-F238E27FC236}">
                  <a16:creationId xmlns:a16="http://schemas.microsoft.com/office/drawing/2014/main" id="{65E65E52-9A03-B2AB-0AFA-701801E00C3B}"/>
                </a:ext>
              </a:extLst>
            </p:cNvPr>
            <p:cNvSpPr>
              <a:spLocks noChangeArrowheads="1"/>
            </p:cNvSpPr>
            <p:nvPr/>
          </p:nvSpPr>
          <p:spPr bwMode="auto">
            <a:xfrm>
              <a:off x="3946525" y="172938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Draw map of process using pencil and paper</a:t>
              </a:r>
            </a:p>
          </p:txBody>
        </p:sp>
      </p:grpSp>
    </p:spTree>
    <p:extLst>
      <p:ext uri="{BB962C8B-B14F-4D97-AF65-F5344CB8AC3E}">
        <p14:creationId xmlns:p14="http://schemas.microsoft.com/office/powerpoint/2010/main" val="420053531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fontScale="90000"/>
          </a:bodyPr>
          <a:lstStyle/>
          <a:p>
            <a:r>
              <a:rPr lang="en-US" sz="4000" dirty="0">
                <a:latin typeface="Roboto Medium"/>
                <a:ea typeface="Roboto Medium"/>
                <a:cs typeface="Roboto Medium"/>
              </a:rPr>
              <a:t>Current State Mapping for Business:</a:t>
            </a:r>
            <a:br>
              <a:rPr lang="en-US" sz="4000" dirty="0">
                <a:latin typeface="Roboto Medium"/>
                <a:ea typeface="Roboto Medium"/>
                <a:cs typeface="Roboto Medium"/>
              </a:rPr>
            </a:br>
            <a:r>
              <a:rPr lang="en-US" sz="4000" dirty="0">
                <a:latin typeface="Roboto Medium"/>
                <a:ea typeface="Roboto Medium"/>
                <a:cs typeface="Roboto Medium"/>
              </a:rPr>
              <a:t>Team Walk #1</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76</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Current State Team Walk #1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Follow the guidelines on the previous pages to</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Team Walk #1. </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The purpose for this wa</a:t>
            </a:r>
            <a:r>
              <a:rPr lang="en-US" sz="16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lk</a:t>
            </a: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 is to gain an</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understanding of the process and overall flow. </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group begin to draw the Current State Map with only the process boxes identified.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process boxes of the Current State map identified</a:t>
            </a:r>
            <a:b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and drawn.</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55017188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Method to Create the Current State Map: Team Walk #2</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77</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4" name="Group 23">
            <a:extLst>
              <a:ext uri="{FF2B5EF4-FFF2-40B4-BE49-F238E27FC236}">
                <a16:creationId xmlns:a16="http://schemas.microsoft.com/office/drawing/2014/main" id="{4A643D09-B72F-5A90-3011-EC5CCA9070B6}"/>
              </a:ext>
            </a:extLst>
          </p:cNvPr>
          <p:cNvGrpSpPr/>
          <p:nvPr/>
        </p:nvGrpSpPr>
        <p:grpSpPr>
          <a:xfrm>
            <a:off x="492125" y="1757666"/>
            <a:ext cx="9977755" cy="4041458"/>
            <a:chOff x="492125" y="1372197"/>
            <a:chExt cx="8455025" cy="4426941"/>
          </a:xfrm>
        </p:grpSpPr>
        <p:sp>
          <p:nvSpPr>
            <p:cNvPr id="13" name="Rectangle 32">
              <a:extLst>
                <a:ext uri="{FF2B5EF4-FFF2-40B4-BE49-F238E27FC236}">
                  <a16:creationId xmlns:a16="http://schemas.microsoft.com/office/drawing/2014/main" id="{1E055644-3FAA-1D3B-179E-84628769A46C}"/>
                </a:ext>
              </a:extLst>
            </p:cNvPr>
            <p:cNvSpPr>
              <a:spLocks noChangeArrowheads="1"/>
            </p:cNvSpPr>
            <p:nvPr/>
          </p:nvSpPr>
          <p:spPr bwMode="auto">
            <a:xfrm>
              <a:off x="492125" y="16176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#1:</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4" name="Rectangle 33">
              <a:extLst>
                <a:ext uri="{FF2B5EF4-FFF2-40B4-BE49-F238E27FC236}">
                  <a16:creationId xmlns:a16="http://schemas.microsoft.com/office/drawing/2014/main" id="{E3A8CA09-A2CF-F13B-FC01-E68E39A541B4}"/>
                </a:ext>
              </a:extLst>
            </p:cNvPr>
            <p:cNvSpPr>
              <a:spLocks noChangeArrowheads="1"/>
            </p:cNvSpPr>
            <p:nvPr/>
          </p:nvSpPr>
          <p:spPr bwMode="auto">
            <a:xfrm>
              <a:off x="492125" y="33512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#2:</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Data Gathering</a:t>
              </a:r>
            </a:p>
          </p:txBody>
        </p:sp>
        <p:sp>
          <p:nvSpPr>
            <p:cNvPr id="15" name="Rectangle 34">
              <a:extLst>
                <a:ext uri="{FF2B5EF4-FFF2-40B4-BE49-F238E27FC236}">
                  <a16:creationId xmlns:a16="http://schemas.microsoft.com/office/drawing/2014/main" id="{32193B1D-98B7-641C-9C71-ED4329A58B58}"/>
                </a:ext>
              </a:extLst>
            </p:cNvPr>
            <p:cNvSpPr>
              <a:spLocks noChangeArrowheads="1"/>
            </p:cNvSpPr>
            <p:nvPr/>
          </p:nvSpPr>
          <p:spPr bwMode="auto">
            <a:xfrm>
              <a:off x="492125" y="49609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Map Creation</a:t>
              </a:r>
            </a:p>
          </p:txBody>
        </p:sp>
        <p:cxnSp>
          <p:nvCxnSpPr>
            <p:cNvPr id="16" name="AutoShape 35">
              <a:extLst>
                <a:ext uri="{FF2B5EF4-FFF2-40B4-BE49-F238E27FC236}">
                  <a16:creationId xmlns:a16="http://schemas.microsoft.com/office/drawing/2014/main" id="{5E090796-6773-D372-A839-84AD84CDBB79}"/>
                </a:ext>
              </a:extLst>
            </p:cNvPr>
            <p:cNvCxnSpPr>
              <a:cxnSpLocks noChangeShapeType="1"/>
              <a:stCxn id="13" idx="2"/>
              <a:endCxn id="14" idx="0"/>
            </p:cNvCxnSpPr>
            <p:nvPr/>
          </p:nvCxnSpPr>
          <p:spPr bwMode="auto">
            <a:xfrm>
              <a:off x="1951038" y="24558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7" name="AutoShape 36">
              <a:extLst>
                <a:ext uri="{FF2B5EF4-FFF2-40B4-BE49-F238E27FC236}">
                  <a16:creationId xmlns:a16="http://schemas.microsoft.com/office/drawing/2014/main" id="{F4080B85-42B9-54EA-C4C0-AB13C4B58EE6}"/>
                </a:ext>
              </a:extLst>
            </p:cNvPr>
            <p:cNvCxnSpPr>
              <a:cxnSpLocks noChangeShapeType="1"/>
              <a:stCxn id="14" idx="2"/>
              <a:endCxn id="15" idx="0"/>
            </p:cNvCxnSpPr>
            <p:nvPr/>
          </p:nvCxnSpPr>
          <p:spPr bwMode="auto">
            <a:xfrm>
              <a:off x="1951038" y="41925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8" name="AutoShape 37">
              <a:extLst>
                <a:ext uri="{FF2B5EF4-FFF2-40B4-BE49-F238E27FC236}">
                  <a16:creationId xmlns:a16="http://schemas.microsoft.com/office/drawing/2014/main" id="{C10027CB-4E62-4350-7923-FD5490DC6BF1}"/>
                </a:ext>
              </a:extLst>
            </p:cNvPr>
            <p:cNvSpPr>
              <a:spLocks noChangeArrowheads="1"/>
            </p:cNvSpPr>
            <p:nvPr/>
          </p:nvSpPr>
          <p:spPr bwMode="auto">
            <a:xfrm>
              <a:off x="3573463" y="1863725"/>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AutoShape 38">
              <a:extLst>
                <a:ext uri="{FF2B5EF4-FFF2-40B4-BE49-F238E27FC236}">
                  <a16:creationId xmlns:a16="http://schemas.microsoft.com/office/drawing/2014/main" id="{05789914-D54D-7E4A-18E9-56AF83109CCD}"/>
                </a:ext>
              </a:extLst>
            </p:cNvPr>
            <p:cNvSpPr>
              <a:spLocks noChangeArrowheads="1"/>
            </p:cNvSpPr>
            <p:nvPr/>
          </p:nvSpPr>
          <p:spPr bwMode="auto">
            <a:xfrm>
              <a:off x="3573463" y="3484563"/>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AutoShape 39">
              <a:extLst>
                <a:ext uri="{FF2B5EF4-FFF2-40B4-BE49-F238E27FC236}">
                  <a16:creationId xmlns:a16="http://schemas.microsoft.com/office/drawing/2014/main" id="{A0EF2711-2464-185C-3300-35E66F926A8A}"/>
                </a:ext>
              </a:extLst>
            </p:cNvPr>
            <p:cNvSpPr>
              <a:spLocks noChangeArrowheads="1"/>
            </p:cNvSpPr>
            <p:nvPr/>
          </p:nvSpPr>
          <p:spPr bwMode="auto">
            <a:xfrm>
              <a:off x="3573463" y="5022850"/>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Line 40">
              <a:extLst>
                <a:ext uri="{FF2B5EF4-FFF2-40B4-BE49-F238E27FC236}">
                  <a16:creationId xmlns:a16="http://schemas.microsoft.com/office/drawing/2014/main" id="{3D1443E5-24B6-5E2E-9F44-6062935D3A16}"/>
                </a:ext>
              </a:extLst>
            </p:cNvPr>
            <p:cNvSpPr>
              <a:spLocks noChangeShapeType="1"/>
            </p:cNvSpPr>
            <p:nvPr/>
          </p:nvSpPr>
          <p:spPr bwMode="auto">
            <a:xfrm>
              <a:off x="4090988" y="1721451"/>
              <a:ext cx="4616450" cy="0"/>
            </a:xfrm>
            <a:prstGeom prst="line">
              <a:avLst/>
            </a:prstGeom>
            <a:noFill/>
            <a:ln w="28575">
              <a:solidFill>
                <a:srgbClr val="000054"/>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2" name="Text Box 41">
              <a:extLst>
                <a:ext uri="{FF2B5EF4-FFF2-40B4-BE49-F238E27FC236}">
                  <a16:creationId xmlns:a16="http://schemas.microsoft.com/office/drawing/2014/main" id="{6C33F7CC-3F2B-1EF8-EE1A-EE46548F5A18}"/>
                </a:ext>
              </a:extLst>
            </p:cNvPr>
            <p:cNvSpPr txBox="1">
              <a:spLocks noChangeArrowheads="1"/>
            </p:cNvSpPr>
            <p:nvPr/>
          </p:nvSpPr>
          <p:spPr bwMode="auto">
            <a:xfrm>
              <a:off x="3987800" y="1372197"/>
              <a:ext cx="3536950" cy="404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3" name="AutoShape 42">
              <a:extLst>
                <a:ext uri="{FF2B5EF4-FFF2-40B4-BE49-F238E27FC236}">
                  <a16:creationId xmlns:a16="http://schemas.microsoft.com/office/drawing/2014/main" id="{65E65E52-9A03-B2AB-0AFA-701801E00C3B}"/>
                </a:ext>
              </a:extLst>
            </p:cNvPr>
            <p:cNvSpPr>
              <a:spLocks noChangeArrowheads="1"/>
            </p:cNvSpPr>
            <p:nvPr/>
          </p:nvSpPr>
          <p:spPr bwMode="auto">
            <a:xfrm>
              <a:off x="3946525" y="172938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Draw map of process using pencil and paper</a:t>
              </a:r>
            </a:p>
          </p:txBody>
        </p:sp>
      </p:grpSp>
      <p:sp>
        <p:nvSpPr>
          <p:cNvPr id="25" name="AutoShape 42">
            <a:extLst>
              <a:ext uri="{FF2B5EF4-FFF2-40B4-BE49-F238E27FC236}">
                <a16:creationId xmlns:a16="http://schemas.microsoft.com/office/drawing/2014/main" id="{3397CE9C-CFA1-966A-C055-01BC0EC47E34}"/>
              </a:ext>
            </a:extLst>
          </p:cNvPr>
          <p:cNvSpPr>
            <a:spLocks noChangeArrowheads="1"/>
          </p:cNvSpPr>
          <p:nvPr/>
        </p:nvSpPr>
        <p:spPr bwMode="auto">
          <a:xfrm>
            <a:off x="4568654" y="3374501"/>
            <a:ext cx="5901226" cy="1168108"/>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Decide what data will be collected for each process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Walk reverse flow again and collect data and information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actual, observed data wherever possible</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smallest time units whenever possible – be consistent</a:t>
            </a:r>
          </a:p>
        </p:txBody>
      </p:sp>
    </p:spTree>
    <p:extLst>
      <p:ext uri="{BB962C8B-B14F-4D97-AF65-F5344CB8AC3E}">
        <p14:creationId xmlns:p14="http://schemas.microsoft.com/office/powerpoint/2010/main" val="338203243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dirty="0"/>
              <a:t>Data Gathering Hierarchy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78</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9" name="Group 38">
            <a:extLst>
              <a:ext uri="{FF2B5EF4-FFF2-40B4-BE49-F238E27FC236}">
                <a16:creationId xmlns:a16="http://schemas.microsoft.com/office/drawing/2014/main" id="{A42C91A2-AEBB-73EB-D73A-F5F4C31DF691}"/>
              </a:ext>
            </a:extLst>
          </p:cNvPr>
          <p:cNvGrpSpPr/>
          <p:nvPr/>
        </p:nvGrpSpPr>
        <p:grpSpPr>
          <a:xfrm>
            <a:off x="1092150" y="1921397"/>
            <a:ext cx="10007700" cy="4176190"/>
            <a:chOff x="490538" y="1538289"/>
            <a:chExt cx="8212137" cy="4559299"/>
          </a:xfrm>
        </p:grpSpPr>
        <p:sp>
          <p:nvSpPr>
            <p:cNvPr id="26" name="Rectangle 2">
              <a:extLst>
                <a:ext uri="{FF2B5EF4-FFF2-40B4-BE49-F238E27FC236}">
                  <a16:creationId xmlns:a16="http://schemas.microsoft.com/office/drawing/2014/main" id="{8BC56C86-D306-992C-7F64-5E538EECC5C2}"/>
                </a:ext>
              </a:extLst>
            </p:cNvPr>
            <p:cNvSpPr>
              <a:spLocks noChangeArrowheads="1"/>
            </p:cNvSpPr>
            <p:nvPr/>
          </p:nvSpPr>
          <p:spPr bwMode="auto">
            <a:xfrm>
              <a:off x="3844925" y="1912938"/>
              <a:ext cx="4857750" cy="2774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defTabSz="708025">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defTabSz="708025">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First try to observe the process firsthand in the workplace</a:t>
              </a:r>
            </a:p>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When that is not possible, continue to follow this sequence in order to obtain necessary data</a:t>
              </a:r>
            </a:p>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Always want to start with data first </a:t>
              </a:r>
            </a:p>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Be cautious when using the interview method as it tends to yield highly inaccurate data</a:t>
              </a:r>
            </a:p>
          </p:txBody>
        </p:sp>
        <p:sp>
          <p:nvSpPr>
            <p:cNvPr id="27" name="AutoShape 3">
              <a:extLst>
                <a:ext uri="{FF2B5EF4-FFF2-40B4-BE49-F238E27FC236}">
                  <a16:creationId xmlns:a16="http://schemas.microsoft.com/office/drawing/2014/main" id="{223819B6-8FC9-E3FE-0C2D-D3D3D53C95A3}"/>
                </a:ext>
              </a:extLst>
            </p:cNvPr>
            <p:cNvSpPr>
              <a:spLocks noChangeArrowheads="1"/>
            </p:cNvSpPr>
            <p:nvPr/>
          </p:nvSpPr>
          <p:spPr bwMode="auto">
            <a:xfrm>
              <a:off x="3346450" y="2159000"/>
              <a:ext cx="254000" cy="2333625"/>
            </a:xfrm>
            <a:prstGeom prst="rightArrow">
              <a:avLst>
                <a:gd name="adj1" fmla="val 74426"/>
                <a:gd name="adj2" fmla="val 71213"/>
              </a:avLst>
            </a:prstGeom>
            <a:solidFill>
              <a:schemeClr val="accent1"/>
            </a:solidFill>
            <a:ln w="1905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8" name="Rectangle 4">
              <a:extLst>
                <a:ext uri="{FF2B5EF4-FFF2-40B4-BE49-F238E27FC236}">
                  <a16:creationId xmlns:a16="http://schemas.microsoft.com/office/drawing/2014/main" id="{AC12B7C7-7C1D-EE40-500F-A4A8CB4DD079}"/>
                </a:ext>
              </a:extLst>
            </p:cNvPr>
            <p:cNvSpPr>
              <a:spLocks noChangeArrowheads="1"/>
            </p:cNvSpPr>
            <p:nvPr/>
          </p:nvSpPr>
          <p:spPr bwMode="auto">
            <a:xfrm>
              <a:off x="490538" y="1573213"/>
              <a:ext cx="2620962" cy="6350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1. Go To Gemba</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(the actual workplace)</a:t>
              </a:r>
            </a:p>
          </p:txBody>
        </p:sp>
        <p:sp>
          <p:nvSpPr>
            <p:cNvPr id="29" name="Rectangle 5">
              <a:extLst>
                <a:ext uri="{FF2B5EF4-FFF2-40B4-BE49-F238E27FC236}">
                  <a16:creationId xmlns:a16="http://schemas.microsoft.com/office/drawing/2014/main" id="{8DC548B8-764C-3763-A10F-080A46DEE470}"/>
                </a:ext>
              </a:extLst>
            </p:cNvPr>
            <p:cNvSpPr>
              <a:spLocks noChangeArrowheads="1"/>
            </p:cNvSpPr>
            <p:nvPr/>
          </p:nvSpPr>
          <p:spPr bwMode="auto">
            <a:xfrm>
              <a:off x="490538" y="2503488"/>
              <a:ext cx="2620962" cy="635000"/>
            </a:xfrm>
            <a:prstGeom prst="rect">
              <a:avLst/>
            </a:prstGeom>
            <a:solidFill>
              <a:schemeClr val="bg2"/>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2. System Generated Report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or Work Flow Documents</a:t>
              </a:r>
            </a:p>
          </p:txBody>
        </p:sp>
        <p:sp>
          <p:nvSpPr>
            <p:cNvPr id="30" name="Rectangle 6">
              <a:extLst>
                <a:ext uri="{FF2B5EF4-FFF2-40B4-BE49-F238E27FC236}">
                  <a16:creationId xmlns:a16="http://schemas.microsoft.com/office/drawing/2014/main" id="{8F4955DF-CC75-EE72-799F-C736D5333D63}"/>
                </a:ext>
              </a:extLst>
            </p:cNvPr>
            <p:cNvSpPr>
              <a:spLocks noChangeArrowheads="1"/>
            </p:cNvSpPr>
            <p:nvPr/>
          </p:nvSpPr>
          <p:spPr bwMode="auto">
            <a:xfrm>
              <a:off x="490538" y="3436938"/>
              <a:ext cx="2620962" cy="635000"/>
            </a:xfrm>
            <a:prstGeom prst="rect">
              <a:avLst/>
            </a:prstGeom>
            <a:solidFill>
              <a:schemeClr val="accent3"/>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3. Historical Performance</a:t>
              </a:r>
              <a:br>
                <a:rPr lang="en-US" altLang="en-US" sz="1400">
                  <a:solidFill>
                    <a:schemeClr val="bg1"/>
                  </a:solidFill>
                  <a:latin typeface="Roboto" panose="02000000000000000000" pitchFamily="2" charset="0"/>
                  <a:ea typeface="Roboto" panose="02000000000000000000" pitchFamily="2" charset="0"/>
                </a:rPr>
              </a:br>
              <a:r>
                <a:rPr lang="en-US" altLang="en-US" sz="1400">
                  <a:solidFill>
                    <a:schemeClr val="bg1"/>
                  </a:solidFill>
                  <a:latin typeface="Roboto" panose="02000000000000000000" pitchFamily="2" charset="0"/>
                  <a:ea typeface="Roboto" panose="02000000000000000000" pitchFamily="2" charset="0"/>
                </a:rPr>
                <a:t>Reports</a:t>
              </a:r>
            </a:p>
          </p:txBody>
        </p:sp>
        <p:sp>
          <p:nvSpPr>
            <p:cNvPr id="31" name="Rectangle 7">
              <a:extLst>
                <a:ext uri="{FF2B5EF4-FFF2-40B4-BE49-F238E27FC236}">
                  <a16:creationId xmlns:a16="http://schemas.microsoft.com/office/drawing/2014/main" id="{FFBC77F3-744D-0E3F-4D2C-8691F49CDBC5}"/>
                </a:ext>
              </a:extLst>
            </p:cNvPr>
            <p:cNvSpPr>
              <a:spLocks noChangeArrowheads="1"/>
            </p:cNvSpPr>
            <p:nvPr/>
          </p:nvSpPr>
          <p:spPr bwMode="auto">
            <a:xfrm>
              <a:off x="490538" y="4410075"/>
              <a:ext cx="2620962" cy="635000"/>
            </a:xfrm>
            <a:prstGeom prst="rect">
              <a:avLst/>
            </a:prstGeom>
            <a:solidFill>
              <a:schemeClr val="accent4"/>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4. Staff Interviews</a:t>
              </a:r>
            </a:p>
          </p:txBody>
        </p:sp>
        <p:cxnSp>
          <p:nvCxnSpPr>
            <p:cNvPr id="32" name="AutoShape 8">
              <a:extLst>
                <a:ext uri="{FF2B5EF4-FFF2-40B4-BE49-F238E27FC236}">
                  <a16:creationId xmlns:a16="http://schemas.microsoft.com/office/drawing/2014/main" id="{B8E99FB4-1598-39A0-1FBB-3FE8E8C2E681}"/>
                </a:ext>
              </a:extLst>
            </p:cNvPr>
            <p:cNvCxnSpPr>
              <a:cxnSpLocks noChangeShapeType="1"/>
              <a:stCxn id="28" idx="2"/>
              <a:endCxn id="29" idx="0"/>
            </p:cNvCxnSpPr>
            <p:nvPr/>
          </p:nvCxnSpPr>
          <p:spPr bwMode="auto">
            <a:xfrm>
              <a:off x="1801813" y="2208213"/>
              <a:ext cx="0" cy="295275"/>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3" name="AutoShape 9">
              <a:extLst>
                <a:ext uri="{FF2B5EF4-FFF2-40B4-BE49-F238E27FC236}">
                  <a16:creationId xmlns:a16="http://schemas.microsoft.com/office/drawing/2014/main" id="{6C4A8CD9-8085-5826-F6BD-6D6C5E944AA5}"/>
                </a:ext>
              </a:extLst>
            </p:cNvPr>
            <p:cNvCxnSpPr>
              <a:cxnSpLocks noChangeShapeType="1"/>
              <a:stCxn id="29" idx="2"/>
              <a:endCxn id="30" idx="0"/>
            </p:cNvCxnSpPr>
            <p:nvPr/>
          </p:nvCxnSpPr>
          <p:spPr bwMode="auto">
            <a:xfrm>
              <a:off x="1801813" y="3138488"/>
              <a:ext cx="0" cy="298450"/>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4" name="AutoShape 10">
              <a:extLst>
                <a:ext uri="{FF2B5EF4-FFF2-40B4-BE49-F238E27FC236}">
                  <a16:creationId xmlns:a16="http://schemas.microsoft.com/office/drawing/2014/main" id="{EF45BBA8-3E25-F37C-09A1-8CAA1BCF5447}"/>
                </a:ext>
              </a:extLst>
            </p:cNvPr>
            <p:cNvCxnSpPr>
              <a:cxnSpLocks noChangeShapeType="1"/>
              <a:stCxn id="30" idx="2"/>
              <a:endCxn id="31" idx="0"/>
            </p:cNvCxnSpPr>
            <p:nvPr/>
          </p:nvCxnSpPr>
          <p:spPr bwMode="auto">
            <a:xfrm>
              <a:off x="1801813" y="4071938"/>
              <a:ext cx="0" cy="338137"/>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5" name="AutoShape 12">
              <a:extLst>
                <a:ext uri="{FF2B5EF4-FFF2-40B4-BE49-F238E27FC236}">
                  <a16:creationId xmlns:a16="http://schemas.microsoft.com/office/drawing/2014/main" id="{01243315-3BDD-A3BD-61EE-03092A5ED8DE}"/>
                </a:ext>
              </a:extLst>
            </p:cNvPr>
            <p:cNvCxnSpPr>
              <a:cxnSpLocks noChangeShapeType="1"/>
              <a:stCxn id="31" idx="2"/>
            </p:cNvCxnSpPr>
            <p:nvPr/>
          </p:nvCxnSpPr>
          <p:spPr bwMode="auto">
            <a:xfrm>
              <a:off x="1801813" y="5045075"/>
              <a:ext cx="0" cy="323850"/>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36" name="Rectangle 13">
              <a:extLst>
                <a:ext uri="{FF2B5EF4-FFF2-40B4-BE49-F238E27FC236}">
                  <a16:creationId xmlns:a16="http://schemas.microsoft.com/office/drawing/2014/main" id="{8565B9E3-4014-CBC4-2A1A-A8F37F513CB2}"/>
                </a:ext>
              </a:extLst>
            </p:cNvPr>
            <p:cNvSpPr>
              <a:spLocks noChangeArrowheads="1"/>
            </p:cNvSpPr>
            <p:nvPr/>
          </p:nvSpPr>
          <p:spPr bwMode="auto">
            <a:xfrm>
              <a:off x="3803650" y="1701800"/>
              <a:ext cx="4897438" cy="355123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7" name="Text Box 14">
              <a:extLst>
                <a:ext uri="{FF2B5EF4-FFF2-40B4-BE49-F238E27FC236}">
                  <a16:creationId xmlns:a16="http://schemas.microsoft.com/office/drawing/2014/main" id="{05A0F8A7-84E3-2A6E-0968-56EC24EE60E7}"/>
                </a:ext>
              </a:extLst>
            </p:cNvPr>
            <p:cNvSpPr txBox="1">
              <a:spLocks noChangeArrowheads="1"/>
            </p:cNvSpPr>
            <p:nvPr/>
          </p:nvSpPr>
          <p:spPr bwMode="auto">
            <a:xfrm>
              <a:off x="3987800" y="1538289"/>
              <a:ext cx="3222491" cy="345251"/>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Important Points on Gathering Data</a:t>
              </a:r>
            </a:p>
          </p:txBody>
        </p:sp>
        <p:sp>
          <p:nvSpPr>
            <p:cNvPr id="38" name="Rectangle 31">
              <a:extLst>
                <a:ext uri="{FF2B5EF4-FFF2-40B4-BE49-F238E27FC236}">
                  <a16:creationId xmlns:a16="http://schemas.microsoft.com/office/drawing/2014/main" id="{D8CB27D7-10CE-96BB-502E-1E7DC9BD4386}"/>
                </a:ext>
              </a:extLst>
            </p:cNvPr>
            <p:cNvSpPr>
              <a:spLocks noChangeArrowheads="1"/>
            </p:cNvSpPr>
            <p:nvPr/>
          </p:nvSpPr>
          <p:spPr bwMode="auto">
            <a:xfrm>
              <a:off x="500063" y="5462588"/>
              <a:ext cx="2620962" cy="635000"/>
            </a:xfrm>
            <a:prstGeom prst="rect">
              <a:avLst/>
            </a:prstGeom>
            <a:solidFill>
              <a:schemeClr val="accent2"/>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5. Management Interviews</a:t>
              </a:r>
            </a:p>
          </p:txBody>
        </p:sp>
      </p:grpSp>
    </p:spTree>
    <p:extLst>
      <p:ext uri="{BB962C8B-B14F-4D97-AF65-F5344CB8AC3E}">
        <p14:creationId xmlns:p14="http://schemas.microsoft.com/office/powerpoint/2010/main" val="159624679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Group Roles and Assignments for Team Walk #2</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79</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5" name="Group 44">
            <a:extLst>
              <a:ext uri="{FF2B5EF4-FFF2-40B4-BE49-F238E27FC236}">
                <a16:creationId xmlns:a16="http://schemas.microsoft.com/office/drawing/2014/main" id="{7ACCE468-BA9D-A19E-1C91-BAC52992A504}"/>
              </a:ext>
            </a:extLst>
          </p:cNvPr>
          <p:cNvGrpSpPr/>
          <p:nvPr/>
        </p:nvGrpSpPr>
        <p:grpSpPr>
          <a:xfrm>
            <a:off x="1963737" y="2012810"/>
            <a:ext cx="8264525" cy="3998913"/>
            <a:chOff x="457200" y="1536700"/>
            <a:chExt cx="8264525" cy="3998913"/>
          </a:xfrm>
        </p:grpSpPr>
        <p:sp>
          <p:nvSpPr>
            <p:cNvPr id="13" name="Rectangle 3">
              <a:extLst>
                <a:ext uri="{FF2B5EF4-FFF2-40B4-BE49-F238E27FC236}">
                  <a16:creationId xmlns:a16="http://schemas.microsoft.com/office/drawing/2014/main" id="{EC01F9F3-7FFA-99EE-1A62-23660E029457}"/>
                </a:ext>
              </a:extLst>
            </p:cNvPr>
            <p:cNvSpPr>
              <a:spLocks noChangeArrowheads="1"/>
            </p:cNvSpPr>
            <p:nvPr/>
          </p:nvSpPr>
          <p:spPr bwMode="auto">
            <a:xfrm>
              <a:off x="1196975" y="1971675"/>
              <a:ext cx="1908175" cy="568325"/>
            </a:xfrm>
            <a:prstGeom prst="rect">
              <a:avLst/>
            </a:prstGeom>
            <a:solidFill>
              <a:schemeClr val="bg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400" dirty="0">
                  <a:solidFill>
                    <a:schemeClr val="tx1"/>
                  </a:solidFill>
                  <a:latin typeface="Roboto" panose="02000000000000000000" pitchFamily="2" charset="0"/>
                  <a:ea typeface="Roboto" panose="02000000000000000000" pitchFamily="2" charset="0"/>
                </a:rPr>
                <a:t>Process Walk</a:t>
              </a:r>
              <a:br>
                <a:rPr lang="en-US" altLang="en-US" sz="1400" dirty="0">
                  <a:solidFill>
                    <a:schemeClr val="tx1"/>
                  </a:solidFill>
                  <a:latin typeface="Roboto" panose="02000000000000000000" pitchFamily="2" charset="0"/>
                  <a:ea typeface="Roboto" panose="02000000000000000000" pitchFamily="2" charset="0"/>
                </a:rPr>
              </a:br>
              <a:r>
                <a:rPr lang="en-US" altLang="en-US" sz="1400" dirty="0">
                  <a:solidFill>
                    <a:schemeClr val="tx1"/>
                  </a:solidFill>
                  <a:latin typeface="Roboto" panose="02000000000000000000" pitchFamily="2" charset="0"/>
                  <a:ea typeface="Roboto" panose="02000000000000000000" pitchFamily="2" charset="0"/>
                </a:rPr>
                <a:t>Guide</a:t>
              </a:r>
            </a:p>
          </p:txBody>
        </p:sp>
        <p:sp>
          <p:nvSpPr>
            <p:cNvPr id="14" name="Rectangle 4">
              <a:extLst>
                <a:ext uri="{FF2B5EF4-FFF2-40B4-BE49-F238E27FC236}">
                  <a16:creationId xmlns:a16="http://schemas.microsoft.com/office/drawing/2014/main" id="{8C0319FC-82CD-D164-F715-A3C1229CA98C}"/>
                </a:ext>
              </a:extLst>
            </p:cNvPr>
            <p:cNvSpPr>
              <a:spLocks noChangeArrowheads="1"/>
            </p:cNvSpPr>
            <p:nvPr/>
          </p:nvSpPr>
          <p:spPr bwMode="auto">
            <a:xfrm>
              <a:off x="1196975" y="2894013"/>
              <a:ext cx="1908175" cy="568325"/>
            </a:xfrm>
            <a:prstGeom prst="rect">
              <a:avLst/>
            </a:prstGeom>
            <a:solidFill>
              <a:schemeClr val="bg2"/>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400">
                  <a:solidFill>
                    <a:schemeClr val="tx1"/>
                  </a:solidFill>
                  <a:latin typeface="Roboto" panose="02000000000000000000" pitchFamily="2" charset="0"/>
                  <a:ea typeface="Roboto" panose="02000000000000000000" pitchFamily="2" charset="0"/>
                </a:rPr>
                <a:t>Interviewer</a:t>
              </a:r>
            </a:p>
          </p:txBody>
        </p:sp>
        <p:sp>
          <p:nvSpPr>
            <p:cNvPr id="15" name="Rectangle 5">
              <a:extLst>
                <a:ext uri="{FF2B5EF4-FFF2-40B4-BE49-F238E27FC236}">
                  <a16:creationId xmlns:a16="http://schemas.microsoft.com/office/drawing/2014/main" id="{ED29CA0E-BAE1-911E-14CE-BB68EC10F652}"/>
                </a:ext>
              </a:extLst>
            </p:cNvPr>
            <p:cNvSpPr>
              <a:spLocks noChangeArrowheads="1"/>
            </p:cNvSpPr>
            <p:nvPr/>
          </p:nvSpPr>
          <p:spPr bwMode="auto">
            <a:xfrm>
              <a:off x="1196975" y="3786188"/>
              <a:ext cx="1908175" cy="568325"/>
            </a:xfrm>
            <a:prstGeom prst="rect">
              <a:avLst/>
            </a:prstGeom>
            <a:solidFill>
              <a:schemeClr val="accent3"/>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400">
                  <a:latin typeface="Roboto" panose="02000000000000000000" pitchFamily="2" charset="0"/>
                  <a:ea typeface="Roboto" panose="02000000000000000000" pitchFamily="2" charset="0"/>
                </a:rPr>
                <a:t>Timer(s)</a:t>
              </a:r>
            </a:p>
          </p:txBody>
        </p:sp>
        <p:sp>
          <p:nvSpPr>
            <p:cNvPr id="16" name="Rectangle 6">
              <a:extLst>
                <a:ext uri="{FF2B5EF4-FFF2-40B4-BE49-F238E27FC236}">
                  <a16:creationId xmlns:a16="http://schemas.microsoft.com/office/drawing/2014/main" id="{CF480C56-6A67-A2DF-DD71-204FF0295DEF}"/>
                </a:ext>
              </a:extLst>
            </p:cNvPr>
            <p:cNvSpPr>
              <a:spLocks noChangeArrowheads="1"/>
            </p:cNvSpPr>
            <p:nvPr/>
          </p:nvSpPr>
          <p:spPr bwMode="auto">
            <a:xfrm>
              <a:off x="1196975" y="4722813"/>
              <a:ext cx="1908175" cy="568325"/>
            </a:xfrm>
            <a:prstGeom prst="rect">
              <a:avLst/>
            </a:prstGeom>
            <a:solidFill>
              <a:schemeClr val="accent1"/>
            </a:solidFill>
            <a:ln w="12700" cap="sq">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400">
                  <a:latin typeface="Roboto" panose="02000000000000000000" pitchFamily="2" charset="0"/>
                  <a:ea typeface="Roboto" panose="02000000000000000000" pitchFamily="2" charset="0"/>
                </a:rPr>
                <a:t>Inventory Counters</a:t>
              </a:r>
            </a:p>
          </p:txBody>
        </p:sp>
        <p:sp>
          <p:nvSpPr>
            <p:cNvPr id="17" name="Line 7">
              <a:extLst>
                <a:ext uri="{FF2B5EF4-FFF2-40B4-BE49-F238E27FC236}">
                  <a16:creationId xmlns:a16="http://schemas.microsoft.com/office/drawing/2014/main" id="{DEDA0A7D-52B4-8455-94EF-103FE3C1CB42}"/>
                </a:ext>
              </a:extLst>
            </p:cNvPr>
            <p:cNvSpPr>
              <a:spLocks noChangeShapeType="1"/>
            </p:cNvSpPr>
            <p:nvPr/>
          </p:nvSpPr>
          <p:spPr bwMode="auto">
            <a:xfrm>
              <a:off x="471488" y="2792413"/>
              <a:ext cx="8250237" cy="0"/>
            </a:xfrm>
            <a:prstGeom prst="line">
              <a:avLst/>
            </a:prstGeom>
            <a:noFill/>
            <a:ln w="19050">
              <a:solidFill>
                <a:srgbClr val="000066"/>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 name="Line 8">
              <a:extLst>
                <a:ext uri="{FF2B5EF4-FFF2-40B4-BE49-F238E27FC236}">
                  <a16:creationId xmlns:a16="http://schemas.microsoft.com/office/drawing/2014/main" id="{9BEDBFD9-71F5-3378-6AB4-5D4B51B05AB2}"/>
                </a:ext>
              </a:extLst>
            </p:cNvPr>
            <p:cNvSpPr>
              <a:spLocks noChangeShapeType="1"/>
            </p:cNvSpPr>
            <p:nvPr/>
          </p:nvSpPr>
          <p:spPr bwMode="auto">
            <a:xfrm>
              <a:off x="487363" y="3697288"/>
              <a:ext cx="8205787" cy="0"/>
            </a:xfrm>
            <a:prstGeom prst="line">
              <a:avLst/>
            </a:prstGeom>
            <a:noFill/>
            <a:ln w="19050">
              <a:solidFill>
                <a:srgbClr val="000066"/>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 name="Line 9">
              <a:extLst>
                <a:ext uri="{FF2B5EF4-FFF2-40B4-BE49-F238E27FC236}">
                  <a16:creationId xmlns:a16="http://schemas.microsoft.com/office/drawing/2014/main" id="{734B3B50-84A2-4E5D-8DF2-AEAB8DADA2B0}"/>
                </a:ext>
              </a:extLst>
            </p:cNvPr>
            <p:cNvSpPr>
              <a:spLocks noChangeShapeType="1"/>
            </p:cNvSpPr>
            <p:nvPr/>
          </p:nvSpPr>
          <p:spPr bwMode="auto">
            <a:xfrm>
              <a:off x="457200" y="4645025"/>
              <a:ext cx="8235950" cy="0"/>
            </a:xfrm>
            <a:prstGeom prst="line">
              <a:avLst/>
            </a:prstGeom>
            <a:noFill/>
            <a:ln w="19050">
              <a:solidFill>
                <a:srgbClr val="000066"/>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0" name="Line 10">
              <a:extLst>
                <a:ext uri="{FF2B5EF4-FFF2-40B4-BE49-F238E27FC236}">
                  <a16:creationId xmlns:a16="http://schemas.microsoft.com/office/drawing/2014/main" id="{BFAF1414-3F83-1D51-236D-1F12C2E84D2D}"/>
                </a:ext>
              </a:extLst>
            </p:cNvPr>
            <p:cNvSpPr>
              <a:spLocks noChangeShapeType="1"/>
            </p:cNvSpPr>
            <p:nvPr/>
          </p:nvSpPr>
          <p:spPr bwMode="auto">
            <a:xfrm>
              <a:off x="473075" y="5535613"/>
              <a:ext cx="8220075" cy="0"/>
            </a:xfrm>
            <a:prstGeom prst="line">
              <a:avLst/>
            </a:prstGeom>
            <a:noFill/>
            <a:ln w="19050">
              <a:solidFill>
                <a:srgbClr val="000066"/>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1" name="Rectangle 11">
              <a:extLst>
                <a:ext uri="{FF2B5EF4-FFF2-40B4-BE49-F238E27FC236}">
                  <a16:creationId xmlns:a16="http://schemas.microsoft.com/office/drawing/2014/main" id="{7D21238A-642B-190D-2B7A-493BCAB59855}"/>
                </a:ext>
              </a:extLst>
            </p:cNvPr>
            <p:cNvSpPr>
              <a:spLocks noChangeArrowheads="1"/>
            </p:cNvSpPr>
            <p:nvPr/>
          </p:nvSpPr>
          <p:spPr bwMode="auto">
            <a:xfrm>
              <a:off x="3638550" y="1954213"/>
              <a:ext cx="4970463" cy="50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742950" indent="-285750"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45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Leads the team through the correct sequence of processes</a:t>
              </a:r>
              <a:endParaRPr lang="en-US" altLang="en-US" sz="1400" b="0" dirty="0">
                <a:solidFill>
                  <a:schemeClr val="tx1"/>
                </a:solidFill>
                <a:latin typeface="Roboto" panose="02000000000000000000" pitchFamily="2" charset="0"/>
                <a:ea typeface="Roboto" panose="02000000000000000000" pitchFamily="2" charset="0"/>
              </a:endParaRPr>
            </a:p>
          </p:txBody>
        </p:sp>
        <p:sp>
          <p:nvSpPr>
            <p:cNvPr id="22" name="Rectangle 12">
              <a:extLst>
                <a:ext uri="{FF2B5EF4-FFF2-40B4-BE49-F238E27FC236}">
                  <a16:creationId xmlns:a16="http://schemas.microsoft.com/office/drawing/2014/main" id="{8E950A5F-1B7B-9398-CA33-9775FC575C8A}"/>
                </a:ext>
              </a:extLst>
            </p:cNvPr>
            <p:cNvSpPr>
              <a:spLocks noChangeArrowheads="1"/>
            </p:cNvSpPr>
            <p:nvPr/>
          </p:nvSpPr>
          <p:spPr bwMode="auto">
            <a:xfrm>
              <a:off x="3641725" y="2898775"/>
              <a:ext cx="4981575" cy="50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742950" indent="-285750"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45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Leads the interview with the operators/process participants </a:t>
              </a:r>
              <a:endParaRPr lang="en-US" altLang="en-US" sz="1400" b="0" dirty="0">
                <a:solidFill>
                  <a:schemeClr val="tx1"/>
                </a:solidFill>
                <a:latin typeface="Roboto" panose="02000000000000000000" pitchFamily="2" charset="0"/>
                <a:ea typeface="Roboto" panose="02000000000000000000" pitchFamily="2" charset="0"/>
              </a:endParaRPr>
            </a:p>
          </p:txBody>
        </p:sp>
        <p:sp>
          <p:nvSpPr>
            <p:cNvPr id="23" name="Rectangle 13">
              <a:extLst>
                <a:ext uri="{FF2B5EF4-FFF2-40B4-BE49-F238E27FC236}">
                  <a16:creationId xmlns:a16="http://schemas.microsoft.com/office/drawing/2014/main" id="{9CA7B9FA-416C-D1C0-268C-BEA0256A3718}"/>
                </a:ext>
              </a:extLst>
            </p:cNvPr>
            <p:cNvSpPr>
              <a:spLocks noChangeArrowheads="1"/>
            </p:cNvSpPr>
            <p:nvPr/>
          </p:nvSpPr>
          <p:spPr bwMode="auto">
            <a:xfrm>
              <a:off x="3641725" y="3790950"/>
              <a:ext cx="4970463" cy="50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742950" indent="-285750"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45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Records all actual operator cycle times, machine cycle times, and drop off intervals </a:t>
              </a:r>
              <a:endParaRPr lang="en-US" altLang="en-US" sz="1400" b="0">
                <a:solidFill>
                  <a:schemeClr val="tx1"/>
                </a:solidFill>
                <a:latin typeface="Roboto" panose="02000000000000000000" pitchFamily="2" charset="0"/>
                <a:ea typeface="Roboto" panose="02000000000000000000" pitchFamily="2" charset="0"/>
              </a:endParaRPr>
            </a:p>
          </p:txBody>
        </p:sp>
        <p:sp>
          <p:nvSpPr>
            <p:cNvPr id="24" name="Rectangle 14">
              <a:extLst>
                <a:ext uri="{FF2B5EF4-FFF2-40B4-BE49-F238E27FC236}">
                  <a16:creationId xmlns:a16="http://schemas.microsoft.com/office/drawing/2014/main" id="{33D2E153-45EA-C14A-A677-8A8DE8CDA823}"/>
                </a:ext>
              </a:extLst>
            </p:cNvPr>
            <p:cNvSpPr>
              <a:spLocks noChangeArrowheads="1"/>
            </p:cNvSpPr>
            <p:nvPr/>
          </p:nvSpPr>
          <p:spPr bwMode="auto">
            <a:xfrm>
              <a:off x="3641725" y="4729163"/>
              <a:ext cx="4970463" cy="289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742950" indent="-285750"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45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Counts number of pieces queued at each process</a:t>
              </a:r>
              <a:endParaRPr lang="en-US" altLang="en-US" sz="1400" b="0">
                <a:solidFill>
                  <a:schemeClr val="tx1"/>
                </a:solidFill>
                <a:latin typeface="Roboto" panose="02000000000000000000" pitchFamily="2" charset="0"/>
                <a:ea typeface="Roboto" panose="02000000000000000000" pitchFamily="2" charset="0"/>
              </a:endParaRPr>
            </a:p>
          </p:txBody>
        </p:sp>
        <p:sp>
          <p:nvSpPr>
            <p:cNvPr id="25" name="Line 15">
              <a:extLst>
                <a:ext uri="{FF2B5EF4-FFF2-40B4-BE49-F238E27FC236}">
                  <a16:creationId xmlns:a16="http://schemas.microsoft.com/office/drawing/2014/main" id="{F1C622AC-8760-DCFF-4F46-BC4466D0682D}"/>
                </a:ext>
              </a:extLst>
            </p:cNvPr>
            <p:cNvSpPr>
              <a:spLocks noChangeShapeType="1"/>
            </p:cNvSpPr>
            <p:nvPr/>
          </p:nvSpPr>
          <p:spPr bwMode="auto">
            <a:xfrm flipV="1">
              <a:off x="461963" y="1824038"/>
              <a:ext cx="8250237" cy="15875"/>
            </a:xfrm>
            <a:prstGeom prst="line">
              <a:avLst/>
            </a:prstGeom>
            <a:noFill/>
            <a:ln w="3810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0" name="Text Box 16">
              <a:extLst>
                <a:ext uri="{FF2B5EF4-FFF2-40B4-BE49-F238E27FC236}">
                  <a16:creationId xmlns:a16="http://schemas.microsoft.com/office/drawing/2014/main" id="{9C5F4468-0EEC-64C3-FEB3-089C6EBDED7B}"/>
                </a:ext>
              </a:extLst>
            </p:cNvPr>
            <p:cNvSpPr txBox="1">
              <a:spLocks noChangeArrowheads="1"/>
            </p:cNvSpPr>
            <p:nvPr/>
          </p:nvSpPr>
          <p:spPr bwMode="auto">
            <a:xfrm>
              <a:off x="471488" y="1536700"/>
              <a:ext cx="46089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r>
                <a:rPr lang="en-US" altLang="en-US" sz="1800" dirty="0">
                  <a:solidFill>
                    <a:schemeClr val="tx1"/>
                  </a:solidFill>
                  <a:latin typeface="Roboto" panose="02000000000000000000" pitchFamily="2" charset="0"/>
                  <a:ea typeface="Roboto" panose="02000000000000000000" pitchFamily="2" charset="0"/>
                </a:rPr>
                <a:t>Group Roles		      Descriptions</a:t>
              </a:r>
            </a:p>
          </p:txBody>
        </p:sp>
        <p:sp>
          <p:nvSpPr>
            <p:cNvPr id="41" name="Oval 17">
              <a:extLst>
                <a:ext uri="{FF2B5EF4-FFF2-40B4-BE49-F238E27FC236}">
                  <a16:creationId xmlns:a16="http://schemas.microsoft.com/office/drawing/2014/main" id="{A8E114C3-0186-4EC6-2CC1-0BF5B72AD6B2}"/>
                </a:ext>
              </a:extLst>
            </p:cNvPr>
            <p:cNvSpPr>
              <a:spLocks noChangeArrowheads="1"/>
            </p:cNvSpPr>
            <p:nvPr/>
          </p:nvSpPr>
          <p:spPr bwMode="auto">
            <a:xfrm>
              <a:off x="519113" y="2079625"/>
              <a:ext cx="400050" cy="366713"/>
            </a:xfrm>
            <a:prstGeom prst="ellipse">
              <a:avLst/>
            </a:prstGeom>
            <a:solidFill>
              <a:schemeClr val="accent1"/>
            </a:solidFill>
            <a:ln w="12700" cap="sq">
              <a:solidFill>
                <a:srgbClr val="800000"/>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1</a:t>
              </a:r>
            </a:p>
          </p:txBody>
        </p:sp>
        <p:sp>
          <p:nvSpPr>
            <p:cNvPr id="42" name="Oval 18">
              <a:extLst>
                <a:ext uri="{FF2B5EF4-FFF2-40B4-BE49-F238E27FC236}">
                  <a16:creationId xmlns:a16="http://schemas.microsoft.com/office/drawing/2014/main" id="{CD52F8F8-56D0-CD84-4678-9CA337D84FF7}"/>
                </a:ext>
              </a:extLst>
            </p:cNvPr>
            <p:cNvSpPr>
              <a:spLocks noChangeArrowheads="1"/>
            </p:cNvSpPr>
            <p:nvPr/>
          </p:nvSpPr>
          <p:spPr bwMode="auto">
            <a:xfrm>
              <a:off x="519113" y="3005138"/>
              <a:ext cx="400050" cy="366712"/>
            </a:xfrm>
            <a:prstGeom prst="ellipse">
              <a:avLst/>
            </a:prstGeom>
            <a:solidFill>
              <a:schemeClr val="accent1"/>
            </a:solidFill>
            <a:ln w="12700" cap="sq">
              <a:solidFill>
                <a:srgbClr val="800000"/>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2</a:t>
              </a:r>
            </a:p>
          </p:txBody>
        </p:sp>
        <p:sp>
          <p:nvSpPr>
            <p:cNvPr id="43" name="Oval 19">
              <a:extLst>
                <a:ext uri="{FF2B5EF4-FFF2-40B4-BE49-F238E27FC236}">
                  <a16:creationId xmlns:a16="http://schemas.microsoft.com/office/drawing/2014/main" id="{06AE1693-860F-224D-E6DF-74F67E4A39D3}"/>
                </a:ext>
              </a:extLst>
            </p:cNvPr>
            <p:cNvSpPr>
              <a:spLocks noChangeArrowheads="1"/>
            </p:cNvSpPr>
            <p:nvPr/>
          </p:nvSpPr>
          <p:spPr bwMode="auto">
            <a:xfrm>
              <a:off x="519113" y="3894138"/>
              <a:ext cx="400050" cy="366712"/>
            </a:xfrm>
            <a:prstGeom prst="ellipse">
              <a:avLst/>
            </a:prstGeom>
            <a:solidFill>
              <a:schemeClr val="accent1"/>
            </a:solidFill>
            <a:ln w="12700" cap="sq">
              <a:solidFill>
                <a:srgbClr val="800000"/>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3</a:t>
              </a:r>
            </a:p>
          </p:txBody>
        </p:sp>
        <p:sp>
          <p:nvSpPr>
            <p:cNvPr id="44" name="Oval 20">
              <a:extLst>
                <a:ext uri="{FF2B5EF4-FFF2-40B4-BE49-F238E27FC236}">
                  <a16:creationId xmlns:a16="http://schemas.microsoft.com/office/drawing/2014/main" id="{F44AE8C3-0D1A-EFD0-0552-70ABC460BE70}"/>
                </a:ext>
              </a:extLst>
            </p:cNvPr>
            <p:cNvSpPr>
              <a:spLocks noChangeArrowheads="1"/>
            </p:cNvSpPr>
            <p:nvPr/>
          </p:nvSpPr>
          <p:spPr bwMode="auto">
            <a:xfrm>
              <a:off x="519113" y="4833938"/>
              <a:ext cx="400050" cy="366712"/>
            </a:xfrm>
            <a:prstGeom prst="ellipse">
              <a:avLst/>
            </a:prstGeom>
            <a:solidFill>
              <a:schemeClr val="accent1"/>
            </a:solidFill>
            <a:ln w="12700" cap="sq">
              <a:solidFill>
                <a:srgbClr val="800000"/>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400">
                  <a:latin typeface="Roboto" panose="02000000000000000000" pitchFamily="2" charset="0"/>
                  <a:ea typeface="Roboto" panose="02000000000000000000" pitchFamily="2" charset="0"/>
                </a:rPr>
                <a:t>4</a:t>
              </a:r>
            </a:p>
          </p:txBody>
        </p:sp>
      </p:grpSp>
    </p:spTree>
    <p:extLst>
      <p:ext uri="{BB962C8B-B14F-4D97-AF65-F5344CB8AC3E}">
        <p14:creationId xmlns:p14="http://schemas.microsoft.com/office/powerpoint/2010/main" val="100597868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Key Interviewer Guideline Questions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Introduce the team and remind the associate about the exercise we are performing</a:t>
            </a:r>
          </a:p>
          <a:p>
            <a:r>
              <a:rPr lang="en-US" dirty="0"/>
              <a:t>Determine which scripted questions are appropriate for process observed</a:t>
            </a:r>
          </a:p>
          <a:p>
            <a:r>
              <a:rPr lang="en-US" dirty="0"/>
              <a:t>Determine if there are any other relevant questions that need to be asked</a:t>
            </a:r>
          </a:p>
          <a:p>
            <a:r>
              <a:rPr lang="en-US" dirty="0"/>
              <a:t>Thank the operator for his/her time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80</a:t>
            </a:fld>
            <a:endParaRPr lang="en-US"/>
          </a:p>
        </p:txBody>
      </p:sp>
      <p:grpSp>
        <p:nvGrpSpPr>
          <p:cNvPr id="4" name="Group 3">
            <a:extLst>
              <a:ext uri="{FF2B5EF4-FFF2-40B4-BE49-F238E27FC236}">
                <a16:creationId xmlns:a16="http://schemas.microsoft.com/office/drawing/2014/main" id="{D13955EF-F382-9EBD-9AA5-FBA45AA94F6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CC8FB25-6B61-06D4-A4AE-48970E88F340}"/>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C2C6633-08A5-DC9F-DF5A-AE8A011D728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BC4A60E-207F-E5C1-F958-1653E0100D68}"/>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ABE7941-6A8D-6E97-B37C-9973467F868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78E4700F-CD5C-2AE9-4A1A-9526CB7A15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AEDE3013-1A73-7735-ADE8-A9107507AA5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0173343D-0106-7181-617C-D516A7D7BBA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8FD1BD67-35E4-0A72-2F41-53ECD63098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34922928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After Data Gathering</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Return to common area to jointly create Master Current State Map</a:t>
            </a:r>
          </a:p>
          <a:p>
            <a:r>
              <a:rPr lang="en-US" dirty="0"/>
              <a:t>For drawing Master Current State map, team will require Easel Pad Chart Paper, light colored post-it notes, black markers with thin tip, and calculators</a:t>
            </a:r>
          </a:p>
          <a:p>
            <a:r>
              <a:rPr lang="en-US" dirty="0"/>
              <a:t>All team members will be engaged in the drawing of the map	</a:t>
            </a:r>
          </a:p>
          <a:p>
            <a:r>
              <a:rPr lang="en-US" dirty="0"/>
              <a:t>The Current State Map will be reviewed by management – make the map large and write clearly </a:t>
            </a:r>
          </a:p>
          <a:p>
            <a:r>
              <a:rPr lang="en-US" dirty="0"/>
              <a:t>After Current State is drawn, convert to electronic file “off-line”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81</a:t>
            </a:fld>
            <a:endParaRPr lang="en-US"/>
          </a:p>
        </p:txBody>
      </p:sp>
      <p:grpSp>
        <p:nvGrpSpPr>
          <p:cNvPr id="4" name="Group 3">
            <a:extLst>
              <a:ext uri="{FF2B5EF4-FFF2-40B4-BE49-F238E27FC236}">
                <a16:creationId xmlns:a16="http://schemas.microsoft.com/office/drawing/2014/main" id="{D13955EF-F382-9EBD-9AA5-FBA45AA94F6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CC8FB25-6B61-06D4-A4AE-48970E88F340}"/>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C2C6633-08A5-DC9F-DF5A-AE8A011D728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BC4A60E-207F-E5C1-F958-1653E0100D68}"/>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ABE7941-6A8D-6E97-B37C-9973467F868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78E4700F-CD5C-2AE9-4A1A-9526CB7A15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AEDE3013-1A73-7735-ADE8-A9107507AA5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0173343D-0106-7181-617C-D516A7D7BBA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8FD1BD67-35E4-0A72-2F41-53ECD63098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20415048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fontScale="90000"/>
          </a:bodyPr>
          <a:lstStyle/>
          <a:p>
            <a:r>
              <a:rPr lang="en-US" sz="4000" dirty="0">
                <a:latin typeface="Roboto Medium"/>
                <a:ea typeface="Roboto Medium"/>
                <a:cs typeface="Roboto Medium"/>
              </a:rPr>
              <a:t>Current State Mapping for Business:</a:t>
            </a:r>
            <a:br>
              <a:rPr lang="en-US" sz="4000" dirty="0">
                <a:latin typeface="Roboto Medium"/>
                <a:ea typeface="Roboto Medium"/>
                <a:cs typeface="Roboto Medium"/>
              </a:rPr>
            </a:br>
            <a:r>
              <a:rPr lang="en-US" sz="4000" dirty="0">
                <a:latin typeface="Roboto Medium"/>
                <a:ea typeface="Roboto Medium"/>
                <a:cs typeface="Roboto Medium"/>
              </a:rPr>
              <a:t>Team Walk #2</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82</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Current State Mapping for Business: Team Walk #2</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facilitated by the instructor, identify:</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data is needed</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and how to get the data</a:t>
            </a: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After, complete all of the data gathering and </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collection necessary to populate the Current State Map.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Data Collection complete</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42002071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Method to Create the Current State Map: Map Creation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83</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4" name="Group 23">
            <a:extLst>
              <a:ext uri="{FF2B5EF4-FFF2-40B4-BE49-F238E27FC236}">
                <a16:creationId xmlns:a16="http://schemas.microsoft.com/office/drawing/2014/main" id="{4A643D09-B72F-5A90-3011-EC5CCA9070B6}"/>
              </a:ext>
            </a:extLst>
          </p:cNvPr>
          <p:cNvGrpSpPr/>
          <p:nvPr/>
        </p:nvGrpSpPr>
        <p:grpSpPr>
          <a:xfrm>
            <a:off x="492125" y="1757666"/>
            <a:ext cx="9977755" cy="4041458"/>
            <a:chOff x="492125" y="1372197"/>
            <a:chExt cx="8455025" cy="4426941"/>
          </a:xfrm>
        </p:grpSpPr>
        <p:sp>
          <p:nvSpPr>
            <p:cNvPr id="13" name="Rectangle 32">
              <a:extLst>
                <a:ext uri="{FF2B5EF4-FFF2-40B4-BE49-F238E27FC236}">
                  <a16:creationId xmlns:a16="http://schemas.microsoft.com/office/drawing/2014/main" id="{1E055644-3FAA-1D3B-179E-84628769A46C}"/>
                </a:ext>
              </a:extLst>
            </p:cNvPr>
            <p:cNvSpPr>
              <a:spLocks noChangeArrowheads="1"/>
            </p:cNvSpPr>
            <p:nvPr/>
          </p:nvSpPr>
          <p:spPr bwMode="auto">
            <a:xfrm>
              <a:off x="492125" y="16176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#1:</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4" name="Rectangle 33">
              <a:extLst>
                <a:ext uri="{FF2B5EF4-FFF2-40B4-BE49-F238E27FC236}">
                  <a16:creationId xmlns:a16="http://schemas.microsoft.com/office/drawing/2014/main" id="{E3A8CA09-A2CF-F13B-FC01-E68E39A541B4}"/>
                </a:ext>
              </a:extLst>
            </p:cNvPr>
            <p:cNvSpPr>
              <a:spLocks noChangeArrowheads="1"/>
            </p:cNvSpPr>
            <p:nvPr/>
          </p:nvSpPr>
          <p:spPr bwMode="auto">
            <a:xfrm>
              <a:off x="492125" y="33512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Team Walk #2:</a:t>
              </a:r>
            </a:p>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Data Gathering</a:t>
              </a:r>
            </a:p>
          </p:txBody>
        </p:sp>
        <p:sp>
          <p:nvSpPr>
            <p:cNvPr id="15" name="Rectangle 34">
              <a:extLst>
                <a:ext uri="{FF2B5EF4-FFF2-40B4-BE49-F238E27FC236}">
                  <a16:creationId xmlns:a16="http://schemas.microsoft.com/office/drawing/2014/main" id="{32193B1D-98B7-641C-9C71-ED4329A58B58}"/>
                </a:ext>
              </a:extLst>
            </p:cNvPr>
            <p:cNvSpPr>
              <a:spLocks noChangeArrowheads="1"/>
            </p:cNvSpPr>
            <p:nvPr/>
          </p:nvSpPr>
          <p:spPr bwMode="auto">
            <a:xfrm>
              <a:off x="492125" y="49609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Map Creation</a:t>
              </a:r>
            </a:p>
          </p:txBody>
        </p:sp>
        <p:cxnSp>
          <p:nvCxnSpPr>
            <p:cNvPr id="16" name="AutoShape 35">
              <a:extLst>
                <a:ext uri="{FF2B5EF4-FFF2-40B4-BE49-F238E27FC236}">
                  <a16:creationId xmlns:a16="http://schemas.microsoft.com/office/drawing/2014/main" id="{5E090796-6773-D372-A839-84AD84CDBB79}"/>
                </a:ext>
              </a:extLst>
            </p:cNvPr>
            <p:cNvCxnSpPr>
              <a:cxnSpLocks noChangeShapeType="1"/>
              <a:stCxn id="13" idx="2"/>
              <a:endCxn id="14" idx="0"/>
            </p:cNvCxnSpPr>
            <p:nvPr/>
          </p:nvCxnSpPr>
          <p:spPr bwMode="auto">
            <a:xfrm>
              <a:off x="1951038" y="24558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7" name="AutoShape 36">
              <a:extLst>
                <a:ext uri="{FF2B5EF4-FFF2-40B4-BE49-F238E27FC236}">
                  <a16:creationId xmlns:a16="http://schemas.microsoft.com/office/drawing/2014/main" id="{F4080B85-42B9-54EA-C4C0-AB13C4B58EE6}"/>
                </a:ext>
              </a:extLst>
            </p:cNvPr>
            <p:cNvCxnSpPr>
              <a:cxnSpLocks noChangeShapeType="1"/>
              <a:stCxn id="14" idx="2"/>
              <a:endCxn id="15" idx="0"/>
            </p:cNvCxnSpPr>
            <p:nvPr/>
          </p:nvCxnSpPr>
          <p:spPr bwMode="auto">
            <a:xfrm>
              <a:off x="1951038" y="41925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8" name="AutoShape 37">
              <a:extLst>
                <a:ext uri="{FF2B5EF4-FFF2-40B4-BE49-F238E27FC236}">
                  <a16:creationId xmlns:a16="http://schemas.microsoft.com/office/drawing/2014/main" id="{C10027CB-4E62-4350-7923-FD5490DC6BF1}"/>
                </a:ext>
              </a:extLst>
            </p:cNvPr>
            <p:cNvSpPr>
              <a:spLocks noChangeArrowheads="1"/>
            </p:cNvSpPr>
            <p:nvPr/>
          </p:nvSpPr>
          <p:spPr bwMode="auto">
            <a:xfrm>
              <a:off x="3573463" y="1863725"/>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AutoShape 38">
              <a:extLst>
                <a:ext uri="{FF2B5EF4-FFF2-40B4-BE49-F238E27FC236}">
                  <a16:creationId xmlns:a16="http://schemas.microsoft.com/office/drawing/2014/main" id="{05789914-D54D-7E4A-18E9-56AF83109CCD}"/>
                </a:ext>
              </a:extLst>
            </p:cNvPr>
            <p:cNvSpPr>
              <a:spLocks noChangeArrowheads="1"/>
            </p:cNvSpPr>
            <p:nvPr/>
          </p:nvSpPr>
          <p:spPr bwMode="auto">
            <a:xfrm>
              <a:off x="3573463" y="3484563"/>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AutoShape 39">
              <a:extLst>
                <a:ext uri="{FF2B5EF4-FFF2-40B4-BE49-F238E27FC236}">
                  <a16:creationId xmlns:a16="http://schemas.microsoft.com/office/drawing/2014/main" id="{A0EF2711-2464-185C-3300-35E66F926A8A}"/>
                </a:ext>
              </a:extLst>
            </p:cNvPr>
            <p:cNvSpPr>
              <a:spLocks noChangeArrowheads="1"/>
            </p:cNvSpPr>
            <p:nvPr/>
          </p:nvSpPr>
          <p:spPr bwMode="auto">
            <a:xfrm>
              <a:off x="3573463" y="5022850"/>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Line 40">
              <a:extLst>
                <a:ext uri="{FF2B5EF4-FFF2-40B4-BE49-F238E27FC236}">
                  <a16:creationId xmlns:a16="http://schemas.microsoft.com/office/drawing/2014/main" id="{3D1443E5-24B6-5E2E-9F44-6062935D3A16}"/>
                </a:ext>
              </a:extLst>
            </p:cNvPr>
            <p:cNvSpPr>
              <a:spLocks noChangeShapeType="1"/>
            </p:cNvSpPr>
            <p:nvPr/>
          </p:nvSpPr>
          <p:spPr bwMode="auto">
            <a:xfrm>
              <a:off x="4090988" y="1721451"/>
              <a:ext cx="4616450" cy="0"/>
            </a:xfrm>
            <a:prstGeom prst="line">
              <a:avLst/>
            </a:prstGeom>
            <a:noFill/>
            <a:ln w="28575">
              <a:solidFill>
                <a:srgbClr val="000054"/>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2" name="Text Box 41">
              <a:extLst>
                <a:ext uri="{FF2B5EF4-FFF2-40B4-BE49-F238E27FC236}">
                  <a16:creationId xmlns:a16="http://schemas.microsoft.com/office/drawing/2014/main" id="{6C33F7CC-3F2B-1EF8-EE1A-EE46548F5A18}"/>
                </a:ext>
              </a:extLst>
            </p:cNvPr>
            <p:cNvSpPr txBox="1">
              <a:spLocks noChangeArrowheads="1"/>
            </p:cNvSpPr>
            <p:nvPr/>
          </p:nvSpPr>
          <p:spPr bwMode="auto">
            <a:xfrm>
              <a:off x="3987800" y="1372197"/>
              <a:ext cx="3536950" cy="404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3" name="AutoShape 42">
              <a:extLst>
                <a:ext uri="{FF2B5EF4-FFF2-40B4-BE49-F238E27FC236}">
                  <a16:creationId xmlns:a16="http://schemas.microsoft.com/office/drawing/2014/main" id="{65E65E52-9A03-B2AB-0AFA-701801E00C3B}"/>
                </a:ext>
              </a:extLst>
            </p:cNvPr>
            <p:cNvSpPr>
              <a:spLocks noChangeArrowheads="1"/>
            </p:cNvSpPr>
            <p:nvPr/>
          </p:nvSpPr>
          <p:spPr bwMode="auto">
            <a:xfrm>
              <a:off x="3946525" y="172938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Draw map of process using pencil and paper</a:t>
              </a:r>
            </a:p>
          </p:txBody>
        </p:sp>
      </p:grpSp>
      <p:sp>
        <p:nvSpPr>
          <p:cNvPr id="25" name="AutoShape 42">
            <a:extLst>
              <a:ext uri="{FF2B5EF4-FFF2-40B4-BE49-F238E27FC236}">
                <a16:creationId xmlns:a16="http://schemas.microsoft.com/office/drawing/2014/main" id="{3397CE9C-CFA1-966A-C055-01BC0EC47E34}"/>
              </a:ext>
            </a:extLst>
          </p:cNvPr>
          <p:cNvSpPr>
            <a:spLocks noChangeArrowheads="1"/>
          </p:cNvSpPr>
          <p:nvPr/>
        </p:nvSpPr>
        <p:spPr bwMode="auto">
          <a:xfrm>
            <a:off x="4568654" y="3374501"/>
            <a:ext cx="5901226" cy="1168108"/>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Decide what data will be collected for each process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Walk reverse flow again and collect data and information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actual, observed data wherever possible</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smallest time units whenever possible – be consistent</a:t>
            </a:r>
          </a:p>
        </p:txBody>
      </p:sp>
      <p:sp>
        <p:nvSpPr>
          <p:cNvPr id="26" name="AutoShape 42">
            <a:extLst>
              <a:ext uri="{FF2B5EF4-FFF2-40B4-BE49-F238E27FC236}">
                <a16:creationId xmlns:a16="http://schemas.microsoft.com/office/drawing/2014/main" id="{125BAA9C-22FD-36BD-EAE4-FFC012BFC7D0}"/>
              </a:ext>
            </a:extLst>
          </p:cNvPr>
          <p:cNvSpPr>
            <a:spLocks noChangeArrowheads="1"/>
          </p:cNvSpPr>
          <p:nvPr/>
        </p:nvSpPr>
        <p:spPr bwMode="auto">
          <a:xfrm>
            <a:off x="4568654" y="4733913"/>
            <a:ext cx="5901226" cy="1168108"/>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Consolidate individual maps into a single map by consensus of the team </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Use post-it notes to facilitate any necessary changes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Review map as a team to ensure accuracy and validate flow</a:t>
            </a:r>
          </a:p>
        </p:txBody>
      </p:sp>
    </p:spTree>
    <p:extLst>
      <p:ext uri="{BB962C8B-B14F-4D97-AF65-F5344CB8AC3E}">
        <p14:creationId xmlns:p14="http://schemas.microsoft.com/office/powerpoint/2010/main" val="215157486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Current State Mapping for Business</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84</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Current State Value Stream Map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Follow the guidelines on the previous pages to</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the current state Value Stream Map.</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When complete, revisit the customer’s expectations (identified earlier in exercise on </a:t>
            </a:r>
            <a:r>
              <a:rPr kumimoji="0" lang="en-US" sz="1600" b="0" i="0" u="none" strike="noStrike" cap="none" spc="0" normalizeH="0" baseline="0" dirty="0" err="1">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pgs</a:t>
            </a: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 20-21) and answer: “How well are we currently aligned to our customer’s expectations?”</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841256"/>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Current State</a:t>
            </a:r>
            <a:b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Map of the process.</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47260318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85</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Autofit/>
          </a:bodyPr>
          <a:lstStyle/>
          <a:p>
            <a:r>
              <a:rPr lang="en-US" sz="3200" dirty="0">
                <a:latin typeface="Roboto Medium"/>
                <a:ea typeface="Roboto Medium"/>
                <a:cs typeface="Roboto Medium"/>
              </a:rPr>
              <a:t>Interrogating the Current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steps to analyze or “interrogate” a Current State Map for improvement opportunities</a:t>
            </a:r>
          </a:p>
          <a:p>
            <a:r>
              <a:rPr lang="en-US" dirty="0"/>
              <a:t>Perform Current State Interrogation Exercise</a:t>
            </a:r>
          </a:p>
          <a:p>
            <a:r>
              <a:rPr lang="en-US" dirty="0"/>
              <a:t>Complete Current State Interrogation for Business Current State Map</a:t>
            </a:r>
          </a:p>
          <a:p>
            <a:r>
              <a:rPr lang="en-US" dirty="0"/>
              <a:t>Report-out Current State Map with identified improvements to Leadership</a:t>
            </a:r>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Interrogate the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234263401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Exercise</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86</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236637"/>
            <a:ext cx="9722342" cy="718145"/>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Apply lean thinking to the Current State Map to identify opportunities to remove waste from the Value Stream.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Use the MME case study Current State Map on 11x17”paper.</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Follow along as the instructor leads a step-by-step discussion of how to interrogate a Current State Map.</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When instructed, mark your MME Current State Map using red pen/marker. Don’t work ahead.</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60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59513"/>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Review your map for completeness, proper form, use and placement of VSM Icons. </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298410490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87</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296316739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 (continued)</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88</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 improvements in machine uptime need to be addressed?</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need quality (first time yield) improvements?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information flow improvements are required?</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manpower improvement opportunities?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changes to scheduling need to be implemented?</a:t>
            </a:r>
          </a:p>
        </p:txBody>
      </p:sp>
    </p:spTree>
    <p:extLst>
      <p:ext uri="{BB962C8B-B14F-4D97-AF65-F5344CB8AC3E}">
        <p14:creationId xmlns:p14="http://schemas.microsoft.com/office/powerpoint/2010/main" val="417615536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89</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20762996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Deciding on Build Strategy</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a:bodyPr>
          <a:lstStyle/>
          <a:p>
            <a:r>
              <a:rPr lang="en-US" dirty="0"/>
              <a:t>Build to Finished Goods (FG) Supermarket</a:t>
            </a:r>
          </a:p>
          <a:p>
            <a:pPr lvl="1"/>
            <a:r>
              <a:rPr lang="en-US" dirty="0"/>
              <a:t>Products are sold and shipped “off the shelf”</a:t>
            </a:r>
          </a:p>
          <a:p>
            <a:pPr lvl="1"/>
            <a:r>
              <a:rPr lang="en-US" dirty="0"/>
              <a:t>Planned FG inventory levels are tied to aggregate forecasts</a:t>
            </a:r>
          </a:p>
          <a:p>
            <a:pPr lvl="1"/>
            <a:r>
              <a:rPr lang="en-US" dirty="0"/>
              <a:t>FG is replenished at the rate of consumption </a:t>
            </a:r>
          </a:p>
          <a:p>
            <a:r>
              <a:rPr lang="en-US" dirty="0"/>
              <a:t>Build to Shipping</a:t>
            </a:r>
          </a:p>
          <a:p>
            <a:pPr lvl="1"/>
            <a:r>
              <a:rPr lang="en-US" dirty="0"/>
              <a:t>Products are configured for specific customers or orders prior to shipping</a:t>
            </a:r>
          </a:p>
          <a:p>
            <a:pPr lvl="1"/>
            <a:r>
              <a:rPr lang="en-US" dirty="0"/>
              <a:t>Large product variation (large # of SKUs) vs. number of products shipped</a:t>
            </a:r>
          </a:p>
          <a:p>
            <a:pPr lvl="1"/>
            <a:r>
              <a:rPr lang="en-US" dirty="0"/>
              <a:t>Build schedule based on firm customer orders</a:t>
            </a:r>
          </a:p>
          <a:p>
            <a:pPr lvl="1"/>
            <a:r>
              <a:rPr lang="en-US" dirty="0"/>
              <a:t>Raw materials may still be purchased to forecast based on planned usage</a:t>
            </a:r>
          </a:p>
          <a:p>
            <a:r>
              <a:rPr lang="en-US" dirty="0"/>
              <a:t>For MME, we will build to a FG Supermarket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90</a:t>
            </a:fld>
            <a:endParaRPr lang="en-US"/>
          </a:p>
        </p:txBody>
      </p:sp>
      <p:grpSp>
        <p:nvGrpSpPr>
          <p:cNvPr id="4" name="Group 3">
            <a:extLst>
              <a:ext uri="{FF2B5EF4-FFF2-40B4-BE49-F238E27FC236}">
                <a16:creationId xmlns:a16="http://schemas.microsoft.com/office/drawing/2014/main" id="{D9BF6327-BDAD-CF8D-A455-8BD6CFAFD36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7BB00B4-4F24-1367-F9D2-9318A749A5C5}"/>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1BD88346-B714-CB8C-3775-484B9440915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006DC440-E753-3A15-C160-966548B67F24}"/>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6BE61D70-5B5C-80B6-6432-830408A4B37F}"/>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2F13BD5-A701-DCD5-4267-1C4F154982F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E11CE8B4-FC75-4FC7-EF40-32184EF2D0F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855DFDE-5897-5E18-2AC1-16EC7055328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5C81EB0-9F04-6E63-28DC-AE103FDC516F}"/>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299814841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91</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283774445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Producing to Takt Time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92</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00" name="Group 99">
            <a:extLst>
              <a:ext uri="{FF2B5EF4-FFF2-40B4-BE49-F238E27FC236}">
                <a16:creationId xmlns:a16="http://schemas.microsoft.com/office/drawing/2014/main" id="{51F9C420-A478-0A86-AA21-9BC0C954A3D3}"/>
              </a:ext>
            </a:extLst>
          </p:cNvPr>
          <p:cNvGrpSpPr/>
          <p:nvPr/>
        </p:nvGrpSpPr>
        <p:grpSpPr>
          <a:xfrm>
            <a:off x="838200" y="297639"/>
            <a:ext cx="5391150" cy="307138"/>
            <a:chOff x="838200" y="297639"/>
            <a:chExt cx="5391150" cy="307138"/>
          </a:xfrm>
        </p:grpSpPr>
        <p:grpSp>
          <p:nvGrpSpPr>
            <p:cNvPr id="112" name="Group 111">
              <a:extLst>
                <a:ext uri="{FF2B5EF4-FFF2-40B4-BE49-F238E27FC236}">
                  <a16:creationId xmlns:a16="http://schemas.microsoft.com/office/drawing/2014/main" id="{1FF415D8-755A-3C94-2CBE-3367E03F6F80}"/>
                </a:ext>
              </a:extLst>
            </p:cNvPr>
            <p:cNvGrpSpPr/>
            <p:nvPr/>
          </p:nvGrpSpPr>
          <p:grpSpPr>
            <a:xfrm>
              <a:off x="838200" y="297639"/>
              <a:ext cx="1687517" cy="290657"/>
              <a:chOff x="838200" y="297639"/>
              <a:chExt cx="1687517" cy="290657"/>
            </a:xfrm>
          </p:grpSpPr>
          <p:sp>
            <p:nvSpPr>
              <p:cNvPr id="114" name="AutoShape 9">
                <a:extLst>
                  <a:ext uri="{FF2B5EF4-FFF2-40B4-BE49-F238E27FC236}">
                    <a16:creationId xmlns:a16="http://schemas.microsoft.com/office/drawing/2014/main" id="{FE60AF92-FA35-9A1E-2E9C-FF08E632001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5" name="AutoShape 9">
                <a:extLst>
                  <a:ext uri="{FF2B5EF4-FFF2-40B4-BE49-F238E27FC236}">
                    <a16:creationId xmlns:a16="http://schemas.microsoft.com/office/drawing/2014/main" id="{6068D214-A129-2729-3208-38780972540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16" name="Group 115">
                <a:extLst>
                  <a:ext uri="{FF2B5EF4-FFF2-40B4-BE49-F238E27FC236}">
                    <a16:creationId xmlns:a16="http://schemas.microsoft.com/office/drawing/2014/main" id="{146ECE1A-F187-9267-87CD-D94E40353E87}"/>
                  </a:ext>
                </a:extLst>
              </p:cNvPr>
              <p:cNvGrpSpPr/>
              <p:nvPr/>
            </p:nvGrpSpPr>
            <p:grpSpPr>
              <a:xfrm>
                <a:off x="838200" y="297639"/>
                <a:ext cx="1060167" cy="290657"/>
                <a:chOff x="826426" y="4041857"/>
                <a:chExt cx="1060167" cy="290657"/>
              </a:xfrm>
            </p:grpSpPr>
            <p:sp>
              <p:nvSpPr>
                <p:cNvPr id="119" name="AutoShape 9">
                  <a:extLst>
                    <a:ext uri="{FF2B5EF4-FFF2-40B4-BE49-F238E27FC236}">
                      <a16:creationId xmlns:a16="http://schemas.microsoft.com/office/drawing/2014/main" id="{64B57288-25FF-6A60-1E3D-740D7307C4C4}"/>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0" name="AutoShape 11">
                  <a:extLst>
                    <a:ext uri="{FF2B5EF4-FFF2-40B4-BE49-F238E27FC236}">
                      <a16:creationId xmlns:a16="http://schemas.microsoft.com/office/drawing/2014/main" id="{64A3304F-5B94-F1F7-8420-7A04B386A0A0}"/>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2" name="AutoShape 10">
                  <a:extLst>
                    <a:ext uri="{FF2B5EF4-FFF2-40B4-BE49-F238E27FC236}">
                      <a16:creationId xmlns:a16="http://schemas.microsoft.com/office/drawing/2014/main" id="{E9791F90-607C-D14F-2BAE-A14E78482BE7}"/>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3" name="TextBox 112">
              <a:extLst>
                <a:ext uri="{FF2B5EF4-FFF2-40B4-BE49-F238E27FC236}">
                  <a16:creationId xmlns:a16="http://schemas.microsoft.com/office/drawing/2014/main" id="{C135E47F-A223-B2B5-74CC-028FA41EA1AB}"/>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28" name="Rectangle 144">
            <a:extLst>
              <a:ext uri="{FF2B5EF4-FFF2-40B4-BE49-F238E27FC236}">
                <a16:creationId xmlns:a16="http://schemas.microsoft.com/office/drawing/2014/main" id="{E4FD9128-13EC-781A-238B-F2A18EB8F655}"/>
              </a:ext>
            </a:extLst>
          </p:cNvPr>
          <p:cNvSpPr>
            <a:spLocks noChangeArrowheads="1"/>
          </p:cNvSpPr>
          <p:nvPr/>
        </p:nvSpPr>
        <p:spPr bwMode="auto">
          <a:xfrm>
            <a:off x="2745050" y="1783147"/>
            <a:ext cx="5867400" cy="990600"/>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Review current output data to see if the process is </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producing at takt time</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Identify each process not achieving takt time</a:t>
            </a:r>
            <a:endParaRPr lang="en-US" altLang="en-US" sz="2800" dirty="0">
              <a:solidFill>
                <a:schemeClr val="tx1"/>
              </a:solidFill>
              <a:latin typeface="Roboto" panose="02000000000000000000" pitchFamily="2" charset="0"/>
              <a:ea typeface="Roboto" panose="02000000000000000000" pitchFamily="2" charset="0"/>
            </a:endParaRPr>
          </a:p>
        </p:txBody>
      </p:sp>
      <p:sp>
        <p:nvSpPr>
          <p:cNvPr id="137" name="Oval 136">
            <a:extLst>
              <a:ext uri="{FF2B5EF4-FFF2-40B4-BE49-F238E27FC236}">
                <a16:creationId xmlns:a16="http://schemas.microsoft.com/office/drawing/2014/main" id="{2389B166-4EC9-9742-880B-6EED41022489}"/>
              </a:ext>
            </a:extLst>
          </p:cNvPr>
          <p:cNvSpPr/>
          <p:nvPr/>
        </p:nvSpPr>
        <p:spPr>
          <a:xfrm>
            <a:off x="7552473" y="2896693"/>
            <a:ext cx="1877961" cy="672474"/>
          </a:xfrm>
          <a:prstGeom prst="ellipse">
            <a:avLst/>
          </a:pr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9" name="Straight Arrow Connector 138">
            <a:extLst>
              <a:ext uri="{FF2B5EF4-FFF2-40B4-BE49-F238E27FC236}">
                <a16:creationId xmlns:a16="http://schemas.microsoft.com/office/drawing/2014/main" id="{C6DDDB53-205F-235B-B0B9-071FFE9D4F0E}"/>
              </a:ext>
            </a:extLst>
          </p:cNvPr>
          <p:cNvCxnSpPr>
            <a:cxnSpLocks/>
            <a:stCxn id="137" idx="4"/>
            <a:endCxn id="141" idx="0"/>
          </p:cNvCxnSpPr>
          <p:nvPr/>
        </p:nvCxnSpPr>
        <p:spPr>
          <a:xfrm flipH="1">
            <a:off x="7959272" y="3569167"/>
            <a:ext cx="532182" cy="908549"/>
          </a:xfrm>
          <a:prstGeom prst="straightConnector1">
            <a:avLst/>
          </a:prstGeom>
          <a:ln w="28575">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
        <p:nvSpPr>
          <p:cNvPr id="141" name="Explosion: 14 Points 140">
            <a:extLst>
              <a:ext uri="{FF2B5EF4-FFF2-40B4-BE49-F238E27FC236}">
                <a16:creationId xmlns:a16="http://schemas.microsoft.com/office/drawing/2014/main" id="{124F4B7E-E6F5-F16E-96F9-387B02A6A687}"/>
              </a:ext>
            </a:extLst>
          </p:cNvPr>
          <p:cNvSpPr/>
          <p:nvPr/>
        </p:nvSpPr>
        <p:spPr>
          <a:xfrm>
            <a:off x="7196588" y="4377420"/>
            <a:ext cx="1694505" cy="1148060"/>
          </a:xfrm>
          <a:prstGeom prst="irregularSeal2">
            <a:avLst/>
          </a:pr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Comic Sans MS" panose="030F0702030302020204" pitchFamily="66" charset="0"/>
              </a:rPr>
              <a:t>Improve DOI</a:t>
            </a:r>
          </a:p>
        </p:txBody>
      </p:sp>
    </p:spTree>
    <p:extLst>
      <p:ext uri="{BB962C8B-B14F-4D97-AF65-F5344CB8AC3E}">
        <p14:creationId xmlns:p14="http://schemas.microsoft.com/office/powerpoint/2010/main" val="671976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3">
            <a:extLst>
              <a:ext uri="{FF2B5EF4-FFF2-40B4-BE49-F238E27FC236}">
                <a16:creationId xmlns:a16="http://schemas.microsoft.com/office/drawing/2014/main" id="{64FDBA4C-8558-C39D-74CB-AFB74044A2C6}"/>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Producing to Takt Time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93</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004787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94</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89908374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Coupling Processes for Continuous Flow</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95</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6"/>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quot;Not Allowed&quot; Symbol 2">
            <a:extLst>
              <a:ext uri="{FF2B5EF4-FFF2-40B4-BE49-F238E27FC236}">
                <a16:creationId xmlns:a16="http://schemas.microsoft.com/office/drawing/2014/main" id="{015DA7BC-1579-3C76-402C-E1E983D68E07}"/>
              </a:ext>
            </a:extLst>
          </p:cNvPr>
          <p:cNvSpPr/>
          <p:nvPr/>
        </p:nvSpPr>
        <p:spPr>
          <a:xfrm>
            <a:off x="5580088" y="4352202"/>
            <a:ext cx="655200" cy="567958"/>
          </a:xfrm>
          <a:prstGeom prst="noSmoking">
            <a:avLst>
              <a:gd name="adj" fmla="val 5333"/>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2717459" y="4633050"/>
            <a:ext cx="1694505" cy="1148060"/>
          </a:xfrm>
          <a:prstGeom prst="irregularSeal2">
            <a:avLst/>
          </a:pr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ysClr val="windowText" lastClr="000000"/>
                </a:solidFill>
                <a:latin typeface="Comic Sans MS" panose="030F0702030302020204" pitchFamily="66" charset="0"/>
              </a:rPr>
              <a:t>1 pc Flow</a:t>
            </a:r>
          </a:p>
        </p:txBody>
      </p:sp>
      <p:sp>
        <p:nvSpPr>
          <p:cNvPr id="6" name="Rectangle 149">
            <a:extLst>
              <a:ext uri="{FF2B5EF4-FFF2-40B4-BE49-F238E27FC236}">
                <a16:creationId xmlns:a16="http://schemas.microsoft.com/office/drawing/2014/main" id="{A1DCE67B-EBAE-E702-E600-D61535527F62}"/>
              </a:ext>
            </a:extLst>
          </p:cNvPr>
          <p:cNvSpPr>
            <a:spLocks noChangeArrowheads="1"/>
          </p:cNvSpPr>
          <p:nvPr/>
        </p:nvSpPr>
        <p:spPr bwMode="auto">
          <a:xfrm>
            <a:off x="3160582" y="1910370"/>
            <a:ext cx="5867400" cy="1524000"/>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Assess the processes for opportunities to implement</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continuous flow</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Stamp and Brake Form have similar processing times and</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each has a single operator</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Combining them eliminates the inventory between them</a:t>
            </a:r>
            <a:endParaRPr lang="en-US" altLang="en-US" sz="2800" dirty="0">
              <a:solidFill>
                <a:schemeClr val="tx1"/>
              </a:solidFill>
              <a:latin typeface="Roboto" panose="02000000000000000000" pitchFamily="2" charset="0"/>
              <a:ea typeface="Roboto" panose="02000000000000000000" pitchFamily="2" charset="0"/>
            </a:endParaRPr>
          </a:p>
        </p:txBody>
      </p:sp>
    </p:spTree>
    <p:extLst>
      <p:ext uri="{BB962C8B-B14F-4D97-AF65-F5344CB8AC3E}">
        <p14:creationId xmlns:p14="http://schemas.microsoft.com/office/powerpoint/2010/main" val="267387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3">
            <a:extLst>
              <a:ext uri="{FF2B5EF4-FFF2-40B4-BE49-F238E27FC236}">
                <a16:creationId xmlns:a16="http://schemas.microsoft.com/office/drawing/2014/main" id="{DC8A9025-5B8E-ED69-2908-40D905DCC6F7}"/>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Coupling Processes for Continuous Flow</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96</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2717459" y="46330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6" name="&quot;Not Allowed&quot; Symbol 5">
            <a:extLst>
              <a:ext uri="{FF2B5EF4-FFF2-40B4-BE49-F238E27FC236}">
                <a16:creationId xmlns:a16="http://schemas.microsoft.com/office/drawing/2014/main" id="{451903E5-D615-C43D-7582-321D853A1FCF}"/>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350822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97</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281847587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Link Decoupled Processes Using Pull</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98</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2717459" y="46330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6" name="Rectangle 148">
            <a:extLst>
              <a:ext uri="{FF2B5EF4-FFF2-40B4-BE49-F238E27FC236}">
                <a16:creationId xmlns:a16="http://schemas.microsoft.com/office/drawing/2014/main" id="{841C9C16-34F6-93B6-8579-C367E4E7F49F}"/>
              </a:ext>
            </a:extLst>
          </p:cNvPr>
          <p:cNvSpPr>
            <a:spLocks noChangeArrowheads="1"/>
          </p:cNvSpPr>
          <p:nvPr/>
        </p:nvSpPr>
        <p:spPr bwMode="auto">
          <a:xfrm>
            <a:off x="3162300" y="1795604"/>
            <a:ext cx="5867400" cy="1524000"/>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Identify where pull can be used to link decoupled</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processes that cannot flow</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Pulling from Stamp/Brake Form to Shipping</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Pulling from Cut to Stamp/Brake Form</a:t>
            </a:r>
            <a:endParaRPr lang="en-US" altLang="en-US" sz="2800" dirty="0">
              <a:solidFill>
                <a:schemeClr val="tx1"/>
              </a:solidFill>
              <a:latin typeface="Roboto" panose="02000000000000000000" pitchFamily="2" charset="0"/>
              <a:ea typeface="Roboto" panose="02000000000000000000" pitchFamily="2" charset="0"/>
            </a:endParaRPr>
          </a:p>
        </p:txBody>
      </p:sp>
      <p:pic>
        <p:nvPicPr>
          <p:cNvPr id="145" name="Picture 144">
            <a:extLst>
              <a:ext uri="{FF2B5EF4-FFF2-40B4-BE49-F238E27FC236}">
                <a16:creationId xmlns:a16="http://schemas.microsoft.com/office/drawing/2014/main" id="{900F758F-B781-29B8-0271-8F269695746D}"/>
              </a:ext>
            </a:extLst>
          </p:cNvPr>
          <p:cNvPicPr>
            <a:picLocks noChangeAspect="1"/>
          </p:cNvPicPr>
          <p:nvPr/>
        </p:nvPicPr>
        <p:blipFill>
          <a:blip r:embed="rId3">
            <a:clrChange>
              <a:clrFrom>
                <a:srgbClr val="FFFFFF"/>
              </a:clrFrom>
              <a:clrTo>
                <a:srgbClr val="FFFFFF">
                  <a:alpha val="0"/>
                </a:srgbClr>
              </a:clrTo>
            </a:clrChange>
            <a:duotone>
              <a:prstClr val="black"/>
              <a:schemeClr val="accent6">
                <a:tint val="45000"/>
                <a:satMod val="400000"/>
              </a:schemeClr>
            </a:duotone>
          </a:blip>
          <a:stretch>
            <a:fillRect/>
          </a:stretch>
        </p:blipFill>
        <p:spPr>
          <a:xfrm>
            <a:off x="3337969" y="4053847"/>
            <a:ext cx="393365" cy="347472"/>
          </a:xfrm>
          <a:prstGeom prst="rect">
            <a:avLst/>
          </a:prstGeom>
        </p:spPr>
      </p:pic>
      <p:pic>
        <p:nvPicPr>
          <p:cNvPr id="146" name="Picture 145">
            <a:extLst>
              <a:ext uri="{FF2B5EF4-FFF2-40B4-BE49-F238E27FC236}">
                <a16:creationId xmlns:a16="http://schemas.microsoft.com/office/drawing/2014/main" id="{63FC6CEE-8CE8-26BD-D985-4DB5F8F65E58}"/>
              </a:ext>
            </a:extLst>
          </p:cNvPr>
          <p:cNvPicPr>
            <a:picLocks noChangeAspect="1"/>
          </p:cNvPicPr>
          <p:nvPr/>
        </p:nvPicPr>
        <p:blipFill>
          <a:blip r:embed="rId3">
            <a:clrChange>
              <a:clrFrom>
                <a:srgbClr val="FFFFFF"/>
              </a:clrFrom>
              <a:clrTo>
                <a:srgbClr val="FFFFFF">
                  <a:alpha val="0"/>
                </a:srgbClr>
              </a:clrTo>
            </a:clrChange>
            <a:duotone>
              <a:prstClr val="black"/>
              <a:schemeClr val="accent6">
                <a:tint val="45000"/>
                <a:satMod val="400000"/>
              </a:schemeClr>
            </a:duotone>
          </a:blip>
          <a:stretch>
            <a:fillRect/>
          </a:stretch>
        </p:blipFill>
        <p:spPr>
          <a:xfrm>
            <a:off x="8335636" y="4053003"/>
            <a:ext cx="393365" cy="347472"/>
          </a:xfrm>
          <a:prstGeom prst="rect">
            <a:avLst/>
          </a:prstGeom>
        </p:spPr>
      </p:pic>
      <p:sp>
        <p:nvSpPr>
          <p:cNvPr id="8" name="&quot;Not Allowed&quot; Symbol 7">
            <a:extLst>
              <a:ext uri="{FF2B5EF4-FFF2-40B4-BE49-F238E27FC236}">
                <a16:creationId xmlns:a16="http://schemas.microsoft.com/office/drawing/2014/main" id="{BD4B07A6-5575-7A59-0448-2C07FF40F3D0}"/>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215277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3">
            <a:extLst>
              <a:ext uri="{FF2B5EF4-FFF2-40B4-BE49-F238E27FC236}">
                <a16:creationId xmlns:a16="http://schemas.microsoft.com/office/drawing/2014/main" id="{54EC79E0-C653-43C2-CBDA-087E62735AC1}"/>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Link Decoupled Processes Using Pull</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99</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2717459" y="46330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sp>
        <p:nvSpPr>
          <p:cNvPr id="8" name="&quot;Not Allowed&quot; Symbol 7">
            <a:extLst>
              <a:ext uri="{FF2B5EF4-FFF2-40B4-BE49-F238E27FC236}">
                <a16:creationId xmlns:a16="http://schemas.microsoft.com/office/drawing/2014/main" id="{974D8439-8166-5410-C889-04CE479AAAB8}"/>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4007235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100</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246023702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Supermarket &amp; FIFO Definition</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a:xfrm>
            <a:off x="838200" y="1825625"/>
            <a:ext cx="8157210" cy="4351338"/>
          </a:xfrm>
        </p:spPr>
        <p:txBody>
          <a:bodyPr>
            <a:normAutofit fontScale="85000" lnSpcReduction="20000"/>
          </a:bodyPr>
          <a:lstStyle/>
          <a:p>
            <a:r>
              <a:rPr lang="en-US" dirty="0"/>
              <a:t>Supermarket – Definition</a:t>
            </a:r>
          </a:p>
          <a:p>
            <a:pPr lvl="1"/>
            <a:r>
              <a:rPr lang="en-US" dirty="0"/>
              <a:t>Used for discreet, predictable, repeatable parts</a:t>
            </a:r>
          </a:p>
          <a:p>
            <a:pPr lvl="1"/>
            <a:r>
              <a:rPr lang="en-US" dirty="0"/>
              <a:t>A controlled inventory location, located at the producing process</a:t>
            </a:r>
          </a:p>
          <a:p>
            <a:pPr lvl="1"/>
            <a:r>
              <a:rPr lang="en-US" dirty="0"/>
              <a:t>Desired on-hand quantity of each part/product is pre-determined</a:t>
            </a:r>
          </a:p>
          <a:p>
            <a:pPr lvl="1"/>
            <a:r>
              <a:rPr lang="en-US" dirty="0"/>
              <a:t>Any piece in the supermarket may be withdrawn by a consuming process via pull</a:t>
            </a:r>
          </a:p>
          <a:p>
            <a:pPr lvl="1"/>
            <a:r>
              <a:rPr lang="en-US" dirty="0"/>
              <a:t>Withdrawal from the supermarket triggers production of another piece by the producing process</a:t>
            </a:r>
          </a:p>
          <a:p>
            <a:endParaRPr lang="en-US" dirty="0"/>
          </a:p>
          <a:p>
            <a:r>
              <a:rPr lang="en-US" dirty="0"/>
              <a:t>FIFO Lane – Definition </a:t>
            </a:r>
          </a:p>
          <a:p>
            <a:pPr lvl="1"/>
            <a:r>
              <a:rPr lang="en-US" dirty="0"/>
              <a:t>Used for custom parts</a:t>
            </a:r>
          </a:p>
          <a:p>
            <a:pPr lvl="1"/>
            <a:r>
              <a:rPr lang="en-US" dirty="0"/>
              <a:t>A controlled stream of inventory between two processes that directly links them </a:t>
            </a:r>
          </a:p>
          <a:p>
            <a:pPr lvl="1"/>
            <a:r>
              <a:rPr lang="en-US" dirty="0"/>
              <a:t>A fixed maximum quantity of pieces is designated</a:t>
            </a:r>
          </a:p>
          <a:p>
            <a:pPr lvl="1"/>
            <a:r>
              <a:rPr lang="en-US" dirty="0"/>
              <a:t>Pieces are consumed in first-in-first out sequence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101</a:t>
            </a:fld>
            <a:endParaRPr lang="en-US"/>
          </a:p>
        </p:txBody>
      </p:sp>
      <p:grpSp>
        <p:nvGrpSpPr>
          <p:cNvPr id="4" name="Group 3">
            <a:extLst>
              <a:ext uri="{FF2B5EF4-FFF2-40B4-BE49-F238E27FC236}">
                <a16:creationId xmlns:a16="http://schemas.microsoft.com/office/drawing/2014/main" id="{A6D45007-7C6F-E3E8-B63D-9A36FD8734B4}"/>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7BBB7FAC-F8A5-A28C-E3F7-3106E3D784EE}"/>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BAAE7200-645D-A5A9-966B-94EDBD9633E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54DDE843-1C06-EEB7-EE9E-4E0D31B0755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C5876A1C-1A20-902E-8572-BC8007986E8D}"/>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3481AFDE-5B0A-4647-C0D6-7F295D7F12CC}"/>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210CA3E6-D595-5612-E30A-D6EB3E5C576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26DBCB49-2883-0359-3633-87F15FFACFA9}"/>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5BFB00CD-D331-06B1-CE73-09948B1E9EEF}"/>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4" name="Group 4">
            <a:extLst>
              <a:ext uri="{FF2B5EF4-FFF2-40B4-BE49-F238E27FC236}">
                <a16:creationId xmlns:a16="http://schemas.microsoft.com/office/drawing/2014/main" id="{846B1222-1144-B96E-2D3D-84A5AB9D9983}"/>
              </a:ext>
            </a:extLst>
          </p:cNvPr>
          <p:cNvGrpSpPr>
            <a:grpSpLocks/>
          </p:cNvGrpSpPr>
          <p:nvPr/>
        </p:nvGrpSpPr>
        <p:grpSpPr bwMode="auto">
          <a:xfrm>
            <a:off x="10102533" y="2157095"/>
            <a:ext cx="452437" cy="1001713"/>
            <a:chOff x="4780" y="1303"/>
            <a:chExt cx="285" cy="631"/>
          </a:xfrm>
        </p:grpSpPr>
        <p:sp>
          <p:nvSpPr>
            <p:cNvPr id="15" name="Line 5">
              <a:extLst>
                <a:ext uri="{FF2B5EF4-FFF2-40B4-BE49-F238E27FC236}">
                  <a16:creationId xmlns:a16="http://schemas.microsoft.com/office/drawing/2014/main" id="{016D72E1-F4C9-07D0-5774-62B073890E6E}"/>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 name="Line 6">
              <a:extLst>
                <a:ext uri="{FF2B5EF4-FFF2-40B4-BE49-F238E27FC236}">
                  <a16:creationId xmlns:a16="http://schemas.microsoft.com/office/drawing/2014/main" id="{10761142-3453-5151-7A7B-52EAB564AC4A}"/>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 name="Line 7">
              <a:extLst>
                <a:ext uri="{FF2B5EF4-FFF2-40B4-BE49-F238E27FC236}">
                  <a16:creationId xmlns:a16="http://schemas.microsoft.com/office/drawing/2014/main" id="{58D54D41-F271-6829-4ED7-8B56F740BF9A}"/>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 name="Line 8">
              <a:extLst>
                <a:ext uri="{FF2B5EF4-FFF2-40B4-BE49-F238E27FC236}">
                  <a16:creationId xmlns:a16="http://schemas.microsoft.com/office/drawing/2014/main" id="{ACEB68FC-20DF-DA69-B4EF-410CE2A35380}"/>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9" name="Line 9">
              <a:extLst>
                <a:ext uri="{FF2B5EF4-FFF2-40B4-BE49-F238E27FC236}">
                  <a16:creationId xmlns:a16="http://schemas.microsoft.com/office/drawing/2014/main" id="{58795B91-5ACB-E73B-FDB6-4EC794A9F852}"/>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 name="Group 10">
            <a:extLst>
              <a:ext uri="{FF2B5EF4-FFF2-40B4-BE49-F238E27FC236}">
                <a16:creationId xmlns:a16="http://schemas.microsoft.com/office/drawing/2014/main" id="{0DD5B085-67C8-AFA4-D13B-9F003C700B92}"/>
              </a:ext>
            </a:extLst>
          </p:cNvPr>
          <p:cNvGrpSpPr>
            <a:grpSpLocks/>
          </p:cNvGrpSpPr>
          <p:nvPr/>
        </p:nvGrpSpPr>
        <p:grpSpPr bwMode="auto">
          <a:xfrm>
            <a:off x="9626283" y="4749483"/>
            <a:ext cx="1325562" cy="684212"/>
            <a:chOff x="4602" y="3096"/>
            <a:chExt cx="835" cy="431"/>
          </a:xfrm>
        </p:grpSpPr>
        <p:sp>
          <p:nvSpPr>
            <p:cNvPr id="21" name="Line 11">
              <a:extLst>
                <a:ext uri="{FF2B5EF4-FFF2-40B4-BE49-F238E27FC236}">
                  <a16:creationId xmlns:a16="http://schemas.microsoft.com/office/drawing/2014/main" id="{50EB4844-D01C-3A01-CF63-AEEF66F79D37}"/>
                </a:ext>
              </a:extLst>
            </p:cNvPr>
            <p:cNvSpPr>
              <a:spLocks noChangeShapeType="1"/>
            </p:cNvSpPr>
            <p:nvPr/>
          </p:nvSpPr>
          <p:spPr bwMode="auto">
            <a:xfrm flipV="1">
              <a:off x="4602" y="3266"/>
              <a:ext cx="83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2" name="Line 12">
              <a:extLst>
                <a:ext uri="{FF2B5EF4-FFF2-40B4-BE49-F238E27FC236}">
                  <a16:creationId xmlns:a16="http://schemas.microsoft.com/office/drawing/2014/main" id="{E3D7E9D3-EBA8-4308-4FAD-C59371C5CFA1}"/>
                </a:ext>
              </a:extLst>
            </p:cNvPr>
            <p:cNvSpPr>
              <a:spLocks noChangeShapeType="1"/>
            </p:cNvSpPr>
            <p:nvPr/>
          </p:nvSpPr>
          <p:spPr bwMode="auto">
            <a:xfrm flipV="1">
              <a:off x="4602" y="3527"/>
              <a:ext cx="83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3" name="Text Box 13">
              <a:extLst>
                <a:ext uri="{FF2B5EF4-FFF2-40B4-BE49-F238E27FC236}">
                  <a16:creationId xmlns:a16="http://schemas.microsoft.com/office/drawing/2014/main" id="{4E425846-41A2-94E6-8308-AD811EF0F87A}"/>
                </a:ext>
              </a:extLst>
            </p:cNvPr>
            <p:cNvSpPr txBox="1">
              <a:spLocks noChangeArrowheads="1"/>
            </p:cNvSpPr>
            <p:nvPr/>
          </p:nvSpPr>
          <p:spPr bwMode="auto">
            <a:xfrm>
              <a:off x="4797" y="3286"/>
              <a:ext cx="44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b="0">
                  <a:solidFill>
                    <a:schemeClr val="tx1"/>
                  </a:solidFill>
                  <a:latin typeface="Comic Sans MS" panose="030F0702030302020204" pitchFamily="66" charset="0"/>
                </a:rPr>
                <a:t>FIFO</a:t>
              </a:r>
            </a:p>
          </p:txBody>
        </p:sp>
        <p:sp>
          <p:nvSpPr>
            <p:cNvPr id="24" name="Text Box 14">
              <a:extLst>
                <a:ext uri="{FF2B5EF4-FFF2-40B4-BE49-F238E27FC236}">
                  <a16:creationId xmlns:a16="http://schemas.microsoft.com/office/drawing/2014/main" id="{4208D31C-F579-7F33-2B32-220E83C879C2}"/>
                </a:ext>
              </a:extLst>
            </p:cNvPr>
            <p:cNvSpPr txBox="1">
              <a:spLocks noChangeArrowheads="1"/>
            </p:cNvSpPr>
            <p:nvPr/>
          </p:nvSpPr>
          <p:spPr bwMode="auto">
            <a:xfrm>
              <a:off x="4638" y="3096"/>
              <a:ext cx="7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b="0">
                  <a:solidFill>
                    <a:schemeClr val="tx1"/>
                  </a:solidFill>
                  <a:latin typeface="Comic Sans MS" panose="030F0702030302020204" pitchFamily="66" charset="0"/>
                </a:rPr>
                <a:t>Max 25 pieces</a:t>
              </a:r>
            </a:p>
          </p:txBody>
        </p:sp>
      </p:grpSp>
    </p:spTree>
    <p:extLst>
      <p:ext uri="{BB962C8B-B14F-4D97-AF65-F5344CB8AC3E}">
        <p14:creationId xmlns:p14="http://schemas.microsoft.com/office/powerpoint/2010/main" val="1175217706"/>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Supermarket vs. FIFO</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102</a:t>
            </a:fld>
            <a:endParaRPr lang="en-US"/>
          </a:p>
        </p:txBody>
      </p:sp>
      <p:grpSp>
        <p:nvGrpSpPr>
          <p:cNvPr id="3" name="Group 2">
            <a:extLst>
              <a:ext uri="{FF2B5EF4-FFF2-40B4-BE49-F238E27FC236}">
                <a16:creationId xmlns:a16="http://schemas.microsoft.com/office/drawing/2014/main" id="{B33D0DC5-7F9F-BA89-54D3-08E20100B4D7}"/>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24876B0C-F71C-BDD0-67F6-DFAFE1E5F561}"/>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E9BF743E-E63C-99A0-3B41-F00D8BED23A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F31CD5BF-2864-A75B-E001-21160D71752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A48B56D-C3B4-5159-31FF-40A0D0B03BF9}"/>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7E7F3808-81A4-FB75-3AB8-BABB304DDA3E}"/>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EAFD1AE6-3A9D-6403-337C-D60F5E769E3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CD948A50-6B23-4190-77F2-BB6F2D8CE53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B3F71C4D-86E1-9D54-5CC3-E27061A4E58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72" name="Group 71">
            <a:extLst>
              <a:ext uri="{FF2B5EF4-FFF2-40B4-BE49-F238E27FC236}">
                <a16:creationId xmlns:a16="http://schemas.microsoft.com/office/drawing/2014/main" id="{41A6BB15-8BC4-D726-DE8B-4D4EB365062A}"/>
              </a:ext>
            </a:extLst>
          </p:cNvPr>
          <p:cNvGrpSpPr/>
          <p:nvPr/>
        </p:nvGrpSpPr>
        <p:grpSpPr>
          <a:xfrm>
            <a:off x="685324" y="1726482"/>
            <a:ext cx="10821352" cy="4459620"/>
            <a:chOff x="414338" y="1262422"/>
            <a:chExt cx="8383587" cy="4944704"/>
          </a:xfrm>
        </p:grpSpPr>
        <p:grpSp>
          <p:nvGrpSpPr>
            <p:cNvPr id="13" name="Group 28">
              <a:extLst>
                <a:ext uri="{FF2B5EF4-FFF2-40B4-BE49-F238E27FC236}">
                  <a16:creationId xmlns:a16="http://schemas.microsoft.com/office/drawing/2014/main" id="{5256A7FD-9145-348F-F89A-DF52C2EF5777}"/>
                </a:ext>
              </a:extLst>
            </p:cNvPr>
            <p:cNvGrpSpPr>
              <a:grpSpLocks/>
            </p:cNvGrpSpPr>
            <p:nvPr/>
          </p:nvGrpSpPr>
          <p:grpSpPr bwMode="auto">
            <a:xfrm>
              <a:off x="3551238" y="2794000"/>
              <a:ext cx="833437" cy="619125"/>
              <a:chOff x="1367" y="2370"/>
              <a:chExt cx="434" cy="390"/>
            </a:xfrm>
          </p:grpSpPr>
          <p:grpSp>
            <p:nvGrpSpPr>
              <p:cNvPr id="14" name="Group 29">
                <a:extLst>
                  <a:ext uri="{FF2B5EF4-FFF2-40B4-BE49-F238E27FC236}">
                    <a16:creationId xmlns:a16="http://schemas.microsoft.com/office/drawing/2014/main" id="{C69A1C23-6913-EDE3-AFE7-FEA636EB0657}"/>
                  </a:ext>
                </a:extLst>
              </p:cNvPr>
              <p:cNvGrpSpPr>
                <a:grpSpLocks/>
              </p:cNvGrpSpPr>
              <p:nvPr/>
            </p:nvGrpSpPr>
            <p:grpSpPr bwMode="auto">
              <a:xfrm>
                <a:off x="1367" y="2395"/>
                <a:ext cx="434" cy="365"/>
                <a:chOff x="418" y="2981"/>
                <a:chExt cx="352" cy="365"/>
              </a:xfrm>
            </p:grpSpPr>
            <p:sp>
              <p:nvSpPr>
                <p:cNvPr id="20" name="Rectangle 30">
                  <a:extLst>
                    <a:ext uri="{FF2B5EF4-FFF2-40B4-BE49-F238E27FC236}">
                      <a16:creationId xmlns:a16="http://schemas.microsoft.com/office/drawing/2014/main" id="{7336C19C-B718-FE6F-54BB-147D7CC5E70F}"/>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21" name="Line 31">
                  <a:extLst>
                    <a:ext uri="{FF2B5EF4-FFF2-40B4-BE49-F238E27FC236}">
                      <a16:creationId xmlns:a16="http://schemas.microsoft.com/office/drawing/2014/main" id="{C4A31298-F843-5E17-485B-DA2C26425B1B}"/>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5" name="Group 32">
                <a:extLst>
                  <a:ext uri="{FF2B5EF4-FFF2-40B4-BE49-F238E27FC236}">
                    <a16:creationId xmlns:a16="http://schemas.microsoft.com/office/drawing/2014/main" id="{BB550AFE-C1AF-FA37-C0A2-A8C9D7193A48}"/>
                  </a:ext>
                </a:extLst>
              </p:cNvPr>
              <p:cNvGrpSpPr>
                <a:grpSpLocks/>
              </p:cNvGrpSpPr>
              <p:nvPr/>
            </p:nvGrpSpPr>
            <p:grpSpPr bwMode="auto">
              <a:xfrm flipV="1">
                <a:off x="1462" y="2586"/>
                <a:ext cx="96" cy="112"/>
                <a:chOff x="720" y="3354"/>
                <a:chExt cx="192" cy="198"/>
              </a:xfrm>
            </p:grpSpPr>
            <p:sp>
              <p:nvSpPr>
                <p:cNvPr id="18" name="Oval 33">
                  <a:extLst>
                    <a:ext uri="{FF2B5EF4-FFF2-40B4-BE49-F238E27FC236}">
                      <a16:creationId xmlns:a16="http://schemas.microsoft.com/office/drawing/2014/main" id="{B888F712-1F79-6013-60A2-8C63EA100A42}"/>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19" name="AutoShape 34">
                  <a:extLst>
                    <a:ext uri="{FF2B5EF4-FFF2-40B4-BE49-F238E27FC236}">
                      <a16:creationId xmlns:a16="http://schemas.microsoft.com/office/drawing/2014/main" id="{E744458E-DA18-4523-7833-816C532B93B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en-US"/>
                </a:p>
              </p:txBody>
            </p:sp>
          </p:grpSp>
          <p:sp>
            <p:nvSpPr>
              <p:cNvPr id="16" name="Text Box 35">
                <a:extLst>
                  <a:ext uri="{FF2B5EF4-FFF2-40B4-BE49-F238E27FC236}">
                    <a16:creationId xmlns:a16="http://schemas.microsoft.com/office/drawing/2014/main" id="{B4FF624E-E81D-C366-8B82-1C7EE82DDCA4}"/>
                  </a:ext>
                </a:extLst>
              </p:cNvPr>
              <p:cNvSpPr txBox="1">
                <a:spLocks noChangeArrowheads="1"/>
              </p:cNvSpPr>
              <p:nvPr/>
            </p:nvSpPr>
            <p:spPr bwMode="auto">
              <a:xfrm>
                <a:off x="1562" y="2584"/>
                <a:ext cx="140"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b="0">
                    <a:solidFill>
                      <a:schemeClr val="tx1"/>
                    </a:solidFill>
                    <a:latin typeface="Roboto" panose="02000000000000000000" pitchFamily="2" charset="0"/>
                    <a:ea typeface="Roboto" panose="02000000000000000000" pitchFamily="2" charset="0"/>
                  </a:rPr>
                  <a:t>= 1</a:t>
                </a:r>
              </a:p>
            </p:txBody>
          </p:sp>
          <p:sp>
            <p:nvSpPr>
              <p:cNvPr id="17" name="Text Box 36">
                <a:extLst>
                  <a:ext uri="{FF2B5EF4-FFF2-40B4-BE49-F238E27FC236}">
                    <a16:creationId xmlns:a16="http://schemas.microsoft.com/office/drawing/2014/main" id="{ED109349-5B45-1B99-4CCD-B4AF9F37C48E}"/>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b="0">
                    <a:solidFill>
                      <a:schemeClr val="tx1"/>
                    </a:solidFill>
                    <a:latin typeface="Roboto" panose="02000000000000000000" pitchFamily="2" charset="0"/>
                    <a:ea typeface="Roboto" panose="02000000000000000000" pitchFamily="2" charset="0"/>
                  </a:rPr>
                  <a:t>Paint</a:t>
                </a:r>
              </a:p>
            </p:txBody>
          </p:sp>
        </p:grpSp>
        <p:sp>
          <p:nvSpPr>
            <p:cNvPr id="22" name="AutoShape 56">
              <a:extLst>
                <a:ext uri="{FF2B5EF4-FFF2-40B4-BE49-F238E27FC236}">
                  <a16:creationId xmlns:a16="http://schemas.microsoft.com/office/drawing/2014/main" id="{9B7FD06D-1BE0-54BB-580C-C58695523EB1}"/>
                </a:ext>
              </a:extLst>
            </p:cNvPr>
            <p:cNvSpPr>
              <a:spLocks noChangeArrowheads="1"/>
            </p:cNvSpPr>
            <p:nvPr/>
          </p:nvSpPr>
          <p:spPr bwMode="auto">
            <a:xfrm>
              <a:off x="3478213" y="1262422"/>
              <a:ext cx="1076325" cy="1007166"/>
            </a:xfrm>
            <a:prstGeom prst="flowChartDocument">
              <a:avLst/>
            </a:prstGeom>
            <a:solidFill>
              <a:srgbClr val="FFFF99"/>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Clr>
                  <a:schemeClr val="accent1"/>
                </a:buClr>
                <a:buSzPct val="90000"/>
              </a:pPr>
              <a:r>
                <a:rPr lang="en-US" altLang="en-US" dirty="0">
                  <a:solidFill>
                    <a:srgbClr val="FF0000"/>
                  </a:solidFill>
                  <a:latin typeface="Roboto" panose="02000000000000000000" pitchFamily="2" charset="0"/>
                  <a:ea typeface="Roboto" panose="02000000000000000000" pitchFamily="2" charset="0"/>
                </a:rPr>
                <a:t>Customer Order</a:t>
              </a:r>
            </a:p>
            <a:p>
              <a:pPr algn="l">
                <a:lnSpc>
                  <a:spcPct val="100000"/>
                </a:lnSpc>
                <a:spcBef>
                  <a:spcPct val="0"/>
                </a:spcBef>
                <a:buClr>
                  <a:schemeClr val="accent1"/>
                </a:buClr>
                <a:buSzPct val="90000"/>
              </a:pPr>
              <a:r>
                <a:rPr lang="en-US" altLang="en-US" dirty="0">
                  <a:solidFill>
                    <a:srgbClr val="FF0000"/>
                  </a:solidFill>
                  <a:latin typeface="Roboto" panose="02000000000000000000" pitchFamily="2" charset="0"/>
                  <a:ea typeface="Roboto" panose="02000000000000000000" pitchFamily="2" charset="0"/>
                </a:rPr>
                <a:t>------------------------</a:t>
              </a:r>
            </a:p>
            <a:p>
              <a:pPr algn="l">
                <a:lnSpc>
                  <a:spcPct val="100000"/>
                </a:lnSpc>
                <a:spcBef>
                  <a:spcPct val="0"/>
                </a:spcBef>
                <a:buClr>
                  <a:schemeClr val="accent1"/>
                </a:buClr>
                <a:buSzPct val="90000"/>
              </a:pPr>
              <a:r>
                <a:rPr lang="en-US" altLang="en-US" dirty="0">
                  <a:solidFill>
                    <a:srgbClr val="FF0000"/>
                  </a:solidFill>
                  <a:latin typeface="Roboto" panose="02000000000000000000" pitchFamily="2" charset="0"/>
                  <a:ea typeface="Roboto" panose="02000000000000000000" pitchFamily="2" charset="0"/>
                </a:rPr>
                <a:t> Frame Type</a:t>
              </a:r>
            </a:p>
            <a:p>
              <a:pPr algn="l">
                <a:lnSpc>
                  <a:spcPct val="100000"/>
                </a:lnSpc>
                <a:spcBef>
                  <a:spcPct val="0"/>
                </a:spcBef>
                <a:buClr>
                  <a:schemeClr val="accent1"/>
                </a:buClr>
                <a:buSzPct val="90000"/>
              </a:pPr>
              <a:r>
                <a:rPr lang="en-US" altLang="en-US" dirty="0">
                  <a:solidFill>
                    <a:srgbClr val="FF0000"/>
                  </a:solidFill>
                  <a:latin typeface="Roboto" panose="02000000000000000000" pitchFamily="2" charset="0"/>
                  <a:ea typeface="Roboto" panose="02000000000000000000" pitchFamily="2" charset="0"/>
                </a:rPr>
                <a:t> Color</a:t>
              </a:r>
            </a:p>
            <a:p>
              <a:pPr algn="l">
                <a:lnSpc>
                  <a:spcPct val="100000"/>
                </a:lnSpc>
                <a:spcBef>
                  <a:spcPct val="0"/>
                </a:spcBef>
                <a:buClr>
                  <a:schemeClr val="accent1"/>
                </a:buClr>
                <a:buSzPct val="90000"/>
              </a:pPr>
              <a:r>
                <a:rPr lang="en-US" altLang="en-US" dirty="0">
                  <a:solidFill>
                    <a:srgbClr val="FF0000"/>
                  </a:solidFill>
                  <a:latin typeface="Roboto" panose="02000000000000000000" pitchFamily="2" charset="0"/>
                  <a:ea typeface="Roboto" panose="02000000000000000000" pitchFamily="2" charset="0"/>
                </a:rPr>
                <a:t> Options</a:t>
              </a:r>
            </a:p>
          </p:txBody>
        </p:sp>
        <p:sp>
          <p:nvSpPr>
            <p:cNvPr id="23" name="Line 57">
              <a:extLst>
                <a:ext uri="{FF2B5EF4-FFF2-40B4-BE49-F238E27FC236}">
                  <a16:creationId xmlns:a16="http://schemas.microsoft.com/office/drawing/2014/main" id="{0568FD02-B06E-782F-4BB6-32BFC3A96FEE}"/>
                </a:ext>
              </a:extLst>
            </p:cNvPr>
            <p:cNvSpPr>
              <a:spLocks noChangeShapeType="1"/>
            </p:cNvSpPr>
            <p:nvPr/>
          </p:nvSpPr>
          <p:spPr bwMode="auto">
            <a:xfrm flipH="1">
              <a:off x="3984625" y="2190750"/>
              <a:ext cx="12700" cy="614363"/>
            </a:xfrm>
            <a:prstGeom prst="line">
              <a:avLst/>
            </a:prstGeom>
            <a:noFill/>
            <a:ln w="12700" cap="sq">
              <a:solidFill>
                <a:schemeClr val="tx1"/>
              </a:solidFill>
              <a:round/>
              <a:headEnd type="none" w="sm" len="sm"/>
              <a:tailEnd type="triangle" w="med" len="lg"/>
            </a:ln>
            <a:extLst>
              <a:ext uri="{909E8E84-426E-40DD-AFC4-6F175D3DCCD1}">
                <a14:hiddenFill xmlns:a14="http://schemas.microsoft.com/office/drawing/2010/main">
                  <a:noFill/>
                </a14:hiddenFill>
              </a:ext>
            </a:extLst>
          </p:spPr>
          <p:txBody>
            <a:bodyPr wrap="none"/>
            <a:lstStyle/>
            <a:p>
              <a:endParaRPr lang="en-US"/>
            </a:p>
          </p:txBody>
        </p:sp>
        <p:grpSp>
          <p:nvGrpSpPr>
            <p:cNvPr id="24" name="Group 69">
              <a:extLst>
                <a:ext uri="{FF2B5EF4-FFF2-40B4-BE49-F238E27FC236}">
                  <a16:creationId xmlns:a16="http://schemas.microsoft.com/office/drawing/2014/main" id="{1261D200-F83A-354D-ABF1-260C801242FA}"/>
                </a:ext>
              </a:extLst>
            </p:cNvPr>
            <p:cNvGrpSpPr>
              <a:grpSpLocks/>
            </p:cNvGrpSpPr>
            <p:nvPr/>
          </p:nvGrpSpPr>
          <p:grpSpPr bwMode="auto">
            <a:xfrm>
              <a:off x="414338" y="2382838"/>
              <a:ext cx="4032250" cy="3217863"/>
              <a:chOff x="261" y="1480"/>
              <a:chExt cx="2540" cy="2027"/>
            </a:xfrm>
          </p:grpSpPr>
          <p:grpSp>
            <p:nvGrpSpPr>
              <p:cNvPr id="25" name="Group 3">
                <a:extLst>
                  <a:ext uri="{FF2B5EF4-FFF2-40B4-BE49-F238E27FC236}">
                    <a16:creationId xmlns:a16="http://schemas.microsoft.com/office/drawing/2014/main" id="{831C46AA-BBF3-E812-0C8D-9957140178A0}"/>
                  </a:ext>
                </a:extLst>
              </p:cNvPr>
              <p:cNvGrpSpPr>
                <a:grpSpLocks/>
              </p:cNvGrpSpPr>
              <p:nvPr/>
            </p:nvGrpSpPr>
            <p:grpSpPr bwMode="auto">
              <a:xfrm>
                <a:off x="1213" y="1737"/>
                <a:ext cx="140" cy="434"/>
                <a:chOff x="4780" y="1303"/>
                <a:chExt cx="285" cy="631"/>
              </a:xfrm>
            </p:grpSpPr>
            <p:sp>
              <p:nvSpPr>
                <p:cNvPr id="46" name="Line 4">
                  <a:extLst>
                    <a:ext uri="{FF2B5EF4-FFF2-40B4-BE49-F238E27FC236}">
                      <a16:creationId xmlns:a16="http://schemas.microsoft.com/office/drawing/2014/main" id="{14E32E1D-6B2D-374A-78DC-C51695696EE8}"/>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47" name="Line 5">
                  <a:extLst>
                    <a:ext uri="{FF2B5EF4-FFF2-40B4-BE49-F238E27FC236}">
                      <a16:creationId xmlns:a16="http://schemas.microsoft.com/office/drawing/2014/main" id="{58DB3472-8CB8-2333-03FF-2992C41A2987}"/>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48" name="Line 6">
                  <a:extLst>
                    <a:ext uri="{FF2B5EF4-FFF2-40B4-BE49-F238E27FC236}">
                      <a16:creationId xmlns:a16="http://schemas.microsoft.com/office/drawing/2014/main" id="{97E2B328-0EC9-5E06-6D92-8F548F88E605}"/>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49" name="Line 7">
                  <a:extLst>
                    <a:ext uri="{FF2B5EF4-FFF2-40B4-BE49-F238E27FC236}">
                      <a16:creationId xmlns:a16="http://schemas.microsoft.com/office/drawing/2014/main" id="{716AF719-141E-3AAE-9856-AB94E916DFCA}"/>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50" name="Line 8">
                  <a:extLst>
                    <a:ext uri="{FF2B5EF4-FFF2-40B4-BE49-F238E27FC236}">
                      <a16:creationId xmlns:a16="http://schemas.microsoft.com/office/drawing/2014/main" id="{B063102E-5149-B6AC-3839-E0A85C4BCEE8}"/>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6" name="Group 37">
                <a:extLst>
                  <a:ext uri="{FF2B5EF4-FFF2-40B4-BE49-F238E27FC236}">
                    <a16:creationId xmlns:a16="http://schemas.microsoft.com/office/drawing/2014/main" id="{3C2FBA9D-FA29-8652-7B5B-E35C7C4689F5}"/>
                  </a:ext>
                </a:extLst>
              </p:cNvPr>
              <p:cNvGrpSpPr>
                <a:grpSpLocks/>
              </p:cNvGrpSpPr>
              <p:nvPr/>
            </p:nvGrpSpPr>
            <p:grpSpPr bwMode="auto">
              <a:xfrm>
                <a:off x="401" y="1739"/>
                <a:ext cx="525" cy="390"/>
                <a:chOff x="1367" y="2370"/>
                <a:chExt cx="434" cy="390"/>
              </a:xfrm>
            </p:grpSpPr>
            <p:grpSp>
              <p:nvGrpSpPr>
                <p:cNvPr id="38" name="Group 38">
                  <a:extLst>
                    <a:ext uri="{FF2B5EF4-FFF2-40B4-BE49-F238E27FC236}">
                      <a16:creationId xmlns:a16="http://schemas.microsoft.com/office/drawing/2014/main" id="{12EA1BC6-4F8E-D192-2D10-0E82FD0A47E2}"/>
                    </a:ext>
                  </a:extLst>
                </p:cNvPr>
                <p:cNvGrpSpPr>
                  <a:grpSpLocks/>
                </p:cNvGrpSpPr>
                <p:nvPr/>
              </p:nvGrpSpPr>
              <p:grpSpPr bwMode="auto">
                <a:xfrm>
                  <a:off x="1367" y="2395"/>
                  <a:ext cx="434" cy="365"/>
                  <a:chOff x="418" y="2981"/>
                  <a:chExt cx="352" cy="365"/>
                </a:xfrm>
              </p:grpSpPr>
              <p:sp>
                <p:nvSpPr>
                  <p:cNvPr id="44" name="Rectangle 39">
                    <a:extLst>
                      <a:ext uri="{FF2B5EF4-FFF2-40B4-BE49-F238E27FC236}">
                        <a16:creationId xmlns:a16="http://schemas.microsoft.com/office/drawing/2014/main" id="{55BE8079-BF80-C7BD-C003-44D3C160A8C9}"/>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45" name="Line 40">
                    <a:extLst>
                      <a:ext uri="{FF2B5EF4-FFF2-40B4-BE49-F238E27FC236}">
                        <a16:creationId xmlns:a16="http://schemas.microsoft.com/office/drawing/2014/main" id="{1F1A938E-D563-F3F2-161F-C62E3AD0675D}"/>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39" name="Group 41">
                  <a:extLst>
                    <a:ext uri="{FF2B5EF4-FFF2-40B4-BE49-F238E27FC236}">
                      <a16:creationId xmlns:a16="http://schemas.microsoft.com/office/drawing/2014/main" id="{77E65E06-837A-0FD6-B795-DBDC6879C72D}"/>
                    </a:ext>
                  </a:extLst>
                </p:cNvPr>
                <p:cNvGrpSpPr>
                  <a:grpSpLocks/>
                </p:cNvGrpSpPr>
                <p:nvPr/>
              </p:nvGrpSpPr>
              <p:grpSpPr bwMode="auto">
                <a:xfrm flipV="1">
                  <a:off x="1462" y="2586"/>
                  <a:ext cx="96" cy="112"/>
                  <a:chOff x="720" y="3354"/>
                  <a:chExt cx="192" cy="198"/>
                </a:xfrm>
              </p:grpSpPr>
              <p:sp>
                <p:nvSpPr>
                  <p:cNvPr id="42" name="Oval 42">
                    <a:extLst>
                      <a:ext uri="{FF2B5EF4-FFF2-40B4-BE49-F238E27FC236}">
                        <a16:creationId xmlns:a16="http://schemas.microsoft.com/office/drawing/2014/main" id="{932E3B44-A147-7728-AA1E-43DA0124C24C}"/>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43" name="AutoShape 43">
                    <a:extLst>
                      <a:ext uri="{FF2B5EF4-FFF2-40B4-BE49-F238E27FC236}">
                        <a16:creationId xmlns:a16="http://schemas.microsoft.com/office/drawing/2014/main" id="{FB052479-698A-F09C-7DF9-CB28A5EE45AD}"/>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en-US"/>
                  </a:p>
                </p:txBody>
              </p:sp>
            </p:grpSp>
            <p:sp>
              <p:nvSpPr>
                <p:cNvPr id="40" name="Text Box 44">
                  <a:extLst>
                    <a:ext uri="{FF2B5EF4-FFF2-40B4-BE49-F238E27FC236}">
                      <a16:creationId xmlns:a16="http://schemas.microsoft.com/office/drawing/2014/main" id="{0283D6AA-D982-A51C-7A7B-80EB66EDAD06}"/>
                    </a:ext>
                  </a:extLst>
                </p:cNvPr>
                <p:cNvSpPr txBox="1">
                  <a:spLocks noChangeArrowheads="1"/>
                </p:cNvSpPr>
                <p:nvPr/>
              </p:nvSpPr>
              <p:spPr bwMode="auto">
                <a:xfrm>
                  <a:off x="1562" y="2584"/>
                  <a:ext cx="140"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b="0">
                      <a:solidFill>
                        <a:schemeClr val="tx1"/>
                      </a:solidFill>
                      <a:latin typeface="Roboto" panose="02000000000000000000" pitchFamily="2" charset="0"/>
                      <a:ea typeface="Roboto" panose="02000000000000000000" pitchFamily="2" charset="0"/>
                    </a:rPr>
                    <a:t>= 1</a:t>
                  </a:r>
                </a:p>
              </p:txBody>
            </p:sp>
            <p:sp>
              <p:nvSpPr>
                <p:cNvPr id="41" name="Text Box 45">
                  <a:extLst>
                    <a:ext uri="{FF2B5EF4-FFF2-40B4-BE49-F238E27FC236}">
                      <a16:creationId xmlns:a16="http://schemas.microsoft.com/office/drawing/2014/main" id="{3035C458-FD58-61A7-8409-1488CFDEAC3A}"/>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b="0" dirty="0">
                      <a:solidFill>
                        <a:schemeClr val="tx1"/>
                      </a:solidFill>
                      <a:latin typeface="Roboto" panose="02000000000000000000" pitchFamily="2" charset="0"/>
                      <a:ea typeface="Roboto" panose="02000000000000000000" pitchFamily="2" charset="0"/>
                    </a:rPr>
                    <a:t>Weld</a:t>
                  </a:r>
                </a:p>
              </p:txBody>
            </p:sp>
          </p:grpSp>
          <p:sp>
            <p:nvSpPr>
              <p:cNvPr id="27" name="Line 46">
                <a:extLst>
                  <a:ext uri="{FF2B5EF4-FFF2-40B4-BE49-F238E27FC236}">
                    <a16:creationId xmlns:a16="http://schemas.microsoft.com/office/drawing/2014/main" id="{F083CE8E-7FDA-7BD6-10C5-A7D759211CDD}"/>
                  </a:ext>
                </a:extLst>
              </p:cNvPr>
              <p:cNvSpPr>
                <a:spLocks noChangeShapeType="1"/>
              </p:cNvSpPr>
              <p:nvPr/>
            </p:nvSpPr>
            <p:spPr bwMode="auto">
              <a:xfrm>
                <a:off x="1275" y="1961"/>
                <a:ext cx="945" cy="0"/>
              </a:xfrm>
              <a:prstGeom prst="line">
                <a:avLst/>
              </a:prstGeom>
              <a:noFill/>
              <a:ln w="12700">
                <a:solidFill>
                  <a:schemeClr val="accent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28" name="Line 47">
                <a:extLst>
                  <a:ext uri="{FF2B5EF4-FFF2-40B4-BE49-F238E27FC236}">
                    <a16:creationId xmlns:a16="http://schemas.microsoft.com/office/drawing/2014/main" id="{9C4CB523-850B-B7C9-4BC2-9519A13E81EC}"/>
                  </a:ext>
                </a:extLst>
              </p:cNvPr>
              <p:cNvSpPr>
                <a:spLocks noChangeShapeType="1"/>
              </p:cNvSpPr>
              <p:nvPr/>
            </p:nvSpPr>
            <p:spPr bwMode="auto">
              <a:xfrm>
                <a:off x="1311" y="1564"/>
                <a:ext cx="965" cy="0"/>
              </a:xfrm>
              <a:prstGeom prst="line">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8">
                <a:extLst>
                  <a:ext uri="{FF2B5EF4-FFF2-40B4-BE49-F238E27FC236}">
                    <a16:creationId xmlns:a16="http://schemas.microsoft.com/office/drawing/2014/main" id="{0A5AD951-D2F5-8054-19AA-928E25471FF2}"/>
                  </a:ext>
                </a:extLst>
              </p:cNvPr>
              <p:cNvSpPr>
                <a:spLocks noChangeShapeType="1"/>
              </p:cNvSpPr>
              <p:nvPr/>
            </p:nvSpPr>
            <p:spPr bwMode="auto">
              <a:xfrm>
                <a:off x="1282" y="1564"/>
                <a:ext cx="0" cy="375"/>
              </a:xfrm>
              <a:prstGeom prst="line">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49">
                <a:extLst>
                  <a:ext uri="{FF2B5EF4-FFF2-40B4-BE49-F238E27FC236}">
                    <a16:creationId xmlns:a16="http://schemas.microsoft.com/office/drawing/2014/main" id="{281F5E66-E2CC-3D7C-E3A6-55DB633BCE67}"/>
                  </a:ext>
                </a:extLst>
              </p:cNvPr>
              <p:cNvSpPr>
                <a:spLocks noChangeShapeType="1"/>
              </p:cNvSpPr>
              <p:nvPr/>
            </p:nvSpPr>
            <p:spPr bwMode="auto">
              <a:xfrm>
                <a:off x="2262" y="1563"/>
                <a:ext cx="0" cy="206"/>
              </a:xfrm>
              <a:prstGeom prst="line">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1" name="Line 50">
                <a:extLst>
                  <a:ext uri="{FF2B5EF4-FFF2-40B4-BE49-F238E27FC236}">
                    <a16:creationId xmlns:a16="http://schemas.microsoft.com/office/drawing/2014/main" id="{4E958DCC-B9F4-4FD9-841C-9E0E2FC4C983}"/>
                  </a:ext>
                </a:extLst>
              </p:cNvPr>
              <p:cNvSpPr>
                <a:spLocks noChangeShapeType="1"/>
              </p:cNvSpPr>
              <p:nvPr/>
            </p:nvSpPr>
            <p:spPr bwMode="auto">
              <a:xfrm>
                <a:off x="1227" y="1549"/>
                <a:ext cx="0" cy="162"/>
              </a:xfrm>
              <a:prstGeom prst="line">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2" name="Line 51">
                <a:extLst>
                  <a:ext uri="{FF2B5EF4-FFF2-40B4-BE49-F238E27FC236}">
                    <a16:creationId xmlns:a16="http://schemas.microsoft.com/office/drawing/2014/main" id="{CABEA74C-A1F4-623C-A240-648B064D384D}"/>
                  </a:ext>
                </a:extLst>
              </p:cNvPr>
              <p:cNvSpPr>
                <a:spLocks noChangeShapeType="1"/>
              </p:cNvSpPr>
              <p:nvPr/>
            </p:nvSpPr>
            <p:spPr bwMode="auto">
              <a:xfrm>
                <a:off x="664" y="1549"/>
                <a:ext cx="563" cy="0"/>
              </a:xfrm>
              <a:prstGeom prst="line">
                <a:avLst/>
              </a:prstGeom>
              <a:noFill/>
              <a:ln w="12700">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3" name="Line 52">
                <a:extLst>
                  <a:ext uri="{FF2B5EF4-FFF2-40B4-BE49-F238E27FC236}">
                    <a16:creationId xmlns:a16="http://schemas.microsoft.com/office/drawing/2014/main" id="{26D6E603-7D29-61EA-7B23-F4265DA98A1C}"/>
                  </a:ext>
                </a:extLst>
              </p:cNvPr>
              <p:cNvSpPr>
                <a:spLocks noChangeShapeType="1"/>
              </p:cNvSpPr>
              <p:nvPr/>
            </p:nvSpPr>
            <p:spPr bwMode="auto">
              <a:xfrm>
                <a:off x="655" y="1574"/>
                <a:ext cx="0" cy="169"/>
              </a:xfrm>
              <a:prstGeom prst="line">
                <a:avLst/>
              </a:prstGeom>
              <a:noFill/>
              <a:ln w="12700">
                <a:solidFill>
                  <a:schemeClr val="accent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34" name="AutoShape 53" descr="Light upward diagonal">
                <a:extLst>
                  <a:ext uri="{FF2B5EF4-FFF2-40B4-BE49-F238E27FC236}">
                    <a16:creationId xmlns:a16="http://schemas.microsoft.com/office/drawing/2014/main" id="{35CFEB0D-B85C-6017-D255-4035F10ABA43}"/>
                  </a:ext>
                </a:extLst>
              </p:cNvPr>
              <p:cNvSpPr>
                <a:spLocks noChangeArrowheads="1"/>
              </p:cNvSpPr>
              <p:nvPr/>
            </p:nvSpPr>
            <p:spPr bwMode="auto">
              <a:xfrm flipH="1">
                <a:off x="1686" y="1489"/>
                <a:ext cx="240" cy="144"/>
              </a:xfrm>
              <a:prstGeom prst="flowChartPunchedCard">
                <a:avLst/>
              </a:prstGeom>
              <a:pattFill prst="ltUpDiag">
                <a:fgClr>
                  <a:schemeClr val="tx1"/>
                </a:fgClr>
                <a:bgClr>
                  <a:schemeClr val="bg1"/>
                </a:bgClr>
              </a:pattFill>
              <a:ln w="12700"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35" name="AutoShape 54">
                <a:extLst>
                  <a:ext uri="{FF2B5EF4-FFF2-40B4-BE49-F238E27FC236}">
                    <a16:creationId xmlns:a16="http://schemas.microsoft.com/office/drawing/2014/main" id="{AE0CE48C-A9F7-544D-F9B1-8956D3F4BBD1}"/>
                  </a:ext>
                </a:extLst>
              </p:cNvPr>
              <p:cNvSpPr>
                <a:spLocks noChangeArrowheads="1"/>
              </p:cNvSpPr>
              <p:nvPr/>
            </p:nvSpPr>
            <p:spPr bwMode="auto">
              <a:xfrm flipH="1">
                <a:off x="815" y="1480"/>
                <a:ext cx="240" cy="144"/>
              </a:xfrm>
              <a:prstGeom prst="flowChartPunchedCard">
                <a:avLst/>
              </a:prstGeom>
              <a:solidFill>
                <a:schemeClr val="bg1"/>
              </a:solidFill>
              <a:ln w="12700"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36" name="Text Box 55">
                <a:extLst>
                  <a:ext uri="{FF2B5EF4-FFF2-40B4-BE49-F238E27FC236}">
                    <a16:creationId xmlns:a16="http://schemas.microsoft.com/office/drawing/2014/main" id="{EF89A84A-2EE1-2831-18C6-B4978B31C8EA}"/>
                  </a:ext>
                </a:extLst>
              </p:cNvPr>
              <p:cNvSpPr txBox="1">
                <a:spLocks noChangeArrowheads="1"/>
              </p:cNvSpPr>
              <p:nvPr/>
            </p:nvSpPr>
            <p:spPr bwMode="auto">
              <a:xfrm>
                <a:off x="903" y="2153"/>
                <a:ext cx="948"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50" indent="-171450" algn="l">
                  <a:lnSpc>
                    <a:spcPct val="100000"/>
                  </a:lnSpc>
                  <a:spcBef>
                    <a:spcPct val="0"/>
                  </a:spcBef>
                  <a:buClr>
                    <a:schemeClr val="tx1"/>
                  </a:buClr>
                  <a:buSzPct val="90000"/>
                  <a:buFont typeface="Arial" panose="020B0604020202020204" pitchFamily="34" charset="0"/>
                  <a:buChar char="•"/>
                </a:pPr>
                <a:r>
                  <a:rPr lang="en-US" altLang="en-US" b="0" u="sng" dirty="0">
                    <a:solidFill>
                      <a:schemeClr val="tx1"/>
                    </a:solidFill>
                  </a:rPr>
                  <a:t>Three types of Welded </a:t>
                </a:r>
                <a:r>
                  <a:rPr lang="en-US" altLang="en-US" b="0" u="sng" dirty="0">
                    <a:solidFill>
                      <a:schemeClr val="tx1"/>
                    </a:solidFill>
                    <a:latin typeface="Roboto" panose="02000000000000000000" pitchFamily="2" charset="0"/>
                    <a:ea typeface="Roboto" panose="02000000000000000000" pitchFamily="2" charset="0"/>
                  </a:rPr>
                  <a:t>Frames</a:t>
                </a:r>
              </a:p>
              <a:p>
                <a:pPr marL="171450" indent="-171450" algn="l">
                  <a:lnSpc>
                    <a:spcPct val="100000"/>
                  </a:lnSpc>
                  <a:spcBef>
                    <a:spcPct val="0"/>
                  </a:spcBef>
                  <a:buClr>
                    <a:schemeClr val="tx1"/>
                  </a:buClr>
                  <a:buSzPct val="90000"/>
                  <a:buFont typeface="Arial" panose="020B0604020202020204" pitchFamily="34" charset="0"/>
                  <a:buChar char="•"/>
                </a:pPr>
                <a:r>
                  <a:rPr lang="en-US" altLang="en-US" b="0" dirty="0">
                    <a:solidFill>
                      <a:schemeClr val="tx1"/>
                    </a:solidFill>
                  </a:rPr>
                  <a:t>Frame A100</a:t>
                </a:r>
              </a:p>
              <a:p>
                <a:pPr marL="171450" indent="-171450" algn="l">
                  <a:lnSpc>
                    <a:spcPct val="100000"/>
                  </a:lnSpc>
                  <a:spcBef>
                    <a:spcPct val="0"/>
                  </a:spcBef>
                  <a:buClr>
                    <a:schemeClr val="tx1"/>
                  </a:buClr>
                  <a:buSzPct val="90000"/>
                  <a:buFont typeface="Arial" panose="020B0604020202020204" pitchFamily="34" charset="0"/>
                  <a:buChar char="•"/>
                </a:pPr>
                <a:r>
                  <a:rPr lang="en-US" altLang="en-US" b="0" dirty="0">
                    <a:solidFill>
                      <a:schemeClr val="tx1"/>
                    </a:solidFill>
                  </a:rPr>
                  <a:t>Frame A200</a:t>
                </a:r>
              </a:p>
              <a:p>
                <a:pPr marL="171450" indent="-171450" algn="l">
                  <a:lnSpc>
                    <a:spcPct val="100000"/>
                  </a:lnSpc>
                  <a:spcBef>
                    <a:spcPct val="0"/>
                  </a:spcBef>
                  <a:buClr>
                    <a:schemeClr val="tx1"/>
                  </a:buClr>
                  <a:buSzPct val="90000"/>
                  <a:buFont typeface="Arial" panose="020B0604020202020204" pitchFamily="34" charset="0"/>
                  <a:buChar char="•"/>
                </a:pPr>
                <a:r>
                  <a:rPr lang="en-US" altLang="en-US" b="0" dirty="0">
                    <a:solidFill>
                      <a:schemeClr val="tx1"/>
                    </a:solidFill>
                  </a:rPr>
                  <a:t>Frame A300</a:t>
                </a:r>
              </a:p>
            </p:txBody>
          </p:sp>
          <p:sp>
            <p:nvSpPr>
              <p:cNvPr id="37" name="Text Box 58">
                <a:extLst>
                  <a:ext uri="{FF2B5EF4-FFF2-40B4-BE49-F238E27FC236}">
                    <a16:creationId xmlns:a16="http://schemas.microsoft.com/office/drawing/2014/main" id="{96DE2315-FA25-8108-EB99-028F3F567CA3}"/>
                  </a:ext>
                </a:extLst>
              </p:cNvPr>
              <p:cNvSpPr txBox="1">
                <a:spLocks noChangeArrowheads="1"/>
              </p:cNvSpPr>
              <p:nvPr/>
            </p:nvSpPr>
            <p:spPr bwMode="auto">
              <a:xfrm>
                <a:off x="261" y="2518"/>
                <a:ext cx="2540"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0" indent="0" algn="l">
                  <a:lnSpc>
                    <a:spcPct val="100000"/>
                  </a:lnSpc>
                  <a:spcBef>
                    <a:spcPct val="0"/>
                  </a:spcBef>
                  <a:buClr>
                    <a:schemeClr val="tx1"/>
                  </a:buClr>
                  <a:buSzPct val="90000"/>
                </a:pPr>
                <a:r>
                  <a:rPr lang="en-US" altLang="en-US" sz="1400" u="sng" dirty="0">
                    <a:solidFill>
                      <a:schemeClr val="tx1"/>
                    </a:solidFill>
                    <a:latin typeface="Roboto" panose="02000000000000000000" pitchFamily="2" charset="0"/>
                    <a:ea typeface="Roboto" panose="02000000000000000000" pitchFamily="2" charset="0"/>
                  </a:rPr>
                  <a:t>Supermarket</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Located at </a:t>
                </a:r>
                <a:r>
                  <a:rPr lang="en-US" altLang="en-US" sz="1200" u="sng" dirty="0">
                    <a:solidFill>
                      <a:schemeClr val="tx1"/>
                    </a:solidFill>
                    <a:latin typeface="Roboto" panose="02000000000000000000" pitchFamily="2" charset="0"/>
                    <a:ea typeface="Roboto" panose="02000000000000000000" pitchFamily="2" charset="0"/>
                  </a:rPr>
                  <a:t>producing</a:t>
                </a:r>
                <a:r>
                  <a:rPr lang="en-US" altLang="en-US" sz="1200" dirty="0">
                    <a:solidFill>
                      <a:schemeClr val="tx1"/>
                    </a:solidFill>
                    <a:latin typeface="Roboto" panose="02000000000000000000" pitchFamily="2" charset="0"/>
                    <a:ea typeface="Roboto" panose="02000000000000000000" pitchFamily="2" charset="0"/>
                  </a:rPr>
                  <a:t> process</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Contains more than one part #</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On-hand quantities to stock for each part determined by forecast</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Inventory level for each part is controlled by kanban</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Parts are replenished only when withdrawn from the supermarket by the </a:t>
                </a:r>
                <a:r>
                  <a:rPr lang="en-US" altLang="en-US" sz="1200" u="sng" dirty="0">
                    <a:solidFill>
                      <a:schemeClr val="tx1"/>
                    </a:solidFill>
                    <a:latin typeface="Roboto" panose="02000000000000000000" pitchFamily="2" charset="0"/>
                    <a:ea typeface="Roboto" panose="02000000000000000000" pitchFamily="2" charset="0"/>
                  </a:rPr>
                  <a:t>consuming</a:t>
                </a:r>
                <a:r>
                  <a:rPr lang="en-US" altLang="en-US" sz="1200" dirty="0">
                    <a:solidFill>
                      <a:schemeClr val="tx1"/>
                    </a:solidFill>
                    <a:latin typeface="Roboto" panose="02000000000000000000" pitchFamily="2" charset="0"/>
                    <a:ea typeface="Roboto" panose="02000000000000000000" pitchFamily="2" charset="0"/>
                  </a:rPr>
                  <a:t> process</a:t>
                </a:r>
              </a:p>
            </p:txBody>
          </p:sp>
        </p:grpSp>
        <p:grpSp>
          <p:nvGrpSpPr>
            <p:cNvPr id="51" name="Group 70">
              <a:extLst>
                <a:ext uri="{FF2B5EF4-FFF2-40B4-BE49-F238E27FC236}">
                  <a16:creationId xmlns:a16="http://schemas.microsoft.com/office/drawing/2014/main" id="{F5504CE3-889B-52AD-87A6-60A8F2ED33A5}"/>
                </a:ext>
              </a:extLst>
            </p:cNvPr>
            <p:cNvGrpSpPr>
              <a:grpSpLocks/>
            </p:cNvGrpSpPr>
            <p:nvPr/>
          </p:nvGrpSpPr>
          <p:grpSpPr bwMode="auto">
            <a:xfrm>
              <a:off x="4514850" y="2608263"/>
              <a:ext cx="4186238" cy="3598863"/>
              <a:chOff x="2844" y="1622"/>
              <a:chExt cx="2637" cy="2267"/>
            </a:xfrm>
          </p:grpSpPr>
          <p:sp>
            <p:nvSpPr>
              <p:cNvPr id="52" name="Line 9">
                <a:extLst>
                  <a:ext uri="{FF2B5EF4-FFF2-40B4-BE49-F238E27FC236}">
                    <a16:creationId xmlns:a16="http://schemas.microsoft.com/office/drawing/2014/main" id="{2D0D4C46-6356-AE9E-C345-9A86A45B573E}"/>
                  </a:ext>
                </a:extLst>
              </p:cNvPr>
              <p:cNvSpPr>
                <a:spLocks noChangeShapeType="1"/>
              </p:cNvSpPr>
              <p:nvPr/>
            </p:nvSpPr>
            <p:spPr bwMode="auto">
              <a:xfrm flipV="1">
                <a:off x="2858" y="2083"/>
                <a:ext cx="1803" cy="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53" name="Text Box 10">
                <a:extLst>
                  <a:ext uri="{FF2B5EF4-FFF2-40B4-BE49-F238E27FC236}">
                    <a16:creationId xmlns:a16="http://schemas.microsoft.com/office/drawing/2014/main" id="{1AF9D3DB-9BE8-90B4-7BEA-D23FA21DF034}"/>
                  </a:ext>
                </a:extLst>
              </p:cNvPr>
              <p:cNvSpPr txBox="1">
                <a:spLocks noChangeArrowheads="1"/>
              </p:cNvSpPr>
              <p:nvPr/>
            </p:nvSpPr>
            <p:spPr bwMode="auto">
              <a:xfrm>
                <a:off x="3441" y="2105"/>
                <a:ext cx="34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sz="1600" b="0" dirty="0">
                    <a:solidFill>
                      <a:schemeClr val="tx1"/>
                    </a:solidFill>
                    <a:latin typeface="Comic Sans MS" panose="030F0702030302020204" pitchFamily="66" charset="0"/>
                  </a:rPr>
                  <a:t>FIFO</a:t>
                </a:r>
              </a:p>
            </p:txBody>
          </p:sp>
          <p:sp>
            <p:nvSpPr>
              <p:cNvPr id="54" name="Text Box 11">
                <a:extLst>
                  <a:ext uri="{FF2B5EF4-FFF2-40B4-BE49-F238E27FC236}">
                    <a16:creationId xmlns:a16="http://schemas.microsoft.com/office/drawing/2014/main" id="{BDB0B55D-D102-39E1-41FA-143150F9C6E7}"/>
                  </a:ext>
                </a:extLst>
              </p:cNvPr>
              <p:cNvSpPr txBox="1">
                <a:spLocks noChangeArrowheads="1"/>
              </p:cNvSpPr>
              <p:nvPr/>
            </p:nvSpPr>
            <p:spPr bwMode="auto">
              <a:xfrm>
                <a:off x="3368" y="1622"/>
                <a:ext cx="550" cy="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sz="1200" b="0" dirty="0">
                    <a:solidFill>
                      <a:schemeClr val="tx1"/>
                    </a:solidFill>
                    <a:latin typeface="Comic Sans MS" panose="030F0702030302020204" pitchFamily="66" charset="0"/>
                  </a:rPr>
                  <a:t>Max 5 pieces</a:t>
                </a:r>
              </a:p>
            </p:txBody>
          </p:sp>
          <p:sp>
            <p:nvSpPr>
              <p:cNvPr id="55" name="Rectangle 13">
                <a:extLst>
                  <a:ext uri="{FF2B5EF4-FFF2-40B4-BE49-F238E27FC236}">
                    <a16:creationId xmlns:a16="http://schemas.microsoft.com/office/drawing/2014/main" id="{5A2297BE-4551-7D95-58A5-631AE3F1F5E7}"/>
                  </a:ext>
                </a:extLst>
              </p:cNvPr>
              <p:cNvSpPr>
                <a:spLocks noChangeArrowheads="1"/>
              </p:cNvSpPr>
              <p:nvPr/>
            </p:nvSpPr>
            <p:spPr bwMode="auto">
              <a:xfrm>
                <a:off x="2911" y="1861"/>
                <a:ext cx="284" cy="182"/>
              </a:xfrm>
              <a:prstGeom prst="rect">
                <a:avLst/>
              </a:prstGeom>
              <a:solidFill>
                <a:schemeClr val="accent4"/>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buClr>
                    <a:schemeClr val="accent1"/>
                  </a:buClr>
                  <a:buSzPct val="90000"/>
                </a:pPr>
                <a:r>
                  <a:rPr lang="en-US" altLang="en-US" sz="800" b="0" dirty="0">
                    <a:latin typeface="Roboto" panose="02000000000000000000" pitchFamily="2" charset="0"/>
                    <a:ea typeface="Roboto" panose="02000000000000000000" pitchFamily="2" charset="0"/>
                  </a:rPr>
                  <a:t>Order</a:t>
                </a:r>
              </a:p>
              <a:p>
                <a:pPr algn="ctr">
                  <a:lnSpc>
                    <a:spcPct val="100000"/>
                  </a:lnSpc>
                  <a:spcBef>
                    <a:spcPct val="0"/>
                  </a:spcBef>
                  <a:buClr>
                    <a:schemeClr val="accent1"/>
                  </a:buClr>
                  <a:buSzPct val="90000"/>
                </a:pPr>
                <a:r>
                  <a:rPr lang="en-US" altLang="en-US" sz="800" b="0" dirty="0">
                    <a:latin typeface="Roboto" panose="02000000000000000000" pitchFamily="2" charset="0"/>
                    <a:ea typeface="Roboto" panose="02000000000000000000" pitchFamily="2" charset="0"/>
                  </a:rPr>
                  <a:t>#5</a:t>
                </a:r>
              </a:p>
            </p:txBody>
          </p:sp>
          <p:sp>
            <p:nvSpPr>
              <p:cNvPr id="56" name="Rectangle 14">
                <a:extLst>
                  <a:ext uri="{FF2B5EF4-FFF2-40B4-BE49-F238E27FC236}">
                    <a16:creationId xmlns:a16="http://schemas.microsoft.com/office/drawing/2014/main" id="{5511C4F6-1FAF-05CA-0056-DB220EC6443F}"/>
                  </a:ext>
                </a:extLst>
              </p:cNvPr>
              <p:cNvSpPr>
                <a:spLocks noChangeArrowheads="1"/>
              </p:cNvSpPr>
              <p:nvPr/>
            </p:nvSpPr>
            <p:spPr bwMode="auto">
              <a:xfrm>
                <a:off x="3248" y="1862"/>
                <a:ext cx="284" cy="182"/>
              </a:xfrm>
              <a:prstGeom prst="rect">
                <a:avLst/>
              </a:prstGeom>
              <a:solidFill>
                <a:schemeClr val="accent4"/>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Order</a:t>
                </a:r>
              </a:p>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#4</a:t>
                </a:r>
              </a:p>
            </p:txBody>
          </p:sp>
          <p:sp>
            <p:nvSpPr>
              <p:cNvPr id="57" name="Rectangle 15">
                <a:extLst>
                  <a:ext uri="{FF2B5EF4-FFF2-40B4-BE49-F238E27FC236}">
                    <a16:creationId xmlns:a16="http://schemas.microsoft.com/office/drawing/2014/main" id="{5BC391E0-B073-C5F1-1AF9-47BF32387311}"/>
                  </a:ext>
                </a:extLst>
              </p:cNvPr>
              <p:cNvSpPr>
                <a:spLocks noChangeArrowheads="1"/>
              </p:cNvSpPr>
              <p:nvPr/>
            </p:nvSpPr>
            <p:spPr bwMode="auto">
              <a:xfrm>
                <a:off x="3585" y="1863"/>
                <a:ext cx="284" cy="182"/>
              </a:xfrm>
              <a:prstGeom prst="rect">
                <a:avLst/>
              </a:prstGeom>
              <a:solidFill>
                <a:schemeClr val="accent4"/>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Order</a:t>
                </a:r>
              </a:p>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#3</a:t>
                </a:r>
              </a:p>
            </p:txBody>
          </p:sp>
          <p:sp>
            <p:nvSpPr>
              <p:cNvPr id="58" name="Rectangle 16">
                <a:extLst>
                  <a:ext uri="{FF2B5EF4-FFF2-40B4-BE49-F238E27FC236}">
                    <a16:creationId xmlns:a16="http://schemas.microsoft.com/office/drawing/2014/main" id="{A64CC250-9710-92AA-5C3C-0757647B3425}"/>
                  </a:ext>
                </a:extLst>
              </p:cNvPr>
              <p:cNvSpPr>
                <a:spLocks noChangeArrowheads="1"/>
              </p:cNvSpPr>
              <p:nvPr/>
            </p:nvSpPr>
            <p:spPr bwMode="auto">
              <a:xfrm>
                <a:off x="3922" y="1864"/>
                <a:ext cx="284" cy="182"/>
              </a:xfrm>
              <a:prstGeom prst="rect">
                <a:avLst/>
              </a:prstGeom>
              <a:solidFill>
                <a:schemeClr val="accent4"/>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Order</a:t>
                </a:r>
              </a:p>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#2</a:t>
                </a:r>
              </a:p>
            </p:txBody>
          </p:sp>
          <p:sp>
            <p:nvSpPr>
              <p:cNvPr id="59" name="Rectangle 17">
                <a:extLst>
                  <a:ext uri="{FF2B5EF4-FFF2-40B4-BE49-F238E27FC236}">
                    <a16:creationId xmlns:a16="http://schemas.microsoft.com/office/drawing/2014/main" id="{8F1DD6F1-CBBB-A305-D9A2-22C99B69BB9B}"/>
                  </a:ext>
                </a:extLst>
              </p:cNvPr>
              <p:cNvSpPr>
                <a:spLocks noChangeArrowheads="1"/>
              </p:cNvSpPr>
              <p:nvPr/>
            </p:nvSpPr>
            <p:spPr bwMode="auto">
              <a:xfrm>
                <a:off x="4259" y="1865"/>
                <a:ext cx="284" cy="182"/>
              </a:xfrm>
              <a:prstGeom prst="rect">
                <a:avLst/>
              </a:prstGeom>
              <a:solidFill>
                <a:schemeClr val="accent4"/>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Order</a:t>
                </a:r>
              </a:p>
              <a:p>
                <a:pPr algn="ctr">
                  <a:lnSpc>
                    <a:spcPct val="100000"/>
                  </a:lnSpc>
                  <a:spcBef>
                    <a:spcPct val="0"/>
                  </a:spcBef>
                  <a:buClr>
                    <a:schemeClr val="accent1"/>
                  </a:buClr>
                  <a:buSzPct val="90000"/>
                </a:pPr>
                <a:r>
                  <a:rPr lang="en-US" altLang="en-US" sz="800" b="0">
                    <a:latin typeface="Roboto" panose="02000000000000000000" pitchFamily="2" charset="0"/>
                    <a:ea typeface="Roboto" panose="02000000000000000000" pitchFamily="2" charset="0"/>
                  </a:rPr>
                  <a:t>#1</a:t>
                </a:r>
              </a:p>
            </p:txBody>
          </p:sp>
          <p:sp>
            <p:nvSpPr>
              <p:cNvPr id="60" name="Line 18">
                <a:extLst>
                  <a:ext uri="{FF2B5EF4-FFF2-40B4-BE49-F238E27FC236}">
                    <a16:creationId xmlns:a16="http://schemas.microsoft.com/office/drawing/2014/main" id="{919203F2-CBA7-EBE6-4CE6-70D5C1DDEC0D}"/>
                  </a:ext>
                </a:extLst>
              </p:cNvPr>
              <p:cNvSpPr>
                <a:spLocks noChangeShapeType="1"/>
              </p:cNvSpPr>
              <p:nvPr/>
            </p:nvSpPr>
            <p:spPr bwMode="auto">
              <a:xfrm>
                <a:off x="2844" y="1814"/>
                <a:ext cx="1803"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61" name="Group 19">
                <a:extLst>
                  <a:ext uri="{FF2B5EF4-FFF2-40B4-BE49-F238E27FC236}">
                    <a16:creationId xmlns:a16="http://schemas.microsoft.com/office/drawing/2014/main" id="{07E0AFEF-8C52-E683-45CA-69F444AC797C}"/>
                  </a:ext>
                </a:extLst>
              </p:cNvPr>
              <p:cNvGrpSpPr>
                <a:grpSpLocks/>
              </p:cNvGrpSpPr>
              <p:nvPr/>
            </p:nvGrpSpPr>
            <p:grpSpPr bwMode="auto">
              <a:xfrm>
                <a:off x="4788" y="1739"/>
                <a:ext cx="525" cy="390"/>
                <a:chOff x="1367" y="2370"/>
                <a:chExt cx="434" cy="390"/>
              </a:xfrm>
            </p:grpSpPr>
            <p:grpSp>
              <p:nvGrpSpPr>
                <p:cNvPr id="63" name="Group 20">
                  <a:extLst>
                    <a:ext uri="{FF2B5EF4-FFF2-40B4-BE49-F238E27FC236}">
                      <a16:creationId xmlns:a16="http://schemas.microsoft.com/office/drawing/2014/main" id="{9C5CDE0C-A297-2E4F-43F0-FA6865D11D2B}"/>
                    </a:ext>
                  </a:extLst>
                </p:cNvPr>
                <p:cNvGrpSpPr>
                  <a:grpSpLocks/>
                </p:cNvGrpSpPr>
                <p:nvPr/>
              </p:nvGrpSpPr>
              <p:grpSpPr bwMode="auto">
                <a:xfrm>
                  <a:off x="1367" y="2395"/>
                  <a:ext cx="434" cy="365"/>
                  <a:chOff x="418" y="2981"/>
                  <a:chExt cx="352" cy="365"/>
                </a:xfrm>
              </p:grpSpPr>
              <p:sp>
                <p:nvSpPr>
                  <p:cNvPr id="69" name="Rectangle 21">
                    <a:extLst>
                      <a:ext uri="{FF2B5EF4-FFF2-40B4-BE49-F238E27FC236}">
                        <a16:creationId xmlns:a16="http://schemas.microsoft.com/office/drawing/2014/main" id="{8483F929-40F9-4A5F-0F2C-3A193E4DA451}"/>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70" name="Line 22">
                    <a:extLst>
                      <a:ext uri="{FF2B5EF4-FFF2-40B4-BE49-F238E27FC236}">
                        <a16:creationId xmlns:a16="http://schemas.microsoft.com/office/drawing/2014/main" id="{7BC79A18-5994-558B-59F2-D06B5C92018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64" name="Group 23">
                  <a:extLst>
                    <a:ext uri="{FF2B5EF4-FFF2-40B4-BE49-F238E27FC236}">
                      <a16:creationId xmlns:a16="http://schemas.microsoft.com/office/drawing/2014/main" id="{224E4C0A-5C8D-F366-A379-B3E1667E60D2}"/>
                    </a:ext>
                  </a:extLst>
                </p:cNvPr>
                <p:cNvGrpSpPr>
                  <a:grpSpLocks/>
                </p:cNvGrpSpPr>
                <p:nvPr/>
              </p:nvGrpSpPr>
              <p:grpSpPr bwMode="auto">
                <a:xfrm flipV="1">
                  <a:off x="1462" y="2586"/>
                  <a:ext cx="96" cy="112"/>
                  <a:chOff x="720" y="3354"/>
                  <a:chExt cx="192" cy="198"/>
                </a:xfrm>
              </p:grpSpPr>
              <p:sp>
                <p:nvSpPr>
                  <p:cNvPr id="67" name="Oval 24">
                    <a:extLst>
                      <a:ext uri="{FF2B5EF4-FFF2-40B4-BE49-F238E27FC236}">
                        <a16:creationId xmlns:a16="http://schemas.microsoft.com/office/drawing/2014/main" id="{5A997D69-6BF1-57F5-0AD1-BD83E07DA4E9}"/>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buClr>
                        <a:schemeClr val="accent1"/>
                      </a:buClr>
                      <a:buSzPct val="90000"/>
                      <a:buFont typeface="Wingdings" panose="05000000000000000000" pitchFamily="2" charset="2"/>
                      <a:buChar char="§"/>
                    </a:pPr>
                    <a:endParaRPr lang="en-US" altLang="en-US"/>
                  </a:p>
                </p:txBody>
              </p:sp>
              <p:sp>
                <p:nvSpPr>
                  <p:cNvPr id="68" name="AutoShape 25">
                    <a:extLst>
                      <a:ext uri="{FF2B5EF4-FFF2-40B4-BE49-F238E27FC236}">
                        <a16:creationId xmlns:a16="http://schemas.microsoft.com/office/drawing/2014/main" id="{72CEA4A3-E622-98D5-2A73-6A356265DBE4}"/>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en-US"/>
                  </a:p>
                </p:txBody>
              </p:sp>
            </p:grpSp>
            <p:sp>
              <p:nvSpPr>
                <p:cNvPr id="65" name="Text Box 26">
                  <a:extLst>
                    <a:ext uri="{FF2B5EF4-FFF2-40B4-BE49-F238E27FC236}">
                      <a16:creationId xmlns:a16="http://schemas.microsoft.com/office/drawing/2014/main" id="{A3E77C7F-EC58-9CEC-2E7E-71652E118F5B}"/>
                    </a:ext>
                  </a:extLst>
                </p:cNvPr>
                <p:cNvSpPr txBox="1">
                  <a:spLocks noChangeArrowheads="1"/>
                </p:cNvSpPr>
                <p:nvPr/>
              </p:nvSpPr>
              <p:spPr bwMode="auto">
                <a:xfrm>
                  <a:off x="1562" y="2584"/>
                  <a:ext cx="140"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b="0">
                      <a:solidFill>
                        <a:schemeClr val="tx1"/>
                      </a:solidFill>
                      <a:latin typeface="Roboto" panose="02000000000000000000" pitchFamily="2" charset="0"/>
                      <a:ea typeface="Roboto" panose="02000000000000000000" pitchFamily="2" charset="0"/>
                    </a:rPr>
                    <a:t>= 2</a:t>
                  </a:r>
                </a:p>
              </p:txBody>
            </p:sp>
            <p:sp>
              <p:nvSpPr>
                <p:cNvPr id="66" name="Text Box 27">
                  <a:extLst>
                    <a:ext uri="{FF2B5EF4-FFF2-40B4-BE49-F238E27FC236}">
                      <a16:creationId xmlns:a16="http://schemas.microsoft.com/office/drawing/2014/main" id="{F6569AD2-C36C-5676-7475-93230D7E5C25}"/>
                    </a:ext>
                  </a:extLst>
                </p:cNvPr>
                <p:cNvSpPr txBox="1">
                  <a:spLocks noChangeArrowheads="1"/>
                </p:cNvSpPr>
                <p:nvPr/>
              </p:nvSpPr>
              <p:spPr bwMode="auto">
                <a:xfrm>
                  <a:off x="1382" y="2370"/>
                  <a:ext cx="40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accent1"/>
                    </a:buClr>
                    <a:buSzPct val="90000"/>
                  </a:pPr>
                  <a:r>
                    <a:rPr lang="en-US" altLang="en-US" b="0">
                      <a:solidFill>
                        <a:schemeClr val="tx1"/>
                      </a:solidFill>
                      <a:latin typeface="Roboto" panose="02000000000000000000" pitchFamily="2" charset="0"/>
                      <a:ea typeface="Roboto" panose="02000000000000000000" pitchFamily="2" charset="0"/>
                    </a:rPr>
                    <a:t>Assemble</a:t>
                  </a:r>
                </a:p>
              </p:txBody>
            </p:sp>
          </p:grpSp>
          <p:sp>
            <p:nvSpPr>
              <p:cNvPr id="62" name="Text Box 59">
                <a:extLst>
                  <a:ext uri="{FF2B5EF4-FFF2-40B4-BE49-F238E27FC236}">
                    <a16:creationId xmlns:a16="http://schemas.microsoft.com/office/drawing/2014/main" id="{434D9746-C028-E250-F03B-1281F51BFBF1}"/>
                  </a:ext>
                </a:extLst>
              </p:cNvPr>
              <p:cNvSpPr txBox="1">
                <a:spLocks noChangeArrowheads="1"/>
              </p:cNvSpPr>
              <p:nvPr/>
            </p:nvSpPr>
            <p:spPr bwMode="auto">
              <a:xfrm>
                <a:off x="2938" y="2513"/>
                <a:ext cx="2543" cy="1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0" indent="0" algn="l">
                  <a:lnSpc>
                    <a:spcPct val="100000"/>
                  </a:lnSpc>
                  <a:spcBef>
                    <a:spcPct val="0"/>
                  </a:spcBef>
                  <a:buClr>
                    <a:schemeClr val="tx1"/>
                  </a:buClr>
                  <a:buSzPct val="90000"/>
                </a:pPr>
                <a:r>
                  <a:rPr lang="en-US" altLang="en-US" sz="1400" u="sng" dirty="0">
                    <a:solidFill>
                      <a:schemeClr val="tx1"/>
                    </a:solidFill>
                    <a:latin typeface="Roboto" panose="02000000000000000000" pitchFamily="2" charset="0"/>
                    <a:ea typeface="Roboto" panose="02000000000000000000" pitchFamily="2" charset="0"/>
                  </a:rPr>
                  <a:t>FIFO Lane</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Located between processes</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Contains more than one part #</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Parts are unique and not interchangeable</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Parts are processed by the consuming process in </a:t>
                </a:r>
                <a:br>
                  <a:rPr lang="en-US" altLang="en-US" sz="1200" dirty="0">
                    <a:solidFill>
                      <a:schemeClr val="tx1"/>
                    </a:solidFill>
                    <a:latin typeface="Roboto" panose="02000000000000000000" pitchFamily="2" charset="0"/>
                    <a:ea typeface="Roboto" panose="02000000000000000000" pitchFamily="2" charset="0"/>
                  </a:rPr>
                </a:br>
                <a:r>
                  <a:rPr lang="en-US" altLang="en-US" sz="1200" dirty="0">
                    <a:solidFill>
                      <a:schemeClr val="tx1"/>
                    </a:solidFill>
                    <a:latin typeface="Roboto" panose="02000000000000000000" pitchFamily="2" charset="0"/>
                    <a:ea typeface="Roboto" panose="02000000000000000000" pitchFamily="2" charset="0"/>
                  </a:rPr>
                  <a:t>FIFO sequence</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Quantity within the lane limited and controlled</a:t>
                </a:r>
              </a:p>
              <a:p>
                <a:pPr marL="171450" indent="-171450" algn="l">
                  <a:lnSpc>
                    <a:spcPct val="100000"/>
                  </a:lnSpc>
                  <a:spcBef>
                    <a:spcPct val="0"/>
                  </a:spcBef>
                  <a:buClr>
                    <a:schemeClr val="tx1"/>
                  </a:buClr>
                  <a:buSzPct val="90000"/>
                  <a:buFont typeface="Arial" panose="020B0604020202020204" pitchFamily="34" charset="0"/>
                  <a:buChar char="•"/>
                </a:pPr>
                <a:r>
                  <a:rPr lang="en-US" altLang="en-US" sz="1200" dirty="0">
                    <a:solidFill>
                      <a:schemeClr val="tx1"/>
                    </a:solidFill>
                    <a:latin typeface="Roboto" panose="02000000000000000000" pitchFamily="2" charset="0"/>
                    <a:ea typeface="Roboto" panose="02000000000000000000" pitchFamily="2" charset="0"/>
                  </a:rPr>
                  <a:t>A new part is produced and added into the lane only when one has been withdrawn by the </a:t>
                </a:r>
                <a:br>
                  <a:rPr lang="en-US" altLang="en-US" sz="1200" dirty="0">
                    <a:solidFill>
                      <a:schemeClr val="tx1"/>
                    </a:solidFill>
                    <a:latin typeface="Roboto" panose="02000000000000000000" pitchFamily="2" charset="0"/>
                    <a:ea typeface="Roboto" panose="02000000000000000000" pitchFamily="2" charset="0"/>
                  </a:rPr>
                </a:br>
                <a:r>
                  <a:rPr lang="en-US" altLang="en-US" sz="1200" u="sng" dirty="0">
                    <a:solidFill>
                      <a:schemeClr val="tx1"/>
                    </a:solidFill>
                    <a:latin typeface="Roboto" panose="02000000000000000000" pitchFamily="2" charset="0"/>
                    <a:ea typeface="Roboto" panose="02000000000000000000" pitchFamily="2" charset="0"/>
                  </a:rPr>
                  <a:t>consuming</a:t>
                </a:r>
                <a:r>
                  <a:rPr lang="en-US" altLang="en-US" sz="1200" dirty="0">
                    <a:solidFill>
                      <a:schemeClr val="tx1"/>
                    </a:solidFill>
                    <a:latin typeface="Roboto" panose="02000000000000000000" pitchFamily="2" charset="0"/>
                    <a:ea typeface="Roboto" panose="02000000000000000000" pitchFamily="2" charset="0"/>
                  </a:rPr>
                  <a:t> process</a:t>
                </a:r>
              </a:p>
            </p:txBody>
          </p:sp>
        </p:grpSp>
        <p:sp>
          <p:nvSpPr>
            <p:cNvPr id="71" name="Text Box 60">
              <a:extLst>
                <a:ext uri="{FF2B5EF4-FFF2-40B4-BE49-F238E27FC236}">
                  <a16:creationId xmlns:a16="http://schemas.microsoft.com/office/drawing/2014/main" id="{7B884151-96E5-429B-EA6A-A0880DB45DD6}"/>
                </a:ext>
              </a:extLst>
            </p:cNvPr>
            <p:cNvSpPr txBox="1">
              <a:spLocks noChangeArrowheads="1"/>
            </p:cNvSpPr>
            <p:nvPr/>
          </p:nvSpPr>
          <p:spPr bwMode="auto">
            <a:xfrm>
              <a:off x="4699000" y="1325563"/>
              <a:ext cx="4098925" cy="96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171450" indent="-171450" algn="l">
                <a:lnSpc>
                  <a:spcPct val="100000"/>
                </a:lnSpc>
                <a:spcBef>
                  <a:spcPct val="30000"/>
                </a:spcBef>
                <a:buClr>
                  <a:schemeClr val="tx1"/>
                </a:buClr>
                <a:buSzPct val="90000"/>
                <a:buFont typeface="Arial" panose="020B0604020202020204" pitchFamily="34" charset="0"/>
                <a:buChar char="•"/>
              </a:pPr>
              <a:r>
                <a:rPr lang="en-US" altLang="en-US" sz="1100" dirty="0">
                  <a:solidFill>
                    <a:schemeClr val="tx1"/>
                  </a:solidFill>
                  <a:latin typeface="Roboto" panose="02000000000000000000" pitchFamily="2" charset="0"/>
                  <a:ea typeface="Roboto" panose="02000000000000000000" pitchFamily="2" charset="0"/>
                </a:rPr>
                <a:t>Customer orders uniquely specify frame type, color and options</a:t>
              </a:r>
            </a:p>
            <a:p>
              <a:pPr marL="171450" indent="-171450" algn="l">
                <a:lnSpc>
                  <a:spcPct val="100000"/>
                </a:lnSpc>
                <a:spcBef>
                  <a:spcPct val="30000"/>
                </a:spcBef>
                <a:buClr>
                  <a:schemeClr val="tx1"/>
                </a:buClr>
                <a:buSzPct val="90000"/>
                <a:buFont typeface="Arial" panose="020B0604020202020204" pitchFamily="34" charset="0"/>
                <a:buChar char="•"/>
              </a:pPr>
              <a:r>
                <a:rPr lang="en-US" altLang="en-US" sz="1100" dirty="0">
                  <a:solidFill>
                    <a:schemeClr val="tx1"/>
                  </a:solidFill>
                  <a:latin typeface="Roboto" panose="02000000000000000000" pitchFamily="2" charset="0"/>
                  <a:ea typeface="Roboto" panose="02000000000000000000" pitchFamily="2" charset="0"/>
                </a:rPr>
                <a:t>Three standard frames are used to make all products</a:t>
              </a:r>
            </a:p>
            <a:p>
              <a:pPr marL="171450" indent="-171450" algn="l">
                <a:lnSpc>
                  <a:spcPct val="100000"/>
                </a:lnSpc>
                <a:spcBef>
                  <a:spcPct val="30000"/>
                </a:spcBef>
                <a:buClr>
                  <a:schemeClr val="tx1"/>
                </a:buClr>
                <a:buSzPct val="90000"/>
                <a:buFont typeface="Arial" panose="020B0604020202020204" pitchFamily="34" charset="0"/>
                <a:buChar char="•"/>
              </a:pPr>
              <a:r>
                <a:rPr lang="en-US" altLang="en-US" sz="1100" dirty="0">
                  <a:solidFill>
                    <a:schemeClr val="tx1"/>
                  </a:solidFill>
                  <a:latin typeface="Roboto" panose="02000000000000000000" pitchFamily="2" charset="0"/>
                  <a:ea typeface="Roboto" panose="02000000000000000000" pitchFamily="2" charset="0"/>
                </a:rPr>
                <a:t>Schedule point is at Paint operation where a standard frame is selected, painted to order and then assembled to order</a:t>
              </a:r>
            </a:p>
          </p:txBody>
        </p:sp>
      </p:grpSp>
    </p:spTree>
    <p:extLst>
      <p:ext uri="{BB962C8B-B14F-4D97-AF65-F5344CB8AC3E}">
        <p14:creationId xmlns:p14="http://schemas.microsoft.com/office/powerpoint/2010/main" val="2213794368"/>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Replacing Inventory Queues with Supermarkets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103</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2717459" y="46330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Rectangle 157">
            <a:extLst>
              <a:ext uri="{FF2B5EF4-FFF2-40B4-BE49-F238E27FC236}">
                <a16:creationId xmlns:a16="http://schemas.microsoft.com/office/drawing/2014/main" id="{2A6B1B2A-1F7A-7B14-D92E-EAA9D9791751}"/>
              </a:ext>
            </a:extLst>
          </p:cNvPr>
          <p:cNvSpPr>
            <a:spLocks noChangeArrowheads="1"/>
          </p:cNvSpPr>
          <p:nvPr/>
        </p:nvSpPr>
        <p:spPr bwMode="auto">
          <a:xfrm>
            <a:off x="3162300" y="1836474"/>
            <a:ext cx="5867400" cy="2133600"/>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Supermarkets are created at the point of production</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(not consumption)</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Parts are pulled by the consuming process</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Supermarket is replenished by the producing department</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as parts are pulled</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Supermarket in Receiving for pulling raw materials, even</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though pull might not be created with supplier at this time</a:t>
            </a:r>
            <a:endParaRPr lang="en-US" altLang="en-US" sz="2800" dirty="0">
              <a:solidFill>
                <a:schemeClr val="tx1"/>
              </a:solidFill>
              <a:latin typeface="Roboto" panose="02000000000000000000" pitchFamily="2" charset="0"/>
              <a:ea typeface="Roboto" panose="02000000000000000000" pitchFamily="2" charset="0"/>
            </a:endParaRPr>
          </a:p>
        </p:txBody>
      </p:sp>
      <p:sp>
        <p:nvSpPr>
          <p:cNvPr id="156" name="&quot;Not Allowed&quot; Symbol 155">
            <a:extLst>
              <a:ext uri="{FF2B5EF4-FFF2-40B4-BE49-F238E27FC236}">
                <a16:creationId xmlns:a16="http://schemas.microsoft.com/office/drawing/2014/main" id="{3DAD696A-BCD1-14DF-614E-25CD3DA8697F}"/>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7" name="&quot;Not Allowed&quot; Symbol 156">
            <a:extLst>
              <a:ext uri="{FF2B5EF4-FFF2-40B4-BE49-F238E27FC236}">
                <a16:creationId xmlns:a16="http://schemas.microsoft.com/office/drawing/2014/main" id="{5B046A6D-4551-6745-DDB1-BCD370DC9F9F}"/>
              </a:ext>
            </a:extLst>
          </p:cNvPr>
          <p:cNvSpPr/>
          <p:nvPr/>
        </p:nvSpPr>
        <p:spPr>
          <a:xfrm>
            <a:off x="8260410" y="4377420"/>
            <a:ext cx="655200" cy="567958"/>
          </a:xfrm>
          <a:prstGeom prst="noSmoking">
            <a:avLst>
              <a:gd name="adj" fmla="val 5333"/>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8" name="&quot;Not Allowed&quot; Symbol 157">
            <a:extLst>
              <a:ext uri="{FF2B5EF4-FFF2-40B4-BE49-F238E27FC236}">
                <a16:creationId xmlns:a16="http://schemas.microsoft.com/office/drawing/2014/main" id="{46892DE3-156E-4003-8631-77EF3BD3D41B}"/>
              </a:ext>
            </a:extLst>
          </p:cNvPr>
          <p:cNvSpPr/>
          <p:nvPr/>
        </p:nvSpPr>
        <p:spPr>
          <a:xfrm>
            <a:off x="768406" y="4249218"/>
            <a:ext cx="655200" cy="567958"/>
          </a:xfrm>
          <a:prstGeom prst="noSmoking">
            <a:avLst>
              <a:gd name="adj" fmla="val 5333"/>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9" name="&quot;Not Allowed&quot; Symbol 158">
            <a:extLst>
              <a:ext uri="{FF2B5EF4-FFF2-40B4-BE49-F238E27FC236}">
                <a16:creationId xmlns:a16="http://schemas.microsoft.com/office/drawing/2014/main" id="{7B9690FD-2673-F8E6-2E0C-8CF21F2DE7E6}"/>
              </a:ext>
            </a:extLst>
          </p:cNvPr>
          <p:cNvSpPr/>
          <p:nvPr/>
        </p:nvSpPr>
        <p:spPr>
          <a:xfrm>
            <a:off x="3055779" y="4331484"/>
            <a:ext cx="655200" cy="567958"/>
          </a:xfrm>
          <a:prstGeom prst="noSmoking">
            <a:avLst>
              <a:gd name="adj" fmla="val 5333"/>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4189032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3">
            <a:extLst>
              <a:ext uri="{FF2B5EF4-FFF2-40B4-BE49-F238E27FC236}">
                <a16:creationId xmlns:a16="http://schemas.microsoft.com/office/drawing/2014/main" id="{F12118FC-4250-52F4-4CDB-0C2966C05CAB}"/>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Replacing Inventory Queues with Supermarkets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104</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2717459" y="46330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8" name="&quot;Not Allowed&quot; Symbol 157">
            <a:extLst>
              <a:ext uri="{FF2B5EF4-FFF2-40B4-BE49-F238E27FC236}">
                <a16:creationId xmlns:a16="http://schemas.microsoft.com/office/drawing/2014/main" id="{D012A0BD-B5C7-0057-88E0-45ED630B1785}"/>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9" name="&quot;Not Allowed&quot; Symbol 158">
            <a:extLst>
              <a:ext uri="{FF2B5EF4-FFF2-40B4-BE49-F238E27FC236}">
                <a16:creationId xmlns:a16="http://schemas.microsoft.com/office/drawing/2014/main" id="{00672372-29E5-D396-820A-466085B0323D}"/>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0" name="&quot;Not Allowed&quot; Symbol 159">
            <a:extLst>
              <a:ext uri="{FF2B5EF4-FFF2-40B4-BE49-F238E27FC236}">
                <a16:creationId xmlns:a16="http://schemas.microsoft.com/office/drawing/2014/main" id="{06D71753-D856-A297-0517-C8AA6EA8672F}"/>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1" name="&quot;Not Allowed&quot; Symbol 160">
            <a:extLst>
              <a:ext uri="{FF2B5EF4-FFF2-40B4-BE49-F238E27FC236}">
                <a16:creationId xmlns:a16="http://schemas.microsoft.com/office/drawing/2014/main" id="{6D12397F-0B9E-1552-6A73-182027BBFC4D}"/>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55896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105</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145833608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Identifying the Pacemaker Operation</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lnSpcReduction="10000"/>
          </a:bodyPr>
          <a:lstStyle/>
          <a:p>
            <a:r>
              <a:rPr lang="en-US" dirty="0"/>
              <a:t>Pacemaker - Definition</a:t>
            </a:r>
          </a:p>
          <a:p>
            <a:pPr lvl="1"/>
            <a:r>
              <a:rPr lang="en-US" dirty="0"/>
              <a:t>The pacemaker process is the single point at which the entire production process is scheduled</a:t>
            </a:r>
          </a:p>
          <a:p>
            <a:pPr lvl="1"/>
            <a:r>
              <a:rPr lang="en-US" dirty="0"/>
              <a:t>Used to control production - sets the pace for all upstream processes</a:t>
            </a:r>
          </a:p>
          <a:p>
            <a:r>
              <a:rPr lang="en-US" dirty="0"/>
              <a:t>Rule of Thumb</a:t>
            </a:r>
          </a:p>
          <a:p>
            <a:pPr lvl="1"/>
            <a:r>
              <a:rPr lang="en-US" dirty="0"/>
              <a:t>The Pacemaker is the furthest upstream process where continuous flow exists from that process to the end point of the value stream (i.e. all subsequent processes flow to the end point of the value stream)</a:t>
            </a:r>
          </a:p>
          <a:p>
            <a:r>
              <a:rPr lang="en-US" dirty="0"/>
              <a:t>For MME, Shipping is the pacemaker process because the preceding process (Stamp/Brake Form) is decoupled by pull from the supermarket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106</a:t>
            </a:fld>
            <a:endParaRPr lang="en-US"/>
          </a:p>
        </p:txBody>
      </p:sp>
      <p:grpSp>
        <p:nvGrpSpPr>
          <p:cNvPr id="4" name="Group 3">
            <a:extLst>
              <a:ext uri="{FF2B5EF4-FFF2-40B4-BE49-F238E27FC236}">
                <a16:creationId xmlns:a16="http://schemas.microsoft.com/office/drawing/2014/main" id="{6F6EA1F7-9CD5-57B1-94CA-381E0708F804}"/>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5048818-EC77-ED2A-A539-8621E7416C67}"/>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C719889-0167-2E7A-3B9D-FD45827B78E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466822D2-6512-B09F-3A5E-E5BA945DED7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B7A11C3B-AC47-D0D6-D268-E7191C750676}"/>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863799D6-90AC-39BC-1E41-432AB7D1243D}"/>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ACDB7F5E-BC66-3ED9-2951-109597BD579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40C4DAFB-793C-07F5-B627-6BB7DA4A1D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5C48266E-F436-8559-5B40-12CEDACA87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60933328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107</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109900109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Leveling the Production Mix</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10000"/>
          </a:bodyPr>
          <a:lstStyle/>
          <a:p>
            <a:r>
              <a:rPr lang="en-US" dirty="0"/>
              <a:t>For multiple products flowing through the value stream, a proportional mix must be determined in order to level load the processes</a:t>
            </a:r>
          </a:p>
          <a:p>
            <a:pPr lvl="1"/>
            <a:r>
              <a:rPr lang="en-US" dirty="0"/>
              <a:t>Mix calculated based on individual product demands</a:t>
            </a:r>
          </a:p>
          <a:p>
            <a:pPr lvl="1"/>
            <a:r>
              <a:rPr lang="en-US" dirty="0"/>
              <a:t>Used to level production on a daily basis</a:t>
            </a:r>
          </a:p>
          <a:p>
            <a:pPr lvl="1"/>
            <a:r>
              <a:rPr lang="en-US" dirty="0"/>
              <a:t>Ideal mix is proportional to product demand (smallest quantities)</a:t>
            </a:r>
          </a:p>
          <a:p>
            <a:pPr lvl="1"/>
            <a:r>
              <a:rPr lang="en-US" dirty="0"/>
              <a:t>Long changeover times may inhibit ideal mix and emulate the old push system “batches”</a:t>
            </a:r>
          </a:p>
          <a:p>
            <a:pPr lvl="1"/>
            <a:r>
              <a:rPr lang="en-US" dirty="0"/>
              <a:t>Icon used in VSM →</a:t>
            </a:r>
          </a:p>
          <a:p>
            <a:endParaRPr lang="en-US" dirty="0"/>
          </a:p>
          <a:p>
            <a:r>
              <a:rPr lang="en-US" dirty="0"/>
              <a:t>For MME (simple example), there is only one version of the product so product mix is not a factor</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108</a:t>
            </a:fld>
            <a:endParaRPr lang="en-US"/>
          </a:p>
        </p:txBody>
      </p:sp>
      <p:grpSp>
        <p:nvGrpSpPr>
          <p:cNvPr id="4" name="Group 3">
            <a:extLst>
              <a:ext uri="{FF2B5EF4-FFF2-40B4-BE49-F238E27FC236}">
                <a16:creationId xmlns:a16="http://schemas.microsoft.com/office/drawing/2014/main" id="{6F6EA1F7-9CD5-57B1-94CA-381E0708F804}"/>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5048818-EC77-ED2A-A539-8621E7416C67}"/>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C719889-0167-2E7A-3B9D-FD45827B78E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466822D2-6512-B09F-3A5E-E5BA945DED7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B7A11C3B-AC47-D0D6-D268-E7191C750676}"/>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863799D6-90AC-39BC-1E41-432AB7D1243D}"/>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ACDB7F5E-BC66-3ED9-2951-109597BD579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40C4DAFB-793C-07F5-B627-6BB7DA4A1D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5C48266E-F436-8559-5B40-12CEDACA87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6" name="Rectangle 5">
            <a:extLst>
              <a:ext uri="{FF2B5EF4-FFF2-40B4-BE49-F238E27FC236}">
                <a16:creationId xmlns:a16="http://schemas.microsoft.com/office/drawing/2014/main" id="{1DBF0080-7638-AC00-F406-486CBF85F275}"/>
              </a:ext>
            </a:extLst>
          </p:cNvPr>
          <p:cNvSpPr>
            <a:spLocks noChangeArrowheads="1"/>
          </p:cNvSpPr>
          <p:nvPr/>
        </p:nvSpPr>
        <p:spPr bwMode="auto">
          <a:xfrm>
            <a:off x="4229735" y="4388168"/>
            <a:ext cx="1133475" cy="442912"/>
          </a:xfrm>
          <a:prstGeom prst="rect">
            <a:avLst/>
          </a:prstGeom>
          <a:noFill/>
          <a:ln w="28575"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2000" b="0" dirty="0">
                <a:solidFill>
                  <a:schemeClr val="tx1"/>
                </a:solidFill>
                <a:latin typeface="Comic Sans MS" panose="030F0702030302020204" pitchFamily="66" charset="0"/>
              </a:rPr>
              <a:t>OXOX</a:t>
            </a:r>
          </a:p>
        </p:txBody>
      </p:sp>
    </p:spTree>
    <p:extLst>
      <p:ext uri="{BB962C8B-B14F-4D97-AF65-F5344CB8AC3E}">
        <p14:creationId xmlns:p14="http://schemas.microsoft.com/office/powerpoint/2010/main" val="77182439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109</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Will you build to Finished Goods Supermarket or build to Shipping?</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will supermarkets and FIFO lanes be implemented?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5" y="5239681"/>
            <a:ext cx="10275615"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How will you level the production mix?</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At which single point (pacemaker) will you schedule production?</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Is the current process producing to takt time?</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pull systems couple processes that cannot flow?</a:t>
            </a:r>
          </a:p>
        </p:txBody>
      </p:sp>
      <p:sp>
        <p:nvSpPr>
          <p:cNvPr id="21" name="Rectangle 20">
            <a:extLst>
              <a:ext uri="{FF2B5EF4-FFF2-40B4-BE49-F238E27FC236}">
                <a16:creationId xmlns:a16="http://schemas.microsoft.com/office/drawing/2014/main" id="{537BD751-65F2-47D5-466C-F3C035A30D57}"/>
              </a:ext>
            </a:extLst>
          </p:cNvPr>
          <p:cNvSpPr>
            <a:spLocks/>
          </p:cNvSpPr>
          <p:nvPr/>
        </p:nvSpPr>
        <p:spPr>
          <a:xfrm>
            <a:off x="940242" y="5822563"/>
            <a:ext cx="10275615"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does changeover time need to be addressed?</a:t>
            </a:r>
          </a:p>
        </p:txBody>
      </p:sp>
    </p:spTree>
    <p:extLst>
      <p:ext uri="{BB962C8B-B14F-4D97-AF65-F5344CB8AC3E}">
        <p14:creationId xmlns:p14="http://schemas.microsoft.com/office/powerpoint/2010/main" val="2172711033"/>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Identifying Changeover Opportunities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sz="2400" dirty="0"/>
              <a:t>Excessively long changeover times are wasteful</a:t>
            </a:r>
          </a:p>
          <a:p>
            <a:pPr lvl="1"/>
            <a:r>
              <a:rPr lang="en-US" sz="2000" dirty="0"/>
              <a:t>Prevent ideal product mix and level loaded schedules</a:t>
            </a:r>
          </a:p>
          <a:p>
            <a:pPr lvl="1"/>
            <a:r>
              <a:rPr lang="en-US" sz="2000" dirty="0"/>
              <a:t>Consume capacity by tying up machines and people</a:t>
            </a:r>
          </a:p>
          <a:p>
            <a:r>
              <a:rPr lang="en-US" sz="2400" dirty="0"/>
              <a:t>Identify critical changeovers that most affect getting to future state</a:t>
            </a:r>
          </a:p>
          <a:p>
            <a:pPr lvl="1"/>
            <a:r>
              <a:rPr lang="en-US" sz="2000" dirty="0"/>
              <a:t>SMED events will be identified in the marked-up VSM, </a:t>
            </a:r>
            <a:br>
              <a:rPr lang="en-US" sz="2000" dirty="0"/>
            </a:br>
            <a:r>
              <a:rPr lang="en-US" sz="2000" dirty="0"/>
              <a:t>where appropriate</a:t>
            </a:r>
          </a:p>
          <a:p>
            <a:r>
              <a:rPr lang="en-US" sz="2400" dirty="0"/>
              <a:t>For MME (simple example), the production processes are dedicated to a single product  so changeover time is not a factor.</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110</a:t>
            </a:fld>
            <a:endParaRPr lang="en-US"/>
          </a:p>
        </p:txBody>
      </p:sp>
      <p:grpSp>
        <p:nvGrpSpPr>
          <p:cNvPr id="4" name="Group 3">
            <a:extLst>
              <a:ext uri="{FF2B5EF4-FFF2-40B4-BE49-F238E27FC236}">
                <a16:creationId xmlns:a16="http://schemas.microsoft.com/office/drawing/2014/main" id="{6F6EA1F7-9CD5-57B1-94CA-381E0708F804}"/>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5048818-EC77-ED2A-A539-8621E7416C67}"/>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C719889-0167-2E7A-3B9D-FD45827B78E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466822D2-6512-B09F-3A5E-E5BA945DED7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B7A11C3B-AC47-D0D6-D268-E7191C750676}"/>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863799D6-90AC-39BC-1E41-432AB7D1243D}"/>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ACDB7F5E-BC66-3ED9-2951-109597BD579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40C4DAFB-793C-07F5-B627-6BB7DA4A1D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5C48266E-F436-8559-5B40-12CEDACA87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4" name="AutoShape 56">
            <a:extLst>
              <a:ext uri="{FF2B5EF4-FFF2-40B4-BE49-F238E27FC236}">
                <a16:creationId xmlns:a16="http://schemas.microsoft.com/office/drawing/2014/main" id="{E88D9563-F71F-89F6-7F9A-C80E4DF97483}"/>
              </a:ext>
            </a:extLst>
          </p:cNvPr>
          <p:cNvSpPr>
            <a:spLocks noChangeArrowheads="1"/>
          </p:cNvSpPr>
          <p:nvPr/>
        </p:nvSpPr>
        <p:spPr bwMode="auto">
          <a:xfrm>
            <a:off x="7885748" y="3336132"/>
            <a:ext cx="866775" cy="665162"/>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dirty="0">
                <a:solidFill>
                  <a:schemeClr val="accent1"/>
                </a:solidFill>
                <a:latin typeface="Comic Sans MS" panose="030F0702030302020204" pitchFamily="66" charset="0"/>
              </a:rPr>
              <a:t>SMED</a:t>
            </a:r>
          </a:p>
        </p:txBody>
      </p:sp>
      <p:grpSp>
        <p:nvGrpSpPr>
          <p:cNvPr id="15" name="Group 4">
            <a:extLst>
              <a:ext uri="{FF2B5EF4-FFF2-40B4-BE49-F238E27FC236}">
                <a16:creationId xmlns:a16="http://schemas.microsoft.com/office/drawing/2014/main" id="{E13736D5-5B81-4B3A-F6DE-CFAF785E8B28}"/>
              </a:ext>
            </a:extLst>
          </p:cNvPr>
          <p:cNvGrpSpPr>
            <a:grpSpLocks/>
          </p:cNvGrpSpPr>
          <p:nvPr/>
        </p:nvGrpSpPr>
        <p:grpSpPr bwMode="auto">
          <a:xfrm>
            <a:off x="2472073" y="4727575"/>
            <a:ext cx="7247855" cy="1449388"/>
            <a:chOff x="588" y="3061"/>
            <a:chExt cx="3983" cy="913"/>
          </a:xfrm>
        </p:grpSpPr>
        <p:grpSp>
          <p:nvGrpSpPr>
            <p:cNvPr id="17" name="Group 5">
              <a:extLst>
                <a:ext uri="{FF2B5EF4-FFF2-40B4-BE49-F238E27FC236}">
                  <a16:creationId xmlns:a16="http://schemas.microsoft.com/office/drawing/2014/main" id="{49BA0AB0-4008-35F4-63E6-0B9C728650B1}"/>
                </a:ext>
              </a:extLst>
            </p:cNvPr>
            <p:cNvGrpSpPr>
              <a:grpSpLocks/>
            </p:cNvGrpSpPr>
            <p:nvPr/>
          </p:nvGrpSpPr>
          <p:grpSpPr bwMode="auto">
            <a:xfrm>
              <a:off x="1126" y="3079"/>
              <a:ext cx="554" cy="895"/>
              <a:chOff x="983" y="2380"/>
              <a:chExt cx="554" cy="895"/>
            </a:xfrm>
          </p:grpSpPr>
          <p:grpSp>
            <p:nvGrpSpPr>
              <p:cNvPr id="55" name="Group 6">
                <a:extLst>
                  <a:ext uri="{FF2B5EF4-FFF2-40B4-BE49-F238E27FC236}">
                    <a16:creationId xmlns:a16="http://schemas.microsoft.com/office/drawing/2014/main" id="{431B74F8-8793-38C4-1F6B-9EAE63DBE4E8}"/>
                  </a:ext>
                </a:extLst>
              </p:cNvPr>
              <p:cNvGrpSpPr>
                <a:grpSpLocks/>
              </p:cNvGrpSpPr>
              <p:nvPr/>
            </p:nvGrpSpPr>
            <p:grpSpPr bwMode="auto">
              <a:xfrm>
                <a:off x="1008" y="2380"/>
                <a:ext cx="525" cy="390"/>
                <a:chOff x="1367" y="2370"/>
                <a:chExt cx="434" cy="390"/>
              </a:xfrm>
            </p:grpSpPr>
            <p:grpSp>
              <p:nvGrpSpPr>
                <p:cNvPr id="59" name="Group 7">
                  <a:extLst>
                    <a:ext uri="{FF2B5EF4-FFF2-40B4-BE49-F238E27FC236}">
                      <a16:creationId xmlns:a16="http://schemas.microsoft.com/office/drawing/2014/main" id="{1D59FDB5-EDAE-A5AC-D818-EF85F249704D}"/>
                    </a:ext>
                  </a:extLst>
                </p:cNvPr>
                <p:cNvGrpSpPr>
                  <a:grpSpLocks/>
                </p:cNvGrpSpPr>
                <p:nvPr/>
              </p:nvGrpSpPr>
              <p:grpSpPr bwMode="auto">
                <a:xfrm>
                  <a:off x="1367" y="2395"/>
                  <a:ext cx="434" cy="365"/>
                  <a:chOff x="418" y="2981"/>
                  <a:chExt cx="352" cy="365"/>
                </a:xfrm>
              </p:grpSpPr>
              <p:sp>
                <p:nvSpPr>
                  <p:cNvPr id="65" name="Rectangle 8">
                    <a:extLst>
                      <a:ext uri="{FF2B5EF4-FFF2-40B4-BE49-F238E27FC236}">
                        <a16:creationId xmlns:a16="http://schemas.microsoft.com/office/drawing/2014/main" id="{841472D5-5BD9-CFF6-A4A6-4D57E7C90D1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 name="Line 9">
                    <a:extLst>
                      <a:ext uri="{FF2B5EF4-FFF2-40B4-BE49-F238E27FC236}">
                        <a16:creationId xmlns:a16="http://schemas.microsoft.com/office/drawing/2014/main" id="{4FB044F1-86AA-28E9-7013-17F1A0C6277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60" name="Group 10">
                  <a:extLst>
                    <a:ext uri="{FF2B5EF4-FFF2-40B4-BE49-F238E27FC236}">
                      <a16:creationId xmlns:a16="http://schemas.microsoft.com/office/drawing/2014/main" id="{5483CB66-A786-EBB2-E36F-3DCCE171F588}"/>
                    </a:ext>
                  </a:extLst>
                </p:cNvPr>
                <p:cNvGrpSpPr>
                  <a:grpSpLocks/>
                </p:cNvGrpSpPr>
                <p:nvPr/>
              </p:nvGrpSpPr>
              <p:grpSpPr bwMode="auto">
                <a:xfrm flipV="1">
                  <a:off x="1462" y="2586"/>
                  <a:ext cx="96" cy="112"/>
                  <a:chOff x="720" y="3354"/>
                  <a:chExt cx="192" cy="198"/>
                </a:xfrm>
              </p:grpSpPr>
              <p:sp>
                <p:nvSpPr>
                  <p:cNvPr id="63" name="Oval 11">
                    <a:extLst>
                      <a:ext uri="{FF2B5EF4-FFF2-40B4-BE49-F238E27FC236}">
                        <a16:creationId xmlns:a16="http://schemas.microsoft.com/office/drawing/2014/main" id="{38A734E8-2490-82C3-DD57-A57D776BEC42}"/>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 name="AutoShape 12">
                    <a:extLst>
                      <a:ext uri="{FF2B5EF4-FFF2-40B4-BE49-F238E27FC236}">
                        <a16:creationId xmlns:a16="http://schemas.microsoft.com/office/drawing/2014/main" id="{F787030C-73C7-3D54-5033-A8757B6BDE2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61" name="Text Box 13">
                  <a:extLst>
                    <a:ext uri="{FF2B5EF4-FFF2-40B4-BE49-F238E27FC236}">
                      <a16:creationId xmlns:a16="http://schemas.microsoft.com/office/drawing/2014/main" id="{6A90BA22-32F9-3E51-0476-BA67FA498DC2}"/>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2" name="Text Box 14">
                  <a:extLst>
                    <a:ext uri="{FF2B5EF4-FFF2-40B4-BE49-F238E27FC236}">
                      <a16:creationId xmlns:a16="http://schemas.microsoft.com/office/drawing/2014/main" id="{2B3B0B95-0A75-FA58-3651-35A8212452BE}"/>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Cut</a:t>
                  </a:r>
                </a:p>
              </p:txBody>
            </p:sp>
          </p:grpSp>
          <p:grpSp>
            <p:nvGrpSpPr>
              <p:cNvPr id="56" name="Group 15">
                <a:extLst>
                  <a:ext uri="{FF2B5EF4-FFF2-40B4-BE49-F238E27FC236}">
                    <a16:creationId xmlns:a16="http://schemas.microsoft.com/office/drawing/2014/main" id="{752CF75D-C316-1198-7CB5-EB2E6B97BA8D}"/>
                  </a:ext>
                </a:extLst>
              </p:cNvPr>
              <p:cNvGrpSpPr>
                <a:grpSpLocks/>
              </p:cNvGrpSpPr>
              <p:nvPr/>
            </p:nvGrpSpPr>
            <p:grpSpPr bwMode="auto">
              <a:xfrm>
                <a:off x="983" y="2832"/>
                <a:ext cx="554" cy="443"/>
                <a:chOff x="983" y="2832"/>
                <a:chExt cx="554" cy="443"/>
              </a:xfrm>
            </p:grpSpPr>
            <p:sp>
              <p:nvSpPr>
                <p:cNvPr id="57" name="Rectangle 16">
                  <a:extLst>
                    <a:ext uri="{FF2B5EF4-FFF2-40B4-BE49-F238E27FC236}">
                      <a16:creationId xmlns:a16="http://schemas.microsoft.com/office/drawing/2014/main" id="{A4F7A0DE-E3FE-D80D-51C6-13BC620A3033}"/>
                    </a:ext>
                  </a:extLst>
                </p:cNvPr>
                <p:cNvSpPr>
                  <a:spLocks noChangeArrowheads="1"/>
                </p:cNvSpPr>
                <p:nvPr/>
              </p:nvSpPr>
              <p:spPr bwMode="auto">
                <a:xfrm>
                  <a:off x="1012" y="2832"/>
                  <a:ext cx="525" cy="43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 name="Text Box 17">
                  <a:extLst>
                    <a:ext uri="{FF2B5EF4-FFF2-40B4-BE49-F238E27FC236}">
                      <a16:creationId xmlns:a16="http://schemas.microsoft.com/office/drawing/2014/main" id="{FAA808A7-626D-1708-E1A7-850A3D7D8857}"/>
                    </a:ext>
                  </a:extLst>
                </p:cNvPr>
                <p:cNvSpPr txBox="1">
                  <a:spLocks noChangeArrowheads="1"/>
                </p:cNvSpPr>
                <p:nvPr/>
              </p:nvSpPr>
              <p:spPr bwMode="auto">
                <a:xfrm>
                  <a:off x="983" y="2832"/>
                  <a:ext cx="553"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12</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30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99%</a:t>
                  </a:r>
                </a:p>
                <a:p>
                  <a:pPr algn="l">
                    <a:lnSpc>
                      <a:spcPct val="100000"/>
                    </a:lnSpc>
                    <a:spcBef>
                      <a:spcPct val="0"/>
                    </a:spcBef>
                  </a:pPr>
                  <a:r>
                    <a:rPr lang="en-US" altLang="en-US" sz="800" b="0">
                      <a:solidFill>
                        <a:schemeClr val="tx1"/>
                      </a:solidFill>
                    </a:rPr>
                    <a:t>5 Machines</a:t>
                  </a:r>
                </a:p>
              </p:txBody>
            </p:sp>
          </p:grpSp>
        </p:grpSp>
        <p:sp>
          <p:nvSpPr>
            <p:cNvPr id="18" name="Line 18">
              <a:extLst>
                <a:ext uri="{FF2B5EF4-FFF2-40B4-BE49-F238E27FC236}">
                  <a16:creationId xmlns:a16="http://schemas.microsoft.com/office/drawing/2014/main" id="{3325B350-8409-AB78-1C27-D7FC83648DF0}"/>
                </a:ext>
              </a:extLst>
            </p:cNvPr>
            <p:cNvSpPr>
              <a:spLocks noChangeShapeType="1"/>
            </p:cNvSpPr>
            <p:nvPr/>
          </p:nvSpPr>
          <p:spPr bwMode="auto">
            <a:xfrm flipV="1">
              <a:off x="1691" y="3295"/>
              <a:ext cx="618"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9" name="AutoShape 19">
              <a:extLst>
                <a:ext uri="{FF2B5EF4-FFF2-40B4-BE49-F238E27FC236}">
                  <a16:creationId xmlns:a16="http://schemas.microsoft.com/office/drawing/2014/main" id="{E1328B14-8F08-F992-6146-C639303581B4}"/>
                </a:ext>
              </a:extLst>
            </p:cNvPr>
            <p:cNvSpPr>
              <a:spLocks noChangeArrowheads="1"/>
            </p:cNvSpPr>
            <p:nvPr/>
          </p:nvSpPr>
          <p:spPr bwMode="auto">
            <a:xfrm>
              <a:off x="1865"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grpSp>
          <p:nvGrpSpPr>
            <p:cNvPr id="20" name="Group 20">
              <a:extLst>
                <a:ext uri="{FF2B5EF4-FFF2-40B4-BE49-F238E27FC236}">
                  <a16:creationId xmlns:a16="http://schemas.microsoft.com/office/drawing/2014/main" id="{4F96A81C-E6C1-5265-9F6B-C7A672CD52AE}"/>
                </a:ext>
              </a:extLst>
            </p:cNvPr>
            <p:cNvGrpSpPr>
              <a:grpSpLocks/>
            </p:cNvGrpSpPr>
            <p:nvPr/>
          </p:nvGrpSpPr>
          <p:grpSpPr bwMode="auto">
            <a:xfrm>
              <a:off x="2258" y="3066"/>
              <a:ext cx="561" cy="828"/>
              <a:chOff x="2155" y="2375"/>
              <a:chExt cx="561" cy="828"/>
            </a:xfrm>
          </p:grpSpPr>
          <p:sp>
            <p:nvSpPr>
              <p:cNvPr id="44" name="Rectangle 21">
                <a:extLst>
                  <a:ext uri="{FF2B5EF4-FFF2-40B4-BE49-F238E27FC236}">
                    <a16:creationId xmlns:a16="http://schemas.microsoft.com/office/drawing/2014/main" id="{724B5D4D-2A15-4FF4-5D82-87C1FC7E6C8E}"/>
                  </a:ext>
                </a:extLst>
              </p:cNvPr>
              <p:cNvSpPr>
                <a:spLocks noChangeArrowheads="1"/>
              </p:cNvSpPr>
              <p:nvPr/>
            </p:nvSpPr>
            <p:spPr bwMode="auto">
              <a:xfrm>
                <a:off x="2191" y="2827"/>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nvGrpSpPr>
              <p:cNvPr id="45" name="Group 22">
                <a:extLst>
                  <a:ext uri="{FF2B5EF4-FFF2-40B4-BE49-F238E27FC236}">
                    <a16:creationId xmlns:a16="http://schemas.microsoft.com/office/drawing/2014/main" id="{4E66E9DB-2449-2DAA-D531-5752417ABFC0}"/>
                  </a:ext>
                </a:extLst>
              </p:cNvPr>
              <p:cNvGrpSpPr>
                <a:grpSpLocks/>
              </p:cNvGrpSpPr>
              <p:nvPr/>
            </p:nvGrpSpPr>
            <p:grpSpPr bwMode="auto">
              <a:xfrm>
                <a:off x="2187" y="2375"/>
                <a:ext cx="525" cy="390"/>
                <a:chOff x="1367" y="2370"/>
                <a:chExt cx="434" cy="390"/>
              </a:xfrm>
            </p:grpSpPr>
            <p:grpSp>
              <p:nvGrpSpPr>
                <p:cNvPr id="47" name="Group 23">
                  <a:extLst>
                    <a:ext uri="{FF2B5EF4-FFF2-40B4-BE49-F238E27FC236}">
                      <a16:creationId xmlns:a16="http://schemas.microsoft.com/office/drawing/2014/main" id="{88DDD0EB-B149-C278-34BA-C7C4D2E42BC7}"/>
                    </a:ext>
                  </a:extLst>
                </p:cNvPr>
                <p:cNvGrpSpPr>
                  <a:grpSpLocks/>
                </p:cNvGrpSpPr>
                <p:nvPr/>
              </p:nvGrpSpPr>
              <p:grpSpPr bwMode="auto">
                <a:xfrm>
                  <a:off x="1367" y="2395"/>
                  <a:ext cx="434" cy="365"/>
                  <a:chOff x="418" y="2981"/>
                  <a:chExt cx="352" cy="365"/>
                </a:xfrm>
              </p:grpSpPr>
              <p:sp>
                <p:nvSpPr>
                  <p:cNvPr id="53" name="Rectangle 24">
                    <a:extLst>
                      <a:ext uri="{FF2B5EF4-FFF2-40B4-BE49-F238E27FC236}">
                        <a16:creationId xmlns:a16="http://schemas.microsoft.com/office/drawing/2014/main" id="{B59F8A04-194A-709B-2B69-20743B0D685C}"/>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 name="Line 25">
                    <a:extLst>
                      <a:ext uri="{FF2B5EF4-FFF2-40B4-BE49-F238E27FC236}">
                        <a16:creationId xmlns:a16="http://schemas.microsoft.com/office/drawing/2014/main" id="{DD770A98-8D3E-7FFC-34C7-C061303695D8}"/>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48" name="Group 26">
                  <a:extLst>
                    <a:ext uri="{FF2B5EF4-FFF2-40B4-BE49-F238E27FC236}">
                      <a16:creationId xmlns:a16="http://schemas.microsoft.com/office/drawing/2014/main" id="{55E6F8B4-005D-17F6-9A79-65E407F8E36D}"/>
                    </a:ext>
                  </a:extLst>
                </p:cNvPr>
                <p:cNvGrpSpPr>
                  <a:grpSpLocks/>
                </p:cNvGrpSpPr>
                <p:nvPr/>
              </p:nvGrpSpPr>
              <p:grpSpPr bwMode="auto">
                <a:xfrm flipV="1">
                  <a:off x="1462" y="2586"/>
                  <a:ext cx="96" cy="112"/>
                  <a:chOff x="720" y="3354"/>
                  <a:chExt cx="192" cy="198"/>
                </a:xfrm>
              </p:grpSpPr>
              <p:sp>
                <p:nvSpPr>
                  <p:cNvPr id="51" name="Oval 27">
                    <a:extLst>
                      <a:ext uri="{FF2B5EF4-FFF2-40B4-BE49-F238E27FC236}">
                        <a16:creationId xmlns:a16="http://schemas.microsoft.com/office/drawing/2014/main" id="{31C18EAF-8F78-98C1-30E3-3954D63B4D4C}"/>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 name="AutoShape 28">
                    <a:extLst>
                      <a:ext uri="{FF2B5EF4-FFF2-40B4-BE49-F238E27FC236}">
                        <a16:creationId xmlns:a16="http://schemas.microsoft.com/office/drawing/2014/main" id="{4EC7EB9C-2787-4A1D-4E10-A556CF04A52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49" name="Text Box 29">
                  <a:extLst>
                    <a:ext uri="{FF2B5EF4-FFF2-40B4-BE49-F238E27FC236}">
                      <a16:creationId xmlns:a16="http://schemas.microsoft.com/office/drawing/2014/main" id="{0569733F-DEA3-2BE3-2036-6DACBFA7036A}"/>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1</a:t>
                  </a:r>
                </a:p>
              </p:txBody>
            </p:sp>
            <p:sp>
              <p:nvSpPr>
                <p:cNvPr id="50" name="Text Box 30">
                  <a:extLst>
                    <a:ext uri="{FF2B5EF4-FFF2-40B4-BE49-F238E27FC236}">
                      <a16:creationId xmlns:a16="http://schemas.microsoft.com/office/drawing/2014/main" id="{8462D167-59A1-FFD6-2F90-18ABA58C7A4C}"/>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Stamp</a:t>
                  </a:r>
                </a:p>
              </p:txBody>
            </p:sp>
          </p:grpSp>
          <p:sp>
            <p:nvSpPr>
              <p:cNvPr id="46" name="Text Box 31">
                <a:extLst>
                  <a:ext uri="{FF2B5EF4-FFF2-40B4-BE49-F238E27FC236}">
                    <a16:creationId xmlns:a16="http://schemas.microsoft.com/office/drawing/2014/main" id="{5DE2EAEF-B4AB-15FF-CB24-CAD21C52B2A5}"/>
                  </a:ext>
                </a:extLst>
              </p:cNvPr>
              <p:cNvSpPr txBox="1">
                <a:spLocks noChangeArrowheads="1"/>
              </p:cNvSpPr>
              <p:nvPr/>
            </p:nvSpPr>
            <p:spPr bwMode="auto">
              <a:xfrm>
                <a:off x="2155" y="2837"/>
                <a:ext cx="553"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15</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30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98%</a:t>
                </a:r>
              </a:p>
            </p:txBody>
          </p:sp>
        </p:grpSp>
        <p:grpSp>
          <p:nvGrpSpPr>
            <p:cNvPr id="21" name="Group 32">
              <a:extLst>
                <a:ext uri="{FF2B5EF4-FFF2-40B4-BE49-F238E27FC236}">
                  <a16:creationId xmlns:a16="http://schemas.microsoft.com/office/drawing/2014/main" id="{07EF80F3-D5E0-C53C-1007-816826A62DE5}"/>
                </a:ext>
              </a:extLst>
            </p:cNvPr>
            <p:cNvGrpSpPr>
              <a:grpSpLocks/>
            </p:cNvGrpSpPr>
            <p:nvPr/>
          </p:nvGrpSpPr>
          <p:grpSpPr bwMode="auto">
            <a:xfrm>
              <a:off x="3397" y="3061"/>
              <a:ext cx="605" cy="828"/>
              <a:chOff x="3253" y="2370"/>
              <a:chExt cx="605" cy="828"/>
            </a:xfrm>
          </p:grpSpPr>
          <p:sp>
            <p:nvSpPr>
              <p:cNvPr id="33" name="Rectangle 33">
                <a:extLst>
                  <a:ext uri="{FF2B5EF4-FFF2-40B4-BE49-F238E27FC236}">
                    <a16:creationId xmlns:a16="http://schemas.microsoft.com/office/drawing/2014/main" id="{C8C8271C-551E-D30D-93EF-18844EA94859}"/>
                  </a:ext>
                </a:extLst>
              </p:cNvPr>
              <p:cNvSpPr>
                <a:spLocks noChangeArrowheads="1"/>
              </p:cNvSpPr>
              <p:nvPr/>
            </p:nvSpPr>
            <p:spPr bwMode="auto">
              <a:xfrm>
                <a:off x="3289" y="2822"/>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nvGrpSpPr>
              <p:cNvPr id="34" name="Group 34">
                <a:extLst>
                  <a:ext uri="{FF2B5EF4-FFF2-40B4-BE49-F238E27FC236}">
                    <a16:creationId xmlns:a16="http://schemas.microsoft.com/office/drawing/2014/main" id="{6B317997-DA15-2EE1-8E55-A6049591E1EA}"/>
                  </a:ext>
                </a:extLst>
              </p:cNvPr>
              <p:cNvGrpSpPr>
                <a:grpSpLocks/>
              </p:cNvGrpSpPr>
              <p:nvPr/>
            </p:nvGrpSpPr>
            <p:grpSpPr bwMode="auto">
              <a:xfrm>
                <a:off x="3285" y="2370"/>
                <a:ext cx="525" cy="390"/>
                <a:chOff x="1367" y="2370"/>
                <a:chExt cx="434" cy="390"/>
              </a:xfrm>
            </p:grpSpPr>
            <p:grpSp>
              <p:nvGrpSpPr>
                <p:cNvPr id="36" name="Group 35">
                  <a:extLst>
                    <a:ext uri="{FF2B5EF4-FFF2-40B4-BE49-F238E27FC236}">
                      <a16:creationId xmlns:a16="http://schemas.microsoft.com/office/drawing/2014/main" id="{64D3F42C-C2A1-5541-0E9C-3C80D5BCD497}"/>
                    </a:ext>
                  </a:extLst>
                </p:cNvPr>
                <p:cNvGrpSpPr>
                  <a:grpSpLocks/>
                </p:cNvGrpSpPr>
                <p:nvPr/>
              </p:nvGrpSpPr>
              <p:grpSpPr bwMode="auto">
                <a:xfrm>
                  <a:off x="1367" y="2395"/>
                  <a:ext cx="434" cy="365"/>
                  <a:chOff x="418" y="2981"/>
                  <a:chExt cx="352" cy="365"/>
                </a:xfrm>
              </p:grpSpPr>
              <p:sp>
                <p:nvSpPr>
                  <p:cNvPr id="42" name="Rectangle 36">
                    <a:extLst>
                      <a:ext uri="{FF2B5EF4-FFF2-40B4-BE49-F238E27FC236}">
                        <a16:creationId xmlns:a16="http://schemas.microsoft.com/office/drawing/2014/main" id="{A29BEC63-5AAC-6368-98D3-23E2B5F0C47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 name="Line 37">
                    <a:extLst>
                      <a:ext uri="{FF2B5EF4-FFF2-40B4-BE49-F238E27FC236}">
                        <a16:creationId xmlns:a16="http://schemas.microsoft.com/office/drawing/2014/main" id="{786A3CD4-406E-3ECF-F8C1-20E86FF13785}"/>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37" name="Group 38">
                  <a:extLst>
                    <a:ext uri="{FF2B5EF4-FFF2-40B4-BE49-F238E27FC236}">
                      <a16:creationId xmlns:a16="http://schemas.microsoft.com/office/drawing/2014/main" id="{E4E1C192-4169-DE7F-07CF-544C6181559D}"/>
                    </a:ext>
                  </a:extLst>
                </p:cNvPr>
                <p:cNvGrpSpPr>
                  <a:grpSpLocks/>
                </p:cNvGrpSpPr>
                <p:nvPr/>
              </p:nvGrpSpPr>
              <p:grpSpPr bwMode="auto">
                <a:xfrm flipV="1">
                  <a:off x="1462" y="2586"/>
                  <a:ext cx="96" cy="112"/>
                  <a:chOff x="720" y="3354"/>
                  <a:chExt cx="192" cy="198"/>
                </a:xfrm>
              </p:grpSpPr>
              <p:sp>
                <p:nvSpPr>
                  <p:cNvPr id="40" name="Oval 39">
                    <a:extLst>
                      <a:ext uri="{FF2B5EF4-FFF2-40B4-BE49-F238E27FC236}">
                        <a16:creationId xmlns:a16="http://schemas.microsoft.com/office/drawing/2014/main" id="{9B171475-B483-F406-5408-F253C54A1483}"/>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 name="AutoShape 40">
                    <a:extLst>
                      <a:ext uri="{FF2B5EF4-FFF2-40B4-BE49-F238E27FC236}">
                        <a16:creationId xmlns:a16="http://schemas.microsoft.com/office/drawing/2014/main" id="{061484DD-474A-D2F6-7E46-8FA85DC072F1}"/>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38" name="Text Box 41">
                  <a:extLst>
                    <a:ext uri="{FF2B5EF4-FFF2-40B4-BE49-F238E27FC236}">
                      <a16:creationId xmlns:a16="http://schemas.microsoft.com/office/drawing/2014/main" id="{8593FCDB-AE9E-BDCB-0641-AD2DEA68AFFD}"/>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1</a:t>
                  </a:r>
                </a:p>
              </p:txBody>
            </p:sp>
            <p:sp>
              <p:nvSpPr>
                <p:cNvPr id="39" name="Text Box 42">
                  <a:extLst>
                    <a:ext uri="{FF2B5EF4-FFF2-40B4-BE49-F238E27FC236}">
                      <a16:creationId xmlns:a16="http://schemas.microsoft.com/office/drawing/2014/main" id="{741E04E8-4B77-2DAD-D719-45A372D66D47}"/>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Brake Form</a:t>
                  </a:r>
                </a:p>
              </p:txBody>
            </p:sp>
          </p:grpSp>
          <p:sp>
            <p:nvSpPr>
              <p:cNvPr id="35" name="Text Box 43">
                <a:extLst>
                  <a:ext uri="{FF2B5EF4-FFF2-40B4-BE49-F238E27FC236}">
                    <a16:creationId xmlns:a16="http://schemas.microsoft.com/office/drawing/2014/main" id="{A6D1DEE9-71AA-F03D-3C2C-7A382403BD61}"/>
                  </a:ext>
                </a:extLst>
              </p:cNvPr>
              <p:cNvSpPr txBox="1">
                <a:spLocks noChangeArrowheads="1"/>
              </p:cNvSpPr>
              <p:nvPr/>
            </p:nvSpPr>
            <p:spPr bwMode="auto">
              <a:xfrm>
                <a:off x="3253" y="2832"/>
                <a:ext cx="605"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20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120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85%</a:t>
                </a:r>
              </a:p>
            </p:txBody>
          </p:sp>
        </p:grpSp>
        <p:sp>
          <p:nvSpPr>
            <p:cNvPr id="22" name="Line 44">
              <a:extLst>
                <a:ext uri="{FF2B5EF4-FFF2-40B4-BE49-F238E27FC236}">
                  <a16:creationId xmlns:a16="http://schemas.microsoft.com/office/drawing/2014/main" id="{29A4F547-98F7-45FF-A39B-A2523E9E61B0}"/>
                </a:ext>
              </a:extLst>
            </p:cNvPr>
            <p:cNvSpPr>
              <a:spLocks noChangeShapeType="1"/>
            </p:cNvSpPr>
            <p:nvPr/>
          </p:nvSpPr>
          <p:spPr bwMode="auto">
            <a:xfrm flipV="1">
              <a:off x="2829" y="3295"/>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3" name="Line 45">
              <a:extLst>
                <a:ext uri="{FF2B5EF4-FFF2-40B4-BE49-F238E27FC236}">
                  <a16:creationId xmlns:a16="http://schemas.microsoft.com/office/drawing/2014/main" id="{690C709E-D107-967E-D90B-95A05BB4A66E}"/>
                </a:ext>
              </a:extLst>
            </p:cNvPr>
            <p:cNvSpPr>
              <a:spLocks noChangeShapeType="1"/>
            </p:cNvSpPr>
            <p:nvPr/>
          </p:nvSpPr>
          <p:spPr bwMode="auto">
            <a:xfrm flipV="1">
              <a:off x="3967" y="3295"/>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4" name="AutoShape 46">
              <a:extLst>
                <a:ext uri="{FF2B5EF4-FFF2-40B4-BE49-F238E27FC236}">
                  <a16:creationId xmlns:a16="http://schemas.microsoft.com/office/drawing/2014/main" id="{68404FAE-8269-9CA6-E949-421138410FFC}"/>
                </a:ext>
              </a:extLst>
            </p:cNvPr>
            <p:cNvSpPr>
              <a:spLocks noChangeArrowheads="1"/>
            </p:cNvSpPr>
            <p:nvPr/>
          </p:nvSpPr>
          <p:spPr bwMode="auto">
            <a:xfrm>
              <a:off x="3003"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25" name="AutoShape 47">
              <a:extLst>
                <a:ext uri="{FF2B5EF4-FFF2-40B4-BE49-F238E27FC236}">
                  <a16:creationId xmlns:a16="http://schemas.microsoft.com/office/drawing/2014/main" id="{39700A79-2111-B4AF-1A17-9024BEEC47AF}"/>
                </a:ext>
              </a:extLst>
            </p:cNvPr>
            <p:cNvSpPr>
              <a:spLocks noChangeArrowheads="1"/>
            </p:cNvSpPr>
            <p:nvPr/>
          </p:nvSpPr>
          <p:spPr bwMode="auto">
            <a:xfrm>
              <a:off x="4141"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26" name="Line 48">
              <a:extLst>
                <a:ext uri="{FF2B5EF4-FFF2-40B4-BE49-F238E27FC236}">
                  <a16:creationId xmlns:a16="http://schemas.microsoft.com/office/drawing/2014/main" id="{A485025D-D67E-2019-4545-89925B7D3970}"/>
                </a:ext>
              </a:extLst>
            </p:cNvPr>
            <p:cNvSpPr>
              <a:spLocks noChangeShapeType="1"/>
            </p:cNvSpPr>
            <p:nvPr/>
          </p:nvSpPr>
          <p:spPr bwMode="auto">
            <a:xfrm flipV="1">
              <a:off x="883" y="3296"/>
              <a:ext cx="268" cy="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AutoShape 49">
              <a:extLst>
                <a:ext uri="{FF2B5EF4-FFF2-40B4-BE49-F238E27FC236}">
                  <a16:creationId xmlns:a16="http://schemas.microsoft.com/office/drawing/2014/main" id="{BBEA9255-6382-A2A2-E7A5-6E864FA79D15}"/>
                </a:ext>
              </a:extLst>
            </p:cNvPr>
            <p:cNvSpPr>
              <a:spLocks noChangeArrowheads="1"/>
            </p:cNvSpPr>
            <p:nvPr/>
          </p:nvSpPr>
          <p:spPr bwMode="auto">
            <a:xfrm>
              <a:off x="723" y="317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28" name="Rectangle 50">
              <a:extLst>
                <a:ext uri="{FF2B5EF4-FFF2-40B4-BE49-F238E27FC236}">
                  <a16:creationId xmlns:a16="http://schemas.microsoft.com/office/drawing/2014/main" id="{D71C3BB0-E09B-5B01-21DA-25BF0E682B8A}"/>
                </a:ext>
              </a:extLst>
            </p:cNvPr>
            <p:cNvSpPr>
              <a:spLocks noChangeArrowheads="1"/>
            </p:cNvSpPr>
            <p:nvPr/>
          </p:nvSpPr>
          <p:spPr bwMode="auto">
            <a:xfrm>
              <a:off x="588" y="3358"/>
              <a:ext cx="515"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3,200 Sheets</a:t>
              </a:r>
              <a:r>
                <a:rPr lang="en-US" altLang="en-US" sz="800" b="0">
                  <a:solidFill>
                    <a:srgbClr val="FF0000"/>
                  </a:solidFill>
                </a:rPr>
                <a:t> </a:t>
              </a:r>
            </a:p>
          </p:txBody>
        </p:sp>
        <p:sp>
          <p:nvSpPr>
            <p:cNvPr id="29" name="Rectangle 51">
              <a:extLst>
                <a:ext uri="{FF2B5EF4-FFF2-40B4-BE49-F238E27FC236}">
                  <a16:creationId xmlns:a16="http://schemas.microsoft.com/office/drawing/2014/main" id="{6674C543-DE30-285A-8225-4D765614A38F}"/>
                </a:ext>
              </a:extLst>
            </p:cNvPr>
            <p:cNvSpPr>
              <a:spLocks noChangeArrowheads="1"/>
            </p:cNvSpPr>
            <p:nvPr/>
          </p:nvSpPr>
          <p:spPr bwMode="auto">
            <a:xfrm>
              <a:off x="1739" y="3358"/>
              <a:ext cx="48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5,250 Pieces</a:t>
              </a:r>
              <a:endParaRPr lang="en-US" altLang="en-US" sz="800" b="0">
                <a:solidFill>
                  <a:srgbClr val="FF0000"/>
                </a:solidFill>
              </a:endParaRPr>
            </a:p>
          </p:txBody>
        </p:sp>
        <p:sp>
          <p:nvSpPr>
            <p:cNvPr id="30" name="Rectangle 52">
              <a:extLst>
                <a:ext uri="{FF2B5EF4-FFF2-40B4-BE49-F238E27FC236}">
                  <a16:creationId xmlns:a16="http://schemas.microsoft.com/office/drawing/2014/main" id="{133D9CC1-B55F-5F8C-44E7-A6FE90462BDF}"/>
                </a:ext>
              </a:extLst>
            </p:cNvPr>
            <p:cNvSpPr>
              <a:spLocks noChangeArrowheads="1"/>
            </p:cNvSpPr>
            <p:nvPr/>
          </p:nvSpPr>
          <p:spPr bwMode="auto">
            <a:xfrm>
              <a:off x="2867" y="3358"/>
              <a:ext cx="48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9,300 Pieces</a:t>
              </a:r>
              <a:endParaRPr lang="en-US" altLang="en-US" sz="800" b="0">
                <a:solidFill>
                  <a:srgbClr val="FF0000"/>
                </a:solidFill>
              </a:endParaRPr>
            </a:p>
          </p:txBody>
        </p:sp>
        <p:sp>
          <p:nvSpPr>
            <p:cNvPr id="31" name="Rectangle 53">
              <a:extLst>
                <a:ext uri="{FF2B5EF4-FFF2-40B4-BE49-F238E27FC236}">
                  <a16:creationId xmlns:a16="http://schemas.microsoft.com/office/drawing/2014/main" id="{112CE48A-3842-ACDF-BF6A-0A8043816A72}"/>
                </a:ext>
              </a:extLst>
            </p:cNvPr>
            <p:cNvSpPr>
              <a:spLocks noChangeArrowheads="1"/>
            </p:cNvSpPr>
            <p:nvPr/>
          </p:nvSpPr>
          <p:spPr bwMode="auto">
            <a:xfrm>
              <a:off x="3957" y="3358"/>
              <a:ext cx="61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2,300 Enclosures</a:t>
              </a:r>
              <a:endParaRPr lang="en-US" altLang="en-US" sz="800" b="0">
                <a:solidFill>
                  <a:srgbClr val="FF0000"/>
                </a:solidFill>
              </a:endParaRPr>
            </a:p>
          </p:txBody>
        </p:sp>
        <p:sp>
          <p:nvSpPr>
            <p:cNvPr id="32" name="AutoShape 54">
              <a:extLst>
                <a:ext uri="{FF2B5EF4-FFF2-40B4-BE49-F238E27FC236}">
                  <a16:creationId xmlns:a16="http://schemas.microsoft.com/office/drawing/2014/main" id="{160FE862-7172-B8A9-896E-6D47C2953B84}"/>
                </a:ext>
              </a:extLst>
            </p:cNvPr>
            <p:cNvSpPr>
              <a:spLocks noChangeArrowheads="1"/>
            </p:cNvSpPr>
            <p:nvPr/>
          </p:nvSpPr>
          <p:spPr bwMode="auto">
            <a:xfrm>
              <a:off x="1034" y="3630"/>
              <a:ext cx="2999" cy="86"/>
            </a:xfrm>
            <a:prstGeom prst="roundRect">
              <a:avLst>
                <a:gd name="adj" fmla="val 16667"/>
              </a:avLst>
            </a:prstGeom>
            <a:noFill/>
            <a:ln w="28575" cap="sq">
              <a:solidFill>
                <a:schemeClr val="accent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Tree>
    <p:extLst>
      <p:ext uri="{BB962C8B-B14F-4D97-AF65-F5344CB8AC3E}">
        <p14:creationId xmlns:p14="http://schemas.microsoft.com/office/powerpoint/2010/main" val="3737858482"/>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 (continued)</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111</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 improvements in machine uptime need to be addressed?</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need quality (first time yield) improvements?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information flow improvements are required?</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manpower improvement opportunities?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changes to scheduling need to be implemented?</a:t>
            </a:r>
          </a:p>
        </p:txBody>
      </p:sp>
    </p:spTree>
    <p:extLst>
      <p:ext uri="{BB962C8B-B14F-4D97-AF65-F5344CB8AC3E}">
        <p14:creationId xmlns:p14="http://schemas.microsoft.com/office/powerpoint/2010/main" val="109151919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Identifying Uptime Improvement Opportunities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sz="2400" dirty="0"/>
              <a:t>Machine uptime, if not addressed, can prohibit effective flow and pull</a:t>
            </a:r>
          </a:p>
          <a:p>
            <a:pPr lvl="1"/>
            <a:r>
              <a:rPr lang="en-US" sz="2000" dirty="0"/>
              <a:t>Unscheduled breakdowns and machine adjustments will slow down processes and affect their ability to meet Takt time</a:t>
            </a:r>
          </a:p>
          <a:p>
            <a:pPr lvl="1"/>
            <a:r>
              <a:rPr lang="en-US" sz="2000" dirty="0"/>
              <a:t>Added waste in additional operators, machines and inventory</a:t>
            </a:r>
          </a:p>
          <a:p>
            <a:pPr lvl="1"/>
            <a:r>
              <a:rPr lang="en-US" sz="2000" dirty="0"/>
              <a:t>Additionally, poor machine performance may affect quality</a:t>
            </a:r>
          </a:p>
          <a:p>
            <a:r>
              <a:rPr lang="en-US" sz="2400" dirty="0"/>
              <a:t>For MME (simple example), the machine uptime is very good in all production processes so it is not a factor.</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112</a:t>
            </a:fld>
            <a:endParaRPr lang="en-US"/>
          </a:p>
        </p:txBody>
      </p:sp>
      <p:grpSp>
        <p:nvGrpSpPr>
          <p:cNvPr id="4" name="Group 3">
            <a:extLst>
              <a:ext uri="{FF2B5EF4-FFF2-40B4-BE49-F238E27FC236}">
                <a16:creationId xmlns:a16="http://schemas.microsoft.com/office/drawing/2014/main" id="{6F6EA1F7-9CD5-57B1-94CA-381E0708F804}"/>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5048818-EC77-ED2A-A539-8621E7416C67}"/>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C719889-0167-2E7A-3B9D-FD45827B78E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466822D2-6512-B09F-3A5E-E5BA945DED7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B7A11C3B-AC47-D0D6-D268-E7191C750676}"/>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863799D6-90AC-39BC-1E41-432AB7D1243D}"/>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ACDB7F5E-BC66-3ED9-2951-109597BD579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40C4DAFB-793C-07F5-B627-6BB7DA4A1D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5C48266E-F436-8559-5B40-12CEDACA87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5" name="Group 4">
            <a:extLst>
              <a:ext uri="{FF2B5EF4-FFF2-40B4-BE49-F238E27FC236}">
                <a16:creationId xmlns:a16="http://schemas.microsoft.com/office/drawing/2014/main" id="{E13736D5-5B81-4B3A-F6DE-CFAF785E8B28}"/>
              </a:ext>
            </a:extLst>
          </p:cNvPr>
          <p:cNvGrpSpPr>
            <a:grpSpLocks/>
          </p:cNvGrpSpPr>
          <p:nvPr/>
        </p:nvGrpSpPr>
        <p:grpSpPr bwMode="auto">
          <a:xfrm>
            <a:off x="2472073" y="4727575"/>
            <a:ext cx="7247855" cy="1449388"/>
            <a:chOff x="588" y="3061"/>
            <a:chExt cx="3983" cy="913"/>
          </a:xfrm>
        </p:grpSpPr>
        <p:grpSp>
          <p:nvGrpSpPr>
            <p:cNvPr id="17" name="Group 5">
              <a:extLst>
                <a:ext uri="{FF2B5EF4-FFF2-40B4-BE49-F238E27FC236}">
                  <a16:creationId xmlns:a16="http://schemas.microsoft.com/office/drawing/2014/main" id="{49BA0AB0-4008-35F4-63E6-0B9C728650B1}"/>
                </a:ext>
              </a:extLst>
            </p:cNvPr>
            <p:cNvGrpSpPr>
              <a:grpSpLocks/>
            </p:cNvGrpSpPr>
            <p:nvPr/>
          </p:nvGrpSpPr>
          <p:grpSpPr bwMode="auto">
            <a:xfrm>
              <a:off x="1126" y="3079"/>
              <a:ext cx="554" cy="895"/>
              <a:chOff x="983" y="2380"/>
              <a:chExt cx="554" cy="895"/>
            </a:xfrm>
          </p:grpSpPr>
          <p:grpSp>
            <p:nvGrpSpPr>
              <p:cNvPr id="55" name="Group 6">
                <a:extLst>
                  <a:ext uri="{FF2B5EF4-FFF2-40B4-BE49-F238E27FC236}">
                    <a16:creationId xmlns:a16="http://schemas.microsoft.com/office/drawing/2014/main" id="{431B74F8-8793-38C4-1F6B-9EAE63DBE4E8}"/>
                  </a:ext>
                </a:extLst>
              </p:cNvPr>
              <p:cNvGrpSpPr>
                <a:grpSpLocks/>
              </p:cNvGrpSpPr>
              <p:nvPr/>
            </p:nvGrpSpPr>
            <p:grpSpPr bwMode="auto">
              <a:xfrm>
                <a:off x="1008" y="2380"/>
                <a:ext cx="525" cy="390"/>
                <a:chOff x="1367" y="2370"/>
                <a:chExt cx="434" cy="390"/>
              </a:xfrm>
            </p:grpSpPr>
            <p:grpSp>
              <p:nvGrpSpPr>
                <p:cNvPr id="59" name="Group 7">
                  <a:extLst>
                    <a:ext uri="{FF2B5EF4-FFF2-40B4-BE49-F238E27FC236}">
                      <a16:creationId xmlns:a16="http://schemas.microsoft.com/office/drawing/2014/main" id="{1D59FDB5-EDAE-A5AC-D818-EF85F249704D}"/>
                    </a:ext>
                  </a:extLst>
                </p:cNvPr>
                <p:cNvGrpSpPr>
                  <a:grpSpLocks/>
                </p:cNvGrpSpPr>
                <p:nvPr/>
              </p:nvGrpSpPr>
              <p:grpSpPr bwMode="auto">
                <a:xfrm>
                  <a:off x="1367" y="2395"/>
                  <a:ext cx="434" cy="365"/>
                  <a:chOff x="418" y="2981"/>
                  <a:chExt cx="352" cy="365"/>
                </a:xfrm>
              </p:grpSpPr>
              <p:sp>
                <p:nvSpPr>
                  <p:cNvPr id="65" name="Rectangle 8">
                    <a:extLst>
                      <a:ext uri="{FF2B5EF4-FFF2-40B4-BE49-F238E27FC236}">
                        <a16:creationId xmlns:a16="http://schemas.microsoft.com/office/drawing/2014/main" id="{841472D5-5BD9-CFF6-A4A6-4D57E7C90D1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 name="Line 9">
                    <a:extLst>
                      <a:ext uri="{FF2B5EF4-FFF2-40B4-BE49-F238E27FC236}">
                        <a16:creationId xmlns:a16="http://schemas.microsoft.com/office/drawing/2014/main" id="{4FB044F1-86AA-28E9-7013-17F1A0C6277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60" name="Group 10">
                  <a:extLst>
                    <a:ext uri="{FF2B5EF4-FFF2-40B4-BE49-F238E27FC236}">
                      <a16:creationId xmlns:a16="http://schemas.microsoft.com/office/drawing/2014/main" id="{5483CB66-A786-EBB2-E36F-3DCCE171F588}"/>
                    </a:ext>
                  </a:extLst>
                </p:cNvPr>
                <p:cNvGrpSpPr>
                  <a:grpSpLocks/>
                </p:cNvGrpSpPr>
                <p:nvPr/>
              </p:nvGrpSpPr>
              <p:grpSpPr bwMode="auto">
                <a:xfrm flipV="1">
                  <a:off x="1462" y="2586"/>
                  <a:ext cx="96" cy="112"/>
                  <a:chOff x="720" y="3354"/>
                  <a:chExt cx="192" cy="198"/>
                </a:xfrm>
              </p:grpSpPr>
              <p:sp>
                <p:nvSpPr>
                  <p:cNvPr id="63" name="Oval 11">
                    <a:extLst>
                      <a:ext uri="{FF2B5EF4-FFF2-40B4-BE49-F238E27FC236}">
                        <a16:creationId xmlns:a16="http://schemas.microsoft.com/office/drawing/2014/main" id="{38A734E8-2490-82C3-DD57-A57D776BEC42}"/>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 name="AutoShape 12">
                    <a:extLst>
                      <a:ext uri="{FF2B5EF4-FFF2-40B4-BE49-F238E27FC236}">
                        <a16:creationId xmlns:a16="http://schemas.microsoft.com/office/drawing/2014/main" id="{F787030C-73C7-3D54-5033-A8757B6BDE2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61" name="Text Box 13">
                  <a:extLst>
                    <a:ext uri="{FF2B5EF4-FFF2-40B4-BE49-F238E27FC236}">
                      <a16:creationId xmlns:a16="http://schemas.microsoft.com/office/drawing/2014/main" id="{6A90BA22-32F9-3E51-0476-BA67FA498DC2}"/>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2" name="Text Box 14">
                  <a:extLst>
                    <a:ext uri="{FF2B5EF4-FFF2-40B4-BE49-F238E27FC236}">
                      <a16:creationId xmlns:a16="http://schemas.microsoft.com/office/drawing/2014/main" id="{2B3B0B95-0A75-FA58-3651-35A8212452BE}"/>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Cut</a:t>
                  </a:r>
                </a:p>
              </p:txBody>
            </p:sp>
          </p:grpSp>
          <p:grpSp>
            <p:nvGrpSpPr>
              <p:cNvPr id="56" name="Group 15">
                <a:extLst>
                  <a:ext uri="{FF2B5EF4-FFF2-40B4-BE49-F238E27FC236}">
                    <a16:creationId xmlns:a16="http://schemas.microsoft.com/office/drawing/2014/main" id="{752CF75D-C316-1198-7CB5-EB2E6B97BA8D}"/>
                  </a:ext>
                </a:extLst>
              </p:cNvPr>
              <p:cNvGrpSpPr>
                <a:grpSpLocks/>
              </p:cNvGrpSpPr>
              <p:nvPr/>
            </p:nvGrpSpPr>
            <p:grpSpPr bwMode="auto">
              <a:xfrm>
                <a:off x="983" y="2832"/>
                <a:ext cx="554" cy="443"/>
                <a:chOff x="983" y="2832"/>
                <a:chExt cx="554" cy="443"/>
              </a:xfrm>
            </p:grpSpPr>
            <p:sp>
              <p:nvSpPr>
                <p:cNvPr id="57" name="Rectangle 16">
                  <a:extLst>
                    <a:ext uri="{FF2B5EF4-FFF2-40B4-BE49-F238E27FC236}">
                      <a16:creationId xmlns:a16="http://schemas.microsoft.com/office/drawing/2014/main" id="{A4F7A0DE-E3FE-D80D-51C6-13BC620A3033}"/>
                    </a:ext>
                  </a:extLst>
                </p:cNvPr>
                <p:cNvSpPr>
                  <a:spLocks noChangeArrowheads="1"/>
                </p:cNvSpPr>
                <p:nvPr/>
              </p:nvSpPr>
              <p:spPr bwMode="auto">
                <a:xfrm>
                  <a:off x="1012" y="2832"/>
                  <a:ext cx="525" cy="43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 name="Text Box 17">
                  <a:extLst>
                    <a:ext uri="{FF2B5EF4-FFF2-40B4-BE49-F238E27FC236}">
                      <a16:creationId xmlns:a16="http://schemas.microsoft.com/office/drawing/2014/main" id="{FAA808A7-626D-1708-E1A7-850A3D7D8857}"/>
                    </a:ext>
                  </a:extLst>
                </p:cNvPr>
                <p:cNvSpPr txBox="1">
                  <a:spLocks noChangeArrowheads="1"/>
                </p:cNvSpPr>
                <p:nvPr/>
              </p:nvSpPr>
              <p:spPr bwMode="auto">
                <a:xfrm>
                  <a:off x="983" y="2832"/>
                  <a:ext cx="553"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12</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30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99%</a:t>
                  </a:r>
                </a:p>
                <a:p>
                  <a:pPr algn="l">
                    <a:lnSpc>
                      <a:spcPct val="100000"/>
                    </a:lnSpc>
                    <a:spcBef>
                      <a:spcPct val="0"/>
                    </a:spcBef>
                  </a:pPr>
                  <a:r>
                    <a:rPr lang="en-US" altLang="en-US" sz="800" b="0">
                      <a:solidFill>
                        <a:schemeClr val="tx1"/>
                      </a:solidFill>
                    </a:rPr>
                    <a:t>5 Machines</a:t>
                  </a:r>
                </a:p>
              </p:txBody>
            </p:sp>
          </p:grpSp>
        </p:grpSp>
        <p:sp>
          <p:nvSpPr>
            <p:cNvPr id="18" name="Line 18">
              <a:extLst>
                <a:ext uri="{FF2B5EF4-FFF2-40B4-BE49-F238E27FC236}">
                  <a16:creationId xmlns:a16="http://schemas.microsoft.com/office/drawing/2014/main" id="{3325B350-8409-AB78-1C27-D7FC83648DF0}"/>
                </a:ext>
              </a:extLst>
            </p:cNvPr>
            <p:cNvSpPr>
              <a:spLocks noChangeShapeType="1"/>
            </p:cNvSpPr>
            <p:nvPr/>
          </p:nvSpPr>
          <p:spPr bwMode="auto">
            <a:xfrm flipV="1">
              <a:off x="1691" y="3295"/>
              <a:ext cx="618"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9" name="AutoShape 19">
              <a:extLst>
                <a:ext uri="{FF2B5EF4-FFF2-40B4-BE49-F238E27FC236}">
                  <a16:creationId xmlns:a16="http://schemas.microsoft.com/office/drawing/2014/main" id="{E1328B14-8F08-F992-6146-C639303581B4}"/>
                </a:ext>
              </a:extLst>
            </p:cNvPr>
            <p:cNvSpPr>
              <a:spLocks noChangeArrowheads="1"/>
            </p:cNvSpPr>
            <p:nvPr/>
          </p:nvSpPr>
          <p:spPr bwMode="auto">
            <a:xfrm>
              <a:off x="1865"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grpSp>
          <p:nvGrpSpPr>
            <p:cNvPr id="20" name="Group 20">
              <a:extLst>
                <a:ext uri="{FF2B5EF4-FFF2-40B4-BE49-F238E27FC236}">
                  <a16:creationId xmlns:a16="http://schemas.microsoft.com/office/drawing/2014/main" id="{4F96A81C-E6C1-5265-9F6B-C7A672CD52AE}"/>
                </a:ext>
              </a:extLst>
            </p:cNvPr>
            <p:cNvGrpSpPr>
              <a:grpSpLocks/>
            </p:cNvGrpSpPr>
            <p:nvPr/>
          </p:nvGrpSpPr>
          <p:grpSpPr bwMode="auto">
            <a:xfrm>
              <a:off x="2258" y="3066"/>
              <a:ext cx="561" cy="828"/>
              <a:chOff x="2155" y="2375"/>
              <a:chExt cx="561" cy="828"/>
            </a:xfrm>
          </p:grpSpPr>
          <p:sp>
            <p:nvSpPr>
              <p:cNvPr id="44" name="Rectangle 21">
                <a:extLst>
                  <a:ext uri="{FF2B5EF4-FFF2-40B4-BE49-F238E27FC236}">
                    <a16:creationId xmlns:a16="http://schemas.microsoft.com/office/drawing/2014/main" id="{724B5D4D-2A15-4FF4-5D82-87C1FC7E6C8E}"/>
                  </a:ext>
                </a:extLst>
              </p:cNvPr>
              <p:cNvSpPr>
                <a:spLocks noChangeArrowheads="1"/>
              </p:cNvSpPr>
              <p:nvPr/>
            </p:nvSpPr>
            <p:spPr bwMode="auto">
              <a:xfrm>
                <a:off x="2191" y="2827"/>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nvGrpSpPr>
              <p:cNvPr id="45" name="Group 22">
                <a:extLst>
                  <a:ext uri="{FF2B5EF4-FFF2-40B4-BE49-F238E27FC236}">
                    <a16:creationId xmlns:a16="http://schemas.microsoft.com/office/drawing/2014/main" id="{4E66E9DB-2449-2DAA-D531-5752417ABFC0}"/>
                  </a:ext>
                </a:extLst>
              </p:cNvPr>
              <p:cNvGrpSpPr>
                <a:grpSpLocks/>
              </p:cNvGrpSpPr>
              <p:nvPr/>
            </p:nvGrpSpPr>
            <p:grpSpPr bwMode="auto">
              <a:xfrm>
                <a:off x="2187" y="2375"/>
                <a:ext cx="525" cy="390"/>
                <a:chOff x="1367" y="2370"/>
                <a:chExt cx="434" cy="390"/>
              </a:xfrm>
            </p:grpSpPr>
            <p:grpSp>
              <p:nvGrpSpPr>
                <p:cNvPr id="47" name="Group 23">
                  <a:extLst>
                    <a:ext uri="{FF2B5EF4-FFF2-40B4-BE49-F238E27FC236}">
                      <a16:creationId xmlns:a16="http://schemas.microsoft.com/office/drawing/2014/main" id="{88DDD0EB-B149-C278-34BA-C7C4D2E42BC7}"/>
                    </a:ext>
                  </a:extLst>
                </p:cNvPr>
                <p:cNvGrpSpPr>
                  <a:grpSpLocks/>
                </p:cNvGrpSpPr>
                <p:nvPr/>
              </p:nvGrpSpPr>
              <p:grpSpPr bwMode="auto">
                <a:xfrm>
                  <a:off x="1367" y="2395"/>
                  <a:ext cx="434" cy="365"/>
                  <a:chOff x="418" y="2981"/>
                  <a:chExt cx="352" cy="365"/>
                </a:xfrm>
              </p:grpSpPr>
              <p:sp>
                <p:nvSpPr>
                  <p:cNvPr id="53" name="Rectangle 24">
                    <a:extLst>
                      <a:ext uri="{FF2B5EF4-FFF2-40B4-BE49-F238E27FC236}">
                        <a16:creationId xmlns:a16="http://schemas.microsoft.com/office/drawing/2014/main" id="{B59F8A04-194A-709B-2B69-20743B0D685C}"/>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 name="Line 25">
                    <a:extLst>
                      <a:ext uri="{FF2B5EF4-FFF2-40B4-BE49-F238E27FC236}">
                        <a16:creationId xmlns:a16="http://schemas.microsoft.com/office/drawing/2014/main" id="{DD770A98-8D3E-7FFC-34C7-C061303695D8}"/>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48" name="Group 26">
                  <a:extLst>
                    <a:ext uri="{FF2B5EF4-FFF2-40B4-BE49-F238E27FC236}">
                      <a16:creationId xmlns:a16="http://schemas.microsoft.com/office/drawing/2014/main" id="{55E6F8B4-005D-17F6-9A79-65E407F8E36D}"/>
                    </a:ext>
                  </a:extLst>
                </p:cNvPr>
                <p:cNvGrpSpPr>
                  <a:grpSpLocks/>
                </p:cNvGrpSpPr>
                <p:nvPr/>
              </p:nvGrpSpPr>
              <p:grpSpPr bwMode="auto">
                <a:xfrm flipV="1">
                  <a:off x="1462" y="2586"/>
                  <a:ext cx="96" cy="112"/>
                  <a:chOff x="720" y="3354"/>
                  <a:chExt cx="192" cy="198"/>
                </a:xfrm>
              </p:grpSpPr>
              <p:sp>
                <p:nvSpPr>
                  <p:cNvPr id="51" name="Oval 27">
                    <a:extLst>
                      <a:ext uri="{FF2B5EF4-FFF2-40B4-BE49-F238E27FC236}">
                        <a16:creationId xmlns:a16="http://schemas.microsoft.com/office/drawing/2014/main" id="{31C18EAF-8F78-98C1-30E3-3954D63B4D4C}"/>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 name="AutoShape 28">
                    <a:extLst>
                      <a:ext uri="{FF2B5EF4-FFF2-40B4-BE49-F238E27FC236}">
                        <a16:creationId xmlns:a16="http://schemas.microsoft.com/office/drawing/2014/main" id="{4EC7EB9C-2787-4A1D-4E10-A556CF04A52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49" name="Text Box 29">
                  <a:extLst>
                    <a:ext uri="{FF2B5EF4-FFF2-40B4-BE49-F238E27FC236}">
                      <a16:creationId xmlns:a16="http://schemas.microsoft.com/office/drawing/2014/main" id="{0569733F-DEA3-2BE3-2036-6DACBFA7036A}"/>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1</a:t>
                  </a:r>
                </a:p>
              </p:txBody>
            </p:sp>
            <p:sp>
              <p:nvSpPr>
                <p:cNvPr id="50" name="Text Box 30">
                  <a:extLst>
                    <a:ext uri="{FF2B5EF4-FFF2-40B4-BE49-F238E27FC236}">
                      <a16:creationId xmlns:a16="http://schemas.microsoft.com/office/drawing/2014/main" id="{8462D167-59A1-FFD6-2F90-18ABA58C7A4C}"/>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Stamp</a:t>
                  </a:r>
                </a:p>
              </p:txBody>
            </p:sp>
          </p:grpSp>
          <p:sp>
            <p:nvSpPr>
              <p:cNvPr id="46" name="Text Box 31">
                <a:extLst>
                  <a:ext uri="{FF2B5EF4-FFF2-40B4-BE49-F238E27FC236}">
                    <a16:creationId xmlns:a16="http://schemas.microsoft.com/office/drawing/2014/main" id="{5DE2EAEF-B4AB-15FF-CB24-CAD21C52B2A5}"/>
                  </a:ext>
                </a:extLst>
              </p:cNvPr>
              <p:cNvSpPr txBox="1">
                <a:spLocks noChangeArrowheads="1"/>
              </p:cNvSpPr>
              <p:nvPr/>
            </p:nvSpPr>
            <p:spPr bwMode="auto">
              <a:xfrm>
                <a:off x="2155" y="2837"/>
                <a:ext cx="553"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15</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30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98%</a:t>
                </a:r>
              </a:p>
            </p:txBody>
          </p:sp>
        </p:grpSp>
        <p:grpSp>
          <p:nvGrpSpPr>
            <p:cNvPr id="21" name="Group 32">
              <a:extLst>
                <a:ext uri="{FF2B5EF4-FFF2-40B4-BE49-F238E27FC236}">
                  <a16:creationId xmlns:a16="http://schemas.microsoft.com/office/drawing/2014/main" id="{07EF80F3-D5E0-C53C-1007-816826A62DE5}"/>
                </a:ext>
              </a:extLst>
            </p:cNvPr>
            <p:cNvGrpSpPr>
              <a:grpSpLocks/>
            </p:cNvGrpSpPr>
            <p:nvPr/>
          </p:nvGrpSpPr>
          <p:grpSpPr bwMode="auto">
            <a:xfrm>
              <a:off x="3397" y="3061"/>
              <a:ext cx="605" cy="828"/>
              <a:chOff x="3253" y="2370"/>
              <a:chExt cx="605" cy="828"/>
            </a:xfrm>
          </p:grpSpPr>
          <p:sp>
            <p:nvSpPr>
              <p:cNvPr id="33" name="Rectangle 33">
                <a:extLst>
                  <a:ext uri="{FF2B5EF4-FFF2-40B4-BE49-F238E27FC236}">
                    <a16:creationId xmlns:a16="http://schemas.microsoft.com/office/drawing/2014/main" id="{C8C8271C-551E-D30D-93EF-18844EA94859}"/>
                  </a:ext>
                </a:extLst>
              </p:cNvPr>
              <p:cNvSpPr>
                <a:spLocks noChangeArrowheads="1"/>
              </p:cNvSpPr>
              <p:nvPr/>
            </p:nvSpPr>
            <p:spPr bwMode="auto">
              <a:xfrm>
                <a:off x="3289" y="2822"/>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nvGrpSpPr>
              <p:cNvPr id="34" name="Group 34">
                <a:extLst>
                  <a:ext uri="{FF2B5EF4-FFF2-40B4-BE49-F238E27FC236}">
                    <a16:creationId xmlns:a16="http://schemas.microsoft.com/office/drawing/2014/main" id="{6B317997-DA15-2EE1-8E55-A6049591E1EA}"/>
                  </a:ext>
                </a:extLst>
              </p:cNvPr>
              <p:cNvGrpSpPr>
                <a:grpSpLocks/>
              </p:cNvGrpSpPr>
              <p:nvPr/>
            </p:nvGrpSpPr>
            <p:grpSpPr bwMode="auto">
              <a:xfrm>
                <a:off x="3285" y="2370"/>
                <a:ext cx="525" cy="390"/>
                <a:chOff x="1367" y="2370"/>
                <a:chExt cx="434" cy="390"/>
              </a:xfrm>
            </p:grpSpPr>
            <p:grpSp>
              <p:nvGrpSpPr>
                <p:cNvPr id="36" name="Group 35">
                  <a:extLst>
                    <a:ext uri="{FF2B5EF4-FFF2-40B4-BE49-F238E27FC236}">
                      <a16:creationId xmlns:a16="http://schemas.microsoft.com/office/drawing/2014/main" id="{64D3F42C-C2A1-5541-0E9C-3C80D5BCD497}"/>
                    </a:ext>
                  </a:extLst>
                </p:cNvPr>
                <p:cNvGrpSpPr>
                  <a:grpSpLocks/>
                </p:cNvGrpSpPr>
                <p:nvPr/>
              </p:nvGrpSpPr>
              <p:grpSpPr bwMode="auto">
                <a:xfrm>
                  <a:off x="1367" y="2395"/>
                  <a:ext cx="434" cy="365"/>
                  <a:chOff x="418" y="2981"/>
                  <a:chExt cx="352" cy="365"/>
                </a:xfrm>
              </p:grpSpPr>
              <p:sp>
                <p:nvSpPr>
                  <p:cNvPr id="42" name="Rectangle 36">
                    <a:extLst>
                      <a:ext uri="{FF2B5EF4-FFF2-40B4-BE49-F238E27FC236}">
                        <a16:creationId xmlns:a16="http://schemas.microsoft.com/office/drawing/2014/main" id="{A29BEC63-5AAC-6368-98D3-23E2B5F0C47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 name="Line 37">
                    <a:extLst>
                      <a:ext uri="{FF2B5EF4-FFF2-40B4-BE49-F238E27FC236}">
                        <a16:creationId xmlns:a16="http://schemas.microsoft.com/office/drawing/2014/main" id="{786A3CD4-406E-3ECF-F8C1-20E86FF13785}"/>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37" name="Group 38">
                  <a:extLst>
                    <a:ext uri="{FF2B5EF4-FFF2-40B4-BE49-F238E27FC236}">
                      <a16:creationId xmlns:a16="http://schemas.microsoft.com/office/drawing/2014/main" id="{E4E1C192-4169-DE7F-07CF-544C6181559D}"/>
                    </a:ext>
                  </a:extLst>
                </p:cNvPr>
                <p:cNvGrpSpPr>
                  <a:grpSpLocks/>
                </p:cNvGrpSpPr>
                <p:nvPr/>
              </p:nvGrpSpPr>
              <p:grpSpPr bwMode="auto">
                <a:xfrm flipV="1">
                  <a:off x="1462" y="2586"/>
                  <a:ext cx="96" cy="112"/>
                  <a:chOff x="720" y="3354"/>
                  <a:chExt cx="192" cy="198"/>
                </a:xfrm>
              </p:grpSpPr>
              <p:sp>
                <p:nvSpPr>
                  <p:cNvPr id="40" name="Oval 39">
                    <a:extLst>
                      <a:ext uri="{FF2B5EF4-FFF2-40B4-BE49-F238E27FC236}">
                        <a16:creationId xmlns:a16="http://schemas.microsoft.com/office/drawing/2014/main" id="{9B171475-B483-F406-5408-F253C54A1483}"/>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 name="AutoShape 40">
                    <a:extLst>
                      <a:ext uri="{FF2B5EF4-FFF2-40B4-BE49-F238E27FC236}">
                        <a16:creationId xmlns:a16="http://schemas.microsoft.com/office/drawing/2014/main" id="{061484DD-474A-D2F6-7E46-8FA85DC072F1}"/>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38" name="Text Box 41">
                  <a:extLst>
                    <a:ext uri="{FF2B5EF4-FFF2-40B4-BE49-F238E27FC236}">
                      <a16:creationId xmlns:a16="http://schemas.microsoft.com/office/drawing/2014/main" id="{8593FCDB-AE9E-BDCB-0641-AD2DEA68AFFD}"/>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1</a:t>
                  </a:r>
                </a:p>
              </p:txBody>
            </p:sp>
            <p:sp>
              <p:nvSpPr>
                <p:cNvPr id="39" name="Text Box 42">
                  <a:extLst>
                    <a:ext uri="{FF2B5EF4-FFF2-40B4-BE49-F238E27FC236}">
                      <a16:creationId xmlns:a16="http://schemas.microsoft.com/office/drawing/2014/main" id="{741E04E8-4B77-2DAD-D719-45A372D66D47}"/>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Brake Form</a:t>
                  </a:r>
                </a:p>
              </p:txBody>
            </p:sp>
          </p:grpSp>
          <p:sp>
            <p:nvSpPr>
              <p:cNvPr id="35" name="Text Box 43">
                <a:extLst>
                  <a:ext uri="{FF2B5EF4-FFF2-40B4-BE49-F238E27FC236}">
                    <a16:creationId xmlns:a16="http://schemas.microsoft.com/office/drawing/2014/main" id="{A6D1DEE9-71AA-F03D-3C2C-7A382403BD61}"/>
                  </a:ext>
                </a:extLst>
              </p:cNvPr>
              <p:cNvSpPr txBox="1">
                <a:spLocks noChangeArrowheads="1"/>
              </p:cNvSpPr>
              <p:nvPr/>
            </p:nvSpPr>
            <p:spPr bwMode="auto">
              <a:xfrm>
                <a:off x="3253" y="2832"/>
                <a:ext cx="605"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20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120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85%</a:t>
                </a:r>
              </a:p>
            </p:txBody>
          </p:sp>
        </p:grpSp>
        <p:sp>
          <p:nvSpPr>
            <p:cNvPr id="22" name="Line 44">
              <a:extLst>
                <a:ext uri="{FF2B5EF4-FFF2-40B4-BE49-F238E27FC236}">
                  <a16:creationId xmlns:a16="http://schemas.microsoft.com/office/drawing/2014/main" id="{29A4F547-98F7-45FF-A39B-A2523E9E61B0}"/>
                </a:ext>
              </a:extLst>
            </p:cNvPr>
            <p:cNvSpPr>
              <a:spLocks noChangeShapeType="1"/>
            </p:cNvSpPr>
            <p:nvPr/>
          </p:nvSpPr>
          <p:spPr bwMode="auto">
            <a:xfrm flipV="1">
              <a:off x="2829" y="3295"/>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3" name="Line 45">
              <a:extLst>
                <a:ext uri="{FF2B5EF4-FFF2-40B4-BE49-F238E27FC236}">
                  <a16:creationId xmlns:a16="http://schemas.microsoft.com/office/drawing/2014/main" id="{690C709E-D107-967E-D90B-95A05BB4A66E}"/>
                </a:ext>
              </a:extLst>
            </p:cNvPr>
            <p:cNvSpPr>
              <a:spLocks noChangeShapeType="1"/>
            </p:cNvSpPr>
            <p:nvPr/>
          </p:nvSpPr>
          <p:spPr bwMode="auto">
            <a:xfrm flipV="1">
              <a:off x="3967" y="3295"/>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4" name="AutoShape 46">
              <a:extLst>
                <a:ext uri="{FF2B5EF4-FFF2-40B4-BE49-F238E27FC236}">
                  <a16:creationId xmlns:a16="http://schemas.microsoft.com/office/drawing/2014/main" id="{68404FAE-8269-9CA6-E949-421138410FFC}"/>
                </a:ext>
              </a:extLst>
            </p:cNvPr>
            <p:cNvSpPr>
              <a:spLocks noChangeArrowheads="1"/>
            </p:cNvSpPr>
            <p:nvPr/>
          </p:nvSpPr>
          <p:spPr bwMode="auto">
            <a:xfrm>
              <a:off x="3003"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25" name="AutoShape 47">
              <a:extLst>
                <a:ext uri="{FF2B5EF4-FFF2-40B4-BE49-F238E27FC236}">
                  <a16:creationId xmlns:a16="http://schemas.microsoft.com/office/drawing/2014/main" id="{39700A79-2111-B4AF-1A17-9024BEEC47AF}"/>
                </a:ext>
              </a:extLst>
            </p:cNvPr>
            <p:cNvSpPr>
              <a:spLocks noChangeArrowheads="1"/>
            </p:cNvSpPr>
            <p:nvPr/>
          </p:nvSpPr>
          <p:spPr bwMode="auto">
            <a:xfrm>
              <a:off x="4141"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26" name="Line 48">
              <a:extLst>
                <a:ext uri="{FF2B5EF4-FFF2-40B4-BE49-F238E27FC236}">
                  <a16:creationId xmlns:a16="http://schemas.microsoft.com/office/drawing/2014/main" id="{A485025D-D67E-2019-4545-89925B7D3970}"/>
                </a:ext>
              </a:extLst>
            </p:cNvPr>
            <p:cNvSpPr>
              <a:spLocks noChangeShapeType="1"/>
            </p:cNvSpPr>
            <p:nvPr/>
          </p:nvSpPr>
          <p:spPr bwMode="auto">
            <a:xfrm flipV="1">
              <a:off x="883" y="3296"/>
              <a:ext cx="268" cy="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AutoShape 49">
              <a:extLst>
                <a:ext uri="{FF2B5EF4-FFF2-40B4-BE49-F238E27FC236}">
                  <a16:creationId xmlns:a16="http://schemas.microsoft.com/office/drawing/2014/main" id="{BBEA9255-6382-A2A2-E7A5-6E864FA79D15}"/>
                </a:ext>
              </a:extLst>
            </p:cNvPr>
            <p:cNvSpPr>
              <a:spLocks noChangeArrowheads="1"/>
            </p:cNvSpPr>
            <p:nvPr/>
          </p:nvSpPr>
          <p:spPr bwMode="auto">
            <a:xfrm>
              <a:off x="723" y="317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28" name="Rectangle 50">
              <a:extLst>
                <a:ext uri="{FF2B5EF4-FFF2-40B4-BE49-F238E27FC236}">
                  <a16:creationId xmlns:a16="http://schemas.microsoft.com/office/drawing/2014/main" id="{D71C3BB0-E09B-5B01-21DA-25BF0E682B8A}"/>
                </a:ext>
              </a:extLst>
            </p:cNvPr>
            <p:cNvSpPr>
              <a:spLocks noChangeArrowheads="1"/>
            </p:cNvSpPr>
            <p:nvPr/>
          </p:nvSpPr>
          <p:spPr bwMode="auto">
            <a:xfrm>
              <a:off x="588" y="3358"/>
              <a:ext cx="515"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3,200 Sheets</a:t>
              </a:r>
              <a:r>
                <a:rPr lang="en-US" altLang="en-US" sz="800" b="0">
                  <a:solidFill>
                    <a:srgbClr val="FF0000"/>
                  </a:solidFill>
                </a:rPr>
                <a:t> </a:t>
              </a:r>
            </a:p>
          </p:txBody>
        </p:sp>
        <p:sp>
          <p:nvSpPr>
            <p:cNvPr id="29" name="Rectangle 51">
              <a:extLst>
                <a:ext uri="{FF2B5EF4-FFF2-40B4-BE49-F238E27FC236}">
                  <a16:creationId xmlns:a16="http://schemas.microsoft.com/office/drawing/2014/main" id="{6674C543-DE30-285A-8225-4D765614A38F}"/>
                </a:ext>
              </a:extLst>
            </p:cNvPr>
            <p:cNvSpPr>
              <a:spLocks noChangeArrowheads="1"/>
            </p:cNvSpPr>
            <p:nvPr/>
          </p:nvSpPr>
          <p:spPr bwMode="auto">
            <a:xfrm>
              <a:off x="1739" y="3358"/>
              <a:ext cx="48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5,250 Pieces</a:t>
              </a:r>
              <a:endParaRPr lang="en-US" altLang="en-US" sz="800" b="0">
                <a:solidFill>
                  <a:srgbClr val="FF0000"/>
                </a:solidFill>
              </a:endParaRPr>
            </a:p>
          </p:txBody>
        </p:sp>
        <p:sp>
          <p:nvSpPr>
            <p:cNvPr id="30" name="Rectangle 52">
              <a:extLst>
                <a:ext uri="{FF2B5EF4-FFF2-40B4-BE49-F238E27FC236}">
                  <a16:creationId xmlns:a16="http://schemas.microsoft.com/office/drawing/2014/main" id="{133D9CC1-B55F-5F8C-44E7-A6FE90462BDF}"/>
                </a:ext>
              </a:extLst>
            </p:cNvPr>
            <p:cNvSpPr>
              <a:spLocks noChangeArrowheads="1"/>
            </p:cNvSpPr>
            <p:nvPr/>
          </p:nvSpPr>
          <p:spPr bwMode="auto">
            <a:xfrm>
              <a:off x="2867" y="3358"/>
              <a:ext cx="48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9,300 Pieces</a:t>
              </a:r>
              <a:endParaRPr lang="en-US" altLang="en-US" sz="800" b="0">
                <a:solidFill>
                  <a:srgbClr val="FF0000"/>
                </a:solidFill>
              </a:endParaRPr>
            </a:p>
          </p:txBody>
        </p:sp>
        <p:sp>
          <p:nvSpPr>
            <p:cNvPr id="31" name="Rectangle 53">
              <a:extLst>
                <a:ext uri="{FF2B5EF4-FFF2-40B4-BE49-F238E27FC236}">
                  <a16:creationId xmlns:a16="http://schemas.microsoft.com/office/drawing/2014/main" id="{112CE48A-3842-ACDF-BF6A-0A8043816A72}"/>
                </a:ext>
              </a:extLst>
            </p:cNvPr>
            <p:cNvSpPr>
              <a:spLocks noChangeArrowheads="1"/>
            </p:cNvSpPr>
            <p:nvPr/>
          </p:nvSpPr>
          <p:spPr bwMode="auto">
            <a:xfrm>
              <a:off x="3957" y="3358"/>
              <a:ext cx="61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2,300 Enclosures</a:t>
              </a:r>
              <a:endParaRPr lang="en-US" altLang="en-US" sz="800" b="0">
                <a:solidFill>
                  <a:srgbClr val="FF0000"/>
                </a:solidFill>
              </a:endParaRPr>
            </a:p>
          </p:txBody>
        </p:sp>
        <p:sp>
          <p:nvSpPr>
            <p:cNvPr id="32" name="AutoShape 54">
              <a:extLst>
                <a:ext uri="{FF2B5EF4-FFF2-40B4-BE49-F238E27FC236}">
                  <a16:creationId xmlns:a16="http://schemas.microsoft.com/office/drawing/2014/main" id="{160FE862-7172-B8A9-896E-6D47C2953B84}"/>
                </a:ext>
              </a:extLst>
            </p:cNvPr>
            <p:cNvSpPr>
              <a:spLocks noChangeArrowheads="1"/>
            </p:cNvSpPr>
            <p:nvPr/>
          </p:nvSpPr>
          <p:spPr bwMode="auto">
            <a:xfrm>
              <a:off x="1034" y="3708"/>
              <a:ext cx="2999" cy="86"/>
            </a:xfrm>
            <a:prstGeom prst="roundRect">
              <a:avLst>
                <a:gd name="adj" fmla="val 16667"/>
              </a:avLst>
            </a:prstGeom>
            <a:noFill/>
            <a:ln w="28575" cap="sq">
              <a:solidFill>
                <a:schemeClr val="accent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Tree>
    <p:extLst>
      <p:ext uri="{BB962C8B-B14F-4D97-AF65-F5344CB8AC3E}">
        <p14:creationId xmlns:p14="http://schemas.microsoft.com/office/powerpoint/2010/main" val="400656877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 (continued)</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113</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 improvements in machine uptime need to be addressed?</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need quality (first time yield) improvements?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information flow improvements are required?</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manpower improvement opportunities?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changes to scheduling need to be implemented?</a:t>
            </a:r>
          </a:p>
        </p:txBody>
      </p:sp>
    </p:spTree>
    <p:extLst>
      <p:ext uri="{BB962C8B-B14F-4D97-AF65-F5344CB8AC3E}">
        <p14:creationId xmlns:p14="http://schemas.microsoft.com/office/powerpoint/2010/main" val="2662708897"/>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Identifying Manpower Improvements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114</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155" name="Rectangle 170">
            <a:extLst>
              <a:ext uri="{FF2B5EF4-FFF2-40B4-BE49-F238E27FC236}">
                <a16:creationId xmlns:a16="http://schemas.microsoft.com/office/drawing/2014/main" id="{7769ABA0-3C25-C828-83D4-8CA672D6CE4F}"/>
              </a:ext>
            </a:extLst>
          </p:cNvPr>
          <p:cNvSpPr>
            <a:spLocks noChangeArrowheads="1"/>
          </p:cNvSpPr>
          <p:nvPr/>
        </p:nvSpPr>
        <p:spPr bwMode="auto">
          <a:xfrm>
            <a:off x="2922588" y="1854200"/>
            <a:ext cx="6346825" cy="2133600"/>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400" dirty="0">
                <a:solidFill>
                  <a:schemeClr val="tx1"/>
                </a:solidFill>
                <a:latin typeface="Roboto" panose="02000000000000000000" pitchFamily="2" charset="0"/>
                <a:ea typeface="Roboto" panose="02000000000000000000" pitchFamily="2" charset="0"/>
              </a:rPr>
              <a:t>Re-assess manpower requirements (against TT) where </a:t>
            </a:r>
          </a:p>
          <a:p>
            <a:pPr algn="l">
              <a:lnSpc>
                <a:spcPct val="100000"/>
              </a:lnSpc>
              <a:spcBef>
                <a:spcPct val="30000"/>
              </a:spcBef>
              <a:buFontTx/>
              <a:buChar char="•"/>
            </a:pPr>
            <a:r>
              <a:rPr lang="en-US" altLang="en-US" sz="1400" dirty="0">
                <a:solidFill>
                  <a:schemeClr val="tx1"/>
                </a:solidFill>
                <a:latin typeface="Roboto" panose="02000000000000000000" pitchFamily="2" charset="0"/>
                <a:ea typeface="Roboto" panose="02000000000000000000" pitchFamily="2" charset="0"/>
              </a:rPr>
              <a:t>operations are combined</a:t>
            </a:r>
          </a:p>
          <a:p>
            <a:pPr lvl="1" algn="l">
              <a:lnSpc>
                <a:spcPct val="100000"/>
              </a:lnSpc>
              <a:spcBef>
                <a:spcPct val="30000"/>
              </a:spcBef>
              <a:buFontTx/>
              <a:buChar char="•"/>
            </a:pPr>
            <a:r>
              <a:rPr lang="en-US" altLang="en-US" sz="1400" dirty="0">
                <a:solidFill>
                  <a:schemeClr val="tx1"/>
                </a:solidFill>
                <a:latin typeface="Roboto" panose="02000000000000000000" pitchFamily="2" charset="0"/>
                <a:ea typeface="Roboto" panose="02000000000000000000" pitchFamily="2" charset="0"/>
              </a:rPr>
              <a:t>Can one person operate multiple machines (For MME case, no)</a:t>
            </a:r>
          </a:p>
          <a:p>
            <a:pPr algn="l">
              <a:lnSpc>
                <a:spcPct val="100000"/>
              </a:lnSpc>
              <a:spcBef>
                <a:spcPct val="30000"/>
              </a:spcBef>
              <a:buFontTx/>
              <a:buChar char="•"/>
            </a:pPr>
            <a:r>
              <a:rPr lang="en-US" altLang="en-US" sz="1400" dirty="0">
                <a:solidFill>
                  <a:schemeClr val="tx1"/>
                </a:solidFill>
                <a:latin typeface="Roboto" panose="02000000000000000000" pitchFamily="2" charset="0"/>
                <a:ea typeface="Roboto" panose="02000000000000000000" pitchFamily="2" charset="0"/>
              </a:rPr>
              <a:t>Assess other process capacity vs Takt Time to identify potential* </a:t>
            </a:r>
            <a:br>
              <a:rPr lang="en-US" altLang="en-US" sz="1400" dirty="0">
                <a:solidFill>
                  <a:schemeClr val="tx1"/>
                </a:solidFill>
                <a:latin typeface="Roboto" panose="02000000000000000000" pitchFamily="2" charset="0"/>
                <a:ea typeface="Roboto" panose="02000000000000000000" pitchFamily="2" charset="0"/>
              </a:rPr>
            </a:br>
            <a:r>
              <a:rPr lang="en-US" altLang="en-US" sz="1400" dirty="0">
                <a:solidFill>
                  <a:schemeClr val="tx1"/>
                </a:solidFill>
                <a:latin typeface="Roboto" panose="02000000000000000000" pitchFamily="2" charset="0"/>
                <a:ea typeface="Roboto" panose="02000000000000000000" pitchFamily="2" charset="0"/>
              </a:rPr>
              <a:t>changes to manpower</a:t>
            </a:r>
          </a:p>
          <a:p>
            <a:pPr lvl="1" algn="l">
              <a:lnSpc>
                <a:spcPct val="100000"/>
              </a:lnSpc>
              <a:spcBef>
                <a:spcPct val="30000"/>
              </a:spcBef>
              <a:buFontTx/>
              <a:buChar char="•"/>
            </a:pPr>
            <a:r>
              <a:rPr lang="en-US" altLang="en-US" sz="1400" dirty="0">
                <a:solidFill>
                  <a:schemeClr val="tx1"/>
                </a:solidFill>
                <a:latin typeface="Roboto" panose="02000000000000000000" pitchFamily="2" charset="0"/>
                <a:ea typeface="Roboto" panose="02000000000000000000" pitchFamily="2" charset="0"/>
              </a:rPr>
              <a:t>For MME, the cut process can be reduced by 1 man/machine</a:t>
            </a:r>
          </a:p>
          <a:p>
            <a:pPr lvl="1" algn="l">
              <a:lnSpc>
                <a:spcPct val="100000"/>
              </a:lnSpc>
              <a:spcBef>
                <a:spcPct val="30000"/>
              </a:spcBef>
              <a:buFontTx/>
              <a:buChar char="•"/>
            </a:pPr>
            <a:r>
              <a:rPr lang="en-US" altLang="en-US" sz="1400" dirty="0">
                <a:solidFill>
                  <a:schemeClr val="tx1"/>
                </a:solidFill>
                <a:latin typeface="Roboto" panose="02000000000000000000" pitchFamily="2" charset="0"/>
                <a:ea typeface="Roboto" panose="02000000000000000000" pitchFamily="2" charset="0"/>
              </a:rPr>
              <a:t>Calc: 240</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/processing time ÷ 4 pieces/cycle ÷ 4 operators = 15</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 DOI</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156" name="Text Box 172">
            <a:extLst>
              <a:ext uri="{FF2B5EF4-FFF2-40B4-BE49-F238E27FC236}">
                <a16:creationId xmlns:a16="http://schemas.microsoft.com/office/drawing/2014/main" id="{D1906194-32A9-21A3-876E-38A68DEEE0A9}"/>
              </a:ext>
            </a:extLst>
          </p:cNvPr>
          <p:cNvSpPr txBox="1">
            <a:spLocks noChangeArrowheads="1"/>
          </p:cNvSpPr>
          <p:nvPr/>
        </p:nvSpPr>
        <p:spPr bwMode="auto">
          <a:xfrm>
            <a:off x="9735877" y="4817594"/>
            <a:ext cx="232332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000" dirty="0">
                <a:solidFill>
                  <a:schemeClr val="tx1"/>
                </a:solidFill>
              </a:rPr>
              <a:t>* </a:t>
            </a:r>
            <a:r>
              <a:rPr lang="en-US" altLang="en-US" sz="1000" u="sng" dirty="0">
                <a:solidFill>
                  <a:schemeClr val="tx1"/>
                </a:solidFill>
              </a:rPr>
              <a:t>Potential</a:t>
            </a:r>
            <a:r>
              <a:rPr lang="en-US" altLang="en-US" sz="1000" dirty="0">
                <a:solidFill>
                  <a:schemeClr val="tx1"/>
                </a:solidFill>
              </a:rPr>
              <a:t> manpower changes will be verified in subsequent kaizen events where Standard Work is established</a:t>
            </a:r>
          </a:p>
        </p:txBody>
      </p:sp>
      <p:sp>
        <p:nvSpPr>
          <p:cNvPr id="7" name="&quot;Not Allowed&quot; Symbol 6">
            <a:extLst>
              <a:ext uri="{FF2B5EF4-FFF2-40B4-BE49-F238E27FC236}">
                <a16:creationId xmlns:a16="http://schemas.microsoft.com/office/drawing/2014/main" id="{A2C6FA72-83B5-9805-4E6B-1B0DC44AEA23}"/>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7" name="&quot;Not Allowed&quot; Symbol 156">
            <a:extLst>
              <a:ext uri="{FF2B5EF4-FFF2-40B4-BE49-F238E27FC236}">
                <a16:creationId xmlns:a16="http://schemas.microsoft.com/office/drawing/2014/main" id="{5A25C33F-888C-5226-38EA-E0D60A581A36}"/>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8" name="&quot;Not Allowed&quot; Symbol 157">
            <a:extLst>
              <a:ext uri="{FF2B5EF4-FFF2-40B4-BE49-F238E27FC236}">
                <a16:creationId xmlns:a16="http://schemas.microsoft.com/office/drawing/2014/main" id="{FBB663CB-1E7E-478F-B5A2-C8367EB207A3}"/>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9" name="&quot;Not Allowed&quot; Symbol 158">
            <a:extLst>
              <a:ext uri="{FF2B5EF4-FFF2-40B4-BE49-F238E27FC236}">
                <a16:creationId xmlns:a16="http://schemas.microsoft.com/office/drawing/2014/main" id="{848EFF11-8954-34AC-E399-9F10D6B98E93}"/>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405879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1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156"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3">
            <a:extLst>
              <a:ext uri="{FF2B5EF4-FFF2-40B4-BE49-F238E27FC236}">
                <a16:creationId xmlns:a16="http://schemas.microsoft.com/office/drawing/2014/main" id="{637CCD1E-047E-707A-43CB-FDAD8AB159D9}"/>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Identifying Manpower Improvements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115</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155" name="&quot;Not Allowed&quot; Symbol 154">
            <a:extLst>
              <a:ext uri="{FF2B5EF4-FFF2-40B4-BE49-F238E27FC236}">
                <a16:creationId xmlns:a16="http://schemas.microsoft.com/office/drawing/2014/main" id="{4D7EE1C1-7DC9-1F54-0C47-28B12F00D47C}"/>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6" name="&quot;Not Allowed&quot; Symbol 155">
            <a:extLst>
              <a:ext uri="{FF2B5EF4-FFF2-40B4-BE49-F238E27FC236}">
                <a16:creationId xmlns:a16="http://schemas.microsoft.com/office/drawing/2014/main" id="{9A42A18F-7A27-1242-464E-C280EDB388B8}"/>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7" name="&quot;Not Allowed&quot; Symbol 156">
            <a:extLst>
              <a:ext uri="{FF2B5EF4-FFF2-40B4-BE49-F238E27FC236}">
                <a16:creationId xmlns:a16="http://schemas.microsoft.com/office/drawing/2014/main" id="{9C4C00A7-E582-714F-87FB-11379DFDFED9}"/>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8" name="&quot;Not Allowed&quot; Symbol 157">
            <a:extLst>
              <a:ext uri="{FF2B5EF4-FFF2-40B4-BE49-F238E27FC236}">
                <a16:creationId xmlns:a16="http://schemas.microsoft.com/office/drawing/2014/main" id="{E49D6867-6AFF-2FF5-D879-BE5013CCF111}"/>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2879388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 (continued)</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 improvements in machine uptime need to be addressed?</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need quality (first time yield) improvements?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information flow improvements are required?</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manpower improvement opportunities?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changes to scheduling need to be implemented?</a:t>
            </a:r>
          </a:p>
        </p:txBody>
      </p:sp>
    </p:spTree>
    <p:extLst>
      <p:ext uri="{BB962C8B-B14F-4D97-AF65-F5344CB8AC3E}">
        <p14:creationId xmlns:p14="http://schemas.microsoft.com/office/powerpoint/2010/main" val="299897095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Identifying Quality Improvement Opportunities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sz="2400" dirty="0"/>
              <a:t>Quality is measured by First-Pass Yield (%) for every process</a:t>
            </a:r>
          </a:p>
          <a:p>
            <a:r>
              <a:rPr lang="en-US" sz="2400" dirty="0"/>
              <a:t>All defects are waste which:</a:t>
            </a:r>
          </a:p>
          <a:p>
            <a:pPr lvl="1"/>
            <a:r>
              <a:rPr lang="en-US" sz="2000" dirty="0"/>
              <a:t>Consume materials (scrap) and people (rework)</a:t>
            </a:r>
          </a:p>
          <a:p>
            <a:pPr lvl="1"/>
            <a:r>
              <a:rPr lang="en-US" sz="2000" dirty="0"/>
              <a:t>Reduce process capacity</a:t>
            </a:r>
          </a:p>
          <a:p>
            <a:pPr lvl="1"/>
            <a:r>
              <a:rPr lang="en-US" sz="2000" dirty="0"/>
              <a:t>Inhibit Continuous Flow</a:t>
            </a:r>
          </a:p>
          <a:p>
            <a:r>
              <a:rPr lang="en-US" sz="2400" dirty="0"/>
              <a:t>For MME (simple example), the quality issue in Brake Form, if not addressed, will prevent successful continuous flow</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117</a:t>
            </a:fld>
            <a:endParaRPr lang="en-US"/>
          </a:p>
        </p:txBody>
      </p:sp>
      <p:grpSp>
        <p:nvGrpSpPr>
          <p:cNvPr id="4" name="Group 3">
            <a:extLst>
              <a:ext uri="{FF2B5EF4-FFF2-40B4-BE49-F238E27FC236}">
                <a16:creationId xmlns:a16="http://schemas.microsoft.com/office/drawing/2014/main" id="{6F6EA1F7-9CD5-57B1-94CA-381E0708F804}"/>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5048818-EC77-ED2A-A539-8621E7416C67}"/>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C719889-0167-2E7A-3B9D-FD45827B78E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466822D2-6512-B09F-3A5E-E5BA945DED7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B7A11C3B-AC47-D0D6-D268-E7191C750676}"/>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863799D6-90AC-39BC-1E41-432AB7D1243D}"/>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ACDB7F5E-BC66-3ED9-2951-109597BD579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40C4DAFB-793C-07F5-B627-6BB7DA4A1D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5C48266E-F436-8559-5B40-12CEDACA87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5" name="Group 4">
            <a:extLst>
              <a:ext uri="{FF2B5EF4-FFF2-40B4-BE49-F238E27FC236}">
                <a16:creationId xmlns:a16="http://schemas.microsoft.com/office/drawing/2014/main" id="{E13736D5-5B81-4B3A-F6DE-CFAF785E8B28}"/>
              </a:ext>
            </a:extLst>
          </p:cNvPr>
          <p:cNvGrpSpPr>
            <a:grpSpLocks/>
          </p:cNvGrpSpPr>
          <p:nvPr/>
        </p:nvGrpSpPr>
        <p:grpSpPr bwMode="auto">
          <a:xfrm>
            <a:off x="2472073" y="4710114"/>
            <a:ext cx="7247855" cy="1466851"/>
            <a:chOff x="588" y="3050"/>
            <a:chExt cx="3983" cy="924"/>
          </a:xfrm>
        </p:grpSpPr>
        <p:grpSp>
          <p:nvGrpSpPr>
            <p:cNvPr id="17" name="Group 5">
              <a:extLst>
                <a:ext uri="{FF2B5EF4-FFF2-40B4-BE49-F238E27FC236}">
                  <a16:creationId xmlns:a16="http://schemas.microsoft.com/office/drawing/2014/main" id="{49BA0AB0-4008-35F4-63E6-0B9C728650B1}"/>
                </a:ext>
              </a:extLst>
            </p:cNvPr>
            <p:cNvGrpSpPr>
              <a:grpSpLocks/>
            </p:cNvGrpSpPr>
            <p:nvPr/>
          </p:nvGrpSpPr>
          <p:grpSpPr bwMode="auto">
            <a:xfrm>
              <a:off x="1126" y="3079"/>
              <a:ext cx="554" cy="895"/>
              <a:chOff x="983" y="2380"/>
              <a:chExt cx="554" cy="895"/>
            </a:xfrm>
          </p:grpSpPr>
          <p:grpSp>
            <p:nvGrpSpPr>
              <p:cNvPr id="55" name="Group 6">
                <a:extLst>
                  <a:ext uri="{FF2B5EF4-FFF2-40B4-BE49-F238E27FC236}">
                    <a16:creationId xmlns:a16="http://schemas.microsoft.com/office/drawing/2014/main" id="{431B74F8-8793-38C4-1F6B-9EAE63DBE4E8}"/>
                  </a:ext>
                </a:extLst>
              </p:cNvPr>
              <p:cNvGrpSpPr>
                <a:grpSpLocks/>
              </p:cNvGrpSpPr>
              <p:nvPr/>
            </p:nvGrpSpPr>
            <p:grpSpPr bwMode="auto">
              <a:xfrm>
                <a:off x="1008" y="2380"/>
                <a:ext cx="525" cy="390"/>
                <a:chOff x="1367" y="2370"/>
                <a:chExt cx="434" cy="390"/>
              </a:xfrm>
            </p:grpSpPr>
            <p:grpSp>
              <p:nvGrpSpPr>
                <p:cNvPr id="59" name="Group 7">
                  <a:extLst>
                    <a:ext uri="{FF2B5EF4-FFF2-40B4-BE49-F238E27FC236}">
                      <a16:creationId xmlns:a16="http://schemas.microsoft.com/office/drawing/2014/main" id="{1D59FDB5-EDAE-A5AC-D818-EF85F249704D}"/>
                    </a:ext>
                  </a:extLst>
                </p:cNvPr>
                <p:cNvGrpSpPr>
                  <a:grpSpLocks/>
                </p:cNvGrpSpPr>
                <p:nvPr/>
              </p:nvGrpSpPr>
              <p:grpSpPr bwMode="auto">
                <a:xfrm>
                  <a:off x="1367" y="2395"/>
                  <a:ext cx="434" cy="365"/>
                  <a:chOff x="418" y="2981"/>
                  <a:chExt cx="352" cy="365"/>
                </a:xfrm>
              </p:grpSpPr>
              <p:sp>
                <p:nvSpPr>
                  <p:cNvPr id="65" name="Rectangle 8">
                    <a:extLst>
                      <a:ext uri="{FF2B5EF4-FFF2-40B4-BE49-F238E27FC236}">
                        <a16:creationId xmlns:a16="http://schemas.microsoft.com/office/drawing/2014/main" id="{841472D5-5BD9-CFF6-A4A6-4D57E7C90D1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 name="Line 9">
                    <a:extLst>
                      <a:ext uri="{FF2B5EF4-FFF2-40B4-BE49-F238E27FC236}">
                        <a16:creationId xmlns:a16="http://schemas.microsoft.com/office/drawing/2014/main" id="{4FB044F1-86AA-28E9-7013-17F1A0C6277E}"/>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60" name="Group 10">
                  <a:extLst>
                    <a:ext uri="{FF2B5EF4-FFF2-40B4-BE49-F238E27FC236}">
                      <a16:creationId xmlns:a16="http://schemas.microsoft.com/office/drawing/2014/main" id="{5483CB66-A786-EBB2-E36F-3DCCE171F588}"/>
                    </a:ext>
                  </a:extLst>
                </p:cNvPr>
                <p:cNvGrpSpPr>
                  <a:grpSpLocks/>
                </p:cNvGrpSpPr>
                <p:nvPr/>
              </p:nvGrpSpPr>
              <p:grpSpPr bwMode="auto">
                <a:xfrm flipV="1">
                  <a:off x="1462" y="2586"/>
                  <a:ext cx="96" cy="112"/>
                  <a:chOff x="720" y="3354"/>
                  <a:chExt cx="192" cy="198"/>
                </a:xfrm>
              </p:grpSpPr>
              <p:sp>
                <p:nvSpPr>
                  <p:cNvPr id="63" name="Oval 11">
                    <a:extLst>
                      <a:ext uri="{FF2B5EF4-FFF2-40B4-BE49-F238E27FC236}">
                        <a16:creationId xmlns:a16="http://schemas.microsoft.com/office/drawing/2014/main" id="{38A734E8-2490-82C3-DD57-A57D776BEC42}"/>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 name="AutoShape 12">
                    <a:extLst>
                      <a:ext uri="{FF2B5EF4-FFF2-40B4-BE49-F238E27FC236}">
                        <a16:creationId xmlns:a16="http://schemas.microsoft.com/office/drawing/2014/main" id="{F787030C-73C7-3D54-5033-A8757B6BDE2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61" name="Text Box 13">
                  <a:extLst>
                    <a:ext uri="{FF2B5EF4-FFF2-40B4-BE49-F238E27FC236}">
                      <a16:creationId xmlns:a16="http://schemas.microsoft.com/office/drawing/2014/main" id="{6A90BA22-32F9-3E51-0476-BA67FA498DC2}"/>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2" name="Text Box 14">
                  <a:extLst>
                    <a:ext uri="{FF2B5EF4-FFF2-40B4-BE49-F238E27FC236}">
                      <a16:creationId xmlns:a16="http://schemas.microsoft.com/office/drawing/2014/main" id="{2B3B0B95-0A75-FA58-3651-35A8212452BE}"/>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Cut</a:t>
                  </a:r>
                </a:p>
              </p:txBody>
            </p:sp>
          </p:grpSp>
          <p:grpSp>
            <p:nvGrpSpPr>
              <p:cNvPr id="56" name="Group 15">
                <a:extLst>
                  <a:ext uri="{FF2B5EF4-FFF2-40B4-BE49-F238E27FC236}">
                    <a16:creationId xmlns:a16="http://schemas.microsoft.com/office/drawing/2014/main" id="{752CF75D-C316-1198-7CB5-EB2E6B97BA8D}"/>
                  </a:ext>
                </a:extLst>
              </p:cNvPr>
              <p:cNvGrpSpPr>
                <a:grpSpLocks/>
              </p:cNvGrpSpPr>
              <p:nvPr/>
            </p:nvGrpSpPr>
            <p:grpSpPr bwMode="auto">
              <a:xfrm>
                <a:off x="983" y="2832"/>
                <a:ext cx="554" cy="443"/>
                <a:chOff x="983" y="2832"/>
                <a:chExt cx="554" cy="443"/>
              </a:xfrm>
            </p:grpSpPr>
            <p:sp>
              <p:nvSpPr>
                <p:cNvPr id="57" name="Rectangle 16">
                  <a:extLst>
                    <a:ext uri="{FF2B5EF4-FFF2-40B4-BE49-F238E27FC236}">
                      <a16:creationId xmlns:a16="http://schemas.microsoft.com/office/drawing/2014/main" id="{A4F7A0DE-E3FE-D80D-51C6-13BC620A3033}"/>
                    </a:ext>
                  </a:extLst>
                </p:cNvPr>
                <p:cNvSpPr>
                  <a:spLocks noChangeArrowheads="1"/>
                </p:cNvSpPr>
                <p:nvPr/>
              </p:nvSpPr>
              <p:spPr bwMode="auto">
                <a:xfrm>
                  <a:off x="1012" y="2832"/>
                  <a:ext cx="525" cy="432"/>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8" name="Text Box 17">
                  <a:extLst>
                    <a:ext uri="{FF2B5EF4-FFF2-40B4-BE49-F238E27FC236}">
                      <a16:creationId xmlns:a16="http://schemas.microsoft.com/office/drawing/2014/main" id="{FAA808A7-626D-1708-E1A7-850A3D7D8857}"/>
                    </a:ext>
                  </a:extLst>
                </p:cNvPr>
                <p:cNvSpPr txBox="1">
                  <a:spLocks noChangeArrowheads="1"/>
                </p:cNvSpPr>
                <p:nvPr/>
              </p:nvSpPr>
              <p:spPr bwMode="auto">
                <a:xfrm>
                  <a:off x="983" y="2832"/>
                  <a:ext cx="553"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12</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30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99%</a:t>
                  </a:r>
                </a:p>
                <a:p>
                  <a:pPr algn="l">
                    <a:lnSpc>
                      <a:spcPct val="100000"/>
                    </a:lnSpc>
                    <a:spcBef>
                      <a:spcPct val="0"/>
                    </a:spcBef>
                  </a:pPr>
                  <a:r>
                    <a:rPr lang="en-US" altLang="en-US" sz="800" b="0">
                      <a:solidFill>
                        <a:schemeClr val="tx1"/>
                      </a:solidFill>
                    </a:rPr>
                    <a:t>5 Machines</a:t>
                  </a:r>
                </a:p>
              </p:txBody>
            </p:sp>
          </p:grpSp>
        </p:grpSp>
        <p:sp>
          <p:nvSpPr>
            <p:cNvPr id="18" name="Line 18">
              <a:extLst>
                <a:ext uri="{FF2B5EF4-FFF2-40B4-BE49-F238E27FC236}">
                  <a16:creationId xmlns:a16="http://schemas.microsoft.com/office/drawing/2014/main" id="{3325B350-8409-AB78-1C27-D7FC83648DF0}"/>
                </a:ext>
              </a:extLst>
            </p:cNvPr>
            <p:cNvSpPr>
              <a:spLocks noChangeShapeType="1"/>
            </p:cNvSpPr>
            <p:nvPr/>
          </p:nvSpPr>
          <p:spPr bwMode="auto">
            <a:xfrm flipV="1">
              <a:off x="1691" y="3295"/>
              <a:ext cx="618"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9" name="AutoShape 19">
              <a:extLst>
                <a:ext uri="{FF2B5EF4-FFF2-40B4-BE49-F238E27FC236}">
                  <a16:creationId xmlns:a16="http://schemas.microsoft.com/office/drawing/2014/main" id="{E1328B14-8F08-F992-6146-C639303581B4}"/>
                </a:ext>
              </a:extLst>
            </p:cNvPr>
            <p:cNvSpPr>
              <a:spLocks noChangeArrowheads="1"/>
            </p:cNvSpPr>
            <p:nvPr/>
          </p:nvSpPr>
          <p:spPr bwMode="auto">
            <a:xfrm>
              <a:off x="1865"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grpSp>
          <p:nvGrpSpPr>
            <p:cNvPr id="20" name="Group 20">
              <a:extLst>
                <a:ext uri="{FF2B5EF4-FFF2-40B4-BE49-F238E27FC236}">
                  <a16:creationId xmlns:a16="http://schemas.microsoft.com/office/drawing/2014/main" id="{4F96A81C-E6C1-5265-9F6B-C7A672CD52AE}"/>
                </a:ext>
              </a:extLst>
            </p:cNvPr>
            <p:cNvGrpSpPr>
              <a:grpSpLocks/>
            </p:cNvGrpSpPr>
            <p:nvPr/>
          </p:nvGrpSpPr>
          <p:grpSpPr bwMode="auto">
            <a:xfrm>
              <a:off x="2258" y="3066"/>
              <a:ext cx="561" cy="828"/>
              <a:chOff x="2155" y="2375"/>
              <a:chExt cx="561" cy="828"/>
            </a:xfrm>
          </p:grpSpPr>
          <p:sp>
            <p:nvSpPr>
              <p:cNvPr id="44" name="Rectangle 21">
                <a:extLst>
                  <a:ext uri="{FF2B5EF4-FFF2-40B4-BE49-F238E27FC236}">
                    <a16:creationId xmlns:a16="http://schemas.microsoft.com/office/drawing/2014/main" id="{724B5D4D-2A15-4FF4-5D82-87C1FC7E6C8E}"/>
                  </a:ext>
                </a:extLst>
              </p:cNvPr>
              <p:cNvSpPr>
                <a:spLocks noChangeArrowheads="1"/>
              </p:cNvSpPr>
              <p:nvPr/>
            </p:nvSpPr>
            <p:spPr bwMode="auto">
              <a:xfrm>
                <a:off x="2191" y="2827"/>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nvGrpSpPr>
              <p:cNvPr id="45" name="Group 22">
                <a:extLst>
                  <a:ext uri="{FF2B5EF4-FFF2-40B4-BE49-F238E27FC236}">
                    <a16:creationId xmlns:a16="http://schemas.microsoft.com/office/drawing/2014/main" id="{4E66E9DB-2449-2DAA-D531-5752417ABFC0}"/>
                  </a:ext>
                </a:extLst>
              </p:cNvPr>
              <p:cNvGrpSpPr>
                <a:grpSpLocks/>
              </p:cNvGrpSpPr>
              <p:nvPr/>
            </p:nvGrpSpPr>
            <p:grpSpPr bwMode="auto">
              <a:xfrm>
                <a:off x="2187" y="2375"/>
                <a:ext cx="525" cy="390"/>
                <a:chOff x="1367" y="2370"/>
                <a:chExt cx="434" cy="390"/>
              </a:xfrm>
            </p:grpSpPr>
            <p:grpSp>
              <p:nvGrpSpPr>
                <p:cNvPr id="47" name="Group 23">
                  <a:extLst>
                    <a:ext uri="{FF2B5EF4-FFF2-40B4-BE49-F238E27FC236}">
                      <a16:creationId xmlns:a16="http://schemas.microsoft.com/office/drawing/2014/main" id="{88DDD0EB-B149-C278-34BA-C7C4D2E42BC7}"/>
                    </a:ext>
                  </a:extLst>
                </p:cNvPr>
                <p:cNvGrpSpPr>
                  <a:grpSpLocks/>
                </p:cNvGrpSpPr>
                <p:nvPr/>
              </p:nvGrpSpPr>
              <p:grpSpPr bwMode="auto">
                <a:xfrm>
                  <a:off x="1367" y="2395"/>
                  <a:ext cx="434" cy="365"/>
                  <a:chOff x="418" y="2981"/>
                  <a:chExt cx="352" cy="365"/>
                </a:xfrm>
              </p:grpSpPr>
              <p:sp>
                <p:nvSpPr>
                  <p:cNvPr id="53" name="Rectangle 24">
                    <a:extLst>
                      <a:ext uri="{FF2B5EF4-FFF2-40B4-BE49-F238E27FC236}">
                        <a16:creationId xmlns:a16="http://schemas.microsoft.com/office/drawing/2014/main" id="{B59F8A04-194A-709B-2B69-20743B0D685C}"/>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4" name="Line 25">
                    <a:extLst>
                      <a:ext uri="{FF2B5EF4-FFF2-40B4-BE49-F238E27FC236}">
                        <a16:creationId xmlns:a16="http://schemas.microsoft.com/office/drawing/2014/main" id="{DD770A98-8D3E-7FFC-34C7-C061303695D8}"/>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48" name="Group 26">
                  <a:extLst>
                    <a:ext uri="{FF2B5EF4-FFF2-40B4-BE49-F238E27FC236}">
                      <a16:creationId xmlns:a16="http://schemas.microsoft.com/office/drawing/2014/main" id="{55E6F8B4-005D-17F6-9A79-65E407F8E36D}"/>
                    </a:ext>
                  </a:extLst>
                </p:cNvPr>
                <p:cNvGrpSpPr>
                  <a:grpSpLocks/>
                </p:cNvGrpSpPr>
                <p:nvPr/>
              </p:nvGrpSpPr>
              <p:grpSpPr bwMode="auto">
                <a:xfrm flipV="1">
                  <a:off x="1462" y="2586"/>
                  <a:ext cx="96" cy="112"/>
                  <a:chOff x="720" y="3354"/>
                  <a:chExt cx="192" cy="198"/>
                </a:xfrm>
              </p:grpSpPr>
              <p:sp>
                <p:nvSpPr>
                  <p:cNvPr id="51" name="Oval 27">
                    <a:extLst>
                      <a:ext uri="{FF2B5EF4-FFF2-40B4-BE49-F238E27FC236}">
                        <a16:creationId xmlns:a16="http://schemas.microsoft.com/office/drawing/2014/main" id="{31C18EAF-8F78-98C1-30E3-3954D63B4D4C}"/>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2" name="AutoShape 28">
                    <a:extLst>
                      <a:ext uri="{FF2B5EF4-FFF2-40B4-BE49-F238E27FC236}">
                        <a16:creationId xmlns:a16="http://schemas.microsoft.com/office/drawing/2014/main" id="{4EC7EB9C-2787-4A1D-4E10-A556CF04A52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49" name="Text Box 29">
                  <a:extLst>
                    <a:ext uri="{FF2B5EF4-FFF2-40B4-BE49-F238E27FC236}">
                      <a16:creationId xmlns:a16="http://schemas.microsoft.com/office/drawing/2014/main" id="{0569733F-DEA3-2BE3-2036-6DACBFA7036A}"/>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1</a:t>
                  </a:r>
                </a:p>
              </p:txBody>
            </p:sp>
            <p:sp>
              <p:nvSpPr>
                <p:cNvPr id="50" name="Text Box 30">
                  <a:extLst>
                    <a:ext uri="{FF2B5EF4-FFF2-40B4-BE49-F238E27FC236}">
                      <a16:creationId xmlns:a16="http://schemas.microsoft.com/office/drawing/2014/main" id="{8462D167-59A1-FFD6-2F90-18ABA58C7A4C}"/>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Stamp</a:t>
                  </a:r>
                </a:p>
              </p:txBody>
            </p:sp>
          </p:grpSp>
          <p:sp>
            <p:nvSpPr>
              <p:cNvPr id="46" name="Text Box 31">
                <a:extLst>
                  <a:ext uri="{FF2B5EF4-FFF2-40B4-BE49-F238E27FC236}">
                    <a16:creationId xmlns:a16="http://schemas.microsoft.com/office/drawing/2014/main" id="{5DE2EAEF-B4AB-15FF-CB24-CAD21C52B2A5}"/>
                  </a:ext>
                </a:extLst>
              </p:cNvPr>
              <p:cNvSpPr txBox="1">
                <a:spLocks noChangeArrowheads="1"/>
              </p:cNvSpPr>
              <p:nvPr/>
            </p:nvSpPr>
            <p:spPr bwMode="auto">
              <a:xfrm>
                <a:off x="2155" y="2837"/>
                <a:ext cx="553"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15</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30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98%</a:t>
                </a:r>
              </a:p>
            </p:txBody>
          </p:sp>
        </p:grpSp>
        <p:grpSp>
          <p:nvGrpSpPr>
            <p:cNvPr id="21" name="Group 32">
              <a:extLst>
                <a:ext uri="{FF2B5EF4-FFF2-40B4-BE49-F238E27FC236}">
                  <a16:creationId xmlns:a16="http://schemas.microsoft.com/office/drawing/2014/main" id="{07EF80F3-D5E0-C53C-1007-816826A62DE5}"/>
                </a:ext>
              </a:extLst>
            </p:cNvPr>
            <p:cNvGrpSpPr>
              <a:grpSpLocks/>
            </p:cNvGrpSpPr>
            <p:nvPr/>
          </p:nvGrpSpPr>
          <p:grpSpPr bwMode="auto">
            <a:xfrm>
              <a:off x="3397" y="3061"/>
              <a:ext cx="605" cy="828"/>
              <a:chOff x="3253" y="2370"/>
              <a:chExt cx="605" cy="828"/>
            </a:xfrm>
          </p:grpSpPr>
          <p:sp>
            <p:nvSpPr>
              <p:cNvPr id="33" name="Rectangle 33">
                <a:extLst>
                  <a:ext uri="{FF2B5EF4-FFF2-40B4-BE49-F238E27FC236}">
                    <a16:creationId xmlns:a16="http://schemas.microsoft.com/office/drawing/2014/main" id="{C8C8271C-551E-D30D-93EF-18844EA94859}"/>
                  </a:ext>
                </a:extLst>
              </p:cNvPr>
              <p:cNvSpPr>
                <a:spLocks noChangeArrowheads="1"/>
              </p:cNvSpPr>
              <p:nvPr/>
            </p:nvSpPr>
            <p:spPr bwMode="auto">
              <a:xfrm>
                <a:off x="3289" y="2822"/>
                <a:ext cx="525"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nvGrpSpPr>
              <p:cNvPr id="34" name="Group 34">
                <a:extLst>
                  <a:ext uri="{FF2B5EF4-FFF2-40B4-BE49-F238E27FC236}">
                    <a16:creationId xmlns:a16="http://schemas.microsoft.com/office/drawing/2014/main" id="{6B317997-DA15-2EE1-8E55-A6049591E1EA}"/>
                  </a:ext>
                </a:extLst>
              </p:cNvPr>
              <p:cNvGrpSpPr>
                <a:grpSpLocks/>
              </p:cNvGrpSpPr>
              <p:nvPr/>
            </p:nvGrpSpPr>
            <p:grpSpPr bwMode="auto">
              <a:xfrm>
                <a:off x="3285" y="2370"/>
                <a:ext cx="525" cy="390"/>
                <a:chOff x="1367" y="2370"/>
                <a:chExt cx="434" cy="390"/>
              </a:xfrm>
            </p:grpSpPr>
            <p:grpSp>
              <p:nvGrpSpPr>
                <p:cNvPr id="36" name="Group 35">
                  <a:extLst>
                    <a:ext uri="{FF2B5EF4-FFF2-40B4-BE49-F238E27FC236}">
                      <a16:creationId xmlns:a16="http://schemas.microsoft.com/office/drawing/2014/main" id="{64D3F42C-C2A1-5541-0E9C-3C80D5BCD497}"/>
                    </a:ext>
                  </a:extLst>
                </p:cNvPr>
                <p:cNvGrpSpPr>
                  <a:grpSpLocks/>
                </p:cNvGrpSpPr>
                <p:nvPr/>
              </p:nvGrpSpPr>
              <p:grpSpPr bwMode="auto">
                <a:xfrm>
                  <a:off x="1367" y="2395"/>
                  <a:ext cx="434" cy="365"/>
                  <a:chOff x="418" y="2981"/>
                  <a:chExt cx="352" cy="365"/>
                </a:xfrm>
              </p:grpSpPr>
              <p:sp>
                <p:nvSpPr>
                  <p:cNvPr id="42" name="Rectangle 36">
                    <a:extLst>
                      <a:ext uri="{FF2B5EF4-FFF2-40B4-BE49-F238E27FC236}">
                        <a16:creationId xmlns:a16="http://schemas.microsoft.com/office/drawing/2014/main" id="{A29BEC63-5AAC-6368-98D3-23E2B5F0C473}"/>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3" name="Line 37">
                    <a:extLst>
                      <a:ext uri="{FF2B5EF4-FFF2-40B4-BE49-F238E27FC236}">
                        <a16:creationId xmlns:a16="http://schemas.microsoft.com/office/drawing/2014/main" id="{786A3CD4-406E-3ECF-F8C1-20E86FF13785}"/>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37" name="Group 38">
                  <a:extLst>
                    <a:ext uri="{FF2B5EF4-FFF2-40B4-BE49-F238E27FC236}">
                      <a16:creationId xmlns:a16="http://schemas.microsoft.com/office/drawing/2014/main" id="{E4E1C192-4169-DE7F-07CF-544C6181559D}"/>
                    </a:ext>
                  </a:extLst>
                </p:cNvPr>
                <p:cNvGrpSpPr>
                  <a:grpSpLocks/>
                </p:cNvGrpSpPr>
                <p:nvPr/>
              </p:nvGrpSpPr>
              <p:grpSpPr bwMode="auto">
                <a:xfrm flipV="1">
                  <a:off x="1462" y="2586"/>
                  <a:ext cx="96" cy="112"/>
                  <a:chOff x="720" y="3354"/>
                  <a:chExt cx="192" cy="198"/>
                </a:xfrm>
              </p:grpSpPr>
              <p:sp>
                <p:nvSpPr>
                  <p:cNvPr id="40" name="Oval 39">
                    <a:extLst>
                      <a:ext uri="{FF2B5EF4-FFF2-40B4-BE49-F238E27FC236}">
                        <a16:creationId xmlns:a16="http://schemas.microsoft.com/office/drawing/2014/main" id="{9B171475-B483-F406-5408-F253C54A1483}"/>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1" name="AutoShape 40">
                    <a:extLst>
                      <a:ext uri="{FF2B5EF4-FFF2-40B4-BE49-F238E27FC236}">
                        <a16:creationId xmlns:a16="http://schemas.microsoft.com/office/drawing/2014/main" id="{061484DD-474A-D2F6-7E46-8FA85DC072F1}"/>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38" name="Text Box 41">
                  <a:extLst>
                    <a:ext uri="{FF2B5EF4-FFF2-40B4-BE49-F238E27FC236}">
                      <a16:creationId xmlns:a16="http://schemas.microsoft.com/office/drawing/2014/main" id="{8593FCDB-AE9E-BDCB-0641-AD2DEA68AFFD}"/>
                    </a:ext>
                  </a:extLst>
                </p:cNvPr>
                <p:cNvSpPr txBox="1">
                  <a:spLocks noChangeArrowheads="1"/>
                </p:cNvSpPr>
                <p:nvPr/>
              </p:nvSpPr>
              <p:spPr bwMode="auto">
                <a:xfrm>
                  <a:off x="1562" y="2584"/>
                  <a:ext cx="1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1</a:t>
                  </a:r>
                </a:p>
              </p:txBody>
            </p:sp>
            <p:sp>
              <p:nvSpPr>
                <p:cNvPr id="39" name="Text Box 42">
                  <a:extLst>
                    <a:ext uri="{FF2B5EF4-FFF2-40B4-BE49-F238E27FC236}">
                      <a16:creationId xmlns:a16="http://schemas.microsoft.com/office/drawing/2014/main" id="{741E04E8-4B77-2DAD-D719-45A372D66D47}"/>
                    </a:ext>
                  </a:extLst>
                </p:cNvPr>
                <p:cNvSpPr txBox="1">
                  <a:spLocks noChangeArrowheads="1"/>
                </p:cNvSpPr>
                <p:nvPr/>
              </p:nvSpPr>
              <p:spPr bwMode="auto">
                <a:xfrm>
                  <a:off x="1382" y="2370"/>
                  <a:ext cx="40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Brake Form</a:t>
                  </a:r>
                </a:p>
              </p:txBody>
            </p:sp>
          </p:grpSp>
          <p:sp>
            <p:nvSpPr>
              <p:cNvPr id="35" name="Text Box 43">
                <a:extLst>
                  <a:ext uri="{FF2B5EF4-FFF2-40B4-BE49-F238E27FC236}">
                    <a16:creationId xmlns:a16="http://schemas.microsoft.com/office/drawing/2014/main" id="{A6D1DEE9-71AA-F03D-3C2C-7A382403BD61}"/>
                  </a:ext>
                </a:extLst>
              </p:cNvPr>
              <p:cNvSpPr txBox="1">
                <a:spLocks noChangeArrowheads="1"/>
              </p:cNvSpPr>
              <p:nvPr/>
            </p:nvSpPr>
            <p:spPr bwMode="auto">
              <a:xfrm>
                <a:off x="3253" y="2832"/>
                <a:ext cx="605"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pPr>
                <a:r>
                  <a:rPr lang="en-US" altLang="en-US" sz="800" b="0">
                    <a:solidFill>
                      <a:schemeClr val="tx1"/>
                    </a:solidFill>
                  </a:rPr>
                  <a:t>DOI = 20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C/O Time = 120</a:t>
                </a:r>
                <a:r>
                  <a:rPr lang="ja-JP" altLang="en-US" sz="800" b="0">
                    <a:solidFill>
                      <a:schemeClr val="tx1"/>
                    </a:solidFill>
                  </a:rPr>
                  <a:t>’</a:t>
                </a:r>
                <a:endParaRPr lang="en-US" altLang="ja-JP" sz="800" b="0">
                  <a:solidFill>
                    <a:schemeClr val="tx1"/>
                  </a:solidFill>
                </a:endParaRPr>
              </a:p>
              <a:p>
                <a:pPr algn="l">
                  <a:lnSpc>
                    <a:spcPct val="100000"/>
                  </a:lnSpc>
                  <a:spcBef>
                    <a:spcPct val="0"/>
                  </a:spcBef>
                </a:pPr>
                <a:r>
                  <a:rPr lang="en-US" altLang="en-US" sz="800" b="0">
                    <a:solidFill>
                      <a:schemeClr val="tx1"/>
                    </a:solidFill>
                  </a:rPr>
                  <a:t>Uptime = 99%</a:t>
                </a:r>
              </a:p>
              <a:p>
                <a:pPr algn="l">
                  <a:lnSpc>
                    <a:spcPct val="100000"/>
                  </a:lnSpc>
                  <a:spcBef>
                    <a:spcPct val="0"/>
                  </a:spcBef>
                </a:pPr>
                <a:r>
                  <a:rPr lang="en-US" altLang="en-US" sz="800" b="0">
                    <a:solidFill>
                      <a:schemeClr val="tx1"/>
                    </a:solidFill>
                  </a:rPr>
                  <a:t>Quality = 85%</a:t>
                </a:r>
              </a:p>
            </p:txBody>
          </p:sp>
        </p:grpSp>
        <p:sp>
          <p:nvSpPr>
            <p:cNvPr id="22" name="Line 44">
              <a:extLst>
                <a:ext uri="{FF2B5EF4-FFF2-40B4-BE49-F238E27FC236}">
                  <a16:creationId xmlns:a16="http://schemas.microsoft.com/office/drawing/2014/main" id="{29A4F547-98F7-45FF-A39B-A2523E9E61B0}"/>
                </a:ext>
              </a:extLst>
            </p:cNvPr>
            <p:cNvSpPr>
              <a:spLocks noChangeShapeType="1"/>
            </p:cNvSpPr>
            <p:nvPr/>
          </p:nvSpPr>
          <p:spPr bwMode="auto">
            <a:xfrm flipV="1">
              <a:off x="2829" y="3295"/>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3" name="Line 45">
              <a:extLst>
                <a:ext uri="{FF2B5EF4-FFF2-40B4-BE49-F238E27FC236}">
                  <a16:creationId xmlns:a16="http://schemas.microsoft.com/office/drawing/2014/main" id="{690C709E-D107-967E-D90B-95A05BB4A66E}"/>
                </a:ext>
              </a:extLst>
            </p:cNvPr>
            <p:cNvSpPr>
              <a:spLocks noChangeShapeType="1"/>
            </p:cNvSpPr>
            <p:nvPr/>
          </p:nvSpPr>
          <p:spPr bwMode="auto">
            <a:xfrm flipV="1">
              <a:off x="3967" y="3295"/>
              <a:ext cx="599" cy="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4" name="AutoShape 46">
              <a:extLst>
                <a:ext uri="{FF2B5EF4-FFF2-40B4-BE49-F238E27FC236}">
                  <a16:creationId xmlns:a16="http://schemas.microsoft.com/office/drawing/2014/main" id="{68404FAE-8269-9CA6-E949-421138410FFC}"/>
                </a:ext>
              </a:extLst>
            </p:cNvPr>
            <p:cNvSpPr>
              <a:spLocks noChangeArrowheads="1"/>
            </p:cNvSpPr>
            <p:nvPr/>
          </p:nvSpPr>
          <p:spPr bwMode="auto">
            <a:xfrm>
              <a:off x="3003"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25" name="AutoShape 47">
              <a:extLst>
                <a:ext uri="{FF2B5EF4-FFF2-40B4-BE49-F238E27FC236}">
                  <a16:creationId xmlns:a16="http://schemas.microsoft.com/office/drawing/2014/main" id="{39700A79-2111-B4AF-1A17-9024BEEC47AF}"/>
                </a:ext>
              </a:extLst>
            </p:cNvPr>
            <p:cNvSpPr>
              <a:spLocks noChangeArrowheads="1"/>
            </p:cNvSpPr>
            <p:nvPr/>
          </p:nvSpPr>
          <p:spPr bwMode="auto">
            <a:xfrm>
              <a:off x="4141" y="3180"/>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26" name="Line 48">
              <a:extLst>
                <a:ext uri="{FF2B5EF4-FFF2-40B4-BE49-F238E27FC236}">
                  <a16:creationId xmlns:a16="http://schemas.microsoft.com/office/drawing/2014/main" id="{A485025D-D67E-2019-4545-89925B7D3970}"/>
                </a:ext>
              </a:extLst>
            </p:cNvPr>
            <p:cNvSpPr>
              <a:spLocks noChangeShapeType="1"/>
            </p:cNvSpPr>
            <p:nvPr/>
          </p:nvSpPr>
          <p:spPr bwMode="auto">
            <a:xfrm flipV="1">
              <a:off x="883" y="3296"/>
              <a:ext cx="268" cy="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AutoShape 49">
              <a:extLst>
                <a:ext uri="{FF2B5EF4-FFF2-40B4-BE49-F238E27FC236}">
                  <a16:creationId xmlns:a16="http://schemas.microsoft.com/office/drawing/2014/main" id="{BBEA9255-6382-A2A2-E7A5-6E864FA79D15}"/>
                </a:ext>
              </a:extLst>
            </p:cNvPr>
            <p:cNvSpPr>
              <a:spLocks noChangeArrowheads="1"/>
            </p:cNvSpPr>
            <p:nvPr/>
          </p:nvSpPr>
          <p:spPr bwMode="auto">
            <a:xfrm>
              <a:off x="723" y="3176"/>
              <a:ext cx="210" cy="194"/>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28" name="Rectangle 50">
              <a:extLst>
                <a:ext uri="{FF2B5EF4-FFF2-40B4-BE49-F238E27FC236}">
                  <a16:creationId xmlns:a16="http://schemas.microsoft.com/office/drawing/2014/main" id="{D71C3BB0-E09B-5B01-21DA-25BF0E682B8A}"/>
                </a:ext>
              </a:extLst>
            </p:cNvPr>
            <p:cNvSpPr>
              <a:spLocks noChangeArrowheads="1"/>
            </p:cNvSpPr>
            <p:nvPr/>
          </p:nvSpPr>
          <p:spPr bwMode="auto">
            <a:xfrm>
              <a:off x="588" y="3358"/>
              <a:ext cx="515"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3,200 Sheets</a:t>
              </a:r>
              <a:r>
                <a:rPr lang="en-US" altLang="en-US" sz="800" b="0">
                  <a:solidFill>
                    <a:srgbClr val="FF0000"/>
                  </a:solidFill>
                </a:rPr>
                <a:t> </a:t>
              </a:r>
            </a:p>
          </p:txBody>
        </p:sp>
        <p:sp>
          <p:nvSpPr>
            <p:cNvPr id="29" name="Rectangle 51">
              <a:extLst>
                <a:ext uri="{FF2B5EF4-FFF2-40B4-BE49-F238E27FC236}">
                  <a16:creationId xmlns:a16="http://schemas.microsoft.com/office/drawing/2014/main" id="{6674C543-DE30-285A-8225-4D765614A38F}"/>
                </a:ext>
              </a:extLst>
            </p:cNvPr>
            <p:cNvSpPr>
              <a:spLocks noChangeArrowheads="1"/>
            </p:cNvSpPr>
            <p:nvPr/>
          </p:nvSpPr>
          <p:spPr bwMode="auto">
            <a:xfrm>
              <a:off x="1739" y="3358"/>
              <a:ext cx="48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5,250 Pieces</a:t>
              </a:r>
              <a:endParaRPr lang="en-US" altLang="en-US" sz="800" b="0">
                <a:solidFill>
                  <a:srgbClr val="FF0000"/>
                </a:solidFill>
              </a:endParaRPr>
            </a:p>
          </p:txBody>
        </p:sp>
        <p:sp>
          <p:nvSpPr>
            <p:cNvPr id="30" name="Rectangle 52">
              <a:extLst>
                <a:ext uri="{FF2B5EF4-FFF2-40B4-BE49-F238E27FC236}">
                  <a16:creationId xmlns:a16="http://schemas.microsoft.com/office/drawing/2014/main" id="{133D9CC1-B55F-5F8C-44E7-A6FE90462BDF}"/>
                </a:ext>
              </a:extLst>
            </p:cNvPr>
            <p:cNvSpPr>
              <a:spLocks noChangeArrowheads="1"/>
            </p:cNvSpPr>
            <p:nvPr/>
          </p:nvSpPr>
          <p:spPr bwMode="auto">
            <a:xfrm>
              <a:off x="2867" y="3358"/>
              <a:ext cx="48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9,300 Pieces</a:t>
              </a:r>
              <a:endParaRPr lang="en-US" altLang="en-US" sz="800" b="0">
                <a:solidFill>
                  <a:srgbClr val="FF0000"/>
                </a:solidFill>
              </a:endParaRPr>
            </a:p>
          </p:txBody>
        </p:sp>
        <p:sp>
          <p:nvSpPr>
            <p:cNvPr id="31" name="Rectangle 53">
              <a:extLst>
                <a:ext uri="{FF2B5EF4-FFF2-40B4-BE49-F238E27FC236}">
                  <a16:creationId xmlns:a16="http://schemas.microsoft.com/office/drawing/2014/main" id="{112CE48A-3842-ACDF-BF6A-0A8043816A72}"/>
                </a:ext>
              </a:extLst>
            </p:cNvPr>
            <p:cNvSpPr>
              <a:spLocks noChangeArrowheads="1"/>
            </p:cNvSpPr>
            <p:nvPr/>
          </p:nvSpPr>
          <p:spPr bwMode="auto">
            <a:xfrm>
              <a:off x="3957" y="3358"/>
              <a:ext cx="614"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a:solidFill>
                    <a:schemeClr val="tx1"/>
                  </a:solidFill>
                </a:rPr>
                <a:t>2,300 Enclosures</a:t>
              </a:r>
              <a:endParaRPr lang="en-US" altLang="en-US" sz="800" b="0">
                <a:solidFill>
                  <a:srgbClr val="FF0000"/>
                </a:solidFill>
              </a:endParaRPr>
            </a:p>
          </p:txBody>
        </p:sp>
        <p:sp>
          <p:nvSpPr>
            <p:cNvPr id="32" name="AutoShape 54">
              <a:extLst>
                <a:ext uri="{FF2B5EF4-FFF2-40B4-BE49-F238E27FC236}">
                  <a16:creationId xmlns:a16="http://schemas.microsoft.com/office/drawing/2014/main" id="{160FE862-7172-B8A9-896E-6D47C2953B84}"/>
                </a:ext>
              </a:extLst>
            </p:cNvPr>
            <p:cNvSpPr>
              <a:spLocks noChangeArrowheads="1"/>
            </p:cNvSpPr>
            <p:nvPr/>
          </p:nvSpPr>
          <p:spPr bwMode="auto">
            <a:xfrm>
              <a:off x="2136" y="3050"/>
              <a:ext cx="1897" cy="924"/>
            </a:xfrm>
            <a:prstGeom prst="roundRect">
              <a:avLst>
                <a:gd name="adj" fmla="val 16667"/>
              </a:avLst>
            </a:prstGeom>
            <a:noFill/>
            <a:ln w="28575" cap="sq">
              <a:solidFill>
                <a:schemeClr val="accent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14" name="AutoShape 56">
            <a:extLst>
              <a:ext uri="{FF2B5EF4-FFF2-40B4-BE49-F238E27FC236}">
                <a16:creationId xmlns:a16="http://schemas.microsoft.com/office/drawing/2014/main" id="{87480AD1-DF80-64A0-6DF6-F669B85B42D0}"/>
              </a:ext>
            </a:extLst>
          </p:cNvPr>
          <p:cNvSpPr>
            <a:spLocks noChangeArrowheads="1"/>
          </p:cNvSpPr>
          <p:nvPr/>
        </p:nvSpPr>
        <p:spPr bwMode="auto">
          <a:xfrm>
            <a:off x="7817745" y="5622926"/>
            <a:ext cx="866775" cy="665162"/>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sz="1050" dirty="0">
              <a:solidFill>
                <a:schemeClr val="accent1"/>
              </a:solidFill>
              <a:latin typeface="Comic Sans MS" panose="030F0702030302020204" pitchFamily="66" charset="0"/>
            </a:endParaRPr>
          </a:p>
        </p:txBody>
      </p:sp>
    </p:spTree>
    <p:extLst>
      <p:ext uri="{BB962C8B-B14F-4D97-AF65-F5344CB8AC3E}">
        <p14:creationId xmlns:p14="http://schemas.microsoft.com/office/powerpoint/2010/main" val="168619535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Rectangle 33">
            <a:extLst>
              <a:ext uri="{FF2B5EF4-FFF2-40B4-BE49-F238E27FC236}">
                <a16:creationId xmlns:a16="http://schemas.microsoft.com/office/drawing/2014/main" id="{BBC4E422-DB77-423E-BA55-2FBFEB4905BB}"/>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fontScale="90000"/>
          </a:bodyPr>
          <a:lstStyle/>
          <a:p>
            <a:r>
              <a:rPr lang="en-US" sz="4000" dirty="0">
                <a:solidFill>
                  <a:schemeClr val="bg2">
                    <a:lumMod val="10000"/>
                  </a:schemeClr>
                </a:solidFill>
                <a:latin typeface="Roboto Medium"/>
                <a:ea typeface="Roboto Medium"/>
                <a:cs typeface="Roboto Medium"/>
              </a:rPr>
              <a:t>Identifying Quality Improvement Opportunities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118</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7332532" y="51112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5" name="&quot;Not Allowed&quot; Symbol 154">
            <a:extLst>
              <a:ext uri="{FF2B5EF4-FFF2-40B4-BE49-F238E27FC236}">
                <a16:creationId xmlns:a16="http://schemas.microsoft.com/office/drawing/2014/main" id="{C2FAE910-DA7D-F8D8-195A-974EE058ADE8}"/>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7" name="&quot;Not Allowed&quot; Symbol 156">
            <a:extLst>
              <a:ext uri="{FF2B5EF4-FFF2-40B4-BE49-F238E27FC236}">
                <a16:creationId xmlns:a16="http://schemas.microsoft.com/office/drawing/2014/main" id="{EEECEA3B-5C98-DD22-7DF6-8F0DC946F9D9}"/>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8" name="&quot;Not Allowed&quot; Symbol 157">
            <a:extLst>
              <a:ext uri="{FF2B5EF4-FFF2-40B4-BE49-F238E27FC236}">
                <a16:creationId xmlns:a16="http://schemas.microsoft.com/office/drawing/2014/main" id="{AC92F2B8-32FA-1E1F-F5B0-DBC0078CED6C}"/>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9" name="&quot;Not Allowed&quot; Symbol 158">
            <a:extLst>
              <a:ext uri="{FF2B5EF4-FFF2-40B4-BE49-F238E27FC236}">
                <a16:creationId xmlns:a16="http://schemas.microsoft.com/office/drawing/2014/main" id="{4C4EDB83-3BF9-1F01-63B5-3C86CB0C8C18}"/>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2741368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 (continued)</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119</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 improvements in machine uptime need to be addressed?</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need quality (first time yield) improvements?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information flow improvements are required?</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manpower improvement opportunities?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changes to scheduling need to be implemented?</a:t>
            </a:r>
          </a:p>
        </p:txBody>
      </p:sp>
    </p:spTree>
    <p:extLst>
      <p:ext uri="{BB962C8B-B14F-4D97-AF65-F5344CB8AC3E}">
        <p14:creationId xmlns:p14="http://schemas.microsoft.com/office/powerpoint/2010/main" val="338152370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Scheduling Changes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120</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7332532" y="51112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5" name="Rectangle 170">
            <a:extLst>
              <a:ext uri="{FF2B5EF4-FFF2-40B4-BE49-F238E27FC236}">
                <a16:creationId xmlns:a16="http://schemas.microsoft.com/office/drawing/2014/main" id="{522A51BE-17FB-0284-B507-0A0BDF1CC5FC}"/>
              </a:ext>
            </a:extLst>
          </p:cNvPr>
          <p:cNvSpPr>
            <a:spLocks noChangeArrowheads="1"/>
          </p:cNvSpPr>
          <p:nvPr/>
        </p:nvSpPr>
        <p:spPr bwMode="auto">
          <a:xfrm>
            <a:off x="3160978" y="1813222"/>
            <a:ext cx="5867400" cy="1447800"/>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The Pacemaker operation (Shipping) becomes the single </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point of scheduling</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MRP is no longer used to schedule shop floor since </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production is controlled through pull and flow</a:t>
            </a:r>
          </a:p>
        </p:txBody>
      </p:sp>
      <p:sp>
        <p:nvSpPr>
          <p:cNvPr id="156" name="&quot;Not Allowed&quot; Symbol 155">
            <a:extLst>
              <a:ext uri="{FF2B5EF4-FFF2-40B4-BE49-F238E27FC236}">
                <a16:creationId xmlns:a16="http://schemas.microsoft.com/office/drawing/2014/main" id="{F763111A-E6CC-CC90-197A-5C14150CAE34}"/>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0" name="&quot;Not Allowed&quot; Symbol 159">
            <a:extLst>
              <a:ext uri="{FF2B5EF4-FFF2-40B4-BE49-F238E27FC236}">
                <a16:creationId xmlns:a16="http://schemas.microsoft.com/office/drawing/2014/main" id="{BEFE4497-6194-7DC3-A18F-5DBE90CE6810}"/>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1" name="&quot;Not Allowed&quot; Symbol 160">
            <a:extLst>
              <a:ext uri="{FF2B5EF4-FFF2-40B4-BE49-F238E27FC236}">
                <a16:creationId xmlns:a16="http://schemas.microsoft.com/office/drawing/2014/main" id="{CAC31ED9-8722-29BB-9A5E-8A0405197E34}"/>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2" name="&quot;Not Allowed&quot; Symbol 161">
            <a:extLst>
              <a:ext uri="{FF2B5EF4-FFF2-40B4-BE49-F238E27FC236}">
                <a16:creationId xmlns:a16="http://schemas.microsoft.com/office/drawing/2014/main" id="{4B30CAE0-AA7B-CA97-F903-9A68D1DCDED5}"/>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3" name="&quot;Not Allowed&quot; Symbol 162">
            <a:extLst>
              <a:ext uri="{FF2B5EF4-FFF2-40B4-BE49-F238E27FC236}">
                <a16:creationId xmlns:a16="http://schemas.microsoft.com/office/drawing/2014/main" id="{F689AFBD-12EA-D029-EBAF-08B7CA5798C0}"/>
              </a:ext>
            </a:extLst>
          </p:cNvPr>
          <p:cNvSpPr/>
          <p:nvPr/>
        </p:nvSpPr>
        <p:spPr>
          <a:xfrm>
            <a:off x="6190640" y="3510810"/>
            <a:ext cx="655200" cy="567958"/>
          </a:xfrm>
          <a:prstGeom prst="noSmoking">
            <a:avLst>
              <a:gd name="adj" fmla="val 5333"/>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quot;Not Allowed&quot; Symbol 163">
            <a:extLst>
              <a:ext uri="{FF2B5EF4-FFF2-40B4-BE49-F238E27FC236}">
                <a16:creationId xmlns:a16="http://schemas.microsoft.com/office/drawing/2014/main" id="{99CBC776-31E5-78FD-083C-2ADD51E78BEB}"/>
              </a:ext>
            </a:extLst>
          </p:cNvPr>
          <p:cNvSpPr/>
          <p:nvPr/>
        </p:nvSpPr>
        <p:spPr>
          <a:xfrm>
            <a:off x="4522980" y="3520571"/>
            <a:ext cx="655200" cy="567958"/>
          </a:xfrm>
          <a:prstGeom prst="noSmoking">
            <a:avLst>
              <a:gd name="adj" fmla="val 5333"/>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5" name="&quot;Not Allowed&quot; Symbol 164">
            <a:extLst>
              <a:ext uri="{FF2B5EF4-FFF2-40B4-BE49-F238E27FC236}">
                <a16:creationId xmlns:a16="http://schemas.microsoft.com/office/drawing/2014/main" id="{268BB78C-7099-B99C-047E-7B121B752C06}"/>
              </a:ext>
            </a:extLst>
          </p:cNvPr>
          <p:cNvSpPr/>
          <p:nvPr/>
        </p:nvSpPr>
        <p:spPr>
          <a:xfrm>
            <a:off x="3109585" y="3495749"/>
            <a:ext cx="655200" cy="567958"/>
          </a:xfrm>
          <a:prstGeom prst="noSmoking">
            <a:avLst>
              <a:gd name="adj" fmla="val 5333"/>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327468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Rectangle 33">
            <a:extLst>
              <a:ext uri="{FF2B5EF4-FFF2-40B4-BE49-F238E27FC236}">
                <a16:creationId xmlns:a16="http://schemas.microsoft.com/office/drawing/2014/main" id="{5A302C04-F5C3-3889-3CF0-05A8CC4D3880}"/>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Scheduling Changes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121</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7332532" y="51112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5" name="&quot;Not Allowed&quot; Symbol 154">
            <a:extLst>
              <a:ext uri="{FF2B5EF4-FFF2-40B4-BE49-F238E27FC236}">
                <a16:creationId xmlns:a16="http://schemas.microsoft.com/office/drawing/2014/main" id="{A799337D-96A9-3F79-4C2A-D363FFE1105D}"/>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0" name="&quot;Not Allowed&quot; Symbol 159">
            <a:extLst>
              <a:ext uri="{FF2B5EF4-FFF2-40B4-BE49-F238E27FC236}">
                <a16:creationId xmlns:a16="http://schemas.microsoft.com/office/drawing/2014/main" id="{8CFCFB08-33E3-47AD-A579-A58D3C286EC7}"/>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1" name="&quot;Not Allowed&quot; Symbol 160">
            <a:extLst>
              <a:ext uri="{FF2B5EF4-FFF2-40B4-BE49-F238E27FC236}">
                <a16:creationId xmlns:a16="http://schemas.microsoft.com/office/drawing/2014/main" id="{6E87FBDD-E850-8A16-9152-BB11810C4197}"/>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2" name="&quot;Not Allowed&quot; Symbol 161">
            <a:extLst>
              <a:ext uri="{FF2B5EF4-FFF2-40B4-BE49-F238E27FC236}">
                <a16:creationId xmlns:a16="http://schemas.microsoft.com/office/drawing/2014/main" id="{D5FB6E49-AC25-4946-DDC2-5E2840E7D166}"/>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3" name="&quot;Not Allowed&quot; Symbol 162">
            <a:extLst>
              <a:ext uri="{FF2B5EF4-FFF2-40B4-BE49-F238E27FC236}">
                <a16:creationId xmlns:a16="http://schemas.microsoft.com/office/drawing/2014/main" id="{CBE6D1CE-2583-98D3-0386-2983A973C337}"/>
              </a:ext>
            </a:extLst>
          </p:cNvPr>
          <p:cNvSpPr/>
          <p:nvPr/>
        </p:nvSpPr>
        <p:spPr>
          <a:xfrm>
            <a:off x="6190640" y="351081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quot;Not Allowed&quot; Symbol 163">
            <a:extLst>
              <a:ext uri="{FF2B5EF4-FFF2-40B4-BE49-F238E27FC236}">
                <a16:creationId xmlns:a16="http://schemas.microsoft.com/office/drawing/2014/main" id="{EEA836B8-5CB9-1FA0-C0D3-64D3096DAB7F}"/>
              </a:ext>
            </a:extLst>
          </p:cNvPr>
          <p:cNvSpPr/>
          <p:nvPr/>
        </p:nvSpPr>
        <p:spPr>
          <a:xfrm>
            <a:off x="4522980" y="3520571"/>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5" name="&quot;Not Allowed&quot; Symbol 164">
            <a:extLst>
              <a:ext uri="{FF2B5EF4-FFF2-40B4-BE49-F238E27FC236}">
                <a16:creationId xmlns:a16="http://schemas.microsoft.com/office/drawing/2014/main" id="{FEEF9AD5-B390-C351-03A8-E6113E3FC1E2}"/>
              </a:ext>
            </a:extLst>
          </p:cNvPr>
          <p:cNvSpPr/>
          <p:nvPr/>
        </p:nvSpPr>
        <p:spPr>
          <a:xfrm>
            <a:off x="3109585" y="3495749"/>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375944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 (continued)</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122</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 improvements in machine uptime need to be addressed?</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need quality (first time yield) improvements?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information flow improvements are required?</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manpower improvement opportunities?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changes to scheduling need to be implemented?</a:t>
            </a:r>
          </a:p>
        </p:txBody>
      </p:sp>
    </p:spTree>
    <p:extLst>
      <p:ext uri="{BB962C8B-B14F-4D97-AF65-F5344CB8AC3E}">
        <p14:creationId xmlns:p14="http://schemas.microsoft.com/office/powerpoint/2010/main" val="4059707947"/>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Other Information Flow Improvements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123</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1433199" y="2001559"/>
            <a:ext cx="1411940" cy="1036671"/>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tx1"/>
                </a:solidFill>
                <a:latin typeface="Comic Sans MS" panose="030F0702030302020204" pitchFamily="66" charset="0"/>
              </a:rPr>
              <a:t>Weekly Fax</a:t>
            </a:r>
          </a:p>
        </p:txBody>
      </p:sp>
      <p:sp>
        <p:nvSpPr>
          <p:cNvPr id="155" name="AutoShape 56">
            <a:extLst>
              <a:ext uri="{FF2B5EF4-FFF2-40B4-BE49-F238E27FC236}">
                <a16:creationId xmlns:a16="http://schemas.microsoft.com/office/drawing/2014/main" id="{3AB7578C-CC64-C2F3-17B7-FCE8B3B0A7F5}"/>
              </a:ext>
            </a:extLst>
          </p:cNvPr>
          <p:cNvSpPr>
            <a:spLocks noChangeArrowheads="1"/>
          </p:cNvSpPr>
          <p:nvPr/>
        </p:nvSpPr>
        <p:spPr bwMode="auto">
          <a:xfrm>
            <a:off x="7484932" y="52636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6" name="&quot;Not Allowed&quot; Symbol 155">
            <a:extLst>
              <a:ext uri="{FF2B5EF4-FFF2-40B4-BE49-F238E27FC236}">
                <a16:creationId xmlns:a16="http://schemas.microsoft.com/office/drawing/2014/main" id="{CC8B01DD-9871-6885-03BA-3580EFC11FE0}"/>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1" name="&quot;Not Allowed&quot; Symbol 160">
            <a:extLst>
              <a:ext uri="{FF2B5EF4-FFF2-40B4-BE49-F238E27FC236}">
                <a16:creationId xmlns:a16="http://schemas.microsoft.com/office/drawing/2014/main" id="{024B548F-1C5C-FE79-6D30-159D39D33068}"/>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2" name="&quot;Not Allowed&quot; Symbol 161">
            <a:extLst>
              <a:ext uri="{FF2B5EF4-FFF2-40B4-BE49-F238E27FC236}">
                <a16:creationId xmlns:a16="http://schemas.microsoft.com/office/drawing/2014/main" id="{4B9BFFC1-1FFD-1144-8F90-DC6422535402}"/>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3" name="&quot;Not Allowed&quot; Symbol 162">
            <a:extLst>
              <a:ext uri="{FF2B5EF4-FFF2-40B4-BE49-F238E27FC236}">
                <a16:creationId xmlns:a16="http://schemas.microsoft.com/office/drawing/2014/main" id="{EA587507-C810-686A-BBDB-EA772A980252}"/>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quot;Not Allowed&quot; Symbol 163">
            <a:extLst>
              <a:ext uri="{FF2B5EF4-FFF2-40B4-BE49-F238E27FC236}">
                <a16:creationId xmlns:a16="http://schemas.microsoft.com/office/drawing/2014/main" id="{5E75FCFE-6786-5C51-2BC1-761443CD3CF6}"/>
              </a:ext>
            </a:extLst>
          </p:cNvPr>
          <p:cNvSpPr/>
          <p:nvPr/>
        </p:nvSpPr>
        <p:spPr>
          <a:xfrm>
            <a:off x="6190640" y="351081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5" name="&quot;Not Allowed&quot; Symbol 164">
            <a:extLst>
              <a:ext uri="{FF2B5EF4-FFF2-40B4-BE49-F238E27FC236}">
                <a16:creationId xmlns:a16="http://schemas.microsoft.com/office/drawing/2014/main" id="{D09EDD96-140D-AE9C-4BAE-6797C51CDCB8}"/>
              </a:ext>
            </a:extLst>
          </p:cNvPr>
          <p:cNvSpPr/>
          <p:nvPr/>
        </p:nvSpPr>
        <p:spPr>
          <a:xfrm>
            <a:off x="4522980" y="3520571"/>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6" name="&quot;Not Allowed&quot; Symbol 165">
            <a:extLst>
              <a:ext uri="{FF2B5EF4-FFF2-40B4-BE49-F238E27FC236}">
                <a16:creationId xmlns:a16="http://schemas.microsoft.com/office/drawing/2014/main" id="{8E8D6FFC-F060-B5D2-5048-2D88630EDF18}"/>
              </a:ext>
            </a:extLst>
          </p:cNvPr>
          <p:cNvSpPr/>
          <p:nvPr/>
        </p:nvSpPr>
        <p:spPr>
          <a:xfrm>
            <a:off x="3109585" y="3495749"/>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0" name="Rectangle 207">
            <a:extLst>
              <a:ext uri="{FF2B5EF4-FFF2-40B4-BE49-F238E27FC236}">
                <a16:creationId xmlns:a16="http://schemas.microsoft.com/office/drawing/2014/main" id="{6113562E-1CBF-7017-3EC5-EB4E08995C3A}"/>
              </a:ext>
            </a:extLst>
          </p:cNvPr>
          <p:cNvSpPr>
            <a:spLocks noChangeArrowheads="1"/>
          </p:cNvSpPr>
          <p:nvPr/>
        </p:nvSpPr>
        <p:spPr bwMode="auto">
          <a:xfrm>
            <a:off x="2383930" y="3559793"/>
            <a:ext cx="5867400" cy="838200"/>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Assuming no change to supplier deliver frequency,</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weekly schedules can be faxed to the supplier to deliver</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just enough material to replenish the supermarket</a:t>
            </a:r>
          </a:p>
        </p:txBody>
      </p:sp>
    </p:spTree>
    <p:extLst>
      <p:ext uri="{BB962C8B-B14F-4D97-AF65-F5344CB8AC3E}">
        <p14:creationId xmlns:p14="http://schemas.microsoft.com/office/powerpoint/2010/main" val="1571117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Other Information Flow Improvements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124</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1433199" y="2001559"/>
            <a:ext cx="1411940" cy="1036671"/>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tx1"/>
                </a:solidFill>
                <a:latin typeface="Comic Sans MS" panose="030F0702030302020204" pitchFamily="66" charset="0"/>
              </a:rPr>
              <a:t>Weekly Fax</a:t>
            </a:r>
          </a:p>
        </p:txBody>
      </p:sp>
      <p:sp>
        <p:nvSpPr>
          <p:cNvPr id="155" name="AutoShape 56">
            <a:extLst>
              <a:ext uri="{FF2B5EF4-FFF2-40B4-BE49-F238E27FC236}">
                <a16:creationId xmlns:a16="http://schemas.microsoft.com/office/drawing/2014/main" id="{3AB7578C-CC64-C2F3-17B7-FCE8B3B0A7F5}"/>
              </a:ext>
            </a:extLst>
          </p:cNvPr>
          <p:cNvSpPr>
            <a:spLocks noChangeArrowheads="1"/>
          </p:cNvSpPr>
          <p:nvPr/>
        </p:nvSpPr>
        <p:spPr bwMode="auto">
          <a:xfrm>
            <a:off x="7484932" y="52636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6" name="AutoShape 56">
            <a:extLst>
              <a:ext uri="{FF2B5EF4-FFF2-40B4-BE49-F238E27FC236}">
                <a16:creationId xmlns:a16="http://schemas.microsoft.com/office/drawing/2014/main" id="{3B0ADB2D-FF55-25DA-B94D-E509292726ED}"/>
              </a:ext>
            </a:extLst>
          </p:cNvPr>
          <p:cNvSpPr>
            <a:spLocks noChangeArrowheads="1"/>
          </p:cNvSpPr>
          <p:nvPr/>
        </p:nvSpPr>
        <p:spPr bwMode="auto">
          <a:xfrm>
            <a:off x="7403462" y="1639669"/>
            <a:ext cx="1525237" cy="1036671"/>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tx1"/>
                </a:solidFill>
                <a:latin typeface="Comic Sans MS" panose="030F0702030302020204" pitchFamily="66" charset="0"/>
              </a:rPr>
              <a:t>30/60/90 Forecast</a:t>
            </a:r>
          </a:p>
        </p:txBody>
      </p:sp>
      <p:sp>
        <p:nvSpPr>
          <p:cNvPr id="161" name="&quot;Not Allowed&quot; Symbol 160">
            <a:extLst>
              <a:ext uri="{FF2B5EF4-FFF2-40B4-BE49-F238E27FC236}">
                <a16:creationId xmlns:a16="http://schemas.microsoft.com/office/drawing/2014/main" id="{BE74514C-061F-0196-ABE1-3C39D49954E5}"/>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2" name="&quot;Not Allowed&quot; Symbol 161">
            <a:extLst>
              <a:ext uri="{FF2B5EF4-FFF2-40B4-BE49-F238E27FC236}">
                <a16:creationId xmlns:a16="http://schemas.microsoft.com/office/drawing/2014/main" id="{57BE06CF-EA13-4516-69E1-4914AFBF5492}"/>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3" name="&quot;Not Allowed&quot; Symbol 162">
            <a:extLst>
              <a:ext uri="{FF2B5EF4-FFF2-40B4-BE49-F238E27FC236}">
                <a16:creationId xmlns:a16="http://schemas.microsoft.com/office/drawing/2014/main" id="{579DF1D0-1473-C409-BE50-01FB640E0927}"/>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quot;Not Allowed&quot; Symbol 163">
            <a:extLst>
              <a:ext uri="{FF2B5EF4-FFF2-40B4-BE49-F238E27FC236}">
                <a16:creationId xmlns:a16="http://schemas.microsoft.com/office/drawing/2014/main" id="{5C1F0B37-3A2F-1E78-6A4A-CB574C81BA02}"/>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5" name="&quot;Not Allowed&quot; Symbol 164">
            <a:extLst>
              <a:ext uri="{FF2B5EF4-FFF2-40B4-BE49-F238E27FC236}">
                <a16:creationId xmlns:a16="http://schemas.microsoft.com/office/drawing/2014/main" id="{E5AE5EA3-3C41-4201-BF1A-C81517234335}"/>
              </a:ext>
            </a:extLst>
          </p:cNvPr>
          <p:cNvSpPr/>
          <p:nvPr/>
        </p:nvSpPr>
        <p:spPr>
          <a:xfrm>
            <a:off x="6190640" y="351081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6" name="&quot;Not Allowed&quot; Symbol 165">
            <a:extLst>
              <a:ext uri="{FF2B5EF4-FFF2-40B4-BE49-F238E27FC236}">
                <a16:creationId xmlns:a16="http://schemas.microsoft.com/office/drawing/2014/main" id="{8CE07EA9-AB0E-D3C4-881C-265E93110AA4}"/>
              </a:ext>
            </a:extLst>
          </p:cNvPr>
          <p:cNvSpPr/>
          <p:nvPr/>
        </p:nvSpPr>
        <p:spPr>
          <a:xfrm>
            <a:off x="4522980" y="3520571"/>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7" name="&quot;Not Allowed&quot; Symbol 166">
            <a:extLst>
              <a:ext uri="{FF2B5EF4-FFF2-40B4-BE49-F238E27FC236}">
                <a16:creationId xmlns:a16="http://schemas.microsoft.com/office/drawing/2014/main" id="{DA605B24-3F50-730A-FE2D-850995FE4CD0}"/>
              </a:ext>
            </a:extLst>
          </p:cNvPr>
          <p:cNvSpPr/>
          <p:nvPr/>
        </p:nvSpPr>
        <p:spPr>
          <a:xfrm>
            <a:off x="3109585" y="3495749"/>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0" name="Rectangle 207">
            <a:extLst>
              <a:ext uri="{FF2B5EF4-FFF2-40B4-BE49-F238E27FC236}">
                <a16:creationId xmlns:a16="http://schemas.microsoft.com/office/drawing/2014/main" id="{6113562E-1CBF-7017-3EC5-EB4E08995C3A}"/>
              </a:ext>
            </a:extLst>
          </p:cNvPr>
          <p:cNvSpPr>
            <a:spLocks noChangeArrowheads="1"/>
          </p:cNvSpPr>
          <p:nvPr/>
        </p:nvSpPr>
        <p:spPr bwMode="auto">
          <a:xfrm>
            <a:off x="2656726" y="2875784"/>
            <a:ext cx="5867400" cy="1950099"/>
          </a:xfrm>
          <a:prstGeom prst="rect">
            <a:avLst/>
          </a:prstGeom>
          <a:solidFill>
            <a:schemeClr val="bg2"/>
          </a:solidFill>
          <a:ln w="12700" cap="sq">
            <a:solidFill>
              <a:schemeClr val="tx1"/>
            </a:solidFill>
            <a:miter lim="800000"/>
            <a:headEnd type="none" w="sm" len="sm"/>
            <a:tailEnd type="none" w="sm" len="sm"/>
          </a:ln>
        </p:spPr>
        <p:txBody>
          <a:bodyPr wrap="none"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If Ed’s Electrical Supply could provide a 30/60/90 day</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forecast in addition to daily orders, the planning of</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materials and capacity would be better served, especially</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where demand fluctuates over time</a:t>
            </a:r>
          </a:p>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A reliable customer-driven forecast would enable lower</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supermarket inventories and assure a 100% fill rate </a:t>
            </a:r>
            <a:br>
              <a:rPr lang="en-US" altLang="en-US" sz="1600" dirty="0">
                <a:solidFill>
                  <a:schemeClr val="tx1"/>
                </a:solidFill>
                <a:latin typeface="Roboto" panose="02000000000000000000" pitchFamily="2" charset="0"/>
                <a:ea typeface="Roboto" panose="02000000000000000000" pitchFamily="2" charset="0"/>
              </a:rPr>
            </a:br>
            <a:r>
              <a:rPr lang="en-US" altLang="en-US" sz="1600" dirty="0">
                <a:solidFill>
                  <a:schemeClr val="tx1"/>
                </a:solidFill>
                <a:latin typeface="Roboto" panose="02000000000000000000" pitchFamily="2" charset="0"/>
                <a:ea typeface="Roboto" panose="02000000000000000000" pitchFamily="2" charset="0"/>
              </a:rPr>
              <a:t>for daily orders</a:t>
            </a:r>
          </a:p>
        </p:txBody>
      </p:sp>
    </p:spTree>
    <p:extLst>
      <p:ext uri="{BB962C8B-B14F-4D97-AF65-F5344CB8AC3E}">
        <p14:creationId xmlns:p14="http://schemas.microsoft.com/office/powerpoint/2010/main" val="655354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Other Information Flow Improvements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125</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1433199" y="2001559"/>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Weekly Fax</a:t>
            </a:r>
          </a:p>
        </p:txBody>
      </p:sp>
      <p:sp>
        <p:nvSpPr>
          <p:cNvPr id="155" name="AutoShape 56">
            <a:extLst>
              <a:ext uri="{FF2B5EF4-FFF2-40B4-BE49-F238E27FC236}">
                <a16:creationId xmlns:a16="http://schemas.microsoft.com/office/drawing/2014/main" id="{3AB7578C-CC64-C2F3-17B7-FCE8B3B0A7F5}"/>
              </a:ext>
            </a:extLst>
          </p:cNvPr>
          <p:cNvSpPr>
            <a:spLocks noChangeArrowheads="1"/>
          </p:cNvSpPr>
          <p:nvPr/>
        </p:nvSpPr>
        <p:spPr bwMode="auto">
          <a:xfrm>
            <a:off x="7484932" y="52636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6" name="AutoShape 56">
            <a:extLst>
              <a:ext uri="{FF2B5EF4-FFF2-40B4-BE49-F238E27FC236}">
                <a16:creationId xmlns:a16="http://schemas.microsoft.com/office/drawing/2014/main" id="{3B0ADB2D-FF55-25DA-B94D-E509292726ED}"/>
              </a:ext>
            </a:extLst>
          </p:cNvPr>
          <p:cNvSpPr>
            <a:spLocks noChangeArrowheads="1"/>
          </p:cNvSpPr>
          <p:nvPr/>
        </p:nvSpPr>
        <p:spPr bwMode="auto">
          <a:xfrm>
            <a:off x="7163397" y="1833775"/>
            <a:ext cx="1525237"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30/60/90 Forecast</a:t>
            </a:r>
          </a:p>
        </p:txBody>
      </p:sp>
      <p:sp>
        <p:nvSpPr>
          <p:cNvPr id="160" name="&quot;Not Allowed&quot; Symbol 159">
            <a:extLst>
              <a:ext uri="{FF2B5EF4-FFF2-40B4-BE49-F238E27FC236}">
                <a16:creationId xmlns:a16="http://schemas.microsoft.com/office/drawing/2014/main" id="{D96FCB07-49F4-6F7E-8F1F-73D11E27AEB6}"/>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2" name="&quot;Not Allowed&quot; Symbol 161">
            <a:extLst>
              <a:ext uri="{FF2B5EF4-FFF2-40B4-BE49-F238E27FC236}">
                <a16:creationId xmlns:a16="http://schemas.microsoft.com/office/drawing/2014/main" id="{5B2A0F52-990B-E2DA-0323-52A1404421F9}"/>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3" name="&quot;Not Allowed&quot; Symbol 162">
            <a:extLst>
              <a:ext uri="{FF2B5EF4-FFF2-40B4-BE49-F238E27FC236}">
                <a16:creationId xmlns:a16="http://schemas.microsoft.com/office/drawing/2014/main" id="{6E306A0D-7377-94B3-B9E6-2670C3C21E78}"/>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quot;Not Allowed&quot; Symbol 163">
            <a:extLst>
              <a:ext uri="{FF2B5EF4-FFF2-40B4-BE49-F238E27FC236}">
                <a16:creationId xmlns:a16="http://schemas.microsoft.com/office/drawing/2014/main" id="{8F624677-F683-4678-020D-0288B2B83953}"/>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5" name="&quot;Not Allowed&quot; Symbol 164">
            <a:extLst>
              <a:ext uri="{FF2B5EF4-FFF2-40B4-BE49-F238E27FC236}">
                <a16:creationId xmlns:a16="http://schemas.microsoft.com/office/drawing/2014/main" id="{D73F5218-2C9B-55A8-7E12-7AD264296797}"/>
              </a:ext>
            </a:extLst>
          </p:cNvPr>
          <p:cNvSpPr/>
          <p:nvPr/>
        </p:nvSpPr>
        <p:spPr>
          <a:xfrm>
            <a:off x="6190640" y="351081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6" name="&quot;Not Allowed&quot; Symbol 165">
            <a:extLst>
              <a:ext uri="{FF2B5EF4-FFF2-40B4-BE49-F238E27FC236}">
                <a16:creationId xmlns:a16="http://schemas.microsoft.com/office/drawing/2014/main" id="{0175CC3E-1DEB-6E52-E42A-29F27A077A97}"/>
              </a:ext>
            </a:extLst>
          </p:cNvPr>
          <p:cNvSpPr/>
          <p:nvPr/>
        </p:nvSpPr>
        <p:spPr>
          <a:xfrm>
            <a:off x="4522980" y="3520571"/>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7" name="&quot;Not Allowed&quot; Symbol 166">
            <a:extLst>
              <a:ext uri="{FF2B5EF4-FFF2-40B4-BE49-F238E27FC236}">
                <a16:creationId xmlns:a16="http://schemas.microsoft.com/office/drawing/2014/main" id="{8F8599E0-BE8A-62E1-F46C-995711178312}"/>
              </a:ext>
            </a:extLst>
          </p:cNvPr>
          <p:cNvSpPr/>
          <p:nvPr/>
        </p:nvSpPr>
        <p:spPr>
          <a:xfrm>
            <a:off x="3109585" y="3495749"/>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204050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 (continued)</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6" y="174240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do improvements in machine uptime need to be addressed?</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2" y="2908165"/>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need quality (first time yield) improvements?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2" y="4073920"/>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information flow improvements are required?</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2" y="4656802"/>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6493" y="232451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manpower improvement opportunities?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2" y="349104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0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changes to scheduling need to be implemented?</a:t>
            </a:r>
          </a:p>
        </p:txBody>
      </p:sp>
    </p:spTree>
    <p:extLst>
      <p:ext uri="{BB962C8B-B14F-4D97-AF65-F5344CB8AC3E}">
        <p14:creationId xmlns:p14="http://schemas.microsoft.com/office/powerpoint/2010/main" val="621758003"/>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Completed Marked-Up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127</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grpSp>
        <p:nvGrpSpPr>
          <p:cNvPr id="114" name="Group 113">
            <a:extLst>
              <a:ext uri="{FF2B5EF4-FFF2-40B4-BE49-F238E27FC236}">
                <a16:creationId xmlns:a16="http://schemas.microsoft.com/office/drawing/2014/main" id="{0CEC3750-FEA6-AD3E-D9BA-6B3BF129B226}"/>
              </a:ext>
            </a:extLst>
          </p:cNvPr>
          <p:cNvGrpSpPr/>
          <p:nvPr/>
        </p:nvGrpSpPr>
        <p:grpSpPr>
          <a:xfrm>
            <a:off x="838200" y="297639"/>
            <a:ext cx="5391150" cy="307138"/>
            <a:chOff x="838200" y="297639"/>
            <a:chExt cx="5391150" cy="307138"/>
          </a:xfrm>
        </p:grpSpPr>
        <p:grpSp>
          <p:nvGrpSpPr>
            <p:cNvPr id="115" name="Group 114">
              <a:extLst>
                <a:ext uri="{FF2B5EF4-FFF2-40B4-BE49-F238E27FC236}">
                  <a16:creationId xmlns:a16="http://schemas.microsoft.com/office/drawing/2014/main" id="{3277EDF8-7E26-E29B-3BF1-F7FB8BAFE1C6}"/>
                </a:ext>
              </a:extLst>
            </p:cNvPr>
            <p:cNvGrpSpPr/>
            <p:nvPr/>
          </p:nvGrpSpPr>
          <p:grpSpPr>
            <a:xfrm>
              <a:off x="838200" y="297639"/>
              <a:ext cx="1687517" cy="290657"/>
              <a:chOff x="838200" y="297639"/>
              <a:chExt cx="1687517" cy="290657"/>
            </a:xfrm>
          </p:grpSpPr>
          <p:sp>
            <p:nvSpPr>
              <p:cNvPr id="119" name="AutoShape 9">
                <a:extLst>
                  <a:ext uri="{FF2B5EF4-FFF2-40B4-BE49-F238E27FC236}">
                    <a16:creationId xmlns:a16="http://schemas.microsoft.com/office/drawing/2014/main" id="{464446FA-9FF8-35C8-DBED-5397F1B59E5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0" name="AutoShape 9">
                <a:extLst>
                  <a:ext uri="{FF2B5EF4-FFF2-40B4-BE49-F238E27FC236}">
                    <a16:creationId xmlns:a16="http://schemas.microsoft.com/office/drawing/2014/main" id="{75179683-3C56-DA87-203C-3B6C969A11D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22" name="Group 121">
                <a:extLst>
                  <a:ext uri="{FF2B5EF4-FFF2-40B4-BE49-F238E27FC236}">
                    <a16:creationId xmlns:a16="http://schemas.microsoft.com/office/drawing/2014/main" id="{843D2F3C-16C1-F465-025F-EFBF3756C014}"/>
                  </a:ext>
                </a:extLst>
              </p:cNvPr>
              <p:cNvGrpSpPr/>
              <p:nvPr/>
            </p:nvGrpSpPr>
            <p:grpSpPr>
              <a:xfrm>
                <a:off x="838200" y="297639"/>
                <a:ext cx="1060167" cy="290657"/>
                <a:chOff x="826426" y="4041857"/>
                <a:chExt cx="1060167" cy="290657"/>
              </a:xfrm>
            </p:grpSpPr>
            <p:sp>
              <p:nvSpPr>
                <p:cNvPr id="128" name="AutoShape 9">
                  <a:extLst>
                    <a:ext uri="{FF2B5EF4-FFF2-40B4-BE49-F238E27FC236}">
                      <a16:creationId xmlns:a16="http://schemas.microsoft.com/office/drawing/2014/main" id="{02E06C0A-84E5-97DB-B2E6-1869F6A89C62}"/>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7" name="AutoShape 11">
                  <a:extLst>
                    <a:ext uri="{FF2B5EF4-FFF2-40B4-BE49-F238E27FC236}">
                      <a16:creationId xmlns:a16="http://schemas.microsoft.com/office/drawing/2014/main" id="{6AE36EC8-DA37-A5B0-0604-1886212FD1E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8" name="AutoShape 10">
                  <a:extLst>
                    <a:ext uri="{FF2B5EF4-FFF2-40B4-BE49-F238E27FC236}">
                      <a16:creationId xmlns:a16="http://schemas.microsoft.com/office/drawing/2014/main" id="{66E1AF42-E950-F2E3-614F-4552ED67C74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16" name="TextBox 115">
              <a:extLst>
                <a:ext uri="{FF2B5EF4-FFF2-40B4-BE49-F238E27FC236}">
                  <a16:creationId xmlns:a16="http://schemas.microsoft.com/office/drawing/2014/main" id="{5A4CED3A-8899-3ED0-08ED-C43C725003D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1433199" y="2001559"/>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Weekly Fax</a:t>
            </a:r>
          </a:p>
        </p:txBody>
      </p:sp>
      <p:sp>
        <p:nvSpPr>
          <p:cNvPr id="155" name="AutoShape 56">
            <a:extLst>
              <a:ext uri="{FF2B5EF4-FFF2-40B4-BE49-F238E27FC236}">
                <a16:creationId xmlns:a16="http://schemas.microsoft.com/office/drawing/2014/main" id="{3AB7578C-CC64-C2F3-17B7-FCE8B3B0A7F5}"/>
              </a:ext>
            </a:extLst>
          </p:cNvPr>
          <p:cNvSpPr>
            <a:spLocks noChangeArrowheads="1"/>
          </p:cNvSpPr>
          <p:nvPr/>
        </p:nvSpPr>
        <p:spPr bwMode="auto">
          <a:xfrm>
            <a:off x="7484932" y="52636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6" name="AutoShape 56">
            <a:extLst>
              <a:ext uri="{FF2B5EF4-FFF2-40B4-BE49-F238E27FC236}">
                <a16:creationId xmlns:a16="http://schemas.microsoft.com/office/drawing/2014/main" id="{3B0ADB2D-FF55-25DA-B94D-E509292726ED}"/>
              </a:ext>
            </a:extLst>
          </p:cNvPr>
          <p:cNvSpPr>
            <a:spLocks noChangeArrowheads="1"/>
          </p:cNvSpPr>
          <p:nvPr/>
        </p:nvSpPr>
        <p:spPr bwMode="auto">
          <a:xfrm>
            <a:off x="7163397" y="1833775"/>
            <a:ext cx="1525237"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30/60/90 Forecast</a:t>
            </a:r>
          </a:p>
        </p:txBody>
      </p:sp>
      <p:sp>
        <p:nvSpPr>
          <p:cNvPr id="160" name="&quot;Not Allowed&quot; Symbol 159">
            <a:extLst>
              <a:ext uri="{FF2B5EF4-FFF2-40B4-BE49-F238E27FC236}">
                <a16:creationId xmlns:a16="http://schemas.microsoft.com/office/drawing/2014/main" id="{41F58C48-C5F3-B998-8D0C-C51A083DB13E}"/>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2" name="&quot;Not Allowed&quot; Symbol 161">
            <a:extLst>
              <a:ext uri="{FF2B5EF4-FFF2-40B4-BE49-F238E27FC236}">
                <a16:creationId xmlns:a16="http://schemas.microsoft.com/office/drawing/2014/main" id="{01166DF6-CAD5-B92C-DC06-8B2A0AC219FB}"/>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3" name="&quot;Not Allowed&quot; Symbol 162">
            <a:extLst>
              <a:ext uri="{FF2B5EF4-FFF2-40B4-BE49-F238E27FC236}">
                <a16:creationId xmlns:a16="http://schemas.microsoft.com/office/drawing/2014/main" id="{530E1639-D136-0549-CE85-769BB02E2BA3}"/>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quot;Not Allowed&quot; Symbol 163">
            <a:extLst>
              <a:ext uri="{FF2B5EF4-FFF2-40B4-BE49-F238E27FC236}">
                <a16:creationId xmlns:a16="http://schemas.microsoft.com/office/drawing/2014/main" id="{92CD806B-2B1B-800D-ADE9-37056ED17939}"/>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5" name="&quot;Not Allowed&quot; Symbol 164">
            <a:extLst>
              <a:ext uri="{FF2B5EF4-FFF2-40B4-BE49-F238E27FC236}">
                <a16:creationId xmlns:a16="http://schemas.microsoft.com/office/drawing/2014/main" id="{F092A5A7-C496-4C69-018F-2ADA6450262D}"/>
              </a:ext>
            </a:extLst>
          </p:cNvPr>
          <p:cNvSpPr/>
          <p:nvPr/>
        </p:nvSpPr>
        <p:spPr>
          <a:xfrm>
            <a:off x="6190640" y="351081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6" name="&quot;Not Allowed&quot; Symbol 165">
            <a:extLst>
              <a:ext uri="{FF2B5EF4-FFF2-40B4-BE49-F238E27FC236}">
                <a16:creationId xmlns:a16="http://schemas.microsoft.com/office/drawing/2014/main" id="{8B5D1E8C-79DA-57B6-520D-BA56CCE006D2}"/>
              </a:ext>
            </a:extLst>
          </p:cNvPr>
          <p:cNvSpPr/>
          <p:nvPr/>
        </p:nvSpPr>
        <p:spPr>
          <a:xfrm>
            <a:off x="4522980" y="3520571"/>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7" name="&quot;Not Allowed&quot; Symbol 166">
            <a:extLst>
              <a:ext uri="{FF2B5EF4-FFF2-40B4-BE49-F238E27FC236}">
                <a16:creationId xmlns:a16="http://schemas.microsoft.com/office/drawing/2014/main" id="{B00D1D94-8154-7D0E-89CD-073F659A7B81}"/>
              </a:ext>
            </a:extLst>
          </p:cNvPr>
          <p:cNvSpPr/>
          <p:nvPr/>
        </p:nvSpPr>
        <p:spPr>
          <a:xfrm>
            <a:off x="3109585" y="3495749"/>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447313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Exercise</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128</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59748"/>
            <a:ext cx="972234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Create a marked-up Current State Map for </a:t>
            </a:r>
            <a:r>
              <a:rPr kumimoji="0" lang="en-US" sz="2400" b="0" i="0" u="none" strike="noStrike" cap="none" spc="0" normalizeH="0" baseline="0" dirty="0" err="1">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Rusty’s</a:t>
            </a:r>
            <a:r>
              <a:rPr kumimoji="0" lang="en-US" sz="2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 Wrench.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690936"/>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In teams, mark-up your Current State Map using </a:t>
            </a:r>
            <a:r>
              <a:rPr kumimoji="0" lang="en-US" sz="2400" b="0" i="0" u="none" strike="noStrike" cap="none" spc="0" normalizeH="0" baseline="0" dirty="0">
                <a:ln>
                  <a:noFill/>
                </a:ln>
                <a:solidFill>
                  <a:schemeClr val="accent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RED</a:t>
            </a:r>
            <a:r>
              <a:rPr kumimoji="0" lang="en-US" sz="2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 marker. Use the questions provided in sequence in this chapter as your guide.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15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13368"/>
            <a:ext cx="4681292" cy="157992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One person from the team will present the map to the class. </a:t>
            </a:r>
          </a:p>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Comments and feedback will be encouraged.</a:t>
            </a:r>
          </a:p>
        </p:txBody>
      </p:sp>
      <p:grpSp>
        <p:nvGrpSpPr>
          <p:cNvPr id="3" name="Group 2">
            <a:extLst>
              <a:ext uri="{FF2B5EF4-FFF2-40B4-BE49-F238E27FC236}">
                <a16:creationId xmlns:a16="http://schemas.microsoft.com/office/drawing/2014/main" id="{2CD421F5-5D79-E9A3-AFBD-DCCA00543D52}"/>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A46C68E5-2E82-39DA-5A04-B7DD57946906}"/>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DC2BFA15-6081-B826-580D-2A3123F02E7C}"/>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2A36847-244E-35C6-DCB4-B0DD025B12F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F65C2025-623A-2C4F-DAAF-FB2135FC1BB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3061584D-7B4A-D0DA-E063-64CD7FA2A294}"/>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8059099F-C517-65F7-1955-14B0DAB4F4C2}"/>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DA2DBABA-062A-17B5-E739-75096C5EB48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56AA2026-A881-0112-2A00-12CECC7087B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69705289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Your Turn – Mark Up Current State Map for Business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20000"/>
          </a:bodyPr>
          <a:lstStyle/>
          <a:p>
            <a:r>
              <a:rPr lang="en-US" dirty="0"/>
              <a:t>Return to common area to jointly mark-up the Master Current State Map</a:t>
            </a:r>
          </a:p>
          <a:p>
            <a:r>
              <a:rPr lang="en-US" dirty="0"/>
              <a:t>Use the guidelines and method you just learned</a:t>
            </a:r>
          </a:p>
          <a:p>
            <a:r>
              <a:rPr lang="en-US" dirty="0"/>
              <a:t>Discuss each improvement opportunity as a team – reach consensus </a:t>
            </a:r>
            <a:r>
              <a:rPr lang="en-US" u="sng" dirty="0"/>
              <a:t>before</a:t>
            </a:r>
            <a:r>
              <a:rPr lang="en-US" dirty="0"/>
              <a:t> marking up the Master Current State Map</a:t>
            </a:r>
          </a:p>
          <a:p>
            <a:r>
              <a:rPr lang="en-US" dirty="0"/>
              <a:t>All team members will be engaged in discussing opportunities and marking up the map</a:t>
            </a:r>
          </a:p>
          <a:p>
            <a:r>
              <a:rPr lang="en-US" dirty="0"/>
              <a:t>The marked-up map will be the basis for creating the Future State Map – make sure all improvements to the current state have been identified</a:t>
            </a:r>
          </a:p>
          <a:p>
            <a:r>
              <a:rPr lang="en-US" dirty="0"/>
              <a:t>Remember the Future State timeline in the charter – typically 6 months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129</a:t>
            </a:fld>
            <a:endParaRPr lang="en-US"/>
          </a:p>
        </p:txBody>
      </p:sp>
      <p:grpSp>
        <p:nvGrpSpPr>
          <p:cNvPr id="4" name="Group 3">
            <a:extLst>
              <a:ext uri="{FF2B5EF4-FFF2-40B4-BE49-F238E27FC236}">
                <a16:creationId xmlns:a16="http://schemas.microsoft.com/office/drawing/2014/main" id="{B61CF5C8-3409-3507-1615-ACD0A9815E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61BC1428-DFCE-13E0-9D02-08242C061F4C}"/>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D83A5D2B-1A69-171F-741D-4AC5F1CB79F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223AF663-446C-0B66-7C22-C0844C914486}"/>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94E230D3-D976-BD5A-CA41-B06720AF5DA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1100F50E-5CF3-4451-208A-1767F4221A60}"/>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99FC5B43-73A7-6E43-099B-455EEFE39E7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A54FA3A2-37B5-CA5C-CD8B-038373C8A7E5}"/>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E846B8F1-28B3-D6F2-D3CB-EDF285F43A9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51201349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Your Turn – Mark Up Current State Map for Business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dirty="0"/>
              <a:t>If needed, revisit the area to “validate” assumptions and gather any additional data – review as appropriate with stakeholders</a:t>
            </a:r>
          </a:p>
          <a:p>
            <a:pPr lvl="1"/>
            <a:r>
              <a:rPr lang="en-US" b="1" u="sng" dirty="0"/>
              <a:t>Caution</a:t>
            </a:r>
            <a:r>
              <a:rPr lang="en-US" dirty="0"/>
              <a:t>: Don’t get bogged down in a lot of detail – VSM is the “big picture”</a:t>
            </a:r>
          </a:p>
          <a:p>
            <a:r>
              <a:rPr lang="en-US" dirty="0"/>
              <a:t>The Current State Map will be reviewed by management – it is important to mark-up the map clearly so that the changes are easily viewable from a short distance</a:t>
            </a:r>
          </a:p>
          <a:p>
            <a:r>
              <a:rPr lang="en-US" dirty="0"/>
              <a:t>After the Marked-up Current State is drawn, convert to electronic file “off-line”</a:t>
            </a:r>
          </a:p>
          <a:p>
            <a:endParaRPr lang="en-US" dirty="0"/>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130</a:t>
            </a:fld>
            <a:endParaRPr lang="en-US"/>
          </a:p>
        </p:txBody>
      </p:sp>
      <p:grpSp>
        <p:nvGrpSpPr>
          <p:cNvPr id="4" name="Group 3">
            <a:extLst>
              <a:ext uri="{FF2B5EF4-FFF2-40B4-BE49-F238E27FC236}">
                <a16:creationId xmlns:a16="http://schemas.microsoft.com/office/drawing/2014/main" id="{B61CF5C8-3409-3507-1615-ACD0A9815E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61BC1428-DFCE-13E0-9D02-08242C061F4C}"/>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D83A5D2B-1A69-171F-741D-4AC5F1CB79F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223AF663-446C-0B66-7C22-C0844C914486}"/>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94E230D3-D976-BD5A-CA41-B06720AF5DA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1100F50E-5CF3-4451-208A-1767F4221A60}"/>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99FC5B43-73A7-6E43-099B-455EEFE39E7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A54FA3A2-37B5-CA5C-CD8B-038373C8A7E5}"/>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E846B8F1-28B3-D6F2-D3CB-EDF285F43A9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328143876"/>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Mark-Up Current State Map and Report-Out </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131</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59748"/>
            <a:ext cx="972234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Mark up Current State Value Stream Map for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reach consensus on kaizen bursts and improvement opportunities for your Current State Value Stream Map.</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Use a </a:t>
            </a:r>
            <a:r>
              <a:rPr kumimoji="0" lang="en-US" sz="1600" b="0" i="0" u="none" strike="noStrike" cap="none" spc="0" normalizeH="0" baseline="0" dirty="0">
                <a:ln>
                  <a:noFill/>
                </a:ln>
                <a:solidFill>
                  <a:schemeClr val="accent1"/>
                </a:solidFill>
                <a:effectLst>
                  <a:outerShdw blurRad="50800" dist="38100" dir="2700000" algn="tl" rotWithShape="0">
                    <a:prstClr val="black">
                      <a:alpha val="40000"/>
                    </a:prstClr>
                  </a:outerShdw>
                </a:effectLst>
                <a:uFillTx/>
                <a:latin typeface="Roboto" panose="02000000000000000000" pitchFamily="2" charset="0"/>
                <a:ea typeface="Roboto" panose="02000000000000000000" pitchFamily="2" charset="0"/>
                <a:cs typeface="Roboto" panose="02000000000000000000" pitchFamily="2" charset="0"/>
                <a:sym typeface="Roboto"/>
              </a:rPr>
              <a:t>red marker </a:t>
            </a: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to indicate changes.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2 hours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13368"/>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Marked up Current State Map Report Out to Management by team.</a:t>
            </a:r>
          </a:p>
        </p:txBody>
      </p:sp>
      <p:grpSp>
        <p:nvGrpSpPr>
          <p:cNvPr id="3" name="Group 2">
            <a:extLst>
              <a:ext uri="{FF2B5EF4-FFF2-40B4-BE49-F238E27FC236}">
                <a16:creationId xmlns:a16="http://schemas.microsoft.com/office/drawing/2014/main" id="{6CD33FEC-5323-F27D-0E6B-61F1B77FBF3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ACEC1EC8-53C4-9998-FB1E-49C1F5ED6F95}"/>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68FB085-E774-EE3A-D18B-8B6324295E01}"/>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35131C1-E5EC-6A0F-3E28-6C836EA5470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75DD369D-9CD4-A1F3-451F-0B1C9F85E5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0310D65-B4FC-1041-E6DF-7AEA44741EBF}"/>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5BBE0C64-A8A2-897C-D277-BE624746150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36BC8A5F-C5FA-9211-6C99-3E9754333900}"/>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89B8AC6B-3BE9-E1CB-9BC4-8612A0B1E4D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2150758961"/>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132</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Autofit/>
          </a:bodyPr>
          <a:lstStyle/>
          <a:p>
            <a:r>
              <a:rPr lang="en-US" sz="3200" dirty="0">
                <a:latin typeface="Roboto Medium"/>
                <a:ea typeface="Roboto Medium"/>
                <a:cs typeface="Roboto Medium"/>
              </a:rPr>
              <a:t>Creating the Future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method to create the Future State Map</a:t>
            </a:r>
          </a:p>
          <a:p>
            <a:r>
              <a:rPr lang="en-US" dirty="0"/>
              <a:t>Complete Future State Map for Business</a:t>
            </a:r>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Future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68032761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133</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2818638216"/>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134</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332976038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66" name="Line 4">
            <a:extLst>
              <a:ext uri="{FF2B5EF4-FFF2-40B4-BE49-F238E27FC236}">
                <a16:creationId xmlns:a16="http://schemas.microsoft.com/office/drawing/2014/main" id="{9F2D9C2A-65C6-9AE1-1813-E6A51CAE332A}"/>
              </a:ext>
            </a:extLst>
          </p:cNvPr>
          <p:cNvSpPr>
            <a:spLocks noChangeShapeType="1"/>
          </p:cNvSpPr>
          <p:nvPr/>
        </p:nvSpPr>
        <p:spPr bwMode="auto">
          <a:xfrm>
            <a:off x="7687257"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5" name="Line 4">
            <a:extLst>
              <a:ext uri="{FF2B5EF4-FFF2-40B4-BE49-F238E27FC236}">
                <a16:creationId xmlns:a16="http://schemas.microsoft.com/office/drawing/2014/main" id="{1FD85D20-DD43-59C4-4EAC-8363690E8D64}"/>
              </a:ext>
            </a:extLst>
          </p:cNvPr>
          <p:cNvSpPr>
            <a:spLocks noChangeShapeType="1"/>
          </p:cNvSpPr>
          <p:nvPr/>
        </p:nvSpPr>
        <p:spPr bwMode="auto">
          <a:xfrm>
            <a:off x="5197270"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4" name="Line 4">
            <a:extLst>
              <a:ext uri="{FF2B5EF4-FFF2-40B4-BE49-F238E27FC236}">
                <a16:creationId xmlns:a16="http://schemas.microsoft.com/office/drawing/2014/main" id="{367CE6ED-31D0-7DE5-AFE1-A2B2351E106D}"/>
              </a:ext>
            </a:extLst>
          </p:cNvPr>
          <p:cNvSpPr>
            <a:spLocks noChangeShapeType="1"/>
          </p:cNvSpPr>
          <p:nvPr/>
        </p:nvSpPr>
        <p:spPr bwMode="auto">
          <a:xfrm>
            <a:off x="2703522" y="4482074"/>
            <a:ext cx="1424597"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4">
            <a:extLst>
              <a:ext uri="{FF2B5EF4-FFF2-40B4-BE49-F238E27FC236}">
                <a16:creationId xmlns:a16="http://schemas.microsoft.com/office/drawing/2014/main" id="{8DC250FA-734D-25EE-857D-83526FB09718}"/>
              </a:ext>
            </a:extLst>
          </p:cNvPr>
          <p:cNvSpPr>
            <a:spLocks noChangeShapeType="1"/>
          </p:cNvSpPr>
          <p:nvPr/>
        </p:nvSpPr>
        <p:spPr bwMode="auto">
          <a:xfrm>
            <a:off x="1184911" y="4494653"/>
            <a:ext cx="4457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Start with Marked-Up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135</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8" name="Group 37">
                <a:extLst>
                  <a:ext uri="{FF2B5EF4-FFF2-40B4-BE49-F238E27FC236}">
                    <a16:creationId xmlns:a16="http://schemas.microsoft.com/office/drawing/2014/main" id="{2BADC0FA-BC45-9ABE-771A-0F534B3E1FE0}"/>
                  </a:ext>
                </a:extLst>
              </p:cNvPr>
              <p:cNvGrpSpPr/>
              <p:nvPr/>
            </p:nvGrpSpPr>
            <p:grpSpPr>
              <a:xfrm>
                <a:off x="6621867" y="4178350"/>
                <a:ext cx="1065390" cy="569105"/>
                <a:chOff x="7557817" y="4178350"/>
                <a:chExt cx="1065390" cy="569105"/>
              </a:xfrm>
            </p:grpSpPr>
            <p:sp>
              <p:nvSpPr>
                <p:cNvPr id="30" name="Rectangle 7">
                  <a:extLst>
                    <a:ext uri="{FF2B5EF4-FFF2-40B4-BE49-F238E27FC236}">
                      <a16:creationId xmlns:a16="http://schemas.microsoft.com/office/drawing/2014/main" id="{69952E55-EA15-F41E-A988-326CAA83E150}"/>
                    </a:ext>
                  </a:extLst>
                </p:cNvPr>
                <p:cNvSpPr>
                  <a:spLocks noChangeArrowheads="1"/>
                </p:cNvSpPr>
                <p:nvPr/>
              </p:nvSpPr>
              <p:spPr bwMode="auto">
                <a:xfrm>
                  <a:off x="7557817"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Brake Form</a:t>
                  </a:r>
                </a:p>
              </p:txBody>
            </p:sp>
            <p:sp>
              <p:nvSpPr>
                <p:cNvPr id="31" name="Line 8">
                  <a:extLst>
                    <a:ext uri="{FF2B5EF4-FFF2-40B4-BE49-F238E27FC236}">
                      <a16:creationId xmlns:a16="http://schemas.microsoft.com/office/drawing/2014/main" id="{82CA0069-7ED2-44B9-0897-F204E67E9612}"/>
                    </a:ext>
                  </a:extLst>
                </p:cNvPr>
                <p:cNvSpPr>
                  <a:spLocks noChangeShapeType="1"/>
                </p:cNvSpPr>
                <p:nvPr/>
              </p:nvSpPr>
              <p:spPr bwMode="auto">
                <a:xfrm>
                  <a:off x="7557817"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7" name="Group 36">
                <a:extLst>
                  <a:ext uri="{FF2B5EF4-FFF2-40B4-BE49-F238E27FC236}">
                    <a16:creationId xmlns:a16="http://schemas.microsoft.com/office/drawing/2014/main" id="{8F49B682-6998-31D5-7B10-7217D420490A}"/>
                  </a:ext>
                </a:extLst>
              </p:cNvPr>
              <p:cNvGrpSpPr/>
              <p:nvPr/>
            </p:nvGrpSpPr>
            <p:grpSpPr>
              <a:xfrm>
                <a:off x="4128119" y="4178350"/>
                <a:ext cx="1065390" cy="569105"/>
                <a:chOff x="6000018" y="4178350"/>
                <a:chExt cx="1065390" cy="569105"/>
              </a:xfrm>
            </p:grpSpPr>
            <p:sp>
              <p:nvSpPr>
                <p:cNvPr id="32" name="Rectangle 7">
                  <a:extLst>
                    <a:ext uri="{FF2B5EF4-FFF2-40B4-BE49-F238E27FC236}">
                      <a16:creationId xmlns:a16="http://schemas.microsoft.com/office/drawing/2014/main" id="{4932628F-8B30-312E-9122-60EC24E23458}"/>
                    </a:ext>
                  </a:extLst>
                </p:cNvPr>
                <p:cNvSpPr>
                  <a:spLocks noChangeArrowheads="1"/>
                </p:cNvSpPr>
                <p:nvPr/>
              </p:nvSpPr>
              <p:spPr bwMode="auto">
                <a:xfrm>
                  <a:off x="600001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a:t>
                  </a:r>
                </a:p>
              </p:txBody>
            </p:sp>
            <p:sp>
              <p:nvSpPr>
                <p:cNvPr id="33" name="Line 8">
                  <a:extLst>
                    <a:ext uri="{FF2B5EF4-FFF2-40B4-BE49-F238E27FC236}">
                      <a16:creationId xmlns:a16="http://schemas.microsoft.com/office/drawing/2014/main" id="{DED97485-7ECC-5A2B-9552-F13CFA1D0534}"/>
                    </a:ext>
                  </a:extLst>
                </p:cNvPr>
                <p:cNvSpPr>
                  <a:spLocks noChangeShapeType="1"/>
                </p:cNvSpPr>
                <p:nvPr/>
              </p:nvSpPr>
              <p:spPr bwMode="auto">
                <a:xfrm>
                  <a:off x="600001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18" name="Group 17">
            <a:extLst>
              <a:ext uri="{FF2B5EF4-FFF2-40B4-BE49-F238E27FC236}">
                <a16:creationId xmlns:a16="http://schemas.microsoft.com/office/drawing/2014/main" id="{2F2E25F9-DAF1-2F7E-764C-517FDA2D0EFB}"/>
              </a:ext>
            </a:extLst>
          </p:cNvPr>
          <p:cNvGrpSpPr/>
          <p:nvPr/>
        </p:nvGrpSpPr>
        <p:grpSpPr>
          <a:xfrm>
            <a:off x="645826" y="4277834"/>
            <a:ext cx="817563" cy="545697"/>
            <a:chOff x="745794" y="4308914"/>
            <a:chExt cx="817563" cy="545697"/>
          </a:xfrm>
        </p:grpSpPr>
        <p:sp>
          <p:nvSpPr>
            <p:cNvPr id="12" name="AutoShape 69">
              <a:extLst>
                <a:ext uri="{FF2B5EF4-FFF2-40B4-BE49-F238E27FC236}">
                  <a16:creationId xmlns:a16="http://schemas.microsoft.com/office/drawing/2014/main" id="{E94621F6-B7B4-EC3D-BC17-D5C0C4557FEF}"/>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16" name="Rectangle 84">
              <a:extLst>
                <a:ext uri="{FF2B5EF4-FFF2-40B4-BE49-F238E27FC236}">
                  <a16:creationId xmlns:a16="http://schemas.microsoft.com/office/drawing/2014/main" id="{082C201B-EB46-A1E4-2A79-85C4BFF7541C}"/>
                </a:ext>
              </a:extLst>
            </p:cNvPr>
            <p:cNvSpPr>
              <a:spLocks noChangeArrowheads="1"/>
            </p:cNvSpPr>
            <p:nvPr/>
          </p:nvSpPr>
          <p:spPr bwMode="auto">
            <a:xfrm>
              <a:off x="745794" y="4640299"/>
              <a:ext cx="817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3,200 Sheets</a:t>
              </a:r>
              <a:r>
                <a:rPr lang="en-US" altLang="en-US" sz="800" b="0" dirty="0">
                  <a:solidFill>
                    <a:srgbClr val="FF0000"/>
                  </a:solidFill>
                  <a:latin typeface="Roboto" panose="02000000000000000000" pitchFamily="2" charset="0"/>
                  <a:ea typeface="Roboto" panose="02000000000000000000" pitchFamily="2" charset="0"/>
                </a:rPr>
                <a:t> </a:t>
              </a:r>
            </a:p>
          </p:txBody>
        </p:sp>
      </p:grpSp>
      <p:grpSp>
        <p:nvGrpSpPr>
          <p:cNvPr id="28" name="Group 27">
            <a:extLst>
              <a:ext uri="{FF2B5EF4-FFF2-40B4-BE49-F238E27FC236}">
                <a16:creationId xmlns:a16="http://schemas.microsoft.com/office/drawing/2014/main" id="{D73D2016-8183-7A84-9544-5F13CCDE62B7}"/>
              </a:ext>
            </a:extLst>
          </p:cNvPr>
          <p:cNvGrpSpPr/>
          <p:nvPr/>
        </p:nvGrpSpPr>
        <p:grpSpPr>
          <a:xfrm>
            <a:off x="7919459" y="4274422"/>
            <a:ext cx="966931" cy="546829"/>
            <a:chOff x="671112" y="4308914"/>
            <a:chExt cx="966931" cy="546829"/>
          </a:xfrm>
        </p:grpSpPr>
        <p:sp>
          <p:nvSpPr>
            <p:cNvPr id="29" name="AutoShape 69">
              <a:extLst>
                <a:ext uri="{FF2B5EF4-FFF2-40B4-BE49-F238E27FC236}">
                  <a16:creationId xmlns:a16="http://schemas.microsoft.com/office/drawing/2014/main" id="{1FA2E513-C488-9E79-B0E3-4518833F8A6A}"/>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2" name="Rectangle 84">
              <a:extLst>
                <a:ext uri="{FF2B5EF4-FFF2-40B4-BE49-F238E27FC236}">
                  <a16:creationId xmlns:a16="http://schemas.microsoft.com/office/drawing/2014/main" id="{0DE1C3BF-E816-5EE7-AF1E-E3F06209A8D8}"/>
                </a:ext>
              </a:extLst>
            </p:cNvPr>
            <p:cNvSpPr>
              <a:spLocks noChangeArrowheads="1"/>
            </p:cNvSpPr>
            <p:nvPr/>
          </p:nvSpPr>
          <p:spPr bwMode="auto">
            <a:xfrm>
              <a:off x="671112" y="4640299"/>
              <a:ext cx="96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2,300 Enclosures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3" name="Group 42">
            <a:extLst>
              <a:ext uri="{FF2B5EF4-FFF2-40B4-BE49-F238E27FC236}">
                <a16:creationId xmlns:a16="http://schemas.microsoft.com/office/drawing/2014/main" id="{D43A5AF8-DD6F-D8D9-F985-321520BC7344}"/>
              </a:ext>
            </a:extLst>
          </p:cNvPr>
          <p:cNvGrpSpPr/>
          <p:nvPr/>
        </p:nvGrpSpPr>
        <p:grpSpPr>
          <a:xfrm>
            <a:off x="5522123" y="4274422"/>
            <a:ext cx="768159" cy="546829"/>
            <a:chOff x="770496" y="4308914"/>
            <a:chExt cx="768159" cy="546829"/>
          </a:xfrm>
        </p:grpSpPr>
        <p:sp>
          <p:nvSpPr>
            <p:cNvPr id="44" name="AutoShape 69">
              <a:extLst>
                <a:ext uri="{FF2B5EF4-FFF2-40B4-BE49-F238E27FC236}">
                  <a16:creationId xmlns:a16="http://schemas.microsoft.com/office/drawing/2014/main" id="{298667B1-2777-0EB2-DDA7-1C5381F1033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45" name="Rectangle 84">
              <a:extLst>
                <a:ext uri="{FF2B5EF4-FFF2-40B4-BE49-F238E27FC236}">
                  <a16:creationId xmlns:a16="http://schemas.microsoft.com/office/drawing/2014/main" id="{C4681AE9-BD44-A3CE-C1B6-26719104A113}"/>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9,300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46" name="Group 45">
            <a:extLst>
              <a:ext uri="{FF2B5EF4-FFF2-40B4-BE49-F238E27FC236}">
                <a16:creationId xmlns:a16="http://schemas.microsoft.com/office/drawing/2014/main" id="{EB3B6483-331F-F58F-A749-AC982B098A5A}"/>
              </a:ext>
            </a:extLst>
          </p:cNvPr>
          <p:cNvGrpSpPr/>
          <p:nvPr/>
        </p:nvGrpSpPr>
        <p:grpSpPr>
          <a:xfrm>
            <a:off x="3028375" y="4274422"/>
            <a:ext cx="768159" cy="546829"/>
            <a:chOff x="770496" y="4308914"/>
            <a:chExt cx="768159" cy="546829"/>
          </a:xfrm>
        </p:grpSpPr>
        <p:sp>
          <p:nvSpPr>
            <p:cNvPr id="61" name="AutoShape 69">
              <a:extLst>
                <a:ext uri="{FF2B5EF4-FFF2-40B4-BE49-F238E27FC236}">
                  <a16:creationId xmlns:a16="http://schemas.microsoft.com/office/drawing/2014/main" id="{A45F2D42-3CCE-F97F-DC93-243799A3B57E}"/>
                </a:ext>
              </a:extLst>
            </p:cNvPr>
            <p:cNvSpPr>
              <a:spLocks noChangeArrowheads="1"/>
            </p:cNvSpPr>
            <p:nvPr/>
          </p:nvSpPr>
          <p:spPr bwMode="auto">
            <a:xfrm>
              <a:off x="985187" y="4308914"/>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tx1"/>
                  </a:solidFill>
                  <a:latin typeface="Times New Roman" panose="02020603050405020304" pitchFamily="18" charset="0"/>
                </a:rPr>
                <a:t>I</a:t>
              </a:r>
            </a:p>
          </p:txBody>
        </p:sp>
        <p:sp>
          <p:nvSpPr>
            <p:cNvPr id="62" name="Rectangle 84">
              <a:extLst>
                <a:ext uri="{FF2B5EF4-FFF2-40B4-BE49-F238E27FC236}">
                  <a16:creationId xmlns:a16="http://schemas.microsoft.com/office/drawing/2014/main" id="{8C9A8C42-F29D-47BD-BD76-629B1363DE25}"/>
                </a:ext>
              </a:extLst>
            </p:cNvPr>
            <p:cNvSpPr>
              <a:spLocks noChangeArrowheads="1"/>
            </p:cNvSpPr>
            <p:nvPr/>
          </p:nvSpPr>
          <p:spPr bwMode="auto">
            <a:xfrm>
              <a:off x="770496" y="4640299"/>
              <a:ext cx="76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5,250 Pieces</a:t>
              </a:r>
              <a:endParaRPr lang="en-US" altLang="en-US" sz="800" b="0" dirty="0">
                <a:solidFill>
                  <a:srgbClr val="FF0000"/>
                </a:solidFill>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37702" cy="228600"/>
            <a:chOff x="1881983" y="4479608"/>
            <a:chExt cx="537702" cy="228600"/>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5666"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a:solidFill>
                    <a:schemeClr val="tx1"/>
                  </a:solidFill>
                </a:rPr>
                <a:t>= 5</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1" name="Group 70">
            <a:extLst>
              <a:ext uri="{FF2B5EF4-FFF2-40B4-BE49-F238E27FC236}">
                <a16:creationId xmlns:a16="http://schemas.microsoft.com/office/drawing/2014/main" id="{6ADDE0B4-73C4-6349-977C-5781182B8120}"/>
              </a:ext>
            </a:extLst>
          </p:cNvPr>
          <p:cNvGrpSpPr/>
          <p:nvPr/>
        </p:nvGrpSpPr>
        <p:grpSpPr>
          <a:xfrm>
            <a:off x="4427366" y="4441014"/>
            <a:ext cx="540208" cy="230832"/>
            <a:chOff x="1881983" y="4479608"/>
            <a:chExt cx="540208" cy="230832"/>
          </a:xfrm>
        </p:grpSpPr>
        <p:sp>
          <p:nvSpPr>
            <p:cNvPr id="72" name="AutoShape 14">
              <a:extLst>
                <a:ext uri="{FF2B5EF4-FFF2-40B4-BE49-F238E27FC236}">
                  <a16:creationId xmlns:a16="http://schemas.microsoft.com/office/drawing/2014/main" id="{324A1131-23D5-8E88-6840-96D028CC53BD}"/>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3" name="Text Box 15">
              <a:extLst>
                <a:ext uri="{FF2B5EF4-FFF2-40B4-BE49-F238E27FC236}">
                  <a16:creationId xmlns:a16="http://schemas.microsoft.com/office/drawing/2014/main" id="{E64BD408-95CA-E588-38F5-618EBB021ED4}"/>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4" name="Oval 13">
              <a:extLst>
                <a:ext uri="{FF2B5EF4-FFF2-40B4-BE49-F238E27FC236}">
                  <a16:creationId xmlns:a16="http://schemas.microsoft.com/office/drawing/2014/main" id="{8C92FAD6-BB30-0D57-FBE1-583AEAA543B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75" name="Group 74">
            <a:extLst>
              <a:ext uri="{FF2B5EF4-FFF2-40B4-BE49-F238E27FC236}">
                <a16:creationId xmlns:a16="http://schemas.microsoft.com/office/drawing/2014/main" id="{A31F9B4E-AE2C-2031-789C-8BAE37402C38}"/>
              </a:ext>
            </a:extLst>
          </p:cNvPr>
          <p:cNvGrpSpPr/>
          <p:nvPr/>
        </p:nvGrpSpPr>
        <p:grpSpPr>
          <a:xfrm>
            <a:off x="6919585" y="4436096"/>
            <a:ext cx="540208" cy="230832"/>
            <a:chOff x="1881983" y="4479608"/>
            <a:chExt cx="540208" cy="230832"/>
          </a:xfrm>
        </p:grpSpPr>
        <p:sp>
          <p:nvSpPr>
            <p:cNvPr id="76" name="AutoShape 14">
              <a:extLst>
                <a:ext uri="{FF2B5EF4-FFF2-40B4-BE49-F238E27FC236}">
                  <a16:creationId xmlns:a16="http://schemas.microsoft.com/office/drawing/2014/main" id="{1AE84748-8325-0ACC-A4AA-C71A77D3A1C5}"/>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7" name="Text Box 15">
              <a:extLst>
                <a:ext uri="{FF2B5EF4-FFF2-40B4-BE49-F238E27FC236}">
                  <a16:creationId xmlns:a16="http://schemas.microsoft.com/office/drawing/2014/main" id="{E94E3377-0C74-6993-C42D-C15D1635B9B0}"/>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1</a:t>
              </a:r>
            </a:p>
          </p:txBody>
        </p:sp>
        <p:sp>
          <p:nvSpPr>
            <p:cNvPr id="78" name="Oval 13">
              <a:extLst>
                <a:ext uri="{FF2B5EF4-FFF2-40B4-BE49-F238E27FC236}">
                  <a16:creationId xmlns:a16="http://schemas.microsoft.com/office/drawing/2014/main" id="{495F026F-1DCB-68EE-BAAF-70789101ABFC}"/>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5 Machines</a:t>
            </a:r>
            <a:endParaRPr lang="en-US" sz="800" dirty="0">
              <a:effectLst/>
              <a:latin typeface="Roboto" panose="02000000000000000000" pitchFamily="2" charset="0"/>
              <a:ea typeface="Roboto" panose="02000000000000000000" pitchFamily="2" charset="0"/>
            </a:endParaRPr>
          </a:p>
        </p:txBody>
      </p:sp>
      <p:sp>
        <p:nvSpPr>
          <p:cNvPr id="80" name="Rectangle 18">
            <a:extLst>
              <a:ext uri="{FF2B5EF4-FFF2-40B4-BE49-F238E27FC236}">
                <a16:creationId xmlns:a16="http://schemas.microsoft.com/office/drawing/2014/main" id="{84B05BBC-6561-B1D0-F840-796A5EA42F1C}"/>
              </a:ext>
            </a:extLst>
          </p:cNvPr>
          <p:cNvSpPr>
            <a:spLocks noChangeArrowheads="1"/>
          </p:cNvSpPr>
          <p:nvPr/>
        </p:nvSpPr>
        <p:spPr bwMode="auto">
          <a:xfrm>
            <a:off x="412812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15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30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98%</a:t>
            </a:r>
          </a:p>
        </p:txBody>
      </p:sp>
      <p:sp>
        <p:nvSpPr>
          <p:cNvPr id="81" name="Rectangle 18">
            <a:extLst>
              <a:ext uri="{FF2B5EF4-FFF2-40B4-BE49-F238E27FC236}">
                <a16:creationId xmlns:a16="http://schemas.microsoft.com/office/drawing/2014/main" id="{AF815BDB-CFA4-7281-A852-8210F9CF3F74}"/>
              </a:ext>
            </a:extLst>
          </p:cNvPr>
          <p:cNvSpPr>
            <a:spLocks noChangeArrowheads="1"/>
          </p:cNvSpPr>
          <p:nvPr/>
        </p:nvSpPr>
        <p:spPr bwMode="auto">
          <a:xfrm>
            <a:off x="6633390" y="4864203"/>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20 S</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 120 M</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85%</a:t>
            </a: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aphicFrame>
        <p:nvGraphicFramePr>
          <p:cNvPr id="13" name="Table 13">
            <a:extLst>
              <a:ext uri="{FF2B5EF4-FFF2-40B4-BE49-F238E27FC236}">
                <a16:creationId xmlns:a16="http://schemas.microsoft.com/office/drawing/2014/main" id="{CF49985B-4D3E-B645-BD62-039F78B25C42}"/>
              </a:ext>
            </a:extLst>
          </p:cNvPr>
          <p:cNvGraphicFramePr>
            <a:graphicFrameLocks noGrp="1"/>
          </p:cNvGraphicFramePr>
          <p:nvPr/>
        </p:nvGraphicFramePr>
        <p:xfrm>
          <a:off x="590265" y="5549609"/>
          <a:ext cx="9925334" cy="741680"/>
        </p:xfrm>
        <a:graphic>
          <a:graphicData uri="http://schemas.openxmlformats.org/drawingml/2006/table">
            <a:tbl>
              <a:tblPr firstRow="1" bandRow="1">
                <a:tableStyleId>{5C22544A-7EE6-4342-B048-85BDC9FD1C3A}</a:tableStyleId>
              </a:tblPr>
              <a:tblGrid>
                <a:gridCol w="1033567">
                  <a:extLst>
                    <a:ext uri="{9D8B030D-6E8A-4147-A177-3AD203B41FA5}">
                      <a16:colId xmlns:a16="http://schemas.microsoft.com/office/drawing/2014/main" val="1793455730"/>
                    </a:ext>
                  </a:extLst>
                </a:gridCol>
                <a:gridCol w="1075119">
                  <a:extLst>
                    <a:ext uri="{9D8B030D-6E8A-4147-A177-3AD203B41FA5}">
                      <a16:colId xmlns:a16="http://schemas.microsoft.com/office/drawing/2014/main" val="2931103683"/>
                    </a:ext>
                  </a:extLst>
                </a:gridCol>
                <a:gridCol w="1450397">
                  <a:extLst>
                    <a:ext uri="{9D8B030D-6E8A-4147-A177-3AD203B41FA5}">
                      <a16:colId xmlns:a16="http://schemas.microsoft.com/office/drawing/2014/main" val="167016645"/>
                    </a:ext>
                  </a:extLst>
                </a:gridCol>
                <a:gridCol w="1042412">
                  <a:extLst>
                    <a:ext uri="{9D8B030D-6E8A-4147-A177-3AD203B41FA5}">
                      <a16:colId xmlns:a16="http://schemas.microsoft.com/office/drawing/2014/main" val="2153114181"/>
                    </a:ext>
                  </a:extLst>
                </a:gridCol>
                <a:gridCol w="1442534">
                  <a:extLst>
                    <a:ext uri="{9D8B030D-6E8A-4147-A177-3AD203B41FA5}">
                      <a16:colId xmlns:a16="http://schemas.microsoft.com/office/drawing/2014/main" val="2013974765"/>
                    </a:ext>
                  </a:extLst>
                </a:gridCol>
                <a:gridCol w="1066986">
                  <a:extLst>
                    <a:ext uri="{9D8B030D-6E8A-4147-A177-3AD203B41FA5}">
                      <a16:colId xmlns:a16="http://schemas.microsoft.com/office/drawing/2014/main" val="3797680054"/>
                    </a:ext>
                  </a:extLst>
                </a:gridCol>
                <a:gridCol w="1396013">
                  <a:extLst>
                    <a:ext uri="{9D8B030D-6E8A-4147-A177-3AD203B41FA5}">
                      <a16:colId xmlns:a16="http://schemas.microsoft.com/office/drawing/2014/main" val="3656946534"/>
                    </a:ext>
                  </a:extLst>
                </a:gridCol>
                <a:gridCol w="1418306">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8.5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3.5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19.7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60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15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95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grpSp>
        <p:nvGrpSpPr>
          <p:cNvPr id="111" name="Group 110">
            <a:extLst>
              <a:ext uri="{FF2B5EF4-FFF2-40B4-BE49-F238E27FC236}">
                <a16:creationId xmlns:a16="http://schemas.microsoft.com/office/drawing/2014/main" id="{79164828-325F-D7D4-3100-8E9EE113C467}"/>
              </a:ext>
            </a:extLst>
          </p:cNvPr>
          <p:cNvGrpSpPr/>
          <p:nvPr/>
        </p:nvGrpSpPr>
        <p:grpSpPr>
          <a:xfrm>
            <a:off x="1451844" y="2372407"/>
            <a:ext cx="7634552" cy="1998661"/>
            <a:chOff x="1503363" y="2027239"/>
            <a:chExt cx="5530850" cy="1998661"/>
          </a:xfrm>
        </p:grpSpPr>
        <p:grpSp>
          <p:nvGrpSpPr>
            <p:cNvPr id="15" name="Group 108">
              <a:extLst>
                <a:ext uri="{FF2B5EF4-FFF2-40B4-BE49-F238E27FC236}">
                  <a16:creationId xmlns:a16="http://schemas.microsoft.com/office/drawing/2014/main" id="{4DD3284A-BDAD-77C5-CDF4-27CA76BED026}"/>
                </a:ext>
              </a:extLst>
            </p:cNvPr>
            <p:cNvGrpSpPr>
              <a:grpSpLocks/>
            </p:cNvGrpSpPr>
            <p:nvPr/>
          </p:nvGrpSpPr>
          <p:grpSpPr bwMode="auto">
            <a:xfrm>
              <a:off x="1503363" y="2274888"/>
              <a:ext cx="2368550" cy="271462"/>
              <a:chOff x="947" y="1433"/>
              <a:chExt cx="1492" cy="171"/>
            </a:xfrm>
          </p:grpSpPr>
          <p:grpSp>
            <p:nvGrpSpPr>
              <p:cNvPr id="48" name="Group 109">
                <a:extLst>
                  <a:ext uri="{FF2B5EF4-FFF2-40B4-BE49-F238E27FC236}">
                    <a16:creationId xmlns:a16="http://schemas.microsoft.com/office/drawing/2014/main" id="{40E914BB-6CAF-3D09-3DFC-7822AF203596}"/>
                  </a:ext>
                </a:extLst>
              </p:cNvPr>
              <p:cNvGrpSpPr>
                <a:grpSpLocks/>
              </p:cNvGrpSpPr>
              <p:nvPr/>
            </p:nvGrpSpPr>
            <p:grpSpPr bwMode="auto">
              <a:xfrm>
                <a:off x="947" y="1481"/>
                <a:ext cx="1492" cy="51"/>
                <a:chOff x="947" y="1576"/>
                <a:chExt cx="1492" cy="51"/>
              </a:xfrm>
            </p:grpSpPr>
            <p:sp>
              <p:nvSpPr>
                <p:cNvPr id="82" name="Line 110">
                  <a:extLst>
                    <a:ext uri="{FF2B5EF4-FFF2-40B4-BE49-F238E27FC236}">
                      <a16:creationId xmlns:a16="http://schemas.microsoft.com/office/drawing/2014/main" id="{1BD8C1BF-FC60-5896-8352-F867DA3F67AE}"/>
                    </a:ext>
                  </a:extLst>
                </p:cNvPr>
                <p:cNvSpPr>
                  <a:spLocks noChangeShapeType="1"/>
                </p:cNvSpPr>
                <p:nvPr/>
              </p:nvSpPr>
              <p:spPr bwMode="auto">
                <a:xfrm flipH="1">
                  <a:off x="947" y="1576"/>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9" name="Line 111">
                  <a:extLst>
                    <a:ext uri="{FF2B5EF4-FFF2-40B4-BE49-F238E27FC236}">
                      <a16:creationId xmlns:a16="http://schemas.microsoft.com/office/drawing/2014/main" id="{E3B25F8D-53CD-B1C3-FBEC-28355D900A1D}"/>
                    </a:ext>
                  </a:extLst>
                </p:cNvPr>
                <p:cNvSpPr>
                  <a:spLocks noChangeShapeType="1"/>
                </p:cNvSpPr>
                <p:nvPr/>
              </p:nvSpPr>
              <p:spPr bwMode="auto">
                <a:xfrm flipV="1">
                  <a:off x="1556" y="1626"/>
                  <a:ext cx="883"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0" name="Line 112">
                  <a:extLst>
                    <a:ext uri="{FF2B5EF4-FFF2-40B4-BE49-F238E27FC236}">
                      <a16:creationId xmlns:a16="http://schemas.microsoft.com/office/drawing/2014/main" id="{846056DF-61CC-CA51-1421-BB162D59FAA3}"/>
                    </a:ext>
                  </a:extLst>
                </p:cNvPr>
                <p:cNvSpPr>
                  <a:spLocks noChangeShapeType="1"/>
                </p:cNvSpPr>
                <p:nvPr/>
              </p:nvSpPr>
              <p:spPr bwMode="auto">
                <a:xfrm flipV="1">
                  <a:off x="1551" y="1584"/>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0" name="Rectangle 113">
                <a:extLst>
                  <a:ext uri="{FF2B5EF4-FFF2-40B4-BE49-F238E27FC236}">
                    <a16:creationId xmlns:a16="http://schemas.microsoft.com/office/drawing/2014/main" id="{AC69F916-4837-4DD6-345C-936BBA95084E}"/>
                  </a:ext>
                </a:extLst>
              </p:cNvPr>
              <p:cNvSpPr>
                <a:spLocks noChangeArrowheads="1"/>
              </p:cNvSpPr>
              <p:nvPr/>
            </p:nvSpPr>
            <p:spPr bwMode="auto">
              <a:xfrm>
                <a:off x="1700" y="1433"/>
                <a:ext cx="395" cy="171"/>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Monthly P.O.</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grpSp>
          <p:nvGrpSpPr>
            <p:cNvPr id="97" name="Group 120">
              <a:extLst>
                <a:ext uri="{FF2B5EF4-FFF2-40B4-BE49-F238E27FC236}">
                  <a16:creationId xmlns:a16="http://schemas.microsoft.com/office/drawing/2014/main" id="{5A08C284-D05D-EE2D-3588-4456012CFF7B}"/>
                </a:ext>
              </a:extLst>
            </p:cNvPr>
            <p:cNvGrpSpPr>
              <a:grpSpLocks/>
            </p:cNvGrpSpPr>
            <p:nvPr/>
          </p:nvGrpSpPr>
          <p:grpSpPr bwMode="auto">
            <a:xfrm>
              <a:off x="3873501" y="2027239"/>
              <a:ext cx="974725" cy="709613"/>
              <a:chOff x="2440" y="1277"/>
              <a:chExt cx="614" cy="447"/>
            </a:xfrm>
          </p:grpSpPr>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2440" y="1277"/>
                <a:ext cx="614" cy="447"/>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sp>
            <p:nvSpPr>
              <p:cNvPr id="99" name="Rectangle 122">
                <a:extLst>
                  <a:ext uri="{FF2B5EF4-FFF2-40B4-BE49-F238E27FC236}">
                    <a16:creationId xmlns:a16="http://schemas.microsoft.com/office/drawing/2014/main" id="{8244B319-66B6-4559-E997-395195D02BE5}"/>
                  </a:ext>
                </a:extLst>
              </p:cNvPr>
              <p:cNvSpPr>
                <a:spLocks noChangeArrowheads="1"/>
              </p:cNvSpPr>
              <p:nvPr/>
            </p:nvSpPr>
            <p:spPr bwMode="auto">
              <a:xfrm>
                <a:off x="2494" y="1565"/>
                <a:ext cx="490" cy="159"/>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MRP</a:t>
                </a:r>
              </a:p>
              <a:p>
                <a:pPr algn="ctr">
                  <a:lnSpc>
                    <a:spcPct val="90000"/>
                  </a:lnSpc>
                  <a:spcBef>
                    <a:spcPct val="0"/>
                  </a:spcBef>
                </a:pPr>
                <a:r>
                  <a:rPr lang="en-US" altLang="en-US" b="0" dirty="0">
                    <a:solidFill>
                      <a:schemeClr val="tx1"/>
                    </a:solidFill>
                    <a:latin typeface="Roboto" panose="02000000000000000000" pitchFamily="2" charset="0"/>
                    <a:ea typeface="Roboto" panose="02000000000000000000" pitchFamily="2" charset="0"/>
                  </a:rPr>
                  <a:t>System</a:t>
                </a:r>
              </a:p>
            </p:txBody>
          </p:sp>
        </p:grpSp>
        <p:grpSp>
          <p:nvGrpSpPr>
            <p:cNvPr id="101" name="Group 124">
              <a:extLst>
                <a:ext uri="{FF2B5EF4-FFF2-40B4-BE49-F238E27FC236}">
                  <a16:creationId xmlns:a16="http://schemas.microsoft.com/office/drawing/2014/main" id="{1FFE5B9C-D3B0-F756-7BE7-9288DB7ABC60}"/>
                </a:ext>
              </a:extLst>
            </p:cNvPr>
            <p:cNvGrpSpPr>
              <a:grpSpLocks/>
            </p:cNvGrpSpPr>
            <p:nvPr/>
          </p:nvGrpSpPr>
          <p:grpSpPr bwMode="auto">
            <a:xfrm>
              <a:off x="2424113" y="2736850"/>
              <a:ext cx="3176587" cy="1084263"/>
              <a:chOff x="1527" y="1724"/>
              <a:chExt cx="2001" cy="683"/>
            </a:xfrm>
          </p:grpSpPr>
          <p:sp>
            <p:nvSpPr>
              <p:cNvPr id="102" name="Line 125">
                <a:extLst>
                  <a:ext uri="{FF2B5EF4-FFF2-40B4-BE49-F238E27FC236}">
                    <a16:creationId xmlns:a16="http://schemas.microsoft.com/office/drawing/2014/main" id="{D4CE5BF2-C73C-511B-EF87-59098EEEF5CD}"/>
                  </a:ext>
                </a:extLst>
              </p:cNvPr>
              <p:cNvSpPr>
                <a:spLocks noChangeShapeType="1"/>
              </p:cNvSpPr>
              <p:nvPr/>
            </p:nvSpPr>
            <p:spPr bwMode="auto">
              <a:xfrm flipH="1">
                <a:off x="1527" y="1724"/>
                <a:ext cx="995" cy="681"/>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126">
                <a:extLst>
                  <a:ext uri="{FF2B5EF4-FFF2-40B4-BE49-F238E27FC236}">
                    <a16:creationId xmlns:a16="http://schemas.microsoft.com/office/drawing/2014/main" id="{D9E63526-98CB-A286-8AB2-7359971FBA39}"/>
                  </a:ext>
                </a:extLst>
              </p:cNvPr>
              <p:cNvSpPr>
                <a:spLocks noChangeShapeType="1"/>
              </p:cNvSpPr>
              <p:nvPr/>
            </p:nvSpPr>
            <p:spPr bwMode="auto">
              <a:xfrm flipH="1">
                <a:off x="2424" y="1727"/>
                <a:ext cx="245" cy="68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127">
                <a:extLst>
                  <a:ext uri="{FF2B5EF4-FFF2-40B4-BE49-F238E27FC236}">
                    <a16:creationId xmlns:a16="http://schemas.microsoft.com/office/drawing/2014/main" id="{AD5E5F2E-F441-111F-C833-2C101A23C28E}"/>
                  </a:ext>
                </a:extLst>
              </p:cNvPr>
              <p:cNvSpPr>
                <a:spLocks noChangeShapeType="1"/>
              </p:cNvSpPr>
              <p:nvPr/>
            </p:nvSpPr>
            <p:spPr bwMode="auto">
              <a:xfrm>
                <a:off x="2818" y="1731"/>
                <a:ext cx="710" cy="666"/>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Rectangle 128">
                <a:extLst>
                  <a:ext uri="{FF2B5EF4-FFF2-40B4-BE49-F238E27FC236}">
                    <a16:creationId xmlns:a16="http://schemas.microsoft.com/office/drawing/2014/main" id="{85FC5F68-A61E-C59C-B9EC-38C820E40368}"/>
                  </a:ext>
                </a:extLst>
              </p:cNvPr>
              <p:cNvSpPr>
                <a:spLocks noChangeArrowheads="1"/>
              </p:cNvSpPr>
              <p:nvPr/>
            </p:nvSpPr>
            <p:spPr bwMode="auto">
              <a:xfrm>
                <a:off x="1670" y="2036"/>
                <a:ext cx="395" cy="246"/>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6" name="Rectangle 129">
                <a:extLst>
                  <a:ext uri="{FF2B5EF4-FFF2-40B4-BE49-F238E27FC236}">
                    <a16:creationId xmlns:a16="http://schemas.microsoft.com/office/drawing/2014/main" id="{AEF2FBC7-405B-B97E-0D0F-56CFE87F387E}"/>
                  </a:ext>
                </a:extLst>
              </p:cNvPr>
              <p:cNvSpPr>
                <a:spLocks noChangeArrowheads="1"/>
              </p:cNvSpPr>
              <p:nvPr/>
            </p:nvSpPr>
            <p:spPr bwMode="auto">
              <a:xfrm>
                <a:off x="2316" y="2036"/>
                <a:ext cx="401"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sp>
            <p:nvSpPr>
              <p:cNvPr id="107" name="Rectangle 130">
                <a:extLst>
                  <a:ext uri="{FF2B5EF4-FFF2-40B4-BE49-F238E27FC236}">
                    <a16:creationId xmlns:a16="http://schemas.microsoft.com/office/drawing/2014/main" id="{78458E01-3D76-9047-13EE-2889A2313409}"/>
                  </a:ext>
                </a:extLst>
              </p:cNvPr>
              <p:cNvSpPr>
                <a:spLocks noChangeArrowheads="1"/>
              </p:cNvSpPr>
              <p:nvPr/>
            </p:nvSpPr>
            <p:spPr bwMode="auto">
              <a:xfrm>
                <a:off x="3056" y="2037"/>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Build</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113" name="Explosion: 14 Points 112">
            <a:extLst>
              <a:ext uri="{FF2B5EF4-FFF2-40B4-BE49-F238E27FC236}">
                <a16:creationId xmlns:a16="http://schemas.microsoft.com/office/drawing/2014/main" id="{8E1BC2FA-4444-D842-3027-0289B287EA9B}"/>
              </a:ext>
            </a:extLst>
          </p:cNvPr>
          <p:cNvSpPr/>
          <p:nvPr/>
        </p:nvSpPr>
        <p:spPr>
          <a:xfrm>
            <a:off x="7196588" y="437742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Improve DOI</a:t>
            </a:r>
          </a:p>
        </p:txBody>
      </p:sp>
      <p:sp>
        <p:nvSpPr>
          <p:cNvPr id="2" name="Rectangle 1">
            <a:extLst>
              <a:ext uri="{FF2B5EF4-FFF2-40B4-BE49-F238E27FC236}">
                <a16:creationId xmlns:a16="http://schemas.microsoft.com/office/drawing/2014/main" id="{BC615EC4-72F6-B6F1-D82F-BCA1754A42EF}"/>
              </a:ext>
            </a:extLst>
          </p:cNvPr>
          <p:cNvSpPr/>
          <p:nvPr/>
        </p:nvSpPr>
        <p:spPr>
          <a:xfrm>
            <a:off x="4054139" y="4150406"/>
            <a:ext cx="3710692" cy="1480164"/>
          </a:xfrm>
          <a:prstGeom prst="rect">
            <a:avLst/>
          </a:prstGeom>
          <a:noFill/>
          <a:ln w="28575">
            <a:solidFill>
              <a:schemeClr val="accent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4" name="Explosion: 14 Points 3">
            <a:extLst>
              <a:ext uri="{FF2B5EF4-FFF2-40B4-BE49-F238E27FC236}">
                <a16:creationId xmlns:a16="http://schemas.microsoft.com/office/drawing/2014/main" id="{3EF868AB-B326-3691-50FA-F298AA8FA577}"/>
              </a:ext>
            </a:extLst>
          </p:cNvPr>
          <p:cNvSpPr/>
          <p:nvPr/>
        </p:nvSpPr>
        <p:spPr>
          <a:xfrm>
            <a:off x="949809" y="4134390"/>
            <a:ext cx="1976234"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Reduce Manpower</a:t>
            </a:r>
          </a:p>
        </p:txBody>
      </p:sp>
      <p:pic>
        <p:nvPicPr>
          <p:cNvPr id="14" name="Picture 13">
            <a:extLst>
              <a:ext uri="{FF2B5EF4-FFF2-40B4-BE49-F238E27FC236}">
                <a16:creationId xmlns:a16="http://schemas.microsoft.com/office/drawing/2014/main" id="{4C7E46DC-4326-02A1-1022-2B9DB1FEE2A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3334042" y="4035421"/>
            <a:ext cx="395483" cy="349343"/>
          </a:xfrm>
          <a:prstGeom prst="rect">
            <a:avLst/>
          </a:prstGeom>
        </p:spPr>
      </p:pic>
      <p:pic>
        <p:nvPicPr>
          <p:cNvPr id="112" name="Picture 111">
            <a:extLst>
              <a:ext uri="{FF2B5EF4-FFF2-40B4-BE49-F238E27FC236}">
                <a16:creationId xmlns:a16="http://schemas.microsoft.com/office/drawing/2014/main" id="{14369CCB-ED82-F566-89F2-8F06F081FD5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8333518" y="4072101"/>
            <a:ext cx="395483" cy="349343"/>
          </a:xfrm>
          <a:prstGeom prst="rect">
            <a:avLst/>
          </a:prstGeom>
        </p:spPr>
      </p:pic>
      <p:grpSp>
        <p:nvGrpSpPr>
          <p:cNvPr id="6" name="Group 4">
            <a:extLst>
              <a:ext uri="{FF2B5EF4-FFF2-40B4-BE49-F238E27FC236}">
                <a16:creationId xmlns:a16="http://schemas.microsoft.com/office/drawing/2014/main" id="{5BA97A1D-5981-DDD6-B12B-196AC833FDFD}"/>
              </a:ext>
            </a:extLst>
          </p:cNvPr>
          <p:cNvGrpSpPr>
            <a:grpSpLocks/>
          </p:cNvGrpSpPr>
          <p:nvPr/>
        </p:nvGrpSpPr>
        <p:grpSpPr bwMode="auto">
          <a:xfrm>
            <a:off x="535761" y="4227172"/>
            <a:ext cx="169044" cy="344730"/>
            <a:chOff x="4780" y="1303"/>
            <a:chExt cx="285" cy="631"/>
          </a:xfrm>
        </p:grpSpPr>
        <p:sp>
          <p:nvSpPr>
            <p:cNvPr id="8" name="Line 5">
              <a:extLst>
                <a:ext uri="{FF2B5EF4-FFF2-40B4-BE49-F238E27FC236}">
                  <a16:creationId xmlns:a16="http://schemas.microsoft.com/office/drawing/2014/main" id="{36BC8196-96B2-6DFD-06DD-650260BE9D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6">
              <a:extLst>
                <a:ext uri="{FF2B5EF4-FFF2-40B4-BE49-F238E27FC236}">
                  <a16:creationId xmlns:a16="http://schemas.microsoft.com/office/drawing/2014/main" id="{094214D6-E727-68AB-1938-EACBEAEC347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 name="Line 7">
              <a:extLst>
                <a:ext uri="{FF2B5EF4-FFF2-40B4-BE49-F238E27FC236}">
                  <a16:creationId xmlns:a16="http://schemas.microsoft.com/office/drawing/2014/main" id="{10F0394E-6674-47A3-FFDC-474E87429491}"/>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 name="Line 8">
              <a:extLst>
                <a:ext uri="{FF2B5EF4-FFF2-40B4-BE49-F238E27FC236}">
                  <a16:creationId xmlns:a16="http://schemas.microsoft.com/office/drawing/2014/main" id="{44DF83B2-D937-0820-8C10-057B6673512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9">
              <a:extLst>
                <a:ext uri="{FF2B5EF4-FFF2-40B4-BE49-F238E27FC236}">
                  <a16:creationId xmlns:a16="http://schemas.microsoft.com/office/drawing/2014/main" id="{1A8EB3BE-3554-385D-A8F1-9AC1C929A046}"/>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39" name="Group 4">
            <a:extLst>
              <a:ext uri="{FF2B5EF4-FFF2-40B4-BE49-F238E27FC236}">
                <a16:creationId xmlns:a16="http://schemas.microsoft.com/office/drawing/2014/main" id="{C261E9A1-6233-0578-87E6-6FF894408F52}"/>
              </a:ext>
            </a:extLst>
          </p:cNvPr>
          <p:cNvGrpSpPr>
            <a:grpSpLocks/>
          </p:cNvGrpSpPr>
          <p:nvPr/>
        </p:nvGrpSpPr>
        <p:grpSpPr bwMode="auto">
          <a:xfrm>
            <a:off x="2784728" y="4227172"/>
            <a:ext cx="169044" cy="344730"/>
            <a:chOff x="4780" y="1303"/>
            <a:chExt cx="285" cy="631"/>
          </a:xfrm>
        </p:grpSpPr>
        <p:sp>
          <p:nvSpPr>
            <p:cNvPr id="140" name="Line 5">
              <a:extLst>
                <a:ext uri="{FF2B5EF4-FFF2-40B4-BE49-F238E27FC236}">
                  <a16:creationId xmlns:a16="http://schemas.microsoft.com/office/drawing/2014/main" id="{797CD8F7-8B1D-D568-8579-01ED2CE3D3FD}"/>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1" name="Line 6">
              <a:extLst>
                <a:ext uri="{FF2B5EF4-FFF2-40B4-BE49-F238E27FC236}">
                  <a16:creationId xmlns:a16="http://schemas.microsoft.com/office/drawing/2014/main" id="{7EBF4CF0-984F-D5A0-8E72-17F6FAAAD955}"/>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2" name="Line 7">
              <a:extLst>
                <a:ext uri="{FF2B5EF4-FFF2-40B4-BE49-F238E27FC236}">
                  <a16:creationId xmlns:a16="http://schemas.microsoft.com/office/drawing/2014/main" id="{AD08B5B4-002A-074D-D8E0-64468A38DBAD}"/>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3" name="Line 8">
              <a:extLst>
                <a:ext uri="{FF2B5EF4-FFF2-40B4-BE49-F238E27FC236}">
                  <a16:creationId xmlns:a16="http://schemas.microsoft.com/office/drawing/2014/main" id="{B0CBEAAF-3F8F-DCD5-91A2-7691DCA36CF6}"/>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4" name="Line 9">
              <a:extLst>
                <a:ext uri="{FF2B5EF4-FFF2-40B4-BE49-F238E27FC236}">
                  <a16:creationId xmlns:a16="http://schemas.microsoft.com/office/drawing/2014/main" id="{BF5F41A4-3A4F-A90F-7CF4-A49890739CBD}"/>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45" name="Group 4">
            <a:extLst>
              <a:ext uri="{FF2B5EF4-FFF2-40B4-BE49-F238E27FC236}">
                <a16:creationId xmlns:a16="http://schemas.microsoft.com/office/drawing/2014/main" id="{C73B2B25-86FA-4010-462D-E4F7F8207D7B}"/>
              </a:ext>
            </a:extLst>
          </p:cNvPr>
          <p:cNvGrpSpPr>
            <a:grpSpLocks/>
          </p:cNvGrpSpPr>
          <p:nvPr/>
        </p:nvGrpSpPr>
        <p:grpSpPr bwMode="auto">
          <a:xfrm>
            <a:off x="7729218" y="4231698"/>
            <a:ext cx="169044" cy="344730"/>
            <a:chOff x="4780" y="1303"/>
            <a:chExt cx="285" cy="631"/>
          </a:xfrm>
        </p:grpSpPr>
        <p:sp>
          <p:nvSpPr>
            <p:cNvPr id="146" name="Line 5">
              <a:extLst>
                <a:ext uri="{FF2B5EF4-FFF2-40B4-BE49-F238E27FC236}">
                  <a16:creationId xmlns:a16="http://schemas.microsoft.com/office/drawing/2014/main" id="{C2272122-5DCC-BC95-E52E-C283EB9ED411}"/>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7" name="Line 6">
              <a:extLst>
                <a:ext uri="{FF2B5EF4-FFF2-40B4-BE49-F238E27FC236}">
                  <a16:creationId xmlns:a16="http://schemas.microsoft.com/office/drawing/2014/main" id="{C1F281A0-3165-3A37-9555-53C8FA4972FB}"/>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8" name="Line 7">
              <a:extLst>
                <a:ext uri="{FF2B5EF4-FFF2-40B4-BE49-F238E27FC236}">
                  <a16:creationId xmlns:a16="http://schemas.microsoft.com/office/drawing/2014/main" id="{E8FDB2EB-6253-8CC8-09AA-E4FC3E6DA4B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9" name="Line 8">
              <a:extLst>
                <a:ext uri="{FF2B5EF4-FFF2-40B4-BE49-F238E27FC236}">
                  <a16:creationId xmlns:a16="http://schemas.microsoft.com/office/drawing/2014/main" id="{9B9B6D12-0640-1724-B2D7-7EFC86FCA323}"/>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0" name="Line 9">
              <a:extLst>
                <a:ext uri="{FF2B5EF4-FFF2-40B4-BE49-F238E27FC236}">
                  <a16:creationId xmlns:a16="http://schemas.microsoft.com/office/drawing/2014/main" id="{C9F51858-EDF4-58D2-BB83-CDFA5A62550C}"/>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54" name="Explosion: 14 Points 153">
            <a:extLst>
              <a:ext uri="{FF2B5EF4-FFF2-40B4-BE49-F238E27FC236}">
                <a16:creationId xmlns:a16="http://schemas.microsoft.com/office/drawing/2014/main" id="{5EB352DB-1579-2B8F-AE0E-A612A9B1F863}"/>
              </a:ext>
            </a:extLst>
          </p:cNvPr>
          <p:cNvSpPr/>
          <p:nvPr/>
        </p:nvSpPr>
        <p:spPr>
          <a:xfrm>
            <a:off x="2869859" y="4785450"/>
            <a:ext cx="1694505" cy="1148060"/>
          </a:xfrm>
          <a:prstGeom prst="irregularSeal2">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accent1"/>
                </a:solidFill>
                <a:latin typeface="Comic Sans MS" panose="030F0702030302020204" pitchFamily="66" charset="0"/>
              </a:rPr>
              <a:t>1 pc Flow</a:t>
            </a:r>
          </a:p>
        </p:txBody>
      </p:sp>
      <p:sp>
        <p:nvSpPr>
          <p:cNvPr id="7" name="AutoShape 56">
            <a:extLst>
              <a:ext uri="{FF2B5EF4-FFF2-40B4-BE49-F238E27FC236}">
                <a16:creationId xmlns:a16="http://schemas.microsoft.com/office/drawing/2014/main" id="{1F752B7F-0633-BF38-FCE2-79E3AEFF5A8A}"/>
              </a:ext>
            </a:extLst>
          </p:cNvPr>
          <p:cNvSpPr>
            <a:spLocks noChangeArrowheads="1"/>
          </p:cNvSpPr>
          <p:nvPr/>
        </p:nvSpPr>
        <p:spPr bwMode="auto">
          <a:xfrm>
            <a:off x="1433199" y="2001559"/>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Weekly Fax</a:t>
            </a:r>
          </a:p>
        </p:txBody>
      </p:sp>
      <p:sp>
        <p:nvSpPr>
          <p:cNvPr id="155" name="AutoShape 56">
            <a:extLst>
              <a:ext uri="{FF2B5EF4-FFF2-40B4-BE49-F238E27FC236}">
                <a16:creationId xmlns:a16="http://schemas.microsoft.com/office/drawing/2014/main" id="{3AB7578C-CC64-C2F3-17B7-FCE8B3B0A7F5}"/>
              </a:ext>
            </a:extLst>
          </p:cNvPr>
          <p:cNvSpPr>
            <a:spLocks noChangeArrowheads="1"/>
          </p:cNvSpPr>
          <p:nvPr/>
        </p:nvSpPr>
        <p:spPr bwMode="auto">
          <a:xfrm>
            <a:off x="7484932" y="5263690"/>
            <a:ext cx="1411940"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Improve Quality</a:t>
            </a:r>
          </a:p>
        </p:txBody>
      </p:sp>
      <p:sp>
        <p:nvSpPr>
          <p:cNvPr id="156" name="AutoShape 56">
            <a:extLst>
              <a:ext uri="{FF2B5EF4-FFF2-40B4-BE49-F238E27FC236}">
                <a16:creationId xmlns:a16="http://schemas.microsoft.com/office/drawing/2014/main" id="{3B0ADB2D-FF55-25DA-B94D-E509292726ED}"/>
              </a:ext>
            </a:extLst>
          </p:cNvPr>
          <p:cNvSpPr>
            <a:spLocks noChangeArrowheads="1"/>
          </p:cNvSpPr>
          <p:nvPr/>
        </p:nvSpPr>
        <p:spPr bwMode="auto">
          <a:xfrm>
            <a:off x="7163397" y="1833775"/>
            <a:ext cx="1525237" cy="1036671"/>
          </a:xfrm>
          <a:prstGeom prst="irregularSeal1">
            <a:avLst/>
          </a:pr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1050" b="0" dirty="0">
                <a:solidFill>
                  <a:schemeClr val="accent1"/>
                </a:solidFill>
                <a:latin typeface="Comic Sans MS" panose="030F0702030302020204" pitchFamily="66" charset="0"/>
              </a:rPr>
              <a:t>30/60/90 Forecast</a:t>
            </a:r>
          </a:p>
        </p:txBody>
      </p:sp>
      <p:grpSp>
        <p:nvGrpSpPr>
          <p:cNvPr id="160" name="Group 159">
            <a:extLst>
              <a:ext uri="{FF2B5EF4-FFF2-40B4-BE49-F238E27FC236}">
                <a16:creationId xmlns:a16="http://schemas.microsoft.com/office/drawing/2014/main" id="{3610E071-6F1E-80E8-3CB2-74EB079A2DC5}"/>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29A54C3D-D433-9AE4-4E03-4EC6CF1E5612}"/>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FF371F1D-72F4-16B3-75F6-BB524623AA9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00CB2D88-EC71-3B43-9E86-56CE4062643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EDC83B2D-700B-70D1-257B-E90DEB5102EC}"/>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31829639-1BA8-0082-F010-13DAE6127000}"/>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E7617E73-3BFC-5D8F-300B-8431D2A3DC5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EEF23C47-51A8-939B-5FEB-BF4D7AE5069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6CCFB948-C823-7FC9-6678-BAC2E4673E6F}"/>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14" name="&quot;Not Allowed&quot; Symbol 113">
            <a:extLst>
              <a:ext uri="{FF2B5EF4-FFF2-40B4-BE49-F238E27FC236}">
                <a16:creationId xmlns:a16="http://schemas.microsoft.com/office/drawing/2014/main" id="{322718E5-07A6-CC17-78B0-D4B713C9B475}"/>
              </a:ext>
            </a:extLst>
          </p:cNvPr>
          <p:cNvSpPr/>
          <p:nvPr/>
        </p:nvSpPr>
        <p:spPr>
          <a:xfrm>
            <a:off x="5580088" y="4352202"/>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5" name="&quot;Not Allowed&quot; Symbol 114">
            <a:extLst>
              <a:ext uri="{FF2B5EF4-FFF2-40B4-BE49-F238E27FC236}">
                <a16:creationId xmlns:a16="http://schemas.microsoft.com/office/drawing/2014/main" id="{F44C26ED-9A0C-C81F-1CC6-42791703EF97}"/>
              </a:ext>
            </a:extLst>
          </p:cNvPr>
          <p:cNvSpPr/>
          <p:nvPr/>
        </p:nvSpPr>
        <p:spPr>
          <a:xfrm>
            <a:off x="8260410" y="437742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6" name="&quot;Not Allowed&quot; Symbol 115">
            <a:extLst>
              <a:ext uri="{FF2B5EF4-FFF2-40B4-BE49-F238E27FC236}">
                <a16:creationId xmlns:a16="http://schemas.microsoft.com/office/drawing/2014/main" id="{3693E64D-6192-423F-286D-A25019B2026A}"/>
              </a:ext>
            </a:extLst>
          </p:cNvPr>
          <p:cNvSpPr/>
          <p:nvPr/>
        </p:nvSpPr>
        <p:spPr>
          <a:xfrm>
            <a:off x="768406" y="4249218"/>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9" name="&quot;Not Allowed&quot; Symbol 118">
            <a:extLst>
              <a:ext uri="{FF2B5EF4-FFF2-40B4-BE49-F238E27FC236}">
                <a16:creationId xmlns:a16="http://schemas.microsoft.com/office/drawing/2014/main" id="{01F21577-6B9C-8D20-6F69-27F127CAE4CB}"/>
              </a:ext>
            </a:extLst>
          </p:cNvPr>
          <p:cNvSpPr/>
          <p:nvPr/>
        </p:nvSpPr>
        <p:spPr>
          <a:xfrm>
            <a:off x="3055779" y="4331484"/>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0" name="&quot;Not Allowed&quot; Symbol 119">
            <a:extLst>
              <a:ext uri="{FF2B5EF4-FFF2-40B4-BE49-F238E27FC236}">
                <a16:creationId xmlns:a16="http://schemas.microsoft.com/office/drawing/2014/main" id="{A7768EA3-DD06-87F2-5183-268E1B4E3C3B}"/>
              </a:ext>
            </a:extLst>
          </p:cNvPr>
          <p:cNvSpPr/>
          <p:nvPr/>
        </p:nvSpPr>
        <p:spPr>
          <a:xfrm>
            <a:off x="6190640" y="3510810"/>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2" name="&quot;Not Allowed&quot; Symbol 121">
            <a:extLst>
              <a:ext uri="{FF2B5EF4-FFF2-40B4-BE49-F238E27FC236}">
                <a16:creationId xmlns:a16="http://schemas.microsoft.com/office/drawing/2014/main" id="{6B7F21AA-A3D6-C35D-4434-08284F2302D5}"/>
              </a:ext>
            </a:extLst>
          </p:cNvPr>
          <p:cNvSpPr/>
          <p:nvPr/>
        </p:nvSpPr>
        <p:spPr>
          <a:xfrm>
            <a:off x="4522980" y="3520571"/>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8" name="&quot;Not Allowed&quot; Symbol 127">
            <a:extLst>
              <a:ext uri="{FF2B5EF4-FFF2-40B4-BE49-F238E27FC236}">
                <a16:creationId xmlns:a16="http://schemas.microsoft.com/office/drawing/2014/main" id="{6F83B6B5-1E3E-58F9-7B44-3FB80CC89E34}"/>
              </a:ext>
            </a:extLst>
          </p:cNvPr>
          <p:cNvSpPr/>
          <p:nvPr/>
        </p:nvSpPr>
        <p:spPr>
          <a:xfrm>
            <a:off x="3109585" y="3495749"/>
            <a:ext cx="655200" cy="567958"/>
          </a:xfrm>
          <a:prstGeom prst="noSmoking">
            <a:avLst>
              <a:gd name="adj" fmla="val 5333"/>
            </a:avLst>
          </a:prstGeom>
          <a:solidFill>
            <a:schemeClr val="accent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14642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206689212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600" dirty="0">
                <a:solidFill>
                  <a:schemeClr val="bg2">
                    <a:lumMod val="10000"/>
                  </a:schemeClr>
                </a:solidFill>
                <a:latin typeface="Roboto Medium"/>
                <a:ea typeface="Roboto Medium"/>
                <a:cs typeface="Roboto Medium"/>
              </a:rPr>
              <a:t>Draw the pieces of the map that are the same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137</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1" name="Group 40">
            <a:extLst>
              <a:ext uri="{FF2B5EF4-FFF2-40B4-BE49-F238E27FC236}">
                <a16:creationId xmlns:a16="http://schemas.microsoft.com/office/drawing/2014/main" id="{252CFB61-FD3D-4529-AC8A-9C479D6F1804}"/>
              </a:ext>
            </a:extLst>
          </p:cNvPr>
          <p:cNvGrpSpPr/>
          <p:nvPr/>
        </p:nvGrpSpPr>
        <p:grpSpPr>
          <a:xfrm>
            <a:off x="1634371" y="1887897"/>
            <a:ext cx="9788574" cy="2859558"/>
            <a:chOff x="1634371" y="1887897"/>
            <a:chExt cx="9788574" cy="2859558"/>
          </a:xfrm>
        </p:grpSpPr>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40" name="Group 39">
              <a:extLst>
                <a:ext uri="{FF2B5EF4-FFF2-40B4-BE49-F238E27FC236}">
                  <a16:creationId xmlns:a16="http://schemas.microsoft.com/office/drawing/2014/main" id="{75A03AF4-ABD2-9473-5F51-0FF1C6BC9A58}"/>
                </a:ext>
              </a:extLst>
            </p:cNvPr>
            <p:cNvGrpSpPr/>
            <p:nvPr/>
          </p:nvGrpSpPr>
          <p:grpSpPr>
            <a:xfrm>
              <a:off x="1634371" y="1887897"/>
              <a:ext cx="9788574" cy="2859558"/>
              <a:chOff x="1634371" y="1887897"/>
              <a:chExt cx="9788574" cy="2859558"/>
            </a:xfrm>
          </p:grpSpPr>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60" name="Group 159">
            <a:extLst>
              <a:ext uri="{FF2B5EF4-FFF2-40B4-BE49-F238E27FC236}">
                <a16:creationId xmlns:a16="http://schemas.microsoft.com/office/drawing/2014/main" id="{E2239F25-17F6-9BC3-B656-9685AAA835D1}"/>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B66B54DA-8EEB-BEEB-762F-72E89DBDAA77}"/>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E2BB4C92-F48C-9B40-0907-48B77ACA509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46533904-AB05-DA8A-BD34-BFA5F87C9D76}"/>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DFE62BDC-C1B1-4C5C-E072-9C788C7093AE}"/>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51659C0B-A87C-36B1-F0F4-8ADF74BBB8C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14F8FF73-1474-E82A-6235-2D29C7644A6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88B96029-21FD-6139-78C4-250F04AF5EA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FEEC2452-264A-5ECF-8EDC-D0F3EF23C8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70" name="Rectangle 86">
            <a:extLst>
              <a:ext uri="{FF2B5EF4-FFF2-40B4-BE49-F238E27FC236}">
                <a16:creationId xmlns:a16="http://schemas.microsoft.com/office/drawing/2014/main" id="{01DFA2C0-D758-C5AB-F9AC-3191C57EC565}"/>
              </a:ext>
            </a:extLst>
          </p:cNvPr>
          <p:cNvSpPr>
            <a:spLocks noChangeArrowheads="1"/>
          </p:cNvSpPr>
          <p:nvPr/>
        </p:nvSpPr>
        <p:spPr bwMode="auto">
          <a:xfrm>
            <a:off x="4011587" y="4155238"/>
            <a:ext cx="3429000" cy="609600"/>
          </a:xfrm>
          <a:prstGeom prst="rect">
            <a:avLst/>
          </a:prstGeom>
          <a:solidFill>
            <a:srgbClr val="EAEAEA"/>
          </a:solidFill>
          <a:ln w="12700" cap="sq">
            <a:solidFill>
              <a:schemeClr val="tx1"/>
            </a:solidFill>
            <a:miter lim="800000"/>
            <a:headEnd type="none" w="sm" len="sm"/>
            <a:tailEnd type="none" w="sm" len="sm"/>
          </a:ln>
        </p:spPr>
        <p:txBody>
          <a:bodyPr anchor="ctr"/>
          <a:lstStyle>
            <a:lvl1pPr marL="115888" indent="-11588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buFontTx/>
              <a:buChar char="•"/>
            </a:pPr>
            <a:r>
              <a:rPr lang="en-US" altLang="en-US" sz="1600" dirty="0">
                <a:solidFill>
                  <a:schemeClr val="tx1"/>
                </a:solidFill>
                <a:latin typeface="Roboto" panose="02000000000000000000" pitchFamily="2" charset="0"/>
                <a:ea typeface="Roboto" panose="02000000000000000000" pitchFamily="2" charset="0"/>
              </a:rPr>
              <a:t>Note the change to manpower and # of machines</a:t>
            </a:r>
          </a:p>
        </p:txBody>
      </p:sp>
    </p:spTree>
    <p:extLst>
      <p:ext uri="{BB962C8B-B14F-4D97-AF65-F5344CB8AC3E}">
        <p14:creationId xmlns:p14="http://schemas.microsoft.com/office/powerpoint/2010/main" val="3754282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70"/>
                                        </p:tgtEl>
                                        <p:attrNameLst>
                                          <p:attrName>style.visibility</p:attrName>
                                        </p:attrNameLst>
                                      </p:cBhvr>
                                      <p:to>
                                        <p:strVal val="visible"/>
                                      </p:to>
                                    </p:set>
                                    <p:animEffect transition="in" filter="dissolve">
                                      <p:cBhvr>
                                        <p:cTn id="16" dur="500"/>
                                        <p:tgtEl>
                                          <p:spTgt spid="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170"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138</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66218910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Combine Processes that Flow</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139</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3" name="Group 32">
            <a:extLst>
              <a:ext uri="{FF2B5EF4-FFF2-40B4-BE49-F238E27FC236}">
                <a16:creationId xmlns:a16="http://schemas.microsoft.com/office/drawing/2014/main" id="{92A7916F-E7B0-578E-4B5B-481EFEAC1E41}"/>
              </a:ext>
            </a:extLst>
          </p:cNvPr>
          <p:cNvGrpSpPr/>
          <p:nvPr/>
        </p:nvGrpSpPr>
        <p:grpSpPr>
          <a:xfrm>
            <a:off x="1634371" y="4178350"/>
            <a:ext cx="1065390" cy="569105"/>
            <a:chOff x="1634371" y="4178350"/>
            <a:chExt cx="1065390" cy="569105"/>
          </a:xfrm>
        </p:grpSpPr>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60" name="Group 159">
            <a:extLst>
              <a:ext uri="{FF2B5EF4-FFF2-40B4-BE49-F238E27FC236}">
                <a16:creationId xmlns:a16="http://schemas.microsoft.com/office/drawing/2014/main" id="{E2239F25-17F6-9BC3-B656-9685AAA835D1}"/>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B66B54DA-8EEB-BEEB-762F-72E89DBDAA77}"/>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E2BB4C92-F48C-9B40-0907-48B77ACA509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46533904-AB05-DA8A-BD34-BFA5F87C9D76}"/>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DFE62BDC-C1B1-4C5C-E072-9C788C7093AE}"/>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51659C0B-A87C-36B1-F0F4-8ADF74BBB8C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14F8FF73-1474-E82A-6235-2D29C7644A6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88B96029-21FD-6139-78C4-250F04AF5EA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FEEC2452-264A-5ECF-8EDC-D0F3EF23C8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42" name="Rectangle 7">
            <a:extLst>
              <a:ext uri="{FF2B5EF4-FFF2-40B4-BE49-F238E27FC236}">
                <a16:creationId xmlns:a16="http://schemas.microsoft.com/office/drawing/2014/main" id="{EA8D8526-7209-EDA0-0EA7-0AA6384776FB}"/>
              </a:ext>
            </a:extLst>
          </p:cNvPr>
          <p:cNvSpPr>
            <a:spLocks noChangeArrowheads="1"/>
          </p:cNvSpPr>
          <p:nvPr/>
        </p:nvSpPr>
        <p:spPr bwMode="auto">
          <a:xfrm>
            <a:off x="4972528" y="4178350"/>
            <a:ext cx="1065390" cy="569105"/>
          </a:xfrm>
          <a:prstGeom prst="rect">
            <a:avLst/>
          </a:prstGeom>
          <a:solidFill>
            <a:schemeClr val="bg1"/>
          </a:solidFill>
          <a:ln w="12700" cap="sq">
            <a:solidFill>
              <a:schemeClr val="accent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accent1"/>
                </a:solidFill>
                <a:latin typeface="Roboto" panose="02000000000000000000" pitchFamily="2" charset="0"/>
                <a:ea typeface="Roboto" panose="02000000000000000000" pitchFamily="2" charset="0"/>
              </a:rPr>
              <a:t>Stamp/Form</a:t>
            </a:r>
          </a:p>
        </p:txBody>
      </p:sp>
      <p:sp>
        <p:nvSpPr>
          <p:cNvPr id="43" name="Line 8">
            <a:extLst>
              <a:ext uri="{FF2B5EF4-FFF2-40B4-BE49-F238E27FC236}">
                <a16:creationId xmlns:a16="http://schemas.microsoft.com/office/drawing/2014/main" id="{C70745FE-45E2-C238-CAA5-0C7E7A37ABB6}"/>
              </a:ext>
            </a:extLst>
          </p:cNvPr>
          <p:cNvSpPr>
            <a:spLocks noChangeShapeType="1"/>
          </p:cNvSpPr>
          <p:nvPr/>
        </p:nvSpPr>
        <p:spPr bwMode="auto">
          <a:xfrm>
            <a:off x="4972528" y="4377927"/>
            <a:ext cx="1056310" cy="0"/>
          </a:xfrm>
          <a:prstGeom prst="line">
            <a:avLst/>
          </a:prstGeom>
          <a:noFill/>
          <a:ln w="12700"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sp>
        <p:nvSpPr>
          <p:cNvPr id="44" name="Rectangle 18">
            <a:extLst>
              <a:ext uri="{FF2B5EF4-FFF2-40B4-BE49-F238E27FC236}">
                <a16:creationId xmlns:a16="http://schemas.microsoft.com/office/drawing/2014/main" id="{851119B8-223D-5B4D-7583-AA1AA71E7D98}"/>
              </a:ext>
            </a:extLst>
          </p:cNvPr>
          <p:cNvSpPr>
            <a:spLocks noChangeArrowheads="1"/>
          </p:cNvSpPr>
          <p:nvPr/>
        </p:nvSpPr>
        <p:spPr bwMode="auto">
          <a:xfrm>
            <a:off x="4961007" y="4864180"/>
            <a:ext cx="1065389" cy="685800"/>
          </a:xfrm>
          <a:prstGeom prst="rect">
            <a:avLst/>
          </a:prstGeom>
          <a:solidFill>
            <a:schemeClr val="bg1"/>
          </a:solidFill>
          <a:ln w="12700" cap="sq">
            <a:solidFill>
              <a:schemeClr val="accent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chemeClr val="accent1"/>
                </a:solidFill>
                <a:effectLst/>
                <a:latin typeface="Roboto" panose="02000000000000000000" pitchFamily="2" charset="0"/>
                <a:ea typeface="Roboto" panose="02000000000000000000" pitchFamily="2" charset="0"/>
              </a:rPr>
              <a:t>DOI = </a:t>
            </a:r>
            <a:r>
              <a:rPr lang="en-US" sz="800" b="0" dirty="0">
                <a:solidFill>
                  <a:schemeClr val="accent1"/>
                </a:solidFill>
                <a:latin typeface="Roboto" panose="02000000000000000000" pitchFamily="2" charset="0"/>
                <a:ea typeface="Roboto" panose="02000000000000000000" pitchFamily="2" charset="0"/>
              </a:rPr>
              <a:t>15”</a:t>
            </a:r>
            <a:endParaRPr lang="en-US" sz="800" dirty="0">
              <a:solidFill>
                <a:schemeClr val="accent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accent1"/>
                </a:solidFill>
                <a:effectLst/>
                <a:latin typeface="Roboto" panose="02000000000000000000" pitchFamily="2" charset="0"/>
                <a:ea typeface="Roboto" panose="02000000000000000000" pitchFamily="2" charset="0"/>
              </a:rPr>
              <a:t>C/O Time =120</a:t>
            </a:r>
            <a:r>
              <a:rPr lang="ja-JP" sz="800" b="0" kern="1200" dirty="0">
                <a:solidFill>
                  <a:schemeClr val="accent1"/>
                </a:solidFill>
                <a:effectLst/>
                <a:latin typeface="Roboto" panose="02000000000000000000" pitchFamily="2" charset="0"/>
                <a:ea typeface="Arial" panose="020B0604020202020204" pitchFamily="34" charset="0"/>
              </a:rPr>
              <a:t>’</a:t>
            </a:r>
            <a:endParaRPr lang="en-US" sz="800" dirty="0">
              <a:solidFill>
                <a:schemeClr val="accent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accent1"/>
                </a:solidFill>
                <a:effectLst/>
                <a:latin typeface="Roboto" panose="02000000000000000000" pitchFamily="2" charset="0"/>
                <a:ea typeface="Roboto" panose="02000000000000000000" pitchFamily="2" charset="0"/>
              </a:rPr>
              <a:t>Uptime = 99%</a:t>
            </a:r>
            <a:endParaRPr lang="en-US" sz="800" dirty="0">
              <a:solidFill>
                <a:schemeClr val="accent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accent1"/>
                </a:solidFill>
                <a:effectLst/>
                <a:latin typeface="Roboto" panose="02000000000000000000" pitchFamily="2" charset="0"/>
                <a:ea typeface="Roboto" panose="02000000000000000000" pitchFamily="2" charset="0"/>
              </a:rPr>
              <a:t>Quality = 98%</a:t>
            </a:r>
            <a:endParaRPr lang="en-US" sz="800" dirty="0">
              <a:solidFill>
                <a:schemeClr val="accent1"/>
              </a:solidFill>
              <a:effectLst/>
              <a:latin typeface="Roboto" panose="02000000000000000000" pitchFamily="2" charset="0"/>
              <a:ea typeface="Roboto" panose="02000000000000000000" pitchFamily="2" charset="0"/>
            </a:endParaRPr>
          </a:p>
        </p:txBody>
      </p:sp>
      <p:sp>
        <p:nvSpPr>
          <p:cNvPr id="45" name="AutoShape 14">
            <a:extLst>
              <a:ext uri="{FF2B5EF4-FFF2-40B4-BE49-F238E27FC236}">
                <a16:creationId xmlns:a16="http://schemas.microsoft.com/office/drawing/2014/main" id="{6319026B-D29E-C9A1-F968-3307B3E10A35}"/>
              </a:ext>
            </a:extLst>
          </p:cNvPr>
          <p:cNvSpPr>
            <a:spLocks noChangeArrowheads="1"/>
          </p:cNvSpPr>
          <p:nvPr/>
        </p:nvSpPr>
        <p:spPr bwMode="auto">
          <a:xfrm flipV="1">
            <a:off x="5300237" y="4462745"/>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 name="Text Box 15">
            <a:extLst>
              <a:ext uri="{FF2B5EF4-FFF2-40B4-BE49-F238E27FC236}">
                <a16:creationId xmlns:a16="http://schemas.microsoft.com/office/drawing/2014/main" id="{CC72E0AA-599D-C015-D798-357A74459A80}"/>
              </a:ext>
            </a:extLst>
          </p:cNvPr>
          <p:cNvSpPr txBox="1">
            <a:spLocks noChangeArrowheads="1"/>
          </p:cNvSpPr>
          <p:nvPr/>
        </p:nvSpPr>
        <p:spPr bwMode="auto">
          <a:xfrm>
            <a:off x="5492273" y="4459570"/>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accent1"/>
                </a:solidFill>
                <a:latin typeface="Roboto" panose="02000000000000000000" pitchFamily="2" charset="0"/>
                <a:ea typeface="Roboto" panose="02000000000000000000" pitchFamily="2" charset="0"/>
              </a:rPr>
              <a:t>= 2</a:t>
            </a:r>
          </a:p>
        </p:txBody>
      </p:sp>
      <p:sp>
        <p:nvSpPr>
          <p:cNvPr id="48" name="Oval 13">
            <a:extLst>
              <a:ext uri="{FF2B5EF4-FFF2-40B4-BE49-F238E27FC236}">
                <a16:creationId xmlns:a16="http://schemas.microsoft.com/office/drawing/2014/main" id="{C4610C46-6017-5390-6049-47F1836D4D8A}"/>
              </a:ext>
            </a:extLst>
          </p:cNvPr>
          <p:cNvSpPr>
            <a:spLocks noChangeArrowheads="1"/>
          </p:cNvSpPr>
          <p:nvPr/>
        </p:nvSpPr>
        <p:spPr bwMode="auto">
          <a:xfrm flipV="1">
            <a:off x="5346325" y="4508542"/>
            <a:ext cx="92178" cy="86206"/>
          </a:xfrm>
          <a:prstGeom prst="ellipse">
            <a:avLst/>
          </a:prstGeom>
          <a:noFill/>
          <a:ln w="9525">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Tree>
    <p:extLst>
      <p:ext uri="{BB962C8B-B14F-4D97-AF65-F5344CB8AC3E}">
        <p14:creationId xmlns:p14="http://schemas.microsoft.com/office/powerpoint/2010/main" val="1873683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140</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315591913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Add Supermarkets &amp; Kanban</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141</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3" name="Group 32">
            <a:extLst>
              <a:ext uri="{FF2B5EF4-FFF2-40B4-BE49-F238E27FC236}">
                <a16:creationId xmlns:a16="http://schemas.microsoft.com/office/drawing/2014/main" id="{92A7916F-E7B0-578E-4B5B-481EFEAC1E41}"/>
              </a:ext>
            </a:extLst>
          </p:cNvPr>
          <p:cNvGrpSpPr/>
          <p:nvPr/>
        </p:nvGrpSpPr>
        <p:grpSpPr>
          <a:xfrm>
            <a:off x="1634371" y="4178350"/>
            <a:ext cx="1065390" cy="569105"/>
            <a:chOff x="1634371" y="4178350"/>
            <a:chExt cx="1065390" cy="569105"/>
          </a:xfrm>
        </p:grpSpPr>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60" name="Group 159">
            <a:extLst>
              <a:ext uri="{FF2B5EF4-FFF2-40B4-BE49-F238E27FC236}">
                <a16:creationId xmlns:a16="http://schemas.microsoft.com/office/drawing/2014/main" id="{E2239F25-17F6-9BC3-B656-9685AAA835D1}"/>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B66B54DA-8EEB-BEEB-762F-72E89DBDAA77}"/>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E2BB4C92-F48C-9B40-0907-48B77ACA509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46533904-AB05-DA8A-BD34-BFA5F87C9D76}"/>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DFE62BDC-C1B1-4C5C-E072-9C788C7093AE}"/>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51659C0B-A87C-36B1-F0F4-8ADF74BBB8C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14F8FF73-1474-E82A-6235-2D29C7644A6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88B96029-21FD-6139-78C4-250F04AF5EA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FEEC2452-264A-5ECF-8EDC-D0F3EF23C8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42" name="Rectangle 7">
            <a:extLst>
              <a:ext uri="{FF2B5EF4-FFF2-40B4-BE49-F238E27FC236}">
                <a16:creationId xmlns:a16="http://schemas.microsoft.com/office/drawing/2014/main" id="{EA8D8526-7209-EDA0-0EA7-0AA6384776FB}"/>
              </a:ext>
            </a:extLst>
          </p:cNvPr>
          <p:cNvSpPr>
            <a:spLocks noChangeArrowheads="1"/>
          </p:cNvSpPr>
          <p:nvPr/>
        </p:nvSpPr>
        <p:spPr bwMode="auto">
          <a:xfrm>
            <a:off x="497252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Stamp/Form</a:t>
            </a:r>
          </a:p>
        </p:txBody>
      </p:sp>
      <p:sp>
        <p:nvSpPr>
          <p:cNvPr id="43" name="Line 8">
            <a:extLst>
              <a:ext uri="{FF2B5EF4-FFF2-40B4-BE49-F238E27FC236}">
                <a16:creationId xmlns:a16="http://schemas.microsoft.com/office/drawing/2014/main" id="{C70745FE-45E2-C238-CAA5-0C7E7A37ABB6}"/>
              </a:ext>
            </a:extLst>
          </p:cNvPr>
          <p:cNvSpPr>
            <a:spLocks noChangeShapeType="1"/>
          </p:cNvSpPr>
          <p:nvPr/>
        </p:nvSpPr>
        <p:spPr bwMode="auto">
          <a:xfrm>
            <a:off x="497252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sp>
        <p:nvSpPr>
          <p:cNvPr id="44" name="Rectangle 18">
            <a:extLst>
              <a:ext uri="{FF2B5EF4-FFF2-40B4-BE49-F238E27FC236}">
                <a16:creationId xmlns:a16="http://schemas.microsoft.com/office/drawing/2014/main" id="{851119B8-223D-5B4D-7583-AA1AA71E7D98}"/>
              </a:ext>
            </a:extLst>
          </p:cNvPr>
          <p:cNvSpPr>
            <a:spLocks noChangeArrowheads="1"/>
          </p:cNvSpPr>
          <p:nvPr/>
        </p:nvSpPr>
        <p:spPr bwMode="auto">
          <a:xfrm>
            <a:off x="4961007"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DOI = </a:t>
            </a:r>
            <a:r>
              <a:rPr lang="en-US" sz="800" b="0" dirty="0">
                <a:solidFill>
                  <a:schemeClr val="tx1"/>
                </a:solidFill>
                <a:latin typeface="Roboto" panose="02000000000000000000" pitchFamily="2" charset="0"/>
                <a:ea typeface="Roboto" panose="02000000000000000000" pitchFamily="2" charset="0"/>
              </a:rPr>
              <a:t>15”</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C/O Time =120</a:t>
            </a:r>
            <a:r>
              <a:rPr lang="ja-JP" sz="800" b="0" kern="1200" dirty="0">
                <a:solidFill>
                  <a:schemeClr val="tx1"/>
                </a:solidFill>
                <a:effectLst/>
                <a:latin typeface="Roboto" panose="02000000000000000000" pitchFamily="2" charset="0"/>
                <a:ea typeface="Arial" panose="020B0604020202020204" pitchFamily="34" charset="0"/>
              </a:rPr>
              <a:t>’</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Uptime = 99%</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Quality = 98%</a:t>
            </a:r>
            <a:endParaRPr lang="en-US" sz="800" dirty="0">
              <a:solidFill>
                <a:schemeClr val="tx1"/>
              </a:solidFill>
              <a:effectLst/>
              <a:latin typeface="Roboto" panose="02000000000000000000" pitchFamily="2" charset="0"/>
              <a:ea typeface="Roboto" panose="02000000000000000000" pitchFamily="2" charset="0"/>
            </a:endParaRPr>
          </a:p>
        </p:txBody>
      </p:sp>
      <p:sp>
        <p:nvSpPr>
          <p:cNvPr id="45" name="AutoShape 14">
            <a:extLst>
              <a:ext uri="{FF2B5EF4-FFF2-40B4-BE49-F238E27FC236}">
                <a16:creationId xmlns:a16="http://schemas.microsoft.com/office/drawing/2014/main" id="{6319026B-D29E-C9A1-F968-3307B3E10A35}"/>
              </a:ext>
            </a:extLst>
          </p:cNvPr>
          <p:cNvSpPr>
            <a:spLocks noChangeArrowheads="1"/>
          </p:cNvSpPr>
          <p:nvPr/>
        </p:nvSpPr>
        <p:spPr bwMode="auto">
          <a:xfrm flipV="1">
            <a:off x="5300237" y="4462745"/>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 name="Text Box 15">
            <a:extLst>
              <a:ext uri="{FF2B5EF4-FFF2-40B4-BE49-F238E27FC236}">
                <a16:creationId xmlns:a16="http://schemas.microsoft.com/office/drawing/2014/main" id="{CC72E0AA-599D-C015-D798-357A74459A80}"/>
              </a:ext>
            </a:extLst>
          </p:cNvPr>
          <p:cNvSpPr txBox="1">
            <a:spLocks noChangeArrowheads="1"/>
          </p:cNvSpPr>
          <p:nvPr/>
        </p:nvSpPr>
        <p:spPr bwMode="auto">
          <a:xfrm>
            <a:off x="5492273" y="4459570"/>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2</a:t>
            </a:r>
          </a:p>
        </p:txBody>
      </p:sp>
      <p:sp>
        <p:nvSpPr>
          <p:cNvPr id="48" name="Oval 13">
            <a:extLst>
              <a:ext uri="{FF2B5EF4-FFF2-40B4-BE49-F238E27FC236}">
                <a16:creationId xmlns:a16="http://schemas.microsoft.com/office/drawing/2014/main" id="{C4610C46-6017-5390-6049-47F1836D4D8A}"/>
              </a:ext>
            </a:extLst>
          </p:cNvPr>
          <p:cNvSpPr>
            <a:spLocks noChangeArrowheads="1"/>
          </p:cNvSpPr>
          <p:nvPr/>
        </p:nvSpPr>
        <p:spPr bwMode="auto">
          <a:xfrm flipV="1">
            <a:off x="5346325" y="4508542"/>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2" name="Picture 1">
            <a:extLst>
              <a:ext uri="{FF2B5EF4-FFF2-40B4-BE49-F238E27FC236}">
                <a16:creationId xmlns:a16="http://schemas.microsoft.com/office/drawing/2014/main" id="{673D40E9-4DC0-E615-7452-7343CAFAAEB5}"/>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1203045" y="4497363"/>
            <a:ext cx="395483" cy="349343"/>
          </a:xfrm>
          <a:prstGeom prst="rect">
            <a:avLst/>
          </a:prstGeom>
        </p:spPr>
      </p:pic>
      <p:grpSp>
        <p:nvGrpSpPr>
          <p:cNvPr id="3" name="Group 4">
            <a:extLst>
              <a:ext uri="{FF2B5EF4-FFF2-40B4-BE49-F238E27FC236}">
                <a16:creationId xmlns:a16="http://schemas.microsoft.com/office/drawing/2014/main" id="{3FE24208-9FF7-E9F2-0BC8-35CBFF684A39}"/>
              </a:ext>
            </a:extLst>
          </p:cNvPr>
          <p:cNvGrpSpPr>
            <a:grpSpLocks/>
          </p:cNvGrpSpPr>
          <p:nvPr/>
        </p:nvGrpSpPr>
        <p:grpSpPr bwMode="auto">
          <a:xfrm>
            <a:off x="932796" y="4330976"/>
            <a:ext cx="169044" cy="344730"/>
            <a:chOff x="4780" y="1303"/>
            <a:chExt cx="285" cy="631"/>
          </a:xfrm>
        </p:grpSpPr>
        <p:sp>
          <p:nvSpPr>
            <p:cNvPr id="4" name="Line 5">
              <a:extLst>
                <a:ext uri="{FF2B5EF4-FFF2-40B4-BE49-F238E27FC236}">
                  <a16:creationId xmlns:a16="http://schemas.microsoft.com/office/drawing/2014/main" id="{BA1FC4A1-55C4-9878-0B3A-A5A48931ECE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 name="Line 6">
              <a:extLst>
                <a:ext uri="{FF2B5EF4-FFF2-40B4-BE49-F238E27FC236}">
                  <a16:creationId xmlns:a16="http://schemas.microsoft.com/office/drawing/2014/main" id="{97E858BB-DCF9-B5FB-BD6B-E686C1CA7972}"/>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Line 7">
              <a:extLst>
                <a:ext uri="{FF2B5EF4-FFF2-40B4-BE49-F238E27FC236}">
                  <a16:creationId xmlns:a16="http://schemas.microsoft.com/office/drawing/2014/main" id="{1F7E78CB-0CCA-F8BE-0999-0818B0AFFE20}"/>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 name="Line 8">
              <a:extLst>
                <a:ext uri="{FF2B5EF4-FFF2-40B4-BE49-F238E27FC236}">
                  <a16:creationId xmlns:a16="http://schemas.microsoft.com/office/drawing/2014/main" id="{3D721AF3-2569-0513-CC51-2A0DFAE762B7}"/>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9">
              <a:extLst>
                <a:ext uri="{FF2B5EF4-FFF2-40B4-BE49-F238E27FC236}">
                  <a16:creationId xmlns:a16="http://schemas.microsoft.com/office/drawing/2014/main" id="{F9A126D3-FB09-4AB0-FF12-DB5E08351A00}"/>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0" name="Group 4">
            <a:extLst>
              <a:ext uri="{FF2B5EF4-FFF2-40B4-BE49-F238E27FC236}">
                <a16:creationId xmlns:a16="http://schemas.microsoft.com/office/drawing/2014/main" id="{D40547A9-0C70-0AC1-FA36-EF7A8240D7B9}"/>
              </a:ext>
            </a:extLst>
          </p:cNvPr>
          <p:cNvGrpSpPr>
            <a:grpSpLocks/>
          </p:cNvGrpSpPr>
          <p:nvPr/>
        </p:nvGrpSpPr>
        <p:grpSpPr bwMode="auto">
          <a:xfrm>
            <a:off x="3087598" y="4330976"/>
            <a:ext cx="169044" cy="344730"/>
            <a:chOff x="4780" y="1303"/>
            <a:chExt cx="285" cy="631"/>
          </a:xfrm>
        </p:grpSpPr>
        <p:sp>
          <p:nvSpPr>
            <p:cNvPr id="11" name="Line 5">
              <a:extLst>
                <a:ext uri="{FF2B5EF4-FFF2-40B4-BE49-F238E27FC236}">
                  <a16:creationId xmlns:a16="http://schemas.microsoft.com/office/drawing/2014/main" id="{BD65F1B2-A93B-3C69-E2F8-A3C3F3A6B74C}"/>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 name="Line 6">
              <a:extLst>
                <a:ext uri="{FF2B5EF4-FFF2-40B4-BE49-F238E27FC236}">
                  <a16:creationId xmlns:a16="http://schemas.microsoft.com/office/drawing/2014/main" id="{D4B3BC22-0EC8-6D1C-C883-881A496C76E1}"/>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3" name="Line 7">
              <a:extLst>
                <a:ext uri="{FF2B5EF4-FFF2-40B4-BE49-F238E27FC236}">
                  <a16:creationId xmlns:a16="http://schemas.microsoft.com/office/drawing/2014/main" id="{F1E75F37-89F1-3723-4919-8090D07C2AA4}"/>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8">
              <a:extLst>
                <a:ext uri="{FF2B5EF4-FFF2-40B4-BE49-F238E27FC236}">
                  <a16:creationId xmlns:a16="http://schemas.microsoft.com/office/drawing/2014/main" id="{79F8D60E-771A-521C-19E7-972F5C2925BB}"/>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9">
              <a:extLst>
                <a:ext uri="{FF2B5EF4-FFF2-40B4-BE49-F238E27FC236}">
                  <a16:creationId xmlns:a16="http://schemas.microsoft.com/office/drawing/2014/main" id="{5F1E8488-85A8-1A78-B661-C2B12CE74D99}"/>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6" name="Group 4">
            <a:extLst>
              <a:ext uri="{FF2B5EF4-FFF2-40B4-BE49-F238E27FC236}">
                <a16:creationId xmlns:a16="http://schemas.microsoft.com/office/drawing/2014/main" id="{BE8FC67E-458A-01AA-5021-A879983D996B}"/>
              </a:ext>
            </a:extLst>
          </p:cNvPr>
          <p:cNvGrpSpPr>
            <a:grpSpLocks/>
          </p:cNvGrpSpPr>
          <p:nvPr/>
        </p:nvGrpSpPr>
        <p:grpSpPr bwMode="auto">
          <a:xfrm>
            <a:off x="6889785" y="4310932"/>
            <a:ext cx="169044" cy="344730"/>
            <a:chOff x="4780" y="1303"/>
            <a:chExt cx="285" cy="631"/>
          </a:xfrm>
        </p:grpSpPr>
        <p:sp>
          <p:nvSpPr>
            <p:cNvPr id="18" name="Line 5">
              <a:extLst>
                <a:ext uri="{FF2B5EF4-FFF2-40B4-BE49-F238E27FC236}">
                  <a16:creationId xmlns:a16="http://schemas.microsoft.com/office/drawing/2014/main" id="{D0CF38B5-F0C8-FC42-1ACD-89788145EF00}"/>
                </a:ext>
              </a:extLst>
            </p:cNvPr>
            <p:cNvSpPr>
              <a:spLocks noChangeShapeType="1"/>
            </p:cNvSpPr>
            <p:nvPr/>
          </p:nvSpPr>
          <p:spPr bwMode="auto">
            <a:xfrm>
              <a:off x="5064" y="1303"/>
              <a:ext cx="0" cy="62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6">
              <a:extLst>
                <a:ext uri="{FF2B5EF4-FFF2-40B4-BE49-F238E27FC236}">
                  <a16:creationId xmlns:a16="http://schemas.microsoft.com/office/drawing/2014/main" id="{A62AA09E-E76E-EBC2-9645-E51E7A4A3011}"/>
                </a:ext>
              </a:extLst>
            </p:cNvPr>
            <p:cNvSpPr>
              <a:spLocks noChangeShapeType="1"/>
            </p:cNvSpPr>
            <p:nvPr/>
          </p:nvSpPr>
          <p:spPr bwMode="auto">
            <a:xfrm>
              <a:off x="4780" y="130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7">
              <a:extLst>
                <a:ext uri="{FF2B5EF4-FFF2-40B4-BE49-F238E27FC236}">
                  <a16:creationId xmlns:a16="http://schemas.microsoft.com/office/drawing/2014/main" id="{511BFFDC-D30B-73CF-C89E-5453C955A9CA}"/>
                </a:ext>
              </a:extLst>
            </p:cNvPr>
            <p:cNvSpPr>
              <a:spLocks noChangeShapeType="1"/>
            </p:cNvSpPr>
            <p:nvPr/>
          </p:nvSpPr>
          <p:spPr bwMode="auto">
            <a:xfrm>
              <a:off x="4780" y="151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8">
              <a:extLst>
                <a:ext uri="{FF2B5EF4-FFF2-40B4-BE49-F238E27FC236}">
                  <a16:creationId xmlns:a16="http://schemas.microsoft.com/office/drawing/2014/main" id="{7081E6A9-0DEE-C2DB-D623-57267B6BB8BD}"/>
                </a:ext>
              </a:extLst>
            </p:cNvPr>
            <p:cNvSpPr>
              <a:spLocks noChangeShapeType="1"/>
            </p:cNvSpPr>
            <p:nvPr/>
          </p:nvSpPr>
          <p:spPr bwMode="auto">
            <a:xfrm>
              <a:off x="4780" y="172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1" name="Line 9">
              <a:extLst>
                <a:ext uri="{FF2B5EF4-FFF2-40B4-BE49-F238E27FC236}">
                  <a16:creationId xmlns:a16="http://schemas.microsoft.com/office/drawing/2014/main" id="{94FB1738-C36C-0B92-507D-278B16203C79}"/>
                </a:ext>
              </a:extLst>
            </p:cNvPr>
            <p:cNvSpPr>
              <a:spLocks noChangeShapeType="1"/>
            </p:cNvSpPr>
            <p:nvPr/>
          </p:nvSpPr>
          <p:spPr bwMode="auto">
            <a:xfrm>
              <a:off x="4780" y="1934"/>
              <a:ext cx="285" cy="0"/>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2" name="Line 110">
            <a:extLst>
              <a:ext uri="{FF2B5EF4-FFF2-40B4-BE49-F238E27FC236}">
                <a16:creationId xmlns:a16="http://schemas.microsoft.com/office/drawing/2014/main" id="{CA781C48-2B88-AB43-2589-22E26A9E3912}"/>
              </a:ext>
            </a:extLst>
          </p:cNvPr>
          <p:cNvSpPr>
            <a:spLocks noChangeShapeType="1"/>
          </p:cNvSpPr>
          <p:nvPr/>
        </p:nvSpPr>
        <p:spPr bwMode="auto">
          <a:xfrm flipH="1">
            <a:off x="1451844" y="2696256"/>
            <a:ext cx="1494479" cy="0"/>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111">
            <a:extLst>
              <a:ext uri="{FF2B5EF4-FFF2-40B4-BE49-F238E27FC236}">
                <a16:creationId xmlns:a16="http://schemas.microsoft.com/office/drawing/2014/main" id="{74ECCE57-9350-89FF-0DC1-336BE15635C3}"/>
              </a:ext>
            </a:extLst>
          </p:cNvPr>
          <p:cNvSpPr>
            <a:spLocks noChangeShapeType="1"/>
          </p:cNvSpPr>
          <p:nvPr/>
        </p:nvSpPr>
        <p:spPr bwMode="auto">
          <a:xfrm flipV="1">
            <a:off x="2786356" y="2775631"/>
            <a:ext cx="1934934" cy="1587"/>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112">
            <a:extLst>
              <a:ext uri="{FF2B5EF4-FFF2-40B4-BE49-F238E27FC236}">
                <a16:creationId xmlns:a16="http://schemas.microsoft.com/office/drawing/2014/main" id="{1F48C382-2ED4-D8BE-C045-6931C69A161F}"/>
              </a:ext>
            </a:extLst>
          </p:cNvPr>
          <p:cNvSpPr>
            <a:spLocks noChangeShapeType="1"/>
          </p:cNvSpPr>
          <p:nvPr/>
        </p:nvSpPr>
        <p:spPr bwMode="auto">
          <a:xfrm flipV="1">
            <a:off x="2775400" y="2708956"/>
            <a:ext cx="146818" cy="60325"/>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Rectangle 113">
            <a:extLst>
              <a:ext uri="{FF2B5EF4-FFF2-40B4-BE49-F238E27FC236}">
                <a16:creationId xmlns:a16="http://schemas.microsoft.com/office/drawing/2014/main" id="{1438E240-BA1D-48D5-0EBC-E8D862E2B230}"/>
              </a:ext>
            </a:extLst>
          </p:cNvPr>
          <p:cNvSpPr>
            <a:spLocks noChangeArrowheads="1"/>
          </p:cNvSpPr>
          <p:nvPr/>
        </p:nvSpPr>
        <p:spPr bwMode="auto">
          <a:xfrm>
            <a:off x="3101906" y="2551793"/>
            <a:ext cx="865570" cy="545803"/>
          </a:xfrm>
          <a:prstGeom prst="rect">
            <a:avLst/>
          </a:prstGeom>
          <a:solidFill>
            <a:schemeClr val="bg1"/>
          </a:solidFill>
          <a:ln w="12700"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Weekly </a:t>
            </a:r>
          </a:p>
          <a:p>
            <a:pPr algn="ctr">
              <a:lnSpc>
                <a:spcPct val="9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Replenishment.</a:t>
            </a:r>
          </a:p>
          <a:p>
            <a:pPr algn="ctr">
              <a:lnSpc>
                <a:spcPct val="9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(Faxed)</a:t>
            </a:r>
          </a:p>
        </p:txBody>
      </p:sp>
      <p:grpSp>
        <p:nvGrpSpPr>
          <p:cNvPr id="64" name="Group 63">
            <a:extLst>
              <a:ext uri="{FF2B5EF4-FFF2-40B4-BE49-F238E27FC236}">
                <a16:creationId xmlns:a16="http://schemas.microsoft.com/office/drawing/2014/main" id="{16B255A4-FA38-E03C-E3B6-DDD06402B5B7}"/>
              </a:ext>
            </a:extLst>
          </p:cNvPr>
          <p:cNvGrpSpPr/>
          <p:nvPr/>
        </p:nvGrpSpPr>
        <p:grpSpPr>
          <a:xfrm>
            <a:off x="1197961" y="3900634"/>
            <a:ext cx="304800" cy="533400"/>
            <a:chOff x="1219200" y="3505200"/>
            <a:chExt cx="304800" cy="533400"/>
          </a:xfrm>
        </p:grpSpPr>
        <p:sp>
          <p:nvSpPr>
            <p:cNvPr id="41" name="AutoShape 131" descr="Light upward diagonal">
              <a:extLst>
                <a:ext uri="{FF2B5EF4-FFF2-40B4-BE49-F238E27FC236}">
                  <a16:creationId xmlns:a16="http://schemas.microsoft.com/office/drawing/2014/main" id="{505F382C-2781-60B1-D799-B753E338F749}"/>
                </a:ext>
              </a:extLst>
            </p:cNvPr>
            <p:cNvSpPr>
              <a:spLocks noChangeArrowheads="1"/>
            </p:cNvSpPr>
            <p:nvPr/>
          </p:nvSpPr>
          <p:spPr bwMode="auto">
            <a:xfrm rot="16200000" flipH="1">
              <a:off x="1247775" y="3540356"/>
              <a:ext cx="247650" cy="177338"/>
            </a:xfrm>
            <a:prstGeom prst="flowChartPunchedCard">
              <a:avLst/>
            </a:prstGeom>
            <a:pattFill prst="ltUpDiag">
              <a:fgClr>
                <a:schemeClr val="tx1"/>
              </a:fgClr>
              <a:bgClr>
                <a:schemeClr val="bg1"/>
              </a:bgClr>
            </a:pattFill>
            <a:ln w="12700"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Line 132">
              <a:extLst>
                <a:ext uri="{FF2B5EF4-FFF2-40B4-BE49-F238E27FC236}">
                  <a16:creationId xmlns:a16="http://schemas.microsoft.com/office/drawing/2014/main" id="{62C4C9AC-66B1-4E35-E0E0-21E407282C36}"/>
                </a:ext>
              </a:extLst>
            </p:cNvPr>
            <p:cNvSpPr>
              <a:spLocks noChangeShapeType="1"/>
            </p:cNvSpPr>
            <p:nvPr/>
          </p:nvSpPr>
          <p:spPr bwMode="auto">
            <a:xfrm>
              <a:off x="1371600" y="3810000"/>
              <a:ext cx="0" cy="228600"/>
            </a:xfrm>
            <a:prstGeom prst="line">
              <a:avLst/>
            </a:prstGeom>
            <a:noFill/>
            <a:ln w="19050"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1" name="Line 133">
              <a:extLst>
                <a:ext uri="{FF2B5EF4-FFF2-40B4-BE49-F238E27FC236}">
                  <a16:creationId xmlns:a16="http://schemas.microsoft.com/office/drawing/2014/main" id="{BFE9A1FB-9641-F445-E6CF-484BEF3DF351}"/>
                </a:ext>
              </a:extLst>
            </p:cNvPr>
            <p:cNvSpPr>
              <a:spLocks noChangeShapeType="1"/>
            </p:cNvSpPr>
            <p:nvPr/>
          </p:nvSpPr>
          <p:spPr bwMode="auto">
            <a:xfrm>
              <a:off x="1238596" y="3810000"/>
              <a:ext cx="266007" cy="0"/>
            </a:xfrm>
            <a:prstGeom prst="line">
              <a:avLst/>
            </a:prstGeom>
            <a:noFill/>
            <a:ln w="19050"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2" name="Line 134">
              <a:extLst>
                <a:ext uri="{FF2B5EF4-FFF2-40B4-BE49-F238E27FC236}">
                  <a16:creationId xmlns:a16="http://schemas.microsoft.com/office/drawing/2014/main" id="{350B8907-79B2-754B-6E99-6756F81BE805}"/>
                </a:ext>
              </a:extLst>
            </p:cNvPr>
            <p:cNvSpPr>
              <a:spLocks noChangeShapeType="1"/>
            </p:cNvSpPr>
            <p:nvPr/>
          </p:nvSpPr>
          <p:spPr bwMode="auto">
            <a:xfrm>
              <a:off x="1219200" y="3619500"/>
              <a:ext cx="19396" cy="190500"/>
            </a:xfrm>
            <a:prstGeom prst="line">
              <a:avLst/>
            </a:prstGeom>
            <a:noFill/>
            <a:ln w="19050"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135">
              <a:extLst>
                <a:ext uri="{FF2B5EF4-FFF2-40B4-BE49-F238E27FC236}">
                  <a16:creationId xmlns:a16="http://schemas.microsoft.com/office/drawing/2014/main" id="{0BD5C145-1802-F81F-7C97-09D9069E0BFB}"/>
                </a:ext>
              </a:extLst>
            </p:cNvPr>
            <p:cNvSpPr>
              <a:spLocks noChangeShapeType="1"/>
            </p:cNvSpPr>
            <p:nvPr/>
          </p:nvSpPr>
          <p:spPr bwMode="auto">
            <a:xfrm flipH="1">
              <a:off x="1504604" y="3619500"/>
              <a:ext cx="19396" cy="190500"/>
            </a:xfrm>
            <a:prstGeom prst="line">
              <a:avLst/>
            </a:prstGeom>
            <a:noFill/>
            <a:ln w="19050"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65" name="Line 141">
            <a:extLst>
              <a:ext uri="{FF2B5EF4-FFF2-40B4-BE49-F238E27FC236}">
                <a16:creationId xmlns:a16="http://schemas.microsoft.com/office/drawing/2014/main" id="{ECEEE272-8181-5A56-A4AB-63F4220B67E6}"/>
              </a:ext>
            </a:extLst>
          </p:cNvPr>
          <p:cNvSpPr>
            <a:spLocks noChangeShapeType="1"/>
          </p:cNvSpPr>
          <p:nvPr/>
        </p:nvSpPr>
        <p:spPr bwMode="auto">
          <a:xfrm>
            <a:off x="1116563" y="4497363"/>
            <a:ext cx="504427" cy="0"/>
          </a:xfrm>
          <a:prstGeom prst="line">
            <a:avLst/>
          </a:prstGeom>
          <a:noFill/>
          <a:ln w="28575">
            <a:solidFill>
              <a:schemeClr val="accent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66" name="Line 141">
            <a:extLst>
              <a:ext uri="{FF2B5EF4-FFF2-40B4-BE49-F238E27FC236}">
                <a16:creationId xmlns:a16="http://schemas.microsoft.com/office/drawing/2014/main" id="{A0B5DA91-A190-E57D-A87C-BF1C167C65D2}"/>
              </a:ext>
            </a:extLst>
          </p:cNvPr>
          <p:cNvSpPr>
            <a:spLocks noChangeShapeType="1"/>
          </p:cNvSpPr>
          <p:nvPr/>
        </p:nvSpPr>
        <p:spPr bwMode="auto">
          <a:xfrm flipV="1">
            <a:off x="1463388" y="3069146"/>
            <a:ext cx="3256797" cy="811221"/>
          </a:xfrm>
          <a:prstGeom prst="line">
            <a:avLst/>
          </a:prstGeom>
          <a:noFill/>
          <a:ln w="28575">
            <a:solidFill>
              <a:schemeClr val="accent1"/>
            </a:solidFill>
            <a:prstDash val="solid"/>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grpSp>
        <p:nvGrpSpPr>
          <p:cNvPr id="71" name="Group 106">
            <a:extLst>
              <a:ext uri="{FF2B5EF4-FFF2-40B4-BE49-F238E27FC236}">
                <a16:creationId xmlns:a16="http://schemas.microsoft.com/office/drawing/2014/main" id="{9B176345-7D5F-F0AF-05F2-4A5B36A6411C}"/>
              </a:ext>
            </a:extLst>
          </p:cNvPr>
          <p:cNvGrpSpPr>
            <a:grpSpLocks/>
          </p:cNvGrpSpPr>
          <p:nvPr/>
        </p:nvGrpSpPr>
        <p:grpSpPr bwMode="auto">
          <a:xfrm>
            <a:off x="2148514" y="3840615"/>
            <a:ext cx="7186136" cy="600075"/>
            <a:chOff x="1296" y="2221"/>
            <a:chExt cx="2845" cy="378"/>
          </a:xfrm>
        </p:grpSpPr>
        <p:grpSp>
          <p:nvGrpSpPr>
            <p:cNvPr id="72" name="Group 107">
              <a:extLst>
                <a:ext uri="{FF2B5EF4-FFF2-40B4-BE49-F238E27FC236}">
                  <a16:creationId xmlns:a16="http://schemas.microsoft.com/office/drawing/2014/main" id="{221A0C17-2400-FF37-0064-A50F314505C7}"/>
                </a:ext>
              </a:extLst>
            </p:cNvPr>
            <p:cNvGrpSpPr>
              <a:grpSpLocks/>
            </p:cNvGrpSpPr>
            <p:nvPr/>
          </p:nvGrpSpPr>
          <p:grpSpPr bwMode="auto">
            <a:xfrm>
              <a:off x="1761" y="2256"/>
              <a:ext cx="783" cy="336"/>
              <a:chOff x="1761" y="2256"/>
              <a:chExt cx="783" cy="336"/>
            </a:xfrm>
          </p:grpSpPr>
          <p:sp>
            <p:nvSpPr>
              <p:cNvPr id="103" name="Line 108">
                <a:extLst>
                  <a:ext uri="{FF2B5EF4-FFF2-40B4-BE49-F238E27FC236}">
                    <a16:creationId xmlns:a16="http://schemas.microsoft.com/office/drawing/2014/main" id="{C0D19C50-D7CE-9891-F55D-13879DDE0EBD}"/>
                  </a:ext>
                </a:extLst>
              </p:cNvPr>
              <p:cNvSpPr>
                <a:spLocks noChangeShapeType="1"/>
              </p:cNvSpPr>
              <p:nvPr/>
            </p:nvSpPr>
            <p:spPr bwMode="auto">
              <a:xfrm>
                <a:off x="1776" y="2592"/>
                <a:ext cx="624" cy="0"/>
              </a:xfrm>
              <a:prstGeom prst="line">
                <a:avLst/>
              </a:prstGeom>
              <a:noFill/>
              <a:ln w="28575">
                <a:solidFill>
                  <a:schemeClr val="accent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104" name="Line 109">
                <a:extLst>
                  <a:ext uri="{FF2B5EF4-FFF2-40B4-BE49-F238E27FC236}">
                    <a16:creationId xmlns:a16="http://schemas.microsoft.com/office/drawing/2014/main" id="{E5F422F3-6B39-3EA9-D39A-8359F356B706}"/>
                  </a:ext>
                </a:extLst>
              </p:cNvPr>
              <p:cNvSpPr>
                <a:spLocks noChangeShapeType="1"/>
              </p:cNvSpPr>
              <p:nvPr/>
            </p:nvSpPr>
            <p:spPr bwMode="auto">
              <a:xfrm>
                <a:off x="1776" y="2304"/>
                <a:ext cx="768" cy="0"/>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5" name="Line 110">
                <a:extLst>
                  <a:ext uri="{FF2B5EF4-FFF2-40B4-BE49-F238E27FC236}">
                    <a16:creationId xmlns:a16="http://schemas.microsoft.com/office/drawing/2014/main" id="{34B8FA2B-E3BD-1FCD-221D-69DD4D3E16FF}"/>
                  </a:ext>
                </a:extLst>
              </p:cNvPr>
              <p:cNvSpPr>
                <a:spLocks noChangeShapeType="1"/>
              </p:cNvSpPr>
              <p:nvPr/>
            </p:nvSpPr>
            <p:spPr bwMode="auto">
              <a:xfrm>
                <a:off x="1761" y="2304"/>
                <a:ext cx="0" cy="288"/>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6" name="AutoShape 111" descr="Light upward diagonal">
                <a:extLst>
                  <a:ext uri="{FF2B5EF4-FFF2-40B4-BE49-F238E27FC236}">
                    <a16:creationId xmlns:a16="http://schemas.microsoft.com/office/drawing/2014/main" id="{878383E2-6C37-1F28-AF12-14C72B8C81BB}"/>
                  </a:ext>
                </a:extLst>
              </p:cNvPr>
              <p:cNvSpPr>
                <a:spLocks noChangeArrowheads="1"/>
              </p:cNvSpPr>
              <p:nvPr/>
            </p:nvSpPr>
            <p:spPr bwMode="auto">
              <a:xfrm flipH="1">
                <a:off x="2016" y="2256"/>
                <a:ext cx="240" cy="144"/>
              </a:xfrm>
              <a:prstGeom prst="flowChartPunchedCard">
                <a:avLst/>
              </a:prstGeom>
              <a:pattFill prst="ltUpDiag">
                <a:fgClr>
                  <a:schemeClr val="tx1"/>
                </a:fgClr>
                <a:bgClr>
                  <a:schemeClr val="bg1"/>
                </a:bgClr>
              </a:pattFill>
              <a:ln w="28575"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Line 112">
                <a:extLst>
                  <a:ext uri="{FF2B5EF4-FFF2-40B4-BE49-F238E27FC236}">
                    <a16:creationId xmlns:a16="http://schemas.microsoft.com/office/drawing/2014/main" id="{495C08A7-1408-F040-57AD-53EB3C65F91E}"/>
                  </a:ext>
                </a:extLst>
              </p:cNvPr>
              <p:cNvSpPr>
                <a:spLocks noChangeShapeType="1"/>
              </p:cNvSpPr>
              <p:nvPr/>
            </p:nvSpPr>
            <p:spPr bwMode="auto">
              <a:xfrm>
                <a:off x="2544" y="2304"/>
                <a:ext cx="0" cy="96"/>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3" name="Group 113">
              <a:extLst>
                <a:ext uri="{FF2B5EF4-FFF2-40B4-BE49-F238E27FC236}">
                  <a16:creationId xmlns:a16="http://schemas.microsoft.com/office/drawing/2014/main" id="{47EA00E2-AB84-1FC9-2EE9-20E7E22D3C05}"/>
                </a:ext>
              </a:extLst>
            </p:cNvPr>
            <p:cNvGrpSpPr>
              <a:grpSpLocks/>
            </p:cNvGrpSpPr>
            <p:nvPr/>
          </p:nvGrpSpPr>
          <p:grpSpPr bwMode="auto">
            <a:xfrm>
              <a:off x="1296" y="2256"/>
              <a:ext cx="432" cy="240"/>
              <a:chOff x="1296" y="2256"/>
              <a:chExt cx="432" cy="240"/>
            </a:xfrm>
          </p:grpSpPr>
          <p:sp>
            <p:nvSpPr>
              <p:cNvPr id="99" name="Line 114">
                <a:extLst>
                  <a:ext uri="{FF2B5EF4-FFF2-40B4-BE49-F238E27FC236}">
                    <a16:creationId xmlns:a16="http://schemas.microsoft.com/office/drawing/2014/main" id="{3CECE158-02F2-CB91-B30C-47C45E7E73BF}"/>
                  </a:ext>
                </a:extLst>
              </p:cNvPr>
              <p:cNvSpPr>
                <a:spLocks noChangeShapeType="1"/>
              </p:cNvSpPr>
              <p:nvPr/>
            </p:nvSpPr>
            <p:spPr bwMode="auto">
              <a:xfrm>
                <a:off x="1728" y="2304"/>
                <a:ext cx="0" cy="192"/>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115">
                <a:extLst>
                  <a:ext uri="{FF2B5EF4-FFF2-40B4-BE49-F238E27FC236}">
                    <a16:creationId xmlns:a16="http://schemas.microsoft.com/office/drawing/2014/main" id="{78014254-F688-AF9D-0DE1-24E4E486CEE7}"/>
                  </a:ext>
                </a:extLst>
              </p:cNvPr>
              <p:cNvSpPr>
                <a:spLocks noChangeShapeType="1"/>
              </p:cNvSpPr>
              <p:nvPr/>
            </p:nvSpPr>
            <p:spPr bwMode="auto">
              <a:xfrm>
                <a:off x="1296" y="2304"/>
                <a:ext cx="432" cy="0"/>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1" name="AutoShape 116">
                <a:extLst>
                  <a:ext uri="{FF2B5EF4-FFF2-40B4-BE49-F238E27FC236}">
                    <a16:creationId xmlns:a16="http://schemas.microsoft.com/office/drawing/2014/main" id="{EF983E13-D522-BB54-6AD4-69AA826E2E0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Line 117">
                <a:extLst>
                  <a:ext uri="{FF2B5EF4-FFF2-40B4-BE49-F238E27FC236}">
                    <a16:creationId xmlns:a16="http://schemas.microsoft.com/office/drawing/2014/main" id="{6B858B9F-AD72-DDDA-271E-3CD61B1F5711}"/>
                  </a:ext>
                </a:extLst>
              </p:cNvPr>
              <p:cNvSpPr>
                <a:spLocks noChangeShapeType="1"/>
              </p:cNvSpPr>
              <p:nvPr/>
            </p:nvSpPr>
            <p:spPr bwMode="auto">
              <a:xfrm>
                <a:off x="1296" y="2304"/>
                <a:ext cx="0" cy="96"/>
              </a:xfrm>
              <a:prstGeom prst="line">
                <a:avLst/>
              </a:prstGeom>
              <a:noFill/>
              <a:ln w="28575">
                <a:solidFill>
                  <a:schemeClr val="accent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74" name="Group 118">
              <a:extLst>
                <a:ext uri="{FF2B5EF4-FFF2-40B4-BE49-F238E27FC236}">
                  <a16:creationId xmlns:a16="http://schemas.microsoft.com/office/drawing/2014/main" id="{69A31880-2C13-C51A-4B3B-52E2B559936E}"/>
                </a:ext>
              </a:extLst>
            </p:cNvPr>
            <p:cNvGrpSpPr>
              <a:grpSpLocks/>
            </p:cNvGrpSpPr>
            <p:nvPr/>
          </p:nvGrpSpPr>
          <p:grpSpPr bwMode="auto">
            <a:xfrm>
              <a:off x="3234" y="2221"/>
              <a:ext cx="907" cy="378"/>
              <a:chOff x="3234" y="2221"/>
              <a:chExt cx="907" cy="378"/>
            </a:xfrm>
          </p:grpSpPr>
          <p:sp>
            <p:nvSpPr>
              <p:cNvPr id="81" name="Line 119">
                <a:extLst>
                  <a:ext uri="{FF2B5EF4-FFF2-40B4-BE49-F238E27FC236}">
                    <a16:creationId xmlns:a16="http://schemas.microsoft.com/office/drawing/2014/main" id="{8E53EF63-45A8-E039-FB5C-796E12E21F5F}"/>
                  </a:ext>
                </a:extLst>
              </p:cNvPr>
              <p:cNvSpPr>
                <a:spLocks noChangeShapeType="1"/>
              </p:cNvSpPr>
              <p:nvPr/>
            </p:nvSpPr>
            <p:spPr bwMode="auto">
              <a:xfrm>
                <a:off x="3235" y="2595"/>
                <a:ext cx="808" cy="0"/>
              </a:xfrm>
              <a:prstGeom prst="line">
                <a:avLst/>
              </a:prstGeom>
              <a:noFill/>
              <a:ln w="28575">
                <a:solidFill>
                  <a:schemeClr val="accent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82" name="Line 120">
                <a:extLst>
                  <a:ext uri="{FF2B5EF4-FFF2-40B4-BE49-F238E27FC236}">
                    <a16:creationId xmlns:a16="http://schemas.microsoft.com/office/drawing/2014/main" id="{8FA817BA-675C-1B56-3F5A-0EAB00ACE34F}"/>
                  </a:ext>
                </a:extLst>
              </p:cNvPr>
              <p:cNvSpPr>
                <a:spLocks noChangeShapeType="1"/>
              </p:cNvSpPr>
              <p:nvPr/>
            </p:nvSpPr>
            <p:spPr bwMode="auto">
              <a:xfrm>
                <a:off x="3264" y="2304"/>
                <a:ext cx="875" cy="0"/>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9" name="Line 121">
                <a:extLst>
                  <a:ext uri="{FF2B5EF4-FFF2-40B4-BE49-F238E27FC236}">
                    <a16:creationId xmlns:a16="http://schemas.microsoft.com/office/drawing/2014/main" id="{1A64B508-DE75-690E-35DE-5F11A5475111}"/>
                  </a:ext>
                </a:extLst>
              </p:cNvPr>
              <p:cNvSpPr>
                <a:spLocks noChangeShapeType="1"/>
              </p:cNvSpPr>
              <p:nvPr/>
            </p:nvSpPr>
            <p:spPr bwMode="auto">
              <a:xfrm flipH="1">
                <a:off x="3234" y="2304"/>
                <a:ext cx="6" cy="295"/>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0" name="AutoShape 122" descr="Light upward diagonal">
                <a:extLst>
                  <a:ext uri="{FF2B5EF4-FFF2-40B4-BE49-F238E27FC236}">
                    <a16:creationId xmlns:a16="http://schemas.microsoft.com/office/drawing/2014/main" id="{E4263844-1DC2-5ADF-8B5F-6DC999C69116}"/>
                  </a:ext>
                </a:extLst>
              </p:cNvPr>
              <p:cNvSpPr>
                <a:spLocks noChangeArrowheads="1"/>
              </p:cNvSpPr>
              <p:nvPr/>
            </p:nvSpPr>
            <p:spPr bwMode="auto">
              <a:xfrm flipH="1">
                <a:off x="3785" y="2221"/>
                <a:ext cx="240" cy="144"/>
              </a:xfrm>
              <a:prstGeom prst="flowChartPunchedCard">
                <a:avLst/>
              </a:prstGeom>
              <a:pattFill prst="ltUpDiag">
                <a:fgClr>
                  <a:schemeClr val="tx1"/>
                </a:fgClr>
                <a:bgClr>
                  <a:schemeClr val="bg1"/>
                </a:bgClr>
              </a:pattFill>
              <a:ln w="28575"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Line 123">
                <a:extLst>
                  <a:ext uri="{FF2B5EF4-FFF2-40B4-BE49-F238E27FC236}">
                    <a16:creationId xmlns:a16="http://schemas.microsoft.com/office/drawing/2014/main" id="{08EC29AF-8113-B132-E646-932AEE83248A}"/>
                  </a:ext>
                </a:extLst>
              </p:cNvPr>
              <p:cNvSpPr>
                <a:spLocks noChangeShapeType="1"/>
              </p:cNvSpPr>
              <p:nvPr/>
            </p:nvSpPr>
            <p:spPr bwMode="auto">
              <a:xfrm flipH="1">
                <a:off x="4141" y="2317"/>
                <a:ext cx="0" cy="96"/>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5" name="Group 124">
              <a:extLst>
                <a:ext uri="{FF2B5EF4-FFF2-40B4-BE49-F238E27FC236}">
                  <a16:creationId xmlns:a16="http://schemas.microsoft.com/office/drawing/2014/main" id="{541DE822-0BF6-A9D1-E8FD-85EF89E958FB}"/>
                </a:ext>
              </a:extLst>
            </p:cNvPr>
            <p:cNvGrpSpPr>
              <a:grpSpLocks/>
            </p:cNvGrpSpPr>
            <p:nvPr/>
          </p:nvGrpSpPr>
          <p:grpSpPr bwMode="auto">
            <a:xfrm>
              <a:off x="2766" y="2262"/>
              <a:ext cx="432" cy="240"/>
              <a:chOff x="1296" y="2256"/>
              <a:chExt cx="432" cy="240"/>
            </a:xfrm>
          </p:grpSpPr>
          <p:sp>
            <p:nvSpPr>
              <p:cNvPr id="76" name="Line 125">
                <a:extLst>
                  <a:ext uri="{FF2B5EF4-FFF2-40B4-BE49-F238E27FC236}">
                    <a16:creationId xmlns:a16="http://schemas.microsoft.com/office/drawing/2014/main" id="{97F85EAB-3AEB-F822-DA09-0AD8DABAC1A2}"/>
                  </a:ext>
                </a:extLst>
              </p:cNvPr>
              <p:cNvSpPr>
                <a:spLocks noChangeShapeType="1"/>
              </p:cNvSpPr>
              <p:nvPr/>
            </p:nvSpPr>
            <p:spPr bwMode="auto">
              <a:xfrm>
                <a:off x="1728" y="2304"/>
                <a:ext cx="0" cy="192"/>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7" name="Line 126">
                <a:extLst>
                  <a:ext uri="{FF2B5EF4-FFF2-40B4-BE49-F238E27FC236}">
                    <a16:creationId xmlns:a16="http://schemas.microsoft.com/office/drawing/2014/main" id="{4F3066D6-2886-8A15-73D1-896685CCE391}"/>
                  </a:ext>
                </a:extLst>
              </p:cNvPr>
              <p:cNvSpPr>
                <a:spLocks noChangeShapeType="1"/>
              </p:cNvSpPr>
              <p:nvPr/>
            </p:nvSpPr>
            <p:spPr bwMode="auto">
              <a:xfrm>
                <a:off x="1296" y="2304"/>
                <a:ext cx="432" cy="0"/>
              </a:xfrm>
              <a:prstGeom prst="line">
                <a:avLst/>
              </a:prstGeom>
              <a:noFill/>
              <a:ln w="28575">
                <a:solidFill>
                  <a:schemeClr val="accent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8" name="AutoShape 127">
                <a:extLst>
                  <a:ext uri="{FF2B5EF4-FFF2-40B4-BE49-F238E27FC236}">
                    <a16:creationId xmlns:a16="http://schemas.microsoft.com/office/drawing/2014/main" id="{C61B84E2-965A-BD9D-088A-93A8F66A552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0" name="Line 128">
                <a:extLst>
                  <a:ext uri="{FF2B5EF4-FFF2-40B4-BE49-F238E27FC236}">
                    <a16:creationId xmlns:a16="http://schemas.microsoft.com/office/drawing/2014/main" id="{CC4D97DB-62AD-5A3A-F7DA-E150D1F0E2F7}"/>
                  </a:ext>
                </a:extLst>
              </p:cNvPr>
              <p:cNvSpPr>
                <a:spLocks noChangeShapeType="1"/>
              </p:cNvSpPr>
              <p:nvPr/>
            </p:nvSpPr>
            <p:spPr bwMode="auto">
              <a:xfrm>
                <a:off x="1296" y="2304"/>
                <a:ext cx="0" cy="96"/>
              </a:xfrm>
              <a:prstGeom prst="line">
                <a:avLst/>
              </a:prstGeom>
              <a:noFill/>
              <a:ln w="28575">
                <a:solidFill>
                  <a:schemeClr val="accent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sp>
        <p:nvSpPr>
          <p:cNvPr id="112" name="Text Box 23">
            <a:extLst>
              <a:ext uri="{FF2B5EF4-FFF2-40B4-BE49-F238E27FC236}">
                <a16:creationId xmlns:a16="http://schemas.microsoft.com/office/drawing/2014/main" id="{4CCF06C2-5D19-D20D-88C4-ABC3A5040E06}"/>
              </a:ext>
            </a:extLst>
          </p:cNvPr>
          <p:cNvSpPr txBox="1">
            <a:spLocks noChangeArrowheads="1"/>
          </p:cNvSpPr>
          <p:nvPr/>
        </p:nvSpPr>
        <p:spPr bwMode="auto">
          <a:xfrm>
            <a:off x="711868" y="4662584"/>
            <a:ext cx="5556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accent1"/>
                </a:solidFill>
                <a:latin typeface="Roboto" panose="02000000000000000000" pitchFamily="2" charset="0"/>
                <a:ea typeface="Roboto" panose="02000000000000000000" pitchFamily="2" charset="0"/>
              </a:rPr>
              <a:t>6 days</a:t>
            </a:r>
          </a:p>
        </p:txBody>
      </p:sp>
      <p:sp>
        <p:nvSpPr>
          <p:cNvPr id="113" name="Text Box 23">
            <a:extLst>
              <a:ext uri="{FF2B5EF4-FFF2-40B4-BE49-F238E27FC236}">
                <a16:creationId xmlns:a16="http://schemas.microsoft.com/office/drawing/2014/main" id="{DA4441FE-F86B-79B4-6EE4-6EA0BF5E1A88}"/>
              </a:ext>
            </a:extLst>
          </p:cNvPr>
          <p:cNvSpPr txBox="1">
            <a:spLocks noChangeArrowheads="1"/>
          </p:cNvSpPr>
          <p:nvPr/>
        </p:nvSpPr>
        <p:spPr bwMode="auto">
          <a:xfrm>
            <a:off x="2878054" y="466594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accent1"/>
                </a:solidFill>
                <a:latin typeface="Roboto" panose="02000000000000000000" pitchFamily="2" charset="0"/>
                <a:ea typeface="Roboto" panose="02000000000000000000" pitchFamily="2" charset="0"/>
              </a:rPr>
              <a:t>2 days</a:t>
            </a:r>
          </a:p>
        </p:txBody>
      </p:sp>
      <p:sp>
        <p:nvSpPr>
          <p:cNvPr id="114" name="Text Box 23">
            <a:extLst>
              <a:ext uri="{FF2B5EF4-FFF2-40B4-BE49-F238E27FC236}">
                <a16:creationId xmlns:a16="http://schemas.microsoft.com/office/drawing/2014/main" id="{5186321E-A23D-D845-1696-41F7AEAE9CFD}"/>
              </a:ext>
            </a:extLst>
          </p:cNvPr>
          <p:cNvSpPr txBox="1">
            <a:spLocks noChangeArrowheads="1"/>
          </p:cNvSpPr>
          <p:nvPr/>
        </p:nvSpPr>
        <p:spPr bwMode="auto">
          <a:xfrm>
            <a:off x="6710257" y="465402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accent1"/>
                </a:solidFill>
                <a:latin typeface="Roboto" panose="02000000000000000000" pitchFamily="2" charset="0"/>
                <a:ea typeface="Roboto" panose="02000000000000000000" pitchFamily="2" charset="0"/>
              </a:rPr>
              <a:t>2 days</a:t>
            </a:r>
          </a:p>
        </p:txBody>
      </p:sp>
    </p:spTree>
    <p:extLst>
      <p:ext uri="{BB962C8B-B14F-4D97-AF65-F5344CB8AC3E}">
        <p14:creationId xmlns:p14="http://schemas.microsoft.com/office/powerpoint/2010/main" val="2710073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dissolve">
                                      <p:cBhvr>
                                        <p:cTn id="16" dur="1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142</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36735263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Add Additional Information Flow</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143</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3" name="Group 32">
            <a:extLst>
              <a:ext uri="{FF2B5EF4-FFF2-40B4-BE49-F238E27FC236}">
                <a16:creationId xmlns:a16="http://schemas.microsoft.com/office/drawing/2014/main" id="{92A7916F-E7B0-578E-4B5B-481EFEAC1E41}"/>
              </a:ext>
            </a:extLst>
          </p:cNvPr>
          <p:cNvGrpSpPr/>
          <p:nvPr/>
        </p:nvGrpSpPr>
        <p:grpSpPr>
          <a:xfrm>
            <a:off x="1634371" y="4178350"/>
            <a:ext cx="1065390" cy="569105"/>
            <a:chOff x="1634371" y="4178350"/>
            <a:chExt cx="1065390" cy="569105"/>
          </a:xfrm>
        </p:grpSpPr>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60" name="Group 159">
            <a:extLst>
              <a:ext uri="{FF2B5EF4-FFF2-40B4-BE49-F238E27FC236}">
                <a16:creationId xmlns:a16="http://schemas.microsoft.com/office/drawing/2014/main" id="{E2239F25-17F6-9BC3-B656-9685AAA835D1}"/>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B66B54DA-8EEB-BEEB-762F-72E89DBDAA77}"/>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E2BB4C92-F48C-9B40-0907-48B77ACA509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46533904-AB05-DA8A-BD34-BFA5F87C9D76}"/>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DFE62BDC-C1B1-4C5C-E072-9C788C7093AE}"/>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51659C0B-A87C-36B1-F0F4-8ADF74BBB8C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14F8FF73-1474-E82A-6235-2D29C7644A6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88B96029-21FD-6139-78C4-250F04AF5EA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FEEC2452-264A-5ECF-8EDC-D0F3EF23C8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42" name="Rectangle 7">
            <a:extLst>
              <a:ext uri="{FF2B5EF4-FFF2-40B4-BE49-F238E27FC236}">
                <a16:creationId xmlns:a16="http://schemas.microsoft.com/office/drawing/2014/main" id="{EA8D8526-7209-EDA0-0EA7-0AA6384776FB}"/>
              </a:ext>
            </a:extLst>
          </p:cNvPr>
          <p:cNvSpPr>
            <a:spLocks noChangeArrowheads="1"/>
          </p:cNvSpPr>
          <p:nvPr/>
        </p:nvSpPr>
        <p:spPr bwMode="auto">
          <a:xfrm>
            <a:off x="497252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Stamp/Form</a:t>
            </a:r>
          </a:p>
        </p:txBody>
      </p:sp>
      <p:sp>
        <p:nvSpPr>
          <p:cNvPr id="43" name="Line 8">
            <a:extLst>
              <a:ext uri="{FF2B5EF4-FFF2-40B4-BE49-F238E27FC236}">
                <a16:creationId xmlns:a16="http://schemas.microsoft.com/office/drawing/2014/main" id="{C70745FE-45E2-C238-CAA5-0C7E7A37ABB6}"/>
              </a:ext>
            </a:extLst>
          </p:cNvPr>
          <p:cNvSpPr>
            <a:spLocks noChangeShapeType="1"/>
          </p:cNvSpPr>
          <p:nvPr/>
        </p:nvSpPr>
        <p:spPr bwMode="auto">
          <a:xfrm>
            <a:off x="497252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sp>
        <p:nvSpPr>
          <p:cNvPr id="44" name="Rectangle 18">
            <a:extLst>
              <a:ext uri="{FF2B5EF4-FFF2-40B4-BE49-F238E27FC236}">
                <a16:creationId xmlns:a16="http://schemas.microsoft.com/office/drawing/2014/main" id="{851119B8-223D-5B4D-7583-AA1AA71E7D98}"/>
              </a:ext>
            </a:extLst>
          </p:cNvPr>
          <p:cNvSpPr>
            <a:spLocks noChangeArrowheads="1"/>
          </p:cNvSpPr>
          <p:nvPr/>
        </p:nvSpPr>
        <p:spPr bwMode="auto">
          <a:xfrm>
            <a:off x="4961007"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DOI = </a:t>
            </a:r>
            <a:r>
              <a:rPr lang="en-US" sz="800" b="0" dirty="0">
                <a:solidFill>
                  <a:schemeClr val="tx1"/>
                </a:solidFill>
                <a:latin typeface="Roboto" panose="02000000000000000000" pitchFamily="2" charset="0"/>
                <a:ea typeface="Roboto" panose="02000000000000000000" pitchFamily="2" charset="0"/>
              </a:rPr>
              <a:t>15”</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C/O Time =120</a:t>
            </a:r>
            <a:r>
              <a:rPr lang="ja-JP" sz="800" b="0" kern="1200" dirty="0">
                <a:solidFill>
                  <a:schemeClr val="tx1"/>
                </a:solidFill>
                <a:effectLst/>
                <a:latin typeface="Roboto" panose="02000000000000000000" pitchFamily="2" charset="0"/>
                <a:ea typeface="Arial" panose="020B0604020202020204" pitchFamily="34" charset="0"/>
              </a:rPr>
              <a:t>’</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Uptime = 99%</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Quality = 98%</a:t>
            </a:r>
            <a:endParaRPr lang="en-US" sz="800" dirty="0">
              <a:solidFill>
                <a:schemeClr val="tx1"/>
              </a:solidFill>
              <a:effectLst/>
              <a:latin typeface="Roboto" panose="02000000000000000000" pitchFamily="2" charset="0"/>
              <a:ea typeface="Roboto" panose="02000000000000000000" pitchFamily="2" charset="0"/>
            </a:endParaRPr>
          </a:p>
        </p:txBody>
      </p:sp>
      <p:sp>
        <p:nvSpPr>
          <p:cNvPr id="45" name="AutoShape 14">
            <a:extLst>
              <a:ext uri="{FF2B5EF4-FFF2-40B4-BE49-F238E27FC236}">
                <a16:creationId xmlns:a16="http://schemas.microsoft.com/office/drawing/2014/main" id="{6319026B-D29E-C9A1-F968-3307B3E10A35}"/>
              </a:ext>
            </a:extLst>
          </p:cNvPr>
          <p:cNvSpPr>
            <a:spLocks noChangeArrowheads="1"/>
          </p:cNvSpPr>
          <p:nvPr/>
        </p:nvSpPr>
        <p:spPr bwMode="auto">
          <a:xfrm flipV="1">
            <a:off x="5300237" y="4462745"/>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 name="Text Box 15">
            <a:extLst>
              <a:ext uri="{FF2B5EF4-FFF2-40B4-BE49-F238E27FC236}">
                <a16:creationId xmlns:a16="http://schemas.microsoft.com/office/drawing/2014/main" id="{CC72E0AA-599D-C015-D798-357A74459A80}"/>
              </a:ext>
            </a:extLst>
          </p:cNvPr>
          <p:cNvSpPr txBox="1">
            <a:spLocks noChangeArrowheads="1"/>
          </p:cNvSpPr>
          <p:nvPr/>
        </p:nvSpPr>
        <p:spPr bwMode="auto">
          <a:xfrm>
            <a:off x="5492273" y="4459570"/>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2</a:t>
            </a:r>
          </a:p>
        </p:txBody>
      </p:sp>
      <p:sp>
        <p:nvSpPr>
          <p:cNvPr id="48" name="Oval 13">
            <a:extLst>
              <a:ext uri="{FF2B5EF4-FFF2-40B4-BE49-F238E27FC236}">
                <a16:creationId xmlns:a16="http://schemas.microsoft.com/office/drawing/2014/main" id="{C4610C46-6017-5390-6049-47F1836D4D8A}"/>
              </a:ext>
            </a:extLst>
          </p:cNvPr>
          <p:cNvSpPr>
            <a:spLocks noChangeArrowheads="1"/>
          </p:cNvSpPr>
          <p:nvPr/>
        </p:nvSpPr>
        <p:spPr bwMode="auto">
          <a:xfrm flipV="1">
            <a:off x="5346325" y="4508542"/>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2" name="Picture 1">
            <a:extLst>
              <a:ext uri="{FF2B5EF4-FFF2-40B4-BE49-F238E27FC236}">
                <a16:creationId xmlns:a16="http://schemas.microsoft.com/office/drawing/2014/main" id="{673D40E9-4DC0-E615-7452-7343CAFAAEB5}"/>
              </a:ext>
            </a:extLst>
          </p:cNvPr>
          <p:cNvPicPr>
            <a:picLocks noChangeAspect="1"/>
          </p:cNvPicPr>
          <p:nvPr/>
        </p:nvPicPr>
        <p:blipFill>
          <a:blip r:embed="rId3">
            <a:clrChange>
              <a:clrFrom>
                <a:srgbClr val="FFFFFF"/>
              </a:clrFrom>
              <a:clrTo>
                <a:srgbClr val="FFFFFF">
                  <a:alpha val="0"/>
                </a:srgbClr>
              </a:clrTo>
            </a:clrChange>
            <a:biLevel thresh="75000"/>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1203045" y="4497363"/>
            <a:ext cx="395483" cy="349343"/>
          </a:xfrm>
          <a:prstGeom prst="rect">
            <a:avLst/>
          </a:prstGeom>
        </p:spPr>
      </p:pic>
      <p:grpSp>
        <p:nvGrpSpPr>
          <p:cNvPr id="3" name="Group 4">
            <a:extLst>
              <a:ext uri="{FF2B5EF4-FFF2-40B4-BE49-F238E27FC236}">
                <a16:creationId xmlns:a16="http://schemas.microsoft.com/office/drawing/2014/main" id="{3FE24208-9FF7-E9F2-0BC8-35CBFF684A39}"/>
              </a:ext>
            </a:extLst>
          </p:cNvPr>
          <p:cNvGrpSpPr>
            <a:grpSpLocks/>
          </p:cNvGrpSpPr>
          <p:nvPr/>
        </p:nvGrpSpPr>
        <p:grpSpPr bwMode="auto">
          <a:xfrm>
            <a:off x="932796" y="4330976"/>
            <a:ext cx="169044" cy="344730"/>
            <a:chOff x="4780" y="1303"/>
            <a:chExt cx="285" cy="631"/>
          </a:xfrm>
        </p:grpSpPr>
        <p:sp>
          <p:nvSpPr>
            <p:cNvPr id="4" name="Line 5">
              <a:extLst>
                <a:ext uri="{FF2B5EF4-FFF2-40B4-BE49-F238E27FC236}">
                  <a16:creationId xmlns:a16="http://schemas.microsoft.com/office/drawing/2014/main" id="{BA1FC4A1-55C4-9878-0B3A-A5A48931ECE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 name="Line 6">
              <a:extLst>
                <a:ext uri="{FF2B5EF4-FFF2-40B4-BE49-F238E27FC236}">
                  <a16:creationId xmlns:a16="http://schemas.microsoft.com/office/drawing/2014/main" id="{97E858BB-DCF9-B5FB-BD6B-E686C1CA7972}"/>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Line 7">
              <a:extLst>
                <a:ext uri="{FF2B5EF4-FFF2-40B4-BE49-F238E27FC236}">
                  <a16:creationId xmlns:a16="http://schemas.microsoft.com/office/drawing/2014/main" id="{1F7E78CB-0CCA-F8BE-0999-0818B0AFFE20}"/>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 name="Line 8">
              <a:extLst>
                <a:ext uri="{FF2B5EF4-FFF2-40B4-BE49-F238E27FC236}">
                  <a16:creationId xmlns:a16="http://schemas.microsoft.com/office/drawing/2014/main" id="{3D721AF3-2569-0513-CC51-2A0DFAE762B7}"/>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9">
              <a:extLst>
                <a:ext uri="{FF2B5EF4-FFF2-40B4-BE49-F238E27FC236}">
                  <a16:creationId xmlns:a16="http://schemas.microsoft.com/office/drawing/2014/main" id="{F9A126D3-FB09-4AB0-FF12-DB5E08351A00}"/>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0" name="Group 4">
            <a:extLst>
              <a:ext uri="{FF2B5EF4-FFF2-40B4-BE49-F238E27FC236}">
                <a16:creationId xmlns:a16="http://schemas.microsoft.com/office/drawing/2014/main" id="{D40547A9-0C70-0AC1-FA36-EF7A8240D7B9}"/>
              </a:ext>
            </a:extLst>
          </p:cNvPr>
          <p:cNvGrpSpPr>
            <a:grpSpLocks/>
          </p:cNvGrpSpPr>
          <p:nvPr/>
        </p:nvGrpSpPr>
        <p:grpSpPr bwMode="auto">
          <a:xfrm>
            <a:off x="3087598" y="4330976"/>
            <a:ext cx="169044" cy="344730"/>
            <a:chOff x="4780" y="1303"/>
            <a:chExt cx="285" cy="631"/>
          </a:xfrm>
        </p:grpSpPr>
        <p:sp>
          <p:nvSpPr>
            <p:cNvPr id="11" name="Line 5">
              <a:extLst>
                <a:ext uri="{FF2B5EF4-FFF2-40B4-BE49-F238E27FC236}">
                  <a16:creationId xmlns:a16="http://schemas.microsoft.com/office/drawing/2014/main" id="{BD65F1B2-A93B-3C69-E2F8-A3C3F3A6B74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 name="Line 6">
              <a:extLst>
                <a:ext uri="{FF2B5EF4-FFF2-40B4-BE49-F238E27FC236}">
                  <a16:creationId xmlns:a16="http://schemas.microsoft.com/office/drawing/2014/main" id="{D4B3BC22-0EC8-6D1C-C883-881A496C76E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3" name="Line 7">
              <a:extLst>
                <a:ext uri="{FF2B5EF4-FFF2-40B4-BE49-F238E27FC236}">
                  <a16:creationId xmlns:a16="http://schemas.microsoft.com/office/drawing/2014/main" id="{F1E75F37-89F1-3723-4919-8090D07C2AA4}"/>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8">
              <a:extLst>
                <a:ext uri="{FF2B5EF4-FFF2-40B4-BE49-F238E27FC236}">
                  <a16:creationId xmlns:a16="http://schemas.microsoft.com/office/drawing/2014/main" id="{79F8D60E-771A-521C-19E7-972F5C2925BB}"/>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9">
              <a:extLst>
                <a:ext uri="{FF2B5EF4-FFF2-40B4-BE49-F238E27FC236}">
                  <a16:creationId xmlns:a16="http://schemas.microsoft.com/office/drawing/2014/main" id="{5F1E8488-85A8-1A78-B661-C2B12CE74D9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6" name="Group 4">
            <a:extLst>
              <a:ext uri="{FF2B5EF4-FFF2-40B4-BE49-F238E27FC236}">
                <a16:creationId xmlns:a16="http://schemas.microsoft.com/office/drawing/2014/main" id="{BE8FC67E-458A-01AA-5021-A879983D996B}"/>
              </a:ext>
            </a:extLst>
          </p:cNvPr>
          <p:cNvGrpSpPr>
            <a:grpSpLocks/>
          </p:cNvGrpSpPr>
          <p:nvPr/>
        </p:nvGrpSpPr>
        <p:grpSpPr bwMode="auto">
          <a:xfrm>
            <a:off x="6889785" y="4310932"/>
            <a:ext cx="169044" cy="344730"/>
            <a:chOff x="4780" y="1303"/>
            <a:chExt cx="285" cy="631"/>
          </a:xfrm>
        </p:grpSpPr>
        <p:sp>
          <p:nvSpPr>
            <p:cNvPr id="18" name="Line 5">
              <a:extLst>
                <a:ext uri="{FF2B5EF4-FFF2-40B4-BE49-F238E27FC236}">
                  <a16:creationId xmlns:a16="http://schemas.microsoft.com/office/drawing/2014/main" id="{D0CF38B5-F0C8-FC42-1ACD-89788145EF00}"/>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6">
              <a:extLst>
                <a:ext uri="{FF2B5EF4-FFF2-40B4-BE49-F238E27FC236}">
                  <a16:creationId xmlns:a16="http://schemas.microsoft.com/office/drawing/2014/main" id="{A62AA09E-E76E-EBC2-9645-E51E7A4A301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7">
              <a:extLst>
                <a:ext uri="{FF2B5EF4-FFF2-40B4-BE49-F238E27FC236}">
                  <a16:creationId xmlns:a16="http://schemas.microsoft.com/office/drawing/2014/main" id="{511BFFDC-D30B-73CF-C89E-5453C955A9CA}"/>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8">
              <a:extLst>
                <a:ext uri="{FF2B5EF4-FFF2-40B4-BE49-F238E27FC236}">
                  <a16:creationId xmlns:a16="http://schemas.microsoft.com/office/drawing/2014/main" id="{7081E6A9-0DEE-C2DB-D623-57267B6BB8BD}"/>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1" name="Line 9">
              <a:extLst>
                <a:ext uri="{FF2B5EF4-FFF2-40B4-BE49-F238E27FC236}">
                  <a16:creationId xmlns:a16="http://schemas.microsoft.com/office/drawing/2014/main" id="{94FB1738-C36C-0B92-507D-278B16203C7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2" name="Line 110">
            <a:extLst>
              <a:ext uri="{FF2B5EF4-FFF2-40B4-BE49-F238E27FC236}">
                <a16:creationId xmlns:a16="http://schemas.microsoft.com/office/drawing/2014/main" id="{CA781C48-2B88-AB43-2589-22E26A9E3912}"/>
              </a:ext>
            </a:extLst>
          </p:cNvPr>
          <p:cNvSpPr>
            <a:spLocks noChangeShapeType="1"/>
          </p:cNvSpPr>
          <p:nvPr/>
        </p:nvSpPr>
        <p:spPr bwMode="auto">
          <a:xfrm flipH="1">
            <a:off x="1451844" y="2696256"/>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111">
            <a:extLst>
              <a:ext uri="{FF2B5EF4-FFF2-40B4-BE49-F238E27FC236}">
                <a16:creationId xmlns:a16="http://schemas.microsoft.com/office/drawing/2014/main" id="{74ECCE57-9350-89FF-0DC1-336BE15635C3}"/>
              </a:ext>
            </a:extLst>
          </p:cNvPr>
          <p:cNvSpPr>
            <a:spLocks noChangeShapeType="1"/>
          </p:cNvSpPr>
          <p:nvPr/>
        </p:nvSpPr>
        <p:spPr bwMode="auto">
          <a:xfrm flipV="1">
            <a:off x="2786356" y="2775631"/>
            <a:ext cx="1934934" cy="158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112">
            <a:extLst>
              <a:ext uri="{FF2B5EF4-FFF2-40B4-BE49-F238E27FC236}">
                <a16:creationId xmlns:a16="http://schemas.microsoft.com/office/drawing/2014/main" id="{1F48C382-2ED4-D8BE-C045-6931C69A161F}"/>
              </a:ext>
            </a:extLst>
          </p:cNvPr>
          <p:cNvSpPr>
            <a:spLocks noChangeShapeType="1"/>
          </p:cNvSpPr>
          <p:nvPr/>
        </p:nvSpPr>
        <p:spPr bwMode="auto">
          <a:xfrm flipV="1">
            <a:off x="2775400" y="2708956"/>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Rectangle 113">
            <a:extLst>
              <a:ext uri="{FF2B5EF4-FFF2-40B4-BE49-F238E27FC236}">
                <a16:creationId xmlns:a16="http://schemas.microsoft.com/office/drawing/2014/main" id="{1438E240-BA1D-48D5-0EBC-E8D862E2B230}"/>
              </a:ext>
            </a:extLst>
          </p:cNvPr>
          <p:cNvSpPr>
            <a:spLocks noChangeArrowheads="1"/>
          </p:cNvSpPr>
          <p:nvPr/>
        </p:nvSpPr>
        <p:spPr bwMode="auto">
          <a:xfrm>
            <a:off x="3101906" y="2551793"/>
            <a:ext cx="865570" cy="54580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Replenishment.</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nvGrpSpPr>
          <p:cNvPr id="64" name="Group 63">
            <a:extLst>
              <a:ext uri="{FF2B5EF4-FFF2-40B4-BE49-F238E27FC236}">
                <a16:creationId xmlns:a16="http://schemas.microsoft.com/office/drawing/2014/main" id="{16B255A4-FA38-E03C-E3B6-DDD06402B5B7}"/>
              </a:ext>
            </a:extLst>
          </p:cNvPr>
          <p:cNvGrpSpPr/>
          <p:nvPr/>
        </p:nvGrpSpPr>
        <p:grpSpPr>
          <a:xfrm>
            <a:off x="1197961" y="3900634"/>
            <a:ext cx="304800" cy="533400"/>
            <a:chOff x="1219200" y="3505200"/>
            <a:chExt cx="304800" cy="533400"/>
          </a:xfrm>
        </p:grpSpPr>
        <p:sp>
          <p:nvSpPr>
            <p:cNvPr id="41" name="AutoShape 131" descr="Light upward diagonal">
              <a:extLst>
                <a:ext uri="{FF2B5EF4-FFF2-40B4-BE49-F238E27FC236}">
                  <a16:creationId xmlns:a16="http://schemas.microsoft.com/office/drawing/2014/main" id="{505F382C-2781-60B1-D799-B753E338F749}"/>
                </a:ext>
              </a:extLst>
            </p:cNvPr>
            <p:cNvSpPr>
              <a:spLocks noChangeArrowheads="1"/>
            </p:cNvSpPr>
            <p:nvPr/>
          </p:nvSpPr>
          <p:spPr bwMode="auto">
            <a:xfrm rot="16200000" flipH="1">
              <a:off x="1247775" y="3540356"/>
              <a:ext cx="247650" cy="177338"/>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Line 132">
              <a:extLst>
                <a:ext uri="{FF2B5EF4-FFF2-40B4-BE49-F238E27FC236}">
                  <a16:creationId xmlns:a16="http://schemas.microsoft.com/office/drawing/2014/main" id="{62C4C9AC-66B1-4E35-E0E0-21E407282C36}"/>
                </a:ext>
              </a:extLst>
            </p:cNvPr>
            <p:cNvSpPr>
              <a:spLocks noChangeShapeType="1"/>
            </p:cNvSpPr>
            <p:nvPr/>
          </p:nvSpPr>
          <p:spPr bwMode="auto">
            <a:xfrm>
              <a:off x="1371600" y="3810000"/>
              <a:ext cx="0" cy="2286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1" name="Line 133">
              <a:extLst>
                <a:ext uri="{FF2B5EF4-FFF2-40B4-BE49-F238E27FC236}">
                  <a16:creationId xmlns:a16="http://schemas.microsoft.com/office/drawing/2014/main" id="{BFE9A1FB-9641-F445-E6CF-484BEF3DF351}"/>
                </a:ext>
              </a:extLst>
            </p:cNvPr>
            <p:cNvSpPr>
              <a:spLocks noChangeShapeType="1"/>
            </p:cNvSpPr>
            <p:nvPr/>
          </p:nvSpPr>
          <p:spPr bwMode="auto">
            <a:xfrm>
              <a:off x="1238596" y="3810000"/>
              <a:ext cx="266007" cy="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2" name="Line 134">
              <a:extLst>
                <a:ext uri="{FF2B5EF4-FFF2-40B4-BE49-F238E27FC236}">
                  <a16:creationId xmlns:a16="http://schemas.microsoft.com/office/drawing/2014/main" id="{350B8907-79B2-754B-6E99-6756F81BE805}"/>
                </a:ext>
              </a:extLst>
            </p:cNvPr>
            <p:cNvSpPr>
              <a:spLocks noChangeShapeType="1"/>
            </p:cNvSpPr>
            <p:nvPr/>
          </p:nvSpPr>
          <p:spPr bwMode="auto">
            <a:xfrm>
              <a:off x="1219200"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135">
              <a:extLst>
                <a:ext uri="{FF2B5EF4-FFF2-40B4-BE49-F238E27FC236}">
                  <a16:creationId xmlns:a16="http://schemas.microsoft.com/office/drawing/2014/main" id="{0BD5C145-1802-F81F-7C97-09D9069E0BFB}"/>
                </a:ext>
              </a:extLst>
            </p:cNvPr>
            <p:cNvSpPr>
              <a:spLocks noChangeShapeType="1"/>
            </p:cNvSpPr>
            <p:nvPr/>
          </p:nvSpPr>
          <p:spPr bwMode="auto">
            <a:xfrm flipH="1">
              <a:off x="1504604"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65" name="Line 141">
            <a:extLst>
              <a:ext uri="{FF2B5EF4-FFF2-40B4-BE49-F238E27FC236}">
                <a16:creationId xmlns:a16="http://schemas.microsoft.com/office/drawing/2014/main" id="{ECEEE272-8181-5A56-A4AB-63F4220B67E6}"/>
              </a:ext>
            </a:extLst>
          </p:cNvPr>
          <p:cNvSpPr>
            <a:spLocks noChangeShapeType="1"/>
          </p:cNvSpPr>
          <p:nvPr/>
        </p:nvSpPr>
        <p:spPr bwMode="auto">
          <a:xfrm>
            <a:off x="1116563" y="4497363"/>
            <a:ext cx="504427"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66" name="Line 141">
            <a:extLst>
              <a:ext uri="{FF2B5EF4-FFF2-40B4-BE49-F238E27FC236}">
                <a16:creationId xmlns:a16="http://schemas.microsoft.com/office/drawing/2014/main" id="{A0B5DA91-A190-E57D-A87C-BF1C167C65D2}"/>
              </a:ext>
            </a:extLst>
          </p:cNvPr>
          <p:cNvSpPr>
            <a:spLocks noChangeShapeType="1"/>
          </p:cNvSpPr>
          <p:nvPr/>
        </p:nvSpPr>
        <p:spPr bwMode="auto">
          <a:xfrm flipV="1">
            <a:off x="1463388" y="3069146"/>
            <a:ext cx="3256797" cy="811221"/>
          </a:xfrm>
          <a:prstGeom prst="line">
            <a:avLst/>
          </a:prstGeom>
          <a:noFill/>
          <a:ln w="28575">
            <a:solidFill>
              <a:schemeClr val="tx1"/>
            </a:solidFill>
            <a:prstDash val="solid"/>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grpSp>
        <p:nvGrpSpPr>
          <p:cNvPr id="71" name="Group 106">
            <a:extLst>
              <a:ext uri="{FF2B5EF4-FFF2-40B4-BE49-F238E27FC236}">
                <a16:creationId xmlns:a16="http://schemas.microsoft.com/office/drawing/2014/main" id="{9B176345-7D5F-F0AF-05F2-4A5B36A6411C}"/>
              </a:ext>
            </a:extLst>
          </p:cNvPr>
          <p:cNvGrpSpPr>
            <a:grpSpLocks/>
          </p:cNvGrpSpPr>
          <p:nvPr/>
        </p:nvGrpSpPr>
        <p:grpSpPr bwMode="auto">
          <a:xfrm>
            <a:off x="2148514" y="3840615"/>
            <a:ext cx="7186136" cy="600075"/>
            <a:chOff x="1296" y="2221"/>
            <a:chExt cx="2845" cy="378"/>
          </a:xfrm>
        </p:grpSpPr>
        <p:grpSp>
          <p:nvGrpSpPr>
            <p:cNvPr id="72" name="Group 107">
              <a:extLst>
                <a:ext uri="{FF2B5EF4-FFF2-40B4-BE49-F238E27FC236}">
                  <a16:creationId xmlns:a16="http://schemas.microsoft.com/office/drawing/2014/main" id="{221A0C17-2400-FF37-0064-A50F314505C7}"/>
                </a:ext>
              </a:extLst>
            </p:cNvPr>
            <p:cNvGrpSpPr>
              <a:grpSpLocks/>
            </p:cNvGrpSpPr>
            <p:nvPr/>
          </p:nvGrpSpPr>
          <p:grpSpPr bwMode="auto">
            <a:xfrm>
              <a:off x="1761" y="2256"/>
              <a:ext cx="783" cy="336"/>
              <a:chOff x="1761" y="2256"/>
              <a:chExt cx="783" cy="336"/>
            </a:xfrm>
          </p:grpSpPr>
          <p:sp>
            <p:nvSpPr>
              <p:cNvPr id="103" name="Line 108">
                <a:extLst>
                  <a:ext uri="{FF2B5EF4-FFF2-40B4-BE49-F238E27FC236}">
                    <a16:creationId xmlns:a16="http://schemas.microsoft.com/office/drawing/2014/main" id="{C0D19C50-D7CE-9891-F55D-13879DDE0EBD}"/>
                  </a:ext>
                </a:extLst>
              </p:cNvPr>
              <p:cNvSpPr>
                <a:spLocks noChangeShapeType="1"/>
              </p:cNvSpPr>
              <p:nvPr/>
            </p:nvSpPr>
            <p:spPr bwMode="auto">
              <a:xfrm>
                <a:off x="1776" y="2592"/>
                <a:ext cx="624"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104" name="Line 109">
                <a:extLst>
                  <a:ext uri="{FF2B5EF4-FFF2-40B4-BE49-F238E27FC236}">
                    <a16:creationId xmlns:a16="http://schemas.microsoft.com/office/drawing/2014/main" id="{E5F422F3-6B39-3EA9-D39A-8359F356B706}"/>
                  </a:ext>
                </a:extLst>
              </p:cNvPr>
              <p:cNvSpPr>
                <a:spLocks noChangeShapeType="1"/>
              </p:cNvSpPr>
              <p:nvPr/>
            </p:nvSpPr>
            <p:spPr bwMode="auto">
              <a:xfrm>
                <a:off x="1776" y="2304"/>
                <a:ext cx="768"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5" name="Line 110">
                <a:extLst>
                  <a:ext uri="{FF2B5EF4-FFF2-40B4-BE49-F238E27FC236}">
                    <a16:creationId xmlns:a16="http://schemas.microsoft.com/office/drawing/2014/main" id="{34B8FA2B-E3BD-1FCD-221D-69DD4D3E16FF}"/>
                  </a:ext>
                </a:extLst>
              </p:cNvPr>
              <p:cNvSpPr>
                <a:spLocks noChangeShapeType="1"/>
              </p:cNvSpPr>
              <p:nvPr/>
            </p:nvSpPr>
            <p:spPr bwMode="auto">
              <a:xfrm>
                <a:off x="1761" y="2304"/>
                <a:ext cx="0" cy="288"/>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6" name="AutoShape 111" descr="Light upward diagonal">
                <a:extLst>
                  <a:ext uri="{FF2B5EF4-FFF2-40B4-BE49-F238E27FC236}">
                    <a16:creationId xmlns:a16="http://schemas.microsoft.com/office/drawing/2014/main" id="{878383E2-6C37-1F28-AF12-14C72B8C81BB}"/>
                  </a:ext>
                </a:extLst>
              </p:cNvPr>
              <p:cNvSpPr>
                <a:spLocks noChangeArrowheads="1"/>
              </p:cNvSpPr>
              <p:nvPr/>
            </p:nvSpPr>
            <p:spPr bwMode="auto">
              <a:xfrm flipH="1">
                <a:off x="2016" y="2256"/>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Line 112">
                <a:extLst>
                  <a:ext uri="{FF2B5EF4-FFF2-40B4-BE49-F238E27FC236}">
                    <a16:creationId xmlns:a16="http://schemas.microsoft.com/office/drawing/2014/main" id="{495C08A7-1408-F040-57AD-53EB3C65F91E}"/>
                  </a:ext>
                </a:extLst>
              </p:cNvPr>
              <p:cNvSpPr>
                <a:spLocks noChangeShapeType="1"/>
              </p:cNvSpPr>
              <p:nvPr/>
            </p:nvSpPr>
            <p:spPr bwMode="auto">
              <a:xfrm>
                <a:off x="2544" y="2304"/>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3" name="Group 113">
              <a:extLst>
                <a:ext uri="{FF2B5EF4-FFF2-40B4-BE49-F238E27FC236}">
                  <a16:creationId xmlns:a16="http://schemas.microsoft.com/office/drawing/2014/main" id="{47EA00E2-AB84-1FC9-2EE9-20E7E22D3C05}"/>
                </a:ext>
              </a:extLst>
            </p:cNvPr>
            <p:cNvGrpSpPr>
              <a:grpSpLocks/>
            </p:cNvGrpSpPr>
            <p:nvPr/>
          </p:nvGrpSpPr>
          <p:grpSpPr bwMode="auto">
            <a:xfrm>
              <a:off x="1296" y="2256"/>
              <a:ext cx="432" cy="240"/>
              <a:chOff x="1296" y="2256"/>
              <a:chExt cx="432" cy="240"/>
            </a:xfrm>
          </p:grpSpPr>
          <p:sp>
            <p:nvSpPr>
              <p:cNvPr id="99" name="Line 114">
                <a:extLst>
                  <a:ext uri="{FF2B5EF4-FFF2-40B4-BE49-F238E27FC236}">
                    <a16:creationId xmlns:a16="http://schemas.microsoft.com/office/drawing/2014/main" id="{3CECE158-02F2-CB91-B30C-47C45E7E73BF}"/>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115">
                <a:extLst>
                  <a:ext uri="{FF2B5EF4-FFF2-40B4-BE49-F238E27FC236}">
                    <a16:creationId xmlns:a16="http://schemas.microsoft.com/office/drawing/2014/main" id="{78014254-F688-AF9D-0DE1-24E4E486CEE7}"/>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1" name="AutoShape 116">
                <a:extLst>
                  <a:ext uri="{FF2B5EF4-FFF2-40B4-BE49-F238E27FC236}">
                    <a16:creationId xmlns:a16="http://schemas.microsoft.com/office/drawing/2014/main" id="{EF983E13-D522-BB54-6AD4-69AA826E2E0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Line 117">
                <a:extLst>
                  <a:ext uri="{FF2B5EF4-FFF2-40B4-BE49-F238E27FC236}">
                    <a16:creationId xmlns:a16="http://schemas.microsoft.com/office/drawing/2014/main" id="{6B858B9F-AD72-DDDA-271E-3CD61B1F5711}"/>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74" name="Group 118">
              <a:extLst>
                <a:ext uri="{FF2B5EF4-FFF2-40B4-BE49-F238E27FC236}">
                  <a16:creationId xmlns:a16="http://schemas.microsoft.com/office/drawing/2014/main" id="{69A31880-2C13-C51A-4B3B-52E2B559936E}"/>
                </a:ext>
              </a:extLst>
            </p:cNvPr>
            <p:cNvGrpSpPr>
              <a:grpSpLocks/>
            </p:cNvGrpSpPr>
            <p:nvPr/>
          </p:nvGrpSpPr>
          <p:grpSpPr bwMode="auto">
            <a:xfrm>
              <a:off x="3234" y="2221"/>
              <a:ext cx="907" cy="378"/>
              <a:chOff x="3234" y="2221"/>
              <a:chExt cx="907" cy="378"/>
            </a:xfrm>
          </p:grpSpPr>
          <p:sp>
            <p:nvSpPr>
              <p:cNvPr id="81" name="Line 119">
                <a:extLst>
                  <a:ext uri="{FF2B5EF4-FFF2-40B4-BE49-F238E27FC236}">
                    <a16:creationId xmlns:a16="http://schemas.microsoft.com/office/drawing/2014/main" id="{8E53EF63-45A8-E039-FB5C-796E12E21F5F}"/>
                  </a:ext>
                </a:extLst>
              </p:cNvPr>
              <p:cNvSpPr>
                <a:spLocks noChangeShapeType="1"/>
              </p:cNvSpPr>
              <p:nvPr/>
            </p:nvSpPr>
            <p:spPr bwMode="auto">
              <a:xfrm>
                <a:off x="3235" y="2595"/>
                <a:ext cx="808"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82" name="Line 120">
                <a:extLst>
                  <a:ext uri="{FF2B5EF4-FFF2-40B4-BE49-F238E27FC236}">
                    <a16:creationId xmlns:a16="http://schemas.microsoft.com/office/drawing/2014/main" id="{8FA817BA-675C-1B56-3F5A-0EAB00ACE34F}"/>
                  </a:ext>
                </a:extLst>
              </p:cNvPr>
              <p:cNvSpPr>
                <a:spLocks noChangeShapeType="1"/>
              </p:cNvSpPr>
              <p:nvPr/>
            </p:nvSpPr>
            <p:spPr bwMode="auto">
              <a:xfrm>
                <a:off x="3264" y="2304"/>
                <a:ext cx="875"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9" name="Line 121">
                <a:extLst>
                  <a:ext uri="{FF2B5EF4-FFF2-40B4-BE49-F238E27FC236}">
                    <a16:creationId xmlns:a16="http://schemas.microsoft.com/office/drawing/2014/main" id="{1A64B508-DE75-690E-35DE-5F11A5475111}"/>
                  </a:ext>
                </a:extLst>
              </p:cNvPr>
              <p:cNvSpPr>
                <a:spLocks noChangeShapeType="1"/>
              </p:cNvSpPr>
              <p:nvPr/>
            </p:nvSpPr>
            <p:spPr bwMode="auto">
              <a:xfrm flipH="1">
                <a:off x="3234" y="2304"/>
                <a:ext cx="6" cy="295"/>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0" name="AutoShape 122" descr="Light upward diagonal">
                <a:extLst>
                  <a:ext uri="{FF2B5EF4-FFF2-40B4-BE49-F238E27FC236}">
                    <a16:creationId xmlns:a16="http://schemas.microsoft.com/office/drawing/2014/main" id="{E4263844-1DC2-5ADF-8B5F-6DC999C69116}"/>
                  </a:ext>
                </a:extLst>
              </p:cNvPr>
              <p:cNvSpPr>
                <a:spLocks noChangeArrowheads="1"/>
              </p:cNvSpPr>
              <p:nvPr/>
            </p:nvSpPr>
            <p:spPr bwMode="auto">
              <a:xfrm flipH="1">
                <a:off x="3785" y="2221"/>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Line 123">
                <a:extLst>
                  <a:ext uri="{FF2B5EF4-FFF2-40B4-BE49-F238E27FC236}">
                    <a16:creationId xmlns:a16="http://schemas.microsoft.com/office/drawing/2014/main" id="{08EC29AF-8113-B132-E646-932AEE83248A}"/>
                  </a:ext>
                </a:extLst>
              </p:cNvPr>
              <p:cNvSpPr>
                <a:spLocks noChangeShapeType="1"/>
              </p:cNvSpPr>
              <p:nvPr/>
            </p:nvSpPr>
            <p:spPr bwMode="auto">
              <a:xfrm flipH="1">
                <a:off x="4141" y="2317"/>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5" name="Group 124">
              <a:extLst>
                <a:ext uri="{FF2B5EF4-FFF2-40B4-BE49-F238E27FC236}">
                  <a16:creationId xmlns:a16="http://schemas.microsoft.com/office/drawing/2014/main" id="{541DE822-0BF6-A9D1-E8FD-85EF89E958FB}"/>
                </a:ext>
              </a:extLst>
            </p:cNvPr>
            <p:cNvGrpSpPr>
              <a:grpSpLocks/>
            </p:cNvGrpSpPr>
            <p:nvPr/>
          </p:nvGrpSpPr>
          <p:grpSpPr bwMode="auto">
            <a:xfrm>
              <a:off x="2766" y="2262"/>
              <a:ext cx="432" cy="240"/>
              <a:chOff x="1296" y="2256"/>
              <a:chExt cx="432" cy="240"/>
            </a:xfrm>
          </p:grpSpPr>
          <p:sp>
            <p:nvSpPr>
              <p:cNvPr id="76" name="Line 125">
                <a:extLst>
                  <a:ext uri="{FF2B5EF4-FFF2-40B4-BE49-F238E27FC236}">
                    <a16:creationId xmlns:a16="http://schemas.microsoft.com/office/drawing/2014/main" id="{97F85EAB-3AEB-F822-DA09-0AD8DABAC1A2}"/>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7" name="Line 126">
                <a:extLst>
                  <a:ext uri="{FF2B5EF4-FFF2-40B4-BE49-F238E27FC236}">
                    <a16:creationId xmlns:a16="http://schemas.microsoft.com/office/drawing/2014/main" id="{4F3066D6-2886-8A15-73D1-896685CCE391}"/>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8" name="AutoShape 127">
                <a:extLst>
                  <a:ext uri="{FF2B5EF4-FFF2-40B4-BE49-F238E27FC236}">
                    <a16:creationId xmlns:a16="http://schemas.microsoft.com/office/drawing/2014/main" id="{C61B84E2-965A-BD9D-088A-93A8F66A552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0" name="Line 128">
                <a:extLst>
                  <a:ext uri="{FF2B5EF4-FFF2-40B4-BE49-F238E27FC236}">
                    <a16:creationId xmlns:a16="http://schemas.microsoft.com/office/drawing/2014/main" id="{CC4D97DB-62AD-5A3A-F7DA-E150D1F0E2F7}"/>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sp>
        <p:nvSpPr>
          <p:cNvPr id="112" name="Text Box 23">
            <a:extLst>
              <a:ext uri="{FF2B5EF4-FFF2-40B4-BE49-F238E27FC236}">
                <a16:creationId xmlns:a16="http://schemas.microsoft.com/office/drawing/2014/main" id="{4CCF06C2-5D19-D20D-88C4-ABC3A5040E06}"/>
              </a:ext>
            </a:extLst>
          </p:cNvPr>
          <p:cNvSpPr txBox="1">
            <a:spLocks noChangeArrowheads="1"/>
          </p:cNvSpPr>
          <p:nvPr/>
        </p:nvSpPr>
        <p:spPr bwMode="auto">
          <a:xfrm>
            <a:off x="711868" y="4662584"/>
            <a:ext cx="555625" cy="244475"/>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6 days</a:t>
            </a:r>
          </a:p>
        </p:txBody>
      </p:sp>
      <p:sp>
        <p:nvSpPr>
          <p:cNvPr id="113" name="Text Box 23">
            <a:extLst>
              <a:ext uri="{FF2B5EF4-FFF2-40B4-BE49-F238E27FC236}">
                <a16:creationId xmlns:a16="http://schemas.microsoft.com/office/drawing/2014/main" id="{DA4441FE-F86B-79B4-6EE4-6EA0BF5E1A88}"/>
              </a:ext>
            </a:extLst>
          </p:cNvPr>
          <p:cNvSpPr txBox="1">
            <a:spLocks noChangeArrowheads="1"/>
          </p:cNvSpPr>
          <p:nvPr/>
        </p:nvSpPr>
        <p:spPr bwMode="auto">
          <a:xfrm>
            <a:off x="2878054" y="466594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4" name="Text Box 23">
            <a:extLst>
              <a:ext uri="{FF2B5EF4-FFF2-40B4-BE49-F238E27FC236}">
                <a16:creationId xmlns:a16="http://schemas.microsoft.com/office/drawing/2014/main" id="{5186321E-A23D-D845-1696-41F7AEAE9CFD}"/>
              </a:ext>
            </a:extLst>
          </p:cNvPr>
          <p:cNvSpPr txBox="1">
            <a:spLocks noChangeArrowheads="1"/>
          </p:cNvSpPr>
          <p:nvPr/>
        </p:nvSpPr>
        <p:spPr bwMode="auto">
          <a:xfrm>
            <a:off x="6710257" y="465402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5" name="Line 116">
            <a:extLst>
              <a:ext uri="{FF2B5EF4-FFF2-40B4-BE49-F238E27FC236}">
                <a16:creationId xmlns:a16="http://schemas.microsoft.com/office/drawing/2014/main" id="{08082364-8F0D-B7B9-85AA-15DFAFAF4DFA}"/>
              </a:ext>
            </a:extLst>
          </p:cNvPr>
          <p:cNvSpPr>
            <a:spLocks noChangeShapeType="1"/>
          </p:cNvSpPr>
          <p:nvPr/>
        </p:nvSpPr>
        <p:spPr bwMode="auto">
          <a:xfrm flipH="1">
            <a:off x="6068151" y="2365910"/>
            <a:ext cx="1494479" cy="0"/>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6" name="Line 117">
            <a:extLst>
              <a:ext uri="{FF2B5EF4-FFF2-40B4-BE49-F238E27FC236}">
                <a16:creationId xmlns:a16="http://schemas.microsoft.com/office/drawing/2014/main" id="{0AB62DAA-9693-C30C-1074-4397E8557B4D}"/>
              </a:ext>
            </a:extLst>
          </p:cNvPr>
          <p:cNvSpPr>
            <a:spLocks noChangeShapeType="1"/>
          </p:cNvSpPr>
          <p:nvPr/>
        </p:nvSpPr>
        <p:spPr bwMode="auto">
          <a:xfrm flipV="1">
            <a:off x="7402663" y="2438935"/>
            <a:ext cx="1577749" cy="7938"/>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9" name="Line 118">
            <a:extLst>
              <a:ext uri="{FF2B5EF4-FFF2-40B4-BE49-F238E27FC236}">
                <a16:creationId xmlns:a16="http://schemas.microsoft.com/office/drawing/2014/main" id="{8A96E82F-4DB2-9313-76EE-0E3DEF7B35B6}"/>
              </a:ext>
            </a:extLst>
          </p:cNvPr>
          <p:cNvSpPr>
            <a:spLocks noChangeShapeType="1"/>
          </p:cNvSpPr>
          <p:nvPr/>
        </p:nvSpPr>
        <p:spPr bwMode="auto">
          <a:xfrm flipV="1">
            <a:off x="7391707" y="2378610"/>
            <a:ext cx="146818" cy="60325"/>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0" name="Rectangle 119">
            <a:extLst>
              <a:ext uri="{FF2B5EF4-FFF2-40B4-BE49-F238E27FC236}">
                <a16:creationId xmlns:a16="http://schemas.microsoft.com/office/drawing/2014/main" id="{2CF73C0C-5B74-C5EA-9CE2-826753E912E7}"/>
              </a:ext>
            </a:extLst>
          </p:cNvPr>
          <p:cNvSpPr>
            <a:spLocks noChangeArrowheads="1"/>
          </p:cNvSpPr>
          <p:nvPr/>
        </p:nvSpPr>
        <p:spPr bwMode="auto">
          <a:xfrm>
            <a:off x="7678769" y="2283360"/>
            <a:ext cx="885292" cy="260350"/>
          </a:xfrm>
          <a:prstGeom prst="rect">
            <a:avLst/>
          </a:prstGeom>
          <a:solidFill>
            <a:schemeClr val="bg1"/>
          </a:solidFill>
          <a:ln w="9525"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30/60/90 day</a:t>
            </a:r>
          </a:p>
          <a:p>
            <a:pPr algn="ctr">
              <a:lnSpc>
                <a:spcPct val="9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Forecast (email)</a:t>
            </a:r>
          </a:p>
        </p:txBody>
      </p:sp>
    </p:spTree>
    <p:extLst>
      <p:ext uri="{BB962C8B-B14F-4D97-AF65-F5344CB8AC3E}">
        <p14:creationId xmlns:p14="http://schemas.microsoft.com/office/powerpoint/2010/main" val="3197652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dissolve">
                                      <p:cBhvr>
                                        <p:cTn id="16" dur="1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144</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22691622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Calculate Lead Time and Processing Time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145</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3" name="Group 32">
            <a:extLst>
              <a:ext uri="{FF2B5EF4-FFF2-40B4-BE49-F238E27FC236}">
                <a16:creationId xmlns:a16="http://schemas.microsoft.com/office/drawing/2014/main" id="{92A7916F-E7B0-578E-4B5B-481EFEAC1E41}"/>
              </a:ext>
            </a:extLst>
          </p:cNvPr>
          <p:cNvGrpSpPr/>
          <p:nvPr/>
        </p:nvGrpSpPr>
        <p:grpSpPr>
          <a:xfrm>
            <a:off x="1634371" y="4178350"/>
            <a:ext cx="1065390" cy="569105"/>
            <a:chOff x="1634371" y="4178350"/>
            <a:chExt cx="1065390" cy="569105"/>
          </a:xfrm>
        </p:grpSpPr>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60" name="Group 159">
            <a:extLst>
              <a:ext uri="{FF2B5EF4-FFF2-40B4-BE49-F238E27FC236}">
                <a16:creationId xmlns:a16="http://schemas.microsoft.com/office/drawing/2014/main" id="{E2239F25-17F6-9BC3-B656-9685AAA835D1}"/>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B66B54DA-8EEB-BEEB-762F-72E89DBDAA77}"/>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E2BB4C92-F48C-9B40-0907-48B77ACA509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46533904-AB05-DA8A-BD34-BFA5F87C9D76}"/>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DFE62BDC-C1B1-4C5C-E072-9C788C7093AE}"/>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51659C0B-A87C-36B1-F0F4-8ADF74BBB8C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14F8FF73-1474-E82A-6235-2D29C7644A6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88B96029-21FD-6139-78C4-250F04AF5EA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FEEC2452-264A-5ECF-8EDC-D0F3EF23C8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42" name="Rectangle 7">
            <a:extLst>
              <a:ext uri="{FF2B5EF4-FFF2-40B4-BE49-F238E27FC236}">
                <a16:creationId xmlns:a16="http://schemas.microsoft.com/office/drawing/2014/main" id="{EA8D8526-7209-EDA0-0EA7-0AA6384776FB}"/>
              </a:ext>
            </a:extLst>
          </p:cNvPr>
          <p:cNvSpPr>
            <a:spLocks noChangeArrowheads="1"/>
          </p:cNvSpPr>
          <p:nvPr/>
        </p:nvSpPr>
        <p:spPr bwMode="auto">
          <a:xfrm>
            <a:off x="497252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Stamp/Form</a:t>
            </a:r>
          </a:p>
        </p:txBody>
      </p:sp>
      <p:sp>
        <p:nvSpPr>
          <p:cNvPr id="43" name="Line 8">
            <a:extLst>
              <a:ext uri="{FF2B5EF4-FFF2-40B4-BE49-F238E27FC236}">
                <a16:creationId xmlns:a16="http://schemas.microsoft.com/office/drawing/2014/main" id="{C70745FE-45E2-C238-CAA5-0C7E7A37ABB6}"/>
              </a:ext>
            </a:extLst>
          </p:cNvPr>
          <p:cNvSpPr>
            <a:spLocks noChangeShapeType="1"/>
          </p:cNvSpPr>
          <p:nvPr/>
        </p:nvSpPr>
        <p:spPr bwMode="auto">
          <a:xfrm>
            <a:off x="497252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sp>
        <p:nvSpPr>
          <p:cNvPr id="44" name="Rectangle 18">
            <a:extLst>
              <a:ext uri="{FF2B5EF4-FFF2-40B4-BE49-F238E27FC236}">
                <a16:creationId xmlns:a16="http://schemas.microsoft.com/office/drawing/2014/main" id="{851119B8-223D-5B4D-7583-AA1AA71E7D98}"/>
              </a:ext>
            </a:extLst>
          </p:cNvPr>
          <p:cNvSpPr>
            <a:spLocks noChangeArrowheads="1"/>
          </p:cNvSpPr>
          <p:nvPr/>
        </p:nvSpPr>
        <p:spPr bwMode="auto">
          <a:xfrm>
            <a:off x="4961007"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DOI = </a:t>
            </a:r>
            <a:r>
              <a:rPr lang="en-US" sz="800" b="0" dirty="0">
                <a:solidFill>
                  <a:schemeClr val="tx1"/>
                </a:solidFill>
                <a:latin typeface="Roboto" panose="02000000000000000000" pitchFamily="2" charset="0"/>
                <a:ea typeface="Roboto" panose="02000000000000000000" pitchFamily="2" charset="0"/>
              </a:rPr>
              <a:t>15”</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C/O Time =120</a:t>
            </a:r>
            <a:r>
              <a:rPr lang="ja-JP" sz="800" b="0" kern="1200" dirty="0">
                <a:solidFill>
                  <a:schemeClr val="tx1"/>
                </a:solidFill>
                <a:effectLst/>
                <a:latin typeface="Roboto" panose="02000000000000000000" pitchFamily="2" charset="0"/>
                <a:ea typeface="Arial" panose="020B0604020202020204" pitchFamily="34" charset="0"/>
              </a:rPr>
              <a:t>’</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Uptime = 99%</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Quality = 98%</a:t>
            </a:r>
            <a:endParaRPr lang="en-US" sz="800" dirty="0">
              <a:solidFill>
                <a:schemeClr val="tx1"/>
              </a:solidFill>
              <a:effectLst/>
              <a:latin typeface="Roboto" panose="02000000000000000000" pitchFamily="2" charset="0"/>
              <a:ea typeface="Roboto" panose="02000000000000000000" pitchFamily="2" charset="0"/>
            </a:endParaRPr>
          </a:p>
        </p:txBody>
      </p:sp>
      <p:sp>
        <p:nvSpPr>
          <p:cNvPr id="45" name="AutoShape 14">
            <a:extLst>
              <a:ext uri="{FF2B5EF4-FFF2-40B4-BE49-F238E27FC236}">
                <a16:creationId xmlns:a16="http://schemas.microsoft.com/office/drawing/2014/main" id="{6319026B-D29E-C9A1-F968-3307B3E10A35}"/>
              </a:ext>
            </a:extLst>
          </p:cNvPr>
          <p:cNvSpPr>
            <a:spLocks noChangeArrowheads="1"/>
          </p:cNvSpPr>
          <p:nvPr/>
        </p:nvSpPr>
        <p:spPr bwMode="auto">
          <a:xfrm flipV="1">
            <a:off x="5300237" y="4462745"/>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 name="Text Box 15">
            <a:extLst>
              <a:ext uri="{FF2B5EF4-FFF2-40B4-BE49-F238E27FC236}">
                <a16:creationId xmlns:a16="http://schemas.microsoft.com/office/drawing/2014/main" id="{CC72E0AA-599D-C015-D798-357A74459A80}"/>
              </a:ext>
            </a:extLst>
          </p:cNvPr>
          <p:cNvSpPr txBox="1">
            <a:spLocks noChangeArrowheads="1"/>
          </p:cNvSpPr>
          <p:nvPr/>
        </p:nvSpPr>
        <p:spPr bwMode="auto">
          <a:xfrm>
            <a:off x="5492273" y="4459570"/>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2</a:t>
            </a:r>
          </a:p>
        </p:txBody>
      </p:sp>
      <p:sp>
        <p:nvSpPr>
          <p:cNvPr id="48" name="Oval 13">
            <a:extLst>
              <a:ext uri="{FF2B5EF4-FFF2-40B4-BE49-F238E27FC236}">
                <a16:creationId xmlns:a16="http://schemas.microsoft.com/office/drawing/2014/main" id="{C4610C46-6017-5390-6049-47F1836D4D8A}"/>
              </a:ext>
            </a:extLst>
          </p:cNvPr>
          <p:cNvSpPr>
            <a:spLocks noChangeArrowheads="1"/>
          </p:cNvSpPr>
          <p:nvPr/>
        </p:nvSpPr>
        <p:spPr bwMode="auto">
          <a:xfrm flipV="1">
            <a:off x="5346325" y="4508542"/>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2" name="Picture 1">
            <a:extLst>
              <a:ext uri="{FF2B5EF4-FFF2-40B4-BE49-F238E27FC236}">
                <a16:creationId xmlns:a16="http://schemas.microsoft.com/office/drawing/2014/main" id="{673D40E9-4DC0-E615-7452-7343CAFAAEB5}"/>
              </a:ext>
            </a:extLst>
          </p:cNvPr>
          <p:cNvPicPr>
            <a:picLocks noChangeAspect="1"/>
          </p:cNvPicPr>
          <p:nvPr/>
        </p:nvPicPr>
        <p:blipFill>
          <a:blip r:embed="rId3">
            <a:clrChange>
              <a:clrFrom>
                <a:srgbClr val="FFFFFF"/>
              </a:clrFrom>
              <a:clrTo>
                <a:srgbClr val="FFFFFF">
                  <a:alpha val="0"/>
                </a:srgbClr>
              </a:clrTo>
            </a:clrChange>
            <a:biLevel thresh="75000"/>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1203045" y="4497363"/>
            <a:ext cx="395483" cy="349343"/>
          </a:xfrm>
          <a:prstGeom prst="rect">
            <a:avLst/>
          </a:prstGeom>
        </p:spPr>
      </p:pic>
      <p:grpSp>
        <p:nvGrpSpPr>
          <p:cNvPr id="3" name="Group 4">
            <a:extLst>
              <a:ext uri="{FF2B5EF4-FFF2-40B4-BE49-F238E27FC236}">
                <a16:creationId xmlns:a16="http://schemas.microsoft.com/office/drawing/2014/main" id="{3FE24208-9FF7-E9F2-0BC8-35CBFF684A39}"/>
              </a:ext>
            </a:extLst>
          </p:cNvPr>
          <p:cNvGrpSpPr>
            <a:grpSpLocks/>
          </p:cNvGrpSpPr>
          <p:nvPr/>
        </p:nvGrpSpPr>
        <p:grpSpPr bwMode="auto">
          <a:xfrm>
            <a:off x="932796" y="4330976"/>
            <a:ext cx="169044" cy="344730"/>
            <a:chOff x="4780" y="1303"/>
            <a:chExt cx="285" cy="631"/>
          </a:xfrm>
        </p:grpSpPr>
        <p:sp>
          <p:nvSpPr>
            <p:cNvPr id="4" name="Line 5">
              <a:extLst>
                <a:ext uri="{FF2B5EF4-FFF2-40B4-BE49-F238E27FC236}">
                  <a16:creationId xmlns:a16="http://schemas.microsoft.com/office/drawing/2014/main" id="{BA1FC4A1-55C4-9878-0B3A-A5A48931ECE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 name="Line 6">
              <a:extLst>
                <a:ext uri="{FF2B5EF4-FFF2-40B4-BE49-F238E27FC236}">
                  <a16:creationId xmlns:a16="http://schemas.microsoft.com/office/drawing/2014/main" id="{97E858BB-DCF9-B5FB-BD6B-E686C1CA7972}"/>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Line 7">
              <a:extLst>
                <a:ext uri="{FF2B5EF4-FFF2-40B4-BE49-F238E27FC236}">
                  <a16:creationId xmlns:a16="http://schemas.microsoft.com/office/drawing/2014/main" id="{1F7E78CB-0CCA-F8BE-0999-0818B0AFFE20}"/>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 name="Line 8">
              <a:extLst>
                <a:ext uri="{FF2B5EF4-FFF2-40B4-BE49-F238E27FC236}">
                  <a16:creationId xmlns:a16="http://schemas.microsoft.com/office/drawing/2014/main" id="{3D721AF3-2569-0513-CC51-2A0DFAE762B7}"/>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9">
              <a:extLst>
                <a:ext uri="{FF2B5EF4-FFF2-40B4-BE49-F238E27FC236}">
                  <a16:creationId xmlns:a16="http://schemas.microsoft.com/office/drawing/2014/main" id="{F9A126D3-FB09-4AB0-FF12-DB5E08351A00}"/>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0" name="Group 4">
            <a:extLst>
              <a:ext uri="{FF2B5EF4-FFF2-40B4-BE49-F238E27FC236}">
                <a16:creationId xmlns:a16="http://schemas.microsoft.com/office/drawing/2014/main" id="{D40547A9-0C70-0AC1-FA36-EF7A8240D7B9}"/>
              </a:ext>
            </a:extLst>
          </p:cNvPr>
          <p:cNvGrpSpPr>
            <a:grpSpLocks/>
          </p:cNvGrpSpPr>
          <p:nvPr/>
        </p:nvGrpSpPr>
        <p:grpSpPr bwMode="auto">
          <a:xfrm>
            <a:off x="3087598" y="4330976"/>
            <a:ext cx="169044" cy="344730"/>
            <a:chOff x="4780" y="1303"/>
            <a:chExt cx="285" cy="631"/>
          </a:xfrm>
        </p:grpSpPr>
        <p:sp>
          <p:nvSpPr>
            <p:cNvPr id="11" name="Line 5">
              <a:extLst>
                <a:ext uri="{FF2B5EF4-FFF2-40B4-BE49-F238E27FC236}">
                  <a16:creationId xmlns:a16="http://schemas.microsoft.com/office/drawing/2014/main" id="{BD65F1B2-A93B-3C69-E2F8-A3C3F3A6B74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 name="Line 6">
              <a:extLst>
                <a:ext uri="{FF2B5EF4-FFF2-40B4-BE49-F238E27FC236}">
                  <a16:creationId xmlns:a16="http://schemas.microsoft.com/office/drawing/2014/main" id="{D4B3BC22-0EC8-6D1C-C883-881A496C76E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3" name="Line 7">
              <a:extLst>
                <a:ext uri="{FF2B5EF4-FFF2-40B4-BE49-F238E27FC236}">
                  <a16:creationId xmlns:a16="http://schemas.microsoft.com/office/drawing/2014/main" id="{F1E75F37-89F1-3723-4919-8090D07C2AA4}"/>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8">
              <a:extLst>
                <a:ext uri="{FF2B5EF4-FFF2-40B4-BE49-F238E27FC236}">
                  <a16:creationId xmlns:a16="http://schemas.microsoft.com/office/drawing/2014/main" id="{79F8D60E-771A-521C-19E7-972F5C2925BB}"/>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9">
              <a:extLst>
                <a:ext uri="{FF2B5EF4-FFF2-40B4-BE49-F238E27FC236}">
                  <a16:creationId xmlns:a16="http://schemas.microsoft.com/office/drawing/2014/main" id="{5F1E8488-85A8-1A78-B661-C2B12CE74D9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6" name="Group 4">
            <a:extLst>
              <a:ext uri="{FF2B5EF4-FFF2-40B4-BE49-F238E27FC236}">
                <a16:creationId xmlns:a16="http://schemas.microsoft.com/office/drawing/2014/main" id="{BE8FC67E-458A-01AA-5021-A879983D996B}"/>
              </a:ext>
            </a:extLst>
          </p:cNvPr>
          <p:cNvGrpSpPr>
            <a:grpSpLocks/>
          </p:cNvGrpSpPr>
          <p:nvPr/>
        </p:nvGrpSpPr>
        <p:grpSpPr bwMode="auto">
          <a:xfrm>
            <a:off x="6889785" y="4310932"/>
            <a:ext cx="169044" cy="344730"/>
            <a:chOff x="4780" y="1303"/>
            <a:chExt cx="285" cy="631"/>
          </a:xfrm>
        </p:grpSpPr>
        <p:sp>
          <p:nvSpPr>
            <p:cNvPr id="18" name="Line 5">
              <a:extLst>
                <a:ext uri="{FF2B5EF4-FFF2-40B4-BE49-F238E27FC236}">
                  <a16:creationId xmlns:a16="http://schemas.microsoft.com/office/drawing/2014/main" id="{D0CF38B5-F0C8-FC42-1ACD-89788145EF00}"/>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6">
              <a:extLst>
                <a:ext uri="{FF2B5EF4-FFF2-40B4-BE49-F238E27FC236}">
                  <a16:creationId xmlns:a16="http://schemas.microsoft.com/office/drawing/2014/main" id="{A62AA09E-E76E-EBC2-9645-E51E7A4A301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7">
              <a:extLst>
                <a:ext uri="{FF2B5EF4-FFF2-40B4-BE49-F238E27FC236}">
                  <a16:creationId xmlns:a16="http://schemas.microsoft.com/office/drawing/2014/main" id="{511BFFDC-D30B-73CF-C89E-5453C955A9CA}"/>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8">
              <a:extLst>
                <a:ext uri="{FF2B5EF4-FFF2-40B4-BE49-F238E27FC236}">
                  <a16:creationId xmlns:a16="http://schemas.microsoft.com/office/drawing/2014/main" id="{7081E6A9-0DEE-C2DB-D623-57267B6BB8BD}"/>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1" name="Line 9">
              <a:extLst>
                <a:ext uri="{FF2B5EF4-FFF2-40B4-BE49-F238E27FC236}">
                  <a16:creationId xmlns:a16="http://schemas.microsoft.com/office/drawing/2014/main" id="{94FB1738-C36C-0B92-507D-278B16203C7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2" name="Line 110">
            <a:extLst>
              <a:ext uri="{FF2B5EF4-FFF2-40B4-BE49-F238E27FC236}">
                <a16:creationId xmlns:a16="http://schemas.microsoft.com/office/drawing/2014/main" id="{CA781C48-2B88-AB43-2589-22E26A9E3912}"/>
              </a:ext>
            </a:extLst>
          </p:cNvPr>
          <p:cNvSpPr>
            <a:spLocks noChangeShapeType="1"/>
          </p:cNvSpPr>
          <p:nvPr/>
        </p:nvSpPr>
        <p:spPr bwMode="auto">
          <a:xfrm flipH="1">
            <a:off x="1451844" y="2696256"/>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111">
            <a:extLst>
              <a:ext uri="{FF2B5EF4-FFF2-40B4-BE49-F238E27FC236}">
                <a16:creationId xmlns:a16="http://schemas.microsoft.com/office/drawing/2014/main" id="{74ECCE57-9350-89FF-0DC1-336BE15635C3}"/>
              </a:ext>
            </a:extLst>
          </p:cNvPr>
          <p:cNvSpPr>
            <a:spLocks noChangeShapeType="1"/>
          </p:cNvSpPr>
          <p:nvPr/>
        </p:nvSpPr>
        <p:spPr bwMode="auto">
          <a:xfrm flipV="1">
            <a:off x="2786356" y="2775631"/>
            <a:ext cx="1934934" cy="158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112">
            <a:extLst>
              <a:ext uri="{FF2B5EF4-FFF2-40B4-BE49-F238E27FC236}">
                <a16:creationId xmlns:a16="http://schemas.microsoft.com/office/drawing/2014/main" id="{1F48C382-2ED4-D8BE-C045-6931C69A161F}"/>
              </a:ext>
            </a:extLst>
          </p:cNvPr>
          <p:cNvSpPr>
            <a:spLocks noChangeShapeType="1"/>
          </p:cNvSpPr>
          <p:nvPr/>
        </p:nvSpPr>
        <p:spPr bwMode="auto">
          <a:xfrm flipV="1">
            <a:off x="2775400" y="2708956"/>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Rectangle 113">
            <a:extLst>
              <a:ext uri="{FF2B5EF4-FFF2-40B4-BE49-F238E27FC236}">
                <a16:creationId xmlns:a16="http://schemas.microsoft.com/office/drawing/2014/main" id="{1438E240-BA1D-48D5-0EBC-E8D862E2B230}"/>
              </a:ext>
            </a:extLst>
          </p:cNvPr>
          <p:cNvSpPr>
            <a:spLocks noChangeArrowheads="1"/>
          </p:cNvSpPr>
          <p:nvPr/>
        </p:nvSpPr>
        <p:spPr bwMode="auto">
          <a:xfrm>
            <a:off x="3101906" y="2551793"/>
            <a:ext cx="865570" cy="54580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Replenishment.</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nvGrpSpPr>
          <p:cNvPr id="64" name="Group 63">
            <a:extLst>
              <a:ext uri="{FF2B5EF4-FFF2-40B4-BE49-F238E27FC236}">
                <a16:creationId xmlns:a16="http://schemas.microsoft.com/office/drawing/2014/main" id="{16B255A4-FA38-E03C-E3B6-DDD06402B5B7}"/>
              </a:ext>
            </a:extLst>
          </p:cNvPr>
          <p:cNvGrpSpPr/>
          <p:nvPr/>
        </p:nvGrpSpPr>
        <p:grpSpPr>
          <a:xfrm>
            <a:off x="1197961" y="3900634"/>
            <a:ext cx="304800" cy="533400"/>
            <a:chOff x="1219200" y="3505200"/>
            <a:chExt cx="304800" cy="533400"/>
          </a:xfrm>
        </p:grpSpPr>
        <p:sp>
          <p:nvSpPr>
            <p:cNvPr id="41" name="AutoShape 131" descr="Light upward diagonal">
              <a:extLst>
                <a:ext uri="{FF2B5EF4-FFF2-40B4-BE49-F238E27FC236}">
                  <a16:creationId xmlns:a16="http://schemas.microsoft.com/office/drawing/2014/main" id="{505F382C-2781-60B1-D799-B753E338F749}"/>
                </a:ext>
              </a:extLst>
            </p:cNvPr>
            <p:cNvSpPr>
              <a:spLocks noChangeArrowheads="1"/>
            </p:cNvSpPr>
            <p:nvPr/>
          </p:nvSpPr>
          <p:spPr bwMode="auto">
            <a:xfrm rot="16200000" flipH="1">
              <a:off x="1247775" y="3540356"/>
              <a:ext cx="247650" cy="177338"/>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Line 132">
              <a:extLst>
                <a:ext uri="{FF2B5EF4-FFF2-40B4-BE49-F238E27FC236}">
                  <a16:creationId xmlns:a16="http://schemas.microsoft.com/office/drawing/2014/main" id="{62C4C9AC-66B1-4E35-E0E0-21E407282C36}"/>
                </a:ext>
              </a:extLst>
            </p:cNvPr>
            <p:cNvSpPr>
              <a:spLocks noChangeShapeType="1"/>
            </p:cNvSpPr>
            <p:nvPr/>
          </p:nvSpPr>
          <p:spPr bwMode="auto">
            <a:xfrm>
              <a:off x="1371600" y="3810000"/>
              <a:ext cx="0" cy="2286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1" name="Line 133">
              <a:extLst>
                <a:ext uri="{FF2B5EF4-FFF2-40B4-BE49-F238E27FC236}">
                  <a16:creationId xmlns:a16="http://schemas.microsoft.com/office/drawing/2014/main" id="{BFE9A1FB-9641-F445-E6CF-484BEF3DF351}"/>
                </a:ext>
              </a:extLst>
            </p:cNvPr>
            <p:cNvSpPr>
              <a:spLocks noChangeShapeType="1"/>
            </p:cNvSpPr>
            <p:nvPr/>
          </p:nvSpPr>
          <p:spPr bwMode="auto">
            <a:xfrm>
              <a:off x="1238596" y="3810000"/>
              <a:ext cx="266007" cy="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2" name="Line 134">
              <a:extLst>
                <a:ext uri="{FF2B5EF4-FFF2-40B4-BE49-F238E27FC236}">
                  <a16:creationId xmlns:a16="http://schemas.microsoft.com/office/drawing/2014/main" id="{350B8907-79B2-754B-6E99-6756F81BE805}"/>
                </a:ext>
              </a:extLst>
            </p:cNvPr>
            <p:cNvSpPr>
              <a:spLocks noChangeShapeType="1"/>
            </p:cNvSpPr>
            <p:nvPr/>
          </p:nvSpPr>
          <p:spPr bwMode="auto">
            <a:xfrm>
              <a:off x="1219200"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135">
              <a:extLst>
                <a:ext uri="{FF2B5EF4-FFF2-40B4-BE49-F238E27FC236}">
                  <a16:creationId xmlns:a16="http://schemas.microsoft.com/office/drawing/2014/main" id="{0BD5C145-1802-F81F-7C97-09D9069E0BFB}"/>
                </a:ext>
              </a:extLst>
            </p:cNvPr>
            <p:cNvSpPr>
              <a:spLocks noChangeShapeType="1"/>
            </p:cNvSpPr>
            <p:nvPr/>
          </p:nvSpPr>
          <p:spPr bwMode="auto">
            <a:xfrm flipH="1">
              <a:off x="1504604"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65" name="Line 141">
            <a:extLst>
              <a:ext uri="{FF2B5EF4-FFF2-40B4-BE49-F238E27FC236}">
                <a16:creationId xmlns:a16="http://schemas.microsoft.com/office/drawing/2014/main" id="{ECEEE272-8181-5A56-A4AB-63F4220B67E6}"/>
              </a:ext>
            </a:extLst>
          </p:cNvPr>
          <p:cNvSpPr>
            <a:spLocks noChangeShapeType="1"/>
          </p:cNvSpPr>
          <p:nvPr/>
        </p:nvSpPr>
        <p:spPr bwMode="auto">
          <a:xfrm>
            <a:off x="1116563" y="4497363"/>
            <a:ext cx="504427"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66" name="Line 141">
            <a:extLst>
              <a:ext uri="{FF2B5EF4-FFF2-40B4-BE49-F238E27FC236}">
                <a16:creationId xmlns:a16="http://schemas.microsoft.com/office/drawing/2014/main" id="{A0B5DA91-A190-E57D-A87C-BF1C167C65D2}"/>
              </a:ext>
            </a:extLst>
          </p:cNvPr>
          <p:cNvSpPr>
            <a:spLocks noChangeShapeType="1"/>
          </p:cNvSpPr>
          <p:nvPr/>
        </p:nvSpPr>
        <p:spPr bwMode="auto">
          <a:xfrm flipV="1">
            <a:off x="1463388" y="3069146"/>
            <a:ext cx="3256797" cy="811221"/>
          </a:xfrm>
          <a:prstGeom prst="line">
            <a:avLst/>
          </a:prstGeom>
          <a:noFill/>
          <a:ln w="28575">
            <a:solidFill>
              <a:schemeClr val="tx1"/>
            </a:solidFill>
            <a:prstDash val="solid"/>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grpSp>
        <p:nvGrpSpPr>
          <p:cNvPr id="71" name="Group 106">
            <a:extLst>
              <a:ext uri="{FF2B5EF4-FFF2-40B4-BE49-F238E27FC236}">
                <a16:creationId xmlns:a16="http://schemas.microsoft.com/office/drawing/2014/main" id="{9B176345-7D5F-F0AF-05F2-4A5B36A6411C}"/>
              </a:ext>
            </a:extLst>
          </p:cNvPr>
          <p:cNvGrpSpPr>
            <a:grpSpLocks/>
          </p:cNvGrpSpPr>
          <p:nvPr/>
        </p:nvGrpSpPr>
        <p:grpSpPr bwMode="auto">
          <a:xfrm>
            <a:off x="2148514" y="3840615"/>
            <a:ext cx="7186136" cy="600075"/>
            <a:chOff x="1296" y="2221"/>
            <a:chExt cx="2845" cy="378"/>
          </a:xfrm>
        </p:grpSpPr>
        <p:grpSp>
          <p:nvGrpSpPr>
            <p:cNvPr id="72" name="Group 107">
              <a:extLst>
                <a:ext uri="{FF2B5EF4-FFF2-40B4-BE49-F238E27FC236}">
                  <a16:creationId xmlns:a16="http://schemas.microsoft.com/office/drawing/2014/main" id="{221A0C17-2400-FF37-0064-A50F314505C7}"/>
                </a:ext>
              </a:extLst>
            </p:cNvPr>
            <p:cNvGrpSpPr>
              <a:grpSpLocks/>
            </p:cNvGrpSpPr>
            <p:nvPr/>
          </p:nvGrpSpPr>
          <p:grpSpPr bwMode="auto">
            <a:xfrm>
              <a:off x="1761" y="2256"/>
              <a:ext cx="783" cy="336"/>
              <a:chOff x="1761" y="2256"/>
              <a:chExt cx="783" cy="336"/>
            </a:xfrm>
          </p:grpSpPr>
          <p:sp>
            <p:nvSpPr>
              <p:cNvPr id="103" name="Line 108">
                <a:extLst>
                  <a:ext uri="{FF2B5EF4-FFF2-40B4-BE49-F238E27FC236}">
                    <a16:creationId xmlns:a16="http://schemas.microsoft.com/office/drawing/2014/main" id="{C0D19C50-D7CE-9891-F55D-13879DDE0EBD}"/>
                  </a:ext>
                </a:extLst>
              </p:cNvPr>
              <p:cNvSpPr>
                <a:spLocks noChangeShapeType="1"/>
              </p:cNvSpPr>
              <p:nvPr/>
            </p:nvSpPr>
            <p:spPr bwMode="auto">
              <a:xfrm>
                <a:off x="1776" y="2592"/>
                <a:ext cx="624"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104" name="Line 109">
                <a:extLst>
                  <a:ext uri="{FF2B5EF4-FFF2-40B4-BE49-F238E27FC236}">
                    <a16:creationId xmlns:a16="http://schemas.microsoft.com/office/drawing/2014/main" id="{E5F422F3-6B39-3EA9-D39A-8359F356B706}"/>
                  </a:ext>
                </a:extLst>
              </p:cNvPr>
              <p:cNvSpPr>
                <a:spLocks noChangeShapeType="1"/>
              </p:cNvSpPr>
              <p:nvPr/>
            </p:nvSpPr>
            <p:spPr bwMode="auto">
              <a:xfrm>
                <a:off x="1776" y="2304"/>
                <a:ext cx="768"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5" name="Line 110">
                <a:extLst>
                  <a:ext uri="{FF2B5EF4-FFF2-40B4-BE49-F238E27FC236}">
                    <a16:creationId xmlns:a16="http://schemas.microsoft.com/office/drawing/2014/main" id="{34B8FA2B-E3BD-1FCD-221D-69DD4D3E16FF}"/>
                  </a:ext>
                </a:extLst>
              </p:cNvPr>
              <p:cNvSpPr>
                <a:spLocks noChangeShapeType="1"/>
              </p:cNvSpPr>
              <p:nvPr/>
            </p:nvSpPr>
            <p:spPr bwMode="auto">
              <a:xfrm>
                <a:off x="1761" y="2304"/>
                <a:ext cx="0" cy="288"/>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6" name="AutoShape 111" descr="Light upward diagonal">
                <a:extLst>
                  <a:ext uri="{FF2B5EF4-FFF2-40B4-BE49-F238E27FC236}">
                    <a16:creationId xmlns:a16="http://schemas.microsoft.com/office/drawing/2014/main" id="{878383E2-6C37-1F28-AF12-14C72B8C81BB}"/>
                  </a:ext>
                </a:extLst>
              </p:cNvPr>
              <p:cNvSpPr>
                <a:spLocks noChangeArrowheads="1"/>
              </p:cNvSpPr>
              <p:nvPr/>
            </p:nvSpPr>
            <p:spPr bwMode="auto">
              <a:xfrm flipH="1">
                <a:off x="2016" y="2256"/>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Line 112">
                <a:extLst>
                  <a:ext uri="{FF2B5EF4-FFF2-40B4-BE49-F238E27FC236}">
                    <a16:creationId xmlns:a16="http://schemas.microsoft.com/office/drawing/2014/main" id="{495C08A7-1408-F040-57AD-53EB3C65F91E}"/>
                  </a:ext>
                </a:extLst>
              </p:cNvPr>
              <p:cNvSpPr>
                <a:spLocks noChangeShapeType="1"/>
              </p:cNvSpPr>
              <p:nvPr/>
            </p:nvSpPr>
            <p:spPr bwMode="auto">
              <a:xfrm>
                <a:off x="2544" y="2304"/>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3" name="Group 113">
              <a:extLst>
                <a:ext uri="{FF2B5EF4-FFF2-40B4-BE49-F238E27FC236}">
                  <a16:creationId xmlns:a16="http://schemas.microsoft.com/office/drawing/2014/main" id="{47EA00E2-AB84-1FC9-2EE9-20E7E22D3C05}"/>
                </a:ext>
              </a:extLst>
            </p:cNvPr>
            <p:cNvGrpSpPr>
              <a:grpSpLocks/>
            </p:cNvGrpSpPr>
            <p:nvPr/>
          </p:nvGrpSpPr>
          <p:grpSpPr bwMode="auto">
            <a:xfrm>
              <a:off x="1296" y="2256"/>
              <a:ext cx="432" cy="240"/>
              <a:chOff x="1296" y="2256"/>
              <a:chExt cx="432" cy="240"/>
            </a:xfrm>
          </p:grpSpPr>
          <p:sp>
            <p:nvSpPr>
              <p:cNvPr id="99" name="Line 114">
                <a:extLst>
                  <a:ext uri="{FF2B5EF4-FFF2-40B4-BE49-F238E27FC236}">
                    <a16:creationId xmlns:a16="http://schemas.microsoft.com/office/drawing/2014/main" id="{3CECE158-02F2-CB91-B30C-47C45E7E73BF}"/>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115">
                <a:extLst>
                  <a:ext uri="{FF2B5EF4-FFF2-40B4-BE49-F238E27FC236}">
                    <a16:creationId xmlns:a16="http://schemas.microsoft.com/office/drawing/2014/main" id="{78014254-F688-AF9D-0DE1-24E4E486CEE7}"/>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1" name="AutoShape 116">
                <a:extLst>
                  <a:ext uri="{FF2B5EF4-FFF2-40B4-BE49-F238E27FC236}">
                    <a16:creationId xmlns:a16="http://schemas.microsoft.com/office/drawing/2014/main" id="{EF983E13-D522-BB54-6AD4-69AA826E2E0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Line 117">
                <a:extLst>
                  <a:ext uri="{FF2B5EF4-FFF2-40B4-BE49-F238E27FC236}">
                    <a16:creationId xmlns:a16="http://schemas.microsoft.com/office/drawing/2014/main" id="{6B858B9F-AD72-DDDA-271E-3CD61B1F5711}"/>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74" name="Group 118">
              <a:extLst>
                <a:ext uri="{FF2B5EF4-FFF2-40B4-BE49-F238E27FC236}">
                  <a16:creationId xmlns:a16="http://schemas.microsoft.com/office/drawing/2014/main" id="{69A31880-2C13-C51A-4B3B-52E2B559936E}"/>
                </a:ext>
              </a:extLst>
            </p:cNvPr>
            <p:cNvGrpSpPr>
              <a:grpSpLocks/>
            </p:cNvGrpSpPr>
            <p:nvPr/>
          </p:nvGrpSpPr>
          <p:grpSpPr bwMode="auto">
            <a:xfrm>
              <a:off x="3234" y="2221"/>
              <a:ext cx="907" cy="378"/>
              <a:chOff x="3234" y="2221"/>
              <a:chExt cx="907" cy="378"/>
            </a:xfrm>
          </p:grpSpPr>
          <p:sp>
            <p:nvSpPr>
              <p:cNvPr id="81" name="Line 119">
                <a:extLst>
                  <a:ext uri="{FF2B5EF4-FFF2-40B4-BE49-F238E27FC236}">
                    <a16:creationId xmlns:a16="http://schemas.microsoft.com/office/drawing/2014/main" id="{8E53EF63-45A8-E039-FB5C-796E12E21F5F}"/>
                  </a:ext>
                </a:extLst>
              </p:cNvPr>
              <p:cNvSpPr>
                <a:spLocks noChangeShapeType="1"/>
              </p:cNvSpPr>
              <p:nvPr/>
            </p:nvSpPr>
            <p:spPr bwMode="auto">
              <a:xfrm>
                <a:off x="3235" y="2595"/>
                <a:ext cx="808"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82" name="Line 120">
                <a:extLst>
                  <a:ext uri="{FF2B5EF4-FFF2-40B4-BE49-F238E27FC236}">
                    <a16:creationId xmlns:a16="http://schemas.microsoft.com/office/drawing/2014/main" id="{8FA817BA-675C-1B56-3F5A-0EAB00ACE34F}"/>
                  </a:ext>
                </a:extLst>
              </p:cNvPr>
              <p:cNvSpPr>
                <a:spLocks noChangeShapeType="1"/>
              </p:cNvSpPr>
              <p:nvPr/>
            </p:nvSpPr>
            <p:spPr bwMode="auto">
              <a:xfrm>
                <a:off x="3264" y="2304"/>
                <a:ext cx="875"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9" name="Line 121">
                <a:extLst>
                  <a:ext uri="{FF2B5EF4-FFF2-40B4-BE49-F238E27FC236}">
                    <a16:creationId xmlns:a16="http://schemas.microsoft.com/office/drawing/2014/main" id="{1A64B508-DE75-690E-35DE-5F11A5475111}"/>
                  </a:ext>
                </a:extLst>
              </p:cNvPr>
              <p:cNvSpPr>
                <a:spLocks noChangeShapeType="1"/>
              </p:cNvSpPr>
              <p:nvPr/>
            </p:nvSpPr>
            <p:spPr bwMode="auto">
              <a:xfrm flipH="1">
                <a:off x="3234" y="2304"/>
                <a:ext cx="6" cy="295"/>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0" name="AutoShape 122" descr="Light upward diagonal">
                <a:extLst>
                  <a:ext uri="{FF2B5EF4-FFF2-40B4-BE49-F238E27FC236}">
                    <a16:creationId xmlns:a16="http://schemas.microsoft.com/office/drawing/2014/main" id="{E4263844-1DC2-5ADF-8B5F-6DC999C69116}"/>
                  </a:ext>
                </a:extLst>
              </p:cNvPr>
              <p:cNvSpPr>
                <a:spLocks noChangeArrowheads="1"/>
              </p:cNvSpPr>
              <p:nvPr/>
            </p:nvSpPr>
            <p:spPr bwMode="auto">
              <a:xfrm flipH="1">
                <a:off x="3785" y="2221"/>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Line 123">
                <a:extLst>
                  <a:ext uri="{FF2B5EF4-FFF2-40B4-BE49-F238E27FC236}">
                    <a16:creationId xmlns:a16="http://schemas.microsoft.com/office/drawing/2014/main" id="{08EC29AF-8113-B132-E646-932AEE83248A}"/>
                  </a:ext>
                </a:extLst>
              </p:cNvPr>
              <p:cNvSpPr>
                <a:spLocks noChangeShapeType="1"/>
              </p:cNvSpPr>
              <p:nvPr/>
            </p:nvSpPr>
            <p:spPr bwMode="auto">
              <a:xfrm flipH="1">
                <a:off x="4141" y="2317"/>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5" name="Group 124">
              <a:extLst>
                <a:ext uri="{FF2B5EF4-FFF2-40B4-BE49-F238E27FC236}">
                  <a16:creationId xmlns:a16="http://schemas.microsoft.com/office/drawing/2014/main" id="{541DE822-0BF6-A9D1-E8FD-85EF89E958FB}"/>
                </a:ext>
              </a:extLst>
            </p:cNvPr>
            <p:cNvGrpSpPr>
              <a:grpSpLocks/>
            </p:cNvGrpSpPr>
            <p:nvPr/>
          </p:nvGrpSpPr>
          <p:grpSpPr bwMode="auto">
            <a:xfrm>
              <a:off x="2766" y="2262"/>
              <a:ext cx="432" cy="240"/>
              <a:chOff x="1296" y="2256"/>
              <a:chExt cx="432" cy="240"/>
            </a:xfrm>
          </p:grpSpPr>
          <p:sp>
            <p:nvSpPr>
              <p:cNvPr id="76" name="Line 125">
                <a:extLst>
                  <a:ext uri="{FF2B5EF4-FFF2-40B4-BE49-F238E27FC236}">
                    <a16:creationId xmlns:a16="http://schemas.microsoft.com/office/drawing/2014/main" id="{97F85EAB-3AEB-F822-DA09-0AD8DABAC1A2}"/>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7" name="Line 126">
                <a:extLst>
                  <a:ext uri="{FF2B5EF4-FFF2-40B4-BE49-F238E27FC236}">
                    <a16:creationId xmlns:a16="http://schemas.microsoft.com/office/drawing/2014/main" id="{4F3066D6-2886-8A15-73D1-896685CCE391}"/>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8" name="AutoShape 127">
                <a:extLst>
                  <a:ext uri="{FF2B5EF4-FFF2-40B4-BE49-F238E27FC236}">
                    <a16:creationId xmlns:a16="http://schemas.microsoft.com/office/drawing/2014/main" id="{C61B84E2-965A-BD9D-088A-93A8F66A552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0" name="Line 128">
                <a:extLst>
                  <a:ext uri="{FF2B5EF4-FFF2-40B4-BE49-F238E27FC236}">
                    <a16:creationId xmlns:a16="http://schemas.microsoft.com/office/drawing/2014/main" id="{CC4D97DB-62AD-5A3A-F7DA-E150D1F0E2F7}"/>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sp>
        <p:nvSpPr>
          <p:cNvPr id="112" name="Text Box 23">
            <a:extLst>
              <a:ext uri="{FF2B5EF4-FFF2-40B4-BE49-F238E27FC236}">
                <a16:creationId xmlns:a16="http://schemas.microsoft.com/office/drawing/2014/main" id="{4CCF06C2-5D19-D20D-88C4-ABC3A5040E06}"/>
              </a:ext>
            </a:extLst>
          </p:cNvPr>
          <p:cNvSpPr txBox="1">
            <a:spLocks noChangeArrowheads="1"/>
          </p:cNvSpPr>
          <p:nvPr/>
        </p:nvSpPr>
        <p:spPr bwMode="auto">
          <a:xfrm>
            <a:off x="711868" y="4662584"/>
            <a:ext cx="555625" cy="244475"/>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6 days</a:t>
            </a:r>
          </a:p>
        </p:txBody>
      </p:sp>
      <p:sp>
        <p:nvSpPr>
          <p:cNvPr id="113" name="Text Box 23">
            <a:extLst>
              <a:ext uri="{FF2B5EF4-FFF2-40B4-BE49-F238E27FC236}">
                <a16:creationId xmlns:a16="http://schemas.microsoft.com/office/drawing/2014/main" id="{DA4441FE-F86B-79B4-6EE4-6EA0BF5E1A88}"/>
              </a:ext>
            </a:extLst>
          </p:cNvPr>
          <p:cNvSpPr txBox="1">
            <a:spLocks noChangeArrowheads="1"/>
          </p:cNvSpPr>
          <p:nvPr/>
        </p:nvSpPr>
        <p:spPr bwMode="auto">
          <a:xfrm>
            <a:off x="2878054" y="466594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4" name="Text Box 23">
            <a:extLst>
              <a:ext uri="{FF2B5EF4-FFF2-40B4-BE49-F238E27FC236}">
                <a16:creationId xmlns:a16="http://schemas.microsoft.com/office/drawing/2014/main" id="{5186321E-A23D-D845-1696-41F7AEAE9CFD}"/>
              </a:ext>
            </a:extLst>
          </p:cNvPr>
          <p:cNvSpPr txBox="1">
            <a:spLocks noChangeArrowheads="1"/>
          </p:cNvSpPr>
          <p:nvPr/>
        </p:nvSpPr>
        <p:spPr bwMode="auto">
          <a:xfrm>
            <a:off x="6710257" y="465402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5" name="Line 116">
            <a:extLst>
              <a:ext uri="{FF2B5EF4-FFF2-40B4-BE49-F238E27FC236}">
                <a16:creationId xmlns:a16="http://schemas.microsoft.com/office/drawing/2014/main" id="{08082364-8F0D-B7B9-85AA-15DFAFAF4DFA}"/>
              </a:ext>
            </a:extLst>
          </p:cNvPr>
          <p:cNvSpPr>
            <a:spLocks noChangeShapeType="1"/>
          </p:cNvSpPr>
          <p:nvPr/>
        </p:nvSpPr>
        <p:spPr bwMode="auto">
          <a:xfrm flipH="1">
            <a:off x="6068151" y="2365910"/>
            <a:ext cx="1494479" cy="0"/>
          </a:xfrm>
          <a:prstGeom prst="line">
            <a:avLst/>
          </a:prstGeom>
          <a:noFill/>
          <a:ln w="28575" cap="sq">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6" name="Line 117">
            <a:extLst>
              <a:ext uri="{FF2B5EF4-FFF2-40B4-BE49-F238E27FC236}">
                <a16:creationId xmlns:a16="http://schemas.microsoft.com/office/drawing/2014/main" id="{0AB62DAA-9693-C30C-1074-4397E8557B4D}"/>
              </a:ext>
            </a:extLst>
          </p:cNvPr>
          <p:cNvSpPr>
            <a:spLocks noChangeShapeType="1"/>
          </p:cNvSpPr>
          <p:nvPr/>
        </p:nvSpPr>
        <p:spPr bwMode="auto">
          <a:xfrm flipV="1">
            <a:off x="7402663" y="2438935"/>
            <a:ext cx="1577749" cy="7938"/>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9" name="Line 118">
            <a:extLst>
              <a:ext uri="{FF2B5EF4-FFF2-40B4-BE49-F238E27FC236}">
                <a16:creationId xmlns:a16="http://schemas.microsoft.com/office/drawing/2014/main" id="{8A96E82F-4DB2-9313-76EE-0E3DEF7B35B6}"/>
              </a:ext>
            </a:extLst>
          </p:cNvPr>
          <p:cNvSpPr>
            <a:spLocks noChangeShapeType="1"/>
          </p:cNvSpPr>
          <p:nvPr/>
        </p:nvSpPr>
        <p:spPr bwMode="auto">
          <a:xfrm flipV="1">
            <a:off x="7391707" y="2378610"/>
            <a:ext cx="146818" cy="60325"/>
          </a:xfrm>
          <a:prstGeom prst="line">
            <a:avLst/>
          </a:prstGeom>
          <a:noFill/>
          <a:ln w="28575" cap="sq">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0" name="Rectangle 119">
            <a:extLst>
              <a:ext uri="{FF2B5EF4-FFF2-40B4-BE49-F238E27FC236}">
                <a16:creationId xmlns:a16="http://schemas.microsoft.com/office/drawing/2014/main" id="{2CF73C0C-5B74-C5EA-9CE2-826753E912E7}"/>
              </a:ext>
            </a:extLst>
          </p:cNvPr>
          <p:cNvSpPr>
            <a:spLocks noChangeArrowheads="1"/>
          </p:cNvSpPr>
          <p:nvPr/>
        </p:nvSpPr>
        <p:spPr bwMode="auto">
          <a:xfrm>
            <a:off x="7678769" y="2283360"/>
            <a:ext cx="885292" cy="260350"/>
          </a:xfrm>
          <a:prstGeom prst="rect">
            <a:avLst/>
          </a:prstGeom>
          <a:solidFill>
            <a:schemeClr val="bg1"/>
          </a:solidFill>
          <a:ln w="9525" cap="sq">
            <a:solidFill>
              <a:schemeClr val="accent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30/60/90 day</a:t>
            </a:r>
          </a:p>
          <a:p>
            <a:pPr algn="ctr">
              <a:lnSpc>
                <a:spcPct val="9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Forecast (email)</a:t>
            </a:r>
          </a:p>
        </p:txBody>
      </p:sp>
      <p:graphicFrame>
        <p:nvGraphicFramePr>
          <p:cNvPr id="122" name="Table 13">
            <a:extLst>
              <a:ext uri="{FF2B5EF4-FFF2-40B4-BE49-F238E27FC236}">
                <a16:creationId xmlns:a16="http://schemas.microsoft.com/office/drawing/2014/main" id="{FBA26740-D7F5-18C4-BE5A-2A9DE4056973}"/>
              </a:ext>
            </a:extLst>
          </p:cNvPr>
          <p:cNvGraphicFramePr>
            <a:graphicFrameLocks noGrp="1"/>
          </p:cNvGraphicFramePr>
          <p:nvPr>
            <p:extLst>
              <p:ext uri="{D42A27DB-BD31-4B8C-83A1-F6EECF244321}">
                <p14:modId xmlns:p14="http://schemas.microsoft.com/office/powerpoint/2010/main" val="3943435651"/>
              </p:ext>
            </p:extLst>
          </p:nvPr>
        </p:nvGraphicFramePr>
        <p:xfrm>
          <a:off x="590264" y="5549609"/>
          <a:ext cx="10670334" cy="741680"/>
        </p:xfrm>
        <a:graphic>
          <a:graphicData uri="http://schemas.openxmlformats.org/drawingml/2006/table">
            <a:tbl>
              <a:tblPr firstRow="1" bandRow="1">
                <a:tableStyleId>{5C22544A-7EE6-4342-B048-85BDC9FD1C3A}</a:tableStyleId>
              </a:tblPr>
              <a:tblGrid>
                <a:gridCol w="1065816">
                  <a:extLst>
                    <a:ext uri="{9D8B030D-6E8A-4147-A177-3AD203B41FA5}">
                      <a16:colId xmlns:a16="http://schemas.microsoft.com/office/drawing/2014/main" val="1793455730"/>
                    </a:ext>
                  </a:extLst>
                </a:gridCol>
                <a:gridCol w="1036320">
                  <a:extLst>
                    <a:ext uri="{9D8B030D-6E8A-4147-A177-3AD203B41FA5}">
                      <a16:colId xmlns:a16="http://schemas.microsoft.com/office/drawing/2014/main" val="2931103683"/>
                    </a:ext>
                  </a:extLst>
                </a:gridCol>
                <a:gridCol w="2265680">
                  <a:extLst>
                    <a:ext uri="{9D8B030D-6E8A-4147-A177-3AD203B41FA5}">
                      <a16:colId xmlns:a16="http://schemas.microsoft.com/office/drawing/2014/main" val="167016645"/>
                    </a:ext>
                  </a:extLst>
                </a:gridCol>
                <a:gridCol w="1107440">
                  <a:extLst>
                    <a:ext uri="{9D8B030D-6E8A-4147-A177-3AD203B41FA5}">
                      <a16:colId xmlns:a16="http://schemas.microsoft.com/office/drawing/2014/main" val="2153114181"/>
                    </a:ext>
                  </a:extLst>
                </a:gridCol>
                <a:gridCol w="3139440">
                  <a:extLst>
                    <a:ext uri="{9D8B030D-6E8A-4147-A177-3AD203B41FA5}">
                      <a16:colId xmlns:a16="http://schemas.microsoft.com/office/drawing/2014/main" val="2013974765"/>
                    </a:ext>
                  </a:extLst>
                </a:gridCol>
                <a:gridCol w="2055638">
                  <a:extLst>
                    <a:ext uri="{9D8B030D-6E8A-4147-A177-3AD203B41FA5}">
                      <a16:colId xmlns:a16="http://schemas.microsoft.com/office/drawing/2014/main" val="2624182740"/>
                    </a:ext>
                  </a:extLst>
                </a:gridCol>
              </a:tblGrid>
              <a:tr h="370840">
                <a:tc>
                  <a:txBody>
                    <a:bodyPr/>
                    <a:lstStyle/>
                    <a:p>
                      <a:pPr algn="ctr"/>
                      <a:r>
                        <a:rPr lang="en-US" sz="1200" b="0" dirty="0">
                          <a:solidFill>
                            <a:schemeClr val="accent1"/>
                          </a:solidFill>
                          <a:latin typeface="Roboto" panose="02000000000000000000" pitchFamily="2" charset="0"/>
                          <a:ea typeface="Roboto" panose="02000000000000000000" pitchFamily="2" charset="0"/>
                        </a:rPr>
                        <a:t>6 days</a:t>
                      </a:r>
                    </a:p>
                  </a:txBody>
                  <a:tcPr anchor="b">
                    <a:lnL w="12700" cmpd="sng">
                      <a:noFill/>
                    </a:lnL>
                    <a:lnR w="12700" cmpd="sng">
                      <a:noFill/>
                    </a:lnR>
                    <a:lnT w="127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accent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accent1"/>
                          </a:solidFill>
                          <a:latin typeface="Roboto" panose="02000000000000000000" pitchFamily="2" charset="0"/>
                          <a:ea typeface="Roboto" panose="02000000000000000000" pitchFamily="2" charset="0"/>
                        </a:rPr>
                        <a:t>2 days</a:t>
                      </a:r>
                    </a:p>
                  </a:txBody>
                  <a:tcPr anchor="b">
                    <a:lnL w="12700" cmpd="sng">
                      <a:noFill/>
                    </a:lnL>
                    <a:lnR w="12700" cmpd="sng">
                      <a:noFill/>
                    </a:lnR>
                    <a:lnT w="127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accent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accent1"/>
                          </a:solidFill>
                          <a:latin typeface="Roboto" panose="02000000000000000000" pitchFamily="2" charset="0"/>
                          <a:ea typeface="Roboto" panose="02000000000000000000" pitchFamily="2" charset="0"/>
                        </a:rPr>
                        <a:t>2 days</a:t>
                      </a:r>
                    </a:p>
                  </a:txBody>
                  <a:tcPr anchor="b">
                    <a:lnL w="12700" cmpd="sng">
                      <a:noFill/>
                    </a:lnL>
                    <a:lnR w="12700" cap="flat" cmpd="sng" algn="ctr">
                      <a:solidFill>
                        <a:schemeClr val="accent1"/>
                      </a:solidFill>
                      <a:prstDash val="solid"/>
                      <a:round/>
                      <a:headEnd type="none" w="med" len="med"/>
                      <a:tailEnd type="none" w="med" len="med"/>
                    </a:lnR>
                    <a:lnT w="127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accent1"/>
                          </a:solidFill>
                          <a:latin typeface="Roboto" panose="02000000000000000000" pitchFamily="2" charset="0"/>
                          <a:ea typeface="Roboto" panose="02000000000000000000" pitchFamily="2" charset="0"/>
                        </a:rPr>
                        <a:t>Production L.T. = 10 days</a:t>
                      </a:r>
                    </a:p>
                  </a:txBody>
                  <a:tcPr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accent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accent1"/>
                          </a:solidFill>
                          <a:latin typeface="Roboto" panose="02000000000000000000" pitchFamily="2" charset="0"/>
                          <a:ea typeface="Roboto" panose="02000000000000000000" pitchFamily="2" charset="0"/>
                        </a:rPr>
                        <a:t>240 sec</a:t>
                      </a:r>
                    </a:p>
                  </a:txBody>
                  <a:tcPr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381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accent1"/>
                        </a:solidFill>
                        <a:latin typeface="Roboto" panose="02000000000000000000" pitchFamily="2" charset="0"/>
                        <a:ea typeface="Roboto" panose="02000000000000000000" pitchFamily="2" charset="0"/>
                      </a:endParaRPr>
                    </a:p>
                  </a:txBody>
                  <a:tcPr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accent1"/>
                          </a:solidFill>
                          <a:latin typeface="Roboto" panose="02000000000000000000" pitchFamily="2" charset="0"/>
                          <a:ea typeface="Roboto" panose="02000000000000000000" pitchFamily="2" charset="0"/>
                        </a:rPr>
                        <a:t>30 sec</a:t>
                      </a:r>
                    </a:p>
                  </a:txBody>
                  <a:tcPr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381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accent1"/>
                        </a:solidFill>
                        <a:latin typeface="Roboto" panose="02000000000000000000" pitchFamily="2" charset="0"/>
                        <a:ea typeface="Roboto" panose="02000000000000000000" pitchFamily="2" charset="0"/>
                      </a:endParaRPr>
                    </a:p>
                  </a:txBody>
                  <a:tcPr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accent1"/>
                          </a:solidFill>
                          <a:latin typeface="Roboto" panose="02000000000000000000" pitchFamily="2" charset="0"/>
                          <a:ea typeface="Roboto" panose="02000000000000000000" pitchFamily="2" charset="0"/>
                        </a:rPr>
                        <a:t>Processing Time = 270 seconds</a:t>
                      </a:r>
                    </a:p>
                  </a:txBody>
                  <a:tcPr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p:spTree>
    <p:extLst>
      <p:ext uri="{BB962C8B-B14F-4D97-AF65-F5344CB8AC3E}">
        <p14:creationId xmlns:p14="http://schemas.microsoft.com/office/powerpoint/2010/main" val="3023669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dissolve">
                                      <p:cBhvr>
                                        <p:cTn id="16" dur="1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the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additional information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Add supermarkets and kanban</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42040336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rmAutofit fontScale="90000"/>
          </a:bodyPr>
          <a:lstStyle/>
          <a:p>
            <a:r>
              <a:rPr lang="en-US" dirty="0"/>
              <a:t>Identifying “Loops” in the Future State Map</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A “Loop” is a logical grouping of improvements to be made to the Current State in order to achieve the Future State</a:t>
            </a:r>
          </a:p>
          <a:p>
            <a:r>
              <a:rPr lang="en-US" dirty="0"/>
              <a:t>Loops are used to link focus improvement activities in the Value Stream Plan in a manner around a particular new capability in the Future State</a:t>
            </a:r>
          </a:p>
          <a:p>
            <a:r>
              <a:rPr lang="en-US" dirty="0"/>
              <a:t>Loops are used to logically sequence improvement activities in the Value Stream Plan so that the Future State is achieved through incremental phased implementation vs. “big bang” (everything at once)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147</a:t>
            </a:fld>
            <a:endParaRPr lang="en-US"/>
          </a:p>
        </p:txBody>
      </p:sp>
      <p:grpSp>
        <p:nvGrpSpPr>
          <p:cNvPr id="4" name="Group 3">
            <a:extLst>
              <a:ext uri="{FF2B5EF4-FFF2-40B4-BE49-F238E27FC236}">
                <a16:creationId xmlns:a16="http://schemas.microsoft.com/office/drawing/2014/main" id="{24A03F19-E370-3E07-A863-36D6B70714F4}"/>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C7BD603C-B4F0-AD7C-8165-5066CAF5BF5A}"/>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7371DEC-0D72-A893-4938-4D281D3528F3}"/>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28FA542F-69DC-1370-444A-B002165F375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61335BB-403E-0A3E-8BB8-576C4ACAB413}"/>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D4A62CF7-B462-C010-798A-47DD99B74036}"/>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4DAA3608-0BCA-95F3-7943-9D7F3B5857E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BD3BFC5-B53F-75D2-2F74-D695B8B82EA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16BFB74-5FFA-CBC6-CDB4-EC5AD817291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Tree>
    <p:extLst>
      <p:ext uri="{BB962C8B-B14F-4D97-AF65-F5344CB8AC3E}">
        <p14:creationId xmlns:p14="http://schemas.microsoft.com/office/powerpoint/2010/main" val="198428808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Identify Loops</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148</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3" name="Group 32">
            <a:extLst>
              <a:ext uri="{FF2B5EF4-FFF2-40B4-BE49-F238E27FC236}">
                <a16:creationId xmlns:a16="http://schemas.microsoft.com/office/drawing/2014/main" id="{92A7916F-E7B0-578E-4B5B-481EFEAC1E41}"/>
              </a:ext>
            </a:extLst>
          </p:cNvPr>
          <p:cNvGrpSpPr/>
          <p:nvPr/>
        </p:nvGrpSpPr>
        <p:grpSpPr>
          <a:xfrm>
            <a:off x="1634371" y="4178350"/>
            <a:ext cx="1065390" cy="569105"/>
            <a:chOff x="1634371" y="4178350"/>
            <a:chExt cx="1065390" cy="569105"/>
          </a:xfrm>
        </p:grpSpPr>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60" name="Group 159">
            <a:extLst>
              <a:ext uri="{FF2B5EF4-FFF2-40B4-BE49-F238E27FC236}">
                <a16:creationId xmlns:a16="http://schemas.microsoft.com/office/drawing/2014/main" id="{E2239F25-17F6-9BC3-B656-9685AAA835D1}"/>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B66B54DA-8EEB-BEEB-762F-72E89DBDAA77}"/>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E2BB4C92-F48C-9B40-0907-48B77ACA509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46533904-AB05-DA8A-BD34-BFA5F87C9D76}"/>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DFE62BDC-C1B1-4C5C-E072-9C788C7093AE}"/>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51659C0B-A87C-36B1-F0F4-8ADF74BBB8C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14F8FF73-1474-E82A-6235-2D29C7644A6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88B96029-21FD-6139-78C4-250F04AF5EA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FEEC2452-264A-5ECF-8EDC-D0F3EF23C8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42" name="Rectangle 7">
            <a:extLst>
              <a:ext uri="{FF2B5EF4-FFF2-40B4-BE49-F238E27FC236}">
                <a16:creationId xmlns:a16="http://schemas.microsoft.com/office/drawing/2014/main" id="{EA8D8526-7209-EDA0-0EA7-0AA6384776FB}"/>
              </a:ext>
            </a:extLst>
          </p:cNvPr>
          <p:cNvSpPr>
            <a:spLocks noChangeArrowheads="1"/>
          </p:cNvSpPr>
          <p:nvPr/>
        </p:nvSpPr>
        <p:spPr bwMode="auto">
          <a:xfrm>
            <a:off x="497252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Stamp/Form</a:t>
            </a:r>
          </a:p>
        </p:txBody>
      </p:sp>
      <p:sp>
        <p:nvSpPr>
          <p:cNvPr id="43" name="Line 8">
            <a:extLst>
              <a:ext uri="{FF2B5EF4-FFF2-40B4-BE49-F238E27FC236}">
                <a16:creationId xmlns:a16="http://schemas.microsoft.com/office/drawing/2014/main" id="{C70745FE-45E2-C238-CAA5-0C7E7A37ABB6}"/>
              </a:ext>
            </a:extLst>
          </p:cNvPr>
          <p:cNvSpPr>
            <a:spLocks noChangeShapeType="1"/>
          </p:cNvSpPr>
          <p:nvPr/>
        </p:nvSpPr>
        <p:spPr bwMode="auto">
          <a:xfrm>
            <a:off x="497252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sp>
        <p:nvSpPr>
          <p:cNvPr id="44" name="Rectangle 18">
            <a:extLst>
              <a:ext uri="{FF2B5EF4-FFF2-40B4-BE49-F238E27FC236}">
                <a16:creationId xmlns:a16="http://schemas.microsoft.com/office/drawing/2014/main" id="{851119B8-223D-5B4D-7583-AA1AA71E7D98}"/>
              </a:ext>
            </a:extLst>
          </p:cNvPr>
          <p:cNvSpPr>
            <a:spLocks noChangeArrowheads="1"/>
          </p:cNvSpPr>
          <p:nvPr/>
        </p:nvSpPr>
        <p:spPr bwMode="auto">
          <a:xfrm>
            <a:off x="4961007"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DOI = </a:t>
            </a:r>
            <a:r>
              <a:rPr lang="en-US" sz="800" b="0" dirty="0">
                <a:solidFill>
                  <a:schemeClr val="tx1"/>
                </a:solidFill>
                <a:latin typeface="Roboto" panose="02000000000000000000" pitchFamily="2" charset="0"/>
                <a:ea typeface="Roboto" panose="02000000000000000000" pitchFamily="2" charset="0"/>
              </a:rPr>
              <a:t>15”</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C/O Time =120</a:t>
            </a:r>
            <a:r>
              <a:rPr lang="ja-JP" sz="800" b="0" kern="1200" dirty="0">
                <a:solidFill>
                  <a:schemeClr val="tx1"/>
                </a:solidFill>
                <a:effectLst/>
                <a:latin typeface="Roboto" panose="02000000000000000000" pitchFamily="2" charset="0"/>
                <a:ea typeface="Arial" panose="020B0604020202020204" pitchFamily="34" charset="0"/>
              </a:rPr>
              <a:t>’</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Uptime = 99%</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Quality = 98%</a:t>
            </a:r>
            <a:endParaRPr lang="en-US" sz="800" dirty="0">
              <a:solidFill>
                <a:schemeClr val="tx1"/>
              </a:solidFill>
              <a:effectLst/>
              <a:latin typeface="Roboto" panose="02000000000000000000" pitchFamily="2" charset="0"/>
              <a:ea typeface="Roboto" panose="02000000000000000000" pitchFamily="2" charset="0"/>
            </a:endParaRPr>
          </a:p>
        </p:txBody>
      </p:sp>
      <p:sp>
        <p:nvSpPr>
          <p:cNvPr id="45" name="AutoShape 14">
            <a:extLst>
              <a:ext uri="{FF2B5EF4-FFF2-40B4-BE49-F238E27FC236}">
                <a16:creationId xmlns:a16="http://schemas.microsoft.com/office/drawing/2014/main" id="{6319026B-D29E-C9A1-F968-3307B3E10A35}"/>
              </a:ext>
            </a:extLst>
          </p:cNvPr>
          <p:cNvSpPr>
            <a:spLocks noChangeArrowheads="1"/>
          </p:cNvSpPr>
          <p:nvPr/>
        </p:nvSpPr>
        <p:spPr bwMode="auto">
          <a:xfrm flipV="1">
            <a:off x="5300237" y="4462745"/>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 name="Text Box 15">
            <a:extLst>
              <a:ext uri="{FF2B5EF4-FFF2-40B4-BE49-F238E27FC236}">
                <a16:creationId xmlns:a16="http://schemas.microsoft.com/office/drawing/2014/main" id="{CC72E0AA-599D-C015-D798-357A74459A80}"/>
              </a:ext>
            </a:extLst>
          </p:cNvPr>
          <p:cNvSpPr txBox="1">
            <a:spLocks noChangeArrowheads="1"/>
          </p:cNvSpPr>
          <p:nvPr/>
        </p:nvSpPr>
        <p:spPr bwMode="auto">
          <a:xfrm>
            <a:off x="5492273" y="4459570"/>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2</a:t>
            </a:r>
          </a:p>
        </p:txBody>
      </p:sp>
      <p:sp>
        <p:nvSpPr>
          <p:cNvPr id="48" name="Oval 13">
            <a:extLst>
              <a:ext uri="{FF2B5EF4-FFF2-40B4-BE49-F238E27FC236}">
                <a16:creationId xmlns:a16="http://schemas.microsoft.com/office/drawing/2014/main" id="{C4610C46-6017-5390-6049-47F1836D4D8A}"/>
              </a:ext>
            </a:extLst>
          </p:cNvPr>
          <p:cNvSpPr>
            <a:spLocks noChangeArrowheads="1"/>
          </p:cNvSpPr>
          <p:nvPr/>
        </p:nvSpPr>
        <p:spPr bwMode="auto">
          <a:xfrm flipV="1">
            <a:off x="5346325" y="4508542"/>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2" name="Picture 1">
            <a:extLst>
              <a:ext uri="{FF2B5EF4-FFF2-40B4-BE49-F238E27FC236}">
                <a16:creationId xmlns:a16="http://schemas.microsoft.com/office/drawing/2014/main" id="{673D40E9-4DC0-E615-7452-7343CAFAAEB5}"/>
              </a:ext>
            </a:extLst>
          </p:cNvPr>
          <p:cNvPicPr>
            <a:picLocks noChangeAspect="1"/>
          </p:cNvPicPr>
          <p:nvPr/>
        </p:nvPicPr>
        <p:blipFill>
          <a:blip r:embed="rId3">
            <a:clrChange>
              <a:clrFrom>
                <a:srgbClr val="FFFFFF"/>
              </a:clrFrom>
              <a:clrTo>
                <a:srgbClr val="FFFFFF">
                  <a:alpha val="0"/>
                </a:srgbClr>
              </a:clrTo>
            </a:clrChange>
            <a:biLevel thresh="75000"/>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1203045" y="4497363"/>
            <a:ext cx="395483" cy="349343"/>
          </a:xfrm>
          <a:prstGeom prst="rect">
            <a:avLst/>
          </a:prstGeom>
        </p:spPr>
      </p:pic>
      <p:grpSp>
        <p:nvGrpSpPr>
          <p:cNvPr id="3" name="Group 4">
            <a:extLst>
              <a:ext uri="{FF2B5EF4-FFF2-40B4-BE49-F238E27FC236}">
                <a16:creationId xmlns:a16="http://schemas.microsoft.com/office/drawing/2014/main" id="{3FE24208-9FF7-E9F2-0BC8-35CBFF684A39}"/>
              </a:ext>
            </a:extLst>
          </p:cNvPr>
          <p:cNvGrpSpPr>
            <a:grpSpLocks/>
          </p:cNvGrpSpPr>
          <p:nvPr/>
        </p:nvGrpSpPr>
        <p:grpSpPr bwMode="auto">
          <a:xfrm>
            <a:off x="932796" y="4330976"/>
            <a:ext cx="169044" cy="344730"/>
            <a:chOff x="4780" y="1303"/>
            <a:chExt cx="285" cy="631"/>
          </a:xfrm>
        </p:grpSpPr>
        <p:sp>
          <p:nvSpPr>
            <p:cNvPr id="4" name="Line 5">
              <a:extLst>
                <a:ext uri="{FF2B5EF4-FFF2-40B4-BE49-F238E27FC236}">
                  <a16:creationId xmlns:a16="http://schemas.microsoft.com/office/drawing/2014/main" id="{BA1FC4A1-55C4-9878-0B3A-A5A48931ECE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 name="Line 6">
              <a:extLst>
                <a:ext uri="{FF2B5EF4-FFF2-40B4-BE49-F238E27FC236}">
                  <a16:creationId xmlns:a16="http://schemas.microsoft.com/office/drawing/2014/main" id="{97E858BB-DCF9-B5FB-BD6B-E686C1CA7972}"/>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Line 7">
              <a:extLst>
                <a:ext uri="{FF2B5EF4-FFF2-40B4-BE49-F238E27FC236}">
                  <a16:creationId xmlns:a16="http://schemas.microsoft.com/office/drawing/2014/main" id="{1F7E78CB-0CCA-F8BE-0999-0818B0AFFE20}"/>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 name="Line 8">
              <a:extLst>
                <a:ext uri="{FF2B5EF4-FFF2-40B4-BE49-F238E27FC236}">
                  <a16:creationId xmlns:a16="http://schemas.microsoft.com/office/drawing/2014/main" id="{3D721AF3-2569-0513-CC51-2A0DFAE762B7}"/>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9">
              <a:extLst>
                <a:ext uri="{FF2B5EF4-FFF2-40B4-BE49-F238E27FC236}">
                  <a16:creationId xmlns:a16="http://schemas.microsoft.com/office/drawing/2014/main" id="{F9A126D3-FB09-4AB0-FF12-DB5E08351A00}"/>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0" name="Group 4">
            <a:extLst>
              <a:ext uri="{FF2B5EF4-FFF2-40B4-BE49-F238E27FC236}">
                <a16:creationId xmlns:a16="http://schemas.microsoft.com/office/drawing/2014/main" id="{D40547A9-0C70-0AC1-FA36-EF7A8240D7B9}"/>
              </a:ext>
            </a:extLst>
          </p:cNvPr>
          <p:cNvGrpSpPr>
            <a:grpSpLocks/>
          </p:cNvGrpSpPr>
          <p:nvPr/>
        </p:nvGrpSpPr>
        <p:grpSpPr bwMode="auto">
          <a:xfrm>
            <a:off x="3087598" y="4330976"/>
            <a:ext cx="169044" cy="344730"/>
            <a:chOff x="4780" y="1303"/>
            <a:chExt cx="285" cy="631"/>
          </a:xfrm>
        </p:grpSpPr>
        <p:sp>
          <p:nvSpPr>
            <p:cNvPr id="11" name="Line 5">
              <a:extLst>
                <a:ext uri="{FF2B5EF4-FFF2-40B4-BE49-F238E27FC236}">
                  <a16:creationId xmlns:a16="http://schemas.microsoft.com/office/drawing/2014/main" id="{BD65F1B2-A93B-3C69-E2F8-A3C3F3A6B74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 name="Line 6">
              <a:extLst>
                <a:ext uri="{FF2B5EF4-FFF2-40B4-BE49-F238E27FC236}">
                  <a16:creationId xmlns:a16="http://schemas.microsoft.com/office/drawing/2014/main" id="{D4B3BC22-0EC8-6D1C-C883-881A496C76E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3" name="Line 7">
              <a:extLst>
                <a:ext uri="{FF2B5EF4-FFF2-40B4-BE49-F238E27FC236}">
                  <a16:creationId xmlns:a16="http://schemas.microsoft.com/office/drawing/2014/main" id="{F1E75F37-89F1-3723-4919-8090D07C2AA4}"/>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8">
              <a:extLst>
                <a:ext uri="{FF2B5EF4-FFF2-40B4-BE49-F238E27FC236}">
                  <a16:creationId xmlns:a16="http://schemas.microsoft.com/office/drawing/2014/main" id="{79F8D60E-771A-521C-19E7-972F5C2925BB}"/>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9">
              <a:extLst>
                <a:ext uri="{FF2B5EF4-FFF2-40B4-BE49-F238E27FC236}">
                  <a16:creationId xmlns:a16="http://schemas.microsoft.com/office/drawing/2014/main" id="{5F1E8488-85A8-1A78-B661-C2B12CE74D9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6" name="Group 4">
            <a:extLst>
              <a:ext uri="{FF2B5EF4-FFF2-40B4-BE49-F238E27FC236}">
                <a16:creationId xmlns:a16="http://schemas.microsoft.com/office/drawing/2014/main" id="{BE8FC67E-458A-01AA-5021-A879983D996B}"/>
              </a:ext>
            </a:extLst>
          </p:cNvPr>
          <p:cNvGrpSpPr>
            <a:grpSpLocks/>
          </p:cNvGrpSpPr>
          <p:nvPr/>
        </p:nvGrpSpPr>
        <p:grpSpPr bwMode="auto">
          <a:xfrm>
            <a:off x="6889785" y="4310932"/>
            <a:ext cx="169044" cy="344730"/>
            <a:chOff x="4780" y="1303"/>
            <a:chExt cx="285" cy="631"/>
          </a:xfrm>
        </p:grpSpPr>
        <p:sp>
          <p:nvSpPr>
            <p:cNvPr id="18" name="Line 5">
              <a:extLst>
                <a:ext uri="{FF2B5EF4-FFF2-40B4-BE49-F238E27FC236}">
                  <a16:creationId xmlns:a16="http://schemas.microsoft.com/office/drawing/2014/main" id="{D0CF38B5-F0C8-FC42-1ACD-89788145EF00}"/>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6">
              <a:extLst>
                <a:ext uri="{FF2B5EF4-FFF2-40B4-BE49-F238E27FC236}">
                  <a16:creationId xmlns:a16="http://schemas.microsoft.com/office/drawing/2014/main" id="{A62AA09E-E76E-EBC2-9645-E51E7A4A301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7">
              <a:extLst>
                <a:ext uri="{FF2B5EF4-FFF2-40B4-BE49-F238E27FC236}">
                  <a16:creationId xmlns:a16="http://schemas.microsoft.com/office/drawing/2014/main" id="{511BFFDC-D30B-73CF-C89E-5453C955A9CA}"/>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8">
              <a:extLst>
                <a:ext uri="{FF2B5EF4-FFF2-40B4-BE49-F238E27FC236}">
                  <a16:creationId xmlns:a16="http://schemas.microsoft.com/office/drawing/2014/main" id="{7081E6A9-0DEE-C2DB-D623-57267B6BB8BD}"/>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1" name="Line 9">
              <a:extLst>
                <a:ext uri="{FF2B5EF4-FFF2-40B4-BE49-F238E27FC236}">
                  <a16:creationId xmlns:a16="http://schemas.microsoft.com/office/drawing/2014/main" id="{94FB1738-C36C-0B92-507D-278B16203C7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2" name="Line 110">
            <a:extLst>
              <a:ext uri="{FF2B5EF4-FFF2-40B4-BE49-F238E27FC236}">
                <a16:creationId xmlns:a16="http://schemas.microsoft.com/office/drawing/2014/main" id="{CA781C48-2B88-AB43-2589-22E26A9E3912}"/>
              </a:ext>
            </a:extLst>
          </p:cNvPr>
          <p:cNvSpPr>
            <a:spLocks noChangeShapeType="1"/>
          </p:cNvSpPr>
          <p:nvPr/>
        </p:nvSpPr>
        <p:spPr bwMode="auto">
          <a:xfrm flipH="1">
            <a:off x="1451844" y="2696256"/>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111">
            <a:extLst>
              <a:ext uri="{FF2B5EF4-FFF2-40B4-BE49-F238E27FC236}">
                <a16:creationId xmlns:a16="http://schemas.microsoft.com/office/drawing/2014/main" id="{74ECCE57-9350-89FF-0DC1-336BE15635C3}"/>
              </a:ext>
            </a:extLst>
          </p:cNvPr>
          <p:cNvSpPr>
            <a:spLocks noChangeShapeType="1"/>
          </p:cNvSpPr>
          <p:nvPr/>
        </p:nvSpPr>
        <p:spPr bwMode="auto">
          <a:xfrm flipV="1">
            <a:off x="2786356" y="2775631"/>
            <a:ext cx="1934934" cy="158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112">
            <a:extLst>
              <a:ext uri="{FF2B5EF4-FFF2-40B4-BE49-F238E27FC236}">
                <a16:creationId xmlns:a16="http://schemas.microsoft.com/office/drawing/2014/main" id="{1F48C382-2ED4-D8BE-C045-6931C69A161F}"/>
              </a:ext>
            </a:extLst>
          </p:cNvPr>
          <p:cNvSpPr>
            <a:spLocks noChangeShapeType="1"/>
          </p:cNvSpPr>
          <p:nvPr/>
        </p:nvSpPr>
        <p:spPr bwMode="auto">
          <a:xfrm flipV="1">
            <a:off x="2775400" y="2708956"/>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Rectangle 113">
            <a:extLst>
              <a:ext uri="{FF2B5EF4-FFF2-40B4-BE49-F238E27FC236}">
                <a16:creationId xmlns:a16="http://schemas.microsoft.com/office/drawing/2014/main" id="{1438E240-BA1D-48D5-0EBC-E8D862E2B230}"/>
              </a:ext>
            </a:extLst>
          </p:cNvPr>
          <p:cNvSpPr>
            <a:spLocks noChangeArrowheads="1"/>
          </p:cNvSpPr>
          <p:nvPr/>
        </p:nvSpPr>
        <p:spPr bwMode="auto">
          <a:xfrm>
            <a:off x="3101906" y="2551793"/>
            <a:ext cx="865570" cy="54580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Replenishment.</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nvGrpSpPr>
          <p:cNvPr id="64" name="Group 63">
            <a:extLst>
              <a:ext uri="{FF2B5EF4-FFF2-40B4-BE49-F238E27FC236}">
                <a16:creationId xmlns:a16="http://schemas.microsoft.com/office/drawing/2014/main" id="{16B255A4-FA38-E03C-E3B6-DDD06402B5B7}"/>
              </a:ext>
            </a:extLst>
          </p:cNvPr>
          <p:cNvGrpSpPr/>
          <p:nvPr/>
        </p:nvGrpSpPr>
        <p:grpSpPr>
          <a:xfrm>
            <a:off x="1197961" y="3900634"/>
            <a:ext cx="304800" cy="533400"/>
            <a:chOff x="1219200" y="3505200"/>
            <a:chExt cx="304800" cy="533400"/>
          </a:xfrm>
        </p:grpSpPr>
        <p:sp>
          <p:nvSpPr>
            <p:cNvPr id="41" name="AutoShape 131" descr="Light upward diagonal">
              <a:extLst>
                <a:ext uri="{FF2B5EF4-FFF2-40B4-BE49-F238E27FC236}">
                  <a16:creationId xmlns:a16="http://schemas.microsoft.com/office/drawing/2014/main" id="{505F382C-2781-60B1-D799-B753E338F749}"/>
                </a:ext>
              </a:extLst>
            </p:cNvPr>
            <p:cNvSpPr>
              <a:spLocks noChangeArrowheads="1"/>
            </p:cNvSpPr>
            <p:nvPr/>
          </p:nvSpPr>
          <p:spPr bwMode="auto">
            <a:xfrm rot="16200000" flipH="1">
              <a:off x="1247775" y="3540356"/>
              <a:ext cx="247650" cy="177338"/>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Line 132">
              <a:extLst>
                <a:ext uri="{FF2B5EF4-FFF2-40B4-BE49-F238E27FC236}">
                  <a16:creationId xmlns:a16="http://schemas.microsoft.com/office/drawing/2014/main" id="{62C4C9AC-66B1-4E35-E0E0-21E407282C36}"/>
                </a:ext>
              </a:extLst>
            </p:cNvPr>
            <p:cNvSpPr>
              <a:spLocks noChangeShapeType="1"/>
            </p:cNvSpPr>
            <p:nvPr/>
          </p:nvSpPr>
          <p:spPr bwMode="auto">
            <a:xfrm>
              <a:off x="1371600" y="3810000"/>
              <a:ext cx="0" cy="2286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1" name="Line 133">
              <a:extLst>
                <a:ext uri="{FF2B5EF4-FFF2-40B4-BE49-F238E27FC236}">
                  <a16:creationId xmlns:a16="http://schemas.microsoft.com/office/drawing/2014/main" id="{BFE9A1FB-9641-F445-E6CF-484BEF3DF351}"/>
                </a:ext>
              </a:extLst>
            </p:cNvPr>
            <p:cNvSpPr>
              <a:spLocks noChangeShapeType="1"/>
            </p:cNvSpPr>
            <p:nvPr/>
          </p:nvSpPr>
          <p:spPr bwMode="auto">
            <a:xfrm>
              <a:off x="1238596" y="3810000"/>
              <a:ext cx="266007" cy="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2" name="Line 134">
              <a:extLst>
                <a:ext uri="{FF2B5EF4-FFF2-40B4-BE49-F238E27FC236}">
                  <a16:creationId xmlns:a16="http://schemas.microsoft.com/office/drawing/2014/main" id="{350B8907-79B2-754B-6E99-6756F81BE805}"/>
                </a:ext>
              </a:extLst>
            </p:cNvPr>
            <p:cNvSpPr>
              <a:spLocks noChangeShapeType="1"/>
            </p:cNvSpPr>
            <p:nvPr/>
          </p:nvSpPr>
          <p:spPr bwMode="auto">
            <a:xfrm>
              <a:off x="1219200"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135">
              <a:extLst>
                <a:ext uri="{FF2B5EF4-FFF2-40B4-BE49-F238E27FC236}">
                  <a16:creationId xmlns:a16="http://schemas.microsoft.com/office/drawing/2014/main" id="{0BD5C145-1802-F81F-7C97-09D9069E0BFB}"/>
                </a:ext>
              </a:extLst>
            </p:cNvPr>
            <p:cNvSpPr>
              <a:spLocks noChangeShapeType="1"/>
            </p:cNvSpPr>
            <p:nvPr/>
          </p:nvSpPr>
          <p:spPr bwMode="auto">
            <a:xfrm flipH="1">
              <a:off x="1504604"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65" name="Line 141">
            <a:extLst>
              <a:ext uri="{FF2B5EF4-FFF2-40B4-BE49-F238E27FC236}">
                <a16:creationId xmlns:a16="http://schemas.microsoft.com/office/drawing/2014/main" id="{ECEEE272-8181-5A56-A4AB-63F4220B67E6}"/>
              </a:ext>
            </a:extLst>
          </p:cNvPr>
          <p:cNvSpPr>
            <a:spLocks noChangeShapeType="1"/>
          </p:cNvSpPr>
          <p:nvPr/>
        </p:nvSpPr>
        <p:spPr bwMode="auto">
          <a:xfrm>
            <a:off x="1116563" y="4497363"/>
            <a:ext cx="504427"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66" name="Line 141">
            <a:extLst>
              <a:ext uri="{FF2B5EF4-FFF2-40B4-BE49-F238E27FC236}">
                <a16:creationId xmlns:a16="http://schemas.microsoft.com/office/drawing/2014/main" id="{A0B5DA91-A190-E57D-A87C-BF1C167C65D2}"/>
              </a:ext>
            </a:extLst>
          </p:cNvPr>
          <p:cNvSpPr>
            <a:spLocks noChangeShapeType="1"/>
          </p:cNvSpPr>
          <p:nvPr/>
        </p:nvSpPr>
        <p:spPr bwMode="auto">
          <a:xfrm flipV="1">
            <a:off x="1463388" y="3069146"/>
            <a:ext cx="3256797" cy="811221"/>
          </a:xfrm>
          <a:prstGeom prst="line">
            <a:avLst/>
          </a:prstGeom>
          <a:noFill/>
          <a:ln w="28575">
            <a:solidFill>
              <a:schemeClr val="tx1"/>
            </a:solidFill>
            <a:prstDash val="solid"/>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grpSp>
        <p:nvGrpSpPr>
          <p:cNvPr id="71" name="Group 106">
            <a:extLst>
              <a:ext uri="{FF2B5EF4-FFF2-40B4-BE49-F238E27FC236}">
                <a16:creationId xmlns:a16="http://schemas.microsoft.com/office/drawing/2014/main" id="{9B176345-7D5F-F0AF-05F2-4A5B36A6411C}"/>
              </a:ext>
            </a:extLst>
          </p:cNvPr>
          <p:cNvGrpSpPr>
            <a:grpSpLocks/>
          </p:cNvGrpSpPr>
          <p:nvPr/>
        </p:nvGrpSpPr>
        <p:grpSpPr bwMode="auto">
          <a:xfrm>
            <a:off x="2148514" y="3840615"/>
            <a:ext cx="7186136" cy="600075"/>
            <a:chOff x="1296" y="2221"/>
            <a:chExt cx="2845" cy="378"/>
          </a:xfrm>
        </p:grpSpPr>
        <p:grpSp>
          <p:nvGrpSpPr>
            <p:cNvPr id="72" name="Group 107">
              <a:extLst>
                <a:ext uri="{FF2B5EF4-FFF2-40B4-BE49-F238E27FC236}">
                  <a16:creationId xmlns:a16="http://schemas.microsoft.com/office/drawing/2014/main" id="{221A0C17-2400-FF37-0064-A50F314505C7}"/>
                </a:ext>
              </a:extLst>
            </p:cNvPr>
            <p:cNvGrpSpPr>
              <a:grpSpLocks/>
            </p:cNvGrpSpPr>
            <p:nvPr/>
          </p:nvGrpSpPr>
          <p:grpSpPr bwMode="auto">
            <a:xfrm>
              <a:off x="1761" y="2256"/>
              <a:ext cx="783" cy="336"/>
              <a:chOff x="1761" y="2256"/>
              <a:chExt cx="783" cy="336"/>
            </a:xfrm>
          </p:grpSpPr>
          <p:sp>
            <p:nvSpPr>
              <p:cNvPr id="103" name="Line 108">
                <a:extLst>
                  <a:ext uri="{FF2B5EF4-FFF2-40B4-BE49-F238E27FC236}">
                    <a16:creationId xmlns:a16="http://schemas.microsoft.com/office/drawing/2014/main" id="{C0D19C50-D7CE-9891-F55D-13879DDE0EBD}"/>
                  </a:ext>
                </a:extLst>
              </p:cNvPr>
              <p:cNvSpPr>
                <a:spLocks noChangeShapeType="1"/>
              </p:cNvSpPr>
              <p:nvPr/>
            </p:nvSpPr>
            <p:spPr bwMode="auto">
              <a:xfrm>
                <a:off x="1776" y="2592"/>
                <a:ext cx="624"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104" name="Line 109">
                <a:extLst>
                  <a:ext uri="{FF2B5EF4-FFF2-40B4-BE49-F238E27FC236}">
                    <a16:creationId xmlns:a16="http://schemas.microsoft.com/office/drawing/2014/main" id="{E5F422F3-6B39-3EA9-D39A-8359F356B706}"/>
                  </a:ext>
                </a:extLst>
              </p:cNvPr>
              <p:cNvSpPr>
                <a:spLocks noChangeShapeType="1"/>
              </p:cNvSpPr>
              <p:nvPr/>
            </p:nvSpPr>
            <p:spPr bwMode="auto">
              <a:xfrm>
                <a:off x="1776" y="2304"/>
                <a:ext cx="768"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5" name="Line 110">
                <a:extLst>
                  <a:ext uri="{FF2B5EF4-FFF2-40B4-BE49-F238E27FC236}">
                    <a16:creationId xmlns:a16="http://schemas.microsoft.com/office/drawing/2014/main" id="{34B8FA2B-E3BD-1FCD-221D-69DD4D3E16FF}"/>
                  </a:ext>
                </a:extLst>
              </p:cNvPr>
              <p:cNvSpPr>
                <a:spLocks noChangeShapeType="1"/>
              </p:cNvSpPr>
              <p:nvPr/>
            </p:nvSpPr>
            <p:spPr bwMode="auto">
              <a:xfrm>
                <a:off x="1761" y="2304"/>
                <a:ext cx="0" cy="288"/>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6" name="AutoShape 111" descr="Light upward diagonal">
                <a:extLst>
                  <a:ext uri="{FF2B5EF4-FFF2-40B4-BE49-F238E27FC236}">
                    <a16:creationId xmlns:a16="http://schemas.microsoft.com/office/drawing/2014/main" id="{878383E2-6C37-1F28-AF12-14C72B8C81BB}"/>
                  </a:ext>
                </a:extLst>
              </p:cNvPr>
              <p:cNvSpPr>
                <a:spLocks noChangeArrowheads="1"/>
              </p:cNvSpPr>
              <p:nvPr/>
            </p:nvSpPr>
            <p:spPr bwMode="auto">
              <a:xfrm flipH="1">
                <a:off x="2016" y="2256"/>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Line 112">
                <a:extLst>
                  <a:ext uri="{FF2B5EF4-FFF2-40B4-BE49-F238E27FC236}">
                    <a16:creationId xmlns:a16="http://schemas.microsoft.com/office/drawing/2014/main" id="{495C08A7-1408-F040-57AD-53EB3C65F91E}"/>
                  </a:ext>
                </a:extLst>
              </p:cNvPr>
              <p:cNvSpPr>
                <a:spLocks noChangeShapeType="1"/>
              </p:cNvSpPr>
              <p:nvPr/>
            </p:nvSpPr>
            <p:spPr bwMode="auto">
              <a:xfrm>
                <a:off x="2544" y="2304"/>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3" name="Group 113">
              <a:extLst>
                <a:ext uri="{FF2B5EF4-FFF2-40B4-BE49-F238E27FC236}">
                  <a16:creationId xmlns:a16="http://schemas.microsoft.com/office/drawing/2014/main" id="{47EA00E2-AB84-1FC9-2EE9-20E7E22D3C05}"/>
                </a:ext>
              </a:extLst>
            </p:cNvPr>
            <p:cNvGrpSpPr>
              <a:grpSpLocks/>
            </p:cNvGrpSpPr>
            <p:nvPr/>
          </p:nvGrpSpPr>
          <p:grpSpPr bwMode="auto">
            <a:xfrm>
              <a:off x="1296" y="2256"/>
              <a:ext cx="432" cy="240"/>
              <a:chOff x="1296" y="2256"/>
              <a:chExt cx="432" cy="240"/>
            </a:xfrm>
          </p:grpSpPr>
          <p:sp>
            <p:nvSpPr>
              <p:cNvPr id="99" name="Line 114">
                <a:extLst>
                  <a:ext uri="{FF2B5EF4-FFF2-40B4-BE49-F238E27FC236}">
                    <a16:creationId xmlns:a16="http://schemas.microsoft.com/office/drawing/2014/main" id="{3CECE158-02F2-CB91-B30C-47C45E7E73BF}"/>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115">
                <a:extLst>
                  <a:ext uri="{FF2B5EF4-FFF2-40B4-BE49-F238E27FC236}">
                    <a16:creationId xmlns:a16="http://schemas.microsoft.com/office/drawing/2014/main" id="{78014254-F688-AF9D-0DE1-24E4E486CEE7}"/>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1" name="AutoShape 116">
                <a:extLst>
                  <a:ext uri="{FF2B5EF4-FFF2-40B4-BE49-F238E27FC236}">
                    <a16:creationId xmlns:a16="http://schemas.microsoft.com/office/drawing/2014/main" id="{EF983E13-D522-BB54-6AD4-69AA826E2E0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Line 117">
                <a:extLst>
                  <a:ext uri="{FF2B5EF4-FFF2-40B4-BE49-F238E27FC236}">
                    <a16:creationId xmlns:a16="http://schemas.microsoft.com/office/drawing/2014/main" id="{6B858B9F-AD72-DDDA-271E-3CD61B1F5711}"/>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74" name="Group 118">
              <a:extLst>
                <a:ext uri="{FF2B5EF4-FFF2-40B4-BE49-F238E27FC236}">
                  <a16:creationId xmlns:a16="http://schemas.microsoft.com/office/drawing/2014/main" id="{69A31880-2C13-C51A-4B3B-52E2B559936E}"/>
                </a:ext>
              </a:extLst>
            </p:cNvPr>
            <p:cNvGrpSpPr>
              <a:grpSpLocks/>
            </p:cNvGrpSpPr>
            <p:nvPr/>
          </p:nvGrpSpPr>
          <p:grpSpPr bwMode="auto">
            <a:xfrm>
              <a:off x="3234" y="2221"/>
              <a:ext cx="907" cy="378"/>
              <a:chOff x="3234" y="2221"/>
              <a:chExt cx="907" cy="378"/>
            </a:xfrm>
          </p:grpSpPr>
          <p:sp>
            <p:nvSpPr>
              <p:cNvPr id="81" name="Line 119">
                <a:extLst>
                  <a:ext uri="{FF2B5EF4-FFF2-40B4-BE49-F238E27FC236}">
                    <a16:creationId xmlns:a16="http://schemas.microsoft.com/office/drawing/2014/main" id="{8E53EF63-45A8-E039-FB5C-796E12E21F5F}"/>
                  </a:ext>
                </a:extLst>
              </p:cNvPr>
              <p:cNvSpPr>
                <a:spLocks noChangeShapeType="1"/>
              </p:cNvSpPr>
              <p:nvPr/>
            </p:nvSpPr>
            <p:spPr bwMode="auto">
              <a:xfrm>
                <a:off x="3235" y="2595"/>
                <a:ext cx="808"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82" name="Line 120">
                <a:extLst>
                  <a:ext uri="{FF2B5EF4-FFF2-40B4-BE49-F238E27FC236}">
                    <a16:creationId xmlns:a16="http://schemas.microsoft.com/office/drawing/2014/main" id="{8FA817BA-675C-1B56-3F5A-0EAB00ACE34F}"/>
                  </a:ext>
                </a:extLst>
              </p:cNvPr>
              <p:cNvSpPr>
                <a:spLocks noChangeShapeType="1"/>
              </p:cNvSpPr>
              <p:nvPr/>
            </p:nvSpPr>
            <p:spPr bwMode="auto">
              <a:xfrm>
                <a:off x="3264" y="2304"/>
                <a:ext cx="875"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9" name="Line 121">
                <a:extLst>
                  <a:ext uri="{FF2B5EF4-FFF2-40B4-BE49-F238E27FC236}">
                    <a16:creationId xmlns:a16="http://schemas.microsoft.com/office/drawing/2014/main" id="{1A64B508-DE75-690E-35DE-5F11A5475111}"/>
                  </a:ext>
                </a:extLst>
              </p:cNvPr>
              <p:cNvSpPr>
                <a:spLocks noChangeShapeType="1"/>
              </p:cNvSpPr>
              <p:nvPr/>
            </p:nvSpPr>
            <p:spPr bwMode="auto">
              <a:xfrm flipH="1">
                <a:off x="3234" y="2304"/>
                <a:ext cx="6" cy="295"/>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0" name="AutoShape 122" descr="Light upward diagonal">
                <a:extLst>
                  <a:ext uri="{FF2B5EF4-FFF2-40B4-BE49-F238E27FC236}">
                    <a16:creationId xmlns:a16="http://schemas.microsoft.com/office/drawing/2014/main" id="{E4263844-1DC2-5ADF-8B5F-6DC999C69116}"/>
                  </a:ext>
                </a:extLst>
              </p:cNvPr>
              <p:cNvSpPr>
                <a:spLocks noChangeArrowheads="1"/>
              </p:cNvSpPr>
              <p:nvPr/>
            </p:nvSpPr>
            <p:spPr bwMode="auto">
              <a:xfrm flipH="1">
                <a:off x="3785" y="2221"/>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Line 123">
                <a:extLst>
                  <a:ext uri="{FF2B5EF4-FFF2-40B4-BE49-F238E27FC236}">
                    <a16:creationId xmlns:a16="http://schemas.microsoft.com/office/drawing/2014/main" id="{08EC29AF-8113-B132-E646-932AEE83248A}"/>
                  </a:ext>
                </a:extLst>
              </p:cNvPr>
              <p:cNvSpPr>
                <a:spLocks noChangeShapeType="1"/>
              </p:cNvSpPr>
              <p:nvPr/>
            </p:nvSpPr>
            <p:spPr bwMode="auto">
              <a:xfrm flipH="1">
                <a:off x="4141" y="2317"/>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5" name="Group 124">
              <a:extLst>
                <a:ext uri="{FF2B5EF4-FFF2-40B4-BE49-F238E27FC236}">
                  <a16:creationId xmlns:a16="http://schemas.microsoft.com/office/drawing/2014/main" id="{541DE822-0BF6-A9D1-E8FD-85EF89E958FB}"/>
                </a:ext>
              </a:extLst>
            </p:cNvPr>
            <p:cNvGrpSpPr>
              <a:grpSpLocks/>
            </p:cNvGrpSpPr>
            <p:nvPr/>
          </p:nvGrpSpPr>
          <p:grpSpPr bwMode="auto">
            <a:xfrm>
              <a:off x="2766" y="2262"/>
              <a:ext cx="432" cy="240"/>
              <a:chOff x="1296" y="2256"/>
              <a:chExt cx="432" cy="240"/>
            </a:xfrm>
          </p:grpSpPr>
          <p:sp>
            <p:nvSpPr>
              <p:cNvPr id="76" name="Line 125">
                <a:extLst>
                  <a:ext uri="{FF2B5EF4-FFF2-40B4-BE49-F238E27FC236}">
                    <a16:creationId xmlns:a16="http://schemas.microsoft.com/office/drawing/2014/main" id="{97F85EAB-3AEB-F822-DA09-0AD8DABAC1A2}"/>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7" name="Line 126">
                <a:extLst>
                  <a:ext uri="{FF2B5EF4-FFF2-40B4-BE49-F238E27FC236}">
                    <a16:creationId xmlns:a16="http://schemas.microsoft.com/office/drawing/2014/main" id="{4F3066D6-2886-8A15-73D1-896685CCE391}"/>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8" name="AutoShape 127">
                <a:extLst>
                  <a:ext uri="{FF2B5EF4-FFF2-40B4-BE49-F238E27FC236}">
                    <a16:creationId xmlns:a16="http://schemas.microsoft.com/office/drawing/2014/main" id="{C61B84E2-965A-BD9D-088A-93A8F66A552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0" name="Line 128">
                <a:extLst>
                  <a:ext uri="{FF2B5EF4-FFF2-40B4-BE49-F238E27FC236}">
                    <a16:creationId xmlns:a16="http://schemas.microsoft.com/office/drawing/2014/main" id="{CC4D97DB-62AD-5A3A-F7DA-E150D1F0E2F7}"/>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sp>
        <p:nvSpPr>
          <p:cNvPr id="112" name="Text Box 23">
            <a:extLst>
              <a:ext uri="{FF2B5EF4-FFF2-40B4-BE49-F238E27FC236}">
                <a16:creationId xmlns:a16="http://schemas.microsoft.com/office/drawing/2014/main" id="{4CCF06C2-5D19-D20D-88C4-ABC3A5040E06}"/>
              </a:ext>
            </a:extLst>
          </p:cNvPr>
          <p:cNvSpPr txBox="1">
            <a:spLocks noChangeArrowheads="1"/>
          </p:cNvSpPr>
          <p:nvPr/>
        </p:nvSpPr>
        <p:spPr bwMode="auto">
          <a:xfrm>
            <a:off x="711868" y="4662584"/>
            <a:ext cx="555625" cy="244475"/>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6 days</a:t>
            </a:r>
          </a:p>
        </p:txBody>
      </p:sp>
      <p:sp>
        <p:nvSpPr>
          <p:cNvPr id="113" name="Text Box 23">
            <a:extLst>
              <a:ext uri="{FF2B5EF4-FFF2-40B4-BE49-F238E27FC236}">
                <a16:creationId xmlns:a16="http://schemas.microsoft.com/office/drawing/2014/main" id="{DA4441FE-F86B-79B4-6EE4-6EA0BF5E1A88}"/>
              </a:ext>
            </a:extLst>
          </p:cNvPr>
          <p:cNvSpPr txBox="1">
            <a:spLocks noChangeArrowheads="1"/>
          </p:cNvSpPr>
          <p:nvPr/>
        </p:nvSpPr>
        <p:spPr bwMode="auto">
          <a:xfrm>
            <a:off x="2878054" y="466594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4" name="Text Box 23">
            <a:extLst>
              <a:ext uri="{FF2B5EF4-FFF2-40B4-BE49-F238E27FC236}">
                <a16:creationId xmlns:a16="http://schemas.microsoft.com/office/drawing/2014/main" id="{5186321E-A23D-D845-1696-41F7AEAE9CFD}"/>
              </a:ext>
            </a:extLst>
          </p:cNvPr>
          <p:cNvSpPr txBox="1">
            <a:spLocks noChangeArrowheads="1"/>
          </p:cNvSpPr>
          <p:nvPr/>
        </p:nvSpPr>
        <p:spPr bwMode="auto">
          <a:xfrm>
            <a:off x="6710257" y="465402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5" name="Line 116">
            <a:extLst>
              <a:ext uri="{FF2B5EF4-FFF2-40B4-BE49-F238E27FC236}">
                <a16:creationId xmlns:a16="http://schemas.microsoft.com/office/drawing/2014/main" id="{08082364-8F0D-B7B9-85AA-15DFAFAF4DFA}"/>
              </a:ext>
            </a:extLst>
          </p:cNvPr>
          <p:cNvSpPr>
            <a:spLocks noChangeShapeType="1"/>
          </p:cNvSpPr>
          <p:nvPr/>
        </p:nvSpPr>
        <p:spPr bwMode="auto">
          <a:xfrm flipH="1">
            <a:off x="6068151" y="2365910"/>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6" name="Line 117">
            <a:extLst>
              <a:ext uri="{FF2B5EF4-FFF2-40B4-BE49-F238E27FC236}">
                <a16:creationId xmlns:a16="http://schemas.microsoft.com/office/drawing/2014/main" id="{0AB62DAA-9693-C30C-1074-4397E8557B4D}"/>
              </a:ext>
            </a:extLst>
          </p:cNvPr>
          <p:cNvSpPr>
            <a:spLocks noChangeShapeType="1"/>
          </p:cNvSpPr>
          <p:nvPr/>
        </p:nvSpPr>
        <p:spPr bwMode="auto">
          <a:xfrm flipV="1">
            <a:off x="7402663" y="2438935"/>
            <a:ext cx="1577749" cy="79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9" name="Line 118">
            <a:extLst>
              <a:ext uri="{FF2B5EF4-FFF2-40B4-BE49-F238E27FC236}">
                <a16:creationId xmlns:a16="http://schemas.microsoft.com/office/drawing/2014/main" id="{8A96E82F-4DB2-9313-76EE-0E3DEF7B35B6}"/>
              </a:ext>
            </a:extLst>
          </p:cNvPr>
          <p:cNvSpPr>
            <a:spLocks noChangeShapeType="1"/>
          </p:cNvSpPr>
          <p:nvPr/>
        </p:nvSpPr>
        <p:spPr bwMode="auto">
          <a:xfrm flipV="1">
            <a:off x="7391707" y="2378610"/>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0" name="Rectangle 119">
            <a:extLst>
              <a:ext uri="{FF2B5EF4-FFF2-40B4-BE49-F238E27FC236}">
                <a16:creationId xmlns:a16="http://schemas.microsoft.com/office/drawing/2014/main" id="{2CF73C0C-5B74-C5EA-9CE2-826753E912E7}"/>
              </a:ext>
            </a:extLst>
          </p:cNvPr>
          <p:cNvSpPr>
            <a:spLocks noChangeArrowheads="1"/>
          </p:cNvSpPr>
          <p:nvPr/>
        </p:nvSpPr>
        <p:spPr bwMode="auto">
          <a:xfrm>
            <a:off x="7678769" y="2283360"/>
            <a:ext cx="885292" cy="260350"/>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30/60/90 day</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Forecast (email)</a:t>
            </a:r>
          </a:p>
        </p:txBody>
      </p:sp>
      <p:graphicFrame>
        <p:nvGraphicFramePr>
          <p:cNvPr id="122" name="Table 13">
            <a:extLst>
              <a:ext uri="{FF2B5EF4-FFF2-40B4-BE49-F238E27FC236}">
                <a16:creationId xmlns:a16="http://schemas.microsoft.com/office/drawing/2014/main" id="{FBA26740-D7F5-18C4-BE5A-2A9DE4056973}"/>
              </a:ext>
            </a:extLst>
          </p:cNvPr>
          <p:cNvGraphicFramePr>
            <a:graphicFrameLocks noGrp="1"/>
          </p:cNvGraphicFramePr>
          <p:nvPr>
            <p:extLst>
              <p:ext uri="{D42A27DB-BD31-4B8C-83A1-F6EECF244321}">
                <p14:modId xmlns:p14="http://schemas.microsoft.com/office/powerpoint/2010/main" val="1116857779"/>
              </p:ext>
            </p:extLst>
          </p:nvPr>
        </p:nvGraphicFramePr>
        <p:xfrm>
          <a:off x="590264" y="5549609"/>
          <a:ext cx="10670334" cy="741680"/>
        </p:xfrm>
        <a:graphic>
          <a:graphicData uri="http://schemas.openxmlformats.org/drawingml/2006/table">
            <a:tbl>
              <a:tblPr firstRow="1" bandRow="1">
                <a:tableStyleId>{5C22544A-7EE6-4342-B048-85BDC9FD1C3A}</a:tableStyleId>
              </a:tblPr>
              <a:tblGrid>
                <a:gridCol w="1065816">
                  <a:extLst>
                    <a:ext uri="{9D8B030D-6E8A-4147-A177-3AD203B41FA5}">
                      <a16:colId xmlns:a16="http://schemas.microsoft.com/office/drawing/2014/main" val="1793455730"/>
                    </a:ext>
                  </a:extLst>
                </a:gridCol>
                <a:gridCol w="1036320">
                  <a:extLst>
                    <a:ext uri="{9D8B030D-6E8A-4147-A177-3AD203B41FA5}">
                      <a16:colId xmlns:a16="http://schemas.microsoft.com/office/drawing/2014/main" val="2931103683"/>
                    </a:ext>
                  </a:extLst>
                </a:gridCol>
                <a:gridCol w="2265680">
                  <a:extLst>
                    <a:ext uri="{9D8B030D-6E8A-4147-A177-3AD203B41FA5}">
                      <a16:colId xmlns:a16="http://schemas.microsoft.com/office/drawing/2014/main" val="167016645"/>
                    </a:ext>
                  </a:extLst>
                </a:gridCol>
                <a:gridCol w="1107440">
                  <a:extLst>
                    <a:ext uri="{9D8B030D-6E8A-4147-A177-3AD203B41FA5}">
                      <a16:colId xmlns:a16="http://schemas.microsoft.com/office/drawing/2014/main" val="2153114181"/>
                    </a:ext>
                  </a:extLst>
                </a:gridCol>
                <a:gridCol w="3139440">
                  <a:extLst>
                    <a:ext uri="{9D8B030D-6E8A-4147-A177-3AD203B41FA5}">
                      <a16:colId xmlns:a16="http://schemas.microsoft.com/office/drawing/2014/main" val="2013974765"/>
                    </a:ext>
                  </a:extLst>
                </a:gridCol>
                <a:gridCol w="2055638">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6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10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240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270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mc:AlternateContent xmlns:mc="http://schemas.openxmlformats.org/markup-compatibility/2006" xmlns:p14="http://schemas.microsoft.com/office/powerpoint/2010/main">
        <mc:Choice Requires="p14">
          <p:contentPart p14:bwMode="auto" r:id="rId5">
            <p14:nvContentPartPr>
              <p14:cNvPr id="128" name="Ink 127">
                <a:extLst>
                  <a:ext uri="{FF2B5EF4-FFF2-40B4-BE49-F238E27FC236}">
                    <a16:creationId xmlns:a16="http://schemas.microsoft.com/office/drawing/2014/main" id="{8A8219C2-1177-0E74-192A-1BE629A748AB}"/>
                  </a:ext>
                </a:extLst>
              </p14:cNvPr>
              <p14:cNvContentPartPr/>
              <p14:nvPr/>
            </p14:nvContentPartPr>
            <p14:xfrm>
              <a:off x="475880" y="1821720"/>
              <a:ext cx="4033800" cy="3121560"/>
            </p14:xfrm>
          </p:contentPart>
        </mc:Choice>
        <mc:Fallback xmlns="">
          <p:pic>
            <p:nvPicPr>
              <p:cNvPr id="128" name="Ink 127">
                <a:extLst>
                  <a:ext uri="{FF2B5EF4-FFF2-40B4-BE49-F238E27FC236}">
                    <a16:creationId xmlns:a16="http://schemas.microsoft.com/office/drawing/2014/main" id="{8A8219C2-1177-0E74-192A-1BE629A748AB}"/>
                  </a:ext>
                </a:extLst>
              </p:cNvPr>
              <p:cNvPicPr/>
              <p:nvPr/>
            </p:nvPicPr>
            <p:blipFill>
              <a:blip r:embed="rId6"/>
              <a:stretch>
                <a:fillRect/>
              </a:stretch>
            </p:blipFill>
            <p:spPr>
              <a:xfrm>
                <a:off x="466880" y="1813080"/>
                <a:ext cx="4051440" cy="313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37" name="Ink 136">
                <a:extLst>
                  <a:ext uri="{FF2B5EF4-FFF2-40B4-BE49-F238E27FC236}">
                    <a16:creationId xmlns:a16="http://schemas.microsoft.com/office/drawing/2014/main" id="{0601A1C5-B031-FA5C-3428-7C9836BF2B23}"/>
                  </a:ext>
                </a:extLst>
              </p14:cNvPr>
              <p14:cNvContentPartPr/>
              <p14:nvPr/>
            </p14:nvContentPartPr>
            <p14:xfrm>
              <a:off x="4643960" y="2047800"/>
              <a:ext cx="6419160" cy="1337040"/>
            </p14:xfrm>
          </p:contentPart>
        </mc:Choice>
        <mc:Fallback xmlns="">
          <p:pic>
            <p:nvPicPr>
              <p:cNvPr id="137" name="Ink 136">
                <a:extLst>
                  <a:ext uri="{FF2B5EF4-FFF2-40B4-BE49-F238E27FC236}">
                    <a16:creationId xmlns:a16="http://schemas.microsoft.com/office/drawing/2014/main" id="{0601A1C5-B031-FA5C-3428-7C9836BF2B23}"/>
                  </a:ext>
                </a:extLst>
              </p:cNvPr>
              <p:cNvPicPr/>
              <p:nvPr/>
            </p:nvPicPr>
            <p:blipFill>
              <a:blip r:embed="rId8"/>
              <a:stretch>
                <a:fillRect/>
              </a:stretch>
            </p:blipFill>
            <p:spPr>
              <a:xfrm>
                <a:off x="4634960" y="2039160"/>
                <a:ext cx="6436800" cy="13546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38" name="Ink 137">
                <a:extLst>
                  <a:ext uri="{FF2B5EF4-FFF2-40B4-BE49-F238E27FC236}">
                    <a16:creationId xmlns:a16="http://schemas.microsoft.com/office/drawing/2014/main" id="{267E4E70-DA5A-1908-28D7-3180FA5F3536}"/>
                  </a:ext>
                </a:extLst>
              </p14:cNvPr>
              <p14:cNvContentPartPr/>
              <p14:nvPr/>
            </p14:nvContentPartPr>
            <p14:xfrm>
              <a:off x="7074680" y="2903520"/>
              <a:ext cx="3617280" cy="2383200"/>
            </p14:xfrm>
          </p:contentPart>
        </mc:Choice>
        <mc:Fallback xmlns="">
          <p:pic>
            <p:nvPicPr>
              <p:cNvPr id="138" name="Ink 137">
                <a:extLst>
                  <a:ext uri="{FF2B5EF4-FFF2-40B4-BE49-F238E27FC236}">
                    <a16:creationId xmlns:a16="http://schemas.microsoft.com/office/drawing/2014/main" id="{267E4E70-DA5A-1908-28D7-3180FA5F3536}"/>
                  </a:ext>
                </a:extLst>
              </p:cNvPr>
              <p:cNvPicPr/>
              <p:nvPr/>
            </p:nvPicPr>
            <p:blipFill>
              <a:blip r:embed="rId10"/>
              <a:stretch>
                <a:fillRect/>
              </a:stretch>
            </p:blipFill>
            <p:spPr>
              <a:xfrm>
                <a:off x="7066040" y="2894520"/>
                <a:ext cx="3634920" cy="2400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40" name="Ink 139">
                <a:extLst>
                  <a:ext uri="{FF2B5EF4-FFF2-40B4-BE49-F238E27FC236}">
                    <a16:creationId xmlns:a16="http://schemas.microsoft.com/office/drawing/2014/main" id="{F70A61DB-5B6F-39ED-2B6E-C3E93495F213}"/>
                  </a:ext>
                </a:extLst>
              </p14:cNvPr>
              <p14:cNvContentPartPr/>
              <p14:nvPr/>
            </p14:nvContentPartPr>
            <p14:xfrm>
              <a:off x="1505120" y="3401760"/>
              <a:ext cx="5725440" cy="2239200"/>
            </p14:xfrm>
          </p:contentPart>
        </mc:Choice>
        <mc:Fallback xmlns="">
          <p:pic>
            <p:nvPicPr>
              <p:cNvPr id="140" name="Ink 139">
                <a:extLst>
                  <a:ext uri="{FF2B5EF4-FFF2-40B4-BE49-F238E27FC236}">
                    <a16:creationId xmlns:a16="http://schemas.microsoft.com/office/drawing/2014/main" id="{F70A61DB-5B6F-39ED-2B6E-C3E93495F213}"/>
                  </a:ext>
                </a:extLst>
              </p:cNvPr>
              <p:cNvPicPr/>
              <p:nvPr/>
            </p:nvPicPr>
            <p:blipFill>
              <a:blip r:embed="rId12"/>
              <a:stretch>
                <a:fillRect/>
              </a:stretch>
            </p:blipFill>
            <p:spPr>
              <a:xfrm>
                <a:off x="1496480" y="3393120"/>
                <a:ext cx="5743080" cy="2256840"/>
              </a:xfrm>
              <a:prstGeom prst="rect">
                <a:avLst/>
              </a:prstGeom>
            </p:spPr>
          </p:pic>
        </mc:Fallback>
      </mc:AlternateContent>
      <p:sp>
        <p:nvSpPr>
          <p:cNvPr id="142" name="Text Box 193">
            <a:extLst>
              <a:ext uri="{FF2B5EF4-FFF2-40B4-BE49-F238E27FC236}">
                <a16:creationId xmlns:a16="http://schemas.microsoft.com/office/drawing/2014/main" id="{C5849023-7853-E9C7-4D3A-ECCC8F5FA6F2}"/>
              </a:ext>
            </a:extLst>
          </p:cNvPr>
          <p:cNvSpPr txBox="1">
            <a:spLocks noChangeArrowheads="1"/>
          </p:cNvSpPr>
          <p:nvPr/>
        </p:nvSpPr>
        <p:spPr bwMode="auto">
          <a:xfrm>
            <a:off x="1392454" y="3062932"/>
            <a:ext cx="1207125" cy="276999"/>
          </a:xfrm>
          <a:prstGeom prst="rect">
            <a:avLst/>
          </a:prstGeom>
          <a:solidFill>
            <a:srgbClr val="EAEAEA"/>
          </a:solidFill>
          <a:ln w="12700" cap="sq">
            <a:solidFill>
              <a:schemeClr val="accent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Supplier Loop</a:t>
            </a:r>
          </a:p>
        </p:txBody>
      </p:sp>
      <p:sp>
        <p:nvSpPr>
          <p:cNvPr id="143" name="Text Box 193">
            <a:extLst>
              <a:ext uri="{FF2B5EF4-FFF2-40B4-BE49-F238E27FC236}">
                <a16:creationId xmlns:a16="http://schemas.microsoft.com/office/drawing/2014/main" id="{8FFF5351-3034-28D5-32E6-F0994617E572}"/>
              </a:ext>
            </a:extLst>
          </p:cNvPr>
          <p:cNvSpPr txBox="1">
            <a:spLocks noChangeArrowheads="1"/>
          </p:cNvSpPr>
          <p:nvPr/>
        </p:nvSpPr>
        <p:spPr bwMode="auto">
          <a:xfrm>
            <a:off x="3231846" y="4903216"/>
            <a:ext cx="1207125" cy="276999"/>
          </a:xfrm>
          <a:prstGeom prst="rect">
            <a:avLst/>
          </a:prstGeom>
          <a:solidFill>
            <a:srgbClr val="EAEAEA"/>
          </a:solidFill>
          <a:ln w="12700" cap="sq">
            <a:solidFill>
              <a:schemeClr val="accent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err="1">
                <a:solidFill>
                  <a:schemeClr val="accent1"/>
                </a:solidFill>
                <a:latin typeface="Roboto" panose="02000000000000000000" pitchFamily="2" charset="0"/>
                <a:ea typeface="Roboto" panose="02000000000000000000" pitchFamily="2" charset="0"/>
              </a:rPr>
              <a:t>Mfg</a:t>
            </a:r>
            <a:r>
              <a:rPr lang="en-US" altLang="en-US" sz="1200" dirty="0">
                <a:solidFill>
                  <a:schemeClr val="accent1"/>
                </a:solidFill>
                <a:latin typeface="Roboto" panose="02000000000000000000" pitchFamily="2" charset="0"/>
                <a:ea typeface="Roboto" panose="02000000000000000000" pitchFamily="2" charset="0"/>
              </a:rPr>
              <a:t> Loop</a:t>
            </a:r>
          </a:p>
        </p:txBody>
      </p:sp>
      <p:sp>
        <p:nvSpPr>
          <p:cNvPr id="144" name="Text Box 193">
            <a:extLst>
              <a:ext uri="{FF2B5EF4-FFF2-40B4-BE49-F238E27FC236}">
                <a16:creationId xmlns:a16="http://schemas.microsoft.com/office/drawing/2014/main" id="{DB9A7621-067E-8533-5319-860A4FEA655E}"/>
              </a:ext>
            </a:extLst>
          </p:cNvPr>
          <p:cNvSpPr txBox="1">
            <a:spLocks noChangeArrowheads="1"/>
          </p:cNvSpPr>
          <p:nvPr/>
        </p:nvSpPr>
        <p:spPr bwMode="auto">
          <a:xfrm>
            <a:off x="8525806" y="1945502"/>
            <a:ext cx="1363535" cy="276999"/>
          </a:xfrm>
          <a:prstGeom prst="rect">
            <a:avLst/>
          </a:prstGeom>
          <a:solidFill>
            <a:srgbClr val="EAEAEA"/>
          </a:solidFill>
          <a:ln w="12700" cap="sq">
            <a:solidFill>
              <a:schemeClr val="accent1"/>
            </a:solid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Information Loop</a:t>
            </a:r>
          </a:p>
        </p:txBody>
      </p:sp>
      <p:sp>
        <p:nvSpPr>
          <p:cNvPr id="145" name="Text Box 193">
            <a:extLst>
              <a:ext uri="{FF2B5EF4-FFF2-40B4-BE49-F238E27FC236}">
                <a16:creationId xmlns:a16="http://schemas.microsoft.com/office/drawing/2014/main" id="{A94EC690-0F96-DD50-3827-0A18402179BD}"/>
              </a:ext>
            </a:extLst>
          </p:cNvPr>
          <p:cNvSpPr txBox="1">
            <a:spLocks noChangeArrowheads="1"/>
          </p:cNvSpPr>
          <p:nvPr/>
        </p:nvSpPr>
        <p:spPr bwMode="auto">
          <a:xfrm>
            <a:off x="7888490" y="4791396"/>
            <a:ext cx="1516855" cy="276999"/>
          </a:xfrm>
          <a:prstGeom prst="rect">
            <a:avLst/>
          </a:prstGeom>
          <a:solidFill>
            <a:srgbClr val="EAEAEA"/>
          </a:solidFill>
          <a:ln w="12700" cap="sq">
            <a:solidFill>
              <a:schemeClr val="accent1"/>
            </a:solid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Pacemaker Loop</a:t>
            </a:r>
          </a:p>
        </p:txBody>
      </p:sp>
    </p:spTree>
    <p:extLst>
      <p:ext uri="{BB962C8B-B14F-4D97-AF65-F5344CB8AC3E}">
        <p14:creationId xmlns:p14="http://schemas.microsoft.com/office/powerpoint/2010/main" val="746709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dissolve">
                                      <p:cBhvr>
                                        <p:cTn id="16" dur="1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The Complete Future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149</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3" name="Group 32">
            <a:extLst>
              <a:ext uri="{FF2B5EF4-FFF2-40B4-BE49-F238E27FC236}">
                <a16:creationId xmlns:a16="http://schemas.microsoft.com/office/drawing/2014/main" id="{92A7916F-E7B0-578E-4B5B-481EFEAC1E41}"/>
              </a:ext>
            </a:extLst>
          </p:cNvPr>
          <p:cNvGrpSpPr/>
          <p:nvPr/>
        </p:nvGrpSpPr>
        <p:grpSpPr>
          <a:xfrm>
            <a:off x="1634371" y="4178350"/>
            <a:ext cx="1065390" cy="569105"/>
            <a:chOff x="1634371" y="4178350"/>
            <a:chExt cx="1065390" cy="569105"/>
          </a:xfrm>
        </p:grpSpPr>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grpSp>
        <p:nvGrpSpPr>
          <p:cNvPr id="160" name="Group 159">
            <a:extLst>
              <a:ext uri="{FF2B5EF4-FFF2-40B4-BE49-F238E27FC236}">
                <a16:creationId xmlns:a16="http://schemas.microsoft.com/office/drawing/2014/main" id="{E2239F25-17F6-9BC3-B656-9685AAA835D1}"/>
              </a:ext>
            </a:extLst>
          </p:cNvPr>
          <p:cNvGrpSpPr/>
          <p:nvPr/>
        </p:nvGrpSpPr>
        <p:grpSpPr>
          <a:xfrm>
            <a:off x="838200" y="297639"/>
            <a:ext cx="5391150" cy="307138"/>
            <a:chOff x="838200" y="297639"/>
            <a:chExt cx="5391150" cy="307138"/>
          </a:xfrm>
        </p:grpSpPr>
        <p:grpSp>
          <p:nvGrpSpPr>
            <p:cNvPr id="162" name="Group 161">
              <a:extLst>
                <a:ext uri="{FF2B5EF4-FFF2-40B4-BE49-F238E27FC236}">
                  <a16:creationId xmlns:a16="http://schemas.microsoft.com/office/drawing/2014/main" id="{B66B54DA-8EEB-BEEB-762F-72E89DBDAA77}"/>
                </a:ext>
              </a:extLst>
            </p:cNvPr>
            <p:cNvGrpSpPr/>
            <p:nvPr/>
          </p:nvGrpSpPr>
          <p:grpSpPr>
            <a:xfrm>
              <a:off x="838200" y="297639"/>
              <a:ext cx="1687517" cy="290657"/>
              <a:chOff x="838200" y="297639"/>
              <a:chExt cx="1687517" cy="290657"/>
            </a:xfrm>
          </p:grpSpPr>
          <p:sp>
            <p:nvSpPr>
              <p:cNvPr id="164" name="AutoShape 9">
                <a:extLst>
                  <a:ext uri="{FF2B5EF4-FFF2-40B4-BE49-F238E27FC236}">
                    <a16:creationId xmlns:a16="http://schemas.microsoft.com/office/drawing/2014/main" id="{E2BB4C92-F48C-9B40-0907-48B77ACA509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5" name="AutoShape 9">
                <a:extLst>
                  <a:ext uri="{FF2B5EF4-FFF2-40B4-BE49-F238E27FC236}">
                    <a16:creationId xmlns:a16="http://schemas.microsoft.com/office/drawing/2014/main" id="{46533904-AB05-DA8A-BD34-BFA5F87C9D76}"/>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6" name="Group 165">
                <a:extLst>
                  <a:ext uri="{FF2B5EF4-FFF2-40B4-BE49-F238E27FC236}">
                    <a16:creationId xmlns:a16="http://schemas.microsoft.com/office/drawing/2014/main" id="{DFE62BDC-C1B1-4C5C-E072-9C788C7093AE}"/>
                  </a:ext>
                </a:extLst>
              </p:cNvPr>
              <p:cNvGrpSpPr/>
              <p:nvPr/>
            </p:nvGrpSpPr>
            <p:grpSpPr>
              <a:xfrm>
                <a:off x="838200" y="297639"/>
                <a:ext cx="1060167" cy="290657"/>
                <a:chOff x="826426" y="4041857"/>
                <a:chExt cx="1060167" cy="290657"/>
              </a:xfrm>
            </p:grpSpPr>
            <p:sp>
              <p:nvSpPr>
                <p:cNvPr id="167" name="AutoShape 9">
                  <a:extLst>
                    <a:ext uri="{FF2B5EF4-FFF2-40B4-BE49-F238E27FC236}">
                      <a16:creationId xmlns:a16="http://schemas.microsoft.com/office/drawing/2014/main" id="{51659C0B-A87C-36B1-F0F4-8ADF74BBB8C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8" name="AutoShape 11">
                  <a:extLst>
                    <a:ext uri="{FF2B5EF4-FFF2-40B4-BE49-F238E27FC236}">
                      <a16:creationId xmlns:a16="http://schemas.microsoft.com/office/drawing/2014/main" id="{14F8FF73-1474-E82A-6235-2D29C7644A64}"/>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9" name="AutoShape 10">
                  <a:extLst>
                    <a:ext uri="{FF2B5EF4-FFF2-40B4-BE49-F238E27FC236}">
                      <a16:creationId xmlns:a16="http://schemas.microsoft.com/office/drawing/2014/main" id="{88B96029-21FD-6139-78C4-250F04AF5EA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63" name="TextBox 162">
              <a:extLst>
                <a:ext uri="{FF2B5EF4-FFF2-40B4-BE49-F238E27FC236}">
                  <a16:creationId xmlns:a16="http://schemas.microsoft.com/office/drawing/2014/main" id="{FEEC2452-264A-5ECF-8EDC-D0F3EF23C8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42" name="Rectangle 7">
            <a:extLst>
              <a:ext uri="{FF2B5EF4-FFF2-40B4-BE49-F238E27FC236}">
                <a16:creationId xmlns:a16="http://schemas.microsoft.com/office/drawing/2014/main" id="{EA8D8526-7209-EDA0-0EA7-0AA6384776FB}"/>
              </a:ext>
            </a:extLst>
          </p:cNvPr>
          <p:cNvSpPr>
            <a:spLocks noChangeArrowheads="1"/>
          </p:cNvSpPr>
          <p:nvPr/>
        </p:nvSpPr>
        <p:spPr bwMode="auto">
          <a:xfrm>
            <a:off x="497252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Stamp/Form</a:t>
            </a:r>
          </a:p>
        </p:txBody>
      </p:sp>
      <p:sp>
        <p:nvSpPr>
          <p:cNvPr id="43" name="Line 8">
            <a:extLst>
              <a:ext uri="{FF2B5EF4-FFF2-40B4-BE49-F238E27FC236}">
                <a16:creationId xmlns:a16="http://schemas.microsoft.com/office/drawing/2014/main" id="{C70745FE-45E2-C238-CAA5-0C7E7A37ABB6}"/>
              </a:ext>
            </a:extLst>
          </p:cNvPr>
          <p:cNvSpPr>
            <a:spLocks noChangeShapeType="1"/>
          </p:cNvSpPr>
          <p:nvPr/>
        </p:nvSpPr>
        <p:spPr bwMode="auto">
          <a:xfrm>
            <a:off x="497252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sp>
        <p:nvSpPr>
          <p:cNvPr id="44" name="Rectangle 18">
            <a:extLst>
              <a:ext uri="{FF2B5EF4-FFF2-40B4-BE49-F238E27FC236}">
                <a16:creationId xmlns:a16="http://schemas.microsoft.com/office/drawing/2014/main" id="{851119B8-223D-5B4D-7583-AA1AA71E7D98}"/>
              </a:ext>
            </a:extLst>
          </p:cNvPr>
          <p:cNvSpPr>
            <a:spLocks noChangeArrowheads="1"/>
          </p:cNvSpPr>
          <p:nvPr/>
        </p:nvSpPr>
        <p:spPr bwMode="auto">
          <a:xfrm>
            <a:off x="4961007"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DOI = </a:t>
            </a:r>
            <a:r>
              <a:rPr lang="en-US" sz="800" b="0" dirty="0">
                <a:solidFill>
                  <a:schemeClr val="tx1"/>
                </a:solidFill>
                <a:latin typeface="Roboto" panose="02000000000000000000" pitchFamily="2" charset="0"/>
                <a:ea typeface="Roboto" panose="02000000000000000000" pitchFamily="2" charset="0"/>
              </a:rPr>
              <a:t>15”</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C/O Time =120</a:t>
            </a:r>
            <a:r>
              <a:rPr lang="ja-JP" sz="800" b="0" kern="1200" dirty="0">
                <a:solidFill>
                  <a:schemeClr val="tx1"/>
                </a:solidFill>
                <a:effectLst/>
                <a:latin typeface="Roboto" panose="02000000000000000000" pitchFamily="2" charset="0"/>
                <a:ea typeface="Arial" panose="020B0604020202020204" pitchFamily="34" charset="0"/>
              </a:rPr>
              <a:t>’</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Uptime = 99%</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Quality = 98%</a:t>
            </a:r>
            <a:endParaRPr lang="en-US" sz="800" dirty="0">
              <a:solidFill>
                <a:schemeClr val="tx1"/>
              </a:solidFill>
              <a:effectLst/>
              <a:latin typeface="Roboto" panose="02000000000000000000" pitchFamily="2" charset="0"/>
              <a:ea typeface="Roboto" panose="02000000000000000000" pitchFamily="2" charset="0"/>
            </a:endParaRPr>
          </a:p>
        </p:txBody>
      </p:sp>
      <p:sp>
        <p:nvSpPr>
          <p:cNvPr id="45" name="AutoShape 14">
            <a:extLst>
              <a:ext uri="{FF2B5EF4-FFF2-40B4-BE49-F238E27FC236}">
                <a16:creationId xmlns:a16="http://schemas.microsoft.com/office/drawing/2014/main" id="{6319026B-D29E-C9A1-F968-3307B3E10A35}"/>
              </a:ext>
            </a:extLst>
          </p:cNvPr>
          <p:cNvSpPr>
            <a:spLocks noChangeArrowheads="1"/>
          </p:cNvSpPr>
          <p:nvPr/>
        </p:nvSpPr>
        <p:spPr bwMode="auto">
          <a:xfrm flipV="1">
            <a:off x="5300237" y="4462745"/>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 name="Text Box 15">
            <a:extLst>
              <a:ext uri="{FF2B5EF4-FFF2-40B4-BE49-F238E27FC236}">
                <a16:creationId xmlns:a16="http://schemas.microsoft.com/office/drawing/2014/main" id="{CC72E0AA-599D-C015-D798-357A74459A80}"/>
              </a:ext>
            </a:extLst>
          </p:cNvPr>
          <p:cNvSpPr txBox="1">
            <a:spLocks noChangeArrowheads="1"/>
          </p:cNvSpPr>
          <p:nvPr/>
        </p:nvSpPr>
        <p:spPr bwMode="auto">
          <a:xfrm>
            <a:off x="5492273" y="4459570"/>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2</a:t>
            </a:r>
          </a:p>
        </p:txBody>
      </p:sp>
      <p:sp>
        <p:nvSpPr>
          <p:cNvPr id="48" name="Oval 13">
            <a:extLst>
              <a:ext uri="{FF2B5EF4-FFF2-40B4-BE49-F238E27FC236}">
                <a16:creationId xmlns:a16="http://schemas.microsoft.com/office/drawing/2014/main" id="{C4610C46-6017-5390-6049-47F1836D4D8A}"/>
              </a:ext>
            </a:extLst>
          </p:cNvPr>
          <p:cNvSpPr>
            <a:spLocks noChangeArrowheads="1"/>
          </p:cNvSpPr>
          <p:nvPr/>
        </p:nvSpPr>
        <p:spPr bwMode="auto">
          <a:xfrm flipV="1">
            <a:off x="5346325" y="4508542"/>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2" name="Picture 1">
            <a:extLst>
              <a:ext uri="{FF2B5EF4-FFF2-40B4-BE49-F238E27FC236}">
                <a16:creationId xmlns:a16="http://schemas.microsoft.com/office/drawing/2014/main" id="{673D40E9-4DC0-E615-7452-7343CAFAAEB5}"/>
              </a:ext>
            </a:extLst>
          </p:cNvPr>
          <p:cNvPicPr>
            <a:picLocks noChangeAspect="1"/>
          </p:cNvPicPr>
          <p:nvPr/>
        </p:nvPicPr>
        <p:blipFill>
          <a:blip r:embed="rId3">
            <a:clrChange>
              <a:clrFrom>
                <a:srgbClr val="FFFFFF"/>
              </a:clrFrom>
              <a:clrTo>
                <a:srgbClr val="FFFFFF">
                  <a:alpha val="0"/>
                </a:srgbClr>
              </a:clrTo>
            </a:clrChange>
            <a:biLevel thresh="75000"/>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1203045" y="4497363"/>
            <a:ext cx="395483" cy="349343"/>
          </a:xfrm>
          <a:prstGeom prst="rect">
            <a:avLst/>
          </a:prstGeom>
        </p:spPr>
      </p:pic>
      <p:grpSp>
        <p:nvGrpSpPr>
          <p:cNvPr id="3" name="Group 4">
            <a:extLst>
              <a:ext uri="{FF2B5EF4-FFF2-40B4-BE49-F238E27FC236}">
                <a16:creationId xmlns:a16="http://schemas.microsoft.com/office/drawing/2014/main" id="{3FE24208-9FF7-E9F2-0BC8-35CBFF684A39}"/>
              </a:ext>
            </a:extLst>
          </p:cNvPr>
          <p:cNvGrpSpPr>
            <a:grpSpLocks/>
          </p:cNvGrpSpPr>
          <p:nvPr/>
        </p:nvGrpSpPr>
        <p:grpSpPr bwMode="auto">
          <a:xfrm>
            <a:off x="932796" y="4330976"/>
            <a:ext cx="169044" cy="344730"/>
            <a:chOff x="4780" y="1303"/>
            <a:chExt cx="285" cy="631"/>
          </a:xfrm>
        </p:grpSpPr>
        <p:sp>
          <p:nvSpPr>
            <p:cNvPr id="4" name="Line 5">
              <a:extLst>
                <a:ext uri="{FF2B5EF4-FFF2-40B4-BE49-F238E27FC236}">
                  <a16:creationId xmlns:a16="http://schemas.microsoft.com/office/drawing/2014/main" id="{BA1FC4A1-55C4-9878-0B3A-A5A48931ECE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 name="Line 6">
              <a:extLst>
                <a:ext uri="{FF2B5EF4-FFF2-40B4-BE49-F238E27FC236}">
                  <a16:creationId xmlns:a16="http://schemas.microsoft.com/office/drawing/2014/main" id="{97E858BB-DCF9-B5FB-BD6B-E686C1CA7972}"/>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Line 7">
              <a:extLst>
                <a:ext uri="{FF2B5EF4-FFF2-40B4-BE49-F238E27FC236}">
                  <a16:creationId xmlns:a16="http://schemas.microsoft.com/office/drawing/2014/main" id="{1F7E78CB-0CCA-F8BE-0999-0818B0AFFE20}"/>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 name="Line 8">
              <a:extLst>
                <a:ext uri="{FF2B5EF4-FFF2-40B4-BE49-F238E27FC236}">
                  <a16:creationId xmlns:a16="http://schemas.microsoft.com/office/drawing/2014/main" id="{3D721AF3-2569-0513-CC51-2A0DFAE762B7}"/>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9">
              <a:extLst>
                <a:ext uri="{FF2B5EF4-FFF2-40B4-BE49-F238E27FC236}">
                  <a16:creationId xmlns:a16="http://schemas.microsoft.com/office/drawing/2014/main" id="{F9A126D3-FB09-4AB0-FF12-DB5E08351A00}"/>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0" name="Group 4">
            <a:extLst>
              <a:ext uri="{FF2B5EF4-FFF2-40B4-BE49-F238E27FC236}">
                <a16:creationId xmlns:a16="http://schemas.microsoft.com/office/drawing/2014/main" id="{D40547A9-0C70-0AC1-FA36-EF7A8240D7B9}"/>
              </a:ext>
            </a:extLst>
          </p:cNvPr>
          <p:cNvGrpSpPr>
            <a:grpSpLocks/>
          </p:cNvGrpSpPr>
          <p:nvPr/>
        </p:nvGrpSpPr>
        <p:grpSpPr bwMode="auto">
          <a:xfrm>
            <a:off x="3087598" y="4330976"/>
            <a:ext cx="169044" cy="344730"/>
            <a:chOff x="4780" y="1303"/>
            <a:chExt cx="285" cy="631"/>
          </a:xfrm>
        </p:grpSpPr>
        <p:sp>
          <p:nvSpPr>
            <p:cNvPr id="11" name="Line 5">
              <a:extLst>
                <a:ext uri="{FF2B5EF4-FFF2-40B4-BE49-F238E27FC236}">
                  <a16:creationId xmlns:a16="http://schemas.microsoft.com/office/drawing/2014/main" id="{BD65F1B2-A93B-3C69-E2F8-A3C3F3A6B74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 name="Line 6">
              <a:extLst>
                <a:ext uri="{FF2B5EF4-FFF2-40B4-BE49-F238E27FC236}">
                  <a16:creationId xmlns:a16="http://schemas.microsoft.com/office/drawing/2014/main" id="{D4B3BC22-0EC8-6D1C-C883-881A496C76E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3" name="Line 7">
              <a:extLst>
                <a:ext uri="{FF2B5EF4-FFF2-40B4-BE49-F238E27FC236}">
                  <a16:creationId xmlns:a16="http://schemas.microsoft.com/office/drawing/2014/main" id="{F1E75F37-89F1-3723-4919-8090D07C2AA4}"/>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8">
              <a:extLst>
                <a:ext uri="{FF2B5EF4-FFF2-40B4-BE49-F238E27FC236}">
                  <a16:creationId xmlns:a16="http://schemas.microsoft.com/office/drawing/2014/main" id="{79F8D60E-771A-521C-19E7-972F5C2925BB}"/>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9">
              <a:extLst>
                <a:ext uri="{FF2B5EF4-FFF2-40B4-BE49-F238E27FC236}">
                  <a16:creationId xmlns:a16="http://schemas.microsoft.com/office/drawing/2014/main" id="{5F1E8488-85A8-1A78-B661-C2B12CE74D9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6" name="Group 4">
            <a:extLst>
              <a:ext uri="{FF2B5EF4-FFF2-40B4-BE49-F238E27FC236}">
                <a16:creationId xmlns:a16="http://schemas.microsoft.com/office/drawing/2014/main" id="{BE8FC67E-458A-01AA-5021-A879983D996B}"/>
              </a:ext>
            </a:extLst>
          </p:cNvPr>
          <p:cNvGrpSpPr>
            <a:grpSpLocks/>
          </p:cNvGrpSpPr>
          <p:nvPr/>
        </p:nvGrpSpPr>
        <p:grpSpPr bwMode="auto">
          <a:xfrm>
            <a:off x="6889785" y="4310932"/>
            <a:ext cx="169044" cy="344730"/>
            <a:chOff x="4780" y="1303"/>
            <a:chExt cx="285" cy="631"/>
          </a:xfrm>
        </p:grpSpPr>
        <p:sp>
          <p:nvSpPr>
            <p:cNvPr id="18" name="Line 5">
              <a:extLst>
                <a:ext uri="{FF2B5EF4-FFF2-40B4-BE49-F238E27FC236}">
                  <a16:creationId xmlns:a16="http://schemas.microsoft.com/office/drawing/2014/main" id="{D0CF38B5-F0C8-FC42-1ACD-89788145EF00}"/>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6">
              <a:extLst>
                <a:ext uri="{FF2B5EF4-FFF2-40B4-BE49-F238E27FC236}">
                  <a16:creationId xmlns:a16="http://schemas.microsoft.com/office/drawing/2014/main" id="{A62AA09E-E76E-EBC2-9645-E51E7A4A301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7">
              <a:extLst>
                <a:ext uri="{FF2B5EF4-FFF2-40B4-BE49-F238E27FC236}">
                  <a16:creationId xmlns:a16="http://schemas.microsoft.com/office/drawing/2014/main" id="{511BFFDC-D30B-73CF-C89E-5453C955A9CA}"/>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8">
              <a:extLst>
                <a:ext uri="{FF2B5EF4-FFF2-40B4-BE49-F238E27FC236}">
                  <a16:creationId xmlns:a16="http://schemas.microsoft.com/office/drawing/2014/main" id="{7081E6A9-0DEE-C2DB-D623-57267B6BB8BD}"/>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1" name="Line 9">
              <a:extLst>
                <a:ext uri="{FF2B5EF4-FFF2-40B4-BE49-F238E27FC236}">
                  <a16:creationId xmlns:a16="http://schemas.microsoft.com/office/drawing/2014/main" id="{94FB1738-C36C-0B92-507D-278B16203C7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2" name="Line 110">
            <a:extLst>
              <a:ext uri="{FF2B5EF4-FFF2-40B4-BE49-F238E27FC236}">
                <a16:creationId xmlns:a16="http://schemas.microsoft.com/office/drawing/2014/main" id="{CA781C48-2B88-AB43-2589-22E26A9E3912}"/>
              </a:ext>
            </a:extLst>
          </p:cNvPr>
          <p:cNvSpPr>
            <a:spLocks noChangeShapeType="1"/>
          </p:cNvSpPr>
          <p:nvPr/>
        </p:nvSpPr>
        <p:spPr bwMode="auto">
          <a:xfrm flipH="1">
            <a:off x="1451844" y="2696256"/>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111">
            <a:extLst>
              <a:ext uri="{FF2B5EF4-FFF2-40B4-BE49-F238E27FC236}">
                <a16:creationId xmlns:a16="http://schemas.microsoft.com/office/drawing/2014/main" id="{74ECCE57-9350-89FF-0DC1-336BE15635C3}"/>
              </a:ext>
            </a:extLst>
          </p:cNvPr>
          <p:cNvSpPr>
            <a:spLocks noChangeShapeType="1"/>
          </p:cNvSpPr>
          <p:nvPr/>
        </p:nvSpPr>
        <p:spPr bwMode="auto">
          <a:xfrm flipV="1">
            <a:off x="2786356" y="2775631"/>
            <a:ext cx="1934934" cy="158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112">
            <a:extLst>
              <a:ext uri="{FF2B5EF4-FFF2-40B4-BE49-F238E27FC236}">
                <a16:creationId xmlns:a16="http://schemas.microsoft.com/office/drawing/2014/main" id="{1F48C382-2ED4-D8BE-C045-6931C69A161F}"/>
              </a:ext>
            </a:extLst>
          </p:cNvPr>
          <p:cNvSpPr>
            <a:spLocks noChangeShapeType="1"/>
          </p:cNvSpPr>
          <p:nvPr/>
        </p:nvSpPr>
        <p:spPr bwMode="auto">
          <a:xfrm flipV="1">
            <a:off x="2775400" y="2708956"/>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Rectangle 113">
            <a:extLst>
              <a:ext uri="{FF2B5EF4-FFF2-40B4-BE49-F238E27FC236}">
                <a16:creationId xmlns:a16="http://schemas.microsoft.com/office/drawing/2014/main" id="{1438E240-BA1D-48D5-0EBC-E8D862E2B230}"/>
              </a:ext>
            </a:extLst>
          </p:cNvPr>
          <p:cNvSpPr>
            <a:spLocks noChangeArrowheads="1"/>
          </p:cNvSpPr>
          <p:nvPr/>
        </p:nvSpPr>
        <p:spPr bwMode="auto">
          <a:xfrm>
            <a:off x="3101906" y="2551793"/>
            <a:ext cx="865570" cy="54580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Replenishment.</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nvGrpSpPr>
          <p:cNvPr id="64" name="Group 63">
            <a:extLst>
              <a:ext uri="{FF2B5EF4-FFF2-40B4-BE49-F238E27FC236}">
                <a16:creationId xmlns:a16="http://schemas.microsoft.com/office/drawing/2014/main" id="{16B255A4-FA38-E03C-E3B6-DDD06402B5B7}"/>
              </a:ext>
            </a:extLst>
          </p:cNvPr>
          <p:cNvGrpSpPr/>
          <p:nvPr/>
        </p:nvGrpSpPr>
        <p:grpSpPr>
          <a:xfrm>
            <a:off x="1197961" y="3900634"/>
            <a:ext cx="304800" cy="533400"/>
            <a:chOff x="1219200" y="3505200"/>
            <a:chExt cx="304800" cy="533400"/>
          </a:xfrm>
        </p:grpSpPr>
        <p:sp>
          <p:nvSpPr>
            <p:cNvPr id="41" name="AutoShape 131" descr="Light upward diagonal">
              <a:extLst>
                <a:ext uri="{FF2B5EF4-FFF2-40B4-BE49-F238E27FC236}">
                  <a16:creationId xmlns:a16="http://schemas.microsoft.com/office/drawing/2014/main" id="{505F382C-2781-60B1-D799-B753E338F749}"/>
                </a:ext>
              </a:extLst>
            </p:cNvPr>
            <p:cNvSpPr>
              <a:spLocks noChangeArrowheads="1"/>
            </p:cNvSpPr>
            <p:nvPr/>
          </p:nvSpPr>
          <p:spPr bwMode="auto">
            <a:xfrm rot="16200000" flipH="1">
              <a:off x="1247775" y="3540356"/>
              <a:ext cx="247650" cy="177338"/>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Line 132">
              <a:extLst>
                <a:ext uri="{FF2B5EF4-FFF2-40B4-BE49-F238E27FC236}">
                  <a16:creationId xmlns:a16="http://schemas.microsoft.com/office/drawing/2014/main" id="{62C4C9AC-66B1-4E35-E0E0-21E407282C36}"/>
                </a:ext>
              </a:extLst>
            </p:cNvPr>
            <p:cNvSpPr>
              <a:spLocks noChangeShapeType="1"/>
            </p:cNvSpPr>
            <p:nvPr/>
          </p:nvSpPr>
          <p:spPr bwMode="auto">
            <a:xfrm>
              <a:off x="1371600" y="3810000"/>
              <a:ext cx="0" cy="2286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1" name="Line 133">
              <a:extLst>
                <a:ext uri="{FF2B5EF4-FFF2-40B4-BE49-F238E27FC236}">
                  <a16:creationId xmlns:a16="http://schemas.microsoft.com/office/drawing/2014/main" id="{BFE9A1FB-9641-F445-E6CF-484BEF3DF351}"/>
                </a:ext>
              </a:extLst>
            </p:cNvPr>
            <p:cNvSpPr>
              <a:spLocks noChangeShapeType="1"/>
            </p:cNvSpPr>
            <p:nvPr/>
          </p:nvSpPr>
          <p:spPr bwMode="auto">
            <a:xfrm>
              <a:off x="1238596" y="3810000"/>
              <a:ext cx="266007" cy="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2" name="Line 134">
              <a:extLst>
                <a:ext uri="{FF2B5EF4-FFF2-40B4-BE49-F238E27FC236}">
                  <a16:creationId xmlns:a16="http://schemas.microsoft.com/office/drawing/2014/main" id="{350B8907-79B2-754B-6E99-6756F81BE805}"/>
                </a:ext>
              </a:extLst>
            </p:cNvPr>
            <p:cNvSpPr>
              <a:spLocks noChangeShapeType="1"/>
            </p:cNvSpPr>
            <p:nvPr/>
          </p:nvSpPr>
          <p:spPr bwMode="auto">
            <a:xfrm>
              <a:off x="1219200"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135">
              <a:extLst>
                <a:ext uri="{FF2B5EF4-FFF2-40B4-BE49-F238E27FC236}">
                  <a16:creationId xmlns:a16="http://schemas.microsoft.com/office/drawing/2014/main" id="{0BD5C145-1802-F81F-7C97-09D9069E0BFB}"/>
                </a:ext>
              </a:extLst>
            </p:cNvPr>
            <p:cNvSpPr>
              <a:spLocks noChangeShapeType="1"/>
            </p:cNvSpPr>
            <p:nvPr/>
          </p:nvSpPr>
          <p:spPr bwMode="auto">
            <a:xfrm flipH="1">
              <a:off x="1504604"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65" name="Line 141">
            <a:extLst>
              <a:ext uri="{FF2B5EF4-FFF2-40B4-BE49-F238E27FC236}">
                <a16:creationId xmlns:a16="http://schemas.microsoft.com/office/drawing/2014/main" id="{ECEEE272-8181-5A56-A4AB-63F4220B67E6}"/>
              </a:ext>
            </a:extLst>
          </p:cNvPr>
          <p:cNvSpPr>
            <a:spLocks noChangeShapeType="1"/>
          </p:cNvSpPr>
          <p:nvPr/>
        </p:nvSpPr>
        <p:spPr bwMode="auto">
          <a:xfrm>
            <a:off x="1116563" y="4497363"/>
            <a:ext cx="504427"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66" name="Line 141">
            <a:extLst>
              <a:ext uri="{FF2B5EF4-FFF2-40B4-BE49-F238E27FC236}">
                <a16:creationId xmlns:a16="http://schemas.microsoft.com/office/drawing/2014/main" id="{A0B5DA91-A190-E57D-A87C-BF1C167C65D2}"/>
              </a:ext>
            </a:extLst>
          </p:cNvPr>
          <p:cNvSpPr>
            <a:spLocks noChangeShapeType="1"/>
          </p:cNvSpPr>
          <p:nvPr/>
        </p:nvSpPr>
        <p:spPr bwMode="auto">
          <a:xfrm flipV="1">
            <a:off x="1463388" y="3069146"/>
            <a:ext cx="3256797" cy="811221"/>
          </a:xfrm>
          <a:prstGeom prst="line">
            <a:avLst/>
          </a:prstGeom>
          <a:noFill/>
          <a:ln w="28575">
            <a:solidFill>
              <a:schemeClr val="tx1"/>
            </a:solidFill>
            <a:prstDash val="solid"/>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grpSp>
        <p:nvGrpSpPr>
          <p:cNvPr id="71" name="Group 106">
            <a:extLst>
              <a:ext uri="{FF2B5EF4-FFF2-40B4-BE49-F238E27FC236}">
                <a16:creationId xmlns:a16="http://schemas.microsoft.com/office/drawing/2014/main" id="{9B176345-7D5F-F0AF-05F2-4A5B36A6411C}"/>
              </a:ext>
            </a:extLst>
          </p:cNvPr>
          <p:cNvGrpSpPr>
            <a:grpSpLocks/>
          </p:cNvGrpSpPr>
          <p:nvPr/>
        </p:nvGrpSpPr>
        <p:grpSpPr bwMode="auto">
          <a:xfrm>
            <a:off x="2148514" y="3840615"/>
            <a:ext cx="7186136" cy="600075"/>
            <a:chOff x="1296" y="2221"/>
            <a:chExt cx="2845" cy="378"/>
          </a:xfrm>
        </p:grpSpPr>
        <p:grpSp>
          <p:nvGrpSpPr>
            <p:cNvPr id="72" name="Group 107">
              <a:extLst>
                <a:ext uri="{FF2B5EF4-FFF2-40B4-BE49-F238E27FC236}">
                  <a16:creationId xmlns:a16="http://schemas.microsoft.com/office/drawing/2014/main" id="{221A0C17-2400-FF37-0064-A50F314505C7}"/>
                </a:ext>
              </a:extLst>
            </p:cNvPr>
            <p:cNvGrpSpPr>
              <a:grpSpLocks/>
            </p:cNvGrpSpPr>
            <p:nvPr/>
          </p:nvGrpSpPr>
          <p:grpSpPr bwMode="auto">
            <a:xfrm>
              <a:off x="1761" y="2256"/>
              <a:ext cx="783" cy="336"/>
              <a:chOff x="1761" y="2256"/>
              <a:chExt cx="783" cy="336"/>
            </a:xfrm>
          </p:grpSpPr>
          <p:sp>
            <p:nvSpPr>
              <p:cNvPr id="103" name="Line 108">
                <a:extLst>
                  <a:ext uri="{FF2B5EF4-FFF2-40B4-BE49-F238E27FC236}">
                    <a16:creationId xmlns:a16="http://schemas.microsoft.com/office/drawing/2014/main" id="{C0D19C50-D7CE-9891-F55D-13879DDE0EBD}"/>
                  </a:ext>
                </a:extLst>
              </p:cNvPr>
              <p:cNvSpPr>
                <a:spLocks noChangeShapeType="1"/>
              </p:cNvSpPr>
              <p:nvPr/>
            </p:nvSpPr>
            <p:spPr bwMode="auto">
              <a:xfrm>
                <a:off x="1776" y="2592"/>
                <a:ext cx="624"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104" name="Line 109">
                <a:extLst>
                  <a:ext uri="{FF2B5EF4-FFF2-40B4-BE49-F238E27FC236}">
                    <a16:creationId xmlns:a16="http://schemas.microsoft.com/office/drawing/2014/main" id="{E5F422F3-6B39-3EA9-D39A-8359F356B706}"/>
                  </a:ext>
                </a:extLst>
              </p:cNvPr>
              <p:cNvSpPr>
                <a:spLocks noChangeShapeType="1"/>
              </p:cNvSpPr>
              <p:nvPr/>
            </p:nvSpPr>
            <p:spPr bwMode="auto">
              <a:xfrm>
                <a:off x="1776" y="2304"/>
                <a:ext cx="768"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5" name="Line 110">
                <a:extLst>
                  <a:ext uri="{FF2B5EF4-FFF2-40B4-BE49-F238E27FC236}">
                    <a16:creationId xmlns:a16="http://schemas.microsoft.com/office/drawing/2014/main" id="{34B8FA2B-E3BD-1FCD-221D-69DD4D3E16FF}"/>
                  </a:ext>
                </a:extLst>
              </p:cNvPr>
              <p:cNvSpPr>
                <a:spLocks noChangeShapeType="1"/>
              </p:cNvSpPr>
              <p:nvPr/>
            </p:nvSpPr>
            <p:spPr bwMode="auto">
              <a:xfrm>
                <a:off x="1761" y="2304"/>
                <a:ext cx="0" cy="288"/>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6" name="AutoShape 111" descr="Light upward diagonal">
                <a:extLst>
                  <a:ext uri="{FF2B5EF4-FFF2-40B4-BE49-F238E27FC236}">
                    <a16:creationId xmlns:a16="http://schemas.microsoft.com/office/drawing/2014/main" id="{878383E2-6C37-1F28-AF12-14C72B8C81BB}"/>
                  </a:ext>
                </a:extLst>
              </p:cNvPr>
              <p:cNvSpPr>
                <a:spLocks noChangeArrowheads="1"/>
              </p:cNvSpPr>
              <p:nvPr/>
            </p:nvSpPr>
            <p:spPr bwMode="auto">
              <a:xfrm flipH="1">
                <a:off x="2016" y="2256"/>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Line 112">
                <a:extLst>
                  <a:ext uri="{FF2B5EF4-FFF2-40B4-BE49-F238E27FC236}">
                    <a16:creationId xmlns:a16="http://schemas.microsoft.com/office/drawing/2014/main" id="{495C08A7-1408-F040-57AD-53EB3C65F91E}"/>
                  </a:ext>
                </a:extLst>
              </p:cNvPr>
              <p:cNvSpPr>
                <a:spLocks noChangeShapeType="1"/>
              </p:cNvSpPr>
              <p:nvPr/>
            </p:nvSpPr>
            <p:spPr bwMode="auto">
              <a:xfrm>
                <a:off x="2544" y="2304"/>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3" name="Group 113">
              <a:extLst>
                <a:ext uri="{FF2B5EF4-FFF2-40B4-BE49-F238E27FC236}">
                  <a16:creationId xmlns:a16="http://schemas.microsoft.com/office/drawing/2014/main" id="{47EA00E2-AB84-1FC9-2EE9-20E7E22D3C05}"/>
                </a:ext>
              </a:extLst>
            </p:cNvPr>
            <p:cNvGrpSpPr>
              <a:grpSpLocks/>
            </p:cNvGrpSpPr>
            <p:nvPr/>
          </p:nvGrpSpPr>
          <p:grpSpPr bwMode="auto">
            <a:xfrm>
              <a:off x="1296" y="2256"/>
              <a:ext cx="432" cy="240"/>
              <a:chOff x="1296" y="2256"/>
              <a:chExt cx="432" cy="240"/>
            </a:xfrm>
          </p:grpSpPr>
          <p:sp>
            <p:nvSpPr>
              <p:cNvPr id="99" name="Line 114">
                <a:extLst>
                  <a:ext uri="{FF2B5EF4-FFF2-40B4-BE49-F238E27FC236}">
                    <a16:creationId xmlns:a16="http://schemas.microsoft.com/office/drawing/2014/main" id="{3CECE158-02F2-CB91-B30C-47C45E7E73BF}"/>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115">
                <a:extLst>
                  <a:ext uri="{FF2B5EF4-FFF2-40B4-BE49-F238E27FC236}">
                    <a16:creationId xmlns:a16="http://schemas.microsoft.com/office/drawing/2014/main" id="{78014254-F688-AF9D-0DE1-24E4E486CEE7}"/>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1" name="AutoShape 116">
                <a:extLst>
                  <a:ext uri="{FF2B5EF4-FFF2-40B4-BE49-F238E27FC236}">
                    <a16:creationId xmlns:a16="http://schemas.microsoft.com/office/drawing/2014/main" id="{EF983E13-D522-BB54-6AD4-69AA826E2E0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Line 117">
                <a:extLst>
                  <a:ext uri="{FF2B5EF4-FFF2-40B4-BE49-F238E27FC236}">
                    <a16:creationId xmlns:a16="http://schemas.microsoft.com/office/drawing/2014/main" id="{6B858B9F-AD72-DDDA-271E-3CD61B1F5711}"/>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74" name="Group 118">
              <a:extLst>
                <a:ext uri="{FF2B5EF4-FFF2-40B4-BE49-F238E27FC236}">
                  <a16:creationId xmlns:a16="http://schemas.microsoft.com/office/drawing/2014/main" id="{69A31880-2C13-C51A-4B3B-52E2B559936E}"/>
                </a:ext>
              </a:extLst>
            </p:cNvPr>
            <p:cNvGrpSpPr>
              <a:grpSpLocks/>
            </p:cNvGrpSpPr>
            <p:nvPr/>
          </p:nvGrpSpPr>
          <p:grpSpPr bwMode="auto">
            <a:xfrm>
              <a:off x="3234" y="2221"/>
              <a:ext cx="907" cy="378"/>
              <a:chOff x="3234" y="2221"/>
              <a:chExt cx="907" cy="378"/>
            </a:xfrm>
          </p:grpSpPr>
          <p:sp>
            <p:nvSpPr>
              <p:cNvPr id="81" name="Line 119">
                <a:extLst>
                  <a:ext uri="{FF2B5EF4-FFF2-40B4-BE49-F238E27FC236}">
                    <a16:creationId xmlns:a16="http://schemas.microsoft.com/office/drawing/2014/main" id="{8E53EF63-45A8-E039-FB5C-796E12E21F5F}"/>
                  </a:ext>
                </a:extLst>
              </p:cNvPr>
              <p:cNvSpPr>
                <a:spLocks noChangeShapeType="1"/>
              </p:cNvSpPr>
              <p:nvPr/>
            </p:nvSpPr>
            <p:spPr bwMode="auto">
              <a:xfrm>
                <a:off x="3235" y="2595"/>
                <a:ext cx="808"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82" name="Line 120">
                <a:extLst>
                  <a:ext uri="{FF2B5EF4-FFF2-40B4-BE49-F238E27FC236}">
                    <a16:creationId xmlns:a16="http://schemas.microsoft.com/office/drawing/2014/main" id="{8FA817BA-675C-1B56-3F5A-0EAB00ACE34F}"/>
                  </a:ext>
                </a:extLst>
              </p:cNvPr>
              <p:cNvSpPr>
                <a:spLocks noChangeShapeType="1"/>
              </p:cNvSpPr>
              <p:nvPr/>
            </p:nvSpPr>
            <p:spPr bwMode="auto">
              <a:xfrm>
                <a:off x="3264" y="2304"/>
                <a:ext cx="875"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9" name="Line 121">
                <a:extLst>
                  <a:ext uri="{FF2B5EF4-FFF2-40B4-BE49-F238E27FC236}">
                    <a16:creationId xmlns:a16="http://schemas.microsoft.com/office/drawing/2014/main" id="{1A64B508-DE75-690E-35DE-5F11A5475111}"/>
                  </a:ext>
                </a:extLst>
              </p:cNvPr>
              <p:cNvSpPr>
                <a:spLocks noChangeShapeType="1"/>
              </p:cNvSpPr>
              <p:nvPr/>
            </p:nvSpPr>
            <p:spPr bwMode="auto">
              <a:xfrm flipH="1">
                <a:off x="3234" y="2304"/>
                <a:ext cx="6" cy="295"/>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0" name="AutoShape 122" descr="Light upward diagonal">
                <a:extLst>
                  <a:ext uri="{FF2B5EF4-FFF2-40B4-BE49-F238E27FC236}">
                    <a16:creationId xmlns:a16="http://schemas.microsoft.com/office/drawing/2014/main" id="{E4263844-1DC2-5ADF-8B5F-6DC999C69116}"/>
                  </a:ext>
                </a:extLst>
              </p:cNvPr>
              <p:cNvSpPr>
                <a:spLocks noChangeArrowheads="1"/>
              </p:cNvSpPr>
              <p:nvPr/>
            </p:nvSpPr>
            <p:spPr bwMode="auto">
              <a:xfrm flipH="1">
                <a:off x="3785" y="2221"/>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Line 123">
                <a:extLst>
                  <a:ext uri="{FF2B5EF4-FFF2-40B4-BE49-F238E27FC236}">
                    <a16:creationId xmlns:a16="http://schemas.microsoft.com/office/drawing/2014/main" id="{08EC29AF-8113-B132-E646-932AEE83248A}"/>
                  </a:ext>
                </a:extLst>
              </p:cNvPr>
              <p:cNvSpPr>
                <a:spLocks noChangeShapeType="1"/>
              </p:cNvSpPr>
              <p:nvPr/>
            </p:nvSpPr>
            <p:spPr bwMode="auto">
              <a:xfrm flipH="1">
                <a:off x="4141" y="2317"/>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5" name="Group 124">
              <a:extLst>
                <a:ext uri="{FF2B5EF4-FFF2-40B4-BE49-F238E27FC236}">
                  <a16:creationId xmlns:a16="http://schemas.microsoft.com/office/drawing/2014/main" id="{541DE822-0BF6-A9D1-E8FD-85EF89E958FB}"/>
                </a:ext>
              </a:extLst>
            </p:cNvPr>
            <p:cNvGrpSpPr>
              <a:grpSpLocks/>
            </p:cNvGrpSpPr>
            <p:nvPr/>
          </p:nvGrpSpPr>
          <p:grpSpPr bwMode="auto">
            <a:xfrm>
              <a:off x="2766" y="2262"/>
              <a:ext cx="432" cy="240"/>
              <a:chOff x="1296" y="2256"/>
              <a:chExt cx="432" cy="240"/>
            </a:xfrm>
          </p:grpSpPr>
          <p:sp>
            <p:nvSpPr>
              <p:cNvPr id="76" name="Line 125">
                <a:extLst>
                  <a:ext uri="{FF2B5EF4-FFF2-40B4-BE49-F238E27FC236}">
                    <a16:creationId xmlns:a16="http://schemas.microsoft.com/office/drawing/2014/main" id="{97F85EAB-3AEB-F822-DA09-0AD8DABAC1A2}"/>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7" name="Line 126">
                <a:extLst>
                  <a:ext uri="{FF2B5EF4-FFF2-40B4-BE49-F238E27FC236}">
                    <a16:creationId xmlns:a16="http://schemas.microsoft.com/office/drawing/2014/main" id="{4F3066D6-2886-8A15-73D1-896685CCE391}"/>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8" name="AutoShape 127">
                <a:extLst>
                  <a:ext uri="{FF2B5EF4-FFF2-40B4-BE49-F238E27FC236}">
                    <a16:creationId xmlns:a16="http://schemas.microsoft.com/office/drawing/2014/main" id="{C61B84E2-965A-BD9D-088A-93A8F66A552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0" name="Line 128">
                <a:extLst>
                  <a:ext uri="{FF2B5EF4-FFF2-40B4-BE49-F238E27FC236}">
                    <a16:creationId xmlns:a16="http://schemas.microsoft.com/office/drawing/2014/main" id="{CC4D97DB-62AD-5A3A-F7DA-E150D1F0E2F7}"/>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sp>
        <p:nvSpPr>
          <p:cNvPr id="112" name="Text Box 23">
            <a:extLst>
              <a:ext uri="{FF2B5EF4-FFF2-40B4-BE49-F238E27FC236}">
                <a16:creationId xmlns:a16="http://schemas.microsoft.com/office/drawing/2014/main" id="{4CCF06C2-5D19-D20D-88C4-ABC3A5040E06}"/>
              </a:ext>
            </a:extLst>
          </p:cNvPr>
          <p:cNvSpPr txBox="1">
            <a:spLocks noChangeArrowheads="1"/>
          </p:cNvSpPr>
          <p:nvPr/>
        </p:nvSpPr>
        <p:spPr bwMode="auto">
          <a:xfrm>
            <a:off x="711868" y="4662584"/>
            <a:ext cx="555625" cy="244475"/>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6 days</a:t>
            </a:r>
          </a:p>
        </p:txBody>
      </p:sp>
      <p:sp>
        <p:nvSpPr>
          <p:cNvPr id="113" name="Text Box 23">
            <a:extLst>
              <a:ext uri="{FF2B5EF4-FFF2-40B4-BE49-F238E27FC236}">
                <a16:creationId xmlns:a16="http://schemas.microsoft.com/office/drawing/2014/main" id="{DA4441FE-F86B-79B4-6EE4-6EA0BF5E1A88}"/>
              </a:ext>
            </a:extLst>
          </p:cNvPr>
          <p:cNvSpPr txBox="1">
            <a:spLocks noChangeArrowheads="1"/>
          </p:cNvSpPr>
          <p:nvPr/>
        </p:nvSpPr>
        <p:spPr bwMode="auto">
          <a:xfrm>
            <a:off x="2878054" y="466594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4" name="Text Box 23">
            <a:extLst>
              <a:ext uri="{FF2B5EF4-FFF2-40B4-BE49-F238E27FC236}">
                <a16:creationId xmlns:a16="http://schemas.microsoft.com/office/drawing/2014/main" id="{5186321E-A23D-D845-1696-41F7AEAE9CFD}"/>
              </a:ext>
            </a:extLst>
          </p:cNvPr>
          <p:cNvSpPr txBox="1">
            <a:spLocks noChangeArrowheads="1"/>
          </p:cNvSpPr>
          <p:nvPr/>
        </p:nvSpPr>
        <p:spPr bwMode="auto">
          <a:xfrm>
            <a:off x="6710257" y="465402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5" name="Line 116">
            <a:extLst>
              <a:ext uri="{FF2B5EF4-FFF2-40B4-BE49-F238E27FC236}">
                <a16:creationId xmlns:a16="http://schemas.microsoft.com/office/drawing/2014/main" id="{08082364-8F0D-B7B9-85AA-15DFAFAF4DFA}"/>
              </a:ext>
            </a:extLst>
          </p:cNvPr>
          <p:cNvSpPr>
            <a:spLocks noChangeShapeType="1"/>
          </p:cNvSpPr>
          <p:nvPr/>
        </p:nvSpPr>
        <p:spPr bwMode="auto">
          <a:xfrm flipH="1">
            <a:off x="6068151" y="2365910"/>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6" name="Line 117">
            <a:extLst>
              <a:ext uri="{FF2B5EF4-FFF2-40B4-BE49-F238E27FC236}">
                <a16:creationId xmlns:a16="http://schemas.microsoft.com/office/drawing/2014/main" id="{0AB62DAA-9693-C30C-1074-4397E8557B4D}"/>
              </a:ext>
            </a:extLst>
          </p:cNvPr>
          <p:cNvSpPr>
            <a:spLocks noChangeShapeType="1"/>
          </p:cNvSpPr>
          <p:nvPr/>
        </p:nvSpPr>
        <p:spPr bwMode="auto">
          <a:xfrm flipV="1">
            <a:off x="7402663" y="2438935"/>
            <a:ext cx="1577749" cy="79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9" name="Line 118">
            <a:extLst>
              <a:ext uri="{FF2B5EF4-FFF2-40B4-BE49-F238E27FC236}">
                <a16:creationId xmlns:a16="http://schemas.microsoft.com/office/drawing/2014/main" id="{8A96E82F-4DB2-9313-76EE-0E3DEF7B35B6}"/>
              </a:ext>
            </a:extLst>
          </p:cNvPr>
          <p:cNvSpPr>
            <a:spLocks noChangeShapeType="1"/>
          </p:cNvSpPr>
          <p:nvPr/>
        </p:nvSpPr>
        <p:spPr bwMode="auto">
          <a:xfrm flipV="1">
            <a:off x="7391707" y="2378610"/>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0" name="Rectangle 119">
            <a:extLst>
              <a:ext uri="{FF2B5EF4-FFF2-40B4-BE49-F238E27FC236}">
                <a16:creationId xmlns:a16="http://schemas.microsoft.com/office/drawing/2014/main" id="{2CF73C0C-5B74-C5EA-9CE2-826753E912E7}"/>
              </a:ext>
            </a:extLst>
          </p:cNvPr>
          <p:cNvSpPr>
            <a:spLocks noChangeArrowheads="1"/>
          </p:cNvSpPr>
          <p:nvPr/>
        </p:nvSpPr>
        <p:spPr bwMode="auto">
          <a:xfrm>
            <a:off x="7678769" y="2283360"/>
            <a:ext cx="885292" cy="260350"/>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30/60/90 day</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Forecast (email)</a:t>
            </a:r>
          </a:p>
        </p:txBody>
      </p:sp>
      <p:graphicFrame>
        <p:nvGraphicFramePr>
          <p:cNvPr id="122" name="Table 13">
            <a:extLst>
              <a:ext uri="{FF2B5EF4-FFF2-40B4-BE49-F238E27FC236}">
                <a16:creationId xmlns:a16="http://schemas.microsoft.com/office/drawing/2014/main" id="{FBA26740-D7F5-18C4-BE5A-2A9DE4056973}"/>
              </a:ext>
            </a:extLst>
          </p:cNvPr>
          <p:cNvGraphicFramePr>
            <a:graphicFrameLocks noGrp="1"/>
          </p:cNvGraphicFramePr>
          <p:nvPr/>
        </p:nvGraphicFramePr>
        <p:xfrm>
          <a:off x="590264" y="5549609"/>
          <a:ext cx="10670334" cy="741680"/>
        </p:xfrm>
        <a:graphic>
          <a:graphicData uri="http://schemas.openxmlformats.org/drawingml/2006/table">
            <a:tbl>
              <a:tblPr firstRow="1" bandRow="1">
                <a:tableStyleId>{5C22544A-7EE6-4342-B048-85BDC9FD1C3A}</a:tableStyleId>
              </a:tblPr>
              <a:tblGrid>
                <a:gridCol w="1065816">
                  <a:extLst>
                    <a:ext uri="{9D8B030D-6E8A-4147-A177-3AD203B41FA5}">
                      <a16:colId xmlns:a16="http://schemas.microsoft.com/office/drawing/2014/main" val="1793455730"/>
                    </a:ext>
                  </a:extLst>
                </a:gridCol>
                <a:gridCol w="1036320">
                  <a:extLst>
                    <a:ext uri="{9D8B030D-6E8A-4147-A177-3AD203B41FA5}">
                      <a16:colId xmlns:a16="http://schemas.microsoft.com/office/drawing/2014/main" val="2931103683"/>
                    </a:ext>
                  </a:extLst>
                </a:gridCol>
                <a:gridCol w="2265680">
                  <a:extLst>
                    <a:ext uri="{9D8B030D-6E8A-4147-A177-3AD203B41FA5}">
                      <a16:colId xmlns:a16="http://schemas.microsoft.com/office/drawing/2014/main" val="167016645"/>
                    </a:ext>
                  </a:extLst>
                </a:gridCol>
                <a:gridCol w="1107440">
                  <a:extLst>
                    <a:ext uri="{9D8B030D-6E8A-4147-A177-3AD203B41FA5}">
                      <a16:colId xmlns:a16="http://schemas.microsoft.com/office/drawing/2014/main" val="2153114181"/>
                    </a:ext>
                  </a:extLst>
                </a:gridCol>
                <a:gridCol w="3139440">
                  <a:extLst>
                    <a:ext uri="{9D8B030D-6E8A-4147-A177-3AD203B41FA5}">
                      <a16:colId xmlns:a16="http://schemas.microsoft.com/office/drawing/2014/main" val="2013974765"/>
                    </a:ext>
                  </a:extLst>
                </a:gridCol>
                <a:gridCol w="2055638">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6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10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240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270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mc:AlternateContent xmlns:mc="http://schemas.openxmlformats.org/markup-compatibility/2006" xmlns:p14="http://schemas.microsoft.com/office/powerpoint/2010/main">
        <mc:Choice Requires="p14">
          <p:contentPart p14:bwMode="auto" r:id="rId5">
            <p14:nvContentPartPr>
              <p14:cNvPr id="128" name="Ink 127">
                <a:extLst>
                  <a:ext uri="{FF2B5EF4-FFF2-40B4-BE49-F238E27FC236}">
                    <a16:creationId xmlns:a16="http://schemas.microsoft.com/office/drawing/2014/main" id="{8A8219C2-1177-0E74-192A-1BE629A748AB}"/>
                  </a:ext>
                </a:extLst>
              </p14:cNvPr>
              <p14:cNvContentPartPr/>
              <p14:nvPr/>
            </p14:nvContentPartPr>
            <p14:xfrm>
              <a:off x="475880" y="1821720"/>
              <a:ext cx="4033800" cy="3121560"/>
            </p14:xfrm>
          </p:contentPart>
        </mc:Choice>
        <mc:Fallback xmlns="">
          <p:pic>
            <p:nvPicPr>
              <p:cNvPr id="128" name="Ink 127">
                <a:extLst>
                  <a:ext uri="{FF2B5EF4-FFF2-40B4-BE49-F238E27FC236}">
                    <a16:creationId xmlns:a16="http://schemas.microsoft.com/office/drawing/2014/main" id="{8A8219C2-1177-0E74-192A-1BE629A748AB}"/>
                  </a:ext>
                </a:extLst>
              </p:cNvPr>
              <p:cNvPicPr/>
              <p:nvPr/>
            </p:nvPicPr>
            <p:blipFill>
              <a:blip r:embed="rId6"/>
              <a:stretch>
                <a:fillRect/>
              </a:stretch>
            </p:blipFill>
            <p:spPr>
              <a:xfrm>
                <a:off x="466880" y="1812720"/>
                <a:ext cx="4051440" cy="313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37" name="Ink 136">
                <a:extLst>
                  <a:ext uri="{FF2B5EF4-FFF2-40B4-BE49-F238E27FC236}">
                    <a16:creationId xmlns:a16="http://schemas.microsoft.com/office/drawing/2014/main" id="{0601A1C5-B031-FA5C-3428-7C9836BF2B23}"/>
                  </a:ext>
                </a:extLst>
              </p14:cNvPr>
              <p14:cNvContentPartPr/>
              <p14:nvPr/>
            </p14:nvContentPartPr>
            <p14:xfrm>
              <a:off x="4643960" y="2047800"/>
              <a:ext cx="6419160" cy="1337040"/>
            </p14:xfrm>
          </p:contentPart>
        </mc:Choice>
        <mc:Fallback xmlns="">
          <p:pic>
            <p:nvPicPr>
              <p:cNvPr id="137" name="Ink 136">
                <a:extLst>
                  <a:ext uri="{FF2B5EF4-FFF2-40B4-BE49-F238E27FC236}">
                    <a16:creationId xmlns:a16="http://schemas.microsoft.com/office/drawing/2014/main" id="{0601A1C5-B031-FA5C-3428-7C9836BF2B23}"/>
                  </a:ext>
                </a:extLst>
              </p:cNvPr>
              <p:cNvPicPr/>
              <p:nvPr/>
            </p:nvPicPr>
            <p:blipFill>
              <a:blip r:embed="rId8"/>
              <a:stretch>
                <a:fillRect/>
              </a:stretch>
            </p:blipFill>
            <p:spPr>
              <a:xfrm>
                <a:off x="4634960" y="2038800"/>
                <a:ext cx="6436800" cy="13546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38" name="Ink 137">
                <a:extLst>
                  <a:ext uri="{FF2B5EF4-FFF2-40B4-BE49-F238E27FC236}">
                    <a16:creationId xmlns:a16="http://schemas.microsoft.com/office/drawing/2014/main" id="{267E4E70-DA5A-1908-28D7-3180FA5F3536}"/>
                  </a:ext>
                </a:extLst>
              </p14:cNvPr>
              <p14:cNvContentPartPr/>
              <p14:nvPr/>
            </p14:nvContentPartPr>
            <p14:xfrm>
              <a:off x="7074680" y="2903520"/>
              <a:ext cx="3617280" cy="2383200"/>
            </p14:xfrm>
          </p:contentPart>
        </mc:Choice>
        <mc:Fallback xmlns="">
          <p:pic>
            <p:nvPicPr>
              <p:cNvPr id="138" name="Ink 137">
                <a:extLst>
                  <a:ext uri="{FF2B5EF4-FFF2-40B4-BE49-F238E27FC236}">
                    <a16:creationId xmlns:a16="http://schemas.microsoft.com/office/drawing/2014/main" id="{267E4E70-DA5A-1908-28D7-3180FA5F3536}"/>
                  </a:ext>
                </a:extLst>
              </p:cNvPr>
              <p:cNvPicPr/>
              <p:nvPr/>
            </p:nvPicPr>
            <p:blipFill>
              <a:blip r:embed="rId10"/>
              <a:stretch>
                <a:fillRect/>
              </a:stretch>
            </p:blipFill>
            <p:spPr>
              <a:xfrm>
                <a:off x="7065680" y="2894520"/>
                <a:ext cx="3634920" cy="2400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40" name="Ink 139">
                <a:extLst>
                  <a:ext uri="{FF2B5EF4-FFF2-40B4-BE49-F238E27FC236}">
                    <a16:creationId xmlns:a16="http://schemas.microsoft.com/office/drawing/2014/main" id="{F70A61DB-5B6F-39ED-2B6E-C3E93495F213}"/>
                  </a:ext>
                </a:extLst>
              </p14:cNvPr>
              <p14:cNvContentPartPr/>
              <p14:nvPr/>
            </p14:nvContentPartPr>
            <p14:xfrm>
              <a:off x="1505120" y="3401760"/>
              <a:ext cx="5725440" cy="2239200"/>
            </p14:xfrm>
          </p:contentPart>
        </mc:Choice>
        <mc:Fallback xmlns="">
          <p:pic>
            <p:nvPicPr>
              <p:cNvPr id="140" name="Ink 139">
                <a:extLst>
                  <a:ext uri="{FF2B5EF4-FFF2-40B4-BE49-F238E27FC236}">
                    <a16:creationId xmlns:a16="http://schemas.microsoft.com/office/drawing/2014/main" id="{F70A61DB-5B6F-39ED-2B6E-C3E93495F213}"/>
                  </a:ext>
                </a:extLst>
              </p:cNvPr>
              <p:cNvPicPr/>
              <p:nvPr/>
            </p:nvPicPr>
            <p:blipFill>
              <a:blip r:embed="rId12"/>
              <a:stretch>
                <a:fillRect/>
              </a:stretch>
            </p:blipFill>
            <p:spPr>
              <a:xfrm>
                <a:off x="1496120" y="3392760"/>
                <a:ext cx="5743080" cy="2256840"/>
              </a:xfrm>
              <a:prstGeom prst="rect">
                <a:avLst/>
              </a:prstGeom>
            </p:spPr>
          </p:pic>
        </mc:Fallback>
      </mc:AlternateContent>
      <p:sp>
        <p:nvSpPr>
          <p:cNvPr id="142" name="Text Box 193">
            <a:extLst>
              <a:ext uri="{FF2B5EF4-FFF2-40B4-BE49-F238E27FC236}">
                <a16:creationId xmlns:a16="http://schemas.microsoft.com/office/drawing/2014/main" id="{C5849023-7853-E9C7-4D3A-ECCC8F5FA6F2}"/>
              </a:ext>
            </a:extLst>
          </p:cNvPr>
          <p:cNvSpPr txBox="1">
            <a:spLocks noChangeArrowheads="1"/>
          </p:cNvSpPr>
          <p:nvPr/>
        </p:nvSpPr>
        <p:spPr bwMode="auto">
          <a:xfrm>
            <a:off x="1392454" y="3062932"/>
            <a:ext cx="1207125" cy="276999"/>
          </a:xfrm>
          <a:prstGeom prst="rect">
            <a:avLst/>
          </a:prstGeom>
          <a:solidFill>
            <a:srgbClr val="EAEAEA"/>
          </a:solidFill>
          <a:ln w="12700" cap="sq">
            <a:solidFill>
              <a:schemeClr val="accent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Supplier Loop</a:t>
            </a:r>
          </a:p>
        </p:txBody>
      </p:sp>
      <p:sp>
        <p:nvSpPr>
          <p:cNvPr id="143" name="Text Box 193">
            <a:extLst>
              <a:ext uri="{FF2B5EF4-FFF2-40B4-BE49-F238E27FC236}">
                <a16:creationId xmlns:a16="http://schemas.microsoft.com/office/drawing/2014/main" id="{8FFF5351-3034-28D5-32E6-F0994617E572}"/>
              </a:ext>
            </a:extLst>
          </p:cNvPr>
          <p:cNvSpPr txBox="1">
            <a:spLocks noChangeArrowheads="1"/>
          </p:cNvSpPr>
          <p:nvPr/>
        </p:nvSpPr>
        <p:spPr bwMode="auto">
          <a:xfrm>
            <a:off x="3231846" y="4903216"/>
            <a:ext cx="1207125" cy="276999"/>
          </a:xfrm>
          <a:prstGeom prst="rect">
            <a:avLst/>
          </a:prstGeom>
          <a:solidFill>
            <a:srgbClr val="EAEAEA"/>
          </a:solidFill>
          <a:ln w="12700" cap="sq">
            <a:solidFill>
              <a:schemeClr val="accent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err="1">
                <a:solidFill>
                  <a:schemeClr val="accent1"/>
                </a:solidFill>
                <a:latin typeface="Roboto" panose="02000000000000000000" pitchFamily="2" charset="0"/>
                <a:ea typeface="Roboto" panose="02000000000000000000" pitchFamily="2" charset="0"/>
              </a:rPr>
              <a:t>Mfg</a:t>
            </a:r>
            <a:r>
              <a:rPr lang="en-US" altLang="en-US" sz="1200" dirty="0">
                <a:solidFill>
                  <a:schemeClr val="accent1"/>
                </a:solidFill>
                <a:latin typeface="Roboto" panose="02000000000000000000" pitchFamily="2" charset="0"/>
                <a:ea typeface="Roboto" panose="02000000000000000000" pitchFamily="2" charset="0"/>
              </a:rPr>
              <a:t> Loop</a:t>
            </a:r>
          </a:p>
        </p:txBody>
      </p:sp>
      <p:sp>
        <p:nvSpPr>
          <p:cNvPr id="144" name="Text Box 193">
            <a:extLst>
              <a:ext uri="{FF2B5EF4-FFF2-40B4-BE49-F238E27FC236}">
                <a16:creationId xmlns:a16="http://schemas.microsoft.com/office/drawing/2014/main" id="{DB9A7621-067E-8533-5319-860A4FEA655E}"/>
              </a:ext>
            </a:extLst>
          </p:cNvPr>
          <p:cNvSpPr txBox="1">
            <a:spLocks noChangeArrowheads="1"/>
          </p:cNvSpPr>
          <p:nvPr/>
        </p:nvSpPr>
        <p:spPr bwMode="auto">
          <a:xfrm>
            <a:off x="8525806" y="1945502"/>
            <a:ext cx="1363535" cy="276999"/>
          </a:xfrm>
          <a:prstGeom prst="rect">
            <a:avLst/>
          </a:prstGeom>
          <a:solidFill>
            <a:srgbClr val="EAEAEA"/>
          </a:solidFill>
          <a:ln w="12700" cap="sq">
            <a:solidFill>
              <a:schemeClr val="accent1"/>
            </a:solid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Information Loop</a:t>
            </a:r>
          </a:p>
        </p:txBody>
      </p:sp>
      <p:sp>
        <p:nvSpPr>
          <p:cNvPr id="145" name="Text Box 193">
            <a:extLst>
              <a:ext uri="{FF2B5EF4-FFF2-40B4-BE49-F238E27FC236}">
                <a16:creationId xmlns:a16="http://schemas.microsoft.com/office/drawing/2014/main" id="{A94EC690-0F96-DD50-3827-0A18402179BD}"/>
              </a:ext>
            </a:extLst>
          </p:cNvPr>
          <p:cNvSpPr txBox="1">
            <a:spLocks noChangeArrowheads="1"/>
          </p:cNvSpPr>
          <p:nvPr/>
        </p:nvSpPr>
        <p:spPr bwMode="auto">
          <a:xfrm>
            <a:off x="7888490" y="4791396"/>
            <a:ext cx="1516855" cy="276999"/>
          </a:xfrm>
          <a:prstGeom prst="rect">
            <a:avLst/>
          </a:prstGeom>
          <a:solidFill>
            <a:srgbClr val="EAEAEA"/>
          </a:solidFill>
          <a:ln w="12700" cap="sq">
            <a:solidFill>
              <a:schemeClr val="accent1"/>
            </a:solid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Pacemaker Loop</a:t>
            </a:r>
          </a:p>
        </p:txBody>
      </p:sp>
    </p:spTree>
    <p:extLst>
      <p:ext uri="{BB962C8B-B14F-4D97-AF65-F5344CB8AC3E}">
        <p14:creationId xmlns:p14="http://schemas.microsoft.com/office/powerpoint/2010/main" val="3734756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dissolve">
                                      <p:cBhvr>
                                        <p:cTn id="16" dur="1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150</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Autofit/>
          </a:bodyPr>
          <a:lstStyle/>
          <a:p>
            <a:r>
              <a:rPr lang="en-US" sz="4000" dirty="0">
                <a:latin typeface="Roboto Medium"/>
                <a:ea typeface="Roboto Medium"/>
                <a:cs typeface="Roboto Medium"/>
              </a:rPr>
              <a:t>Developing the Value Stream Plan</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472372"/>
            <a:ext cx="10515600" cy="4351338"/>
          </a:xfrm>
        </p:spPr>
        <p:txBody>
          <a:bodyPr>
            <a:normAutofit/>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Define purpose of Value Stream Plan</a:t>
            </a:r>
          </a:p>
          <a:p>
            <a:r>
              <a:rPr lang="en-US" sz="2400" dirty="0"/>
              <a:t>Review timing of Future State Plan completion</a:t>
            </a:r>
          </a:p>
          <a:p>
            <a:r>
              <a:rPr lang="en-US" sz="2400" dirty="0"/>
              <a:t>Review roles of Leadership and Value Stream Manager in achieving Future State</a:t>
            </a:r>
          </a:p>
          <a:p>
            <a:r>
              <a:rPr lang="en-US" sz="2400" dirty="0"/>
              <a:t>Prioritize activities based on Current State Kaizen Bursts</a:t>
            </a:r>
          </a:p>
          <a:p>
            <a:r>
              <a:rPr lang="en-US" sz="2400" dirty="0"/>
              <a:t>Identify and define components of Value Stream Plan</a:t>
            </a:r>
          </a:p>
          <a:p>
            <a:r>
              <a:rPr lang="en-US" sz="2400" dirty="0"/>
              <a:t>Review example of completed Value Stream Plan</a:t>
            </a:r>
          </a:p>
          <a:p>
            <a:r>
              <a:rPr lang="en-US" sz="2400" dirty="0"/>
              <a:t>Complete Value Stream Plan for Business</a:t>
            </a:r>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Develop Value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444602096"/>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Purpose of the Value Stream Plan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151</a:t>
            </a:fld>
            <a:endParaRPr lang="en-US"/>
          </a:p>
        </p:txBody>
      </p:sp>
      <p:grpSp>
        <p:nvGrpSpPr>
          <p:cNvPr id="3" name="Group 2">
            <a:extLst>
              <a:ext uri="{FF2B5EF4-FFF2-40B4-BE49-F238E27FC236}">
                <a16:creationId xmlns:a16="http://schemas.microsoft.com/office/drawing/2014/main" id="{BE5A85F3-F6A2-1D1C-ED4C-B980263AE52D}"/>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B100907F-64E3-4498-A49A-9056588639C4}"/>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07FD77D-A22D-5870-949C-E0196DE7BDB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A72A49BD-09FB-BE6A-2A03-F24E4012460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0A1B0DB1-A0B5-FDAD-DFF3-A13F368F8999}"/>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03B4B5D3-4B87-80C0-523B-6DC7C46913F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22CEC60F-A6A6-8E9D-E5FD-5B5A340300BA}"/>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B323CEF7-764B-0252-397D-B0945B364FA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3930CAA7-10CE-58F5-E84A-66369C6A11B9}"/>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grpSp>
        <p:nvGrpSpPr>
          <p:cNvPr id="34" name="Group 33">
            <a:extLst>
              <a:ext uri="{FF2B5EF4-FFF2-40B4-BE49-F238E27FC236}">
                <a16:creationId xmlns:a16="http://schemas.microsoft.com/office/drawing/2014/main" id="{49085BAA-BE96-357F-A440-98A532D3A4C1}"/>
              </a:ext>
            </a:extLst>
          </p:cNvPr>
          <p:cNvGrpSpPr/>
          <p:nvPr/>
        </p:nvGrpSpPr>
        <p:grpSpPr>
          <a:xfrm>
            <a:off x="1137426" y="2225974"/>
            <a:ext cx="9917148" cy="3571887"/>
            <a:chOff x="1137426" y="1971663"/>
            <a:chExt cx="9917148" cy="3571887"/>
          </a:xfrm>
        </p:grpSpPr>
        <p:cxnSp>
          <p:nvCxnSpPr>
            <p:cNvPr id="29" name="Straight Connector 28">
              <a:extLst>
                <a:ext uri="{FF2B5EF4-FFF2-40B4-BE49-F238E27FC236}">
                  <a16:creationId xmlns:a16="http://schemas.microsoft.com/office/drawing/2014/main" id="{A50C68E7-6B33-F9B9-12A2-E60BA9727821}"/>
                </a:ext>
              </a:extLst>
            </p:cNvPr>
            <p:cNvCxnSpPr>
              <a:stCxn id="13" idx="1"/>
              <a:endCxn id="25" idx="3"/>
            </p:cNvCxnSpPr>
            <p:nvPr/>
          </p:nvCxnSpPr>
          <p:spPr>
            <a:xfrm>
              <a:off x="1137426" y="2651748"/>
              <a:ext cx="99171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E0F6DABA-0E3D-C6BD-58E6-022813EC2CDF}"/>
                </a:ext>
              </a:extLst>
            </p:cNvPr>
            <p:cNvGrpSpPr/>
            <p:nvPr/>
          </p:nvGrpSpPr>
          <p:grpSpPr>
            <a:xfrm>
              <a:off x="1137426" y="1971663"/>
              <a:ext cx="9917148" cy="1360170"/>
              <a:chOff x="838200" y="1971663"/>
              <a:chExt cx="9917148" cy="1360170"/>
            </a:xfrm>
          </p:grpSpPr>
          <p:sp>
            <p:nvSpPr>
              <p:cNvPr id="13" name="Rectangle 12">
                <a:extLst>
                  <a:ext uri="{FF2B5EF4-FFF2-40B4-BE49-F238E27FC236}">
                    <a16:creationId xmlns:a16="http://schemas.microsoft.com/office/drawing/2014/main" id="{638F999B-30B7-30B0-B7CC-0592F5B7BBDB}"/>
                  </a:ext>
                </a:extLst>
              </p:cNvPr>
              <p:cNvSpPr/>
              <p:nvPr/>
            </p:nvSpPr>
            <p:spPr>
              <a:xfrm>
                <a:off x="838200"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Establishes Priority</a:t>
                </a:r>
              </a:p>
            </p:txBody>
          </p:sp>
          <p:sp>
            <p:nvSpPr>
              <p:cNvPr id="23" name="Rectangle 22">
                <a:extLst>
                  <a:ext uri="{FF2B5EF4-FFF2-40B4-BE49-F238E27FC236}">
                    <a16:creationId xmlns:a16="http://schemas.microsoft.com/office/drawing/2014/main" id="{C9133EE0-1E44-322D-E313-80FB3FBA124E}"/>
                  </a:ext>
                </a:extLst>
              </p:cNvPr>
              <p:cNvSpPr/>
              <p:nvPr/>
            </p:nvSpPr>
            <p:spPr>
              <a:xfrm>
                <a:off x="3508916"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Clearly Identifies Actions</a:t>
                </a:r>
              </a:p>
            </p:txBody>
          </p:sp>
          <p:sp>
            <p:nvSpPr>
              <p:cNvPr id="24" name="Rectangle 23">
                <a:extLst>
                  <a:ext uri="{FF2B5EF4-FFF2-40B4-BE49-F238E27FC236}">
                    <a16:creationId xmlns:a16="http://schemas.microsoft.com/office/drawing/2014/main" id="{9964F18C-7D39-D4CA-9125-18294F3A6129}"/>
                  </a:ext>
                </a:extLst>
              </p:cNvPr>
              <p:cNvSpPr/>
              <p:nvPr/>
            </p:nvSpPr>
            <p:spPr>
              <a:xfrm>
                <a:off x="6179632"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Details Rigorous Timeline</a:t>
                </a:r>
              </a:p>
            </p:txBody>
          </p:sp>
          <p:sp>
            <p:nvSpPr>
              <p:cNvPr id="25" name="Rectangle 24">
                <a:extLst>
                  <a:ext uri="{FF2B5EF4-FFF2-40B4-BE49-F238E27FC236}">
                    <a16:creationId xmlns:a16="http://schemas.microsoft.com/office/drawing/2014/main" id="{1CF863C4-9E7C-3398-1ECD-B988FC46AEB5}"/>
                  </a:ext>
                </a:extLst>
              </p:cNvPr>
              <p:cNvSpPr/>
              <p:nvPr/>
            </p:nvSpPr>
            <p:spPr>
              <a:xfrm>
                <a:off x="8850348"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Clearly Identifies Ownership</a:t>
                </a:r>
              </a:p>
            </p:txBody>
          </p:sp>
        </p:grpSp>
        <p:sp>
          <p:nvSpPr>
            <p:cNvPr id="26" name="Rectangle 25">
              <a:extLst>
                <a:ext uri="{FF2B5EF4-FFF2-40B4-BE49-F238E27FC236}">
                  <a16:creationId xmlns:a16="http://schemas.microsoft.com/office/drawing/2014/main" id="{9971ABF0-E387-6967-4A2B-8D581FD77F72}"/>
                </a:ext>
              </a:extLst>
            </p:cNvPr>
            <p:cNvSpPr/>
            <p:nvPr/>
          </p:nvSpPr>
          <p:spPr>
            <a:xfrm>
              <a:off x="3352800" y="4183380"/>
              <a:ext cx="5486400" cy="1360170"/>
            </a:xfrm>
            <a:prstGeom prst="rect">
              <a:avLst/>
            </a:prstGeom>
            <a:solidFill>
              <a:schemeClr val="bg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solidFill>
                    <a:schemeClr val="tx1"/>
                  </a:solidFill>
                  <a:latin typeface="Roboto" panose="02000000000000000000" pitchFamily="2" charset="0"/>
                  <a:ea typeface="Roboto" panose="02000000000000000000" pitchFamily="2" charset="0"/>
                </a:rPr>
                <a:t>CREATES PLAN TO ACHIEVE FUTURE STATE</a:t>
              </a:r>
            </a:p>
          </p:txBody>
        </p:sp>
        <p:cxnSp>
          <p:nvCxnSpPr>
            <p:cNvPr id="31" name="Connector: Elbow 30">
              <a:extLst>
                <a:ext uri="{FF2B5EF4-FFF2-40B4-BE49-F238E27FC236}">
                  <a16:creationId xmlns:a16="http://schemas.microsoft.com/office/drawing/2014/main" id="{26140DCE-518A-DFF0-44D5-507ED472FFFE}"/>
                </a:ext>
              </a:extLst>
            </p:cNvPr>
            <p:cNvCxnSpPr>
              <a:stCxn id="13" idx="1"/>
              <a:endCxn id="26" idx="1"/>
            </p:cNvCxnSpPr>
            <p:nvPr/>
          </p:nvCxnSpPr>
          <p:spPr>
            <a:xfrm rot="10800000" flipH="1" flipV="1">
              <a:off x="1137426" y="2651747"/>
              <a:ext cx="2215374" cy="2211717"/>
            </a:xfrm>
            <a:prstGeom prst="bentConnector3">
              <a:avLst>
                <a:gd name="adj1" fmla="val -1031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or: Elbow 32">
              <a:extLst>
                <a:ext uri="{FF2B5EF4-FFF2-40B4-BE49-F238E27FC236}">
                  <a16:creationId xmlns:a16="http://schemas.microsoft.com/office/drawing/2014/main" id="{60527D02-F269-9440-ADBB-B7D667F425C4}"/>
                </a:ext>
              </a:extLst>
            </p:cNvPr>
            <p:cNvCxnSpPr>
              <a:stCxn id="25" idx="3"/>
              <a:endCxn id="26" idx="3"/>
            </p:cNvCxnSpPr>
            <p:nvPr/>
          </p:nvCxnSpPr>
          <p:spPr>
            <a:xfrm flipH="1">
              <a:off x="8839200" y="2651748"/>
              <a:ext cx="2215374" cy="2211717"/>
            </a:xfrm>
            <a:prstGeom prst="bentConnector3">
              <a:avLst>
                <a:gd name="adj1" fmla="val -1031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741707184"/>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Timing of the Value Stream Plan</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Timing must align with the predetermined Future State implementation</a:t>
            </a:r>
          </a:p>
          <a:p>
            <a:r>
              <a:rPr lang="en-US" dirty="0"/>
              <a:t>Identify actions needed to execute the timing for the plan</a:t>
            </a:r>
          </a:p>
          <a:p>
            <a:r>
              <a:rPr lang="en-US" dirty="0"/>
              <a:t>Ensure the team is duly challenged to achieve the future state objectives</a:t>
            </a:r>
          </a:p>
          <a:p>
            <a:r>
              <a:rPr lang="en-US" dirty="0"/>
              <a:t>Create a review cadence to update the status of the Value Stream Plan objectives on a regular basis</a:t>
            </a:r>
          </a:p>
          <a:p>
            <a:endParaRPr lang="en-US" dirty="0"/>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152</a:t>
            </a:fld>
            <a:endParaRPr lang="en-US"/>
          </a:p>
        </p:txBody>
      </p:sp>
      <p:grpSp>
        <p:nvGrpSpPr>
          <p:cNvPr id="4" name="Group 3">
            <a:extLst>
              <a:ext uri="{FF2B5EF4-FFF2-40B4-BE49-F238E27FC236}">
                <a16:creationId xmlns:a16="http://schemas.microsoft.com/office/drawing/2014/main" id="{CDEAADE6-6B95-21E3-0E6D-E2556B3ED7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D30E66BA-4B44-CCB6-BDD1-E989A86D253D}"/>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254E65C3-9F69-0214-8C04-C4FF195366B1}"/>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DD2B4715-59C2-2875-D97F-6C7BC45B23DA}"/>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32D1E37-A55D-2971-3734-2614662485D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FD89475-67A7-C963-5585-68792E6FCB28}"/>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81A36FDD-2034-7EFF-60B0-305AB4523EF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2C38046C-8FD8-C384-037A-177F7B6C0D0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4FCCEB67-9F41-EC78-480B-5E23EFDC3F7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285000684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Role of Leadership in VSM</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10000"/>
          </a:bodyPr>
          <a:lstStyle/>
          <a:p>
            <a:r>
              <a:rPr lang="en-US" dirty="0"/>
              <a:t>Define and communicate the long-term “vision” for the business regularly</a:t>
            </a:r>
          </a:p>
          <a:p>
            <a:pPr lvl="1"/>
            <a:r>
              <a:rPr lang="en-US" dirty="0"/>
              <a:t>No sense in making short term improvements to a process that may be outsourced, eliminated or fundamentally transformed in the near future</a:t>
            </a:r>
          </a:p>
          <a:p>
            <a:r>
              <a:rPr lang="en-US" dirty="0"/>
              <a:t>Identify key value streams to be addressed by the business</a:t>
            </a:r>
          </a:p>
          <a:p>
            <a:pPr lvl="1"/>
            <a:r>
              <a:rPr lang="en-US" dirty="0"/>
              <a:t>Prioritized according to business need and strategy</a:t>
            </a:r>
          </a:p>
          <a:p>
            <a:pPr lvl="1"/>
            <a:r>
              <a:rPr lang="en-US" dirty="0"/>
              <a:t>Not every business process will need to be addressed by VSM</a:t>
            </a:r>
          </a:p>
          <a:p>
            <a:r>
              <a:rPr lang="en-US" dirty="0"/>
              <a:t>Provide sponsorship and support for VSM events and implementation</a:t>
            </a:r>
          </a:p>
          <a:p>
            <a:pPr lvl="1"/>
            <a:r>
              <a:rPr lang="en-US" dirty="0"/>
              <a:t>Internal/external resources and funding</a:t>
            </a:r>
          </a:p>
          <a:p>
            <a:pPr lvl="1"/>
            <a:r>
              <a:rPr lang="en-US" dirty="0"/>
              <a:t>Executive decision-making</a:t>
            </a:r>
          </a:p>
          <a:p>
            <a:pPr lvl="1"/>
            <a:r>
              <a:rPr lang="en-US" dirty="0"/>
              <a:t>Empowerment of teams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153</a:t>
            </a:fld>
            <a:endParaRPr lang="en-US"/>
          </a:p>
        </p:txBody>
      </p:sp>
      <p:grpSp>
        <p:nvGrpSpPr>
          <p:cNvPr id="4" name="Group 3">
            <a:extLst>
              <a:ext uri="{FF2B5EF4-FFF2-40B4-BE49-F238E27FC236}">
                <a16:creationId xmlns:a16="http://schemas.microsoft.com/office/drawing/2014/main" id="{CDEAADE6-6B95-21E3-0E6D-E2556B3ED7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D30E66BA-4B44-CCB6-BDD1-E989A86D253D}"/>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254E65C3-9F69-0214-8C04-C4FF195366B1}"/>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DD2B4715-59C2-2875-D97F-6C7BC45B23DA}"/>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32D1E37-A55D-2971-3734-2614662485D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FD89475-67A7-C963-5585-68792E6FCB28}"/>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81A36FDD-2034-7EFF-60B0-305AB4523EF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2C38046C-8FD8-C384-037A-177F7B6C0D0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4FCCEB67-9F41-EC78-480B-5E23EFDC3F7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3087183969"/>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Role of the Value Stream Manager</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dirty="0"/>
              <a:t>The Value Stream Manager is the business process “owner”</a:t>
            </a:r>
          </a:p>
          <a:p>
            <a:r>
              <a:rPr lang="en-US" dirty="0"/>
              <a:t>Oversees, charters and typically leads VSM events</a:t>
            </a:r>
          </a:p>
          <a:p>
            <a:r>
              <a:rPr lang="en-US" dirty="0"/>
              <a:t>“Owns” the Value Stream Plan</a:t>
            </a:r>
          </a:p>
          <a:p>
            <a:pPr lvl="1"/>
            <a:r>
              <a:rPr lang="en-US" dirty="0"/>
              <a:t>Responsible for overseeing the completion of kaizen and other CI improvement activities that are identified on the VS Plan</a:t>
            </a:r>
          </a:p>
          <a:p>
            <a:pPr lvl="1"/>
            <a:r>
              <a:rPr lang="en-US" dirty="0"/>
              <a:t>Provides leadership in resolving issues and removing obstacles that affect reaching the future state in the prescribed timeframe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154</a:t>
            </a:fld>
            <a:endParaRPr lang="en-US"/>
          </a:p>
        </p:txBody>
      </p:sp>
      <p:grpSp>
        <p:nvGrpSpPr>
          <p:cNvPr id="4" name="Group 3">
            <a:extLst>
              <a:ext uri="{FF2B5EF4-FFF2-40B4-BE49-F238E27FC236}">
                <a16:creationId xmlns:a16="http://schemas.microsoft.com/office/drawing/2014/main" id="{CDEAADE6-6B95-21E3-0E6D-E2556B3ED7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D30E66BA-4B44-CCB6-BDD1-E989A86D253D}"/>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254E65C3-9F69-0214-8C04-C4FF195366B1}"/>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DD2B4715-59C2-2875-D97F-6C7BC45B23DA}"/>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32D1E37-A55D-2971-3734-2614662485D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FD89475-67A7-C963-5585-68792E6FCB28}"/>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81A36FDD-2034-7EFF-60B0-305AB4523EF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2C38046C-8FD8-C384-037A-177F7B6C0D0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4FCCEB67-9F41-EC78-480B-5E23EFDC3F7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1365019419"/>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dirty="0"/>
              <a:t>Role of the Value Stream Manager</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155</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fontScale="92500" lnSpcReduction="10000"/>
          </a:bodyPr>
          <a:lstStyle/>
          <a:p>
            <a:r>
              <a:rPr lang="en-US" sz="3200" dirty="0"/>
              <a:t>“Owns” the operational aspects of the end-to-end process, even if it crosses organizational boundaries</a:t>
            </a:r>
          </a:p>
          <a:p>
            <a:pPr lvl="1"/>
            <a:r>
              <a:rPr lang="en-US" sz="2800" dirty="0"/>
              <a:t>Reports (solid or dotted line) to the level where all VS processes and functions report to</a:t>
            </a:r>
          </a:p>
          <a:p>
            <a:pPr lvl="1"/>
            <a:r>
              <a:rPr lang="en-US" sz="2800" dirty="0"/>
              <a:t>Ensures that the future state operational model is viable and achieves the benefits envisioned during the VSM event</a:t>
            </a:r>
          </a:p>
          <a:p>
            <a:r>
              <a:rPr lang="en-US" sz="3200" dirty="0"/>
              <a:t>Continues the VSM process through the second and subsequent cycles</a:t>
            </a:r>
          </a:p>
          <a:p>
            <a:r>
              <a:rPr lang="en-US" sz="3200" dirty="0"/>
              <a:t>Maintains the linkage between VSM and strategic vision of the business</a:t>
            </a:r>
          </a:p>
        </p:txBody>
      </p:sp>
    </p:spTree>
    <p:extLst>
      <p:ext uri="{BB962C8B-B14F-4D97-AF65-F5344CB8AC3E}">
        <p14:creationId xmlns:p14="http://schemas.microsoft.com/office/powerpoint/2010/main" val="296726890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Prioritize Kaizen Bursts translate to Value Stream Plan Activities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156</a:t>
            </a:fld>
            <a:endParaRPr lang="en-US"/>
          </a:p>
        </p:txBody>
      </p:sp>
      <p:grpSp>
        <p:nvGrpSpPr>
          <p:cNvPr id="3" name="Group 2">
            <a:extLst>
              <a:ext uri="{FF2B5EF4-FFF2-40B4-BE49-F238E27FC236}">
                <a16:creationId xmlns:a16="http://schemas.microsoft.com/office/drawing/2014/main" id="{DA645B91-DC93-DC2C-BCDC-6E460582967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3B0D79EA-6A3E-6B7B-B66F-46312F83F9B4}"/>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AC91950-5026-2AF0-C6F2-BFD99F446CB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9FBFB536-0F87-D352-5178-028C2F8E4CF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E7D6EA05-B594-D401-DE1F-B9071176949B}"/>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1EA07C4-CA0A-D790-979E-1963ECCC83E8}"/>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2689536B-E572-722C-8AC9-AE3984056FB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9880D28B-6F33-4FAF-DA83-EAFBB750864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D6A939E4-0D72-5D6A-E7A2-4D8CEE3131B3}"/>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grpSp>
        <p:nvGrpSpPr>
          <p:cNvPr id="24" name="Group 23">
            <a:extLst>
              <a:ext uri="{FF2B5EF4-FFF2-40B4-BE49-F238E27FC236}">
                <a16:creationId xmlns:a16="http://schemas.microsoft.com/office/drawing/2014/main" id="{CAC1AF02-7F35-37EC-018D-8AFBB70FD394}"/>
              </a:ext>
            </a:extLst>
          </p:cNvPr>
          <p:cNvGrpSpPr/>
          <p:nvPr/>
        </p:nvGrpSpPr>
        <p:grpSpPr>
          <a:xfrm>
            <a:off x="918210" y="1913520"/>
            <a:ext cx="9871710" cy="4196795"/>
            <a:chOff x="438150" y="1651000"/>
            <a:chExt cx="8515350" cy="4196795"/>
          </a:xfrm>
        </p:grpSpPr>
        <p:pic>
          <p:nvPicPr>
            <p:cNvPr id="18" name="Picture 24" descr="MME Future State">
              <a:extLst>
                <a:ext uri="{FF2B5EF4-FFF2-40B4-BE49-F238E27FC236}">
                  <a16:creationId xmlns:a16="http://schemas.microsoft.com/office/drawing/2014/main" id="{C18F7ABE-53E4-E2BC-0997-CFB7C9B9EA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1488" y="2076450"/>
              <a:ext cx="5170487" cy="287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3">
              <a:extLst>
                <a:ext uri="{FF2B5EF4-FFF2-40B4-BE49-F238E27FC236}">
                  <a16:creationId xmlns:a16="http://schemas.microsoft.com/office/drawing/2014/main" id="{9342223F-27AE-D054-579E-69E8CB530836}"/>
                </a:ext>
              </a:extLst>
            </p:cNvPr>
            <p:cNvSpPr>
              <a:spLocks noChangeArrowheads="1"/>
            </p:cNvSpPr>
            <p:nvPr/>
          </p:nvSpPr>
          <p:spPr bwMode="auto">
            <a:xfrm>
              <a:off x="438150" y="1651000"/>
              <a:ext cx="5268913" cy="3432175"/>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0" name="Rectangle 4">
              <a:extLst>
                <a:ext uri="{FF2B5EF4-FFF2-40B4-BE49-F238E27FC236}">
                  <a16:creationId xmlns:a16="http://schemas.microsoft.com/office/drawing/2014/main" id="{67DC7344-9A24-1772-7584-51C34CBCE19D}"/>
                </a:ext>
              </a:extLst>
            </p:cNvPr>
            <p:cNvSpPr>
              <a:spLocks noChangeArrowheads="1"/>
            </p:cNvSpPr>
            <p:nvPr/>
          </p:nvSpPr>
          <p:spPr bwMode="auto">
            <a:xfrm>
              <a:off x="5973763" y="1673225"/>
              <a:ext cx="2979737" cy="3421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1438" tIns="36513" rIns="71438" bIns="36513">
              <a:spAutoFit/>
            </a:bodyPr>
            <a:lstStyle>
              <a:lvl1pPr marL="231775" indent="-231775" defTabSz="708025">
                <a:defRPr sz="900" b="1">
                  <a:solidFill>
                    <a:schemeClr val="bg1"/>
                  </a:solidFill>
                  <a:latin typeface="Arial" panose="020B0604020202020204" pitchFamily="34" charset="0"/>
                  <a:ea typeface="MS PGothic" panose="020B0600070205080204" pitchFamily="34" charset="-128"/>
                </a:defRPr>
              </a:lvl1pPr>
              <a:lvl2pPr marL="520700" indent="-174625" defTabSz="708025">
                <a:defRPr sz="900" b="1">
                  <a:solidFill>
                    <a:schemeClr val="bg1"/>
                  </a:solidFill>
                  <a:latin typeface="Arial" panose="020B0604020202020204" pitchFamily="34" charset="0"/>
                  <a:ea typeface="MS PGothic" panose="020B0600070205080204" pitchFamily="34" charset="-128"/>
                </a:defRPr>
              </a:lvl2pPr>
              <a:lvl3pPr marL="1143000" indent="-228600" defTabSz="708025">
                <a:defRPr sz="900" b="1">
                  <a:solidFill>
                    <a:schemeClr val="bg1"/>
                  </a:solidFill>
                  <a:latin typeface="Arial" panose="020B0604020202020204" pitchFamily="34" charset="0"/>
                  <a:ea typeface="MS PGothic" panose="020B0600070205080204" pitchFamily="34" charset="-128"/>
                </a:defRPr>
              </a:lvl3pPr>
              <a:lvl4pPr marL="1600200" indent="-228600" defTabSz="708025">
                <a:defRPr sz="900" b="1">
                  <a:solidFill>
                    <a:schemeClr val="bg1"/>
                  </a:solidFill>
                  <a:latin typeface="Arial" panose="020B0604020202020204" pitchFamily="34" charset="0"/>
                  <a:ea typeface="MS PGothic" panose="020B0600070205080204" pitchFamily="34" charset="-128"/>
                </a:defRPr>
              </a:lvl4pPr>
              <a:lvl5pPr marL="2057400" indent="-228600" defTabSz="708025">
                <a:defRPr sz="900" b="1">
                  <a:solidFill>
                    <a:schemeClr val="bg1"/>
                  </a:solidFill>
                  <a:latin typeface="Arial" panose="020B0604020202020204" pitchFamily="34" charset="0"/>
                  <a:ea typeface="MS PGothic" panose="020B0600070205080204" pitchFamily="34" charset="-128"/>
                </a:defRPr>
              </a:lvl5pPr>
              <a:lvl6pPr marL="25146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defTabSz="708025"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marL="285750"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VS Loop X</a:t>
              </a:r>
            </a:p>
            <a:p>
              <a:pPr marL="631825" lvl="1"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Burst #1</a:t>
              </a:r>
            </a:p>
            <a:p>
              <a:pPr marL="631825" lvl="1"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Burst #2</a:t>
              </a:r>
            </a:p>
            <a:p>
              <a:pPr marL="631825" lvl="1"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Burst #3</a:t>
              </a:r>
            </a:p>
            <a:p>
              <a:pPr marL="285750"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VS Loop Y</a:t>
              </a:r>
            </a:p>
            <a:p>
              <a:pPr marL="631825" lvl="1"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Burst #4</a:t>
              </a:r>
            </a:p>
            <a:p>
              <a:pPr marL="631825" lvl="1"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Burst #5</a:t>
              </a:r>
            </a:p>
            <a:p>
              <a:pPr marL="285750"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VS Loop Z</a:t>
              </a:r>
            </a:p>
            <a:p>
              <a:pPr marL="631825" lvl="1" indent="-285750" algn="l">
                <a:lnSpc>
                  <a:spcPct val="100000"/>
                </a:lnSpc>
                <a:spcBef>
                  <a:spcPct val="40000"/>
                </a:spcBef>
                <a:buClr>
                  <a:schemeClr val="tx1"/>
                </a:buClr>
                <a:buSzPct val="90000"/>
                <a:buFont typeface="Arial" panose="020B0604020202020204" pitchFamily="34" charset="0"/>
                <a:buChar char="•"/>
              </a:pPr>
              <a:r>
                <a:rPr lang="en-US" altLang="en-US" sz="1800" dirty="0">
                  <a:solidFill>
                    <a:schemeClr val="tx1"/>
                  </a:solidFill>
                  <a:latin typeface="Roboto" panose="02000000000000000000" pitchFamily="2" charset="0"/>
                  <a:ea typeface="Roboto" panose="02000000000000000000" pitchFamily="2" charset="0"/>
                </a:rPr>
                <a:t>Burst #6</a:t>
              </a:r>
            </a:p>
          </p:txBody>
        </p:sp>
        <p:sp>
          <p:nvSpPr>
            <p:cNvPr id="21" name="Text Box 6">
              <a:extLst>
                <a:ext uri="{FF2B5EF4-FFF2-40B4-BE49-F238E27FC236}">
                  <a16:creationId xmlns:a16="http://schemas.microsoft.com/office/drawing/2014/main" id="{ADF5DAE4-44B2-6C9C-68F3-02D32A421130}"/>
                </a:ext>
              </a:extLst>
            </p:cNvPr>
            <p:cNvSpPr txBox="1">
              <a:spLocks noChangeArrowheads="1"/>
            </p:cNvSpPr>
            <p:nvPr/>
          </p:nvSpPr>
          <p:spPr bwMode="auto">
            <a:xfrm>
              <a:off x="525463" y="1727200"/>
              <a:ext cx="3166251" cy="3693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800">
                  <a:solidFill>
                    <a:schemeClr val="tx1"/>
                  </a:solidFill>
                  <a:latin typeface="Roboto" panose="02000000000000000000" pitchFamily="2" charset="0"/>
                  <a:ea typeface="Roboto" panose="02000000000000000000" pitchFamily="2" charset="0"/>
                </a:rPr>
                <a:t>Completed Future State Map</a:t>
              </a:r>
              <a:endParaRPr lang="en-US" altLang="en-US" sz="1400">
                <a:solidFill>
                  <a:schemeClr val="tx1"/>
                </a:solidFill>
                <a:latin typeface="Roboto" panose="02000000000000000000" pitchFamily="2" charset="0"/>
                <a:ea typeface="Roboto" panose="02000000000000000000" pitchFamily="2" charset="0"/>
              </a:endParaRPr>
            </a:p>
          </p:txBody>
        </p:sp>
        <p:pic>
          <p:nvPicPr>
            <p:cNvPr id="22" name="Picture 25" descr="MME Marked Up CSM">
              <a:extLst>
                <a:ext uri="{FF2B5EF4-FFF2-40B4-BE49-F238E27FC236}">
                  <a16:creationId xmlns:a16="http://schemas.microsoft.com/office/drawing/2014/main" id="{9EBE46E9-D4A3-1E76-0F7C-A9B1F2F9DD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1150" t="49289" r="24353" b="13313"/>
            <a:stretch>
              <a:fillRect/>
            </a:stretch>
          </p:blipFill>
          <p:spPr bwMode="auto">
            <a:xfrm>
              <a:off x="1984375" y="4210050"/>
              <a:ext cx="3841750" cy="12271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3" name="Text Box 26">
              <a:extLst>
                <a:ext uri="{FF2B5EF4-FFF2-40B4-BE49-F238E27FC236}">
                  <a16:creationId xmlns:a16="http://schemas.microsoft.com/office/drawing/2014/main" id="{31A2D25A-065C-CEC3-9EF2-11898D2354E3}"/>
                </a:ext>
              </a:extLst>
            </p:cNvPr>
            <p:cNvSpPr txBox="1">
              <a:spLocks noChangeArrowheads="1"/>
            </p:cNvSpPr>
            <p:nvPr/>
          </p:nvSpPr>
          <p:spPr bwMode="auto">
            <a:xfrm>
              <a:off x="1992313" y="5478463"/>
              <a:ext cx="3500437" cy="3693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800">
                  <a:solidFill>
                    <a:schemeClr val="tx1"/>
                  </a:solidFill>
                  <a:latin typeface="Roboto" panose="02000000000000000000" pitchFamily="2" charset="0"/>
                  <a:ea typeface="Roboto" panose="02000000000000000000" pitchFamily="2" charset="0"/>
                </a:rPr>
                <a:t>Marked Up Current State Map</a:t>
              </a:r>
              <a:endParaRPr lang="en-US" altLang="en-US" sz="1400">
                <a:solidFill>
                  <a:schemeClr val="tx1"/>
                </a:solidFill>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2751202618"/>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dirty="0"/>
              <a:t>The Value Stream Plan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157</a:t>
            </a:fld>
            <a:endParaRPr lang="en-US"/>
          </a:p>
        </p:txBody>
      </p:sp>
      <p:grpSp>
        <p:nvGrpSpPr>
          <p:cNvPr id="3" name="Group 2">
            <a:extLst>
              <a:ext uri="{FF2B5EF4-FFF2-40B4-BE49-F238E27FC236}">
                <a16:creationId xmlns:a16="http://schemas.microsoft.com/office/drawing/2014/main" id="{DA645B91-DC93-DC2C-BCDC-6E460582967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3B0D79EA-6A3E-6B7B-B66F-46312F83F9B4}"/>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AC91950-5026-2AF0-C6F2-BFD99F446CB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9FBFB536-0F87-D352-5178-028C2F8E4CF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E7D6EA05-B594-D401-DE1F-B9071176949B}"/>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1EA07C4-CA0A-D790-979E-1963ECCC83E8}"/>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2689536B-E572-722C-8AC9-AE3984056FB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9880D28B-6F33-4FAF-DA83-EAFBB750864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D6A939E4-0D72-5D6A-E7A2-4D8CEE3131B3}"/>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pic>
        <p:nvPicPr>
          <p:cNvPr id="13" name="Picture 13" descr="Blank VS Plan">
            <a:extLst>
              <a:ext uri="{FF2B5EF4-FFF2-40B4-BE49-F238E27FC236}">
                <a16:creationId xmlns:a16="http://schemas.microsoft.com/office/drawing/2014/main" id="{BCC606AF-945A-A2DC-3C15-0ED4485B01E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80406" y="1783429"/>
            <a:ext cx="8231188" cy="454971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1398279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dirty="0"/>
              <a:t>Completed Value Stream Plan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158</a:t>
            </a:fld>
            <a:endParaRPr lang="en-US"/>
          </a:p>
        </p:txBody>
      </p:sp>
      <p:grpSp>
        <p:nvGrpSpPr>
          <p:cNvPr id="3" name="Group 2">
            <a:extLst>
              <a:ext uri="{FF2B5EF4-FFF2-40B4-BE49-F238E27FC236}">
                <a16:creationId xmlns:a16="http://schemas.microsoft.com/office/drawing/2014/main" id="{DA645B91-DC93-DC2C-BCDC-6E460582967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3B0D79EA-6A3E-6B7B-B66F-46312F83F9B4}"/>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AC91950-5026-2AF0-C6F2-BFD99F446CB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9FBFB536-0F87-D352-5178-028C2F8E4CF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E7D6EA05-B594-D401-DE1F-B9071176949B}"/>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1EA07C4-CA0A-D790-979E-1963ECCC83E8}"/>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2689536B-E572-722C-8AC9-AE3984056FB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9880D28B-6F33-4FAF-DA83-EAFBB750864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D6A939E4-0D72-5D6A-E7A2-4D8CEE3131B3}"/>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pic>
        <p:nvPicPr>
          <p:cNvPr id="14" name="Picture 14" descr="MME VS Plan">
            <a:extLst>
              <a:ext uri="{FF2B5EF4-FFF2-40B4-BE49-F238E27FC236}">
                <a16:creationId xmlns:a16="http://schemas.microsoft.com/office/drawing/2014/main" id="{59B32EE1-813F-4380-5254-BA81AFA665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5930" y="1766948"/>
            <a:ext cx="8740140" cy="45513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751033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Follow up and monitoring of Value Stream Plan</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159</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lnSpcReduction="10000"/>
          </a:bodyPr>
          <a:lstStyle/>
          <a:p>
            <a:r>
              <a:rPr lang="en-US" sz="3200" dirty="0"/>
              <a:t>Monitoring of progress is crucial to success</a:t>
            </a:r>
          </a:p>
          <a:p>
            <a:r>
              <a:rPr lang="en-US" sz="3200" dirty="0"/>
              <a:t>What does not get followed up on – does not get done</a:t>
            </a:r>
          </a:p>
          <a:p>
            <a:r>
              <a:rPr lang="en-US" sz="3200" dirty="0"/>
              <a:t>Conduct weekly status review with Value Stream Owner</a:t>
            </a:r>
          </a:p>
          <a:p>
            <a:r>
              <a:rPr lang="en-US" sz="3200" dirty="0"/>
              <a:t>Value Stream Manager should review progress every two weeks</a:t>
            </a:r>
          </a:p>
          <a:p>
            <a:r>
              <a:rPr lang="en-US" sz="3200" dirty="0"/>
              <a:t>Reviews conducted on-site and focus on incomplete items</a:t>
            </a:r>
          </a:p>
          <a:p>
            <a:r>
              <a:rPr lang="en-US" sz="3200" dirty="0"/>
              <a:t>Progress should be reviewed with Business Unit Owner Monthly</a:t>
            </a:r>
          </a:p>
        </p:txBody>
      </p:sp>
    </p:spTree>
    <p:extLst>
      <p:ext uri="{BB962C8B-B14F-4D97-AF65-F5344CB8AC3E}">
        <p14:creationId xmlns:p14="http://schemas.microsoft.com/office/powerpoint/2010/main" val="292379055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4000" dirty="0"/>
              <a:t>VSM in Context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160</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a:bodyPr>
          <a:lstStyle/>
          <a:p>
            <a:r>
              <a:rPr lang="en-US" sz="3200" dirty="0"/>
              <a:t>VSM is an incremental and repeatable cycle</a:t>
            </a:r>
          </a:p>
          <a:p>
            <a:r>
              <a:rPr lang="en-US" sz="3200" dirty="0"/>
              <a:t>VSM implementation cycles should support business’ long-term “vision” </a:t>
            </a:r>
          </a:p>
        </p:txBody>
      </p:sp>
      <p:grpSp>
        <p:nvGrpSpPr>
          <p:cNvPr id="43" name="Group 42">
            <a:extLst>
              <a:ext uri="{FF2B5EF4-FFF2-40B4-BE49-F238E27FC236}">
                <a16:creationId xmlns:a16="http://schemas.microsoft.com/office/drawing/2014/main" id="{E052247C-DFC1-C39D-4A64-7D4E00AE8BFC}"/>
              </a:ext>
            </a:extLst>
          </p:cNvPr>
          <p:cNvGrpSpPr/>
          <p:nvPr/>
        </p:nvGrpSpPr>
        <p:grpSpPr>
          <a:xfrm>
            <a:off x="676274" y="3303270"/>
            <a:ext cx="10515599" cy="2868930"/>
            <a:chOff x="676275" y="2209800"/>
            <a:chExt cx="7772400" cy="3962400"/>
          </a:xfrm>
        </p:grpSpPr>
        <p:sp>
          <p:nvSpPr>
            <p:cNvPr id="14" name="Rectangle 13">
              <a:extLst>
                <a:ext uri="{FF2B5EF4-FFF2-40B4-BE49-F238E27FC236}">
                  <a16:creationId xmlns:a16="http://schemas.microsoft.com/office/drawing/2014/main" id="{C097FAF5-1F4B-9C84-1533-D28DFA8E92FB}"/>
                </a:ext>
              </a:extLst>
            </p:cNvPr>
            <p:cNvSpPr>
              <a:spLocks noChangeArrowheads="1"/>
            </p:cNvSpPr>
            <p:nvPr/>
          </p:nvSpPr>
          <p:spPr bwMode="auto">
            <a:xfrm>
              <a:off x="676275" y="2819400"/>
              <a:ext cx="1066800" cy="685800"/>
            </a:xfrm>
            <a:prstGeom prst="rect">
              <a:avLst/>
            </a:prstGeom>
            <a:solidFill>
              <a:schemeClr val="bg2"/>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rPr>
                <a:t>VSM </a:t>
              </a:r>
              <a:r>
                <a:rPr lang="ja-JP" altLang="en-US" sz="1200" dirty="0">
                  <a:solidFill>
                    <a:schemeClr val="tx1"/>
                  </a:solidFill>
                  <a:latin typeface="Roboto" panose="02000000000000000000" pitchFamily="2" charset="0"/>
                </a:rPr>
                <a:t>“</a:t>
              </a:r>
              <a:r>
                <a:rPr lang="en-US" altLang="ja-JP" sz="1200" dirty="0">
                  <a:solidFill>
                    <a:schemeClr val="tx1"/>
                  </a:solidFill>
                  <a:latin typeface="Roboto" panose="02000000000000000000" pitchFamily="2" charset="0"/>
                  <a:ea typeface="Roboto" panose="02000000000000000000" pitchFamily="2" charset="0"/>
                </a:rPr>
                <a:t>Event</a:t>
              </a:r>
              <a:r>
                <a:rPr lang="ja-JP" altLang="en-US" sz="1200" dirty="0">
                  <a:solidFill>
                    <a:schemeClr val="tx1"/>
                  </a:solidFill>
                  <a:latin typeface="Roboto" panose="02000000000000000000" pitchFamily="2" charset="0"/>
                </a:rPr>
                <a:t>”</a:t>
              </a:r>
              <a:endParaRPr lang="en-US" altLang="en-US" sz="1200" dirty="0">
                <a:solidFill>
                  <a:schemeClr val="tx1"/>
                </a:solidFill>
                <a:latin typeface="Roboto" panose="02000000000000000000" pitchFamily="2" charset="0"/>
                <a:ea typeface="Roboto" panose="02000000000000000000" pitchFamily="2" charset="0"/>
              </a:endParaRPr>
            </a:p>
          </p:txBody>
        </p:sp>
        <p:sp>
          <p:nvSpPr>
            <p:cNvPr id="15" name="AutoShape 14">
              <a:extLst>
                <a:ext uri="{FF2B5EF4-FFF2-40B4-BE49-F238E27FC236}">
                  <a16:creationId xmlns:a16="http://schemas.microsoft.com/office/drawing/2014/main" id="{5FC0CA97-02E9-9E47-3A90-7DEB9F2EB5D7}"/>
                </a:ext>
              </a:extLst>
            </p:cNvPr>
            <p:cNvSpPr>
              <a:spLocks noChangeArrowheads="1"/>
            </p:cNvSpPr>
            <p:nvPr/>
          </p:nvSpPr>
          <p:spPr bwMode="auto">
            <a:xfrm>
              <a:off x="828675" y="4343400"/>
              <a:ext cx="914400" cy="609600"/>
            </a:xfrm>
            <a:prstGeom prst="flowChartDocument">
              <a:avLst/>
            </a:prstGeom>
            <a:solidFill>
              <a:schemeClr val="bg2"/>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dirty="0">
                  <a:solidFill>
                    <a:schemeClr val="tx1"/>
                  </a:solidFill>
                  <a:latin typeface="Roboto" panose="02000000000000000000" pitchFamily="2" charset="0"/>
                  <a:ea typeface="Roboto" panose="02000000000000000000" pitchFamily="2" charset="0"/>
                </a:rPr>
                <a:t>Future-State VSM</a:t>
              </a:r>
            </a:p>
          </p:txBody>
        </p:sp>
        <p:sp>
          <p:nvSpPr>
            <p:cNvPr id="16" name="AutoShape 15">
              <a:extLst>
                <a:ext uri="{FF2B5EF4-FFF2-40B4-BE49-F238E27FC236}">
                  <a16:creationId xmlns:a16="http://schemas.microsoft.com/office/drawing/2014/main" id="{5FDCFFB7-4B85-EE62-BCC7-3823B3EF798B}"/>
                </a:ext>
              </a:extLst>
            </p:cNvPr>
            <p:cNvSpPr>
              <a:spLocks noChangeArrowheads="1"/>
            </p:cNvSpPr>
            <p:nvPr/>
          </p:nvSpPr>
          <p:spPr bwMode="auto">
            <a:xfrm>
              <a:off x="1285875" y="3810000"/>
              <a:ext cx="914400" cy="609600"/>
            </a:xfrm>
            <a:prstGeom prst="flowChartDocument">
              <a:avLst/>
            </a:prstGeom>
            <a:solidFill>
              <a:schemeClr val="bg2"/>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dirty="0">
                  <a:solidFill>
                    <a:schemeClr val="tx1"/>
                  </a:solidFill>
                  <a:latin typeface="Roboto" panose="02000000000000000000" pitchFamily="2" charset="0"/>
                  <a:ea typeface="Roboto" panose="02000000000000000000" pitchFamily="2" charset="0"/>
                </a:rPr>
                <a:t>Value Stream Plan</a:t>
              </a:r>
            </a:p>
          </p:txBody>
        </p:sp>
        <p:sp>
          <p:nvSpPr>
            <p:cNvPr id="17" name="Line 16">
              <a:extLst>
                <a:ext uri="{FF2B5EF4-FFF2-40B4-BE49-F238E27FC236}">
                  <a16:creationId xmlns:a16="http://schemas.microsoft.com/office/drawing/2014/main" id="{A4BE633E-C07A-067B-47AA-FD513A35E83D}"/>
                </a:ext>
              </a:extLst>
            </p:cNvPr>
            <p:cNvSpPr>
              <a:spLocks noChangeShapeType="1"/>
            </p:cNvSpPr>
            <p:nvPr/>
          </p:nvSpPr>
          <p:spPr bwMode="auto">
            <a:xfrm>
              <a:off x="1514475" y="3505200"/>
              <a:ext cx="228600" cy="3048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8" name="Line 17">
              <a:extLst>
                <a:ext uri="{FF2B5EF4-FFF2-40B4-BE49-F238E27FC236}">
                  <a16:creationId xmlns:a16="http://schemas.microsoft.com/office/drawing/2014/main" id="{F30092D3-C203-29BC-F635-D1C16A2BD4A1}"/>
                </a:ext>
              </a:extLst>
            </p:cNvPr>
            <p:cNvSpPr>
              <a:spLocks noChangeShapeType="1"/>
            </p:cNvSpPr>
            <p:nvPr/>
          </p:nvSpPr>
          <p:spPr bwMode="auto">
            <a:xfrm>
              <a:off x="981075" y="3505200"/>
              <a:ext cx="76200" cy="8382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9" name="Rectangle 18">
              <a:extLst>
                <a:ext uri="{FF2B5EF4-FFF2-40B4-BE49-F238E27FC236}">
                  <a16:creationId xmlns:a16="http://schemas.microsoft.com/office/drawing/2014/main" id="{0602DDEB-59F7-10C2-70EB-C3B56930D845}"/>
                </a:ext>
              </a:extLst>
            </p:cNvPr>
            <p:cNvSpPr>
              <a:spLocks noChangeArrowheads="1"/>
            </p:cNvSpPr>
            <p:nvPr/>
          </p:nvSpPr>
          <p:spPr bwMode="auto">
            <a:xfrm>
              <a:off x="2733675" y="2667000"/>
              <a:ext cx="1219200" cy="990600"/>
            </a:xfrm>
            <a:prstGeom prst="rect">
              <a:avLst/>
            </a:prstGeom>
            <a:solidFill>
              <a:schemeClr val="bg2"/>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rPr>
                <a:t>VS Plan Implementation</a:t>
              </a:r>
            </a:p>
          </p:txBody>
        </p:sp>
        <p:sp>
          <p:nvSpPr>
            <p:cNvPr id="20" name="Rectangle 19">
              <a:extLst>
                <a:ext uri="{FF2B5EF4-FFF2-40B4-BE49-F238E27FC236}">
                  <a16:creationId xmlns:a16="http://schemas.microsoft.com/office/drawing/2014/main" id="{40E934B9-D8D6-C590-8D8E-34BFCCE1CDB2}"/>
                </a:ext>
              </a:extLst>
            </p:cNvPr>
            <p:cNvSpPr>
              <a:spLocks noChangeArrowheads="1"/>
            </p:cNvSpPr>
            <p:nvPr/>
          </p:nvSpPr>
          <p:spPr bwMode="auto">
            <a:xfrm>
              <a:off x="4867275" y="2819400"/>
              <a:ext cx="1066800" cy="685800"/>
            </a:xfrm>
            <a:prstGeom prst="rect">
              <a:avLst/>
            </a:prstGeom>
            <a:solidFill>
              <a:schemeClr val="bg2"/>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solidFill>
                    <a:schemeClr val="tx1"/>
                  </a:solidFill>
                  <a:latin typeface="Roboto" panose="02000000000000000000" pitchFamily="2" charset="0"/>
                  <a:ea typeface="Roboto" panose="02000000000000000000" pitchFamily="2" charset="0"/>
                </a:rPr>
                <a:t>New VSM </a:t>
              </a:r>
              <a:r>
                <a:rPr lang="ja-JP" altLang="en-US" sz="1200" dirty="0">
                  <a:solidFill>
                    <a:schemeClr val="tx1"/>
                  </a:solidFill>
                  <a:latin typeface="Roboto" panose="02000000000000000000" pitchFamily="2" charset="0"/>
                </a:rPr>
                <a:t>“</a:t>
              </a:r>
              <a:r>
                <a:rPr lang="en-US" altLang="ja-JP" sz="1200" dirty="0">
                  <a:solidFill>
                    <a:schemeClr val="tx1"/>
                  </a:solidFill>
                  <a:latin typeface="Roboto" panose="02000000000000000000" pitchFamily="2" charset="0"/>
                  <a:ea typeface="Roboto" panose="02000000000000000000" pitchFamily="2" charset="0"/>
                </a:rPr>
                <a:t>Event</a:t>
              </a:r>
              <a:r>
                <a:rPr lang="ja-JP" altLang="en-US" sz="1200" dirty="0">
                  <a:solidFill>
                    <a:schemeClr val="tx1"/>
                  </a:solidFill>
                  <a:latin typeface="Roboto" panose="02000000000000000000" pitchFamily="2" charset="0"/>
                </a:rPr>
                <a:t>”</a:t>
              </a:r>
              <a:endParaRPr lang="en-US" altLang="en-US" sz="1200" dirty="0">
                <a:solidFill>
                  <a:schemeClr val="tx1"/>
                </a:solidFill>
                <a:latin typeface="Roboto" panose="02000000000000000000" pitchFamily="2" charset="0"/>
                <a:ea typeface="Roboto" panose="02000000000000000000" pitchFamily="2" charset="0"/>
              </a:endParaRPr>
            </a:p>
          </p:txBody>
        </p:sp>
        <p:sp>
          <p:nvSpPr>
            <p:cNvPr id="21" name="AutoShape 20">
              <a:extLst>
                <a:ext uri="{FF2B5EF4-FFF2-40B4-BE49-F238E27FC236}">
                  <a16:creationId xmlns:a16="http://schemas.microsoft.com/office/drawing/2014/main" id="{1D0A516E-0F7C-5EB8-E9DB-BC1B6271566D}"/>
                </a:ext>
              </a:extLst>
            </p:cNvPr>
            <p:cNvSpPr>
              <a:spLocks noChangeArrowheads="1"/>
            </p:cNvSpPr>
            <p:nvPr/>
          </p:nvSpPr>
          <p:spPr bwMode="auto">
            <a:xfrm>
              <a:off x="4867275" y="4419600"/>
              <a:ext cx="914400" cy="685800"/>
            </a:xfrm>
            <a:prstGeom prst="flowChartDocument">
              <a:avLst/>
            </a:prstGeom>
            <a:solidFill>
              <a:schemeClr val="bg2"/>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dirty="0">
                  <a:solidFill>
                    <a:schemeClr val="tx1"/>
                  </a:solidFill>
                  <a:latin typeface="Roboto" panose="02000000000000000000" pitchFamily="2" charset="0"/>
                  <a:ea typeface="Roboto" panose="02000000000000000000" pitchFamily="2" charset="0"/>
                </a:rPr>
                <a:t>New Future-State VSM</a:t>
              </a:r>
            </a:p>
          </p:txBody>
        </p:sp>
        <p:sp>
          <p:nvSpPr>
            <p:cNvPr id="22" name="AutoShape 21">
              <a:extLst>
                <a:ext uri="{FF2B5EF4-FFF2-40B4-BE49-F238E27FC236}">
                  <a16:creationId xmlns:a16="http://schemas.microsoft.com/office/drawing/2014/main" id="{457A9A3E-1616-521B-FEFF-D410AB9137EF}"/>
                </a:ext>
              </a:extLst>
            </p:cNvPr>
            <p:cNvSpPr>
              <a:spLocks noChangeArrowheads="1"/>
            </p:cNvSpPr>
            <p:nvPr/>
          </p:nvSpPr>
          <p:spPr bwMode="auto">
            <a:xfrm>
              <a:off x="5324475" y="3657600"/>
              <a:ext cx="914400" cy="762000"/>
            </a:xfrm>
            <a:prstGeom prst="flowChartDocument">
              <a:avLst/>
            </a:prstGeom>
            <a:solidFill>
              <a:schemeClr val="bg2"/>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dirty="0">
                  <a:solidFill>
                    <a:schemeClr val="tx1"/>
                  </a:solidFill>
                  <a:latin typeface="Roboto" panose="02000000000000000000" pitchFamily="2" charset="0"/>
                  <a:ea typeface="Roboto" panose="02000000000000000000" pitchFamily="2" charset="0"/>
                </a:rPr>
                <a:t>New Value Stream Plan</a:t>
              </a:r>
            </a:p>
          </p:txBody>
        </p:sp>
        <p:sp>
          <p:nvSpPr>
            <p:cNvPr id="23" name="Line 22">
              <a:extLst>
                <a:ext uri="{FF2B5EF4-FFF2-40B4-BE49-F238E27FC236}">
                  <a16:creationId xmlns:a16="http://schemas.microsoft.com/office/drawing/2014/main" id="{489AD433-AD05-B020-6EDC-39D43D0BF69E}"/>
                </a:ext>
              </a:extLst>
            </p:cNvPr>
            <p:cNvSpPr>
              <a:spLocks noChangeShapeType="1"/>
            </p:cNvSpPr>
            <p:nvPr/>
          </p:nvSpPr>
          <p:spPr bwMode="auto">
            <a:xfrm>
              <a:off x="5553075" y="3505200"/>
              <a:ext cx="152400" cy="1524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4" name="Line 23">
              <a:extLst>
                <a:ext uri="{FF2B5EF4-FFF2-40B4-BE49-F238E27FC236}">
                  <a16:creationId xmlns:a16="http://schemas.microsoft.com/office/drawing/2014/main" id="{FDB2E7D4-29F8-ED62-330E-AD2FB32AB560}"/>
                </a:ext>
              </a:extLst>
            </p:cNvPr>
            <p:cNvSpPr>
              <a:spLocks noChangeShapeType="1"/>
            </p:cNvSpPr>
            <p:nvPr/>
          </p:nvSpPr>
          <p:spPr bwMode="auto">
            <a:xfrm>
              <a:off x="5019675" y="3505200"/>
              <a:ext cx="152400" cy="9144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cxnSp>
          <p:nvCxnSpPr>
            <p:cNvPr id="25" name="AutoShape 24">
              <a:extLst>
                <a:ext uri="{FF2B5EF4-FFF2-40B4-BE49-F238E27FC236}">
                  <a16:creationId xmlns:a16="http://schemas.microsoft.com/office/drawing/2014/main" id="{336DCB6A-DB48-5FC5-CEA1-5B55B98331C8}"/>
                </a:ext>
              </a:extLst>
            </p:cNvPr>
            <p:cNvCxnSpPr>
              <a:cxnSpLocks noChangeShapeType="1"/>
              <a:stCxn id="14" idx="3"/>
              <a:endCxn id="19" idx="1"/>
            </p:cNvCxnSpPr>
            <p:nvPr/>
          </p:nvCxnSpPr>
          <p:spPr bwMode="auto">
            <a:xfrm>
              <a:off x="1743075" y="3162300"/>
              <a:ext cx="9906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6" name="AutoShape 25">
              <a:extLst>
                <a:ext uri="{FF2B5EF4-FFF2-40B4-BE49-F238E27FC236}">
                  <a16:creationId xmlns:a16="http://schemas.microsoft.com/office/drawing/2014/main" id="{DEA25CE9-3A1A-1A04-201A-71AD3C76A648}"/>
                </a:ext>
              </a:extLst>
            </p:cNvPr>
            <p:cNvCxnSpPr>
              <a:cxnSpLocks noChangeShapeType="1"/>
              <a:stCxn id="19" idx="3"/>
              <a:endCxn id="20" idx="1"/>
            </p:cNvCxnSpPr>
            <p:nvPr/>
          </p:nvCxnSpPr>
          <p:spPr bwMode="auto">
            <a:xfrm>
              <a:off x="3952875" y="3162300"/>
              <a:ext cx="9144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7" name="AutoShape 26">
              <a:extLst>
                <a:ext uri="{FF2B5EF4-FFF2-40B4-BE49-F238E27FC236}">
                  <a16:creationId xmlns:a16="http://schemas.microsoft.com/office/drawing/2014/main" id="{C9940B6C-6CDC-F6CD-3928-5BC8F5A0520F}"/>
                </a:ext>
              </a:extLst>
            </p:cNvPr>
            <p:cNvCxnSpPr>
              <a:cxnSpLocks noChangeShapeType="1"/>
              <a:stCxn id="20" idx="3"/>
              <a:endCxn id="34" idx="1"/>
            </p:cNvCxnSpPr>
            <p:nvPr/>
          </p:nvCxnSpPr>
          <p:spPr bwMode="auto">
            <a:xfrm>
              <a:off x="5934075" y="3162300"/>
              <a:ext cx="9906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28" name="Line 27">
              <a:extLst>
                <a:ext uri="{FF2B5EF4-FFF2-40B4-BE49-F238E27FC236}">
                  <a16:creationId xmlns:a16="http://schemas.microsoft.com/office/drawing/2014/main" id="{6E15BC96-FF78-18EA-02FC-8CC26BBDEA85}"/>
                </a:ext>
              </a:extLst>
            </p:cNvPr>
            <p:cNvSpPr>
              <a:spLocks noChangeShapeType="1"/>
            </p:cNvSpPr>
            <p:nvPr/>
          </p:nvSpPr>
          <p:spPr bwMode="auto">
            <a:xfrm flipV="1">
              <a:off x="1819275" y="2409825"/>
              <a:ext cx="3048000" cy="0"/>
            </a:xfrm>
            <a:prstGeom prst="line">
              <a:avLst/>
            </a:prstGeom>
            <a:noFill/>
            <a:ln w="28575" cap="sq">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9" name="Text Box 28">
              <a:extLst>
                <a:ext uri="{FF2B5EF4-FFF2-40B4-BE49-F238E27FC236}">
                  <a16:creationId xmlns:a16="http://schemas.microsoft.com/office/drawing/2014/main" id="{7F3061AE-AEAE-E8E1-DF19-777B38EA89AD}"/>
                </a:ext>
              </a:extLst>
            </p:cNvPr>
            <p:cNvSpPr txBox="1">
              <a:spLocks noChangeArrowheads="1"/>
            </p:cNvSpPr>
            <p:nvPr/>
          </p:nvSpPr>
          <p:spPr bwMode="auto">
            <a:xfrm>
              <a:off x="2525713" y="2228850"/>
              <a:ext cx="1574800" cy="510100"/>
            </a:xfrm>
            <a:prstGeom prst="rect">
              <a:avLst/>
            </a:prstGeom>
            <a:solidFill>
              <a:schemeClr val="bg1"/>
            </a:solidFill>
            <a:ln w="12700" cap="sq">
              <a:solidFill>
                <a:schemeClr val="tx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50000"/>
                </a:spcBef>
              </a:pPr>
              <a:r>
                <a:rPr lang="en-US" altLang="en-US" dirty="0">
                  <a:solidFill>
                    <a:schemeClr val="tx1"/>
                  </a:solidFill>
                  <a:latin typeface="Roboto" panose="02000000000000000000" pitchFamily="2" charset="0"/>
                  <a:ea typeface="Roboto" panose="02000000000000000000" pitchFamily="2" charset="0"/>
                </a:rPr>
                <a:t>Approx. ½ of time span from now to Future State</a:t>
              </a:r>
            </a:p>
          </p:txBody>
        </p:sp>
        <p:sp>
          <p:nvSpPr>
            <p:cNvPr id="30" name="Text Box 29">
              <a:extLst>
                <a:ext uri="{FF2B5EF4-FFF2-40B4-BE49-F238E27FC236}">
                  <a16:creationId xmlns:a16="http://schemas.microsoft.com/office/drawing/2014/main" id="{DFBA6B91-8E76-335E-06FA-562582E7609A}"/>
                </a:ext>
              </a:extLst>
            </p:cNvPr>
            <p:cNvSpPr txBox="1">
              <a:spLocks noChangeArrowheads="1"/>
            </p:cNvSpPr>
            <p:nvPr/>
          </p:nvSpPr>
          <p:spPr bwMode="auto">
            <a:xfrm>
              <a:off x="2733675" y="3733801"/>
              <a:ext cx="1371600" cy="7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Kaizen events and other improvement and transformational activities</a:t>
              </a:r>
            </a:p>
          </p:txBody>
        </p:sp>
        <p:sp>
          <p:nvSpPr>
            <p:cNvPr id="31" name="Rectangle 30">
              <a:extLst>
                <a:ext uri="{FF2B5EF4-FFF2-40B4-BE49-F238E27FC236}">
                  <a16:creationId xmlns:a16="http://schemas.microsoft.com/office/drawing/2014/main" id="{5021846E-FDAC-0315-2CB7-44A834738FA3}"/>
                </a:ext>
              </a:extLst>
            </p:cNvPr>
            <p:cNvSpPr>
              <a:spLocks noChangeArrowheads="1"/>
            </p:cNvSpPr>
            <p:nvPr/>
          </p:nvSpPr>
          <p:spPr bwMode="auto">
            <a:xfrm>
              <a:off x="2352675" y="5257800"/>
              <a:ext cx="2514600" cy="914400"/>
            </a:xfrm>
            <a:prstGeom prst="rect">
              <a:avLst/>
            </a:prstGeom>
            <a:solidFill>
              <a:schemeClr val="accent4"/>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dirty="0">
                  <a:latin typeface="Roboto" panose="02000000000000000000" pitchFamily="2" charset="0"/>
                  <a:ea typeface="Roboto" panose="02000000000000000000" pitchFamily="2" charset="0"/>
                </a:rPr>
                <a:t>Begin implementation of </a:t>
              </a:r>
              <a:r>
                <a:rPr lang="en-US" altLang="en-US" sz="1200" u="sng" dirty="0">
                  <a:latin typeface="Roboto" panose="02000000000000000000" pitchFamily="2" charset="0"/>
                  <a:ea typeface="Roboto" panose="02000000000000000000" pitchFamily="2" charset="0"/>
                </a:rPr>
                <a:t>pacing</a:t>
              </a:r>
              <a:r>
                <a:rPr lang="en-US" altLang="en-US" sz="1200" dirty="0">
                  <a:latin typeface="Roboto" panose="02000000000000000000" pitchFamily="2" charset="0"/>
                  <a:ea typeface="Roboto" panose="02000000000000000000" pitchFamily="2" charset="0"/>
                </a:rPr>
                <a:t> transformation activities (&gt;6 months) required to achieve long-term </a:t>
              </a:r>
              <a:r>
                <a:rPr lang="ja-JP" altLang="en-US" sz="1200" dirty="0">
                  <a:latin typeface="Roboto" panose="02000000000000000000" pitchFamily="2" charset="0"/>
                </a:rPr>
                <a:t>“</a:t>
              </a:r>
              <a:r>
                <a:rPr lang="en-US" altLang="ja-JP" sz="1200" dirty="0">
                  <a:latin typeface="Roboto" panose="02000000000000000000" pitchFamily="2" charset="0"/>
                  <a:ea typeface="Roboto" panose="02000000000000000000" pitchFamily="2" charset="0"/>
                </a:rPr>
                <a:t>vision</a:t>
              </a:r>
              <a:r>
                <a:rPr lang="ja-JP" altLang="en-US" sz="1200" dirty="0">
                  <a:latin typeface="Roboto" panose="02000000000000000000" pitchFamily="2" charset="0"/>
                </a:rPr>
                <a:t>”</a:t>
              </a:r>
              <a:r>
                <a:rPr lang="en-US" altLang="ja-JP" sz="1200" dirty="0">
                  <a:latin typeface="Roboto" panose="02000000000000000000" pitchFamily="2" charset="0"/>
                  <a:ea typeface="Roboto" panose="02000000000000000000" pitchFamily="2" charset="0"/>
                </a:rPr>
                <a:t> </a:t>
              </a:r>
              <a:endParaRPr lang="en-US" altLang="en-US" sz="1200" dirty="0">
                <a:latin typeface="Roboto" panose="02000000000000000000" pitchFamily="2" charset="0"/>
                <a:ea typeface="Roboto" panose="02000000000000000000" pitchFamily="2" charset="0"/>
              </a:endParaRPr>
            </a:p>
          </p:txBody>
        </p:sp>
        <p:sp>
          <p:nvSpPr>
            <p:cNvPr id="32" name="AutoShape 31">
              <a:extLst>
                <a:ext uri="{FF2B5EF4-FFF2-40B4-BE49-F238E27FC236}">
                  <a16:creationId xmlns:a16="http://schemas.microsoft.com/office/drawing/2014/main" id="{FEB1975E-5E1A-3DB3-4CA3-85C934128109}"/>
                </a:ext>
              </a:extLst>
            </p:cNvPr>
            <p:cNvSpPr>
              <a:spLocks noChangeArrowheads="1"/>
            </p:cNvSpPr>
            <p:nvPr/>
          </p:nvSpPr>
          <p:spPr bwMode="auto">
            <a:xfrm>
              <a:off x="904875" y="5410200"/>
              <a:ext cx="914400" cy="609600"/>
            </a:xfrm>
            <a:prstGeom prst="flowChartDocument">
              <a:avLst/>
            </a:prstGeom>
            <a:solidFill>
              <a:schemeClr val="accent4"/>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dirty="0">
                  <a:latin typeface="Roboto" panose="02000000000000000000" pitchFamily="2" charset="0"/>
                  <a:ea typeface="Roboto" panose="02000000000000000000" pitchFamily="2" charset="0"/>
                </a:rPr>
                <a:t>Long-term Vision</a:t>
              </a:r>
            </a:p>
          </p:txBody>
        </p:sp>
        <p:cxnSp>
          <p:nvCxnSpPr>
            <p:cNvPr id="33" name="AutoShape 32">
              <a:extLst>
                <a:ext uri="{FF2B5EF4-FFF2-40B4-BE49-F238E27FC236}">
                  <a16:creationId xmlns:a16="http://schemas.microsoft.com/office/drawing/2014/main" id="{F0B33DC8-3E85-418F-D7CA-A8EAE66AF48C}"/>
                </a:ext>
              </a:extLst>
            </p:cNvPr>
            <p:cNvCxnSpPr>
              <a:cxnSpLocks noChangeShapeType="1"/>
              <a:stCxn id="32" idx="3"/>
              <a:endCxn id="31" idx="1"/>
            </p:cNvCxnSpPr>
            <p:nvPr/>
          </p:nvCxnSpPr>
          <p:spPr bwMode="auto">
            <a:xfrm>
              <a:off x="1819275" y="5715000"/>
              <a:ext cx="5334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34" name="AutoShape 33">
              <a:extLst>
                <a:ext uri="{FF2B5EF4-FFF2-40B4-BE49-F238E27FC236}">
                  <a16:creationId xmlns:a16="http://schemas.microsoft.com/office/drawing/2014/main" id="{C8F68964-B335-60B5-7B31-665A2A4F4264}"/>
                </a:ext>
              </a:extLst>
            </p:cNvPr>
            <p:cNvSpPr>
              <a:spLocks noChangeArrowheads="1"/>
            </p:cNvSpPr>
            <p:nvPr/>
          </p:nvSpPr>
          <p:spPr bwMode="auto">
            <a:xfrm>
              <a:off x="6924675" y="2781300"/>
              <a:ext cx="1524000" cy="762000"/>
            </a:xfrm>
            <a:prstGeom prst="flowChartAlternateProcess">
              <a:avLst/>
            </a:prstGeom>
            <a:solidFill>
              <a:schemeClr val="accent4"/>
            </a:solidFill>
            <a:ln w="12700" cap="sq">
              <a:solidFill>
                <a:schemeClr val="tx1"/>
              </a:solidFill>
              <a:miter lim="800000"/>
              <a:headEnd type="none" w="sm" len="sm"/>
              <a:tailEnd type="none" w="sm" len="sm"/>
            </a:ln>
          </p:spPr>
          <p:txBody>
            <a:bodyPr wrap="squar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dirty="0">
                  <a:latin typeface="Roboto" panose="02000000000000000000" pitchFamily="2" charset="0"/>
                  <a:ea typeface="Roboto" panose="02000000000000000000" pitchFamily="2" charset="0"/>
                </a:rPr>
                <a:t>Convergence of future VSM and long-term </a:t>
              </a:r>
              <a:r>
                <a:rPr lang="ja-JP" altLang="en-US" sz="1000" dirty="0">
                  <a:latin typeface="Roboto" panose="02000000000000000000" pitchFamily="2" charset="0"/>
                </a:rPr>
                <a:t>“</a:t>
              </a:r>
              <a:r>
                <a:rPr lang="en-US" altLang="ja-JP" sz="1000" dirty="0">
                  <a:latin typeface="Roboto" panose="02000000000000000000" pitchFamily="2" charset="0"/>
                  <a:ea typeface="Roboto" panose="02000000000000000000" pitchFamily="2" charset="0"/>
                </a:rPr>
                <a:t>Vision</a:t>
              </a:r>
              <a:r>
                <a:rPr lang="ja-JP" altLang="en-US" sz="1000" dirty="0">
                  <a:latin typeface="Roboto" panose="02000000000000000000" pitchFamily="2" charset="0"/>
                </a:rPr>
                <a:t>” </a:t>
              </a:r>
              <a:r>
                <a:rPr lang="en-US" altLang="en-US" sz="1000" dirty="0">
                  <a:latin typeface="Roboto" panose="02000000000000000000" pitchFamily="2" charset="0"/>
                  <a:ea typeface="Roboto" panose="02000000000000000000" pitchFamily="2" charset="0"/>
                </a:rPr>
                <a:t>transformation</a:t>
              </a:r>
            </a:p>
          </p:txBody>
        </p:sp>
        <p:cxnSp>
          <p:nvCxnSpPr>
            <p:cNvPr id="35" name="AutoShape 34">
              <a:extLst>
                <a:ext uri="{FF2B5EF4-FFF2-40B4-BE49-F238E27FC236}">
                  <a16:creationId xmlns:a16="http://schemas.microsoft.com/office/drawing/2014/main" id="{F4B5FE24-C0D8-854C-C312-15840002DE14}"/>
                </a:ext>
              </a:extLst>
            </p:cNvPr>
            <p:cNvCxnSpPr>
              <a:cxnSpLocks noChangeShapeType="1"/>
              <a:stCxn id="31" idx="3"/>
              <a:endCxn id="34" idx="2"/>
            </p:cNvCxnSpPr>
            <p:nvPr/>
          </p:nvCxnSpPr>
          <p:spPr bwMode="auto">
            <a:xfrm flipV="1">
              <a:off x="4867275" y="3543300"/>
              <a:ext cx="2819400" cy="2171700"/>
            </a:xfrm>
            <a:prstGeom prst="bentConnector2">
              <a:avLst/>
            </a:prstGeom>
            <a:noFill/>
            <a:ln w="1270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6" name="AutoShape 35">
              <a:extLst>
                <a:ext uri="{FF2B5EF4-FFF2-40B4-BE49-F238E27FC236}">
                  <a16:creationId xmlns:a16="http://schemas.microsoft.com/office/drawing/2014/main" id="{0B33CAFC-9EA7-0BEC-BE65-4931EF600E1A}"/>
                </a:ext>
              </a:extLst>
            </p:cNvPr>
            <p:cNvCxnSpPr>
              <a:cxnSpLocks noChangeShapeType="1"/>
              <a:stCxn id="15" idx="2"/>
              <a:endCxn id="32" idx="0"/>
            </p:cNvCxnSpPr>
            <p:nvPr/>
          </p:nvCxnSpPr>
          <p:spPr bwMode="auto">
            <a:xfrm>
              <a:off x="1285875" y="4919663"/>
              <a:ext cx="76200" cy="490537"/>
            </a:xfrm>
            <a:prstGeom prst="straightConnector1">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cxnSp>
        <p:grpSp>
          <p:nvGrpSpPr>
            <p:cNvPr id="37" name="Group 36">
              <a:extLst>
                <a:ext uri="{FF2B5EF4-FFF2-40B4-BE49-F238E27FC236}">
                  <a16:creationId xmlns:a16="http://schemas.microsoft.com/office/drawing/2014/main" id="{D490E051-780E-A810-043A-73ABEDCF128D}"/>
                </a:ext>
              </a:extLst>
            </p:cNvPr>
            <p:cNvGrpSpPr>
              <a:grpSpLocks/>
            </p:cNvGrpSpPr>
            <p:nvPr/>
          </p:nvGrpSpPr>
          <p:grpSpPr bwMode="auto">
            <a:xfrm>
              <a:off x="6353175" y="3048000"/>
              <a:ext cx="152400" cy="228600"/>
              <a:chOff x="4056" y="1968"/>
              <a:chExt cx="96" cy="144"/>
            </a:xfrm>
          </p:grpSpPr>
          <p:sp>
            <p:nvSpPr>
              <p:cNvPr id="38" name="Rectangle 37">
                <a:extLst>
                  <a:ext uri="{FF2B5EF4-FFF2-40B4-BE49-F238E27FC236}">
                    <a16:creationId xmlns:a16="http://schemas.microsoft.com/office/drawing/2014/main" id="{36DC809D-8050-71EC-E7F7-244C149A069F}"/>
                  </a:ext>
                </a:extLst>
              </p:cNvPr>
              <p:cNvSpPr>
                <a:spLocks noChangeArrowheads="1"/>
              </p:cNvSpPr>
              <p:nvPr/>
            </p:nvSpPr>
            <p:spPr bwMode="auto">
              <a:xfrm>
                <a:off x="4080" y="1968"/>
                <a:ext cx="48" cy="14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9" name="Line 38">
                <a:extLst>
                  <a:ext uri="{FF2B5EF4-FFF2-40B4-BE49-F238E27FC236}">
                    <a16:creationId xmlns:a16="http://schemas.microsoft.com/office/drawing/2014/main" id="{A4701515-D071-AFFA-FEC7-7FC8F6646FE8}"/>
                  </a:ext>
                </a:extLst>
              </p:cNvPr>
              <p:cNvSpPr>
                <a:spLocks noChangeShapeType="1"/>
              </p:cNvSpPr>
              <p:nvPr/>
            </p:nvSpPr>
            <p:spPr bwMode="auto">
              <a:xfrm flipH="1">
                <a:off x="4056" y="1968"/>
                <a:ext cx="48" cy="14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Line 39">
                <a:extLst>
                  <a:ext uri="{FF2B5EF4-FFF2-40B4-BE49-F238E27FC236}">
                    <a16:creationId xmlns:a16="http://schemas.microsoft.com/office/drawing/2014/main" id="{4E545E15-B108-64ED-BA3B-1A1972596A17}"/>
                  </a:ext>
                </a:extLst>
              </p:cNvPr>
              <p:cNvSpPr>
                <a:spLocks noChangeShapeType="1"/>
              </p:cNvSpPr>
              <p:nvPr/>
            </p:nvSpPr>
            <p:spPr bwMode="auto">
              <a:xfrm flipH="1">
                <a:off x="4104" y="1968"/>
                <a:ext cx="48" cy="14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41" name="Line 40">
              <a:extLst>
                <a:ext uri="{FF2B5EF4-FFF2-40B4-BE49-F238E27FC236}">
                  <a16:creationId xmlns:a16="http://schemas.microsoft.com/office/drawing/2014/main" id="{D778B896-3C7F-4B09-1E28-F0844712B5AD}"/>
                </a:ext>
              </a:extLst>
            </p:cNvPr>
            <p:cNvSpPr>
              <a:spLocks noChangeShapeType="1"/>
            </p:cNvSpPr>
            <p:nvPr/>
          </p:nvSpPr>
          <p:spPr bwMode="auto">
            <a:xfrm>
              <a:off x="1819275" y="2209800"/>
              <a:ext cx="0" cy="38100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2" name="Line 41">
              <a:extLst>
                <a:ext uri="{FF2B5EF4-FFF2-40B4-BE49-F238E27FC236}">
                  <a16:creationId xmlns:a16="http://schemas.microsoft.com/office/drawing/2014/main" id="{1758D857-1500-7689-E166-18C8CB782248}"/>
                </a:ext>
              </a:extLst>
            </p:cNvPr>
            <p:cNvSpPr>
              <a:spLocks noChangeShapeType="1"/>
            </p:cNvSpPr>
            <p:nvPr/>
          </p:nvSpPr>
          <p:spPr bwMode="auto">
            <a:xfrm>
              <a:off x="4867275" y="2209800"/>
              <a:ext cx="0" cy="38100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1864959402"/>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Rectangle 33">
            <a:extLst>
              <a:ext uri="{FF2B5EF4-FFF2-40B4-BE49-F238E27FC236}">
                <a16:creationId xmlns:a16="http://schemas.microsoft.com/office/drawing/2014/main" id="{E5001392-514F-450F-55F6-B52DB95E49D5}"/>
              </a:ext>
            </a:extLst>
          </p:cNvPr>
          <p:cNvSpPr>
            <a:spLocks noChangeArrowheads="1"/>
          </p:cNvSpPr>
          <p:nvPr/>
        </p:nvSpPr>
        <p:spPr bwMode="auto">
          <a:xfrm>
            <a:off x="428263" y="1783431"/>
            <a:ext cx="10832337" cy="4549717"/>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defRPr/>
            </a:pPr>
            <a:endParaRPr lang="en-US">
              <a:latin typeface="Roboto" panose="02000000000000000000" pitchFamily="2" charset="0"/>
              <a:ea typeface="Roboto" panose="02000000000000000000" pitchFamily="2" charset="0"/>
            </a:endParaRPr>
          </a:p>
        </p:txBody>
      </p:sp>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fr-FR" sz="4000" dirty="0">
                <a:solidFill>
                  <a:schemeClr val="bg2">
                    <a:lumMod val="10000"/>
                  </a:schemeClr>
                </a:solidFill>
                <a:latin typeface="Roboto Medium"/>
                <a:ea typeface="Roboto Medium"/>
                <a:cs typeface="Roboto Medium"/>
              </a:rPr>
              <a:t>MME Possible Future VSM </a:t>
            </a:r>
            <a:r>
              <a:rPr lang="fr-FR" sz="4000" dirty="0" err="1">
                <a:solidFill>
                  <a:schemeClr val="bg2">
                    <a:lumMod val="10000"/>
                  </a:schemeClr>
                </a:solidFill>
                <a:latin typeface="Roboto Medium"/>
                <a:ea typeface="Roboto Medium"/>
                <a:cs typeface="Roboto Medium"/>
              </a:rPr>
              <a:t>Revision</a:t>
            </a:r>
            <a:r>
              <a:rPr lang="fr-FR" sz="4000" dirty="0">
                <a:solidFill>
                  <a:schemeClr val="bg2">
                    <a:lumMod val="10000"/>
                  </a:schemeClr>
                </a:solidFill>
                <a:latin typeface="Roboto Medium"/>
                <a:ea typeface="Roboto Medium"/>
                <a:cs typeface="Roboto Medium"/>
              </a:rPr>
              <a:t> Cycles</a:t>
            </a:r>
            <a:endParaRPr lang="en-US" sz="4000" dirty="0">
              <a:solidFill>
                <a:schemeClr val="bg2">
                  <a:lumMod val="10000"/>
                </a:schemeClr>
              </a:solidFill>
              <a:latin typeface="Roboto Medium"/>
              <a:ea typeface="Roboto Medium"/>
              <a:cs typeface="Roboto Medium"/>
            </a:endParaRP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161</a:t>
            </a:fld>
            <a:endParaRPr lang="en-US"/>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49" name="Group 11">
            <a:extLst>
              <a:ext uri="{FF2B5EF4-FFF2-40B4-BE49-F238E27FC236}">
                <a16:creationId xmlns:a16="http://schemas.microsoft.com/office/drawing/2014/main" id="{090CADD8-02CE-51A6-4417-365B82BA87E1}"/>
              </a:ext>
            </a:extLst>
          </p:cNvPr>
          <p:cNvGrpSpPr>
            <a:grpSpLocks/>
          </p:cNvGrpSpPr>
          <p:nvPr/>
        </p:nvGrpSpPr>
        <p:grpSpPr bwMode="auto">
          <a:xfrm>
            <a:off x="9010093" y="2326029"/>
            <a:ext cx="1030891" cy="542598"/>
            <a:chOff x="536" y="1322"/>
            <a:chExt cx="446" cy="348"/>
          </a:xfrm>
        </p:grpSpPr>
        <p:sp>
          <p:nvSpPr>
            <p:cNvPr id="51" name="Rectangle 12">
              <a:extLst>
                <a:ext uri="{FF2B5EF4-FFF2-40B4-BE49-F238E27FC236}">
                  <a16:creationId xmlns:a16="http://schemas.microsoft.com/office/drawing/2014/main" id="{3ABAF6FF-ECD6-841D-31C9-901EDB9269EC}"/>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Rectangle 13">
              <a:extLst>
                <a:ext uri="{FF2B5EF4-FFF2-40B4-BE49-F238E27FC236}">
                  <a16:creationId xmlns:a16="http://schemas.microsoft.com/office/drawing/2014/main" id="{4AB5E114-DE84-A795-FDF9-EFC0F048DD3F}"/>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Ed’s Electrical Supply</a:t>
              </a:r>
            </a:p>
          </p:txBody>
        </p:sp>
        <p:sp>
          <p:nvSpPr>
            <p:cNvPr id="53" name="AutoShape 14">
              <a:extLst>
                <a:ext uri="{FF2B5EF4-FFF2-40B4-BE49-F238E27FC236}">
                  <a16:creationId xmlns:a16="http://schemas.microsoft.com/office/drawing/2014/main" id="{B0917ADA-14C8-17E4-0E64-794AD2941DE9}"/>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AutoShape 15">
              <a:extLst>
                <a:ext uri="{FF2B5EF4-FFF2-40B4-BE49-F238E27FC236}">
                  <a16:creationId xmlns:a16="http://schemas.microsoft.com/office/drawing/2014/main" id="{9D162314-CA46-4706-4921-3C5A00461585}"/>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AutoShape 16">
              <a:extLst>
                <a:ext uri="{FF2B5EF4-FFF2-40B4-BE49-F238E27FC236}">
                  <a16:creationId xmlns:a16="http://schemas.microsoft.com/office/drawing/2014/main" id="{AD7DD5FE-0DA5-000F-FB8F-0CCF73A9AC7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6" name="Rectangle 17">
              <a:extLst>
                <a:ext uri="{FF2B5EF4-FFF2-40B4-BE49-F238E27FC236}">
                  <a16:creationId xmlns:a16="http://schemas.microsoft.com/office/drawing/2014/main" id="{EE915D75-1E9B-4B28-787A-66EAA3FE02E5}"/>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18">
              <a:extLst>
                <a:ext uri="{FF2B5EF4-FFF2-40B4-BE49-F238E27FC236}">
                  <a16:creationId xmlns:a16="http://schemas.microsoft.com/office/drawing/2014/main" id="{D9F67599-AEB7-1A80-151F-874C4DCE37DB}"/>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Rectangle 19">
              <a:extLst>
                <a:ext uri="{FF2B5EF4-FFF2-40B4-BE49-F238E27FC236}">
                  <a16:creationId xmlns:a16="http://schemas.microsoft.com/office/drawing/2014/main" id="{16AA479B-08A4-9045-8058-04C435511D25}"/>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39" name="Group 38">
            <a:extLst>
              <a:ext uri="{FF2B5EF4-FFF2-40B4-BE49-F238E27FC236}">
                <a16:creationId xmlns:a16="http://schemas.microsoft.com/office/drawing/2014/main" id="{98B8F9BB-0040-6851-C14B-C7923F4197D5}"/>
              </a:ext>
            </a:extLst>
          </p:cNvPr>
          <p:cNvGrpSpPr/>
          <p:nvPr/>
        </p:nvGrpSpPr>
        <p:grpSpPr>
          <a:xfrm>
            <a:off x="9115616" y="4178350"/>
            <a:ext cx="1065390" cy="569105"/>
            <a:chOff x="9115616" y="4178350"/>
            <a:chExt cx="1065390" cy="569105"/>
          </a:xfrm>
        </p:grpSpPr>
        <p:sp>
          <p:nvSpPr>
            <p:cNvPr id="19" name="Rectangle 7">
              <a:extLst>
                <a:ext uri="{FF2B5EF4-FFF2-40B4-BE49-F238E27FC236}">
                  <a16:creationId xmlns:a16="http://schemas.microsoft.com/office/drawing/2014/main" id="{3C7DFC17-5E96-2207-081F-B0FC92AF12F6}"/>
                </a:ext>
              </a:extLst>
            </p:cNvPr>
            <p:cNvSpPr>
              <a:spLocks noChangeArrowheads="1"/>
            </p:cNvSpPr>
            <p:nvPr/>
          </p:nvSpPr>
          <p:spPr bwMode="auto">
            <a:xfrm>
              <a:off x="9115616"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Ship</a:t>
              </a:r>
            </a:p>
          </p:txBody>
        </p:sp>
        <p:sp>
          <p:nvSpPr>
            <p:cNvPr id="47" name="Line 8">
              <a:extLst>
                <a:ext uri="{FF2B5EF4-FFF2-40B4-BE49-F238E27FC236}">
                  <a16:creationId xmlns:a16="http://schemas.microsoft.com/office/drawing/2014/main" id="{64783A70-9F36-09C5-DA32-2265C58C4096}"/>
                </a:ext>
              </a:extLst>
            </p:cNvPr>
            <p:cNvSpPr>
              <a:spLocks noChangeShapeType="1"/>
            </p:cNvSpPr>
            <p:nvPr/>
          </p:nvSpPr>
          <p:spPr bwMode="auto">
            <a:xfrm>
              <a:off x="9115616"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59" name="Text Box 21">
            <a:extLst>
              <a:ext uri="{FF2B5EF4-FFF2-40B4-BE49-F238E27FC236}">
                <a16:creationId xmlns:a16="http://schemas.microsoft.com/office/drawing/2014/main" id="{43ED8D4F-BFF1-13CC-966D-4EFA6ED7B585}"/>
              </a:ext>
            </a:extLst>
          </p:cNvPr>
          <p:cNvSpPr txBox="1">
            <a:spLocks noChangeArrowheads="1"/>
          </p:cNvSpPr>
          <p:nvPr/>
        </p:nvSpPr>
        <p:spPr bwMode="auto">
          <a:xfrm>
            <a:off x="4656343" y="1887897"/>
            <a:ext cx="28793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400" dirty="0">
                <a:solidFill>
                  <a:schemeClr val="tx1"/>
                </a:solidFill>
                <a:latin typeface="Roboto" panose="02000000000000000000" pitchFamily="2" charset="0"/>
                <a:ea typeface="Roboto" panose="02000000000000000000" pitchFamily="2" charset="0"/>
              </a:rPr>
              <a:t>Mike</a:t>
            </a:r>
            <a:r>
              <a:rPr lang="ja-JP" altLang="en-US" sz="1400" dirty="0">
                <a:solidFill>
                  <a:schemeClr val="tx1"/>
                </a:solidFill>
                <a:latin typeface="Roboto" panose="02000000000000000000" pitchFamily="2" charset="0"/>
              </a:rPr>
              <a:t>’</a:t>
            </a:r>
            <a:r>
              <a:rPr lang="en-US" altLang="ja-JP" sz="1400" dirty="0">
                <a:solidFill>
                  <a:schemeClr val="tx1"/>
                </a:solidFill>
                <a:latin typeface="Roboto" panose="02000000000000000000" pitchFamily="2" charset="0"/>
                <a:ea typeface="Roboto" panose="02000000000000000000" pitchFamily="2" charset="0"/>
              </a:rPr>
              <a:t>s Metal Enclosures (MME)</a:t>
            </a:r>
            <a:endParaRPr lang="en-US" altLang="en-US" sz="1400" dirty="0">
              <a:solidFill>
                <a:schemeClr val="tx1"/>
              </a:solidFill>
              <a:latin typeface="Roboto" panose="02000000000000000000" pitchFamily="2" charset="0"/>
              <a:ea typeface="Roboto" panose="02000000000000000000" pitchFamily="2" charset="0"/>
            </a:endParaRPr>
          </a:p>
        </p:txBody>
      </p:sp>
      <p:sp>
        <p:nvSpPr>
          <p:cNvPr id="60" name="Text Box 22">
            <a:extLst>
              <a:ext uri="{FF2B5EF4-FFF2-40B4-BE49-F238E27FC236}">
                <a16:creationId xmlns:a16="http://schemas.microsoft.com/office/drawing/2014/main" id="{DFEE3C5F-2416-59B9-5FC1-E8FB0C77B923}"/>
              </a:ext>
            </a:extLst>
          </p:cNvPr>
          <p:cNvSpPr txBox="1">
            <a:spLocks noChangeArrowheads="1"/>
          </p:cNvSpPr>
          <p:nvPr/>
        </p:nvSpPr>
        <p:spPr bwMode="auto">
          <a:xfrm>
            <a:off x="9971986" y="2474153"/>
            <a:ext cx="14509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58738" indent="-58738">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Demand = 30,000 Enclosures/month</a:t>
            </a:r>
          </a:p>
          <a:p>
            <a:pPr algn="l">
              <a:lnSpc>
                <a:spcPct val="100000"/>
              </a:lnSpc>
              <a:spcBef>
                <a:spcPct val="0"/>
              </a:spcBef>
              <a:buFontTx/>
              <a:buChar char="•"/>
            </a:pPr>
            <a:r>
              <a:rPr lang="en-US" altLang="en-US" sz="800" b="0" dirty="0">
                <a:solidFill>
                  <a:schemeClr val="tx1"/>
                </a:solidFill>
                <a:latin typeface="Roboto" panose="02000000000000000000" pitchFamily="2" charset="0"/>
                <a:ea typeface="Roboto" panose="02000000000000000000" pitchFamily="2" charset="0"/>
              </a:rPr>
              <a:t>1 Shift</a:t>
            </a:r>
          </a:p>
        </p:txBody>
      </p:sp>
      <p:grpSp>
        <p:nvGrpSpPr>
          <p:cNvPr id="27" name="Group 26">
            <a:extLst>
              <a:ext uri="{FF2B5EF4-FFF2-40B4-BE49-F238E27FC236}">
                <a16:creationId xmlns:a16="http://schemas.microsoft.com/office/drawing/2014/main" id="{9ABE4D39-E1A3-B1AD-CD85-827A505A2066}"/>
              </a:ext>
            </a:extLst>
          </p:cNvPr>
          <p:cNvGrpSpPr/>
          <p:nvPr/>
        </p:nvGrpSpPr>
        <p:grpSpPr>
          <a:xfrm>
            <a:off x="7545084" y="2921384"/>
            <a:ext cx="1776413" cy="582613"/>
            <a:chOff x="7545084" y="2921384"/>
            <a:chExt cx="1776413" cy="582613"/>
          </a:xfrm>
        </p:grpSpPr>
        <p:grpSp>
          <p:nvGrpSpPr>
            <p:cNvPr id="21" name="Group 29">
              <a:extLst>
                <a:ext uri="{FF2B5EF4-FFF2-40B4-BE49-F238E27FC236}">
                  <a16:creationId xmlns:a16="http://schemas.microsoft.com/office/drawing/2014/main" id="{D765B621-C4F4-B861-F98B-7A6B47CE8644}"/>
                </a:ext>
              </a:extLst>
            </p:cNvPr>
            <p:cNvGrpSpPr>
              <a:grpSpLocks/>
            </p:cNvGrpSpPr>
            <p:nvPr/>
          </p:nvGrpSpPr>
          <p:grpSpPr bwMode="auto">
            <a:xfrm>
              <a:off x="7545084" y="2921384"/>
              <a:ext cx="1655763" cy="582613"/>
              <a:chOff x="3444" y="1578"/>
              <a:chExt cx="1043" cy="367"/>
            </a:xfrm>
          </p:grpSpPr>
          <p:sp>
            <p:nvSpPr>
              <p:cNvPr id="22" name="Rectangle 30">
                <a:extLst>
                  <a:ext uri="{FF2B5EF4-FFF2-40B4-BE49-F238E27FC236}">
                    <a16:creationId xmlns:a16="http://schemas.microsoft.com/office/drawing/2014/main" id="{651377D9-34B1-CB0A-1DC3-1F06E57DF267}"/>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endParaRPr lang="en-US" altLang="en-US">
                  <a:latin typeface="Roboto" panose="02000000000000000000" pitchFamily="2" charset="0"/>
                  <a:ea typeface="Roboto" panose="02000000000000000000" pitchFamily="2" charset="0"/>
                </a:endParaRPr>
              </a:p>
            </p:txBody>
          </p:sp>
          <p:sp>
            <p:nvSpPr>
              <p:cNvPr id="23" name="Text Box 31">
                <a:extLst>
                  <a:ext uri="{FF2B5EF4-FFF2-40B4-BE49-F238E27FC236}">
                    <a16:creationId xmlns:a16="http://schemas.microsoft.com/office/drawing/2014/main" id="{ED99F000-29C2-2BF0-5544-11C1B1515F40}"/>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27,000 Seconds</a:t>
                </a:r>
              </a:p>
              <a:p>
                <a:pPr algn="ctr">
                  <a:lnSpc>
                    <a:spcPct val="100000"/>
                  </a:lnSpc>
                  <a:spcBef>
                    <a:spcPct val="35000"/>
                  </a:spcBef>
                </a:pPr>
                <a:r>
                  <a:rPr lang="en-US" altLang="en-US" sz="800" b="0">
                    <a:solidFill>
                      <a:schemeClr val="tx1"/>
                    </a:solidFill>
                    <a:latin typeface="Roboto" panose="02000000000000000000" pitchFamily="2" charset="0"/>
                    <a:ea typeface="Roboto" panose="02000000000000000000" pitchFamily="2" charset="0"/>
                  </a:rPr>
                  <a:t>1,500 Pieces</a:t>
                </a:r>
              </a:p>
            </p:txBody>
          </p:sp>
          <p:sp>
            <p:nvSpPr>
              <p:cNvPr id="24" name="Line 32">
                <a:extLst>
                  <a:ext uri="{FF2B5EF4-FFF2-40B4-BE49-F238E27FC236}">
                    <a16:creationId xmlns:a16="http://schemas.microsoft.com/office/drawing/2014/main" id="{3002477E-C79B-3D3A-7A83-6DEAA1FE9282}"/>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pPr algn="ctr"/>
                <a:endParaRPr lang="en-US">
                  <a:latin typeface="Roboto" panose="02000000000000000000" pitchFamily="2" charset="0"/>
                  <a:ea typeface="Roboto" panose="02000000000000000000" pitchFamily="2" charset="0"/>
                </a:endParaRPr>
              </a:p>
            </p:txBody>
          </p:sp>
          <p:sp>
            <p:nvSpPr>
              <p:cNvPr id="25" name="Rectangle 33">
                <a:extLst>
                  <a:ext uri="{FF2B5EF4-FFF2-40B4-BE49-F238E27FC236}">
                    <a16:creationId xmlns:a16="http://schemas.microsoft.com/office/drawing/2014/main" id="{439CE5FE-FEFB-F834-6FF7-D080CEB3A187}"/>
                  </a:ext>
                </a:extLst>
              </p:cNvPr>
              <p:cNvSpPr>
                <a:spLocks noChangeArrowheads="1"/>
              </p:cNvSpPr>
              <p:nvPr/>
            </p:nvSpPr>
            <p:spPr bwMode="auto">
              <a:xfrm>
                <a:off x="3729" y="1578"/>
                <a:ext cx="52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a:solidFill>
                      <a:schemeClr val="tx1"/>
                    </a:solidFill>
                    <a:latin typeface="Roboto" panose="02000000000000000000" pitchFamily="2" charset="0"/>
                    <a:ea typeface="Roboto" panose="02000000000000000000" pitchFamily="2" charset="0"/>
                  </a:rPr>
                  <a:t>Takt Time</a:t>
                </a:r>
              </a:p>
            </p:txBody>
          </p:sp>
        </p:grpSp>
        <p:sp>
          <p:nvSpPr>
            <p:cNvPr id="26" name="Text Box 34">
              <a:extLst>
                <a:ext uri="{FF2B5EF4-FFF2-40B4-BE49-F238E27FC236}">
                  <a16:creationId xmlns:a16="http://schemas.microsoft.com/office/drawing/2014/main" id="{2FA39B36-0EBB-E863-1816-2CC87D5703BE}"/>
                </a:ext>
              </a:extLst>
            </p:cNvPr>
            <p:cNvSpPr txBox="1">
              <a:spLocks noChangeArrowheads="1"/>
            </p:cNvSpPr>
            <p:nvPr/>
          </p:nvSpPr>
          <p:spPr bwMode="auto">
            <a:xfrm>
              <a:off x="8381697" y="3185379"/>
              <a:ext cx="9398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800" b="0" dirty="0">
                  <a:solidFill>
                    <a:schemeClr val="accent1"/>
                  </a:solidFill>
                  <a:latin typeface="Roboto" panose="02000000000000000000" pitchFamily="2" charset="0"/>
                  <a:ea typeface="Roboto" panose="02000000000000000000" pitchFamily="2" charset="0"/>
                </a:rPr>
                <a:t>= </a:t>
              </a:r>
              <a:r>
                <a:rPr lang="en-US" altLang="en-US" sz="800" dirty="0">
                  <a:solidFill>
                    <a:schemeClr val="accent1"/>
                  </a:solidFill>
                  <a:latin typeface="Roboto" panose="02000000000000000000" pitchFamily="2" charset="0"/>
                  <a:ea typeface="Roboto" panose="02000000000000000000" pitchFamily="2" charset="0"/>
                </a:rPr>
                <a:t>18 seconds</a:t>
              </a:r>
            </a:p>
          </p:txBody>
        </p:sp>
      </p:grpSp>
      <p:grpSp>
        <p:nvGrpSpPr>
          <p:cNvPr id="33" name="Group 32">
            <a:extLst>
              <a:ext uri="{FF2B5EF4-FFF2-40B4-BE49-F238E27FC236}">
                <a16:creationId xmlns:a16="http://schemas.microsoft.com/office/drawing/2014/main" id="{92A7916F-E7B0-578E-4B5B-481EFEAC1E41}"/>
              </a:ext>
            </a:extLst>
          </p:cNvPr>
          <p:cNvGrpSpPr/>
          <p:nvPr/>
        </p:nvGrpSpPr>
        <p:grpSpPr>
          <a:xfrm>
            <a:off x="1634371" y="4178350"/>
            <a:ext cx="1065390" cy="569105"/>
            <a:chOff x="1634371" y="4178350"/>
            <a:chExt cx="1065390" cy="569105"/>
          </a:xfrm>
        </p:grpSpPr>
        <p:grpSp>
          <p:nvGrpSpPr>
            <p:cNvPr id="36" name="Group 35">
              <a:extLst>
                <a:ext uri="{FF2B5EF4-FFF2-40B4-BE49-F238E27FC236}">
                  <a16:creationId xmlns:a16="http://schemas.microsoft.com/office/drawing/2014/main" id="{11F856C1-BD56-6320-045D-DE01AFB69173}"/>
                </a:ext>
              </a:extLst>
            </p:cNvPr>
            <p:cNvGrpSpPr/>
            <p:nvPr/>
          </p:nvGrpSpPr>
          <p:grpSpPr>
            <a:xfrm>
              <a:off x="1634371" y="4178350"/>
              <a:ext cx="1065390" cy="569105"/>
              <a:chOff x="1634371" y="4178350"/>
              <a:chExt cx="1065390" cy="569105"/>
            </a:xfrm>
          </p:grpSpPr>
          <p:sp>
            <p:nvSpPr>
              <p:cNvPr id="34" name="Rectangle 7">
                <a:extLst>
                  <a:ext uri="{FF2B5EF4-FFF2-40B4-BE49-F238E27FC236}">
                    <a16:creationId xmlns:a16="http://schemas.microsoft.com/office/drawing/2014/main" id="{8EA13FBD-11CF-3860-27B2-A14E010F14D9}"/>
                  </a:ext>
                </a:extLst>
              </p:cNvPr>
              <p:cNvSpPr>
                <a:spLocks noChangeArrowheads="1"/>
              </p:cNvSpPr>
              <p:nvPr/>
            </p:nvSpPr>
            <p:spPr bwMode="auto">
              <a:xfrm>
                <a:off x="1634371"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Cut</a:t>
                </a:r>
              </a:p>
            </p:txBody>
          </p:sp>
          <p:sp>
            <p:nvSpPr>
              <p:cNvPr id="35" name="Line 8">
                <a:extLst>
                  <a:ext uri="{FF2B5EF4-FFF2-40B4-BE49-F238E27FC236}">
                    <a16:creationId xmlns:a16="http://schemas.microsoft.com/office/drawing/2014/main" id="{6434D757-F37E-6C1B-7A21-5ADD367493BC}"/>
                  </a:ext>
                </a:extLst>
              </p:cNvPr>
              <p:cNvSpPr>
                <a:spLocks noChangeShapeType="1"/>
              </p:cNvSpPr>
              <p:nvPr/>
            </p:nvSpPr>
            <p:spPr bwMode="auto">
              <a:xfrm>
                <a:off x="1634371"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grpSp>
        <p:grpSp>
          <p:nvGrpSpPr>
            <p:cNvPr id="70" name="Group 69">
              <a:extLst>
                <a:ext uri="{FF2B5EF4-FFF2-40B4-BE49-F238E27FC236}">
                  <a16:creationId xmlns:a16="http://schemas.microsoft.com/office/drawing/2014/main" id="{C488D217-5437-9846-6165-9AC5304A8457}"/>
                </a:ext>
              </a:extLst>
            </p:cNvPr>
            <p:cNvGrpSpPr/>
            <p:nvPr/>
          </p:nvGrpSpPr>
          <p:grpSpPr>
            <a:xfrm>
              <a:off x="1901304" y="4448391"/>
              <a:ext cx="540208" cy="230832"/>
              <a:chOff x="1881983" y="4479608"/>
              <a:chExt cx="540208" cy="230832"/>
            </a:xfrm>
          </p:grpSpPr>
          <p:sp>
            <p:nvSpPr>
              <p:cNvPr id="67" name="AutoShape 14">
                <a:extLst>
                  <a:ext uri="{FF2B5EF4-FFF2-40B4-BE49-F238E27FC236}">
                    <a16:creationId xmlns:a16="http://schemas.microsoft.com/office/drawing/2014/main" id="{C9B6C843-AD0A-BEDC-AFE3-72F7D3A593CF}"/>
                  </a:ext>
                </a:extLst>
              </p:cNvPr>
              <p:cNvSpPr>
                <a:spLocks noChangeArrowheads="1"/>
              </p:cNvSpPr>
              <p:nvPr/>
            </p:nvSpPr>
            <p:spPr bwMode="auto">
              <a:xfrm flipV="1">
                <a:off x="1881983" y="4482783"/>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8" name="Text Box 15">
                <a:extLst>
                  <a:ext uri="{FF2B5EF4-FFF2-40B4-BE49-F238E27FC236}">
                    <a16:creationId xmlns:a16="http://schemas.microsoft.com/office/drawing/2014/main" id="{A9922B8D-7A75-CF0C-8F4B-8D6341EF30CC}"/>
                  </a:ext>
                </a:extLst>
              </p:cNvPr>
              <p:cNvSpPr txBox="1">
                <a:spLocks noChangeArrowheads="1"/>
              </p:cNvSpPr>
              <p:nvPr/>
            </p:nvSpPr>
            <p:spPr bwMode="auto">
              <a:xfrm>
                <a:off x="2074019" y="4479608"/>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4</a:t>
                </a:r>
              </a:p>
            </p:txBody>
          </p:sp>
          <p:sp>
            <p:nvSpPr>
              <p:cNvPr id="69" name="Oval 13">
                <a:extLst>
                  <a:ext uri="{FF2B5EF4-FFF2-40B4-BE49-F238E27FC236}">
                    <a16:creationId xmlns:a16="http://schemas.microsoft.com/office/drawing/2014/main" id="{2C074AA2-CFB7-A15D-3B03-A3A73B85EA16}"/>
                  </a:ext>
                </a:extLst>
              </p:cNvPr>
              <p:cNvSpPr>
                <a:spLocks noChangeArrowheads="1"/>
              </p:cNvSpPr>
              <p:nvPr/>
            </p:nvSpPr>
            <p:spPr bwMode="auto">
              <a:xfrm flipV="1">
                <a:off x="1928071" y="4528580"/>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sp>
        <p:nvSpPr>
          <p:cNvPr id="79" name="Rectangle 18">
            <a:extLst>
              <a:ext uri="{FF2B5EF4-FFF2-40B4-BE49-F238E27FC236}">
                <a16:creationId xmlns:a16="http://schemas.microsoft.com/office/drawing/2014/main" id="{7F34AB1D-464F-E612-AAD2-E96D2D24F5C6}"/>
              </a:ext>
            </a:extLst>
          </p:cNvPr>
          <p:cNvSpPr>
            <a:spLocks noChangeArrowheads="1"/>
          </p:cNvSpPr>
          <p:nvPr/>
        </p:nvSpPr>
        <p:spPr bwMode="auto">
          <a:xfrm>
            <a:off x="1622850"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DOI = 12</a:t>
            </a:r>
            <a:r>
              <a:rPr lang="ja-JP" sz="800" b="0" kern="1200" dirty="0">
                <a:solidFill>
                  <a:srgbClr val="000000"/>
                </a:solidFill>
                <a:effectLst/>
                <a:latin typeface="Roboto" panose="02000000000000000000" pitchFamily="2" charset="0"/>
                <a:ea typeface="Arial" panose="020B0604020202020204" pitchFamily="34" charset="0"/>
              </a:rPr>
              <a:t> </a:t>
            </a:r>
            <a:r>
              <a:rPr lang="en-US" sz="800" b="0" kern="1200" dirty="0">
                <a:solidFill>
                  <a:srgbClr val="000000"/>
                </a:solidFill>
                <a:effectLst/>
                <a:latin typeface="Roboto" panose="02000000000000000000" pitchFamily="2" charset="0"/>
                <a:ea typeface="Roboto" panose="02000000000000000000" pitchFamily="2" charset="0"/>
              </a:rPr>
              <a:t>S</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C/O Time =30 M</a:t>
            </a:r>
            <a:r>
              <a:rPr lang="ja-JP" sz="800" b="0" kern="1200" dirty="0">
                <a:solidFill>
                  <a:srgbClr val="000000"/>
                </a:solidFill>
                <a:effectLst/>
                <a:latin typeface="Roboto" panose="02000000000000000000" pitchFamily="2" charset="0"/>
                <a:ea typeface="Arial" panose="020B0604020202020204" pitchFamily="34" charset="0"/>
              </a:rPr>
              <a:t>’</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Uptime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rgbClr val="000000"/>
                </a:solidFill>
                <a:effectLst/>
                <a:latin typeface="Roboto" panose="02000000000000000000" pitchFamily="2" charset="0"/>
                <a:ea typeface="Roboto" panose="02000000000000000000" pitchFamily="2" charset="0"/>
              </a:rPr>
              <a:t>Quality = 99%</a:t>
            </a:r>
            <a:endParaRPr lang="en-US" sz="800" dirty="0">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dirty="0">
                <a:solidFill>
                  <a:srgbClr val="000000"/>
                </a:solidFill>
                <a:latin typeface="Roboto" panose="02000000000000000000" pitchFamily="2" charset="0"/>
                <a:ea typeface="Roboto" panose="02000000000000000000" pitchFamily="2" charset="0"/>
              </a:rPr>
              <a:t>4</a:t>
            </a:r>
            <a:r>
              <a:rPr lang="en-US" sz="800" b="0" kern="1200" dirty="0">
                <a:solidFill>
                  <a:srgbClr val="000000"/>
                </a:solidFill>
                <a:effectLst/>
                <a:latin typeface="Roboto" panose="02000000000000000000" pitchFamily="2" charset="0"/>
                <a:ea typeface="Roboto" panose="02000000000000000000" pitchFamily="2" charset="0"/>
              </a:rPr>
              <a:t> Machines</a:t>
            </a:r>
            <a:endParaRPr lang="en-US" sz="800" dirty="0">
              <a:effectLst/>
              <a:latin typeface="Roboto" panose="02000000000000000000" pitchFamily="2" charset="0"/>
              <a:ea typeface="Roboto" panose="02000000000000000000" pitchFamily="2" charset="0"/>
            </a:endParaRPr>
          </a:p>
        </p:txBody>
      </p:sp>
      <p:sp>
        <p:nvSpPr>
          <p:cNvPr id="83" name="Rectangle 88">
            <a:extLst>
              <a:ext uri="{FF2B5EF4-FFF2-40B4-BE49-F238E27FC236}">
                <a16:creationId xmlns:a16="http://schemas.microsoft.com/office/drawing/2014/main" id="{874B33E2-2326-685A-21AA-5F171555CF7C}"/>
              </a:ext>
            </a:extLst>
          </p:cNvPr>
          <p:cNvSpPr>
            <a:spLocks noChangeArrowheads="1"/>
          </p:cNvSpPr>
          <p:nvPr/>
        </p:nvSpPr>
        <p:spPr bwMode="auto">
          <a:xfrm>
            <a:off x="590264" y="4902112"/>
            <a:ext cx="873125" cy="336550"/>
          </a:xfrm>
          <a:prstGeom prst="rect">
            <a:avLst/>
          </a:prstGeom>
          <a:solidFill>
            <a:schemeClr val="accent2"/>
          </a:solidFill>
          <a:ln>
            <a:no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US" altLang="en-US" sz="800" b="0" dirty="0">
                <a:solidFill>
                  <a:schemeClr val="tx1"/>
                </a:solidFill>
                <a:latin typeface="Roboto" panose="02000000000000000000" pitchFamily="2" charset="0"/>
                <a:ea typeface="Roboto" panose="02000000000000000000" pitchFamily="2" charset="0"/>
              </a:rPr>
              <a:t>1 sheet yields 4 pieces</a:t>
            </a:r>
            <a:r>
              <a:rPr lang="en-US" altLang="en-US" sz="800" b="0" dirty="0">
                <a:solidFill>
                  <a:srgbClr val="FF0000"/>
                </a:solidFill>
                <a:latin typeface="Roboto" panose="02000000000000000000" pitchFamily="2" charset="0"/>
                <a:ea typeface="Roboto" panose="02000000000000000000" pitchFamily="2" charset="0"/>
              </a:rPr>
              <a:t> </a:t>
            </a:r>
          </a:p>
        </p:txBody>
      </p:sp>
      <p:sp>
        <p:nvSpPr>
          <p:cNvPr id="84" name="Line 4">
            <a:extLst>
              <a:ext uri="{FF2B5EF4-FFF2-40B4-BE49-F238E27FC236}">
                <a16:creationId xmlns:a16="http://schemas.microsoft.com/office/drawing/2014/main" id="{E5597876-85A0-2C0C-1DEA-6F567606F3D4}"/>
              </a:ext>
            </a:extLst>
          </p:cNvPr>
          <p:cNvSpPr>
            <a:spLocks noChangeShapeType="1"/>
          </p:cNvSpPr>
          <p:nvPr/>
        </p:nvSpPr>
        <p:spPr bwMode="auto">
          <a:xfrm flipH="1" flipV="1">
            <a:off x="9564094" y="2896693"/>
            <a:ext cx="2029" cy="1273859"/>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5" name="Rectangle 25">
            <a:extLst>
              <a:ext uri="{FF2B5EF4-FFF2-40B4-BE49-F238E27FC236}">
                <a16:creationId xmlns:a16="http://schemas.microsoft.com/office/drawing/2014/main" id="{42C61DCB-746C-D566-682D-05A618CBCEDE}"/>
              </a:ext>
            </a:extLst>
          </p:cNvPr>
          <p:cNvSpPr>
            <a:spLocks noChangeArrowheads="1"/>
          </p:cNvSpPr>
          <p:nvPr/>
        </p:nvSpPr>
        <p:spPr bwMode="auto">
          <a:xfrm>
            <a:off x="9275933" y="3581178"/>
            <a:ext cx="471300" cy="27632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dirty="0">
                <a:solidFill>
                  <a:schemeClr val="tx1"/>
                </a:solidFill>
                <a:latin typeface="Roboto" panose="02000000000000000000" pitchFamily="2" charset="0"/>
                <a:ea typeface="Roboto" panose="02000000000000000000" pitchFamily="2" charset="0"/>
              </a:rPr>
              <a:t>Daily</a:t>
            </a:r>
          </a:p>
        </p:txBody>
      </p:sp>
      <p:sp>
        <p:nvSpPr>
          <p:cNvPr id="86" name="Rectangle 26">
            <a:extLst>
              <a:ext uri="{FF2B5EF4-FFF2-40B4-BE49-F238E27FC236}">
                <a16:creationId xmlns:a16="http://schemas.microsoft.com/office/drawing/2014/main" id="{BF3F2FB0-2F05-E2D3-F5DC-482ABAB179DE}"/>
              </a:ext>
            </a:extLst>
          </p:cNvPr>
          <p:cNvSpPr>
            <a:spLocks noChangeArrowheads="1"/>
          </p:cNvSpPr>
          <p:nvPr/>
        </p:nvSpPr>
        <p:spPr bwMode="auto">
          <a:xfrm>
            <a:off x="9750529" y="3672818"/>
            <a:ext cx="209283" cy="184689"/>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7" name="Oval 27">
            <a:extLst>
              <a:ext uri="{FF2B5EF4-FFF2-40B4-BE49-F238E27FC236}">
                <a16:creationId xmlns:a16="http://schemas.microsoft.com/office/drawing/2014/main" id="{BA2859E2-F4AB-2A6F-D93E-EFA030196928}"/>
              </a:ext>
            </a:extLst>
          </p:cNvPr>
          <p:cNvSpPr>
            <a:spLocks noChangeArrowheads="1"/>
          </p:cNvSpPr>
          <p:nvPr/>
        </p:nvSpPr>
        <p:spPr bwMode="auto">
          <a:xfrm>
            <a:off x="97999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88" name="Oval 28">
            <a:extLst>
              <a:ext uri="{FF2B5EF4-FFF2-40B4-BE49-F238E27FC236}">
                <a16:creationId xmlns:a16="http://schemas.microsoft.com/office/drawing/2014/main" id="{1444BA0C-4C71-F79E-67A7-30E91A4384CE}"/>
              </a:ext>
            </a:extLst>
          </p:cNvPr>
          <p:cNvSpPr>
            <a:spLocks noChangeArrowheads="1"/>
          </p:cNvSpPr>
          <p:nvPr/>
        </p:nvSpPr>
        <p:spPr bwMode="auto">
          <a:xfrm>
            <a:off x="9328666" y="3857507"/>
            <a:ext cx="103818" cy="91640"/>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117" name="Group 54">
            <a:extLst>
              <a:ext uri="{FF2B5EF4-FFF2-40B4-BE49-F238E27FC236}">
                <a16:creationId xmlns:a16="http://schemas.microsoft.com/office/drawing/2014/main" id="{14EB822D-507D-1182-B4C9-6CB930593FB0}"/>
              </a:ext>
            </a:extLst>
          </p:cNvPr>
          <p:cNvGrpSpPr>
            <a:grpSpLocks/>
          </p:cNvGrpSpPr>
          <p:nvPr/>
        </p:nvGrpSpPr>
        <p:grpSpPr bwMode="auto">
          <a:xfrm>
            <a:off x="625981" y="2326029"/>
            <a:ext cx="806450" cy="1952625"/>
            <a:chOff x="429" y="1247"/>
            <a:chExt cx="508" cy="1230"/>
          </a:xfrm>
        </p:grpSpPr>
        <p:sp>
          <p:nvSpPr>
            <p:cNvPr id="118" name="Line 55">
              <a:extLst>
                <a:ext uri="{FF2B5EF4-FFF2-40B4-BE49-F238E27FC236}">
                  <a16:creationId xmlns:a16="http://schemas.microsoft.com/office/drawing/2014/main" id="{AC739B2C-6A4B-EABE-B106-77E01AE42A0C}"/>
                </a:ext>
              </a:extLst>
            </p:cNvPr>
            <p:cNvSpPr>
              <a:spLocks noChangeShapeType="1"/>
            </p:cNvSpPr>
            <p:nvPr/>
          </p:nvSpPr>
          <p:spPr bwMode="auto">
            <a:xfrm>
              <a:off x="678" y="1602"/>
              <a:ext cx="5" cy="875"/>
            </a:xfrm>
            <a:prstGeom prst="line">
              <a:avLst/>
            </a:prstGeom>
            <a:noFill/>
            <a:ln w="50800" cmpd="dbl">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27" name="Group 57">
              <a:extLst>
                <a:ext uri="{FF2B5EF4-FFF2-40B4-BE49-F238E27FC236}">
                  <a16:creationId xmlns:a16="http://schemas.microsoft.com/office/drawing/2014/main" id="{5EBA4F16-F2D0-9A4C-5D8D-E5C13565D5B7}"/>
                </a:ext>
              </a:extLst>
            </p:cNvPr>
            <p:cNvGrpSpPr>
              <a:grpSpLocks/>
            </p:cNvGrpSpPr>
            <p:nvPr/>
          </p:nvGrpSpPr>
          <p:grpSpPr bwMode="auto">
            <a:xfrm>
              <a:off x="429" y="1247"/>
              <a:ext cx="508" cy="348"/>
              <a:chOff x="536" y="1322"/>
              <a:chExt cx="446" cy="348"/>
            </a:xfrm>
          </p:grpSpPr>
          <p:sp>
            <p:nvSpPr>
              <p:cNvPr id="129" name="Rectangle 58">
                <a:extLst>
                  <a:ext uri="{FF2B5EF4-FFF2-40B4-BE49-F238E27FC236}">
                    <a16:creationId xmlns:a16="http://schemas.microsoft.com/office/drawing/2014/main" id="{577B0BE6-674F-1C54-A76A-C3758AAC56A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0" name="Rectangle 59">
                <a:extLst>
                  <a:ext uri="{FF2B5EF4-FFF2-40B4-BE49-F238E27FC236}">
                    <a16:creationId xmlns:a16="http://schemas.microsoft.com/office/drawing/2014/main" id="{612A185B-285E-E22D-4117-54DF5FF85DC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Acme</a:t>
                </a:r>
              </a:p>
              <a:p>
                <a:pPr algn="ctr">
                  <a:lnSpc>
                    <a:spcPct val="100000"/>
                  </a:lnSpc>
                  <a:spcBef>
                    <a:spcPct val="0"/>
                  </a:spcBef>
                </a:pPr>
                <a:r>
                  <a:rPr lang="en-US" altLang="en-US" sz="700" b="0" dirty="0">
                    <a:solidFill>
                      <a:schemeClr val="tx1"/>
                    </a:solidFill>
                    <a:latin typeface="Roboto" panose="02000000000000000000" pitchFamily="2" charset="0"/>
                    <a:ea typeface="Roboto" panose="02000000000000000000" pitchFamily="2" charset="0"/>
                  </a:rPr>
                  <a:t>Sheet Metal Co.</a:t>
                </a:r>
              </a:p>
            </p:txBody>
          </p:sp>
          <p:sp>
            <p:nvSpPr>
              <p:cNvPr id="131" name="AutoShape 60">
                <a:extLst>
                  <a:ext uri="{FF2B5EF4-FFF2-40B4-BE49-F238E27FC236}">
                    <a16:creationId xmlns:a16="http://schemas.microsoft.com/office/drawing/2014/main" id="{79581731-710E-7E2B-63A8-1131B550ECCA}"/>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2" name="AutoShape 61">
                <a:extLst>
                  <a:ext uri="{FF2B5EF4-FFF2-40B4-BE49-F238E27FC236}">
                    <a16:creationId xmlns:a16="http://schemas.microsoft.com/office/drawing/2014/main" id="{3331C6AC-7FEC-7010-49F8-00F3EA77D4A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3" name="AutoShape 62">
                <a:extLst>
                  <a:ext uri="{FF2B5EF4-FFF2-40B4-BE49-F238E27FC236}">
                    <a16:creationId xmlns:a16="http://schemas.microsoft.com/office/drawing/2014/main" id="{75513C0B-346A-4028-7F44-A2691B0568A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4" name="Rectangle 63">
                <a:extLst>
                  <a:ext uri="{FF2B5EF4-FFF2-40B4-BE49-F238E27FC236}">
                    <a16:creationId xmlns:a16="http://schemas.microsoft.com/office/drawing/2014/main" id="{2094A914-9344-5A49-E9A7-71ED64F8EC7E}"/>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5" name="Rectangle 64">
                <a:extLst>
                  <a:ext uri="{FF2B5EF4-FFF2-40B4-BE49-F238E27FC236}">
                    <a16:creationId xmlns:a16="http://schemas.microsoft.com/office/drawing/2014/main" id="{A5F95640-D056-76F6-FAC5-CBCDF3C4666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6" name="Rectangle 65">
                <a:extLst>
                  <a:ext uri="{FF2B5EF4-FFF2-40B4-BE49-F238E27FC236}">
                    <a16:creationId xmlns:a16="http://schemas.microsoft.com/office/drawing/2014/main" id="{629B9764-D83E-A086-DBC8-2F7C90EA316F}"/>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21" name="Group 68">
              <a:extLst>
                <a:ext uri="{FF2B5EF4-FFF2-40B4-BE49-F238E27FC236}">
                  <a16:creationId xmlns:a16="http://schemas.microsoft.com/office/drawing/2014/main" id="{2281B966-782E-4740-EFE0-095D2245B305}"/>
                </a:ext>
              </a:extLst>
            </p:cNvPr>
            <p:cNvGrpSpPr>
              <a:grpSpLocks/>
            </p:cNvGrpSpPr>
            <p:nvPr/>
          </p:nvGrpSpPr>
          <p:grpSpPr bwMode="auto">
            <a:xfrm>
              <a:off x="530" y="1926"/>
              <a:ext cx="337" cy="236"/>
              <a:chOff x="536" y="3744"/>
              <a:chExt cx="415" cy="261"/>
            </a:xfrm>
          </p:grpSpPr>
          <p:sp>
            <p:nvSpPr>
              <p:cNvPr id="123" name="Rectangle 69">
                <a:extLst>
                  <a:ext uri="{FF2B5EF4-FFF2-40B4-BE49-F238E27FC236}">
                    <a16:creationId xmlns:a16="http://schemas.microsoft.com/office/drawing/2014/main" id="{8206B4D0-BAF3-8A49-F448-B3DFC7E56655}"/>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1X</a:t>
                </a:r>
              </a:p>
              <a:p>
                <a:pPr algn="ctr">
                  <a:lnSpc>
                    <a:spcPct val="100000"/>
                  </a:lnSpc>
                  <a:spcBef>
                    <a:spcPct val="0"/>
                  </a:spcBef>
                </a:pPr>
                <a:r>
                  <a:rPr lang="en-US" altLang="en-US" sz="900" b="0" dirty="0">
                    <a:solidFill>
                      <a:schemeClr val="tx1"/>
                    </a:solidFill>
                    <a:latin typeface="Roboto" panose="02000000000000000000" pitchFamily="2" charset="0"/>
                    <a:ea typeface="Roboto" panose="02000000000000000000" pitchFamily="2" charset="0"/>
                  </a:rPr>
                  <a:t>Week</a:t>
                </a:r>
              </a:p>
            </p:txBody>
          </p:sp>
          <p:sp>
            <p:nvSpPr>
              <p:cNvPr id="124" name="Rectangle 70">
                <a:extLst>
                  <a:ext uri="{FF2B5EF4-FFF2-40B4-BE49-F238E27FC236}">
                    <a16:creationId xmlns:a16="http://schemas.microsoft.com/office/drawing/2014/main" id="{650827A0-508F-5D4E-FDD6-414A9CD063F4}"/>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5" name="Oval 71">
                <a:extLst>
                  <a:ext uri="{FF2B5EF4-FFF2-40B4-BE49-F238E27FC236}">
                    <a16:creationId xmlns:a16="http://schemas.microsoft.com/office/drawing/2014/main" id="{AD3CF5EE-8E15-4EE6-FE8A-FC5F54F906B7}"/>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26" name="Oval 72">
                <a:extLst>
                  <a:ext uri="{FF2B5EF4-FFF2-40B4-BE49-F238E27FC236}">
                    <a16:creationId xmlns:a16="http://schemas.microsoft.com/office/drawing/2014/main" id="{D4058AE6-ABD7-50E4-62C0-7F2BD5651E11}"/>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grpSp>
        <p:nvGrpSpPr>
          <p:cNvPr id="111" name="Group 110">
            <a:extLst>
              <a:ext uri="{FF2B5EF4-FFF2-40B4-BE49-F238E27FC236}">
                <a16:creationId xmlns:a16="http://schemas.microsoft.com/office/drawing/2014/main" id="{79164828-325F-D7D4-3100-8E9EE113C467}"/>
              </a:ext>
            </a:extLst>
          </p:cNvPr>
          <p:cNvGrpSpPr/>
          <p:nvPr/>
        </p:nvGrpSpPr>
        <p:grpSpPr>
          <a:xfrm>
            <a:off x="4723482" y="2372407"/>
            <a:ext cx="4362913" cy="1998661"/>
            <a:chOff x="3873501" y="2027239"/>
            <a:chExt cx="3160712" cy="1998661"/>
          </a:xfrm>
        </p:grpSpPr>
        <p:grpSp>
          <p:nvGrpSpPr>
            <p:cNvPr id="91" name="Group 114">
              <a:extLst>
                <a:ext uri="{FF2B5EF4-FFF2-40B4-BE49-F238E27FC236}">
                  <a16:creationId xmlns:a16="http://schemas.microsoft.com/office/drawing/2014/main" id="{8E9E4E61-0DBB-EFCE-636D-13900F3146E6}"/>
                </a:ext>
              </a:extLst>
            </p:cNvPr>
            <p:cNvGrpSpPr>
              <a:grpSpLocks/>
            </p:cNvGrpSpPr>
            <p:nvPr/>
          </p:nvGrpSpPr>
          <p:grpSpPr bwMode="auto">
            <a:xfrm>
              <a:off x="4840288" y="2206625"/>
              <a:ext cx="2109787" cy="260350"/>
              <a:chOff x="3049" y="1390"/>
              <a:chExt cx="1329" cy="164"/>
            </a:xfrm>
          </p:grpSpPr>
          <p:grpSp>
            <p:nvGrpSpPr>
              <p:cNvPr id="92" name="Group 115">
                <a:extLst>
                  <a:ext uri="{FF2B5EF4-FFF2-40B4-BE49-F238E27FC236}">
                    <a16:creationId xmlns:a16="http://schemas.microsoft.com/office/drawing/2014/main" id="{6257AE61-D157-D292-3794-7BC28AA3F8E2}"/>
                  </a:ext>
                </a:extLst>
              </p:cNvPr>
              <p:cNvGrpSpPr>
                <a:grpSpLocks/>
              </p:cNvGrpSpPr>
              <p:nvPr/>
            </p:nvGrpSpPr>
            <p:grpSpPr bwMode="auto">
              <a:xfrm>
                <a:off x="3049" y="1442"/>
                <a:ext cx="1329" cy="51"/>
                <a:chOff x="3049" y="1442"/>
                <a:chExt cx="1329" cy="51"/>
              </a:xfrm>
            </p:grpSpPr>
            <p:sp>
              <p:nvSpPr>
                <p:cNvPr id="94" name="Line 116">
                  <a:extLst>
                    <a:ext uri="{FF2B5EF4-FFF2-40B4-BE49-F238E27FC236}">
                      <a16:creationId xmlns:a16="http://schemas.microsoft.com/office/drawing/2014/main" id="{FAD68A75-21BC-C8E8-9178-785F4CD289B7}"/>
                    </a:ext>
                  </a:extLst>
                </p:cNvPr>
                <p:cNvSpPr>
                  <a:spLocks noChangeShapeType="1"/>
                </p:cNvSpPr>
                <p:nvPr/>
              </p:nvSpPr>
              <p:spPr bwMode="auto">
                <a:xfrm flipH="1">
                  <a:off x="3049" y="1442"/>
                  <a:ext cx="682"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5" name="Line 117">
                  <a:extLst>
                    <a:ext uri="{FF2B5EF4-FFF2-40B4-BE49-F238E27FC236}">
                      <a16:creationId xmlns:a16="http://schemas.microsoft.com/office/drawing/2014/main" id="{B9A15EFC-584F-5169-4859-CB2F2D5266E6}"/>
                    </a:ext>
                  </a:extLst>
                </p:cNvPr>
                <p:cNvSpPr>
                  <a:spLocks noChangeShapeType="1"/>
                </p:cNvSpPr>
                <p:nvPr/>
              </p:nvSpPr>
              <p:spPr bwMode="auto">
                <a:xfrm flipV="1">
                  <a:off x="3658" y="1488"/>
                  <a:ext cx="720" cy="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6" name="Line 118">
                  <a:extLst>
                    <a:ext uri="{FF2B5EF4-FFF2-40B4-BE49-F238E27FC236}">
                      <a16:creationId xmlns:a16="http://schemas.microsoft.com/office/drawing/2014/main" id="{AB05CA8B-655B-CC15-CC71-2C29FF8ED085}"/>
                    </a:ext>
                  </a:extLst>
                </p:cNvPr>
                <p:cNvSpPr>
                  <a:spLocks noChangeShapeType="1"/>
                </p:cNvSpPr>
                <p:nvPr/>
              </p:nvSpPr>
              <p:spPr bwMode="auto">
                <a:xfrm flipV="1">
                  <a:off x="3653" y="1450"/>
                  <a:ext cx="67" cy="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3" name="Rectangle 119">
                <a:extLst>
                  <a:ext uri="{FF2B5EF4-FFF2-40B4-BE49-F238E27FC236}">
                    <a16:creationId xmlns:a16="http://schemas.microsoft.com/office/drawing/2014/main" id="{4AFC04A2-D9DA-EE0B-1B10-5D6DBB09404A}"/>
                  </a:ext>
                </a:extLst>
              </p:cNvPr>
              <p:cNvSpPr>
                <a:spLocks noChangeArrowheads="1"/>
              </p:cNvSpPr>
              <p:nvPr/>
            </p:nvSpPr>
            <p:spPr bwMode="auto">
              <a:xfrm>
                <a:off x="3784" y="1390"/>
                <a:ext cx="404" cy="164"/>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Orders</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(EDI)</a:t>
                </a:r>
              </a:p>
            </p:txBody>
          </p:sp>
        </p:grpSp>
        <p:sp>
          <p:nvSpPr>
            <p:cNvPr id="98" name="Rectangle 121">
              <a:extLst>
                <a:ext uri="{FF2B5EF4-FFF2-40B4-BE49-F238E27FC236}">
                  <a16:creationId xmlns:a16="http://schemas.microsoft.com/office/drawing/2014/main" id="{A6A54D34-2715-51A8-184C-F45D0DCFD804}"/>
                </a:ext>
              </a:extLst>
            </p:cNvPr>
            <p:cNvSpPr>
              <a:spLocks noChangeArrowheads="1"/>
            </p:cNvSpPr>
            <p:nvPr/>
          </p:nvSpPr>
          <p:spPr bwMode="auto">
            <a:xfrm>
              <a:off x="3873501" y="2027239"/>
              <a:ext cx="974725" cy="709613"/>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spcBef>
                  <a:spcPct val="0"/>
                </a:spcBef>
              </a:pPr>
              <a:r>
                <a:rPr lang="en-US" altLang="en-US" b="0" dirty="0">
                  <a:solidFill>
                    <a:schemeClr val="tx1"/>
                  </a:solidFill>
                  <a:latin typeface="Roboto" panose="02000000000000000000" pitchFamily="2" charset="0"/>
                  <a:ea typeface="Roboto" panose="02000000000000000000" pitchFamily="2" charset="0"/>
                </a:rPr>
                <a:t>Production Control</a:t>
              </a:r>
            </a:p>
          </p:txBody>
        </p:sp>
        <p:grpSp>
          <p:nvGrpSpPr>
            <p:cNvPr id="108" name="Group 131">
              <a:extLst>
                <a:ext uri="{FF2B5EF4-FFF2-40B4-BE49-F238E27FC236}">
                  <a16:creationId xmlns:a16="http://schemas.microsoft.com/office/drawing/2014/main" id="{B9B23F7B-E913-D255-8576-5164612A58D7}"/>
                </a:ext>
              </a:extLst>
            </p:cNvPr>
            <p:cNvGrpSpPr>
              <a:grpSpLocks/>
            </p:cNvGrpSpPr>
            <p:nvPr/>
          </p:nvGrpSpPr>
          <p:grpSpPr bwMode="auto">
            <a:xfrm>
              <a:off x="4722813" y="2740025"/>
              <a:ext cx="2311400" cy="1285875"/>
              <a:chOff x="2957" y="1720"/>
              <a:chExt cx="1456" cy="810"/>
            </a:xfrm>
          </p:grpSpPr>
          <p:sp>
            <p:nvSpPr>
              <p:cNvPr id="109" name="Line 132">
                <a:extLst>
                  <a:ext uri="{FF2B5EF4-FFF2-40B4-BE49-F238E27FC236}">
                    <a16:creationId xmlns:a16="http://schemas.microsoft.com/office/drawing/2014/main" id="{443BA557-F469-F611-5008-1921C2B7FA0E}"/>
                  </a:ext>
                </a:extLst>
              </p:cNvPr>
              <p:cNvSpPr>
                <a:spLocks noChangeShapeType="1"/>
              </p:cNvSpPr>
              <p:nvPr/>
            </p:nvSpPr>
            <p:spPr bwMode="auto">
              <a:xfrm>
                <a:off x="2957" y="1720"/>
                <a:ext cx="1456" cy="81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Rectangle 133">
                <a:extLst>
                  <a:ext uri="{FF2B5EF4-FFF2-40B4-BE49-F238E27FC236}">
                    <a16:creationId xmlns:a16="http://schemas.microsoft.com/office/drawing/2014/main" id="{CEC7071F-CC71-55E9-F07D-34EEF331104C}"/>
                  </a:ext>
                </a:extLst>
              </p:cNvPr>
              <p:cNvSpPr>
                <a:spLocks noChangeArrowheads="1"/>
              </p:cNvSpPr>
              <p:nvPr/>
            </p:nvSpPr>
            <p:spPr bwMode="auto">
              <a:xfrm>
                <a:off x="3582" y="2032"/>
                <a:ext cx="395" cy="248"/>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Daily Ship</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Schedule</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(Paper)</a:t>
                </a:r>
              </a:p>
            </p:txBody>
          </p:sp>
        </p:grpSp>
      </p:grpSp>
      <p:sp>
        <p:nvSpPr>
          <p:cNvPr id="42" name="Rectangle 7">
            <a:extLst>
              <a:ext uri="{FF2B5EF4-FFF2-40B4-BE49-F238E27FC236}">
                <a16:creationId xmlns:a16="http://schemas.microsoft.com/office/drawing/2014/main" id="{EA8D8526-7209-EDA0-0EA7-0AA6384776FB}"/>
              </a:ext>
            </a:extLst>
          </p:cNvPr>
          <p:cNvSpPr>
            <a:spLocks noChangeArrowheads="1"/>
          </p:cNvSpPr>
          <p:nvPr/>
        </p:nvSpPr>
        <p:spPr bwMode="auto">
          <a:xfrm>
            <a:off x="4972528" y="4178350"/>
            <a:ext cx="1065390" cy="569105"/>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dirty="0">
                <a:solidFill>
                  <a:schemeClr val="tx1"/>
                </a:solidFill>
                <a:latin typeface="Roboto" panose="02000000000000000000" pitchFamily="2" charset="0"/>
                <a:ea typeface="Roboto" panose="02000000000000000000" pitchFamily="2" charset="0"/>
              </a:rPr>
              <a:t>Stamp/Form</a:t>
            </a:r>
          </a:p>
        </p:txBody>
      </p:sp>
      <p:sp>
        <p:nvSpPr>
          <p:cNvPr id="43" name="Line 8">
            <a:extLst>
              <a:ext uri="{FF2B5EF4-FFF2-40B4-BE49-F238E27FC236}">
                <a16:creationId xmlns:a16="http://schemas.microsoft.com/office/drawing/2014/main" id="{C70745FE-45E2-C238-CAA5-0C7E7A37ABB6}"/>
              </a:ext>
            </a:extLst>
          </p:cNvPr>
          <p:cNvSpPr>
            <a:spLocks noChangeShapeType="1"/>
          </p:cNvSpPr>
          <p:nvPr/>
        </p:nvSpPr>
        <p:spPr bwMode="auto">
          <a:xfrm>
            <a:off x="4972528" y="4377927"/>
            <a:ext cx="105631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endParaRPr>
          </a:p>
        </p:txBody>
      </p:sp>
      <p:sp>
        <p:nvSpPr>
          <p:cNvPr id="44" name="Rectangle 18">
            <a:extLst>
              <a:ext uri="{FF2B5EF4-FFF2-40B4-BE49-F238E27FC236}">
                <a16:creationId xmlns:a16="http://schemas.microsoft.com/office/drawing/2014/main" id="{851119B8-223D-5B4D-7583-AA1AA71E7D98}"/>
              </a:ext>
            </a:extLst>
          </p:cNvPr>
          <p:cNvSpPr>
            <a:spLocks noChangeArrowheads="1"/>
          </p:cNvSpPr>
          <p:nvPr/>
        </p:nvSpPr>
        <p:spPr bwMode="auto">
          <a:xfrm>
            <a:off x="4961007" y="4864180"/>
            <a:ext cx="1065389" cy="685800"/>
          </a:xfrm>
          <a:prstGeom prst="rect">
            <a:avLst/>
          </a:prstGeom>
          <a:solidFill>
            <a:schemeClr val="bg1"/>
          </a:solidFill>
          <a:ln w="12700" cap="sq">
            <a:solidFill>
              <a:schemeClr val="tx1"/>
            </a:solidFill>
            <a:miter lim="800000"/>
            <a:headEnd type="none" w="sm" len="sm"/>
            <a:tailEnd type="none" w="sm" len="sm"/>
          </a:ln>
        </p:spPr>
        <p:txBody>
          <a:bodyPr wrap="none" anchor="t"/>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DOI = </a:t>
            </a:r>
            <a:r>
              <a:rPr lang="en-US" sz="800" b="0" dirty="0">
                <a:solidFill>
                  <a:schemeClr val="tx1"/>
                </a:solidFill>
                <a:latin typeface="Roboto" panose="02000000000000000000" pitchFamily="2" charset="0"/>
                <a:ea typeface="Roboto" panose="02000000000000000000" pitchFamily="2" charset="0"/>
              </a:rPr>
              <a:t>15”</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C/O Time =120</a:t>
            </a:r>
            <a:r>
              <a:rPr lang="ja-JP" sz="800" b="0" kern="1200" dirty="0">
                <a:solidFill>
                  <a:schemeClr val="tx1"/>
                </a:solidFill>
                <a:effectLst/>
                <a:latin typeface="Roboto" panose="02000000000000000000" pitchFamily="2" charset="0"/>
                <a:ea typeface="Arial" panose="020B0604020202020204" pitchFamily="34" charset="0"/>
              </a:rPr>
              <a:t>’</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Uptime = 99%</a:t>
            </a:r>
            <a:endParaRPr lang="en-US" sz="800" dirty="0">
              <a:solidFill>
                <a:schemeClr val="tx1"/>
              </a:solidFill>
              <a:effectLst/>
              <a:latin typeface="Roboto" panose="02000000000000000000" pitchFamily="2" charset="0"/>
              <a:ea typeface="Roboto" panose="02000000000000000000" pitchFamily="2" charset="0"/>
            </a:endParaRPr>
          </a:p>
          <a:p>
            <a:pPr algn="l" rtl="0" eaLnBrk="0" fontAlgn="base" hangingPunct="0">
              <a:spcBef>
                <a:spcPts val="0"/>
              </a:spcBef>
              <a:spcAft>
                <a:spcPts val="0"/>
              </a:spcAft>
            </a:pPr>
            <a:r>
              <a:rPr lang="en-US" sz="800" b="0" kern="1200" dirty="0">
                <a:solidFill>
                  <a:schemeClr val="tx1"/>
                </a:solidFill>
                <a:effectLst/>
                <a:latin typeface="Roboto" panose="02000000000000000000" pitchFamily="2" charset="0"/>
                <a:ea typeface="Roboto" panose="02000000000000000000" pitchFamily="2" charset="0"/>
              </a:rPr>
              <a:t>Quality = 98%</a:t>
            </a:r>
            <a:endParaRPr lang="en-US" sz="800" dirty="0">
              <a:solidFill>
                <a:schemeClr val="tx1"/>
              </a:solidFill>
              <a:effectLst/>
              <a:latin typeface="Roboto" panose="02000000000000000000" pitchFamily="2" charset="0"/>
              <a:ea typeface="Roboto" panose="02000000000000000000" pitchFamily="2" charset="0"/>
            </a:endParaRPr>
          </a:p>
        </p:txBody>
      </p:sp>
      <p:sp>
        <p:nvSpPr>
          <p:cNvPr id="45" name="AutoShape 14">
            <a:extLst>
              <a:ext uri="{FF2B5EF4-FFF2-40B4-BE49-F238E27FC236}">
                <a16:creationId xmlns:a16="http://schemas.microsoft.com/office/drawing/2014/main" id="{6319026B-D29E-C9A1-F968-3307B3E10A35}"/>
              </a:ext>
            </a:extLst>
          </p:cNvPr>
          <p:cNvSpPr>
            <a:spLocks noChangeArrowheads="1"/>
          </p:cNvSpPr>
          <p:nvPr/>
        </p:nvSpPr>
        <p:spPr bwMode="auto">
          <a:xfrm flipV="1">
            <a:off x="5300237" y="4462745"/>
            <a:ext cx="184355" cy="17780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 name="Text Box 15">
            <a:extLst>
              <a:ext uri="{FF2B5EF4-FFF2-40B4-BE49-F238E27FC236}">
                <a16:creationId xmlns:a16="http://schemas.microsoft.com/office/drawing/2014/main" id="{CC72E0AA-599D-C015-D798-357A74459A80}"/>
              </a:ext>
            </a:extLst>
          </p:cNvPr>
          <p:cNvSpPr txBox="1">
            <a:spLocks noChangeArrowheads="1"/>
          </p:cNvSpPr>
          <p:nvPr/>
        </p:nvSpPr>
        <p:spPr bwMode="auto">
          <a:xfrm>
            <a:off x="5492273" y="4459570"/>
            <a:ext cx="34817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b="0" dirty="0">
                <a:solidFill>
                  <a:schemeClr val="tx1"/>
                </a:solidFill>
                <a:latin typeface="Roboto" panose="02000000000000000000" pitchFamily="2" charset="0"/>
                <a:ea typeface="Roboto" panose="02000000000000000000" pitchFamily="2" charset="0"/>
              </a:rPr>
              <a:t>= 2</a:t>
            </a:r>
          </a:p>
        </p:txBody>
      </p:sp>
      <p:sp>
        <p:nvSpPr>
          <p:cNvPr id="48" name="Oval 13">
            <a:extLst>
              <a:ext uri="{FF2B5EF4-FFF2-40B4-BE49-F238E27FC236}">
                <a16:creationId xmlns:a16="http://schemas.microsoft.com/office/drawing/2014/main" id="{C4610C46-6017-5390-6049-47F1836D4D8A}"/>
              </a:ext>
            </a:extLst>
          </p:cNvPr>
          <p:cNvSpPr>
            <a:spLocks noChangeArrowheads="1"/>
          </p:cNvSpPr>
          <p:nvPr/>
        </p:nvSpPr>
        <p:spPr bwMode="auto">
          <a:xfrm flipV="1">
            <a:off x="5346325" y="4508542"/>
            <a:ext cx="92178" cy="8620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2" name="Picture 1">
            <a:extLst>
              <a:ext uri="{FF2B5EF4-FFF2-40B4-BE49-F238E27FC236}">
                <a16:creationId xmlns:a16="http://schemas.microsoft.com/office/drawing/2014/main" id="{673D40E9-4DC0-E615-7452-7343CAFAAEB5}"/>
              </a:ext>
            </a:extLst>
          </p:cNvPr>
          <p:cNvPicPr>
            <a:picLocks noChangeAspect="1"/>
          </p:cNvPicPr>
          <p:nvPr/>
        </p:nvPicPr>
        <p:blipFill>
          <a:blip r:embed="rId3">
            <a:clrChange>
              <a:clrFrom>
                <a:srgbClr val="FFFFFF"/>
              </a:clrFrom>
              <a:clrTo>
                <a:srgbClr val="FFFFFF">
                  <a:alpha val="0"/>
                </a:srgbClr>
              </a:clrTo>
            </a:clrChange>
            <a:biLevel thresh="75000"/>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1203045" y="4497363"/>
            <a:ext cx="395483" cy="349343"/>
          </a:xfrm>
          <a:prstGeom prst="rect">
            <a:avLst/>
          </a:prstGeom>
        </p:spPr>
      </p:pic>
      <p:grpSp>
        <p:nvGrpSpPr>
          <p:cNvPr id="3" name="Group 4">
            <a:extLst>
              <a:ext uri="{FF2B5EF4-FFF2-40B4-BE49-F238E27FC236}">
                <a16:creationId xmlns:a16="http://schemas.microsoft.com/office/drawing/2014/main" id="{3FE24208-9FF7-E9F2-0BC8-35CBFF684A39}"/>
              </a:ext>
            </a:extLst>
          </p:cNvPr>
          <p:cNvGrpSpPr>
            <a:grpSpLocks/>
          </p:cNvGrpSpPr>
          <p:nvPr/>
        </p:nvGrpSpPr>
        <p:grpSpPr bwMode="auto">
          <a:xfrm>
            <a:off x="932796" y="4330976"/>
            <a:ext cx="169044" cy="344730"/>
            <a:chOff x="4780" y="1303"/>
            <a:chExt cx="285" cy="631"/>
          </a:xfrm>
        </p:grpSpPr>
        <p:sp>
          <p:nvSpPr>
            <p:cNvPr id="4" name="Line 5">
              <a:extLst>
                <a:ext uri="{FF2B5EF4-FFF2-40B4-BE49-F238E27FC236}">
                  <a16:creationId xmlns:a16="http://schemas.microsoft.com/office/drawing/2014/main" id="{BA1FC4A1-55C4-9878-0B3A-A5A48931ECE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 name="Line 6">
              <a:extLst>
                <a:ext uri="{FF2B5EF4-FFF2-40B4-BE49-F238E27FC236}">
                  <a16:creationId xmlns:a16="http://schemas.microsoft.com/office/drawing/2014/main" id="{97E858BB-DCF9-B5FB-BD6B-E686C1CA7972}"/>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Line 7">
              <a:extLst>
                <a:ext uri="{FF2B5EF4-FFF2-40B4-BE49-F238E27FC236}">
                  <a16:creationId xmlns:a16="http://schemas.microsoft.com/office/drawing/2014/main" id="{1F7E78CB-0CCA-F8BE-0999-0818B0AFFE20}"/>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 name="Line 8">
              <a:extLst>
                <a:ext uri="{FF2B5EF4-FFF2-40B4-BE49-F238E27FC236}">
                  <a16:creationId xmlns:a16="http://schemas.microsoft.com/office/drawing/2014/main" id="{3D721AF3-2569-0513-CC51-2A0DFAE762B7}"/>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 name="Line 9">
              <a:extLst>
                <a:ext uri="{FF2B5EF4-FFF2-40B4-BE49-F238E27FC236}">
                  <a16:creationId xmlns:a16="http://schemas.microsoft.com/office/drawing/2014/main" id="{F9A126D3-FB09-4AB0-FF12-DB5E08351A00}"/>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0" name="Group 4">
            <a:extLst>
              <a:ext uri="{FF2B5EF4-FFF2-40B4-BE49-F238E27FC236}">
                <a16:creationId xmlns:a16="http://schemas.microsoft.com/office/drawing/2014/main" id="{D40547A9-0C70-0AC1-FA36-EF7A8240D7B9}"/>
              </a:ext>
            </a:extLst>
          </p:cNvPr>
          <p:cNvGrpSpPr>
            <a:grpSpLocks/>
          </p:cNvGrpSpPr>
          <p:nvPr/>
        </p:nvGrpSpPr>
        <p:grpSpPr bwMode="auto">
          <a:xfrm>
            <a:off x="3087598" y="4330976"/>
            <a:ext cx="169044" cy="344730"/>
            <a:chOff x="4780" y="1303"/>
            <a:chExt cx="285" cy="631"/>
          </a:xfrm>
        </p:grpSpPr>
        <p:sp>
          <p:nvSpPr>
            <p:cNvPr id="11" name="Line 5">
              <a:extLst>
                <a:ext uri="{FF2B5EF4-FFF2-40B4-BE49-F238E27FC236}">
                  <a16:creationId xmlns:a16="http://schemas.microsoft.com/office/drawing/2014/main" id="{BD65F1B2-A93B-3C69-E2F8-A3C3F3A6B74C}"/>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 name="Line 6">
              <a:extLst>
                <a:ext uri="{FF2B5EF4-FFF2-40B4-BE49-F238E27FC236}">
                  <a16:creationId xmlns:a16="http://schemas.microsoft.com/office/drawing/2014/main" id="{D4B3BC22-0EC8-6D1C-C883-881A496C76E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3" name="Line 7">
              <a:extLst>
                <a:ext uri="{FF2B5EF4-FFF2-40B4-BE49-F238E27FC236}">
                  <a16:creationId xmlns:a16="http://schemas.microsoft.com/office/drawing/2014/main" id="{F1E75F37-89F1-3723-4919-8090D07C2AA4}"/>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8">
              <a:extLst>
                <a:ext uri="{FF2B5EF4-FFF2-40B4-BE49-F238E27FC236}">
                  <a16:creationId xmlns:a16="http://schemas.microsoft.com/office/drawing/2014/main" id="{79F8D60E-771A-521C-19E7-972F5C2925BB}"/>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9">
              <a:extLst>
                <a:ext uri="{FF2B5EF4-FFF2-40B4-BE49-F238E27FC236}">
                  <a16:creationId xmlns:a16="http://schemas.microsoft.com/office/drawing/2014/main" id="{5F1E8488-85A8-1A78-B661-C2B12CE74D9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6" name="Group 4">
            <a:extLst>
              <a:ext uri="{FF2B5EF4-FFF2-40B4-BE49-F238E27FC236}">
                <a16:creationId xmlns:a16="http://schemas.microsoft.com/office/drawing/2014/main" id="{BE8FC67E-458A-01AA-5021-A879983D996B}"/>
              </a:ext>
            </a:extLst>
          </p:cNvPr>
          <p:cNvGrpSpPr>
            <a:grpSpLocks/>
          </p:cNvGrpSpPr>
          <p:nvPr/>
        </p:nvGrpSpPr>
        <p:grpSpPr bwMode="auto">
          <a:xfrm>
            <a:off x="6889785" y="4310932"/>
            <a:ext cx="169044" cy="344730"/>
            <a:chOff x="4780" y="1303"/>
            <a:chExt cx="285" cy="631"/>
          </a:xfrm>
        </p:grpSpPr>
        <p:sp>
          <p:nvSpPr>
            <p:cNvPr id="18" name="Line 5">
              <a:extLst>
                <a:ext uri="{FF2B5EF4-FFF2-40B4-BE49-F238E27FC236}">
                  <a16:creationId xmlns:a16="http://schemas.microsoft.com/office/drawing/2014/main" id="{D0CF38B5-F0C8-FC42-1ACD-89788145EF00}"/>
                </a:ext>
              </a:extLst>
            </p:cNvPr>
            <p:cNvSpPr>
              <a:spLocks noChangeShapeType="1"/>
            </p:cNvSpPr>
            <p:nvPr/>
          </p:nvSpPr>
          <p:spPr bwMode="auto">
            <a:xfrm>
              <a:off x="5064" y="1303"/>
              <a:ext cx="0" cy="62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6">
              <a:extLst>
                <a:ext uri="{FF2B5EF4-FFF2-40B4-BE49-F238E27FC236}">
                  <a16:creationId xmlns:a16="http://schemas.microsoft.com/office/drawing/2014/main" id="{A62AA09E-E76E-EBC2-9645-E51E7A4A3011}"/>
                </a:ext>
              </a:extLst>
            </p:cNvPr>
            <p:cNvSpPr>
              <a:spLocks noChangeShapeType="1"/>
            </p:cNvSpPr>
            <p:nvPr/>
          </p:nvSpPr>
          <p:spPr bwMode="auto">
            <a:xfrm>
              <a:off x="4780" y="130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7">
              <a:extLst>
                <a:ext uri="{FF2B5EF4-FFF2-40B4-BE49-F238E27FC236}">
                  <a16:creationId xmlns:a16="http://schemas.microsoft.com/office/drawing/2014/main" id="{511BFFDC-D30B-73CF-C89E-5453C955A9CA}"/>
                </a:ext>
              </a:extLst>
            </p:cNvPr>
            <p:cNvSpPr>
              <a:spLocks noChangeShapeType="1"/>
            </p:cNvSpPr>
            <p:nvPr/>
          </p:nvSpPr>
          <p:spPr bwMode="auto">
            <a:xfrm>
              <a:off x="4780" y="151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8">
              <a:extLst>
                <a:ext uri="{FF2B5EF4-FFF2-40B4-BE49-F238E27FC236}">
                  <a16:creationId xmlns:a16="http://schemas.microsoft.com/office/drawing/2014/main" id="{7081E6A9-0DEE-C2DB-D623-57267B6BB8BD}"/>
                </a:ext>
              </a:extLst>
            </p:cNvPr>
            <p:cNvSpPr>
              <a:spLocks noChangeShapeType="1"/>
            </p:cNvSpPr>
            <p:nvPr/>
          </p:nvSpPr>
          <p:spPr bwMode="auto">
            <a:xfrm>
              <a:off x="4780" y="172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1" name="Line 9">
              <a:extLst>
                <a:ext uri="{FF2B5EF4-FFF2-40B4-BE49-F238E27FC236}">
                  <a16:creationId xmlns:a16="http://schemas.microsoft.com/office/drawing/2014/main" id="{94FB1738-C36C-0B92-507D-278B16203C79}"/>
                </a:ext>
              </a:extLst>
            </p:cNvPr>
            <p:cNvSpPr>
              <a:spLocks noChangeShapeType="1"/>
            </p:cNvSpPr>
            <p:nvPr/>
          </p:nvSpPr>
          <p:spPr bwMode="auto">
            <a:xfrm>
              <a:off x="4780" y="1934"/>
              <a:ext cx="285" cy="0"/>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2" name="Line 110">
            <a:extLst>
              <a:ext uri="{FF2B5EF4-FFF2-40B4-BE49-F238E27FC236}">
                <a16:creationId xmlns:a16="http://schemas.microsoft.com/office/drawing/2014/main" id="{CA781C48-2B88-AB43-2589-22E26A9E3912}"/>
              </a:ext>
            </a:extLst>
          </p:cNvPr>
          <p:cNvSpPr>
            <a:spLocks noChangeShapeType="1"/>
          </p:cNvSpPr>
          <p:nvPr/>
        </p:nvSpPr>
        <p:spPr bwMode="auto">
          <a:xfrm flipH="1">
            <a:off x="1451844" y="2696256"/>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111">
            <a:extLst>
              <a:ext uri="{FF2B5EF4-FFF2-40B4-BE49-F238E27FC236}">
                <a16:creationId xmlns:a16="http://schemas.microsoft.com/office/drawing/2014/main" id="{74ECCE57-9350-89FF-0DC1-336BE15635C3}"/>
              </a:ext>
            </a:extLst>
          </p:cNvPr>
          <p:cNvSpPr>
            <a:spLocks noChangeShapeType="1"/>
          </p:cNvSpPr>
          <p:nvPr/>
        </p:nvSpPr>
        <p:spPr bwMode="auto">
          <a:xfrm flipV="1">
            <a:off x="2786356" y="2775631"/>
            <a:ext cx="1934934" cy="1587"/>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112">
            <a:extLst>
              <a:ext uri="{FF2B5EF4-FFF2-40B4-BE49-F238E27FC236}">
                <a16:creationId xmlns:a16="http://schemas.microsoft.com/office/drawing/2014/main" id="{1F48C382-2ED4-D8BE-C045-6931C69A161F}"/>
              </a:ext>
            </a:extLst>
          </p:cNvPr>
          <p:cNvSpPr>
            <a:spLocks noChangeShapeType="1"/>
          </p:cNvSpPr>
          <p:nvPr/>
        </p:nvSpPr>
        <p:spPr bwMode="auto">
          <a:xfrm flipV="1">
            <a:off x="2775400" y="2708956"/>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Rectangle 113">
            <a:extLst>
              <a:ext uri="{FF2B5EF4-FFF2-40B4-BE49-F238E27FC236}">
                <a16:creationId xmlns:a16="http://schemas.microsoft.com/office/drawing/2014/main" id="{1438E240-BA1D-48D5-0EBC-E8D862E2B230}"/>
              </a:ext>
            </a:extLst>
          </p:cNvPr>
          <p:cNvSpPr>
            <a:spLocks noChangeArrowheads="1"/>
          </p:cNvSpPr>
          <p:nvPr/>
        </p:nvSpPr>
        <p:spPr bwMode="auto">
          <a:xfrm>
            <a:off x="3101906" y="2551793"/>
            <a:ext cx="865570" cy="545803"/>
          </a:xfrm>
          <a:prstGeom prst="rect">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Weekly </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Replenishment.</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(Faxed)</a:t>
            </a:r>
          </a:p>
        </p:txBody>
      </p:sp>
      <p:grpSp>
        <p:nvGrpSpPr>
          <p:cNvPr id="64" name="Group 63">
            <a:extLst>
              <a:ext uri="{FF2B5EF4-FFF2-40B4-BE49-F238E27FC236}">
                <a16:creationId xmlns:a16="http://schemas.microsoft.com/office/drawing/2014/main" id="{16B255A4-FA38-E03C-E3B6-DDD06402B5B7}"/>
              </a:ext>
            </a:extLst>
          </p:cNvPr>
          <p:cNvGrpSpPr/>
          <p:nvPr/>
        </p:nvGrpSpPr>
        <p:grpSpPr>
          <a:xfrm>
            <a:off x="1197961" y="3900634"/>
            <a:ext cx="304800" cy="533400"/>
            <a:chOff x="1219200" y="3505200"/>
            <a:chExt cx="304800" cy="533400"/>
          </a:xfrm>
        </p:grpSpPr>
        <p:sp>
          <p:nvSpPr>
            <p:cNvPr id="41" name="AutoShape 131" descr="Light upward diagonal">
              <a:extLst>
                <a:ext uri="{FF2B5EF4-FFF2-40B4-BE49-F238E27FC236}">
                  <a16:creationId xmlns:a16="http://schemas.microsoft.com/office/drawing/2014/main" id="{505F382C-2781-60B1-D799-B753E338F749}"/>
                </a:ext>
              </a:extLst>
            </p:cNvPr>
            <p:cNvSpPr>
              <a:spLocks noChangeArrowheads="1"/>
            </p:cNvSpPr>
            <p:nvPr/>
          </p:nvSpPr>
          <p:spPr bwMode="auto">
            <a:xfrm rot="16200000" flipH="1">
              <a:off x="1247775" y="3540356"/>
              <a:ext cx="247650" cy="177338"/>
            </a:xfrm>
            <a:prstGeom prst="flowChartPunchedCard">
              <a:avLst/>
            </a:prstGeom>
            <a:pattFill prst="ltUpDiag">
              <a:fgClr>
                <a:schemeClr val="tx1"/>
              </a:fgClr>
              <a:bgClr>
                <a:schemeClr val="bg1"/>
              </a:bgClr>
            </a:patt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50" name="Line 132">
              <a:extLst>
                <a:ext uri="{FF2B5EF4-FFF2-40B4-BE49-F238E27FC236}">
                  <a16:creationId xmlns:a16="http://schemas.microsoft.com/office/drawing/2014/main" id="{62C4C9AC-66B1-4E35-E0E0-21E407282C36}"/>
                </a:ext>
              </a:extLst>
            </p:cNvPr>
            <p:cNvSpPr>
              <a:spLocks noChangeShapeType="1"/>
            </p:cNvSpPr>
            <p:nvPr/>
          </p:nvSpPr>
          <p:spPr bwMode="auto">
            <a:xfrm>
              <a:off x="1371600" y="3810000"/>
              <a:ext cx="0" cy="2286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1" name="Line 133">
              <a:extLst>
                <a:ext uri="{FF2B5EF4-FFF2-40B4-BE49-F238E27FC236}">
                  <a16:creationId xmlns:a16="http://schemas.microsoft.com/office/drawing/2014/main" id="{BFE9A1FB-9641-F445-E6CF-484BEF3DF351}"/>
                </a:ext>
              </a:extLst>
            </p:cNvPr>
            <p:cNvSpPr>
              <a:spLocks noChangeShapeType="1"/>
            </p:cNvSpPr>
            <p:nvPr/>
          </p:nvSpPr>
          <p:spPr bwMode="auto">
            <a:xfrm>
              <a:off x="1238596" y="3810000"/>
              <a:ext cx="266007" cy="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2" name="Line 134">
              <a:extLst>
                <a:ext uri="{FF2B5EF4-FFF2-40B4-BE49-F238E27FC236}">
                  <a16:creationId xmlns:a16="http://schemas.microsoft.com/office/drawing/2014/main" id="{350B8907-79B2-754B-6E99-6756F81BE805}"/>
                </a:ext>
              </a:extLst>
            </p:cNvPr>
            <p:cNvSpPr>
              <a:spLocks noChangeShapeType="1"/>
            </p:cNvSpPr>
            <p:nvPr/>
          </p:nvSpPr>
          <p:spPr bwMode="auto">
            <a:xfrm>
              <a:off x="1219200"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63" name="Line 135">
              <a:extLst>
                <a:ext uri="{FF2B5EF4-FFF2-40B4-BE49-F238E27FC236}">
                  <a16:creationId xmlns:a16="http://schemas.microsoft.com/office/drawing/2014/main" id="{0BD5C145-1802-F81F-7C97-09D9069E0BFB}"/>
                </a:ext>
              </a:extLst>
            </p:cNvPr>
            <p:cNvSpPr>
              <a:spLocks noChangeShapeType="1"/>
            </p:cNvSpPr>
            <p:nvPr/>
          </p:nvSpPr>
          <p:spPr bwMode="auto">
            <a:xfrm flipH="1">
              <a:off x="1504604" y="3619500"/>
              <a:ext cx="19396" cy="190500"/>
            </a:xfrm>
            <a:prstGeom prst="line">
              <a:avLst/>
            </a:prstGeom>
            <a:noFill/>
            <a:ln w="1905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65" name="Line 141">
            <a:extLst>
              <a:ext uri="{FF2B5EF4-FFF2-40B4-BE49-F238E27FC236}">
                <a16:creationId xmlns:a16="http://schemas.microsoft.com/office/drawing/2014/main" id="{ECEEE272-8181-5A56-A4AB-63F4220B67E6}"/>
              </a:ext>
            </a:extLst>
          </p:cNvPr>
          <p:cNvSpPr>
            <a:spLocks noChangeShapeType="1"/>
          </p:cNvSpPr>
          <p:nvPr/>
        </p:nvSpPr>
        <p:spPr bwMode="auto">
          <a:xfrm>
            <a:off x="1116563" y="4497363"/>
            <a:ext cx="504427"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66" name="Line 141">
            <a:extLst>
              <a:ext uri="{FF2B5EF4-FFF2-40B4-BE49-F238E27FC236}">
                <a16:creationId xmlns:a16="http://schemas.microsoft.com/office/drawing/2014/main" id="{A0B5DA91-A190-E57D-A87C-BF1C167C65D2}"/>
              </a:ext>
            </a:extLst>
          </p:cNvPr>
          <p:cNvSpPr>
            <a:spLocks noChangeShapeType="1"/>
          </p:cNvSpPr>
          <p:nvPr/>
        </p:nvSpPr>
        <p:spPr bwMode="auto">
          <a:xfrm flipV="1">
            <a:off x="1463388" y="3069146"/>
            <a:ext cx="3256797" cy="811221"/>
          </a:xfrm>
          <a:prstGeom prst="line">
            <a:avLst/>
          </a:prstGeom>
          <a:noFill/>
          <a:ln w="28575">
            <a:solidFill>
              <a:schemeClr val="tx1"/>
            </a:solidFill>
            <a:prstDash val="solid"/>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grpSp>
        <p:nvGrpSpPr>
          <p:cNvPr id="71" name="Group 106">
            <a:extLst>
              <a:ext uri="{FF2B5EF4-FFF2-40B4-BE49-F238E27FC236}">
                <a16:creationId xmlns:a16="http://schemas.microsoft.com/office/drawing/2014/main" id="{9B176345-7D5F-F0AF-05F2-4A5B36A6411C}"/>
              </a:ext>
            </a:extLst>
          </p:cNvPr>
          <p:cNvGrpSpPr>
            <a:grpSpLocks/>
          </p:cNvGrpSpPr>
          <p:nvPr/>
        </p:nvGrpSpPr>
        <p:grpSpPr bwMode="auto">
          <a:xfrm>
            <a:off x="2148514" y="3840615"/>
            <a:ext cx="7186136" cy="600075"/>
            <a:chOff x="1296" y="2221"/>
            <a:chExt cx="2845" cy="378"/>
          </a:xfrm>
        </p:grpSpPr>
        <p:grpSp>
          <p:nvGrpSpPr>
            <p:cNvPr id="72" name="Group 107">
              <a:extLst>
                <a:ext uri="{FF2B5EF4-FFF2-40B4-BE49-F238E27FC236}">
                  <a16:creationId xmlns:a16="http://schemas.microsoft.com/office/drawing/2014/main" id="{221A0C17-2400-FF37-0064-A50F314505C7}"/>
                </a:ext>
              </a:extLst>
            </p:cNvPr>
            <p:cNvGrpSpPr>
              <a:grpSpLocks/>
            </p:cNvGrpSpPr>
            <p:nvPr/>
          </p:nvGrpSpPr>
          <p:grpSpPr bwMode="auto">
            <a:xfrm>
              <a:off x="1761" y="2256"/>
              <a:ext cx="783" cy="336"/>
              <a:chOff x="1761" y="2256"/>
              <a:chExt cx="783" cy="336"/>
            </a:xfrm>
          </p:grpSpPr>
          <p:sp>
            <p:nvSpPr>
              <p:cNvPr id="103" name="Line 108">
                <a:extLst>
                  <a:ext uri="{FF2B5EF4-FFF2-40B4-BE49-F238E27FC236}">
                    <a16:creationId xmlns:a16="http://schemas.microsoft.com/office/drawing/2014/main" id="{C0D19C50-D7CE-9891-F55D-13879DDE0EBD}"/>
                  </a:ext>
                </a:extLst>
              </p:cNvPr>
              <p:cNvSpPr>
                <a:spLocks noChangeShapeType="1"/>
              </p:cNvSpPr>
              <p:nvPr/>
            </p:nvSpPr>
            <p:spPr bwMode="auto">
              <a:xfrm>
                <a:off x="1776" y="2592"/>
                <a:ext cx="624"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104" name="Line 109">
                <a:extLst>
                  <a:ext uri="{FF2B5EF4-FFF2-40B4-BE49-F238E27FC236}">
                    <a16:creationId xmlns:a16="http://schemas.microsoft.com/office/drawing/2014/main" id="{E5F422F3-6B39-3EA9-D39A-8359F356B706}"/>
                  </a:ext>
                </a:extLst>
              </p:cNvPr>
              <p:cNvSpPr>
                <a:spLocks noChangeShapeType="1"/>
              </p:cNvSpPr>
              <p:nvPr/>
            </p:nvSpPr>
            <p:spPr bwMode="auto">
              <a:xfrm>
                <a:off x="1776" y="2304"/>
                <a:ext cx="768"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5" name="Line 110">
                <a:extLst>
                  <a:ext uri="{FF2B5EF4-FFF2-40B4-BE49-F238E27FC236}">
                    <a16:creationId xmlns:a16="http://schemas.microsoft.com/office/drawing/2014/main" id="{34B8FA2B-E3BD-1FCD-221D-69DD4D3E16FF}"/>
                  </a:ext>
                </a:extLst>
              </p:cNvPr>
              <p:cNvSpPr>
                <a:spLocks noChangeShapeType="1"/>
              </p:cNvSpPr>
              <p:nvPr/>
            </p:nvSpPr>
            <p:spPr bwMode="auto">
              <a:xfrm>
                <a:off x="1761" y="2304"/>
                <a:ext cx="0" cy="288"/>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6" name="AutoShape 111" descr="Light upward diagonal">
                <a:extLst>
                  <a:ext uri="{FF2B5EF4-FFF2-40B4-BE49-F238E27FC236}">
                    <a16:creationId xmlns:a16="http://schemas.microsoft.com/office/drawing/2014/main" id="{878383E2-6C37-1F28-AF12-14C72B8C81BB}"/>
                  </a:ext>
                </a:extLst>
              </p:cNvPr>
              <p:cNvSpPr>
                <a:spLocks noChangeArrowheads="1"/>
              </p:cNvSpPr>
              <p:nvPr/>
            </p:nvSpPr>
            <p:spPr bwMode="auto">
              <a:xfrm flipH="1">
                <a:off x="2016" y="2256"/>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7" name="Line 112">
                <a:extLst>
                  <a:ext uri="{FF2B5EF4-FFF2-40B4-BE49-F238E27FC236}">
                    <a16:creationId xmlns:a16="http://schemas.microsoft.com/office/drawing/2014/main" id="{495C08A7-1408-F040-57AD-53EB3C65F91E}"/>
                  </a:ext>
                </a:extLst>
              </p:cNvPr>
              <p:cNvSpPr>
                <a:spLocks noChangeShapeType="1"/>
              </p:cNvSpPr>
              <p:nvPr/>
            </p:nvSpPr>
            <p:spPr bwMode="auto">
              <a:xfrm>
                <a:off x="2544" y="2304"/>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3" name="Group 113">
              <a:extLst>
                <a:ext uri="{FF2B5EF4-FFF2-40B4-BE49-F238E27FC236}">
                  <a16:creationId xmlns:a16="http://schemas.microsoft.com/office/drawing/2014/main" id="{47EA00E2-AB84-1FC9-2EE9-20E7E22D3C05}"/>
                </a:ext>
              </a:extLst>
            </p:cNvPr>
            <p:cNvGrpSpPr>
              <a:grpSpLocks/>
            </p:cNvGrpSpPr>
            <p:nvPr/>
          </p:nvGrpSpPr>
          <p:grpSpPr bwMode="auto">
            <a:xfrm>
              <a:off x="1296" y="2256"/>
              <a:ext cx="432" cy="240"/>
              <a:chOff x="1296" y="2256"/>
              <a:chExt cx="432" cy="240"/>
            </a:xfrm>
          </p:grpSpPr>
          <p:sp>
            <p:nvSpPr>
              <p:cNvPr id="99" name="Line 114">
                <a:extLst>
                  <a:ext uri="{FF2B5EF4-FFF2-40B4-BE49-F238E27FC236}">
                    <a16:creationId xmlns:a16="http://schemas.microsoft.com/office/drawing/2014/main" id="{3CECE158-02F2-CB91-B30C-47C45E7E73BF}"/>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115">
                <a:extLst>
                  <a:ext uri="{FF2B5EF4-FFF2-40B4-BE49-F238E27FC236}">
                    <a16:creationId xmlns:a16="http://schemas.microsoft.com/office/drawing/2014/main" id="{78014254-F688-AF9D-0DE1-24E4E486CEE7}"/>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1" name="AutoShape 116">
                <a:extLst>
                  <a:ext uri="{FF2B5EF4-FFF2-40B4-BE49-F238E27FC236}">
                    <a16:creationId xmlns:a16="http://schemas.microsoft.com/office/drawing/2014/main" id="{EF983E13-D522-BB54-6AD4-69AA826E2E0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02" name="Line 117">
                <a:extLst>
                  <a:ext uri="{FF2B5EF4-FFF2-40B4-BE49-F238E27FC236}">
                    <a16:creationId xmlns:a16="http://schemas.microsoft.com/office/drawing/2014/main" id="{6B858B9F-AD72-DDDA-271E-3CD61B1F5711}"/>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74" name="Group 118">
              <a:extLst>
                <a:ext uri="{FF2B5EF4-FFF2-40B4-BE49-F238E27FC236}">
                  <a16:creationId xmlns:a16="http://schemas.microsoft.com/office/drawing/2014/main" id="{69A31880-2C13-C51A-4B3B-52E2B559936E}"/>
                </a:ext>
              </a:extLst>
            </p:cNvPr>
            <p:cNvGrpSpPr>
              <a:grpSpLocks/>
            </p:cNvGrpSpPr>
            <p:nvPr/>
          </p:nvGrpSpPr>
          <p:grpSpPr bwMode="auto">
            <a:xfrm>
              <a:off x="3234" y="2221"/>
              <a:ext cx="907" cy="378"/>
              <a:chOff x="3234" y="2221"/>
              <a:chExt cx="907" cy="378"/>
            </a:xfrm>
          </p:grpSpPr>
          <p:sp>
            <p:nvSpPr>
              <p:cNvPr id="81" name="Line 119">
                <a:extLst>
                  <a:ext uri="{FF2B5EF4-FFF2-40B4-BE49-F238E27FC236}">
                    <a16:creationId xmlns:a16="http://schemas.microsoft.com/office/drawing/2014/main" id="{8E53EF63-45A8-E039-FB5C-796E12E21F5F}"/>
                  </a:ext>
                </a:extLst>
              </p:cNvPr>
              <p:cNvSpPr>
                <a:spLocks noChangeShapeType="1"/>
              </p:cNvSpPr>
              <p:nvPr/>
            </p:nvSpPr>
            <p:spPr bwMode="auto">
              <a:xfrm>
                <a:off x="3235" y="2595"/>
                <a:ext cx="808" cy="0"/>
              </a:xfrm>
              <a:prstGeom prst="line">
                <a:avLst/>
              </a:prstGeom>
              <a:noFill/>
              <a:ln w="28575">
                <a:solidFill>
                  <a:schemeClr val="tx1"/>
                </a:solidFill>
                <a:prstDash val="dash"/>
                <a:round/>
                <a:headEnd type="none" w="sm" len="sm"/>
                <a:tailEnd type="triangle" w="med" len="sm"/>
              </a:ln>
              <a:extLst>
                <a:ext uri="{909E8E84-426E-40DD-AFC4-6F175D3DCCD1}">
                  <a14:hiddenFill xmlns:a14="http://schemas.microsoft.com/office/drawing/2010/main">
                    <a:noFill/>
                  </a14:hiddenFill>
                </a:ext>
              </a:extLst>
            </p:spPr>
            <p:txBody>
              <a:bodyPr wrap="none"/>
              <a:lstStyle/>
              <a:p>
                <a:endParaRPr lang="en-US"/>
              </a:p>
            </p:txBody>
          </p:sp>
          <p:sp>
            <p:nvSpPr>
              <p:cNvPr id="82" name="Line 120">
                <a:extLst>
                  <a:ext uri="{FF2B5EF4-FFF2-40B4-BE49-F238E27FC236}">
                    <a16:creationId xmlns:a16="http://schemas.microsoft.com/office/drawing/2014/main" id="{8FA817BA-675C-1B56-3F5A-0EAB00ACE34F}"/>
                  </a:ext>
                </a:extLst>
              </p:cNvPr>
              <p:cNvSpPr>
                <a:spLocks noChangeShapeType="1"/>
              </p:cNvSpPr>
              <p:nvPr/>
            </p:nvSpPr>
            <p:spPr bwMode="auto">
              <a:xfrm>
                <a:off x="3264" y="2304"/>
                <a:ext cx="875"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9" name="Line 121">
                <a:extLst>
                  <a:ext uri="{FF2B5EF4-FFF2-40B4-BE49-F238E27FC236}">
                    <a16:creationId xmlns:a16="http://schemas.microsoft.com/office/drawing/2014/main" id="{1A64B508-DE75-690E-35DE-5F11A5475111}"/>
                  </a:ext>
                </a:extLst>
              </p:cNvPr>
              <p:cNvSpPr>
                <a:spLocks noChangeShapeType="1"/>
              </p:cNvSpPr>
              <p:nvPr/>
            </p:nvSpPr>
            <p:spPr bwMode="auto">
              <a:xfrm flipH="1">
                <a:off x="3234" y="2304"/>
                <a:ext cx="6" cy="295"/>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0" name="AutoShape 122" descr="Light upward diagonal">
                <a:extLst>
                  <a:ext uri="{FF2B5EF4-FFF2-40B4-BE49-F238E27FC236}">
                    <a16:creationId xmlns:a16="http://schemas.microsoft.com/office/drawing/2014/main" id="{E4263844-1DC2-5ADF-8B5F-6DC999C69116}"/>
                  </a:ext>
                </a:extLst>
              </p:cNvPr>
              <p:cNvSpPr>
                <a:spLocks noChangeArrowheads="1"/>
              </p:cNvSpPr>
              <p:nvPr/>
            </p:nvSpPr>
            <p:spPr bwMode="auto">
              <a:xfrm flipH="1">
                <a:off x="3785" y="2221"/>
                <a:ext cx="240" cy="144"/>
              </a:xfrm>
              <a:prstGeom prst="flowChartPunchedCard">
                <a:avLst/>
              </a:prstGeom>
              <a:pattFill prst="ltUpDiag">
                <a:fgClr>
                  <a:schemeClr val="tx1"/>
                </a:fgClr>
                <a:bgClr>
                  <a:schemeClr val="bg1"/>
                </a:bgClr>
              </a:patt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97" name="Line 123">
                <a:extLst>
                  <a:ext uri="{FF2B5EF4-FFF2-40B4-BE49-F238E27FC236}">
                    <a16:creationId xmlns:a16="http://schemas.microsoft.com/office/drawing/2014/main" id="{08EC29AF-8113-B132-E646-932AEE83248A}"/>
                  </a:ext>
                </a:extLst>
              </p:cNvPr>
              <p:cNvSpPr>
                <a:spLocks noChangeShapeType="1"/>
              </p:cNvSpPr>
              <p:nvPr/>
            </p:nvSpPr>
            <p:spPr bwMode="auto">
              <a:xfrm flipH="1">
                <a:off x="4141" y="2317"/>
                <a:ext cx="0" cy="96"/>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75" name="Group 124">
              <a:extLst>
                <a:ext uri="{FF2B5EF4-FFF2-40B4-BE49-F238E27FC236}">
                  <a16:creationId xmlns:a16="http://schemas.microsoft.com/office/drawing/2014/main" id="{541DE822-0BF6-A9D1-E8FD-85EF89E958FB}"/>
                </a:ext>
              </a:extLst>
            </p:cNvPr>
            <p:cNvGrpSpPr>
              <a:grpSpLocks/>
            </p:cNvGrpSpPr>
            <p:nvPr/>
          </p:nvGrpSpPr>
          <p:grpSpPr bwMode="auto">
            <a:xfrm>
              <a:off x="2766" y="2262"/>
              <a:ext cx="432" cy="240"/>
              <a:chOff x="1296" y="2256"/>
              <a:chExt cx="432" cy="240"/>
            </a:xfrm>
          </p:grpSpPr>
          <p:sp>
            <p:nvSpPr>
              <p:cNvPr id="76" name="Line 125">
                <a:extLst>
                  <a:ext uri="{FF2B5EF4-FFF2-40B4-BE49-F238E27FC236}">
                    <a16:creationId xmlns:a16="http://schemas.microsoft.com/office/drawing/2014/main" id="{97F85EAB-3AEB-F822-DA09-0AD8DABAC1A2}"/>
                  </a:ext>
                </a:extLst>
              </p:cNvPr>
              <p:cNvSpPr>
                <a:spLocks noChangeShapeType="1"/>
              </p:cNvSpPr>
              <p:nvPr/>
            </p:nvSpPr>
            <p:spPr bwMode="auto">
              <a:xfrm>
                <a:off x="1728" y="2304"/>
                <a:ext cx="0" cy="192"/>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7" name="Line 126">
                <a:extLst>
                  <a:ext uri="{FF2B5EF4-FFF2-40B4-BE49-F238E27FC236}">
                    <a16:creationId xmlns:a16="http://schemas.microsoft.com/office/drawing/2014/main" id="{4F3066D6-2886-8A15-73D1-896685CCE391}"/>
                  </a:ext>
                </a:extLst>
              </p:cNvPr>
              <p:cNvSpPr>
                <a:spLocks noChangeShapeType="1"/>
              </p:cNvSpPr>
              <p:nvPr/>
            </p:nvSpPr>
            <p:spPr bwMode="auto">
              <a:xfrm>
                <a:off x="1296" y="2304"/>
                <a:ext cx="432" cy="0"/>
              </a:xfrm>
              <a:prstGeom prst="line">
                <a:avLst/>
              </a:prstGeom>
              <a:noFill/>
              <a:ln w="28575">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8" name="AutoShape 127">
                <a:extLst>
                  <a:ext uri="{FF2B5EF4-FFF2-40B4-BE49-F238E27FC236}">
                    <a16:creationId xmlns:a16="http://schemas.microsoft.com/office/drawing/2014/main" id="{C61B84E2-965A-BD9D-088A-93A8F66A552B}"/>
                  </a:ext>
                </a:extLst>
              </p:cNvPr>
              <p:cNvSpPr>
                <a:spLocks noChangeArrowheads="1"/>
              </p:cNvSpPr>
              <p:nvPr/>
            </p:nvSpPr>
            <p:spPr bwMode="auto">
              <a:xfrm flipV="1">
                <a:off x="1488" y="2256"/>
                <a:ext cx="144" cy="144"/>
              </a:xfrm>
              <a:prstGeom prst="triangle">
                <a:avLst>
                  <a:gd name="adj" fmla="val 50000"/>
                </a:avLst>
              </a:prstGeom>
              <a:solidFill>
                <a:schemeClr val="bg1"/>
              </a:solidFill>
              <a:ln w="2857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80" name="Line 128">
                <a:extLst>
                  <a:ext uri="{FF2B5EF4-FFF2-40B4-BE49-F238E27FC236}">
                    <a16:creationId xmlns:a16="http://schemas.microsoft.com/office/drawing/2014/main" id="{CC4D97DB-62AD-5A3A-F7DA-E150D1F0E2F7}"/>
                  </a:ext>
                </a:extLst>
              </p:cNvPr>
              <p:cNvSpPr>
                <a:spLocks noChangeShapeType="1"/>
              </p:cNvSpPr>
              <p:nvPr/>
            </p:nvSpPr>
            <p:spPr bwMode="auto">
              <a:xfrm>
                <a:off x="1296" y="2304"/>
                <a:ext cx="0" cy="96"/>
              </a:xfrm>
              <a:prstGeom prst="line">
                <a:avLst/>
              </a:prstGeom>
              <a:noFill/>
              <a:ln w="28575">
                <a:solidFill>
                  <a:schemeClr val="tx1"/>
                </a:solidFill>
                <a:prstDash val="dash"/>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sp>
        <p:nvSpPr>
          <p:cNvPr id="112" name="Text Box 23">
            <a:extLst>
              <a:ext uri="{FF2B5EF4-FFF2-40B4-BE49-F238E27FC236}">
                <a16:creationId xmlns:a16="http://schemas.microsoft.com/office/drawing/2014/main" id="{4CCF06C2-5D19-D20D-88C4-ABC3A5040E06}"/>
              </a:ext>
            </a:extLst>
          </p:cNvPr>
          <p:cNvSpPr txBox="1">
            <a:spLocks noChangeArrowheads="1"/>
          </p:cNvSpPr>
          <p:nvPr/>
        </p:nvSpPr>
        <p:spPr bwMode="auto">
          <a:xfrm>
            <a:off x="711868" y="4662584"/>
            <a:ext cx="555625" cy="244475"/>
          </a:xfrm>
          <a:prstGeom prst="rect">
            <a:avLst/>
          </a:prstGeom>
          <a:noFill/>
          <a:ln w="12700" cap="sq">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6 days</a:t>
            </a:r>
          </a:p>
        </p:txBody>
      </p:sp>
      <p:sp>
        <p:nvSpPr>
          <p:cNvPr id="113" name="Text Box 23">
            <a:extLst>
              <a:ext uri="{FF2B5EF4-FFF2-40B4-BE49-F238E27FC236}">
                <a16:creationId xmlns:a16="http://schemas.microsoft.com/office/drawing/2014/main" id="{DA4441FE-F86B-79B4-6EE4-6EA0BF5E1A88}"/>
              </a:ext>
            </a:extLst>
          </p:cNvPr>
          <p:cNvSpPr txBox="1">
            <a:spLocks noChangeArrowheads="1"/>
          </p:cNvSpPr>
          <p:nvPr/>
        </p:nvSpPr>
        <p:spPr bwMode="auto">
          <a:xfrm>
            <a:off x="2878054" y="466594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4" name="Text Box 23">
            <a:extLst>
              <a:ext uri="{FF2B5EF4-FFF2-40B4-BE49-F238E27FC236}">
                <a16:creationId xmlns:a16="http://schemas.microsoft.com/office/drawing/2014/main" id="{5186321E-A23D-D845-1696-41F7AEAE9CFD}"/>
              </a:ext>
            </a:extLst>
          </p:cNvPr>
          <p:cNvSpPr txBox="1">
            <a:spLocks noChangeArrowheads="1"/>
          </p:cNvSpPr>
          <p:nvPr/>
        </p:nvSpPr>
        <p:spPr bwMode="auto">
          <a:xfrm>
            <a:off x="6710257" y="4654023"/>
            <a:ext cx="5581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000" b="0" dirty="0">
                <a:solidFill>
                  <a:schemeClr val="tx1"/>
                </a:solidFill>
                <a:latin typeface="Roboto" panose="02000000000000000000" pitchFamily="2" charset="0"/>
                <a:ea typeface="Roboto" panose="02000000000000000000" pitchFamily="2" charset="0"/>
              </a:rPr>
              <a:t>2 days</a:t>
            </a:r>
          </a:p>
        </p:txBody>
      </p:sp>
      <p:sp>
        <p:nvSpPr>
          <p:cNvPr id="115" name="Line 116">
            <a:extLst>
              <a:ext uri="{FF2B5EF4-FFF2-40B4-BE49-F238E27FC236}">
                <a16:creationId xmlns:a16="http://schemas.microsoft.com/office/drawing/2014/main" id="{08082364-8F0D-B7B9-85AA-15DFAFAF4DFA}"/>
              </a:ext>
            </a:extLst>
          </p:cNvPr>
          <p:cNvSpPr>
            <a:spLocks noChangeShapeType="1"/>
          </p:cNvSpPr>
          <p:nvPr/>
        </p:nvSpPr>
        <p:spPr bwMode="auto">
          <a:xfrm flipH="1">
            <a:off x="6068151" y="2365910"/>
            <a:ext cx="1494479" cy="0"/>
          </a:xfrm>
          <a:prstGeom prst="line">
            <a:avLst/>
          </a:prstGeom>
          <a:noFill/>
          <a:ln w="28575"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6" name="Line 117">
            <a:extLst>
              <a:ext uri="{FF2B5EF4-FFF2-40B4-BE49-F238E27FC236}">
                <a16:creationId xmlns:a16="http://schemas.microsoft.com/office/drawing/2014/main" id="{0AB62DAA-9693-C30C-1074-4397E8557B4D}"/>
              </a:ext>
            </a:extLst>
          </p:cNvPr>
          <p:cNvSpPr>
            <a:spLocks noChangeShapeType="1"/>
          </p:cNvSpPr>
          <p:nvPr/>
        </p:nvSpPr>
        <p:spPr bwMode="auto">
          <a:xfrm flipV="1">
            <a:off x="7402663" y="2438935"/>
            <a:ext cx="1577749" cy="7938"/>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9" name="Line 118">
            <a:extLst>
              <a:ext uri="{FF2B5EF4-FFF2-40B4-BE49-F238E27FC236}">
                <a16:creationId xmlns:a16="http://schemas.microsoft.com/office/drawing/2014/main" id="{8A96E82F-4DB2-9313-76EE-0E3DEF7B35B6}"/>
              </a:ext>
            </a:extLst>
          </p:cNvPr>
          <p:cNvSpPr>
            <a:spLocks noChangeShapeType="1"/>
          </p:cNvSpPr>
          <p:nvPr/>
        </p:nvSpPr>
        <p:spPr bwMode="auto">
          <a:xfrm flipV="1">
            <a:off x="7391707" y="2378610"/>
            <a:ext cx="146818" cy="60325"/>
          </a:xfrm>
          <a:prstGeom prst="line">
            <a:avLst/>
          </a:prstGeom>
          <a:noFill/>
          <a:ln w="28575"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0" name="Rectangle 119">
            <a:extLst>
              <a:ext uri="{FF2B5EF4-FFF2-40B4-BE49-F238E27FC236}">
                <a16:creationId xmlns:a16="http://schemas.microsoft.com/office/drawing/2014/main" id="{2CF73C0C-5B74-C5EA-9CE2-826753E912E7}"/>
              </a:ext>
            </a:extLst>
          </p:cNvPr>
          <p:cNvSpPr>
            <a:spLocks noChangeArrowheads="1"/>
          </p:cNvSpPr>
          <p:nvPr/>
        </p:nvSpPr>
        <p:spPr bwMode="auto">
          <a:xfrm>
            <a:off x="7678769" y="2283360"/>
            <a:ext cx="885292" cy="260350"/>
          </a:xfrm>
          <a:prstGeom prst="rect">
            <a:avLst/>
          </a:prstGeom>
          <a:solidFill>
            <a:schemeClr val="bg1"/>
          </a:solidFill>
          <a:ln w="9525"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30/60/90 day</a:t>
            </a:r>
          </a:p>
          <a:p>
            <a:pPr algn="ctr">
              <a:lnSpc>
                <a:spcPct val="90000"/>
              </a:lnSpc>
              <a:spcBef>
                <a:spcPct val="0"/>
              </a:spcBef>
            </a:pPr>
            <a:r>
              <a:rPr lang="en-US" altLang="en-US" sz="800" b="0" dirty="0">
                <a:solidFill>
                  <a:schemeClr val="tx1"/>
                </a:solidFill>
                <a:latin typeface="Roboto" panose="02000000000000000000" pitchFamily="2" charset="0"/>
                <a:ea typeface="Roboto" panose="02000000000000000000" pitchFamily="2" charset="0"/>
              </a:rPr>
              <a:t>Forecast (email)</a:t>
            </a:r>
          </a:p>
        </p:txBody>
      </p:sp>
      <p:graphicFrame>
        <p:nvGraphicFramePr>
          <p:cNvPr id="122" name="Table 13">
            <a:extLst>
              <a:ext uri="{FF2B5EF4-FFF2-40B4-BE49-F238E27FC236}">
                <a16:creationId xmlns:a16="http://schemas.microsoft.com/office/drawing/2014/main" id="{FBA26740-D7F5-18C4-BE5A-2A9DE4056973}"/>
              </a:ext>
            </a:extLst>
          </p:cNvPr>
          <p:cNvGraphicFramePr>
            <a:graphicFrameLocks noGrp="1"/>
          </p:cNvGraphicFramePr>
          <p:nvPr/>
        </p:nvGraphicFramePr>
        <p:xfrm>
          <a:off x="590264" y="5549609"/>
          <a:ext cx="10670334" cy="741680"/>
        </p:xfrm>
        <a:graphic>
          <a:graphicData uri="http://schemas.openxmlformats.org/drawingml/2006/table">
            <a:tbl>
              <a:tblPr firstRow="1" bandRow="1">
                <a:tableStyleId>{5C22544A-7EE6-4342-B048-85BDC9FD1C3A}</a:tableStyleId>
              </a:tblPr>
              <a:tblGrid>
                <a:gridCol w="1065816">
                  <a:extLst>
                    <a:ext uri="{9D8B030D-6E8A-4147-A177-3AD203B41FA5}">
                      <a16:colId xmlns:a16="http://schemas.microsoft.com/office/drawing/2014/main" val="1793455730"/>
                    </a:ext>
                  </a:extLst>
                </a:gridCol>
                <a:gridCol w="1036320">
                  <a:extLst>
                    <a:ext uri="{9D8B030D-6E8A-4147-A177-3AD203B41FA5}">
                      <a16:colId xmlns:a16="http://schemas.microsoft.com/office/drawing/2014/main" val="2931103683"/>
                    </a:ext>
                  </a:extLst>
                </a:gridCol>
                <a:gridCol w="2265680">
                  <a:extLst>
                    <a:ext uri="{9D8B030D-6E8A-4147-A177-3AD203B41FA5}">
                      <a16:colId xmlns:a16="http://schemas.microsoft.com/office/drawing/2014/main" val="167016645"/>
                    </a:ext>
                  </a:extLst>
                </a:gridCol>
                <a:gridCol w="1107440">
                  <a:extLst>
                    <a:ext uri="{9D8B030D-6E8A-4147-A177-3AD203B41FA5}">
                      <a16:colId xmlns:a16="http://schemas.microsoft.com/office/drawing/2014/main" val="2153114181"/>
                    </a:ext>
                  </a:extLst>
                </a:gridCol>
                <a:gridCol w="3139440">
                  <a:extLst>
                    <a:ext uri="{9D8B030D-6E8A-4147-A177-3AD203B41FA5}">
                      <a16:colId xmlns:a16="http://schemas.microsoft.com/office/drawing/2014/main" val="2013974765"/>
                    </a:ext>
                  </a:extLst>
                </a:gridCol>
                <a:gridCol w="2055638">
                  <a:extLst>
                    <a:ext uri="{9D8B030D-6E8A-4147-A177-3AD203B41FA5}">
                      <a16:colId xmlns:a16="http://schemas.microsoft.com/office/drawing/2014/main" val="2624182740"/>
                    </a:ext>
                  </a:extLst>
                </a:gridCol>
              </a:tblGrid>
              <a:tr h="370840">
                <a:tc>
                  <a:txBody>
                    <a:bodyPr/>
                    <a:lstStyle/>
                    <a:p>
                      <a:pPr algn="ctr"/>
                      <a:r>
                        <a:rPr lang="en-US" sz="1200" b="0" dirty="0">
                          <a:solidFill>
                            <a:schemeClr val="tx1"/>
                          </a:solidFill>
                          <a:latin typeface="Roboto" panose="02000000000000000000" pitchFamily="2" charset="0"/>
                          <a:ea typeface="Roboto" panose="02000000000000000000" pitchFamily="2" charset="0"/>
                        </a:rPr>
                        <a:t>6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 days</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 days</a:t>
                      </a:r>
                    </a:p>
                  </a:txBody>
                  <a:tcPr anchor="b">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Production L.T. = 10 days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902235"/>
                  </a:ext>
                </a:extLst>
              </a:tr>
              <a:tr h="370840">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240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Roboto" panose="02000000000000000000" pitchFamily="2" charset="0"/>
                          <a:ea typeface="Roboto" panose="02000000000000000000" pitchFamily="2" charset="0"/>
                        </a:rPr>
                        <a:t>30 sec</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tx1"/>
                        </a:solidFill>
                        <a:latin typeface="Roboto" panose="02000000000000000000" pitchFamily="2" charset="0"/>
                        <a:ea typeface="Roboto" panose="02000000000000000000" pitchFamily="2" charset="0"/>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900" b="0" dirty="0">
                          <a:solidFill>
                            <a:schemeClr val="tx1"/>
                          </a:solidFill>
                          <a:latin typeface="Roboto" panose="02000000000000000000" pitchFamily="2" charset="0"/>
                          <a:ea typeface="Roboto" panose="02000000000000000000" pitchFamily="2" charset="0"/>
                        </a:rPr>
                        <a:t>Processing Time = 270 seconds</a:t>
                      </a: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03419"/>
                  </a:ext>
                </a:extLst>
              </a:tr>
            </a:tbl>
          </a:graphicData>
        </a:graphic>
      </p:graphicFrame>
      <mc:AlternateContent xmlns:mc="http://schemas.openxmlformats.org/markup-compatibility/2006" xmlns:p14="http://schemas.microsoft.com/office/powerpoint/2010/main">
        <mc:Choice Requires="p14">
          <p:contentPart p14:bwMode="auto" r:id="rId5">
            <p14:nvContentPartPr>
              <p14:cNvPr id="128" name="Ink 127">
                <a:extLst>
                  <a:ext uri="{FF2B5EF4-FFF2-40B4-BE49-F238E27FC236}">
                    <a16:creationId xmlns:a16="http://schemas.microsoft.com/office/drawing/2014/main" id="{8A8219C2-1177-0E74-192A-1BE629A748AB}"/>
                  </a:ext>
                </a:extLst>
              </p14:cNvPr>
              <p14:cNvContentPartPr/>
              <p14:nvPr/>
            </p14:nvContentPartPr>
            <p14:xfrm>
              <a:off x="475880" y="1821720"/>
              <a:ext cx="4033800" cy="3121560"/>
            </p14:xfrm>
          </p:contentPart>
        </mc:Choice>
        <mc:Fallback xmlns="">
          <p:pic>
            <p:nvPicPr>
              <p:cNvPr id="128" name="Ink 127">
                <a:extLst>
                  <a:ext uri="{FF2B5EF4-FFF2-40B4-BE49-F238E27FC236}">
                    <a16:creationId xmlns:a16="http://schemas.microsoft.com/office/drawing/2014/main" id="{8A8219C2-1177-0E74-192A-1BE629A748AB}"/>
                  </a:ext>
                </a:extLst>
              </p:cNvPr>
              <p:cNvPicPr/>
              <p:nvPr/>
            </p:nvPicPr>
            <p:blipFill>
              <a:blip r:embed="rId6"/>
              <a:stretch>
                <a:fillRect/>
              </a:stretch>
            </p:blipFill>
            <p:spPr>
              <a:xfrm>
                <a:off x="466880" y="1812720"/>
                <a:ext cx="4051440" cy="313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37" name="Ink 136">
                <a:extLst>
                  <a:ext uri="{FF2B5EF4-FFF2-40B4-BE49-F238E27FC236}">
                    <a16:creationId xmlns:a16="http://schemas.microsoft.com/office/drawing/2014/main" id="{0601A1C5-B031-FA5C-3428-7C9836BF2B23}"/>
                  </a:ext>
                </a:extLst>
              </p14:cNvPr>
              <p14:cNvContentPartPr/>
              <p14:nvPr/>
            </p14:nvContentPartPr>
            <p14:xfrm>
              <a:off x="4643960" y="2047800"/>
              <a:ext cx="6419160" cy="1337040"/>
            </p14:xfrm>
          </p:contentPart>
        </mc:Choice>
        <mc:Fallback xmlns="">
          <p:pic>
            <p:nvPicPr>
              <p:cNvPr id="137" name="Ink 136">
                <a:extLst>
                  <a:ext uri="{FF2B5EF4-FFF2-40B4-BE49-F238E27FC236}">
                    <a16:creationId xmlns:a16="http://schemas.microsoft.com/office/drawing/2014/main" id="{0601A1C5-B031-FA5C-3428-7C9836BF2B23}"/>
                  </a:ext>
                </a:extLst>
              </p:cNvPr>
              <p:cNvPicPr/>
              <p:nvPr/>
            </p:nvPicPr>
            <p:blipFill>
              <a:blip r:embed="rId8"/>
              <a:stretch>
                <a:fillRect/>
              </a:stretch>
            </p:blipFill>
            <p:spPr>
              <a:xfrm>
                <a:off x="4634960" y="2038800"/>
                <a:ext cx="6436800" cy="13546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38" name="Ink 137">
                <a:extLst>
                  <a:ext uri="{FF2B5EF4-FFF2-40B4-BE49-F238E27FC236}">
                    <a16:creationId xmlns:a16="http://schemas.microsoft.com/office/drawing/2014/main" id="{267E4E70-DA5A-1908-28D7-3180FA5F3536}"/>
                  </a:ext>
                </a:extLst>
              </p14:cNvPr>
              <p14:cNvContentPartPr/>
              <p14:nvPr/>
            </p14:nvContentPartPr>
            <p14:xfrm>
              <a:off x="7074680" y="2903520"/>
              <a:ext cx="3617280" cy="2383200"/>
            </p14:xfrm>
          </p:contentPart>
        </mc:Choice>
        <mc:Fallback xmlns="">
          <p:pic>
            <p:nvPicPr>
              <p:cNvPr id="138" name="Ink 137">
                <a:extLst>
                  <a:ext uri="{FF2B5EF4-FFF2-40B4-BE49-F238E27FC236}">
                    <a16:creationId xmlns:a16="http://schemas.microsoft.com/office/drawing/2014/main" id="{267E4E70-DA5A-1908-28D7-3180FA5F3536}"/>
                  </a:ext>
                </a:extLst>
              </p:cNvPr>
              <p:cNvPicPr/>
              <p:nvPr/>
            </p:nvPicPr>
            <p:blipFill>
              <a:blip r:embed="rId10"/>
              <a:stretch>
                <a:fillRect/>
              </a:stretch>
            </p:blipFill>
            <p:spPr>
              <a:xfrm>
                <a:off x="7065680" y="2894520"/>
                <a:ext cx="3634920" cy="2400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40" name="Ink 139">
                <a:extLst>
                  <a:ext uri="{FF2B5EF4-FFF2-40B4-BE49-F238E27FC236}">
                    <a16:creationId xmlns:a16="http://schemas.microsoft.com/office/drawing/2014/main" id="{F70A61DB-5B6F-39ED-2B6E-C3E93495F213}"/>
                  </a:ext>
                </a:extLst>
              </p14:cNvPr>
              <p14:cNvContentPartPr/>
              <p14:nvPr/>
            </p14:nvContentPartPr>
            <p14:xfrm>
              <a:off x="1505120" y="3401760"/>
              <a:ext cx="5725440" cy="2239200"/>
            </p14:xfrm>
          </p:contentPart>
        </mc:Choice>
        <mc:Fallback xmlns="">
          <p:pic>
            <p:nvPicPr>
              <p:cNvPr id="140" name="Ink 139">
                <a:extLst>
                  <a:ext uri="{FF2B5EF4-FFF2-40B4-BE49-F238E27FC236}">
                    <a16:creationId xmlns:a16="http://schemas.microsoft.com/office/drawing/2014/main" id="{F70A61DB-5B6F-39ED-2B6E-C3E93495F213}"/>
                  </a:ext>
                </a:extLst>
              </p:cNvPr>
              <p:cNvPicPr/>
              <p:nvPr/>
            </p:nvPicPr>
            <p:blipFill>
              <a:blip r:embed="rId12"/>
              <a:stretch>
                <a:fillRect/>
              </a:stretch>
            </p:blipFill>
            <p:spPr>
              <a:xfrm>
                <a:off x="1496120" y="3392760"/>
                <a:ext cx="5743080" cy="2256840"/>
              </a:xfrm>
              <a:prstGeom prst="rect">
                <a:avLst/>
              </a:prstGeom>
            </p:spPr>
          </p:pic>
        </mc:Fallback>
      </mc:AlternateContent>
      <p:sp>
        <p:nvSpPr>
          <p:cNvPr id="142" name="Text Box 193">
            <a:extLst>
              <a:ext uri="{FF2B5EF4-FFF2-40B4-BE49-F238E27FC236}">
                <a16:creationId xmlns:a16="http://schemas.microsoft.com/office/drawing/2014/main" id="{C5849023-7853-E9C7-4D3A-ECCC8F5FA6F2}"/>
              </a:ext>
            </a:extLst>
          </p:cNvPr>
          <p:cNvSpPr txBox="1">
            <a:spLocks noChangeArrowheads="1"/>
          </p:cNvSpPr>
          <p:nvPr/>
        </p:nvSpPr>
        <p:spPr bwMode="auto">
          <a:xfrm>
            <a:off x="1392454" y="3062932"/>
            <a:ext cx="1207125" cy="276999"/>
          </a:xfrm>
          <a:prstGeom prst="rect">
            <a:avLst/>
          </a:prstGeom>
          <a:solidFill>
            <a:srgbClr val="EAEAEA"/>
          </a:solidFill>
          <a:ln w="12700" cap="sq">
            <a:solidFill>
              <a:schemeClr val="accent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Supplier Loop</a:t>
            </a:r>
          </a:p>
        </p:txBody>
      </p:sp>
      <p:sp>
        <p:nvSpPr>
          <p:cNvPr id="143" name="Text Box 193">
            <a:extLst>
              <a:ext uri="{FF2B5EF4-FFF2-40B4-BE49-F238E27FC236}">
                <a16:creationId xmlns:a16="http://schemas.microsoft.com/office/drawing/2014/main" id="{8FFF5351-3034-28D5-32E6-F0994617E572}"/>
              </a:ext>
            </a:extLst>
          </p:cNvPr>
          <p:cNvSpPr txBox="1">
            <a:spLocks noChangeArrowheads="1"/>
          </p:cNvSpPr>
          <p:nvPr/>
        </p:nvSpPr>
        <p:spPr bwMode="auto">
          <a:xfrm>
            <a:off x="3231846" y="4903216"/>
            <a:ext cx="1207125" cy="276999"/>
          </a:xfrm>
          <a:prstGeom prst="rect">
            <a:avLst/>
          </a:prstGeom>
          <a:solidFill>
            <a:srgbClr val="EAEAEA"/>
          </a:solidFill>
          <a:ln w="12700" cap="sq">
            <a:solidFill>
              <a:schemeClr val="accent1"/>
            </a:solidFill>
            <a:miter lim="800000"/>
            <a:headEnd type="none" w="sm" len="sm"/>
            <a:tailEnd type="none" w="sm" len="sm"/>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err="1">
                <a:solidFill>
                  <a:schemeClr val="accent1"/>
                </a:solidFill>
                <a:latin typeface="Roboto" panose="02000000000000000000" pitchFamily="2" charset="0"/>
                <a:ea typeface="Roboto" panose="02000000000000000000" pitchFamily="2" charset="0"/>
              </a:rPr>
              <a:t>Mfg</a:t>
            </a:r>
            <a:r>
              <a:rPr lang="en-US" altLang="en-US" sz="1200" dirty="0">
                <a:solidFill>
                  <a:schemeClr val="accent1"/>
                </a:solidFill>
                <a:latin typeface="Roboto" panose="02000000000000000000" pitchFamily="2" charset="0"/>
                <a:ea typeface="Roboto" panose="02000000000000000000" pitchFamily="2" charset="0"/>
              </a:rPr>
              <a:t> Loop</a:t>
            </a:r>
          </a:p>
        </p:txBody>
      </p:sp>
      <p:sp>
        <p:nvSpPr>
          <p:cNvPr id="144" name="Text Box 193">
            <a:extLst>
              <a:ext uri="{FF2B5EF4-FFF2-40B4-BE49-F238E27FC236}">
                <a16:creationId xmlns:a16="http://schemas.microsoft.com/office/drawing/2014/main" id="{DB9A7621-067E-8533-5319-860A4FEA655E}"/>
              </a:ext>
            </a:extLst>
          </p:cNvPr>
          <p:cNvSpPr txBox="1">
            <a:spLocks noChangeArrowheads="1"/>
          </p:cNvSpPr>
          <p:nvPr/>
        </p:nvSpPr>
        <p:spPr bwMode="auto">
          <a:xfrm>
            <a:off x="8525806" y="1945502"/>
            <a:ext cx="1363535" cy="276999"/>
          </a:xfrm>
          <a:prstGeom prst="rect">
            <a:avLst/>
          </a:prstGeom>
          <a:solidFill>
            <a:srgbClr val="EAEAEA"/>
          </a:solidFill>
          <a:ln w="12700" cap="sq">
            <a:solidFill>
              <a:schemeClr val="accent1"/>
            </a:solid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Information Loop</a:t>
            </a:r>
          </a:p>
        </p:txBody>
      </p:sp>
      <p:sp>
        <p:nvSpPr>
          <p:cNvPr id="145" name="Text Box 193">
            <a:extLst>
              <a:ext uri="{FF2B5EF4-FFF2-40B4-BE49-F238E27FC236}">
                <a16:creationId xmlns:a16="http://schemas.microsoft.com/office/drawing/2014/main" id="{A94EC690-0F96-DD50-3827-0A18402179BD}"/>
              </a:ext>
            </a:extLst>
          </p:cNvPr>
          <p:cNvSpPr txBox="1">
            <a:spLocks noChangeArrowheads="1"/>
          </p:cNvSpPr>
          <p:nvPr/>
        </p:nvSpPr>
        <p:spPr bwMode="auto">
          <a:xfrm>
            <a:off x="7888490" y="4791396"/>
            <a:ext cx="1516855" cy="276999"/>
          </a:xfrm>
          <a:prstGeom prst="rect">
            <a:avLst/>
          </a:prstGeom>
          <a:solidFill>
            <a:srgbClr val="EAEAEA"/>
          </a:solidFill>
          <a:ln w="12700" cap="sq">
            <a:solidFill>
              <a:schemeClr val="accent1"/>
            </a:solidFill>
            <a:miter lim="800000"/>
            <a:headEnd type="none" w="sm" len="sm"/>
            <a:tailEnd type="none" w="sm" len="sm"/>
          </a:ln>
        </p:spPr>
        <p:txBody>
          <a:bodyPr wrap="squar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100000"/>
              </a:lnSpc>
              <a:spcBef>
                <a:spcPct val="30000"/>
              </a:spcBef>
            </a:pPr>
            <a:r>
              <a:rPr lang="en-US" altLang="en-US" sz="1200" dirty="0">
                <a:solidFill>
                  <a:schemeClr val="accent1"/>
                </a:solidFill>
                <a:latin typeface="Roboto" panose="02000000000000000000" pitchFamily="2" charset="0"/>
                <a:ea typeface="Roboto" panose="02000000000000000000" pitchFamily="2" charset="0"/>
              </a:rPr>
              <a:t>Pacemaker Loop</a:t>
            </a:r>
          </a:p>
        </p:txBody>
      </p:sp>
      <p:grpSp>
        <p:nvGrpSpPr>
          <p:cNvPr id="139" name="Group 138">
            <a:extLst>
              <a:ext uri="{FF2B5EF4-FFF2-40B4-BE49-F238E27FC236}">
                <a16:creationId xmlns:a16="http://schemas.microsoft.com/office/drawing/2014/main" id="{B61CEFB5-4CD5-A705-D8A9-FEF460F8A1F6}"/>
              </a:ext>
            </a:extLst>
          </p:cNvPr>
          <p:cNvGrpSpPr/>
          <p:nvPr/>
        </p:nvGrpSpPr>
        <p:grpSpPr>
          <a:xfrm>
            <a:off x="838200" y="297639"/>
            <a:ext cx="5391150" cy="307138"/>
            <a:chOff x="838200" y="297639"/>
            <a:chExt cx="5391150" cy="307138"/>
          </a:xfrm>
        </p:grpSpPr>
        <p:grpSp>
          <p:nvGrpSpPr>
            <p:cNvPr id="141" name="Group 140">
              <a:extLst>
                <a:ext uri="{FF2B5EF4-FFF2-40B4-BE49-F238E27FC236}">
                  <a16:creationId xmlns:a16="http://schemas.microsoft.com/office/drawing/2014/main" id="{AA8E8B3D-522A-C74C-AE33-6E00B17F0B9E}"/>
                </a:ext>
              </a:extLst>
            </p:cNvPr>
            <p:cNvGrpSpPr/>
            <p:nvPr/>
          </p:nvGrpSpPr>
          <p:grpSpPr>
            <a:xfrm>
              <a:off x="838200" y="297639"/>
              <a:ext cx="1687517" cy="290657"/>
              <a:chOff x="838200" y="297639"/>
              <a:chExt cx="1687517" cy="290657"/>
            </a:xfrm>
          </p:grpSpPr>
          <p:sp>
            <p:nvSpPr>
              <p:cNvPr id="147" name="AutoShape 9">
                <a:extLst>
                  <a:ext uri="{FF2B5EF4-FFF2-40B4-BE49-F238E27FC236}">
                    <a16:creationId xmlns:a16="http://schemas.microsoft.com/office/drawing/2014/main" id="{E239ED90-6A39-7201-7206-4B4471D8F901}"/>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48" name="AutoShape 9">
                <a:extLst>
                  <a:ext uri="{FF2B5EF4-FFF2-40B4-BE49-F238E27FC236}">
                    <a16:creationId xmlns:a16="http://schemas.microsoft.com/office/drawing/2014/main" id="{4EA266C7-5279-3075-C009-7DC526A1EF8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49" name="Group 148">
                <a:extLst>
                  <a:ext uri="{FF2B5EF4-FFF2-40B4-BE49-F238E27FC236}">
                    <a16:creationId xmlns:a16="http://schemas.microsoft.com/office/drawing/2014/main" id="{7EB3A647-7E20-A607-CCC8-C60975FFD540}"/>
                  </a:ext>
                </a:extLst>
              </p:cNvPr>
              <p:cNvGrpSpPr/>
              <p:nvPr/>
            </p:nvGrpSpPr>
            <p:grpSpPr>
              <a:xfrm>
                <a:off x="838200" y="297639"/>
                <a:ext cx="1060167" cy="290657"/>
                <a:chOff x="826426" y="4041857"/>
                <a:chExt cx="1060167" cy="290657"/>
              </a:xfrm>
            </p:grpSpPr>
            <p:sp>
              <p:nvSpPr>
                <p:cNvPr id="150" name="AutoShape 9">
                  <a:extLst>
                    <a:ext uri="{FF2B5EF4-FFF2-40B4-BE49-F238E27FC236}">
                      <a16:creationId xmlns:a16="http://schemas.microsoft.com/office/drawing/2014/main" id="{56034484-D34E-6BD7-92DF-F649EA59337B}"/>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51" name="AutoShape 11">
                  <a:extLst>
                    <a:ext uri="{FF2B5EF4-FFF2-40B4-BE49-F238E27FC236}">
                      <a16:creationId xmlns:a16="http://schemas.microsoft.com/office/drawing/2014/main" id="{8169F1CB-791B-4290-6E1C-384A25218032}"/>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52" name="AutoShape 10">
                  <a:extLst>
                    <a:ext uri="{FF2B5EF4-FFF2-40B4-BE49-F238E27FC236}">
                      <a16:creationId xmlns:a16="http://schemas.microsoft.com/office/drawing/2014/main" id="{8D29FE58-691E-3852-3A2C-12F39AA9179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46" name="TextBox 145">
              <a:extLst>
                <a:ext uri="{FF2B5EF4-FFF2-40B4-BE49-F238E27FC236}">
                  <a16:creationId xmlns:a16="http://schemas.microsoft.com/office/drawing/2014/main" id="{1807BA7C-026F-EB3F-567B-63EE0C23FE89}"/>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153" name="Text Box 191">
            <a:extLst>
              <a:ext uri="{FF2B5EF4-FFF2-40B4-BE49-F238E27FC236}">
                <a16:creationId xmlns:a16="http://schemas.microsoft.com/office/drawing/2014/main" id="{5ED0C1F7-A65E-3539-CB8D-702F3A8C6945}"/>
              </a:ext>
            </a:extLst>
          </p:cNvPr>
          <p:cNvSpPr txBox="1">
            <a:spLocks noChangeArrowheads="1"/>
          </p:cNvSpPr>
          <p:nvPr/>
        </p:nvSpPr>
        <p:spPr bwMode="auto">
          <a:xfrm>
            <a:off x="465138" y="2554288"/>
            <a:ext cx="3635375" cy="1387475"/>
          </a:xfrm>
          <a:prstGeom prst="rect">
            <a:avLst/>
          </a:prstGeom>
          <a:solidFill>
            <a:schemeClr val="bg2"/>
          </a:solidFill>
          <a:ln w="28575">
            <a:solidFill>
              <a:schemeClr val="tx1"/>
            </a:solid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50000"/>
              </a:spcBef>
            </a:pPr>
            <a:r>
              <a:rPr lang="en-US" altLang="en-US" sz="1000" u="sng" dirty="0">
                <a:solidFill>
                  <a:schemeClr val="tx1"/>
                </a:solidFill>
                <a:latin typeface="Roboto" panose="02000000000000000000" pitchFamily="2" charset="0"/>
                <a:ea typeface="Roboto" panose="02000000000000000000" pitchFamily="2" charset="0"/>
              </a:rPr>
              <a:t>Supplier Loop</a:t>
            </a:r>
            <a:r>
              <a:rPr lang="en-US" altLang="en-US" sz="1000" dirty="0">
                <a:solidFill>
                  <a:schemeClr val="tx1"/>
                </a:solidFill>
                <a:latin typeface="Roboto" panose="02000000000000000000" pitchFamily="2" charset="0"/>
                <a:ea typeface="Roboto" panose="02000000000000000000" pitchFamily="2" charset="0"/>
              </a:rPr>
              <a:t>:</a:t>
            </a:r>
          </a:p>
          <a:p>
            <a:pPr algn="l">
              <a:lnSpc>
                <a:spcPct val="100000"/>
              </a:lnSpc>
              <a:spcBef>
                <a:spcPct val="50000"/>
              </a:spcBef>
            </a:pPr>
            <a:r>
              <a:rPr lang="en-US" altLang="en-US" sz="1000" dirty="0">
                <a:solidFill>
                  <a:schemeClr val="tx1"/>
                </a:solidFill>
                <a:latin typeface="Roboto" panose="02000000000000000000" pitchFamily="2" charset="0"/>
                <a:ea typeface="Roboto" panose="02000000000000000000" pitchFamily="2" charset="0"/>
              </a:rPr>
              <a:t>Since Acme is a local supplier, increase shipments to 1 x day</a:t>
            </a:r>
          </a:p>
          <a:p>
            <a:pPr algn="l">
              <a:lnSpc>
                <a:spcPct val="100000"/>
              </a:lnSpc>
              <a:spcBef>
                <a:spcPct val="50000"/>
              </a:spcBef>
            </a:pPr>
            <a:r>
              <a:rPr lang="en-US" altLang="en-US" sz="1000" dirty="0">
                <a:solidFill>
                  <a:schemeClr val="tx1"/>
                </a:solidFill>
                <a:latin typeface="Roboto" panose="02000000000000000000" pitchFamily="2" charset="0"/>
                <a:ea typeface="Roboto" panose="02000000000000000000" pitchFamily="2" charset="0"/>
              </a:rPr>
              <a:t>Send real-time electronic kanban to Acme to determine exactly what to deliver each day based on consumption, also eliminating the weekly fax</a:t>
            </a:r>
          </a:p>
          <a:p>
            <a:pPr algn="l">
              <a:lnSpc>
                <a:spcPct val="100000"/>
              </a:lnSpc>
              <a:spcBef>
                <a:spcPct val="50000"/>
              </a:spcBef>
            </a:pPr>
            <a:endParaRPr lang="en-US" altLang="en-US" sz="1000" dirty="0">
              <a:solidFill>
                <a:schemeClr val="tx1"/>
              </a:solidFill>
              <a:latin typeface="Roboto" panose="02000000000000000000" pitchFamily="2" charset="0"/>
              <a:ea typeface="Roboto" panose="02000000000000000000" pitchFamily="2" charset="0"/>
            </a:endParaRPr>
          </a:p>
        </p:txBody>
      </p:sp>
      <p:sp>
        <p:nvSpPr>
          <p:cNvPr id="154" name="Text Box 192">
            <a:extLst>
              <a:ext uri="{FF2B5EF4-FFF2-40B4-BE49-F238E27FC236}">
                <a16:creationId xmlns:a16="http://schemas.microsoft.com/office/drawing/2014/main" id="{059B2118-5253-B0EF-30F2-00D1C7CDE72F}"/>
              </a:ext>
            </a:extLst>
          </p:cNvPr>
          <p:cNvSpPr txBox="1">
            <a:spLocks noChangeArrowheads="1"/>
          </p:cNvSpPr>
          <p:nvPr/>
        </p:nvSpPr>
        <p:spPr bwMode="auto">
          <a:xfrm>
            <a:off x="2442834" y="4475083"/>
            <a:ext cx="4419600" cy="1006475"/>
          </a:xfrm>
          <a:prstGeom prst="rect">
            <a:avLst/>
          </a:prstGeom>
          <a:solidFill>
            <a:schemeClr val="bg2"/>
          </a:solidFill>
          <a:ln w="28575">
            <a:solidFill>
              <a:schemeClr val="tx1"/>
            </a:solid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50000"/>
              </a:spcBef>
            </a:pPr>
            <a:r>
              <a:rPr lang="en-US" altLang="en-US" sz="1000" u="sng" dirty="0" err="1">
                <a:solidFill>
                  <a:schemeClr val="tx1"/>
                </a:solidFill>
                <a:latin typeface="Roboto" panose="02000000000000000000" pitchFamily="2" charset="0"/>
                <a:ea typeface="Roboto" panose="02000000000000000000" pitchFamily="2" charset="0"/>
              </a:rPr>
              <a:t>Mfg</a:t>
            </a:r>
            <a:r>
              <a:rPr lang="en-US" altLang="en-US" sz="1000" u="sng" dirty="0">
                <a:solidFill>
                  <a:schemeClr val="tx1"/>
                </a:solidFill>
                <a:latin typeface="Roboto" panose="02000000000000000000" pitchFamily="2" charset="0"/>
                <a:ea typeface="Roboto" panose="02000000000000000000" pitchFamily="2" charset="0"/>
              </a:rPr>
              <a:t> Loop</a:t>
            </a:r>
            <a:r>
              <a:rPr lang="en-US" altLang="en-US" sz="1000" dirty="0">
                <a:solidFill>
                  <a:schemeClr val="tx1"/>
                </a:solidFill>
                <a:latin typeface="Roboto" panose="02000000000000000000" pitchFamily="2" charset="0"/>
                <a:ea typeface="Roboto" panose="02000000000000000000" pitchFamily="2" charset="0"/>
              </a:rPr>
              <a:t>:</a:t>
            </a:r>
          </a:p>
          <a:p>
            <a:pPr algn="l">
              <a:lnSpc>
                <a:spcPct val="100000"/>
              </a:lnSpc>
              <a:spcBef>
                <a:spcPct val="50000"/>
              </a:spcBef>
            </a:pPr>
            <a:r>
              <a:rPr lang="en-US" altLang="en-US" sz="1000" dirty="0">
                <a:solidFill>
                  <a:schemeClr val="tx1"/>
                </a:solidFill>
                <a:latin typeface="Roboto" panose="02000000000000000000" pitchFamily="2" charset="0"/>
                <a:ea typeface="Roboto" panose="02000000000000000000" pitchFamily="2" charset="0"/>
              </a:rPr>
              <a:t>Continue to lower inventories as quality improves and demand is smoothed</a:t>
            </a:r>
            <a:endParaRPr lang="en-US" altLang="en-US" sz="1000" b="0" dirty="0">
              <a:solidFill>
                <a:schemeClr val="tx1"/>
              </a:solidFill>
              <a:latin typeface="Roboto" panose="02000000000000000000" pitchFamily="2" charset="0"/>
              <a:ea typeface="Roboto" panose="02000000000000000000" pitchFamily="2" charset="0"/>
            </a:endParaRPr>
          </a:p>
          <a:p>
            <a:pPr algn="l">
              <a:lnSpc>
                <a:spcPct val="100000"/>
              </a:lnSpc>
              <a:spcBef>
                <a:spcPct val="50000"/>
              </a:spcBef>
            </a:pPr>
            <a:r>
              <a:rPr lang="en-US" altLang="en-US" sz="1000" b="0" dirty="0">
                <a:solidFill>
                  <a:schemeClr val="tx1"/>
                </a:solidFill>
                <a:latin typeface="Roboto" panose="02000000000000000000" pitchFamily="2" charset="0"/>
                <a:ea typeface="Roboto" panose="02000000000000000000" pitchFamily="2" charset="0"/>
              </a:rPr>
              <a:t>(</a:t>
            </a:r>
            <a:r>
              <a:rPr lang="en-US" altLang="en-US" sz="1000" dirty="0">
                <a:solidFill>
                  <a:schemeClr val="tx1"/>
                </a:solidFill>
                <a:latin typeface="Roboto" panose="02000000000000000000" pitchFamily="2" charset="0"/>
                <a:ea typeface="Roboto" panose="02000000000000000000" pitchFamily="2" charset="0"/>
              </a:rPr>
              <a:t>Long-term) – Have Acme deliver sheets in cut size to eliminate the Cut operation entirely</a:t>
            </a:r>
          </a:p>
        </p:txBody>
      </p:sp>
      <p:sp>
        <p:nvSpPr>
          <p:cNvPr id="155" name="Text Box 193">
            <a:extLst>
              <a:ext uri="{FF2B5EF4-FFF2-40B4-BE49-F238E27FC236}">
                <a16:creationId xmlns:a16="http://schemas.microsoft.com/office/drawing/2014/main" id="{B7E38644-8D44-A19F-F3E3-F164DB4855AD}"/>
              </a:ext>
            </a:extLst>
          </p:cNvPr>
          <p:cNvSpPr txBox="1">
            <a:spLocks noChangeArrowheads="1"/>
          </p:cNvSpPr>
          <p:nvPr/>
        </p:nvSpPr>
        <p:spPr bwMode="auto">
          <a:xfrm>
            <a:off x="6918470" y="2142475"/>
            <a:ext cx="4116388" cy="1158875"/>
          </a:xfrm>
          <a:prstGeom prst="rect">
            <a:avLst/>
          </a:prstGeom>
          <a:solidFill>
            <a:schemeClr val="bg2"/>
          </a:solidFill>
          <a:ln w="28575">
            <a:solidFill>
              <a:schemeClr val="tx1"/>
            </a:solid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50000"/>
              </a:spcBef>
            </a:pPr>
            <a:r>
              <a:rPr lang="en-US" altLang="en-US" sz="1000" u="sng" dirty="0">
                <a:solidFill>
                  <a:schemeClr val="tx1"/>
                </a:solidFill>
                <a:latin typeface="Roboto" panose="02000000000000000000" pitchFamily="2" charset="0"/>
                <a:ea typeface="Roboto" panose="02000000000000000000" pitchFamily="2" charset="0"/>
              </a:rPr>
              <a:t>Information Loop</a:t>
            </a:r>
            <a:r>
              <a:rPr lang="en-US" altLang="en-US" sz="1000" dirty="0">
                <a:solidFill>
                  <a:schemeClr val="tx1"/>
                </a:solidFill>
                <a:latin typeface="Roboto" panose="02000000000000000000" pitchFamily="2" charset="0"/>
                <a:ea typeface="Roboto" panose="02000000000000000000" pitchFamily="2" charset="0"/>
              </a:rPr>
              <a:t>:</a:t>
            </a:r>
          </a:p>
          <a:p>
            <a:pPr algn="l">
              <a:lnSpc>
                <a:spcPct val="100000"/>
              </a:lnSpc>
              <a:spcBef>
                <a:spcPct val="50000"/>
              </a:spcBef>
            </a:pPr>
            <a:r>
              <a:rPr lang="en-US" altLang="en-US" sz="1000" dirty="0">
                <a:solidFill>
                  <a:schemeClr val="tx1"/>
                </a:solidFill>
                <a:latin typeface="Roboto" panose="02000000000000000000" pitchFamily="2" charset="0"/>
                <a:ea typeface="Roboto" panose="02000000000000000000" pitchFamily="2" charset="0"/>
              </a:rPr>
              <a:t>Work with the customer (Ed</a:t>
            </a:r>
            <a:r>
              <a:rPr lang="ja-JP" altLang="en-US" sz="1000" dirty="0">
                <a:solidFill>
                  <a:schemeClr val="tx1"/>
                </a:solidFill>
                <a:latin typeface="Roboto" panose="02000000000000000000" pitchFamily="2" charset="0"/>
              </a:rPr>
              <a:t>’</a:t>
            </a:r>
            <a:r>
              <a:rPr lang="en-US" altLang="ja-JP" sz="1000" dirty="0">
                <a:solidFill>
                  <a:schemeClr val="tx1"/>
                </a:solidFill>
                <a:latin typeface="Roboto" panose="02000000000000000000" pitchFamily="2" charset="0"/>
                <a:ea typeface="Roboto" panose="02000000000000000000" pitchFamily="2" charset="0"/>
              </a:rPr>
              <a:t>s) to smooth out demand over longer periods of time, making forecasting and scheduling more stable and accurate</a:t>
            </a:r>
          </a:p>
          <a:p>
            <a:pPr algn="l">
              <a:lnSpc>
                <a:spcPct val="100000"/>
              </a:lnSpc>
              <a:spcBef>
                <a:spcPct val="50000"/>
              </a:spcBef>
            </a:pPr>
            <a:r>
              <a:rPr lang="en-US" altLang="en-US" sz="1000" dirty="0">
                <a:solidFill>
                  <a:schemeClr val="tx1"/>
                </a:solidFill>
                <a:latin typeface="Roboto" panose="02000000000000000000" pitchFamily="2" charset="0"/>
                <a:ea typeface="Roboto" panose="02000000000000000000" pitchFamily="2" charset="0"/>
              </a:rPr>
              <a:t>Production control role changes to long term oversight of inventories and supply chain</a:t>
            </a:r>
          </a:p>
        </p:txBody>
      </p:sp>
      <p:sp>
        <p:nvSpPr>
          <p:cNvPr id="156" name="Text Box 195">
            <a:extLst>
              <a:ext uri="{FF2B5EF4-FFF2-40B4-BE49-F238E27FC236}">
                <a16:creationId xmlns:a16="http://schemas.microsoft.com/office/drawing/2014/main" id="{4BC71A78-CAEC-286D-625D-799F7D3409DA}"/>
              </a:ext>
            </a:extLst>
          </p:cNvPr>
          <p:cNvSpPr txBox="1">
            <a:spLocks noChangeArrowheads="1"/>
          </p:cNvSpPr>
          <p:nvPr/>
        </p:nvSpPr>
        <p:spPr bwMode="auto">
          <a:xfrm>
            <a:off x="6683198" y="3461508"/>
            <a:ext cx="4419600" cy="1006475"/>
          </a:xfrm>
          <a:prstGeom prst="rect">
            <a:avLst/>
          </a:prstGeom>
          <a:solidFill>
            <a:schemeClr val="bg2"/>
          </a:solidFill>
          <a:ln w="28575">
            <a:solidFill>
              <a:schemeClr val="tx1"/>
            </a:solidFill>
          </a:ln>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00000"/>
              </a:lnSpc>
              <a:spcBef>
                <a:spcPct val="50000"/>
              </a:spcBef>
            </a:pPr>
            <a:r>
              <a:rPr lang="en-US" altLang="en-US" sz="1000" u="sng" dirty="0">
                <a:solidFill>
                  <a:schemeClr val="tx1"/>
                </a:solidFill>
                <a:latin typeface="Roboto" panose="02000000000000000000" pitchFamily="2" charset="0"/>
                <a:ea typeface="Roboto" panose="02000000000000000000" pitchFamily="2" charset="0"/>
              </a:rPr>
              <a:t>Pacemaker Loop</a:t>
            </a:r>
            <a:r>
              <a:rPr lang="en-US" altLang="en-US" sz="1000" dirty="0">
                <a:solidFill>
                  <a:schemeClr val="tx1"/>
                </a:solidFill>
                <a:latin typeface="Roboto" panose="02000000000000000000" pitchFamily="2" charset="0"/>
                <a:ea typeface="Roboto" panose="02000000000000000000" pitchFamily="2" charset="0"/>
              </a:rPr>
              <a:t>:</a:t>
            </a:r>
          </a:p>
          <a:p>
            <a:pPr algn="l">
              <a:lnSpc>
                <a:spcPct val="100000"/>
              </a:lnSpc>
              <a:spcBef>
                <a:spcPct val="50000"/>
              </a:spcBef>
            </a:pPr>
            <a:r>
              <a:rPr lang="en-US" altLang="en-US" sz="1000" dirty="0">
                <a:solidFill>
                  <a:schemeClr val="tx1"/>
                </a:solidFill>
                <a:latin typeface="Roboto" panose="02000000000000000000" pitchFamily="2" charset="0"/>
                <a:ea typeface="Roboto" panose="02000000000000000000" pitchFamily="2" charset="0"/>
              </a:rPr>
              <a:t>Have Ed</a:t>
            </a:r>
            <a:r>
              <a:rPr lang="ja-JP" altLang="en-US" sz="1000" dirty="0">
                <a:solidFill>
                  <a:schemeClr val="tx1"/>
                </a:solidFill>
                <a:latin typeface="Roboto" panose="02000000000000000000" pitchFamily="2" charset="0"/>
              </a:rPr>
              <a:t>’</a:t>
            </a:r>
            <a:r>
              <a:rPr lang="en-US" altLang="ja-JP" sz="1000" dirty="0">
                <a:solidFill>
                  <a:schemeClr val="tx1"/>
                </a:solidFill>
                <a:latin typeface="Roboto" panose="02000000000000000000" pitchFamily="2" charset="0"/>
                <a:ea typeface="Roboto" panose="02000000000000000000" pitchFamily="2" charset="0"/>
              </a:rPr>
              <a:t>s Electrical Supply send electronic kanban Withdrawal Cards to Shipping based on consumption</a:t>
            </a:r>
          </a:p>
          <a:p>
            <a:pPr algn="l">
              <a:lnSpc>
                <a:spcPct val="100000"/>
              </a:lnSpc>
              <a:spcBef>
                <a:spcPct val="50000"/>
              </a:spcBef>
            </a:pPr>
            <a:r>
              <a:rPr lang="en-US" altLang="en-US" sz="1000" dirty="0">
                <a:solidFill>
                  <a:schemeClr val="tx1"/>
                </a:solidFill>
                <a:latin typeface="Roboto" panose="02000000000000000000" pitchFamily="2" charset="0"/>
                <a:ea typeface="Roboto" panose="02000000000000000000" pitchFamily="2" charset="0"/>
              </a:rPr>
              <a:t>Daily shipments are based on </a:t>
            </a:r>
            <a:r>
              <a:rPr lang="ja-JP" altLang="en-US" sz="1000" dirty="0">
                <a:solidFill>
                  <a:schemeClr val="tx1"/>
                </a:solidFill>
                <a:latin typeface="Roboto" panose="02000000000000000000" pitchFamily="2" charset="0"/>
              </a:rPr>
              <a:t>“</a:t>
            </a:r>
            <a:r>
              <a:rPr lang="en-US" altLang="ja-JP" sz="1000" dirty="0">
                <a:solidFill>
                  <a:schemeClr val="tx1"/>
                </a:solidFill>
                <a:latin typeface="Roboto" panose="02000000000000000000" pitchFamily="2" charset="0"/>
                <a:ea typeface="Roboto" panose="02000000000000000000" pitchFamily="2" charset="0"/>
              </a:rPr>
              <a:t>real-time</a:t>
            </a:r>
            <a:r>
              <a:rPr lang="ja-JP" altLang="en-US" sz="1000" dirty="0">
                <a:solidFill>
                  <a:schemeClr val="tx1"/>
                </a:solidFill>
                <a:latin typeface="Roboto" panose="02000000000000000000" pitchFamily="2" charset="0"/>
              </a:rPr>
              <a:t>”</a:t>
            </a:r>
            <a:r>
              <a:rPr lang="en-US" altLang="ja-JP" sz="1000" dirty="0">
                <a:solidFill>
                  <a:schemeClr val="tx1"/>
                </a:solidFill>
                <a:latin typeface="Roboto" panose="02000000000000000000" pitchFamily="2" charset="0"/>
                <a:ea typeface="Roboto" panose="02000000000000000000" pitchFamily="2" charset="0"/>
              </a:rPr>
              <a:t> kanban signals, replacing daily EDI Orders</a:t>
            </a:r>
            <a:endParaRPr lang="en-US" altLang="en-US" sz="1000" dirty="0">
              <a:solidFill>
                <a:schemeClr val="tx1"/>
              </a:solidFill>
              <a:latin typeface="Roboto" panose="02000000000000000000" pitchFamily="2" charset="0"/>
              <a:ea typeface="Roboto" panose="02000000000000000000" pitchFamily="2" charset="0"/>
            </a:endParaRPr>
          </a:p>
        </p:txBody>
      </p:sp>
    </p:spTree>
    <p:extLst>
      <p:ext uri="{BB962C8B-B14F-4D97-AF65-F5344CB8AC3E}">
        <p14:creationId xmlns:p14="http://schemas.microsoft.com/office/powerpoint/2010/main" val="2304709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dissolve">
                                      <p:cBhvr>
                                        <p:cTn id="11" dur="1000"/>
                                        <p:tgtEl>
                                          <p:spTgt spid="1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dissolve">
                                      <p:cBhvr>
                                        <p:cTn id="16" dur="1000"/>
                                        <p:tgtEl>
                                          <p:spTgt spid="71"/>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53"/>
                                        </p:tgtEl>
                                        <p:attrNameLst>
                                          <p:attrName>style.visibility</p:attrName>
                                        </p:attrNameLst>
                                      </p:cBhvr>
                                      <p:to>
                                        <p:strVal val="visible"/>
                                      </p:to>
                                    </p:set>
                                  </p:childTnLst>
                                  <p:subTnLst>
                                    <p:set>
                                      <p:cBhvr override="childStyle">
                                        <p:cTn dur="1" fill="hold" display="0" masterRel="nextClick" afterEffect="1"/>
                                        <p:tgtEl>
                                          <p:spTgt spid="153"/>
                                        </p:tgtEl>
                                        <p:attrNameLst>
                                          <p:attrName>style.visibility</p:attrName>
                                        </p:attrNameLst>
                                      </p:cBhvr>
                                      <p:to>
                                        <p:strVal val="hidden"/>
                                      </p:to>
                                    </p:set>
                                  </p:sub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54"/>
                                        </p:tgtEl>
                                        <p:attrNameLst>
                                          <p:attrName>style.visibility</p:attrName>
                                        </p:attrNameLst>
                                      </p:cBhvr>
                                      <p:to>
                                        <p:strVal val="visible"/>
                                      </p:to>
                                    </p:set>
                                  </p:childTnLst>
                                  <p:subTnLst>
                                    <p:set>
                                      <p:cBhvr override="childStyle">
                                        <p:cTn dur="1" fill="hold" display="0" masterRel="nextClick" afterEffect="1"/>
                                        <p:tgtEl>
                                          <p:spTgt spid="154"/>
                                        </p:tgtEl>
                                        <p:attrNameLst>
                                          <p:attrName>style.visibility</p:attrName>
                                        </p:attrNameLst>
                                      </p:cBhvr>
                                      <p:to>
                                        <p:strVal val="hidden"/>
                                      </p:to>
                                    </p:set>
                                  </p:sub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56"/>
                                        </p:tgtEl>
                                        <p:attrNameLst>
                                          <p:attrName>style.visibility</p:attrName>
                                        </p:attrNameLst>
                                      </p:cBhvr>
                                      <p:to>
                                        <p:strVal val="visible"/>
                                      </p:to>
                                    </p:set>
                                  </p:childTnLst>
                                  <p:subTnLst>
                                    <p:set>
                                      <p:cBhvr override="childStyle">
                                        <p:cTn dur="1" fill="hold" display="0" masterRel="nextClick" afterEffect="1"/>
                                        <p:tgtEl>
                                          <p:spTgt spid="156"/>
                                        </p:tgtEl>
                                        <p:attrNameLst>
                                          <p:attrName>style.visibility</p:attrName>
                                        </p:attrNameLst>
                                      </p:cBhvr>
                                      <p:to>
                                        <p:strVal val="hidden"/>
                                      </p:to>
                                    </p:set>
                                  </p:sub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153" grpId="0" animBg="1"/>
      <p:bldP spid="154" grpId="0" animBg="1"/>
      <p:bldP spid="155" grpId="0" animBg="1"/>
      <p:bldP spid="156"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Mapping Roadmap to Success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162</a:t>
            </a:fld>
            <a:endParaRPr lang="en-US"/>
          </a:p>
        </p:txBody>
      </p:sp>
      <p:grpSp>
        <p:nvGrpSpPr>
          <p:cNvPr id="25" name="Group 24">
            <a:extLst>
              <a:ext uri="{FF2B5EF4-FFF2-40B4-BE49-F238E27FC236}">
                <a16:creationId xmlns:a16="http://schemas.microsoft.com/office/drawing/2014/main" id="{36B341C3-5B79-2C39-21C4-288F438DFD12}"/>
              </a:ext>
            </a:extLst>
          </p:cNvPr>
          <p:cNvGrpSpPr/>
          <p:nvPr/>
        </p:nvGrpSpPr>
        <p:grpSpPr>
          <a:xfrm>
            <a:off x="620078" y="1864043"/>
            <a:ext cx="10718200" cy="3970337"/>
            <a:chOff x="414338" y="1624013"/>
            <a:chExt cx="8324850" cy="3970337"/>
          </a:xfrm>
        </p:grpSpPr>
        <p:grpSp>
          <p:nvGrpSpPr>
            <p:cNvPr id="3" name="Group 2">
              <a:extLst>
                <a:ext uri="{FF2B5EF4-FFF2-40B4-BE49-F238E27FC236}">
                  <a16:creationId xmlns:a16="http://schemas.microsoft.com/office/drawing/2014/main" id="{3E2D4476-A0C8-47DF-0EA0-728AC0C24F0B}"/>
                </a:ext>
              </a:extLst>
            </p:cNvPr>
            <p:cNvGrpSpPr>
              <a:grpSpLocks/>
            </p:cNvGrpSpPr>
            <p:nvPr/>
          </p:nvGrpSpPr>
          <p:grpSpPr bwMode="auto">
            <a:xfrm>
              <a:off x="2205038" y="1624013"/>
              <a:ext cx="6534150" cy="2776537"/>
              <a:chOff x="1389" y="1410"/>
              <a:chExt cx="4116" cy="1795"/>
            </a:xfrm>
          </p:grpSpPr>
          <p:sp>
            <p:nvSpPr>
              <p:cNvPr id="5" name="Rectangle 3">
                <a:extLst>
                  <a:ext uri="{FF2B5EF4-FFF2-40B4-BE49-F238E27FC236}">
                    <a16:creationId xmlns:a16="http://schemas.microsoft.com/office/drawing/2014/main" id="{5F9621AF-91A5-3579-72E0-98295640C397}"/>
                  </a:ext>
                </a:extLst>
              </p:cNvPr>
              <p:cNvSpPr>
                <a:spLocks noChangeArrowheads="1"/>
              </p:cNvSpPr>
              <p:nvPr/>
            </p:nvSpPr>
            <p:spPr bwMode="auto">
              <a:xfrm>
                <a:off x="1389" y="1410"/>
                <a:ext cx="4116" cy="1795"/>
              </a:xfrm>
              <a:prstGeom prst="rect">
                <a:avLst/>
              </a:prstGeom>
              <a:solidFill>
                <a:schemeClr val="bg2"/>
              </a:solidFill>
              <a:ln w="12700" cap="sq">
                <a:solidFill>
                  <a:srgbClr val="0033CC"/>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 name="Text Box 4">
                <a:extLst>
                  <a:ext uri="{FF2B5EF4-FFF2-40B4-BE49-F238E27FC236}">
                    <a16:creationId xmlns:a16="http://schemas.microsoft.com/office/drawing/2014/main" id="{2D8ABF48-7910-626C-27ED-C57F9FB2C5B4}"/>
                  </a:ext>
                </a:extLst>
              </p:cNvPr>
              <p:cNvSpPr txBox="1">
                <a:spLocks noChangeArrowheads="1"/>
              </p:cNvSpPr>
              <p:nvPr/>
            </p:nvSpPr>
            <p:spPr bwMode="auto">
              <a:xfrm>
                <a:off x="2529" y="1507"/>
                <a:ext cx="1860" cy="21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i="1" dirty="0">
                    <a:solidFill>
                      <a:schemeClr val="tx1"/>
                    </a:solidFill>
                    <a:latin typeface="Roboto" panose="02000000000000000000" pitchFamily="2" charset="0"/>
                    <a:ea typeface="Roboto" panose="02000000000000000000" pitchFamily="2" charset="0"/>
                  </a:rPr>
                  <a:t>Repeat for each identified Value Stream</a:t>
                </a:r>
              </a:p>
            </p:txBody>
          </p:sp>
        </p:grpSp>
        <p:sp>
          <p:nvSpPr>
            <p:cNvPr id="7" name="Oval 6">
              <a:extLst>
                <a:ext uri="{FF2B5EF4-FFF2-40B4-BE49-F238E27FC236}">
                  <a16:creationId xmlns:a16="http://schemas.microsoft.com/office/drawing/2014/main" id="{B983B757-3E20-F51D-A49E-95CFC66B7BEB}"/>
                </a:ext>
              </a:extLst>
            </p:cNvPr>
            <p:cNvSpPr>
              <a:spLocks noChangeArrowheads="1"/>
            </p:cNvSpPr>
            <p:nvPr/>
          </p:nvSpPr>
          <p:spPr bwMode="auto">
            <a:xfrm>
              <a:off x="7662863" y="3070225"/>
              <a:ext cx="976312" cy="1052513"/>
            </a:xfrm>
            <a:prstGeom prst="ellipse">
              <a:avLst/>
            </a:prstGeom>
            <a:solidFill>
              <a:schemeClr val="accent4"/>
            </a:solidFill>
            <a:ln w="6350">
              <a:solidFill>
                <a:schemeClr val="tx1"/>
              </a:solidFill>
              <a:round/>
              <a:headEnd/>
              <a:tailEnd/>
            </a:ln>
          </p:spPr>
          <p:txBody>
            <a:bodyPr wrap="none" lIns="45720" rIns="45720" anchor="ctr"/>
            <a:lstStyle>
              <a:lvl1pPr marL="101600" indent="-101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Repeat</a:t>
              </a:r>
            </a:p>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Cycle</a:t>
              </a:r>
              <a:endParaRPr lang="en-GB" altLang="en-US" sz="1400" b="0">
                <a:latin typeface="Roboto" panose="02000000000000000000" pitchFamily="2" charset="0"/>
                <a:ea typeface="Roboto" panose="02000000000000000000" pitchFamily="2" charset="0"/>
              </a:endParaRPr>
            </a:p>
          </p:txBody>
        </p:sp>
        <p:sp>
          <p:nvSpPr>
            <p:cNvPr id="8" name="Rectangle 8">
              <a:extLst>
                <a:ext uri="{FF2B5EF4-FFF2-40B4-BE49-F238E27FC236}">
                  <a16:creationId xmlns:a16="http://schemas.microsoft.com/office/drawing/2014/main" id="{F4851B9F-9545-35A7-B8AB-63A6DA9A4C47}"/>
                </a:ext>
              </a:extLst>
            </p:cNvPr>
            <p:cNvSpPr>
              <a:spLocks noChangeArrowheads="1"/>
            </p:cNvSpPr>
            <p:nvPr/>
          </p:nvSpPr>
          <p:spPr bwMode="auto">
            <a:xfrm>
              <a:off x="512763" y="3062288"/>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Site Assessment</a:t>
              </a:r>
            </a:p>
          </p:txBody>
        </p:sp>
        <p:sp>
          <p:nvSpPr>
            <p:cNvPr id="9" name="Rectangle 9">
              <a:extLst>
                <a:ext uri="{FF2B5EF4-FFF2-40B4-BE49-F238E27FC236}">
                  <a16:creationId xmlns:a16="http://schemas.microsoft.com/office/drawing/2014/main" id="{F560617D-C996-11EA-C4BE-76FFAE1B07E3}"/>
                </a:ext>
              </a:extLst>
            </p:cNvPr>
            <p:cNvSpPr>
              <a:spLocks noChangeArrowheads="1"/>
            </p:cNvSpPr>
            <p:nvPr/>
          </p:nvSpPr>
          <p:spPr bwMode="auto">
            <a:xfrm>
              <a:off x="512763" y="2800350"/>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1</a:t>
              </a:r>
            </a:p>
          </p:txBody>
        </p:sp>
        <p:sp>
          <p:nvSpPr>
            <p:cNvPr id="10" name="Rectangle 10">
              <a:extLst>
                <a:ext uri="{FF2B5EF4-FFF2-40B4-BE49-F238E27FC236}">
                  <a16:creationId xmlns:a16="http://schemas.microsoft.com/office/drawing/2014/main" id="{A5C399C4-6F83-CC45-7627-48EEDA23FB35}"/>
                </a:ext>
              </a:extLst>
            </p:cNvPr>
            <p:cNvSpPr>
              <a:spLocks noChangeArrowheads="1"/>
            </p:cNvSpPr>
            <p:nvPr/>
          </p:nvSpPr>
          <p:spPr bwMode="auto">
            <a:xfrm>
              <a:off x="2308225"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Preparation</a:t>
              </a:r>
            </a:p>
          </p:txBody>
        </p:sp>
        <p:sp>
          <p:nvSpPr>
            <p:cNvPr id="11" name="Rectangle 11">
              <a:extLst>
                <a:ext uri="{FF2B5EF4-FFF2-40B4-BE49-F238E27FC236}">
                  <a16:creationId xmlns:a16="http://schemas.microsoft.com/office/drawing/2014/main" id="{4CDAB49D-9A50-C6CA-C385-FCCFC8ECF342}"/>
                </a:ext>
              </a:extLst>
            </p:cNvPr>
            <p:cNvSpPr>
              <a:spLocks noChangeArrowheads="1"/>
            </p:cNvSpPr>
            <p:nvPr/>
          </p:nvSpPr>
          <p:spPr bwMode="auto">
            <a:xfrm>
              <a:off x="2308225"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2</a:t>
              </a:r>
            </a:p>
          </p:txBody>
        </p:sp>
        <p:sp>
          <p:nvSpPr>
            <p:cNvPr id="12" name="Rectangle 12">
              <a:extLst>
                <a:ext uri="{FF2B5EF4-FFF2-40B4-BE49-F238E27FC236}">
                  <a16:creationId xmlns:a16="http://schemas.microsoft.com/office/drawing/2014/main" id="{14A3BE56-790E-BC97-C4FD-A842BF1DA266}"/>
                </a:ext>
              </a:extLst>
            </p:cNvPr>
            <p:cNvSpPr>
              <a:spLocks noChangeArrowheads="1"/>
            </p:cNvSpPr>
            <p:nvPr/>
          </p:nvSpPr>
          <p:spPr bwMode="auto">
            <a:xfrm>
              <a:off x="4122738"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Conduct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p>
          </p:txBody>
        </p:sp>
        <p:sp>
          <p:nvSpPr>
            <p:cNvPr id="13" name="Rectangle 13">
              <a:extLst>
                <a:ext uri="{FF2B5EF4-FFF2-40B4-BE49-F238E27FC236}">
                  <a16:creationId xmlns:a16="http://schemas.microsoft.com/office/drawing/2014/main" id="{8E856E23-2E66-C316-1087-94851CCA9F27}"/>
                </a:ext>
              </a:extLst>
            </p:cNvPr>
            <p:cNvSpPr>
              <a:spLocks noChangeArrowheads="1"/>
            </p:cNvSpPr>
            <p:nvPr/>
          </p:nvSpPr>
          <p:spPr bwMode="auto">
            <a:xfrm>
              <a:off x="4122738" y="2795588"/>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3</a:t>
              </a:r>
            </a:p>
          </p:txBody>
        </p:sp>
        <p:sp>
          <p:nvSpPr>
            <p:cNvPr id="14" name="Rectangle 14">
              <a:extLst>
                <a:ext uri="{FF2B5EF4-FFF2-40B4-BE49-F238E27FC236}">
                  <a16:creationId xmlns:a16="http://schemas.microsoft.com/office/drawing/2014/main" id="{61D5857C-18BB-F351-3A5A-3466E123AB89}"/>
                </a:ext>
              </a:extLst>
            </p:cNvPr>
            <p:cNvSpPr>
              <a:spLocks noChangeArrowheads="1"/>
            </p:cNvSpPr>
            <p:nvPr/>
          </p:nvSpPr>
          <p:spPr bwMode="auto">
            <a:xfrm>
              <a:off x="5937250"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Implement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 Plan</a:t>
              </a:r>
            </a:p>
          </p:txBody>
        </p:sp>
        <p:sp>
          <p:nvSpPr>
            <p:cNvPr id="15" name="Rectangle 15">
              <a:extLst>
                <a:ext uri="{FF2B5EF4-FFF2-40B4-BE49-F238E27FC236}">
                  <a16:creationId xmlns:a16="http://schemas.microsoft.com/office/drawing/2014/main" id="{6E2AE2B3-A2C6-E979-CE4A-53CA1208E770}"/>
                </a:ext>
              </a:extLst>
            </p:cNvPr>
            <p:cNvSpPr>
              <a:spLocks noChangeArrowheads="1"/>
            </p:cNvSpPr>
            <p:nvPr/>
          </p:nvSpPr>
          <p:spPr bwMode="auto">
            <a:xfrm>
              <a:off x="5937250"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4</a:t>
              </a:r>
            </a:p>
          </p:txBody>
        </p:sp>
        <p:cxnSp>
          <p:nvCxnSpPr>
            <p:cNvPr id="16" name="AutoShape 16">
              <a:extLst>
                <a:ext uri="{FF2B5EF4-FFF2-40B4-BE49-F238E27FC236}">
                  <a16:creationId xmlns:a16="http://schemas.microsoft.com/office/drawing/2014/main" id="{9D53FE5C-5CCE-3737-FED0-0DCF4CFF16DE}"/>
                </a:ext>
              </a:extLst>
            </p:cNvPr>
            <p:cNvCxnSpPr>
              <a:cxnSpLocks noChangeShapeType="1"/>
              <a:stCxn id="8" idx="3"/>
              <a:endCxn id="10" idx="1"/>
            </p:cNvCxnSpPr>
            <p:nvPr/>
          </p:nvCxnSpPr>
          <p:spPr bwMode="auto">
            <a:xfrm flipV="1">
              <a:off x="2033588" y="3597275"/>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17">
              <a:extLst>
                <a:ext uri="{FF2B5EF4-FFF2-40B4-BE49-F238E27FC236}">
                  <a16:creationId xmlns:a16="http://schemas.microsoft.com/office/drawing/2014/main" id="{782F2126-E5B9-D8B0-704C-7D7713992B97}"/>
                </a:ext>
              </a:extLst>
            </p:cNvPr>
            <p:cNvCxnSpPr>
              <a:cxnSpLocks noChangeShapeType="1"/>
              <a:stCxn id="10" idx="3"/>
              <a:endCxn id="12" idx="1"/>
            </p:cNvCxnSpPr>
            <p:nvPr/>
          </p:nvCxnSpPr>
          <p:spPr bwMode="auto">
            <a:xfrm>
              <a:off x="3829050" y="3597275"/>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18">
              <a:extLst>
                <a:ext uri="{FF2B5EF4-FFF2-40B4-BE49-F238E27FC236}">
                  <a16:creationId xmlns:a16="http://schemas.microsoft.com/office/drawing/2014/main" id="{05658557-802F-2C4A-BB0D-EDF2A50EF536}"/>
                </a:ext>
              </a:extLst>
            </p:cNvPr>
            <p:cNvCxnSpPr>
              <a:cxnSpLocks noChangeShapeType="1"/>
              <a:stCxn id="12" idx="3"/>
              <a:endCxn id="14" idx="1"/>
            </p:cNvCxnSpPr>
            <p:nvPr/>
          </p:nvCxnSpPr>
          <p:spPr bwMode="auto">
            <a:xfrm>
              <a:off x="5643563" y="3597275"/>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9" name="AutoShape 19">
              <a:extLst>
                <a:ext uri="{FF2B5EF4-FFF2-40B4-BE49-F238E27FC236}">
                  <a16:creationId xmlns:a16="http://schemas.microsoft.com/office/drawing/2014/main" id="{179B3D7A-84E0-4A39-15BA-4A72E7CAEC8F}"/>
                </a:ext>
              </a:extLst>
            </p:cNvPr>
            <p:cNvCxnSpPr>
              <a:cxnSpLocks noChangeShapeType="1"/>
              <a:stCxn id="14" idx="3"/>
              <a:endCxn id="7" idx="2"/>
            </p:cNvCxnSpPr>
            <p:nvPr/>
          </p:nvCxnSpPr>
          <p:spPr bwMode="auto">
            <a:xfrm>
              <a:off x="7458075" y="3597275"/>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 name="AutoShape 20">
              <a:extLst>
                <a:ext uri="{FF2B5EF4-FFF2-40B4-BE49-F238E27FC236}">
                  <a16:creationId xmlns:a16="http://schemas.microsoft.com/office/drawing/2014/main" id="{4DBBCD5A-E470-AD09-B6F8-75CFD5CA7189}"/>
                </a:ext>
              </a:extLst>
            </p:cNvPr>
            <p:cNvCxnSpPr>
              <a:cxnSpLocks noChangeShapeType="1"/>
              <a:stCxn id="7" idx="0"/>
              <a:endCxn id="11" idx="0"/>
            </p:cNvCxnSpPr>
            <p:nvPr/>
          </p:nvCxnSpPr>
          <p:spPr bwMode="auto">
            <a:xfrm rot="5400000" flipH="1">
              <a:off x="5473700" y="392113"/>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Rectangle 21">
              <a:extLst>
                <a:ext uri="{FF2B5EF4-FFF2-40B4-BE49-F238E27FC236}">
                  <a16:creationId xmlns:a16="http://schemas.microsoft.com/office/drawing/2014/main" id="{4C18F2A8-1A6C-FCFC-7350-D3290D431D89}"/>
                </a:ext>
              </a:extLst>
            </p:cNvPr>
            <p:cNvSpPr>
              <a:spLocks noChangeArrowheads="1"/>
            </p:cNvSpPr>
            <p:nvPr/>
          </p:nvSpPr>
          <p:spPr bwMode="auto">
            <a:xfrm>
              <a:off x="414338" y="4378325"/>
              <a:ext cx="16748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Identify Strategic Value Streams and Product Families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Plan VSM Events</a:t>
              </a:r>
            </a:p>
          </p:txBody>
        </p:sp>
        <p:sp>
          <p:nvSpPr>
            <p:cNvPr id="22" name="Rectangle 22">
              <a:extLst>
                <a:ext uri="{FF2B5EF4-FFF2-40B4-BE49-F238E27FC236}">
                  <a16:creationId xmlns:a16="http://schemas.microsoft.com/office/drawing/2014/main" id="{CD99205B-5016-E5E8-AB9F-D1579A8804B2}"/>
                </a:ext>
              </a:extLst>
            </p:cNvPr>
            <p:cNvSpPr>
              <a:spLocks noChangeArrowheads="1"/>
            </p:cNvSpPr>
            <p:nvPr/>
          </p:nvSpPr>
          <p:spPr bwMode="auto">
            <a:xfrm>
              <a:off x="22431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Select Value Stream and Product Family</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Confirm VSM Team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logistics for VSM Event</a:t>
              </a:r>
            </a:p>
          </p:txBody>
        </p:sp>
        <p:sp>
          <p:nvSpPr>
            <p:cNvPr id="23" name="Rectangle 23">
              <a:extLst>
                <a:ext uri="{FF2B5EF4-FFF2-40B4-BE49-F238E27FC236}">
                  <a16:creationId xmlns:a16="http://schemas.microsoft.com/office/drawing/2014/main" id="{D23B864D-50F5-AD32-6216-E40F1031B99D}"/>
                </a:ext>
              </a:extLst>
            </p:cNvPr>
            <p:cNvSpPr>
              <a:spLocks noChangeArrowheads="1"/>
            </p:cNvSpPr>
            <p:nvPr/>
          </p:nvSpPr>
          <p:spPr bwMode="auto">
            <a:xfrm>
              <a:off x="40084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Current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Future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Value stream Plan complete</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Site Plan updated</a:t>
              </a:r>
            </a:p>
          </p:txBody>
        </p:sp>
        <p:sp>
          <p:nvSpPr>
            <p:cNvPr id="24" name="Rectangle 24">
              <a:extLst>
                <a:ext uri="{FF2B5EF4-FFF2-40B4-BE49-F238E27FC236}">
                  <a16:creationId xmlns:a16="http://schemas.microsoft.com/office/drawing/2014/main" id="{072E3FDB-6C39-F8AB-154C-E5D525AE7DAF}"/>
                </a:ext>
              </a:extLst>
            </p:cNvPr>
            <p:cNvSpPr>
              <a:spLocks noChangeArrowheads="1"/>
            </p:cNvSpPr>
            <p:nvPr/>
          </p:nvSpPr>
          <p:spPr bwMode="auto">
            <a:xfrm>
              <a:off x="5849938" y="4378325"/>
              <a:ext cx="1827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kaizen events that link to VS Plan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Train Kaizen Teams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Conduct kaizen events and measure results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Manage VS Plan to completion</a:t>
              </a:r>
            </a:p>
          </p:txBody>
        </p:sp>
      </p:grpSp>
      <p:sp>
        <p:nvSpPr>
          <p:cNvPr id="26" name="Rectangle 25">
            <a:extLst>
              <a:ext uri="{FF2B5EF4-FFF2-40B4-BE49-F238E27FC236}">
                <a16:creationId xmlns:a16="http://schemas.microsoft.com/office/drawing/2014/main" id="{0FA57E71-92AC-3F1E-FC79-58F04CCB4E84}"/>
              </a:ext>
            </a:extLst>
          </p:cNvPr>
          <p:cNvSpPr/>
          <p:nvPr/>
        </p:nvSpPr>
        <p:spPr>
          <a:xfrm>
            <a:off x="5247463" y="5612130"/>
            <a:ext cx="2022017" cy="377190"/>
          </a:xfrm>
          <a:prstGeom prst="rect">
            <a:avLst/>
          </a:prstGeom>
          <a:no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a:extLst>
              <a:ext uri="{FF2B5EF4-FFF2-40B4-BE49-F238E27FC236}">
                <a16:creationId xmlns:a16="http://schemas.microsoft.com/office/drawing/2014/main" id="{1F9D6A58-6F93-22E8-DF9A-3DB0C6224C42}"/>
              </a:ext>
            </a:extLst>
          </p:cNvPr>
          <p:cNvGrpSpPr/>
          <p:nvPr/>
        </p:nvGrpSpPr>
        <p:grpSpPr>
          <a:xfrm>
            <a:off x="838200" y="297639"/>
            <a:ext cx="5391150" cy="307138"/>
            <a:chOff x="838200" y="297639"/>
            <a:chExt cx="5391150" cy="307138"/>
          </a:xfrm>
        </p:grpSpPr>
        <p:grpSp>
          <p:nvGrpSpPr>
            <p:cNvPr id="28" name="Group 27">
              <a:extLst>
                <a:ext uri="{FF2B5EF4-FFF2-40B4-BE49-F238E27FC236}">
                  <a16:creationId xmlns:a16="http://schemas.microsoft.com/office/drawing/2014/main" id="{139B4D00-DBB5-37D2-7D74-6194884CF3FB}"/>
                </a:ext>
              </a:extLst>
            </p:cNvPr>
            <p:cNvGrpSpPr/>
            <p:nvPr/>
          </p:nvGrpSpPr>
          <p:grpSpPr>
            <a:xfrm>
              <a:off x="838200" y="297639"/>
              <a:ext cx="1687517" cy="290657"/>
              <a:chOff x="838200" y="297639"/>
              <a:chExt cx="1687517" cy="290657"/>
            </a:xfrm>
          </p:grpSpPr>
          <p:sp>
            <p:nvSpPr>
              <p:cNvPr id="30" name="AutoShape 9">
                <a:extLst>
                  <a:ext uri="{FF2B5EF4-FFF2-40B4-BE49-F238E27FC236}">
                    <a16:creationId xmlns:a16="http://schemas.microsoft.com/office/drawing/2014/main" id="{AE718662-8A5A-9FF2-1F78-244E234056C2}"/>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31" name="AutoShape 9">
                <a:extLst>
                  <a:ext uri="{FF2B5EF4-FFF2-40B4-BE49-F238E27FC236}">
                    <a16:creationId xmlns:a16="http://schemas.microsoft.com/office/drawing/2014/main" id="{16163D35-47A3-3EDA-6689-0DE63C89A96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32" name="Group 31">
                <a:extLst>
                  <a:ext uri="{FF2B5EF4-FFF2-40B4-BE49-F238E27FC236}">
                    <a16:creationId xmlns:a16="http://schemas.microsoft.com/office/drawing/2014/main" id="{71F06B02-FEDC-2179-C381-A25C76140567}"/>
                  </a:ext>
                </a:extLst>
              </p:cNvPr>
              <p:cNvGrpSpPr/>
              <p:nvPr/>
            </p:nvGrpSpPr>
            <p:grpSpPr>
              <a:xfrm>
                <a:off x="838200" y="297639"/>
                <a:ext cx="1060167" cy="290657"/>
                <a:chOff x="826426" y="4041857"/>
                <a:chExt cx="1060167" cy="290657"/>
              </a:xfrm>
            </p:grpSpPr>
            <p:sp>
              <p:nvSpPr>
                <p:cNvPr id="33" name="AutoShape 9">
                  <a:extLst>
                    <a:ext uri="{FF2B5EF4-FFF2-40B4-BE49-F238E27FC236}">
                      <a16:creationId xmlns:a16="http://schemas.microsoft.com/office/drawing/2014/main" id="{85688545-DA26-7B53-74EF-7055CFB6554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34" name="AutoShape 11">
                  <a:extLst>
                    <a:ext uri="{FF2B5EF4-FFF2-40B4-BE49-F238E27FC236}">
                      <a16:creationId xmlns:a16="http://schemas.microsoft.com/office/drawing/2014/main" id="{C3397751-3E99-70AE-9823-039933D4284D}"/>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35" name="AutoShape 10">
                  <a:extLst>
                    <a:ext uri="{FF2B5EF4-FFF2-40B4-BE49-F238E27FC236}">
                      <a16:creationId xmlns:a16="http://schemas.microsoft.com/office/drawing/2014/main" id="{D5082C24-726B-40AA-872E-637C8BD9EA5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29" name="TextBox 28">
              <a:extLst>
                <a:ext uri="{FF2B5EF4-FFF2-40B4-BE49-F238E27FC236}">
                  <a16:creationId xmlns:a16="http://schemas.microsoft.com/office/drawing/2014/main" id="{14A0F1C7-EEEC-54DA-7BFD-C8ABA2F382AF}"/>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26789142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4000" dirty="0"/>
              <a:t>Site Plan</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163</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16" name="Rectangle 3">
            <a:extLst>
              <a:ext uri="{FF2B5EF4-FFF2-40B4-BE49-F238E27FC236}">
                <a16:creationId xmlns:a16="http://schemas.microsoft.com/office/drawing/2014/main" id="{21FABFD7-D8D2-C9B2-5718-CFCDEC91B55A}"/>
              </a:ext>
            </a:extLst>
          </p:cNvPr>
          <p:cNvSpPr txBox="1">
            <a:spLocks noChangeArrowheads="1"/>
          </p:cNvSpPr>
          <p:nvPr/>
        </p:nvSpPr>
        <p:spPr>
          <a:xfrm>
            <a:off x="862089" y="1783429"/>
            <a:ext cx="10491711" cy="70648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anose="05000000000000000000" pitchFamily="2" charset="2"/>
              <a:buNone/>
            </a:pPr>
            <a:r>
              <a:rPr lang="en-US" altLang="en-US" sz="2000" b="1" dirty="0"/>
              <a:t>A single plan and schedule of all kaizen and continuous improvement events for a particular facility.</a:t>
            </a:r>
          </a:p>
        </p:txBody>
      </p:sp>
      <p:graphicFrame>
        <p:nvGraphicFramePr>
          <p:cNvPr id="3" name="Group 99">
            <a:extLst>
              <a:ext uri="{FF2B5EF4-FFF2-40B4-BE49-F238E27FC236}">
                <a16:creationId xmlns:a16="http://schemas.microsoft.com/office/drawing/2014/main" id="{9F5BA8D8-9CED-E273-5411-371374956D5E}"/>
              </a:ext>
            </a:extLst>
          </p:cNvPr>
          <p:cNvGraphicFramePr>
            <a:graphicFrameLocks/>
          </p:cNvGraphicFramePr>
          <p:nvPr>
            <p:extLst>
              <p:ext uri="{D42A27DB-BD31-4B8C-83A1-F6EECF244321}">
                <p14:modId xmlns:p14="http://schemas.microsoft.com/office/powerpoint/2010/main" val="3250782439"/>
              </p:ext>
            </p:extLst>
          </p:nvPr>
        </p:nvGraphicFramePr>
        <p:xfrm>
          <a:off x="699135" y="2438400"/>
          <a:ext cx="10793730" cy="3648456"/>
        </p:xfrm>
        <a:graphic>
          <a:graphicData uri="http://schemas.openxmlformats.org/drawingml/2006/table">
            <a:tbl>
              <a:tblPr/>
              <a:tblGrid>
                <a:gridCol w="849506">
                  <a:extLst>
                    <a:ext uri="{9D8B030D-6E8A-4147-A177-3AD203B41FA5}">
                      <a16:colId xmlns:a16="http://schemas.microsoft.com/office/drawing/2014/main" val="1594922050"/>
                    </a:ext>
                  </a:extLst>
                </a:gridCol>
                <a:gridCol w="2173738">
                  <a:extLst>
                    <a:ext uri="{9D8B030D-6E8A-4147-A177-3AD203B41FA5}">
                      <a16:colId xmlns:a16="http://schemas.microsoft.com/office/drawing/2014/main" val="1428340640"/>
                    </a:ext>
                  </a:extLst>
                </a:gridCol>
                <a:gridCol w="1032734">
                  <a:extLst>
                    <a:ext uri="{9D8B030D-6E8A-4147-A177-3AD203B41FA5}">
                      <a16:colId xmlns:a16="http://schemas.microsoft.com/office/drawing/2014/main" val="167335979"/>
                    </a:ext>
                  </a:extLst>
                </a:gridCol>
                <a:gridCol w="1397105">
                  <a:extLst>
                    <a:ext uri="{9D8B030D-6E8A-4147-A177-3AD203B41FA5}">
                      <a16:colId xmlns:a16="http://schemas.microsoft.com/office/drawing/2014/main" val="4218750330"/>
                    </a:ext>
                  </a:extLst>
                </a:gridCol>
                <a:gridCol w="1097278">
                  <a:extLst>
                    <a:ext uri="{9D8B030D-6E8A-4147-A177-3AD203B41FA5}">
                      <a16:colId xmlns:a16="http://schemas.microsoft.com/office/drawing/2014/main" val="2720488152"/>
                    </a:ext>
                  </a:extLst>
                </a:gridCol>
                <a:gridCol w="1041062">
                  <a:extLst>
                    <a:ext uri="{9D8B030D-6E8A-4147-A177-3AD203B41FA5}">
                      <a16:colId xmlns:a16="http://schemas.microsoft.com/office/drawing/2014/main" val="2638986087"/>
                    </a:ext>
                  </a:extLst>
                </a:gridCol>
                <a:gridCol w="934874">
                  <a:extLst>
                    <a:ext uri="{9D8B030D-6E8A-4147-A177-3AD203B41FA5}">
                      <a16:colId xmlns:a16="http://schemas.microsoft.com/office/drawing/2014/main" val="3379140004"/>
                    </a:ext>
                  </a:extLst>
                </a:gridCol>
                <a:gridCol w="2267433">
                  <a:extLst>
                    <a:ext uri="{9D8B030D-6E8A-4147-A177-3AD203B41FA5}">
                      <a16:colId xmlns:a16="http://schemas.microsoft.com/office/drawing/2014/main" val="3014239462"/>
                    </a:ext>
                  </a:extLst>
                </a:gridCol>
              </a:tblGrid>
              <a:tr h="304800">
                <a:tc gridSpan="8">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600" b="0" i="0" u="none" strike="noStrike" cap="none" normalizeH="0" baseline="0" dirty="0">
                          <a:ln>
                            <a:noFill/>
                          </a:ln>
                          <a:solidFill>
                            <a:schemeClr val="tx1"/>
                          </a:solidFill>
                          <a:effectLst/>
                          <a:latin typeface="Roboto" panose="02000000000000000000" pitchFamily="2" charset="0"/>
                          <a:ea typeface="Roboto" panose="02000000000000000000" pitchFamily="2" charset="0"/>
                        </a:rPr>
                        <a:t>Sample Site Plan excerpt showing scheduled events from two different Value Streams (KVF and SMMM)</a:t>
                      </a:r>
                    </a:p>
                  </a:txBody>
                  <a:tcPr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95775965"/>
                  </a:ext>
                </a:extLst>
              </a:tr>
              <a:tr h="43656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WEEK</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AREA/CELL</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VSM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TOOL</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VS Plan Number</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STATUS</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SENSEI</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0"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COMMENTS</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37230405"/>
                  </a:ext>
                </a:extLst>
              </a:tr>
              <a:tr h="3270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3-Jan</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LINE 8 (KVF)</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KVF</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3</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see kaizen results sheet</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47707165"/>
                  </a:ext>
                </a:extLst>
              </a:tr>
              <a:tr h="3270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3-Jan</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LINE 25</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SMMM</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8</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see kaizen results sheet</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8975808"/>
                  </a:ext>
                </a:extLst>
              </a:tr>
              <a:tr h="32861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10-Jan</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ATJ</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KVF</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SMED</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4</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PRE-RUN S/U WHEEL</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16330448"/>
                  </a:ext>
                </a:extLst>
              </a:tr>
              <a:tr h="3270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10-Jan</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Anodize racking</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SMMM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6</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see kaizen results sheet</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5436841"/>
                  </a:ext>
                </a:extLst>
              </a:tr>
              <a:tr h="3270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17-Jan</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NO EVENTS</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 out</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81296075"/>
                  </a:ext>
                </a:extLst>
              </a:tr>
              <a:tr h="3270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24-Jan</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ATJ</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KVF</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2</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DEMAND QUESTIONS</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12216548"/>
                  </a:ext>
                </a:extLst>
              </a:tr>
              <a:tr h="3270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24-Jan</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LINE 28 (KVF new area)</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KVF</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DEMAND QUESTIONS</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64979613"/>
                  </a:ext>
                </a:extLst>
              </a:tr>
              <a:tr h="3270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24-Jan</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LINE 25</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SMMM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5S</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3</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CELL MEMBERS ONLY</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14246436"/>
                  </a:ext>
                </a:extLst>
              </a:tr>
            </a:tbl>
          </a:graphicData>
        </a:graphic>
      </p:graphicFrame>
    </p:spTree>
    <p:extLst>
      <p:ext uri="{BB962C8B-B14F-4D97-AF65-F5344CB8AC3E}">
        <p14:creationId xmlns:p14="http://schemas.microsoft.com/office/powerpoint/2010/main" val="205945710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Autofit/>
          </a:bodyPr>
          <a:lstStyle/>
          <a:p>
            <a:r>
              <a:rPr lang="en-US" sz="3200" dirty="0">
                <a:latin typeface="Roboto Medium"/>
                <a:ea typeface="Roboto Medium"/>
                <a:cs typeface="Roboto Medium"/>
              </a:rPr>
              <a:t>Complete Future State and Value Stream Plan for Business</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164</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236637"/>
            <a:ext cx="9722342" cy="718145"/>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the Future State Value Stream Map and Value Stream Plan for the </a:t>
            </a:r>
            <a:r>
              <a:rPr lang="en-US" sz="20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b</a:t>
            </a: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create the Future State Map from the Marked Up Current State Map. </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Together with the Value Stream Owner, complete detailed Value Stream Plan to achieve Future State.</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Review with appropriate leadership to receive approval and resource support.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endPar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endParaRP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59513"/>
            <a:ext cx="4681292" cy="841256"/>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Future State Map and Value Stream Plan.</a:t>
            </a:r>
          </a:p>
        </p:txBody>
      </p:sp>
      <p:grpSp>
        <p:nvGrpSpPr>
          <p:cNvPr id="3" name="Group 2">
            <a:extLst>
              <a:ext uri="{FF2B5EF4-FFF2-40B4-BE49-F238E27FC236}">
                <a16:creationId xmlns:a16="http://schemas.microsoft.com/office/drawing/2014/main" id="{732413B3-F538-7026-95FC-2F4DB6A358F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F0A4AD2F-A7E0-0F0E-86E8-E900D589808E}"/>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68A20E4-09CF-C33B-ED7F-1D0BCCA7DDB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7EE378B4-B5C2-7281-B0D9-50206120C958}"/>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11F3CACF-A6BC-BF22-7F6D-110333FFD09D}"/>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FFD0E663-304F-9F66-6EDD-EC9B127D6416}"/>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5D98EB91-DFAC-CA35-8CDC-35672260DFF0}"/>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92DFF8B-BD5A-5E9F-D61D-5A3BA530093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DB0E65A8-1244-E828-1469-15C844AAAB2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125749737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Prepare for Final Report-Out to Management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165</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fontScale="92500" lnSpcReduction="20000"/>
          </a:bodyPr>
          <a:lstStyle/>
          <a:p>
            <a:r>
              <a:rPr lang="en-US" sz="3200" dirty="0"/>
              <a:t>All team members should contribute to the final report-out presentation to management</a:t>
            </a:r>
          </a:p>
          <a:p>
            <a:r>
              <a:rPr lang="en-US" sz="3200" dirty="0"/>
              <a:t>Report-out should include</a:t>
            </a:r>
          </a:p>
          <a:p>
            <a:pPr lvl="1"/>
            <a:r>
              <a:rPr lang="en-US" sz="2800" dirty="0"/>
              <a:t>Introduction of Team</a:t>
            </a:r>
          </a:p>
          <a:p>
            <a:pPr lvl="1"/>
            <a:r>
              <a:rPr lang="en-US" sz="2800" dirty="0"/>
              <a:t>Review of Event Charter</a:t>
            </a:r>
          </a:p>
          <a:p>
            <a:pPr lvl="1"/>
            <a:r>
              <a:rPr lang="en-US" sz="2800" dirty="0"/>
              <a:t>Review of Current State Map</a:t>
            </a:r>
          </a:p>
          <a:p>
            <a:pPr lvl="1"/>
            <a:r>
              <a:rPr lang="en-US" sz="2800" dirty="0"/>
              <a:t>Review of Improvement Opportunities Identified</a:t>
            </a:r>
          </a:p>
          <a:p>
            <a:pPr lvl="1"/>
            <a:r>
              <a:rPr lang="en-US" sz="2800" dirty="0"/>
              <a:t>Review of Future State Map</a:t>
            </a:r>
          </a:p>
          <a:p>
            <a:pPr lvl="1"/>
            <a:r>
              <a:rPr lang="en-US" sz="2800" dirty="0"/>
              <a:t>Review of Action Plan</a:t>
            </a:r>
          </a:p>
          <a:p>
            <a:r>
              <a:rPr lang="en-US" sz="3200" dirty="0"/>
              <a:t>Typical Report-Out times are 15 minutes for presentation and 15 minutes for questions</a:t>
            </a:r>
          </a:p>
        </p:txBody>
      </p:sp>
    </p:spTree>
    <p:extLst>
      <p:ext uri="{BB962C8B-B14F-4D97-AF65-F5344CB8AC3E}">
        <p14:creationId xmlns:p14="http://schemas.microsoft.com/office/powerpoint/2010/main" val="2194252853"/>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09C19-D9DE-E2E1-B56E-07E75302E78F}"/>
              </a:ext>
            </a:extLst>
          </p:cNvPr>
          <p:cNvSpPr>
            <a:spLocks noGrp="1"/>
          </p:cNvSpPr>
          <p:nvPr>
            <p:ph type="ctrTitle"/>
          </p:nvPr>
        </p:nvSpPr>
        <p:spPr/>
        <p:txBody>
          <a:bodyPr/>
          <a:lstStyle/>
          <a:p>
            <a:r>
              <a:rPr lang="en-US" dirty="0"/>
              <a:t>Appendix</a:t>
            </a:r>
          </a:p>
        </p:txBody>
      </p:sp>
      <p:sp>
        <p:nvSpPr>
          <p:cNvPr id="5" name="Slide Number Placeholder 4">
            <a:extLst>
              <a:ext uri="{FF2B5EF4-FFF2-40B4-BE49-F238E27FC236}">
                <a16:creationId xmlns:a16="http://schemas.microsoft.com/office/drawing/2014/main" id="{F8827CDC-E359-D8C5-1138-53B58F0B6B22}"/>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166</a:t>
            </a:fld>
            <a:endParaRPr lang="en-US"/>
          </a:p>
        </p:txBody>
      </p:sp>
    </p:spTree>
    <p:extLst>
      <p:ext uri="{BB962C8B-B14F-4D97-AF65-F5344CB8AC3E}">
        <p14:creationId xmlns:p14="http://schemas.microsoft.com/office/powerpoint/2010/main" val="799338667"/>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VSM Icons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167</a:t>
            </a:fld>
            <a:endParaRPr lang="en-US"/>
          </a:p>
        </p:txBody>
      </p:sp>
      <p:graphicFrame>
        <p:nvGraphicFramePr>
          <p:cNvPr id="6" name="Group 121">
            <a:extLst>
              <a:ext uri="{FF2B5EF4-FFF2-40B4-BE49-F238E27FC236}">
                <a16:creationId xmlns:a16="http://schemas.microsoft.com/office/drawing/2014/main" id="{8BE9EF46-9FED-972D-CD2B-C7643E36B3B0}"/>
              </a:ext>
            </a:extLst>
          </p:cNvPr>
          <p:cNvGraphicFramePr>
            <a:graphicFrameLocks noGrp="1"/>
          </p:cNvGraphicFramePr>
          <p:nvPr>
            <p:extLst>
              <p:ext uri="{D42A27DB-BD31-4B8C-83A1-F6EECF244321}">
                <p14:modId xmlns:p14="http://schemas.microsoft.com/office/powerpoint/2010/main" val="3000236773"/>
              </p:ext>
            </p:extLst>
          </p:nvPr>
        </p:nvGraphicFramePr>
        <p:xfrm>
          <a:off x="713740" y="1780643"/>
          <a:ext cx="10949940" cy="5318501"/>
        </p:xfrm>
        <a:graphic>
          <a:graphicData uri="http://schemas.openxmlformats.org/drawingml/2006/table">
            <a:tbl>
              <a:tblPr/>
              <a:tblGrid>
                <a:gridCol w="3566324">
                  <a:extLst>
                    <a:ext uri="{9D8B030D-6E8A-4147-A177-3AD203B41FA5}">
                      <a16:colId xmlns:a16="http://schemas.microsoft.com/office/drawing/2014/main" val="20000"/>
                    </a:ext>
                  </a:extLst>
                </a:gridCol>
                <a:gridCol w="1440016">
                  <a:extLst>
                    <a:ext uri="{9D8B030D-6E8A-4147-A177-3AD203B41FA5}">
                      <a16:colId xmlns:a16="http://schemas.microsoft.com/office/drawing/2014/main" val="20001"/>
                    </a:ext>
                  </a:extLst>
                </a:gridCol>
                <a:gridCol w="5943600">
                  <a:extLst>
                    <a:ext uri="{9D8B030D-6E8A-4147-A177-3AD203B41FA5}">
                      <a16:colId xmlns:a16="http://schemas.microsoft.com/office/drawing/2014/main" val="20002"/>
                    </a:ext>
                  </a:extLst>
                </a:gridCol>
              </a:tblGrid>
              <a:tr h="368525">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80"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Icon</a:t>
                      </a:r>
                    </a:p>
                  </a:txBody>
                  <a:tcPr marT="45726" marB="45726" anchor="b" horzOverflow="overflow">
                    <a:lnL cap="flat">
                      <a:noFill/>
                    </a:lnL>
                    <a:lnR>
                      <a:noFill/>
                    </a:lnR>
                    <a:lnT cap="fla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80"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Represents</a:t>
                      </a:r>
                    </a:p>
                  </a:txBody>
                  <a:tcPr marT="45726" marB="45726" anchor="b" horzOverflow="overflow">
                    <a:lnL>
                      <a:noFill/>
                    </a:lnL>
                    <a:lnR>
                      <a:noFill/>
                    </a:lnR>
                    <a:lnT cap="fla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80"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Notes</a:t>
                      </a:r>
                      <a:endParaRPr kumimoji="0" 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marT="45726" marB="45726" anchor="b" horzOverflow="overflow">
                    <a:lnL>
                      <a:noFill/>
                    </a:lnL>
                    <a:lnR cap="flat">
                      <a:noFill/>
                    </a:lnR>
                    <a:lnT cap="fla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1028783">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Process</a:t>
                      </a:r>
                    </a:p>
                  </a:txBody>
                  <a:tcPr marT="45726" marB="45726"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One process box equals an area of flow</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All processes should be labeled</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Also used for departments such as production control</a:t>
                      </a:r>
                    </a:p>
                  </a:txBody>
                  <a:tcPr marT="45726" marB="45726" horzOverflow="overflow">
                    <a:lnL>
                      <a:noFill/>
                    </a:lnL>
                    <a:lnR cap="flat">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57863">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Outside Sources</a:t>
                      </a:r>
                    </a:p>
                  </a:txBody>
                  <a:tcPr marT="45726" marB="4572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Used to show customers, suppliers and outside manufacturing processes</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For project-based maps, could depict the start and end of the process</a:t>
                      </a:r>
                    </a:p>
                  </a:txBody>
                  <a:tcPr marT="45726" marB="4572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7775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Data Box</a:t>
                      </a:r>
                    </a:p>
                  </a:txBody>
                  <a:tcPr marT="45726" marB="4572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Used to record information concerning a process, department, customer, etc.</a:t>
                      </a:r>
                    </a:p>
                  </a:txBody>
                  <a:tcPr marT="45726" marB="4572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775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Inventory</a:t>
                      </a:r>
                    </a:p>
                  </a:txBody>
                  <a:tcPr marT="45726" marB="4572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Count and time should be noted</a:t>
                      </a:r>
                      <a:endParaRPr kumimoji="0" lang="en-US" sz="18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75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defRPr/>
                      </a:pPr>
                      <a:r>
                        <a:rPr kumimoji="0" lang="en-US" altLang="en-US" sz="1600" b="1" i="0" u="none" strike="noStrike" kern="1200" cap="none" normalizeH="0" baseline="0" dirty="0">
                          <a:ln>
                            <a:noFill/>
                          </a:ln>
                          <a:solidFill>
                            <a:schemeClr val="tx1"/>
                          </a:solidFill>
                          <a:effectLst/>
                          <a:latin typeface="Roboto" panose="02000000000000000000" pitchFamily="2" charset="0"/>
                          <a:ea typeface="Roboto" panose="02000000000000000000" pitchFamily="2" charset="0"/>
                          <a:cs typeface="+mn-cs"/>
                        </a:rPr>
                        <a:t>Physical Shipment or Mailing</a:t>
                      </a:r>
                    </a:p>
                  </a:txBody>
                  <a:tcPr marT="45726" marB="45726"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kern="1200" cap="none" normalizeH="0" baseline="0" dirty="0">
                          <a:ln>
                            <a:noFill/>
                          </a:ln>
                          <a:solidFill>
                            <a:schemeClr val="tx1"/>
                          </a:solidFill>
                          <a:effectLst/>
                          <a:latin typeface="Roboto" panose="02000000000000000000" pitchFamily="2" charset="0"/>
                          <a:ea typeface="Roboto" panose="02000000000000000000" pitchFamily="2" charset="0"/>
                          <a:cs typeface="+mn-cs"/>
                        </a:rPr>
                        <a:t>Note frequency of shipments</a:t>
                      </a:r>
                    </a:p>
                  </a:txBody>
                  <a:tcPr marT="45726" marB="45726"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2374848416"/>
                  </a:ext>
                </a:extLst>
              </a:tr>
              <a:tr h="67775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115888" marR="0" lvl="0" indent="-115888" algn="l" defTabSz="914400" rtl="0" eaLnBrk="0" fontAlgn="base" latinLnBrk="0" hangingPunct="0">
                        <a:lnSpc>
                          <a:spcPct val="115000"/>
                        </a:lnSpc>
                        <a:spcBef>
                          <a:spcPct val="20000"/>
                        </a:spcBef>
                        <a:spcAft>
                          <a:spcPct val="20000"/>
                        </a:spcAft>
                        <a:buClr>
                          <a:srgbClr val="006699"/>
                        </a:buClr>
                        <a:buSzPct val="90000"/>
                        <a:buFont typeface="Wingdings" pitchFamily="80" charset="2"/>
                        <a:buChar char="§"/>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a:noFill/>
                    </a:lnL>
                    <a:lnR cap="flat">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grpSp>
        <p:nvGrpSpPr>
          <p:cNvPr id="59" name="Group 58">
            <a:extLst>
              <a:ext uri="{FF2B5EF4-FFF2-40B4-BE49-F238E27FC236}">
                <a16:creationId xmlns:a16="http://schemas.microsoft.com/office/drawing/2014/main" id="{01876383-6368-333C-167B-1621DE1E6504}"/>
              </a:ext>
            </a:extLst>
          </p:cNvPr>
          <p:cNvGrpSpPr/>
          <p:nvPr/>
        </p:nvGrpSpPr>
        <p:grpSpPr>
          <a:xfrm>
            <a:off x="1000359" y="2426350"/>
            <a:ext cx="853863" cy="496023"/>
            <a:chOff x="1001078" y="2272278"/>
            <a:chExt cx="853863" cy="496023"/>
          </a:xfrm>
        </p:grpSpPr>
        <p:sp>
          <p:nvSpPr>
            <p:cNvPr id="7" name="Rectangle 50">
              <a:extLst>
                <a:ext uri="{FF2B5EF4-FFF2-40B4-BE49-F238E27FC236}">
                  <a16:creationId xmlns:a16="http://schemas.microsoft.com/office/drawing/2014/main" id="{5E01EBB4-E6AA-CCAF-467F-5E78041A80D6}"/>
                </a:ext>
              </a:extLst>
            </p:cNvPr>
            <p:cNvSpPr>
              <a:spLocks noChangeArrowheads="1"/>
            </p:cNvSpPr>
            <p:nvPr/>
          </p:nvSpPr>
          <p:spPr bwMode="auto">
            <a:xfrm>
              <a:off x="1001078" y="2321272"/>
              <a:ext cx="853863" cy="447029"/>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 name="Line 51">
              <a:extLst>
                <a:ext uri="{FF2B5EF4-FFF2-40B4-BE49-F238E27FC236}">
                  <a16:creationId xmlns:a16="http://schemas.microsoft.com/office/drawing/2014/main" id="{DEA204DA-55E1-4101-430C-FF54451F6112}"/>
                </a:ext>
              </a:extLst>
            </p:cNvPr>
            <p:cNvSpPr>
              <a:spLocks noChangeShapeType="1"/>
            </p:cNvSpPr>
            <p:nvPr/>
          </p:nvSpPr>
          <p:spPr bwMode="auto">
            <a:xfrm>
              <a:off x="1005840" y="2569186"/>
              <a:ext cx="840186" cy="142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 name="Text Box 56">
              <a:extLst>
                <a:ext uri="{FF2B5EF4-FFF2-40B4-BE49-F238E27FC236}">
                  <a16:creationId xmlns:a16="http://schemas.microsoft.com/office/drawing/2014/main" id="{11FE10C2-F048-5D47-951B-C8C7901D89E2}"/>
                </a:ext>
              </a:extLst>
            </p:cNvPr>
            <p:cNvSpPr txBox="1">
              <a:spLocks noChangeArrowheads="1"/>
            </p:cNvSpPr>
            <p:nvPr/>
          </p:nvSpPr>
          <p:spPr bwMode="auto">
            <a:xfrm>
              <a:off x="1024890" y="2272278"/>
              <a:ext cx="799154"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Receipt</a:t>
              </a:r>
            </a:p>
          </p:txBody>
        </p:sp>
      </p:grpSp>
      <p:grpSp>
        <p:nvGrpSpPr>
          <p:cNvPr id="10" name="Group 75">
            <a:extLst>
              <a:ext uri="{FF2B5EF4-FFF2-40B4-BE49-F238E27FC236}">
                <a16:creationId xmlns:a16="http://schemas.microsoft.com/office/drawing/2014/main" id="{4C4E57F7-B02D-5588-793D-971ED2E0272E}"/>
              </a:ext>
            </a:extLst>
          </p:cNvPr>
          <p:cNvGrpSpPr>
            <a:grpSpLocks/>
          </p:cNvGrpSpPr>
          <p:nvPr/>
        </p:nvGrpSpPr>
        <p:grpSpPr bwMode="auto">
          <a:xfrm>
            <a:off x="947241" y="4281597"/>
            <a:ext cx="929439" cy="468224"/>
            <a:chOff x="4841" y="3357"/>
            <a:chExt cx="495" cy="382"/>
          </a:xfrm>
        </p:grpSpPr>
        <p:sp>
          <p:nvSpPr>
            <p:cNvPr id="11" name="Rectangle 76">
              <a:extLst>
                <a:ext uri="{FF2B5EF4-FFF2-40B4-BE49-F238E27FC236}">
                  <a16:creationId xmlns:a16="http://schemas.microsoft.com/office/drawing/2014/main" id="{6BB4ED18-467E-FE69-5970-33633DA9E9E3}"/>
                </a:ext>
              </a:extLst>
            </p:cNvPr>
            <p:cNvSpPr>
              <a:spLocks noChangeArrowheads="1"/>
            </p:cNvSpPr>
            <p:nvPr/>
          </p:nvSpPr>
          <p:spPr bwMode="auto">
            <a:xfrm>
              <a:off x="4886" y="3357"/>
              <a:ext cx="450"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500" b="0" dirty="0">
                  <a:latin typeface="Roboto" panose="02000000000000000000" pitchFamily="2" charset="0"/>
                  <a:ea typeface="Roboto" panose="02000000000000000000" pitchFamily="2" charset="0"/>
                </a:rPr>
                <a:t>Processing Time = 15”</a:t>
              </a:r>
            </a:p>
            <a:p>
              <a:pPr>
                <a:lnSpc>
                  <a:spcPct val="80000"/>
                </a:lnSpc>
                <a:spcBef>
                  <a:spcPct val="20000"/>
                </a:spcBef>
                <a:spcAft>
                  <a:spcPct val="0"/>
                </a:spcAft>
                <a:buClrTx/>
                <a:buSzTx/>
                <a:buFontTx/>
                <a:buNone/>
              </a:pPr>
              <a:r>
                <a:rPr lang="en-US" altLang="en-US" sz="500" b="0" dirty="0">
                  <a:latin typeface="Roboto" panose="02000000000000000000" pitchFamily="2" charset="0"/>
                  <a:ea typeface="Roboto" panose="02000000000000000000" pitchFamily="2" charset="0"/>
                </a:rPr>
                <a:t>DOI = 8”</a:t>
              </a:r>
            </a:p>
            <a:p>
              <a:pPr>
                <a:lnSpc>
                  <a:spcPct val="80000"/>
                </a:lnSpc>
                <a:spcBef>
                  <a:spcPct val="20000"/>
                </a:spcBef>
                <a:spcAft>
                  <a:spcPct val="0"/>
                </a:spcAft>
                <a:buClrTx/>
                <a:buSzTx/>
                <a:buFontTx/>
                <a:buNone/>
              </a:pPr>
              <a:r>
                <a:rPr lang="en-US" altLang="en-US" sz="500" b="0" dirty="0">
                  <a:latin typeface="Roboto" panose="02000000000000000000" pitchFamily="2" charset="0"/>
                  <a:ea typeface="Roboto" panose="02000000000000000000" pitchFamily="2" charset="0"/>
                </a:rPr>
                <a:t>Quality = 100%</a:t>
              </a:r>
            </a:p>
            <a:p>
              <a:pPr>
                <a:lnSpc>
                  <a:spcPct val="80000"/>
                </a:lnSpc>
                <a:spcBef>
                  <a:spcPct val="20000"/>
                </a:spcBef>
                <a:spcAft>
                  <a:spcPct val="0"/>
                </a:spcAft>
                <a:buClrTx/>
                <a:buSzTx/>
                <a:buFontTx/>
                <a:buNone/>
              </a:pPr>
              <a:r>
                <a:rPr lang="en-US" altLang="en-US" sz="500" b="0" dirty="0">
                  <a:latin typeface="Roboto" panose="02000000000000000000" pitchFamily="2" charset="0"/>
                  <a:ea typeface="Roboto" panose="02000000000000000000" pitchFamily="2" charset="0"/>
                </a:rPr>
                <a:t># Rework = 0</a:t>
              </a:r>
            </a:p>
          </p:txBody>
        </p:sp>
        <p:sp>
          <p:nvSpPr>
            <p:cNvPr id="13" name="Text Box 78">
              <a:extLst>
                <a:ext uri="{FF2B5EF4-FFF2-40B4-BE49-F238E27FC236}">
                  <a16:creationId xmlns:a16="http://schemas.microsoft.com/office/drawing/2014/main" id="{39E5F504-15F0-FF03-9A3F-E6C9C4D57F18}"/>
                </a:ext>
              </a:extLst>
            </p:cNvPr>
            <p:cNvSpPr txBox="1">
              <a:spLocks noChangeArrowheads="1"/>
            </p:cNvSpPr>
            <p:nvPr/>
          </p:nvSpPr>
          <p:spPr bwMode="auto">
            <a:xfrm>
              <a:off x="4841" y="3592"/>
              <a:ext cx="435" cy="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latin typeface="Roboto" panose="02000000000000000000" pitchFamily="2" charset="0"/>
                <a:ea typeface="Roboto" panose="02000000000000000000" pitchFamily="2" charset="0"/>
              </a:endParaRPr>
            </a:p>
          </p:txBody>
        </p:sp>
      </p:grpSp>
      <p:grpSp>
        <p:nvGrpSpPr>
          <p:cNvPr id="3" name="Group 42">
            <a:extLst>
              <a:ext uri="{FF2B5EF4-FFF2-40B4-BE49-F238E27FC236}">
                <a16:creationId xmlns:a16="http://schemas.microsoft.com/office/drawing/2014/main" id="{137D8743-5024-79E0-BCB5-27B8E731B3C9}"/>
              </a:ext>
            </a:extLst>
          </p:cNvPr>
          <p:cNvGrpSpPr>
            <a:grpSpLocks/>
          </p:cNvGrpSpPr>
          <p:nvPr/>
        </p:nvGrpSpPr>
        <p:grpSpPr bwMode="auto">
          <a:xfrm>
            <a:off x="957895" y="3344438"/>
            <a:ext cx="887412" cy="517525"/>
            <a:chOff x="435" y="1322"/>
            <a:chExt cx="583" cy="378"/>
          </a:xfrm>
        </p:grpSpPr>
        <p:grpSp>
          <p:nvGrpSpPr>
            <p:cNvPr id="5" name="Group 43">
              <a:extLst>
                <a:ext uri="{FF2B5EF4-FFF2-40B4-BE49-F238E27FC236}">
                  <a16:creationId xmlns:a16="http://schemas.microsoft.com/office/drawing/2014/main" id="{F03FA963-95ED-A909-E87E-9B9D3DB0BA36}"/>
                </a:ext>
              </a:extLst>
            </p:cNvPr>
            <p:cNvGrpSpPr>
              <a:grpSpLocks/>
            </p:cNvGrpSpPr>
            <p:nvPr/>
          </p:nvGrpSpPr>
          <p:grpSpPr bwMode="auto">
            <a:xfrm>
              <a:off x="474" y="1322"/>
              <a:ext cx="508" cy="348"/>
              <a:chOff x="536" y="1322"/>
              <a:chExt cx="446" cy="348"/>
            </a:xfrm>
          </p:grpSpPr>
          <p:sp>
            <p:nvSpPr>
              <p:cNvPr id="61" name="Rectangle 44">
                <a:extLst>
                  <a:ext uri="{FF2B5EF4-FFF2-40B4-BE49-F238E27FC236}">
                    <a16:creationId xmlns:a16="http://schemas.microsoft.com/office/drawing/2014/main" id="{ED7EF34C-4FD0-004F-3E61-D72D35E49106}"/>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2" name="Rectangle 45">
                <a:extLst>
                  <a:ext uri="{FF2B5EF4-FFF2-40B4-BE49-F238E27FC236}">
                    <a16:creationId xmlns:a16="http://schemas.microsoft.com/office/drawing/2014/main" id="{9E4CD603-A9AB-24CB-3FFE-639871D7DD01}"/>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endParaRPr lang="en-US" altLang="en-US" sz="1400" b="0">
                  <a:solidFill>
                    <a:srgbClr val="FF0000"/>
                  </a:solidFill>
                </a:endParaRPr>
              </a:p>
            </p:txBody>
          </p:sp>
          <p:sp>
            <p:nvSpPr>
              <p:cNvPr id="63" name="AutoShape 46">
                <a:extLst>
                  <a:ext uri="{FF2B5EF4-FFF2-40B4-BE49-F238E27FC236}">
                    <a16:creationId xmlns:a16="http://schemas.microsoft.com/office/drawing/2014/main" id="{24FC7B7C-BEBD-8ADA-2474-B513DAB382ED}"/>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4" name="AutoShape 47">
                <a:extLst>
                  <a:ext uri="{FF2B5EF4-FFF2-40B4-BE49-F238E27FC236}">
                    <a16:creationId xmlns:a16="http://schemas.microsoft.com/office/drawing/2014/main" id="{63F47F1A-30FE-476B-33DF-C1A9977D1698}"/>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5" name="AutoShape 48">
                <a:extLst>
                  <a:ext uri="{FF2B5EF4-FFF2-40B4-BE49-F238E27FC236}">
                    <a16:creationId xmlns:a16="http://schemas.microsoft.com/office/drawing/2014/main" id="{B5A4F8C0-8DB0-4ADA-5A92-1F0C686F5720}"/>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6" name="Rectangle 49">
                <a:extLst>
                  <a:ext uri="{FF2B5EF4-FFF2-40B4-BE49-F238E27FC236}">
                    <a16:creationId xmlns:a16="http://schemas.microsoft.com/office/drawing/2014/main" id="{6FBCABFA-B7DB-6A0D-A9D8-C5C0F8E246A4}"/>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7" name="Rectangle 50">
                <a:extLst>
                  <a:ext uri="{FF2B5EF4-FFF2-40B4-BE49-F238E27FC236}">
                    <a16:creationId xmlns:a16="http://schemas.microsoft.com/office/drawing/2014/main" id="{F4E01ACE-B026-0AA5-7553-C2A0D7268DE4}"/>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68" name="Rectangle 51">
                <a:extLst>
                  <a:ext uri="{FF2B5EF4-FFF2-40B4-BE49-F238E27FC236}">
                    <a16:creationId xmlns:a16="http://schemas.microsoft.com/office/drawing/2014/main" id="{086150FD-0A1D-BB47-EC07-02FE41943D06}"/>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60" name="Text Box 52">
              <a:extLst>
                <a:ext uri="{FF2B5EF4-FFF2-40B4-BE49-F238E27FC236}">
                  <a16:creationId xmlns:a16="http://schemas.microsoft.com/office/drawing/2014/main" id="{25C308CA-7A35-B7F0-11EF-A0155B678884}"/>
                </a:ext>
              </a:extLst>
            </p:cNvPr>
            <p:cNvSpPr txBox="1">
              <a:spLocks noChangeArrowheads="1"/>
            </p:cNvSpPr>
            <p:nvPr/>
          </p:nvSpPr>
          <p:spPr bwMode="auto">
            <a:xfrm>
              <a:off x="435" y="1494"/>
              <a:ext cx="583"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90000"/>
                </a:lnSpc>
                <a:spcBef>
                  <a:spcPct val="0"/>
                </a:spcBef>
              </a:pPr>
              <a:endParaRPr lang="en-US" altLang="en-US" sz="700" b="0">
                <a:solidFill>
                  <a:schemeClr val="tx1"/>
                </a:solidFill>
              </a:endParaRPr>
            </a:p>
            <a:p>
              <a:pPr>
                <a:lnSpc>
                  <a:spcPct val="90000"/>
                </a:lnSpc>
                <a:spcBef>
                  <a:spcPct val="0"/>
                </a:spcBef>
              </a:pPr>
              <a:endParaRPr lang="en-US" altLang="en-US" sz="700" b="0">
                <a:solidFill>
                  <a:schemeClr val="tx1"/>
                </a:solidFill>
              </a:endParaRPr>
            </a:p>
          </p:txBody>
        </p:sp>
      </p:grpSp>
      <p:grpSp>
        <p:nvGrpSpPr>
          <p:cNvPr id="71" name="Group 70">
            <a:extLst>
              <a:ext uri="{FF2B5EF4-FFF2-40B4-BE49-F238E27FC236}">
                <a16:creationId xmlns:a16="http://schemas.microsoft.com/office/drawing/2014/main" id="{CFE1228A-0890-F5D4-6BE0-AB2D4DD401F1}"/>
              </a:ext>
            </a:extLst>
          </p:cNvPr>
          <p:cNvGrpSpPr/>
          <p:nvPr/>
        </p:nvGrpSpPr>
        <p:grpSpPr>
          <a:xfrm>
            <a:off x="1076462" y="4838236"/>
            <a:ext cx="708847" cy="614636"/>
            <a:chOff x="1124844" y="5394699"/>
            <a:chExt cx="498922" cy="541494"/>
          </a:xfrm>
        </p:grpSpPr>
        <p:sp>
          <p:nvSpPr>
            <p:cNvPr id="69" name="AutoShape 60">
              <a:extLst>
                <a:ext uri="{FF2B5EF4-FFF2-40B4-BE49-F238E27FC236}">
                  <a16:creationId xmlns:a16="http://schemas.microsoft.com/office/drawing/2014/main" id="{E6F8A64D-68F3-43A2-80F2-3A6DCFF76881}"/>
                </a:ext>
              </a:extLst>
            </p:cNvPr>
            <p:cNvSpPr>
              <a:spLocks noChangeArrowheads="1"/>
            </p:cNvSpPr>
            <p:nvPr/>
          </p:nvSpPr>
          <p:spPr bwMode="auto">
            <a:xfrm>
              <a:off x="1178249" y="5394699"/>
              <a:ext cx="333375" cy="306411"/>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rPr>
                <a:t>I</a:t>
              </a:r>
            </a:p>
          </p:txBody>
        </p:sp>
        <p:sp>
          <p:nvSpPr>
            <p:cNvPr id="70" name="Text Box 61">
              <a:extLst>
                <a:ext uri="{FF2B5EF4-FFF2-40B4-BE49-F238E27FC236}">
                  <a16:creationId xmlns:a16="http://schemas.microsoft.com/office/drawing/2014/main" id="{33304C8F-517B-7B38-B371-A26ED1683351}"/>
                </a:ext>
              </a:extLst>
            </p:cNvPr>
            <p:cNvSpPr txBox="1">
              <a:spLocks noChangeArrowheads="1"/>
            </p:cNvSpPr>
            <p:nvPr/>
          </p:nvSpPr>
          <p:spPr bwMode="auto">
            <a:xfrm>
              <a:off x="1124844" y="5696324"/>
              <a:ext cx="498922" cy="239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r>
                <a:rPr lang="en-US" altLang="en-US" sz="800" dirty="0">
                  <a:solidFill>
                    <a:schemeClr val="tx1"/>
                  </a:solidFill>
                  <a:latin typeface="Roboto" panose="02000000000000000000" pitchFamily="2" charset="0"/>
                  <a:ea typeface="Roboto" panose="02000000000000000000" pitchFamily="2" charset="0"/>
                </a:rPr>
                <a:t>300 pieces</a:t>
              </a:r>
            </a:p>
            <a:p>
              <a:pPr algn="ctr"/>
              <a:r>
                <a:rPr lang="en-US" altLang="en-US" sz="800" dirty="0">
                  <a:solidFill>
                    <a:schemeClr val="tx1"/>
                  </a:solidFill>
                  <a:latin typeface="Roboto" panose="02000000000000000000" pitchFamily="2" charset="0"/>
                  <a:ea typeface="Roboto" panose="02000000000000000000" pitchFamily="2" charset="0"/>
                </a:rPr>
                <a:t>1 day</a:t>
              </a:r>
            </a:p>
          </p:txBody>
        </p:sp>
      </p:grpSp>
      <p:grpSp>
        <p:nvGrpSpPr>
          <p:cNvPr id="72" name="Group 134">
            <a:extLst>
              <a:ext uri="{FF2B5EF4-FFF2-40B4-BE49-F238E27FC236}">
                <a16:creationId xmlns:a16="http://schemas.microsoft.com/office/drawing/2014/main" id="{5111F08C-B366-2614-5B24-A3260F1194B4}"/>
              </a:ext>
            </a:extLst>
          </p:cNvPr>
          <p:cNvGrpSpPr>
            <a:grpSpLocks/>
          </p:cNvGrpSpPr>
          <p:nvPr/>
        </p:nvGrpSpPr>
        <p:grpSpPr bwMode="auto">
          <a:xfrm>
            <a:off x="1108248" y="5691484"/>
            <a:ext cx="768432" cy="399730"/>
            <a:chOff x="536" y="3744"/>
            <a:chExt cx="415" cy="261"/>
          </a:xfrm>
        </p:grpSpPr>
        <p:sp>
          <p:nvSpPr>
            <p:cNvPr id="73" name="Rectangle 135">
              <a:extLst>
                <a:ext uri="{FF2B5EF4-FFF2-40B4-BE49-F238E27FC236}">
                  <a16:creationId xmlns:a16="http://schemas.microsoft.com/office/drawing/2014/main" id="{22C96443-9E23-116B-35B7-D41E6EC9E7F2}"/>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900" b="0" dirty="0">
                  <a:latin typeface="Roboto" panose="02000000000000000000" pitchFamily="2" charset="0"/>
                  <a:ea typeface="Roboto" panose="02000000000000000000" pitchFamily="2" charset="0"/>
                </a:rPr>
                <a:t>USPS Daily</a:t>
              </a:r>
            </a:p>
          </p:txBody>
        </p:sp>
        <p:sp>
          <p:nvSpPr>
            <p:cNvPr id="74" name="Rectangle 136">
              <a:extLst>
                <a:ext uri="{FF2B5EF4-FFF2-40B4-BE49-F238E27FC236}">
                  <a16:creationId xmlns:a16="http://schemas.microsoft.com/office/drawing/2014/main" id="{A269081A-9479-BCA9-11D0-598B7A7A8B58}"/>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Oval 137">
              <a:extLst>
                <a:ext uri="{FF2B5EF4-FFF2-40B4-BE49-F238E27FC236}">
                  <a16:creationId xmlns:a16="http://schemas.microsoft.com/office/drawing/2014/main" id="{34E60432-2480-5F50-76D6-6862ACAEEED2}"/>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Oval 138">
              <a:extLst>
                <a:ext uri="{FF2B5EF4-FFF2-40B4-BE49-F238E27FC236}">
                  <a16:creationId xmlns:a16="http://schemas.microsoft.com/office/drawing/2014/main" id="{346FDE49-D5EE-275F-47E3-BDF393EB34B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2025792653"/>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VSM Icons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168</a:t>
            </a:fld>
            <a:endParaRPr lang="en-US"/>
          </a:p>
        </p:txBody>
      </p:sp>
      <p:graphicFrame>
        <p:nvGraphicFramePr>
          <p:cNvPr id="3" name="Group 163">
            <a:extLst>
              <a:ext uri="{FF2B5EF4-FFF2-40B4-BE49-F238E27FC236}">
                <a16:creationId xmlns:a16="http://schemas.microsoft.com/office/drawing/2014/main" id="{069BE2A6-E2B4-CAD3-A1A6-E7906910AA9F}"/>
              </a:ext>
            </a:extLst>
          </p:cNvPr>
          <p:cNvGraphicFramePr>
            <a:graphicFrameLocks noGrp="1"/>
          </p:cNvGraphicFramePr>
          <p:nvPr>
            <p:extLst>
              <p:ext uri="{D42A27DB-BD31-4B8C-83A1-F6EECF244321}">
                <p14:modId xmlns:p14="http://schemas.microsoft.com/office/powerpoint/2010/main" val="518131206"/>
              </p:ext>
            </p:extLst>
          </p:nvPr>
        </p:nvGraphicFramePr>
        <p:xfrm>
          <a:off x="656590" y="1794511"/>
          <a:ext cx="10515600" cy="4696155"/>
        </p:xfrm>
        <a:graphic>
          <a:graphicData uri="http://schemas.openxmlformats.org/drawingml/2006/table">
            <a:tbl>
              <a:tblPr/>
              <a:tblGrid>
                <a:gridCol w="3424862">
                  <a:extLst>
                    <a:ext uri="{9D8B030D-6E8A-4147-A177-3AD203B41FA5}">
                      <a16:colId xmlns:a16="http://schemas.microsoft.com/office/drawing/2014/main" val="20000"/>
                    </a:ext>
                  </a:extLst>
                </a:gridCol>
                <a:gridCol w="2592444">
                  <a:extLst>
                    <a:ext uri="{9D8B030D-6E8A-4147-A177-3AD203B41FA5}">
                      <a16:colId xmlns:a16="http://schemas.microsoft.com/office/drawing/2014/main" val="20001"/>
                    </a:ext>
                  </a:extLst>
                </a:gridCol>
                <a:gridCol w="4498294">
                  <a:extLst>
                    <a:ext uri="{9D8B030D-6E8A-4147-A177-3AD203B41FA5}">
                      <a16:colId xmlns:a16="http://schemas.microsoft.com/office/drawing/2014/main" val="20002"/>
                    </a:ext>
                  </a:extLst>
                </a:gridCol>
              </a:tblGrid>
              <a:tr h="39451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Icon</a:t>
                      </a: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a:ln>
                            <a:noFill/>
                          </a:ln>
                          <a:solidFill>
                            <a:schemeClr val="bg1"/>
                          </a:solidFill>
                          <a:effectLst/>
                          <a:latin typeface="Roboto" panose="02000000000000000000" pitchFamily="2" charset="0"/>
                          <a:ea typeface="Roboto" panose="02000000000000000000" pitchFamily="2" charset="0"/>
                        </a:rPr>
                        <a:t>Represents</a:t>
                      </a: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Notes</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102543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Movement of Finished Goods to the Customer</a:t>
                      </a: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One process box equals an area of flow</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All processes should be labeled</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Also used for departments such as    production control</a:t>
                      </a: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4325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Movement of VALUE OBJECT by push</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Value Object is produces and pushed forward before the next process step needs it – usually based on a schedule</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3123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Supermarket</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 controlled inventory of parts that is used to schedule production at an upstream process</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52209">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Withdrawal</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Pull of materials – usually from a supermarket</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94951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FIFO – First In First Out Sequence</a:t>
                      </a: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Indicates a device to limit quantity and ensure FIFO flow of value object between processes. Maximum number should be noted</a:t>
                      </a: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 name="Line 96">
            <a:extLst>
              <a:ext uri="{FF2B5EF4-FFF2-40B4-BE49-F238E27FC236}">
                <a16:creationId xmlns:a16="http://schemas.microsoft.com/office/drawing/2014/main" id="{1257864D-4CD7-49B4-BB64-6D0061F22780}"/>
              </a:ext>
            </a:extLst>
          </p:cNvPr>
          <p:cNvSpPr>
            <a:spLocks noChangeShapeType="1"/>
          </p:cNvSpPr>
          <p:nvPr/>
        </p:nvSpPr>
        <p:spPr bwMode="auto">
          <a:xfrm>
            <a:off x="766127" y="3637979"/>
            <a:ext cx="2001043" cy="0"/>
          </a:xfrm>
          <a:prstGeom prst="line">
            <a:avLst/>
          </a:prstGeom>
          <a:noFill/>
          <a:ln w="7620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6" name="Line 97">
            <a:extLst>
              <a:ext uri="{FF2B5EF4-FFF2-40B4-BE49-F238E27FC236}">
                <a16:creationId xmlns:a16="http://schemas.microsoft.com/office/drawing/2014/main" id="{D51BE76E-2C8D-BE60-347B-E8BB0C144F53}"/>
              </a:ext>
            </a:extLst>
          </p:cNvPr>
          <p:cNvSpPr>
            <a:spLocks noChangeShapeType="1"/>
          </p:cNvSpPr>
          <p:nvPr/>
        </p:nvSpPr>
        <p:spPr bwMode="auto">
          <a:xfrm>
            <a:off x="785678" y="2673668"/>
            <a:ext cx="2001043" cy="0"/>
          </a:xfrm>
          <a:prstGeom prst="line">
            <a:avLst/>
          </a:prstGeom>
          <a:noFill/>
          <a:ln w="762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7" name="Line 115">
            <a:extLst>
              <a:ext uri="{FF2B5EF4-FFF2-40B4-BE49-F238E27FC236}">
                <a16:creationId xmlns:a16="http://schemas.microsoft.com/office/drawing/2014/main" id="{1746BB61-3878-46A1-5CD2-B96B2D03FD96}"/>
              </a:ext>
            </a:extLst>
          </p:cNvPr>
          <p:cNvSpPr>
            <a:spLocks noChangeShapeType="1"/>
          </p:cNvSpPr>
          <p:nvPr/>
        </p:nvSpPr>
        <p:spPr bwMode="auto">
          <a:xfrm>
            <a:off x="796784" y="5822329"/>
            <a:ext cx="320814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 name="Line 116">
            <a:extLst>
              <a:ext uri="{FF2B5EF4-FFF2-40B4-BE49-F238E27FC236}">
                <a16:creationId xmlns:a16="http://schemas.microsoft.com/office/drawing/2014/main" id="{656EA35F-CC65-A25B-0E8A-9F54F8BFDFA0}"/>
              </a:ext>
            </a:extLst>
          </p:cNvPr>
          <p:cNvSpPr>
            <a:spLocks noChangeShapeType="1"/>
          </p:cNvSpPr>
          <p:nvPr/>
        </p:nvSpPr>
        <p:spPr bwMode="auto">
          <a:xfrm>
            <a:off x="796784" y="6182692"/>
            <a:ext cx="320814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 name="Line 117">
            <a:extLst>
              <a:ext uri="{FF2B5EF4-FFF2-40B4-BE49-F238E27FC236}">
                <a16:creationId xmlns:a16="http://schemas.microsoft.com/office/drawing/2014/main" id="{267BB636-28A1-B7B1-71BB-9358F258DDF8}"/>
              </a:ext>
            </a:extLst>
          </p:cNvPr>
          <p:cNvSpPr>
            <a:spLocks noChangeShapeType="1"/>
          </p:cNvSpPr>
          <p:nvPr/>
        </p:nvSpPr>
        <p:spPr bwMode="auto">
          <a:xfrm>
            <a:off x="1087296" y="5992192"/>
            <a:ext cx="48608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0" name="Line 118">
            <a:extLst>
              <a:ext uri="{FF2B5EF4-FFF2-40B4-BE49-F238E27FC236}">
                <a16:creationId xmlns:a16="http://schemas.microsoft.com/office/drawing/2014/main" id="{34D7D63E-746E-3863-5209-E9417697494C}"/>
              </a:ext>
            </a:extLst>
          </p:cNvPr>
          <p:cNvSpPr>
            <a:spLocks noChangeShapeType="1"/>
          </p:cNvSpPr>
          <p:nvPr/>
        </p:nvSpPr>
        <p:spPr bwMode="auto">
          <a:xfrm>
            <a:off x="2168385" y="5993779"/>
            <a:ext cx="583300" cy="0"/>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 name="Text Box 119">
            <a:extLst>
              <a:ext uri="{FF2B5EF4-FFF2-40B4-BE49-F238E27FC236}">
                <a16:creationId xmlns:a16="http://schemas.microsoft.com/office/drawing/2014/main" id="{DBDB2861-86E3-E3E7-5381-1D027E7F0F99}"/>
              </a:ext>
            </a:extLst>
          </p:cNvPr>
          <p:cNvSpPr txBox="1">
            <a:spLocks noChangeArrowheads="1"/>
          </p:cNvSpPr>
          <p:nvPr/>
        </p:nvSpPr>
        <p:spPr bwMode="auto">
          <a:xfrm>
            <a:off x="1466710" y="5793754"/>
            <a:ext cx="972166"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2000" b="0">
                <a:latin typeface="Roboto" panose="02000000000000000000" pitchFamily="2" charset="0"/>
                <a:ea typeface="Roboto" panose="02000000000000000000" pitchFamily="2" charset="0"/>
              </a:rPr>
              <a:t>FIFO</a:t>
            </a:r>
          </a:p>
        </p:txBody>
      </p:sp>
      <p:sp>
        <p:nvSpPr>
          <p:cNvPr id="12" name="Text Box 120">
            <a:extLst>
              <a:ext uri="{FF2B5EF4-FFF2-40B4-BE49-F238E27FC236}">
                <a16:creationId xmlns:a16="http://schemas.microsoft.com/office/drawing/2014/main" id="{226589E3-0205-C36B-51BE-07F3DCBA8EAE}"/>
              </a:ext>
            </a:extLst>
          </p:cNvPr>
          <p:cNvSpPr txBox="1">
            <a:spLocks noChangeArrowheads="1"/>
          </p:cNvSpPr>
          <p:nvPr/>
        </p:nvSpPr>
        <p:spPr bwMode="auto">
          <a:xfrm>
            <a:off x="1141272" y="5590554"/>
            <a:ext cx="190990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rPr>
              <a:t>Max frequency/quantity</a:t>
            </a:r>
          </a:p>
        </p:txBody>
      </p:sp>
      <p:grpSp>
        <p:nvGrpSpPr>
          <p:cNvPr id="29" name="Group 45">
            <a:extLst>
              <a:ext uri="{FF2B5EF4-FFF2-40B4-BE49-F238E27FC236}">
                <a16:creationId xmlns:a16="http://schemas.microsoft.com/office/drawing/2014/main" id="{3A9FEC54-88D1-9FC7-954B-363D934F5FF2}"/>
              </a:ext>
            </a:extLst>
          </p:cNvPr>
          <p:cNvGrpSpPr>
            <a:grpSpLocks/>
          </p:cNvGrpSpPr>
          <p:nvPr/>
        </p:nvGrpSpPr>
        <p:grpSpPr bwMode="auto">
          <a:xfrm>
            <a:off x="1547097" y="4322819"/>
            <a:ext cx="179387" cy="366712"/>
            <a:chOff x="1336" y="1152"/>
            <a:chExt cx="296" cy="720"/>
          </a:xfrm>
        </p:grpSpPr>
        <p:sp>
          <p:nvSpPr>
            <p:cNvPr id="30" name="Line 46">
              <a:extLst>
                <a:ext uri="{FF2B5EF4-FFF2-40B4-BE49-F238E27FC236}">
                  <a16:creationId xmlns:a16="http://schemas.microsoft.com/office/drawing/2014/main" id="{832FE62C-ABF2-AD3C-D34C-57A4DA4DBDF5}"/>
                </a:ext>
              </a:extLst>
            </p:cNvPr>
            <p:cNvSpPr>
              <a:spLocks noChangeShapeType="1"/>
            </p:cNvSpPr>
            <p:nvPr/>
          </p:nvSpPr>
          <p:spPr bwMode="auto">
            <a:xfrm>
              <a:off x="1344" y="115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7">
              <a:extLst>
                <a:ext uri="{FF2B5EF4-FFF2-40B4-BE49-F238E27FC236}">
                  <a16:creationId xmlns:a16="http://schemas.microsoft.com/office/drawing/2014/main" id="{E333139C-5921-5BD0-3A1D-AA380274CBB6}"/>
                </a:ext>
              </a:extLst>
            </p:cNvPr>
            <p:cNvSpPr>
              <a:spLocks noChangeShapeType="1"/>
            </p:cNvSpPr>
            <p:nvPr/>
          </p:nvSpPr>
          <p:spPr bwMode="auto">
            <a:xfrm>
              <a:off x="1632" y="1152"/>
              <a:ext cx="0" cy="72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8">
              <a:extLst>
                <a:ext uri="{FF2B5EF4-FFF2-40B4-BE49-F238E27FC236}">
                  <a16:creationId xmlns:a16="http://schemas.microsoft.com/office/drawing/2014/main" id="{31445532-D562-6D95-CB16-43F3C2D0632D}"/>
                </a:ext>
              </a:extLst>
            </p:cNvPr>
            <p:cNvSpPr>
              <a:spLocks noChangeShapeType="1"/>
            </p:cNvSpPr>
            <p:nvPr/>
          </p:nvSpPr>
          <p:spPr bwMode="auto">
            <a:xfrm>
              <a:off x="1336" y="139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9">
              <a:extLst>
                <a:ext uri="{FF2B5EF4-FFF2-40B4-BE49-F238E27FC236}">
                  <a16:creationId xmlns:a16="http://schemas.microsoft.com/office/drawing/2014/main" id="{922ECA1B-3C5A-85F5-5745-76557DD7608C}"/>
                </a:ext>
              </a:extLst>
            </p:cNvPr>
            <p:cNvSpPr>
              <a:spLocks noChangeShapeType="1"/>
            </p:cNvSpPr>
            <p:nvPr/>
          </p:nvSpPr>
          <p:spPr bwMode="auto">
            <a:xfrm>
              <a:off x="1336" y="163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 name="Line 50">
              <a:extLst>
                <a:ext uri="{FF2B5EF4-FFF2-40B4-BE49-F238E27FC236}">
                  <a16:creationId xmlns:a16="http://schemas.microsoft.com/office/drawing/2014/main" id="{6B243585-4149-30B2-1B68-401E36C52755}"/>
                </a:ext>
              </a:extLst>
            </p:cNvPr>
            <p:cNvSpPr>
              <a:spLocks noChangeShapeType="1"/>
            </p:cNvSpPr>
            <p:nvPr/>
          </p:nvSpPr>
          <p:spPr bwMode="auto">
            <a:xfrm>
              <a:off x="1344" y="1872"/>
              <a:ext cx="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35" name="Picture 34">
            <a:extLst>
              <a:ext uri="{FF2B5EF4-FFF2-40B4-BE49-F238E27FC236}">
                <a16:creationId xmlns:a16="http://schemas.microsoft.com/office/drawing/2014/main" id="{9EB98DF0-DEDE-7E02-5C74-6E99E940AEFC}"/>
              </a:ext>
            </a:extLst>
          </p:cNvPr>
          <p:cNvPicPr>
            <a:picLocks noChangeAspect="1"/>
          </p:cNvPicPr>
          <p:nvPr/>
        </p:nvPicPr>
        <p:blipFill>
          <a:blip r:embed="rId3">
            <a:clrChange>
              <a:clrFrom>
                <a:srgbClr val="FFFFFF"/>
              </a:clrFrom>
              <a:clrTo>
                <a:srgbClr val="FFFFFF">
                  <a:alpha val="0"/>
                </a:srgbClr>
              </a:clrTo>
            </a:clrChange>
            <a:biLevel thresh="75000"/>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a:off x="1436624" y="5025027"/>
            <a:ext cx="395483" cy="349343"/>
          </a:xfrm>
          <a:prstGeom prst="rect">
            <a:avLst/>
          </a:prstGeom>
        </p:spPr>
      </p:pic>
    </p:spTree>
    <p:extLst>
      <p:ext uri="{BB962C8B-B14F-4D97-AF65-F5344CB8AC3E}">
        <p14:creationId xmlns:p14="http://schemas.microsoft.com/office/powerpoint/2010/main" val="379927751"/>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VSM Icons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169</a:t>
            </a:fld>
            <a:endParaRPr lang="en-US"/>
          </a:p>
        </p:txBody>
      </p:sp>
      <p:graphicFrame>
        <p:nvGraphicFramePr>
          <p:cNvPr id="3" name="Group 129">
            <a:extLst>
              <a:ext uri="{FF2B5EF4-FFF2-40B4-BE49-F238E27FC236}">
                <a16:creationId xmlns:a16="http://schemas.microsoft.com/office/drawing/2014/main" id="{EF574A23-21B2-46B2-8617-F4F44EE3EEC1}"/>
              </a:ext>
            </a:extLst>
          </p:cNvPr>
          <p:cNvGraphicFramePr>
            <a:graphicFrameLocks noGrp="1"/>
          </p:cNvGraphicFramePr>
          <p:nvPr>
            <p:extLst>
              <p:ext uri="{D42A27DB-BD31-4B8C-83A1-F6EECF244321}">
                <p14:modId xmlns:p14="http://schemas.microsoft.com/office/powerpoint/2010/main" val="4033121467"/>
              </p:ext>
            </p:extLst>
          </p:nvPr>
        </p:nvGraphicFramePr>
        <p:xfrm>
          <a:off x="838200" y="1747925"/>
          <a:ext cx="11160760" cy="4255600"/>
        </p:xfrm>
        <a:graphic>
          <a:graphicData uri="http://schemas.openxmlformats.org/drawingml/2006/table">
            <a:tbl>
              <a:tblPr/>
              <a:tblGrid>
                <a:gridCol w="3634986">
                  <a:extLst>
                    <a:ext uri="{9D8B030D-6E8A-4147-A177-3AD203B41FA5}">
                      <a16:colId xmlns:a16="http://schemas.microsoft.com/office/drawing/2014/main" val="20000"/>
                    </a:ext>
                  </a:extLst>
                </a:gridCol>
                <a:gridCol w="1770435">
                  <a:extLst>
                    <a:ext uri="{9D8B030D-6E8A-4147-A177-3AD203B41FA5}">
                      <a16:colId xmlns:a16="http://schemas.microsoft.com/office/drawing/2014/main" val="20001"/>
                    </a:ext>
                  </a:extLst>
                </a:gridCol>
                <a:gridCol w="5755339">
                  <a:extLst>
                    <a:ext uri="{9D8B030D-6E8A-4147-A177-3AD203B41FA5}">
                      <a16:colId xmlns:a16="http://schemas.microsoft.com/office/drawing/2014/main" val="20002"/>
                    </a:ext>
                  </a:extLst>
                </a:gridCol>
              </a:tblGrid>
              <a:tr h="39372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Icon</a:t>
                      </a:r>
                    </a:p>
                  </a:txBody>
                  <a:tcPr marT="45723" marB="45723" anchor="b"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Represents</a:t>
                      </a:r>
                    </a:p>
                  </a:txBody>
                  <a:tcPr marT="45723" marB="45723" anchor="b"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Notes</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marT="45723" marB="45723" anchor="b"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62844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kern="1200" cap="none" normalizeH="0" baseline="0" dirty="0">
                        <a:ln>
                          <a:noFill/>
                        </a:ln>
                        <a:solidFill>
                          <a:schemeClr val="tx1"/>
                        </a:solidFill>
                        <a:effectLst/>
                        <a:latin typeface="Roboto" panose="02000000000000000000" pitchFamily="2" charset="0"/>
                        <a:ea typeface="Roboto" panose="02000000000000000000" pitchFamily="2" charset="0"/>
                        <a:cs typeface="+mn-cs"/>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kern="1200" cap="none" normalizeH="0" baseline="0" dirty="0">
                          <a:ln>
                            <a:noFill/>
                          </a:ln>
                          <a:solidFill>
                            <a:schemeClr val="tx1"/>
                          </a:solidFill>
                          <a:effectLst/>
                          <a:latin typeface="Roboto" panose="02000000000000000000" pitchFamily="2" charset="0"/>
                          <a:ea typeface="Roboto" panose="02000000000000000000" pitchFamily="2" charset="0"/>
                          <a:cs typeface="+mn-cs"/>
                        </a:rPr>
                        <a:t>Transport Kanban</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kern="1200" cap="none" normalizeH="0" baseline="0" dirty="0">
                          <a:ln>
                            <a:noFill/>
                          </a:ln>
                          <a:solidFill>
                            <a:schemeClr val="tx1"/>
                          </a:solidFill>
                          <a:effectLst/>
                          <a:latin typeface="Roboto" panose="02000000000000000000" pitchFamily="2" charset="0"/>
                          <a:ea typeface="Roboto" panose="02000000000000000000" pitchFamily="2" charset="0"/>
                          <a:cs typeface="+mn-cs"/>
                        </a:rPr>
                        <a:t>Card or device that instructs material handler to get and transfer parts</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25889004"/>
                  </a:ext>
                </a:extLst>
              </a:tr>
              <a:tr h="62844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Signal Kanban</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285750" marR="0" lvl="0" indent="-2857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The “one-per-batch” kanban. Signal when a reorder point is reached and another batch needs to be produced. </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8749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“Go See” Production Scheduling</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285750" marR="0" lvl="0" indent="-2857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 controlled inventory of parts that is used to schedule production at an upstream process</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Manual information flow</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285750" marR="0" lvl="0" indent="-2857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Pull of materials – usually from a supermarket</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Electronic information flow</a:t>
                      </a: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285750" marR="0" lvl="0" indent="-2857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kern="1200" cap="none" normalizeH="0" baseline="0" dirty="0">
                          <a:ln>
                            <a:noFill/>
                          </a:ln>
                          <a:solidFill>
                            <a:schemeClr val="tx1"/>
                          </a:solidFill>
                          <a:effectLst/>
                          <a:latin typeface="Roboto" panose="02000000000000000000" pitchFamily="2" charset="0"/>
                          <a:ea typeface="Roboto" panose="02000000000000000000" pitchFamily="2" charset="0"/>
                          <a:cs typeface="+mn-cs"/>
                        </a:rPr>
                        <a:t>Indicates a device to limit quantity and ensure FIFO flow of value object between processes. Maximum number should be noted</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endPar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5" name="Line 90">
            <a:extLst>
              <a:ext uri="{FF2B5EF4-FFF2-40B4-BE49-F238E27FC236}">
                <a16:creationId xmlns:a16="http://schemas.microsoft.com/office/drawing/2014/main" id="{97B3F637-22C0-E102-E1CE-EECA884BA4A0}"/>
              </a:ext>
            </a:extLst>
          </p:cNvPr>
          <p:cNvSpPr>
            <a:spLocks noChangeShapeType="1"/>
          </p:cNvSpPr>
          <p:nvPr/>
        </p:nvSpPr>
        <p:spPr bwMode="auto">
          <a:xfrm>
            <a:off x="1194412" y="4792955"/>
            <a:ext cx="2179524" cy="0"/>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nvGrpSpPr>
          <p:cNvPr id="6" name="Group 95">
            <a:extLst>
              <a:ext uri="{FF2B5EF4-FFF2-40B4-BE49-F238E27FC236}">
                <a16:creationId xmlns:a16="http://schemas.microsoft.com/office/drawing/2014/main" id="{27E73A3D-6ECD-AD3E-2068-33216C6C120F}"/>
              </a:ext>
            </a:extLst>
          </p:cNvPr>
          <p:cNvGrpSpPr>
            <a:grpSpLocks/>
          </p:cNvGrpSpPr>
          <p:nvPr/>
        </p:nvGrpSpPr>
        <p:grpSpPr bwMode="auto">
          <a:xfrm>
            <a:off x="1164249" y="5316830"/>
            <a:ext cx="2143466" cy="376238"/>
            <a:chOff x="466" y="3301"/>
            <a:chExt cx="1216" cy="246"/>
          </a:xfrm>
        </p:grpSpPr>
        <p:sp>
          <p:nvSpPr>
            <p:cNvPr id="7" name="Line 91">
              <a:extLst>
                <a:ext uri="{FF2B5EF4-FFF2-40B4-BE49-F238E27FC236}">
                  <a16:creationId xmlns:a16="http://schemas.microsoft.com/office/drawing/2014/main" id="{EABA032A-B077-9233-EA71-040B8EA588AF}"/>
                </a:ext>
              </a:extLst>
            </p:cNvPr>
            <p:cNvSpPr>
              <a:spLocks noChangeShapeType="1"/>
            </p:cNvSpPr>
            <p:nvPr/>
          </p:nvSpPr>
          <p:spPr bwMode="auto">
            <a:xfrm>
              <a:off x="466" y="3301"/>
              <a:ext cx="585" cy="0"/>
            </a:xfrm>
            <a:prstGeom prst="line">
              <a:avLst/>
            </a:prstGeom>
            <a:noFill/>
            <a:ln w="381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8" name="Line 93">
              <a:extLst>
                <a:ext uri="{FF2B5EF4-FFF2-40B4-BE49-F238E27FC236}">
                  <a16:creationId xmlns:a16="http://schemas.microsoft.com/office/drawing/2014/main" id="{45401F8F-41D3-7817-1CBE-60E5DFA99B8C}"/>
                </a:ext>
              </a:extLst>
            </p:cNvPr>
            <p:cNvSpPr>
              <a:spLocks noChangeShapeType="1"/>
            </p:cNvSpPr>
            <p:nvPr/>
          </p:nvSpPr>
          <p:spPr bwMode="auto">
            <a:xfrm>
              <a:off x="942" y="3547"/>
              <a:ext cx="740" cy="0"/>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9" name="Line 94">
              <a:extLst>
                <a:ext uri="{FF2B5EF4-FFF2-40B4-BE49-F238E27FC236}">
                  <a16:creationId xmlns:a16="http://schemas.microsoft.com/office/drawing/2014/main" id="{AA2F2D14-B8F6-B4F8-4FF0-247E132E9628}"/>
                </a:ext>
              </a:extLst>
            </p:cNvPr>
            <p:cNvSpPr>
              <a:spLocks noChangeShapeType="1"/>
            </p:cNvSpPr>
            <p:nvPr/>
          </p:nvSpPr>
          <p:spPr bwMode="auto">
            <a:xfrm flipH="1">
              <a:off x="942" y="3301"/>
              <a:ext cx="100" cy="237"/>
            </a:xfrm>
            <a:prstGeom prst="line">
              <a:avLst/>
            </a:prstGeom>
            <a:noFill/>
            <a:ln w="381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grpSp>
        <p:nvGrpSpPr>
          <p:cNvPr id="11" name="Group 63">
            <a:extLst>
              <a:ext uri="{FF2B5EF4-FFF2-40B4-BE49-F238E27FC236}">
                <a16:creationId xmlns:a16="http://schemas.microsoft.com/office/drawing/2014/main" id="{3E994323-957F-3128-12FE-078AB3AB54D0}"/>
              </a:ext>
            </a:extLst>
          </p:cNvPr>
          <p:cNvGrpSpPr>
            <a:grpSpLocks/>
          </p:cNvGrpSpPr>
          <p:nvPr/>
        </p:nvGrpSpPr>
        <p:grpSpPr bwMode="auto">
          <a:xfrm>
            <a:off x="1606428" y="3530892"/>
            <a:ext cx="793750" cy="541338"/>
            <a:chOff x="2880" y="3264"/>
            <a:chExt cx="720" cy="432"/>
          </a:xfrm>
        </p:grpSpPr>
        <p:sp>
          <p:nvSpPr>
            <p:cNvPr id="12" name="Oval 64">
              <a:extLst>
                <a:ext uri="{FF2B5EF4-FFF2-40B4-BE49-F238E27FC236}">
                  <a16:creationId xmlns:a16="http://schemas.microsoft.com/office/drawing/2014/main" id="{11232E1C-E205-F0E3-D62E-F3BA62BBEB6E}"/>
                </a:ext>
              </a:extLst>
            </p:cNvPr>
            <p:cNvSpPr>
              <a:spLocks noChangeArrowheads="1"/>
            </p:cNvSpPr>
            <p:nvPr/>
          </p:nvSpPr>
          <p:spPr bwMode="auto">
            <a:xfrm>
              <a:off x="2880" y="3456"/>
              <a:ext cx="240" cy="240"/>
            </a:xfrm>
            <a:prstGeom prst="ellipse">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3" name="Oval 65">
              <a:extLst>
                <a:ext uri="{FF2B5EF4-FFF2-40B4-BE49-F238E27FC236}">
                  <a16:creationId xmlns:a16="http://schemas.microsoft.com/office/drawing/2014/main" id="{BCCDF3E7-FA3E-3BA3-00A3-83BA3CAE6043}"/>
                </a:ext>
              </a:extLst>
            </p:cNvPr>
            <p:cNvSpPr>
              <a:spLocks noChangeArrowheads="1"/>
            </p:cNvSpPr>
            <p:nvPr/>
          </p:nvSpPr>
          <p:spPr bwMode="auto">
            <a:xfrm>
              <a:off x="3216" y="3456"/>
              <a:ext cx="240" cy="240"/>
            </a:xfrm>
            <a:prstGeom prst="ellipse">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cxnSp>
          <p:nvCxnSpPr>
            <p:cNvPr id="14" name="AutoShape 66">
              <a:extLst>
                <a:ext uri="{FF2B5EF4-FFF2-40B4-BE49-F238E27FC236}">
                  <a16:creationId xmlns:a16="http://schemas.microsoft.com/office/drawing/2014/main" id="{59005A0E-8457-348A-EC17-AF398738D2B7}"/>
                </a:ext>
              </a:extLst>
            </p:cNvPr>
            <p:cNvCxnSpPr>
              <a:cxnSpLocks noChangeShapeType="1"/>
              <a:stCxn id="12" idx="6"/>
              <a:endCxn id="13" idx="2"/>
            </p:cNvCxnSpPr>
            <p:nvPr/>
          </p:nvCxnSpPr>
          <p:spPr bwMode="auto">
            <a:xfrm>
              <a:off x="3131" y="3576"/>
              <a:ext cx="74" cy="0"/>
            </a:xfrm>
            <a:prstGeom prst="straightConnector1">
              <a:avLst/>
            </a:prstGeom>
            <a:noFill/>
            <a:ln w="44450">
              <a:solidFill>
                <a:schemeClr val="tx1"/>
              </a:solidFill>
              <a:round/>
              <a:headEnd/>
              <a:tailEnd/>
            </a:ln>
            <a:extLst>
              <a:ext uri="{909E8E84-426E-40DD-AFC4-6F175D3DCCD1}">
                <a14:hiddenFill xmlns:a14="http://schemas.microsoft.com/office/drawing/2010/main">
                  <a:noFill/>
                </a14:hiddenFill>
              </a:ext>
            </a:extLst>
          </p:spPr>
        </p:cxnSp>
        <p:sp>
          <p:nvSpPr>
            <p:cNvPr id="15" name="Line 67">
              <a:extLst>
                <a:ext uri="{FF2B5EF4-FFF2-40B4-BE49-F238E27FC236}">
                  <a16:creationId xmlns:a16="http://schemas.microsoft.com/office/drawing/2014/main" id="{C9552AFB-1B35-1FB3-36FF-69C2B912C6AB}"/>
                </a:ext>
              </a:extLst>
            </p:cNvPr>
            <p:cNvSpPr>
              <a:spLocks noChangeShapeType="1"/>
            </p:cNvSpPr>
            <p:nvPr/>
          </p:nvSpPr>
          <p:spPr bwMode="auto">
            <a:xfrm flipV="1">
              <a:off x="3456" y="3312"/>
              <a:ext cx="96" cy="192"/>
            </a:xfrm>
            <a:prstGeom prst="line">
              <a:avLst/>
            </a:prstGeom>
            <a:noFill/>
            <a:ln w="444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 name="Line 68">
              <a:extLst>
                <a:ext uri="{FF2B5EF4-FFF2-40B4-BE49-F238E27FC236}">
                  <a16:creationId xmlns:a16="http://schemas.microsoft.com/office/drawing/2014/main" id="{E9DCE261-2B1D-994F-D8E1-708FB9988FB4}"/>
                </a:ext>
              </a:extLst>
            </p:cNvPr>
            <p:cNvSpPr>
              <a:spLocks noChangeShapeType="1"/>
            </p:cNvSpPr>
            <p:nvPr/>
          </p:nvSpPr>
          <p:spPr bwMode="auto">
            <a:xfrm flipV="1">
              <a:off x="2928" y="3264"/>
              <a:ext cx="96" cy="192"/>
            </a:xfrm>
            <a:prstGeom prst="line">
              <a:avLst/>
            </a:prstGeom>
            <a:noFill/>
            <a:ln w="444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 name="Line 69">
              <a:extLst>
                <a:ext uri="{FF2B5EF4-FFF2-40B4-BE49-F238E27FC236}">
                  <a16:creationId xmlns:a16="http://schemas.microsoft.com/office/drawing/2014/main" id="{8734367C-A155-1C3D-7FA6-F5DFDCA17B67}"/>
                </a:ext>
              </a:extLst>
            </p:cNvPr>
            <p:cNvSpPr>
              <a:spLocks noChangeShapeType="1"/>
            </p:cNvSpPr>
            <p:nvPr/>
          </p:nvSpPr>
          <p:spPr bwMode="auto">
            <a:xfrm>
              <a:off x="3552" y="3312"/>
              <a:ext cx="48" cy="144"/>
            </a:xfrm>
            <a:prstGeom prst="line">
              <a:avLst/>
            </a:prstGeom>
            <a:noFill/>
            <a:ln w="444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 name="Line 70">
              <a:extLst>
                <a:ext uri="{FF2B5EF4-FFF2-40B4-BE49-F238E27FC236}">
                  <a16:creationId xmlns:a16="http://schemas.microsoft.com/office/drawing/2014/main" id="{AE4BA948-A1D3-3E7A-B3EB-94FA0D8DE1E1}"/>
                </a:ext>
              </a:extLst>
            </p:cNvPr>
            <p:cNvSpPr>
              <a:spLocks noChangeShapeType="1"/>
            </p:cNvSpPr>
            <p:nvPr/>
          </p:nvSpPr>
          <p:spPr bwMode="auto">
            <a:xfrm rot="-601786">
              <a:off x="3024" y="3264"/>
              <a:ext cx="48" cy="144"/>
            </a:xfrm>
            <a:prstGeom prst="line">
              <a:avLst/>
            </a:prstGeom>
            <a:noFill/>
            <a:ln w="444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3" name="Group 22">
            <a:extLst>
              <a:ext uri="{FF2B5EF4-FFF2-40B4-BE49-F238E27FC236}">
                <a16:creationId xmlns:a16="http://schemas.microsoft.com/office/drawing/2014/main" id="{50C7E2C3-952D-FD15-E935-8B401A621300}"/>
              </a:ext>
            </a:extLst>
          </p:cNvPr>
          <p:cNvGrpSpPr/>
          <p:nvPr/>
        </p:nvGrpSpPr>
        <p:grpSpPr>
          <a:xfrm>
            <a:off x="1738711" y="2727460"/>
            <a:ext cx="482608" cy="615313"/>
            <a:chOff x="1130292" y="2762250"/>
            <a:chExt cx="482608" cy="661988"/>
          </a:xfrm>
        </p:grpSpPr>
        <p:sp>
          <p:nvSpPr>
            <p:cNvPr id="19" name="Rectangle 43">
              <a:extLst>
                <a:ext uri="{FF2B5EF4-FFF2-40B4-BE49-F238E27FC236}">
                  <a16:creationId xmlns:a16="http://schemas.microsoft.com/office/drawing/2014/main" id="{497C4B7C-EA8B-0513-598E-9067BD1E1D9D}"/>
                </a:ext>
              </a:extLst>
            </p:cNvPr>
            <p:cNvSpPr>
              <a:spLocks noChangeArrowheads="1"/>
            </p:cNvSpPr>
            <p:nvPr/>
          </p:nvSpPr>
          <p:spPr bwMode="auto">
            <a:xfrm>
              <a:off x="1130300" y="3081338"/>
              <a:ext cx="482600" cy="342900"/>
            </a:xfrm>
            <a:prstGeom prst="rect">
              <a:avLst/>
            </a:prstGeom>
            <a:noFill/>
            <a:ln w="3810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nvGrpSpPr>
            <p:cNvPr id="20" name="Group 44">
              <a:extLst>
                <a:ext uri="{FF2B5EF4-FFF2-40B4-BE49-F238E27FC236}">
                  <a16:creationId xmlns:a16="http://schemas.microsoft.com/office/drawing/2014/main" id="{76B332AE-B5E1-840C-8808-F7F027C66899}"/>
                </a:ext>
              </a:extLst>
            </p:cNvPr>
            <p:cNvGrpSpPr>
              <a:grpSpLocks/>
            </p:cNvGrpSpPr>
            <p:nvPr/>
          </p:nvGrpSpPr>
          <p:grpSpPr bwMode="auto">
            <a:xfrm>
              <a:off x="1130292" y="2762250"/>
              <a:ext cx="466725" cy="368300"/>
              <a:chOff x="4957" y="2143"/>
              <a:chExt cx="294" cy="232"/>
            </a:xfrm>
          </p:grpSpPr>
          <p:sp>
            <p:nvSpPr>
              <p:cNvPr id="21" name="AutoShape 45">
                <a:extLst>
                  <a:ext uri="{FF2B5EF4-FFF2-40B4-BE49-F238E27FC236}">
                    <a16:creationId xmlns:a16="http://schemas.microsoft.com/office/drawing/2014/main" id="{64AFC255-BE5A-33F8-0D6E-9C3C3D19FBC3}"/>
                  </a:ext>
                </a:extLst>
              </p:cNvPr>
              <p:cNvSpPr>
                <a:spLocks noChangeAspect="1" noChangeArrowheads="1"/>
              </p:cNvSpPr>
              <p:nvPr/>
            </p:nvSpPr>
            <p:spPr bwMode="auto">
              <a:xfrm flipV="1">
                <a:off x="5031" y="2257"/>
                <a:ext cx="147" cy="118"/>
              </a:xfrm>
              <a:prstGeom prst="triangle">
                <a:avLst>
                  <a:gd name="adj" fmla="val 50000"/>
                </a:avLst>
              </a:prstGeom>
              <a:solidFill>
                <a:schemeClr val="bg1"/>
              </a:solidFill>
              <a:ln w="9525">
                <a:solidFill>
                  <a:schemeClr val="tx1"/>
                </a:solidFill>
                <a:miter lim="800000"/>
                <a:headEnd/>
                <a:tailEnd/>
              </a:ln>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2" name="Text Box 46">
                <a:extLst>
                  <a:ext uri="{FF2B5EF4-FFF2-40B4-BE49-F238E27FC236}">
                    <a16:creationId xmlns:a16="http://schemas.microsoft.com/office/drawing/2014/main" id="{325F10D3-6C8D-62CF-8E76-D4591522BD78}"/>
                  </a:ext>
                </a:extLst>
              </p:cNvPr>
              <p:cNvSpPr txBox="1">
                <a:spLocks noChangeArrowheads="1"/>
              </p:cNvSpPr>
              <p:nvPr/>
            </p:nvSpPr>
            <p:spPr bwMode="auto">
              <a:xfrm>
                <a:off x="4957" y="2143"/>
                <a:ext cx="294"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eaLnBrk="1" hangingPunct="1">
                  <a:lnSpc>
                    <a:spcPct val="100000"/>
                  </a:lnSpc>
                  <a:spcBef>
                    <a:spcPct val="0"/>
                  </a:spcBef>
                </a:pPr>
                <a:r>
                  <a:rPr lang="en-US" altLang="en-US" sz="800" b="0">
                    <a:solidFill>
                      <a:srgbClr val="003366"/>
                    </a:solidFill>
                    <a:latin typeface="Roboto" panose="02000000000000000000" pitchFamily="2" charset="0"/>
                    <a:ea typeface="Roboto" panose="02000000000000000000" pitchFamily="2" charset="0"/>
                  </a:rPr>
                  <a:t>Signal</a:t>
                </a:r>
              </a:p>
            </p:txBody>
          </p:sp>
        </p:grpSp>
      </p:grpSp>
      <p:grpSp>
        <p:nvGrpSpPr>
          <p:cNvPr id="24" name="Group 47">
            <a:extLst>
              <a:ext uri="{FF2B5EF4-FFF2-40B4-BE49-F238E27FC236}">
                <a16:creationId xmlns:a16="http://schemas.microsoft.com/office/drawing/2014/main" id="{906F9ED3-681C-AB80-4651-0EE202C71FFE}"/>
              </a:ext>
            </a:extLst>
          </p:cNvPr>
          <p:cNvGrpSpPr>
            <a:grpSpLocks/>
          </p:cNvGrpSpPr>
          <p:nvPr/>
        </p:nvGrpSpPr>
        <p:grpSpPr bwMode="auto">
          <a:xfrm>
            <a:off x="1505659" y="2244154"/>
            <a:ext cx="865187" cy="365125"/>
            <a:chOff x="563" y="1375"/>
            <a:chExt cx="545" cy="230"/>
          </a:xfrm>
        </p:grpSpPr>
        <p:grpSp>
          <p:nvGrpSpPr>
            <p:cNvPr id="25" name="Group 48">
              <a:extLst>
                <a:ext uri="{FF2B5EF4-FFF2-40B4-BE49-F238E27FC236}">
                  <a16:creationId xmlns:a16="http://schemas.microsoft.com/office/drawing/2014/main" id="{A06C2379-829E-7294-8921-6EC6489DE2DA}"/>
                </a:ext>
              </a:extLst>
            </p:cNvPr>
            <p:cNvGrpSpPr>
              <a:grpSpLocks/>
            </p:cNvGrpSpPr>
            <p:nvPr/>
          </p:nvGrpSpPr>
          <p:grpSpPr bwMode="auto">
            <a:xfrm>
              <a:off x="679" y="1375"/>
              <a:ext cx="297" cy="142"/>
              <a:chOff x="2880" y="3024"/>
              <a:chExt cx="864" cy="384"/>
            </a:xfrm>
          </p:grpSpPr>
          <p:sp>
            <p:nvSpPr>
              <p:cNvPr id="35" name="Line 49">
                <a:extLst>
                  <a:ext uri="{FF2B5EF4-FFF2-40B4-BE49-F238E27FC236}">
                    <a16:creationId xmlns:a16="http://schemas.microsoft.com/office/drawing/2014/main" id="{1C0C494D-2D39-C488-06EE-C5DDE37BC1C2}"/>
                  </a:ext>
                </a:extLst>
              </p:cNvPr>
              <p:cNvSpPr>
                <a:spLocks noChangeShapeType="1"/>
              </p:cNvSpPr>
              <p:nvPr/>
            </p:nvSpPr>
            <p:spPr bwMode="auto">
              <a:xfrm flipH="1">
                <a:off x="2880" y="3024"/>
                <a:ext cx="67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 name="Line 50">
                <a:extLst>
                  <a:ext uri="{FF2B5EF4-FFF2-40B4-BE49-F238E27FC236}">
                    <a16:creationId xmlns:a16="http://schemas.microsoft.com/office/drawing/2014/main" id="{2CBC75C6-07A8-42D3-BB58-053CCA489807}"/>
                  </a:ext>
                </a:extLst>
              </p:cNvPr>
              <p:cNvSpPr>
                <a:spLocks noChangeShapeType="1"/>
              </p:cNvSpPr>
              <p:nvPr/>
            </p:nvSpPr>
            <p:spPr bwMode="auto">
              <a:xfrm flipH="1">
                <a:off x="2880" y="3408"/>
                <a:ext cx="8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 name="Line 51">
                <a:extLst>
                  <a:ext uri="{FF2B5EF4-FFF2-40B4-BE49-F238E27FC236}">
                    <a16:creationId xmlns:a16="http://schemas.microsoft.com/office/drawing/2014/main" id="{1F9CBF1B-61A9-F33A-53AB-41511005BC83}"/>
                  </a:ext>
                </a:extLst>
              </p:cNvPr>
              <p:cNvSpPr>
                <a:spLocks noChangeShapeType="1"/>
              </p:cNvSpPr>
              <p:nvPr/>
            </p:nvSpPr>
            <p:spPr bwMode="auto">
              <a:xfrm>
                <a:off x="2880" y="3024"/>
                <a:ext cx="0" cy="38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 name="Line 52">
                <a:extLst>
                  <a:ext uri="{FF2B5EF4-FFF2-40B4-BE49-F238E27FC236}">
                    <a16:creationId xmlns:a16="http://schemas.microsoft.com/office/drawing/2014/main" id="{C88AEE49-02F6-AC0C-4FDB-61CE86A985B1}"/>
                  </a:ext>
                </a:extLst>
              </p:cNvPr>
              <p:cNvSpPr>
                <a:spLocks noChangeShapeType="1"/>
              </p:cNvSpPr>
              <p:nvPr/>
            </p:nvSpPr>
            <p:spPr bwMode="auto">
              <a:xfrm flipV="1">
                <a:off x="3744" y="3168"/>
                <a:ext cx="0" cy="24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53">
                <a:extLst>
                  <a:ext uri="{FF2B5EF4-FFF2-40B4-BE49-F238E27FC236}">
                    <a16:creationId xmlns:a16="http://schemas.microsoft.com/office/drawing/2014/main" id="{6521C588-D7EF-4BBF-17FE-6365D323D833}"/>
                  </a:ext>
                </a:extLst>
              </p:cNvPr>
              <p:cNvSpPr>
                <a:spLocks noChangeShapeType="1"/>
              </p:cNvSpPr>
              <p:nvPr/>
            </p:nvSpPr>
            <p:spPr bwMode="auto">
              <a:xfrm flipH="1" flipV="1">
                <a:off x="3552" y="3024"/>
                <a:ext cx="192"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6" name="Line 54">
              <a:extLst>
                <a:ext uri="{FF2B5EF4-FFF2-40B4-BE49-F238E27FC236}">
                  <a16:creationId xmlns:a16="http://schemas.microsoft.com/office/drawing/2014/main" id="{FF89B2CA-A750-2C91-F3B6-E4D684AED8D0}"/>
                </a:ext>
              </a:extLst>
            </p:cNvPr>
            <p:cNvSpPr>
              <a:spLocks noChangeShapeType="1"/>
            </p:cNvSpPr>
            <p:nvPr/>
          </p:nvSpPr>
          <p:spPr bwMode="auto">
            <a:xfrm flipH="1">
              <a:off x="1009" y="1463"/>
              <a:ext cx="99" cy="0"/>
            </a:xfrm>
            <a:prstGeom prst="line">
              <a:avLst/>
            </a:prstGeom>
            <a:noFill/>
            <a:ln w="317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55">
              <a:extLst>
                <a:ext uri="{FF2B5EF4-FFF2-40B4-BE49-F238E27FC236}">
                  <a16:creationId xmlns:a16="http://schemas.microsoft.com/office/drawing/2014/main" id="{6363EA6E-DD57-8036-1C3C-138F13BE6757}"/>
                </a:ext>
              </a:extLst>
            </p:cNvPr>
            <p:cNvSpPr>
              <a:spLocks noChangeShapeType="1"/>
            </p:cNvSpPr>
            <p:nvPr/>
          </p:nvSpPr>
          <p:spPr bwMode="auto">
            <a:xfrm flipH="1">
              <a:off x="563" y="1463"/>
              <a:ext cx="83" cy="0"/>
            </a:xfrm>
            <a:prstGeom prst="line">
              <a:avLst/>
            </a:prstGeom>
            <a:noFill/>
            <a:ln w="317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8" name="Line 56">
              <a:extLst>
                <a:ext uri="{FF2B5EF4-FFF2-40B4-BE49-F238E27FC236}">
                  <a16:creationId xmlns:a16="http://schemas.microsoft.com/office/drawing/2014/main" id="{E62BE846-0DB3-F71F-2E65-B1C411B8C144}"/>
                </a:ext>
              </a:extLst>
            </p:cNvPr>
            <p:cNvSpPr>
              <a:spLocks noChangeShapeType="1"/>
            </p:cNvSpPr>
            <p:nvPr/>
          </p:nvSpPr>
          <p:spPr bwMode="auto">
            <a:xfrm>
              <a:off x="563" y="1463"/>
              <a:ext cx="0" cy="142"/>
            </a:xfrm>
            <a:prstGeom prst="line">
              <a:avLst/>
            </a:prstGeom>
            <a:noFill/>
            <a:ln w="317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 name="Line 57">
              <a:extLst>
                <a:ext uri="{FF2B5EF4-FFF2-40B4-BE49-F238E27FC236}">
                  <a16:creationId xmlns:a16="http://schemas.microsoft.com/office/drawing/2014/main" id="{A3572350-93E0-B7B3-FE63-52EC766B273A}"/>
                </a:ext>
              </a:extLst>
            </p:cNvPr>
            <p:cNvSpPr>
              <a:spLocks noChangeShapeType="1"/>
            </p:cNvSpPr>
            <p:nvPr/>
          </p:nvSpPr>
          <p:spPr bwMode="auto">
            <a:xfrm flipH="1">
              <a:off x="745" y="1375"/>
              <a:ext cx="165" cy="1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58">
              <a:extLst>
                <a:ext uri="{FF2B5EF4-FFF2-40B4-BE49-F238E27FC236}">
                  <a16:creationId xmlns:a16="http://schemas.microsoft.com/office/drawing/2014/main" id="{2540F703-A7D2-693D-404D-C10C8A26C5C5}"/>
                </a:ext>
              </a:extLst>
            </p:cNvPr>
            <p:cNvSpPr>
              <a:spLocks noChangeShapeType="1"/>
            </p:cNvSpPr>
            <p:nvPr/>
          </p:nvSpPr>
          <p:spPr bwMode="auto">
            <a:xfrm flipH="1">
              <a:off x="860" y="1428"/>
              <a:ext cx="116" cy="8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59">
              <a:extLst>
                <a:ext uri="{FF2B5EF4-FFF2-40B4-BE49-F238E27FC236}">
                  <a16:creationId xmlns:a16="http://schemas.microsoft.com/office/drawing/2014/main" id="{E72CF886-DE33-7EE6-C128-B88E6BB0859A}"/>
                </a:ext>
              </a:extLst>
            </p:cNvPr>
            <p:cNvSpPr>
              <a:spLocks noChangeShapeType="1"/>
            </p:cNvSpPr>
            <p:nvPr/>
          </p:nvSpPr>
          <p:spPr bwMode="auto">
            <a:xfrm flipH="1">
              <a:off x="679" y="1375"/>
              <a:ext cx="132" cy="1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60">
              <a:extLst>
                <a:ext uri="{FF2B5EF4-FFF2-40B4-BE49-F238E27FC236}">
                  <a16:creationId xmlns:a16="http://schemas.microsoft.com/office/drawing/2014/main" id="{488FD9E3-F190-7936-5B17-1EEEAC0DC3F6}"/>
                </a:ext>
              </a:extLst>
            </p:cNvPr>
            <p:cNvSpPr>
              <a:spLocks noChangeShapeType="1"/>
            </p:cNvSpPr>
            <p:nvPr/>
          </p:nvSpPr>
          <p:spPr bwMode="auto">
            <a:xfrm flipH="1">
              <a:off x="679" y="1375"/>
              <a:ext cx="66" cy="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61">
              <a:extLst>
                <a:ext uri="{FF2B5EF4-FFF2-40B4-BE49-F238E27FC236}">
                  <a16:creationId xmlns:a16="http://schemas.microsoft.com/office/drawing/2014/main" id="{8EF263A7-8C1F-B4B3-4367-9F6CB22ED849}"/>
                </a:ext>
              </a:extLst>
            </p:cNvPr>
            <p:cNvSpPr>
              <a:spLocks noChangeShapeType="1"/>
            </p:cNvSpPr>
            <p:nvPr/>
          </p:nvSpPr>
          <p:spPr bwMode="auto">
            <a:xfrm flipH="1">
              <a:off x="811" y="1393"/>
              <a:ext cx="132" cy="12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 name="Line 62">
              <a:extLst>
                <a:ext uri="{FF2B5EF4-FFF2-40B4-BE49-F238E27FC236}">
                  <a16:creationId xmlns:a16="http://schemas.microsoft.com/office/drawing/2014/main" id="{2FB1F0AB-B566-8BF0-990C-FDD90F8B6E97}"/>
                </a:ext>
              </a:extLst>
            </p:cNvPr>
            <p:cNvSpPr>
              <a:spLocks noChangeShapeType="1"/>
            </p:cNvSpPr>
            <p:nvPr/>
          </p:nvSpPr>
          <p:spPr bwMode="auto">
            <a:xfrm flipH="1">
              <a:off x="712" y="1375"/>
              <a:ext cx="132" cy="1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Tree>
    <p:extLst>
      <p:ext uri="{BB962C8B-B14F-4D97-AF65-F5344CB8AC3E}">
        <p14:creationId xmlns:p14="http://schemas.microsoft.com/office/powerpoint/2010/main" val="3098156037"/>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VSM Icons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170</a:t>
            </a:fld>
            <a:endParaRPr lang="en-US"/>
          </a:p>
        </p:txBody>
      </p:sp>
      <p:graphicFrame>
        <p:nvGraphicFramePr>
          <p:cNvPr id="3" name="Group 129">
            <a:extLst>
              <a:ext uri="{FF2B5EF4-FFF2-40B4-BE49-F238E27FC236}">
                <a16:creationId xmlns:a16="http://schemas.microsoft.com/office/drawing/2014/main" id="{EF574A23-21B2-46B2-8617-F4F44EE3EEC1}"/>
              </a:ext>
            </a:extLst>
          </p:cNvPr>
          <p:cNvGraphicFramePr>
            <a:graphicFrameLocks noGrp="1"/>
          </p:cNvGraphicFramePr>
          <p:nvPr>
            <p:extLst>
              <p:ext uri="{D42A27DB-BD31-4B8C-83A1-F6EECF244321}">
                <p14:modId xmlns:p14="http://schemas.microsoft.com/office/powerpoint/2010/main" val="4021178947"/>
              </p:ext>
            </p:extLst>
          </p:nvPr>
        </p:nvGraphicFramePr>
        <p:xfrm>
          <a:off x="838200" y="2038712"/>
          <a:ext cx="10400818" cy="3703281"/>
        </p:xfrm>
        <a:graphic>
          <a:graphicData uri="http://schemas.openxmlformats.org/drawingml/2006/table">
            <a:tbl>
              <a:tblPr/>
              <a:tblGrid>
                <a:gridCol w="3387478">
                  <a:extLst>
                    <a:ext uri="{9D8B030D-6E8A-4147-A177-3AD203B41FA5}">
                      <a16:colId xmlns:a16="http://schemas.microsoft.com/office/drawing/2014/main" val="20000"/>
                    </a:ext>
                  </a:extLst>
                </a:gridCol>
                <a:gridCol w="2564146">
                  <a:extLst>
                    <a:ext uri="{9D8B030D-6E8A-4147-A177-3AD203B41FA5}">
                      <a16:colId xmlns:a16="http://schemas.microsoft.com/office/drawing/2014/main" val="20001"/>
                    </a:ext>
                  </a:extLst>
                </a:gridCol>
                <a:gridCol w="4449194">
                  <a:extLst>
                    <a:ext uri="{9D8B030D-6E8A-4147-A177-3AD203B41FA5}">
                      <a16:colId xmlns:a16="http://schemas.microsoft.com/office/drawing/2014/main" val="20002"/>
                    </a:ext>
                  </a:extLst>
                </a:gridCol>
              </a:tblGrid>
              <a:tr h="39372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Icon</a:t>
                      </a: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Represents</a:t>
                      </a: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Notes</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62844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Production Kanban</a:t>
                      </a: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The “one per container” kanban. Card or device that tells how many of what can be produced and gives permission to do so.</a:t>
                      </a: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8749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defRPr/>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Kaizen Lightning Burst</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Highlights improvement needs at specific processes that are critical to achieving the value stream vision</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Operator/ Associate</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Represents a person viewed from above</a:t>
                      </a:r>
                      <a:endParaRPr kumimoji="0" lang="en-US" altLang="en-US" sz="18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15888" marR="0" lvl="0" indent="-115888" algn="l" defTabSz="914400" rtl="0" eaLnBrk="0" fontAlgn="base" latinLnBrk="0" hangingPunct="0">
                        <a:lnSpc>
                          <a:spcPct val="115000"/>
                        </a:lnSpc>
                        <a:spcBef>
                          <a:spcPct val="20000"/>
                        </a:spcBef>
                        <a:spcAft>
                          <a:spcPct val="20000"/>
                        </a:spcAft>
                        <a:buClr>
                          <a:srgbClr val="006699"/>
                        </a:buClr>
                        <a:buSzPct val="90000"/>
                        <a:buFont typeface="Wingdings" panose="05000000000000000000" pitchFamily="2" charset="2"/>
                        <a:buChar char="§"/>
                        <a:tabLst/>
                      </a:pPr>
                      <a:endPar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0" name="AutoShape 130">
            <a:extLst>
              <a:ext uri="{FF2B5EF4-FFF2-40B4-BE49-F238E27FC236}">
                <a16:creationId xmlns:a16="http://schemas.microsoft.com/office/drawing/2014/main" id="{6A9D3485-693B-1436-E544-DD102811D941}"/>
              </a:ext>
            </a:extLst>
          </p:cNvPr>
          <p:cNvSpPr>
            <a:spLocks noChangeArrowheads="1"/>
          </p:cNvSpPr>
          <p:nvPr/>
        </p:nvSpPr>
        <p:spPr bwMode="auto">
          <a:xfrm>
            <a:off x="1055688" y="3152033"/>
            <a:ext cx="1430313" cy="674687"/>
          </a:xfrm>
          <a:prstGeom prst="irregularSeal1">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1" name="Group 31">
            <a:extLst>
              <a:ext uri="{FF2B5EF4-FFF2-40B4-BE49-F238E27FC236}">
                <a16:creationId xmlns:a16="http://schemas.microsoft.com/office/drawing/2014/main" id="{54028272-72E0-2555-9005-0E9C13C94DB5}"/>
              </a:ext>
            </a:extLst>
          </p:cNvPr>
          <p:cNvGrpSpPr>
            <a:grpSpLocks/>
          </p:cNvGrpSpPr>
          <p:nvPr/>
        </p:nvGrpSpPr>
        <p:grpSpPr bwMode="auto">
          <a:xfrm>
            <a:off x="1246175" y="2509708"/>
            <a:ext cx="1049338" cy="468313"/>
            <a:chOff x="1163" y="3593"/>
            <a:chExt cx="661" cy="295"/>
          </a:xfrm>
        </p:grpSpPr>
        <p:grpSp>
          <p:nvGrpSpPr>
            <p:cNvPr id="12" name="Group 32">
              <a:extLst>
                <a:ext uri="{FF2B5EF4-FFF2-40B4-BE49-F238E27FC236}">
                  <a16:creationId xmlns:a16="http://schemas.microsoft.com/office/drawing/2014/main" id="{B15A8456-8857-6264-B163-9C3D6D2382F8}"/>
                </a:ext>
              </a:extLst>
            </p:cNvPr>
            <p:cNvGrpSpPr>
              <a:grpSpLocks/>
            </p:cNvGrpSpPr>
            <p:nvPr/>
          </p:nvGrpSpPr>
          <p:grpSpPr bwMode="auto">
            <a:xfrm>
              <a:off x="1303" y="3593"/>
              <a:ext cx="361" cy="182"/>
              <a:chOff x="2880" y="3024"/>
              <a:chExt cx="864" cy="384"/>
            </a:xfrm>
          </p:grpSpPr>
          <p:sp>
            <p:nvSpPr>
              <p:cNvPr id="17" name="Line 33">
                <a:extLst>
                  <a:ext uri="{FF2B5EF4-FFF2-40B4-BE49-F238E27FC236}">
                    <a16:creationId xmlns:a16="http://schemas.microsoft.com/office/drawing/2014/main" id="{F742897A-C100-0E89-8865-3A13C99C7E4F}"/>
                  </a:ext>
                </a:extLst>
              </p:cNvPr>
              <p:cNvSpPr>
                <a:spLocks noChangeShapeType="1"/>
              </p:cNvSpPr>
              <p:nvPr/>
            </p:nvSpPr>
            <p:spPr bwMode="auto">
              <a:xfrm flipH="1">
                <a:off x="2880" y="3024"/>
                <a:ext cx="67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 name="Line 34">
                <a:extLst>
                  <a:ext uri="{FF2B5EF4-FFF2-40B4-BE49-F238E27FC236}">
                    <a16:creationId xmlns:a16="http://schemas.microsoft.com/office/drawing/2014/main" id="{D965C904-BF2E-2128-EDDE-E382F7EB79A9}"/>
                  </a:ext>
                </a:extLst>
              </p:cNvPr>
              <p:cNvSpPr>
                <a:spLocks noChangeShapeType="1"/>
              </p:cNvSpPr>
              <p:nvPr/>
            </p:nvSpPr>
            <p:spPr bwMode="auto">
              <a:xfrm flipH="1">
                <a:off x="2880" y="3408"/>
                <a:ext cx="8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35">
                <a:extLst>
                  <a:ext uri="{FF2B5EF4-FFF2-40B4-BE49-F238E27FC236}">
                    <a16:creationId xmlns:a16="http://schemas.microsoft.com/office/drawing/2014/main" id="{FC32A17F-4FF3-CE58-1E48-2B661FAF6705}"/>
                  </a:ext>
                </a:extLst>
              </p:cNvPr>
              <p:cNvSpPr>
                <a:spLocks noChangeShapeType="1"/>
              </p:cNvSpPr>
              <p:nvPr/>
            </p:nvSpPr>
            <p:spPr bwMode="auto">
              <a:xfrm>
                <a:off x="2880" y="3024"/>
                <a:ext cx="0" cy="38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 name="Line 36">
                <a:extLst>
                  <a:ext uri="{FF2B5EF4-FFF2-40B4-BE49-F238E27FC236}">
                    <a16:creationId xmlns:a16="http://schemas.microsoft.com/office/drawing/2014/main" id="{85219386-4C9E-3080-1B30-BF3A74F642FE}"/>
                  </a:ext>
                </a:extLst>
              </p:cNvPr>
              <p:cNvSpPr>
                <a:spLocks noChangeShapeType="1"/>
              </p:cNvSpPr>
              <p:nvPr/>
            </p:nvSpPr>
            <p:spPr bwMode="auto">
              <a:xfrm flipV="1">
                <a:off x="3744" y="3168"/>
                <a:ext cx="0" cy="24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 name="Line 37">
                <a:extLst>
                  <a:ext uri="{FF2B5EF4-FFF2-40B4-BE49-F238E27FC236}">
                    <a16:creationId xmlns:a16="http://schemas.microsoft.com/office/drawing/2014/main" id="{94D5BAF4-F0AF-582D-184D-42E6DA37B3E6}"/>
                  </a:ext>
                </a:extLst>
              </p:cNvPr>
              <p:cNvSpPr>
                <a:spLocks noChangeShapeType="1"/>
              </p:cNvSpPr>
              <p:nvPr/>
            </p:nvSpPr>
            <p:spPr bwMode="auto">
              <a:xfrm flipH="1" flipV="1">
                <a:off x="3552" y="3024"/>
                <a:ext cx="192"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3" name="Text Box 38">
              <a:extLst>
                <a:ext uri="{FF2B5EF4-FFF2-40B4-BE49-F238E27FC236}">
                  <a16:creationId xmlns:a16="http://schemas.microsoft.com/office/drawing/2014/main" id="{25D864B1-E6ED-0781-CEFA-39DA789F405E}"/>
                </a:ext>
              </a:extLst>
            </p:cNvPr>
            <p:cNvSpPr txBox="1">
              <a:spLocks noChangeArrowheads="1"/>
            </p:cNvSpPr>
            <p:nvPr/>
          </p:nvSpPr>
          <p:spPr bwMode="auto">
            <a:xfrm>
              <a:off x="1337" y="3605"/>
              <a:ext cx="34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eaLnBrk="1" hangingPunct="1">
                <a:lnSpc>
                  <a:spcPct val="100000"/>
                </a:lnSpc>
                <a:spcBef>
                  <a:spcPct val="0"/>
                </a:spcBef>
              </a:pPr>
              <a:r>
                <a:rPr lang="en-US" altLang="en-US" sz="1400">
                  <a:solidFill>
                    <a:schemeClr val="tx1"/>
                  </a:solidFill>
                </a:rPr>
                <a:t>20</a:t>
              </a:r>
            </a:p>
          </p:txBody>
        </p:sp>
        <p:sp>
          <p:nvSpPr>
            <p:cNvPr id="14" name="Line 39">
              <a:extLst>
                <a:ext uri="{FF2B5EF4-FFF2-40B4-BE49-F238E27FC236}">
                  <a16:creationId xmlns:a16="http://schemas.microsoft.com/office/drawing/2014/main" id="{F962CB82-CE17-DD22-24C4-5E208885282D}"/>
                </a:ext>
              </a:extLst>
            </p:cNvPr>
            <p:cNvSpPr>
              <a:spLocks noChangeShapeType="1"/>
            </p:cNvSpPr>
            <p:nvPr/>
          </p:nvSpPr>
          <p:spPr bwMode="auto">
            <a:xfrm flipH="1">
              <a:off x="1704" y="3706"/>
              <a:ext cx="120" cy="0"/>
            </a:xfrm>
            <a:prstGeom prst="line">
              <a:avLst/>
            </a:prstGeom>
            <a:noFill/>
            <a:ln w="317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15" name="Line 40">
              <a:extLst>
                <a:ext uri="{FF2B5EF4-FFF2-40B4-BE49-F238E27FC236}">
                  <a16:creationId xmlns:a16="http://schemas.microsoft.com/office/drawing/2014/main" id="{0C7F6127-8805-7C2D-E69E-538C9E3F59B1}"/>
                </a:ext>
              </a:extLst>
            </p:cNvPr>
            <p:cNvSpPr>
              <a:spLocks noChangeShapeType="1"/>
            </p:cNvSpPr>
            <p:nvPr/>
          </p:nvSpPr>
          <p:spPr bwMode="auto">
            <a:xfrm flipH="1">
              <a:off x="1163" y="3706"/>
              <a:ext cx="100" cy="0"/>
            </a:xfrm>
            <a:prstGeom prst="line">
              <a:avLst/>
            </a:prstGeom>
            <a:noFill/>
            <a:ln w="317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6" name="Line 41">
              <a:extLst>
                <a:ext uri="{FF2B5EF4-FFF2-40B4-BE49-F238E27FC236}">
                  <a16:creationId xmlns:a16="http://schemas.microsoft.com/office/drawing/2014/main" id="{B249EFA5-A05C-F63C-DE47-BA9D1838EB6C}"/>
                </a:ext>
              </a:extLst>
            </p:cNvPr>
            <p:cNvSpPr>
              <a:spLocks noChangeShapeType="1"/>
            </p:cNvSpPr>
            <p:nvPr/>
          </p:nvSpPr>
          <p:spPr bwMode="auto">
            <a:xfrm>
              <a:off x="1163" y="3706"/>
              <a:ext cx="0" cy="182"/>
            </a:xfrm>
            <a:prstGeom prst="line">
              <a:avLst/>
            </a:prstGeom>
            <a:noFill/>
            <a:ln w="317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22" name="Group 43">
            <a:extLst>
              <a:ext uri="{FF2B5EF4-FFF2-40B4-BE49-F238E27FC236}">
                <a16:creationId xmlns:a16="http://schemas.microsoft.com/office/drawing/2014/main" id="{1968A187-7FB0-D9E0-3689-FB450D9C2277}"/>
              </a:ext>
            </a:extLst>
          </p:cNvPr>
          <p:cNvGrpSpPr>
            <a:grpSpLocks/>
          </p:cNvGrpSpPr>
          <p:nvPr/>
        </p:nvGrpSpPr>
        <p:grpSpPr bwMode="auto">
          <a:xfrm>
            <a:off x="1220598" y="4397006"/>
            <a:ext cx="941388" cy="387350"/>
            <a:chOff x="720" y="2919"/>
            <a:chExt cx="593" cy="244"/>
          </a:xfrm>
        </p:grpSpPr>
        <p:grpSp>
          <p:nvGrpSpPr>
            <p:cNvPr id="23" name="Group 44">
              <a:extLst>
                <a:ext uri="{FF2B5EF4-FFF2-40B4-BE49-F238E27FC236}">
                  <a16:creationId xmlns:a16="http://schemas.microsoft.com/office/drawing/2014/main" id="{209D365A-7514-4089-1B49-68125EBEA1D4}"/>
                </a:ext>
              </a:extLst>
            </p:cNvPr>
            <p:cNvGrpSpPr>
              <a:grpSpLocks/>
            </p:cNvGrpSpPr>
            <p:nvPr/>
          </p:nvGrpSpPr>
          <p:grpSpPr bwMode="auto">
            <a:xfrm flipV="1">
              <a:off x="720" y="2919"/>
              <a:ext cx="298" cy="244"/>
              <a:chOff x="720" y="3354"/>
              <a:chExt cx="192" cy="198"/>
            </a:xfrm>
          </p:grpSpPr>
          <p:sp>
            <p:nvSpPr>
              <p:cNvPr id="25" name="Oval 45">
                <a:extLst>
                  <a:ext uri="{FF2B5EF4-FFF2-40B4-BE49-F238E27FC236}">
                    <a16:creationId xmlns:a16="http://schemas.microsoft.com/office/drawing/2014/main" id="{343FD52D-ABF7-53DA-91CE-2F0D5E93F67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26" name="AutoShape 46">
                <a:extLst>
                  <a:ext uri="{FF2B5EF4-FFF2-40B4-BE49-F238E27FC236}">
                    <a16:creationId xmlns:a16="http://schemas.microsoft.com/office/drawing/2014/main" id="{4A334808-2610-DA69-CD2D-41375C0CAD69}"/>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4" name="Text Box 47">
              <a:extLst>
                <a:ext uri="{FF2B5EF4-FFF2-40B4-BE49-F238E27FC236}">
                  <a16:creationId xmlns:a16="http://schemas.microsoft.com/office/drawing/2014/main" id="{8A883B41-0C65-340B-1C71-840A4B54D692}"/>
                </a:ext>
              </a:extLst>
            </p:cNvPr>
            <p:cNvSpPr txBox="1">
              <a:spLocks noChangeArrowheads="1"/>
            </p:cNvSpPr>
            <p:nvPr/>
          </p:nvSpPr>
          <p:spPr bwMode="auto">
            <a:xfrm>
              <a:off x="1039" y="2961"/>
              <a:ext cx="27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400">
                  <a:solidFill>
                    <a:schemeClr val="tx1"/>
                  </a:solidFill>
                </a:rPr>
                <a:t>= 2</a:t>
              </a:r>
            </a:p>
          </p:txBody>
        </p:sp>
      </p:grpSp>
    </p:spTree>
    <p:extLst>
      <p:ext uri="{BB962C8B-B14F-4D97-AF65-F5344CB8AC3E}">
        <p14:creationId xmlns:p14="http://schemas.microsoft.com/office/powerpoint/2010/main" val="220344296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01234-A0AA-5598-26B5-033CE6FE23E5}"/>
              </a:ext>
            </a:extLst>
          </p:cNvPr>
          <p:cNvSpPr txBox="1">
            <a:spLocks/>
          </p:cNvSpPr>
          <p:nvPr/>
        </p:nvSpPr>
        <p:spPr>
          <a:xfrm>
            <a:off x="606705" y="793843"/>
            <a:ext cx="10515600" cy="1022351"/>
          </a:xfrm>
          <a:prstGeom prst="rect">
            <a:avLst/>
          </a:prstGeom>
        </p:spPr>
        <p:txBody>
          <a:bodyPr lIns="91440" tIns="45720" rIns="91440" bIns="45720" anchor="t"/>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r>
              <a:rPr lang="en-US" dirty="0">
                <a:solidFill>
                  <a:schemeClr val="tx1"/>
                </a:solidFill>
                <a:latin typeface="Roboto Medium"/>
                <a:cs typeface="Roboto"/>
              </a:rPr>
              <a:t>Other</a:t>
            </a:r>
            <a:r>
              <a:rPr lang="en-US" dirty="0">
                <a:solidFill>
                  <a:schemeClr val="tx1"/>
                </a:solidFill>
                <a:latin typeface="Roboto Medium"/>
                <a:cs typeface="Roboto Medium"/>
              </a:rPr>
              <a:t> Modules In This Series:</a:t>
            </a:r>
          </a:p>
        </p:txBody>
      </p:sp>
      <p:pic>
        <p:nvPicPr>
          <p:cNvPr id="3" name="Picture 2">
            <a:extLst>
              <a:ext uri="{FF2B5EF4-FFF2-40B4-BE49-F238E27FC236}">
                <a16:creationId xmlns:a16="http://schemas.microsoft.com/office/drawing/2014/main" id="{5DF3825E-B951-729D-1675-8A890DAAC766}"/>
              </a:ext>
            </a:extLst>
          </p:cNvPr>
          <p:cNvPicPr>
            <a:picLocks noChangeAspect="1"/>
          </p:cNvPicPr>
          <p:nvPr/>
        </p:nvPicPr>
        <p:blipFill>
          <a:blip r:embed="rId3"/>
          <a:stretch>
            <a:fillRect/>
          </a:stretch>
        </p:blipFill>
        <p:spPr>
          <a:xfrm>
            <a:off x="605117" y="1638489"/>
            <a:ext cx="3939240" cy="45719"/>
          </a:xfrm>
          <a:prstGeom prst="rect">
            <a:avLst/>
          </a:prstGeom>
        </p:spPr>
      </p:pic>
      <p:sp>
        <p:nvSpPr>
          <p:cNvPr id="4" name="Content Placeholder 3">
            <a:extLst>
              <a:ext uri="{FF2B5EF4-FFF2-40B4-BE49-F238E27FC236}">
                <a16:creationId xmlns:a16="http://schemas.microsoft.com/office/drawing/2014/main" id="{C9914E55-E875-9B78-1E43-35D121FD9751}"/>
              </a:ext>
            </a:extLst>
          </p:cNvPr>
          <p:cNvSpPr txBox="1">
            <a:spLocks/>
          </p:cNvSpPr>
          <p:nvPr/>
        </p:nvSpPr>
        <p:spPr>
          <a:xfrm>
            <a:off x="5839258" y="1166648"/>
            <a:ext cx="5157787" cy="36845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chemeClr val="tx1"/>
                </a:solidFill>
              </a:rPr>
              <a:t>5S</a:t>
            </a:r>
          </a:p>
          <a:p>
            <a:pPr marL="0" indent="0" algn="r">
              <a:buNone/>
            </a:pPr>
            <a:r>
              <a:rPr lang="en-US" sz="1400" dirty="0">
                <a:solidFill>
                  <a:schemeClr val="tx1"/>
                </a:solidFill>
              </a:rPr>
              <a:t>Standard Work</a:t>
            </a:r>
          </a:p>
          <a:p>
            <a:pPr marL="0" indent="0" algn="r">
              <a:buNone/>
            </a:pPr>
            <a:r>
              <a:rPr lang="en-US" sz="1400" dirty="0">
                <a:solidFill>
                  <a:schemeClr val="tx1"/>
                </a:solidFill>
              </a:rPr>
              <a:t>Total Productive Maintenance (TPM)</a:t>
            </a:r>
          </a:p>
          <a:p>
            <a:pPr marL="0" indent="0" algn="r">
              <a:buNone/>
            </a:pPr>
            <a:r>
              <a:rPr lang="en-US" sz="1400" dirty="0">
                <a:solidFill>
                  <a:schemeClr val="tx1"/>
                </a:solidFill>
              </a:rPr>
              <a:t>Administrative Lean</a:t>
            </a:r>
          </a:p>
          <a:p>
            <a:pPr marL="0" indent="0" algn="r">
              <a:buNone/>
            </a:pPr>
            <a:r>
              <a:rPr lang="en-US" sz="1400" dirty="0">
                <a:solidFill>
                  <a:schemeClr val="tx1"/>
                </a:solidFill>
              </a:rPr>
              <a:t>Cell Design/ Production Preparation Process (3P)</a:t>
            </a:r>
          </a:p>
          <a:p>
            <a:pPr marL="0" indent="0" algn="r">
              <a:buNone/>
            </a:pPr>
            <a:r>
              <a:rPr lang="en-US" sz="1400" dirty="0">
                <a:solidFill>
                  <a:schemeClr val="tx1"/>
                </a:solidFill>
              </a:rPr>
              <a:t>Kaizen</a:t>
            </a:r>
          </a:p>
          <a:p>
            <a:pPr marL="0" indent="0" algn="r">
              <a:buNone/>
            </a:pPr>
            <a:r>
              <a:rPr lang="en-US" sz="1400" dirty="0">
                <a:solidFill>
                  <a:schemeClr val="tx1"/>
                </a:solidFill>
              </a:rPr>
              <a:t>Kanban</a:t>
            </a:r>
          </a:p>
          <a:p>
            <a:pPr marL="0" indent="0" algn="r">
              <a:buNone/>
            </a:pPr>
            <a:r>
              <a:rPr lang="en-US" sz="1400" dirty="0">
                <a:solidFill>
                  <a:schemeClr val="tx1"/>
                </a:solidFill>
              </a:rPr>
              <a:t>Problem Solving</a:t>
            </a:r>
          </a:p>
          <a:p>
            <a:pPr marL="0" indent="0" algn="r">
              <a:buNone/>
            </a:pPr>
            <a:r>
              <a:rPr lang="en-US" sz="1400" dirty="0" err="1">
                <a:solidFill>
                  <a:schemeClr val="tx1"/>
                </a:solidFill>
              </a:rPr>
              <a:t>Poka</a:t>
            </a:r>
            <a:r>
              <a:rPr lang="en-US" sz="1400" dirty="0">
                <a:solidFill>
                  <a:schemeClr val="tx1"/>
                </a:solidFill>
              </a:rPr>
              <a:t> Yoke Quality Systems</a:t>
            </a:r>
          </a:p>
          <a:p>
            <a:pPr marL="0" indent="0" algn="r">
              <a:buNone/>
            </a:pPr>
            <a:r>
              <a:rPr lang="en-US" sz="1400" dirty="0">
                <a:solidFill>
                  <a:schemeClr val="tx1"/>
                </a:solidFill>
              </a:rPr>
              <a:t>Transaction Process Improvement (TPI)</a:t>
            </a:r>
          </a:p>
          <a:p>
            <a:pPr marL="0" indent="0" algn="r">
              <a:buNone/>
            </a:pPr>
            <a:r>
              <a:rPr lang="en-US" sz="1400" dirty="0">
                <a:solidFill>
                  <a:schemeClr val="tx1"/>
                </a:solidFill>
              </a:rPr>
              <a:t>Cause &amp; Effect Diagram with the Additions of Cards (CEDAC)</a:t>
            </a:r>
          </a:p>
          <a:p>
            <a:pPr marL="0" indent="0" algn="r">
              <a:buNone/>
            </a:pPr>
            <a:r>
              <a:rPr lang="en-US" sz="1400" dirty="0">
                <a:solidFill>
                  <a:schemeClr val="tx1"/>
                </a:solidFill>
              </a:rPr>
              <a:t>Single Minute Exchange of Dies (SMED)</a:t>
            </a:r>
          </a:p>
          <a:p>
            <a:pPr marL="0" indent="0" algn="r">
              <a:buNone/>
            </a:pPr>
            <a:r>
              <a:rPr lang="en-US" sz="1400" dirty="0">
                <a:solidFill>
                  <a:schemeClr val="tx1"/>
                </a:solidFill>
              </a:rPr>
              <a:t>Value Stream Mapping (</a:t>
            </a:r>
            <a:r>
              <a:rPr lang="en-US" sz="1400" dirty="0" err="1">
                <a:solidFill>
                  <a:schemeClr val="tx1"/>
                </a:solidFill>
              </a:rPr>
              <a:t>VSMi</a:t>
            </a:r>
            <a:r>
              <a:rPr lang="en-US" sz="1400" dirty="0">
                <a:solidFill>
                  <a:schemeClr val="tx1"/>
                </a:solidFill>
              </a:rPr>
              <a:t>®)</a:t>
            </a:r>
          </a:p>
          <a:p>
            <a:pPr marL="0" indent="0" algn="r">
              <a:buNone/>
            </a:pPr>
            <a:r>
              <a:rPr lang="en-US" sz="1400" dirty="0">
                <a:solidFill>
                  <a:schemeClr val="tx1"/>
                </a:solidFill>
              </a:rPr>
              <a:t>Visual Management</a:t>
            </a:r>
          </a:p>
          <a:p>
            <a:pPr marL="0" indent="0" algn="r">
              <a:buNone/>
            </a:pPr>
            <a:r>
              <a:rPr lang="en-US" sz="1400" dirty="0">
                <a:solidFill>
                  <a:schemeClr val="tx1"/>
                </a:solidFill>
              </a:rPr>
              <a:t>Managing Daily Process Excellence</a:t>
            </a:r>
          </a:p>
        </p:txBody>
      </p:sp>
      <p:pic>
        <p:nvPicPr>
          <p:cNvPr id="11" name="Picture 10">
            <a:extLst>
              <a:ext uri="{FF2B5EF4-FFF2-40B4-BE49-F238E27FC236}">
                <a16:creationId xmlns:a16="http://schemas.microsoft.com/office/drawing/2014/main" id="{11F73560-3A07-DDBC-A93D-9C2969C3C8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20142" y="2039270"/>
            <a:ext cx="2945426" cy="1754165"/>
          </a:xfrm>
          <a:prstGeom prst="rect">
            <a:avLst/>
          </a:prstGeom>
        </p:spPr>
      </p:pic>
      <p:sp>
        <p:nvSpPr>
          <p:cNvPr id="13" name="Steve Jones">
            <a:extLst>
              <a:ext uri="{FF2B5EF4-FFF2-40B4-BE49-F238E27FC236}">
                <a16:creationId xmlns:a16="http://schemas.microsoft.com/office/drawing/2014/main" id="{32D7D26D-2286-A78A-74DF-8555FD64C346}"/>
              </a:ext>
            </a:extLst>
          </p:cNvPr>
          <p:cNvSpPr/>
          <p:nvPr/>
        </p:nvSpPr>
        <p:spPr>
          <a:xfrm>
            <a:off x="1069695" y="4201690"/>
            <a:ext cx="3475310" cy="19902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14" name="Head of Management Dept.">
            <a:extLst>
              <a:ext uri="{FF2B5EF4-FFF2-40B4-BE49-F238E27FC236}">
                <a16:creationId xmlns:a16="http://schemas.microsoft.com/office/drawing/2014/main" id="{13AAF857-F867-C38A-47E8-4FCE37EF32C8}"/>
              </a:ext>
            </a:extLst>
          </p:cNvPr>
          <p:cNvSpPr/>
          <p:nvPr/>
        </p:nvSpPr>
        <p:spPr>
          <a:xfrm>
            <a:off x="1367375" y="4590893"/>
            <a:ext cx="2879948" cy="838178"/>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a:lstStyle>
            <a:lvl1pPr defTabSz="1155700">
              <a:defRPr sz="3000">
                <a:solidFill>
                  <a:srgbClr val="5D616E"/>
                </a:solidFill>
              </a:defRPr>
            </a:lvl1pPr>
          </a:lstStyle>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 DeLuzio, President and CEO</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+1.860.234.0915</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15" name="TextBox 14">
            <a:extLst>
              <a:ext uri="{FF2B5EF4-FFF2-40B4-BE49-F238E27FC236}">
                <a16:creationId xmlns:a16="http://schemas.microsoft.com/office/drawing/2014/main" id="{1729F7AC-495A-4FB8-042F-1DBECD3DB7C9}"/>
              </a:ext>
            </a:extLst>
          </p:cNvPr>
          <p:cNvSpPr txBox="1"/>
          <p:nvPr/>
        </p:nvSpPr>
        <p:spPr>
          <a:xfrm>
            <a:off x="6291" y="5619244"/>
            <a:ext cx="5602115" cy="26648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latin typeface="Roboto" panose="02000000000000000000" pitchFamily="2" charset="0"/>
              <a:ea typeface="Roboto" panose="02000000000000000000" pitchFamily="2" charset="0"/>
              <a:cs typeface="Roboto" panose="02000000000000000000" pitchFamily="2" charset="0"/>
            </a:endParaRPr>
          </a:p>
        </p:txBody>
      </p:sp>
      <p:sp>
        <p:nvSpPr>
          <p:cNvPr id="18" name="Slide Number Placeholder 17">
            <a:extLst>
              <a:ext uri="{FF2B5EF4-FFF2-40B4-BE49-F238E27FC236}">
                <a16:creationId xmlns:a16="http://schemas.microsoft.com/office/drawing/2014/main" id="{F71C8E8F-D781-AA13-E1D1-E5284A242753}"/>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171</a:t>
            </a:fld>
            <a:endParaRPr lang="en-US" dirty="0"/>
          </a:p>
        </p:txBody>
      </p:sp>
    </p:spTree>
    <p:extLst>
      <p:ext uri="{BB962C8B-B14F-4D97-AF65-F5344CB8AC3E}">
        <p14:creationId xmlns:p14="http://schemas.microsoft.com/office/powerpoint/2010/main" val="303657542"/>
      </p:ext>
    </p:extLst>
  </p:cSld>
  <p:clrMapOvr>
    <a:masterClrMapping/>
  </p:clrMapOvr>
</p:sld>
</file>

<file path=ppt/theme/theme1.xml><?xml version="1.0" encoding="utf-8"?>
<a:theme xmlns:a="http://schemas.openxmlformats.org/drawingml/2006/main" name="Office Theme">
  <a:themeElements>
    <a:clrScheme name="Custom 1">
      <a:dk1>
        <a:srgbClr val="000000"/>
      </a:dk1>
      <a:lt1>
        <a:srgbClr val="FFFFFF"/>
      </a:lt1>
      <a:dk2>
        <a:srgbClr val="44546A"/>
      </a:dk2>
      <a:lt2>
        <a:srgbClr val="E7E6E6"/>
      </a:lt2>
      <a:accent1>
        <a:srgbClr val="EE3228"/>
      </a:accent1>
      <a:accent2>
        <a:srgbClr val="FDCA40"/>
      </a:accent2>
      <a:accent3>
        <a:srgbClr val="939598"/>
      </a:accent3>
      <a:accent4>
        <a:srgbClr val="76939F"/>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14502</TotalTime>
  <Words>24732</Words>
  <Application>Microsoft Office PowerPoint</Application>
  <PresentationFormat>Widescreen</PresentationFormat>
  <Paragraphs>4779</Paragraphs>
  <Slides>171</Slides>
  <Notes>171</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171</vt:i4>
      </vt:variant>
    </vt:vector>
  </HeadingPairs>
  <TitlesOfParts>
    <vt:vector size="181" baseType="lpstr">
      <vt:lpstr>Arial</vt:lpstr>
      <vt:lpstr>Arial Narrow</vt:lpstr>
      <vt:lpstr>Baskerville</vt:lpstr>
      <vt:lpstr>Calibri</vt:lpstr>
      <vt:lpstr>Comic Sans MS</vt:lpstr>
      <vt:lpstr>Roboto</vt:lpstr>
      <vt:lpstr>Roboto Medium</vt:lpstr>
      <vt:lpstr>Times New Roman</vt:lpstr>
      <vt:lpstr>Wingdings</vt:lpstr>
      <vt:lpstr>Office Theme</vt:lpstr>
      <vt:lpstr>PowerPoint Presentation</vt:lpstr>
      <vt:lpstr>PowerPoint Presentation</vt:lpstr>
      <vt:lpstr>PowerPoint Presentation</vt:lpstr>
      <vt:lpstr>Ground Rules for Event</vt:lpstr>
      <vt:lpstr>Value Stream Mapping Defined</vt:lpstr>
      <vt:lpstr>Value Stream Map and Process Map Distinction</vt:lpstr>
      <vt:lpstr>When to Use Value Stream Mapping</vt:lpstr>
      <vt:lpstr>Value Stream Mapping Linkage to Strategy</vt:lpstr>
      <vt:lpstr>Business Case Examples that support Key Business Imperatives</vt:lpstr>
      <vt:lpstr>Value Stream Mapping Roadmap to Success</vt:lpstr>
      <vt:lpstr>Value Stream Mapping Process</vt:lpstr>
      <vt:lpstr>Value Stream Mapping Session Agenda</vt:lpstr>
      <vt:lpstr>Select Product or Service Family</vt:lpstr>
      <vt:lpstr>The Manufacturing Value Stream Defined</vt:lpstr>
      <vt:lpstr>Identifying the VALUE OBJECT within the Value Stream</vt:lpstr>
      <vt:lpstr>Defining and Selecting a Product Family</vt:lpstr>
      <vt:lpstr>Product Family Matrix</vt:lpstr>
      <vt:lpstr>Calculate the Total Demand for the Value Stream</vt:lpstr>
      <vt:lpstr>Determine the Boundaries of the Value Stream</vt:lpstr>
      <vt:lpstr>Identify “Who is the Customer”</vt:lpstr>
      <vt:lpstr>Completing Customer Analysis</vt:lpstr>
      <vt:lpstr>Complete Customer/Stakeholder Analysis</vt:lpstr>
      <vt:lpstr>Kaizen Charter Validation</vt:lpstr>
      <vt:lpstr>Creating the Current State Value Stream Map</vt:lpstr>
      <vt:lpstr>Method to Create the Current State Map</vt:lpstr>
      <vt:lpstr>Method to Create the Current State Map</vt:lpstr>
      <vt:lpstr>Layout of the Current State Map</vt:lpstr>
      <vt:lpstr>Current State Map Drawing Exercise</vt:lpstr>
      <vt:lpstr>Case Study Example: Mike’s Metal Enclosures (MME) </vt:lpstr>
      <vt:lpstr>Case Study Example: Mike’s Metal Enclosures (MME) </vt:lpstr>
      <vt:lpstr>Case Study Example: Mike’s Metal Enclosures (MME) </vt:lpstr>
      <vt:lpstr>Case Study Example: Mike’s Metal Enclosures (MME) </vt:lpstr>
      <vt:lpstr>Steps to Mapping the Current State</vt:lpstr>
      <vt:lpstr>Mapping Customer Data</vt:lpstr>
      <vt:lpstr>Case Study Example: Mike’s Metal Enclosures (MME) </vt:lpstr>
      <vt:lpstr>Steps to Mapping the Current State</vt:lpstr>
      <vt:lpstr>Calculating Takt Time</vt:lpstr>
      <vt:lpstr>Case Study Example: Mike’s Metal Enclosures (MME) </vt:lpstr>
      <vt:lpstr>Steps to Mapping the Current State</vt:lpstr>
      <vt:lpstr>What Defines a Process in VSM?</vt:lpstr>
      <vt:lpstr>Mapping Processes</vt:lpstr>
      <vt:lpstr>Mapping Processes</vt:lpstr>
      <vt:lpstr>Mapping Processes</vt:lpstr>
      <vt:lpstr>Mapping Processes</vt:lpstr>
      <vt:lpstr>Case Study Example: Mike’s Metal Enclosures (MME) </vt:lpstr>
      <vt:lpstr>Steps to Mapping the Current State</vt:lpstr>
      <vt:lpstr>Drop Off Interval (DOI)</vt:lpstr>
      <vt:lpstr>Processing Time</vt:lpstr>
      <vt:lpstr>Mapping Processes</vt:lpstr>
      <vt:lpstr>Mapping Processes</vt:lpstr>
      <vt:lpstr>Mapping Processes</vt:lpstr>
      <vt:lpstr>Mapping Processes</vt:lpstr>
      <vt:lpstr>Mapping Processes</vt:lpstr>
      <vt:lpstr>Case Study Example: Mike’s Metal Enclosures (MME) </vt:lpstr>
      <vt:lpstr>Steps to Mapping the Current State</vt:lpstr>
      <vt:lpstr>Mapping Processes</vt:lpstr>
      <vt:lpstr>Case Study Example: Mike’s Metal Enclosures (MME) </vt:lpstr>
      <vt:lpstr>Steps to Mapping the Current State</vt:lpstr>
      <vt:lpstr>Calculating Processing Time for Each Process</vt:lpstr>
      <vt:lpstr>Calculating Processing Time for Each Process</vt:lpstr>
      <vt:lpstr>Case Study Example: Mike’s Metal Enclosures (MME) </vt:lpstr>
      <vt:lpstr>Calculating Lead Time for each Process</vt:lpstr>
      <vt:lpstr>Calculating Totals</vt:lpstr>
      <vt:lpstr>Case Study Example: Mike’s Metal Enclosures (MME) </vt:lpstr>
      <vt:lpstr>Steps to Mapping the Current State</vt:lpstr>
      <vt:lpstr>Mapping Information Flow</vt:lpstr>
      <vt:lpstr>Case Study Example: Mike’s Metal Enclosures (MME) </vt:lpstr>
      <vt:lpstr>Exercise: Rusty’s Wrench</vt:lpstr>
      <vt:lpstr>Case Study Example: Rusty’s Wrench </vt:lpstr>
      <vt:lpstr>Case Study Example: Rusty’s Wrench </vt:lpstr>
      <vt:lpstr>Rusty’s Wrench Factory – Data Set</vt:lpstr>
      <vt:lpstr>Review Exercise</vt:lpstr>
      <vt:lpstr>Your Turn….</vt:lpstr>
      <vt:lpstr>Supplies for the Current State Process Walk</vt:lpstr>
      <vt:lpstr>Method to Create the Current State Map: Team Walk #1</vt:lpstr>
      <vt:lpstr>Current State Mapping for Business: Team Walk #1</vt:lpstr>
      <vt:lpstr>Method to Create the Current State Map: Team Walk #2</vt:lpstr>
      <vt:lpstr>Data Gathering Hierarchy</vt:lpstr>
      <vt:lpstr>Group Roles and Assignments for Team Walk #2</vt:lpstr>
      <vt:lpstr>Key Interviewer Guideline Questions</vt:lpstr>
      <vt:lpstr>After Data Gathering</vt:lpstr>
      <vt:lpstr>Current State Mapping for Business: Team Walk #2</vt:lpstr>
      <vt:lpstr>Method to Create the Current State Map: Map Creation</vt:lpstr>
      <vt:lpstr>Current State Mapping for Business</vt:lpstr>
      <vt:lpstr>Interrogating the Current State Value Stream Map</vt:lpstr>
      <vt:lpstr>Exercise</vt:lpstr>
      <vt:lpstr>Questions used to interrogate a Current State Map</vt:lpstr>
      <vt:lpstr>Questions Used to Interrogate a Current State Map (continued)</vt:lpstr>
      <vt:lpstr>Questions used to interrogate a Current State Map</vt:lpstr>
      <vt:lpstr>Deciding on Build Strategy</vt:lpstr>
      <vt:lpstr>Questions used to interrogate a Current State Map</vt:lpstr>
      <vt:lpstr>Producing to Takt Time</vt:lpstr>
      <vt:lpstr>Producing to Takt Time</vt:lpstr>
      <vt:lpstr>Questions used to interrogate a Current State Map</vt:lpstr>
      <vt:lpstr>Coupling Processes for Continuous Flow</vt:lpstr>
      <vt:lpstr>Coupling Processes for Continuous Flow</vt:lpstr>
      <vt:lpstr>Questions used to interrogate a Current State Map</vt:lpstr>
      <vt:lpstr>Link Decoupled Processes Using Pull</vt:lpstr>
      <vt:lpstr>Link Decoupled Processes Using Pull</vt:lpstr>
      <vt:lpstr>Questions used to interrogate a Current State Map</vt:lpstr>
      <vt:lpstr>Supermarket &amp; FIFO Definition</vt:lpstr>
      <vt:lpstr>Supermarket vs. FIFO</vt:lpstr>
      <vt:lpstr>Replacing Inventory Queues with Supermarkets</vt:lpstr>
      <vt:lpstr>Replacing Inventory Queues with Supermarkets</vt:lpstr>
      <vt:lpstr>Questions used to interrogate a Current State Map</vt:lpstr>
      <vt:lpstr>Identifying the Pacemaker Operation</vt:lpstr>
      <vt:lpstr>Questions used to interrogate a Current State Map</vt:lpstr>
      <vt:lpstr>Leveling the Production Mix</vt:lpstr>
      <vt:lpstr>Questions used to interrogate a Current State Map</vt:lpstr>
      <vt:lpstr>Identifying Changeover Opportunities</vt:lpstr>
      <vt:lpstr>Questions Used to Interrogate a Current State Map (continued)</vt:lpstr>
      <vt:lpstr>Identifying Uptime Improvement Opportunities</vt:lpstr>
      <vt:lpstr>Questions Used to Interrogate a Current State Map (continued)</vt:lpstr>
      <vt:lpstr>Identifying Manpower Improvements</vt:lpstr>
      <vt:lpstr>Identifying Manpower Improvements</vt:lpstr>
      <vt:lpstr>Questions Used to Interrogate a Current State Map (continued)</vt:lpstr>
      <vt:lpstr>Identifying Quality Improvement Opportunities</vt:lpstr>
      <vt:lpstr>Identifying Quality Improvement Opportunities</vt:lpstr>
      <vt:lpstr>Questions Used to Interrogate a Current State Map (continued)</vt:lpstr>
      <vt:lpstr>Scheduling Changes</vt:lpstr>
      <vt:lpstr>Scheduling Changes</vt:lpstr>
      <vt:lpstr>Questions Used to Interrogate a Current State Map (continued)</vt:lpstr>
      <vt:lpstr>Other Information Flow Improvements</vt:lpstr>
      <vt:lpstr>Other Information Flow Improvements</vt:lpstr>
      <vt:lpstr>Other Information Flow Improvements</vt:lpstr>
      <vt:lpstr>Questions Used to Interrogate a Current State Map (continued)</vt:lpstr>
      <vt:lpstr>Completed Marked-Up Current State Map</vt:lpstr>
      <vt:lpstr>Exercise</vt:lpstr>
      <vt:lpstr>Your Turn – Mark Up Current State Map for Business</vt:lpstr>
      <vt:lpstr>Your Turn – Mark Up Current State Map for Business</vt:lpstr>
      <vt:lpstr>Mark-Up Current State Map and Report-Out </vt:lpstr>
      <vt:lpstr>Creating the Future State Value Stream Map</vt:lpstr>
      <vt:lpstr>Steps to Draw the Future State Map</vt:lpstr>
      <vt:lpstr>Steps to Draw the Future State Map</vt:lpstr>
      <vt:lpstr>Start with Marked-Up Current State Map</vt:lpstr>
      <vt:lpstr>Steps to Draw the Future State Map</vt:lpstr>
      <vt:lpstr>Draw the pieces of the map that are the same</vt:lpstr>
      <vt:lpstr>Steps to Draw the Future State Map</vt:lpstr>
      <vt:lpstr>Combine Processes that Flow</vt:lpstr>
      <vt:lpstr>Steps to Draw the Future State Map</vt:lpstr>
      <vt:lpstr>Add Supermarkets &amp; Kanban</vt:lpstr>
      <vt:lpstr>Steps to Draw the Future State Map</vt:lpstr>
      <vt:lpstr>Add Additional Information Flow</vt:lpstr>
      <vt:lpstr>Steps to Draw the Future State Map</vt:lpstr>
      <vt:lpstr>Calculate Lead Time and Processing Time</vt:lpstr>
      <vt:lpstr>Steps to Draw the Future State Map</vt:lpstr>
      <vt:lpstr>Identifying “Loops” in the Future State Map</vt:lpstr>
      <vt:lpstr>Identify Loops</vt:lpstr>
      <vt:lpstr>The Complete Future State Map</vt:lpstr>
      <vt:lpstr>Developing the Value Stream Plan</vt:lpstr>
      <vt:lpstr>Purpose of the Value Stream Plan</vt:lpstr>
      <vt:lpstr>Timing of the Value Stream Plan</vt:lpstr>
      <vt:lpstr>Role of Leadership in VSM</vt:lpstr>
      <vt:lpstr>Role of the Value Stream Manager</vt:lpstr>
      <vt:lpstr>Role of the Value Stream Manager</vt:lpstr>
      <vt:lpstr>Prioritize Kaizen Bursts translate to Value Stream Plan Activities</vt:lpstr>
      <vt:lpstr>The Value Stream Plan</vt:lpstr>
      <vt:lpstr>Completed Value Stream Plan</vt:lpstr>
      <vt:lpstr>Follow up and monitoring of Value Stream Plan</vt:lpstr>
      <vt:lpstr>VSM in Context</vt:lpstr>
      <vt:lpstr>MME Possible Future VSM Revision Cycles</vt:lpstr>
      <vt:lpstr>Value Stream Mapping Roadmap to Success</vt:lpstr>
      <vt:lpstr>Site Plan</vt:lpstr>
      <vt:lpstr>Complete Future State and Value Stream Plan for Business</vt:lpstr>
      <vt:lpstr>Prepare for Final Report-Out to Management</vt:lpstr>
      <vt:lpstr>Appendix</vt:lpstr>
      <vt:lpstr>VSM Icons</vt:lpstr>
      <vt:lpstr>VSM Icons</vt:lpstr>
      <vt:lpstr>VSM Icons</vt:lpstr>
      <vt:lpstr>VSM Icons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Justin Santiago</dc:creator>
  <cp:lastModifiedBy>Kevin Mathis</cp:lastModifiedBy>
  <cp:revision>517</cp:revision>
  <dcterms:created xsi:type="dcterms:W3CDTF">2023-02-08T22:10:20Z</dcterms:created>
  <dcterms:modified xsi:type="dcterms:W3CDTF">2023-11-21T19:22:37Z</dcterms:modified>
</cp:coreProperties>
</file>