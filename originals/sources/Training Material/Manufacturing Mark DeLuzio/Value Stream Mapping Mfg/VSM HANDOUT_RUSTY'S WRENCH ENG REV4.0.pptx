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
  </p:notesMasterIdLst>
  <p:sldIdLst>
    <p:sldId id="353" r:id="rId2"/>
    <p:sldId id="354" r:id="rId3"/>
    <p:sldId id="355"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81849" autoAdjust="0"/>
  </p:normalViewPr>
  <p:slideViewPr>
    <p:cSldViewPr snapToGrid="0">
      <p:cViewPr varScale="1">
        <p:scale>
          <a:sx n="67" d="100"/>
          <a:sy n="67" d="100"/>
        </p:scale>
        <p:origin x="1286" y="62"/>
      </p:cViewPr>
      <p:guideLst/>
    </p:cSldViewPr>
  </p:slideViewPr>
  <p:notesTextViewPr>
    <p:cViewPr>
      <p:scale>
        <a:sx n="3" d="2"/>
        <a:sy n="3" d="2"/>
      </p:scale>
      <p:origin x="0" y="0"/>
    </p:cViewPr>
  </p:notesTextViewPr>
  <p:sorterViewPr>
    <p:cViewPr varScale="1">
      <p:scale>
        <a:sx n="100" d="100"/>
        <a:sy n="100" d="100"/>
      </p:scale>
      <p:origin x="0" y="-125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anose="020B0600070205080204" pitchFamily="34" charset="-128"/>
              </a:rPr>
              <a:t>HANDOUT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2567236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anose="020B0600070205080204" pitchFamily="34" charset="-128"/>
              </a:rPr>
              <a:t>HANDOUT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018236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Explain that this chart summarizes the key data points and can be used to help map out the current state.  </a:t>
            </a:r>
          </a:p>
          <a:p>
            <a:r>
              <a:rPr lang="en-US" altLang="en-US" dirty="0">
                <a:latin typeface="Arial" panose="020B0604020202020204" pitchFamily="34" charset="0"/>
                <a:ea typeface="ＭＳ Ｐゴシック" panose="020B0600070205080204" pitchFamily="34" charset="-128"/>
              </a:rPr>
              <a:t>This data is the result of </a:t>
            </a:r>
            <a:r>
              <a:rPr lang="en-US" altLang="en-US" u="sng" dirty="0">
                <a:latin typeface="Arial" panose="020B0604020202020204" pitchFamily="34" charset="0"/>
                <a:ea typeface="ＭＳ Ｐゴシック" panose="020B0600070205080204" pitchFamily="34" charset="-128"/>
              </a:rPr>
              <a:t>observation</a:t>
            </a:r>
            <a:r>
              <a:rPr lang="en-US" altLang="en-US" dirty="0">
                <a:latin typeface="Arial" panose="020B0604020202020204" pitchFamily="34" charset="0"/>
                <a:ea typeface="ＭＳ Ｐゴシック" panose="020B0600070205080204" pitchFamily="34" charset="-128"/>
              </a:rPr>
              <a:t> and data-gathering activity.</a:t>
            </a:r>
          </a:p>
          <a:p>
            <a:r>
              <a:rPr lang="en-US" altLang="en-US" dirty="0">
                <a:latin typeface="Arial" panose="020B0604020202020204" pitchFamily="34" charset="0"/>
                <a:ea typeface="ＭＳ Ｐゴシック" panose="020B0600070205080204" pitchFamily="34" charset="-128"/>
              </a:rPr>
              <a:t>Note: Pause here and allow students to work in teams to create their maps – the following slides are the </a:t>
            </a:r>
            <a:r>
              <a:rPr lang="en-US" altLang="en-US" u="sng" dirty="0">
                <a:latin typeface="Arial" panose="020B0604020202020204" pitchFamily="34" charset="0"/>
                <a:ea typeface="ＭＳ Ｐゴシック" panose="020B0600070205080204" pitchFamily="34" charset="-128"/>
              </a:rPr>
              <a:t>Answers</a:t>
            </a:r>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2566925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PRESENTATION TITLE GOES HERE</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Case Study Example: </a:t>
            </a:r>
            <a:r>
              <a:rPr lang="en-US" dirty="0" err="1"/>
              <a:t>Rusty’s</a:t>
            </a:r>
            <a:r>
              <a:rPr lang="en-US" dirty="0"/>
              <a:t> Wrench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77500" lnSpcReduction="20000"/>
          </a:bodyPr>
          <a:lstStyle/>
          <a:p>
            <a:r>
              <a:rPr lang="en-US" dirty="0"/>
              <a:t>Background</a:t>
            </a:r>
          </a:p>
          <a:p>
            <a:pPr lvl="1"/>
            <a:r>
              <a:rPr lang="en-US" dirty="0" err="1"/>
              <a:t>Rusty’s</a:t>
            </a:r>
            <a:r>
              <a:rPr lang="en-US" dirty="0"/>
              <a:t> Wrench Factory produces several types of wrenches and is the sole supplier to Giant Tool Supply, the nation’s largest supplier of tools to the industrial community. Rusty produces metric and SAE sizes of open-end wrenches.   </a:t>
            </a:r>
          </a:p>
          <a:p>
            <a:r>
              <a:rPr lang="en-US" dirty="0"/>
              <a:t>Customer Requirements</a:t>
            </a:r>
          </a:p>
          <a:p>
            <a:pPr lvl="1"/>
            <a:r>
              <a:rPr lang="en-US" dirty="0"/>
              <a:t>3,200 sets per month: 2,200 SAE/1,000 metric</a:t>
            </a:r>
          </a:p>
          <a:p>
            <a:pPr lvl="1"/>
            <a:r>
              <a:rPr lang="en-US" dirty="0"/>
              <a:t>Customer operates on one shift</a:t>
            </a:r>
          </a:p>
          <a:p>
            <a:pPr lvl="1"/>
            <a:r>
              <a:rPr lang="en-US" dirty="0"/>
              <a:t>Wrenches are packed in sets of 25</a:t>
            </a:r>
          </a:p>
          <a:p>
            <a:pPr lvl="1"/>
            <a:r>
              <a:rPr lang="en-US" dirty="0"/>
              <a:t>The customer orders by sets</a:t>
            </a:r>
          </a:p>
          <a:p>
            <a:pPr lvl="1"/>
            <a:r>
              <a:rPr lang="en-US" dirty="0" err="1"/>
              <a:t>Rusty’s</a:t>
            </a:r>
            <a:r>
              <a:rPr lang="en-US" dirty="0"/>
              <a:t> Wrench provides a daily shipment by truckload to Giant Tool Supply</a:t>
            </a:r>
          </a:p>
          <a:p>
            <a:r>
              <a:rPr lang="en-US" dirty="0" err="1"/>
              <a:t>Rusty’s</a:t>
            </a:r>
            <a:r>
              <a:rPr lang="en-US" dirty="0"/>
              <a:t> Wrench Work Time</a:t>
            </a:r>
          </a:p>
          <a:p>
            <a:pPr lvl="1"/>
            <a:r>
              <a:rPr lang="en-US" dirty="0"/>
              <a:t>20 days in a month</a:t>
            </a:r>
          </a:p>
          <a:p>
            <a:pPr lvl="1"/>
            <a:r>
              <a:rPr lang="en-US" dirty="0"/>
              <a:t>Two shift operation in all departments</a:t>
            </a:r>
          </a:p>
          <a:p>
            <a:pPr lvl="1"/>
            <a:r>
              <a:rPr lang="en-US" dirty="0"/>
              <a:t>Eight (8) hour shifts</a:t>
            </a:r>
          </a:p>
          <a:p>
            <a:pPr lvl="1"/>
            <a:r>
              <a:rPr lang="en-US" dirty="0"/>
              <a:t>Two 10- minute breaks during each shift, 10- minute cleanup allowed during each shift, unpaid lunch</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a:t>
            </a:fld>
            <a:endParaRPr lang="en-US"/>
          </a:p>
        </p:txBody>
      </p:sp>
      <p:grpSp>
        <p:nvGrpSpPr>
          <p:cNvPr id="4" name="Group 3">
            <a:extLst>
              <a:ext uri="{FF2B5EF4-FFF2-40B4-BE49-F238E27FC236}">
                <a16:creationId xmlns:a16="http://schemas.microsoft.com/office/drawing/2014/main" id="{3FCCD593-B300-7832-3A2A-B626285A0D80}"/>
              </a:ext>
            </a:extLst>
          </p:cNvPr>
          <p:cNvGrpSpPr/>
          <p:nvPr/>
        </p:nvGrpSpPr>
        <p:grpSpPr>
          <a:xfrm>
            <a:off x="838200" y="297639"/>
            <a:ext cx="4202430" cy="307138"/>
            <a:chOff x="838200" y="297639"/>
            <a:chExt cx="4202430" cy="307138"/>
          </a:xfrm>
        </p:grpSpPr>
        <p:grpSp>
          <p:nvGrpSpPr>
            <p:cNvPr id="6" name="Group 5">
              <a:extLst>
                <a:ext uri="{FF2B5EF4-FFF2-40B4-BE49-F238E27FC236}">
                  <a16:creationId xmlns:a16="http://schemas.microsoft.com/office/drawing/2014/main" id="{7F2BABE1-293B-44BB-B3FD-6CB2267D2AA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6A1F70A-8BC5-DE3B-52FE-2E5B9072EC7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1ECD146-4627-651F-D888-9BBE437EF74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C5445DE-6E67-1157-8346-5FF92762DE9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ABB42D8-5555-9CE5-9B4C-A255A7C2684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08725B62-0D09-94B9-5EA4-39E3B2E6C17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98A517FF-93C7-3D52-449D-EBBE628310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9AB69792-0192-0728-32D7-7D9047A2D591}"/>
                </a:ext>
              </a:extLst>
            </p:cNvPr>
            <p:cNvSpPr txBox="1"/>
            <p:nvPr/>
          </p:nvSpPr>
          <p:spPr>
            <a:xfrm>
              <a:off x="2525717" y="313415"/>
              <a:ext cx="2514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Current State Map</a:t>
              </a:r>
            </a:p>
          </p:txBody>
        </p:sp>
      </p:grpSp>
    </p:spTree>
    <p:extLst>
      <p:ext uri="{BB962C8B-B14F-4D97-AF65-F5344CB8AC3E}">
        <p14:creationId xmlns:p14="http://schemas.microsoft.com/office/powerpoint/2010/main" val="3478145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Case Study Example: </a:t>
            </a:r>
            <a:r>
              <a:rPr lang="en-US" dirty="0" err="1"/>
              <a:t>Rusty’s</a:t>
            </a:r>
            <a:r>
              <a:rPr lang="en-US" dirty="0"/>
              <a:t> Wrench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Production Processes</a:t>
            </a:r>
          </a:p>
          <a:p>
            <a:pPr lvl="1"/>
            <a:r>
              <a:rPr lang="en-US" dirty="0" err="1"/>
              <a:t>Rusty’s</a:t>
            </a:r>
            <a:r>
              <a:rPr lang="en-US" dirty="0"/>
              <a:t> process begins with hot forging (drop forge) a wrench, followed by machining, polishing, plating, and packing into sets. The sets are then staged and shipped to Giant Tool Supply on a daily basis.</a:t>
            </a:r>
          </a:p>
          <a:p>
            <a:pPr lvl="1"/>
            <a:r>
              <a:rPr lang="en-US" dirty="0"/>
              <a:t>Changing over between SAE and Metric requires 1 hour changeover in Forging, and 20 minutes in Machining</a:t>
            </a:r>
          </a:p>
          <a:p>
            <a:pPr lvl="1"/>
            <a:r>
              <a:rPr lang="en-US" dirty="0"/>
              <a:t>Steel bar stock is supplied by Lean Steel Company, delivering twice a week on Monday and Thursday</a:t>
            </a:r>
          </a:p>
          <a:p>
            <a:r>
              <a:rPr lang="en-US" dirty="0" err="1"/>
              <a:t>Rusty’s</a:t>
            </a:r>
            <a:r>
              <a:rPr lang="en-US" dirty="0"/>
              <a:t> Production Control Department</a:t>
            </a:r>
          </a:p>
          <a:p>
            <a:pPr lvl="1"/>
            <a:r>
              <a:rPr lang="en-US" dirty="0"/>
              <a:t>Receives Giant’s 90/60/30 day forecast and enters into MRP</a:t>
            </a:r>
          </a:p>
          <a:p>
            <a:pPr lvl="1"/>
            <a:r>
              <a:rPr lang="en-US" dirty="0"/>
              <a:t>Issues an 8 week forecast to Lean Steel via MRP</a:t>
            </a:r>
          </a:p>
          <a:p>
            <a:pPr lvl="1"/>
            <a:r>
              <a:rPr lang="en-US" dirty="0"/>
              <a:t>Releases for cut bar stock via weekly faxed orders to Lean Steel</a:t>
            </a:r>
          </a:p>
          <a:p>
            <a:pPr lvl="1"/>
            <a:r>
              <a:rPr lang="en-US" dirty="0"/>
              <a:t>Receives daily firm order from Giant Tool Supply</a:t>
            </a:r>
          </a:p>
          <a:p>
            <a:pPr lvl="1"/>
            <a:r>
              <a:rPr lang="en-US" dirty="0"/>
              <a:t>Generates weekly MRP-based build schedules to all manufacturing departments</a:t>
            </a:r>
          </a:p>
          <a:p>
            <a:pPr lvl="1"/>
            <a:r>
              <a:rPr lang="en-US" dirty="0"/>
              <a:t>Issues daily shipping schedule to Shipping Department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a:t>
            </a:fld>
            <a:endParaRPr lang="en-US"/>
          </a:p>
        </p:txBody>
      </p:sp>
      <p:grpSp>
        <p:nvGrpSpPr>
          <p:cNvPr id="4" name="Group 3">
            <a:extLst>
              <a:ext uri="{FF2B5EF4-FFF2-40B4-BE49-F238E27FC236}">
                <a16:creationId xmlns:a16="http://schemas.microsoft.com/office/drawing/2014/main" id="{3FCCD593-B300-7832-3A2A-B626285A0D80}"/>
              </a:ext>
            </a:extLst>
          </p:cNvPr>
          <p:cNvGrpSpPr/>
          <p:nvPr/>
        </p:nvGrpSpPr>
        <p:grpSpPr>
          <a:xfrm>
            <a:off x="838200" y="297639"/>
            <a:ext cx="4202430" cy="307138"/>
            <a:chOff x="838200" y="297639"/>
            <a:chExt cx="4202430" cy="307138"/>
          </a:xfrm>
        </p:grpSpPr>
        <p:grpSp>
          <p:nvGrpSpPr>
            <p:cNvPr id="6" name="Group 5">
              <a:extLst>
                <a:ext uri="{FF2B5EF4-FFF2-40B4-BE49-F238E27FC236}">
                  <a16:creationId xmlns:a16="http://schemas.microsoft.com/office/drawing/2014/main" id="{7F2BABE1-293B-44BB-B3FD-6CB2267D2AA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6A1F70A-8BC5-DE3B-52FE-2E5B9072EC7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1ECD146-4627-651F-D888-9BBE437EF74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C5445DE-6E67-1157-8346-5FF92762DE9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ABB42D8-5555-9CE5-9B4C-A255A7C2684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08725B62-0D09-94B9-5EA4-39E3B2E6C17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98A517FF-93C7-3D52-449D-EBBE628310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9AB69792-0192-0728-32D7-7D9047A2D591}"/>
                </a:ext>
              </a:extLst>
            </p:cNvPr>
            <p:cNvSpPr txBox="1"/>
            <p:nvPr/>
          </p:nvSpPr>
          <p:spPr>
            <a:xfrm>
              <a:off x="2525717" y="313415"/>
              <a:ext cx="2514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Current State Map</a:t>
              </a:r>
            </a:p>
          </p:txBody>
        </p:sp>
      </p:grpSp>
    </p:spTree>
    <p:extLst>
      <p:ext uri="{BB962C8B-B14F-4D97-AF65-F5344CB8AC3E}">
        <p14:creationId xmlns:p14="http://schemas.microsoft.com/office/powerpoint/2010/main" val="2969410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err="1"/>
              <a:t>Rusty’s</a:t>
            </a:r>
            <a:r>
              <a:rPr lang="en-US" dirty="0"/>
              <a:t> Wrench Factory – Data Set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a:t>
            </a:fld>
            <a:endParaRPr lang="en-US"/>
          </a:p>
        </p:txBody>
      </p:sp>
      <p:grpSp>
        <p:nvGrpSpPr>
          <p:cNvPr id="4" name="Group 3">
            <a:extLst>
              <a:ext uri="{FF2B5EF4-FFF2-40B4-BE49-F238E27FC236}">
                <a16:creationId xmlns:a16="http://schemas.microsoft.com/office/drawing/2014/main" id="{3FCCD593-B300-7832-3A2A-B626285A0D80}"/>
              </a:ext>
            </a:extLst>
          </p:cNvPr>
          <p:cNvGrpSpPr/>
          <p:nvPr/>
        </p:nvGrpSpPr>
        <p:grpSpPr>
          <a:xfrm>
            <a:off x="838200" y="297639"/>
            <a:ext cx="4202430" cy="307138"/>
            <a:chOff x="838200" y="297639"/>
            <a:chExt cx="4202430" cy="307138"/>
          </a:xfrm>
        </p:grpSpPr>
        <p:grpSp>
          <p:nvGrpSpPr>
            <p:cNvPr id="6" name="Group 5">
              <a:extLst>
                <a:ext uri="{FF2B5EF4-FFF2-40B4-BE49-F238E27FC236}">
                  <a16:creationId xmlns:a16="http://schemas.microsoft.com/office/drawing/2014/main" id="{7F2BABE1-293B-44BB-B3FD-6CB2267D2AA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6A1F70A-8BC5-DE3B-52FE-2E5B9072EC7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1ECD146-4627-651F-D888-9BBE437EF74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C5445DE-6E67-1157-8346-5FF92762DE9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ABB42D8-5555-9CE5-9B4C-A255A7C2684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08725B62-0D09-94B9-5EA4-39E3B2E6C17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98A517FF-93C7-3D52-449D-EBBE628310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9AB69792-0192-0728-32D7-7D9047A2D591}"/>
                </a:ext>
              </a:extLst>
            </p:cNvPr>
            <p:cNvSpPr txBox="1"/>
            <p:nvPr/>
          </p:nvSpPr>
          <p:spPr>
            <a:xfrm>
              <a:off x="2525717" y="313415"/>
              <a:ext cx="251491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Current State Map</a:t>
              </a:r>
            </a:p>
          </p:txBody>
        </p:sp>
      </p:grpSp>
      <p:graphicFrame>
        <p:nvGraphicFramePr>
          <p:cNvPr id="16" name="Group 81">
            <a:extLst>
              <a:ext uri="{FF2B5EF4-FFF2-40B4-BE49-F238E27FC236}">
                <a16:creationId xmlns:a16="http://schemas.microsoft.com/office/drawing/2014/main" id="{E3BFAB97-929D-FC91-58D0-C8B7920D78F1}"/>
              </a:ext>
            </a:extLst>
          </p:cNvPr>
          <p:cNvGraphicFramePr>
            <a:graphicFrameLocks noGrp="1"/>
          </p:cNvGraphicFramePr>
          <p:nvPr>
            <p:extLst>
              <p:ext uri="{D42A27DB-BD31-4B8C-83A1-F6EECF244321}">
                <p14:modId xmlns:p14="http://schemas.microsoft.com/office/powerpoint/2010/main" val="2389197098"/>
              </p:ext>
            </p:extLst>
          </p:nvPr>
        </p:nvGraphicFramePr>
        <p:xfrm>
          <a:off x="2431479" y="2027298"/>
          <a:ext cx="7129463" cy="4237026"/>
        </p:xfrm>
        <a:graphic>
          <a:graphicData uri="http://schemas.openxmlformats.org/drawingml/2006/table">
            <a:tbl>
              <a:tblPr/>
              <a:tblGrid>
                <a:gridCol w="1187450">
                  <a:extLst>
                    <a:ext uri="{9D8B030D-6E8A-4147-A177-3AD203B41FA5}">
                      <a16:colId xmlns:a16="http://schemas.microsoft.com/office/drawing/2014/main" val="20000"/>
                    </a:ext>
                  </a:extLst>
                </a:gridCol>
                <a:gridCol w="1189038">
                  <a:extLst>
                    <a:ext uri="{9D8B030D-6E8A-4147-A177-3AD203B41FA5}">
                      <a16:colId xmlns:a16="http://schemas.microsoft.com/office/drawing/2014/main" val="20001"/>
                    </a:ext>
                  </a:extLst>
                </a:gridCol>
                <a:gridCol w="1189037">
                  <a:extLst>
                    <a:ext uri="{9D8B030D-6E8A-4147-A177-3AD203B41FA5}">
                      <a16:colId xmlns:a16="http://schemas.microsoft.com/office/drawing/2014/main" val="20002"/>
                    </a:ext>
                  </a:extLst>
                </a:gridCol>
                <a:gridCol w="1187450">
                  <a:extLst>
                    <a:ext uri="{9D8B030D-6E8A-4147-A177-3AD203B41FA5}">
                      <a16:colId xmlns:a16="http://schemas.microsoft.com/office/drawing/2014/main" val="20003"/>
                    </a:ext>
                  </a:extLst>
                </a:gridCol>
                <a:gridCol w="1189038">
                  <a:extLst>
                    <a:ext uri="{9D8B030D-6E8A-4147-A177-3AD203B41FA5}">
                      <a16:colId xmlns:a16="http://schemas.microsoft.com/office/drawing/2014/main" val="20004"/>
                    </a:ext>
                  </a:extLst>
                </a:gridCol>
                <a:gridCol w="1187450">
                  <a:extLst>
                    <a:ext uri="{9D8B030D-6E8A-4147-A177-3AD203B41FA5}">
                      <a16:colId xmlns:a16="http://schemas.microsoft.com/office/drawing/2014/main" val="20005"/>
                    </a:ext>
                  </a:extLst>
                </a:gridCol>
              </a:tblGrid>
              <a:tr h="1028201">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Manual Drop Forge Press and Trimming. Process includes trim after forge.</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(6 operators)</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Manual process w/continuously running machines.Needs to be processed thru 6 machines.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(6 operators)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Manual polish operation.  Operator relies on visual inspection of parts.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(1 operator)</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Parts are manually hung on a rack and processed through the plating process.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(5 operators)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Operators manually pack wrenches into sets.  </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 operators)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Removes sets from Pack and stages for daily truck shipment to the customer.</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0003">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12</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12</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12</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12</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10</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10</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16</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90</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(Per Set)</a:t>
                      </a: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DOI = 225</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ja-JP"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Proc Time = 450</a:t>
                      </a:r>
                      <a:r>
                        <a:rPr kumimoji="0" lang="ja-JP" altLang="en-US" sz="900" b="1"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3956">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I Hour from SAE to Metric</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20 Minutes (entire cell)</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None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None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None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5416">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100 %</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98%</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99%</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99%</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1439">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95%, all rejected parts are scrapped.</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98% first pass, most parts can be reworked.</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94% first pass, most parts can be reworked</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98% first pass, most parts can be reworked</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99.5% first pass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N/A</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40651">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6000 pcs of cut bar stock before forge.  18000 after forge (12k SAE, 6k Metric)</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25000 units: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18k SAE,</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 7k Metric</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55000 units: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35k SAE,</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20k Metric</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6000 units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All SAE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75000 units</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50k SAE</a:t>
                      </a:r>
                    </a:p>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rPr>
                        <a:t>25k Metric</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20000"/>
                        </a:spcAft>
                        <a:buClr>
                          <a:srgbClr val="006699"/>
                        </a:buClr>
                        <a:buSzPct val="4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None – just daily ship quantities.</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7" name="Text Box 53">
            <a:extLst>
              <a:ext uri="{FF2B5EF4-FFF2-40B4-BE49-F238E27FC236}">
                <a16:creationId xmlns:a16="http://schemas.microsoft.com/office/drawing/2014/main" id="{8D225CC8-0ACE-BF1F-AC7E-9D5A5C8302C4}"/>
              </a:ext>
            </a:extLst>
          </p:cNvPr>
          <p:cNvSpPr txBox="1">
            <a:spLocks noChangeArrowheads="1"/>
          </p:cNvSpPr>
          <p:nvPr/>
        </p:nvSpPr>
        <p:spPr bwMode="auto">
          <a:xfrm>
            <a:off x="2697011" y="1709798"/>
            <a:ext cx="6495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dirty="0">
                <a:solidFill>
                  <a:schemeClr val="tx1"/>
                </a:solidFill>
                <a:latin typeface="Roboto" panose="02000000000000000000" pitchFamily="2" charset="0"/>
                <a:ea typeface="Roboto" panose="02000000000000000000" pitchFamily="2" charset="0"/>
              </a:rPr>
              <a:t>Forge</a:t>
            </a:r>
          </a:p>
        </p:txBody>
      </p:sp>
      <p:sp>
        <p:nvSpPr>
          <p:cNvPr id="18" name="Text Box 54">
            <a:extLst>
              <a:ext uri="{FF2B5EF4-FFF2-40B4-BE49-F238E27FC236}">
                <a16:creationId xmlns:a16="http://schemas.microsoft.com/office/drawing/2014/main" id="{AD7D38E9-1790-28AC-AFCC-D9E54B26B7D5}"/>
              </a:ext>
            </a:extLst>
          </p:cNvPr>
          <p:cNvSpPr txBox="1">
            <a:spLocks noChangeArrowheads="1"/>
          </p:cNvSpPr>
          <p:nvPr/>
        </p:nvSpPr>
        <p:spPr bwMode="auto">
          <a:xfrm>
            <a:off x="3837587" y="1709798"/>
            <a:ext cx="892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a:solidFill>
                  <a:schemeClr val="tx1"/>
                </a:solidFill>
                <a:latin typeface="Roboto" panose="02000000000000000000" pitchFamily="2" charset="0"/>
                <a:ea typeface="Roboto" panose="02000000000000000000" pitchFamily="2" charset="0"/>
              </a:rPr>
              <a:t>Machine</a:t>
            </a:r>
          </a:p>
        </p:txBody>
      </p:sp>
      <p:sp>
        <p:nvSpPr>
          <p:cNvPr id="19" name="Text Box 55">
            <a:extLst>
              <a:ext uri="{FF2B5EF4-FFF2-40B4-BE49-F238E27FC236}">
                <a16:creationId xmlns:a16="http://schemas.microsoft.com/office/drawing/2014/main" id="{6B8DCAC0-5666-2781-9380-2157F47B4850}"/>
              </a:ext>
            </a:extLst>
          </p:cNvPr>
          <p:cNvSpPr txBox="1">
            <a:spLocks noChangeArrowheads="1"/>
          </p:cNvSpPr>
          <p:nvPr/>
        </p:nvSpPr>
        <p:spPr bwMode="auto">
          <a:xfrm>
            <a:off x="5220801" y="1709798"/>
            <a:ext cx="715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a:solidFill>
                  <a:schemeClr val="tx1"/>
                </a:solidFill>
                <a:latin typeface="Roboto" panose="02000000000000000000" pitchFamily="2" charset="0"/>
                <a:ea typeface="Roboto" panose="02000000000000000000" pitchFamily="2" charset="0"/>
              </a:rPr>
              <a:t>Polish</a:t>
            </a:r>
          </a:p>
        </p:txBody>
      </p:sp>
      <p:sp>
        <p:nvSpPr>
          <p:cNvPr id="20" name="Text Box 56">
            <a:extLst>
              <a:ext uri="{FF2B5EF4-FFF2-40B4-BE49-F238E27FC236}">
                <a16:creationId xmlns:a16="http://schemas.microsoft.com/office/drawing/2014/main" id="{A2B59F5D-BC19-B5A8-D41B-B56E65E935C6}"/>
              </a:ext>
            </a:extLst>
          </p:cNvPr>
          <p:cNvSpPr txBox="1">
            <a:spLocks noChangeArrowheads="1"/>
          </p:cNvSpPr>
          <p:nvPr/>
        </p:nvSpPr>
        <p:spPr bwMode="auto">
          <a:xfrm>
            <a:off x="6427803" y="1724086"/>
            <a:ext cx="6080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a:solidFill>
                  <a:schemeClr val="tx1"/>
                </a:solidFill>
                <a:latin typeface="Roboto" panose="02000000000000000000" pitchFamily="2" charset="0"/>
                <a:ea typeface="Roboto" panose="02000000000000000000" pitchFamily="2" charset="0"/>
              </a:rPr>
              <a:t>Plate</a:t>
            </a:r>
          </a:p>
        </p:txBody>
      </p:sp>
      <p:sp>
        <p:nvSpPr>
          <p:cNvPr id="21" name="Text Box 57">
            <a:extLst>
              <a:ext uri="{FF2B5EF4-FFF2-40B4-BE49-F238E27FC236}">
                <a16:creationId xmlns:a16="http://schemas.microsoft.com/office/drawing/2014/main" id="{9B262CA8-4052-FA43-929E-5CDA4249BF0E}"/>
              </a:ext>
            </a:extLst>
          </p:cNvPr>
          <p:cNvSpPr txBox="1">
            <a:spLocks noChangeArrowheads="1"/>
          </p:cNvSpPr>
          <p:nvPr/>
        </p:nvSpPr>
        <p:spPr bwMode="auto">
          <a:xfrm>
            <a:off x="7526855" y="1716148"/>
            <a:ext cx="5984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a:solidFill>
                  <a:schemeClr val="tx1"/>
                </a:solidFill>
                <a:latin typeface="Roboto" panose="02000000000000000000" pitchFamily="2" charset="0"/>
                <a:ea typeface="Roboto" panose="02000000000000000000" pitchFamily="2" charset="0"/>
              </a:rPr>
              <a:t>Pack</a:t>
            </a:r>
          </a:p>
        </p:txBody>
      </p:sp>
      <p:sp>
        <p:nvSpPr>
          <p:cNvPr id="22" name="Text Box 58">
            <a:extLst>
              <a:ext uri="{FF2B5EF4-FFF2-40B4-BE49-F238E27FC236}">
                <a16:creationId xmlns:a16="http://schemas.microsoft.com/office/drawing/2014/main" id="{28369F1B-BBEB-981C-2812-24C0C4032C6A}"/>
              </a:ext>
            </a:extLst>
          </p:cNvPr>
          <p:cNvSpPr txBox="1">
            <a:spLocks noChangeArrowheads="1"/>
          </p:cNvSpPr>
          <p:nvPr/>
        </p:nvSpPr>
        <p:spPr bwMode="auto">
          <a:xfrm>
            <a:off x="8616379" y="1724086"/>
            <a:ext cx="5453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400" dirty="0">
                <a:solidFill>
                  <a:schemeClr val="tx1"/>
                </a:solidFill>
                <a:latin typeface="Roboto" panose="02000000000000000000" pitchFamily="2" charset="0"/>
                <a:ea typeface="Roboto" panose="02000000000000000000" pitchFamily="2" charset="0"/>
              </a:rPr>
              <a:t>Ship</a:t>
            </a:r>
          </a:p>
        </p:txBody>
      </p:sp>
      <p:sp>
        <p:nvSpPr>
          <p:cNvPr id="23" name="Text Box 59">
            <a:extLst>
              <a:ext uri="{FF2B5EF4-FFF2-40B4-BE49-F238E27FC236}">
                <a16:creationId xmlns:a16="http://schemas.microsoft.com/office/drawing/2014/main" id="{DA03CF9D-5B05-C647-6C01-6D0D5E31C0C8}"/>
              </a:ext>
            </a:extLst>
          </p:cNvPr>
          <p:cNvSpPr txBox="1">
            <a:spLocks noChangeArrowheads="1"/>
          </p:cNvSpPr>
          <p:nvPr/>
        </p:nvSpPr>
        <p:spPr bwMode="auto">
          <a:xfrm>
            <a:off x="1272604" y="2206686"/>
            <a:ext cx="9733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rPr>
              <a:t>Operation</a:t>
            </a:r>
          </a:p>
          <a:p>
            <a:pPr algn="l" eaLnBrk="1" hangingPunct="1">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rPr>
              <a:t>Description</a:t>
            </a:r>
          </a:p>
        </p:txBody>
      </p:sp>
      <p:sp>
        <p:nvSpPr>
          <p:cNvPr id="24" name="Text Box 60">
            <a:extLst>
              <a:ext uri="{FF2B5EF4-FFF2-40B4-BE49-F238E27FC236}">
                <a16:creationId xmlns:a16="http://schemas.microsoft.com/office/drawing/2014/main" id="{70D8682F-545D-524F-F644-FCA9E66938A4}"/>
              </a:ext>
            </a:extLst>
          </p:cNvPr>
          <p:cNvSpPr txBox="1">
            <a:spLocks noChangeArrowheads="1"/>
          </p:cNvSpPr>
          <p:nvPr/>
        </p:nvSpPr>
        <p:spPr bwMode="auto">
          <a:xfrm>
            <a:off x="1029075" y="3184349"/>
            <a:ext cx="14603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DOI Observed &amp;</a:t>
            </a:r>
          </a:p>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Processing Time</a:t>
            </a:r>
          </a:p>
        </p:txBody>
      </p:sp>
      <p:sp>
        <p:nvSpPr>
          <p:cNvPr id="25" name="Text Box 61">
            <a:extLst>
              <a:ext uri="{FF2B5EF4-FFF2-40B4-BE49-F238E27FC236}">
                <a16:creationId xmlns:a16="http://schemas.microsoft.com/office/drawing/2014/main" id="{2B74C3FD-9E56-45FD-E746-232679387ABC}"/>
              </a:ext>
            </a:extLst>
          </p:cNvPr>
          <p:cNvSpPr txBox="1">
            <a:spLocks noChangeArrowheads="1"/>
          </p:cNvSpPr>
          <p:nvPr/>
        </p:nvSpPr>
        <p:spPr bwMode="auto">
          <a:xfrm>
            <a:off x="1250961" y="3866908"/>
            <a:ext cx="10166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Changeover</a:t>
            </a:r>
          </a:p>
        </p:txBody>
      </p:sp>
      <p:sp>
        <p:nvSpPr>
          <p:cNvPr id="26" name="Text Box 62">
            <a:extLst>
              <a:ext uri="{FF2B5EF4-FFF2-40B4-BE49-F238E27FC236}">
                <a16:creationId xmlns:a16="http://schemas.microsoft.com/office/drawing/2014/main" id="{8948E103-EC45-E66A-824B-92AF2927B4CE}"/>
              </a:ext>
            </a:extLst>
          </p:cNvPr>
          <p:cNvSpPr txBox="1">
            <a:spLocks noChangeArrowheads="1"/>
          </p:cNvSpPr>
          <p:nvPr/>
        </p:nvSpPr>
        <p:spPr bwMode="auto">
          <a:xfrm>
            <a:off x="1327904" y="4375378"/>
            <a:ext cx="8627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Machine</a:t>
            </a:r>
          </a:p>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Reliability</a:t>
            </a:r>
          </a:p>
        </p:txBody>
      </p:sp>
      <p:sp>
        <p:nvSpPr>
          <p:cNvPr id="27" name="Text Box 63">
            <a:extLst>
              <a:ext uri="{FF2B5EF4-FFF2-40B4-BE49-F238E27FC236}">
                <a16:creationId xmlns:a16="http://schemas.microsoft.com/office/drawing/2014/main" id="{5C8A817A-2E15-6B3F-E1B9-3FBBD454A96E}"/>
              </a:ext>
            </a:extLst>
          </p:cNvPr>
          <p:cNvSpPr txBox="1">
            <a:spLocks noChangeArrowheads="1"/>
          </p:cNvSpPr>
          <p:nvPr/>
        </p:nvSpPr>
        <p:spPr bwMode="auto">
          <a:xfrm>
            <a:off x="1348373" y="5206608"/>
            <a:ext cx="66717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rPr>
              <a:t>Quality</a:t>
            </a:r>
          </a:p>
        </p:txBody>
      </p:sp>
      <p:sp>
        <p:nvSpPr>
          <p:cNvPr id="28" name="Text Box 64">
            <a:extLst>
              <a:ext uri="{FF2B5EF4-FFF2-40B4-BE49-F238E27FC236}">
                <a16:creationId xmlns:a16="http://schemas.microsoft.com/office/drawing/2014/main" id="{33B73AC0-C787-DD21-2A1E-F0FA197E7E16}"/>
              </a:ext>
            </a:extLst>
          </p:cNvPr>
          <p:cNvSpPr txBox="1">
            <a:spLocks noChangeArrowheads="1"/>
          </p:cNvSpPr>
          <p:nvPr/>
        </p:nvSpPr>
        <p:spPr bwMode="auto">
          <a:xfrm>
            <a:off x="1341529" y="5714672"/>
            <a:ext cx="8354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ＭＳ Ｐゴシック"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ＭＳ Ｐゴシック" panose="020B0600070205080204" pitchFamily="34" charset="-128"/>
              </a:defRPr>
            </a:lvl9pPr>
          </a:lstStyle>
          <a:p>
            <a:pPr algn="l" eaLnBrk="1" hangingPunct="1">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rPr>
              <a:t>Inventory</a:t>
            </a:r>
          </a:p>
        </p:txBody>
      </p:sp>
    </p:spTree>
    <p:extLst>
      <p:ext uri="{BB962C8B-B14F-4D97-AF65-F5344CB8AC3E}">
        <p14:creationId xmlns:p14="http://schemas.microsoft.com/office/powerpoint/2010/main" val="71979231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14035</TotalTime>
  <Words>648</Words>
  <Application>Microsoft Office PowerPoint</Application>
  <PresentationFormat>Widescreen</PresentationFormat>
  <Paragraphs>127</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Roboto</vt:lpstr>
      <vt:lpstr>Roboto Medium</vt:lpstr>
      <vt:lpstr>Wingdings</vt:lpstr>
      <vt:lpstr>Office Theme</vt:lpstr>
      <vt:lpstr>Case Study Example: Rusty’s Wrench </vt:lpstr>
      <vt:lpstr>Case Study Example: Rusty’s Wrench </vt:lpstr>
      <vt:lpstr>Rusty’s Wrench Factory – Data Set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378</cp:revision>
  <dcterms:created xsi:type="dcterms:W3CDTF">2023-02-08T22:10:20Z</dcterms:created>
  <dcterms:modified xsi:type="dcterms:W3CDTF">2023-09-19T18:53:31Z</dcterms:modified>
</cp:coreProperties>
</file>