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6"/>
  </p:notesMasterIdLst>
  <p:sldIdLst>
    <p:sldId id="258" r:id="rId2"/>
    <p:sldId id="283" r:id="rId3"/>
    <p:sldId id="284" r:id="rId4"/>
    <p:sldId id="351" r:id="rId5"/>
    <p:sldId id="352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65" r:id="rId15"/>
    <p:sldId id="366" r:id="rId16"/>
    <p:sldId id="361" r:id="rId17"/>
    <p:sldId id="362" r:id="rId18"/>
    <p:sldId id="363" r:id="rId19"/>
    <p:sldId id="364" r:id="rId20"/>
    <p:sldId id="367" r:id="rId21"/>
    <p:sldId id="368" r:id="rId22"/>
    <p:sldId id="369" r:id="rId23"/>
    <p:sldId id="370" r:id="rId24"/>
    <p:sldId id="371" r:id="rId25"/>
    <p:sldId id="372" r:id="rId26"/>
    <p:sldId id="373" r:id="rId27"/>
    <p:sldId id="374" r:id="rId28"/>
    <p:sldId id="375" r:id="rId29"/>
    <p:sldId id="376" r:id="rId30"/>
    <p:sldId id="377" r:id="rId31"/>
    <p:sldId id="378" r:id="rId32"/>
    <p:sldId id="379" r:id="rId33"/>
    <p:sldId id="380" r:id="rId34"/>
    <p:sldId id="38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B6AAEF-3415-5D22-AFDC-F31A005CEED7}" name="Joe Rutz" initials="JR" userId="S::joe.rutz@leancoachingllc.com::74172d3c-f68f-4a41-af3d-37d02d9c96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222"/>
    <a:srgbClr val="FFB627"/>
    <a:srgbClr val="177E89"/>
    <a:srgbClr val="8EDCE6"/>
    <a:srgbClr val="F1BF98"/>
    <a:srgbClr val="2EC4B6"/>
    <a:srgbClr val="BDDBD0"/>
    <a:srgbClr val="2D7DD2"/>
    <a:srgbClr val="62929E"/>
    <a:srgbClr val="B3DE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81849" autoAdjust="0"/>
  </p:normalViewPr>
  <p:slideViewPr>
    <p:cSldViewPr snapToGrid="0">
      <p:cViewPr varScale="1">
        <p:scale>
          <a:sx n="67" d="100"/>
          <a:sy n="67" d="100"/>
        </p:scale>
        <p:origin x="1286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252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6C400-5EB2-4620-B71B-A7454A7EC846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D8548-F1A2-4EDF-A416-5F2BB6B8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3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298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037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016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577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a typeface="ＭＳ Ｐゴシック" charset="0"/>
                <a:cs typeface="+mn-cs"/>
              </a:rPr>
              <a:t>NOTE: </a:t>
            </a:r>
            <a:r>
              <a:rPr lang="en-US" b="0" dirty="0">
                <a:ea typeface="ＭＳ Ｐゴシック" charset="0"/>
                <a:cs typeface="+mn-cs"/>
              </a:rPr>
              <a:t>Allot 15 minutes for discussion and another 3 minutes per group to report out after the discussion is complete.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53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7B85E90D-7DD7-92B5-E387-8C0441E41A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85391" y="1950112"/>
            <a:ext cx="77724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36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FA04139-8C44-65B7-CCE0-3C72733967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1954" y="6012921"/>
            <a:ext cx="18256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546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40B0-16F5-BFBE-E22F-812ED893E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DE2FD-1979-A3D6-90A4-45D744A02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0722"/>
            <a:ext cx="9144000" cy="145707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394B0F-E5B4-CFAF-7473-46BB2646C4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6380" y="3556319"/>
            <a:ext cx="393924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6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6242-F70A-0032-2B4B-BCCF0734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9E81F-378B-8CF2-E1C3-1D9054EF7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BCBB7B-054A-FE83-5F7C-FE4A1CDFEEBA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61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A9C9-FDCA-934D-785B-BFD907843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95437-1877-C6A2-EE04-3EF98092E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15123"/>
            <a:ext cx="10515600" cy="137452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8720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8C054-8592-E116-8DB0-D7814A8CD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802A-EC64-E4D9-44D3-54E728E3E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A5B75-CA16-4AC3-A34C-C3C4FF82F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186D81-5D29-FE58-C442-6A6A0689DB5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59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2F87-A7AE-9269-55EC-7B1C8A4D2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7"/>
            <a:ext cx="10515600" cy="102235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27D69-EB01-A889-0CC3-A64B4F7DA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F1EC85-625B-CEAA-F97D-EF024B15F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5D1D7-7D1D-2F5D-8D5E-152CC8269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D830EE-92A6-15ED-D99F-35788F37AD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CBFE9C-CE1B-ED6E-1745-391F9496BE1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51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D9D87-BBC7-C5DC-191E-E5E1CA2B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55C65A-BA96-51C7-B6FE-07AB4FB9C96C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30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C847F-0B94-F947-B172-F99DB13375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6D4273-7FC1-0947-B9FE-19CB3C0D1F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21B1ED-B2E3-19AE-DDFC-B157A0140513}"/>
              </a:ext>
            </a:extLst>
          </p:cNvPr>
          <p:cNvSpPr txBox="1"/>
          <p:nvPr userDrawn="1"/>
        </p:nvSpPr>
        <p:spPr>
          <a:xfrm>
            <a:off x="4205176" y="638478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Lean Horizons Consulting, LLC 2023. All Rights Reserved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797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009C-FECA-9E9B-9F45-5710762AE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502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B4662-A656-519F-E5DC-FEF8051A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55F82-CA62-EC30-181A-37223E01F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6852"/>
            <a:ext cx="3932237" cy="37221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026B9A-5C7E-C150-5C07-A68A167F0F67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2229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225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5D53-C186-1B2C-FD72-2AC470B8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30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7372F6-C6B1-D2F4-8DED-EF3C3DBEAA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6E1FE-9DAE-4781-C70A-CF8F68AAF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8836"/>
            <a:ext cx="3932237" cy="372015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BD52B6-C25E-E933-F2B7-D40B2BFDF83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0245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194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5CEA-F0B2-6EAB-4435-59D188AF3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515F-CCC6-5F3D-26FA-AF419F9D8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55FD7A-35A4-E3BB-30E7-93993A9F2FCF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86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EEA24E-3139-367F-63CD-6BE14639C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504B8-9AC5-F3B2-2873-A2C234460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3289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C7573B6-84E2-B075-59F6-13B735C1EA0C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99C9A-A2FC-CD4A-1E66-538BA9DCD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EC040-D756-ECEA-9BEA-816A77F6A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5B500-689F-3416-FFFA-6EFE369BF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C6D4273-7FC1-0947-B9FE-19CB3C0D1FB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83AB58F5-18C5-C368-94F4-CC4D543C898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650147" y="311856"/>
            <a:ext cx="1376262" cy="27525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FEF531-ADF4-AB70-CB0F-227DD4FA1B4F}"/>
              </a:ext>
            </a:extLst>
          </p:cNvPr>
          <p:cNvCxnSpPr/>
          <p:nvPr userDrawn="1"/>
        </p:nvCxnSpPr>
        <p:spPr>
          <a:xfrm>
            <a:off x="838200" y="6382347"/>
            <a:ext cx="10515599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7AF5F83-88DF-460F-82C5-C2709D4DF5D2}"/>
              </a:ext>
            </a:extLst>
          </p:cNvPr>
          <p:cNvSpPr txBox="1"/>
          <p:nvPr userDrawn="1"/>
        </p:nvSpPr>
        <p:spPr>
          <a:xfrm>
            <a:off x="838200" y="6389310"/>
            <a:ext cx="41719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LDSHP LESSONS PRESENTATION ENG REV3.0</a:t>
            </a:r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0F1ED-1C44-DFD6-E7DA-038409D9167D}"/>
              </a:ext>
            </a:extLst>
          </p:cNvPr>
          <p:cNvSpPr txBox="1"/>
          <p:nvPr userDrawn="1"/>
        </p:nvSpPr>
        <p:spPr>
          <a:xfrm>
            <a:off x="4205176" y="638478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Lean Horizons Consulting, LLC 2023. All Rights Reserved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23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://images.motortrend.com/features/consumer/112_0702_2007_power_list_01z+Fujio_Cho+Toyota_Motor_Corporation_chairman2.jpg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://images.motortrend.com/features/consumer/112_0702_2007_power_list_01z+Fujio_Cho+Toyota_Motor_Corporation_chairman2.jpg" TargetMode="Externa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B60FA6-6E24-C6E2-C35D-A4139BCE2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929" y="4846192"/>
            <a:ext cx="2696138" cy="457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F4BEED-3D12-D343-768A-9E83F9558AE0}"/>
              </a:ext>
            </a:extLst>
          </p:cNvPr>
          <p:cNvSpPr txBox="1"/>
          <p:nvPr/>
        </p:nvSpPr>
        <p:spPr>
          <a:xfrm>
            <a:off x="668594" y="4138306"/>
            <a:ext cx="10746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Leadership Lessons from Toyota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EF716D-CC64-6765-89C4-B03733484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95078" y="6386632"/>
            <a:ext cx="27432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6D4273-7FC1-0947-B9FE-19CB3C0D1FB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79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01234-A0AA-5598-26B5-033CE6FE23E5}"/>
              </a:ext>
            </a:extLst>
          </p:cNvPr>
          <p:cNvSpPr txBox="1">
            <a:spLocks/>
          </p:cNvSpPr>
          <p:nvPr/>
        </p:nvSpPr>
        <p:spPr>
          <a:xfrm>
            <a:off x="606705" y="793843"/>
            <a:ext cx="10515600" cy="1022351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Roboto Medium"/>
                <a:cs typeface="Roboto"/>
              </a:rPr>
              <a:t>Other</a:t>
            </a:r>
            <a:r>
              <a:rPr lang="en-US" dirty="0">
                <a:solidFill>
                  <a:schemeClr val="tx1"/>
                </a:solidFill>
                <a:latin typeface="Roboto Medium"/>
                <a:cs typeface="Roboto Medium"/>
              </a:rPr>
              <a:t> Modules In This Series: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F3825E-B951-729D-1675-8A890DAAC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17" y="1638489"/>
            <a:ext cx="3939240" cy="4571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14E55-E875-9B78-1E43-35D121FD9751}"/>
              </a:ext>
            </a:extLst>
          </p:cNvPr>
          <p:cNvSpPr txBox="1">
            <a:spLocks/>
          </p:cNvSpPr>
          <p:nvPr/>
        </p:nvSpPr>
        <p:spPr>
          <a:xfrm>
            <a:off x="5839258" y="1166648"/>
            <a:ext cx="5157787" cy="3684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5S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Standard Work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Total Productive Maintenance (TPM)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Administrative Lean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Cell Design/ Production Preparation Process (3P)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Kaizen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Kanban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Problem Solving</a:t>
            </a:r>
          </a:p>
          <a:p>
            <a:pPr marL="0" indent="0" algn="r">
              <a:buNone/>
            </a:pPr>
            <a:r>
              <a:rPr lang="en-US" sz="1400" dirty="0" err="1">
                <a:solidFill>
                  <a:schemeClr val="tx1"/>
                </a:solidFill>
              </a:rPr>
              <a:t>Poka</a:t>
            </a:r>
            <a:r>
              <a:rPr lang="en-US" sz="1400" dirty="0">
                <a:solidFill>
                  <a:schemeClr val="tx1"/>
                </a:solidFill>
              </a:rPr>
              <a:t> Yoke Quality Systems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Transaction Process Improvement (TPI)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Cause &amp; Effect Diagram with the Additions of Cards (CEDAC)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Single Minute Exchange of Dies (SMED)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Value Stream Mapping (</a:t>
            </a:r>
            <a:r>
              <a:rPr lang="en-US" sz="1400" dirty="0" err="1">
                <a:solidFill>
                  <a:schemeClr val="tx1"/>
                </a:solidFill>
              </a:rPr>
              <a:t>VSMi</a:t>
            </a:r>
            <a:r>
              <a:rPr lang="en-US" sz="1400" dirty="0">
                <a:solidFill>
                  <a:schemeClr val="tx1"/>
                </a:solidFill>
              </a:rPr>
              <a:t>®)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Visual Management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Managing Daily Process Excellence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F73560-3A07-DDBC-A93D-9C2969C3C8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142" y="2039270"/>
            <a:ext cx="2945426" cy="1754165"/>
          </a:xfrm>
          <a:prstGeom prst="rect">
            <a:avLst/>
          </a:prstGeom>
        </p:spPr>
      </p:pic>
      <p:sp>
        <p:nvSpPr>
          <p:cNvPr id="13" name="Steve Jones">
            <a:extLst>
              <a:ext uri="{FF2B5EF4-FFF2-40B4-BE49-F238E27FC236}">
                <a16:creationId xmlns:a16="http://schemas.microsoft.com/office/drawing/2014/main" id="{32D7D26D-2286-A78A-74DF-8555FD64C346}"/>
              </a:ext>
            </a:extLst>
          </p:cNvPr>
          <p:cNvSpPr/>
          <p:nvPr/>
        </p:nvSpPr>
        <p:spPr>
          <a:xfrm>
            <a:off x="1069695" y="4201690"/>
            <a:ext cx="3475310" cy="199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defTabSz="1155700">
              <a:lnSpc>
                <a:spcPct val="80000"/>
              </a:lnSpc>
              <a:defRPr sz="3000" b="1">
                <a:solidFill>
                  <a:srgbClr val="FFFFFF"/>
                </a:solidFill>
              </a:defRPr>
            </a:lvl1pPr>
          </a:lstStyle>
          <a:p>
            <a:r>
              <a:rPr lang="en-US" sz="1600" dirty="0">
                <a:solidFill>
                  <a:srgbClr val="EE322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More Information Please Contact:</a:t>
            </a:r>
          </a:p>
        </p:txBody>
      </p:sp>
      <p:sp>
        <p:nvSpPr>
          <p:cNvPr id="14" name="Head of Management Dept.">
            <a:extLst>
              <a:ext uri="{FF2B5EF4-FFF2-40B4-BE49-F238E27FC236}">
                <a16:creationId xmlns:a16="http://schemas.microsoft.com/office/drawing/2014/main" id="{13AAF857-F867-C38A-47E8-4FCE37EF32C8}"/>
              </a:ext>
            </a:extLst>
          </p:cNvPr>
          <p:cNvSpPr/>
          <p:nvPr/>
        </p:nvSpPr>
        <p:spPr>
          <a:xfrm>
            <a:off x="1367375" y="4590893"/>
            <a:ext cx="2879948" cy="83817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defTabSz="1155700">
              <a:defRPr sz="3000">
                <a:solidFill>
                  <a:srgbClr val="5D616E"/>
                </a:solidFill>
              </a:defRPr>
            </a:lvl1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 DeLuzio, President and CEO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+1.860.234.0915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mark.deluzio@leanhorizons.com</a:t>
            </a:r>
            <a:endParaRPr sz="1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29F7AC-495A-4FB8-042F-1DBECD3DB7C9}"/>
              </a:ext>
            </a:extLst>
          </p:cNvPr>
          <p:cNvSpPr txBox="1"/>
          <p:nvPr/>
        </p:nvSpPr>
        <p:spPr>
          <a:xfrm>
            <a:off x="6291" y="5619244"/>
            <a:ext cx="5602115" cy="2664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Strategically Creating Value Through the Elimination of Waste</a:t>
            </a:r>
            <a:endParaRPr lang="en-US" alt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71C8E8F-D781-AA13-E1D1-E5284A2427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029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14E55-E875-9B78-1E43-35D121FD9751}"/>
              </a:ext>
            </a:extLst>
          </p:cNvPr>
          <p:cNvSpPr txBox="1">
            <a:spLocks/>
          </p:cNvSpPr>
          <p:nvPr/>
        </p:nvSpPr>
        <p:spPr>
          <a:xfrm>
            <a:off x="3517106" y="2278809"/>
            <a:ext cx="5157787" cy="23003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This document contains confidential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and proprietary information owned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by Lean Horizons Consulting, LLC.</a:t>
            </a:r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Any disclosure, use, copying or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distribution of this information without the express written consent of Lean Horizons Consulting is strictly prohibited.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8A6FCFA-DB7B-71C3-70EC-F677EBA239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96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Lean Transformation Experience so far…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8426" y="1825625"/>
            <a:ext cx="4905373" cy="4351338"/>
          </a:xfrm>
        </p:spPr>
        <p:txBody>
          <a:bodyPr anchor="ctr"/>
          <a:lstStyle/>
          <a:p>
            <a:r>
              <a:rPr lang="en-US" dirty="0"/>
              <a:t>Lean will work anywhere</a:t>
            </a:r>
          </a:p>
          <a:p>
            <a:pPr lvl="1"/>
            <a:r>
              <a:rPr lang="en-US" dirty="0"/>
              <a:t>Any industry</a:t>
            </a:r>
          </a:p>
          <a:p>
            <a:pPr lvl="1"/>
            <a:r>
              <a:rPr lang="en-US" dirty="0"/>
              <a:t>Any location</a:t>
            </a:r>
          </a:p>
          <a:p>
            <a:pPr lvl="1"/>
            <a:r>
              <a:rPr lang="en-US" dirty="0"/>
              <a:t>Any culture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8" descr="bigstockphoto_World_Map_In_Silver_574866">
            <a:extLst>
              <a:ext uri="{FF2B5EF4-FFF2-40B4-BE49-F238E27FC236}">
                <a16:creationId xmlns:a16="http://schemas.microsoft.com/office/drawing/2014/main" id="{7ADD21F2-6F91-9604-BB49-FAD379ECDF2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2617724"/>
            <a:ext cx="5181600" cy="276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AutoShape 5">
            <a:extLst>
              <a:ext uri="{FF2B5EF4-FFF2-40B4-BE49-F238E27FC236}">
                <a16:creationId xmlns:a16="http://schemas.microsoft.com/office/drawing/2014/main" id="{2A915ABB-0B08-B893-105F-12752F692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25" y="2754311"/>
            <a:ext cx="285750" cy="2493962"/>
          </a:xfrm>
          <a:prstGeom prst="rightArrow">
            <a:avLst>
              <a:gd name="adj1" fmla="val 67278"/>
              <a:gd name="adj2" fmla="val 72222"/>
            </a:avLst>
          </a:prstGeom>
          <a:solidFill>
            <a:schemeClr val="accent1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2213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Lean Transformation: from what to what?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5</a:t>
            </a:fld>
            <a:endParaRPr lang="en-US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9A98A2D-ED91-2A30-AB47-D9B363339228}"/>
              </a:ext>
            </a:extLst>
          </p:cNvPr>
          <p:cNvSpPr/>
          <p:nvPr/>
        </p:nvSpPr>
        <p:spPr>
          <a:xfrm>
            <a:off x="3122295" y="1840230"/>
            <a:ext cx="5947410" cy="4492918"/>
          </a:xfrm>
          <a:prstGeom prst="triangl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B716A7-C7E6-799C-AC1A-2937BF2CCDC0}"/>
              </a:ext>
            </a:extLst>
          </p:cNvPr>
          <p:cNvSpPr txBox="1"/>
          <p:nvPr/>
        </p:nvSpPr>
        <p:spPr>
          <a:xfrm>
            <a:off x="3047048" y="3655492"/>
            <a:ext cx="609790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u="sng" dirty="0">
                <a:latin typeface="Roboto" panose="02000000000000000000" pitchFamily="2" charset="0"/>
                <a:ea typeface="Roboto" panose="02000000000000000000" pitchFamily="2" charset="0"/>
              </a:rPr>
              <a:t>Narrow definition:</a:t>
            </a:r>
          </a:p>
          <a:p>
            <a:pPr algn="ctr"/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Tools</a:t>
            </a:r>
          </a:p>
          <a:p>
            <a:pPr algn="ctr"/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Cost cutting</a:t>
            </a:r>
            <a:b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</a:br>
            <a:endParaRPr lang="en-US" sz="24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/>
            <a:r>
              <a:rPr lang="en-US" sz="2400" u="sng" dirty="0">
                <a:latin typeface="Roboto" panose="02000000000000000000" pitchFamily="2" charset="0"/>
                <a:ea typeface="Roboto" panose="02000000000000000000" pitchFamily="2" charset="0"/>
              </a:rPr>
              <a:t>Broader definition:</a:t>
            </a:r>
          </a:p>
          <a:p>
            <a:pPr algn="ctr"/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Thinking, systematic</a:t>
            </a:r>
          </a:p>
          <a:p>
            <a:pPr algn="ctr"/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Entire enterprise, business system</a:t>
            </a:r>
          </a:p>
        </p:txBody>
      </p:sp>
    </p:spTree>
    <p:extLst>
      <p:ext uri="{BB962C8B-B14F-4D97-AF65-F5344CB8AC3E}">
        <p14:creationId xmlns:p14="http://schemas.microsoft.com/office/powerpoint/2010/main" val="3761263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Lean Transformation Experience so far…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Lean will work anywhere, but</a:t>
            </a:r>
          </a:p>
          <a:p>
            <a:pPr lvl="1"/>
            <a:r>
              <a:rPr lang="en-US" dirty="0"/>
              <a:t>Many companies have tried…</a:t>
            </a:r>
          </a:p>
          <a:p>
            <a:pPr lvl="1"/>
            <a:r>
              <a:rPr lang="en-US" dirty="0"/>
              <a:t>Not every company is successful…</a:t>
            </a:r>
          </a:p>
          <a:p>
            <a:pPr lvl="1"/>
            <a:r>
              <a:rPr lang="en-US" dirty="0"/>
              <a:t>In fact, most aren’t…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6</a:t>
            </a:fld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6E1F544-9536-F9A8-09C9-CC5F0DDAE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9657" y="3933825"/>
            <a:ext cx="4992687" cy="1233488"/>
          </a:xfrm>
          <a:prstGeom prst="rect">
            <a:avLst/>
          </a:prstGeom>
          <a:solidFill>
            <a:schemeClr val="bg2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2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WHY??</a:t>
            </a:r>
          </a:p>
        </p:txBody>
      </p:sp>
    </p:spTree>
    <p:extLst>
      <p:ext uri="{BB962C8B-B14F-4D97-AF65-F5344CB8AC3E}">
        <p14:creationId xmlns:p14="http://schemas.microsoft.com/office/powerpoint/2010/main" val="343274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Organization Must Address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7</a:t>
            </a:fld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4BD4581-81D2-FFFD-E9A6-6928065C50FC}"/>
              </a:ext>
            </a:extLst>
          </p:cNvPr>
          <p:cNvGrpSpPr/>
          <p:nvPr/>
        </p:nvGrpSpPr>
        <p:grpSpPr>
          <a:xfrm>
            <a:off x="1083945" y="1789703"/>
            <a:ext cx="10024110" cy="4549327"/>
            <a:chOff x="457200" y="1536700"/>
            <a:chExt cx="8266113" cy="470351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3405E15-36D2-9BF1-5AE1-B95A230C8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975" y="1971675"/>
              <a:ext cx="1908175" cy="568325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Purpose</a:t>
              </a: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C7EEFC08-F068-5D16-AC67-871DB1D39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975" y="2894013"/>
              <a:ext cx="1908175" cy="568325"/>
            </a:xfrm>
            <a:prstGeom prst="rect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Process</a:t>
              </a: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A35020E3-D9F9-430D-9E56-1FA2AB0A7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975" y="3786188"/>
              <a:ext cx="1908175" cy="568325"/>
            </a:xfrm>
            <a:prstGeom prst="rect">
              <a:avLst/>
            </a:prstGeom>
            <a:solidFill>
              <a:schemeClr val="accent3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>
                  <a:latin typeface="Roboto" panose="02000000000000000000" pitchFamily="2" charset="0"/>
                  <a:ea typeface="Roboto" panose="02000000000000000000" pitchFamily="2" charset="0"/>
                </a:rPr>
                <a:t>People</a:t>
              </a:r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B84FF2C7-0690-DE9F-B222-0C2E861A42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88" y="2792413"/>
              <a:ext cx="8250237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D2FBBAE1-29E2-2D83-1E18-70A1B43B55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363" y="3697288"/>
              <a:ext cx="8205787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964EE4A1-60DB-5C60-7B8B-251584A9FC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200" y="4645025"/>
              <a:ext cx="8235950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5FCE3A0C-83F2-7C08-B279-AA499D24B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8550" y="1954213"/>
              <a:ext cx="4970463" cy="521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1438" tIns="36513" rIns="71438" bIns="36513">
              <a:spAutoFit/>
            </a:bodyPr>
            <a:lstStyle>
              <a:lvl1pPr marL="231775" indent="-231775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285750" indent="-285750">
                <a:lnSpc>
                  <a:spcPct val="100000"/>
                </a:lnSpc>
                <a:spcBef>
                  <a:spcPct val="45000"/>
                </a:spcBef>
                <a:buClr>
                  <a:schemeClr val="tx1"/>
                </a:buClr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Provide value to customers cost-effectively in order </a:t>
              </a:r>
              <a:b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to prosper</a:t>
              </a:r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55B695E3-575C-E0A2-BEDF-88CE0C74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1725" y="2898774"/>
              <a:ext cx="4981575" cy="521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1438" tIns="36513" rIns="71438" bIns="36513">
              <a:spAutoFit/>
            </a:bodyPr>
            <a:lstStyle>
              <a:lvl1pPr marL="231775" indent="-231775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285750" indent="-285750">
                <a:lnSpc>
                  <a:spcPct val="100000"/>
                </a:lnSpc>
                <a:spcBef>
                  <a:spcPct val="45000"/>
                </a:spcBef>
                <a:buClr>
                  <a:schemeClr val="tx1"/>
                </a:buClr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Through primary value streams for design, make, use, and support streams</a:t>
              </a:r>
              <a:endParaRPr lang="en-US" altLang="en-US" sz="1400" b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46709315-E279-D425-597B-2C96EAF9E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1725" y="3790950"/>
              <a:ext cx="4970463" cy="521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1438" tIns="36513" rIns="71438" bIns="36513">
              <a:spAutoFit/>
            </a:bodyPr>
            <a:lstStyle>
              <a:lvl1pPr marL="231775" indent="-231775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285750" indent="-285750">
                <a:lnSpc>
                  <a:spcPct val="100000"/>
                </a:lnSpc>
                <a:spcBef>
                  <a:spcPct val="45000"/>
                </a:spcBef>
                <a:buClr>
                  <a:schemeClr val="tx1"/>
                </a:buClr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By engaging employees touching value streams (including support streams) to sustain and improve them</a:t>
              </a:r>
              <a:endParaRPr lang="en-US" altLang="en-US" sz="1400" b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88A432C9-A77D-CF27-EFDD-42CE4E5892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1963" y="1824038"/>
              <a:ext cx="8250237" cy="15875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76361D4B-A6AF-804E-67EE-4FDAB1550A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88" y="1536700"/>
              <a:ext cx="4371699" cy="3269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Points		           	    	  Descriptions</a:t>
              </a:r>
            </a:p>
          </p:txBody>
        </p:sp>
        <p:sp>
          <p:nvSpPr>
            <p:cNvPr id="17" name="Oval 18">
              <a:extLst>
                <a:ext uri="{FF2B5EF4-FFF2-40B4-BE49-F238E27FC236}">
                  <a16:creationId xmlns:a16="http://schemas.microsoft.com/office/drawing/2014/main" id="{D3E15258-DD1B-5F90-82B5-96384A241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113" y="2079625"/>
              <a:ext cx="400050" cy="366713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>
                  <a:latin typeface="Roboto" panose="02000000000000000000" pitchFamily="2" charset="0"/>
                  <a:ea typeface="Roboto" panose="02000000000000000000" pitchFamily="2" charset="0"/>
                </a:rPr>
                <a:t>1</a:t>
              </a:r>
            </a:p>
          </p:txBody>
        </p:sp>
        <p:sp>
          <p:nvSpPr>
            <p:cNvPr id="18" name="Oval 19">
              <a:extLst>
                <a:ext uri="{FF2B5EF4-FFF2-40B4-BE49-F238E27FC236}">
                  <a16:creationId xmlns:a16="http://schemas.microsoft.com/office/drawing/2014/main" id="{6FF174B7-70F7-EC9C-1A4D-87A51EB18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113" y="3005138"/>
              <a:ext cx="400050" cy="36671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</a:p>
          </p:txBody>
        </p:sp>
        <p:sp>
          <p:nvSpPr>
            <p:cNvPr id="19" name="Oval 20">
              <a:extLst>
                <a:ext uri="{FF2B5EF4-FFF2-40B4-BE49-F238E27FC236}">
                  <a16:creationId xmlns:a16="http://schemas.microsoft.com/office/drawing/2014/main" id="{5F63E0F4-E3D5-E9E8-3ADD-4DD3A4671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113" y="3894138"/>
              <a:ext cx="400050" cy="36671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>
                  <a:latin typeface="Roboto" panose="02000000000000000000" pitchFamily="2" charset="0"/>
                  <a:ea typeface="Roboto" panose="02000000000000000000" pitchFamily="2" charset="0"/>
                </a:rPr>
                <a:t>3</a:t>
              </a:r>
            </a:p>
          </p:txBody>
        </p:sp>
        <p:sp>
          <p:nvSpPr>
            <p:cNvPr id="20" name="Rectangle 22">
              <a:extLst>
                <a:ext uri="{FF2B5EF4-FFF2-40B4-BE49-F238E27FC236}">
                  <a16:creationId xmlns:a16="http://schemas.microsoft.com/office/drawing/2014/main" id="{5CE8D9DA-B0F4-DE57-0FDF-1AF068DB8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875" y="4862513"/>
              <a:ext cx="8199438" cy="1117600"/>
            </a:xfrm>
            <a:prstGeom prst="rect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15000"/>
                </a:lnSpc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Defining purpose and specifying process while/by </a:t>
              </a:r>
              <a:b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aligning people is the central task of management</a:t>
              </a:r>
            </a:p>
          </p:txBody>
        </p:sp>
        <p:sp>
          <p:nvSpPr>
            <p:cNvPr id="21" name="Text Box 23">
              <a:extLst>
                <a:ext uri="{FF2B5EF4-FFF2-40B4-BE49-F238E27FC236}">
                  <a16:creationId xmlns:a16="http://schemas.microsoft.com/office/drawing/2014/main" id="{0AF89E13-3FFB-A3C6-7E7D-D75DF2F72C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1867" y="6054725"/>
              <a:ext cx="2425902" cy="185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r"/>
              <a:r>
                <a:rPr lang="en-US" altLang="en-US" sz="700" i="1" dirty="0">
                  <a:solidFill>
                    <a:srgbClr val="80808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Reproduced with permission of John Shook, Lean Enterprise Institute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6062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Lean Transformation Some Lessons Learned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8426" y="1825625"/>
            <a:ext cx="4905373" cy="4351338"/>
          </a:xfrm>
        </p:spPr>
        <p:txBody>
          <a:bodyPr anchor="ctr">
            <a:normAutofit/>
          </a:bodyPr>
          <a:lstStyle/>
          <a:p>
            <a:r>
              <a:rPr lang="en-US" dirty="0"/>
              <a:t>Cherry-picking the tools is </a:t>
            </a:r>
            <a:br>
              <a:rPr lang="en-US" dirty="0"/>
            </a:br>
            <a:r>
              <a:rPr lang="en-US" dirty="0"/>
              <a:t>not enough</a:t>
            </a:r>
          </a:p>
          <a:p>
            <a:r>
              <a:rPr lang="en-US" dirty="0"/>
              <a:t>The tools comprise a system</a:t>
            </a:r>
          </a:p>
          <a:p>
            <a:pPr lvl="1"/>
            <a:r>
              <a:rPr lang="en-US" dirty="0"/>
              <a:t>Integrated, holistic</a:t>
            </a:r>
          </a:p>
          <a:p>
            <a:pPr lvl="1"/>
            <a:r>
              <a:rPr lang="en-US" dirty="0"/>
              <a:t>Technical side, “soft side”</a:t>
            </a:r>
          </a:p>
          <a:p>
            <a:r>
              <a:rPr lang="en-US" dirty="0"/>
              <a:t>A way of thinking underlies the tools and system</a:t>
            </a:r>
          </a:p>
          <a:p>
            <a:r>
              <a:rPr lang="en-US" dirty="0"/>
              <a:t>Learn the thinking through doing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8</a:t>
            </a:fld>
            <a:endParaRPr lang="en-US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2A915ABB-0B08-B893-105F-12752F692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25" y="2754311"/>
            <a:ext cx="285750" cy="2493962"/>
          </a:xfrm>
          <a:prstGeom prst="rightArrow">
            <a:avLst>
              <a:gd name="adj1" fmla="val 67278"/>
              <a:gd name="adj2" fmla="val 72222"/>
            </a:avLst>
          </a:prstGeom>
          <a:solidFill>
            <a:schemeClr val="accent1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pic>
        <p:nvPicPr>
          <p:cNvPr id="8" name="Picture 8" descr="bigstockphoto_Picking_cherries__767104">
            <a:extLst>
              <a:ext uri="{FF2B5EF4-FFF2-40B4-BE49-F238E27FC236}">
                <a16:creationId xmlns:a16="http://schemas.microsoft.com/office/drawing/2014/main" id="{E67FA726-46CB-2F4E-CD3C-C8F41ADF6AE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5718" y="2330228"/>
            <a:ext cx="2226564" cy="3342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7">
            <a:extLst>
              <a:ext uri="{FF2B5EF4-FFF2-40B4-BE49-F238E27FC236}">
                <a16:creationId xmlns:a16="http://schemas.microsoft.com/office/drawing/2014/main" id="{97FEFE56-8C01-267B-7B3B-D73EA65FE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1379" y="1907285"/>
            <a:ext cx="3695242" cy="31521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Techniques </a:t>
            </a:r>
            <a:r>
              <a:rPr lang="en-US" altLang="en-US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sym typeface="Wingdings" panose="05000000000000000000" pitchFamily="2" charset="2"/>
              </a:rPr>
              <a:t>System Thinking</a:t>
            </a:r>
          </a:p>
        </p:txBody>
      </p:sp>
      <p:sp>
        <p:nvSpPr>
          <p:cNvPr id="3" name="Text Box 9">
            <a:extLst>
              <a:ext uri="{FF2B5EF4-FFF2-40B4-BE49-F238E27FC236}">
                <a16:creationId xmlns:a16="http://schemas.microsoft.com/office/drawing/2014/main" id="{8C694F23-DFDD-5B9C-24E3-236C233EB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2137" y="6155348"/>
            <a:ext cx="2941831" cy="179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700" i="1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Reproduced with permission of John Shook, Lean Enterprise Institute</a:t>
            </a:r>
          </a:p>
        </p:txBody>
      </p:sp>
    </p:spTree>
    <p:extLst>
      <p:ext uri="{BB962C8B-B14F-4D97-AF65-F5344CB8AC3E}">
        <p14:creationId xmlns:p14="http://schemas.microsoft.com/office/powerpoint/2010/main" val="542569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Most of the leader’s job at Toyota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8426" y="1825625"/>
            <a:ext cx="4905373" cy="4351338"/>
          </a:xfrm>
        </p:spPr>
        <p:txBody>
          <a:bodyPr anchor="ctr">
            <a:normAutofit fontScale="92500" lnSpcReduction="20000"/>
          </a:bodyPr>
          <a:lstStyle/>
          <a:p>
            <a:r>
              <a:rPr lang="en-US" dirty="0"/>
              <a:t>First, get each person </a:t>
            </a:r>
            <a:br>
              <a:rPr lang="en-US" dirty="0"/>
            </a:br>
            <a:r>
              <a:rPr lang="en-US" dirty="0"/>
              <a:t>to take initiative to solve problems and improve his or her job</a:t>
            </a:r>
          </a:p>
          <a:p>
            <a:r>
              <a:rPr lang="en-US" dirty="0"/>
              <a:t>Second, ensure that each person’s job is aligned to provide value for the customer and prosperity for </a:t>
            </a:r>
            <a:br>
              <a:rPr lang="en-US" dirty="0"/>
            </a:br>
            <a:r>
              <a:rPr lang="en-US" dirty="0"/>
              <a:t>the company</a:t>
            </a:r>
          </a:p>
          <a:p>
            <a:r>
              <a:rPr lang="en-US" dirty="0"/>
              <a:t>Third, develop his/ </a:t>
            </a:r>
            <a:br>
              <a:rPr lang="en-US" dirty="0"/>
            </a:br>
            <a:r>
              <a:rPr lang="en-US" dirty="0"/>
              <a:t>her people</a:t>
            </a:r>
          </a:p>
          <a:p>
            <a:pPr lvl="1"/>
            <a:r>
              <a:rPr lang="en-US" dirty="0"/>
              <a:t>“If the learner hasn’t learned, the teacher hasn’t taught”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9</a:t>
            </a:fld>
            <a:endParaRPr lang="en-US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2A915ABB-0B08-B893-105F-12752F692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25" y="2754311"/>
            <a:ext cx="285750" cy="2493962"/>
          </a:xfrm>
          <a:prstGeom prst="rightArrow">
            <a:avLst>
              <a:gd name="adj1" fmla="val 67278"/>
              <a:gd name="adj2" fmla="val 72222"/>
            </a:avLst>
          </a:prstGeom>
          <a:solidFill>
            <a:schemeClr val="accent1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97FEFE56-8C01-267B-7B3B-D73EA65FE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568" y="1919775"/>
            <a:ext cx="1858201" cy="31624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Leadership Role</a:t>
            </a:r>
          </a:p>
        </p:txBody>
      </p:sp>
      <p:pic>
        <p:nvPicPr>
          <p:cNvPr id="5" name="Picture 8" descr="bigstockphoto_Persistent_Thinking_727474">
            <a:extLst>
              <a:ext uri="{FF2B5EF4-FFF2-40B4-BE49-F238E27FC236}">
                <a16:creationId xmlns:a16="http://schemas.microsoft.com/office/drawing/2014/main" id="{4C5EA71A-06BA-D586-3E45-4D0E1C64188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568" y="2465102"/>
            <a:ext cx="4626864" cy="3072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10">
            <a:extLst>
              <a:ext uri="{FF2B5EF4-FFF2-40B4-BE49-F238E27FC236}">
                <a16:creationId xmlns:a16="http://schemas.microsoft.com/office/drawing/2014/main" id="{6C0E78F7-DADA-8B3F-A286-5580A4919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2137" y="6155348"/>
            <a:ext cx="2941831" cy="179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700" i="1" dirty="0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Reproduced with permission of John Shook, Lean Enterprise Institute</a:t>
            </a:r>
          </a:p>
        </p:txBody>
      </p:sp>
    </p:spTree>
    <p:extLst>
      <p:ext uri="{BB962C8B-B14F-4D97-AF65-F5344CB8AC3E}">
        <p14:creationId xmlns:p14="http://schemas.microsoft.com/office/powerpoint/2010/main" val="3752157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Leadership: Three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10</a:t>
            </a:fld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4BD4581-81D2-FFFD-E9A6-6928065C50FC}"/>
              </a:ext>
            </a:extLst>
          </p:cNvPr>
          <p:cNvGrpSpPr/>
          <p:nvPr/>
        </p:nvGrpSpPr>
        <p:grpSpPr>
          <a:xfrm>
            <a:off x="1083945" y="1789703"/>
            <a:ext cx="10024110" cy="4549327"/>
            <a:chOff x="457200" y="1536700"/>
            <a:chExt cx="8266113" cy="470351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3405E15-36D2-9BF1-5AE1-B95A230C8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975" y="1971675"/>
              <a:ext cx="1908175" cy="568325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Old “Dictator”</a:t>
              </a:r>
              <a:b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Style</a:t>
              </a: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C7EEFC08-F068-5D16-AC67-871DB1D39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975" y="2894013"/>
              <a:ext cx="1908175" cy="568325"/>
            </a:xfrm>
            <a:prstGeom prst="rect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1970’s</a:t>
              </a:r>
              <a:b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“Empowerment</a:t>
              </a:r>
              <a:b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Style”</a:t>
              </a: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A35020E3-D9F9-430D-9E56-1FA2AB0A7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975" y="3786188"/>
              <a:ext cx="1908175" cy="568325"/>
            </a:xfrm>
            <a:prstGeom prst="rect">
              <a:avLst/>
            </a:prstGeom>
            <a:solidFill>
              <a:schemeClr val="accent3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 dirty="0">
                  <a:latin typeface="Roboto" panose="02000000000000000000" pitchFamily="2" charset="0"/>
                  <a:ea typeface="Roboto" panose="02000000000000000000" pitchFamily="2" charset="0"/>
                </a:rPr>
                <a:t>Lean Style</a:t>
              </a:r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B84FF2C7-0690-DE9F-B222-0C2E861A42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88" y="2792413"/>
              <a:ext cx="8250237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D2FBBAE1-29E2-2D83-1E18-70A1B43B55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363" y="3697288"/>
              <a:ext cx="8205787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964EE4A1-60DB-5C60-7B8B-251584A9FC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200" y="4645025"/>
              <a:ext cx="8235950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5FCE3A0C-83F2-7C08-B279-AA499D24B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8550" y="1954213"/>
              <a:ext cx="4970463" cy="2989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1438" tIns="36513" rIns="71438" bIns="36513">
              <a:spAutoFit/>
            </a:bodyPr>
            <a:lstStyle>
              <a:lvl1pPr marL="231775" indent="-231775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285750" indent="-285750">
                <a:lnSpc>
                  <a:spcPct val="100000"/>
                </a:lnSpc>
                <a:spcBef>
                  <a:spcPct val="45000"/>
                </a:spcBef>
                <a:buClr>
                  <a:schemeClr val="tx1"/>
                </a:buClr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“Do it my way…”</a:t>
              </a:r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55B695E3-575C-E0A2-BEDF-88CE0C74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1725" y="2898774"/>
              <a:ext cx="4981575" cy="2989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1438" tIns="36513" rIns="71438" bIns="36513">
              <a:spAutoFit/>
            </a:bodyPr>
            <a:lstStyle>
              <a:lvl1pPr marL="231775" indent="-231775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285750" indent="-285750">
                <a:lnSpc>
                  <a:spcPct val="100000"/>
                </a:lnSpc>
                <a:spcBef>
                  <a:spcPct val="45000"/>
                </a:spcBef>
                <a:buClr>
                  <a:schemeClr val="tx1"/>
                </a:buClr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“Do it your way…”</a:t>
              </a:r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46709315-E279-D425-597B-2C96EAF9E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1725" y="3790950"/>
              <a:ext cx="4970463" cy="6219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1438" tIns="36513" rIns="71438" bIns="36513">
              <a:spAutoFit/>
            </a:bodyPr>
            <a:lstStyle>
              <a:lvl1pPr marL="231775" indent="-231775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285750" indent="-285750">
                <a:lnSpc>
                  <a:spcPct val="100000"/>
                </a:lnSpc>
                <a:spcBef>
                  <a:spcPct val="45000"/>
                </a:spcBef>
                <a:buClr>
                  <a:schemeClr val="tx1"/>
                </a:buClr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“Follow me… and we’ll figure this out together”</a:t>
              </a:r>
            </a:p>
            <a:p>
              <a:pPr marL="285750" indent="-285750">
                <a:lnSpc>
                  <a:spcPct val="100000"/>
                </a:lnSpc>
                <a:spcBef>
                  <a:spcPct val="45000"/>
                </a:spcBef>
                <a:buClr>
                  <a:schemeClr val="tx1"/>
                </a:buClr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The lean leader leads by </a:t>
              </a:r>
              <a:r>
                <a:rPr lang="en-US" altLang="en-US" sz="1400" dirty="0" err="1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Kaikaku</a:t>
              </a: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and Kaizen</a:t>
              </a:r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88A432C9-A77D-CF27-EFDD-42CE4E5892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1963" y="1824038"/>
              <a:ext cx="8250237" cy="15875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76361D4B-A6AF-804E-67EE-4FDAB1550A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88" y="1536700"/>
              <a:ext cx="4562049" cy="3269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Three Models		           	   Descriptions</a:t>
              </a:r>
            </a:p>
          </p:txBody>
        </p:sp>
        <p:sp>
          <p:nvSpPr>
            <p:cNvPr id="17" name="Oval 18">
              <a:extLst>
                <a:ext uri="{FF2B5EF4-FFF2-40B4-BE49-F238E27FC236}">
                  <a16:creationId xmlns:a16="http://schemas.microsoft.com/office/drawing/2014/main" id="{D3E15258-DD1B-5F90-82B5-96384A241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113" y="2079625"/>
              <a:ext cx="400050" cy="366713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>
                  <a:latin typeface="Roboto" panose="02000000000000000000" pitchFamily="2" charset="0"/>
                  <a:ea typeface="Roboto" panose="02000000000000000000" pitchFamily="2" charset="0"/>
                </a:rPr>
                <a:t>1</a:t>
              </a:r>
            </a:p>
          </p:txBody>
        </p:sp>
        <p:sp>
          <p:nvSpPr>
            <p:cNvPr id="18" name="Oval 19">
              <a:extLst>
                <a:ext uri="{FF2B5EF4-FFF2-40B4-BE49-F238E27FC236}">
                  <a16:creationId xmlns:a16="http://schemas.microsoft.com/office/drawing/2014/main" id="{6FF174B7-70F7-EC9C-1A4D-87A51EB18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113" y="3005138"/>
              <a:ext cx="400050" cy="36671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</a:p>
          </p:txBody>
        </p:sp>
        <p:sp>
          <p:nvSpPr>
            <p:cNvPr id="19" name="Oval 20">
              <a:extLst>
                <a:ext uri="{FF2B5EF4-FFF2-40B4-BE49-F238E27FC236}">
                  <a16:creationId xmlns:a16="http://schemas.microsoft.com/office/drawing/2014/main" id="{5F63E0F4-E3D5-E9E8-3ADD-4DD3A4671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113" y="3894138"/>
              <a:ext cx="400050" cy="36671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>
                  <a:latin typeface="Roboto" panose="02000000000000000000" pitchFamily="2" charset="0"/>
                  <a:ea typeface="Roboto" panose="02000000000000000000" pitchFamily="2" charset="0"/>
                </a:rPr>
                <a:t>3</a:t>
              </a:r>
            </a:p>
          </p:txBody>
        </p:sp>
        <p:sp>
          <p:nvSpPr>
            <p:cNvPr id="20" name="Rectangle 22">
              <a:extLst>
                <a:ext uri="{FF2B5EF4-FFF2-40B4-BE49-F238E27FC236}">
                  <a16:creationId xmlns:a16="http://schemas.microsoft.com/office/drawing/2014/main" id="{5CE8D9DA-B0F4-DE57-0FDF-1AF068DB8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875" y="4862513"/>
              <a:ext cx="8199438" cy="1117600"/>
            </a:xfrm>
            <a:prstGeom prst="rect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b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15000"/>
                </a:lnSpc>
              </a:pPr>
              <a:r>
                <a:rPr lang="en-US" altLang="en-US" sz="2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“Lead the organization as if you have no power.”</a:t>
              </a:r>
            </a:p>
            <a:p>
              <a:pPr algn="r">
                <a:lnSpc>
                  <a:spcPct val="115000"/>
                </a:lnSpc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- Kan Higashi and Gary </a:t>
              </a:r>
              <a:r>
                <a:rPr lang="en-US" altLang="en-US" sz="1400" dirty="0" err="1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Convis</a:t>
              </a: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, NUMMI’s Senior Japanese and Senior American Leaders </a:t>
              </a:r>
            </a:p>
          </p:txBody>
        </p:sp>
        <p:sp>
          <p:nvSpPr>
            <p:cNvPr id="21" name="Text Box 23">
              <a:extLst>
                <a:ext uri="{FF2B5EF4-FFF2-40B4-BE49-F238E27FC236}">
                  <a16:creationId xmlns:a16="http://schemas.microsoft.com/office/drawing/2014/main" id="{0AF89E13-3FFB-A3C6-7E7D-D75DF2F72C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1867" y="6054725"/>
              <a:ext cx="2425902" cy="185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r"/>
              <a:r>
                <a:rPr lang="en-US" altLang="en-US" sz="700" i="1" dirty="0">
                  <a:solidFill>
                    <a:srgbClr val="80808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Reproduced with permission of John Shook, Lean Enterprise Institute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3397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Chairman Cho of Toyota: Three Keys to Lean Leadership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8426" y="1825625"/>
            <a:ext cx="4905373" cy="4351338"/>
          </a:xfrm>
        </p:spPr>
        <p:txBody>
          <a:bodyPr anchor="ctr">
            <a:normAutofit/>
          </a:bodyPr>
          <a:lstStyle/>
          <a:p>
            <a:r>
              <a:rPr lang="en-US" dirty="0"/>
              <a:t>Go See</a:t>
            </a:r>
          </a:p>
          <a:p>
            <a:pPr lvl="1"/>
            <a:r>
              <a:rPr lang="en-US" dirty="0"/>
              <a:t>“Senior Management must spend time on the front lines”</a:t>
            </a:r>
          </a:p>
          <a:p>
            <a:r>
              <a:rPr lang="en-US" dirty="0"/>
              <a:t>Ask Why</a:t>
            </a:r>
          </a:p>
          <a:p>
            <a:pPr lvl="1"/>
            <a:r>
              <a:rPr lang="en-US" dirty="0"/>
              <a:t>“Use the “Why?” technique daily”</a:t>
            </a:r>
          </a:p>
          <a:p>
            <a:r>
              <a:rPr lang="en-US" dirty="0"/>
              <a:t>Show Respect</a:t>
            </a:r>
          </a:p>
          <a:p>
            <a:pPr lvl="1"/>
            <a:r>
              <a:rPr lang="en-US" dirty="0"/>
              <a:t>“Respect your people.”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11</a:t>
            </a:fld>
            <a:endParaRPr lang="en-US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2A915ABB-0B08-B893-105F-12752F692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25" y="2754311"/>
            <a:ext cx="285750" cy="2493962"/>
          </a:xfrm>
          <a:prstGeom prst="rightArrow">
            <a:avLst>
              <a:gd name="adj1" fmla="val 67278"/>
              <a:gd name="adj2" fmla="val 72222"/>
            </a:avLst>
          </a:prstGeom>
          <a:solidFill>
            <a:schemeClr val="accent1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97FEFE56-8C01-267B-7B3B-D73EA65FE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455" y="1906259"/>
            <a:ext cx="4628190" cy="31624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Fujio Cho, Chairman of Toyota Motor Corp.</a:t>
            </a:r>
          </a:p>
        </p:txBody>
      </p:sp>
      <p:pic>
        <p:nvPicPr>
          <p:cNvPr id="8" name="Picture 13" descr="112_0702_2007_power_list_01z+Fujio_Cho+Toyota_Motor_Corporation_chairman2">
            <a:hlinkClick r:id="rId2"/>
            <a:extLst>
              <a:ext uri="{FF2B5EF4-FFF2-40B4-BE49-F238E27FC236}">
                <a16:creationId xmlns:a16="http://schemas.microsoft.com/office/drawing/2014/main" id="{D52E3267-55C4-0401-EFE5-F3214AB4608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2381178"/>
            <a:ext cx="5181600" cy="3240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14">
            <a:extLst>
              <a:ext uri="{FF2B5EF4-FFF2-40B4-BE49-F238E27FC236}">
                <a16:creationId xmlns:a16="http://schemas.microsoft.com/office/drawing/2014/main" id="{26233179-871A-E3E9-E24C-E3E203842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9118" y="6087259"/>
            <a:ext cx="2941831" cy="179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700" i="1" dirty="0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Reproduced with permission of John Shook, Lean Enterprise Institute</a:t>
            </a:r>
          </a:p>
        </p:txBody>
      </p:sp>
    </p:spTree>
    <p:extLst>
      <p:ext uri="{BB962C8B-B14F-4D97-AF65-F5344CB8AC3E}">
        <p14:creationId xmlns:p14="http://schemas.microsoft.com/office/powerpoint/2010/main" val="1346215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Leadership at Toyota: From managing numbers to managing the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Leaders at Toyota, like leaders anywhere, want to see </a:t>
            </a:r>
            <a:br>
              <a:rPr lang="en-US" dirty="0"/>
            </a:br>
            <a:r>
              <a:rPr lang="en-US" dirty="0"/>
              <a:t>measurable results</a:t>
            </a:r>
          </a:p>
          <a:p>
            <a:r>
              <a:rPr lang="en-US" dirty="0"/>
              <a:t>But they know that the financial result is a result of the process</a:t>
            </a:r>
          </a:p>
          <a:p>
            <a:r>
              <a:rPr lang="en-US" dirty="0"/>
              <a:t>They also realize that the financial result is the result of the past performance of that process</a:t>
            </a:r>
          </a:p>
          <a:p>
            <a:r>
              <a:rPr lang="en-US" dirty="0"/>
              <a:t>Far better is to create a process than can be managed right NOW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866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Leadership at Toyota: From the Five Who’s to the Five Whys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Good Toyota leaders don’t jump to conclusion or solutions – they try to first size up the situation and then ask “Why?”</a:t>
            </a:r>
          </a:p>
          <a:p>
            <a:r>
              <a:rPr lang="en-US" dirty="0"/>
              <a:t>This focuses on the work and problem at hand, avoiding the finger-pointing and search for where to place the blame</a:t>
            </a:r>
          </a:p>
          <a:p>
            <a:r>
              <a:rPr lang="en-US" dirty="0"/>
              <a:t>It also keeps responsibility (ownership, accountability, authority-as-needed) with the person who is doing the work</a:t>
            </a:r>
          </a:p>
          <a:p>
            <a:r>
              <a:rPr lang="en-US" dirty="0"/>
              <a:t>This is what truly engages and empowers the workforce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499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Leadership at Toyota: From Problem-hiding to Problem-solving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actions at Toyota revolve around planning and problem-solving</a:t>
            </a:r>
          </a:p>
          <a:p>
            <a:r>
              <a:rPr lang="en-US" dirty="0"/>
              <a:t>It is assumed that there will be problems, that everything will not go according to plan</a:t>
            </a:r>
          </a:p>
          <a:p>
            <a:r>
              <a:rPr lang="en-US" dirty="0"/>
              <a:t>“No problem is problem.”</a:t>
            </a:r>
          </a:p>
          <a:p>
            <a:r>
              <a:rPr lang="en-US" dirty="0"/>
              <a:t>For the system to work, problems must be exposed and dealt with forthrightly</a:t>
            </a:r>
          </a:p>
          <a:p>
            <a:r>
              <a:rPr lang="en-US" dirty="0"/>
              <a:t>Hiding problems will undermine the system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12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Leadership at Toyota: Control with Flexibility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Toyota’s way provides extraordinary focus, direction, “control”</a:t>
            </a:r>
          </a:p>
          <a:p>
            <a:r>
              <a:rPr lang="en-US" dirty="0"/>
              <a:t>While at the same time providing maximum flexibility</a:t>
            </a:r>
          </a:p>
          <a:p>
            <a:r>
              <a:rPr lang="en-US" dirty="0"/>
              <a:t>This way of working can resolve the age-old dilemma that encumbers all large organizations: control vs. flexibility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203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Leadership at Toyota: From p-D-p-D to P-D-C-A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Toyota would say this is essentially the P-D-C-A management cycle they learned from Dr. Deming</a:t>
            </a:r>
          </a:p>
          <a:p>
            <a:r>
              <a:rPr lang="en-US" dirty="0"/>
              <a:t>Probably. Yet this is precisely the thing that most companies can’t seem to do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16</a:t>
            </a:fld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6E1F544-9536-F9A8-09C9-CC5F0DDAE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9657" y="3933825"/>
            <a:ext cx="4992687" cy="1233488"/>
          </a:xfrm>
          <a:prstGeom prst="rect">
            <a:avLst/>
          </a:prstGeom>
          <a:solidFill>
            <a:schemeClr val="bg2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2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WHY??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F087DD40-CFA2-2F52-BA88-DE5EF5966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5224" y="4826000"/>
            <a:ext cx="4501552" cy="241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200" i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Surely one major reason for this is the way we lead and manage</a:t>
            </a:r>
          </a:p>
        </p:txBody>
      </p:sp>
    </p:spTree>
    <p:extLst>
      <p:ext uri="{BB962C8B-B14F-4D97-AF65-F5344CB8AC3E}">
        <p14:creationId xmlns:p14="http://schemas.microsoft.com/office/powerpoint/2010/main" val="15334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From p-D-p-D Tail-chasing to P-D-C-A Cycle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17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7DD6E3C-C302-B6AE-97B6-587E36E89147}"/>
              </a:ext>
            </a:extLst>
          </p:cNvPr>
          <p:cNvGrpSpPr/>
          <p:nvPr/>
        </p:nvGrpSpPr>
        <p:grpSpPr>
          <a:xfrm>
            <a:off x="1246188" y="1840229"/>
            <a:ext cx="9699625" cy="4393903"/>
            <a:chOff x="644525" y="1566863"/>
            <a:chExt cx="7893244" cy="4667270"/>
          </a:xfrm>
        </p:grpSpPr>
        <p:sp>
          <p:nvSpPr>
            <p:cNvPr id="3" name="AutoShape 4">
              <a:extLst>
                <a:ext uri="{FF2B5EF4-FFF2-40B4-BE49-F238E27FC236}">
                  <a16:creationId xmlns:a16="http://schemas.microsoft.com/office/drawing/2014/main" id="{81696AC3-4F22-D4FB-DFDF-BDCAA85D13A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021013" y="1566863"/>
              <a:ext cx="3105150" cy="1200150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 i="1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Grasp the situation</a:t>
              </a:r>
            </a:p>
          </p:txBody>
        </p:sp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5F80C14B-1BC4-9BE8-8751-2D810BC84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9363" y="2930525"/>
              <a:ext cx="4108450" cy="3135313"/>
            </a:xfrm>
            <a:prstGeom prst="ellipse">
              <a:avLst/>
            </a:prstGeom>
            <a:solidFill>
              <a:schemeClr val="accent5"/>
            </a:solidFill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69D180C2-A235-A07B-CBA1-7E31607C7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3588" y="2917825"/>
              <a:ext cx="0" cy="3135313"/>
            </a:xfrm>
            <a:prstGeom prst="line">
              <a:avLst/>
            </a:prstGeom>
            <a:noFill/>
            <a:ln w="57150" cap="sq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E010819F-B7C5-C720-2603-9107E34E2F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1425" y="4529138"/>
              <a:ext cx="4121150" cy="0"/>
            </a:xfrm>
            <a:prstGeom prst="line">
              <a:avLst/>
            </a:prstGeom>
            <a:noFill/>
            <a:ln w="57150" cap="sq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" name="Text Box 12">
              <a:extLst>
                <a:ext uri="{FF2B5EF4-FFF2-40B4-BE49-F238E27FC236}">
                  <a16:creationId xmlns:a16="http://schemas.microsoft.com/office/drawing/2014/main" id="{FE01A364-5830-DA74-4B04-452E5B228B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496" y="3714750"/>
              <a:ext cx="633507" cy="316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800">
                  <a:latin typeface="Roboto" panose="02000000000000000000" pitchFamily="2" charset="0"/>
                  <a:ea typeface="Roboto" panose="02000000000000000000" pitchFamily="2" charset="0"/>
                </a:rPr>
                <a:t>ACT</a:t>
              </a:r>
            </a:p>
          </p:txBody>
        </p:sp>
        <p:grpSp>
          <p:nvGrpSpPr>
            <p:cNvPr id="9" name="Group 21">
              <a:extLst>
                <a:ext uri="{FF2B5EF4-FFF2-40B4-BE49-F238E27FC236}">
                  <a16:creationId xmlns:a16="http://schemas.microsoft.com/office/drawing/2014/main" id="{BE75A696-29E7-43F0-8DF3-F494EEC85E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68888" y="2714626"/>
              <a:ext cx="3335338" cy="1295401"/>
              <a:chOff x="3193" y="1710"/>
              <a:chExt cx="2101" cy="816"/>
            </a:xfrm>
          </p:grpSpPr>
          <p:sp>
            <p:nvSpPr>
              <p:cNvPr id="10" name="Text Box 9">
                <a:extLst>
                  <a:ext uri="{FF2B5EF4-FFF2-40B4-BE49-F238E27FC236}">
                    <a16:creationId xmlns:a16="http://schemas.microsoft.com/office/drawing/2014/main" id="{FC10AB3C-26B0-931E-296C-033C270318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3" y="2327"/>
                <a:ext cx="490" cy="1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800">
                    <a:latin typeface="Roboto" panose="02000000000000000000" pitchFamily="2" charset="0"/>
                    <a:ea typeface="Roboto" panose="02000000000000000000" pitchFamily="2" charset="0"/>
                  </a:rPr>
                  <a:t>PLAN</a:t>
                </a:r>
              </a:p>
            </p:txBody>
          </p:sp>
          <p:sp>
            <p:nvSpPr>
              <p:cNvPr id="11" name="Rectangle 13">
                <a:extLst>
                  <a:ext uri="{FF2B5EF4-FFF2-40B4-BE49-F238E27FC236}">
                    <a16:creationId xmlns:a16="http://schemas.microsoft.com/office/drawing/2014/main" id="{961854A7-875E-48F0-98BB-8939B443A1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0" y="1710"/>
                <a:ext cx="1344" cy="292"/>
              </a:xfrm>
              <a:prstGeom prst="rect">
                <a:avLst/>
              </a:prstGeom>
              <a:solidFill>
                <a:schemeClr val="accent3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800">
                    <a:latin typeface="Roboto" panose="02000000000000000000" pitchFamily="2" charset="0"/>
                    <a:ea typeface="Roboto" panose="02000000000000000000" pitchFamily="2" charset="0"/>
                  </a:rPr>
                  <a:t>HYPOTHESIS</a:t>
                </a:r>
              </a:p>
            </p:txBody>
          </p:sp>
        </p:grpSp>
        <p:grpSp>
          <p:nvGrpSpPr>
            <p:cNvPr id="12" name="Group 22">
              <a:extLst>
                <a:ext uri="{FF2B5EF4-FFF2-40B4-BE49-F238E27FC236}">
                  <a16:creationId xmlns:a16="http://schemas.microsoft.com/office/drawing/2014/main" id="{714B9389-BB73-9504-E7C4-E2E18AE6D2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3988" y="5089525"/>
              <a:ext cx="3235325" cy="866775"/>
              <a:chOff x="3297" y="3206"/>
              <a:chExt cx="2038" cy="546"/>
            </a:xfrm>
          </p:grpSpPr>
          <p:sp>
            <p:nvSpPr>
              <p:cNvPr id="13" name="Text Box 10">
                <a:extLst>
                  <a:ext uri="{FF2B5EF4-FFF2-40B4-BE49-F238E27FC236}">
                    <a16:creationId xmlns:a16="http://schemas.microsoft.com/office/drawing/2014/main" id="{2B54DA68-C7A5-56F6-AC01-E8EA7C3922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97" y="3206"/>
                <a:ext cx="311" cy="1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800">
                    <a:latin typeface="Roboto" panose="02000000000000000000" pitchFamily="2" charset="0"/>
                    <a:ea typeface="Roboto" panose="02000000000000000000" pitchFamily="2" charset="0"/>
                  </a:rPr>
                  <a:t>DO</a:t>
                </a:r>
              </a:p>
            </p:txBody>
          </p:sp>
          <p:sp>
            <p:nvSpPr>
              <p:cNvPr id="14" name="Rectangle 14">
                <a:extLst>
                  <a:ext uri="{FF2B5EF4-FFF2-40B4-BE49-F238E27FC236}">
                    <a16:creationId xmlns:a16="http://schemas.microsoft.com/office/drawing/2014/main" id="{AA31DC66-E19A-D487-7F14-CA5BDF60B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1" y="3460"/>
                <a:ext cx="1344" cy="292"/>
              </a:xfrm>
              <a:prstGeom prst="rect">
                <a:avLst/>
              </a:prstGeom>
              <a:solidFill>
                <a:schemeClr val="bg2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80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TRY</a:t>
                </a:r>
              </a:p>
            </p:txBody>
          </p:sp>
        </p:grp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083BEC6D-04F1-D436-91CF-B5E6496B7B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525" y="2709863"/>
              <a:ext cx="2133600" cy="463550"/>
            </a:xfrm>
            <a:prstGeom prst="rect">
              <a:avLst/>
            </a:prstGeom>
            <a:solidFill>
              <a:schemeClr val="accent4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800">
                  <a:latin typeface="Roboto" panose="02000000000000000000" pitchFamily="2" charset="0"/>
                  <a:ea typeface="Roboto" panose="02000000000000000000" pitchFamily="2" charset="0"/>
                </a:rPr>
                <a:t>ADJUST</a:t>
              </a:r>
            </a:p>
          </p:txBody>
        </p:sp>
        <p:grpSp>
          <p:nvGrpSpPr>
            <p:cNvPr id="16" name="Group 23">
              <a:extLst>
                <a:ext uri="{FF2B5EF4-FFF2-40B4-BE49-F238E27FC236}">
                  <a16:creationId xmlns:a16="http://schemas.microsoft.com/office/drawing/2014/main" id="{F2339E0D-B7A7-4284-4F1C-58F48F84AA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9613" y="5094288"/>
              <a:ext cx="3360737" cy="857250"/>
              <a:chOff x="447" y="3209"/>
              <a:chExt cx="2117" cy="540"/>
            </a:xfrm>
          </p:grpSpPr>
          <p:sp>
            <p:nvSpPr>
              <p:cNvPr id="17" name="Text Box 11">
                <a:extLst>
                  <a:ext uri="{FF2B5EF4-FFF2-40B4-BE49-F238E27FC236}">
                    <a16:creationId xmlns:a16="http://schemas.microsoft.com/office/drawing/2014/main" id="{409EFF8A-01F1-2650-BB91-3FA9258643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1" y="3209"/>
                <a:ext cx="583" cy="1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800">
                    <a:latin typeface="Roboto" panose="02000000000000000000" pitchFamily="2" charset="0"/>
                    <a:ea typeface="Roboto" panose="02000000000000000000" pitchFamily="2" charset="0"/>
                  </a:rPr>
                  <a:t>CHECK</a:t>
                </a:r>
              </a:p>
            </p:txBody>
          </p:sp>
          <p:sp>
            <p:nvSpPr>
              <p:cNvPr id="18" name="Rectangle 16">
                <a:extLst>
                  <a:ext uri="{FF2B5EF4-FFF2-40B4-BE49-F238E27FC236}">
                    <a16:creationId xmlns:a16="http://schemas.microsoft.com/office/drawing/2014/main" id="{0D2C2F3C-AB44-BDA8-4288-46AE6AC226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" y="3457"/>
                <a:ext cx="1344" cy="292"/>
              </a:xfrm>
              <a:prstGeom prst="rect">
                <a:avLst/>
              </a:prstGeom>
              <a:solidFill>
                <a:schemeClr val="accent2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80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REFLECT</a:t>
                </a:r>
              </a:p>
            </p:txBody>
          </p:sp>
        </p:grpSp>
        <p:sp>
          <p:nvSpPr>
            <p:cNvPr id="19" name="Text Box 24">
              <a:extLst>
                <a:ext uri="{FF2B5EF4-FFF2-40B4-BE49-F238E27FC236}">
                  <a16:creationId xmlns:a16="http://schemas.microsoft.com/office/drawing/2014/main" id="{1E6723FA-3649-84D3-4DE3-E9654EC6C4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5938" y="6054725"/>
              <a:ext cx="2941831" cy="179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700" i="1">
                  <a:solidFill>
                    <a:srgbClr val="80808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Reproduced with permission of John Shook, Lean Enterprise Institute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7229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Impact and role of Lean at different levels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18</a:t>
            </a:fld>
            <a:endParaRPr lang="en-US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9A98A2D-ED91-2A30-AB47-D9B363339228}"/>
              </a:ext>
            </a:extLst>
          </p:cNvPr>
          <p:cNvSpPr/>
          <p:nvPr/>
        </p:nvSpPr>
        <p:spPr>
          <a:xfrm>
            <a:off x="1672591" y="1965960"/>
            <a:ext cx="8846819" cy="3474720"/>
          </a:xfrm>
          <a:prstGeom prst="triangl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Group 67">
            <a:extLst>
              <a:ext uri="{FF2B5EF4-FFF2-40B4-BE49-F238E27FC236}">
                <a16:creationId xmlns:a16="http://schemas.microsoft.com/office/drawing/2014/main" id="{4CD13CE8-F514-F608-B370-51B944D8DA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140659"/>
              </p:ext>
            </p:extLst>
          </p:nvPr>
        </p:nvGraphicFramePr>
        <p:xfrm>
          <a:off x="523875" y="1965961"/>
          <a:ext cx="11144250" cy="3474720"/>
        </p:xfrm>
        <a:graphic>
          <a:graphicData uri="http://schemas.openxmlformats.org/drawingml/2006/table">
            <a:tbl>
              <a:tblPr/>
              <a:tblGrid>
                <a:gridCol w="3477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1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5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528">
                <a:tc>
                  <a:txBody>
                    <a:bodyPr/>
                    <a:lstStyle>
                      <a:lvl1pPr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Role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Impact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2206">
                <a:tc>
                  <a:txBody>
                    <a:bodyPr/>
                    <a:lstStyle>
                      <a:lvl1pPr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Must provide</a:t>
                      </a:r>
                      <a:b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</a:b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vision and incentive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SENIOR</a:t>
                      </a:r>
                      <a:b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</a:b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MANAGEMENT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Likes the results 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4359">
                <a:tc>
                  <a:txBody>
                    <a:bodyPr/>
                    <a:lstStyle>
                      <a:lvl1pPr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Must lead the actual</a:t>
                      </a:r>
                      <a:b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</a:b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operational change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MIDDLE</a:t>
                      </a:r>
                      <a:b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</a:b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MANAGEMENT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Left with changed,</a:t>
                      </a:r>
                      <a:b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</a:b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uncertain role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627">
                <a:tc>
                  <a:txBody>
                    <a:bodyPr/>
                    <a:lstStyle>
                      <a:lvl1pPr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Must </a:t>
                      </a:r>
                      <a:r>
                        <a:rPr kumimoji="0" lang="ja-JP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MS PGothic" panose="020B0600070205080204" pitchFamily="34" charset="-128"/>
                        </a:rPr>
                        <a:t>“</a:t>
                      </a:r>
                      <a:r>
                        <a:rPr kumimoji="0" lang="en-US" altLang="ja-JP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Do</a:t>
                      </a:r>
                      <a:r>
                        <a:rPr kumimoji="0" lang="ja-JP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MS PGothic" panose="020B0600070205080204" pitchFamily="34" charset="-128"/>
                        </a:rPr>
                        <a:t>”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FRONT LINES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115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defRPr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006699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Likes the </a:t>
                      </a:r>
                      <a:b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</a:b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involvement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71">
            <a:extLst>
              <a:ext uri="{FF2B5EF4-FFF2-40B4-BE49-F238E27FC236}">
                <a16:creationId xmlns:a16="http://schemas.microsoft.com/office/drawing/2014/main" id="{FB55E9F5-7FCD-0A9D-8AAB-5EFAE5C3C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6281" y="5648960"/>
            <a:ext cx="8199438" cy="682625"/>
          </a:xfrm>
          <a:prstGeom prst="rect">
            <a:avLst/>
          </a:prstGeom>
          <a:solidFill>
            <a:schemeClr val="bg2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15000"/>
              </a:lnSpc>
            </a:pPr>
            <a:r>
              <a:rPr lang="en-US" altLang="en-US" sz="1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 challenge at the Mid-management and First Line Supervisory Level</a:t>
            </a:r>
          </a:p>
        </p:txBody>
      </p:sp>
      <p:sp>
        <p:nvSpPr>
          <p:cNvPr id="6" name="Text Box 72">
            <a:extLst>
              <a:ext uri="{FF2B5EF4-FFF2-40B4-BE49-F238E27FC236}">
                <a16:creationId xmlns:a16="http://schemas.microsoft.com/office/drawing/2014/main" id="{F09F0D2A-211A-5673-3663-BBA2950E9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9574" y="5893645"/>
            <a:ext cx="1188279" cy="437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700" i="1" dirty="0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Reproduced with permission of John Shook, Lean Enterprise Institute</a:t>
            </a:r>
          </a:p>
        </p:txBody>
      </p:sp>
    </p:spTree>
    <p:extLst>
      <p:ext uri="{BB962C8B-B14F-4D97-AF65-F5344CB8AC3E}">
        <p14:creationId xmlns:p14="http://schemas.microsoft.com/office/powerpoint/2010/main" val="1476542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the Role of Leadership?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19</a:t>
            </a:fld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7923B59-F631-EE21-4143-96E0970E502D}"/>
              </a:ext>
            </a:extLst>
          </p:cNvPr>
          <p:cNvGrpSpPr/>
          <p:nvPr/>
        </p:nvGrpSpPr>
        <p:grpSpPr>
          <a:xfrm>
            <a:off x="762318" y="1931669"/>
            <a:ext cx="10667365" cy="4355860"/>
            <a:chOff x="396875" y="1558925"/>
            <a:chExt cx="8312150" cy="4733231"/>
          </a:xfrm>
        </p:grpSpPr>
        <p:sp>
          <p:nvSpPr>
            <p:cNvPr id="19" name="Rectangle 4">
              <a:extLst>
                <a:ext uri="{FF2B5EF4-FFF2-40B4-BE49-F238E27FC236}">
                  <a16:creationId xmlns:a16="http://schemas.microsoft.com/office/drawing/2014/main" id="{C9128ED2-E13E-AD1A-AE7F-6892F1C3B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0225" y="1582738"/>
              <a:ext cx="6878638" cy="3946525"/>
            </a:xfrm>
            <a:prstGeom prst="rect">
              <a:avLst/>
            </a:prstGeom>
            <a:solidFill>
              <a:schemeClr val="bg2"/>
            </a:solidFill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0" name="Line 5">
              <a:extLst>
                <a:ext uri="{FF2B5EF4-FFF2-40B4-BE49-F238E27FC236}">
                  <a16:creationId xmlns:a16="http://schemas.microsoft.com/office/drawing/2014/main" id="{65BE4179-269B-10EA-5FE8-F054748EDC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00225" y="1612900"/>
              <a:ext cx="6850063" cy="390207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1" name="Text Box 6">
              <a:extLst>
                <a:ext uri="{FF2B5EF4-FFF2-40B4-BE49-F238E27FC236}">
                  <a16:creationId xmlns:a16="http://schemas.microsoft.com/office/drawing/2014/main" id="{530BCAE6-C914-2C33-284B-7EDE502D63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638" y="1558925"/>
              <a:ext cx="974533" cy="4768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Senior</a:t>
              </a:r>
              <a:b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Management</a:t>
              </a:r>
            </a:p>
          </p:txBody>
        </p:sp>
        <p:sp>
          <p:nvSpPr>
            <p:cNvPr id="22" name="Text Box 8">
              <a:extLst>
                <a:ext uri="{FF2B5EF4-FFF2-40B4-BE49-F238E27FC236}">
                  <a16:creationId xmlns:a16="http://schemas.microsoft.com/office/drawing/2014/main" id="{1CB06CF2-11B7-CD92-45AD-E7A149C831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875" y="4997450"/>
              <a:ext cx="852123" cy="2895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Front Lines</a:t>
              </a:r>
            </a:p>
          </p:txBody>
        </p:sp>
        <p:sp>
          <p:nvSpPr>
            <p:cNvPr id="23" name="Line 9">
              <a:extLst>
                <a:ext uri="{FF2B5EF4-FFF2-40B4-BE49-F238E27FC236}">
                  <a16:creationId xmlns:a16="http://schemas.microsoft.com/office/drawing/2014/main" id="{7A4B1689-F1CF-A4ED-BBF7-2762967172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1538" y="2017713"/>
              <a:ext cx="0" cy="29464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4" name="Text Box 7">
              <a:extLst>
                <a:ext uri="{FF2B5EF4-FFF2-40B4-BE49-F238E27FC236}">
                  <a16:creationId xmlns:a16="http://schemas.microsoft.com/office/drawing/2014/main" id="{6256B8B1-4508-A31A-37C4-D4FF846C26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875" y="3068638"/>
              <a:ext cx="974533" cy="4768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Middle</a:t>
              </a:r>
              <a:b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Management</a:t>
              </a:r>
            </a:p>
          </p:txBody>
        </p:sp>
        <p:sp>
          <p:nvSpPr>
            <p:cNvPr id="25" name="Line 10">
              <a:extLst>
                <a:ext uri="{FF2B5EF4-FFF2-40B4-BE49-F238E27FC236}">
                  <a16:creationId xmlns:a16="http://schemas.microsoft.com/office/drawing/2014/main" id="{A98F1B6C-6E56-E3A6-4590-8C478CF0D0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3088" y="5746750"/>
              <a:ext cx="6865937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" name="Text Box 11">
              <a:extLst>
                <a:ext uri="{FF2B5EF4-FFF2-40B4-BE49-F238E27FC236}">
                  <a16:creationId xmlns:a16="http://schemas.microsoft.com/office/drawing/2014/main" id="{8FF76416-7E5A-9018-568C-A729A5989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5375" y="5632450"/>
              <a:ext cx="649773" cy="3166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FOCUS</a:t>
              </a:r>
            </a:p>
          </p:txBody>
        </p:sp>
        <p:sp>
          <p:nvSpPr>
            <p:cNvPr id="27" name="Text Box 12">
              <a:extLst>
                <a:ext uri="{FF2B5EF4-FFF2-40B4-BE49-F238E27FC236}">
                  <a16:creationId xmlns:a16="http://schemas.microsoft.com/office/drawing/2014/main" id="{5EE98976-6974-1568-1484-8AAE5876E0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6150" y="2111375"/>
              <a:ext cx="2126186" cy="9456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SYSTEM KAIZEN</a:t>
              </a:r>
            </a:p>
            <a:p>
              <a:endParaRPr lang="en-US" altLang="en-US" sz="1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Eliminate Muri and Mura</a:t>
              </a:r>
            </a:p>
          </p:txBody>
        </p:sp>
        <p:sp>
          <p:nvSpPr>
            <p:cNvPr id="28" name="Text Box 13">
              <a:extLst>
                <a:ext uri="{FF2B5EF4-FFF2-40B4-BE49-F238E27FC236}">
                  <a16:creationId xmlns:a16="http://schemas.microsoft.com/office/drawing/2014/main" id="{265F24CD-C903-A886-80CC-6DFB473BBB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4942" y="4121150"/>
              <a:ext cx="2163708" cy="9456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r"/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PROCESS-STEP  KAIZEN</a:t>
              </a:r>
            </a:p>
            <a:p>
              <a:pPr algn="r"/>
              <a:endParaRPr lang="en-US" altLang="en-US" sz="1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r"/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Eliminate Muda</a:t>
              </a:r>
            </a:p>
          </p:txBody>
        </p:sp>
        <p:sp>
          <p:nvSpPr>
            <p:cNvPr id="29" name="Text Box 14">
              <a:extLst>
                <a:ext uri="{FF2B5EF4-FFF2-40B4-BE49-F238E27FC236}">
                  <a16:creationId xmlns:a16="http://schemas.microsoft.com/office/drawing/2014/main" id="{C4DFE943-DFB2-D3F7-94D8-EFCAA4424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6550" y="6097205"/>
              <a:ext cx="2292313" cy="194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700" i="1" dirty="0">
                  <a:solidFill>
                    <a:srgbClr val="80808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Reproduced with permission of John Shook, Lean Enterprise Institute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6434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Eiji Toyoda on MUDA in Leadership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“The people at the top are flag-wavers. It is pure MUDA to wave your flag if no one will follow. Waving the flag is a way that gets people to follow you is what makes a decision a good decision and a leader a good leader.”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205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Core Toyota 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8426" y="1825625"/>
            <a:ext cx="4905373" cy="435133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“You can understand everything about a company that is important by observing from a good spot on the </a:t>
            </a:r>
            <a:br>
              <a:rPr lang="en-US" sz="2400" dirty="0"/>
            </a:br>
            <a:r>
              <a:rPr lang="en-US" sz="2400" dirty="0"/>
              <a:t>plant floor.”</a:t>
            </a:r>
          </a:p>
          <a:p>
            <a:r>
              <a:rPr lang="en-US" sz="2400" dirty="0"/>
              <a:t>“Data of course is important, but I place greater emphasis </a:t>
            </a:r>
            <a:br>
              <a:rPr lang="en-US" sz="2400" dirty="0"/>
            </a:br>
            <a:r>
              <a:rPr lang="en-US" sz="2400" dirty="0"/>
              <a:t>on facts”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21</a:t>
            </a:fld>
            <a:endParaRPr lang="en-US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2A915ABB-0B08-B893-105F-12752F692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25" y="2754311"/>
            <a:ext cx="285750" cy="2493962"/>
          </a:xfrm>
          <a:prstGeom prst="rightArrow">
            <a:avLst>
              <a:gd name="adj1" fmla="val 67278"/>
              <a:gd name="adj2" fmla="val 72222"/>
            </a:avLst>
          </a:prstGeom>
          <a:solidFill>
            <a:schemeClr val="accent1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" name="Text Box 14">
            <a:extLst>
              <a:ext uri="{FF2B5EF4-FFF2-40B4-BE49-F238E27FC236}">
                <a16:creationId xmlns:a16="http://schemas.microsoft.com/office/drawing/2014/main" id="{26233179-871A-E3E9-E24C-E3E203842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1968" y="6176963"/>
            <a:ext cx="2941831" cy="179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700" i="1" dirty="0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Reproduced with permission of John Shook, Lean Enterprise Institute</a:t>
            </a:r>
          </a:p>
        </p:txBody>
      </p:sp>
      <p:pic>
        <p:nvPicPr>
          <p:cNvPr id="5" name="Content Placeholder 4" descr="bigstockphoto_Tatami_Workshop_54065">
            <a:extLst>
              <a:ext uri="{FF2B5EF4-FFF2-40B4-BE49-F238E27FC236}">
                <a16:creationId xmlns:a16="http://schemas.microsoft.com/office/drawing/2014/main" id="{D8D8421C-874C-A39C-4FC4-8A9D1AA87A1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284" y="2277650"/>
            <a:ext cx="4599432" cy="344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6">
            <a:extLst>
              <a:ext uri="{FF2B5EF4-FFF2-40B4-BE49-F238E27FC236}">
                <a16:creationId xmlns:a16="http://schemas.microsoft.com/office/drawing/2014/main" id="{4A0321DE-F224-2A67-52CD-5D3DDE092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857" y="5433576"/>
            <a:ext cx="1478290" cy="29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- Taiichi Ohno</a:t>
            </a:r>
          </a:p>
        </p:txBody>
      </p:sp>
    </p:spTree>
    <p:extLst>
      <p:ext uri="{BB962C8B-B14F-4D97-AF65-F5344CB8AC3E}">
        <p14:creationId xmlns:p14="http://schemas.microsoft.com/office/powerpoint/2010/main" val="1554749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Another take on What is “Lean”?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true lean system should be:</a:t>
            </a:r>
          </a:p>
          <a:p>
            <a:r>
              <a:rPr lang="en-US" dirty="0"/>
              <a:t>Simple and practical</a:t>
            </a:r>
          </a:p>
          <a:p>
            <a:r>
              <a:rPr lang="en-US" dirty="0"/>
              <a:t>Consistently solving real business problems and making improvements in the way work is performed:</a:t>
            </a:r>
          </a:p>
          <a:p>
            <a:pPr lvl="1"/>
            <a:r>
              <a:rPr lang="en-US" dirty="0"/>
              <a:t>At each level of the company</a:t>
            </a:r>
          </a:p>
          <a:p>
            <a:pPr lvl="1"/>
            <a:r>
              <a:rPr lang="en-US" dirty="0"/>
              <a:t>In each activity of the company</a:t>
            </a:r>
          </a:p>
          <a:p>
            <a:pPr lvl="1"/>
            <a:r>
              <a:rPr lang="en-US" dirty="0"/>
              <a:t>In real time</a:t>
            </a:r>
          </a:p>
          <a:p>
            <a:pPr lvl="1"/>
            <a:r>
              <a:rPr lang="en-US" dirty="0"/>
              <a:t>At the root cause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5720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From “LEAN” to “LEA</a:t>
            </a:r>
            <a:r>
              <a:rPr lang="en-US" sz="4000" i="1" u="sng" dirty="0"/>
              <a:t>R</a:t>
            </a:r>
            <a:r>
              <a:rPr lang="en-US" sz="4000" dirty="0"/>
              <a:t>N”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8426" y="1825625"/>
            <a:ext cx="4905373" cy="435133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Arguably what Toyota accomplished in its early days that has enabled it to continue to thrive is simply that it learned to learn</a:t>
            </a:r>
          </a:p>
          <a:p>
            <a:r>
              <a:rPr lang="en-US" sz="2400" dirty="0"/>
              <a:t>Getting people to think and take initiative is they key!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23</a:t>
            </a:fld>
            <a:endParaRPr lang="en-US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2A915ABB-0B08-B893-105F-12752F692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25" y="2754311"/>
            <a:ext cx="285750" cy="2493962"/>
          </a:xfrm>
          <a:prstGeom prst="rightArrow">
            <a:avLst>
              <a:gd name="adj1" fmla="val 67278"/>
              <a:gd name="adj2" fmla="val 72222"/>
            </a:avLst>
          </a:prstGeom>
          <a:solidFill>
            <a:schemeClr val="accent1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" name="Text Box 14">
            <a:extLst>
              <a:ext uri="{FF2B5EF4-FFF2-40B4-BE49-F238E27FC236}">
                <a16:creationId xmlns:a16="http://schemas.microsoft.com/office/drawing/2014/main" id="{26233179-871A-E3E9-E24C-E3E203842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1968" y="6176963"/>
            <a:ext cx="2941831" cy="179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700" i="1" dirty="0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Reproduced with permission of John Shook, Lean Enterprise Institute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53146B0-E88D-AEC4-5A89-2FFC2FD37C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26883" y="1870557"/>
            <a:ext cx="3804234" cy="426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784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Toyota Chairman, Fujio Cho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8426" y="1825625"/>
            <a:ext cx="4905373" cy="4351338"/>
          </a:xfrm>
        </p:spPr>
        <p:txBody>
          <a:bodyPr anchor="ctr">
            <a:normAutofit/>
          </a:bodyPr>
          <a:lstStyle/>
          <a:p>
            <a:r>
              <a:rPr lang="en-US" dirty="0"/>
              <a:t>“Many good companies try to practice kaizen and use various TPS tools. But what is important is having all the elements together as a system. It must be practiced every day in a very consistent manner – not in spurts – in a concrete way on the shop floor.”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24</a:t>
            </a:fld>
            <a:endParaRPr lang="en-US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2A915ABB-0B08-B893-105F-12752F692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25" y="2754311"/>
            <a:ext cx="285750" cy="2493962"/>
          </a:xfrm>
          <a:prstGeom prst="rightArrow">
            <a:avLst>
              <a:gd name="adj1" fmla="val 67278"/>
              <a:gd name="adj2" fmla="val 72222"/>
            </a:avLst>
          </a:prstGeom>
          <a:solidFill>
            <a:schemeClr val="accent1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97FEFE56-8C01-267B-7B3B-D73EA65FE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455" y="1906259"/>
            <a:ext cx="4628190" cy="31624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Fujio Cho, Chairman of Toyota Motor Corp.</a:t>
            </a:r>
          </a:p>
        </p:txBody>
      </p:sp>
      <p:pic>
        <p:nvPicPr>
          <p:cNvPr id="8" name="Picture 13" descr="112_0702_2007_power_list_01z+Fujio_Cho+Toyota_Motor_Corporation_chairman2">
            <a:hlinkClick r:id="rId2"/>
            <a:extLst>
              <a:ext uri="{FF2B5EF4-FFF2-40B4-BE49-F238E27FC236}">
                <a16:creationId xmlns:a16="http://schemas.microsoft.com/office/drawing/2014/main" id="{D52E3267-55C4-0401-EFE5-F3214AB4608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2381178"/>
            <a:ext cx="5181600" cy="3240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14">
            <a:extLst>
              <a:ext uri="{FF2B5EF4-FFF2-40B4-BE49-F238E27FC236}">
                <a16:creationId xmlns:a16="http://schemas.microsoft.com/office/drawing/2014/main" id="{26233179-871A-E3E9-E24C-E3E203842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9118" y="6087259"/>
            <a:ext cx="2941831" cy="179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700" i="1" dirty="0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Reproduced with permission of John Shook, Lean Enterprise Institute</a:t>
            </a:r>
          </a:p>
        </p:txBody>
      </p:sp>
    </p:spTree>
    <p:extLst>
      <p:ext uri="{BB962C8B-B14F-4D97-AF65-F5344CB8AC3E}">
        <p14:creationId xmlns:p14="http://schemas.microsoft.com/office/powerpoint/2010/main" val="16124590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Three Phases of Lean Transformation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25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934137"/>
            <a:ext cx="7654829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The Phase of Simple Kaizen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3028466"/>
            <a:ext cx="7654828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The Phase of System Implementation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4122795"/>
            <a:ext cx="7654827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The Phase of Enterprise Transformation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44EC99D8-13B5-A417-B997-CDAACECDB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5078" y="6087259"/>
            <a:ext cx="2941831" cy="179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700" i="1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Reproduced with permission of John Shook, Lean Enterprise Institute</a:t>
            </a:r>
          </a:p>
        </p:txBody>
      </p:sp>
    </p:spTree>
    <p:extLst>
      <p:ext uri="{BB962C8B-B14F-4D97-AF65-F5344CB8AC3E}">
        <p14:creationId xmlns:p14="http://schemas.microsoft.com/office/powerpoint/2010/main" val="27364427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Three Phases of Lean Transformation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26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934137"/>
            <a:ext cx="7654829" cy="452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The Phase of Simple Kaizen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3028466"/>
            <a:ext cx="7654828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The Phase of System Implementation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4122795"/>
            <a:ext cx="7654827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The Phase of Enterprise Transformation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379E3B6D-B0DD-79D0-CCF0-F283B8297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5078" y="6087259"/>
            <a:ext cx="2941831" cy="179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700" i="1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Reproduced with permission of John Shook, Lean Enterprise Institute</a:t>
            </a:r>
          </a:p>
        </p:txBody>
      </p:sp>
    </p:spTree>
    <p:extLst>
      <p:ext uri="{BB962C8B-B14F-4D97-AF65-F5344CB8AC3E}">
        <p14:creationId xmlns:p14="http://schemas.microsoft.com/office/powerpoint/2010/main" val="3732543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The Phase of Simple Kaizen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Aim: Plant floor waste elimination</a:t>
            </a:r>
          </a:p>
          <a:p>
            <a:r>
              <a:rPr lang="en-US" dirty="0"/>
              <a:t>Characteristic: Fun, freewheeling</a:t>
            </a:r>
          </a:p>
          <a:p>
            <a:r>
              <a:rPr lang="en-US" dirty="0"/>
              <a:t>Activity: Kaizen “events”</a:t>
            </a:r>
          </a:p>
          <a:p>
            <a:r>
              <a:rPr lang="en-US" dirty="0"/>
              <a:t>Good: Lots of activity, front line involvement, quick improvement</a:t>
            </a:r>
          </a:p>
          <a:p>
            <a:r>
              <a:rPr lang="en-US" dirty="0"/>
              <a:t>Typical problems: Kamikaze or Drive-by Kaizen: no systematic rooting out of causes of waste, no system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27</a:t>
            </a:fld>
            <a:endParaRPr lang="en-US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13EBBE84-E7E6-1852-3B8F-CEE6EB7A0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5078" y="6087259"/>
            <a:ext cx="2941831" cy="179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700" i="1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Reproduced with permission of John Shook, Lean Enterprise Institute</a:t>
            </a:r>
          </a:p>
        </p:txBody>
      </p:sp>
    </p:spTree>
    <p:extLst>
      <p:ext uri="{BB962C8B-B14F-4D97-AF65-F5344CB8AC3E}">
        <p14:creationId xmlns:p14="http://schemas.microsoft.com/office/powerpoint/2010/main" val="26495800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Three Phases of Lean Transformation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28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934137"/>
            <a:ext cx="7654829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The Phase of Simple Kaizen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3028466"/>
            <a:ext cx="7654828" cy="452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The Phase of System Implementation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4122795"/>
            <a:ext cx="7654827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The Phase of Enterprise Transformation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07F5B2E1-82ED-31A0-0169-289D37409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5078" y="6087259"/>
            <a:ext cx="2941831" cy="179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700" i="1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Reproduced with permission of John Shook, Lean Enterprise Institute</a:t>
            </a:r>
          </a:p>
        </p:txBody>
      </p:sp>
    </p:spTree>
    <p:extLst>
      <p:ext uri="{BB962C8B-B14F-4D97-AF65-F5344CB8AC3E}">
        <p14:creationId xmlns:p14="http://schemas.microsoft.com/office/powerpoint/2010/main" val="31645048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The Phase of System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Aim: Create a system to eliminate waste systematically</a:t>
            </a:r>
          </a:p>
          <a:p>
            <a:r>
              <a:rPr lang="en-US" dirty="0"/>
              <a:t>Typical Characteristic: Big programs</a:t>
            </a:r>
          </a:p>
          <a:p>
            <a:r>
              <a:rPr lang="en-US" dirty="0"/>
              <a:t>Activity: Systematic linking of the tools, binder, CD or Intranet creation, assessment tools, scorecards</a:t>
            </a:r>
          </a:p>
          <a:p>
            <a:r>
              <a:rPr lang="en-US" dirty="0"/>
              <a:t>Good: System awareness, involvement of some non-production functions, some corporate-wide awareness</a:t>
            </a:r>
          </a:p>
          <a:p>
            <a:r>
              <a:rPr lang="en-US" dirty="0"/>
              <a:t>Typical problems: Bureaucratic, not “fun”, cost vs. benefit unclear, slow, mid-</a:t>
            </a:r>
            <a:r>
              <a:rPr lang="en-US" dirty="0" err="1"/>
              <a:t>mgmt</a:t>
            </a:r>
            <a:r>
              <a:rPr lang="en-US" dirty="0"/>
              <a:t> stuck in the middle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29</a:t>
            </a:fld>
            <a:endParaRPr lang="en-US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408FF0DA-DC91-8844-7FAC-6D45AFA05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5078" y="6087259"/>
            <a:ext cx="2941831" cy="179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700" i="1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Reproduced with permission of John Shook, Lean Enterprise Institute</a:t>
            </a:r>
          </a:p>
        </p:txBody>
      </p:sp>
    </p:spTree>
    <p:extLst>
      <p:ext uri="{BB962C8B-B14F-4D97-AF65-F5344CB8AC3E}">
        <p14:creationId xmlns:p14="http://schemas.microsoft.com/office/powerpoint/2010/main" val="40034578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Three Phases of Lean Transformation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30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934137"/>
            <a:ext cx="7654829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The Phase of Simple Kaizen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3028466"/>
            <a:ext cx="7654828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The Phase of System Implementation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4122795"/>
            <a:ext cx="7654827" cy="452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The Phase of Enterprise Transformation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B4DEC684-A060-6EED-A299-87A8992A4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5078" y="6087259"/>
            <a:ext cx="2941831" cy="179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700" i="1">
                <a:solidFill>
                  <a:srgbClr val="8080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Reproduced with permission of John Shook, Lean Enterprise Institute</a:t>
            </a:r>
          </a:p>
        </p:txBody>
      </p:sp>
    </p:spTree>
    <p:extLst>
      <p:ext uri="{BB962C8B-B14F-4D97-AF65-F5344CB8AC3E}">
        <p14:creationId xmlns:p14="http://schemas.microsoft.com/office/powerpoint/2010/main" val="42837043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The Phase of Enterprise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Aim: Survival</a:t>
            </a:r>
          </a:p>
          <a:p>
            <a:r>
              <a:rPr lang="en-US" dirty="0"/>
              <a:t>Activity: Customer-focused, systematic elimination of sources of waste</a:t>
            </a:r>
          </a:p>
          <a:p>
            <a:r>
              <a:rPr lang="en-US" dirty="0"/>
              <a:t>Characteristic: Disciplined, demanding, steady, long-term focus</a:t>
            </a:r>
          </a:p>
          <a:p>
            <a:r>
              <a:rPr lang="en-US" dirty="0"/>
              <a:t>Problem: “Disciplined, demanding, steady, long-term focus…”</a:t>
            </a:r>
          </a:p>
          <a:p>
            <a:r>
              <a:rPr lang="en-US" dirty="0"/>
              <a:t>Good: Helps organization achieve goals, solving problems, engaging all levels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579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Most Organizations Struggle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Purpose is not clearly defined in terms of solving the customer’s problems or addressing the business need</a:t>
            </a:r>
          </a:p>
          <a:p>
            <a:r>
              <a:rPr lang="en-US" dirty="0"/>
              <a:t>Processes are not clearly specified and visible to everyone</a:t>
            </a:r>
          </a:p>
          <a:p>
            <a:r>
              <a:rPr lang="en-US" dirty="0"/>
              <a:t>People are not engaged in optimizing the whole value stream rather than the point they manage. (And they lack technical competence and a scientific method (PDCA) for improvement)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832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D9ED7-5CF9-6F4B-B4A8-2DBF8D852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Roboto Medium"/>
                <a:ea typeface="Roboto Medium"/>
                <a:cs typeface="Roboto Medium"/>
              </a:rPr>
              <a:t>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B3C390-D307-7FFC-DADE-918C5180FE0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33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506B7-1A57-1322-5AB5-DA8522EE7602}"/>
              </a:ext>
            </a:extLst>
          </p:cNvPr>
          <p:cNvSpPr/>
          <p:nvPr/>
        </p:nvSpPr>
        <p:spPr>
          <a:xfrm>
            <a:off x="838200" y="2359748"/>
            <a:ext cx="9722342" cy="471924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Review key learnings from Leadership Lessons from Toyota.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ECB5F6-F271-06CD-2A6A-E79F5245CD15}"/>
              </a:ext>
            </a:extLst>
          </p:cNvPr>
          <p:cNvSpPr txBox="1"/>
          <p:nvPr/>
        </p:nvSpPr>
        <p:spPr>
          <a:xfrm>
            <a:off x="838200" y="1822526"/>
            <a:ext cx="1603003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spc="0" normalizeH="0" baseline="0" dirty="0">
                <a:ln>
                  <a:noFill/>
                </a:ln>
                <a:effectLst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  <a:sym typeface="Roboto"/>
              </a:rPr>
              <a:t>Objective</a:t>
            </a:r>
            <a:endParaRPr kumimoji="0" lang="en-US" sz="5600" u="none" strike="noStrike" cap="none" spc="0" normalizeH="0" baseline="0" dirty="0">
              <a:ln>
                <a:noFill/>
              </a:ln>
              <a:effectLst/>
              <a:uFillTx/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  <a:sym typeface="Robo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94F381-2B48-C111-2724-726B0390290F}"/>
              </a:ext>
            </a:extLst>
          </p:cNvPr>
          <p:cNvSpPr txBox="1"/>
          <p:nvPr/>
        </p:nvSpPr>
        <p:spPr>
          <a:xfrm>
            <a:off x="838200" y="2913476"/>
            <a:ext cx="2022990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spc="0" normalizeH="0" baseline="0" dirty="0">
                <a:ln>
                  <a:noFill/>
                </a:ln>
                <a:effectLst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  <a:sym typeface="Roboto"/>
              </a:rPr>
              <a:t>Instructions</a:t>
            </a:r>
            <a:endParaRPr kumimoji="0" lang="en-US" sz="5600" u="none" strike="noStrike" cap="none" spc="0" normalizeH="0" baseline="0" dirty="0">
              <a:ln>
                <a:noFill/>
              </a:ln>
              <a:effectLst/>
              <a:uFillTx/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  <a:sym typeface="Roboto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677B47-98C9-F770-8D4E-7D91CF39F5A7}"/>
              </a:ext>
            </a:extLst>
          </p:cNvPr>
          <p:cNvSpPr/>
          <p:nvPr/>
        </p:nvSpPr>
        <p:spPr>
          <a:xfrm>
            <a:off x="818941" y="3486027"/>
            <a:ext cx="4419809" cy="2318583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In small groups, discuss each individual’s key</a:t>
            </a:r>
            <a:b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</a:b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learnings from Leadership Lessons from Toyota, and how you will apply these learnings </a:t>
            </a:r>
            <a:b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</a:b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beyond this event.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On a sheet of </a:t>
            </a:r>
            <a:r>
              <a:rPr kumimoji="0" lang="en-US" sz="16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chartpaper</a:t>
            </a: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, decide on the top 3 key learnings you discussed and report back to </a:t>
            </a:r>
            <a:b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</a:b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the group.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914B3B-0CE2-FDFF-2FB9-215236316256}"/>
              </a:ext>
            </a:extLst>
          </p:cNvPr>
          <p:cNvSpPr txBox="1"/>
          <p:nvPr/>
        </p:nvSpPr>
        <p:spPr>
          <a:xfrm>
            <a:off x="5879250" y="2903037"/>
            <a:ext cx="2968761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spc="0" normalizeH="0" baseline="0" dirty="0">
                <a:ln>
                  <a:noFill/>
                </a:ln>
                <a:effectLst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  <a:sym typeface="Roboto"/>
              </a:rPr>
              <a:t>Time to Complete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85230A-07BD-F376-25CA-177CC1D4233F}"/>
              </a:ext>
            </a:extLst>
          </p:cNvPr>
          <p:cNvSpPr txBox="1"/>
          <p:nvPr/>
        </p:nvSpPr>
        <p:spPr>
          <a:xfrm>
            <a:off x="5879250" y="4126034"/>
            <a:ext cx="1888337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spc="0" normalizeH="0" baseline="0" dirty="0">
                <a:ln>
                  <a:noFill/>
                </a:ln>
                <a:effectLst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  <a:sym typeface="Roboto"/>
              </a:rPr>
              <a:t>Deliverable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530399-8FDB-50CD-E8FD-8E286DE1A2EA}"/>
              </a:ext>
            </a:extLst>
          </p:cNvPr>
          <p:cNvSpPr/>
          <p:nvPr/>
        </p:nvSpPr>
        <p:spPr>
          <a:xfrm>
            <a:off x="5879250" y="3486558"/>
            <a:ext cx="4681292" cy="471924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584200" hangingPunct="0"/>
            <a:r>
              <a:rPr lang="en-US" sz="240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15 minutes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DF6BD6-975A-3700-5E69-322EFF4F722E}"/>
              </a:ext>
            </a:extLst>
          </p:cNvPr>
          <p:cNvSpPr/>
          <p:nvPr/>
        </p:nvSpPr>
        <p:spPr>
          <a:xfrm>
            <a:off x="5879250" y="4613368"/>
            <a:ext cx="4681292" cy="841256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584200" hangingPunct="0"/>
            <a:r>
              <a:rPr lang="en-US" sz="240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Report out on group’s</a:t>
            </a:r>
            <a:br>
              <a:rPr lang="en-US" sz="240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</a:br>
            <a:r>
              <a:rPr lang="en-US" sz="240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top 3 key learnings.</a:t>
            </a:r>
          </a:p>
        </p:txBody>
      </p:sp>
    </p:spTree>
    <p:extLst>
      <p:ext uri="{BB962C8B-B14F-4D97-AF65-F5344CB8AC3E}">
        <p14:creationId xmlns:p14="http://schemas.microsoft.com/office/powerpoint/2010/main" val="37578943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01234-A0AA-5598-26B5-033CE6FE23E5}"/>
              </a:ext>
            </a:extLst>
          </p:cNvPr>
          <p:cNvSpPr txBox="1">
            <a:spLocks/>
          </p:cNvSpPr>
          <p:nvPr/>
        </p:nvSpPr>
        <p:spPr>
          <a:xfrm>
            <a:off x="606705" y="793843"/>
            <a:ext cx="10515600" cy="1022351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Roboto Medium"/>
                <a:cs typeface="Roboto"/>
              </a:rPr>
              <a:t>Other</a:t>
            </a:r>
            <a:r>
              <a:rPr lang="en-US" dirty="0">
                <a:solidFill>
                  <a:schemeClr val="tx1"/>
                </a:solidFill>
                <a:latin typeface="Roboto Medium"/>
                <a:cs typeface="Roboto Medium"/>
              </a:rPr>
              <a:t> Modules In This Series: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F3825E-B951-729D-1675-8A890DAAC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17" y="1638489"/>
            <a:ext cx="3939240" cy="4571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14E55-E875-9B78-1E43-35D121FD9751}"/>
              </a:ext>
            </a:extLst>
          </p:cNvPr>
          <p:cNvSpPr txBox="1">
            <a:spLocks/>
          </p:cNvSpPr>
          <p:nvPr/>
        </p:nvSpPr>
        <p:spPr>
          <a:xfrm>
            <a:off x="5839258" y="1166648"/>
            <a:ext cx="5157787" cy="3684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5S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Standard Work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Total Productive Maintenance (TPM)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Administrative Lean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Cell Design/ Production Preparation Process (3P)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Kaizen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Kanban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Problem Solving</a:t>
            </a:r>
          </a:p>
          <a:p>
            <a:pPr marL="0" indent="0" algn="r">
              <a:buNone/>
            </a:pPr>
            <a:r>
              <a:rPr lang="en-US" sz="1400" dirty="0" err="1">
                <a:solidFill>
                  <a:schemeClr val="tx1"/>
                </a:solidFill>
              </a:rPr>
              <a:t>Poka</a:t>
            </a:r>
            <a:r>
              <a:rPr lang="en-US" sz="1400" dirty="0">
                <a:solidFill>
                  <a:schemeClr val="tx1"/>
                </a:solidFill>
              </a:rPr>
              <a:t> Yoke Quality Systems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Transaction Process Improvement (TPI)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Cause &amp; Effect Diagram with the Additions of Cards (CEDAC)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Single Minute Exchange of Dies (SMED)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Value Stream Mapping (</a:t>
            </a:r>
            <a:r>
              <a:rPr lang="en-US" sz="1400" dirty="0" err="1">
                <a:solidFill>
                  <a:schemeClr val="tx1"/>
                </a:solidFill>
              </a:rPr>
              <a:t>VSMi</a:t>
            </a:r>
            <a:r>
              <a:rPr lang="en-US" sz="1400" dirty="0">
                <a:solidFill>
                  <a:schemeClr val="tx1"/>
                </a:solidFill>
              </a:rPr>
              <a:t>®)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Visual Management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Managing Daily Process Excellence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F73560-3A07-DDBC-A93D-9C2969C3C8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142" y="2039270"/>
            <a:ext cx="2945426" cy="1754165"/>
          </a:xfrm>
          <a:prstGeom prst="rect">
            <a:avLst/>
          </a:prstGeom>
        </p:spPr>
      </p:pic>
      <p:sp>
        <p:nvSpPr>
          <p:cNvPr id="13" name="Steve Jones">
            <a:extLst>
              <a:ext uri="{FF2B5EF4-FFF2-40B4-BE49-F238E27FC236}">
                <a16:creationId xmlns:a16="http://schemas.microsoft.com/office/drawing/2014/main" id="{32D7D26D-2286-A78A-74DF-8555FD64C346}"/>
              </a:ext>
            </a:extLst>
          </p:cNvPr>
          <p:cNvSpPr/>
          <p:nvPr/>
        </p:nvSpPr>
        <p:spPr>
          <a:xfrm>
            <a:off x="1069695" y="4201690"/>
            <a:ext cx="3475310" cy="199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defTabSz="1155700">
              <a:lnSpc>
                <a:spcPct val="80000"/>
              </a:lnSpc>
              <a:defRPr sz="3000" b="1">
                <a:solidFill>
                  <a:srgbClr val="FFFFFF"/>
                </a:solidFill>
              </a:defRPr>
            </a:lvl1pPr>
          </a:lstStyle>
          <a:p>
            <a:r>
              <a:rPr lang="en-US" sz="1600" dirty="0">
                <a:solidFill>
                  <a:srgbClr val="EE322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More Information Please Contact:</a:t>
            </a:r>
          </a:p>
        </p:txBody>
      </p:sp>
      <p:sp>
        <p:nvSpPr>
          <p:cNvPr id="14" name="Head of Management Dept.">
            <a:extLst>
              <a:ext uri="{FF2B5EF4-FFF2-40B4-BE49-F238E27FC236}">
                <a16:creationId xmlns:a16="http://schemas.microsoft.com/office/drawing/2014/main" id="{13AAF857-F867-C38A-47E8-4FCE37EF32C8}"/>
              </a:ext>
            </a:extLst>
          </p:cNvPr>
          <p:cNvSpPr/>
          <p:nvPr/>
        </p:nvSpPr>
        <p:spPr>
          <a:xfrm>
            <a:off x="1367375" y="4590893"/>
            <a:ext cx="2879948" cy="83817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defTabSz="1155700">
              <a:defRPr sz="3000">
                <a:solidFill>
                  <a:srgbClr val="5D616E"/>
                </a:solidFill>
              </a:defRPr>
            </a:lvl1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 DeLuzio, President and CEO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+1.860.234.0915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mark.deluzio@leanhorizons.com</a:t>
            </a:r>
            <a:endParaRPr sz="1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29F7AC-495A-4FB8-042F-1DBECD3DB7C9}"/>
              </a:ext>
            </a:extLst>
          </p:cNvPr>
          <p:cNvSpPr txBox="1"/>
          <p:nvPr/>
        </p:nvSpPr>
        <p:spPr>
          <a:xfrm>
            <a:off x="6291" y="5619244"/>
            <a:ext cx="5602115" cy="2664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Strategically Creating Value Through the Elimination of Waste</a:t>
            </a:r>
            <a:endParaRPr lang="en-US" alt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71C8E8F-D781-AA13-E1D1-E5284A2427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315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E3228"/>
      </a:accent1>
      <a:accent2>
        <a:srgbClr val="FDCA40"/>
      </a:accent2>
      <a:accent3>
        <a:srgbClr val="939598"/>
      </a:accent3>
      <a:accent4>
        <a:srgbClr val="76939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14405</TotalTime>
  <Words>1959</Words>
  <Application>Microsoft Office PowerPoint</Application>
  <PresentationFormat>Widescreen</PresentationFormat>
  <Paragraphs>294</Paragraphs>
  <Slides>34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Baskerville</vt:lpstr>
      <vt:lpstr>Calibri</vt:lpstr>
      <vt:lpstr>Roboto</vt:lpstr>
      <vt:lpstr>Roboto Medium</vt:lpstr>
      <vt:lpstr>Wingdings</vt:lpstr>
      <vt:lpstr>Office Theme</vt:lpstr>
      <vt:lpstr>PowerPoint Presentation</vt:lpstr>
      <vt:lpstr>PowerPoint Presentation</vt:lpstr>
      <vt:lpstr>PowerPoint Presentation</vt:lpstr>
      <vt:lpstr>Lean Transformation Experience so far…</vt:lpstr>
      <vt:lpstr>Lean Transformation: from what to what?</vt:lpstr>
      <vt:lpstr>Lean Transformation Experience so far…</vt:lpstr>
      <vt:lpstr>Every Organization Must Address</vt:lpstr>
      <vt:lpstr>Lean Transformation Some Lessons Learned</vt:lpstr>
      <vt:lpstr>Most of the leader’s job at Toyota</vt:lpstr>
      <vt:lpstr>Leadership: Three Models</vt:lpstr>
      <vt:lpstr>Chairman Cho of Toyota: Three Keys to Lean Leadership</vt:lpstr>
      <vt:lpstr>Leadership at Toyota: From managing numbers to managing the process</vt:lpstr>
      <vt:lpstr>Leadership at Toyota: From the Five Who’s to the Five Whys</vt:lpstr>
      <vt:lpstr>Leadership at Toyota: From Problem-hiding to Problem-solving</vt:lpstr>
      <vt:lpstr>Leadership at Toyota: Control with Flexibility</vt:lpstr>
      <vt:lpstr>Leadership at Toyota: From p-D-p-D to P-D-C-A</vt:lpstr>
      <vt:lpstr>From p-D-p-D Tail-chasing to P-D-C-A Cycle</vt:lpstr>
      <vt:lpstr>Impact and role of Lean at different levels</vt:lpstr>
      <vt:lpstr>What is the Role of Leadership?</vt:lpstr>
      <vt:lpstr>Eiji Toyoda on MUDA in Leadership</vt:lpstr>
      <vt:lpstr>Core Toyota View</vt:lpstr>
      <vt:lpstr>Another take on What is “Lean”? </vt:lpstr>
      <vt:lpstr>From “LEAN” to “LEARN”</vt:lpstr>
      <vt:lpstr>Toyota Chairman, Fujio Cho</vt:lpstr>
      <vt:lpstr>Three Phases of Lean Transformation</vt:lpstr>
      <vt:lpstr>Three Phases of Lean Transformation</vt:lpstr>
      <vt:lpstr>The Phase of Simple Kaizen</vt:lpstr>
      <vt:lpstr>Three Phases of Lean Transformation</vt:lpstr>
      <vt:lpstr>The Phase of System Implementation</vt:lpstr>
      <vt:lpstr>Three Phases of Lean Transformation</vt:lpstr>
      <vt:lpstr>The Phase of Enterprise Transformation</vt:lpstr>
      <vt:lpstr>Most Organizations Struggle</vt:lpstr>
      <vt:lpstr>Review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Justin Santiago</dc:creator>
  <cp:lastModifiedBy>Scott DeLuzio</cp:lastModifiedBy>
  <cp:revision>392</cp:revision>
  <dcterms:created xsi:type="dcterms:W3CDTF">2023-02-08T22:10:20Z</dcterms:created>
  <dcterms:modified xsi:type="dcterms:W3CDTF">2023-09-12T22:01:39Z</dcterms:modified>
</cp:coreProperties>
</file>