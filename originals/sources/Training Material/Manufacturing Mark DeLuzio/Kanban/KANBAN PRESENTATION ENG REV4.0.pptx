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0"/>
  </p:notesMasterIdLst>
  <p:sldIdLst>
    <p:sldId id="258" r:id="rId2"/>
    <p:sldId id="283" r:id="rId3"/>
    <p:sldId id="284" r:id="rId4"/>
    <p:sldId id="285" r:id="rId5"/>
    <p:sldId id="313" r:id="rId6"/>
    <p:sldId id="314" r:id="rId7"/>
    <p:sldId id="366" r:id="rId8"/>
    <p:sldId id="367" r:id="rId9"/>
    <p:sldId id="368" r:id="rId10"/>
    <p:sldId id="316" r:id="rId11"/>
    <p:sldId id="369" r:id="rId12"/>
    <p:sldId id="370" r:id="rId13"/>
    <p:sldId id="375" r:id="rId14"/>
    <p:sldId id="372" r:id="rId15"/>
    <p:sldId id="371" r:id="rId16"/>
    <p:sldId id="373" r:id="rId17"/>
    <p:sldId id="374" r:id="rId18"/>
    <p:sldId id="376" r:id="rId19"/>
    <p:sldId id="377" r:id="rId20"/>
    <p:sldId id="378" r:id="rId21"/>
    <p:sldId id="379" r:id="rId22"/>
    <p:sldId id="380" r:id="rId23"/>
    <p:sldId id="381" r:id="rId24"/>
    <p:sldId id="382" r:id="rId25"/>
    <p:sldId id="383" r:id="rId26"/>
    <p:sldId id="385" r:id="rId27"/>
    <p:sldId id="386" r:id="rId28"/>
    <p:sldId id="387" r:id="rId29"/>
    <p:sldId id="388" r:id="rId30"/>
    <p:sldId id="389" r:id="rId31"/>
    <p:sldId id="390" r:id="rId32"/>
    <p:sldId id="391" r:id="rId33"/>
    <p:sldId id="392" r:id="rId34"/>
    <p:sldId id="393" r:id="rId35"/>
    <p:sldId id="394" r:id="rId36"/>
    <p:sldId id="395" r:id="rId37"/>
    <p:sldId id="396" r:id="rId38"/>
    <p:sldId id="397" r:id="rId39"/>
    <p:sldId id="398" r:id="rId40"/>
    <p:sldId id="399" r:id="rId41"/>
    <p:sldId id="400" r:id="rId42"/>
    <p:sldId id="401" r:id="rId43"/>
    <p:sldId id="402" r:id="rId44"/>
    <p:sldId id="403" r:id="rId45"/>
    <p:sldId id="404" r:id="rId46"/>
    <p:sldId id="405" r:id="rId47"/>
    <p:sldId id="406" r:id="rId48"/>
    <p:sldId id="407" r:id="rId49"/>
    <p:sldId id="408" r:id="rId50"/>
    <p:sldId id="409" r:id="rId51"/>
    <p:sldId id="410" r:id="rId52"/>
    <p:sldId id="411" r:id="rId53"/>
    <p:sldId id="412" r:id="rId54"/>
    <p:sldId id="413" r:id="rId55"/>
    <p:sldId id="414" r:id="rId56"/>
    <p:sldId id="415" r:id="rId57"/>
    <p:sldId id="416" r:id="rId58"/>
    <p:sldId id="41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1651" autoAdjust="0"/>
    <p:restoredTop sz="81849" autoAdjust="0"/>
  </p:normalViewPr>
  <p:slideViewPr>
    <p:cSldViewPr snapToGrid="0">
      <p:cViewPr varScale="1">
        <p:scale>
          <a:sx n="67" d="100"/>
          <a:sy n="67" d="100"/>
        </p:scale>
        <p:origin x="1450" y="62"/>
      </p:cViewPr>
      <p:guideLst/>
    </p:cSldViewPr>
  </p:slideViewPr>
  <p:notesTextViewPr>
    <p:cViewPr>
      <p:scale>
        <a:sx n="125" d="100"/>
        <a:sy n="125" d="100"/>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702810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014958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3409007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Kanban and the goal of this event.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Specifically we want you to be able to:</a:t>
            </a:r>
          </a:p>
          <a:p>
            <a:pPr>
              <a:buFontTx/>
              <a:buChar char="•"/>
            </a:pPr>
            <a:r>
              <a:rPr lang="en-US" altLang="en-US" dirty="0">
                <a:latin typeface="Arial" panose="020B0604020202020204" pitchFamily="34" charset="0"/>
              </a:rPr>
              <a:t>Understand what is Kanban</a:t>
            </a:r>
          </a:p>
          <a:p>
            <a:pPr>
              <a:buFontTx/>
              <a:buChar char="•"/>
            </a:pPr>
            <a:r>
              <a:rPr lang="en-US" altLang="en-US" dirty="0">
                <a:latin typeface="Arial" panose="020B0604020202020204" pitchFamily="34" charset="0"/>
              </a:rPr>
              <a:t>Learn how Kanban works and why it is successful</a:t>
            </a:r>
          </a:p>
          <a:p>
            <a:pPr>
              <a:buFontTx/>
              <a:buChar char="•"/>
            </a:pPr>
            <a:r>
              <a:rPr lang="en-US" altLang="en-US" dirty="0">
                <a:latin typeface="Arial" panose="020B0604020202020204" pitchFamily="34" charset="0"/>
              </a:rPr>
              <a:t>Identify the difference between pull and push systems</a:t>
            </a:r>
          </a:p>
          <a:p>
            <a:pPr>
              <a:buFontTx/>
              <a:buChar char="•"/>
            </a:pPr>
            <a:r>
              <a:rPr lang="en-US" altLang="en-US" dirty="0">
                <a:latin typeface="Arial" panose="020B0604020202020204" pitchFamily="34" charset="0"/>
              </a:rPr>
              <a:t>Identify two different types of Kanban</a:t>
            </a:r>
          </a:p>
          <a:p>
            <a:pPr>
              <a:buFontTx/>
              <a:buChar char="•"/>
            </a:pPr>
            <a:r>
              <a:rPr lang="en-US" altLang="en-US" dirty="0">
                <a:latin typeface="Arial" panose="020B0604020202020204" pitchFamily="34" charset="0"/>
              </a:rPr>
              <a:t>Review the mechanics and calculations behind Kanban</a:t>
            </a:r>
          </a:p>
          <a:p>
            <a:pPr>
              <a:buFontTx/>
              <a:buChar char="•"/>
            </a:pPr>
            <a:r>
              <a:rPr lang="en-US" altLang="en-US" dirty="0">
                <a:latin typeface="Arial" panose="020B0604020202020204" pitchFamily="34" charset="0"/>
              </a:rPr>
              <a:t>Learn how to implement Kanban</a:t>
            </a:r>
          </a:p>
          <a:p>
            <a:pPr>
              <a:buFontTx/>
              <a:buChar char="•"/>
            </a:pPr>
            <a:r>
              <a:rPr lang="en-US" altLang="en-US" dirty="0">
                <a:latin typeface="Arial" panose="020B0604020202020204" pitchFamily="34" charset="0"/>
              </a:rPr>
              <a:t>Experience a </a:t>
            </a:r>
            <a:r>
              <a:rPr lang="ja-JP" altLang="en-US" dirty="0">
                <a:latin typeface="Arial" panose="020B0604020202020204" pitchFamily="34" charset="0"/>
              </a:rPr>
              <a:t>“</a:t>
            </a:r>
            <a:r>
              <a:rPr lang="en-US" altLang="ja-JP" dirty="0">
                <a:latin typeface="Arial" panose="020B0604020202020204" pitchFamily="34" charset="0"/>
              </a:rPr>
              <a:t>pilot</a:t>
            </a:r>
            <a:r>
              <a:rPr lang="ja-JP" altLang="en-US" dirty="0">
                <a:latin typeface="Arial" panose="020B0604020202020204" pitchFamily="34" charset="0"/>
              </a:rPr>
              <a:t>”</a:t>
            </a:r>
            <a:r>
              <a:rPr lang="en-US" altLang="ja-JP" dirty="0">
                <a:latin typeface="Arial" panose="020B0604020202020204" pitchFamily="34" charset="0"/>
              </a:rPr>
              <a:t> Kanban process</a:t>
            </a:r>
          </a:p>
          <a:p>
            <a:r>
              <a:rPr lang="en-US" altLang="en-US" b="1" dirty="0">
                <a:latin typeface="Arial" panose="020B0604020202020204" pitchFamily="34" charset="0"/>
              </a:rPr>
              <a:t>DO:</a:t>
            </a:r>
            <a:r>
              <a:rPr lang="en-US" altLang="en-US" dirty="0">
                <a:latin typeface="Arial" panose="020B0604020202020204" pitchFamily="34" charset="0"/>
              </a:rPr>
              <a:t> Explain how you will achieve the purpose/objectives, e.g. the class is structured around a combination of lecture, discussion, examples and hand-on experience.</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58636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benefits of participating in the Kanban course.  </a:t>
            </a:r>
          </a:p>
          <a:p>
            <a:r>
              <a:rPr lang="en-US" altLang="en-US" dirty="0">
                <a:latin typeface="Arial" panose="020B0604020202020204" pitchFamily="34" charset="0"/>
              </a:rPr>
              <a:t>Relate how other participants in previous sessions have used the Kanban information.</a:t>
            </a:r>
          </a:p>
          <a:p>
            <a:endParaRPr lang="en-US" altLang="en-US" b="1"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other objectives they would like to achieve by attending this course?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You may want to circle back to this page at the end of the course to </a:t>
            </a:r>
            <a:r>
              <a:rPr lang="ja-JP" altLang="en-US" dirty="0">
                <a:latin typeface="Arial" panose="020B0604020202020204" pitchFamily="34" charset="0"/>
              </a:rPr>
              <a:t>“</a:t>
            </a:r>
            <a:r>
              <a:rPr lang="en-US" altLang="ja-JP" dirty="0">
                <a:latin typeface="Arial" panose="020B0604020202020204" pitchFamily="34" charset="0"/>
              </a:rPr>
              <a:t>check off</a:t>
            </a:r>
            <a:r>
              <a:rPr lang="ja-JP" altLang="en-US" dirty="0">
                <a:latin typeface="Arial" panose="020B0604020202020204" pitchFamily="34" charset="0"/>
              </a:rPr>
              <a:t>”</a:t>
            </a:r>
            <a:r>
              <a:rPr lang="en-US" altLang="ja-JP" dirty="0">
                <a:latin typeface="Arial" panose="020B0604020202020204" pitchFamily="34" charset="0"/>
              </a:rPr>
              <a:t> each objective, indicating that they</a:t>
            </a:r>
            <a:r>
              <a:rPr lang="ja-JP" altLang="en-US" dirty="0">
                <a:latin typeface="Arial" panose="020B0604020202020204" pitchFamily="34" charset="0"/>
              </a:rPr>
              <a:t>’</a:t>
            </a:r>
            <a:r>
              <a:rPr lang="en-US" altLang="ja-JP" dirty="0" err="1">
                <a:latin typeface="Arial" panose="020B0604020202020204" pitchFamily="34" charset="0"/>
              </a:rPr>
              <a:t>ve</a:t>
            </a:r>
            <a:r>
              <a:rPr lang="en-US" altLang="ja-JP" dirty="0">
                <a:latin typeface="Arial" panose="020B0604020202020204" pitchFamily="34" charset="0"/>
              </a:rPr>
              <a:t> all been met.</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1583657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DO:</a:t>
            </a:r>
            <a:r>
              <a:rPr lang="en-US" altLang="en-US" dirty="0">
                <a:latin typeface="Arial" panose="020B0604020202020204" pitchFamily="34" charset="0"/>
              </a:rPr>
              <a:t> Explain that you will soon identify the difference between a pull system and a push system.  </a:t>
            </a:r>
          </a:p>
          <a:p>
            <a:pPr>
              <a:lnSpc>
                <a:spcPct val="90000"/>
              </a:lnSpc>
            </a:pPr>
            <a:r>
              <a:rPr lang="en-US" altLang="en-US" b="1" dirty="0">
                <a:latin typeface="Arial" panose="020B0604020202020204" pitchFamily="34" charset="0"/>
              </a:rPr>
              <a:t>DO:</a:t>
            </a:r>
            <a:r>
              <a:rPr lang="en-US" altLang="en-US" dirty="0">
                <a:latin typeface="Arial" panose="020B0604020202020204" pitchFamily="34" charset="0"/>
              </a:rPr>
              <a:t> Ask the class if they have any experience with Kanban.</a:t>
            </a:r>
          </a:p>
          <a:p>
            <a:pPr>
              <a:lnSpc>
                <a:spcPct val="90000"/>
              </a:lnSpc>
            </a:pPr>
            <a:r>
              <a:rPr lang="en-US" altLang="en-US" b="1" dirty="0">
                <a:latin typeface="Arial" panose="020B0604020202020204" pitchFamily="34" charset="0"/>
              </a:rPr>
              <a:t>SAY:</a:t>
            </a:r>
            <a:r>
              <a:rPr lang="en-US" altLang="en-US" dirty="0">
                <a:latin typeface="Arial" panose="020B0604020202020204" pitchFamily="34" charset="0"/>
              </a:rPr>
              <a:t> Kanban itself only means </a:t>
            </a:r>
            <a:r>
              <a:rPr lang="ja-JP" altLang="en-US" dirty="0">
                <a:latin typeface="Arial" panose="020B0604020202020204" pitchFamily="34" charset="0"/>
              </a:rPr>
              <a:t>“</a:t>
            </a:r>
            <a:r>
              <a:rPr lang="en-US" altLang="ja-JP" dirty="0">
                <a:latin typeface="Arial" panose="020B0604020202020204" pitchFamily="34" charset="0"/>
              </a:rPr>
              <a:t>signal</a:t>
            </a:r>
            <a:r>
              <a:rPr lang="ja-JP" altLang="en-US" dirty="0">
                <a:latin typeface="Arial" panose="020B0604020202020204" pitchFamily="34" charset="0"/>
              </a:rPr>
              <a:t>”</a:t>
            </a:r>
            <a:r>
              <a:rPr lang="en-US" altLang="ja-JP" dirty="0">
                <a:latin typeface="Arial" panose="020B0604020202020204" pitchFamily="34" charset="0"/>
              </a:rPr>
              <a:t> in Japanese. Many people have misinterpreted kanban to mean </a:t>
            </a:r>
            <a:r>
              <a:rPr lang="ja-JP" altLang="en-US" dirty="0">
                <a:latin typeface="Arial" panose="020B0604020202020204" pitchFamily="34" charset="0"/>
              </a:rPr>
              <a:t>‘</a:t>
            </a:r>
            <a:r>
              <a:rPr lang="en-US" altLang="ja-JP" dirty="0">
                <a:latin typeface="Arial" panose="020B0604020202020204" pitchFamily="34" charset="0"/>
              </a:rPr>
              <a:t>card</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container</a:t>
            </a:r>
            <a:r>
              <a:rPr lang="ja-JP" altLang="en-US" dirty="0">
                <a:latin typeface="Arial" panose="020B0604020202020204" pitchFamily="34" charset="0"/>
              </a:rPr>
              <a:t>’</a:t>
            </a:r>
            <a:r>
              <a:rPr lang="en-US" altLang="ja-JP" dirty="0">
                <a:latin typeface="Arial" panose="020B0604020202020204" pitchFamily="34" charset="0"/>
              </a:rPr>
              <a:t>.  Kanban means signal .. The signal mechanism will be developed appropriate to the situation</a:t>
            </a:r>
          </a:p>
          <a:p>
            <a:pPr>
              <a:lnSpc>
                <a:spcPct val="90000"/>
              </a:lnSpc>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Kanban is appropriate for certain processes but not all.</a:t>
            </a:r>
            <a:r>
              <a:rPr lang="ja-JP" altLang="en-US" dirty="0">
                <a:latin typeface="Arial" panose="020B0604020202020204" pitchFamily="34" charset="0"/>
              </a:rPr>
              <a:t>”</a:t>
            </a:r>
            <a:endParaRPr lang="en-US" altLang="ja-JP" dirty="0">
              <a:latin typeface="Arial" panose="020B0604020202020204" pitchFamily="34" charset="0"/>
            </a:endParaRPr>
          </a:p>
          <a:p>
            <a:pPr>
              <a:lnSpc>
                <a:spcPct val="90000"/>
              </a:lnSpc>
            </a:pPr>
            <a:r>
              <a:rPr lang="en-US" altLang="en-US" b="1" dirty="0">
                <a:latin typeface="Arial" panose="020B0604020202020204" pitchFamily="34" charset="0"/>
              </a:rPr>
              <a:t>DO:</a:t>
            </a:r>
            <a:r>
              <a:rPr lang="en-US" altLang="en-US" dirty="0">
                <a:latin typeface="Arial" panose="020B0604020202020204" pitchFamily="34" charset="0"/>
              </a:rPr>
              <a:t> Provide an example when Kanban would and would not be appropriate.</a:t>
            </a:r>
          </a:p>
          <a:p>
            <a:pPr>
              <a:lnSpc>
                <a:spcPct val="90000"/>
              </a:lnSpc>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 you have 1 piece flow, there is no need for kanban.  Therefore when you have kanban, it must mean that you were unable to achieve one piece flow. What are some examples of this? (sample answers: Monuments, Poor quality, Long set up, Centralized equipment, </a:t>
            </a:r>
            <a:r>
              <a:rPr lang="ja-JP" altLang="en-US" dirty="0">
                <a:latin typeface="Arial" panose="020B0604020202020204" pitchFamily="34" charset="0"/>
              </a:rPr>
              <a:t>‘</a:t>
            </a:r>
            <a:r>
              <a:rPr lang="en-US" altLang="ja-JP" dirty="0">
                <a:latin typeface="Arial" panose="020B0604020202020204" pitchFamily="34" charset="0"/>
              </a:rPr>
              <a:t>non cross functional operators, Extended Supply Chain, Inconsistent deliveries, Poor information flow, Equipment up time)</a:t>
            </a:r>
          </a:p>
          <a:p>
            <a:pPr>
              <a:lnSpc>
                <a:spcPct val="90000"/>
              </a:lnSpc>
            </a:pPr>
            <a:r>
              <a:rPr lang="en-US" altLang="en-US" b="1" dirty="0">
                <a:latin typeface="Arial" panose="020B0604020202020204" pitchFamily="34" charset="0"/>
              </a:rPr>
              <a:t>DO:</a:t>
            </a:r>
            <a:r>
              <a:rPr lang="en-US" altLang="en-US" dirty="0">
                <a:latin typeface="Arial" panose="020B0604020202020204" pitchFamily="34" charset="0"/>
              </a:rPr>
              <a:t> Ask the participants if they can identify a process in their own shops that would be appropriate for a Kanban implementation.</a:t>
            </a:r>
          </a:p>
          <a:p>
            <a:pPr>
              <a:lnSpc>
                <a:spcPct val="90000"/>
              </a:lnSpc>
            </a:pPr>
            <a:r>
              <a:rPr lang="en-US" altLang="en-US" dirty="0">
                <a:latin typeface="Arial" panose="020B0604020202020204" pitchFamily="34" charset="0"/>
              </a:rPr>
              <a:t>Ask the class to explain what the quote means and then provide your interpretation. Finally, define the last statement.</a:t>
            </a:r>
          </a:p>
          <a:p>
            <a:pPr>
              <a:lnSpc>
                <a:spcPct val="90000"/>
              </a:lnSpc>
            </a:pPr>
            <a:r>
              <a:rPr lang="en-US" altLang="en-US" b="1" dirty="0">
                <a:latin typeface="Arial" panose="020B0604020202020204" pitchFamily="34" charset="0"/>
              </a:rPr>
              <a:t>NOTE:</a:t>
            </a:r>
            <a:r>
              <a:rPr lang="en-US" altLang="en-US" dirty="0">
                <a:latin typeface="Arial" panose="020B0604020202020204" pitchFamily="34" charset="0"/>
              </a:rPr>
              <a:t> The Best kanban system is to have </a:t>
            </a:r>
            <a:r>
              <a:rPr lang="ja-JP" altLang="en-US" dirty="0">
                <a:latin typeface="Arial" panose="020B0604020202020204" pitchFamily="34" charset="0"/>
              </a:rPr>
              <a:t>‘</a:t>
            </a:r>
            <a:r>
              <a:rPr lang="en-US" altLang="ja-JP" dirty="0">
                <a:latin typeface="Arial" panose="020B0604020202020204" pitchFamily="34" charset="0"/>
              </a:rPr>
              <a:t>no kanban system</a:t>
            </a:r>
            <a:r>
              <a:rPr lang="ja-JP" altLang="en-US" dirty="0">
                <a:latin typeface="Arial" panose="020B0604020202020204" pitchFamily="34" charset="0"/>
              </a:rPr>
              <a:t>’</a:t>
            </a:r>
            <a:r>
              <a:rPr lang="en-US" altLang="ja-JP"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711286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solidFill>
                  <a:srgbClr val="000000"/>
                </a:solidFill>
                <a:latin typeface="Arial" panose="020B0604020202020204" pitchFamily="34" charset="0"/>
              </a:rPr>
              <a:t>SAY:</a:t>
            </a:r>
            <a:r>
              <a:rPr lang="en-US" altLang="en-US" dirty="0">
                <a:solidFill>
                  <a:srgbClr val="000000"/>
                </a:solidFill>
                <a:latin typeface="Arial" panose="020B0604020202020204" pitchFamily="34" charset="0"/>
              </a:rPr>
              <a:t> </a:t>
            </a:r>
            <a:r>
              <a:rPr lang="en-US" altLang="en-US" dirty="0">
                <a:solidFill>
                  <a:srgbClr val="FF3300"/>
                </a:solidFill>
                <a:latin typeface="Arial" panose="020B0604020202020204" pitchFamily="34" charset="0"/>
              </a:rPr>
              <a:t>Few times we are able to reach a process of true pull especially when we first start.  We may be able to pull in some steps in our processes and still have some push elements remaining in the same process. </a:t>
            </a:r>
          </a:p>
          <a:p>
            <a:r>
              <a:rPr lang="en-US" altLang="en-US" dirty="0">
                <a:solidFill>
                  <a:srgbClr val="FF3300"/>
                </a:solidFill>
                <a:latin typeface="Arial" panose="020B0604020202020204" pitchFamily="34" charset="0"/>
              </a:rPr>
              <a:t>Often times we may have shared resources in our process, be it machines or other processes that cannot be dedicated to a particular part.</a:t>
            </a:r>
            <a:br>
              <a:rPr lang="en-US" altLang="en-US" dirty="0">
                <a:solidFill>
                  <a:srgbClr val="FF3300"/>
                </a:solidFill>
                <a:latin typeface="Arial" panose="020B0604020202020204" pitchFamily="34" charset="0"/>
              </a:rPr>
            </a:br>
            <a:r>
              <a:rPr lang="en-US" altLang="en-US" dirty="0">
                <a:solidFill>
                  <a:srgbClr val="FF3300"/>
                </a:solidFill>
                <a:latin typeface="Arial" panose="020B0604020202020204" pitchFamily="34" charset="0"/>
              </a:rPr>
              <a:t>In the case of shared equipment we would want to set in place Kanban supermarkets that we can draw from if a demand for a particular part immerges while the shared resource is producing a different part. </a:t>
            </a:r>
          </a:p>
          <a:p>
            <a:r>
              <a:rPr lang="en-US" altLang="en-US" dirty="0">
                <a:solidFill>
                  <a:srgbClr val="FF3300"/>
                </a:solidFill>
                <a:latin typeface="Arial" panose="020B0604020202020204" pitchFamily="34" charset="0"/>
              </a:rPr>
              <a:t>A pure pull system is always the goal in our pursuit of perfection however the Kanban system enables us to bridge the gap in the meantime.</a:t>
            </a:r>
            <a:endParaRPr lang="en-US" altLang="en-US" b="1"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4175550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solidFill>
                  <a:srgbClr val="000000"/>
                </a:solidFill>
                <a:latin typeface="Arial" panose="020B0604020202020204" pitchFamily="34" charset="0"/>
              </a:rPr>
              <a:t>SAY: </a:t>
            </a:r>
            <a:r>
              <a:rPr lang="en-US" altLang="en-US" dirty="0">
                <a:solidFill>
                  <a:srgbClr val="000000"/>
                </a:solidFill>
                <a:latin typeface="Arial" panose="020B0604020202020204" pitchFamily="34" charset="0"/>
              </a:rPr>
              <a:t>A successful kanban implementation comes later in your lean journey.  You must have a reliable process (TQC) and reliable equipment (TPM).  You must also be able to understand your demand and capacity; be able to find shared resources and understand the total demand on them; have a viable and repeatable 5S and visual control process; and finally, must have discipline at all levels of the process.</a:t>
            </a:r>
          </a:p>
          <a:p>
            <a:pPr>
              <a:lnSpc>
                <a:spcPct val="115000"/>
              </a:lnSpc>
              <a:spcBef>
                <a:spcPct val="50000"/>
              </a:spcBef>
              <a:spcAft>
                <a:spcPct val="50000"/>
              </a:spcAft>
              <a:buClr>
                <a:srgbClr val="006699"/>
              </a:buClr>
              <a:buSzPct val="90000"/>
              <a:buFont typeface="Wingdings" panose="05000000000000000000" pitchFamily="2" charset="2"/>
              <a:buNone/>
            </a:pPr>
            <a:r>
              <a:rPr lang="en-US" altLang="en-US" dirty="0">
                <a:solidFill>
                  <a:srgbClr val="000000"/>
                </a:solidFill>
                <a:latin typeface="Arial" panose="020B0604020202020204" pitchFamily="34" charset="0"/>
              </a:rPr>
              <a:t>Prior to starting a Kanban, you must:</a:t>
            </a:r>
          </a:p>
          <a:p>
            <a:pPr>
              <a:lnSpc>
                <a:spcPct val="115000"/>
              </a:lnSpc>
              <a:spcBef>
                <a:spcPct val="50000"/>
              </a:spcBef>
              <a:spcAft>
                <a:spcPct val="50000"/>
              </a:spcAft>
              <a:buClr>
                <a:srgbClr val="006699"/>
              </a:buClr>
              <a:buSzPct val="90000"/>
              <a:buFont typeface="Wingdings" panose="05000000000000000000" pitchFamily="2" charset="2"/>
              <a:buChar char="§"/>
            </a:pPr>
            <a:r>
              <a:rPr lang="en-US" altLang="en-US" dirty="0">
                <a:solidFill>
                  <a:srgbClr val="000000"/>
                </a:solidFill>
                <a:latin typeface="Arial" panose="020B0604020202020204" pitchFamily="34" charset="0"/>
              </a:rPr>
              <a:t>Have a robust and reliable process (TQC)</a:t>
            </a:r>
          </a:p>
          <a:p>
            <a:pPr>
              <a:lnSpc>
                <a:spcPct val="115000"/>
              </a:lnSpc>
              <a:spcBef>
                <a:spcPct val="50000"/>
              </a:spcBef>
              <a:spcAft>
                <a:spcPct val="50000"/>
              </a:spcAft>
              <a:buClr>
                <a:srgbClr val="006699"/>
              </a:buClr>
              <a:buSzPct val="90000"/>
              <a:buFont typeface="Wingdings" panose="05000000000000000000" pitchFamily="2" charset="2"/>
              <a:buChar char="§"/>
            </a:pPr>
            <a:r>
              <a:rPr lang="en-US" altLang="en-US" dirty="0">
                <a:solidFill>
                  <a:srgbClr val="000000"/>
                </a:solidFill>
                <a:latin typeface="Arial" panose="020B0604020202020204" pitchFamily="34" charset="0"/>
              </a:rPr>
              <a:t>Have reliable in-house and outside suppliers</a:t>
            </a:r>
          </a:p>
          <a:p>
            <a:pPr>
              <a:lnSpc>
                <a:spcPct val="115000"/>
              </a:lnSpc>
              <a:spcBef>
                <a:spcPct val="50000"/>
              </a:spcBef>
              <a:spcAft>
                <a:spcPct val="50000"/>
              </a:spcAft>
              <a:buClr>
                <a:srgbClr val="006699"/>
              </a:buClr>
              <a:buSzPct val="90000"/>
              <a:buFont typeface="Wingdings" panose="05000000000000000000" pitchFamily="2" charset="2"/>
              <a:buChar char="§"/>
            </a:pPr>
            <a:r>
              <a:rPr lang="en-US" altLang="en-US" dirty="0">
                <a:solidFill>
                  <a:srgbClr val="000000"/>
                </a:solidFill>
                <a:latin typeface="Arial" panose="020B0604020202020204" pitchFamily="34" charset="0"/>
              </a:rPr>
              <a:t>Have reliable machines (TPM)</a:t>
            </a:r>
          </a:p>
          <a:p>
            <a:pPr>
              <a:lnSpc>
                <a:spcPct val="115000"/>
              </a:lnSpc>
              <a:spcBef>
                <a:spcPct val="50000"/>
              </a:spcBef>
              <a:spcAft>
                <a:spcPct val="50000"/>
              </a:spcAft>
              <a:buClr>
                <a:srgbClr val="006699"/>
              </a:buClr>
              <a:buSzPct val="90000"/>
              <a:buFont typeface="Wingdings" panose="05000000000000000000" pitchFamily="2" charset="2"/>
              <a:buChar char="§"/>
            </a:pPr>
            <a:r>
              <a:rPr lang="en-US" altLang="en-US" dirty="0">
                <a:solidFill>
                  <a:srgbClr val="000000"/>
                </a:solidFill>
                <a:latin typeface="Arial" panose="020B0604020202020204" pitchFamily="34" charset="0"/>
              </a:rPr>
              <a:t>Recognize where you can flow and where you must pull</a:t>
            </a:r>
          </a:p>
          <a:p>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476457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00" b="1" dirty="0">
                <a:latin typeface="Arial" panose="020B0604020202020204" pitchFamily="34" charset="0"/>
              </a:rPr>
              <a:t>DO:</a:t>
            </a:r>
            <a:r>
              <a:rPr lang="en-US" altLang="en-US" sz="1000" dirty="0">
                <a:latin typeface="Arial" panose="020B0604020202020204" pitchFamily="34" charset="0"/>
              </a:rPr>
              <a:t> Review the charter for this event.</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227647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that you will discuss the difference between push and pull systems.  Remind the class of the definition of a Kanban system.</a:t>
            </a:r>
          </a:p>
          <a:p>
            <a:r>
              <a:rPr lang="en-US" altLang="en-US" b="1" dirty="0">
                <a:latin typeface="Arial" panose="020B0604020202020204" pitchFamily="34" charset="0"/>
              </a:rPr>
              <a:t>DO:</a:t>
            </a:r>
            <a:r>
              <a:rPr lang="en-US" altLang="en-US" dirty="0">
                <a:latin typeface="Arial" panose="020B0604020202020204" pitchFamily="34" charset="0"/>
              </a:rPr>
              <a:t> Review objectives of this section.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solidFill>
                  <a:srgbClr val="FF3300"/>
                </a:solidFill>
                <a:latin typeface="Arial" panose="020B0604020202020204" pitchFamily="34" charset="0"/>
              </a:rPr>
              <a:t>Do: </a:t>
            </a:r>
            <a:r>
              <a:rPr lang="en-US" altLang="en-US" dirty="0">
                <a:solidFill>
                  <a:srgbClr val="FF3300"/>
                </a:solidFill>
                <a:latin typeface="Arial" panose="020B0604020202020204" pitchFamily="34" charset="0"/>
              </a:rPr>
              <a:t>Explain the take away from this picture is that once the water is poured, it does not nor can it stop until it reaches its destination (the glass).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003156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importance of continuous flow processing.</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 you pick up a part, try and never put it down again until the part is complete.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039986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Highlight the difference between push and pull systems.</a:t>
            </a: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is an example in your everyday environment of a push process and a pull process.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Provide an example from your experience of push and pull processes.</a:t>
            </a: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How would you classify the sandwich making process at a Subway sandwich shop? Push or Pull?  Why?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808919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Explain how the demand of the train causes the freight behind it to be pulled forward.</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058521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desire to achieve production flow but may use a pull system to compensate (Kanban).</a:t>
            </a:r>
          </a:p>
          <a:p>
            <a:r>
              <a:rPr lang="en-US" altLang="en-US" b="1" dirty="0">
                <a:latin typeface="Arial" panose="020B0604020202020204" pitchFamily="34" charset="0"/>
              </a:rPr>
              <a:t>DO:</a:t>
            </a:r>
            <a:r>
              <a:rPr lang="en-US" altLang="en-US" dirty="0">
                <a:latin typeface="Arial" panose="020B0604020202020204" pitchFamily="34" charset="0"/>
              </a:rPr>
              <a:t> Describe how product variations can complicate a pull system – reiterate when a pull system is appropriate.</a:t>
            </a:r>
          </a:p>
          <a:p>
            <a:r>
              <a:rPr lang="en-US" altLang="en-US" b="1" dirty="0">
                <a:latin typeface="Arial" panose="020B0604020202020204" pitchFamily="34" charset="0"/>
              </a:rPr>
              <a:t>DO:</a:t>
            </a:r>
            <a:r>
              <a:rPr lang="en-US" altLang="en-US" dirty="0">
                <a:latin typeface="Arial" panose="020B0604020202020204" pitchFamily="34" charset="0"/>
              </a:rPr>
              <a:t> Mention that you may be at the temporary mercy of an unreliable supplier either internal or external. You must consider this when establishing your pull system and supermarket quantities to compensate for this until you take positive corrective action to correct this unreliability.</a:t>
            </a:r>
          </a:p>
          <a:p>
            <a:r>
              <a:rPr lang="en-US" altLang="en-US" b="1" dirty="0">
                <a:latin typeface="Arial" panose="020B0604020202020204" pitchFamily="34" charset="0"/>
              </a:rPr>
              <a:t>DO:</a:t>
            </a:r>
            <a:r>
              <a:rPr lang="en-US" altLang="en-US" dirty="0">
                <a:latin typeface="Arial" panose="020B0604020202020204" pitchFamily="34" charset="0"/>
              </a:rPr>
              <a:t> Mention that long lead time processes do not lend themselves to sudden changes in demand and therefore the lead time must be a strong consideration in establishing your pull system. </a:t>
            </a:r>
          </a:p>
          <a:p>
            <a:r>
              <a:rPr lang="en-US" altLang="en-US" b="1" dirty="0">
                <a:latin typeface="Arial" panose="020B0604020202020204" pitchFamily="34" charset="0"/>
              </a:rPr>
              <a:t>DO:</a:t>
            </a:r>
            <a:r>
              <a:rPr lang="en-US" altLang="en-US" dirty="0">
                <a:latin typeface="Arial" panose="020B0604020202020204" pitchFamily="34" charset="0"/>
              </a:rPr>
              <a:t> Mention that when you have upstream processes that are a shared resource in that they produce more than one product or part they can only product one thing at a time .  This might be for example a press that may produce many parts.  These parts because the press can produce only one type of product at a time, a supermarket would be in place to accommodate a smooth </a:t>
            </a:r>
            <a:r>
              <a:rPr lang="ja-JP" altLang="en-US" dirty="0">
                <a:latin typeface="Arial" panose="020B0604020202020204" pitchFamily="34" charset="0"/>
              </a:rPr>
              <a:t>“</a:t>
            </a:r>
            <a:r>
              <a:rPr lang="en-US" altLang="ja-JP" dirty="0">
                <a:latin typeface="Arial" panose="020B0604020202020204" pitchFamily="34" charset="0"/>
              </a:rPr>
              <a:t>pull</a:t>
            </a:r>
            <a:r>
              <a:rPr lang="ja-JP" altLang="en-US" dirty="0">
                <a:latin typeface="Arial" panose="020B0604020202020204" pitchFamily="34" charset="0"/>
              </a:rPr>
              <a:t>”</a:t>
            </a:r>
            <a:r>
              <a:rPr lang="en-US" altLang="ja-JP" dirty="0">
                <a:latin typeface="Arial" panose="020B0604020202020204" pitchFamily="34" charset="0"/>
              </a:rPr>
              <a:t> form this resource.</a:t>
            </a:r>
          </a:p>
          <a:p>
            <a:r>
              <a:rPr lang="en-US" altLang="en-US" b="1" dirty="0">
                <a:latin typeface="Arial" panose="020B0604020202020204" pitchFamily="34" charset="0"/>
              </a:rPr>
              <a:t>EXAMPLE:</a:t>
            </a:r>
            <a:r>
              <a:rPr lang="en-US" altLang="en-US" dirty="0">
                <a:latin typeface="Arial" panose="020B0604020202020204" pitchFamily="34" charset="0"/>
              </a:rPr>
              <a:t> In a HUMVEE assembly line, there is not enough room to put the engine assembly area immediately on the assembly line.  As a result, engine assembly is separated from the main line. How do you schedule the engine area?  MRP, ERP, Expediting, Excel Spreadsheets, Production meetings?  In a pull system, there would be a </a:t>
            </a:r>
            <a:r>
              <a:rPr lang="ja-JP" altLang="en-US" dirty="0">
                <a:latin typeface="Arial" panose="020B0604020202020204" pitchFamily="34" charset="0"/>
              </a:rPr>
              <a:t>‘</a:t>
            </a:r>
            <a:r>
              <a:rPr lang="en-US" altLang="ja-JP" dirty="0">
                <a:latin typeface="Arial" panose="020B0604020202020204" pitchFamily="34" charset="0"/>
              </a:rPr>
              <a:t>signal</a:t>
            </a:r>
            <a:r>
              <a:rPr lang="ja-JP" altLang="en-US" dirty="0">
                <a:latin typeface="Arial" panose="020B0604020202020204" pitchFamily="34" charset="0"/>
              </a:rPr>
              <a:t>’</a:t>
            </a:r>
            <a:r>
              <a:rPr lang="en-US" altLang="ja-JP" dirty="0">
                <a:latin typeface="Arial" panose="020B0604020202020204" pitchFamily="34" charset="0"/>
              </a:rPr>
              <a:t> from the assembly line to engine assembly.  To prevent overproduction … or underproduction, the supplying area is scheduled </a:t>
            </a:r>
            <a:r>
              <a:rPr lang="ja-JP" altLang="en-US" dirty="0">
                <a:latin typeface="Arial" panose="020B0604020202020204" pitchFamily="34" charset="0"/>
              </a:rPr>
              <a:t>“</a:t>
            </a:r>
            <a:r>
              <a:rPr lang="en-US" altLang="ja-JP" dirty="0">
                <a:latin typeface="Arial" panose="020B0604020202020204" pitchFamily="34" charset="0"/>
              </a:rPr>
              <a:t>by the line</a:t>
            </a:r>
            <a:r>
              <a:rPr lang="ja-JP" altLang="en-US" dirty="0">
                <a:latin typeface="Arial" panose="020B0604020202020204" pitchFamily="34" charset="0"/>
              </a:rPr>
              <a:t>”</a:t>
            </a:r>
            <a:r>
              <a:rPr lang="en-US" altLang="ja-JP" dirty="0">
                <a:latin typeface="Arial" panose="020B0604020202020204" pitchFamily="34" charset="0"/>
              </a:rPr>
              <a:t>.  When the assembly line needs one, they </a:t>
            </a:r>
            <a:r>
              <a:rPr lang="ja-JP" altLang="en-US" dirty="0">
                <a:latin typeface="Arial" panose="020B0604020202020204" pitchFamily="34" charset="0"/>
              </a:rPr>
              <a:t>‘</a:t>
            </a:r>
            <a:r>
              <a:rPr lang="en-US" altLang="ja-JP" dirty="0">
                <a:latin typeface="Arial" panose="020B0604020202020204" pitchFamily="34" charset="0"/>
              </a:rPr>
              <a:t>pull</a:t>
            </a:r>
            <a:r>
              <a:rPr lang="ja-JP" altLang="en-US" dirty="0">
                <a:latin typeface="Arial" panose="020B0604020202020204" pitchFamily="34" charset="0"/>
              </a:rPr>
              <a:t>’</a:t>
            </a:r>
            <a:r>
              <a:rPr lang="en-US" altLang="ja-JP" dirty="0">
                <a:latin typeface="Arial" panose="020B0604020202020204" pitchFamily="34" charset="0"/>
              </a:rPr>
              <a:t> one from the engine area.</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720798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Define a push system.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MRP does not support small lot production, it </a:t>
            </a:r>
            <a:r>
              <a:rPr lang="ja-JP" altLang="en-US" dirty="0">
                <a:latin typeface="Arial" panose="020B0604020202020204" pitchFamily="34" charset="0"/>
              </a:rPr>
              <a:t>“</a:t>
            </a:r>
            <a:r>
              <a:rPr lang="en-US" altLang="ja-JP" dirty="0">
                <a:latin typeface="Arial" panose="020B0604020202020204" pitchFamily="34" charset="0"/>
              </a:rPr>
              <a:t>thinks</a:t>
            </a:r>
            <a:r>
              <a:rPr lang="ja-JP" altLang="en-US" dirty="0">
                <a:latin typeface="Arial" panose="020B0604020202020204" pitchFamily="34" charset="0"/>
              </a:rPr>
              <a:t>”</a:t>
            </a:r>
            <a:r>
              <a:rPr lang="en-US" altLang="ja-JP" dirty="0">
                <a:latin typeface="Arial" panose="020B0604020202020204" pitchFamily="34" charset="0"/>
              </a:rPr>
              <a:t> in large batches. MRP promotes use of forecasting and making to shop orders (not customer orders). MRP sends order information by department and instructs the department what to make but not in the sequenced amounts or required amounts needed by the customer. This is </a:t>
            </a:r>
            <a:r>
              <a:rPr lang="ja-JP" altLang="en-US" dirty="0">
                <a:latin typeface="Arial" panose="020B0604020202020204" pitchFamily="34" charset="0"/>
              </a:rPr>
              <a:t>“</a:t>
            </a:r>
            <a:r>
              <a:rPr lang="en-US" altLang="ja-JP" dirty="0">
                <a:latin typeface="Arial" panose="020B0604020202020204" pitchFamily="34" charset="0"/>
              </a:rPr>
              <a:t>pushing</a:t>
            </a:r>
            <a:r>
              <a:rPr lang="ja-JP" altLang="en-US" dirty="0">
                <a:latin typeface="Arial" panose="020B0604020202020204" pitchFamily="34" charset="0"/>
              </a:rPr>
              <a:t>”</a:t>
            </a:r>
            <a:r>
              <a:rPr lang="en-US" altLang="ja-JP" dirty="0">
                <a:latin typeface="Arial" panose="020B0604020202020204" pitchFamily="34" charset="0"/>
              </a:rPr>
              <a:t> the information and inventory down the value stream.</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Provide an example of a push system and ask the participants to provide an example within or outside of their business.</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289630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Highlight the differences between push and pull systems and how Kanban signals/cards are appropriate for Pull systems.</a:t>
            </a:r>
          </a:p>
          <a:p>
            <a:r>
              <a:rPr lang="en-US" altLang="en-US" b="1" dirty="0">
                <a:latin typeface="Arial" panose="020B0604020202020204" pitchFamily="34" charset="0"/>
              </a:rPr>
              <a:t>NOTE:</a:t>
            </a:r>
            <a:r>
              <a:rPr lang="en-US" altLang="en-US" dirty="0">
                <a:latin typeface="Arial" panose="020B0604020202020204" pitchFamily="34" charset="0"/>
              </a:rPr>
              <a:t> This is not suggesting that we </a:t>
            </a:r>
            <a:r>
              <a:rPr lang="ja-JP" altLang="en-US" dirty="0">
                <a:latin typeface="Arial" panose="020B0604020202020204" pitchFamily="34" charset="0"/>
              </a:rPr>
              <a:t>“</a:t>
            </a:r>
            <a:r>
              <a:rPr lang="en-US" altLang="ja-JP" dirty="0">
                <a:latin typeface="Arial" panose="020B0604020202020204" pitchFamily="34" charset="0"/>
              </a:rPr>
              <a:t>do away</a:t>
            </a:r>
            <a:r>
              <a:rPr lang="ja-JP" altLang="en-US" dirty="0">
                <a:latin typeface="Arial" panose="020B0604020202020204" pitchFamily="34" charset="0"/>
              </a:rPr>
              <a:t>”</a:t>
            </a:r>
            <a:r>
              <a:rPr lang="en-US" altLang="ja-JP" dirty="0">
                <a:latin typeface="Arial" panose="020B0604020202020204" pitchFamily="34" charset="0"/>
              </a:rPr>
              <a:t> with MRP. There are appropriate uses for MRP which include being able to provide our suppliers with a forecast (creating a Planning Bill of Materials estimating what we need). MRP is also used for </a:t>
            </a:r>
            <a:r>
              <a:rPr lang="ja-JP" altLang="en-US" dirty="0">
                <a:latin typeface="Arial" panose="020B0604020202020204" pitchFamily="34" charset="0"/>
              </a:rPr>
              <a:t>“</a:t>
            </a:r>
            <a:r>
              <a:rPr lang="en-US" altLang="ja-JP" dirty="0">
                <a:latin typeface="Arial" panose="020B0604020202020204" pitchFamily="34" charset="0"/>
              </a:rPr>
              <a:t>backflushing</a:t>
            </a:r>
            <a:r>
              <a:rPr lang="ja-JP" altLang="en-US" dirty="0">
                <a:latin typeface="Arial" panose="020B0604020202020204" pitchFamily="34" charset="0"/>
              </a:rPr>
              <a:t>”</a:t>
            </a:r>
            <a:r>
              <a:rPr lang="en-US" altLang="ja-JP" dirty="0">
                <a:latin typeface="Arial" panose="020B0604020202020204" pitchFamily="34" charset="0"/>
              </a:rPr>
              <a:t>. In backflushing you are not issuing the materials until production is posted reported against the operation. The materials may be accumulated through whatever means are most efficient for your operation.  Once the operation is completed, the operator will use MRP to post the production against the operation.  The operator will generally enter the production order number, operation, quantity good, scrap quantity, and labor and machine information.  The production reporting program will then bring up the issuing program using the sum of the good and scrap quantity to recalculate the materials required.  The operator then issues all the materials as one transaction. </a:t>
            </a:r>
          </a:p>
          <a:p>
            <a:r>
              <a:rPr lang="en-US" altLang="en-US" dirty="0">
                <a:latin typeface="Arial" panose="020B0604020202020204" pitchFamily="34" charset="0"/>
              </a:rPr>
              <a:t>MRP systems also fulfill the purchasing part of the process and will issue blanket orders. With Lean, the actual release of materials from the order is done through kanban.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113062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how these goals translate into real savings via inventory management, quality control, resource allocation, REDUCE overall inventory levels, etc..</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1846414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Explain how each link in the chain is like a process in a pull system.  As you pull the chain, the processes follow in sequence behind each other.</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632089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how to achieve a pull system.</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Highlight the point that the transition from MRP push systems to material pull systems will be discussed shortly.</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Discuss the hidden issues and systems that must be addressed when converting from MRP to Pull:</a:t>
            </a:r>
          </a:p>
          <a:p>
            <a:pPr>
              <a:buFontTx/>
              <a:buChar char="•"/>
            </a:pPr>
            <a:r>
              <a:rPr lang="en-US" altLang="en-US" dirty="0">
                <a:latin typeface="Arial" panose="020B0604020202020204" pitchFamily="34" charset="0"/>
              </a:rPr>
              <a:t>BOM structure (use of phantoms)</a:t>
            </a:r>
          </a:p>
          <a:p>
            <a:pPr>
              <a:buFontTx/>
              <a:buChar char="•"/>
            </a:pPr>
            <a:r>
              <a:rPr lang="en-US" altLang="en-US" dirty="0">
                <a:latin typeface="Arial" panose="020B0604020202020204" pitchFamily="34" charset="0"/>
              </a:rPr>
              <a:t>Make/Buy component structure </a:t>
            </a:r>
          </a:p>
          <a:p>
            <a:pPr>
              <a:buFontTx/>
              <a:buChar char="•"/>
            </a:pPr>
            <a:r>
              <a:rPr lang="en-US" altLang="en-US" dirty="0">
                <a:latin typeface="Arial" panose="020B0604020202020204" pitchFamily="34" charset="0"/>
              </a:rPr>
              <a:t>Changing of Buyer or Planner Codes</a:t>
            </a:r>
          </a:p>
          <a:p>
            <a:pPr>
              <a:buFontTx/>
              <a:buChar char="•"/>
            </a:pPr>
            <a:r>
              <a:rPr lang="en-US" altLang="en-US" dirty="0">
                <a:latin typeface="Arial" panose="020B0604020202020204" pitchFamily="34" charset="0"/>
              </a:rPr>
              <a:t>Creation of </a:t>
            </a:r>
            <a:r>
              <a:rPr lang="ja-JP" altLang="en-US" dirty="0">
                <a:latin typeface="Arial" panose="020B0604020202020204" pitchFamily="34" charset="0"/>
              </a:rPr>
              <a:t>“</a:t>
            </a:r>
            <a:r>
              <a:rPr lang="en-US" altLang="ja-JP" dirty="0">
                <a:latin typeface="Arial" panose="020B0604020202020204" pitchFamily="34" charset="0"/>
              </a:rPr>
              <a:t>spike</a:t>
            </a:r>
            <a:r>
              <a:rPr lang="ja-JP" altLang="en-US" dirty="0">
                <a:latin typeface="Arial" panose="020B0604020202020204" pitchFamily="34" charset="0"/>
              </a:rPr>
              <a:t>”</a:t>
            </a:r>
            <a:r>
              <a:rPr lang="en-US" altLang="ja-JP" dirty="0">
                <a:latin typeface="Arial" panose="020B0604020202020204" pitchFamily="34" charset="0"/>
              </a:rPr>
              <a:t> reports to support the business</a:t>
            </a:r>
          </a:p>
          <a:p>
            <a:pPr>
              <a:buFontTx/>
              <a:buChar char="•"/>
            </a:pPr>
            <a:r>
              <a:rPr lang="en-US" altLang="en-US" dirty="0">
                <a:latin typeface="Arial" panose="020B0604020202020204" pitchFamily="34" charset="0"/>
              </a:rPr>
              <a:t>Introduction of multiple scheduling systems (master schedule, department schedules, kanban .. </a:t>
            </a:r>
            <a:r>
              <a:rPr lang="en-US" altLang="en-US" dirty="0" err="1">
                <a:latin typeface="Arial" panose="020B0604020202020204" pitchFamily="34" charset="0"/>
              </a:rPr>
              <a:t>Etc</a:t>
            </a:r>
            <a:endParaRPr lang="en-US" altLang="en-US" dirty="0">
              <a:latin typeface="Arial" panose="020B0604020202020204" pitchFamily="34" charset="0"/>
            </a:endParaRPr>
          </a:p>
          <a:p>
            <a:pPr>
              <a:buFontTx/>
              <a:buChar char="•"/>
            </a:pPr>
            <a:r>
              <a:rPr lang="en-US" altLang="en-US" dirty="0">
                <a:latin typeface="Arial" panose="020B0604020202020204" pitchFamily="34" charset="0"/>
              </a:rPr>
              <a:t>How to handle the integration of kanban and traditional scheduling (which you will almost always have .. For a while)</a:t>
            </a:r>
          </a:p>
          <a:p>
            <a:pPr>
              <a:buFontTx/>
              <a:buChar char="•"/>
            </a:pPr>
            <a:r>
              <a:rPr lang="en-US" altLang="en-US" dirty="0">
                <a:latin typeface="Arial" panose="020B0604020202020204" pitchFamily="34" charset="0"/>
              </a:rPr>
              <a:t>… </a:t>
            </a:r>
            <a:r>
              <a:rPr lang="en-US" altLang="en-US" dirty="0" err="1">
                <a:latin typeface="Arial" panose="020B0604020202020204" pitchFamily="34" charset="0"/>
              </a:rPr>
              <a:t>etc</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4060829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the different processes and why they are different.</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Ask the class to provide example of each process within or outside of their business.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9003461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Show an example of how a Kanban pull system works via a 2-bin system.  Explain that a more detailed view of the 2-bin system is forthcoming.</a:t>
            </a:r>
          </a:p>
          <a:p>
            <a:r>
              <a:rPr lang="en-US" altLang="en-US" dirty="0">
                <a:latin typeface="Arial" panose="020B0604020202020204" pitchFamily="34" charset="0"/>
              </a:rPr>
              <a:t>A brief explanation is that parts from one bin are being consumed while the other bin is being replenished</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517109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that once the excess inventory is consumed, and if the supply cell produces multiple parts, a supermarket is established to supply other type of parts than the part currently in the supply cell.</a:t>
            </a:r>
          </a:p>
          <a:p>
            <a:endParaRPr lang="en-US" altLang="en-US" dirty="0">
              <a:latin typeface="Arial" panose="020B0604020202020204" pitchFamily="34" charset="0"/>
            </a:endParaRPr>
          </a:p>
          <a:p>
            <a:r>
              <a:rPr lang="en-US" altLang="en-US" dirty="0">
                <a:latin typeface="Arial" panose="020B0604020202020204" pitchFamily="34" charset="0"/>
              </a:rPr>
              <a:t>Once parts are being removed from the container at the assembly cell, the Kanban Card is sent to the Kanban Post.</a:t>
            </a:r>
          </a:p>
          <a:p>
            <a:r>
              <a:rPr lang="en-US" altLang="en-US" dirty="0">
                <a:latin typeface="Arial" panose="020B0604020202020204" pitchFamily="34" charset="0"/>
              </a:rPr>
              <a:t> </a:t>
            </a:r>
          </a:p>
          <a:p>
            <a:r>
              <a:rPr lang="en-US" altLang="en-US" dirty="0">
                <a:latin typeface="Arial" panose="020B0604020202020204" pitchFamily="34" charset="0"/>
              </a:rPr>
              <a:t>Once the Kanban card for that particular part number hits the run line, the Kanban cards are given to the Supply cell to produce.</a:t>
            </a:r>
          </a:p>
          <a:p>
            <a:endParaRPr lang="en-US" altLang="en-US" dirty="0">
              <a:latin typeface="Arial" panose="020B0604020202020204" pitchFamily="34" charset="0"/>
            </a:endParaRPr>
          </a:p>
          <a:p>
            <a:r>
              <a:rPr lang="en-US" altLang="en-US" dirty="0">
                <a:latin typeface="Arial" panose="020B0604020202020204" pitchFamily="34" charset="0"/>
              </a:rPr>
              <a:t>Once the parts are produced, they are staged in the supermarket with the appropriate Kanban card attached.</a:t>
            </a:r>
          </a:p>
          <a:p>
            <a:endParaRPr lang="en-US" altLang="en-US" dirty="0">
              <a:latin typeface="Arial" panose="020B0604020202020204" pitchFamily="34" charset="0"/>
            </a:endParaRPr>
          </a:p>
          <a:p>
            <a:r>
              <a:rPr lang="en-US" altLang="en-US" dirty="0">
                <a:latin typeface="Arial" panose="020B0604020202020204" pitchFamily="34" charset="0"/>
              </a:rPr>
              <a:t>The process repeats over and over.</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1214821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this section.</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638608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Emphasize that the number of Kanban is a result of a mathematical calculation and not a best guess.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1533093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the difference between transport and production Kanban.</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Describe a transport or a production Kanban without indicating the type and ask the class to indicate whether you are describing a transport or a production Kanban.</a:t>
            </a: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Can a transport Kanban also be a Production kanban?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387041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en-US" altLang="en-US" dirty="0">
                <a:latin typeface="Arial" panose="020B0604020202020204" pitchFamily="34" charset="0"/>
              </a:rPr>
              <a:t>The Kanban Post is the place that the Kanban cards accumulate until they hit the run line.  Once the cards hit the run line they signal the supplying machine, cell or supplier to replenish only in the total quantity noted on the Kanban card.  DO NOT OVER PRODUCE!</a:t>
            </a:r>
          </a:p>
          <a:p>
            <a:endParaRPr lang="en-US" altLang="en-US" dirty="0">
              <a:latin typeface="Arial" panose="020B0604020202020204" pitchFamily="34" charset="0"/>
            </a:endParaRPr>
          </a:p>
          <a:p>
            <a:r>
              <a:rPr lang="en-US" altLang="en-US" dirty="0">
                <a:latin typeface="Arial" panose="020B0604020202020204" pitchFamily="34" charset="0"/>
              </a:rPr>
              <a:t>The Blocker Card is movable and the run line is fixed.  By the blocker card being movable, it makes it easier to change the number of Kanban cards needed to hit the run line as demand changes</a:t>
            </a:r>
          </a:p>
          <a:p>
            <a:endParaRPr lang="en-US" altLang="en-US" dirty="0">
              <a:latin typeface="Arial" panose="020B0604020202020204" pitchFamily="34" charset="0"/>
            </a:endParaRPr>
          </a:p>
          <a:p>
            <a:r>
              <a:rPr lang="en-US" altLang="en-US" dirty="0">
                <a:latin typeface="Arial" panose="020B0604020202020204" pitchFamily="34" charset="0"/>
              </a:rPr>
              <a:t>The number of Kanban cards needed to hit the run line is a CALCULATED number. We will talk about these calculations later, the important thing to remember is that it IS a calculation.</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383767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two types of Transport </a:t>
            </a:r>
            <a:r>
              <a:rPr lang="en-US" altLang="en-US" dirty="0" err="1">
                <a:latin typeface="Arial" panose="020B0604020202020204" pitchFamily="34" charset="0"/>
              </a:rPr>
              <a:t>Kanbans</a:t>
            </a:r>
            <a:r>
              <a:rPr lang="en-US" altLang="en-US" dirty="0">
                <a:latin typeface="Arial" panose="020B0604020202020204" pitchFamily="34" charset="0"/>
              </a:rPr>
              <a:t> and provide examples.</a:t>
            </a: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 kanban system have to have a Transport, Withdrawal and Supplier kanban?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are some critical factors to consider when implementing a supplier kanban?</a:t>
            </a:r>
            <a:r>
              <a:rPr lang="ja-JP" altLang="en-US" dirty="0">
                <a:latin typeface="Arial" panose="020B0604020202020204" pitchFamily="34" charset="0"/>
              </a:rPr>
              <a:t>”</a:t>
            </a:r>
            <a:endParaRPr lang="en-US" altLang="ja-JP" dirty="0">
              <a:latin typeface="Arial" panose="020B0604020202020204" pitchFamily="34" charset="0"/>
            </a:endParaRPr>
          </a:p>
          <a:p>
            <a:pPr>
              <a:buFontTx/>
              <a:buChar char="•"/>
            </a:pPr>
            <a:r>
              <a:rPr lang="en-US" altLang="en-US" dirty="0">
                <a:latin typeface="Arial" panose="020B0604020202020204" pitchFamily="34" charset="0"/>
              </a:rPr>
              <a:t>Supplier knowledge</a:t>
            </a:r>
          </a:p>
          <a:p>
            <a:pPr>
              <a:buFontTx/>
              <a:buChar char="•"/>
            </a:pPr>
            <a:r>
              <a:rPr lang="en-US" altLang="en-US" dirty="0">
                <a:latin typeface="Arial" panose="020B0604020202020204" pitchFamily="34" charset="0"/>
              </a:rPr>
              <a:t>Supplier engagement</a:t>
            </a:r>
          </a:p>
          <a:p>
            <a:pPr>
              <a:buFontTx/>
              <a:buChar char="•"/>
            </a:pPr>
            <a:r>
              <a:rPr lang="en-US" altLang="en-US" dirty="0">
                <a:latin typeface="Arial" panose="020B0604020202020204" pitchFamily="34" charset="0"/>
              </a:rPr>
              <a:t>PO structure (blankets, releases or?)</a:t>
            </a:r>
          </a:p>
          <a:p>
            <a:pPr>
              <a:buFontTx/>
              <a:buChar char="•"/>
            </a:pPr>
            <a:r>
              <a:rPr lang="en-US" altLang="en-US" dirty="0">
                <a:latin typeface="Arial" panose="020B0604020202020204" pitchFamily="34" charset="0"/>
              </a:rPr>
              <a:t>Role of Buyers and Planners (how does it change … who will teach them to change?</a:t>
            </a:r>
          </a:p>
          <a:p>
            <a:pPr>
              <a:buFontTx/>
              <a:buChar char="•"/>
            </a:pPr>
            <a:r>
              <a:rPr lang="en-US" altLang="en-US" dirty="0">
                <a:latin typeface="Arial" panose="020B0604020202020204" pitchFamily="34" charset="0"/>
              </a:rPr>
              <a:t>Execution capability of the supplier.  Are they capable of receiving a fax and providing replenishment in the time period necessary?</a:t>
            </a:r>
          </a:p>
          <a:p>
            <a:pPr>
              <a:buFontTx/>
              <a:buChar char="•"/>
            </a:pPr>
            <a:r>
              <a:rPr lang="en-US" altLang="en-US" dirty="0">
                <a:latin typeface="Arial" panose="020B0604020202020204" pitchFamily="34" charset="0"/>
              </a:rPr>
              <a:t>How do you disable kanban parts from showing up on the exception report?</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505874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the Kanban card</a:t>
            </a: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 card have to have the same information?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Explain that this can be treated the same as a credit card.  Each card is for a specific quantity, and you are not allowed more than the quantity on the card.</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18208921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Remind the participants of the goal inventory stocking level.</a:t>
            </a:r>
          </a:p>
          <a:p>
            <a:r>
              <a:rPr lang="en-US" altLang="en-US" b="1" dirty="0">
                <a:latin typeface="Arial" panose="020B0604020202020204" pitchFamily="34" charset="0"/>
              </a:rPr>
              <a:t>NOTE:</a:t>
            </a:r>
            <a:r>
              <a:rPr lang="en-US" altLang="en-US" dirty="0">
                <a:latin typeface="Arial" panose="020B0604020202020204" pitchFamily="34" charset="0"/>
              </a:rPr>
              <a:t> Safety stock is defined as extra units of inventory carried as protection against possible stockouts. It is held when an organization cannot accurately predict demand and/or lead time for the product. For example, if a manufacturing company were to continually run out of inventory, they would need to keep some extra inventory on hand so they could attempt to meet demand while they were producing more inventory. Safety Stocks enable organizations to satisfy customer demand in the event of these possibilities:</a:t>
            </a:r>
          </a:p>
          <a:p>
            <a:r>
              <a:rPr lang="en-US" altLang="en-US" dirty="0">
                <a:latin typeface="Arial" panose="020B0604020202020204" pitchFamily="34" charset="0"/>
              </a:rPr>
              <a:t>Supplier may deliver their product late or not at all </a:t>
            </a:r>
          </a:p>
          <a:p>
            <a:r>
              <a:rPr lang="en-US" altLang="en-US" dirty="0">
                <a:latin typeface="Arial" panose="020B0604020202020204" pitchFamily="34" charset="0"/>
              </a:rPr>
              <a:t>The warehouse may be on strike </a:t>
            </a:r>
          </a:p>
          <a:p>
            <a:r>
              <a:rPr lang="en-US" altLang="en-US" dirty="0">
                <a:latin typeface="Arial" panose="020B0604020202020204" pitchFamily="34" charset="0"/>
              </a:rPr>
              <a:t>A number of items at the warehouse my be of poor quality and replacements are in order </a:t>
            </a:r>
          </a:p>
          <a:p>
            <a:r>
              <a:rPr lang="en-US" altLang="en-US" dirty="0">
                <a:latin typeface="Arial" panose="020B0604020202020204" pitchFamily="34" charset="0"/>
              </a:rPr>
              <a:t>A competitor may be sold out on a product, increasing the demand for your products </a:t>
            </a:r>
          </a:p>
          <a:p>
            <a:r>
              <a:rPr lang="en-US" altLang="en-US" dirty="0">
                <a:latin typeface="Arial" panose="020B0604020202020204" pitchFamily="34" charset="0"/>
              </a:rPr>
              <a:t>Random Demand (In reality, random events occur) </a:t>
            </a:r>
          </a:p>
          <a:p>
            <a:r>
              <a:rPr lang="en-US" altLang="en-US" dirty="0">
                <a:latin typeface="Arial" panose="020B0604020202020204" pitchFamily="34" charset="0"/>
              </a:rPr>
              <a:t>Machinery Breakdown </a:t>
            </a:r>
          </a:p>
          <a:p>
            <a:r>
              <a:rPr lang="en-US" altLang="en-US" dirty="0">
                <a:latin typeface="Arial" panose="020B0604020202020204" pitchFamily="34" charset="0"/>
              </a:rPr>
              <a:t>...and other reasons</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 considering the EDDLT (Estimated Daily Demand Lead Time), consider that once you have reached your reorder point, your remaining inventory will continue to be consumed. The replenishment should occur before your inventory level dips into the safety stock however should you frequently dip into your safety stock it would indicate that you need to review your EDDLT as well as your safety stock level.  The same is true should your replenishment occur well before you reach your safety stock line.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18500724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to the participants that they will see and practice examples of calculating lead times, # of </a:t>
            </a:r>
            <a:r>
              <a:rPr lang="en-US" altLang="en-US" dirty="0" err="1">
                <a:latin typeface="Arial" panose="020B0604020202020204" pitchFamily="34" charset="0"/>
              </a:rPr>
              <a:t>Kanbans</a:t>
            </a:r>
            <a:r>
              <a:rPr lang="en-US" altLang="en-US" dirty="0">
                <a:latin typeface="Arial" panose="020B0604020202020204" pitchFamily="34" charset="0"/>
              </a:rPr>
              <a:t>, etc. and they will be able to use the worksheets provided and their hands-on training to practice the calculations.</a:t>
            </a: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1538794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wheel provides a pattern that will help level production. </a:t>
            </a:r>
          </a:p>
          <a:p>
            <a:r>
              <a:rPr lang="en-US" altLang="en-US" dirty="0">
                <a:latin typeface="Arial" panose="020B0604020202020204" pitchFamily="34" charset="0"/>
              </a:rPr>
              <a:t>The sequence in which parts occur on the wheel allows for grouping products that are made from like materials for set-ups which helps reduce the number of set-ups and allow us to optimize capacity. It also allows us the opportunity to view how long it will take us to produce the demand put upon the work center and if we can achieve the production required in the time available.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1844795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Provide an example for the participants.  </a:t>
            </a:r>
          </a:p>
          <a:p>
            <a:r>
              <a:rPr lang="en-US" altLang="en-US" dirty="0">
                <a:latin typeface="Arial" panose="020B0604020202020204" pitchFamily="34" charset="0"/>
              </a:rPr>
              <a:t>Write the variables and the equation on a flip chart and fill in and calculate.</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calculation is intended to determine if the producing machine (work center) is capable of </a:t>
            </a:r>
            <a:r>
              <a:rPr lang="ja-JP" altLang="en-US" dirty="0">
                <a:latin typeface="Arial" panose="020B0604020202020204" pitchFamily="34" charset="0"/>
              </a:rPr>
              <a:t>‘</a:t>
            </a:r>
            <a:r>
              <a:rPr lang="en-US" altLang="ja-JP" dirty="0">
                <a:latin typeface="Arial" panose="020B0604020202020204" pitchFamily="34" charset="0"/>
              </a:rPr>
              <a:t>producing to flow</a:t>
            </a:r>
            <a:r>
              <a:rPr lang="ja-JP" altLang="en-US" dirty="0">
                <a:latin typeface="Arial" panose="020B0604020202020204" pitchFamily="34" charset="0"/>
              </a:rPr>
              <a:t>’</a:t>
            </a:r>
            <a:r>
              <a:rPr lang="en-US" altLang="ja-JP" dirty="0">
                <a:latin typeface="Arial" panose="020B0604020202020204" pitchFamily="34" charset="0"/>
              </a:rPr>
              <a: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748501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Continued from previous slide.</a:t>
            </a:r>
          </a:p>
          <a:p>
            <a:r>
              <a:rPr lang="en-US" altLang="en-US" b="1" dirty="0">
                <a:latin typeface="Arial" panose="020B0604020202020204" pitchFamily="34" charset="0"/>
              </a:rPr>
              <a:t>NOTE: </a:t>
            </a:r>
            <a:r>
              <a:rPr lang="en-US" altLang="en-US" dirty="0">
                <a:latin typeface="Arial" panose="020B0604020202020204" pitchFamily="34" charset="0"/>
              </a:rPr>
              <a:t>An Important consideration that the kanban formulas here are fundamental formulas that are tried and true.  There may come a time when you have a lot of variation in your demand that you may have to implement some modifications to your formulas.  NOTE: you should visit your demand on a regular basis with attention to seasonality, product life cycle and variation in large variation in demand. The single highest reason for a kanban system to fail is failure to revisit your demand on a frequent basis.</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22509164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50" b="1" dirty="0">
                <a:latin typeface="Arial" panose="020B0604020202020204" pitchFamily="34" charset="0"/>
              </a:rPr>
              <a:t>DO:</a:t>
            </a:r>
            <a:r>
              <a:rPr lang="en-US" altLang="en-US" sz="1050" dirty="0">
                <a:latin typeface="Arial" panose="020B0604020202020204" pitchFamily="34" charset="0"/>
              </a:rPr>
              <a:t> Remind the participants of the goal inventory stocking level.</a:t>
            </a:r>
          </a:p>
          <a:p>
            <a:r>
              <a:rPr lang="en-US" altLang="en-US" sz="1050" b="1" dirty="0">
                <a:latin typeface="Arial" panose="020B0604020202020204" pitchFamily="34" charset="0"/>
              </a:rPr>
              <a:t>NOTE:</a:t>
            </a:r>
            <a:r>
              <a:rPr lang="en-US" altLang="en-US" sz="1050" dirty="0">
                <a:latin typeface="Arial" panose="020B0604020202020204" pitchFamily="34" charset="0"/>
              </a:rPr>
              <a:t> Safety stock is defined as extra units of inventory carried as protection against possible stockouts. It is held when an organization cannot accurately predict demand and/or lead time for the product. For example, if a manufacturing company were to continually run out of inventory, they would need to keep some extra inventory on hand so they could attempt to meet demand while they were producing more inventory. Safety Stocks enable organizations to satisfy customer demand in the event of these possibilities:</a:t>
            </a:r>
          </a:p>
          <a:p>
            <a:r>
              <a:rPr lang="en-US" altLang="en-US" sz="1050" dirty="0">
                <a:latin typeface="Arial" panose="020B0604020202020204" pitchFamily="34" charset="0"/>
              </a:rPr>
              <a:t>Supplier may deliver their product late or not at all </a:t>
            </a:r>
          </a:p>
          <a:p>
            <a:r>
              <a:rPr lang="en-US" altLang="en-US" sz="1050" dirty="0">
                <a:latin typeface="Arial" panose="020B0604020202020204" pitchFamily="34" charset="0"/>
              </a:rPr>
              <a:t>The warehouse may be on strike </a:t>
            </a:r>
          </a:p>
          <a:p>
            <a:r>
              <a:rPr lang="en-US" altLang="en-US" sz="1050" dirty="0">
                <a:latin typeface="Arial" panose="020B0604020202020204" pitchFamily="34" charset="0"/>
              </a:rPr>
              <a:t>A number of items at the warehouse my be of poor quality and replacements are in order </a:t>
            </a:r>
          </a:p>
          <a:p>
            <a:r>
              <a:rPr lang="en-US" altLang="en-US" sz="1050" dirty="0">
                <a:latin typeface="Arial" panose="020B0604020202020204" pitchFamily="34" charset="0"/>
              </a:rPr>
              <a:t>A competitor may be sold out on a product, increasing the demand for your products </a:t>
            </a:r>
          </a:p>
          <a:p>
            <a:r>
              <a:rPr lang="en-US" altLang="en-US" sz="1050" dirty="0">
                <a:latin typeface="Arial" panose="020B0604020202020204" pitchFamily="34" charset="0"/>
              </a:rPr>
              <a:t>Random Demand (In reality, random events occur) </a:t>
            </a:r>
          </a:p>
          <a:p>
            <a:r>
              <a:rPr lang="en-US" altLang="en-US" sz="1050" dirty="0">
                <a:latin typeface="Arial" panose="020B0604020202020204" pitchFamily="34" charset="0"/>
              </a:rPr>
              <a:t>Machinery Breakdown </a:t>
            </a:r>
          </a:p>
          <a:p>
            <a:r>
              <a:rPr lang="en-US" altLang="en-US" sz="1050" dirty="0">
                <a:latin typeface="Arial" panose="020B0604020202020204" pitchFamily="34" charset="0"/>
              </a:rPr>
              <a:t>...and other reasons</a:t>
            </a:r>
          </a:p>
          <a:p>
            <a:r>
              <a:rPr lang="en-US" altLang="en-US" sz="1050" b="1" dirty="0">
                <a:latin typeface="Arial" panose="020B0604020202020204" pitchFamily="34" charset="0"/>
              </a:rPr>
              <a:t>SAY:</a:t>
            </a:r>
            <a:r>
              <a:rPr lang="en-US" altLang="en-US" sz="1050" dirty="0">
                <a:latin typeface="Arial" panose="020B0604020202020204" pitchFamily="34" charset="0"/>
              </a:rPr>
              <a:t> </a:t>
            </a:r>
            <a:r>
              <a:rPr lang="ja-JP" altLang="en-US" sz="1050" dirty="0">
                <a:latin typeface="Arial" panose="020B0604020202020204" pitchFamily="34" charset="0"/>
              </a:rPr>
              <a:t>“</a:t>
            </a:r>
            <a:r>
              <a:rPr lang="en-US" altLang="ja-JP" sz="1050" dirty="0">
                <a:latin typeface="Arial" panose="020B0604020202020204" pitchFamily="34" charset="0"/>
              </a:rPr>
              <a:t>When considering the EDDLT (Estimated Daily Demand Lead Time), consider that once you have reached your reorder point, your remaining inventory will continue to be consumed. The replenishment should occur before your inventory level dips into the safety stock however should you frequently dip into your safety stock it would indicate that you need to review your EDDLT as well as your safety stock level.  The same is true should your replenishment occur well before you reach your safety stock line.</a:t>
            </a:r>
            <a:r>
              <a:rPr lang="ja-JP" altLang="en-US" sz="1050" dirty="0">
                <a:latin typeface="Arial" panose="020B0604020202020204" pitchFamily="34" charset="0"/>
              </a:rPr>
              <a:t>”</a:t>
            </a:r>
            <a:endParaRPr lang="en-US" altLang="ja-JP" sz="1050" dirty="0">
              <a:latin typeface="Arial" panose="020B0604020202020204" pitchFamily="34" charset="0"/>
            </a:endParaRPr>
          </a:p>
          <a:p>
            <a:endParaRPr lang="en-US" altLang="en-US" sz="1050" dirty="0">
              <a:latin typeface="Arial" panose="020B0604020202020204" pitchFamily="34" charset="0"/>
            </a:endParaRPr>
          </a:p>
          <a:p>
            <a:r>
              <a:rPr lang="en-US" altLang="en-US" sz="1050" b="1" dirty="0">
                <a:latin typeface="Arial" panose="020B0604020202020204" pitchFamily="34" charset="0"/>
              </a:rPr>
              <a:t>SAY: </a:t>
            </a:r>
            <a:r>
              <a:rPr lang="ja-JP" altLang="en-US" sz="1050" dirty="0">
                <a:latin typeface="Arial" panose="020B0604020202020204" pitchFamily="34" charset="0"/>
              </a:rPr>
              <a:t>“</a:t>
            </a:r>
            <a:r>
              <a:rPr lang="en-US" altLang="ja-JP" sz="1050" dirty="0">
                <a:latin typeface="Arial" panose="020B0604020202020204" pitchFamily="34" charset="0"/>
              </a:rPr>
              <a:t>Order frequency is the frequency at which the consuming process will take place. This is expressed in days or fractions thereof.  This is calculated by dividing 1 day by the number of set-ups allocated to the product in the capacity analysis worksheet.  Example: 1 day divided by 0.5 set-ups per day assigned to a product equals an order frequency of every 2 days (1/0.5=2)</a:t>
            </a:r>
            <a:endParaRPr lang="en-US" altLang="ja-JP" sz="1050" b="1" dirty="0">
              <a:latin typeface="Arial" panose="020B0604020202020204" pitchFamily="34" charset="0"/>
            </a:endParaRPr>
          </a:p>
          <a:p>
            <a:endParaRPr lang="en-US" altLang="en-US" sz="1050" dirty="0">
              <a:latin typeface="Arial" panose="020B0604020202020204" pitchFamily="34" charset="0"/>
            </a:endParaRPr>
          </a:p>
          <a:p>
            <a:endParaRPr lang="en-US" altLang="en-US" sz="1050" dirty="0">
              <a:latin typeface="Arial" panose="020B0604020202020204" pitchFamily="34" charset="0"/>
            </a:endParaRPr>
          </a:p>
          <a:p>
            <a:endParaRPr lang="en-US" sz="1050"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966417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00" b="1" dirty="0">
                <a:latin typeface="Arial" panose="020B0604020202020204" pitchFamily="34" charset="0"/>
              </a:rPr>
              <a:t>SAY:</a:t>
            </a:r>
            <a:r>
              <a:rPr lang="en-US" altLang="en-US" sz="1000" dirty="0">
                <a:latin typeface="Arial" panose="020B0604020202020204" pitchFamily="34" charset="0"/>
              </a:rPr>
              <a:t> </a:t>
            </a:r>
            <a:r>
              <a:rPr lang="ja-JP" altLang="en-US" sz="1000" dirty="0">
                <a:latin typeface="Arial" panose="020B0604020202020204" pitchFamily="34" charset="0"/>
              </a:rPr>
              <a:t>“</a:t>
            </a:r>
            <a:r>
              <a:rPr lang="en-US" altLang="ja-JP" sz="1000" dirty="0">
                <a:latin typeface="Arial" panose="020B0604020202020204" pitchFamily="34" charset="0"/>
              </a:rPr>
              <a:t>What was 11.4 days is now 5.7 days by reducing your changeover time by half!</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a:p>
            <a:r>
              <a:rPr lang="en-US" altLang="en-US" sz="1000" b="1" dirty="0">
                <a:latin typeface="Arial" panose="020B0604020202020204" pitchFamily="34" charset="0"/>
              </a:rPr>
              <a:t>SAY:</a:t>
            </a:r>
            <a:r>
              <a:rPr lang="en-US" altLang="en-US" sz="1000" dirty="0">
                <a:latin typeface="Arial" panose="020B0604020202020204" pitchFamily="34" charset="0"/>
              </a:rPr>
              <a:t> </a:t>
            </a:r>
            <a:r>
              <a:rPr lang="ja-JP" altLang="en-US" sz="1000" dirty="0">
                <a:latin typeface="Arial" panose="020B0604020202020204" pitchFamily="34" charset="0"/>
              </a:rPr>
              <a:t>“</a:t>
            </a:r>
            <a:r>
              <a:rPr lang="en-US" altLang="ja-JP" sz="1000" dirty="0">
                <a:latin typeface="Arial" panose="020B0604020202020204" pitchFamily="34" charset="0"/>
              </a:rPr>
              <a:t>This is the </a:t>
            </a:r>
            <a:r>
              <a:rPr lang="ja-JP" altLang="en-US" sz="1000" dirty="0">
                <a:latin typeface="Arial" panose="020B0604020202020204" pitchFamily="34" charset="0"/>
              </a:rPr>
              <a:t>‘</a:t>
            </a:r>
            <a:r>
              <a:rPr lang="en-US" altLang="ja-JP" sz="1000" dirty="0">
                <a:latin typeface="Arial" panose="020B0604020202020204" pitchFamily="34" charset="0"/>
              </a:rPr>
              <a:t>financial</a:t>
            </a:r>
            <a:r>
              <a:rPr lang="ja-JP" altLang="en-US" sz="1000" dirty="0">
                <a:latin typeface="Arial" panose="020B0604020202020204" pitchFamily="34" charset="0"/>
              </a:rPr>
              <a:t>’</a:t>
            </a:r>
            <a:r>
              <a:rPr lang="en-US" altLang="ja-JP" sz="1000" dirty="0">
                <a:latin typeface="Arial" panose="020B0604020202020204" pitchFamily="34" charset="0"/>
              </a:rPr>
              <a:t> magic of Kanban.  If we leverage our capability to </a:t>
            </a:r>
            <a:r>
              <a:rPr lang="ja-JP" altLang="en-US" sz="1000" dirty="0">
                <a:latin typeface="Arial" panose="020B0604020202020204" pitchFamily="34" charset="0"/>
              </a:rPr>
              <a:t>“</a:t>
            </a:r>
            <a:r>
              <a:rPr lang="en-US" altLang="ja-JP" sz="1000" dirty="0">
                <a:latin typeface="Arial" panose="020B0604020202020204" pitchFamily="34" charset="0"/>
              </a:rPr>
              <a:t>set up</a:t>
            </a:r>
            <a:r>
              <a:rPr lang="ja-JP" altLang="en-US" sz="1000" dirty="0">
                <a:latin typeface="Arial" panose="020B0604020202020204" pitchFamily="34" charset="0"/>
              </a:rPr>
              <a:t>”</a:t>
            </a:r>
            <a:r>
              <a:rPr lang="en-US" altLang="ja-JP" sz="1000" dirty="0">
                <a:latin typeface="Arial" panose="020B0604020202020204" pitchFamily="34" charset="0"/>
              </a:rPr>
              <a:t> in 50% of the time, we can now work to aggressively </a:t>
            </a:r>
            <a:r>
              <a:rPr lang="ja-JP" altLang="en-US" sz="1000" dirty="0">
                <a:latin typeface="Arial" panose="020B0604020202020204" pitchFamily="34" charset="0"/>
              </a:rPr>
              <a:t>‘</a:t>
            </a:r>
            <a:r>
              <a:rPr lang="en-US" altLang="ja-JP" sz="1000" dirty="0">
                <a:latin typeface="Arial" panose="020B0604020202020204" pitchFamily="34" charset="0"/>
              </a:rPr>
              <a:t>burn down</a:t>
            </a:r>
            <a:r>
              <a:rPr lang="ja-JP" altLang="en-US" sz="1000" dirty="0">
                <a:latin typeface="Arial" panose="020B0604020202020204" pitchFamily="34" charset="0"/>
              </a:rPr>
              <a:t>’</a:t>
            </a:r>
            <a:r>
              <a:rPr lang="en-US" altLang="ja-JP" sz="1000" dirty="0">
                <a:latin typeface="Arial" panose="020B0604020202020204" pitchFamily="34" charset="0"/>
              </a:rPr>
              <a:t> the inventory levels (and CAPTURE CASH).</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a:p>
            <a:r>
              <a:rPr lang="en-US" altLang="en-US" sz="1000" b="1" dirty="0">
                <a:latin typeface="Arial" panose="020B0604020202020204" pitchFamily="34" charset="0"/>
              </a:rPr>
              <a:t>ASK:</a:t>
            </a:r>
            <a:r>
              <a:rPr lang="en-US" altLang="en-US" sz="1000" dirty="0">
                <a:latin typeface="Arial" panose="020B0604020202020204" pitchFamily="34" charset="0"/>
              </a:rPr>
              <a:t> </a:t>
            </a:r>
            <a:r>
              <a:rPr lang="ja-JP" altLang="en-US" sz="1000" dirty="0">
                <a:latin typeface="Arial" panose="020B0604020202020204" pitchFamily="34" charset="0"/>
              </a:rPr>
              <a:t>“</a:t>
            </a:r>
            <a:r>
              <a:rPr lang="en-US" altLang="ja-JP" sz="1000" dirty="0">
                <a:latin typeface="Arial" panose="020B0604020202020204" pitchFamily="34" charset="0"/>
              </a:rPr>
              <a:t>What happens if the amount of material you need is reduced by 50% to:</a:t>
            </a:r>
          </a:p>
          <a:p>
            <a:pPr>
              <a:buFontTx/>
              <a:buChar char="•"/>
            </a:pPr>
            <a:r>
              <a:rPr lang="en-US" altLang="en-US" sz="1000" dirty="0">
                <a:latin typeface="Arial" panose="020B0604020202020204" pitchFamily="34" charset="0"/>
              </a:rPr>
              <a:t>Floor space</a:t>
            </a:r>
          </a:p>
          <a:p>
            <a:pPr>
              <a:buFontTx/>
              <a:buChar char="•"/>
            </a:pPr>
            <a:r>
              <a:rPr lang="en-US" altLang="en-US" sz="1000" dirty="0">
                <a:latin typeface="Arial" panose="020B0604020202020204" pitchFamily="34" charset="0"/>
              </a:rPr>
              <a:t>Scheduling</a:t>
            </a:r>
          </a:p>
          <a:p>
            <a:pPr>
              <a:buFontTx/>
              <a:buChar char="•"/>
            </a:pPr>
            <a:r>
              <a:rPr lang="en-US" altLang="en-US" sz="1000" dirty="0">
                <a:latin typeface="Arial" panose="020B0604020202020204" pitchFamily="34" charset="0"/>
              </a:rPr>
              <a:t>Material Handling</a:t>
            </a:r>
          </a:p>
          <a:p>
            <a:pPr>
              <a:buFontTx/>
              <a:buChar char="•"/>
            </a:pPr>
            <a:r>
              <a:rPr lang="en-US" altLang="en-US" sz="1000" dirty="0">
                <a:latin typeface="Arial" panose="020B0604020202020204" pitchFamily="34" charset="0"/>
              </a:rPr>
              <a:t>Proximity of machines and work centers</a:t>
            </a:r>
          </a:p>
          <a:p>
            <a:pPr>
              <a:buFontTx/>
              <a:buChar char="•"/>
            </a:pPr>
            <a:r>
              <a:rPr lang="en-US" altLang="en-US" sz="1000" dirty="0">
                <a:latin typeface="Arial" panose="020B0604020202020204" pitchFamily="34" charset="0"/>
              </a:rPr>
              <a:t>??</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9442084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Walk through the example and provide a written example on a flip chart.  Ask the class to calculate another example and volunteer an answer.</a:t>
            </a: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18355125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Walk through analysis.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2931697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the purpose of ABC analysis.  Similar to the 80/20 rule.</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 I kanban?</a:t>
            </a:r>
            <a:r>
              <a:rPr lang="ja-JP" altLang="en-US" dirty="0">
                <a:latin typeface="Arial" panose="020B0604020202020204" pitchFamily="34" charset="0"/>
              </a:rPr>
              <a:t>”</a:t>
            </a:r>
            <a:r>
              <a:rPr lang="en-US" altLang="ja-JP" dirty="0">
                <a:latin typeface="Arial" panose="020B0604020202020204" pitchFamily="34" charset="0"/>
              </a:rPr>
              <a:t>  There is no single answer!</a:t>
            </a:r>
          </a:p>
          <a:p>
            <a:endParaRPr lang="en-US" altLang="en-US" dirty="0">
              <a:latin typeface="Arial" panose="020B0604020202020204" pitchFamily="34" charset="0"/>
            </a:endParaRPr>
          </a:p>
          <a:p>
            <a:r>
              <a:rPr lang="en-US" altLang="en-US" dirty="0">
                <a:latin typeface="Arial" panose="020B0604020202020204" pitchFamily="34" charset="0"/>
              </a:rPr>
              <a:t>Keep in mind our objective:</a:t>
            </a:r>
          </a:p>
          <a:p>
            <a:pPr>
              <a:buFontTx/>
              <a:buChar char="•"/>
            </a:pPr>
            <a:r>
              <a:rPr lang="en-US" altLang="en-US" dirty="0">
                <a:latin typeface="Arial" panose="020B0604020202020204" pitchFamily="34" charset="0"/>
              </a:rPr>
              <a:t>Enable flow …</a:t>
            </a:r>
          </a:p>
          <a:p>
            <a:pPr>
              <a:buFontTx/>
              <a:buChar char="•"/>
            </a:pPr>
            <a:r>
              <a:rPr lang="en-US" altLang="en-US" dirty="0">
                <a:latin typeface="Arial" panose="020B0604020202020204" pitchFamily="34" charset="0"/>
              </a:rPr>
              <a:t>What risk factors are involved?</a:t>
            </a:r>
          </a:p>
          <a:p>
            <a:pPr>
              <a:buFontTx/>
              <a:buChar char="•"/>
            </a:pPr>
            <a:r>
              <a:rPr lang="en-US" altLang="en-US" dirty="0">
                <a:latin typeface="Arial" panose="020B0604020202020204" pitchFamily="34" charset="0"/>
              </a:rPr>
              <a:t>What kind of recovery can I make?</a:t>
            </a:r>
          </a:p>
          <a:p>
            <a:pPr>
              <a:buFontTx/>
              <a:buChar char="•"/>
            </a:pPr>
            <a:r>
              <a:rPr lang="en-US" altLang="en-US" dirty="0">
                <a:latin typeface="Arial" panose="020B0604020202020204" pitchFamily="34" charset="0"/>
              </a:rPr>
              <a:t>How big is the part?</a:t>
            </a:r>
          </a:p>
          <a:p>
            <a:pPr>
              <a:buFontTx/>
              <a:buChar char="•"/>
            </a:pPr>
            <a:r>
              <a:rPr lang="en-US" altLang="en-US" dirty="0">
                <a:latin typeface="Arial" panose="020B0604020202020204" pitchFamily="34" charset="0"/>
              </a:rPr>
              <a:t>Can I substitute if necessary?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5478673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steps to conducting an ABC analysis. </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You will always find this type of mix …</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You WILL find that (in current conditions) there is almost NO correlation between lead time and inventory levels.  e.g. You will have short lead time parts with 300 days of material on hand.  A good Materials plan will be able to identify these and others to improve flow and release captured cash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791151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00" b="1" dirty="0">
                <a:latin typeface="Arial" panose="020B0604020202020204" pitchFamily="34" charset="0"/>
              </a:rPr>
              <a:t>SAY:</a:t>
            </a:r>
            <a:r>
              <a:rPr lang="en-US" altLang="en-US" sz="1000" dirty="0">
                <a:latin typeface="Arial" panose="020B0604020202020204" pitchFamily="34" charset="0"/>
              </a:rPr>
              <a:t> </a:t>
            </a:r>
          </a:p>
          <a:p>
            <a:r>
              <a:rPr lang="en-US" altLang="en-US" sz="1000" dirty="0">
                <a:latin typeface="Arial" panose="020B0604020202020204" pitchFamily="34" charset="0"/>
              </a:rPr>
              <a:t>How to handle spikes in production: </a:t>
            </a:r>
          </a:p>
          <a:p>
            <a:r>
              <a:rPr lang="ja-JP" altLang="en-US" sz="1000" dirty="0">
                <a:latin typeface="Arial" panose="020B0604020202020204" pitchFamily="34" charset="0"/>
              </a:rPr>
              <a:t>“</a:t>
            </a:r>
            <a:r>
              <a:rPr lang="en-US" altLang="ja-JP" sz="1000" dirty="0">
                <a:latin typeface="Arial" panose="020B0604020202020204" pitchFamily="34" charset="0"/>
              </a:rPr>
              <a:t>You may see a spike in production that exceeds your normal Kanban quantity.  We need to be able to respond to this demand but in a way that we do not trigger the Kanban to keep making extra product after the demand has been satisfied.  This is accomplished by using one time, or single use, Kanban cards.  They are issued in normal Kanban container quantities and injected into the system.  The product is produced and the one time Kanban quantity is delivered to the supermarket.  We will use this product first, before consuming the normal Kanban parts.  Once the single use Kanban container is used, the single use card is returned to the planner, not the Kanban post – this takes the replenishment demand out of the process.</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a:p>
            <a:r>
              <a:rPr lang="en-US" altLang="en-US" sz="1000" dirty="0">
                <a:latin typeface="Arial" panose="020B0604020202020204" pitchFamily="34" charset="0"/>
              </a:rPr>
              <a:t>How to determine amount of WIP:</a:t>
            </a:r>
          </a:p>
          <a:p>
            <a:r>
              <a:rPr lang="ja-JP" altLang="en-US" sz="1000" dirty="0">
                <a:latin typeface="Arial" panose="020B0604020202020204" pitchFamily="34" charset="0"/>
              </a:rPr>
              <a:t>“</a:t>
            </a:r>
            <a:r>
              <a:rPr lang="en-US" altLang="ja-JP" sz="1000" dirty="0">
                <a:latin typeface="Arial" panose="020B0604020202020204" pitchFamily="34" charset="0"/>
              </a:rPr>
              <a:t>Your authorized WIP is an easy calculation.  Take the number of Kanban cards and multiply by the card quantity.</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a:p>
            <a:r>
              <a:rPr lang="en-US" altLang="en-US" sz="1000" dirty="0">
                <a:latin typeface="Arial" panose="020B0604020202020204" pitchFamily="34" charset="0"/>
              </a:rPr>
              <a:t>What if I loose a card?:</a:t>
            </a:r>
          </a:p>
          <a:p>
            <a:r>
              <a:rPr lang="ja-JP" altLang="en-US" sz="1000" dirty="0">
                <a:latin typeface="Arial" panose="020B0604020202020204" pitchFamily="34" charset="0"/>
              </a:rPr>
              <a:t>“</a:t>
            </a:r>
            <a:r>
              <a:rPr lang="en-US" altLang="ja-JP" sz="1000" dirty="0">
                <a:latin typeface="Arial" panose="020B0604020202020204" pitchFamily="34" charset="0"/>
              </a:rPr>
              <a:t>This is a very important point.  Our system integrity is only as good as we keep control of our cards.  A good practice is to make the Kanban card larger than a shirt or pants pocket.  This will prevent the card from ending up in the laundry!  We validate the integrity of the number of cards in the system by periodically preforming a cycle count on them.</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a:p>
            <a:r>
              <a:rPr lang="en-US" altLang="en-US" sz="1000" dirty="0">
                <a:latin typeface="Arial" panose="020B0604020202020204" pitchFamily="34" charset="0"/>
              </a:rPr>
              <a:t>Is a Kanban a </a:t>
            </a:r>
            <a:r>
              <a:rPr lang="ja-JP" altLang="en-US" sz="1000" dirty="0">
                <a:latin typeface="Arial" panose="020B0604020202020204" pitchFamily="34" charset="0"/>
              </a:rPr>
              <a:t>“</a:t>
            </a:r>
            <a:r>
              <a:rPr lang="en-US" altLang="ja-JP" sz="1000" dirty="0">
                <a:latin typeface="Arial" panose="020B0604020202020204" pitchFamily="34" charset="0"/>
              </a:rPr>
              <a:t>set it and forget it</a:t>
            </a:r>
            <a:r>
              <a:rPr lang="ja-JP" altLang="en-US" sz="1000" dirty="0">
                <a:latin typeface="Arial" panose="020B0604020202020204" pitchFamily="34" charset="0"/>
              </a:rPr>
              <a:t>”</a:t>
            </a:r>
            <a:r>
              <a:rPr lang="en-US" altLang="ja-JP" sz="1000" dirty="0">
                <a:latin typeface="Arial" panose="020B0604020202020204" pitchFamily="34" charset="0"/>
              </a:rPr>
              <a:t> system?:</a:t>
            </a:r>
          </a:p>
          <a:p>
            <a:r>
              <a:rPr lang="ja-JP" altLang="en-US" sz="1000" dirty="0">
                <a:latin typeface="Arial" panose="020B0604020202020204" pitchFamily="34" charset="0"/>
              </a:rPr>
              <a:t>“</a:t>
            </a:r>
            <a:r>
              <a:rPr lang="en-US" altLang="ja-JP" sz="1000" dirty="0">
                <a:latin typeface="Arial" panose="020B0604020202020204" pitchFamily="34" charset="0"/>
              </a:rPr>
              <a:t>Absolutely not!  Kanban is a dynamic system, and the demand needs to be revisited on a regular basis depending on the volatility of change in your particular products.  Failure to do this will almost always end in problems.</a:t>
            </a:r>
            <a:r>
              <a:rPr lang="ja-JP" altLang="en-US" sz="1000" dirty="0">
                <a:latin typeface="Arial" panose="020B0604020202020204" pitchFamily="34" charset="0"/>
              </a:rPr>
              <a:t>”</a:t>
            </a:r>
            <a:endParaRPr lang="en-US" altLang="ja-JP" sz="1000" dirty="0">
              <a:latin typeface="Arial" panose="020B0604020202020204" pitchFamily="34" charset="0"/>
            </a:endParaRPr>
          </a:p>
          <a:p>
            <a:endParaRPr lang="en-US" altLang="en-US" sz="1000" dirty="0">
              <a:latin typeface="Arial" panose="020B0604020202020204" pitchFamily="34" charset="0"/>
            </a:endParaRPr>
          </a:p>
          <a:p>
            <a:r>
              <a:rPr lang="en-US" altLang="en-US" sz="1000" dirty="0">
                <a:latin typeface="Arial" panose="020B0604020202020204" pitchFamily="34" charset="0"/>
              </a:rPr>
              <a:t>Where do we start?:</a:t>
            </a:r>
          </a:p>
          <a:p>
            <a:r>
              <a:rPr lang="ja-JP" altLang="en-US" sz="1000" dirty="0">
                <a:latin typeface="Arial" panose="020B0604020202020204" pitchFamily="34" charset="0"/>
              </a:rPr>
              <a:t>“</a:t>
            </a:r>
            <a:r>
              <a:rPr lang="en-US" altLang="ja-JP" sz="1000" dirty="0">
                <a:latin typeface="Arial" panose="020B0604020202020204" pitchFamily="34" charset="0"/>
              </a:rPr>
              <a:t>Don</a:t>
            </a:r>
            <a:r>
              <a:rPr lang="ja-JP" altLang="en-US" sz="1000" dirty="0">
                <a:latin typeface="Arial" panose="020B0604020202020204" pitchFamily="34" charset="0"/>
              </a:rPr>
              <a:t>’</a:t>
            </a:r>
            <a:r>
              <a:rPr lang="en-US" altLang="ja-JP" sz="1000" dirty="0">
                <a:latin typeface="Arial" panose="020B0604020202020204" pitchFamily="34" charset="0"/>
              </a:rPr>
              <a:t>t try to eat an elephant in one bite!  Start with one product and value stream.  Let that product be your test drive to identify strengths and weaknesses in your implementation.  Learn from that as you implement the Kanban in other products and value streams.  Use it to build confidence and let others see it working – then branch out from there.</a:t>
            </a:r>
            <a:r>
              <a:rPr lang="ja-JP" altLang="en-US" sz="1000" dirty="0">
                <a:latin typeface="Arial" panose="020B0604020202020204" pitchFamily="34" charset="0"/>
              </a:rPr>
              <a:t>”</a:t>
            </a:r>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7069229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this section.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29133775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SAY: </a:t>
            </a:r>
            <a:r>
              <a:rPr lang="en-US" altLang="en-US" sz="800" dirty="0">
                <a:latin typeface="Arial" panose="020B0604020202020204" pitchFamily="34" charset="0"/>
              </a:rPr>
              <a:t>Conduct an ABC analysis and determine what parts should be on Kanban and which should be on Kanban and which parts should be produced on an as needed basis.  Decide on boundaries for replenishing.</a:t>
            </a:r>
          </a:p>
          <a:p>
            <a:endParaRPr lang="en-US" altLang="en-US" sz="800" dirty="0">
              <a:latin typeface="Arial" panose="020B0604020202020204" pitchFamily="34" charset="0"/>
            </a:endParaRPr>
          </a:p>
          <a:p>
            <a:r>
              <a:rPr lang="en-US" altLang="en-US" sz="800" dirty="0">
                <a:latin typeface="Arial" panose="020B0604020202020204" pitchFamily="34" charset="0"/>
              </a:rPr>
              <a:t>In the ABC parts example </a:t>
            </a:r>
            <a:r>
              <a:rPr lang="ja-JP" altLang="en-US" sz="800" dirty="0">
                <a:latin typeface="Arial" panose="020B0604020202020204" pitchFamily="34" charset="0"/>
              </a:rPr>
              <a:t>“</a:t>
            </a:r>
            <a:r>
              <a:rPr lang="en-US" altLang="ja-JP" sz="800" dirty="0">
                <a:latin typeface="Arial" panose="020B0604020202020204" pitchFamily="34" charset="0"/>
              </a:rPr>
              <a:t>A</a:t>
            </a:r>
            <a:r>
              <a:rPr lang="ja-JP" altLang="en-US" sz="800" dirty="0">
                <a:latin typeface="Arial" panose="020B0604020202020204" pitchFamily="34" charset="0"/>
              </a:rPr>
              <a:t>”</a:t>
            </a:r>
            <a:r>
              <a:rPr lang="en-US" altLang="ja-JP" sz="800" dirty="0">
                <a:latin typeface="Arial" panose="020B0604020202020204" pitchFamily="34" charset="0"/>
              </a:rPr>
              <a:t> demand is greater than or equal to 100 per day, </a:t>
            </a:r>
            <a:r>
              <a:rPr lang="ja-JP" altLang="en-US" sz="800" dirty="0">
                <a:latin typeface="Arial" panose="020B0604020202020204" pitchFamily="34" charset="0"/>
              </a:rPr>
              <a:t>“</a:t>
            </a:r>
            <a:r>
              <a:rPr lang="en-US" altLang="ja-JP" sz="800" dirty="0">
                <a:latin typeface="Arial" panose="020B0604020202020204" pitchFamily="34" charset="0"/>
              </a:rPr>
              <a:t>B</a:t>
            </a:r>
            <a:r>
              <a:rPr lang="ja-JP" altLang="en-US" sz="800" dirty="0">
                <a:latin typeface="Arial" panose="020B0604020202020204" pitchFamily="34" charset="0"/>
              </a:rPr>
              <a:t>”</a:t>
            </a:r>
            <a:r>
              <a:rPr lang="en-US" altLang="ja-JP" sz="800" dirty="0">
                <a:latin typeface="Arial" panose="020B0604020202020204" pitchFamily="34" charset="0"/>
              </a:rPr>
              <a:t> is less than 100 but greater than 45, and </a:t>
            </a:r>
            <a:r>
              <a:rPr lang="ja-JP" altLang="en-US" sz="800" dirty="0">
                <a:latin typeface="Arial" panose="020B0604020202020204" pitchFamily="34" charset="0"/>
              </a:rPr>
              <a:t>“</a:t>
            </a:r>
            <a:r>
              <a:rPr lang="en-US" altLang="ja-JP" sz="800" dirty="0">
                <a:latin typeface="Arial" panose="020B0604020202020204" pitchFamily="34" charset="0"/>
              </a:rPr>
              <a:t>C</a:t>
            </a:r>
            <a:r>
              <a:rPr lang="ja-JP" altLang="en-US" sz="800" dirty="0">
                <a:latin typeface="Arial" panose="020B0604020202020204" pitchFamily="34" charset="0"/>
              </a:rPr>
              <a:t>”</a:t>
            </a:r>
            <a:r>
              <a:rPr lang="en-US" altLang="ja-JP" sz="800" dirty="0">
                <a:latin typeface="Arial" panose="020B0604020202020204" pitchFamily="34" charset="0"/>
              </a:rPr>
              <a:t> might be less than 45 per day.</a:t>
            </a:r>
          </a:p>
          <a:p>
            <a:endParaRPr lang="en-US" altLang="en-US" sz="800" dirty="0">
              <a:latin typeface="Arial" panose="020B0604020202020204" pitchFamily="34" charset="0"/>
            </a:endParaRPr>
          </a:p>
          <a:p>
            <a:r>
              <a:rPr lang="en-US" altLang="en-US" sz="800" dirty="0">
                <a:latin typeface="Arial" panose="020B0604020202020204" pitchFamily="34" charset="0"/>
              </a:rPr>
              <a:t>Put together a demand analysis (see work sheet).</a:t>
            </a:r>
          </a:p>
          <a:p>
            <a:endParaRPr lang="en-US" altLang="en-US" sz="800" dirty="0">
              <a:latin typeface="Arial" panose="020B0604020202020204" pitchFamily="34" charset="0"/>
            </a:endParaRPr>
          </a:p>
          <a:p>
            <a:pPr>
              <a:buFontTx/>
              <a:buChar char="•"/>
            </a:pPr>
            <a:r>
              <a:rPr lang="en-US" altLang="en-US" sz="800" dirty="0">
                <a:latin typeface="Arial" panose="020B0604020202020204" pitchFamily="34" charset="0"/>
              </a:rPr>
              <a:t>Demand analysis allows us to determine our resource allocation</a:t>
            </a:r>
          </a:p>
          <a:p>
            <a:pPr>
              <a:buFontTx/>
              <a:buChar char="•"/>
            </a:pPr>
            <a:r>
              <a:rPr lang="en-US" altLang="en-US" sz="800" dirty="0">
                <a:latin typeface="Arial" panose="020B0604020202020204" pitchFamily="34" charset="0"/>
              </a:rPr>
              <a:t>Begin by listing all product part numbers that run through a particular resource.  Notate daily demand.</a:t>
            </a:r>
          </a:p>
          <a:p>
            <a:pPr>
              <a:buFontTx/>
              <a:buChar char="•"/>
            </a:pPr>
            <a:r>
              <a:rPr lang="en-US" altLang="en-US" sz="800" dirty="0">
                <a:latin typeface="Arial" panose="020B0604020202020204" pitchFamily="34" charset="0"/>
              </a:rPr>
              <a:t>Assign ABC classification to each part</a:t>
            </a:r>
          </a:p>
          <a:p>
            <a:pPr>
              <a:buFontTx/>
              <a:buChar char="•"/>
            </a:pPr>
            <a:r>
              <a:rPr lang="en-US" altLang="en-US" sz="800" dirty="0">
                <a:latin typeface="Arial" panose="020B0604020202020204" pitchFamily="34" charset="0"/>
              </a:rPr>
              <a:t>Understand cycle time of machines/cells for each part number.</a:t>
            </a:r>
          </a:p>
          <a:p>
            <a:pPr marL="420688" lvl="1" indent="-179388"/>
            <a:r>
              <a:rPr lang="en-US" altLang="en-US" sz="800" dirty="0">
                <a:latin typeface="Arial" panose="020B0604020202020204" pitchFamily="34" charset="0"/>
              </a:rPr>
              <a:t>Often times the cycle time can vary from machine to machine or cell to cell</a:t>
            </a:r>
          </a:p>
          <a:p>
            <a:endParaRPr lang="en-US" altLang="en-US" sz="800" dirty="0">
              <a:latin typeface="Arial" panose="020B0604020202020204" pitchFamily="34" charset="0"/>
            </a:endParaRPr>
          </a:p>
          <a:p>
            <a:endParaRPr lang="en-US" altLang="en-US" sz="800" dirty="0">
              <a:latin typeface="Arial" panose="020B0604020202020204" pitchFamily="34" charset="0"/>
            </a:endParaRPr>
          </a:p>
          <a:p>
            <a:r>
              <a:rPr lang="en-US" altLang="en-US" sz="800" b="1" dirty="0">
                <a:latin typeface="Arial" panose="020B0604020202020204" pitchFamily="34" charset="0"/>
              </a:rPr>
              <a:t>DO:</a:t>
            </a:r>
            <a:r>
              <a:rPr lang="en-US" altLang="en-US" sz="800" dirty="0">
                <a:latin typeface="Arial" panose="020B0604020202020204" pitchFamily="34" charset="0"/>
              </a:rPr>
              <a:t> Select machine or cell if there are multiple sources of supply.  Allocate the load across the machines or cells, understand that the cycle time of the different supplying machines or cells may vary. (See worksheet for machine cycle time analysis)</a:t>
            </a:r>
          </a:p>
          <a:p>
            <a:endParaRPr lang="en-US" altLang="en-US" sz="800" b="1" dirty="0">
              <a:latin typeface="Arial" panose="020B0604020202020204" pitchFamily="34" charset="0"/>
            </a:endParaRPr>
          </a:p>
          <a:p>
            <a:r>
              <a:rPr lang="en-US" altLang="en-US" sz="800" b="1" dirty="0">
                <a:latin typeface="Arial" panose="020B0604020202020204" pitchFamily="34" charset="0"/>
              </a:rPr>
              <a:t>SAY:</a:t>
            </a:r>
            <a:r>
              <a:rPr lang="en-US" altLang="en-US" sz="800" dirty="0">
                <a:latin typeface="Arial" panose="020B0604020202020204" pitchFamily="34" charset="0"/>
              </a:rPr>
              <a:t> Using the data accumulated, make sure your allocation has overloaded one or more of your supplying sources.</a:t>
            </a:r>
          </a:p>
          <a:p>
            <a:endParaRPr lang="en-US" altLang="en-US" sz="800" b="1" dirty="0">
              <a:latin typeface="Arial" panose="020B0604020202020204" pitchFamily="34" charset="0"/>
            </a:endParaRPr>
          </a:p>
          <a:p>
            <a:r>
              <a:rPr lang="en-US" altLang="en-US" sz="800" dirty="0">
                <a:latin typeface="Arial" panose="020B0604020202020204" pitchFamily="34" charset="0"/>
              </a:rPr>
              <a:t>Complete the capacity analysis worksheet (See copy). Caution, always try to leave some time for un-allocated set ups, (emergency jobs will happen)</a:t>
            </a:r>
          </a:p>
          <a:p>
            <a:endParaRPr lang="en-US" altLang="en-US" sz="800" dirty="0">
              <a:latin typeface="Arial" panose="020B0604020202020204" pitchFamily="34" charset="0"/>
            </a:endParaRPr>
          </a:p>
          <a:p>
            <a:r>
              <a:rPr lang="en-US" altLang="en-US" sz="800" dirty="0">
                <a:latin typeface="Arial" panose="020B0604020202020204" pitchFamily="34" charset="0"/>
              </a:rPr>
              <a:t>Now that you understand your capacity, you may need to revisit the number of days you plan to run your ABC parts to make sure that you will enough time in the day to accommodate the number of set ups that you will need.</a:t>
            </a:r>
          </a:p>
          <a:p>
            <a:endParaRPr lang="en-US" altLang="en-US" sz="800" dirty="0">
              <a:latin typeface="Arial" panose="020B0604020202020204" pitchFamily="34" charset="0"/>
            </a:endParaRPr>
          </a:p>
          <a:p>
            <a:r>
              <a:rPr lang="en-US" altLang="en-US" sz="800" dirty="0">
                <a:latin typeface="Arial" panose="020B0604020202020204" pitchFamily="34" charset="0"/>
              </a:rPr>
              <a:t>Remember, all parts do not need (or deserve) to be on Kanban.  Eliminate the odd, one-off parts from the process.  You will want to run your </a:t>
            </a:r>
            <a:r>
              <a:rPr lang="ja-JP" altLang="en-US" sz="800" dirty="0">
                <a:latin typeface="Arial" panose="020B0604020202020204" pitchFamily="34" charset="0"/>
              </a:rPr>
              <a:t>“</a:t>
            </a:r>
            <a:r>
              <a:rPr lang="en-US" altLang="ja-JP" sz="800" dirty="0">
                <a:latin typeface="Arial" panose="020B0604020202020204" pitchFamily="34" charset="0"/>
              </a:rPr>
              <a:t>A</a:t>
            </a:r>
            <a:r>
              <a:rPr lang="ja-JP" altLang="en-US" sz="800" dirty="0">
                <a:latin typeface="Arial" panose="020B0604020202020204" pitchFamily="34" charset="0"/>
              </a:rPr>
              <a:t>”</a:t>
            </a:r>
            <a:r>
              <a:rPr lang="en-US" altLang="ja-JP" sz="800" dirty="0">
                <a:latin typeface="Arial" panose="020B0604020202020204" pitchFamily="34" charset="0"/>
              </a:rPr>
              <a:t> parts more frequently, the </a:t>
            </a:r>
            <a:r>
              <a:rPr lang="ja-JP" altLang="en-US" sz="800" dirty="0">
                <a:latin typeface="Arial" panose="020B0604020202020204" pitchFamily="34" charset="0"/>
              </a:rPr>
              <a:t>“</a:t>
            </a:r>
            <a:r>
              <a:rPr lang="en-US" altLang="ja-JP" sz="800" dirty="0">
                <a:latin typeface="Arial" panose="020B0604020202020204" pitchFamily="34" charset="0"/>
              </a:rPr>
              <a:t>B</a:t>
            </a:r>
            <a:r>
              <a:rPr lang="ja-JP" altLang="en-US" sz="800" dirty="0">
                <a:latin typeface="Arial" panose="020B0604020202020204" pitchFamily="34" charset="0"/>
              </a:rPr>
              <a:t>”</a:t>
            </a:r>
            <a:r>
              <a:rPr lang="en-US" altLang="ja-JP" sz="800" dirty="0">
                <a:latin typeface="Arial" panose="020B0604020202020204" pitchFamily="34" charset="0"/>
              </a:rPr>
              <a:t> parts less frequently and the </a:t>
            </a:r>
            <a:r>
              <a:rPr lang="ja-JP" altLang="en-US" sz="800" dirty="0">
                <a:latin typeface="Arial" panose="020B0604020202020204" pitchFamily="34" charset="0"/>
              </a:rPr>
              <a:t>“</a:t>
            </a:r>
            <a:r>
              <a:rPr lang="en-US" altLang="ja-JP" sz="800" dirty="0">
                <a:latin typeface="Arial" panose="020B0604020202020204" pitchFamily="34" charset="0"/>
              </a:rPr>
              <a:t>C</a:t>
            </a:r>
            <a:r>
              <a:rPr lang="ja-JP" altLang="en-US" sz="800" dirty="0">
                <a:latin typeface="Arial" panose="020B0604020202020204" pitchFamily="34" charset="0"/>
              </a:rPr>
              <a:t>”</a:t>
            </a:r>
            <a:r>
              <a:rPr lang="en-US" altLang="ja-JP" sz="800" dirty="0">
                <a:latin typeface="Arial" panose="020B0604020202020204" pitchFamily="34" charset="0"/>
              </a:rPr>
              <a:t> parts even less frequent – perhaps only once every 4-5 weeks.  By running the </a:t>
            </a:r>
            <a:r>
              <a:rPr lang="ja-JP" altLang="en-US" sz="800" dirty="0">
                <a:latin typeface="Arial" panose="020B0604020202020204" pitchFamily="34" charset="0"/>
              </a:rPr>
              <a:t>“</a:t>
            </a:r>
            <a:r>
              <a:rPr lang="en-US" altLang="ja-JP" sz="800" dirty="0">
                <a:latin typeface="Arial" panose="020B0604020202020204" pitchFamily="34" charset="0"/>
              </a:rPr>
              <a:t>A</a:t>
            </a:r>
            <a:r>
              <a:rPr lang="ja-JP" altLang="en-US" sz="800" dirty="0">
                <a:latin typeface="Arial" panose="020B0604020202020204" pitchFamily="34" charset="0"/>
              </a:rPr>
              <a:t>”</a:t>
            </a:r>
            <a:r>
              <a:rPr lang="en-US" altLang="ja-JP" sz="800" dirty="0">
                <a:latin typeface="Arial" panose="020B0604020202020204" pitchFamily="34" charset="0"/>
              </a:rPr>
              <a:t> items more often, we reduce the opportunity to have too much inventory.  We can run the </a:t>
            </a:r>
            <a:r>
              <a:rPr lang="ja-JP" altLang="en-US" sz="800" dirty="0">
                <a:latin typeface="Arial" panose="020B0604020202020204" pitchFamily="34" charset="0"/>
              </a:rPr>
              <a:t>“</a:t>
            </a:r>
            <a:r>
              <a:rPr lang="en-US" altLang="ja-JP" sz="800" dirty="0">
                <a:latin typeface="Arial" panose="020B0604020202020204" pitchFamily="34" charset="0"/>
              </a:rPr>
              <a:t>C</a:t>
            </a:r>
            <a:r>
              <a:rPr lang="ja-JP" altLang="en-US" sz="800" dirty="0">
                <a:latin typeface="Arial" panose="020B0604020202020204" pitchFamily="34" charset="0"/>
              </a:rPr>
              <a:t>”</a:t>
            </a:r>
            <a:r>
              <a:rPr lang="en-US" altLang="ja-JP" sz="800" dirty="0">
                <a:latin typeface="Arial" panose="020B0604020202020204" pitchFamily="34" charset="0"/>
              </a:rPr>
              <a:t> items less often because weeks worth of them likely represent a small % of total inventory costs.</a:t>
            </a:r>
          </a:p>
          <a:p>
            <a:endParaRPr lang="en-US" altLang="en-US" sz="800" dirty="0">
              <a:latin typeface="Arial" panose="020B0604020202020204" pitchFamily="34" charset="0"/>
            </a:endParaRPr>
          </a:p>
          <a:p>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1361253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Describe how the participants will need to benchmark improvements by implementing the Kanban system.  This slide provides some sample performance indicators that measure success.</a:t>
            </a: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9122544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35387238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Cover report-out guidelines.</a:t>
            </a:r>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42516205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Kanban is a manual process and must be managed carefully – risks of human error.  If implemented and managed, Kanban can be highly successful.</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Kanban is a disciplined process that must be managed with rigorous MDI.</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Kanban should be used to systematically reduce inventory in pursuit of the next rock to fix.</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3180354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worksheet is provided to show what the worksheet looks like.  The same demand analysis worksheet is provided later for demonstration.</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3706852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Explain when filling out the machine allocation table, that you should refer to the ABC analysis to understand machine cycle times.  If there is more than one resource available, load the </a:t>
            </a:r>
            <a:r>
              <a:rPr lang="ja-JP" altLang="en-US" dirty="0">
                <a:latin typeface="Arial" panose="020B0604020202020204" pitchFamily="34" charset="0"/>
              </a:rPr>
              <a:t>“</a:t>
            </a:r>
            <a:r>
              <a:rPr lang="en-US" altLang="ja-JP" dirty="0">
                <a:latin typeface="Arial" panose="020B0604020202020204" pitchFamily="34" charset="0"/>
              </a:rPr>
              <a:t>A</a:t>
            </a:r>
            <a:r>
              <a:rPr lang="ja-JP" altLang="en-US" dirty="0">
                <a:latin typeface="Arial" panose="020B0604020202020204" pitchFamily="34" charset="0"/>
              </a:rPr>
              <a:t>”’</a:t>
            </a:r>
            <a:r>
              <a:rPr lang="en-US" altLang="ja-JP" dirty="0">
                <a:latin typeface="Arial" panose="020B0604020202020204" pitchFamily="34" charset="0"/>
              </a:rPr>
              <a:t>s on the resource with the fastest cycle times, then cascade the </a:t>
            </a:r>
            <a:r>
              <a:rPr lang="ja-JP" altLang="en-US" dirty="0">
                <a:latin typeface="Arial" panose="020B0604020202020204" pitchFamily="34" charset="0"/>
              </a:rPr>
              <a:t>“</a:t>
            </a:r>
            <a:r>
              <a:rPr lang="en-US" altLang="ja-JP" dirty="0">
                <a:latin typeface="Arial" panose="020B0604020202020204" pitchFamily="34" charset="0"/>
              </a:rPr>
              <a:t>B</a:t>
            </a:r>
            <a:r>
              <a:rPr lang="ja-JP" altLang="en-US" dirty="0">
                <a:latin typeface="Arial" panose="020B0604020202020204" pitchFamily="34" charset="0"/>
              </a:rPr>
              <a:t>”’</a:t>
            </a:r>
            <a:r>
              <a:rPr lang="en-US" altLang="ja-JP" dirty="0">
                <a:latin typeface="Arial" panose="020B0604020202020204" pitchFamily="34" charset="0"/>
              </a:rPr>
              <a:t>s and </a:t>
            </a:r>
            <a:r>
              <a:rPr lang="ja-JP" altLang="en-US" dirty="0">
                <a:latin typeface="Arial" panose="020B0604020202020204" pitchFamily="34" charset="0"/>
              </a:rPr>
              <a:t>“</a:t>
            </a:r>
            <a:r>
              <a:rPr lang="en-US" altLang="ja-JP" dirty="0">
                <a:latin typeface="Arial" panose="020B0604020202020204" pitchFamily="34" charset="0"/>
              </a:rPr>
              <a:t>C</a:t>
            </a:r>
            <a:r>
              <a:rPr lang="ja-JP" altLang="en-US" dirty="0">
                <a:latin typeface="Arial" panose="020B0604020202020204" pitchFamily="34" charset="0"/>
              </a:rPr>
              <a:t>”’</a:t>
            </a:r>
            <a:r>
              <a:rPr lang="en-US" altLang="ja-JP" dirty="0">
                <a:latin typeface="Arial" panose="020B0604020202020204" pitchFamily="34" charset="0"/>
              </a:rPr>
              <a:t>s accordingly.</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25674426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Show how to complete the demand analysis worksheet.</a:t>
            </a:r>
          </a:p>
          <a:p>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The worksheet is embedded as a Microsoft Excel worksheet.  You can edit the file from within this presentation, however not while it is in the full screen slideshow.  Press </a:t>
            </a:r>
            <a:r>
              <a:rPr lang="ja-JP" altLang="en-US" dirty="0">
                <a:latin typeface="Arial" panose="020B0604020202020204" pitchFamily="34" charset="0"/>
              </a:rPr>
              <a:t>“</a:t>
            </a:r>
            <a:r>
              <a:rPr lang="en-US" altLang="ja-JP" dirty="0">
                <a:latin typeface="Arial" panose="020B0604020202020204" pitchFamily="34" charset="0"/>
              </a:rPr>
              <a:t>Esc</a:t>
            </a:r>
            <a:r>
              <a:rPr lang="ja-JP" altLang="en-US" dirty="0">
                <a:latin typeface="Arial" panose="020B0604020202020204" pitchFamily="34" charset="0"/>
              </a:rPr>
              <a:t>”</a:t>
            </a:r>
            <a:r>
              <a:rPr lang="en-US" altLang="ja-JP" dirty="0">
                <a:latin typeface="Arial" panose="020B0604020202020204" pitchFamily="34" charset="0"/>
              </a:rPr>
              <a:t> to exit the slide show, then right click the object, select </a:t>
            </a:r>
            <a:r>
              <a:rPr lang="ja-JP" altLang="en-US" dirty="0">
                <a:latin typeface="Arial" panose="020B0604020202020204" pitchFamily="34" charset="0"/>
              </a:rPr>
              <a:t>“</a:t>
            </a:r>
            <a:r>
              <a:rPr lang="en-US" altLang="ja-JP" dirty="0">
                <a:latin typeface="Arial" panose="020B0604020202020204" pitchFamily="34" charset="0"/>
              </a:rPr>
              <a:t>Worksheet Object</a:t>
            </a:r>
            <a:r>
              <a:rPr lang="ja-JP" altLang="en-US" dirty="0">
                <a:latin typeface="Arial" panose="020B0604020202020204" pitchFamily="34" charset="0"/>
              </a:rPr>
              <a:t>”</a:t>
            </a:r>
            <a:r>
              <a:rPr lang="en-US" altLang="ja-JP" dirty="0">
                <a:latin typeface="Arial" panose="020B0604020202020204" pitchFamily="34" charset="0"/>
              </a:rPr>
              <a:t> then edit.  Alternatively, if it is easier, you can have this file opened in Excel on the side.</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9827035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en-US" altLang="en-US" dirty="0">
                <a:latin typeface="Arial" panose="020B0604020202020204" pitchFamily="34" charset="0"/>
              </a:rPr>
              <a:t>This process takes into account the set up times for each supply resource, the total time available in a day, the uptime of the supply resource which will then give us the net available time.  </a:t>
            </a:r>
          </a:p>
          <a:p>
            <a:endParaRPr lang="en-US" altLang="en-US" dirty="0">
              <a:latin typeface="Arial" panose="020B0604020202020204" pitchFamily="34" charset="0"/>
            </a:endParaRPr>
          </a:p>
          <a:p>
            <a:r>
              <a:rPr lang="en-US" altLang="en-US" dirty="0">
                <a:latin typeface="Arial" panose="020B0604020202020204" pitchFamily="34" charset="0"/>
              </a:rPr>
              <a:t>We calculate the total machine (or cell) cycle time to determine the total cycle time.  We subtract the cycle time from net available time to reach the time left for set-ups. We take the time available for set-up and divide by time per set-up to determine the maximum number of set-ups we could expect.</a:t>
            </a:r>
          </a:p>
          <a:p>
            <a:endParaRPr lang="en-US" altLang="en-US" dirty="0">
              <a:latin typeface="Arial" panose="020B0604020202020204" pitchFamily="34" charset="0"/>
            </a:endParaRPr>
          </a:p>
          <a:p>
            <a:r>
              <a:rPr lang="en-US" altLang="en-US" dirty="0">
                <a:latin typeface="Arial" panose="020B0604020202020204" pitchFamily="34" charset="0"/>
              </a:rPr>
              <a:t>Please always allow some time for unallocated set-ups to accommodate drop in demand</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15866436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Show how to complete the capacity analysis worksheet.</a:t>
            </a:r>
          </a:p>
          <a:p>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The worksheet is embedded as a Microsoft Excel worksheet.  You can edit the file from within this presentation, however not while it is in the full screen slideshow.  Press </a:t>
            </a:r>
            <a:r>
              <a:rPr lang="ja-JP" altLang="en-US" dirty="0">
                <a:latin typeface="Arial" panose="020B0604020202020204" pitchFamily="34" charset="0"/>
              </a:rPr>
              <a:t>“</a:t>
            </a:r>
            <a:r>
              <a:rPr lang="en-US" altLang="ja-JP" dirty="0">
                <a:latin typeface="Arial" panose="020B0604020202020204" pitchFamily="34" charset="0"/>
              </a:rPr>
              <a:t>Esc</a:t>
            </a:r>
            <a:r>
              <a:rPr lang="ja-JP" altLang="en-US" dirty="0">
                <a:latin typeface="Arial" panose="020B0604020202020204" pitchFamily="34" charset="0"/>
              </a:rPr>
              <a:t>”</a:t>
            </a:r>
            <a:r>
              <a:rPr lang="en-US" altLang="ja-JP" dirty="0">
                <a:latin typeface="Arial" panose="020B0604020202020204" pitchFamily="34" charset="0"/>
              </a:rPr>
              <a:t> to exit the slide show, then right click the object, select </a:t>
            </a:r>
            <a:r>
              <a:rPr lang="ja-JP" altLang="en-US" dirty="0">
                <a:latin typeface="Arial" panose="020B0604020202020204" pitchFamily="34" charset="0"/>
              </a:rPr>
              <a:t>“</a:t>
            </a:r>
            <a:r>
              <a:rPr lang="en-US" altLang="ja-JP" dirty="0">
                <a:latin typeface="Arial" panose="020B0604020202020204" pitchFamily="34" charset="0"/>
              </a:rPr>
              <a:t>Worksheet Object</a:t>
            </a:r>
            <a:r>
              <a:rPr lang="ja-JP" altLang="en-US" dirty="0">
                <a:latin typeface="Arial" panose="020B0604020202020204" pitchFamily="34" charset="0"/>
              </a:rPr>
              <a:t>”</a:t>
            </a:r>
            <a:r>
              <a:rPr lang="en-US" altLang="ja-JP" dirty="0">
                <a:latin typeface="Arial" panose="020B0604020202020204" pitchFamily="34" charset="0"/>
              </a:rPr>
              <a:t> then edit.  Alternatively, if it is easier, you can have this file opened in Excel on the side.</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8288123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Explain the formula to calculate the number of Kanban cards needed.</a:t>
            </a:r>
          </a:p>
          <a:p>
            <a:endParaRPr lang="en-US" altLang="en-US" dirty="0">
              <a:latin typeface="Arial" panose="020B0604020202020204" pitchFamily="34" charset="0"/>
            </a:endParaRPr>
          </a:p>
          <a:p>
            <a:r>
              <a:rPr lang="en-US" altLang="en-US" dirty="0">
                <a:latin typeface="Arial" panose="020B0604020202020204" pitchFamily="34" charset="0"/>
              </a:rPr>
              <a:t>The formula is as follows:</a:t>
            </a:r>
          </a:p>
          <a:p>
            <a:r>
              <a:rPr lang="en-US" altLang="en-US" dirty="0">
                <a:latin typeface="Arial" panose="020B0604020202020204" pitchFamily="34" charset="0"/>
              </a:rPr>
              <a:t>Number of </a:t>
            </a:r>
            <a:r>
              <a:rPr lang="en-US" altLang="en-US" dirty="0" err="1">
                <a:latin typeface="Arial" panose="020B0604020202020204" pitchFamily="34" charset="0"/>
              </a:rPr>
              <a:t>Kanbans</a:t>
            </a:r>
            <a:r>
              <a:rPr lang="en-US" altLang="en-US" dirty="0">
                <a:latin typeface="Arial" panose="020B0604020202020204" pitchFamily="34" charset="0"/>
              </a:rPr>
              <a:t> + Daily Demand X Order Frequency + Lead Time + Safety Time ÷ Container Quantity</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11305176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Show how to complete the Kanban calculation worksheet.</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Explain that the calculations used in this worksheet are the same ones used by Toyota.</a:t>
            </a:r>
            <a:endParaRPr lang="en-US" altLang="en-US" b="1"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The worksheet is embedded as a Microsoft Excel worksheet.  You can edit the file from within this presentation, however not while it is in the full screen slideshow.  Press </a:t>
            </a:r>
            <a:r>
              <a:rPr lang="ja-JP" altLang="en-US" dirty="0">
                <a:latin typeface="Arial" panose="020B0604020202020204" pitchFamily="34" charset="0"/>
              </a:rPr>
              <a:t>“</a:t>
            </a:r>
            <a:r>
              <a:rPr lang="en-US" altLang="ja-JP" dirty="0">
                <a:latin typeface="Arial" panose="020B0604020202020204" pitchFamily="34" charset="0"/>
              </a:rPr>
              <a:t>Esc</a:t>
            </a:r>
            <a:r>
              <a:rPr lang="ja-JP" altLang="en-US" dirty="0">
                <a:latin typeface="Arial" panose="020B0604020202020204" pitchFamily="34" charset="0"/>
              </a:rPr>
              <a:t>”</a:t>
            </a:r>
            <a:r>
              <a:rPr lang="en-US" altLang="ja-JP" dirty="0">
                <a:latin typeface="Arial" panose="020B0604020202020204" pitchFamily="34" charset="0"/>
              </a:rPr>
              <a:t> to exit the slide show, then right click the object, select </a:t>
            </a:r>
            <a:r>
              <a:rPr lang="ja-JP" altLang="en-US" dirty="0">
                <a:latin typeface="Arial" panose="020B0604020202020204" pitchFamily="34" charset="0"/>
              </a:rPr>
              <a:t>“</a:t>
            </a:r>
            <a:r>
              <a:rPr lang="en-US" altLang="ja-JP" dirty="0">
                <a:latin typeface="Arial" panose="020B0604020202020204" pitchFamily="34" charset="0"/>
              </a:rPr>
              <a:t>Worksheet Object</a:t>
            </a:r>
            <a:r>
              <a:rPr lang="ja-JP" altLang="en-US" dirty="0">
                <a:latin typeface="Arial" panose="020B0604020202020204" pitchFamily="34" charset="0"/>
              </a:rPr>
              <a:t>”</a:t>
            </a:r>
            <a:r>
              <a:rPr lang="en-US" altLang="ja-JP" dirty="0">
                <a:latin typeface="Arial" panose="020B0604020202020204" pitchFamily="34" charset="0"/>
              </a:rPr>
              <a:t> then edit.  Alternatively, if it is easier, you can have this file opened in Excel on the side.</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44294158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Once your Kanban is in place, you might find that your inventory will grow.  This is a temporary </a:t>
            </a:r>
            <a:r>
              <a:rPr lang="ja-JP" altLang="en-US" dirty="0">
                <a:latin typeface="Arial" panose="020B0604020202020204" pitchFamily="34" charset="0"/>
              </a:rPr>
              <a:t>“</a:t>
            </a:r>
            <a:r>
              <a:rPr lang="en-US" altLang="ja-JP" dirty="0">
                <a:latin typeface="Arial" panose="020B0604020202020204" pitchFamily="34" charset="0"/>
              </a:rPr>
              <a:t>growing pain</a:t>
            </a:r>
            <a:r>
              <a:rPr lang="ja-JP" altLang="en-US" dirty="0">
                <a:latin typeface="Arial" panose="020B0604020202020204" pitchFamily="34" charset="0"/>
              </a:rPr>
              <a:t>”</a:t>
            </a:r>
            <a:r>
              <a:rPr lang="en-US" altLang="ja-JP" dirty="0">
                <a:latin typeface="Arial" panose="020B0604020202020204" pitchFamily="34" charset="0"/>
              </a:rPr>
              <a:t> due to the fact that you are filling your Kanban supermarkets with the correct quantities of the correct parts.  You also may have too many of other parts that you already had on hand that must be worked down.  </a:t>
            </a:r>
          </a:p>
          <a:p>
            <a:r>
              <a:rPr lang="en-US" altLang="en-US" dirty="0">
                <a:latin typeface="Arial" panose="020B0604020202020204" pitchFamily="34" charset="0"/>
              </a:rPr>
              <a:t>You can work these down by identifying them with single use Kanban cards.  Consume these parts first before you start drawing on stock that is identified with a standard Kanban card.</a:t>
            </a:r>
            <a:r>
              <a:rPr lang="ja-JP" altLang="en-US" dirty="0">
                <a:latin typeface="Arial" panose="020B0604020202020204" pitchFamily="34" charset="0"/>
              </a:rPr>
              <a:t>”</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7209168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4275128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9221752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KANBAN PRESENTATION ENG REV4.0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14.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16.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19.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20.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5.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8.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Kanban</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Kanban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understand how a Kanban system may be applied to your business, process and role.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9" name="Group 8">
            <a:extLst>
              <a:ext uri="{FF2B5EF4-FFF2-40B4-BE49-F238E27FC236}">
                <a16:creationId xmlns:a16="http://schemas.microsoft.com/office/drawing/2014/main" id="{D373DDE4-05FA-3BEE-96DF-B7BE5CC68EC8}"/>
              </a:ext>
            </a:extLst>
          </p:cNvPr>
          <p:cNvGrpSpPr/>
          <p:nvPr/>
        </p:nvGrpSpPr>
        <p:grpSpPr>
          <a:xfrm>
            <a:off x="1603374" y="3429000"/>
            <a:ext cx="8226425" cy="1757363"/>
            <a:chOff x="1603375" y="3835400"/>
            <a:chExt cx="5735638" cy="1350963"/>
          </a:xfrm>
        </p:grpSpPr>
        <p:sp>
          <p:nvSpPr>
            <p:cNvPr id="4" name="AutoShape 2">
              <a:extLst>
                <a:ext uri="{FF2B5EF4-FFF2-40B4-BE49-F238E27FC236}">
                  <a16:creationId xmlns:a16="http://schemas.microsoft.com/office/drawing/2014/main" id="{4EA84535-21A8-296E-02EC-5B9A7C37BD37}"/>
                </a:ext>
              </a:extLst>
            </p:cNvPr>
            <p:cNvSpPr>
              <a:spLocks noChangeArrowheads="1"/>
            </p:cNvSpPr>
            <p:nvPr/>
          </p:nvSpPr>
          <p:spPr bwMode="auto">
            <a:xfrm>
              <a:off x="5738813"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      Implementing Kanban</a:t>
              </a:r>
            </a:p>
          </p:txBody>
        </p:sp>
        <p:sp>
          <p:nvSpPr>
            <p:cNvPr id="6" name="AutoShape 3">
              <a:extLst>
                <a:ext uri="{FF2B5EF4-FFF2-40B4-BE49-F238E27FC236}">
                  <a16:creationId xmlns:a16="http://schemas.microsoft.com/office/drawing/2014/main" id="{D8E877AE-3EC3-E749-5296-C472D15BBD9E}"/>
                </a:ext>
              </a:extLst>
            </p:cNvPr>
            <p:cNvSpPr>
              <a:spLocks noChangeArrowheads="1"/>
            </p:cNvSpPr>
            <p:nvPr/>
          </p:nvSpPr>
          <p:spPr bwMode="auto">
            <a:xfrm>
              <a:off x="4398963"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Kanban Calculations</a:t>
              </a:r>
            </a:p>
          </p:txBody>
        </p:sp>
        <p:sp>
          <p:nvSpPr>
            <p:cNvPr id="7" name="AutoShape 5">
              <a:extLst>
                <a:ext uri="{FF2B5EF4-FFF2-40B4-BE49-F238E27FC236}">
                  <a16:creationId xmlns:a16="http://schemas.microsoft.com/office/drawing/2014/main" id="{67773682-C5A4-3698-1468-0D73DBE8D830}"/>
                </a:ext>
              </a:extLst>
            </p:cNvPr>
            <p:cNvSpPr>
              <a:spLocks noChangeArrowheads="1"/>
            </p:cNvSpPr>
            <p:nvPr/>
          </p:nvSpPr>
          <p:spPr bwMode="auto">
            <a:xfrm>
              <a:off x="3060700" y="3840163"/>
              <a:ext cx="1482725" cy="1346200"/>
            </a:xfrm>
            <a:prstGeom prst="homePlate">
              <a:avLst>
                <a:gd name="adj" fmla="val 10336"/>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Types of Kanban and How Kanban Works</a:t>
              </a:r>
            </a:p>
          </p:txBody>
        </p:sp>
        <p:sp>
          <p:nvSpPr>
            <p:cNvPr id="8" name="AutoShape 6">
              <a:extLst>
                <a:ext uri="{FF2B5EF4-FFF2-40B4-BE49-F238E27FC236}">
                  <a16:creationId xmlns:a16="http://schemas.microsoft.com/office/drawing/2014/main" id="{40784166-046B-7177-FFE2-23E4B1B81E49}"/>
                </a:ext>
              </a:extLst>
            </p:cNvPr>
            <p:cNvSpPr>
              <a:spLocks noChangeArrowheads="1"/>
            </p:cNvSpPr>
            <p:nvPr/>
          </p:nvSpPr>
          <p:spPr bwMode="auto">
            <a:xfrm>
              <a:off x="16033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Push vs. Pull</a:t>
              </a:r>
            </a:p>
          </p:txBody>
        </p:sp>
      </p:grpSp>
    </p:spTree>
    <p:extLst>
      <p:ext uri="{BB962C8B-B14F-4D97-AF65-F5344CB8AC3E}">
        <p14:creationId xmlns:p14="http://schemas.microsoft.com/office/powerpoint/2010/main" val="1280178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Kanban Training Overview</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After completing the module, you will be able to: </a:t>
            </a:r>
          </a:p>
          <a:p>
            <a:r>
              <a:rPr lang="en-US" dirty="0"/>
              <a:t>Understand how a Kanban system may be applied to your business, process, and role</a:t>
            </a:r>
          </a:p>
          <a:p>
            <a:r>
              <a:rPr lang="en-US" dirty="0"/>
              <a:t>Apply your Kanban knowledge, experience and tools to begin building the foundation for a Kanban environment</a:t>
            </a:r>
          </a:p>
          <a:p>
            <a:r>
              <a:rPr lang="en-US" dirty="0"/>
              <a:t>Gain experiential knowledge and lessons learned from experts and other participants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spTree>
    <p:extLst>
      <p:ext uri="{BB962C8B-B14F-4D97-AF65-F5344CB8AC3E}">
        <p14:creationId xmlns:p14="http://schemas.microsoft.com/office/powerpoint/2010/main" val="876792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lstStyle/>
          <a:p>
            <a:r>
              <a:rPr lang="en-US" dirty="0"/>
              <a:t>Introduction to Kanban </a:t>
            </a:r>
          </a:p>
        </p:txBody>
      </p:sp>
      <p:grpSp>
        <p:nvGrpSpPr>
          <p:cNvPr id="22" name="Group 21">
            <a:extLst>
              <a:ext uri="{FF2B5EF4-FFF2-40B4-BE49-F238E27FC236}">
                <a16:creationId xmlns:a16="http://schemas.microsoft.com/office/drawing/2014/main" id="{6C889D24-EEB6-369B-EC17-FB2BA2D2288E}"/>
              </a:ext>
            </a:extLst>
          </p:cNvPr>
          <p:cNvGrpSpPr/>
          <p:nvPr/>
        </p:nvGrpSpPr>
        <p:grpSpPr>
          <a:xfrm>
            <a:off x="1191684" y="1679575"/>
            <a:ext cx="9808633" cy="4337403"/>
            <a:chOff x="622300" y="1679575"/>
            <a:chExt cx="8213725" cy="4049713"/>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rPr>
                  <a:t>A Healthy Thought</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When to Use</a:t>
                </a: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Defined</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Kanban is a pull system</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Japanese word; loosely translated means card, billboard or signboard </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Used to control over-production, for visual control, and as a way to link processes together</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When processes cannot be linked together in a cell</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When process lead time is greater than the frozen master schedule horizon</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With low $ items on which the business doesn’t want to spend resources managing</a:t>
              </a:r>
            </a:p>
            <a:p>
              <a:pPr eaLnBrk="1" hangingPunct="1">
                <a:lnSpc>
                  <a:spcPct val="100000"/>
                </a:lnSpc>
                <a:spcBef>
                  <a:spcPct val="20000"/>
                </a:spcBef>
                <a:spcAft>
                  <a:spcPct val="20000"/>
                </a:spcAft>
                <a:buClr>
                  <a:schemeClr val="tx1"/>
                </a:buClr>
                <a:buFont typeface="Arial" panose="020B0604020202020204" pitchFamily="34" charset="0"/>
                <a:buChar char="•"/>
              </a:pPr>
              <a:endParaRPr lang="en-US" altLang="en-US" sz="1600" b="0" dirty="0">
                <a:latin typeface="Roboto" panose="02000000000000000000" pitchFamily="2" charset="0"/>
                <a:ea typeface="Roboto" panose="02000000000000000000" pitchFamily="2" charset="0"/>
              </a:endParaRP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“Kanban is an admission of failure to do one-piece flow.” </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--Chihiro Nakao, President, </a:t>
              </a:r>
              <a:r>
                <a:rPr lang="en-US" altLang="en-US" sz="1600" b="0" dirty="0" err="1">
                  <a:solidFill>
                    <a:schemeClr val="tx1"/>
                  </a:solidFill>
                  <a:latin typeface="Roboto" panose="02000000000000000000" pitchFamily="2" charset="0"/>
                  <a:ea typeface="Roboto" panose="02000000000000000000" pitchFamily="2" charset="0"/>
                </a:rPr>
                <a:t>Shingijutsu</a:t>
              </a:r>
              <a:r>
                <a:rPr lang="en-US" altLang="en-US" sz="1600" b="0" dirty="0">
                  <a:solidFill>
                    <a:schemeClr val="tx1"/>
                  </a:solidFill>
                  <a:latin typeface="Roboto" panose="02000000000000000000" pitchFamily="2" charset="0"/>
                  <a:ea typeface="Roboto" panose="02000000000000000000" pitchFamily="2" charset="0"/>
                </a:rPr>
                <a:t> Co., Ltd.</a:t>
              </a:r>
            </a:p>
            <a:p>
              <a:pPr algn="l" eaLnBrk="1" hangingPunct="1">
                <a:lnSpc>
                  <a:spcPct val="100000"/>
                </a:lnSpc>
                <a:spcAft>
                  <a:spcPct val="20000"/>
                </a:spcAft>
                <a:buClr>
                  <a:schemeClr val="tx1"/>
                </a:buClr>
                <a:buSzPct val="90000"/>
                <a:buFont typeface="Arial" panose="020B0604020202020204" pitchFamily="34" charset="0"/>
                <a:buChar char="•"/>
              </a:pPr>
              <a:endParaRPr lang="en-US" altLang="en-US" sz="1600" b="0" dirty="0">
                <a:solidFill>
                  <a:schemeClr val="tx1"/>
                </a:solidFill>
                <a:latin typeface="Roboto" panose="02000000000000000000" pitchFamily="2" charset="0"/>
                <a:ea typeface="Roboto" panose="02000000000000000000" pitchFamily="2" charset="0"/>
              </a:endParaRPr>
            </a:p>
          </p:txBody>
        </p:sp>
        <p:sp>
          <p:nvSpPr>
            <p:cNvPr id="18" name="Oval 14">
              <a:extLst>
                <a:ext uri="{FF2B5EF4-FFF2-40B4-BE49-F238E27FC236}">
                  <a16:creationId xmlns:a16="http://schemas.microsoft.com/office/drawing/2014/main" id="{10424D23-D6AE-D70D-D272-DB7ADC7566D8}"/>
                </a:ext>
              </a:extLst>
            </p:cNvPr>
            <p:cNvSpPr>
              <a:spLocks noChangeArrowheads="1"/>
            </p:cNvSpPr>
            <p:nvPr/>
          </p:nvSpPr>
          <p:spPr bwMode="auto">
            <a:xfrm>
              <a:off x="776288"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chemeClr val="tx1"/>
                  </a:solidFill>
                  <a:latin typeface="Roboto" panose="02000000000000000000" pitchFamily="2" charset="0"/>
                  <a:ea typeface="Roboto" panose="02000000000000000000" pitchFamily="2" charset="0"/>
                </a:rPr>
                <a:t>1</a:t>
              </a:r>
            </a:p>
          </p:txBody>
        </p:sp>
        <p:sp>
          <p:nvSpPr>
            <p:cNvPr id="19" name="Oval 15">
              <a:extLst>
                <a:ext uri="{FF2B5EF4-FFF2-40B4-BE49-F238E27FC236}">
                  <a16:creationId xmlns:a16="http://schemas.microsoft.com/office/drawing/2014/main" id="{94E33EDE-8EFA-4D5B-0BA1-785F41683101}"/>
                </a:ext>
              </a:extLst>
            </p:cNvPr>
            <p:cNvSpPr>
              <a:spLocks noChangeArrowheads="1"/>
            </p:cNvSpPr>
            <p:nvPr/>
          </p:nvSpPr>
          <p:spPr bwMode="auto">
            <a:xfrm>
              <a:off x="3448050"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2</a:t>
              </a:r>
            </a:p>
          </p:txBody>
        </p:sp>
        <p:sp>
          <p:nvSpPr>
            <p:cNvPr id="20" name="Oval 16">
              <a:extLst>
                <a:ext uri="{FF2B5EF4-FFF2-40B4-BE49-F238E27FC236}">
                  <a16:creationId xmlns:a16="http://schemas.microsoft.com/office/drawing/2014/main" id="{92B71777-2A2A-C40B-AF33-125E30957E60}"/>
                </a:ext>
              </a:extLst>
            </p:cNvPr>
            <p:cNvSpPr>
              <a:spLocks noChangeArrowheads="1"/>
            </p:cNvSpPr>
            <p:nvPr/>
          </p:nvSpPr>
          <p:spPr bwMode="auto">
            <a:xfrm>
              <a:off x="5970588"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3</a:t>
              </a:r>
            </a:p>
          </p:txBody>
        </p:sp>
        <p:sp>
          <p:nvSpPr>
            <p:cNvPr id="21" name="AutoShape 17">
              <a:extLst>
                <a:ext uri="{FF2B5EF4-FFF2-40B4-BE49-F238E27FC236}">
                  <a16:creationId xmlns:a16="http://schemas.microsoft.com/office/drawing/2014/main" id="{0E35DF0B-DAA9-EB34-102D-99C91AD4E77D}"/>
                </a:ext>
              </a:extLst>
            </p:cNvPr>
            <p:cNvSpPr>
              <a:spLocks noChangeArrowheads="1"/>
            </p:cNvSpPr>
            <p:nvPr/>
          </p:nvSpPr>
          <p:spPr bwMode="auto">
            <a:xfrm>
              <a:off x="622300" y="52085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rPr>
                <a:t>Ultimately the best kanban is no kanban at all…</a:t>
              </a:r>
            </a:p>
          </p:txBody>
        </p:sp>
      </p:grpSp>
    </p:spTree>
    <p:extLst>
      <p:ext uri="{BB962C8B-B14F-4D97-AF65-F5344CB8AC3E}">
        <p14:creationId xmlns:p14="http://schemas.microsoft.com/office/powerpoint/2010/main" val="1608284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Introduction to Kanban </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a:bodyPr>
          <a:lstStyle/>
          <a:p>
            <a:r>
              <a:rPr lang="en-US" dirty="0"/>
              <a:t>It is rumored that Toyota got the idea of Kanban when visiting an American supermarket and looked at the produce.</a:t>
            </a:r>
          </a:p>
          <a:p>
            <a:r>
              <a:rPr lang="en-US" dirty="0"/>
              <a:t>The produce is fresh and plentiful but not so much that it will spoil on the shelf but is replenished in a timely basis.</a:t>
            </a:r>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pic>
        <p:nvPicPr>
          <p:cNvPr id="5" name="Picture 2">
            <a:extLst>
              <a:ext uri="{FF2B5EF4-FFF2-40B4-BE49-F238E27FC236}">
                <a16:creationId xmlns:a16="http://schemas.microsoft.com/office/drawing/2014/main" id="{1A4768A6-87B7-936A-E946-09D6ACE36D5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410450" y="1986756"/>
            <a:ext cx="2876550" cy="4284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5713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Introduction to Kanban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A successful Kanban implementation comes later in your lean journey.</a:t>
            </a:r>
          </a:p>
          <a:p>
            <a:r>
              <a:rPr lang="en-US" dirty="0"/>
              <a:t>Reliable processes and equipment must come first</a:t>
            </a:r>
          </a:p>
          <a:p>
            <a:r>
              <a:rPr lang="en-US" dirty="0"/>
              <a:t>Understand demand and capacity</a:t>
            </a:r>
          </a:p>
          <a:p>
            <a:r>
              <a:rPr lang="en-US" dirty="0"/>
              <a:t>Viable and repeatable 5S and visual control</a:t>
            </a:r>
          </a:p>
          <a:p>
            <a:r>
              <a:rPr lang="en-US" dirty="0"/>
              <a:t>Discipline at all levels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spTree>
    <p:extLst>
      <p:ext uri="{BB962C8B-B14F-4D97-AF65-F5344CB8AC3E}">
        <p14:creationId xmlns:p14="http://schemas.microsoft.com/office/powerpoint/2010/main" val="671296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Kanban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Kanban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a:t>
            </a:r>
            <a:b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following questions: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795757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Push vs. Pull Systems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continuous flow</a:t>
            </a:r>
          </a:p>
          <a:p>
            <a:r>
              <a:rPr lang="en-US" sz="2400" dirty="0"/>
              <a:t>Differentiate Push Systems from Pull Systems</a:t>
            </a:r>
          </a:p>
          <a:p>
            <a:r>
              <a:rPr lang="en-US" sz="2400" dirty="0"/>
              <a:t>Identify goals of a Pull System?</a:t>
            </a:r>
          </a:p>
          <a:p>
            <a:r>
              <a:rPr lang="en-US" sz="2400" dirty="0"/>
              <a:t>Determine if product will be made to order or to a supermarket</a:t>
            </a:r>
          </a:p>
          <a:p>
            <a:r>
              <a:rPr lang="en-US" sz="2400" dirty="0"/>
              <a:t>Discuss transitioning from MRP to Kanban</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Push vs. Pull Systems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Example of Continuous Flow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pic>
        <p:nvPicPr>
          <p:cNvPr id="4" name="Content Placeholder 2">
            <a:extLst>
              <a:ext uri="{FF2B5EF4-FFF2-40B4-BE49-F238E27FC236}">
                <a16:creationId xmlns:a16="http://schemas.microsoft.com/office/drawing/2014/main" id="{C50B21AD-735B-3020-2C63-67873725FAD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748212" y="1981994"/>
            <a:ext cx="2695575" cy="4038600"/>
          </a:xfrm>
        </p:spPr>
      </p:pic>
      <p:grpSp>
        <p:nvGrpSpPr>
          <p:cNvPr id="6" name="Group 5">
            <a:extLst>
              <a:ext uri="{FF2B5EF4-FFF2-40B4-BE49-F238E27FC236}">
                <a16:creationId xmlns:a16="http://schemas.microsoft.com/office/drawing/2014/main" id="{27AA95E1-C8E1-7346-47A2-A75409F38414}"/>
              </a:ext>
            </a:extLst>
          </p:cNvPr>
          <p:cNvGrpSpPr/>
          <p:nvPr/>
        </p:nvGrpSpPr>
        <p:grpSpPr>
          <a:xfrm>
            <a:off x="838200" y="297639"/>
            <a:ext cx="4241800" cy="301303"/>
            <a:chOff x="838200" y="297639"/>
            <a:chExt cx="4241800" cy="301303"/>
          </a:xfrm>
        </p:grpSpPr>
        <p:grpSp>
          <p:nvGrpSpPr>
            <p:cNvPr id="7" name="Group 6">
              <a:extLst>
                <a:ext uri="{FF2B5EF4-FFF2-40B4-BE49-F238E27FC236}">
                  <a16:creationId xmlns:a16="http://schemas.microsoft.com/office/drawing/2014/main" id="{D448B48C-70AD-4F6F-48E2-AF366A1CCAE2}"/>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43434684-B515-0A94-08FF-3B71AC57FB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9F7498F5-32CD-59DB-C71A-13B8375BCF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4B4820A-FDAD-5804-3DE7-ECEE3AFDAE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2417BE-4A51-CF40-04F8-74CE32C47D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9D89D790-A8AD-E63C-1042-CDAC0EFA83C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CA72EACC-65F9-6242-F68D-14826A3DC44A}"/>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spTree>
    <p:extLst>
      <p:ext uri="{BB962C8B-B14F-4D97-AF65-F5344CB8AC3E}">
        <p14:creationId xmlns:p14="http://schemas.microsoft.com/office/powerpoint/2010/main" val="313844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Process Flow Production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“Flow where you can”</a:t>
            </a:r>
          </a:p>
          <a:p>
            <a:pPr lvl="1"/>
            <a:r>
              <a:rPr lang="en-US" dirty="0"/>
              <a:t>Combine de-coupled processes</a:t>
            </a:r>
          </a:p>
          <a:p>
            <a:r>
              <a:rPr lang="en-US" dirty="0"/>
              <a:t>Caution:</a:t>
            </a:r>
          </a:p>
          <a:p>
            <a:pPr lvl="1"/>
            <a:r>
              <a:rPr lang="en-US" dirty="0"/>
              <a:t>Merging of process lead times &amp; downtimes</a:t>
            </a:r>
          </a:p>
          <a:p>
            <a:r>
              <a:rPr lang="en-US" dirty="0"/>
              <a:t>For Starters:</a:t>
            </a:r>
          </a:p>
          <a:p>
            <a:pPr lvl="1"/>
            <a:r>
              <a:rPr lang="en-US" dirty="0"/>
              <a:t>Combine Continuous Flow with Pull/FIFO systems</a:t>
            </a:r>
          </a:p>
          <a:p>
            <a:pPr lvl="1"/>
            <a:r>
              <a:rPr lang="en-US" dirty="0"/>
              <a:t>Proceed to Continuous Flow as more capability, availability, &amp; adequate equipment established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4" name="Group 3">
            <a:extLst>
              <a:ext uri="{FF2B5EF4-FFF2-40B4-BE49-F238E27FC236}">
                <a16:creationId xmlns:a16="http://schemas.microsoft.com/office/drawing/2014/main" id="{98EB66C6-DC4A-D543-A9D8-35F5D168522D}"/>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C24D6FED-3631-9922-68F2-C27A2D8C9C6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AF0EF9F7-E724-BE91-31D9-37B4679C40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69992795-5B2F-1EBA-C55C-17788ACD1984}"/>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39B37F68-4DD1-6A8B-2C30-14DDF554CD1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510E4B4C-196B-6FE2-C0E2-55760615DA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9C12AFF1-B5F4-8BB0-B383-20E37A397A77}"/>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88CDD730-89E0-9D47-C8E9-C075E5147EAF}"/>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spTree>
    <p:extLst>
      <p:ext uri="{BB962C8B-B14F-4D97-AF65-F5344CB8AC3E}">
        <p14:creationId xmlns:p14="http://schemas.microsoft.com/office/powerpoint/2010/main" val="2297024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Push Systems vs. Pull Systems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Push vs. Pull</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92500" lnSpcReduction="20000"/>
          </a:bodyPr>
          <a:lstStyle/>
          <a:p>
            <a:r>
              <a:rPr lang="en-US" dirty="0"/>
              <a:t>The main difference between a Push System and Pull System is the way in which information relates to the actual goods</a:t>
            </a:r>
          </a:p>
          <a:p>
            <a:r>
              <a:rPr lang="en-US" dirty="0"/>
              <a:t>Pull: Order information travels upstream from Sales (shipping) to </a:t>
            </a:r>
            <a:br>
              <a:rPr lang="en-US" dirty="0"/>
            </a:br>
            <a:r>
              <a:rPr lang="en-US" dirty="0"/>
              <a:t>the factory</a:t>
            </a:r>
          </a:p>
          <a:p>
            <a:r>
              <a:rPr lang="en-US" dirty="0"/>
              <a:t>Push: Order information travels downstream from Planning to the factory</a:t>
            </a:r>
          </a:p>
          <a:p>
            <a:pPr marL="0" indent="0">
              <a:buNone/>
            </a:pPr>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7" name="Group 6">
            <a:extLst>
              <a:ext uri="{FF2B5EF4-FFF2-40B4-BE49-F238E27FC236}">
                <a16:creationId xmlns:a16="http://schemas.microsoft.com/office/drawing/2014/main" id="{9732393A-AFC6-1001-3F51-75DE5352B206}"/>
              </a:ext>
            </a:extLst>
          </p:cNvPr>
          <p:cNvGrpSpPr/>
          <p:nvPr/>
        </p:nvGrpSpPr>
        <p:grpSpPr>
          <a:xfrm>
            <a:off x="838200" y="297639"/>
            <a:ext cx="4241800" cy="301303"/>
            <a:chOff x="838200" y="297639"/>
            <a:chExt cx="4241800" cy="301303"/>
          </a:xfrm>
        </p:grpSpPr>
        <p:grpSp>
          <p:nvGrpSpPr>
            <p:cNvPr id="9" name="Group 8">
              <a:extLst>
                <a:ext uri="{FF2B5EF4-FFF2-40B4-BE49-F238E27FC236}">
                  <a16:creationId xmlns:a16="http://schemas.microsoft.com/office/drawing/2014/main" id="{36DABA77-039A-EA28-44BA-032AE6392404}"/>
                </a:ext>
              </a:extLst>
            </p:cNvPr>
            <p:cNvGrpSpPr/>
            <p:nvPr/>
          </p:nvGrpSpPr>
          <p:grpSpPr>
            <a:xfrm>
              <a:off x="838200" y="297639"/>
              <a:ext cx="1373842" cy="290657"/>
              <a:chOff x="838200" y="297639"/>
              <a:chExt cx="1373842" cy="290657"/>
            </a:xfrm>
          </p:grpSpPr>
          <p:sp>
            <p:nvSpPr>
              <p:cNvPr id="11" name="AutoShape 9">
                <a:extLst>
                  <a:ext uri="{FF2B5EF4-FFF2-40B4-BE49-F238E27FC236}">
                    <a16:creationId xmlns:a16="http://schemas.microsoft.com/office/drawing/2014/main" id="{DE683A1E-6509-5B1A-4967-BFF378CA520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6453EE47-D263-543D-7EB1-6F9E5F5C2BC6}"/>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59476F1A-DB5D-B993-7FD2-2CC93467BF1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E01F5A0C-9A06-FFC9-0128-7E384A408F4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21197C23-F725-8CFF-AA04-8F900737387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15112A5A-A27A-D427-F40D-C3DF22CC2014}"/>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pic>
        <p:nvPicPr>
          <p:cNvPr id="16" name="Picture 1">
            <a:extLst>
              <a:ext uri="{FF2B5EF4-FFF2-40B4-BE49-F238E27FC236}">
                <a16:creationId xmlns:a16="http://schemas.microsoft.com/office/drawing/2014/main" id="{41A02FC2-AF43-978A-A995-EE7A6E026E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1327" y="2642394"/>
            <a:ext cx="25685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3" descr="bigstockphoto_Tandem_215185">
            <a:extLst>
              <a:ext uri="{FF2B5EF4-FFF2-40B4-BE49-F238E27FC236}">
                <a16:creationId xmlns:a16="http://schemas.microsoft.com/office/drawing/2014/main" id="{E9CB1B7A-79B1-B4D3-6342-04327AB0E7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7048" y="4154170"/>
            <a:ext cx="25701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24">
            <a:extLst>
              <a:ext uri="{FF2B5EF4-FFF2-40B4-BE49-F238E27FC236}">
                <a16:creationId xmlns:a16="http://schemas.microsoft.com/office/drawing/2014/main" id="{D28F392E-5266-7B87-92A6-7C24644339AC}"/>
              </a:ext>
            </a:extLst>
          </p:cNvPr>
          <p:cNvSpPr txBox="1">
            <a:spLocks noChangeArrowheads="1"/>
          </p:cNvSpPr>
          <p:nvPr/>
        </p:nvSpPr>
        <p:spPr bwMode="auto">
          <a:xfrm>
            <a:off x="3219450" y="5999163"/>
            <a:ext cx="2509838"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800" b="0" i="1" dirty="0">
                <a:latin typeface="Roboto" panose="02000000000000000000" pitchFamily="2" charset="0"/>
                <a:ea typeface="Roboto" panose="02000000000000000000" pitchFamily="2" charset="0"/>
              </a:rPr>
              <a:t>Reprinted with permission from BigPhotoStock.com</a:t>
            </a:r>
          </a:p>
        </p:txBody>
      </p:sp>
    </p:spTree>
    <p:extLst>
      <p:ext uri="{BB962C8B-B14F-4D97-AF65-F5344CB8AC3E}">
        <p14:creationId xmlns:p14="http://schemas.microsoft.com/office/powerpoint/2010/main" val="2860147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Pull System Example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4" name="Group 3">
            <a:extLst>
              <a:ext uri="{FF2B5EF4-FFF2-40B4-BE49-F238E27FC236}">
                <a16:creationId xmlns:a16="http://schemas.microsoft.com/office/drawing/2014/main" id="{360F959B-6A8D-0277-FD4B-5EA4F04968A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65C703EF-99B4-373C-61DB-C82AE39306C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376D709-BE95-D7F0-916D-87EF3FFBC1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EEA6AA-A8D4-6595-C039-0EBDF718ED5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29D3A49-94D0-A7F8-0E6B-0260BD0A29C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33FFB42-FCD9-731E-90EB-C4599E480B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743B11B9-8E57-F122-7EC1-04BD06D2512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1D1837AE-C7C3-FD43-D692-6045E52FE97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pic>
        <p:nvPicPr>
          <p:cNvPr id="13" name="Picture 1">
            <a:extLst>
              <a:ext uri="{FF2B5EF4-FFF2-40B4-BE49-F238E27FC236}">
                <a16:creationId xmlns:a16="http://schemas.microsoft.com/office/drawing/2014/main" id="{06759AC0-C734-2B3F-3299-0C1C4B6A767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49922" y="1965715"/>
            <a:ext cx="6292156" cy="416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6133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What Is a Pull System?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grpSp>
        <p:nvGrpSpPr>
          <p:cNvPr id="3" name="Group 2">
            <a:extLst>
              <a:ext uri="{FF2B5EF4-FFF2-40B4-BE49-F238E27FC236}">
                <a16:creationId xmlns:a16="http://schemas.microsoft.com/office/drawing/2014/main" id="{01A6097D-ED2F-A628-755E-E312154501E1}"/>
              </a:ext>
            </a:extLst>
          </p:cNvPr>
          <p:cNvGrpSpPr/>
          <p:nvPr/>
        </p:nvGrpSpPr>
        <p:grpSpPr>
          <a:xfrm>
            <a:off x="838200" y="297639"/>
            <a:ext cx="4241800" cy="301303"/>
            <a:chOff x="838200" y="297639"/>
            <a:chExt cx="4241800" cy="301303"/>
          </a:xfrm>
        </p:grpSpPr>
        <p:grpSp>
          <p:nvGrpSpPr>
            <p:cNvPr id="5" name="Group 4">
              <a:extLst>
                <a:ext uri="{FF2B5EF4-FFF2-40B4-BE49-F238E27FC236}">
                  <a16:creationId xmlns:a16="http://schemas.microsoft.com/office/drawing/2014/main" id="{8957A5BF-3C36-90D8-DF25-61396A8D7C2F}"/>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9CD37C83-923E-A07C-E5BF-1C931272FA3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3D874B86-E5C7-E141-C1A6-7B7F03C0FB4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64490CAC-826A-E49A-C56E-DC6BBFAC05D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B8E625-E9DD-DF50-8716-1B8E2698938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96E8C91E-CA1F-DC7D-407A-4D558956F42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304EFE8E-EA5E-B347-BA20-4B5A83A2EA94}"/>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grpSp>
        <p:nvGrpSpPr>
          <p:cNvPr id="18" name="Group 17">
            <a:extLst>
              <a:ext uri="{FF2B5EF4-FFF2-40B4-BE49-F238E27FC236}">
                <a16:creationId xmlns:a16="http://schemas.microsoft.com/office/drawing/2014/main" id="{832A069B-4ED0-B569-3B4E-5470C746026C}"/>
              </a:ext>
            </a:extLst>
          </p:cNvPr>
          <p:cNvGrpSpPr/>
          <p:nvPr/>
        </p:nvGrpSpPr>
        <p:grpSpPr>
          <a:xfrm>
            <a:off x="565361" y="1606550"/>
            <a:ext cx="11061279" cy="4370388"/>
            <a:chOff x="469899" y="1606550"/>
            <a:chExt cx="11061279" cy="4370388"/>
          </a:xfrm>
        </p:grpSpPr>
        <p:grpSp>
          <p:nvGrpSpPr>
            <p:cNvPr id="12" name="Group 28">
              <a:extLst>
                <a:ext uri="{FF2B5EF4-FFF2-40B4-BE49-F238E27FC236}">
                  <a16:creationId xmlns:a16="http://schemas.microsoft.com/office/drawing/2014/main" id="{1758F50C-557E-67D8-FDDB-F7AA1E553A5E}"/>
                </a:ext>
              </a:extLst>
            </p:cNvPr>
            <p:cNvGrpSpPr>
              <a:grpSpLocks/>
            </p:cNvGrpSpPr>
            <p:nvPr/>
          </p:nvGrpSpPr>
          <p:grpSpPr bwMode="auto">
            <a:xfrm>
              <a:off x="493713" y="1606550"/>
              <a:ext cx="10860087" cy="3357563"/>
              <a:chOff x="311" y="1012"/>
              <a:chExt cx="2710" cy="2115"/>
            </a:xfrm>
          </p:grpSpPr>
          <p:sp>
            <p:nvSpPr>
              <p:cNvPr id="13" name="Rectangle 18">
                <a:extLst>
                  <a:ext uri="{FF2B5EF4-FFF2-40B4-BE49-F238E27FC236}">
                    <a16:creationId xmlns:a16="http://schemas.microsoft.com/office/drawing/2014/main" id="{09BA6E92-175E-70E3-F43C-BC046223F16C}"/>
                  </a:ext>
                </a:extLst>
              </p:cNvPr>
              <p:cNvSpPr>
                <a:spLocks noChangeArrowheads="1"/>
              </p:cNvSpPr>
              <p:nvPr/>
            </p:nvSpPr>
            <p:spPr bwMode="auto">
              <a:xfrm>
                <a:off x="1657" y="1545"/>
                <a:ext cx="1197" cy="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2400" b="0">
                    <a:latin typeface="Roboto" panose="02000000000000000000" pitchFamily="2" charset="0"/>
                    <a:ea typeface="Roboto" panose="02000000000000000000" pitchFamily="2" charset="0"/>
                  </a:rPr>
                  <a:t>Operation cycle time limitations</a:t>
                </a:r>
              </a:p>
              <a:p>
                <a:pPr>
                  <a:lnSpc>
                    <a:spcPct val="100000"/>
                  </a:lnSpc>
                  <a:spcBef>
                    <a:spcPct val="40000"/>
                  </a:spcBef>
                  <a:spcAft>
                    <a:spcPct val="0"/>
                  </a:spcAft>
                  <a:buClr>
                    <a:schemeClr val="tx1"/>
                  </a:buClr>
                  <a:buFont typeface="Arial" panose="020B0604020202020204" pitchFamily="34" charset="0"/>
                  <a:buChar char="•"/>
                </a:pPr>
                <a:r>
                  <a:rPr lang="en-US" altLang="en-US" sz="2400" b="0">
                    <a:latin typeface="Roboto" panose="02000000000000000000" pitchFamily="2" charset="0"/>
                    <a:ea typeface="Roboto" panose="02000000000000000000" pitchFamily="2" charset="0"/>
                  </a:rPr>
                  <a:t>Unreliable processes</a:t>
                </a:r>
              </a:p>
              <a:p>
                <a:pPr>
                  <a:lnSpc>
                    <a:spcPct val="100000"/>
                  </a:lnSpc>
                  <a:spcBef>
                    <a:spcPct val="40000"/>
                  </a:spcBef>
                  <a:spcAft>
                    <a:spcPct val="0"/>
                  </a:spcAft>
                  <a:buClr>
                    <a:schemeClr val="tx1"/>
                  </a:buClr>
                  <a:buFont typeface="Arial" panose="020B0604020202020204" pitchFamily="34" charset="0"/>
                  <a:buChar char="•"/>
                </a:pPr>
                <a:r>
                  <a:rPr lang="en-US" altLang="en-US" sz="2400" b="0">
                    <a:latin typeface="Roboto" panose="02000000000000000000" pitchFamily="2" charset="0"/>
                    <a:ea typeface="Roboto" panose="02000000000000000000" pitchFamily="2" charset="0"/>
                  </a:rPr>
                  <a:t>Long lead time processes</a:t>
                </a:r>
              </a:p>
              <a:p>
                <a:pPr>
                  <a:lnSpc>
                    <a:spcPct val="100000"/>
                  </a:lnSpc>
                  <a:spcBef>
                    <a:spcPct val="40000"/>
                  </a:spcBef>
                  <a:spcAft>
                    <a:spcPct val="0"/>
                  </a:spcAft>
                  <a:buClr>
                    <a:schemeClr val="tx1"/>
                  </a:buClr>
                  <a:buFont typeface="Arial" panose="020B0604020202020204" pitchFamily="34" charset="0"/>
                  <a:buChar char="•"/>
                </a:pPr>
                <a:r>
                  <a:rPr lang="en-US" altLang="en-US" sz="2400" b="0">
                    <a:latin typeface="Roboto" panose="02000000000000000000" pitchFamily="2" charset="0"/>
                    <a:ea typeface="Roboto" panose="02000000000000000000" pitchFamily="2" charset="0"/>
                  </a:rPr>
                  <a:t>Upstream processes operating in batch mode</a:t>
                </a:r>
              </a:p>
              <a:p>
                <a:pPr>
                  <a:lnSpc>
                    <a:spcPct val="100000"/>
                  </a:lnSpc>
                  <a:spcBef>
                    <a:spcPct val="40000"/>
                  </a:spcBef>
                  <a:spcAft>
                    <a:spcPct val="0"/>
                  </a:spcAft>
                  <a:buClr>
                    <a:schemeClr val="tx1"/>
                  </a:buClr>
                  <a:buFont typeface="Arial" panose="020B0604020202020204" pitchFamily="34" charset="0"/>
                  <a:buChar char="•"/>
                </a:pPr>
                <a:r>
                  <a:rPr lang="en-US" altLang="en-US" sz="2400" b="0">
                    <a:latin typeface="Roboto" panose="02000000000000000000" pitchFamily="2" charset="0"/>
                    <a:ea typeface="Roboto" panose="02000000000000000000" pitchFamily="2" charset="0"/>
                  </a:rPr>
                  <a:t>Shared supply resources</a:t>
                </a:r>
                <a:endParaRPr lang="en-US" altLang="en-US" sz="2400" b="0">
                  <a:solidFill>
                    <a:srgbClr val="FF3300"/>
                  </a:solidFill>
                  <a:latin typeface="Roboto" panose="02000000000000000000" pitchFamily="2" charset="0"/>
                  <a:ea typeface="Roboto" panose="02000000000000000000" pitchFamily="2" charset="0"/>
                </a:endParaRPr>
              </a:p>
            </p:txBody>
          </p:sp>
          <p:sp>
            <p:nvSpPr>
              <p:cNvPr id="14" name="Rectangle 20">
                <a:extLst>
                  <a:ext uri="{FF2B5EF4-FFF2-40B4-BE49-F238E27FC236}">
                    <a16:creationId xmlns:a16="http://schemas.microsoft.com/office/drawing/2014/main" id="{0EA0D21D-35D9-E825-0B7A-7795A24D6263}"/>
                  </a:ext>
                </a:extLst>
              </p:cNvPr>
              <p:cNvSpPr>
                <a:spLocks noChangeArrowheads="1"/>
              </p:cNvSpPr>
              <p:nvPr/>
            </p:nvSpPr>
            <p:spPr bwMode="auto">
              <a:xfrm>
                <a:off x="350" y="1545"/>
                <a:ext cx="1190" cy="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2400" b="0" dirty="0">
                    <a:latin typeface="Roboto" panose="02000000000000000000" pitchFamily="2" charset="0"/>
                    <a:ea typeface="Roboto" panose="02000000000000000000" pitchFamily="2" charset="0"/>
                  </a:rPr>
                  <a:t>A material pull system means that downstream processes fetch from upstream processes only the goods that are needed, only when they are needed, and only the required amounts</a:t>
                </a:r>
              </a:p>
            </p:txBody>
          </p:sp>
          <p:sp>
            <p:nvSpPr>
              <p:cNvPr id="15" name="AutoShape 24">
                <a:extLst>
                  <a:ext uri="{FF2B5EF4-FFF2-40B4-BE49-F238E27FC236}">
                    <a16:creationId xmlns:a16="http://schemas.microsoft.com/office/drawing/2014/main" id="{49DF9FA7-C4B2-F14E-F9D1-EFD0803EE1A8}"/>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When to Use</a:t>
                </a:r>
              </a:p>
            </p:txBody>
          </p:sp>
          <p:sp>
            <p:nvSpPr>
              <p:cNvPr id="16" name="AutoShape 25">
                <a:extLst>
                  <a:ext uri="{FF2B5EF4-FFF2-40B4-BE49-F238E27FC236}">
                    <a16:creationId xmlns:a16="http://schemas.microsoft.com/office/drawing/2014/main" id="{D3E66DE1-A599-5E2A-08FE-DA5D9172A9D4}"/>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2800" dirty="0">
                    <a:solidFill>
                      <a:schemeClr val="bg1"/>
                    </a:solidFill>
                    <a:latin typeface="Roboto" panose="02000000000000000000" pitchFamily="2" charset="0"/>
                    <a:ea typeface="Roboto" panose="02000000000000000000" pitchFamily="2" charset="0"/>
                  </a:rPr>
                  <a:t>Definition</a:t>
                </a:r>
              </a:p>
            </p:txBody>
          </p:sp>
        </p:grpSp>
        <p:sp>
          <p:nvSpPr>
            <p:cNvPr id="17" name="AutoShape 27">
              <a:extLst>
                <a:ext uri="{FF2B5EF4-FFF2-40B4-BE49-F238E27FC236}">
                  <a16:creationId xmlns:a16="http://schemas.microsoft.com/office/drawing/2014/main" id="{9B820F94-9D3F-62E0-9CBD-D0D86081AA3B}"/>
                </a:ext>
              </a:extLst>
            </p:cNvPr>
            <p:cNvSpPr>
              <a:spLocks noChangeArrowheads="1"/>
            </p:cNvSpPr>
            <p:nvPr/>
          </p:nvSpPr>
          <p:spPr bwMode="auto">
            <a:xfrm>
              <a:off x="469899" y="5456238"/>
              <a:ext cx="11061279" cy="520700"/>
            </a:xfrm>
            <a:prstGeom prst="homePlate">
              <a:avLst>
                <a:gd name="adj" fmla="val 32169"/>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ja-JP" altLang="en-US" sz="2800" dirty="0">
                  <a:solidFill>
                    <a:schemeClr val="bg1"/>
                  </a:solidFill>
                  <a:latin typeface="Roboto" panose="02000000000000000000" pitchFamily="2" charset="0"/>
                </a:rPr>
                <a:t>“</a:t>
              </a:r>
              <a:r>
                <a:rPr lang="en-US" altLang="ja-JP" sz="2800" dirty="0">
                  <a:solidFill>
                    <a:schemeClr val="bg1"/>
                  </a:solidFill>
                  <a:latin typeface="Roboto" panose="02000000000000000000" pitchFamily="2" charset="0"/>
                  <a:ea typeface="Roboto" panose="02000000000000000000" pitchFamily="2" charset="0"/>
                </a:rPr>
                <a:t>Pull where you cannot flow…</a:t>
              </a:r>
              <a:r>
                <a:rPr lang="ja-JP" altLang="en-US" sz="2800" dirty="0">
                  <a:solidFill>
                    <a:schemeClr val="bg1"/>
                  </a:solidFill>
                  <a:latin typeface="Roboto" panose="02000000000000000000" pitchFamily="2" charset="0"/>
                </a:rPr>
                <a:t>”</a:t>
              </a:r>
              <a:endParaRPr lang="en-US" altLang="en-US" sz="2800" dirty="0">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002637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Push System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Defined:</a:t>
            </a:r>
          </a:p>
          <a:p>
            <a:r>
              <a:rPr lang="en-US" dirty="0"/>
              <a:t>A Push System or Material Requirements Planning (MRP) is a complex computerized inventory production planning system with rules and procedures that support push/batch manufacturing.</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4" name="Group 3">
            <a:extLst>
              <a:ext uri="{FF2B5EF4-FFF2-40B4-BE49-F238E27FC236}">
                <a16:creationId xmlns:a16="http://schemas.microsoft.com/office/drawing/2014/main" id="{360F959B-6A8D-0277-FD4B-5EA4F04968A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65C703EF-99B4-373C-61DB-C82AE39306C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376D709-BE95-D7F0-916D-87EF3FFBC1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EEA6AA-A8D4-6595-C039-0EBDF718ED5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29D3A49-94D0-A7F8-0E6B-0260BD0A29C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33FFB42-FCD9-731E-90EB-C4599E480B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743B11B9-8E57-F122-7EC1-04BD06D2512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1D1837AE-C7C3-FD43-D692-6045E52FE97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spTree>
    <p:extLst>
      <p:ext uri="{BB962C8B-B14F-4D97-AF65-F5344CB8AC3E}">
        <p14:creationId xmlns:p14="http://schemas.microsoft.com/office/powerpoint/2010/main" val="1151165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Pull vs. Push</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4042120999"/>
              </p:ext>
            </p:extLst>
          </p:nvPr>
        </p:nvGraphicFramePr>
        <p:xfrm>
          <a:off x="792480" y="1892390"/>
          <a:ext cx="10607040" cy="4302712"/>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404362">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2800" b="1" i="0"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Pull System</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Push System</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961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Complicated Bill of Materials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Yes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5026">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Extensive computer system required to keep work order inventory status correct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Yes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55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Operations work blindly from one another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Yes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5955722"/>
                  </a:ext>
                </a:extLst>
              </a:tr>
              <a:tr h="34961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Provides good visual control</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Yes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2487285"/>
                  </a:ext>
                </a:extLst>
              </a:tr>
              <a:tr h="56655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Easily managed by shop assoc.</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Yes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8851895"/>
                  </a:ext>
                </a:extLst>
              </a:tr>
              <a:tr h="56655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Production based on </a:t>
                      </a:r>
                      <a:b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br>
                      <a:r>
                        <a:rPr kumimoji="0" 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customer orders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Yes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defRPr/>
                      </a:pPr>
                      <a:r>
                        <a:rPr kumimoji="0" lang="en-US" sz="18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No</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3884953"/>
                  </a:ext>
                </a:extLst>
              </a:tr>
            </a:tbl>
          </a:graphicData>
        </a:graphic>
      </p:graphicFrame>
      <p:grpSp>
        <p:nvGrpSpPr>
          <p:cNvPr id="4" name="Group 3">
            <a:extLst>
              <a:ext uri="{FF2B5EF4-FFF2-40B4-BE49-F238E27FC236}">
                <a16:creationId xmlns:a16="http://schemas.microsoft.com/office/drawing/2014/main" id="{9984262F-69E8-D08A-446F-909D80685CD8}"/>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0F6A87D5-52F5-559E-BD6D-A9CF2F78B87D}"/>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8AD6FC8F-534B-E5E7-B85F-0F4F7F5CEBF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8D07D81-881A-3DD4-1B85-EAE99F2852D6}"/>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C10ECAA-4AFA-9273-4EEB-B000AD2CA2D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BFBA950-420D-0285-848A-F0322D38BE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60E259FE-D6E0-0581-E160-93323EE7F55C}"/>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35621336-9331-FCC2-5763-17AE9E34751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spTree>
    <p:extLst>
      <p:ext uri="{BB962C8B-B14F-4D97-AF65-F5344CB8AC3E}">
        <p14:creationId xmlns:p14="http://schemas.microsoft.com/office/powerpoint/2010/main" val="931126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Goals of a Pull System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Synchronized, streamlined, one-piece production</a:t>
            </a:r>
          </a:p>
          <a:p>
            <a:r>
              <a:rPr lang="en-US" dirty="0"/>
              <a:t>Produce one unit of product at any time</a:t>
            </a:r>
          </a:p>
          <a:p>
            <a:r>
              <a:rPr lang="en-US" dirty="0"/>
              <a:t>Perfect quality to the customer</a:t>
            </a:r>
          </a:p>
          <a:p>
            <a:r>
              <a:rPr lang="en-US" dirty="0"/>
              <a:t>Near zero lead time</a:t>
            </a:r>
          </a:p>
          <a:p>
            <a:r>
              <a:rPr lang="en-US" dirty="0"/>
              <a:t>Closer match between the production plan and the order schedule</a:t>
            </a:r>
          </a:p>
          <a:p>
            <a:r>
              <a:rPr lang="en-US" dirty="0"/>
              <a:t>Only planned and necessary inventory is carried</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4" name="Group 3">
            <a:extLst>
              <a:ext uri="{FF2B5EF4-FFF2-40B4-BE49-F238E27FC236}">
                <a16:creationId xmlns:a16="http://schemas.microsoft.com/office/drawing/2014/main" id="{360F959B-6A8D-0277-FD4B-5EA4F04968A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65C703EF-99B4-373C-61DB-C82AE39306C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376D709-BE95-D7F0-916D-87EF3FFBC1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EEA6AA-A8D4-6595-C039-0EBDF718ED5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29D3A49-94D0-A7F8-0E6B-0260BD0A29C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33FFB42-FCD9-731E-90EB-C4599E480B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743B11B9-8E57-F122-7EC1-04BD06D2512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1D1837AE-C7C3-FD43-D692-6045E52FE97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spTree>
    <p:extLst>
      <p:ext uri="{BB962C8B-B14F-4D97-AF65-F5344CB8AC3E}">
        <p14:creationId xmlns:p14="http://schemas.microsoft.com/office/powerpoint/2010/main" val="278850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Pull System Example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4" name="Group 3">
            <a:extLst>
              <a:ext uri="{FF2B5EF4-FFF2-40B4-BE49-F238E27FC236}">
                <a16:creationId xmlns:a16="http://schemas.microsoft.com/office/drawing/2014/main" id="{360F959B-6A8D-0277-FD4B-5EA4F04968A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65C703EF-99B4-373C-61DB-C82AE39306C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376D709-BE95-D7F0-916D-87EF3FFBC1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EEA6AA-A8D4-6595-C039-0EBDF718ED5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29D3A49-94D0-A7F8-0E6B-0260BD0A29C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33FFB42-FCD9-731E-90EB-C4599E480B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743B11B9-8E57-F122-7EC1-04BD06D2512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1D1837AE-C7C3-FD43-D692-6045E52FE97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pic>
        <p:nvPicPr>
          <p:cNvPr id="13" name="Content Placeholder 2">
            <a:extLst>
              <a:ext uri="{FF2B5EF4-FFF2-40B4-BE49-F238E27FC236}">
                <a16:creationId xmlns:a16="http://schemas.microsoft.com/office/drawing/2014/main" id="{F3EB5C0B-6A6A-9815-BC5A-CF328CE6AB7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569392" y="2046779"/>
            <a:ext cx="5053216" cy="3930277"/>
          </a:xfrm>
        </p:spPr>
      </p:pic>
    </p:spTree>
    <p:extLst>
      <p:ext uri="{BB962C8B-B14F-4D97-AF65-F5344CB8AC3E}">
        <p14:creationId xmlns:p14="http://schemas.microsoft.com/office/powerpoint/2010/main" val="2979369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Achieving a Pull System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Level the demand within reason to provide a repetitive production sequence based on customer requirements</a:t>
            </a:r>
          </a:p>
          <a:p>
            <a:r>
              <a:rPr lang="en-US" dirty="0"/>
              <a:t>Reduce and standardize lot size - ultimate goal of a lot size of 1</a:t>
            </a:r>
          </a:p>
          <a:p>
            <a:r>
              <a:rPr lang="en-US" dirty="0"/>
              <a:t>Use pull system to control material</a:t>
            </a:r>
          </a:p>
          <a:p>
            <a:r>
              <a:rPr lang="en-US" dirty="0"/>
              <a:t>Understand where your constraints are and where you need supermarkets</a:t>
            </a:r>
          </a:p>
          <a:p>
            <a:r>
              <a:rPr lang="en-US" dirty="0"/>
              <a:t>Transition from MRP push system to material pull system</a:t>
            </a:r>
          </a:p>
          <a:p>
            <a:r>
              <a:rPr lang="en-US" dirty="0"/>
              <a:t>Maintain replenishment system as demand and lead times change</a:t>
            </a:r>
          </a:p>
          <a:p>
            <a:r>
              <a:rPr lang="en-US" b="1" dirty="0"/>
              <a:t>KEY Point!  Kanban is dynamic, you must review your calculations on a regular schedule depending on the variations of your particular business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360F959B-6A8D-0277-FD4B-5EA4F04968A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65C703EF-99B4-373C-61DB-C82AE39306C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376D709-BE95-D7F0-916D-87EF3FFBC1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EEA6AA-A8D4-6595-C039-0EBDF718ED5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29D3A49-94D0-A7F8-0E6B-0260BD0A29C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33FFB42-FCD9-731E-90EB-C4599E480B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743B11B9-8E57-F122-7EC1-04BD06D2512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1D1837AE-C7C3-FD43-D692-6045E52FE97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spTree>
    <p:extLst>
      <p:ext uri="{BB962C8B-B14F-4D97-AF65-F5344CB8AC3E}">
        <p14:creationId xmlns:p14="http://schemas.microsoft.com/office/powerpoint/2010/main" val="29058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Do You Make to Order or to a Supermarket?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Goal is to have only one scheduling point</a:t>
            </a:r>
          </a:p>
          <a:p>
            <a:r>
              <a:rPr lang="en-US" dirty="0"/>
              <a:t>The answer to the above question will determine where that point needs to be in the 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grpSp>
        <p:nvGrpSpPr>
          <p:cNvPr id="4" name="Group 3">
            <a:extLst>
              <a:ext uri="{FF2B5EF4-FFF2-40B4-BE49-F238E27FC236}">
                <a16:creationId xmlns:a16="http://schemas.microsoft.com/office/drawing/2014/main" id="{360F959B-6A8D-0277-FD4B-5EA4F04968A9}"/>
              </a:ext>
            </a:extLst>
          </p:cNvPr>
          <p:cNvGrpSpPr/>
          <p:nvPr/>
        </p:nvGrpSpPr>
        <p:grpSpPr>
          <a:xfrm>
            <a:off x="838200" y="297639"/>
            <a:ext cx="4241800" cy="301303"/>
            <a:chOff x="838200" y="297639"/>
            <a:chExt cx="4241800" cy="301303"/>
          </a:xfrm>
        </p:grpSpPr>
        <p:grpSp>
          <p:nvGrpSpPr>
            <p:cNvPr id="6" name="Group 5">
              <a:extLst>
                <a:ext uri="{FF2B5EF4-FFF2-40B4-BE49-F238E27FC236}">
                  <a16:creationId xmlns:a16="http://schemas.microsoft.com/office/drawing/2014/main" id="{65C703EF-99B4-373C-61DB-C82AE39306C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C376D709-BE95-D7F0-916D-87EF3FFBC16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EEA6AA-A8D4-6595-C039-0EBDF718ED5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29D3A49-94D0-A7F8-0E6B-0260BD0A29C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233FFB42-FCD9-731E-90EB-C4599E480B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743B11B9-8E57-F122-7EC1-04BD06D2512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1D1837AE-C7C3-FD43-D692-6045E52FE97D}"/>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grpSp>
        <p:nvGrpSpPr>
          <p:cNvPr id="108" name="Group 107">
            <a:extLst>
              <a:ext uri="{FF2B5EF4-FFF2-40B4-BE49-F238E27FC236}">
                <a16:creationId xmlns:a16="http://schemas.microsoft.com/office/drawing/2014/main" id="{708DAD1B-85FD-22C5-5E20-3F4C6C67FF80}"/>
              </a:ext>
            </a:extLst>
          </p:cNvPr>
          <p:cNvGrpSpPr/>
          <p:nvPr/>
        </p:nvGrpSpPr>
        <p:grpSpPr>
          <a:xfrm>
            <a:off x="1226027" y="3120389"/>
            <a:ext cx="9739947" cy="3272443"/>
            <a:chOff x="341313" y="2678113"/>
            <a:chExt cx="8459787" cy="3720146"/>
          </a:xfrm>
        </p:grpSpPr>
        <p:pic>
          <p:nvPicPr>
            <p:cNvPr id="13" name="Picture 124" descr="customer">
              <a:extLst>
                <a:ext uri="{FF2B5EF4-FFF2-40B4-BE49-F238E27FC236}">
                  <a16:creationId xmlns:a16="http://schemas.microsoft.com/office/drawing/2014/main" id="{E417444C-080A-7129-C68F-6086648E9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0575" y="3392488"/>
              <a:ext cx="12763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4">
              <a:extLst>
                <a:ext uri="{FF2B5EF4-FFF2-40B4-BE49-F238E27FC236}">
                  <a16:creationId xmlns:a16="http://schemas.microsoft.com/office/drawing/2014/main" id="{CD7BFD80-4B43-BA48-593B-97EA4AEFB9D3}"/>
                </a:ext>
              </a:extLst>
            </p:cNvPr>
            <p:cNvGrpSpPr>
              <a:grpSpLocks/>
            </p:cNvGrpSpPr>
            <p:nvPr/>
          </p:nvGrpSpPr>
          <p:grpSpPr bwMode="auto">
            <a:xfrm>
              <a:off x="927100" y="3125788"/>
              <a:ext cx="1500188" cy="1204912"/>
              <a:chOff x="432" y="1888"/>
              <a:chExt cx="1008" cy="792"/>
            </a:xfrm>
          </p:grpSpPr>
          <p:grpSp>
            <p:nvGrpSpPr>
              <p:cNvPr id="15" name="Group 15">
                <a:extLst>
                  <a:ext uri="{FF2B5EF4-FFF2-40B4-BE49-F238E27FC236}">
                    <a16:creationId xmlns:a16="http://schemas.microsoft.com/office/drawing/2014/main" id="{35772FE7-DE79-CAE9-AF93-43811FE48A40}"/>
                  </a:ext>
                </a:extLst>
              </p:cNvPr>
              <p:cNvGrpSpPr>
                <a:grpSpLocks/>
              </p:cNvGrpSpPr>
              <p:nvPr/>
            </p:nvGrpSpPr>
            <p:grpSpPr bwMode="auto">
              <a:xfrm>
                <a:off x="432" y="2160"/>
                <a:ext cx="644" cy="520"/>
                <a:chOff x="528" y="2168"/>
                <a:chExt cx="644" cy="520"/>
              </a:xfrm>
            </p:grpSpPr>
            <p:grpSp>
              <p:nvGrpSpPr>
                <p:cNvPr id="24" name="Group 16">
                  <a:extLst>
                    <a:ext uri="{FF2B5EF4-FFF2-40B4-BE49-F238E27FC236}">
                      <a16:creationId xmlns:a16="http://schemas.microsoft.com/office/drawing/2014/main" id="{3793A690-A269-9A31-DBE3-F501CCC64EB3}"/>
                    </a:ext>
                  </a:extLst>
                </p:cNvPr>
                <p:cNvGrpSpPr>
                  <a:grpSpLocks/>
                </p:cNvGrpSpPr>
                <p:nvPr/>
              </p:nvGrpSpPr>
              <p:grpSpPr bwMode="auto">
                <a:xfrm>
                  <a:off x="528" y="2178"/>
                  <a:ext cx="644" cy="510"/>
                  <a:chOff x="522" y="2544"/>
                  <a:chExt cx="582" cy="672"/>
                </a:xfrm>
              </p:grpSpPr>
              <p:sp>
                <p:nvSpPr>
                  <p:cNvPr id="26" name="Rectangle 17">
                    <a:extLst>
                      <a:ext uri="{FF2B5EF4-FFF2-40B4-BE49-F238E27FC236}">
                        <a16:creationId xmlns:a16="http://schemas.microsoft.com/office/drawing/2014/main" id="{CCDBC893-AC0C-9744-E9AB-B482795BF7BB}"/>
                      </a:ext>
                    </a:extLst>
                  </p:cNvPr>
                  <p:cNvSpPr>
                    <a:spLocks noChangeArrowheads="1"/>
                  </p:cNvSpPr>
                  <p:nvPr/>
                </p:nvSpPr>
                <p:spPr bwMode="auto">
                  <a:xfrm>
                    <a:off x="528" y="2545"/>
                    <a:ext cx="576" cy="671"/>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 name="Line 18">
                    <a:extLst>
                      <a:ext uri="{FF2B5EF4-FFF2-40B4-BE49-F238E27FC236}">
                        <a16:creationId xmlns:a16="http://schemas.microsoft.com/office/drawing/2014/main" id="{8B08FD1C-4A6E-C051-3201-FE19CCBEA57C}"/>
                      </a:ext>
                    </a:extLst>
                  </p:cNvPr>
                  <p:cNvSpPr>
                    <a:spLocks noChangeShapeType="1"/>
                  </p:cNvSpPr>
                  <p:nvPr/>
                </p:nvSpPr>
                <p:spPr bwMode="auto">
                  <a:xfrm>
                    <a:off x="522" y="2736"/>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5" name="Text Box 19">
                  <a:extLst>
                    <a:ext uri="{FF2B5EF4-FFF2-40B4-BE49-F238E27FC236}">
                      <a16:creationId xmlns:a16="http://schemas.microsoft.com/office/drawing/2014/main" id="{A41CE71D-1B44-6068-735A-880CF4A4AC45}"/>
                    </a:ext>
                  </a:extLst>
                </p:cNvPr>
                <p:cNvSpPr txBox="1">
                  <a:spLocks noChangeArrowheads="1"/>
                </p:cNvSpPr>
                <p:nvPr/>
              </p:nvSpPr>
              <p:spPr bwMode="auto">
                <a:xfrm>
                  <a:off x="569" y="2168"/>
                  <a:ext cx="51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1</a:t>
                  </a:r>
                </a:p>
              </p:txBody>
            </p:sp>
          </p:grpSp>
          <p:grpSp>
            <p:nvGrpSpPr>
              <p:cNvPr id="16" name="Group 20">
                <a:extLst>
                  <a:ext uri="{FF2B5EF4-FFF2-40B4-BE49-F238E27FC236}">
                    <a16:creationId xmlns:a16="http://schemas.microsoft.com/office/drawing/2014/main" id="{4C3A3812-3321-4458-40E3-F8AC088D7789}"/>
                  </a:ext>
                </a:extLst>
              </p:cNvPr>
              <p:cNvGrpSpPr>
                <a:grpSpLocks/>
              </p:cNvGrpSpPr>
              <p:nvPr/>
            </p:nvGrpSpPr>
            <p:grpSpPr bwMode="auto">
              <a:xfrm>
                <a:off x="1248" y="2184"/>
                <a:ext cx="192" cy="480"/>
                <a:chOff x="1336" y="1152"/>
                <a:chExt cx="296" cy="720"/>
              </a:xfrm>
            </p:grpSpPr>
            <p:sp>
              <p:nvSpPr>
                <p:cNvPr id="19" name="Line 21">
                  <a:extLst>
                    <a:ext uri="{FF2B5EF4-FFF2-40B4-BE49-F238E27FC236}">
                      <a16:creationId xmlns:a16="http://schemas.microsoft.com/office/drawing/2014/main" id="{BF0247F1-24AB-719A-3CC6-45E2A202BF81}"/>
                    </a:ext>
                  </a:extLst>
                </p:cNvPr>
                <p:cNvSpPr>
                  <a:spLocks noChangeShapeType="1"/>
                </p:cNvSpPr>
                <p:nvPr/>
              </p:nvSpPr>
              <p:spPr bwMode="auto">
                <a:xfrm>
                  <a:off x="1344" y="115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 name="Line 22">
                  <a:extLst>
                    <a:ext uri="{FF2B5EF4-FFF2-40B4-BE49-F238E27FC236}">
                      <a16:creationId xmlns:a16="http://schemas.microsoft.com/office/drawing/2014/main" id="{15ED76DE-E01E-6348-5056-6275F96DBBCC}"/>
                    </a:ext>
                  </a:extLst>
                </p:cNvPr>
                <p:cNvSpPr>
                  <a:spLocks noChangeShapeType="1"/>
                </p:cNvSpPr>
                <p:nvPr/>
              </p:nvSpPr>
              <p:spPr bwMode="auto">
                <a:xfrm>
                  <a:off x="1632" y="1153"/>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 name="Line 23">
                  <a:extLst>
                    <a:ext uri="{FF2B5EF4-FFF2-40B4-BE49-F238E27FC236}">
                      <a16:creationId xmlns:a16="http://schemas.microsoft.com/office/drawing/2014/main" id="{39573EC7-3AEC-5155-8D64-0AD06BD2284C}"/>
                    </a:ext>
                  </a:extLst>
                </p:cNvPr>
                <p:cNvSpPr>
                  <a:spLocks noChangeShapeType="1"/>
                </p:cNvSpPr>
                <p:nvPr/>
              </p:nvSpPr>
              <p:spPr bwMode="auto">
                <a:xfrm>
                  <a:off x="1336" y="139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 name="Line 24">
                  <a:extLst>
                    <a:ext uri="{FF2B5EF4-FFF2-40B4-BE49-F238E27FC236}">
                      <a16:creationId xmlns:a16="http://schemas.microsoft.com/office/drawing/2014/main" id="{F2BC775C-5161-70B2-1BB9-C381B2C66729}"/>
                    </a:ext>
                  </a:extLst>
                </p:cNvPr>
                <p:cNvSpPr>
                  <a:spLocks noChangeShapeType="1"/>
                </p:cNvSpPr>
                <p:nvPr/>
              </p:nvSpPr>
              <p:spPr bwMode="auto">
                <a:xfrm>
                  <a:off x="1336" y="163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 name="Line 25">
                  <a:extLst>
                    <a:ext uri="{FF2B5EF4-FFF2-40B4-BE49-F238E27FC236}">
                      <a16:creationId xmlns:a16="http://schemas.microsoft.com/office/drawing/2014/main" id="{DAF9A0C9-F018-6699-B694-11CAA130F847}"/>
                    </a:ext>
                  </a:extLst>
                </p:cNvPr>
                <p:cNvSpPr>
                  <a:spLocks noChangeShapeType="1"/>
                </p:cNvSpPr>
                <p:nvPr/>
              </p:nvSpPr>
              <p:spPr bwMode="auto">
                <a:xfrm>
                  <a:off x="1344" y="187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7" name="Freeform 26">
                <a:extLst>
                  <a:ext uri="{FF2B5EF4-FFF2-40B4-BE49-F238E27FC236}">
                    <a16:creationId xmlns:a16="http://schemas.microsoft.com/office/drawing/2014/main" id="{4820C138-08CC-D717-F224-9A6CA9F256A9}"/>
                  </a:ext>
                </a:extLst>
              </p:cNvPr>
              <p:cNvSpPr>
                <a:spLocks/>
              </p:cNvSpPr>
              <p:nvPr/>
            </p:nvSpPr>
            <p:spPr bwMode="auto">
              <a:xfrm>
                <a:off x="664" y="1888"/>
                <a:ext cx="776" cy="224"/>
              </a:xfrm>
              <a:custGeom>
                <a:avLst/>
                <a:gdLst>
                  <a:gd name="T0" fmla="*/ 680 w 776"/>
                  <a:gd name="T1" fmla="*/ 224 h 224"/>
                  <a:gd name="T2" fmla="*/ 680 w 776"/>
                  <a:gd name="T3" fmla="*/ 32 h 224"/>
                  <a:gd name="T4" fmla="*/ 104 w 776"/>
                  <a:gd name="T5" fmla="*/ 32 h 224"/>
                  <a:gd name="T6" fmla="*/ 56 w 776"/>
                  <a:gd name="T7" fmla="*/ 176 h 2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224">
                    <a:moveTo>
                      <a:pt x="680" y="224"/>
                    </a:moveTo>
                    <a:cubicBezTo>
                      <a:pt x="728" y="144"/>
                      <a:pt x="776" y="64"/>
                      <a:pt x="680" y="32"/>
                    </a:cubicBezTo>
                    <a:cubicBezTo>
                      <a:pt x="584" y="0"/>
                      <a:pt x="208" y="8"/>
                      <a:pt x="104" y="32"/>
                    </a:cubicBezTo>
                    <a:cubicBezTo>
                      <a:pt x="0" y="56"/>
                      <a:pt x="28" y="116"/>
                      <a:pt x="56" y="176"/>
                    </a:cubicBezTo>
                  </a:path>
                </a:pathLst>
              </a:custGeom>
              <a:noFill/>
              <a:ln w="28575"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Roboto" panose="02000000000000000000" pitchFamily="2" charset="0"/>
                  <a:ea typeface="Roboto" panose="02000000000000000000" pitchFamily="2" charset="0"/>
                </a:endParaRPr>
              </a:p>
            </p:txBody>
          </p:sp>
          <p:sp>
            <p:nvSpPr>
              <p:cNvPr id="18" name="Line 27">
                <a:extLst>
                  <a:ext uri="{FF2B5EF4-FFF2-40B4-BE49-F238E27FC236}">
                    <a16:creationId xmlns:a16="http://schemas.microsoft.com/office/drawing/2014/main" id="{68F4A267-DE43-4FCF-8E41-0DE2294FC85F}"/>
                  </a:ext>
                </a:extLst>
              </p:cNvPr>
              <p:cNvSpPr>
                <a:spLocks noChangeShapeType="1"/>
              </p:cNvSpPr>
              <p:nvPr/>
            </p:nvSpPr>
            <p:spPr bwMode="auto">
              <a:xfrm>
                <a:off x="697" y="1976"/>
                <a:ext cx="0" cy="1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8" name="Group 28">
              <a:extLst>
                <a:ext uri="{FF2B5EF4-FFF2-40B4-BE49-F238E27FC236}">
                  <a16:creationId xmlns:a16="http://schemas.microsoft.com/office/drawing/2014/main" id="{6A4BDAE6-A885-C2A9-C5FB-813F8DDAE1E5}"/>
                </a:ext>
              </a:extLst>
            </p:cNvPr>
            <p:cNvGrpSpPr>
              <a:grpSpLocks/>
            </p:cNvGrpSpPr>
            <p:nvPr/>
          </p:nvGrpSpPr>
          <p:grpSpPr bwMode="auto">
            <a:xfrm>
              <a:off x="2641600" y="3613150"/>
              <a:ext cx="787400" cy="582613"/>
              <a:chOff x="2400" y="2832"/>
              <a:chExt cx="528" cy="384"/>
            </a:xfrm>
          </p:grpSpPr>
          <p:sp>
            <p:nvSpPr>
              <p:cNvPr id="29" name="Oval 29">
                <a:extLst>
                  <a:ext uri="{FF2B5EF4-FFF2-40B4-BE49-F238E27FC236}">
                    <a16:creationId xmlns:a16="http://schemas.microsoft.com/office/drawing/2014/main" id="{0FFFA1EA-9A83-0C75-4174-5B0E3645981F}"/>
                  </a:ext>
                </a:extLst>
              </p:cNvPr>
              <p:cNvSpPr>
                <a:spLocks noChangeArrowheads="1"/>
              </p:cNvSpPr>
              <p:nvPr/>
            </p:nvSpPr>
            <p:spPr bwMode="auto">
              <a:xfrm>
                <a:off x="2400" y="2880"/>
                <a:ext cx="336" cy="336"/>
              </a:xfrm>
              <a:prstGeom prst="ellipse">
                <a:avLst/>
              </a:prstGeom>
              <a:solidFill>
                <a:schemeClr val="bg1"/>
              </a:solidFill>
              <a:ln w="1905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 name="Rectangle 30">
                <a:extLst>
                  <a:ext uri="{FF2B5EF4-FFF2-40B4-BE49-F238E27FC236}">
                    <a16:creationId xmlns:a16="http://schemas.microsoft.com/office/drawing/2014/main" id="{76416889-C202-E9C4-1B4A-E7503753A8A4}"/>
                  </a:ext>
                </a:extLst>
              </p:cNvPr>
              <p:cNvSpPr>
                <a:spLocks noChangeArrowheads="1"/>
              </p:cNvSpPr>
              <p:nvPr/>
            </p:nvSpPr>
            <p:spPr bwMode="auto">
              <a:xfrm>
                <a:off x="2592" y="2832"/>
                <a:ext cx="33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Line 31">
                <a:extLst>
                  <a:ext uri="{FF2B5EF4-FFF2-40B4-BE49-F238E27FC236}">
                    <a16:creationId xmlns:a16="http://schemas.microsoft.com/office/drawing/2014/main" id="{D8041FEB-8452-DDEE-966D-763120C1DD2A}"/>
                  </a:ext>
                </a:extLst>
              </p:cNvPr>
              <p:cNvSpPr>
                <a:spLocks noChangeShapeType="1"/>
              </p:cNvSpPr>
              <p:nvPr/>
            </p:nvSpPr>
            <p:spPr bwMode="auto">
              <a:xfrm rot="18086501" flipV="1">
                <a:off x="2688" y="3024"/>
                <a:ext cx="95" cy="48"/>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32" name="Group 32">
              <a:extLst>
                <a:ext uri="{FF2B5EF4-FFF2-40B4-BE49-F238E27FC236}">
                  <a16:creationId xmlns:a16="http://schemas.microsoft.com/office/drawing/2014/main" id="{93D7F882-1D34-A95E-298D-F189041A0412}"/>
                </a:ext>
              </a:extLst>
            </p:cNvPr>
            <p:cNvGrpSpPr>
              <a:grpSpLocks/>
            </p:cNvGrpSpPr>
            <p:nvPr/>
          </p:nvGrpSpPr>
          <p:grpSpPr bwMode="auto">
            <a:xfrm>
              <a:off x="3429000" y="3138488"/>
              <a:ext cx="1500188" cy="1203325"/>
              <a:chOff x="432" y="1888"/>
              <a:chExt cx="1008" cy="792"/>
            </a:xfrm>
          </p:grpSpPr>
          <p:grpSp>
            <p:nvGrpSpPr>
              <p:cNvPr id="33" name="Group 33">
                <a:extLst>
                  <a:ext uri="{FF2B5EF4-FFF2-40B4-BE49-F238E27FC236}">
                    <a16:creationId xmlns:a16="http://schemas.microsoft.com/office/drawing/2014/main" id="{9DF1DC6B-A54B-A69F-4B49-311FB9221556}"/>
                  </a:ext>
                </a:extLst>
              </p:cNvPr>
              <p:cNvGrpSpPr>
                <a:grpSpLocks/>
              </p:cNvGrpSpPr>
              <p:nvPr/>
            </p:nvGrpSpPr>
            <p:grpSpPr bwMode="auto">
              <a:xfrm>
                <a:off x="432" y="2160"/>
                <a:ext cx="644" cy="520"/>
                <a:chOff x="528" y="2168"/>
                <a:chExt cx="644" cy="520"/>
              </a:xfrm>
            </p:grpSpPr>
            <p:grpSp>
              <p:nvGrpSpPr>
                <p:cNvPr id="42" name="Group 34">
                  <a:extLst>
                    <a:ext uri="{FF2B5EF4-FFF2-40B4-BE49-F238E27FC236}">
                      <a16:creationId xmlns:a16="http://schemas.microsoft.com/office/drawing/2014/main" id="{524C957F-9517-C91B-A9E9-5F306D1DDC5B}"/>
                    </a:ext>
                  </a:extLst>
                </p:cNvPr>
                <p:cNvGrpSpPr>
                  <a:grpSpLocks/>
                </p:cNvGrpSpPr>
                <p:nvPr/>
              </p:nvGrpSpPr>
              <p:grpSpPr bwMode="auto">
                <a:xfrm>
                  <a:off x="528" y="2178"/>
                  <a:ext cx="644" cy="510"/>
                  <a:chOff x="522" y="2544"/>
                  <a:chExt cx="582" cy="672"/>
                </a:xfrm>
              </p:grpSpPr>
              <p:sp>
                <p:nvSpPr>
                  <p:cNvPr id="44" name="Rectangle 35">
                    <a:extLst>
                      <a:ext uri="{FF2B5EF4-FFF2-40B4-BE49-F238E27FC236}">
                        <a16:creationId xmlns:a16="http://schemas.microsoft.com/office/drawing/2014/main" id="{2C071754-2D29-788E-EF49-DF41BFCF1F38}"/>
                      </a:ext>
                    </a:extLst>
                  </p:cNvPr>
                  <p:cNvSpPr>
                    <a:spLocks noChangeArrowheads="1"/>
                  </p:cNvSpPr>
                  <p:nvPr/>
                </p:nvSpPr>
                <p:spPr bwMode="auto">
                  <a:xfrm>
                    <a:off x="528" y="2544"/>
                    <a:ext cx="576" cy="67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5" name="Line 36">
                    <a:extLst>
                      <a:ext uri="{FF2B5EF4-FFF2-40B4-BE49-F238E27FC236}">
                        <a16:creationId xmlns:a16="http://schemas.microsoft.com/office/drawing/2014/main" id="{A55E317E-434A-8711-1F7A-BBC1E29BD3ED}"/>
                      </a:ext>
                    </a:extLst>
                  </p:cNvPr>
                  <p:cNvSpPr>
                    <a:spLocks noChangeShapeType="1"/>
                  </p:cNvSpPr>
                  <p:nvPr/>
                </p:nvSpPr>
                <p:spPr bwMode="auto">
                  <a:xfrm>
                    <a:off x="522" y="2736"/>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43" name="Text Box 37">
                  <a:extLst>
                    <a:ext uri="{FF2B5EF4-FFF2-40B4-BE49-F238E27FC236}">
                      <a16:creationId xmlns:a16="http://schemas.microsoft.com/office/drawing/2014/main" id="{42B1A46E-7A07-C27B-9BFD-8D4F7F54CD70}"/>
                    </a:ext>
                  </a:extLst>
                </p:cNvPr>
                <p:cNvSpPr txBox="1">
                  <a:spLocks noChangeArrowheads="1"/>
                </p:cNvSpPr>
                <p:nvPr/>
              </p:nvSpPr>
              <p:spPr bwMode="auto">
                <a:xfrm>
                  <a:off x="569" y="2168"/>
                  <a:ext cx="51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2</a:t>
                  </a:r>
                </a:p>
              </p:txBody>
            </p:sp>
          </p:grpSp>
          <p:grpSp>
            <p:nvGrpSpPr>
              <p:cNvPr id="34" name="Group 38">
                <a:extLst>
                  <a:ext uri="{FF2B5EF4-FFF2-40B4-BE49-F238E27FC236}">
                    <a16:creationId xmlns:a16="http://schemas.microsoft.com/office/drawing/2014/main" id="{CFCAF8BE-E4A4-E966-1F17-8A6183A4F88A}"/>
                  </a:ext>
                </a:extLst>
              </p:cNvPr>
              <p:cNvGrpSpPr>
                <a:grpSpLocks/>
              </p:cNvGrpSpPr>
              <p:nvPr/>
            </p:nvGrpSpPr>
            <p:grpSpPr bwMode="auto">
              <a:xfrm>
                <a:off x="1248" y="2184"/>
                <a:ext cx="192" cy="480"/>
                <a:chOff x="1336" y="1152"/>
                <a:chExt cx="296" cy="720"/>
              </a:xfrm>
            </p:grpSpPr>
            <p:sp>
              <p:nvSpPr>
                <p:cNvPr id="37" name="Line 39">
                  <a:extLst>
                    <a:ext uri="{FF2B5EF4-FFF2-40B4-BE49-F238E27FC236}">
                      <a16:creationId xmlns:a16="http://schemas.microsoft.com/office/drawing/2014/main" id="{5F82B1C1-59F4-81F9-A7D0-C5105DD70A27}"/>
                    </a:ext>
                  </a:extLst>
                </p:cNvPr>
                <p:cNvSpPr>
                  <a:spLocks noChangeShapeType="1"/>
                </p:cNvSpPr>
                <p:nvPr/>
              </p:nvSpPr>
              <p:spPr bwMode="auto">
                <a:xfrm>
                  <a:off x="1344" y="115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Line 40">
                  <a:extLst>
                    <a:ext uri="{FF2B5EF4-FFF2-40B4-BE49-F238E27FC236}">
                      <a16:creationId xmlns:a16="http://schemas.microsoft.com/office/drawing/2014/main" id="{48A52324-408B-42F8-259C-EFFA5DD17888}"/>
                    </a:ext>
                  </a:extLst>
                </p:cNvPr>
                <p:cNvSpPr>
                  <a:spLocks noChangeShapeType="1"/>
                </p:cNvSpPr>
                <p:nvPr/>
              </p:nvSpPr>
              <p:spPr bwMode="auto">
                <a:xfrm>
                  <a:off x="1632" y="1152"/>
                  <a:ext cx="0" cy="7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 name="Line 41">
                  <a:extLst>
                    <a:ext uri="{FF2B5EF4-FFF2-40B4-BE49-F238E27FC236}">
                      <a16:creationId xmlns:a16="http://schemas.microsoft.com/office/drawing/2014/main" id="{E254164C-9E21-10AE-7C24-5B633530E19D}"/>
                    </a:ext>
                  </a:extLst>
                </p:cNvPr>
                <p:cNvSpPr>
                  <a:spLocks noChangeShapeType="1"/>
                </p:cNvSpPr>
                <p:nvPr/>
              </p:nvSpPr>
              <p:spPr bwMode="auto">
                <a:xfrm>
                  <a:off x="1336" y="1391"/>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 name="Line 42">
                  <a:extLst>
                    <a:ext uri="{FF2B5EF4-FFF2-40B4-BE49-F238E27FC236}">
                      <a16:creationId xmlns:a16="http://schemas.microsoft.com/office/drawing/2014/main" id="{4151765A-996A-E18E-3459-901B99885149}"/>
                    </a:ext>
                  </a:extLst>
                </p:cNvPr>
                <p:cNvSpPr>
                  <a:spLocks noChangeShapeType="1"/>
                </p:cNvSpPr>
                <p:nvPr/>
              </p:nvSpPr>
              <p:spPr bwMode="auto">
                <a:xfrm>
                  <a:off x="1336" y="163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 name="Line 43">
                  <a:extLst>
                    <a:ext uri="{FF2B5EF4-FFF2-40B4-BE49-F238E27FC236}">
                      <a16:creationId xmlns:a16="http://schemas.microsoft.com/office/drawing/2014/main" id="{38104573-386B-0438-D95D-A73DBB0F16AF}"/>
                    </a:ext>
                  </a:extLst>
                </p:cNvPr>
                <p:cNvSpPr>
                  <a:spLocks noChangeShapeType="1"/>
                </p:cNvSpPr>
                <p:nvPr/>
              </p:nvSpPr>
              <p:spPr bwMode="auto">
                <a:xfrm>
                  <a:off x="1344" y="187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35" name="Freeform 44">
                <a:extLst>
                  <a:ext uri="{FF2B5EF4-FFF2-40B4-BE49-F238E27FC236}">
                    <a16:creationId xmlns:a16="http://schemas.microsoft.com/office/drawing/2014/main" id="{C583EB03-E9EE-7547-DC9C-5CF2FB7DCFF5}"/>
                  </a:ext>
                </a:extLst>
              </p:cNvPr>
              <p:cNvSpPr>
                <a:spLocks/>
              </p:cNvSpPr>
              <p:nvPr/>
            </p:nvSpPr>
            <p:spPr bwMode="auto">
              <a:xfrm>
                <a:off x="664" y="1888"/>
                <a:ext cx="776" cy="224"/>
              </a:xfrm>
              <a:custGeom>
                <a:avLst/>
                <a:gdLst>
                  <a:gd name="T0" fmla="*/ 680 w 776"/>
                  <a:gd name="T1" fmla="*/ 224 h 224"/>
                  <a:gd name="T2" fmla="*/ 680 w 776"/>
                  <a:gd name="T3" fmla="*/ 32 h 224"/>
                  <a:gd name="T4" fmla="*/ 104 w 776"/>
                  <a:gd name="T5" fmla="*/ 32 h 224"/>
                  <a:gd name="T6" fmla="*/ 56 w 776"/>
                  <a:gd name="T7" fmla="*/ 176 h 2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224">
                    <a:moveTo>
                      <a:pt x="680" y="224"/>
                    </a:moveTo>
                    <a:cubicBezTo>
                      <a:pt x="728" y="144"/>
                      <a:pt x="776" y="64"/>
                      <a:pt x="680" y="32"/>
                    </a:cubicBezTo>
                    <a:cubicBezTo>
                      <a:pt x="584" y="0"/>
                      <a:pt x="208" y="8"/>
                      <a:pt x="104" y="32"/>
                    </a:cubicBezTo>
                    <a:cubicBezTo>
                      <a:pt x="0" y="56"/>
                      <a:pt x="28" y="116"/>
                      <a:pt x="56" y="176"/>
                    </a:cubicBezTo>
                  </a:path>
                </a:pathLst>
              </a:custGeom>
              <a:noFill/>
              <a:ln w="28575"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Roboto" panose="02000000000000000000" pitchFamily="2" charset="0"/>
                  <a:ea typeface="Roboto" panose="02000000000000000000" pitchFamily="2" charset="0"/>
                </a:endParaRPr>
              </a:p>
            </p:txBody>
          </p:sp>
          <p:sp>
            <p:nvSpPr>
              <p:cNvPr id="36" name="Line 45">
                <a:extLst>
                  <a:ext uri="{FF2B5EF4-FFF2-40B4-BE49-F238E27FC236}">
                    <a16:creationId xmlns:a16="http://schemas.microsoft.com/office/drawing/2014/main" id="{02331F15-20F5-233B-8497-63193CE01FAB}"/>
                  </a:ext>
                </a:extLst>
              </p:cNvPr>
              <p:cNvSpPr>
                <a:spLocks noChangeShapeType="1"/>
              </p:cNvSpPr>
              <p:nvPr/>
            </p:nvSpPr>
            <p:spPr bwMode="auto">
              <a:xfrm>
                <a:off x="697" y="1976"/>
                <a:ext cx="0" cy="1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6" name="Group 46">
              <a:extLst>
                <a:ext uri="{FF2B5EF4-FFF2-40B4-BE49-F238E27FC236}">
                  <a16:creationId xmlns:a16="http://schemas.microsoft.com/office/drawing/2014/main" id="{9C5DE309-E9B5-E91F-1401-DF803E87BEE5}"/>
                </a:ext>
              </a:extLst>
            </p:cNvPr>
            <p:cNvGrpSpPr>
              <a:grpSpLocks/>
            </p:cNvGrpSpPr>
            <p:nvPr/>
          </p:nvGrpSpPr>
          <p:grpSpPr bwMode="auto">
            <a:xfrm>
              <a:off x="5143500" y="3624263"/>
              <a:ext cx="785813" cy="584200"/>
              <a:chOff x="2400" y="2832"/>
              <a:chExt cx="528" cy="384"/>
            </a:xfrm>
          </p:grpSpPr>
          <p:sp>
            <p:nvSpPr>
              <p:cNvPr id="47" name="Oval 47">
                <a:extLst>
                  <a:ext uri="{FF2B5EF4-FFF2-40B4-BE49-F238E27FC236}">
                    <a16:creationId xmlns:a16="http://schemas.microsoft.com/office/drawing/2014/main" id="{DF4A1DFD-0A98-9B0F-9CCF-88A123493C4B}"/>
                  </a:ext>
                </a:extLst>
              </p:cNvPr>
              <p:cNvSpPr>
                <a:spLocks noChangeArrowheads="1"/>
              </p:cNvSpPr>
              <p:nvPr/>
            </p:nvSpPr>
            <p:spPr bwMode="auto">
              <a:xfrm>
                <a:off x="2400" y="2880"/>
                <a:ext cx="336" cy="336"/>
              </a:xfrm>
              <a:prstGeom prst="ellipse">
                <a:avLst/>
              </a:prstGeom>
              <a:solidFill>
                <a:schemeClr val="bg1"/>
              </a:solidFill>
              <a:ln w="1905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8" name="Rectangle 48">
                <a:extLst>
                  <a:ext uri="{FF2B5EF4-FFF2-40B4-BE49-F238E27FC236}">
                    <a16:creationId xmlns:a16="http://schemas.microsoft.com/office/drawing/2014/main" id="{0F3213AB-7D6E-FF86-7CE9-2B2315B2BB2D}"/>
                  </a:ext>
                </a:extLst>
              </p:cNvPr>
              <p:cNvSpPr>
                <a:spLocks noChangeArrowheads="1"/>
              </p:cNvSpPr>
              <p:nvPr/>
            </p:nvSpPr>
            <p:spPr bwMode="auto">
              <a:xfrm>
                <a:off x="2592" y="2832"/>
                <a:ext cx="33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9" name="Line 49">
                <a:extLst>
                  <a:ext uri="{FF2B5EF4-FFF2-40B4-BE49-F238E27FC236}">
                    <a16:creationId xmlns:a16="http://schemas.microsoft.com/office/drawing/2014/main" id="{043111C2-BF72-9CAA-D51A-FEB617A83ED8}"/>
                  </a:ext>
                </a:extLst>
              </p:cNvPr>
              <p:cNvSpPr>
                <a:spLocks noChangeShapeType="1"/>
              </p:cNvSpPr>
              <p:nvPr/>
            </p:nvSpPr>
            <p:spPr bwMode="auto">
              <a:xfrm rot="18086501" flipV="1">
                <a:off x="2689" y="3024"/>
                <a:ext cx="96" cy="48"/>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50" name="Group 50">
              <a:extLst>
                <a:ext uri="{FF2B5EF4-FFF2-40B4-BE49-F238E27FC236}">
                  <a16:creationId xmlns:a16="http://schemas.microsoft.com/office/drawing/2014/main" id="{3099135D-F71B-8C62-1A37-6F12FBDFC61B}"/>
                </a:ext>
              </a:extLst>
            </p:cNvPr>
            <p:cNvGrpSpPr>
              <a:grpSpLocks/>
            </p:cNvGrpSpPr>
            <p:nvPr/>
          </p:nvGrpSpPr>
          <p:grpSpPr bwMode="auto">
            <a:xfrm>
              <a:off x="5857875" y="3567113"/>
              <a:ext cx="958850" cy="774700"/>
              <a:chOff x="522" y="2544"/>
              <a:chExt cx="582" cy="672"/>
            </a:xfrm>
          </p:grpSpPr>
          <p:sp>
            <p:nvSpPr>
              <p:cNvPr id="51" name="Rectangle 51">
                <a:extLst>
                  <a:ext uri="{FF2B5EF4-FFF2-40B4-BE49-F238E27FC236}">
                    <a16:creationId xmlns:a16="http://schemas.microsoft.com/office/drawing/2014/main" id="{896478E9-8D14-988B-6CD8-D2CDF997ACA5}"/>
                  </a:ext>
                </a:extLst>
              </p:cNvPr>
              <p:cNvSpPr>
                <a:spLocks noChangeArrowheads="1"/>
              </p:cNvSpPr>
              <p:nvPr/>
            </p:nvSpPr>
            <p:spPr bwMode="auto">
              <a:xfrm>
                <a:off x="528" y="2544"/>
                <a:ext cx="576" cy="67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2" name="Line 52">
                <a:extLst>
                  <a:ext uri="{FF2B5EF4-FFF2-40B4-BE49-F238E27FC236}">
                    <a16:creationId xmlns:a16="http://schemas.microsoft.com/office/drawing/2014/main" id="{087EF91C-047B-2E3B-7493-4EE2C65A4F69}"/>
                  </a:ext>
                </a:extLst>
              </p:cNvPr>
              <p:cNvSpPr>
                <a:spLocks noChangeShapeType="1"/>
              </p:cNvSpPr>
              <p:nvPr/>
            </p:nvSpPr>
            <p:spPr bwMode="auto">
              <a:xfrm>
                <a:off x="522" y="2735"/>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53" name="Text Box 53">
              <a:extLst>
                <a:ext uri="{FF2B5EF4-FFF2-40B4-BE49-F238E27FC236}">
                  <a16:creationId xmlns:a16="http://schemas.microsoft.com/office/drawing/2014/main" id="{ED358F9B-E341-CFE5-AD35-F1EF90973067}"/>
                </a:ext>
              </a:extLst>
            </p:cNvPr>
            <p:cNvSpPr txBox="1">
              <a:spLocks noChangeArrowheads="1"/>
            </p:cNvSpPr>
            <p:nvPr/>
          </p:nvSpPr>
          <p:spPr bwMode="auto">
            <a:xfrm>
              <a:off x="5918200" y="3551238"/>
              <a:ext cx="759089" cy="314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3</a:t>
              </a:r>
            </a:p>
          </p:txBody>
        </p:sp>
        <p:sp>
          <p:nvSpPr>
            <p:cNvPr id="54" name="AutoShape 56">
              <a:extLst>
                <a:ext uri="{FF2B5EF4-FFF2-40B4-BE49-F238E27FC236}">
                  <a16:creationId xmlns:a16="http://schemas.microsoft.com/office/drawing/2014/main" id="{32A8B1A3-E5F7-DB69-F5FF-87ABA0FBCE05}"/>
                </a:ext>
              </a:extLst>
            </p:cNvPr>
            <p:cNvSpPr>
              <a:spLocks noChangeArrowheads="1"/>
            </p:cNvSpPr>
            <p:nvPr/>
          </p:nvSpPr>
          <p:spPr bwMode="auto">
            <a:xfrm>
              <a:off x="5953125" y="2736850"/>
              <a:ext cx="714375" cy="511175"/>
            </a:xfrm>
            <a:prstGeom prst="flowChartDocumen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Text Box 57">
              <a:extLst>
                <a:ext uri="{FF2B5EF4-FFF2-40B4-BE49-F238E27FC236}">
                  <a16:creationId xmlns:a16="http://schemas.microsoft.com/office/drawing/2014/main" id="{13648BBF-DCC5-EE55-B312-D6A5C3CBAAB5}"/>
                </a:ext>
              </a:extLst>
            </p:cNvPr>
            <p:cNvSpPr txBox="1">
              <a:spLocks noChangeArrowheads="1"/>
            </p:cNvSpPr>
            <p:nvPr/>
          </p:nvSpPr>
          <p:spPr bwMode="auto">
            <a:xfrm>
              <a:off x="5929313" y="2846388"/>
              <a:ext cx="717320" cy="314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Schedule</a:t>
              </a:r>
            </a:p>
          </p:txBody>
        </p:sp>
        <p:sp>
          <p:nvSpPr>
            <p:cNvPr id="56" name="Line 58">
              <a:extLst>
                <a:ext uri="{FF2B5EF4-FFF2-40B4-BE49-F238E27FC236}">
                  <a16:creationId xmlns:a16="http://schemas.microsoft.com/office/drawing/2014/main" id="{5CB9EA26-9AB2-A8F0-FDE6-8A20870F30B3}"/>
                </a:ext>
              </a:extLst>
            </p:cNvPr>
            <p:cNvSpPr>
              <a:spLocks noChangeShapeType="1"/>
            </p:cNvSpPr>
            <p:nvPr/>
          </p:nvSpPr>
          <p:spPr bwMode="auto">
            <a:xfrm>
              <a:off x="6286500" y="3248025"/>
              <a:ext cx="0"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7" name="Rectangle 59">
              <a:extLst>
                <a:ext uri="{FF2B5EF4-FFF2-40B4-BE49-F238E27FC236}">
                  <a16:creationId xmlns:a16="http://schemas.microsoft.com/office/drawing/2014/main" id="{823989DF-8185-F553-075C-00EE9B680FA4}"/>
                </a:ext>
              </a:extLst>
            </p:cNvPr>
            <p:cNvSpPr>
              <a:spLocks noChangeArrowheads="1"/>
            </p:cNvSpPr>
            <p:nvPr/>
          </p:nvSpPr>
          <p:spPr bwMode="auto">
            <a:xfrm>
              <a:off x="7573963" y="4341813"/>
              <a:ext cx="841237" cy="34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Customer</a:t>
              </a:r>
            </a:p>
          </p:txBody>
        </p:sp>
        <p:sp>
          <p:nvSpPr>
            <p:cNvPr id="58" name="Text Box 60">
              <a:extLst>
                <a:ext uri="{FF2B5EF4-FFF2-40B4-BE49-F238E27FC236}">
                  <a16:creationId xmlns:a16="http://schemas.microsoft.com/office/drawing/2014/main" id="{DFBE77CF-E671-CB64-462E-5AD399EEB6DB}"/>
                </a:ext>
              </a:extLst>
            </p:cNvPr>
            <p:cNvSpPr txBox="1">
              <a:spLocks noChangeArrowheads="1"/>
            </p:cNvSpPr>
            <p:nvPr/>
          </p:nvSpPr>
          <p:spPr bwMode="auto">
            <a:xfrm>
              <a:off x="355600" y="2678113"/>
              <a:ext cx="2129126" cy="419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u="sng" dirty="0">
                  <a:solidFill>
                    <a:schemeClr val="accent4"/>
                  </a:solidFill>
                  <a:latin typeface="Roboto" panose="02000000000000000000" pitchFamily="2" charset="0"/>
                  <a:ea typeface="Roboto" panose="02000000000000000000" pitchFamily="2" charset="0"/>
                </a:rPr>
                <a:t>Build to Supermarket:</a:t>
              </a:r>
            </a:p>
          </p:txBody>
        </p:sp>
        <p:grpSp>
          <p:nvGrpSpPr>
            <p:cNvPr id="59" name="Group 63">
              <a:extLst>
                <a:ext uri="{FF2B5EF4-FFF2-40B4-BE49-F238E27FC236}">
                  <a16:creationId xmlns:a16="http://schemas.microsoft.com/office/drawing/2014/main" id="{953D1842-5147-7BB9-807F-54E4D5BFF31F}"/>
                </a:ext>
              </a:extLst>
            </p:cNvPr>
            <p:cNvGrpSpPr>
              <a:grpSpLocks/>
            </p:cNvGrpSpPr>
            <p:nvPr/>
          </p:nvGrpSpPr>
          <p:grpSpPr bwMode="auto">
            <a:xfrm>
              <a:off x="1849438" y="5245100"/>
              <a:ext cx="762000" cy="584200"/>
              <a:chOff x="2400" y="2832"/>
              <a:chExt cx="528" cy="384"/>
            </a:xfrm>
          </p:grpSpPr>
          <p:sp>
            <p:nvSpPr>
              <p:cNvPr id="60" name="Oval 64">
                <a:extLst>
                  <a:ext uri="{FF2B5EF4-FFF2-40B4-BE49-F238E27FC236}">
                    <a16:creationId xmlns:a16="http://schemas.microsoft.com/office/drawing/2014/main" id="{6AEBC99D-769D-9E0F-CADE-DD3957D4FB66}"/>
                  </a:ext>
                </a:extLst>
              </p:cNvPr>
              <p:cNvSpPr>
                <a:spLocks noChangeArrowheads="1"/>
              </p:cNvSpPr>
              <p:nvPr/>
            </p:nvSpPr>
            <p:spPr bwMode="auto">
              <a:xfrm>
                <a:off x="2400" y="2880"/>
                <a:ext cx="335" cy="336"/>
              </a:xfrm>
              <a:prstGeom prst="ellipse">
                <a:avLst/>
              </a:prstGeom>
              <a:solidFill>
                <a:schemeClr val="bg1"/>
              </a:solidFill>
              <a:ln w="1905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1" name="Rectangle 65">
                <a:extLst>
                  <a:ext uri="{FF2B5EF4-FFF2-40B4-BE49-F238E27FC236}">
                    <a16:creationId xmlns:a16="http://schemas.microsoft.com/office/drawing/2014/main" id="{4BFFB0BD-DE39-CAB0-AF09-C2C77E1B1B3F}"/>
                  </a:ext>
                </a:extLst>
              </p:cNvPr>
              <p:cNvSpPr>
                <a:spLocks noChangeArrowheads="1"/>
              </p:cNvSpPr>
              <p:nvPr/>
            </p:nvSpPr>
            <p:spPr bwMode="auto">
              <a:xfrm>
                <a:off x="2592" y="2832"/>
                <a:ext cx="33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Line 66">
                <a:extLst>
                  <a:ext uri="{FF2B5EF4-FFF2-40B4-BE49-F238E27FC236}">
                    <a16:creationId xmlns:a16="http://schemas.microsoft.com/office/drawing/2014/main" id="{180B3A7E-FF5A-8BF3-1CF0-2714EA4D1E10}"/>
                  </a:ext>
                </a:extLst>
              </p:cNvPr>
              <p:cNvSpPr>
                <a:spLocks noChangeShapeType="1"/>
              </p:cNvSpPr>
              <p:nvPr/>
            </p:nvSpPr>
            <p:spPr bwMode="auto">
              <a:xfrm rot="18086501" flipV="1">
                <a:off x="2688" y="3024"/>
                <a:ext cx="96" cy="47"/>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63" name="Text Box 67">
              <a:extLst>
                <a:ext uri="{FF2B5EF4-FFF2-40B4-BE49-F238E27FC236}">
                  <a16:creationId xmlns:a16="http://schemas.microsoft.com/office/drawing/2014/main" id="{0FF9F292-96B6-CB46-EE20-DEDF49B43C5D}"/>
                </a:ext>
              </a:extLst>
            </p:cNvPr>
            <p:cNvSpPr txBox="1">
              <a:spLocks noChangeArrowheads="1"/>
            </p:cNvSpPr>
            <p:nvPr/>
          </p:nvSpPr>
          <p:spPr bwMode="auto">
            <a:xfrm>
              <a:off x="7481888" y="4370388"/>
              <a:ext cx="160451" cy="34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400" b="0">
                <a:latin typeface="Roboto" panose="02000000000000000000" pitchFamily="2" charset="0"/>
                <a:ea typeface="Roboto" panose="02000000000000000000" pitchFamily="2" charset="0"/>
              </a:endParaRPr>
            </a:p>
          </p:txBody>
        </p:sp>
        <p:grpSp>
          <p:nvGrpSpPr>
            <p:cNvPr id="64" name="Group 68">
              <a:extLst>
                <a:ext uri="{FF2B5EF4-FFF2-40B4-BE49-F238E27FC236}">
                  <a16:creationId xmlns:a16="http://schemas.microsoft.com/office/drawing/2014/main" id="{501CD3AB-238A-25D6-12B4-E29BDF743A48}"/>
                </a:ext>
              </a:extLst>
            </p:cNvPr>
            <p:cNvGrpSpPr>
              <a:grpSpLocks/>
            </p:cNvGrpSpPr>
            <p:nvPr/>
          </p:nvGrpSpPr>
          <p:grpSpPr bwMode="auto">
            <a:xfrm>
              <a:off x="473075" y="5172075"/>
              <a:ext cx="931274" cy="790575"/>
              <a:chOff x="40" y="3120"/>
              <a:chExt cx="645" cy="520"/>
            </a:xfrm>
          </p:grpSpPr>
          <p:sp>
            <p:nvSpPr>
              <p:cNvPr id="65" name="Line 69">
                <a:extLst>
                  <a:ext uri="{FF2B5EF4-FFF2-40B4-BE49-F238E27FC236}">
                    <a16:creationId xmlns:a16="http://schemas.microsoft.com/office/drawing/2014/main" id="{52BD14FB-D69D-50A7-73DE-CC595E516BD9}"/>
                  </a:ext>
                </a:extLst>
              </p:cNvPr>
              <p:cNvSpPr>
                <a:spLocks noChangeShapeType="1"/>
              </p:cNvSpPr>
              <p:nvPr/>
            </p:nvSpPr>
            <p:spPr bwMode="auto">
              <a:xfrm>
                <a:off x="40" y="3276"/>
                <a:ext cx="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66" name="Group 70">
                <a:extLst>
                  <a:ext uri="{FF2B5EF4-FFF2-40B4-BE49-F238E27FC236}">
                    <a16:creationId xmlns:a16="http://schemas.microsoft.com/office/drawing/2014/main" id="{0BA7DDD1-5F47-4286-73DF-59F138234578}"/>
                  </a:ext>
                </a:extLst>
              </p:cNvPr>
              <p:cNvGrpSpPr>
                <a:grpSpLocks/>
              </p:cNvGrpSpPr>
              <p:nvPr/>
            </p:nvGrpSpPr>
            <p:grpSpPr bwMode="auto">
              <a:xfrm>
                <a:off x="47" y="3120"/>
                <a:ext cx="638" cy="520"/>
                <a:chOff x="151" y="3120"/>
                <a:chExt cx="638" cy="520"/>
              </a:xfrm>
            </p:grpSpPr>
            <p:sp>
              <p:nvSpPr>
                <p:cNvPr id="67" name="Rectangle 71">
                  <a:extLst>
                    <a:ext uri="{FF2B5EF4-FFF2-40B4-BE49-F238E27FC236}">
                      <a16:creationId xmlns:a16="http://schemas.microsoft.com/office/drawing/2014/main" id="{295F2B65-03B4-F60E-13F0-43A0B4ECB952}"/>
                    </a:ext>
                  </a:extLst>
                </p:cNvPr>
                <p:cNvSpPr>
                  <a:spLocks noChangeArrowheads="1"/>
                </p:cNvSpPr>
                <p:nvPr/>
              </p:nvSpPr>
              <p:spPr bwMode="auto">
                <a:xfrm>
                  <a:off x="151" y="3130"/>
                  <a:ext cx="638" cy="51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8" name="Text Box 72">
                  <a:extLst>
                    <a:ext uri="{FF2B5EF4-FFF2-40B4-BE49-F238E27FC236}">
                      <a16:creationId xmlns:a16="http://schemas.microsoft.com/office/drawing/2014/main" id="{BAD27025-C168-F5CA-5E53-2B65D91AA76F}"/>
                    </a:ext>
                  </a:extLst>
                </p:cNvPr>
                <p:cNvSpPr txBox="1">
                  <a:spLocks noChangeArrowheads="1"/>
                </p:cNvSpPr>
                <p:nvPr/>
              </p:nvSpPr>
              <p:spPr bwMode="auto">
                <a:xfrm>
                  <a:off x="184" y="3120"/>
                  <a:ext cx="52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1</a:t>
                  </a:r>
                </a:p>
              </p:txBody>
            </p:sp>
          </p:grpSp>
        </p:grpSp>
        <p:sp>
          <p:nvSpPr>
            <p:cNvPr id="69" name="Line 73">
              <a:extLst>
                <a:ext uri="{FF2B5EF4-FFF2-40B4-BE49-F238E27FC236}">
                  <a16:creationId xmlns:a16="http://schemas.microsoft.com/office/drawing/2014/main" id="{3FB47F02-C692-E27F-1E26-7F021E56D7BC}"/>
                </a:ext>
              </a:extLst>
            </p:cNvPr>
            <p:cNvSpPr>
              <a:spLocks noChangeShapeType="1"/>
            </p:cNvSpPr>
            <p:nvPr/>
          </p:nvSpPr>
          <p:spPr bwMode="auto">
            <a:xfrm>
              <a:off x="1531938" y="5208588"/>
              <a:ext cx="269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0" name="Line 74">
              <a:extLst>
                <a:ext uri="{FF2B5EF4-FFF2-40B4-BE49-F238E27FC236}">
                  <a16:creationId xmlns:a16="http://schemas.microsoft.com/office/drawing/2014/main" id="{530C55A2-BD02-2FB7-8BC3-A2B761C056D6}"/>
                </a:ext>
              </a:extLst>
            </p:cNvPr>
            <p:cNvSpPr>
              <a:spLocks noChangeShapeType="1"/>
            </p:cNvSpPr>
            <p:nvPr/>
          </p:nvSpPr>
          <p:spPr bwMode="auto">
            <a:xfrm>
              <a:off x="1801813" y="5208588"/>
              <a:ext cx="0" cy="730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1" name="Line 75">
              <a:extLst>
                <a:ext uri="{FF2B5EF4-FFF2-40B4-BE49-F238E27FC236}">
                  <a16:creationId xmlns:a16="http://schemas.microsoft.com/office/drawing/2014/main" id="{F64506E3-A7BD-4378-DD7A-CBAF8FC84D94}"/>
                </a:ext>
              </a:extLst>
            </p:cNvPr>
            <p:cNvSpPr>
              <a:spLocks noChangeShapeType="1"/>
            </p:cNvSpPr>
            <p:nvPr/>
          </p:nvSpPr>
          <p:spPr bwMode="auto">
            <a:xfrm>
              <a:off x="1525588" y="5451475"/>
              <a:ext cx="269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2" name="Line 76">
              <a:extLst>
                <a:ext uri="{FF2B5EF4-FFF2-40B4-BE49-F238E27FC236}">
                  <a16:creationId xmlns:a16="http://schemas.microsoft.com/office/drawing/2014/main" id="{8AE7633E-0F29-69A0-8E21-60F55E87C110}"/>
                </a:ext>
              </a:extLst>
            </p:cNvPr>
            <p:cNvSpPr>
              <a:spLocks noChangeShapeType="1"/>
            </p:cNvSpPr>
            <p:nvPr/>
          </p:nvSpPr>
          <p:spPr bwMode="auto">
            <a:xfrm>
              <a:off x="1525588" y="5695950"/>
              <a:ext cx="269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3" name="Line 77">
              <a:extLst>
                <a:ext uri="{FF2B5EF4-FFF2-40B4-BE49-F238E27FC236}">
                  <a16:creationId xmlns:a16="http://schemas.microsoft.com/office/drawing/2014/main" id="{33BAC937-BEDF-4445-C23D-A9E760A2EE71}"/>
                </a:ext>
              </a:extLst>
            </p:cNvPr>
            <p:cNvSpPr>
              <a:spLocks noChangeShapeType="1"/>
            </p:cNvSpPr>
            <p:nvPr/>
          </p:nvSpPr>
          <p:spPr bwMode="auto">
            <a:xfrm>
              <a:off x="1531938" y="5938838"/>
              <a:ext cx="269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74" name="Group 78">
              <a:extLst>
                <a:ext uri="{FF2B5EF4-FFF2-40B4-BE49-F238E27FC236}">
                  <a16:creationId xmlns:a16="http://schemas.microsoft.com/office/drawing/2014/main" id="{37010689-5A33-906F-DA05-45C479DEAAC3}"/>
                </a:ext>
              </a:extLst>
            </p:cNvPr>
            <p:cNvGrpSpPr>
              <a:grpSpLocks/>
            </p:cNvGrpSpPr>
            <p:nvPr/>
          </p:nvGrpSpPr>
          <p:grpSpPr bwMode="auto">
            <a:xfrm>
              <a:off x="2449514" y="5184775"/>
              <a:ext cx="932515" cy="790575"/>
              <a:chOff x="1624" y="3128"/>
              <a:chExt cx="645" cy="520"/>
            </a:xfrm>
          </p:grpSpPr>
          <p:sp>
            <p:nvSpPr>
              <p:cNvPr id="75" name="Rectangle 79">
                <a:extLst>
                  <a:ext uri="{FF2B5EF4-FFF2-40B4-BE49-F238E27FC236}">
                    <a16:creationId xmlns:a16="http://schemas.microsoft.com/office/drawing/2014/main" id="{6D9A5DA0-1455-8D79-21B1-161284446EE8}"/>
                  </a:ext>
                </a:extLst>
              </p:cNvPr>
              <p:cNvSpPr>
                <a:spLocks noChangeArrowheads="1"/>
              </p:cNvSpPr>
              <p:nvPr/>
            </p:nvSpPr>
            <p:spPr bwMode="auto">
              <a:xfrm>
                <a:off x="1752" y="3168"/>
                <a:ext cx="33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6" name="Rectangle 80">
                <a:extLst>
                  <a:ext uri="{FF2B5EF4-FFF2-40B4-BE49-F238E27FC236}">
                    <a16:creationId xmlns:a16="http://schemas.microsoft.com/office/drawing/2014/main" id="{7E97628B-0E87-5304-CC4E-74F942E4BE91}"/>
                  </a:ext>
                </a:extLst>
              </p:cNvPr>
              <p:cNvSpPr>
                <a:spLocks noChangeArrowheads="1"/>
              </p:cNvSpPr>
              <p:nvPr/>
            </p:nvSpPr>
            <p:spPr bwMode="auto">
              <a:xfrm>
                <a:off x="1632" y="3138"/>
                <a:ext cx="637" cy="51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7" name="Line 81">
                <a:extLst>
                  <a:ext uri="{FF2B5EF4-FFF2-40B4-BE49-F238E27FC236}">
                    <a16:creationId xmlns:a16="http://schemas.microsoft.com/office/drawing/2014/main" id="{972B49E1-68E8-97E8-385E-C3EC845E8C41}"/>
                  </a:ext>
                </a:extLst>
              </p:cNvPr>
              <p:cNvSpPr>
                <a:spLocks noChangeShapeType="1"/>
              </p:cNvSpPr>
              <p:nvPr/>
            </p:nvSpPr>
            <p:spPr bwMode="auto">
              <a:xfrm>
                <a:off x="1624" y="3284"/>
                <a:ext cx="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8" name="Text Box 82">
                <a:extLst>
                  <a:ext uri="{FF2B5EF4-FFF2-40B4-BE49-F238E27FC236}">
                    <a16:creationId xmlns:a16="http://schemas.microsoft.com/office/drawing/2014/main" id="{D7CD15BF-5145-79CB-C0B8-F607C03FC64C}"/>
                  </a:ext>
                </a:extLst>
              </p:cNvPr>
              <p:cNvSpPr txBox="1">
                <a:spLocks noChangeArrowheads="1"/>
              </p:cNvSpPr>
              <p:nvPr/>
            </p:nvSpPr>
            <p:spPr bwMode="auto">
              <a:xfrm>
                <a:off x="1672" y="3128"/>
                <a:ext cx="52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2</a:t>
                </a:r>
              </a:p>
            </p:txBody>
          </p:sp>
        </p:grpSp>
        <p:grpSp>
          <p:nvGrpSpPr>
            <p:cNvPr id="79" name="Group 83">
              <a:extLst>
                <a:ext uri="{FF2B5EF4-FFF2-40B4-BE49-F238E27FC236}">
                  <a16:creationId xmlns:a16="http://schemas.microsoft.com/office/drawing/2014/main" id="{D428D9AF-289D-481C-0BFB-D39CA1608C5B}"/>
                </a:ext>
              </a:extLst>
            </p:cNvPr>
            <p:cNvGrpSpPr>
              <a:grpSpLocks/>
            </p:cNvGrpSpPr>
            <p:nvPr/>
          </p:nvGrpSpPr>
          <p:grpSpPr bwMode="auto">
            <a:xfrm>
              <a:off x="4495801" y="5184775"/>
              <a:ext cx="932818" cy="790575"/>
              <a:chOff x="3720" y="3128"/>
              <a:chExt cx="645" cy="520"/>
            </a:xfrm>
          </p:grpSpPr>
          <p:sp>
            <p:nvSpPr>
              <p:cNvPr id="80" name="Rectangle 84">
                <a:extLst>
                  <a:ext uri="{FF2B5EF4-FFF2-40B4-BE49-F238E27FC236}">
                    <a16:creationId xmlns:a16="http://schemas.microsoft.com/office/drawing/2014/main" id="{64409E7D-7DE5-51DC-2A1F-5CC59CFCA96F}"/>
                  </a:ext>
                </a:extLst>
              </p:cNvPr>
              <p:cNvSpPr>
                <a:spLocks noChangeArrowheads="1"/>
              </p:cNvSpPr>
              <p:nvPr/>
            </p:nvSpPr>
            <p:spPr bwMode="auto">
              <a:xfrm>
                <a:off x="3727" y="3138"/>
                <a:ext cx="638" cy="51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1" name="Line 85">
                <a:extLst>
                  <a:ext uri="{FF2B5EF4-FFF2-40B4-BE49-F238E27FC236}">
                    <a16:creationId xmlns:a16="http://schemas.microsoft.com/office/drawing/2014/main" id="{634E3014-6FAD-B5DE-2D3C-5AB2503BBDA6}"/>
                  </a:ext>
                </a:extLst>
              </p:cNvPr>
              <p:cNvSpPr>
                <a:spLocks noChangeShapeType="1"/>
              </p:cNvSpPr>
              <p:nvPr/>
            </p:nvSpPr>
            <p:spPr bwMode="auto">
              <a:xfrm>
                <a:off x="3720" y="3284"/>
                <a:ext cx="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2" name="Text Box 86">
                <a:extLst>
                  <a:ext uri="{FF2B5EF4-FFF2-40B4-BE49-F238E27FC236}">
                    <a16:creationId xmlns:a16="http://schemas.microsoft.com/office/drawing/2014/main" id="{B084F581-CE59-90B9-3C87-0B5228045C38}"/>
                  </a:ext>
                </a:extLst>
              </p:cNvPr>
              <p:cNvSpPr txBox="1">
                <a:spLocks noChangeArrowheads="1"/>
              </p:cNvSpPr>
              <p:nvPr/>
            </p:nvSpPr>
            <p:spPr bwMode="auto">
              <a:xfrm>
                <a:off x="3760" y="3128"/>
                <a:ext cx="52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3</a:t>
                </a:r>
              </a:p>
            </p:txBody>
          </p:sp>
        </p:grpSp>
        <p:sp>
          <p:nvSpPr>
            <p:cNvPr id="83" name="Rectangle 87">
              <a:extLst>
                <a:ext uri="{FF2B5EF4-FFF2-40B4-BE49-F238E27FC236}">
                  <a16:creationId xmlns:a16="http://schemas.microsoft.com/office/drawing/2014/main" id="{97495D44-86AD-497B-A955-BD37A269A846}"/>
                </a:ext>
              </a:extLst>
            </p:cNvPr>
            <p:cNvSpPr>
              <a:spLocks noChangeArrowheads="1"/>
            </p:cNvSpPr>
            <p:nvPr/>
          </p:nvSpPr>
          <p:spPr bwMode="auto">
            <a:xfrm>
              <a:off x="7732713" y="5257800"/>
              <a:ext cx="485775" cy="365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4" name="Text Box 89">
              <a:extLst>
                <a:ext uri="{FF2B5EF4-FFF2-40B4-BE49-F238E27FC236}">
                  <a16:creationId xmlns:a16="http://schemas.microsoft.com/office/drawing/2014/main" id="{CCBAD578-2112-ECAB-5D59-480815CCEB81}"/>
                </a:ext>
              </a:extLst>
            </p:cNvPr>
            <p:cNvSpPr txBox="1">
              <a:spLocks noChangeArrowheads="1"/>
            </p:cNvSpPr>
            <p:nvPr/>
          </p:nvSpPr>
          <p:spPr bwMode="auto">
            <a:xfrm>
              <a:off x="7559675" y="6048375"/>
              <a:ext cx="841237" cy="34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Customer</a:t>
              </a:r>
            </a:p>
          </p:txBody>
        </p:sp>
        <p:grpSp>
          <p:nvGrpSpPr>
            <p:cNvPr id="85" name="Group 90">
              <a:extLst>
                <a:ext uri="{FF2B5EF4-FFF2-40B4-BE49-F238E27FC236}">
                  <a16:creationId xmlns:a16="http://schemas.microsoft.com/office/drawing/2014/main" id="{F308D79E-336D-7712-E2EB-5FC25AAE37C8}"/>
                </a:ext>
              </a:extLst>
            </p:cNvPr>
            <p:cNvGrpSpPr>
              <a:grpSpLocks/>
            </p:cNvGrpSpPr>
            <p:nvPr/>
          </p:nvGrpSpPr>
          <p:grpSpPr bwMode="auto">
            <a:xfrm>
              <a:off x="2555873" y="4370388"/>
              <a:ext cx="717622" cy="801687"/>
              <a:chOff x="3768" y="2592"/>
              <a:chExt cx="497" cy="528"/>
            </a:xfrm>
          </p:grpSpPr>
          <p:sp>
            <p:nvSpPr>
              <p:cNvPr id="86" name="AutoShape 91">
                <a:extLst>
                  <a:ext uri="{FF2B5EF4-FFF2-40B4-BE49-F238E27FC236}">
                    <a16:creationId xmlns:a16="http://schemas.microsoft.com/office/drawing/2014/main" id="{7441BDA1-8CE0-A5C7-F911-ED0AB9F9C6F1}"/>
                  </a:ext>
                </a:extLst>
              </p:cNvPr>
              <p:cNvSpPr>
                <a:spLocks noChangeArrowheads="1"/>
              </p:cNvSpPr>
              <p:nvPr/>
            </p:nvSpPr>
            <p:spPr bwMode="auto">
              <a:xfrm>
                <a:off x="3784" y="2592"/>
                <a:ext cx="479" cy="336"/>
              </a:xfrm>
              <a:prstGeom prst="flowChartDocumen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7" name="Text Box 92">
                <a:extLst>
                  <a:ext uri="{FF2B5EF4-FFF2-40B4-BE49-F238E27FC236}">
                    <a16:creationId xmlns:a16="http://schemas.microsoft.com/office/drawing/2014/main" id="{F927FF25-D977-4F8D-F19F-A378B31CED2E}"/>
                  </a:ext>
                </a:extLst>
              </p:cNvPr>
              <p:cNvSpPr txBox="1">
                <a:spLocks noChangeArrowheads="1"/>
              </p:cNvSpPr>
              <p:nvPr/>
            </p:nvSpPr>
            <p:spPr bwMode="auto">
              <a:xfrm>
                <a:off x="3768" y="2665"/>
                <a:ext cx="49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Schedule</a:t>
                </a:r>
              </a:p>
            </p:txBody>
          </p:sp>
          <p:sp>
            <p:nvSpPr>
              <p:cNvPr id="88" name="Line 93">
                <a:extLst>
                  <a:ext uri="{FF2B5EF4-FFF2-40B4-BE49-F238E27FC236}">
                    <a16:creationId xmlns:a16="http://schemas.microsoft.com/office/drawing/2014/main" id="{66CAF874-236A-278F-9684-447BF10CE88D}"/>
                  </a:ext>
                </a:extLst>
              </p:cNvPr>
              <p:cNvSpPr>
                <a:spLocks noChangeShapeType="1"/>
              </p:cNvSpPr>
              <p:nvPr/>
            </p:nvSpPr>
            <p:spPr bwMode="auto">
              <a:xfrm>
                <a:off x="4008" y="292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89" name="Group 94">
              <a:extLst>
                <a:ext uri="{FF2B5EF4-FFF2-40B4-BE49-F238E27FC236}">
                  <a16:creationId xmlns:a16="http://schemas.microsoft.com/office/drawing/2014/main" id="{E1F0D2A4-131A-CD76-B79D-CDCB7F50C28B}"/>
                </a:ext>
              </a:extLst>
            </p:cNvPr>
            <p:cNvGrpSpPr>
              <a:grpSpLocks/>
            </p:cNvGrpSpPr>
            <p:nvPr/>
          </p:nvGrpSpPr>
          <p:grpSpPr bwMode="auto">
            <a:xfrm>
              <a:off x="3375025" y="5440363"/>
              <a:ext cx="1109663" cy="373692"/>
              <a:chOff x="2688" y="3296"/>
              <a:chExt cx="768" cy="246"/>
            </a:xfrm>
          </p:grpSpPr>
          <p:sp>
            <p:nvSpPr>
              <p:cNvPr id="90" name="Line 95">
                <a:extLst>
                  <a:ext uri="{FF2B5EF4-FFF2-40B4-BE49-F238E27FC236}">
                    <a16:creationId xmlns:a16="http://schemas.microsoft.com/office/drawing/2014/main" id="{5C9BA1A2-B63C-9D02-58CB-D5091F09386C}"/>
                  </a:ext>
                </a:extLst>
              </p:cNvPr>
              <p:cNvSpPr>
                <a:spLocks noChangeShapeType="1"/>
              </p:cNvSpPr>
              <p:nvPr/>
            </p:nvSpPr>
            <p:spPr bwMode="auto">
              <a:xfrm>
                <a:off x="2784" y="3396"/>
                <a:ext cx="672" cy="11"/>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91" name="Group 96">
                <a:extLst>
                  <a:ext uri="{FF2B5EF4-FFF2-40B4-BE49-F238E27FC236}">
                    <a16:creationId xmlns:a16="http://schemas.microsoft.com/office/drawing/2014/main" id="{93E83DBF-0413-7982-7AA3-085C3F3C162A}"/>
                  </a:ext>
                </a:extLst>
              </p:cNvPr>
              <p:cNvGrpSpPr>
                <a:grpSpLocks/>
              </p:cNvGrpSpPr>
              <p:nvPr/>
            </p:nvGrpSpPr>
            <p:grpSpPr bwMode="auto">
              <a:xfrm>
                <a:off x="2688" y="3296"/>
                <a:ext cx="672" cy="246"/>
                <a:chOff x="2736" y="3296"/>
                <a:chExt cx="672" cy="246"/>
              </a:xfrm>
            </p:grpSpPr>
            <p:sp>
              <p:nvSpPr>
                <p:cNvPr id="92" name="Text Box 97">
                  <a:extLst>
                    <a:ext uri="{FF2B5EF4-FFF2-40B4-BE49-F238E27FC236}">
                      <a16:creationId xmlns:a16="http://schemas.microsoft.com/office/drawing/2014/main" id="{5DA03BED-2F76-1814-4589-C238AD1244B7}"/>
                    </a:ext>
                  </a:extLst>
                </p:cNvPr>
                <p:cNvSpPr txBox="1">
                  <a:spLocks noChangeArrowheads="1"/>
                </p:cNvSpPr>
                <p:nvPr/>
              </p:nvSpPr>
              <p:spPr bwMode="auto">
                <a:xfrm>
                  <a:off x="2928" y="3312"/>
                  <a:ext cx="335" cy="2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FIFO</a:t>
                  </a:r>
                </a:p>
              </p:txBody>
            </p:sp>
            <p:sp>
              <p:nvSpPr>
                <p:cNvPr id="93" name="Line 98">
                  <a:extLst>
                    <a:ext uri="{FF2B5EF4-FFF2-40B4-BE49-F238E27FC236}">
                      <a16:creationId xmlns:a16="http://schemas.microsoft.com/office/drawing/2014/main" id="{1BAA4389-E6EF-6E27-EBA4-2F723F8EAF33}"/>
                    </a:ext>
                  </a:extLst>
                </p:cNvPr>
                <p:cNvSpPr>
                  <a:spLocks noChangeShapeType="1"/>
                </p:cNvSpPr>
                <p:nvPr/>
              </p:nvSpPr>
              <p:spPr bwMode="auto">
                <a:xfrm>
                  <a:off x="2736" y="3528"/>
                  <a:ext cx="6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4" name="Line 99">
                  <a:extLst>
                    <a:ext uri="{FF2B5EF4-FFF2-40B4-BE49-F238E27FC236}">
                      <a16:creationId xmlns:a16="http://schemas.microsoft.com/office/drawing/2014/main" id="{1AE1C495-8991-8697-ED42-D5067E8FABFA}"/>
                    </a:ext>
                  </a:extLst>
                </p:cNvPr>
                <p:cNvSpPr>
                  <a:spLocks noChangeShapeType="1"/>
                </p:cNvSpPr>
                <p:nvPr/>
              </p:nvSpPr>
              <p:spPr bwMode="auto">
                <a:xfrm>
                  <a:off x="2736" y="3296"/>
                  <a:ext cx="6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95" name="Group 100">
              <a:extLst>
                <a:ext uri="{FF2B5EF4-FFF2-40B4-BE49-F238E27FC236}">
                  <a16:creationId xmlns:a16="http://schemas.microsoft.com/office/drawing/2014/main" id="{01695202-B56D-3C5E-30B3-AA10B99125C7}"/>
                </a:ext>
              </a:extLst>
            </p:cNvPr>
            <p:cNvGrpSpPr>
              <a:grpSpLocks/>
            </p:cNvGrpSpPr>
            <p:nvPr/>
          </p:nvGrpSpPr>
          <p:grpSpPr bwMode="auto">
            <a:xfrm>
              <a:off x="6542088" y="5184775"/>
              <a:ext cx="931273" cy="790575"/>
              <a:chOff x="3720" y="3128"/>
              <a:chExt cx="645" cy="520"/>
            </a:xfrm>
          </p:grpSpPr>
          <p:sp>
            <p:nvSpPr>
              <p:cNvPr id="96" name="Rectangle 101">
                <a:extLst>
                  <a:ext uri="{FF2B5EF4-FFF2-40B4-BE49-F238E27FC236}">
                    <a16:creationId xmlns:a16="http://schemas.microsoft.com/office/drawing/2014/main" id="{82BDDE30-048B-1B0F-D6D2-F7DA68E33EF8}"/>
                  </a:ext>
                </a:extLst>
              </p:cNvPr>
              <p:cNvSpPr>
                <a:spLocks noChangeArrowheads="1"/>
              </p:cNvSpPr>
              <p:nvPr/>
            </p:nvSpPr>
            <p:spPr bwMode="auto">
              <a:xfrm>
                <a:off x="3727" y="3138"/>
                <a:ext cx="638" cy="51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7" name="Line 102">
                <a:extLst>
                  <a:ext uri="{FF2B5EF4-FFF2-40B4-BE49-F238E27FC236}">
                    <a16:creationId xmlns:a16="http://schemas.microsoft.com/office/drawing/2014/main" id="{3AD29982-C53C-3216-4247-8EE99EF7DB70}"/>
                  </a:ext>
                </a:extLst>
              </p:cNvPr>
              <p:cNvSpPr>
                <a:spLocks noChangeShapeType="1"/>
              </p:cNvSpPr>
              <p:nvPr/>
            </p:nvSpPr>
            <p:spPr bwMode="auto">
              <a:xfrm>
                <a:off x="3720" y="3284"/>
                <a:ext cx="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8" name="Text Box 103">
                <a:extLst>
                  <a:ext uri="{FF2B5EF4-FFF2-40B4-BE49-F238E27FC236}">
                    <a16:creationId xmlns:a16="http://schemas.microsoft.com/office/drawing/2014/main" id="{A382AD79-5B68-DA36-BD5A-8741F22E12F6}"/>
                  </a:ext>
                </a:extLst>
              </p:cNvPr>
              <p:cNvSpPr txBox="1">
                <a:spLocks noChangeArrowheads="1"/>
              </p:cNvSpPr>
              <p:nvPr/>
            </p:nvSpPr>
            <p:spPr bwMode="auto">
              <a:xfrm>
                <a:off x="3760" y="3128"/>
                <a:ext cx="52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Process 4</a:t>
                </a:r>
              </a:p>
            </p:txBody>
          </p:sp>
        </p:grpSp>
        <p:grpSp>
          <p:nvGrpSpPr>
            <p:cNvPr id="99" name="Group 104">
              <a:extLst>
                <a:ext uri="{FF2B5EF4-FFF2-40B4-BE49-F238E27FC236}">
                  <a16:creationId xmlns:a16="http://schemas.microsoft.com/office/drawing/2014/main" id="{2182F5C1-CA07-31EF-AC94-BCED4D2049D8}"/>
                </a:ext>
              </a:extLst>
            </p:cNvPr>
            <p:cNvGrpSpPr>
              <a:grpSpLocks/>
            </p:cNvGrpSpPr>
            <p:nvPr/>
          </p:nvGrpSpPr>
          <p:grpSpPr bwMode="auto">
            <a:xfrm>
              <a:off x="5432425" y="5440363"/>
              <a:ext cx="1109663" cy="373692"/>
              <a:chOff x="2688" y="3296"/>
              <a:chExt cx="768" cy="246"/>
            </a:xfrm>
          </p:grpSpPr>
          <p:sp>
            <p:nvSpPr>
              <p:cNvPr id="100" name="Line 105">
                <a:extLst>
                  <a:ext uri="{FF2B5EF4-FFF2-40B4-BE49-F238E27FC236}">
                    <a16:creationId xmlns:a16="http://schemas.microsoft.com/office/drawing/2014/main" id="{0DE09957-542D-4BE2-20F5-ADB43AEC9D35}"/>
                  </a:ext>
                </a:extLst>
              </p:cNvPr>
              <p:cNvSpPr>
                <a:spLocks noChangeShapeType="1"/>
              </p:cNvSpPr>
              <p:nvPr/>
            </p:nvSpPr>
            <p:spPr bwMode="auto">
              <a:xfrm>
                <a:off x="2784" y="3396"/>
                <a:ext cx="672" cy="11"/>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01" name="Group 106">
                <a:extLst>
                  <a:ext uri="{FF2B5EF4-FFF2-40B4-BE49-F238E27FC236}">
                    <a16:creationId xmlns:a16="http://schemas.microsoft.com/office/drawing/2014/main" id="{330154C4-3FD6-5A19-1108-2074941D42B4}"/>
                  </a:ext>
                </a:extLst>
              </p:cNvPr>
              <p:cNvGrpSpPr>
                <a:grpSpLocks/>
              </p:cNvGrpSpPr>
              <p:nvPr/>
            </p:nvGrpSpPr>
            <p:grpSpPr bwMode="auto">
              <a:xfrm>
                <a:off x="2688" y="3296"/>
                <a:ext cx="672" cy="246"/>
                <a:chOff x="2736" y="3296"/>
                <a:chExt cx="672" cy="246"/>
              </a:xfrm>
            </p:grpSpPr>
            <p:sp>
              <p:nvSpPr>
                <p:cNvPr id="102" name="Text Box 107">
                  <a:extLst>
                    <a:ext uri="{FF2B5EF4-FFF2-40B4-BE49-F238E27FC236}">
                      <a16:creationId xmlns:a16="http://schemas.microsoft.com/office/drawing/2014/main" id="{CCC6F6D3-3E58-FE52-A6B1-1E527321D681}"/>
                    </a:ext>
                  </a:extLst>
                </p:cNvPr>
                <p:cNvSpPr txBox="1">
                  <a:spLocks noChangeArrowheads="1"/>
                </p:cNvSpPr>
                <p:nvPr/>
              </p:nvSpPr>
              <p:spPr bwMode="auto">
                <a:xfrm>
                  <a:off x="2928" y="3312"/>
                  <a:ext cx="335" cy="2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FIFO</a:t>
                  </a:r>
                </a:p>
              </p:txBody>
            </p:sp>
            <p:sp>
              <p:nvSpPr>
                <p:cNvPr id="103" name="Line 108">
                  <a:extLst>
                    <a:ext uri="{FF2B5EF4-FFF2-40B4-BE49-F238E27FC236}">
                      <a16:creationId xmlns:a16="http://schemas.microsoft.com/office/drawing/2014/main" id="{63F683CE-F455-7238-220A-83BEA8ED5879}"/>
                    </a:ext>
                  </a:extLst>
                </p:cNvPr>
                <p:cNvSpPr>
                  <a:spLocks noChangeShapeType="1"/>
                </p:cNvSpPr>
                <p:nvPr/>
              </p:nvSpPr>
              <p:spPr bwMode="auto">
                <a:xfrm>
                  <a:off x="2736" y="3528"/>
                  <a:ext cx="6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4" name="Line 109">
                  <a:extLst>
                    <a:ext uri="{FF2B5EF4-FFF2-40B4-BE49-F238E27FC236}">
                      <a16:creationId xmlns:a16="http://schemas.microsoft.com/office/drawing/2014/main" id="{A76ED3FF-442E-B0A7-BCC0-93CF75354EFF}"/>
                    </a:ext>
                  </a:extLst>
                </p:cNvPr>
                <p:cNvSpPr>
                  <a:spLocks noChangeShapeType="1"/>
                </p:cNvSpPr>
                <p:nvPr/>
              </p:nvSpPr>
              <p:spPr bwMode="auto">
                <a:xfrm>
                  <a:off x="2736" y="3296"/>
                  <a:ext cx="6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sp>
          <p:nvSpPr>
            <p:cNvPr id="105" name="Text Box 110">
              <a:extLst>
                <a:ext uri="{FF2B5EF4-FFF2-40B4-BE49-F238E27FC236}">
                  <a16:creationId xmlns:a16="http://schemas.microsoft.com/office/drawing/2014/main" id="{A55FA8C5-F752-EF86-AF17-F20C66182C80}"/>
                </a:ext>
              </a:extLst>
            </p:cNvPr>
            <p:cNvSpPr txBox="1">
              <a:spLocks noChangeArrowheads="1"/>
            </p:cNvSpPr>
            <p:nvPr/>
          </p:nvSpPr>
          <p:spPr bwMode="auto">
            <a:xfrm>
              <a:off x="341313" y="4384675"/>
              <a:ext cx="1464993" cy="419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u="sng" dirty="0">
                  <a:solidFill>
                    <a:schemeClr val="accent4"/>
                  </a:solidFill>
                  <a:latin typeface="Roboto" panose="02000000000000000000" pitchFamily="2" charset="0"/>
                  <a:ea typeface="Roboto" panose="02000000000000000000" pitchFamily="2" charset="0"/>
                </a:rPr>
                <a:t>Build to Order:</a:t>
              </a:r>
            </a:p>
          </p:txBody>
        </p:sp>
        <p:sp>
          <p:nvSpPr>
            <p:cNvPr id="106" name="AutoShape 111">
              <a:extLst>
                <a:ext uri="{FF2B5EF4-FFF2-40B4-BE49-F238E27FC236}">
                  <a16:creationId xmlns:a16="http://schemas.microsoft.com/office/drawing/2014/main" id="{9547F800-CED9-AB29-388D-CEBE9B683185}"/>
                </a:ext>
              </a:extLst>
            </p:cNvPr>
            <p:cNvSpPr>
              <a:spLocks noChangeArrowheads="1"/>
            </p:cNvSpPr>
            <p:nvPr/>
          </p:nvSpPr>
          <p:spPr bwMode="auto">
            <a:xfrm>
              <a:off x="3636963" y="4767263"/>
              <a:ext cx="609600" cy="609600"/>
            </a:xfrm>
            <a:prstGeom prst="octagon">
              <a:avLst>
                <a:gd name="adj" fmla="val 29287"/>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STOP </a:t>
              </a:r>
            </a:p>
            <a:p>
              <a:pPr algn="ctr" eaLnBrk="1" hangingPunct="1">
                <a:lnSpc>
                  <a:spcPct val="100000"/>
                </a:lnSpc>
                <a:spcBef>
                  <a:spcPct val="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If full</a:t>
              </a:r>
            </a:p>
          </p:txBody>
        </p:sp>
        <p:pic>
          <p:nvPicPr>
            <p:cNvPr id="107" name="Picture 125" descr="customer">
              <a:extLst>
                <a:ext uri="{FF2B5EF4-FFF2-40B4-BE49-F238E27FC236}">
                  <a16:creationId xmlns:a16="http://schemas.microsoft.com/office/drawing/2014/main" id="{DD483502-B73D-AEED-727A-44D378F5F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0" y="5106988"/>
              <a:ext cx="12763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10076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Transitioning from MRP (Push System) to Kanban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3" name="Group 2">
            <a:extLst>
              <a:ext uri="{FF2B5EF4-FFF2-40B4-BE49-F238E27FC236}">
                <a16:creationId xmlns:a16="http://schemas.microsoft.com/office/drawing/2014/main" id="{57BBE92E-0185-99AD-141C-4BC9A7CEFC42}"/>
              </a:ext>
            </a:extLst>
          </p:cNvPr>
          <p:cNvGrpSpPr/>
          <p:nvPr/>
        </p:nvGrpSpPr>
        <p:grpSpPr>
          <a:xfrm>
            <a:off x="838200" y="297639"/>
            <a:ext cx="4241800" cy="301303"/>
            <a:chOff x="838200" y="297639"/>
            <a:chExt cx="4241800" cy="301303"/>
          </a:xfrm>
        </p:grpSpPr>
        <p:grpSp>
          <p:nvGrpSpPr>
            <p:cNvPr id="5" name="Group 4">
              <a:extLst>
                <a:ext uri="{FF2B5EF4-FFF2-40B4-BE49-F238E27FC236}">
                  <a16:creationId xmlns:a16="http://schemas.microsoft.com/office/drawing/2014/main" id="{8C26DEFF-C96A-A949-3B20-4DC06D4BC485}"/>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069A12D4-86C5-90EF-61F3-5C8E8F4B784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32D8DA71-5C59-552C-E856-7F3652BF58D5}"/>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B2CA9842-EB33-51A8-4D0B-306517114BB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09627DAE-FD5B-E5FB-CABA-369A017FBE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94E695AA-0C53-E049-F130-5D9675FB607E}"/>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7CC701D0-4313-4FEC-2EAB-29B828578EF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grpSp>
        <p:nvGrpSpPr>
          <p:cNvPr id="37" name="Group 36">
            <a:extLst>
              <a:ext uri="{FF2B5EF4-FFF2-40B4-BE49-F238E27FC236}">
                <a16:creationId xmlns:a16="http://schemas.microsoft.com/office/drawing/2014/main" id="{FD00A9E4-1058-D0D5-6D37-4BE52622B293}"/>
              </a:ext>
            </a:extLst>
          </p:cNvPr>
          <p:cNvGrpSpPr/>
          <p:nvPr/>
        </p:nvGrpSpPr>
        <p:grpSpPr>
          <a:xfrm>
            <a:off x="577849" y="1943099"/>
            <a:ext cx="10181058" cy="4450614"/>
            <a:chOff x="577849" y="1465263"/>
            <a:chExt cx="7540165" cy="4953102"/>
          </a:xfrm>
        </p:grpSpPr>
        <p:pic>
          <p:nvPicPr>
            <p:cNvPr id="12" name="Picture 54" descr="u shape">
              <a:extLst>
                <a:ext uri="{FF2B5EF4-FFF2-40B4-BE49-F238E27FC236}">
                  <a16:creationId xmlns:a16="http://schemas.microsoft.com/office/drawing/2014/main" id="{046C5A48-819A-C68F-8EEA-A6B96282AD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1163" y="4383088"/>
              <a:ext cx="1356851" cy="2035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3" descr="u shape">
              <a:extLst>
                <a:ext uri="{FF2B5EF4-FFF2-40B4-BE49-F238E27FC236}">
                  <a16:creationId xmlns:a16="http://schemas.microsoft.com/office/drawing/2014/main" id="{521E1D11-BA17-88B3-2BFB-6FF9FFCB3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49" y="1465263"/>
              <a:ext cx="1357311" cy="2035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6">
              <a:extLst>
                <a:ext uri="{FF2B5EF4-FFF2-40B4-BE49-F238E27FC236}">
                  <a16:creationId xmlns:a16="http://schemas.microsoft.com/office/drawing/2014/main" id="{02E04D23-14BE-C6DA-07AA-CB59A0C2CA69}"/>
                </a:ext>
              </a:extLst>
            </p:cNvPr>
            <p:cNvSpPr txBox="1">
              <a:spLocks noChangeArrowheads="1"/>
            </p:cNvSpPr>
            <p:nvPr/>
          </p:nvSpPr>
          <p:spPr bwMode="auto">
            <a:xfrm>
              <a:off x="6642652" y="3808413"/>
              <a:ext cx="1475361" cy="4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b="0" dirty="0">
                  <a:latin typeface="Roboto" panose="02000000000000000000" pitchFamily="2" charset="0"/>
                  <a:ea typeface="Roboto" panose="02000000000000000000" pitchFamily="2" charset="0"/>
                </a:rPr>
                <a:t>Supply  Cell</a:t>
              </a:r>
            </a:p>
          </p:txBody>
        </p:sp>
        <p:sp>
          <p:nvSpPr>
            <p:cNvPr id="15" name="Rectangle 17">
              <a:extLst>
                <a:ext uri="{FF2B5EF4-FFF2-40B4-BE49-F238E27FC236}">
                  <a16:creationId xmlns:a16="http://schemas.microsoft.com/office/drawing/2014/main" id="{90BB2A7D-1759-C796-FBC4-FF2E5084ED17}"/>
                </a:ext>
              </a:extLst>
            </p:cNvPr>
            <p:cNvSpPr>
              <a:spLocks noChangeArrowheads="1"/>
            </p:cNvSpPr>
            <p:nvPr/>
          </p:nvSpPr>
          <p:spPr bwMode="auto">
            <a:xfrm>
              <a:off x="3703638" y="4202113"/>
              <a:ext cx="2706687" cy="1973262"/>
            </a:xfrm>
            <a:prstGeom prst="rect">
              <a:avLst/>
            </a:prstGeom>
            <a:noFill/>
            <a:ln w="57150">
              <a:solidFill>
                <a:srgbClr val="FF00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b="0">
                  <a:latin typeface="Roboto" panose="02000000000000000000" pitchFamily="2" charset="0"/>
                  <a:ea typeface="Roboto" panose="02000000000000000000" pitchFamily="2" charset="0"/>
                </a:rPr>
                <a:t>Excess Inventory Area</a:t>
              </a:r>
            </a:p>
          </p:txBody>
        </p:sp>
        <p:sp>
          <p:nvSpPr>
            <p:cNvPr id="16" name="AutoShape 19">
              <a:extLst>
                <a:ext uri="{FF2B5EF4-FFF2-40B4-BE49-F238E27FC236}">
                  <a16:creationId xmlns:a16="http://schemas.microsoft.com/office/drawing/2014/main" id="{2F239723-1861-22A5-36FF-B3AE26F39A54}"/>
                </a:ext>
              </a:extLst>
            </p:cNvPr>
            <p:cNvSpPr>
              <a:spLocks noChangeArrowheads="1"/>
            </p:cNvSpPr>
            <p:nvPr/>
          </p:nvSpPr>
          <p:spPr bwMode="auto">
            <a:xfrm>
              <a:off x="2101850" y="1970086"/>
              <a:ext cx="717550" cy="330199"/>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AutoShape 20">
              <a:extLst>
                <a:ext uri="{FF2B5EF4-FFF2-40B4-BE49-F238E27FC236}">
                  <a16:creationId xmlns:a16="http://schemas.microsoft.com/office/drawing/2014/main" id="{25D60B78-1BE2-2934-9147-7583AF3D5E44}"/>
                </a:ext>
              </a:extLst>
            </p:cNvPr>
            <p:cNvSpPr>
              <a:spLocks noChangeArrowheads="1"/>
            </p:cNvSpPr>
            <p:nvPr/>
          </p:nvSpPr>
          <p:spPr bwMode="auto">
            <a:xfrm>
              <a:off x="2306637" y="1922461"/>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 name="AutoShape 21">
              <a:extLst>
                <a:ext uri="{FF2B5EF4-FFF2-40B4-BE49-F238E27FC236}">
                  <a16:creationId xmlns:a16="http://schemas.microsoft.com/office/drawing/2014/main" id="{DF766ECE-5CDE-1875-3CC7-ED5C0927BA5C}"/>
                </a:ext>
              </a:extLst>
            </p:cNvPr>
            <p:cNvSpPr>
              <a:spLocks noChangeArrowheads="1"/>
            </p:cNvSpPr>
            <p:nvPr/>
          </p:nvSpPr>
          <p:spPr bwMode="auto">
            <a:xfrm>
              <a:off x="2460624" y="1922461"/>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AutoShape 22">
              <a:extLst>
                <a:ext uri="{FF2B5EF4-FFF2-40B4-BE49-F238E27FC236}">
                  <a16:creationId xmlns:a16="http://schemas.microsoft.com/office/drawing/2014/main" id="{EC7E3FB4-D88E-C49B-2F81-1DC247E212D1}"/>
                </a:ext>
              </a:extLst>
            </p:cNvPr>
            <p:cNvSpPr>
              <a:spLocks noChangeArrowheads="1"/>
            </p:cNvSpPr>
            <p:nvPr/>
          </p:nvSpPr>
          <p:spPr bwMode="auto">
            <a:xfrm>
              <a:off x="2614613" y="1922461"/>
              <a:ext cx="103187"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 name="AutoShape 23">
              <a:extLst>
                <a:ext uri="{FF2B5EF4-FFF2-40B4-BE49-F238E27FC236}">
                  <a16:creationId xmlns:a16="http://schemas.microsoft.com/office/drawing/2014/main" id="{54EFA117-E576-0FF2-1CB3-C650015528AD}"/>
                </a:ext>
              </a:extLst>
            </p:cNvPr>
            <p:cNvSpPr>
              <a:spLocks noChangeArrowheads="1"/>
            </p:cNvSpPr>
            <p:nvPr/>
          </p:nvSpPr>
          <p:spPr bwMode="auto">
            <a:xfrm>
              <a:off x="2209799" y="2043111"/>
              <a:ext cx="104775" cy="120650"/>
            </a:xfrm>
            <a:prstGeom prst="can">
              <a:avLst>
                <a:gd name="adj" fmla="val 287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 name="AutoShape 24">
              <a:extLst>
                <a:ext uri="{FF2B5EF4-FFF2-40B4-BE49-F238E27FC236}">
                  <a16:creationId xmlns:a16="http://schemas.microsoft.com/office/drawing/2014/main" id="{35641E62-CFDC-6228-66E7-4D10C1EF7E26}"/>
                </a:ext>
              </a:extLst>
            </p:cNvPr>
            <p:cNvSpPr>
              <a:spLocks noChangeArrowheads="1"/>
            </p:cNvSpPr>
            <p:nvPr/>
          </p:nvSpPr>
          <p:spPr bwMode="auto">
            <a:xfrm>
              <a:off x="2363788" y="2043111"/>
              <a:ext cx="103187"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 name="AutoShape 25">
              <a:extLst>
                <a:ext uri="{FF2B5EF4-FFF2-40B4-BE49-F238E27FC236}">
                  <a16:creationId xmlns:a16="http://schemas.microsoft.com/office/drawing/2014/main" id="{C1BC1FF8-15BB-A14B-7B9A-2D4B5A79B289}"/>
                </a:ext>
              </a:extLst>
            </p:cNvPr>
            <p:cNvSpPr>
              <a:spLocks noChangeArrowheads="1"/>
            </p:cNvSpPr>
            <p:nvPr/>
          </p:nvSpPr>
          <p:spPr bwMode="auto">
            <a:xfrm>
              <a:off x="2517775" y="2043111"/>
              <a:ext cx="103188"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cxnSp>
          <p:nvCxnSpPr>
            <p:cNvPr id="23" name="AutoShape 27">
              <a:extLst>
                <a:ext uri="{FF2B5EF4-FFF2-40B4-BE49-F238E27FC236}">
                  <a16:creationId xmlns:a16="http://schemas.microsoft.com/office/drawing/2014/main" id="{9246A17A-E2D7-6CD1-1AD4-3565E32C581B}"/>
                </a:ext>
              </a:extLst>
            </p:cNvPr>
            <p:cNvCxnSpPr>
              <a:cxnSpLocks noChangeShapeType="1"/>
              <a:stCxn id="34" idx="3"/>
              <a:endCxn id="15" idx="1"/>
            </p:cNvCxnSpPr>
            <p:nvPr/>
          </p:nvCxnSpPr>
          <p:spPr bwMode="auto">
            <a:xfrm rot="16200000" flipH="1">
              <a:off x="1857989" y="3343094"/>
              <a:ext cx="2888459" cy="80284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8">
              <a:extLst>
                <a:ext uri="{FF2B5EF4-FFF2-40B4-BE49-F238E27FC236}">
                  <a16:creationId xmlns:a16="http://schemas.microsoft.com/office/drawing/2014/main" id="{1EA7D79B-0D5C-301C-9641-B606CB100EB4}"/>
                </a:ext>
              </a:extLst>
            </p:cNvPr>
            <p:cNvCxnSpPr>
              <a:cxnSpLocks noChangeShapeType="1"/>
              <a:stCxn id="15" idx="0"/>
              <a:endCxn id="34" idx="5"/>
            </p:cNvCxnSpPr>
            <p:nvPr/>
          </p:nvCxnSpPr>
          <p:spPr bwMode="auto">
            <a:xfrm rot="16200000" flipV="1">
              <a:off x="3106569" y="2251701"/>
              <a:ext cx="2176007" cy="1724819"/>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AutoShape 29">
              <a:extLst>
                <a:ext uri="{FF2B5EF4-FFF2-40B4-BE49-F238E27FC236}">
                  <a16:creationId xmlns:a16="http://schemas.microsoft.com/office/drawing/2014/main" id="{A083DA1E-1BB3-4180-E903-A22382540C6A}"/>
                </a:ext>
              </a:extLst>
            </p:cNvPr>
            <p:cNvSpPr>
              <a:spLocks noChangeArrowheads="1"/>
            </p:cNvSpPr>
            <p:nvPr/>
          </p:nvSpPr>
          <p:spPr bwMode="auto">
            <a:xfrm>
              <a:off x="2206625" y="3873500"/>
              <a:ext cx="717550" cy="330200"/>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AutoShape 31">
              <a:extLst>
                <a:ext uri="{FF2B5EF4-FFF2-40B4-BE49-F238E27FC236}">
                  <a16:creationId xmlns:a16="http://schemas.microsoft.com/office/drawing/2014/main" id="{C726C766-5F15-9C1A-09A5-89CCF453A0B7}"/>
                </a:ext>
              </a:extLst>
            </p:cNvPr>
            <p:cNvSpPr>
              <a:spLocks noChangeArrowheads="1"/>
            </p:cNvSpPr>
            <p:nvPr/>
          </p:nvSpPr>
          <p:spPr bwMode="auto">
            <a:xfrm>
              <a:off x="3844925" y="2409825"/>
              <a:ext cx="719138" cy="330200"/>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 name="AutoShape 32">
              <a:extLst>
                <a:ext uri="{FF2B5EF4-FFF2-40B4-BE49-F238E27FC236}">
                  <a16:creationId xmlns:a16="http://schemas.microsoft.com/office/drawing/2014/main" id="{1B973072-612A-D776-69B9-FF011C3ADE1A}"/>
                </a:ext>
              </a:extLst>
            </p:cNvPr>
            <p:cNvSpPr>
              <a:spLocks noChangeArrowheads="1"/>
            </p:cNvSpPr>
            <p:nvPr/>
          </p:nvSpPr>
          <p:spPr bwMode="auto">
            <a:xfrm>
              <a:off x="4049713" y="2362200"/>
              <a:ext cx="103187"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 name="AutoShape 33">
              <a:extLst>
                <a:ext uri="{FF2B5EF4-FFF2-40B4-BE49-F238E27FC236}">
                  <a16:creationId xmlns:a16="http://schemas.microsoft.com/office/drawing/2014/main" id="{9710781D-3628-F14E-2E35-026B21DECDB3}"/>
                </a:ext>
              </a:extLst>
            </p:cNvPr>
            <p:cNvSpPr>
              <a:spLocks noChangeArrowheads="1"/>
            </p:cNvSpPr>
            <p:nvPr/>
          </p:nvSpPr>
          <p:spPr bwMode="auto">
            <a:xfrm>
              <a:off x="4205288" y="2362200"/>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 name="AutoShape 34">
              <a:extLst>
                <a:ext uri="{FF2B5EF4-FFF2-40B4-BE49-F238E27FC236}">
                  <a16:creationId xmlns:a16="http://schemas.microsoft.com/office/drawing/2014/main" id="{F71E2ED3-3CDF-49B2-08C9-7B77A91FFBA1}"/>
                </a:ext>
              </a:extLst>
            </p:cNvPr>
            <p:cNvSpPr>
              <a:spLocks noChangeArrowheads="1"/>
            </p:cNvSpPr>
            <p:nvPr/>
          </p:nvSpPr>
          <p:spPr bwMode="auto">
            <a:xfrm>
              <a:off x="4359275" y="2362200"/>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 name="AutoShape 35">
              <a:extLst>
                <a:ext uri="{FF2B5EF4-FFF2-40B4-BE49-F238E27FC236}">
                  <a16:creationId xmlns:a16="http://schemas.microsoft.com/office/drawing/2014/main" id="{63BF78DD-9930-D535-D2FE-9F3407D9A61B}"/>
                </a:ext>
              </a:extLst>
            </p:cNvPr>
            <p:cNvSpPr>
              <a:spLocks noChangeArrowheads="1"/>
            </p:cNvSpPr>
            <p:nvPr/>
          </p:nvSpPr>
          <p:spPr bwMode="auto">
            <a:xfrm>
              <a:off x="3952875" y="2482850"/>
              <a:ext cx="104775" cy="122238"/>
            </a:xfrm>
            <a:prstGeom prst="can">
              <a:avLst>
                <a:gd name="adj" fmla="val 29167"/>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AutoShape 36">
              <a:extLst>
                <a:ext uri="{FF2B5EF4-FFF2-40B4-BE49-F238E27FC236}">
                  <a16:creationId xmlns:a16="http://schemas.microsoft.com/office/drawing/2014/main" id="{5878A7F7-4C6C-CCA1-1D4B-591F284192A5}"/>
                </a:ext>
              </a:extLst>
            </p:cNvPr>
            <p:cNvSpPr>
              <a:spLocks noChangeArrowheads="1"/>
            </p:cNvSpPr>
            <p:nvPr/>
          </p:nvSpPr>
          <p:spPr bwMode="auto">
            <a:xfrm>
              <a:off x="4108450" y="2482850"/>
              <a:ext cx="101600" cy="122238"/>
            </a:xfrm>
            <a:prstGeom prst="can">
              <a:avLst>
                <a:gd name="adj" fmla="val 3007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AutoShape 37">
              <a:extLst>
                <a:ext uri="{FF2B5EF4-FFF2-40B4-BE49-F238E27FC236}">
                  <a16:creationId xmlns:a16="http://schemas.microsoft.com/office/drawing/2014/main" id="{5756B3D8-7380-A224-E408-825E1E47D6C8}"/>
                </a:ext>
              </a:extLst>
            </p:cNvPr>
            <p:cNvSpPr>
              <a:spLocks noChangeArrowheads="1"/>
            </p:cNvSpPr>
            <p:nvPr/>
          </p:nvSpPr>
          <p:spPr bwMode="auto">
            <a:xfrm>
              <a:off x="4262438" y="2482850"/>
              <a:ext cx="103187" cy="122238"/>
            </a:xfrm>
            <a:prstGeom prst="can">
              <a:avLst>
                <a:gd name="adj" fmla="val 29616"/>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 name="Oval 39">
              <a:extLst>
                <a:ext uri="{FF2B5EF4-FFF2-40B4-BE49-F238E27FC236}">
                  <a16:creationId xmlns:a16="http://schemas.microsoft.com/office/drawing/2014/main" id="{7F87FC0F-9C46-1748-80E3-249F7512E23E}"/>
                </a:ext>
              </a:extLst>
            </p:cNvPr>
            <p:cNvSpPr>
              <a:spLocks noChangeArrowheads="1"/>
            </p:cNvSpPr>
            <p:nvPr/>
          </p:nvSpPr>
          <p:spPr bwMode="auto">
            <a:xfrm>
              <a:off x="4486275" y="1704975"/>
              <a:ext cx="2636838" cy="1117600"/>
            </a:xfrm>
            <a:prstGeom prst="ellipse">
              <a:avLst/>
            </a:prstGeom>
            <a:solidFill>
              <a:schemeClr val="bg1"/>
            </a:solidFill>
            <a:ln w="9525">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2 bin system to the excess area until depleted.</a:t>
              </a:r>
            </a:p>
          </p:txBody>
        </p:sp>
        <p:sp>
          <p:nvSpPr>
            <p:cNvPr id="34" name="AutoShape 40">
              <a:extLst>
                <a:ext uri="{FF2B5EF4-FFF2-40B4-BE49-F238E27FC236}">
                  <a16:creationId xmlns:a16="http://schemas.microsoft.com/office/drawing/2014/main" id="{44420094-FEC4-B25D-44BC-96343F913B39}"/>
                </a:ext>
              </a:extLst>
            </p:cNvPr>
            <p:cNvSpPr>
              <a:spLocks noChangeArrowheads="1"/>
            </p:cNvSpPr>
            <p:nvPr/>
          </p:nvSpPr>
          <p:spPr bwMode="auto">
            <a:xfrm>
              <a:off x="2614613" y="1970086"/>
              <a:ext cx="717550" cy="330199"/>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pic>
          <p:nvPicPr>
            <p:cNvPr id="35" name="Picture 55" descr="kanban card">
              <a:extLst>
                <a:ext uri="{FF2B5EF4-FFF2-40B4-BE49-F238E27FC236}">
                  <a16:creationId xmlns:a16="http://schemas.microsoft.com/office/drawing/2014/main" id="{6BD339AF-50FC-0FB0-B1C9-0DBCCD8099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538" y="2216149"/>
              <a:ext cx="390525" cy="26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56" descr="kanban card">
              <a:extLst>
                <a:ext uri="{FF2B5EF4-FFF2-40B4-BE49-F238E27FC236}">
                  <a16:creationId xmlns:a16="http://schemas.microsoft.com/office/drawing/2014/main" id="{4932481D-D239-41B6-45D9-781BD82C63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3025" y="2657475"/>
              <a:ext cx="3905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 name="Text Box 14">
            <a:extLst>
              <a:ext uri="{FF2B5EF4-FFF2-40B4-BE49-F238E27FC236}">
                <a16:creationId xmlns:a16="http://schemas.microsoft.com/office/drawing/2014/main" id="{9797A694-5F63-AE93-071B-7805A96FB751}"/>
              </a:ext>
            </a:extLst>
          </p:cNvPr>
          <p:cNvSpPr txBox="1">
            <a:spLocks noChangeArrowheads="1"/>
          </p:cNvSpPr>
          <p:nvPr/>
        </p:nvSpPr>
        <p:spPr bwMode="auto">
          <a:xfrm>
            <a:off x="2220317" y="1821893"/>
            <a:ext cx="24939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b="0" dirty="0">
                <a:latin typeface="Roboto" panose="02000000000000000000" pitchFamily="2" charset="0"/>
                <a:ea typeface="Roboto" panose="02000000000000000000" pitchFamily="2" charset="0"/>
              </a:rPr>
              <a:t>Assembly Cell</a:t>
            </a:r>
          </a:p>
        </p:txBody>
      </p:sp>
    </p:spTree>
    <p:extLst>
      <p:ext uri="{BB962C8B-B14F-4D97-AF65-F5344CB8AC3E}">
        <p14:creationId xmlns:p14="http://schemas.microsoft.com/office/powerpoint/2010/main" val="907571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Transitioned from MRP (Push System) to Kanban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3" name="Group 2">
            <a:extLst>
              <a:ext uri="{FF2B5EF4-FFF2-40B4-BE49-F238E27FC236}">
                <a16:creationId xmlns:a16="http://schemas.microsoft.com/office/drawing/2014/main" id="{57BBE92E-0185-99AD-141C-4BC9A7CEFC42}"/>
              </a:ext>
            </a:extLst>
          </p:cNvPr>
          <p:cNvGrpSpPr/>
          <p:nvPr/>
        </p:nvGrpSpPr>
        <p:grpSpPr>
          <a:xfrm>
            <a:off x="838200" y="297639"/>
            <a:ext cx="4241800" cy="301303"/>
            <a:chOff x="838200" y="297639"/>
            <a:chExt cx="4241800" cy="301303"/>
          </a:xfrm>
        </p:grpSpPr>
        <p:grpSp>
          <p:nvGrpSpPr>
            <p:cNvPr id="5" name="Group 4">
              <a:extLst>
                <a:ext uri="{FF2B5EF4-FFF2-40B4-BE49-F238E27FC236}">
                  <a16:creationId xmlns:a16="http://schemas.microsoft.com/office/drawing/2014/main" id="{8C26DEFF-C96A-A949-3B20-4DC06D4BC485}"/>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069A12D4-86C5-90EF-61F3-5C8E8F4B784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32D8DA71-5C59-552C-E856-7F3652BF58D5}"/>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B2CA9842-EB33-51A8-4D0B-306517114BB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09627DAE-FD5B-E5FB-CABA-369A017FBE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94E695AA-0C53-E049-F130-5D9675FB607E}"/>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7CC701D0-4313-4FEC-2EAB-29B828578EF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Push vs. Pull Systems</a:t>
              </a:r>
            </a:p>
          </p:txBody>
        </p:sp>
      </p:grpSp>
      <p:grpSp>
        <p:nvGrpSpPr>
          <p:cNvPr id="93" name="Group 92">
            <a:extLst>
              <a:ext uri="{FF2B5EF4-FFF2-40B4-BE49-F238E27FC236}">
                <a16:creationId xmlns:a16="http://schemas.microsoft.com/office/drawing/2014/main" id="{686B53DF-34D3-26E5-E8B4-383AC36B0CCC}"/>
              </a:ext>
            </a:extLst>
          </p:cNvPr>
          <p:cNvGrpSpPr/>
          <p:nvPr/>
        </p:nvGrpSpPr>
        <p:grpSpPr>
          <a:xfrm>
            <a:off x="663981" y="1783429"/>
            <a:ext cx="10231222" cy="4457034"/>
            <a:chOff x="577850" y="1366838"/>
            <a:chExt cx="8021902" cy="4873625"/>
          </a:xfrm>
        </p:grpSpPr>
        <p:pic>
          <p:nvPicPr>
            <p:cNvPr id="38" name="Picture 54" descr="u shape">
              <a:extLst>
                <a:ext uri="{FF2B5EF4-FFF2-40B4-BE49-F238E27FC236}">
                  <a16:creationId xmlns:a16="http://schemas.microsoft.com/office/drawing/2014/main" id="{611BBAEE-1081-D49A-12E9-B7A9D3CA8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7838" y="4926013"/>
              <a:ext cx="8763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53" descr="u shape">
              <a:extLst>
                <a:ext uri="{FF2B5EF4-FFF2-40B4-BE49-F238E27FC236}">
                  <a16:creationId xmlns:a16="http://schemas.microsoft.com/office/drawing/2014/main" id="{F13AFD4E-0D59-E9FE-B862-6DD53AD34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50" y="1465263"/>
              <a:ext cx="8763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16">
              <a:extLst>
                <a:ext uri="{FF2B5EF4-FFF2-40B4-BE49-F238E27FC236}">
                  <a16:creationId xmlns:a16="http://schemas.microsoft.com/office/drawing/2014/main" id="{0E8DCFDE-4B12-BE62-8307-1F5DF3680B17}"/>
                </a:ext>
              </a:extLst>
            </p:cNvPr>
            <p:cNvSpPr txBox="1">
              <a:spLocks noChangeArrowheads="1"/>
            </p:cNvSpPr>
            <p:nvPr/>
          </p:nvSpPr>
          <p:spPr bwMode="auto">
            <a:xfrm>
              <a:off x="5338763" y="4360863"/>
              <a:ext cx="2493962" cy="403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b="0">
                  <a:latin typeface="Roboto" panose="02000000000000000000" pitchFamily="2" charset="0"/>
                  <a:ea typeface="Roboto" panose="02000000000000000000" pitchFamily="2" charset="0"/>
                </a:rPr>
                <a:t>Supply  Cell</a:t>
              </a:r>
            </a:p>
          </p:txBody>
        </p:sp>
        <p:sp>
          <p:nvSpPr>
            <p:cNvPr id="41" name="AutoShape 19">
              <a:extLst>
                <a:ext uri="{FF2B5EF4-FFF2-40B4-BE49-F238E27FC236}">
                  <a16:creationId xmlns:a16="http://schemas.microsoft.com/office/drawing/2014/main" id="{55CF897E-6EA1-0668-DE3C-1CC16B1A722D}"/>
                </a:ext>
              </a:extLst>
            </p:cNvPr>
            <p:cNvSpPr>
              <a:spLocks noChangeArrowheads="1"/>
            </p:cNvSpPr>
            <p:nvPr/>
          </p:nvSpPr>
          <p:spPr bwMode="auto">
            <a:xfrm>
              <a:off x="1622425" y="1901825"/>
              <a:ext cx="717550" cy="330200"/>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2" name="AutoShape 20">
              <a:extLst>
                <a:ext uri="{FF2B5EF4-FFF2-40B4-BE49-F238E27FC236}">
                  <a16:creationId xmlns:a16="http://schemas.microsoft.com/office/drawing/2014/main" id="{FA0EAB52-1DEF-F662-7ED8-52FB4719021A}"/>
                </a:ext>
              </a:extLst>
            </p:cNvPr>
            <p:cNvSpPr>
              <a:spLocks noChangeArrowheads="1"/>
            </p:cNvSpPr>
            <p:nvPr/>
          </p:nvSpPr>
          <p:spPr bwMode="auto">
            <a:xfrm>
              <a:off x="1827213" y="1854200"/>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3" name="AutoShape 21">
              <a:extLst>
                <a:ext uri="{FF2B5EF4-FFF2-40B4-BE49-F238E27FC236}">
                  <a16:creationId xmlns:a16="http://schemas.microsoft.com/office/drawing/2014/main" id="{18C38419-FEAF-1035-5E70-A4412ABE4AEB}"/>
                </a:ext>
              </a:extLst>
            </p:cNvPr>
            <p:cNvSpPr>
              <a:spLocks noChangeArrowheads="1"/>
            </p:cNvSpPr>
            <p:nvPr/>
          </p:nvSpPr>
          <p:spPr bwMode="auto">
            <a:xfrm>
              <a:off x="1981200" y="1854200"/>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4" name="AutoShape 22">
              <a:extLst>
                <a:ext uri="{FF2B5EF4-FFF2-40B4-BE49-F238E27FC236}">
                  <a16:creationId xmlns:a16="http://schemas.microsoft.com/office/drawing/2014/main" id="{AB53A73B-3881-721C-453B-B2C9B23ACF1A}"/>
                </a:ext>
              </a:extLst>
            </p:cNvPr>
            <p:cNvSpPr>
              <a:spLocks noChangeArrowheads="1"/>
            </p:cNvSpPr>
            <p:nvPr/>
          </p:nvSpPr>
          <p:spPr bwMode="auto">
            <a:xfrm>
              <a:off x="2135188" y="1854200"/>
              <a:ext cx="103187"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5" name="AutoShape 23">
              <a:extLst>
                <a:ext uri="{FF2B5EF4-FFF2-40B4-BE49-F238E27FC236}">
                  <a16:creationId xmlns:a16="http://schemas.microsoft.com/office/drawing/2014/main" id="{0D150AE7-CD57-9781-0A1E-14108FD203F2}"/>
                </a:ext>
              </a:extLst>
            </p:cNvPr>
            <p:cNvSpPr>
              <a:spLocks noChangeArrowheads="1"/>
            </p:cNvSpPr>
            <p:nvPr/>
          </p:nvSpPr>
          <p:spPr bwMode="auto">
            <a:xfrm>
              <a:off x="1730375" y="1974850"/>
              <a:ext cx="104775" cy="120650"/>
            </a:xfrm>
            <a:prstGeom prst="can">
              <a:avLst>
                <a:gd name="adj" fmla="val 287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6" name="AutoShape 24">
              <a:extLst>
                <a:ext uri="{FF2B5EF4-FFF2-40B4-BE49-F238E27FC236}">
                  <a16:creationId xmlns:a16="http://schemas.microsoft.com/office/drawing/2014/main" id="{246CA00B-BBD3-4874-C158-82D48D9BEBD5}"/>
                </a:ext>
              </a:extLst>
            </p:cNvPr>
            <p:cNvSpPr>
              <a:spLocks noChangeArrowheads="1"/>
            </p:cNvSpPr>
            <p:nvPr/>
          </p:nvSpPr>
          <p:spPr bwMode="auto">
            <a:xfrm>
              <a:off x="1884363" y="1974850"/>
              <a:ext cx="103187"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7" name="AutoShape 25">
              <a:extLst>
                <a:ext uri="{FF2B5EF4-FFF2-40B4-BE49-F238E27FC236}">
                  <a16:creationId xmlns:a16="http://schemas.microsoft.com/office/drawing/2014/main" id="{C7C27165-57F2-FE01-2681-D3C484C137EE}"/>
                </a:ext>
              </a:extLst>
            </p:cNvPr>
            <p:cNvSpPr>
              <a:spLocks noChangeArrowheads="1"/>
            </p:cNvSpPr>
            <p:nvPr/>
          </p:nvSpPr>
          <p:spPr bwMode="auto">
            <a:xfrm>
              <a:off x="2038350" y="1974850"/>
              <a:ext cx="103188" cy="120650"/>
            </a:xfrm>
            <a:prstGeom prst="can">
              <a:avLst>
                <a:gd name="adj" fmla="val 29231"/>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8" name="AutoShape 31">
              <a:extLst>
                <a:ext uri="{FF2B5EF4-FFF2-40B4-BE49-F238E27FC236}">
                  <a16:creationId xmlns:a16="http://schemas.microsoft.com/office/drawing/2014/main" id="{83BC1EFD-315D-A839-4994-C2B055098212}"/>
                </a:ext>
              </a:extLst>
            </p:cNvPr>
            <p:cNvSpPr>
              <a:spLocks noChangeArrowheads="1"/>
            </p:cNvSpPr>
            <p:nvPr/>
          </p:nvSpPr>
          <p:spPr bwMode="auto">
            <a:xfrm>
              <a:off x="4152900" y="3357563"/>
              <a:ext cx="719138" cy="330200"/>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9" name="AutoShape 34">
              <a:extLst>
                <a:ext uri="{FF2B5EF4-FFF2-40B4-BE49-F238E27FC236}">
                  <a16:creationId xmlns:a16="http://schemas.microsoft.com/office/drawing/2014/main" id="{B6B53D69-88B5-1908-E79C-50B0F852F1C7}"/>
                </a:ext>
              </a:extLst>
            </p:cNvPr>
            <p:cNvSpPr>
              <a:spLocks noChangeArrowheads="1"/>
            </p:cNvSpPr>
            <p:nvPr/>
          </p:nvSpPr>
          <p:spPr bwMode="auto">
            <a:xfrm>
              <a:off x="4440238" y="3286125"/>
              <a:ext cx="101600" cy="120650"/>
            </a:xfrm>
            <a:prstGeom prst="can">
              <a:avLst>
                <a:gd name="adj" fmla="val 29688"/>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0" name="AutoShape 36">
              <a:extLst>
                <a:ext uri="{FF2B5EF4-FFF2-40B4-BE49-F238E27FC236}">
                  <a16:creationId xmlns:a16="http://schemas.microsoft.com/office/drawing/2014/main" id="{3A72ACB1-9DC0-0AC2-E942-F7145FB0F4CC}"/>
                </a:ext>
              </a:extLst>
            </p:cNvPr>
            <p:cNvSpPr>
              <a:spLocks noChangeArrowheads="1"/>
            </p:cNvSpPr>
            <p:nvPr/>
          </p:nvSpPr>
          <p:spPr bwMode="auto">
            <a:xfrm>
              <a:off x="4338638" y="3387725"/>
              <a:ext cx="101600" cy="122238"/>
            </a:xfrm>
            <a:prstGeom prst="can">
              <a:avLst>
                <a:gd name="adj" fmla="val 60156"/>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1" name="AutoShape 40">
              <a:extLst>
                <a:ext uri="{FF2B5EF4-FFF2-40B4-BE49-F238E27FC236}">
                  <a16:creationId xmlns:a16="http://schemas.microsoft.com/office/drawing/2014/main" id="{DBF74955-1A9A-1FBA-DD82-559B3F060ACC}"/>
                </a:ext>
              </a:extLst>
            </p:cNvPr>
            <p:cNvSpPr>
              <a:spLocks noChangeArrowheads="1"/>
            </p:cNvSpPr>
            <p:nvPr/>
          </p:nvSpPr>
          <p:spPr bwMode="auto">
            <a:xfrm>
              <a:off x="2135188" y="1901825"/>
              <a:ext cx="717550" cy="330200"/>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pic>
          <p:nvPicPr>
            <p:cNvPr id="52" name="Picture 55" descr="kanban card">
              <a:extLst>
                <a:ext uri="{FF2B5EF4-FFF2-40B4-BE49-F238E27FC236}">
                  <a16:creationId xmlns:a16="http://schemas.microsoft.com/office/drawing/2014/main" id="{D00C5020-1BAB-B1E5-1359-5879DD80D0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2113" y="2147888"/>
              <a:ext cx="3905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 name="Group 40">
              <a:extLst>
                <a:ext uri="{FF2B5EF4-FFF2-40B4-BE49-F238E27FC236}">
                  <a16:creationId xmlns:a16="http://schemas.microsoft.com/office/drawing/2014/main" id="{5DF10051-B4B0-2FD2-026A-84183C76DF8A}"/>
                </a:ext>
              </a:extLst>
            </p:cNvPr>
            <p:cNvGrpSpPr>
              <a:grpSpLocks/>
            </p:cNvGrpSpPr>
            <p:nvPr/>
          </p:nvGrpSpPr>
          <p:grpSpPr bwMode="auto">
            <a:xfrm>
              <a:off x="6443663" y="1366838"/>
              <a:ext cx="1670050" cy="2017712"/>
              <a:chOff x="3666" y="869"/>
              <a:chExt cx="1052" cy="1271"/>
            </a:xfrm>
          </p:grpSpPr>
          <p:sp>
            <p:nvSpPr>
              <p:cNvPr id="54" name="Line 41">
                <a:extLst>
                  <a:ext uri="{FF2B5EF4-FFF2-40B4-BE49-F238E27FC236}">
                    <a16:creationId xmlns:a16="http://schemas.microsoft.com/office/drawing/2014/main" id="{67761935-8901-107C-3007-008B3BDBAEE1}"/>
                  </a:ext>
                </a:extLst>
              </p:cNvPr>
              <p:cNvSpPr>
                <a:spLocks noChangeShapeType="1"/>
              </p:cNvSpPr>
              <p:nvPr/>
            </p:nvSpPr>
            <p:spPr bwMode="auto">
              <a:xfrm flipV="1">
                <a:off x="3666" y="1792"/>
                <a:ext cx="604"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55" name="Group 42">
                <a:extLst>
                  <a:ext uri="{FF2B5EF4-FFF2-40B4-BE49-F238E27FC236}">
                    <a16:creationId xmlns:a16="http://schemas.microsoft.com/office/drawing/2014/main" id="{B366DE29-BE85-4369-6111-BCEEB2D089A9}"/>
                  </a:ext>
                </a:extLst>
              </p:cNvPr>
              <p:cNvGrpSpPr>
                <a:grpSpLocks/>
              </p:cNvGrpSpPr>
              <p:nvPr/>
            </p:nvGrpSpPr>
            <p:grpSpPr bwMode="auto">
              <a:xfrm>
                <a:off x="3666" y="869"/>
                <a:ext cx="1052" cy="1271"/>
                <a:chOff x="3666" y="869"/>
                <a:chExt cx="1052" cy="1271"/>
              </a:xfrm>
            </p:grpSpPr>
            <p:sp>
              <p:nvSpPr>
                <p:cNvPr id="56" name="Line 43">
                  <a:extLst>
                    <a:ext uri="{FF2B5EF4-FFF2-40B4-BE49-F238E27FC236}">
                      <a16:creationId xmlns:a16="http://schemas.microsoft.com/office/drawing/2014/main" id="{AAE6DF9C-1495-F973-9C31-BD644E0A1245}"/>
                    </a:ext>
                  </a:extLst>
                </p:cNvPr>
                <p:cNvSpPr>
                  <a:spLocks noChangeShapeType="1"/>
                </p:cNvSpPr>
                <p:nvPr/>
              </p:nvSpPr>
              <p:spPr bwMode="auto">
                <a:xfrm>
                  <a:off x="3666" y="1207"/>
                  <a:ext cx="0" cy="585"/>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7" name="Line 44">
                  <a:extLst>
                    <a:ext uri="{FF2B5EF4-FFF2-40B4-BE49-F238E27FC236}">
                      <a16:creationId xmlns:a16="http://schemas.microsoft.com/office/drawing/2014/main" id="{3F86CA26-9D74-CE03-24F3-603BFC170C95}"/>
                    </a:ext>
                  </a:extLst>
                </p:cNvPr>
                <p:cNvSpPr>
                  <a:spLocks noChangeShapeType="1"/>
                </p:cNvSpPr>
                <p:nvPr/>
              </p:nvSpPr>
              <p:spPr bwMode="auto">
                <a:xfrm>
                  <a:off x="3862" y="1207"/>
                  <a:ext cx="0" cy="585"/>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8" name="Line 45">
                  <a:extLst>
                    <a:ext uri="{FF2B5EF4-FFF2-40B4-BE49-F238E27FC236}">
                      <a16:creationId xmlns:a16="http://schemas.microsoft.com/office/drawing/2014/main" id="{6C366169-34D4-C880-E311-34B794B32682}"/>
                    </a:ext>
                  </a:extLst>
                </p:cNvPr>
                <p:cNvSpPr>
                  <a:spLocks noChangeShapeType="1"/>
                </p:cNvSpPr>
                <p:nvPr/>
              </p:nvSpPr>
              <p:spPr bwMode="auto">
                <a:xfrm>
                  <a:off x="4105" y="1207"/>
                  <a:ext cx="0" cy="585"/>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9" name="Line 46">
                  <a:extLst>
                    <a:ext uri="{FF2B5EF4-FFF2-40B4-BE49-F238E27FC236}">
                      <a16:creationId xmlns:a16="http://schemas.microsoft.com/office/drawing/2014/main" id="{3ECC9149-651A-D391-DE73-C3590BC9426F}"/>
                    </a:ext>
                  </a:extLst>
                </p:cNvPr>
                <p:cNvSpPr>
                  <a:spLocks noChangeShapeType="1"/>
                </p:cNvSpPr>
                <p:nvPr/>
              </p:nvSpPr>
              <p:spPr bwMode="auto">
                <a:xfrm>
                  <a:off x="4274" y="1234"/>
                  <a:ext cx="0" cy="585"/>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0" name="Line 47">
                  <a:extLst>
                    <a:ext uri="{FF2B5EF4-FFF2-40B4-BE49-F238E27FC236}">
                      <a16:creationId xmlns:a16="http://schemas.microsoft.com/office/drawing/2014/main" id="{932FD218-1A78-5320-1197-89D62C8F6779}"/>
                    </a:ext>
                  </a:extLst>
                </p:cNvPr>
                <p:cNvSpPr>
                  <a:spLocks noChangeShapeType="1"/>
                </p:cNvSpPr>
                <p:nvPr/>
              </p:nvSpPr>
              <p:spPr bwMode="auto">
                <a:xfrm>
                  <a:off x="3977" y="1801"/>
                  <a:ext cx="0" cy="32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1" name="Line 48">
                  <a:extLst>
                    <a:ext uri="{FF2B5EF4-FFF2-40B4-BE49-F238E27FC236}">
                      <a16:creationId xmlns:a16="http://schemas.microsoft.com/office/drawing/2014/main" id="{D5C6B9D9-1B94-CF83-61B4-67BBA0C98C46}"/>
                    </a:ext>
                  </a:extLst>
                </p:cNvPr>
                <p:cNvSpPr>
                  <a:spLocks noChangeShapeType="1"/>
                </p:cNvSpPr>
                <p:nvPr/>
              </p:nvSpPr>
              <p:spPr bwMode="auto">
                <a:xfrm flipV="1">
                  <a:off x="3684" y="2121"/>
                  <a:ext cx="567" cy="19"/>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2" name="AutoShape 49">
                  <a:extLst>
                    <a:ext uri="{FF2B5EF4-FFF2-40B4-BE49-F238E27FC236}">
                      <a16:creationId xmlns:a16="http://schemas.microsoft.com/office/drawing/2014/main" id="{CD0410E9-3609-9D78-94A9-473CDD1C6342}"/>
                    </a:ext>
                  </a:extLst>
                </p:cNvPr>
                <p:cNvSpPr>
                  <a:spLocks noChangeArrowheads="1"/>
                </p:cNvSpPr>
                <p:nvPr/>
              </p:nvSpPr>
              <p:spPr bwMode="auto">
                <a:xfrm>
                  <a:off x="4142" y="869"/>
                  <a:ext cx="576" cy="384"/>
                </a:xfrm>
                <a:prstGeom prst="wedgeRectCallout">
                  <a:avLst>
                    <a:gd name="adj1" fmla="val -43750"/>
                    <a:gd name="adj2" fmla="val 70000"/>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Run Line</a:t>
                  </a:r>
                </a:p>
              </p:txBody>
            </p:sp>
          </p:grpSp>
        </p:grpSp>
        <p:sp>
          <p:nvSpPr>
            <p:cNvPr id="63" name="AutoShape 51">
              <a:extLst>
                <a:ext uri="{FF2B5EF4-FFF2-40B4-BE49-F238E27FC236}">
                  <a16:creationId xmlns:a16="http://schemas.microsoft.com/office/drawing/2014/main" id="{EBCC9DFB-D12D-A2A2-79F7-E9004042580F}"/>
                </a:ext>
              </a:extLst>
            </p:cNvPr>
            <p:cNvSpPr>
              <a:spLocks noChangeArrowheads="1"/>
            </p:cNvSpPr>
            <p:nvPr/>
          </p:nvSpPr>
          <p:spPr bwMode="auto">
            <a:xfrm>
              <a:off x="2930525" y="5280025"/>
              <a:ext cx="1190625" cy="465138"/>
            </a:xfrm>
            <a:prstGeom prst="wedgeRectCallout">
              <a:avLst>
                <a:gd name="adj1" fmla="val -40269"/>
                <a:gd name="adj2" fmla="val 117236"/>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Kanban</a:t>
              </a:r>
            </a:p>
          </p:txBody>
        </p:sp>
        <p:sp>
          <p:nvSpPr>
            <p:cNvPr id="64" name="Line 52">
              <a:extLst>
                <a:ext uri="{FF2B5EF4-FFF2-40B4-BE49-F238E27FC236}">
                  <a16:creationId xmlns:a16="http://schemas.microsoft.com/office/drawing/2014/main" id="{B51DBF75-40EF-FC9A-0218-74FFC75B1435}"/>
                </a:ext>
              </a:extLst>
            </p:cNvPr>
            <p:cNvSpPr>
              <a:spLocks noChangeShapeType="1"/>
            </p:cNvSpPr>
            <p:nvPr/>
          </p:nvSpPr>
          <p:spPr bwMode="auto">
            <a:xfrm>
              <a:off x="6459538" y="2090738"/>
              <a:ext cx="942975" cy="0"/>
            </a:xfrm>
            <a:prstGeom prst="line">
              <a:avLst/>
            </a:prstGeom>
            <a:noFill/>
            <a:ln w="38100" cap="sq">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65" name="Group 58">
              <a:extLst>
                <a:ext uri="{FF2B5EF4-FFF2-40B4-BE49-F238E27FC236}">
                  <a16:creationId xmlns:a16="http://schemas.microsoft.com/office/drawing/2014/main" id="{AB936EAF-0591-B54B-34F2-C99834C92C42}"/>
                </a:ext>
              </a:extLst>
            </p:cNvPr>
            <p:cNvGrpSpPr>
              <a:grpSpLocks/>
            </p:cNvGrpSpPr>
            <p:nvPr/>
          </p:nvGrpSpPr>
          <p:grpSpPr bwMode="auto">
            <a:xfrm>
              <a:off x="3216275" y="2139950"/>
              <a:ext cx="1592263" cy="1666875"/>
              <a:chOff x="2608" y="778"/>
              <a:chExt cx="1003" cy="1050"/>
            </a:xfrm>
          </p:grpSpPr>
          <p:grpSp>
            <p:nvGrpSpPr>
              <p:cNvPr id="66" name="Group 53">
                <a:extLst>
                  <a:ext uri="{FF2B5EF4-FFF2-40B4-BE49-F238E27FC236}">
                    <a16:creationId xmlns:a16="http://schemas.microsoft.com/office/drawing/2014/main" id="{E8D914A1-1558-BAE7-C2DF-737BB0D8A887}"/>
                  </a:ext>
                </a:extLst>
              </p:cNvPr>
              <p:cNvGrpSpPr>
                <a:grpSpLocks/>
              </p:cNvGrpSpPr>
              <p:nvPr/>
            </p:nvGrpSpPr>
            <p:grpSpPr bwMode="auto">
              <a:xfrm>
                <a:off x="3158" y="1628"/>
                <a:ext cx="260" cy="77"/>
                <a:chOff x="2490" y="1564"/>
                <a:chExt cx="260" cy="77"/>
              </a:xfrm>
            </p:grpSpPr>
            <p:sp>
              <p:nvSpPr>
                <p:cNvPr id="74" name="AutoShape 35">
                  <a:extLst>
                    <a:ext uri="{FF2B5EF4-FFF2-40B4-BE49-F238E27FC236}">
                      <a16:creationId xmlns:a16="http://schemas.microsoft.com/office/drawing/2014/main" id="{77437760-83DF-053D-A785-BF8ADBD1E6C1}"/>
                    </a:ext>
                  </a:extLst>
                </p:cNvPr>
                <p:cNvSpPr>
                  <a:spLocks noChangeArrowheads="1"/>
                </p:cNvSpPr>
                <p:nvPr/>
              </p:nvSpPr>
              <p:spPr bwMode="auto">
                <a:xfrm>
                  <a:off x="2490" y="1564"/>
                  <a:ext cx="66" cy="77"/>
                </a:xfrm>
                <a:prstGeom prst="can">
                  <a:avLst>
                    <a:gd name="adj" fmla="val 29167"/>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5" name="AutoShape 37">
                  <a:extLst>
                    <a:ext uri="{FF2B5EF4-FFF2-40B4-BE49-F238E27FC236}">
                      <a16:creationId xmlns:a16="http://schemas.microsoft.com/office/drawing/2014/main" id="{38D912EA-EBE0-1ABB-6B0B-CB9512930C76}"/>
                    </a:ext>
                  </a:extLst>
                </p:cNvPr>
                <p:cNvSpPr>
                  <a:spLocks noChangeArrowheads="1"/>
                </p:cNvSpPr>
                <p:nvPr/>
              </p:nvSpPr>
              <p:spPr bwMode="auto">
                <a:xfrm>
                  <a:off x="2685" y="1564"/>
                  <a:ext cx="65" cy="77"/>
                </a:xfrm>
                <a:prstGeom prst="can">
                  <a:avLst>
                    <a:gd name="adj" fmla="val 29615"/>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67" name="Group 35">
                <a:extLst>
                  <a:ext uri="{FF2B5EF4-FFF2-40B4-BE49-F238E27FC236}">
                    <a16:creationId xmlns:a16="http://schemas.microsoft.com/office/drawing/2014/main" id="{84ECDD97-EA7A-E118-211A-1373B3FD783B}"/>
                  </a:ext>
                </a:extLst>
              </p:cNvPr>
              <p:cNvGrpSpPr>
                <a:grpSpLocks/>
              </p:cNvGrpSpPr>
              <p:nvPr/>
            </p:nvGrpSpPr>
            <p:grpSpPr bwMode="auto">
              <a:xfrm>
                <a:off x="3286" y="1179"/>
                <a:ext cx="325" cy="649"/>
                <a:chOff x="2802" y="2185"/>
                <a:chExt cx="325" cy="649"/>
              </a:xfrm>
            </p:grpSpPr>
            <p:sp>
              <p:nvSpPr>
                <p:cNvPr id="70" name="Line 36">
                  <a:extLst>
                    <a:ext uri="{FF2B5EF4-FFF2-40B4-BE49-F238E27FC236}">
                      <a16:creationId xmlns:a16="http://schemas.microsoft.com/office/drawing/2014/main" id="{88560A2C-0DFF-DF5C-DB78-568979B51DB2}"/>
                    </a:ext>
                  </a:extLst>
                </p:cNvPr>
                <p:cNvSpPr>
                  <a:spLocks noChangeShapeType="1"/>
                </p:cNvSpPr>
                <p:nvPr/>
              </p:nvSpPr>
              <p:spPr bwMode="auto">
                <a:xfrm>
                  <a:off x="3127" y="2185"/>
                  <a:ext cx="0" cy="649"/>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1" name="Line 37">
                  <a:extLst>
                    <a:ext uri="{FF2B5EF4-FFF2-40B4-BE49-F238E27FC236}">
                      <a16:creationId xmlns:a16="http://schemas.microsoft.com/office/drawing/2014/main" id="{702C8D02-6786-3EBF-DAF5-6346C703D2B0}"/>
                    </a:ext>
                  </a:extLst>
                </p:cNvPr>
                <p:cNvSpPr>
                  <a:spLocks noChangeShapeType="1"/>
                </p:cNvSpPr>
                <p:nvPr/>
              </p:nvSpPr>
              <p:spPr bwMode="auto">
                <a:xfrm flipH="1">
                  <a:off x="2825" y="2807"/>
                  <a:ext cx="274" cy="9"/>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2" name="Line 38">
                  <a:extLst>
                    <a:ext uri="{FF2B5EF4-FFF2-40B4-BE49-F238E27FC236}">
                      <a16:creationId xmlns:a16="http://schemas.microsoft.com/office/drawing/2014/main" id="{AAAAE797-641E-A98E-3C97-E31C84252126}"/>
                    </a:ext>
                  </a:extLst>
                </p:cNvPr>
                <p:cNvSpPr>
                  <a:spLocks noChangeShapeType="1"/>
                </p:cNvSpPr>
                <p:nvPr/>
              </p:nvSpPr>
              <p:spPr bwMode="auto">
                <a:xfrm flipH="1">
                  <a:off x="2802" y="2500"/>
                  <a:ext cx="274" cy="9"/>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3" name="Line 39">
                  <a:extLst>
                    <a:ext uri="{FF2B5EF4-FFF2-40B4-BE49-F238E27FC236}">
                      <a16:creationId xmlns:a16="http://schemas.microsoft.com/office/drawing/2014/main" id="{2830B2D4-0E76-543B-72D6-52D97CEEFB96}"/>
                    </a:ext>
                  </a:extLst>
                </p:cNvPr>
                <p:cNvSpPr>
                  <a:spLocks noChangeShapeType="1"/>
                </p:cNvSpPr>
                <p:nvPr/>
              </p:nvSpPr>
              <p:spPr bwMode="auto">
                <a:xfrm flipH="1">
                  <a:off x="2825" y="2185"/>
                  <a:ext cx="274" cy="9"/>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68" name="Rectangle 50">
                <a:extLst>
                  <a:ext uri="{FF2B5EF4-FFF2-40B4-BE49-F238E27FC236}">
                    <a16:creationId xmlns:a16="http://schemas.microsoft.com/office/drawing/2014/main" id="{261287D8-B68C-EAF3-1491-CDE14B007766}"/>
                  </a:ext>
                </a:extLst>
              </p:cNvPr>
              <p:cNvSpPr>
                <a:spLocks noChangeArrowheads="1"/>
              </p:cNvSpPr>
              <p:nvPr/>
            </p:nvSpPr>
            <p:spPr bwMode="auto">
              <a:xfrm rot="416684">
                <a:off x="3075" y="1661"/>
                <a:ext cx="256" cy="82"/>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9" name="Text Box 56">
                <a:extLst>
                  <a:ext uri="{FF2B5EF4-FFF2-40B4-BE49-F238E27FC236}">
                    <a16:creationId xmlns:a16="http://schemas.microsoft.com/office/drawing/2014/main" id="{D34B01CF-FCBA-AA22-B625-EF946358F59D}"/>
                  </a:ext>
                </a:extLst>
              </p:cNvPr>
              <p:cNvSpPr txBox="1">
                <a:spLocks noChangeArrowheads="1"/>
              </p:cNvSpPr>
              <p:nvPr/>
            </p:nvSpPr>
            <p:spPr bwMode="auto">
              <a:xfrm>
                <a:off x="2608" y="778"/>
                <a:ext cx="561" cy="421"/>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 attached to</a:t>
                </a:r>
              </a:p>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 full container</a:t>
                </a:r>
              </a:p>
            </p:txBody>
          </p:sp>
        </p:grpSp>
        <p:sp>
          <p:nvSpPr>
            <p:cNvPr id="76" name="Line 57">
              <a:extLst>
                <a:ext uri="{FF2B5EF4-FFF2-40B4-BE49-F238E27FC236}">
                  <a16:creationId xmlns:a16="http://schemas.microsoft.com/office/drawing/2014/main" id="{3BA39F98-16B8-3DDD-3829-4B9A209E305D}"/>
                </a:ext>
              </a:extLst>
            </p:cNvPr>
            <p:cNvSpPr>
              <a:spLocks noChangeShapeType="1"/>
            </p:cNvSpPr>
            <p:nvPr/>
          </p:nvSpPr>
          <p:spPr bwMode="auto">
            <a:xfrm>
              <a:off x="4029075" y="2781300"/>
              <a:ext cx="123825" cy="638175"/>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7" name="Rectangle 60">
              <a:extLst>
                <a:ext uri="{FF2B5EF4-FFF2-40B4-BE49-F238E27FC236}">
                  <a16:creationId xmlns:a16="http://schemas.microsoft.com/office/drawing/2014/main" id="{CA8A4780-7A38-0F60-1989-1A16C72B9DA3}"/>
                </a:ext>
              </a:extLst>
            </p:cNvPr>
            <p:cNvSpPr>
              <a:spLocks noChangeArrowheads="1"/>
            </p:cNvSpPr>
            <p:nvPr/>
          </p:nvSpPr>
          <p:spPr bwMode="auto">
            <a:xfrm rot="191075">
              <a:off x="3603625" y="1797050"/>
              <a:ext cx="646113" cy="241300"/>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8" name="Line 62">
              <a:extLst>
                <a:ext uri="{FF2B5EF4-FFF2-40B4-BE49-F238E27FC236}">
                  <a16:creationId xmlns:a16="http://schemas.microsoft.com/office/drawing/2014/main" id="{B9E49B29-D17E-611F-96DE-92248C6DC88E}"/>
                </a:ext>
              </a:extLst>
            </p:cNvPr>
            <p:cNvSpPr>
              <a:spLocks noChangeShapeType="1"/>
            </p:cNvSpPr>
            <p:nvPr/>
          </p:nvSpPr>
          <p:spPr bwMode="auto">
            <a:xfrm>
              <a:off x="3019425" y="1943100"/>
              <a:ext cx="457200" cy="9525"/>
            </a:xfrm>
            <a:prstGeom prst="line">
              <a:avLst/>
            </a:prstGeom>
            <a:noFill/>
            <a:ln w="38100" cap="sq">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9" name="Line 63">
              <a:extLst>
                <a:ext uri="{FF2B5EF4-FFF2-40B4-BE49-F238E27FC236}">
                  <a16:creationId xmlns:a16="http://schemas.microsoft.com/office/drawing/2014/main" id="{3640150C-164A-7972-08F1-19414ED0871D}"/>
                </a:ext>
              </a:extLst>
            </p:cNvPr>
            <p:cNvSpPr>
              <a:spLocks noChangeShapeType="1"/>
            </p:cNvSpPr>
            <p:nvPr/>
          </p:nvSpPr>
          <p:spPr bwMode="auto">
            <a:xfrm>
              <a:off x="4295775" y="1933575"/>
              <a:ext cx="2019300" cy="676275"/>
            </a:xfrm>
            <a:prstGeom prst="line">
              <a:avLst/>
            </a:prstGeom>
            <a:noFill/>
            <a:ln w="38100" cap="sq">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0" name="Rectangle 64">
              <a:extLst>
                <a:ext uri="{FF2B5EF4-FFF2-40B4-BE49-F238E27FC236}">
                  <a16:creationId xmlns:a16="http://schemas.microsoft.com/office/drawing/2014/main" id="{C3EEEF21-71A4-5F10-CF81-C4170A794739}"/>
                </a:ext>
              </a:extLst>
            </p:cNvPr>
            <p:cNvSpPr>
              <a:spLocks noChangeArrowheads="1"/>
            </p:cNvSpPr>
            <p:nvPr/>
          </p:nvSpPr>
          <p:spPr bwMode="auto">
            <a:xfrm rot="191075">
              <a:off x="6759575" y="2665413"/>
              <a:ext cx="457200" cy="147637"/>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1" name="Text Box 65">
              <a:extLst>
                <a:ext uri="{FF2B5EF4-FFF2-40B4-BE49-F238E27FC236}">
                  <a16:creationId xmlns:a16="http://schemas.microsoft.com/office/drawing/2014/main" id="{D4B8E1DC-B28F-400B-6DAD-42DB0A286E8D}"/>
                </a:ext>
              </a:extLst>
            </p:cNvPr>
            <p:cNvSpPr txBox="1">
              <a:spLocks noChangeArrowheads="1"/>
            </p:cNvSpPr>
            <p:nvPr/>
          </p:nvSpPr>
          <p:spPr bwMode="auto">
            <a:xfrm>
              <a:off x="5135909" y="1411287"/>
              <a:ext cx="758133" cy="648688"/>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Kanban</a:t>
              </a:r>
            </a:p>
            <a:p>
              <a:pPr algn="ctr">
                <a:lnSpc>
                  <a:spcPct val="80000"/>
                </a:lnSpc>
                <a:spcBef>
                  <a:spcPct val="2000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 </a:t>
              </a:r>
              <a:r>
                <a:rPr lang="en-US" altLang="en-US" sz="1800">
                  <a:latin typeface="Roboto" panose="02000000000000000000" pitchFamily="2" charset="0"/>
                  <a:ea typeface="Roboto" panose="02000000000000000000" pitchFamily="2" charset="0"/>
                </a:rPr>
                <a:t>Post</a:t>
              </a:r>
            </a:p>
          </p:txBody>
        </p:sp>
        <p:sp>
          <p:nvSpPr>
            <p:cNvPr id="82" name="Line 66">
              <a:extLst>
                <a:ext uri="{FF2B5EF4-FFF2-40B4-BE49-F238E27FC236}">
                  <a16:creationId xmlns:a16="http://schemas.microsoft.com/office/drawing/2014/main" id="{BC038D60-2D3A-9F9A-9A55-3CFE044A5E50}"/>
                </a:ext>
              </a:extLst>
            </p:cNvPr>
            <p:cNvSpPr>
              <a:spLocks noChangeShapeType="1"/>
            </p:cNvSpPr>
            <p:nvPr/>
          </p:nvSpPr>
          <p:spPr bwMode="auto">
            <a:xfrm>
              <a:off x="5857875" y="2038350"/>
              <a:ext cx="485775" cy="276225"/>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3" name="Text Box 67">
              <a:extLst>
                <a:ext uri="{FF2B5EF4-FFF2-40B4-BE49-F238E27FC236}">
                  <a16:creationId xmlns:a16="http://schemas.microsoft.com/office/drawing/2014/main" id="{FBACCEC5-CD1C-71BF-2533-E7536F584AFF}"/>
                </a:ext>
              </a:extLst>
            </p:cNvPr>
            <p:cNvSpPr txBox="1">
              <a:spLocks noChangeArrowheads="1"/>
            </p:cNvSpPr>
            <p:nvPr/>
          </p:nvSpPr>
          <p:spPr bwMode="auto">
            <a:xfrm>
              <a:off x="7381611" y="3441700"/>
              <a:ext cx="1218141" cy="998133"/>
            </a:xfrm>
            <a:prstGeom prst="rect">
              <a:avLst/>
            </a:prstGeom>
            <a:noFill/>
            <a:ln w="381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latin typeface="Roboto" panose="02000000000000000000" pitchFamily="2" charset="0"/>
                  <a:ea typeface="Roboto" panose="02000000000000000000" pitchFamily="2" charset="0"/>
                </a:rPr>
                <a:t>When Cards</a:t>
              </a:r>
            </a:p>
            <a:p>
              <a:pPr algn="ctr">
                <a:lnSpc>
                  <a:spcPct val="80000"/>
                </a:lnSpc>
                <a:spcBef>
                  <a:spcPct val="20000"/>
                </a:spcBef>
                <a:spcAft>
                  <a:spcPct val="0"/>
                </a:spcAft>
                <a:buClrTx/>
                <a:buSzTx/>
                <a:buFontTx/>
                <a:buNone/>
              </a:pPr>
              <a:r>
                <a:rPr lang="en-US" altLang="en-US" sz="1400" b="0" dirty="0">
                  <a:latin typeface="Roboto" panose="02000000000000000000" pitchFamily="2" charset="0"/>
                  <a:ea typeface="Roboto" panose="02000000000000000000" pitchFamily="2" charset="0"/>
                </a:rPr>
                <a:t>Hit The Run Line</a:t>
              </a:r>
            </a:p>
            <a:p>
              <a:pPr algn="ctr">
                <a:lnSpc>
                  <a:spcPct val="80000"/>
                </a:lnSpc>
                <a:spcBef>
                  <a:spcPct val="20000"/>
                </a:spcBef>
                <a:spcAft>
                  <a:spcPct val="0"/>
                </a:spcAft>
                <a:buClrTx/>
                <a:buSzTx/>
                <a:buFontTx/>
                <a:buNone/>
              </a:pPr>
              <a:r>
                <a:rPr lang="en-US" altLang="en-US" sz="1400" b="0" dirty="0">
                  <a:latin typeface="Roboto" panose="02000000000000000000" pitchFamily="2" charset="0"/>
                  <a:ea typeface="Roboto" panose="02000000000000000000" pitchFamily="2" charset="0"/>
                </a:rPr>
                <a:t>Signal the Supply</a:t>
              </a:r>
            </a:p>
            <a:p>
              <a:pPr algn="ctr">
                <a:lnSpc>
                  <a:spcPct val="80000"/>
                </a:lnSpc>
                <a:spcBef>
                  <a:spcPct val="20000"/>
                </a:spcBef>
                <a:spcAft>
                  <a:spcPct val="0"/>
                </a:spcAft>
                <a:buClrTx/>
                <a:buSzTx/>
                <a:buFontTx/>
                <a:buNone/>
              </a:pPr>
              <a:r>
                <a:rPr lang="en-US" altLang="en-US" sz="1400" b="0" dirty="0">
                  <a:latin typeface="Roboto" panose="02000000000000000000" pitchFamily="2" charset="0"/>
                  <a:ea typeface="Roboto" panose="02000000000000000000" pitchFamily="2" charset="0"/>
                </a:rPr>
                <a:t>Cell to Replenish</a:t>
              </a:r>
            </a:p>
          </p:txBody>
        </p:sp>
        <p:sp>
          <p:nvSpPr>
            <p:cNvPr id="84" name="AutoShape 31">
              <a:extLst>
                <a:ext uri="{FF2B5EF4-FFF2-40B4-BE49-F238E27FC236}">
                  <a16:creationId xmlns:a16="http://schemas.microsoft.com/office/drawing/2014/main" id="{C123719B-84C4-4770-B482-AC77E3FC2D78}"/>
                </a:ext>
              </a:extLst>
            </p:cNvPr>
            <p:cNvSpPr>
              <a:spLocks noChangeArrowheads="1"/>
            </p:cNvSpPr>
            <p:nvPr/>
          </p:nvSpPr>
          <p:spPr bwMode="auto">
            <a:xfrm>
              <a:off x="4657725" y="4538663"/>
              <a:ext cx="719138" cy="330200"/>
            </a:xfrm>
            <a:prstGeom prst="cube">
              <a:avLst>
                <a:gd name="adj" fmla="val 66069"/>
              </a:avLst>
            </a:prstGeom>
            <a:solidFill>
              <a:schemeClr val="accent4"/>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5" name="Rectangle 69">
              <a:extLst>
                <a:ext uri="{FF2B5EF4-FFF2-40B4-BE49-F238E27FC236}">
                  <a16:creationId xmlns:a16="http://schemas.microsoft.com/office/drawing/2014/main" id="{800D6091-B450-A25C-4D0F-AFF5D6773ABE}"/>
                </a:ext>
              </a:extLst>
            </p:cNvPr>
            <p:cNvSpPr>
              <a:spLocks noChangeArrowheads="1"/>
            </p:cNvSpPr>
            <p:nvPr/>
          </p:nvSpPr>
          <p:spPr bwMode="auto">
            <a:xfrm rot="191075">
              <a:off x="4625975" y="4579938"/>
              <a:ext cx="457200" cy="147637"/>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6" name="Line 70">
              <a:extLst>
                <a:ext uri="{FF2B5EF4-FFF2-40B4-BE49-F238E27FC236}">
                  <a16:creationId xmlns:a16="http://schemas.microsoft.com/office/drawing/2014/main" id="{F6369BD6-6227-442E-3333-62716820EFB1}"/>
                </a:ext>
              </a:extLst>
            </p:cNvPr>
            <p:cNvSpPr>
              <a:spLocks noChangeShapeType="1"/>
            </p:cNvSpPr>
            <p:nvPr/>
          </p:nvSpPr>
          <p:spPr bwMode="auto">
            <a:xfrm flipH="1" flipV="1">
              <a:off x="5410200" y="4781550"/>
              <a:ext cx="1295400" cy="552450"/>
            </a:xfrm>
            <a:prstGeom prst="line">
              <a:avLst/>
            </a:prstGeom>
            <a:noFill/>
            <a:ln w="38100" cap="sq">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7" name="Line 71">
              <a:extLst>
                <a:ext uri="{FF2B5EF4-FFF2-40B4-BE49-F238E27FC236}">
                  <a16:creationId xmlns:a16="http://schemas.microsoft.com/office/drawing/2014/main" id="{38D6B674-C9D4-60D0-64FD-05861B25AAB8}"/>
                </a:ext>
              </a:extLst>
            </p:cNvPr>
            <p:cNvSpPr>
              <a:spLocks noChangeShapeType="1"/>
            </p:cNvSpPr>
            <p:nvPr/>
          </p:nvSpPr>
          <p:spPr bwMode="auto">
            <a:xfrm flipH="1" flipV="1">
              <a:off x="4629150" y="3867150"/>
              <a:ext cx="419100" cy="628650"/>
            </a:xfrm>
            <a:prstGeom prst="line">
              <a:avLst/>
            </a:prstGeom>
            <a:noFill/>
            <a:ln w="38100" cap="sq">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8" name="Line 72">
              <a:extLst>
                <a:ext uri="{FF2B5EF4-FFF2-40B4-BE49-F238E27FC236}">
                  <a16:creationId xmlns:a16="http://schemas.microsoft.com/office/drawing/2014/main" id="{C30DAC11-2C63-2C7F-159E-0726834B1F5E}"/>
                </a:ext>
              </a:extLst>
            </p:cNvPr>
            <p:cNvSpPr>
              <a:spLocks noChangeShapeType="1"/>
            </p:cNvSpPr>
            <p:nvPr/>
          </p:nvSpPr>
          <p:spPr bwMode="auto">
            <a:xfrm flipH="1" flipV="1">
              <a:off x="2428875" y="2305050"/>
              <a:ext cx="1628775" cy="1114425"/>
            </a:xfrm>
            <a:prstGeom prst="line">
              <a:avLst/>
            </a:prstGeom>
            <a:noFill/>
            <a:ln w="38100" cap="sq">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9" name="Text Box 73">
              <a:extLst>
                <a:ext uri="{FF2B5EF4-FFF2-40B4-BE49-F238E27FC236}">
                  <a16:creationId xmlns:a16="http://schemas.microsoft.com/office/drawing/2014/main" id="{3ACDF04D-4604-7391-6FFC-23928E0D34F4}"/>
                </a:ext>
              </a:extLst>
            </p:cNvPr>
            <p:cNvSpPr txBox="1">
              <a:spLocks noChangeArrowheads="1"/>
            </p:cNvSpPr>
            <p:nvPr/>
          </p:nvSpPr>
          <p:spPr bwMode="auto">
            <a:xfrm>
              <a:off x="2320360" y="4089400"/>
              <a:ext cx="1342570" cy="762552"/>
            </a:xfrm>
            <a:prstGeom prst="rect">
              <a:avLst/>
            </a:prstGeom>
            <a:noFill/>
            <a:ln w="381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Parts with</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Card replenish the </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supermarket</a:t>
              </a:r>
            </a:p>
          </p:txBody>
        </p:sp>
        <p:sp>
          <p:nvSpPr>
            <p:cNvPr id="90" name="Line 74">
              <a:extLst>
                <a:ext uri="{FF2B5EF4-FFF2-40B4-BE49-F238E27FC236}">
                  <a16:creationId xmlns:a16="http://schemas.microsoft.com/office/drawing/2014/main" id="{A80AE23C-AA19-4ED4-CD4D-148E34A46E7A}"/>
                </a:ext>
              </a:extLst>
            </p:cNvPr>
            <p:cNvSpPr>
              <a:spLocks noChangeShapeType="1"/>
            </p:cNvSpPr>
            <p:nvPr/>
          </p:nvSpPr>
          <p:spPr bwMode="auto">
            <a:xfrm flipV="1">
              <a:off x="4038600" y="4124325"/>
              <a:ext cx="666750" cy="257175"/>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91" name="Text Box 75">
              <a:extLst>
                <a:ext uri="{FF2B5EF4-FFF2-40B4-BE49-F238E27FC236}">
                  <a16:creationId xmlns:a16="http://schemas.microsoft.com/office/drawing/2014/main" id="{15A3429F-31E7-EF55-17A9-998F38092F05}"/>
                </a:ext>
              </a:extLst>
            </p:cNvPr>
            <p:cNvSpPr txBox="1">
              <a:spLocks noChangeArrowheads="1"/>
            </p:cNvSpPr>
            <p:nvPr/>
          </p:nvSpPr>
          <p:spPr bwMode="auto">
            <a:xfrm>
              <a:off x="604045" y="2746375"/>
              <a:ext cx="1208086" cy="762552"/>
            </a:xfrm>
            <a:prstGeom prst="rect">
              <a:avLst/>
            </a:prstGeom>
            <a:noFill/>
            <a:ln w="381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a:latin typeface="Roboto" panose="02000000000000000000" pitchFamily="2" charset="0"/>
                  <a:ea typeface="Roboto" panose="02000000000000000000" pitchFamily="2" charset="0"/>
                </a:rPr>
                <a:t>Parts are</a:t>
              </a:r>
            </a:p>
            <a:p>
              <a:pPr algn="ctr">
                <a:lnSpc>
                  <a:spcPct val="80000"/>
                </a:lnSpc>
                <a:spcBef>
                  <a:spcPct val="20000"/>
                </a:spcBef>
                <a:spcAft>
                  <a:spcPct val="0"/>
                </a:spcAft>
                <a:buClrTx/>
                <a:buSzTx/>
                <a:buFontTx/>
                <a:buNone/>
              </a:pPr>
              <a:r>
                <a:rPr lang="ja-JP" altLang="en-US" sz="1400" b="0">
                  <a:latin typeface="Roboto" panose="02000000000000000000" pitchFamily="2" charset="0"/>
                </a:rPr>
                <a:t>“</a:t>
              </a:r>
              <a:r>
                <a:rPr lang="en-US" altLang="ja-JP" sz="1400" b="0">
                  <a:latin typeface="Roboto" panose="02000000000000000000" pitchFamily="2" charset="0"/>
                  <a:ea typeface="Roboto" panose="02000000000000000000" pitchFamily="2" charset="0"/>
                </a:rPr>
                <a:t>shopped</a:t>
              </a:r>
              <a:r>
                <a:rPr lang="ja-JP" altLang="en-US" sz="1400" b="0">
                  <a:latin typeface="Roboto" panose="02000000000000000000" pitchFamily="2" charset="0"/>
                </a:rPr>
                <a:t>”</a:t>
              </a:r>
              <a:r>
                <a:rPr lang="en-US" altLang="ja-JP" sz="1400" b="0">
                  <a:latin typeface="Roboto" panose="02000000000000000000" pitchFamily="2" charset="0"/>
                  <a:ea typeface="Roboto" panose="02000000000000000000" pitchFamily="2" charset="0"/>
                </a:rPr>
                <a:t> from</a:t>
              </a:r>
            </a:p>
            <a:p>
              <a:pPr algn="ctr">
                <a:lnSpc>
                  <a:spcPct val="80000"/>
                </a:lnSpc>
                <a:spcBef>
                  <a:spcPct val="20000"/>
                </a:spcBef>
                <a:spcAft>
                  <a:spcPct val="0"/>
                </a:spcAft>
                <a:buClrTx/>
                <a:buSzTx/>
                <a:buFontTx/>
                <a:buNone/>
              </a:pPr>
              <a:r>
                <a:rPr lang="en-US" altLang="en-US" sz="1400" b="0">
                  <a:latin typeface="Roboto" panose="02000000000000000000" pitchFamily="2" charset="0"/>
                  <a:ea typeface="Roboto" panose="02000000000000000000" pitchFamily="2" charset="0"/>
                </a:rPr>
                <a:t>The supermarket</a:t>
              </a:r>
            </a:p>
          </p:txBody>
        </p:sp>
        <p:sp>
          <p:nvSpPr>
            <p:cNvPr id="92" name="Line 76">
              <a:extLst>
                <a:ext uri="{FF2B5EF4-FFF2-40B4-BE49-F238E27FC236}">
                  <a16:creationId xmlns:a16="http://schemas.microsoft.com/office/drawing/2014/main" id="{E5CD0783-89A3-B28C-216A-EB7935BC4C0F}"/>
                </a:ext>
              </a:extLst>
            </p:cNvPr>
            <p:cNvSpPr>
              <a:spLocks noChangeShapeType="1"/>
            </p:cNvSpPr>
            <p:nvPr/>
          </p:nvSpPr>
          <p:spPr bwMode="auto">
            <a:xfrm>
              <a:off x="2228850" y="3009900"/>
              <a:ext cx="1162050" cy="1905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12" name="Text Box 14">
            <a:extLst>
              <a:ext uri="{FF2B5EF4-FFF2-40B4-BE49-F238E27FC236}">
                <a16:creationId xmlns:a16="http://schemas.microsoft.com/office/drawing/2014/main" id="{5601CA74-3392-8171-C6D0-EC09469A8100}"/>
              </a:ext>
            </a:extLst>
          </p:cNvPr>
          <p:cNvSpPr txBox="1">
            <a:spLocks noChangeArrowheads="1"/>
          </p:cNvSpPr>
          <p:nvPr/>
        </p:nvSpPr>
        <p:spPr bwMode="auto">
          <a:xfrm>
            <a:off x="1680770" y="1709533"/>
            <a:ext cx="24939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b="0" dirty="0">
                <a:latin typeface="Roboto" panose="02000000000000000000" pitchFamily="2" charset="0"/>
                <a:ea typeface="Roboto" panose="02000000000000000000" pitchFamily="2" charset="0"/>
              </a:rPr>
              <a:t>Assembly Cell</a:t>
            </a:r>
          </a:p>
        </p:txBody>
      </p:sp>
    </p:spTree>
    <p:extLst>
      <p:ext uri="{BB962C8B-B14F-4D97-AF65-F5344CB8AC3E}">
        <p14:creationId xmlns:p14="http://schemas.microsoft.com/office/powerpoint/2010/main" val="622431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Types of Kanban and How Kanban Works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Differentiate transport from production kanban</a:t>
            </a:r>
          </a:p>
          <a:p>
            <a:r>
              <a:rPr lang="en-US" sz="2400" dirty="0"/>
              <a:t>Identify types of transport kanban</a:t>
            </a:r>
          </a:p>
          <a:p>
            <a:r>
              <a:rPr lang="en-US" sz="2400" dirty="0"/>
              <a:t>Identify types of production kanban</a:t>
            </a:r>
          </a:p>
          <a:p>
            <a:r>
              <a:rPr lang="en-US" sz="2400" dirty="0"/>
              <a:t>Define how the kanban process works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Types of Kanban &amp; How It Works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Push vs. Pull Systems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998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What is a Supermarket?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a:xfrm>
            <a:off x="6096000" y="2932111"/>
            <a:ext cx="5181600" cy="2138363"/>
          </a:xfrm>
        </p:spPr>
        <p:txBody>
          <a:bodyPr/>
          <a:lstStyle/>
          <a:p>
            <a:r>
              <a:rPr lang="en-US" dirty="0"/>
              <a:t>Used to keep a calculated amount of inventory available to assure continuity when the product is produced by a shared resource.</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5" name="Group 4">
            <a:extLst>
              <a:ext uri="{FF2B5EF4-FFF2-40B4-BE49-F238E27FC236}">
                <a16:creationId xmlns:a16="http://schemas.microsoft.com/office/drawing/2014/main" id="{A79B221D-4FDB-DBCB-031B-B0F5BE6C04B7}"/>
              </a:ext>
            </a:extLst>
          </p:cNvPr>
          <p:cNvGrpSpPr/>
          <p:nvPr/>
        </p:nvGrpSpPr>
        <p:grpSpPr>
          <a:xfrm>
            <a:off x="838200" y="297639"/>
            <a:ext cx="4770120" cy="301303"/>
            <a:chOff x="838200" y="297639"/>
            <a:chExt cx="4770120" cy="301303"/>
          </a:xfrm>
        </p:grpSpPr>
        <p:grpSp>
          <p:nvGrpSpPr>
            <p:cNvPr id="7" name="Group 6">
              <a:extLst>
                <a:ext uri="{FF2B5EF4-FFF2-40B4-BE49-F238E27FC236}">
                  <a16:creationId xmlns:a16="http://schemas.microsoft.com/office/drawing/2014/main" id="{D7638FBC-D38D-D113-9855-8A7FF4054382}"/>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D7CB7016-ADF8-F2CD-1883-FA339FD496C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15528D66-DC21-2307-49D9-9EE1ED45C59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8FCF9E4-FA82-8B83-E7BF-F4E384D2F77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452570E-CB21-521E-D31C-2FBFA6DD3FB1}"/>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FBCD8DD-284D-5702-917A-DDF4B1E6C41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55F874E8-621E-3D1F-0258-E823765C17FC}"/>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grpSp>
      <p:pic>
        <p:nvPicPr>
          <p:cNvPr id="14" name="Picture 2">
            <a:extLst>
              <a:ext uri="{FF2B5EF4-FFF2-40B4-BE49-F238E27FC236}">
                <a16:creationId xmlns:a16="http://schemas.microsoft.com/office/drawing/2014/main" id="{CC13A752-8749-EF1B-3B25-A00A0B70C56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076450" y="1986756"/>
            <a:ext cx="2705100"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3725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Types of Kanban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3" name="Group 2">
            <a:extLst>
              <a:ext uri="{FF2B5EF4-FFF2-40B4-BE49-F238E27FC236}">
                <a16:creationId xmlns:a16="http://schemas.microsoft.com/office/drawing/2014/main" id="{7E044F36-E5C5-B3AE-3FD6-FAC561466CC7}"/>
              </a:ext>
            </a:extLst>
          </p:cNvPr>
          <p:cNvGrpSpPr/>
          <p:nvPr/>
        </p:nvGrpSpPr>
        <p:grpSpPr>
          <a:xfrm>
            <a:off x="838200" y="297639"/>
            <a:ext cx="4770120" cy="301303"/>
            <a:chOff x="838200" y="297639"/>
            <a:chExt cx="4770120" cy="301303"/>
          </a:xfrm>
        </p:grpSpPr>
        <p:grpSp>
          <p:nvGrpSpPr>
            <p:cNvPr id="5" name="Group 4">
              <a:extLst>
                <a:ext uri="{FF2B5EF4-FFF2-40B4-BE49-F238E27FC236}">
                  <a16:creationId xmlns:a16="http://schemas.microsoft.com/office/drawing/2014/main" id="{FCDA13AA-978B-7645-7A25-6E5EA5FDAB0F}"/>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20B02423-503E-CF07-796F-C6F4022F2C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D346CB0D-A610-516C-17D7-E21F1446BCEA}"/>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C4C44AF-6ECD-8DA6-6117-3A2D879ABDF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35B28EF-3E42-DC34-7CB5-71DA681E7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2BF75EB4-E7A9-2F64-1B01-420EAC5614A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48C2925F-B6B2-A9A7-EF04-35AF0E0786A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grpSp>
      <p:grpSp>
        <p:nvGrpSpPr>
          <p:cNvPr id="22" name="Group 21">
            <a:extLst>
              <a:ext uri="{FF2B5EF4-FFF2-40B4-BE49-F238E27FC236}">
                <a16:creationId xmlns:a16="http://schemas.microsoft.com/office/drawing/2014/main" id="{D42E6B28-7B36-C415-ED42-CDE912BB4FBC}"/>
              </a:ext>
            </a:extLst>
          </p:cNvPr>
          <p:cNvGrpSpPr/>
          <p:nvPr/>
        </p:nvGrpSpPr>
        <p:grpSpPr>
          <a:xfrm>
            <a:off x="838200" y="1927166"/>
            <a:ext cx="10185400" cy="3874193"/>
            <a:chOff x="461963" y="1536700"/>
            <a:chExt cx="8350250" cy="3303588"/>
          </a:xfrm>
        </p:grpSpPr>
        <p:sp>
          <p:nvSpPr>
            <p:cNvPr id="12" name="Rectangle 11">
              <a:extLst>
                <a:ext uri="{FF2B5EF4-FFF2-40B4-BE49-F238E27FC236}">
                  <a16:creationId xmlns:a16="http://schemas.microsoft.com/office/drawing/2014/main" id="{94852861-671A-117A-EAFF-7F35EBD53C70}"/>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Transport</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Kanban</a:t>
              </a:r>
            </a:p>
          </p:txBody>
        </p:sp>
        <p:sp>
          <p:nvSpPr>
            <p:cNvPr id="13" name="Rectangle 12">
              <a:extLst>
                <a:ext uri="{FF2B5EF4-FFF2-40B4-BE49-F238E27FC236}">
                  <a16:creationId xmlns:a16="http://schemas.microsoft.com/office/drawing/2014/main" id="{1B4D5E02-F215-6D50-C27A-22E900F442C8}"/>
                </a:ext>
              </a:extLst>
            </p:cNvPr>
            <p:cNvSpPr>
              <a:spLocks noChangeArrowheads="1"/>
            </p:cNvSpPr>
            <p:nvPr/>
          </p:nvSpPr>
          <p:spPr bwMode="auto">
            <a:xfrm>
              <a:off x="1196975" y="3479800"/>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Production</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Kanban</a:t>
              </a:r>
            </a:p>
          </p:txBody>
        </p:sp>
        <p:sp>
          <p:nvSpPr>
            <p:cNvPr id="14" name="Line 15">
              <a:extLst>
                <a:ext uri="{FF2B5EF4-FFF2-40B4-BE49-F238E27FC236}">
                  <a16:creationId xmlns:a16="http://schemas.microsoft.com/office/drawing/2014/main" id="{8B4D6A88-3CF9-7EDF-8BA7-130DE348D5C9}"/>
                </a:ext>
              </a:extLst>
            </p:cNvPr>
            <p:cNvSpPr>
              <a:spLocks noChangeShapeType="1"/>
            </p:cNvSpPr>
            <p:nvPr/>
          </p:nvSpPr>
          <p:spPr bwMode="auto">
            <a:xfrm>
              <a:off x="471488" y="3378200"/>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5" name="Line 16">
              <a:extLst>
                <a:ext uri="{FF2B5EF4-FFF2-40B4-BE49-F238E27FC236}">
                  <a16:creationId xmlns:a16="http://schemas.microsoft.com/office/drawing/2014/main" id="{A5039D0F-8761-9B4D-8203-5886F18EAF56}"/>
                </a:ext>
              </a:extLst>
            </p:cNvPr>
            <p:cNvSpPr>
              <a:spLocks noChangeShapeType="1"/>
            </p:cNvSpPr>
            <p:nvPr/>
          </p:nvSpPr>
          <p:spPr bwMode="auto">
            <a:xfrm>
              <a:off x="487363" y="484028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6" name="Rectangle 19">
              <a:extLst>
                <a:ext uri="{FF2B5EF4-FFF2-40B4-BE49-F238E27FC236}">
                  <a16:creationId xmlns:a16="http://schemas.microsoft.com/office/drawing/2014/main" id="{15206857-2654-75DC-3928-B797E0A5AE63}"/>
                </a:ext>
              </a:extLst>
            </p:cNvPr>
            <p:cNvSpPr>
              <a:spLocks noChangeArrowheads="1"/>
            </p:cNvSpPr>
            <p:nvPr/>
          </p:nvSpPr>
          <p:spPr bwMode="auto">
            <a:xfrm>
              <a:off x="3638550" y="1954213"/>
              <a:ext cx="5159375" cy="112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Used to indicate when one container of parts is to be moved to the production line</a:t>
              </a:r>
            </a:p>
            <a:p>
              <a:pPr>
                <a:lnSpc>
                  <a:spcPct val="100000"/>
                </a:lnSpc>
                <a:spcBef>
                  <a:spcPct val="45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Authorizes withdrawal from feeding operation</a:t>
              </a:r>
            </a:p>
            <a:p>
              <a:pPr>
                <a:lnSpc>
                  <a:spcPct val="100000"/>
                </a:lnSpc>
                <a:spcBef>
                  <a:spcPct val="45000"/>
                </a:spcBef>
                <a:spcAft>
                  <a:spcPct val="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Used for suppliers or in factory</a:t>
              </a:r>
            </a:p>
          </p:txBody>
        </p:sp>
        <p:sp>
          <p:nvSpPr>
            <p:cNvPr id="17" name="Rectangle 20">
              <a:extLst>
                <a:ext uri="{FF2B5EF4-FFF2-40B4-BE49-F238E27FC236}">
                  <a16:creationId xmlns:a16="http://schemas.microsoft.com/office/drawing/2014/main" id="{C89ADFFB-5DE8-280A-9750-E37EBA6B87C0}"/>
                </a:ext>
              </a:extLst>
            </p:cNvPr>
            <p:cNvSpPr>
              <a:spLocks noChangeArrowheads="1"/>
            </p:cNvSpPr>
            <p:nvPr/>
          </p:nvSpPr>
          <p:spPr bwMode="auto">
            <a:xfrm>
              <a:off x="3641725" y="3484563"/>
              <a:ext cx="5170488" cy="112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600" b="0">
                  <a:latin typeface="Roboto" panose="02000000000000000000" pitchFamily="2" charset="0"/>
                  <a:ea typeface="Roboto" panose="02000000000000000000" pitchFamily="2" charset="0"/>
                </a:rPr>
                <a:t>Used to indicate when one or more containers of parts should be produced</a:t>
              </a:r>
            </a:p>
            <a:p>
              <a:pPr>
                <a:lnSpc>
                  <a:spcPct val="100000"/>
                </a:lnSpc>
                <a:spcBef>
                  <a:spcPct val="45000"/>
                </a:spcBef>
                <a:spcAft>
                  <a:spcPct val="0"/>
                </a:spcAft>
                <a:buClr>
                  <a:schemeClr val="tx1"/>
                </a:buClr>
                <a:buFont typeface="Arial" panose="020B0604020202020204" pitchFamily="34" charset="0"/>
                <a:buChar char="•"/>
              </a:pPr>
              <a:r>
                <a:rPr lang="en-US" altLang="en-US" sz="1600" b="0">
                  <a:latin typeface="Roboto" panose="02000000000000000000" pitchFamily="2" charset="0"/>
                  <a:ea typeface="Roboto" panose="02000000000000000000" pitchFamily="2" charset="0"/>
                </a:rPr>
                <a:t>Authorizes feeding operation to produce parts</a:t>
              </a:r>
            </a:p>
            <a:p>
              <a:pPr>
                <a:lnSpc>
                  <a:spcPct val="100000"/>
                </a:lnSpc>
                <a:spcBef>
                  <a:spcPct val="45000"/>
                </a:spcBef>
                <a:spcAft>
                  <a:spcPct val="0"/>
                </a:spcAft>
                <a:buClr>
                  <a:schemeClr val="tx1"/>
                </a:buClr>
                <a:buFont typeface="Arial" panose="020B0604020202020204" pitchFamily="34" charset="0"/>
                <a:buChar char="•"/>
              </a:pPr>
              <a:r>
                <a:rPr lang="en-US" altLang="en-US" sz="1600" b="0">
                  <a:latin typeface="Roboto" panose="02000000000000000000" pitchFamily="2" charset="0"/>
                  <a:ea typeface="Roboto" panose="02000000000000000000" pitchFamily="2" charset="0"/>
                </a:rPr>
                <a:t>Used in factory only </a:t>
              </a:r>
            </a:p>
          </p:txBody>
        </p:sp>
        <p:sp>
          <p:nvSpPr>
            <p:cNvPr id="18" name="Line 23">
              <a:extLst>
                <a:ext uri="{FF2B5EF4-FFF2-40B4-BE49-F238E27FC236}">
                  <a16:creationId xmlns:a16="http://schemas.microsoft.com/office/drawing/2014/main" id="{AFAC0E87-E25E-8192-D0CB-3EE308A98B3D}"/>
                </a:ext>
              </a:extLst>
            </p:cNvPr>
            <p:cNvSpPr>
              <a:spLocks noChangeShapeType="1"/>
            </p:cNvSpPr>
            <p:nvPr/>
          </p:nvSpPr>
          <p:spPr bwMode="auto">
            <a:xfrm flipV="1">
              <a:off x="461963" y="1824038"/>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9" name="Text Box 24">
              <a:extLst>
                <a:ext uri="{FF2B5EF4-FFF2-40B4-BE49-F238E27FC236}">
                  <a16:creationId xmlns:a16="http://schemas.microsoft.com/office/drawing/2014/main" id="{851A92CE-F236-9F9E-975E-739D44BB5B01}"/>
                </a:ext>
              </a:extLst>
            </p:cNvPr>
            <p:cNvSpPr txBox="1">
              <a:spLocks noChangeArrowheads="1"/>
            </p:cNvSpPr>
            <p:nvPr/>
          </p:nvSpPr>
          <p:spPr bwMode="auto">
            <a:xfrm>
              <a:off x="471488" y="1536700"/>
              <a:ext cx="4608954"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Points		           	      Descriptions</a:t>
              </a:r>
            </a:p>
          </p:txBody>
        </p:sp>
        <p:sp>
          <p:nvSpPr>
            <p:cNvPr id="20" name="Oval 25">
              <a:extLst>
                <a:ext uri="{FF2B5EF4-FFF2-40B4-BE49-F238E27FC236}">
                  <a16:creationId xmlns:a16="http://schemas.microsoft.com/office/drawing/2014/main" id="{04F648E0-DFA1-84F2-C472-F1EFE0416FFA}"/>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sp>
          <p:nvSpPr>
            <p:cNvPr id="21" name="Oval 26">
              <a:extLst>
                <a:ext uri="{FF2B5EF4-FFF2-40B4-BE49-F238E27FC236}">
                  <a16:creationId xmlns:a16="http://schemas.microsoft.com/office/drawing/2014/main" id="{837A78BB-E25A-913D-26A9-A7E38415DCE2}"/>
                </a:ext>
              </a:extLst>
            </p:cNvPr>
            <p:cNvSpPr>
              <a:spLocks noChangeArrowheads="1"/>
            </p:cNvSpPr>
            <p:nvPr/>
          </p:nvSpPr>
          <p:spPr bwMode="auto">
            <a:xfrm>
              <a:off x="519113" y="35909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grpSp>
    </p:spTree>
    <p:extLst>
      <p:ext uri="{BB962C8B-B14F-4D97-AF65-F5344CB8AC3E}">
        <p14:creationId xmlns:p14="http://schemas.microsoft.com/office/powerpoint/2010/main" val="1812300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Kanban Post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3" name="Group 2">
            <a:extLst>
              <a:ext uri="{FF2B5EF4-FFF2-40B4-BE49-F238E27FC236}">
                <a16:creationId xmlns:a16="http://schemas.microsoft.com/office/drawing/2014/main" id="{7E044F36-E5C5-B3AE-3FD6-FAC561466CC7}"/>
              </a:ext>
            </a:extLst>
          </p:cNvPr>
          <p:cNvGrpSpPr/>
          <p:nvPr/>
        </p:nvGrpSpPr>
        <p:grpSpPr>
          <a:xfrm>
            <a:off x="838200" y="297639"/>
            <a:ext cx="4770120" cy="301303"/>
            <a:chOff x="838200" y="297639"/>
            <a:chExt cx="4770120" cy="301303"/>
          </a:xfrm>
        </p:grpSpPr>
        <p:grpSp>
          <p:nvGrpSpPr>
            <p:cNvPr id="5" name="Group 4">
              <a:extLst>
                <a:ext uri="{FF2B5EF4-FFF2-40B4-BE49-F238E27FC236}">
                  <a16:creationId xmlns:a16="http://schemas.microsoft.com/office/drawing/2014/main" id="{FCDA13AA-978B-7645-7A25-6E5EA5FDAB0F}"/>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20B02423-503E-CF07-796F-C6F4022F2C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D346CB0D-A610-516C-17D7-E21F1446BCEA}"/>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C4C44AF-6ECD-8DA6-6117-3A2D879ABDF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35B28EF-3E42-DC34-7CB5-71DA681E7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2BF75EB4-E7A9-2F64-1B01-420EAC5614A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48C2925F-B6B2-A9A7-EF04-35AF0E0786A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grpSp>
      <p:graphicFrame>
        <p:nvGraphicFramePr>
          <p:cNvPr id="23" name="Table 22">
            <a:extLst>
              <a:ext uri="{FF2B5EF4-FFF2-40B4-BE49-F238E27FC236}">
                <a16:creationId xmlns:a16="http://schemas.microsoft.com/office/drawing/2014/main" id="{84AAF641-40BD-6A1D-B185-63F911446B6E}"/>
              </a:ext>
            </a:extLst>
          </p:cNvPr>
          <p:cNvGraphicFramePr>
            <a:graphicFrameLocks noGrp="1"/>
          </p:cNvGraphicFramePr>
          <p:nvPr>
            <p:extLst>
              <p:ext uri="{D42A27DB-BD31-4B8C-83A1-F6EECF244321}">
                <p14:modId xmlns:p14="http://schemas.microsoft.com/office/powerpoint/2010/main" val="1504150356"/>
              </p:ext>
            </p:extLst>
          </p:nvPr>
        </p:nvGraphicFramePr>
        <p:xfrm>
          <a:off x="2623185" y="2210105"/>
          <a:ext cx="5456238" cy="2517778"/>
        </p:xfrm>
        <a:graphic>
          <a:graphicData uri="http://schemas.openxmlformats.org/drawingml/2006/table">
            <a:tbl>
              <a:tblPr firstRow="1" bandRow="1">
                <a:tableStyleId>{69012ECD-51FC-41F1-AA8D-1B2483CD663E}</a:tableStyleId>
              </a:tblPr>
              <a:tblGrid>
                <a:gridCol w="1818746">
                  <a:extLst>
                    <a:ext uri="{9D8B030D-6E8A-4147-A177-3AD203B41FA5}">
                      <a16:colId xmlns:a16="http://schemas.microsoft.com/office/drawing/2014/main" val="20000"/>
                    </a:ext>
                  </a:extLst>
                </a:gridCol>
                <a:gridCol w="1818746">
                  <a:extLst>
                    <a:ext uri="{9D8B030D-6E8A-4147-A177-3AD203B41FA5}">
                      <a16:colId xmlns:a16="http://schemas.microsoft.com/office/drawing/2014/main" val="20001"/>
                    </a:ext>
                  </a:extLst>
                </a:gridCol>
                <a:gridCol w="1818746">
                  <a:extLst>
                    <a:ext uri="{9D8B030D-6E8A-4147-A177-3AD203B41FA5}">
                      <a16:colId xmlns:a16="http://schemas.microsoft.com/office/drawing/2014/main" val="20002"/>
                    </a:ext>
                  </a:extLst>
                </a:gridCol>
              </a:tblGrid>
              <a:tr h="365800">
                <a:tc>
                  <a:txBody>
                    <a:bodyPr/>
                    <a:lstStyle/>
                    <a:p>
                      <a:pPr algn="ctr"/>
                      <a:r>
                        <a:rPr lang="en-US" sz="1800" dirty="0"/>
                        <a:t>A</a:t>
                      </a:r>
                    </a:p>
                  </a:txBody>
                  <a:tcPr marL="91421" marR="91421" marT="45725" marB="45725">
                    <a:lnR w="12700" cap="flat" cmpd="sng" algn="ctr">
                      <a:solidFill>
                        <a:schemeClr val="bg1"/>
                      </a:solidFill>
                      <a:prstDash val="solid"/>
                      <a:round/>
                      <a:headEnd type="none" w="med" len="med"/>
                      <a:tailEnd type="none" w="med" len="med"/>
                    </a:lnR>
                  </a:tcPr>
                </a:tc>
                <a:tc>
                  <a:txBody>
                    <a:bodyPr/>
                    <a:lstStyle/>
                    <a:p>
                      <a:pPr algn="ctr"/>
                      <a:r>
                        <a:rPr lang="en-US" sz="1800" dirty="0"/>
                        <a:t>B</a:t>
                      </a:r>
                    </a:p>
                  </a:txBody>
                  <a:tcPr marL="91421" marR="91421" marT="45725" marB="457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800" dirty="0"/>
                        <a:t>C</a:t>
                      </a:r>
                    </a:p>
                  </a:txBody>
                  <a:tcPr marL="91421" marR="91421" marT="45725" marB="45725">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322978">
                <a:tc gridSpan="3">
                  <a:txBody>
                    <a:bodyPr/>
                    <a:lstStyle/>
                    <a:p>
                      <a:pPr algn="ctr"/>
                      <a:r>
                        <a:rPr lang="en-US" sz="1400" b="1" dirty="0"/>
                        <a:t>Fixed Run Line</a:t>
                      </a:r>
                    </a:p>
                  </a:txBody>
                  <a:tcPr marL="91421" marR="91421" marT="45725" marB="45725">
                    <a:lnB w="38100" cap="flat" cmpd="sng" algn="ctr">
                      <a:solidFill>
                        <a:srgbClr val="C00000"/>
                      </a:solidFill>
                      <a:prstDash val="solid"/>
                      <a:round/>
                      <a:headEnd type="none" w="med" len="med"/>
                      <a:tailEnd type="none" w="med" len="med"/>
                    </a:lnB>
                  </a:tcPr>
                </a:tc>
                <a:tc hMerge="1">
                  <a:txBody>
                    <a:bodyPr/>
                    <a:lstStyle/>
                    <a:p>
                      <a:endParaRPr lang="en-US" dirty="0"/>
                    </a:p>
                  </a:txBody>
                  <a:tcPr>
                    <a:lnB w="38100" cap="flat" cmpd="sng" algn="ctr">
                      <a:solidFill>
                        <a:srgbClr val="C00000"/>
                      </a:solidFill>
                      <a:prstDash val="solid"/>
                      <a:round/>
                      <a:headEnd type="none" w="med" len="med"/>
                      <a:tailEnd type="none" w="med" len="med"/>
                    </a:lnB>
                  </a:tcPr>
                </a:tc>
                <a:tc hMerge="1">
                  <a:txBody>
                    <a:bodyPr/>
                    <a:lstStyle/>
                    <a:p>
                      <a:endParaRPr lang="en-US" dirty="0"/>
                    </a:p>
                  </a:txBody>
                  <a:tcPr>
                    <a:lnB w="381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001"/>
                  </a:ext>
                </a:extLst>
              </a:tr>
              <a:tr h="365800">
                <a:tc>
                  <a:txBody>
                    <a:bodyPr/>
                    <a:lstStyle/>
                    <a:p>
                      <a:endParaRPr lang="en-US" sz="1800" dirty="0"/>
                    </a:p>
                  </a:txBody>
                  <a:tcPr marL="91421" marR="91421" marT="45725" marB="45725">
                    <a:lnR w="12700" cap="flat" cmpd="sng" algn="ctr">
                      <a:solidFill>
                        <a:schemeClr val="tx1"/>
                      </a:solidFill>
                      <a:prstDash val="solid"/>
                      <a:round/>
                      <a:headEnd type="none" w="med" len="med"/>
                      <a:tailEnd type="none" w="med" len="med"/>
                    </a:lnR>
                    <a:lnT w="381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T w="38100" cap="flat" cmpd="sng" algn="ctr">
                      <a:solidFill>
                        <a:srgbClr val="C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800">
                <a:tc>
                  <a:txBody>
                    <a:bodyPr/>
                    <a:lstStyle/>
                    <a:p>
                      <a:endParaRPr lang="en-US" sz="1800" dirty="0"/>
                    </a:p>
                  </a:txBody>
                  <a:tcPr marL="91421" marR="91421" marT="45725" marB="4572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365800">
                <a:tc>
                  <a:txBody>
                    <a:bodyPr/>
                    <a:lstStyle/>
                    <a:p>
                      <a:endParaRPr lang="en-US" sz="1800" dirty="0"/>
                    </a:p>
                  </a:txBody>
                  <a:tcPr marL="91421" marR="91421" marT="45725" marB="4572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365800">
                <a:tc>
                  <a:txBody>
                    <a:bodyPr/>
                    <a:lstStyle/>
                    <a:p>
                      <a:endParaRPr lang="en-US" sz="1800" dirty="0"/>
                    </a:p>
                  </a:txBody>
                  <a:tcPr marL="91421" marR="91421" marT="45725" marB="4572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schemeClr>
                    </a:solidFill>
                  </a:tcPr>
                </a:tc>
                <a:extLst>
                  <a:ext uri="{0D108BD9-81ED-4DB2-BD59-A6C34878D82A}">
                    <a16:rowId xmlns:a16="http://schemas.microsoft.com/office/drawing/2014/main" val="10005"/>
                  </a:ext>
                </a:extLst>
              </a:tr>
              <a:tr h="365800">
                <a:tc>
                  <a:txBody>
                    <a:bodyPr/>
                    <a:lstStyle/>
                    <a:p>
                      <a:endParaRPr lang="en-US" sz="1800" dirty="0"/>
                    </a:p>
                  </a:txBody>
                  <a:tcPr marL="91421" marR="91421" marT="45725" marB="4572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lumMod val="25000"/>
                      </a:schemeClr>
                    </a:solidFill>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en-US" sz="1800" dirty="0"/>
                    </a:p>
                  </a:txBody>
                  <a:tcPr marL="91421" marR="91421" marT="45725" marB="4572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6"/>
                  </a:ext>
                </a:extLst>
              </a:tr>
            </a:tbl>
          </a:graphicData>
        </a:graphic>
      </p:graphicFrame>
      <p:sp>
        <p:nvSpPr>
          <p:cNvPr id="24" name="TextBox 2">
            <a:extLst>
              <a:ext uri="{FF2B5EF4-FFF2-40B4-BE49-F238E27FC236}">
                <a16:creationId xmlns:a16="http://schemas.microsoft.com/office/drawing/2014/main" id="{05BDCF10-5247-ACFA-001D-E7EC48EEC2FD}"/>
              </a:ext>
            </a:extLst>
          </p:cNvPr>
          <p:cNvSpPr txBox="1">
            <a:spLocks noChangeArrowheads="1"/>
          </p:cNvSpPr>
          <p:nvPr/>
        </p:nvSpPr>
        <p:spPr bwMode="auto">
          <a:xfrm>
            <a:off x="4294570" y="5548618"/>
            <a:ext cx="2153154"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cs typeface="Arial" panose="020B0604020202020204" pitchFamily="34" charset="0"/>
              </a:rPr>
              <a:t>Moveable Blocker Cards</a:t>
            </a:r>
          </a:p>
        </p:txBody>
      </p:sp>
      <p:cxnSp>
        <p:nvCxnSpPr>
          <p:cNvPr id="25" name="Straight Arrow Connector 4">
            <a:extLst>
              <a:ext uri="{FF2B5EF4-FFF2-40B4-BE49-F238E27FC236}">
                <a16:creationId xmlns:a16="http://schemas.microsoft.com/office/drawing/2014/main" id="{77A1C310-926F-1868-4801-B767BE445054}"/>
              </a:ext>
            </a:extLst>
          </p:cNvPr>
          <p:cNvCxnSpPr>
            <a:cxnSpLocks noChangeShapeType="1"/>
          </p:cNvCxnSpPr>
          <p:nvPr/>
        </p:nvCxnSpPr>
        <p:spPr bwMode="auto">
          <a:xfrm flipH="1" flipV="1">
            <a:off x="4015423" y="4807255"/>
            <a:ext cx="273050" cy="741363"/>
          </a:xfrm>
          <a:prstGeom prst="straightConnector1">
            <a:avLst/>
          </a:prstGeom>
          <a:noFill/>
          <a:ln w="12700" cap="sq">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 name="Straight Arrow Connector 6">
            <a:extLst>
              <a:ext uri="{FF2B5EF4-FFF2-40B4-BE49-F238E27FC236}">
                <a16:creationId xmlns:a16="http://schemas.microsoft.com/office/drawing/2014/main" id="{E3D18FA8-2C63-B758-FCC5-946529D31690}"/>
              </a:ext>
            </a:extLst>
          </p:cNvPr>
          <p:cNvCxnSpPr>
            <a:cxnSpLocks noChangeShapeType="1"/>
            <a:stCxn id="24" idx="0"/>
          </p:cNvCxnSpPr>
          <p:nvPr/>
        </p:nvCxnSpPr>
        <p:spPr bwMode="auto">
          <a:xfrm flipV="1">
            <a:off x="5371147" y="4064305"/>
            <a:ext cx="1" cy="1484313"/>
          </a:xfrm>
          <a:prstGeom prst="straightConnector1">
            <a:avLst/>
          </a:prstGeom>
          <a:noFill/>
          <a:ln w="12700" cap="sq">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 name="Straight Arrow Connector 8">
            <a:extLst>
              <a:ext uri="{FF2B5EF4-FFF2-40B4-BE49-F238E27FC236}">
                <a16:creationId xmlns:a16="http://schemas.microsoft.com/office/drawing/2014/main" id="{F5BEABC5-7C05-7A40-4CB2-27C47D816DFC}"/>
              </a:ext>
            </a:extLst>
          </p:cNvPr>
          <p:cNvCxnSpPr>
            <a:cxnSpLocks noChangeShapeType="1"/>
          </p:cNvCxnSpPr>
          <p:nvPr/>
        </p:nvCxnSpPr>
        <p:spPr bwMode="auto">
          <a:xfrm flipV="1">
            <a:off x="6453823" y="4470705"/>
            <a:ext cx="334962" cy="1077913"/>
          </a:xfrm>
          <a:prstGeom prst="straightConnector1">
            <a:avLst/>
          </a:prstGeom>
          <a:noFill/>
          <a:ln w="12700" cap="sq">
            <a:solidFill>
              <a:schemeClr val="tx1"/>
            </a:solidFill>
            <a:round/>
            <a:headEnd/>
            <a:tailEnd type="arrow" w="med" len="med"/>
          </a:ln>
          <a:extLst>
            <a:ext uri="{909E8E84-426E-40DD-AFC4-6F175D3DCCD1}">
              <a14:hiddenFill xmlns:a14="http://schemas.microsoft.com/office/drawing/2010/main">
                <a:noFill/>
              </a14:hiddenFill>
            </a:ext>
          </a:extLst>
        </p:spPr>
      </p:cxnSp>
      <p:sp>
        <p:nvSpPr>
          <p:cNvPr id="28" name="TextBox 31">
            <a:extLst>
              <a:ext uri="{FF2B5EF4-FFF2-40B4-BE49-F238E27FC236}">
                <a16:creationId xmlns:a16="http://schemas.microsoft.com/office/drawing/2014/main" id="{3C2CC218-E4FA-A9E1-2CBB-C878D2D27454}"/>
              </a:ext>
            </a:extLst>
          </p:cNvPr>
          <p:cNvSpPr txBox="1">
            <a:spLocks noChangeArrowheads="1"/>
          </p:cNvSpPr>
          <p:nvPr/>
        </p:nvSpPr>
        <p:spPr bwMode="auto">
          <a:xfrm>
            <a:off x="964906" y="2319643"/>
            <a:ext cx="1308371"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cs typeface="Arial" panose="020B0604020202020204" pitchFamily="34" charset="0"/>
              </a:rPr>
              <a:t>Part Numbers</a:t>
            </a:r>
          </a:p>
        </p:txBody>
      </p:sp>
      <p:cxnSp>
        <p:nvCxnSpPr>
          <p:cNvPr id="29" name="Straight Arrow Connector 14">
            <a:extLst>
              <a:ext uri="{FF2B5EF4-FFF2-40B4-BE49-F238E27FC236}">
                <a16:creationId xmlns:a16="http://schemas.microsoft.com/office/drawing/2014/main" id="{FD90FA23-E88B-4E2B-75F1-6BA2A3929E97}"/>
              </a:ext>
            </a:extLst>
          </p:cNvPr>
          <p:cNvCxnSpPr>
            <a:cxnSpLocks noChangeShapeType="1"/>
          </p:cNvCxnSpPr>
          <p:nvPr/>
        </p:nvCxnSpPr>
        <p:spPr bwMode="auto">
          <a:xfrm>
            <a:off x="2299335" y="2422830"/>
            <a:ext cx="279400" cy="0"/>
          </a:xfrm>
          <a:prstGeom prst="straightConnector1">
            <a:avLst/>
          </a:prstGeom>
          <a:noFill/>
          <a:ln w="12700" cap="sq">
            <a:solidFill>
              <a:schemeClr val="tx1"/>
            </a:solidFill>
            <a:round/>
            <a:headEnd/>
            <a:tailEnd type="arrow" w="med" len="med"/>
          </a:ln>
          <a:extLst>
            <a:ext uri="{909E8E84-426E-40DD-AFC4-6F175D3DCCD1}">
              <a14:hiddenFill xmlns:a14="http://schemas.microsoft.com/office/drawing/2010/main">
                <a:noFill/>
              </a14:hiddenFill>
            </a:ext>
          </a:extLst>
        </p:spPr>
      </p:cxnSp>
      <p:sp>
        <p:nvSpPr>
          <p:cNvPr id="30" name="TextBox 34">
            <a:extLst>
              <a:ext uri="{FF2B5EF4-FFF2-40B4-BE49-F238E27FC236}">
                <a16:creationId xmlns:a16="http://schemas.microsoft.com/office/drawing/2014/main" id="{D6B98857-417D-B9D4-FB4A-698CAFC31FA6}"/>
              </a:ext>
            </a:extLst>
          </p:cNvPr>
          <p:cNvSpPr txBox="1">
            <a:spLocks noChangeArrowheads="1"/>
          </p:cNvSpPr>
          <p:nvPr/>
        </p:nvSpPr>
        <p:spPr bwMode="auto">
          <a:xfrm>
            <a:off x="8157210" y="2780018"/>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cs typeface="Arial" panose="020B0604020202020204" pitchFamily="34" charset="0"/>
              </a:rPr>
              <a:t>A Kanban Card at the Run Line is a Signal to Replenish</a:t>
            </a:r>
          </a:p>
        </p:txBody>
      </p:sp>
      <p:cxnSp>
        <p:nvCxnSpPr>
          <p:cNvPr id="31" name="Straight Arrow Connector 16">
            <a:extLst>
              <a:ext uri="{FF2B5EF4-FFF2-40B4-BE49-F238E27FC236}">
                <a16:creationId xmlns:a16="http://schemas.microsoft.com/office/drawing/2014/main" id="{1CC3B7DF-3764-BA62-8AE6-1648FE065AD6}"/>
              </a:ext>
            </a:extLst>
          </p:cNvPr>
          <p:cNvCxnSpPr>
            <a:cxnSpLocks noChangeShapeType="1"/>
          </p:cNvCxnSpPr>
          <p:nvPr/>
        </p:nvCxnSpPr>
        <p:spPr bwMode="auto">
          <a:xfrm flipH="1">
            <a:off x="6193473" y="3084818"/>
            <a:ext cx="1963737" cy="0"/>
          </a:xfrm>
          <a:prstGeom prst="straightConnector1">
            <a:avLst/>
          </a:prstGeom>
          <a:noFill/>
          <a:ln w="12700" cap="sq">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00649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Types of Transport Kanban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Types of Transport Kanban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13" name="Group 12">
            <a:extLst>
              <a:ext uri="{FF2B5EF4-FFF2-40B4-BE49-F238E27FC236}">
                <a16:creationId xmlns:a16="http://schemas.microsoft.com/office/drawing/2014/main" id="{FDB0EBAE-D458-D58C-899E-4F2DC285E99B}"/>
              </a:ext>
            </a:extLst>
          </p:cNvPr>
          <p:cNvGrpSpPr/>
          <p:nvPr/>
        </p:nvGrpSpPr>
        <p:grpSpPr>
          <a:xfrm>
            <a:off x="6973630" y="2068831"/>
            <a:ext cx="4730691" cy="4108132"/>
            <a:chOff x="6798849" y="2356803"/>
            <a:chExt cx="3378200"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Withdrawal Kanban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Supplier Kanban </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These kanban are used between processes in the factory</a:t>
              </a:r>
            </a:p>
          </p:txBody>
        </p: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These kanban are sent as orders to outside suppliers</a:t>
              </a:r>
            </a:p>
            <a:p>
              <a:pPr>
                <a:spcBef>
                  <a:spcPct val="30000"/>
                </a:spcBef>
                <a:spcAft>
                  <a:spcPct val="0"/>
                </a:spcAft>
                <a:buClr>
                  <a:schemeClr val="tx1"/>
                </a:buClr>
                <a:buFont typeface="Arial" panose="020B0604020202020204" pitchFamily="34" charset="0"/>
                <a:buChar char="•"/>
              </a:pPr>
              <a:endParaRPr lang="en-US" altLang="en-US" sz="1800" dirty="0">
                <a:latin typeface="Roboto" panose="02000000000000000000" pitchFamily="2" charset="0"/>
                <a:ea typeface="Roboto" panose="02000000000000000000" pitchFamily="2" charset="0"/>
              </a:endParaRPr>
            </a:p>
          </p:txBody>
        </p:sp>
      </p:grpSp>
      <p:grpSp>
        <p:nvGrpSpPr>
          <p:cNvPr id="23" name="Group 22">
            <a:extLst>
              <a:ext uri="{FF2B5EF4-FFF2-40B4-BE49-F238E27FC236}">
                <a16:creationId xmlns:a16="http://schemas.microsoft.com/office/drawing/2014/main" id="{B7CCD446-AD78-5A3F-62F2-FF13CDAB6059}"/>
              </a:ext>
            </a:extLst>
          </p:cNvPr>
          <p:cNvGrpSpPr/>
          <p:nvPr/>
        </p:nvGrpSpPr>
        <p:grpSpPr>
          <a:xfrm>
            <a:off x="838200" y="297639"/>
            <a:ext cx="4770120" cy="301303"/>
            <a:chOff x="838200" y="297639"/>
            <a:chExt cx="4770120" cy="301303"/>
          </a:xfrm>
        </p:grpSpPr>
        <p:grpSp>
          <p:nvGrpSpPr>
            <p:cNvPr id="24" name="Group 23">
              <a:extLst>
                <a:ext uri="{FF2B5EF4-FFF2-40B4-BE49-F238E27FC236}">
                  <a16:creationId xmlns:a16="http://schemas.microsoft.com/office/drawing/2014/main" id="{8CD10C2E-0523-42F1-4F0B-22ADD6086BB7}"/>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0A62F20B-84EB-15A0-4708-7A07B1F2EFF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F4573A6A-5486-A276-7978-DB82AA642356}"/>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870BE3B-6F01-B0ED-A879-C2EB9DF3BBE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11">
                  <a:extLst>
                    <a:ext uri="{FF2B5EF4-FFF2-40B4-BE49-F238E27FC236}">
                      <a16:creationId xmlns:a16="http://schemas.microsoft.com/office/drawing/2014/main" id="{E96DC2C2-9717-9D64-C6A4-B0A3D6B181A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6B40A492-5A47-29A5-2480-D440F9B8049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3DA79A17-589E-9F3F-CFF5-6D0044FCB260}"/>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grpSp>
      <p:grpSp>
        <p:nvGrpSpPr>
          <p:cNvPr id="69" name="Group 68">
            <a:extLst>
              <a:ext uri="{FF2B5EF4-FFF2-40B4-BE49-F238E27FC236}">
                <a16:creationId xmlns:a16="http://schemas.microsoft.com/office/drawing/2014/main" id="{13893D6D-B55B-5C6B-B0BA-2E9348AA8587}"/>
              </a:ext>
            </a:extLst>
          </p:cNvPr>
          <p:cNvGrpSpPr/>
          <p:nvPr/>
        </p:nvGrpSpPr>
        <p:grpSpPr>
          <a:xfrm>
            <a:off x="1151874" y="2427850"/>
            <a:ext cx="5210411" cy="3556389"/>
            <a:chOff x="609600" y="2084388"/>
            <a:chExt cx="4121150" cy="2579687"/>
          </a:xfrm>
        </p:grpSpPr>
        <p:grpSp>
          <p:nvGrpSpPr>
            <p:cNvPr id="31" name="Group 60">
              <a:extLst>
                <a:ext uri="{FF2B5EF4-FFF2-40B4-BE49-F238E27FC236}">
                  <a16:creationId xmlns:a16="http://schemas.microsoft.com/office/drawing/2014/main" id="{9054BCD7-0721-4C14-CDEB-4E6453430F52}"/>
                </a:ext>
              </a:extLst>
            </p:cNvPr>
            <p:cNvGrpSpPr>
              <a:grpSpLocks/>
            </p:cNvGrpSpPr>
            <p:nvPr/>
          </p:nvGrpSpPr>
          <p:grpSpPr bwMode="auto">
            <a:xfrm>
              <a:off x="609600" y="2084388"/>
              <a:ext cx="1981200" cy="1066800"/>
              <a:chOff x="1872" y="2160"/>
              <a:chExt cx="1248" cy="672"/>
            </a:xfrm>
          </p:grpSpPr>
          <p:sp>
            <p:nvSpPr>
              <p:cNvPr id="32" name="Rectangle 61">
                <a:extLst>
                  <a:ext uri="{FF2B5EF4-FFF2-40B4-BE49-F238E27FC236}">
                    <a16:creationId xmlns:a16="http://schemas.microsoft.com/office/drawing/2014/main" id="{FB05E701-704E-16D1-E767-FF6877A0491A}"/>
                  </a:ext>
                </a:extLst>
              </p:cNvPr>
              <p:cNvSpPr>
                <a:spLocks noChangeArrowheads="1"/>
              </p:cNvSpPr>
              <p:nvPr/>
            </p:nvSpPr>
            <p:spPr bwMode="auto">
              <a:xfrm>
                <a:off x="1872" y="2160"/>
                <a:ext cx="1248" cy="6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Arial Black" panose="020B0A04020102020204" pitchFamily="34" charset="0"/>
                </a:endParaRPr>
              </a:p>
            </p:txBody>
          </p:sp>
          <p:grpSp>
            <p:nvGrpSpPr>
              <p:cNvPr id="33" name="Group 62">
                <a:extLst>
                  <a:ext uri="{FF2B5EF4-FFF2-40B4-BE49-F238E27FC236}">
                    <a16:creationId xmlns:a16="http://schemas.microsoft.com/office/drawing/2014/main" id="{56D1A33E-20D7-720F-3F38-73AC02954226}"/>
                  </a:ext>
                </a:extLst>
              </p:cNvPr>
              <p:cNvGrpSpPr>
                <a:grpSpLocks/>
              </p:cNvGrpSpPr>
              <p:nvPr/>
            </p:nvGrpSpPr>
            <p:grpSpPr bwMode="auto">
              <a:xfrm>
                <a:off x="1872" y="2160"/>
                <a:ext cx="1248" cy="672"/>
                <a:chOff x="864" y="2160"/>
                <a:chExt cx="528" cy="240"/>
              </a:xfrm>
            </p:grpSpPr>
            <p:sp>
              <p:nvSpPr>
                <p:cNvPr id="41" name="Line 63">
                  <a:extLst>
                    <a:ext uri="{FF2B5EF4-FFF2-40B4-BE49-F238E27FC236}">
                      <a16:creationId xmlns:a16="http://schemas.microsoft.com/office/drawing/2014/main" id="{CF4C4367-32B7-0B8B-BDA2-B1A479DCE7B3}"/>
                    </a:ext>
                  </a:extLst>
                </p:cNvPr>
                <p:cNvSpPr>
                  <a:spLocks noChangeShapeType="1"/>
                </p:cNvSpPr>
                <p:nvPr/>
              </p:nvSpPr>
              <p:spPr bwMode="auto">
                <a:xfrm>
                  <a:off x="864" y="2160"/>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64">
                  <a:extLst>
                    <a:ext uri="{FF2B5EF4-FFF2-40B4-BE49-F238E27FC236}">
                      <a16:creationId xmlns:a16="http://schemas.microsoft.com/office/drawing/2014/main" id="{1A65A26A-69AE-4599-F7F0-F9E5A060B902}"/>
                    </a:ext>
                  </a:extLst>
                </p:cNvPr>
                <p:cNvSpPr>
                  <a:spLocks noChangeShapeType="1"/>
                </p:cNvSpPr>
                <p:nvPr/>
              </p:nvSpPr>
              <p:spPr bwMode="auto">
                <a:xfrm>
                  <a:off x="864" y="2160"/>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65">
                  <a:extLst>
                    <a:ext uri="{FF2B5EF4-FFF2-40B4-BE49-F238E27FC236}">
                      <a16:creationId xmlns:a16="http://schemas.microsoft.com/office/drawing/2014/main" id="{284E9E2E-66E0-4A38-2DF3-8B54167ABF54}"/>
                    </a:ext>
                  </a:extLst>
                </p:cNvPr>
                <p:cNvSpPr>
                  <a:spLocks noChangeShapeType="1"/>
                </p:cNvSpPr>
                <p:nvPr/>
              </p:nvSpPr>
              <p:spPr bwMode="auto">
                <a:xfrm>
                  <a:off x="864" y="2400"/>
                  <a:ext cx="5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66">
                  <a:extLst>
                    <a:ext uri="{FF2B5EF4-FFF2-40B4-BE49-F238E27FC236}">
                      <a16:creationId xmlns:a16="http://schemas.microsoft.com/office/drawing/2014/main" id="{A357BE00-1172-94DA-8A58-745A04C3686B}"/>
                    </a:ext>
                  </a:extLst>
                </p:cNvPr>
                <p:cNvSpPr>
                  <a:spLocks noChangeShapeType="1"/>
                </p:cNvSpPr>
                <p:nvPr/>
              </p:nvSpPr>
              <p:spPr bwMode="auto">
                <a:xfrm>
                  <a:off x="1248" y="216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67">
                  <a:extLst>
                    <a:ext uri="{FF2B5EF4-FFF2-40B4-BE49-F238E27FC236}">
                      <a16:creationId xmlns:a16="http://schemas.microsoft.com/office/drawing/2014/main" id="{756CC8B2-8C8A-37FC-1546-6C57E2484D2F}"/>
                    </a:ext>
                  </a:extLst>
                </p:cNvPr>
                <p:cNvSpPr>
                  <a:spLocks noChangeShapeType="1"/>
                </p:cNvSpPr>
                <p:nvPr/>
              </p:nvSpPr>
              <p:spPr bwMode="auto">
                <a:xfrm>
                  <a:off x="1392" y="225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 name="Line 68">
                <a:extLst>
                  <a:ext uri="{FF2B5EF4-FFF2-40B4-BE49-F238E27FC236}">
                    <a16:creationId xmlns:a16="http://schemas.microsoft.com/office/drawing/2014/main" id="{B814CC57-4EDB-0547-C0C8-E244F121C1F5}"/>
                  </a:ext>
                </a:extLst>
              </p:cNvPr>
              <p:cNvSpPr>
                <a:spLocks noChangeShapeType="1"/>
              </p:cNvSpPr>
              <p:nvPr/>
            </p:nvSpPr>
            <p:spPr bwMode="auto">
              <a:xfrm flipV="1">
                <a:off x="1872" y="2160"/>
                <a:ext cx="277" cy="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69">
                <a:extLst>
                  <a:ext uri="{FF2B5EF4-FFF2-40B4-BE49-F238E27FC236}">
                    <a16:creationId xmlns:a16="http://schemas.microsoft.com/office/drawing/2014/main" id="{021B9EDC-6357-8262-E082-24613ABF8938}"/>
                  </a:ext>
                </a:extLst>
              </p:cNvPr>
              <p:cNvSpPr>
                <a:spLocks noChangeShapeType="1"/>
              </p:cNvSpPr>
              <p:nvPr/>
            </p:nvSpPr>
            <p:spPr bwMode="auto">
              <a:xfrm flipV="1">
                <a:off x="1872" y="2160"/>
                <a:ext cx="555"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70">
                <a:extLst>
                  <a:ext uri="{FF2B5EF4-FFF2-40B4-BE49-F238E27FC236}">
                    <a16:creationId xmlns:a16="http://schemas.microsoft.com/office/drawing/2014/main" id="{EA801726-3EEB-BA75-A01C-1BE6DC0BA8CD}"/>
                  </a:ext>
                </a:extLst>
              </p:cNvPr>
              <p:cNvSpPr>
                <a:spLocks noChangeShapeType="1"/>
              </p:cNvSpPr>
              <p:nvPr/>
            </p:nvSpPr>
            <p:spPr bwMode="auto">
              <a:xfrm flipV="1">
                <a:off x="1872" y="2160"/>
                <a:ext cx="912"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71">
                <a:extLst>
                  <a:ext uri="{FF2B5EF4-FFF2-40B4-BE49-F238E27FC236}">
                    <a16:creationId xmlns:a16="http://schemas.microsoft.com/office/drawing/2014/main" id="{6CBC40C2-0070-92C8-731E-3C6A4772F2F3}"/>
                  </a:ext>
                </a:extLst>
              </p:cNvPr>
              <p:cNvSpPr>
                <a:spLocks noChangeShapeType="1"/>
              </p:cNvSpPr>
              <p:nvPr/>
            </p:nvSpPr>
            <p:spPr bwMode="auto">
              <a:xfrm rot="40780" flipH="1">
                <a:off x="2011" y="2247"/>
                <a:ext cx="887" cy="5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72">
                <a:extLst>
                  <a:ext uri="{FF2B5EF4-FFF2-40B4-BE49-F238E27FC236}">
                    <a16:creationId xmlns:a16="http://schemas.microsoft.com/office/drawing/2014/main" id="{FED75CE3-659B-3E98-C921-CAFC091EEA0E}"/>
                  </a:ext>
                </a:extLst>
              </p:cNvPr>
              <p:cNvSpPr>
                <a:spLocks noChangeShapeType="1"/>
              </p:cNvSpPr>
              <p:nvPr/>
            </p:nvSpPr>
            <p:spPr bwMode="auto">
              <a:xfrm flipH="1">
                <a:off x="2363" y="2429"/>
                <a:ext cx="618" cy="4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73">
                <a:extLst>
                  <a:ext uri="{FF2B5EF4-FFF2-40B4-BE49-F238E27FC236}">
                    <a16:creationId xmlns:a16="http://schemas.microsoft.com/office/drawing/2014/main" id="{0CDABDF3-3899-4293-9C70-5326110B8931}"/>
                  </a:ext>
                </a:extLst>
              </p:cNvPr>
              <p:cNvSpPr>
                <a:spLocks noChangeShapeType="1"/>
              </p:cNvSpPr>
              <p:nvPr/>
            </p:nvSpPr>
            <p:spPr bwMode="auto">
              <a:xfrm flipH="1">
                <a:off x="2432" y="2384"/>
                <a:ext cx="619" cy="4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74">
                <a:extLst>
                  <a:ext uri="{FF2B5EF4-FFF2-40B4-BE49-F238E27FC236}">
                    <a16:creationId xmlns:a16="http://schemas.microsoft.com/office/drawing/2014/main" id="{9B33183B-133B-7A90-7F68-43320F29359E}"/>
                  </a:ext>
                </a:extLst>
              </p:cNvPr>
              <p:cNvSpPr>
                <a:spLocks noChangeShapeType="1"/>
              </p:cNvSpPr>
              <p:nvPr/>
            </p:nvSpPr>
            <p:spPr bwMode="auto">
              <a:xfrm flipV="1">
                <a:off x="2704" y="2563"/>
                <a:ext cx="416" cy="2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6" name="Group 78">
              <a:extLst>
                <a:ext uri="{FF2B5EF4-FFF2-40B4-BE49-F238E27FC236}">
                  <a16:creationId xmlns:a16="http://schemas.microsoft.com/office/drawing/2014/main" id="{F5064E49-AEEB-AC1A-01A5-DFAD1D182A6E}"/>
                </a:ext>
              </a:extLst>
            </p:cNvPr>
            <p:cNvGrpSpPr>
              <a:grpSpLocks/>
            </p:cNvGrpSpPr>
            <p:nvPr/>
          </p:nvGrpSpPr>
          <p:grpSpPr bwMode="auto">
            <a:xfrm>
              <a:off x="2749550" y="3597275"/>
              <a:ext cx="1981200" cy="1066800"/>
              <a:chOff x="3648" y="1632"/>
              <a:chExt cx="1248" cy="672"/>
            </a:xfrm>
          </p:grpSpPr>
          <p:grpSp>
            <p:nvGrpSpPr>
              <p:cNvPr id="47" name="Group 79">
                <a:extLst>
                  <a:ext uri="{FF2B5EF4-FFF2-40B4-BE49-F238E27FC236}">
                    <a16:creationId xmlns:a16="http://schemas.microsoft.com/office/drawing/2014/main" id="{FDF76217-938D-7200-BB2C-274729F30A50}"/>
                  </a:ext>
                </a:extLst>
              </p:cNvPr>
              <p:cNvGrpSpPr>
                <a:grpSpLocks/>
              </p:cNvGrpSpPr>
              <p:nvPr/>
            </p:nvGrpSpPr>
            <p:grpSpPr bwMode="auto">
              <a:xfrm>
                <a:off x="3648" y="1632"/>
                <a:ext cx="1248" cy="672"/>
                <a:chOff x="1872" y="2160"/>
                <a:chExt cx="1248" cy="672"/>
              </a:xfrm>
            </p:grpSpPr>
            <p:sp>
              <p:nvSpPr>
                <p:cNvPr id="53" name="Rectangle 80">
                  <a:extLst>
                    <a:ext uri="{FF2B5EF4-FFF2-40B4-BE49-F238E27FC236}">
                      <a16:creationId xmlns:a16="http://schemas.microsoft.com/office/drawing/2014/main" id="{92057190-9B17-E42F-C1B0-0805B9EA7BA4}"/>
                    </a:ext>
                  </a:extLst>
                </p:cNvPr>
                <p:cNvSpPr>
                  <a:spLocks noChangeArrowheads="1"/>
                </p:cNvSpPr>
                <p:nvPr/>
              </p:nvSpPr>
              <p:spPr bwMode="auto">
                <a:xfrm>
                  <a:off x="1872" y="2160"/>
                  <a:ext cx="1248" cy="6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Arial Black" panose="020B0A04020102020204" pitchFamily="34" charset="0"/>
                  </a:endParaRPr>
                </a:p>
              </p:txBody>
            </p:sp>
            <p:grpSp>
              <p:nvGrpSpPr>
                <p:cNvPr id="54" name="Group 81">
                  <a:extLst>
                    <a:ext uri="{FF2B5EF4-FFF2-40B4-BE49-F238E27FC236}">
                      <a16:creationId xmlns:a16="http://schemas.microsoft.com/office/drawing/2014/main" id="{7F3621B9-787E-0C73-A8C3-B2DD7BDDCD11}"/>
                    </a:ext>
                  </a:extLst>
                </p:cNvPr>
                <p:cNvGrpSpPr>
                  <a:grpSpLocks/>
                </p:cNvGrpSpPr>
                <p:nvPr/>
              </p:nvGrpSpPr>
              <p:grpSpPr bwMode="auto">
                <a:xfrm>
                  <a:off x="1872" y="2160"/>
                  <a:ext cx="1248" cy="672"/>
                  <a:chOff x="864" y="2160"/>
                  <a:chExt cx="528" cy="240"/>
                </a:xfrm>
              </p:grpSpPr>
              <p:sp>
                <p:nvSpPr>
                  <p:cNvPr id="62" name="Line 82">
                    <a:extLst>
                      <a:ext uri="{FF2B5EF4-FFF2-40B4-BE49-F238E27FC236}">
                        <a16:creationId xmlns:a16="http://schemas.microsoft.com/office/drawing/2014/main" id="{E33CC928-0971-E971-7F9A-9CC6ACA5158D}"/>
                      </a:ext>
                    </a:extLst>
                  </p:cNvPr>
                  <p:cNvSpPr>
                    <a:spLocks noChangeShapeType="1"/>
                  </p:cNvSpPr>
                  <p:nvPr/>
                </p:nvSpPr>
                <p:spPr bwMode="auto">
                  <a:xfrm>
                    <a:off x="864" y="2160"/>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83">
                    <a:extLst>
                      <a:ext uri="{FF2B5EF4-FFF2-40B4-BE49-F238E27FC236}">
                        <a16:creationId xmlns:a16="http://schemas.microsoft.com/office/drawing/2014/main" id="{5E9CA8B6-4EE9-F55D-0D81-B3F8A064F471}"/>
                      </a:ext>
                    </a:extLst>
                  </p:cNvPr>
                  <p:cNvSpPr>
                    <a:spLocks noChangeShapeType="1"/>
                  </p:cNvSpPr>
                  <p:nvPr/>
                </p:nvSpPr>
                <p:spPr bwMode="auto">
                  <a:xfrm>
                    <a:off x="864" y="2160"/>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84">
                    <a:extLst>
                      <a:ext uri="{FF2B5EF4-FFF2-40B4-BE49-F238E27FC236}">
                        <a16:creationId xmlns:a16="http://schemas.microsoft.com/office/drawing/2014/main" id="{2EF06A59-D633-E5AF-D6AB-AFC345A994E8}"/>
                      </a:ext>
                    </a:extLst>
                  </p:cNvPr>
                  <p:cNvSpPr>
                    <a:spLocks noChangeShapeType="1"/>
                  </p:cNvSpPr>
                  <p:nvPr/>
                </p:nvSpPr>
                <p:spPr bwMode="auto">
                  <a:xfrm>
                    <a:off x="864" y="2400"/>
                    <a:ext cx="5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85">
                    <a:extLst>
                      <a:ext uri="{FF2B5EF4-FFF2-40B4-BE49-F238E27FC236}">
                        <a16:creationId xmlns:a16="http://schemas.microsoft.com/office/drawing/2014/main" id="{121327EC-5DAF-42C2-C879-AC815F2B260D}"/>
                      </a:ext>
                    </a:extLst>
                  </p:cNvPr>
                  <p:cNvSpPr>
                    <a:spLocks noChangeShapeType="1"/>
                  </p:cNvSpPr>
                  <p:nvPr/>
                </p:nvSpPr>
                <p:spPr bwMode="auto">
                  <a:xfrm>
                    <a:off x="1248" y="216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86">
                    <a:extLst>
                      <a:ext uri="{FF2B5EF4-FFF2-40B4-BE49-F238E27FC236}">
                        <a16:creationId xmlns:a16="http://schemas.microsoft.com/office/drawing/2014/main" id="{B157F486-87C9-5C36-A066-4AA2E0B2F5A5}"/>
                      </a:ext>
                    </a:extLst>
                  </p:cNvPr>
                  <p:cNvSpPr>
                    <a:spLocks noChangeShapeType="1"/>
                  </p:cNvSpPr>
                  <p:nvPr/>
                </p:nvSpPr>
                <p:spPr bwMode="auto">
                  <a:xfrm>
                    <a:off x="1392" y="225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 name="Line 87">
                  <a:extLst>
                    <a:ext uri="{FF2B5EF4-FFF2-40B4-BE49-F238E27FC236}">
                      <a16:creationId xmlns:a16="http://schemas.microsoft.com/office/drawing/2014/main" id="{85487F70-06F7-A722-6988-C24430FC2E04}"/>
                    </a:ext>
                  </a:extLst>
                </p:cNvPr>
                <p:cNvSpPr>
                  <a:spLocks noChangeShapeType="1"/>
                </p:cNvSpPr>
                <p:nvPr/>
              </p:nvSpPr>
              <p:spPr bwMode="auto">
                <a:xfrm flipV="1">
                  <a:off x="1872" y="2160"/>
                  <a:ext cx="277" cy="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88">
                  <a:extLst>
                    <a:ext uri="{FF2B5EF4-FFF2-40B4-BE49-F238E27FC236}">
                      <a16:creationId xmlns:a16="http://schemas.microsoft.com/office/drawing/2014/main" id="{B1D206FE-FB4A-91DE-90C7-7740E5AA2B6A}"/>
                    </a:ext>
                  </a:extLst>
                </p:cNvPr>
                <p:cNvSpPr>
                  <a:spLocks noChangeShapeType="1"/>
                </p:cNvSpPr>
                <p:nvPr/>
              </p:nvSpPr>
              <p:spPr bwMode="auto">
                <a:xfrm flipV="1">
                  <a:off x="1872" y="2160"/>
                  <a:ext cx="555"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89">
                  <a:extLst>
                    <a:ext uri="{FF2B5EF4-FFF2-40B4-BE49-F238E27FC236}">
                      <a16:creationId xmlns:a16="http://schemas.microsoft.com/office/drawing/2014/main" id="{D04B6FFB-4626-A1BC-7684-6E854C8600B6}"/>
                    </a:ext>
                  </a:extLst>
                </p:cNvPr>
                <p:cNvSpPr>
                  <a:spLocks noChangeShapeType="1"/>
                </p:cNvSpPr>
                <p:nvPr/>
              </p:nvSpPr>
              <p:spPr bwMode="auto">
                <a:xfrm flipV="1">
                  <a:off x="1872" y="2160"/>
                  <a:ext cx="912"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90">
                  <a:extLst>
                    <a:ext uri="{FF2B5EF4-FFF2-40B4-BE49-F238E27FC236}">
                      <a16:creationId xmlns:a16="http://schemas.microsoft.com/office/drawing/2014/main" id="{E185CD1E-9F5D-FF22-9D2A-48B6AAF6A4D4}"/>
                    </a:ext>
                  </a:extLst>
                </p:cNvPr>
                <p:cNvSpPr>
                  <a:spLocks noChangeShapeType="1"/>
                </p:cNvSpPr>
                <p:nvPr/>
              </p:nvSpPr>
              <p:spPr bwMode="auto">
                <a:xfrm rot="40780" flipH="1">
                  <a:off x="2011" y="2247"/>
                  <a:ext cx="887" cy="5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91">
                  <a:extLst>
                    <a:ext uri="{FF2B5EF4-FFF2-40B4-BE49-F238E27FC236}">
                      <a16:creationId xmlns:a16="http://schemas.microsoft.com/office/drawing/2014/main" id="{23E5DD3D-4B5C-5207-14CD-6737B30AB00C}"/>
                    </a:ext>
                  </a:extLst>
                </p:cNvPr>
                <p:cNvSpPr>
                  <a:spLocks noChangeShapeType="1"/>
                </p:cNvSpPr>
                <p:nvPr/>
              </p:nvSpPr>
              <p:spPr bwMode="auto">
                <a:xfrm flipH="1">
                  <a:off x="2363" y="2429"/>
                  <a:ext cx="618" cy="4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92">
                  <a:extLst>
                    <a:ext uri="{FF2B5EF4-FFF2-40B4-BE49-F238E27FC236}">
                      <a16:creationId xmlns:a16="http://schemas.microsoft.com/office/drawing/2014/main" id="{B51D7CA8-A568-86B5-129C-83190C8140A5}"/>
                    </a:ext>
                  </a:extLst>
                </p:cNvPr>
                <p:cNvSpPr>
                  <a:spLocks noChangeShapeType="1"/>
                </p:cNvSpPr>
                <p:nvPr/>
              </p:nvSpPr>
              <p:spPr bwMode="auto">
                <a:xfrm flipH="1">
                  <a:off x="2432" y="2384"/>
                  <a:ext cx="619" cy="4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93">
                  <a:extLst>
                    <a:ext uri="{FF2B5EF4-FFF2-40B4-BE49-F238E27FC236}">
                      <a16:creationId xmlns:a16="http://schemas.microsoft.com/office/drawing/2014/main" id="{B65FB23F-532F-E890-0E9A-0A0C75A76651}"/>
                    </a:ext>
                  </a:extLst>
                </p:cNvPr>
                <p:cNvSpPr>
                  <a:spLocks noChangeShapeType="1"/>
                </p:cNvSpPr>
                <p:nvPr/>
              </p:nvSpPr>
              <p:spPr bwMode="auto">
                <a:xfrm flipV="1">
                  <a:off x="2704" y="2563"/>
                  <a:ext cx="416" cy="2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8" name="Line 94">
                <a:extLst>
                  <a:ext uri="{FF2B5EF4-FFF2-40B4-BE49-F238E27FC236}">
                    <a16:creationId xmlns:a16="http://schemas.microsoft.com/office/drawing/2014/main" id="{F49F9F7D-AA52-9868-C2EB-8E769FA320B6}"/>
                  </a:ext>
                </a:extLst>
              </p:cNvPr>
              <p:cNvSpPr>
                <a:spLocks noChangeShapeType="1"/>
              </p:cNvSpPr>
              <p:nvPr/>
            </p:nvSpPr>
            <p:spPr bwMode="auto">
              <a:xfrm>
                <a:off x="3648" y="2016"/>
                <a:ext cx="38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95">
                <a:extLst>
                  <a:ext uri="{FF2B5EF4-FFF2-40B4-BE49-F238E27FC236}">
                    <a16:creationId xmlns:a16="http://schemas.microsoft.com/office/drawing/2014/main" id="{74288B88-D1C4-D662-AED1-56BBC62743F9}"/>
                  </a:ext>
                </a:extLst>
              </p:cNvPr>
              <p:cNvSpPr>
                <a:spLocks noChangeShapeType="1"/>
              </p:cNvSpPr>
              <p:nvPr/>
            </p:nvSpPr>
            <p:spPr bwMode="auto">
              <a:xfrm>
                <a:off x="3648" y="1776"/>
                <a:ext cx="672"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96">
                <a:extLst>
                  <a:ext uri="{FF2B5EF4-FFF2-40B4-BE49-F238E27FC236}">
                    <a16:creationId xmlns:a16="http://schemas.microsoft.com/office/drawing/2014/main" id="{B2555CCE-A0D4-8371-A970-DF3BC3115598}"/>
                  </a:ext>
                </a:extLst>
              </p:cNvPr>
              <p:cNvSpPr>
                <a:spLocks noChangeShapeType="1"/>
              </p:cNvSpPr>
              <p:nvPr/>
            </p:nvSpPr>
            <p:spPr bwMode="auto">
              <a:xfrm>
                <a:off x="3792" y="1632"/>
                <a:ext cx="81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97">
                <a:extLst>
                  <a:ext uri="{FF2B5EF4-FFF2-40B4-BE49-F238E27FC236}">
                    <a16:creationId xmlns:a16="http://schemas.microsoft.com/office/drawing/2014/main" id="{7837F052-F0E9-B66B-8A62-3E1D80617303}"/>
                  </a:ext>
                </a:extLst>
              </p:cNvPr>
              <p:cNvSpPr>
                <a:spLocks noChangeShapeType="1"/>
              </p:cNvSpPr>
              <p:nvPr/>
            </p:nvSpPr>
            <p:spPr bwMode="auto">
              <a:xfrm>
                <a:off x="4128" y="1632"/>
                <a:ext cx="76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98">
                <a:extLst>
                  <a:ext uri="{FF2B5EF4-FFF2-40B4-BE49-F238E27FC236}">
                    <a16:creationId xmlns:a16="http://schemas.microsoft.com/office/drawing/2014/main" id="{F7B3D2BB-4272-E127-0E10-2BC1029FA2B3}"/>
                  </a:ext>
                </a:extLst>
              </p:cNvPr>
              <p:cNvSpPr>
                <a:spLocks noChangeShapeType="1"/>
              </p:cNvSpPr>
              <p:nvPr/>
            </p:nvSpPr>
            <p:spPr bwMode="auto">
              <a:xfrm>
                <a:off x="4416" y="1632"/>
                <a:ext cx="48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7" name="Text Box 100">
              <a:extLst>
                <a:ext uri="{FF2B5EF4-FFF2-40B4-BE49-F238E27FC236}">
                  <a16:creationId xmlns:a16="http://schemas.microsoft.com/office/drawing/2014/main" id="{94AB2382-17A8-E222-C643-C7353E923DBC}"/>
                </a:ext>
              </a:extLst>
            </p:cNvPr>
            <p:cNvSpPr txBox="1">
              <a:spLocks noChangeArrowheads="1"/>
            </p:cNvSpPr>
            <p:nvPr/>
          </p:nvSpPr>
          <p:spPr bwMode="auto">
            <a:xfrm>
              <a:off x="2813050" y="2327275"/>
              <a:ext cx="1466850"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Withdrawal </a:t>
              </a:r>
              <a:br>
                <a:rPr lang="en-US" altLang="en-US" sz="1800"/>
              </a:br>
              <a:r>
                <a:rPr lang="en-US" altLang="en-US" sz="1800"/>
                <a:t>Kanban</a:t>
              </a:r>
            </a:p>
          </p:txBody>
        </p:sp>
        <p:sp>
          <p:nvSpPr>
            <p:cNvPr id="68" name="Text Box 101">
              <a:extLst>
                <a:ext uri="{FF2B5EF4-FFF2-40B4-BE49-F238E27FC236}">
                  <a16:creationId xmlns:a16="http://schemas.microsoft.com/office/drawing/2014/main" id="{57093A8B-1D69-8479-3A3E-333B6DD8B43E}"/>
                </a:ext>
              </a:extLst>
            </p:cNvPr>
            <p:cNvSpPr txBox="1">
              <a:spLocks noChangeArrowheads="1"/>
            </p:cNvSpPr>
            <p:nvPr/>
          </p:nvSpPr>
          <p:spPr bwMode="auto">
            <a:xfrm>
              <a:off x="1263650" y="3840163"/>
              <a:ext cx="139382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Supplier </a:t>
              </a:r>
              <a:br>
                <a:rPr lang="en-US" altLang="en-US" sz="1800"/>
              </a:br>
              <a:r>
                <a:rPr lang="en-US" altLang="en-US" sz="1800"/>
                <a:t>Kanban</a:t>
              </a:r>
            </a:p>
          </p:txBody>
        </p:sp>
      </p:grpSp>
    </p:spTree>
    <p:extLst>
      <p:ext uri="{BB962C8B-B14F-4D97-AF65-F5344CB8AC3E}">
        <p14:creationId xmlns:p14="http://schemas.microsoft.com/office/powerpoint/2010/main" val="2533832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Withdrawal Kanban Example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3" name="Group 2">
            <a:extLst>
              <a:ext uri="{FF2B5EF4-FFF2-40B4-BE49-F238E27FC236}">
                <a16:creationId xmlns:a16="http://schemas.microsoft.com/office/drawing/2014/main" id="{7E044F36-E5C5-B3AE-3FD6-FAC561466CC7}"/>
              </a:ext>
            </a:extLst>
          </p:cNvPr>
          <p:cNvGrpSpPr/>
          <p:nvPr/>
        </p:nvGrpSpPr>
        <p:grpSpPr>
          <a:xfrm>
            <a:off x="838200" y="297639"/>
            <a:ext cx="4770120" cy="301303"/>
            <a:chOff x="838200" y="297639"/>
            <a:chExt cx="4770120" cy="301303"/>
          </a:xfrm>
        </p:grpSpPr>
        <p:grpSp>
          <p:nvGrpSpPr>
            <p:cNvPr id="5" name="Group 4">
              <a:extLst>
                <a:ext uri="{FF2B5EF4-FFF2-40B4-BE49-F238E27FC236}">
                  <a16:creationId xmlns:a16="http://schemas.microsoft.com/office/drawing/2014/main" id="{FCDA13AA-978B-7645-7A25-6E5EA5FDAB0F}"/>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20B02423-503E-CF07-796F-C6F4022F2C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D346CB0D-A610-516C-17D7-E21F1446BCEA}"/>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C4C44AF-6ECD-8DA6-6117-3A2D879ABDF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35B28EF-3E42-DC34-7CB5-71DA681E7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2BF75EB4-E7A9-2F64-1B01-420EAC5614A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48C2925F-B6B2-A9A7-EF04-35AF0E0786A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grpSp>
      <p:grpSp>
        <p:nvGrpSpPr>
          <p:cNvPr id="23" name="Group 45">
            <a:extLst>
              <a:ext uri="{FF2B5EF4-FFF2-40B4-BE49-F238E27FC236}">
                <a16:creationId xmlns:a16="http://schemas.microsoft.com/office/drawing/2014/main" id="{5BB803D0-3F4F-7126-B530-DFA38799EA3F}"/>
              </a:ext>
            </a:extLst>
          </p:cNvPr>
          <p:cNvGrpSpPr>
            <a:grpSpLocks/>
          </p:cNvGrpSpPr>
          <p:nvPr/>
        </p:nvGrpSpPr>
        <p:grpSpPr bwMode="auto">
          <a:xfrm>
            <a:off x="1310833" y="1932972"/>
            <a:ext cx="9570334" cy="4310666"/>
            <a:chOff x="672" y="957"/>
            <a:chExt cx="4464" cy="2976"/>
          </a:xfrm>
        </p:grpSpPr>
        <p:sp>
          <p:nvSpPr>
            <p:cNvPr id="24" name="Rectangle 4">
              <a:extLst>
                <a:ext uri="{FF2B5EF4-FFF2-40B4-BE49-F238E27FC236}">
                  <a16:creationId xmlns:a16="http://schemas.microsoft.com/office/drawing/2014/main" id="{E6859CB8-38EE-97E7-AC4A-7B0C1A8865D4}"/>
                </a:ext>
              </a:extLst>
            </p:cNvPr>
            <p:cNvSpPr>
              <a:spLocks noChangeArrowheads="1"/>
            </p:cNvSpPr>
            <p:nvPr/>
          </p:nvSpPr>
          <p:spPr bwMode="auto">
            <a:xfrm>
              <a:off x="720" y="1002"/>
              <a:ext cx="4416" cy="2931"/>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 name="Rectangle 5">
              <a:extLst>
                <a:ext uri="{FF2B5EF4-FFF2-40B4-BE49-F238E27FC236}">
                  <a16:creationId xmlns:a16="http://schemas.microsoft.com/office/drawing/2014/main" id="{60158439-51FD-28D6-326F-394078158AA3}"/>
                </a:ext>
              </a:extLst>
            </p:cNvPr>
            <p:cNvSpPr>
              <a:spLocks noChangeArrowheads="1"/>
            </p:cNvSpPr>
            <p:nvPr/>
          </p:nvSpPr>
          <p:spPr bwMode="auto">
            <a:xfrm>
              <a:off x="672" y="957"/>
              <a:ext cx="4412" cy="2927"/>
            </a:xfrm>
            <a:prstGeom prst="rect">
              <a:avLst/>
            </a:prstGeom>
            <a:solidFill>
              <a:srgbClr val="000000"/>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Rectangle 6">
              <a:extLst>
                <a:ext uri="{FF2B5EF4-FFF2-40B4-BE49-F238E27FC236}">
                  <a16:creationId xmlns:a16="http://schemas.microsoft.com/office/drawing/2014/main" id="{F2BB8449-66B2-207E-B192-FDD749D5FF48}"/>
                </a:ext>
              </a:extLst>
            </p:cNvPr>
            <p:cNvSpPr>
              <a:spLocks noChangeArrowheads="1"/>
            </p:cNvSpPr>
            <p:nvPr/>
          </p:nvSpPr>
          <p:spPr bwMode="auto">
            <a:xfrm>
              <a:off x="718" y="1004"/>
              <a:ext cx="2017"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b="0">
                <a:latin typeface="Roboto" panose="02000000000000000000" pitchFamily="2" charset="0"/>
                <a:ea typeface="Roboto" panose="02000000000000000000" pitchFamily="2" charset="0"/>
              </a:endParaRPr>
            </a:p>
          </p:txBody>
        </p:sp>
        <p:sp>
          <p:nvSpPr>
            <p:cNvPr id="27" name="Rectangle 7">
              <a:extLst>
                <a:ext uri="{FF2B5EF4-FFF2-40B4-BE49-F238E27FC236}">
                  <a16:creationId xmlns:a16="http://schemas.microsoft.com/office/drawing/2014/main" id="{2980DC45-7658-15E7-4B93-55B6D68DB799}"/>
                </a:ext>
              </a:extLst>
            </p:cNvPr>
            <p:cNvSpPr>
              <a:spLocks noChangeArrowheads="1"/>
            </p:cNvSpPr>
            <p:nvPr/>
          </p:nvSpPr>
          <p:spPr bwMode="auto">
            <a:xfrm>
              <a:off x="783" y="1045"/>
              <a:ext cx="245"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500" u="sng" dirty="0">
                  <a:solidFill>
                    <a:srgbClr val="000000"/>
                  </a:solidFill>
                  <a:latin typeface="Roboto" panose="02000000000000000000" pitchFamily="2" charset="0"/>
                  <a:ea typeface="Roboto" panose="02000000000000000000" pitchFamily="2" charset="0"/>
                </a:rPr>
                <a:t>Part #</a:t>
              </a:r>
              <a:endParaRPr lang="en-US" altLang="en-US" b="0" dirty="0">
                <a:latin typeface="Roboto" panose="02000000000000000000" pitchFamily="2" charset="0"/>
                <a:ea typeface="Roboto" panose="02000000000000000000" pitchFamily="2" charset="0"/>
              </a:endParaRPr>
            </a:p>
          </p:txBody>
        </p:sp>
        <p:sp>
          <p:nvSpPr>
            <p:cNvPr id="28" name="Rectangle 8">
              <a:extLst>
                <a:ext uri="{FF2B5EF4-FFF2-40B4-BE49-F238E27FC236}">
                  <a16:creationId xmlns:a16="http://schemas.microsoft.com/office/drawing/2014/main" id="{8B413E76-EC40-495C-D7FE-675D72B392AA}"/>
                </a:ext>
              </a:extLst>
            </p:cNvPr>
            <p:cNvSpPr>
              <a:spLocks noChangeArrowheads="1"/>
            </p:cNvSpPr>
            <p:nvPr/>
          </p:nvSpPr>
          <p:spPr bwMode="auto">
            <a:xfrm>
              <a:off x="798" y="1404"/>
              <a:ext cx="24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a:solidFill>
                    <a:srgbClr val="000099"/>
                  </a:solidFill>
                  <a:latin typeface="Roboto" panose="02000000000000000000" pitchFamily="2" charset="0"/>
                  <a:ea typeface="Roboto" panose="02000000000000000000" pitchFamily="2" charset="0"/>
                </a:rPr>
                <a:t>2345</a:t>
              </a:r>
              <a:endParaRPr lang="en-US" altLang="en-US" b="0">
                <a:solidFill>
                  <a:srgbClr val="000099"/>
                </a:solidFill>
                <a:latin typeface="Roboto" panose="02000000000000000000" pitchFamily="2" charset="0"/>
                <a:ea typeface="Roboto" panose="02000000000000000000" pitchFamily="2" charset="0"/>
              </a:endParaRPr>
            </a:p>
          </p:txBody>
        </p:sp>
        <p:sp>
          <p:nvSpPr>
            <p:cNvPr id="29" name="Rectangle 9">
              <a:extLst>
                <a:ext uri="{FF2B5EF4-FFF2-40B4-BE49-F238E27FC236}">
                  <a16:creationId xmlns:a16="http://schemas.microsoft.com/office/drawing/2014/main" id="{78A2B467-6406-B45B-0E15-400A07FBBA5F}"/>
                </a:ext>
              </a:extLst>
            </p:cNvPr>
            <p:cNvSpPr>
              <a:spLocks noChangeArrowheads="1"/>
            </p:cNvSpPr>
            <p:nvPr/>
          </p:nvSpPr>
          <p:spPr bwMode="auto">
            <a:xfrm>
              <a:off x="2733" y="1004"/>
              <a:ext cx="1160"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 name="Rectangle 10">
              <a:extLst>
                <a:ext uri="{FF2B5EF4-FFF2-40B4-BE49-F238E27FC236}">
                  <a16:creationId xmlns:a16="http://schemas.microsoft.com/office/drawing/2014/main" id="{9BAEA192-4CE4-982A-B02D-23FB377E7347}"/>
                </a:ext>
              </a:extLst>
            </p:cNvPr>
            <p:cNvSpPr>
              <a:spLocks noChangeArrowheads="1"/>
            </p:cNvSpPr>
            <p:nvPr/>
          </p:nvSpPr>
          <p:spPr bwMode="auto">
            <a:xfrm>
              <a:off x="2959" y="1297"/>
              <a:ext cx="40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500">
                  <a:solidFill>
                    <a:srgbClr val="000000"/>
                  </a:solidFill>
                  <a:latin typeface="Roboto" panose="02000000000000000000" pitchFamily="2" charset="0"/>
                  <a:ea typeface="Roboto" panose="02000000000000000000" pitchFamily="2" charset="0"/>
                </a:rPr>
                <a:t>Supplying</a:t>
              </a:r>
            </a:p>
            <a:p>
              <a:pPr>
                <a:lnSpc>
                  <a:spcPct val="100000"/>
                </a:lnSpc>
                <a:spcBef>
                  <a:spcPct val="0"/>
                </a:spcBef>
                <a:spcAft>
                  <a:spcPct val="0"/>
                </a:spcAft>
                <a:buClrTx/>
                <a:buSzTx/>
                <a:buFontTx/>
                <a:buNone/>
              </a:pPr>
              <a:r>
                <a:rPr lang="en-US" altLang="en-US" sz="1500">
                  <a:solidFill>
                    <a:srgbClr val="000000"/>
                  </a:solidFill>
                  <a:latin typeface="Roboto" panose="02000000000000000000" pitchFamily="2" charset="0"/>
                  <a:ea typeface="Roboto" panose="02000000000000000000" pitchFamily="2" charset="0"/>
                </a:rPr>
                <a:t>Process</a:t>
              </a:r>
              <a:endParaRPr lang="en-US" altLang="en-US">
                <a:latin typeface="Roboto" panose="02000000000000000000" pitchFamily="2" charset="0"/>
                <a:ea typeface="Roboto" panose="02000000000000000000" pitchFamily="2" charset="0"/>
              </a:endParaRPr>
            </a:p>
          </p:txBody>
        </p:sp>
        <p:sp>
          <p:nvSpPr>
            <p:cNvPr id="31" name="Rectangle 12">
              <a:extLst>
                <a:ext uri="{FF2B5EF4-FFF2-40B4-BE49-F238E27FC236}">
                  <a16:creationId xmlns:a16="http://schemas.microsoft.com/office/drawing/2014/main" id="{3CC37474-72C3-CC40-785E-EA62CE3D8383}"/>
                </a:ext>
              </a:extLst>
            </p:cNvPr>
            <p:cNvSpPr>
              <a:spLocks noChangeArrowheads="1"/>
            </p:cNvSpPr>
            <p:nvPr/>
          </p:nvSpPr>
          <p:spPr bwMode="auto">
            <a:xfrm>
              <a:off x="3892" y="1004"/>
              <a:ext cx="1160"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Rectangle 13">
              <a:extLst>
                <a:ext uri="{FF2B5EF4-FFF2-40B4-BE49-F238E27FC236}">
                  <a16:creationId xmlns:a16="http://schemas.microsoft.com/office/drawing/2014/main" id="{1F7F65FB-5D55-56C1-C5A6-877C16EFFDE2}"/>
                </a:ext>
              </a:extLst>
            </p:cNvPr>
            <p:cNvSpPr>
              <a:spLocks noChangeArrowheads="1"/>
            </p:cNvSpPr>
            <p:nvPr/>
          </p:nvSpPr>
          <p:spPr bwMode="auto">
            <a:xfrm>
              <a:off x="4169" y="1297"/>
              <a:ext cx="459"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500">
                  <a:solidFill>
                    <a:srgbClr val="000000"/>
                  </a:solidFill>
                  <a:latin typeface="Roboto" panose="02000000000000000000" pitchFamily="2" charset="0"/>
                  <a:ea typeface="Roboto" panose="02000000000000000000" pitchFamily="2" charset="0"/>
                </a:rPr>
                <a:t>Consuming</a:t>
              </a:r>
            </a:p>
            <a:p>
              <a:pPr>
                <a:lnSpc>
                  <a:spcPct val="100000"/>
                </a:lnSpc>
                <a:spcBef>
                  <a:spcPct val="0"/>
                </a:spcBef>
                <a:spcAft>
                  <a:spcPct val="0"/>
                </a:spcAft>
                <a:buClrTx/>
                <a:buSzTx/>
                <a:buFontTx/>
                <a:buNone/>
              </a:pPr>
              <a:r>
                <a:rPr lang="en-US" altLang="en-US" sz="1500">
                  <a:solidFill>
                    <a:srgbClr val="000000"/>
                  </a:solidFill>
                  <a:latin typeface="Roboto" panose="02000000000000000000" pitchFamily="2" charset="0"/>
                  <a:ea typeface="Roboto" panose="02000000000000000000" pitchFamily="2" charset="0"/>
                </a:rPr>
                <a:t>Process</a:t>
              </a:r>
              <a:endParaRPr lang="en-US" altLang="en-US">
                <a:latin typeface="Roboto" panose="02000000000000000000" pitchFamily="2" charset="0"/>
                <a:ea typeface="Roboto" panose="02000000000000000000" pitchFamily="2" charset="0"/>
              </a:endParaRPr>
            </a:p>
          </p:txBody>
        </p:sp>
        <p:sp>
          <p:nvSpPr>
            <p:cNvPr id="33" name="Rectangle 15">
              <a:extLst>
                <a:ext uri="{FF2B5EF4-FFF2-40B4-BE49-F238E27FC236}">
                  <a16:creationId xmlns:a16="http://schemas.microsoft.com/office/drawing/2014/main" id="{4D3DFFC4-9FFC-C28C-91B1-6CD153C573DB}"/>
                </a:ext>
              </a:extLst>
            </p:cNvPr>
            <p:cNvSpPr>
              <a:spLocks noChangeArrowheads="1"/>
            </p:cNvSpPr>
            <p:nvPr/>
          </p:nvSpPr>
          <p:spPr bwMode="auto">
            <a:xfrm>
              <a:off x="2733" y="1948"/>
              <a:ext cx="1160"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Rectangle 16">
              <a:extLst>
                <a:ext uri="{FF2B5EF4-FFF2-40B4-BE49-F238E27FC236}">
                  <a16:creationId xmlns:a16="http://schemas.microsoft.com/office/drawing/2014/main" id="{303BDA18-8356-B1D2-25BF-2A20D04BDDCE}"/>
                </a:ext>
              </a:extLst>
            </p:cNvPr>
            <p:cNvSpPr>
              <a:spLocks noChangeArrowheads="1"/>
            </p:cNvSpPr>
            <p:nvPr/>
          </p:nvSpPr>
          <p:spPr bwMode="auto">
            <a:xfrm>
              <a:off x="2865" y="2109"/>
              <a:ext cx="96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rgbClr val="000099"/>
                  </a:solidFill>
                  <a:latin typeface="Roboto" panose="02000000000000000000" pitchFamily="2" charset="0"/>
                  <a:ea typeface="Roboto" panose="02000000000000000000" pitchFamily="2" charset="0"/>
                </a:rPr>
                <a:t>12345 Lever Cell</a:t>
              </a:r>
              <a:endParaRPr lang="en-US" altLang="en-US" b="0">
                <a:solidFill>
                  <a:srgbClr val="000099"/>
                </a:solidFill>
                <a:latin typeface="Roboto" panose="02000000000000000000" pitchFamily="2" charset="0"/>
                <a:ea typeface="Roboto" panose="02000000000000000000" pitchFamily="2" charset="0"/>
              </a:endParaRPr>
            </a:p>
          </p:txBody>
        </p:sp>
        <p:sp>
          <p:nvSpPr>
            <p:cNvPr id="35" name="Rectangle 17">
              <a:extLst>
                <a:ext uri="{FF2B5EF4-FFF2-40B4-BE49-F238E27FC236}">
                  <a16:creationId xmlns:a16="http://schemas.microsoft.com/office/drawing/2014/main" id="{9FD5F2D8-5979-372A-9B36-06908E28B851}"/>
                </a:ext>
              </a:extLst>
            </p:cNvPr>
            <p:cNvSpPr>
              <a:spLocks noChangeArrowheads="1"/>
            </p:cNvSpPr>
            <p:nvPr/>
          </p:nvSpPr>
          <p:spPr bwMode="auto">
            <a:xfrm>
              <a:off x="3892" y="1948"/>
              <a:ext cx="1160"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 name="Rectangle 18">
              <a:extLst>
                <a:ext uri="{FF2B5EF4-FFF2-40B4-BE49-F238E27FC236}">
                  <a16:creationId xmlns:a16="http://schemas.microsoft.com/office/drawing/2014/main" id="{4CC497AB-5C4F-DA12-2824-2A550311CBD4}"/>
                </a:ext>
              </a:extLst>
            </p:cNvPr>
            <p:cNvSpPr>
              <a:spLocks noChangeArrowheads="1"/>
            </p:cNvSpPr>
            <p:nvPr/>
          </p:nvSpPr>
          <p:spPr bwMode="auto">
            <a:xfrm>
              <a:off x="4030" y="2090"/>
              <a:ext cx="55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a:solidFill>
                    <a:srgbClr val="000099"/>
                  </a:solidFill>
                  <a:latin typeface="Roboto" panose="02000000000000000000" pitchFamily="2" charset="0"/>
                  <a:ea typeface="Roboto" panose="02000000000000000000" pitchFamily="2" charset="0"/>
                </a:rPr>
                <a:t>Assembly</a:t>
              </a:r>
              <a:endParaRPr lang="en-US" altLang="en-US" b="0">
                <a:solidFill>
                  <a:srgbClr val="000099"/>
                </a:solidFill>
                <a:latin typeface="Roboto" panose="02000000000000000000" pitchFamily="2" charset="0"/>
                <a:ea typeface="Roboto" panose="02000000000000000000" pitchFamily="2" charset="0"/>
              </a:endParaRPr>
            </a:p>
          </p:txBody>
        </p:sp>
        <p:sp>
          <p:nvSpPr>
            <p:cNvPr id="37" name="Rectangle 19">
              <a:extLst>
                <a:ext uri="{FF2B5EF4-FFF2-40B4-BE49-F238E27FC236}">
                  <a16:creationId xmlns:a16="http://schemas.microsoft.com/office/drawing/2014/main" id="{6B709703-78BD-35FD-EF9F-948551B9BB7C}"/>
                </a:ext>
              </a:extLst>
            </p:cNvPr>
            <p:cNvSpPr>
              <a:spLocks noChangeArrowheads="1"/>
            </p:cNvSpPr>
            <p:nvPr/>
          </p:nvSpPr>
          <p:spPr bwMode="auto">
            <a:xfrm>
              <a:off x="4093" y="2355"/>
              <a:ext cx="52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a:solidFill>
                    <a:srgbClr val="000099"/>
                  </a:solidFill>
                  <a:latin typeface="Roboto" panose="02000000000000000000" pitchFamily="2" charset="0"/>
                  <a:ea typeface="Roboto" panose="02000000000000000000" pitchFamily="2" charset="0"/>
                </a:rPr>
                <a:t>Cell B-12</a:t>
              </a:r>
              <a:endParaRPr lang="en-US" altLang="en-US" b="0">
                <a:solidFill>
                  <a:srgbClr val="000099"/>
                </a:solidFill>
                <a:latin typeface="Roboto" panose="02000000000000000000" pitchFamily="2" charset="0"/>
                <a:ea typeface="Roboto" panose="02000000000000000000" pitchFamily="2" charset="0"/>
              </a:endParaRPr>
            </a:p>
          </p:txBody>
        </p:sp>
        <p:sp>
          <p:nvSpPr>
            <p:cNvPr id="38" name="Rectangle 20">
              <a:extLst>
                <a:ext uri="{FF2B5EF4-FFF2-40B4-BE49-F238E27FC236}">
                  <a16:creationId xmlns:a16="http://schemas.microsoft.com/office/drawing/2014/main" id="{B291C9C6-E618-A489-882A-2BC100B890C4}"/>
                </a:ext>
              </a:extLst>
            </p:cNvPr>
            <p:cNvSpPr>
              <a:spLocks noChangeArrowheads="1"/>
            </p:cNvSpPr>
            <p:nvPr/>
          </p:nvSpPr>
          <p:spPr bwMode="auto">
            <a:xfrm>
              <a:off x="718" y="1948"/>
              <a:ext cx="2017"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9" name="Rectangle 21">
              <a:extLst>
                <a:ext uri="{FF2B5EF4-FFF2-40B4-BE49-F238E27FC236}">
                  <a16:creationId xmlns:a16="http://schemas.microsoft.com/office/drawing/2014/main" id="{0EB139F5-BC1E-8F2D-2A43-CF27BC1D225A}"/>
                </a:ext>
              </a:extLst>
            </p:cNvPr>
            <p:cNvSpPr>
              <a:spLocks noChangeArrowheads="1"/>
            </p:cNvSpPr>
            <p:nvPr/>
          </p:nvSpPr>
          <p:spPr bwMode="auto">
            <a:xfrm>
              <a:off x="783" y="1989"/>
              <a:ext cx="524"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500" u="sng">
                  <a:solidFill>
                    <a:srgbClr val="000000"/>
                  </a:solidFill>
                  <a:latin typeface="Roboto" panose="02000000000000000000" pitchFamily="2" charset="0"/>
                  <a:ea typeface="Roboto" panose="02000000000000000000" pitchFamily="2" charset="0"/>
                </a:rPr>
                <a:t>Quantity Per </a:t>
              </a:r>
            </a:p>
            <a:p>
              <a:pPr>
                <a:lnSpc>
                  <a:spcPct val="100000"/>
                </a:lnSpc>
                <a:spcBef>
                  <a:spcPct val="0"/>
                </a:spcBef>
                <a:spcAft>
                  <a:spcPct val="0"/>
                </a:spcAft>
                <a:buClrTx/>
                <a:buSzTx/>
                <a:buFontTx/>
                <a:buNone/>
              </a:pPr>
              <a:r>
                <a:rPr lang="en-US" altLang="en-US" sz="1500" u="sng">
                  <a:solidFill>
                    <a:srgbClr val="000000"/>
                  </a:solidFill>
                  <a:latin typeface="Roboto" panose="02000000000000000000" pitchFamily="2" charset="0"/>
                  <a:ea typeface="Roboto" panose="02000000000000000000" pitchFamily="2" charset="0"/>
                </a:rPr>
                <a:t>Container:</a:t>
              </a:r>
              <a:endParaRPr lang="en-US" altLang="en-US" b="0">
                <a:latin typeface="Roboto" panose="02000000000000000000" pitchFamily="2" charset="0"/>
                <a:ea typeface="Roboto" panose="02000000000000000000" pitchFamily="2" charset="0"/>
              </a:endParaRPr>
            </a:p>
          </p:txBody>
        </p:sp>
        <p:sp>
          <p:nvSpPr>
            <p:cNvPr id="40" name="Rectangle 22">
              <a:extLst>
                <a:ext uri="{FF2B5EF4-FFF2-40B4-BE49-F238E27FC236}">
                  <a16:creationId xmlns:a16="http://schemas.microsoft.com/office/drawing/2014/main" id="{80CA46AD-AC4E-C7AB-0F34-2D52CA603B44}"/>
                </a:ext>
              </a:extLst>
            </p:cNvPr>
            <p:cNvSpPr>
              <a:spLocks noChangeArrowheads="1"/>
            </p:cNvSpPr>
            <p:nvPr/>
          </p:nvSpPr>
          <p:spPr bwMode="auto">
            <a:xfrm>
              <a:off x="1093" y="2397"/>
              <a:ext cx="6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a:solidFill>
                    <a:srgbClr val="000099"/>
                  </a:solidFill>
                  <a:latin typeface="Roboto" panose="02000000000000000000" pitchFamily="2" charset="0"/>
                  <a:ea typeface="Roboto" panose="02000000000000000000" pitchFamily="2" charset="0"/>
                </a:rPr>
                <a:t>6</a:t>
              </a:r>
              <a:endParaRPr lang="en-US" altLang="en-US" b="0">
                <a:solidFill>
                  <a:srgbClr val="000099"/>
                </a:solidFill>
                <a:latin typeface="Roboto" panose="02000000000000000000" pitchFamily="2" charset="0"/>
                <a:ea typeface="Roboto" panose="02000000000000000000" pitchFamily="2" charset="0"/>
              </a:endParaRPr>
            </a:p>
          </p:txBody>
        </p:sp>
        <p:sp>
          <p:nvSpPr>
            <p:cNvPr id="41" name="Rectangle 23">
              <a:extLst>
                <a:ext uri="{FF2B5EF4-FFF2-40B4-BE49-F238E27FC236}">
                  <a16:creationId xmlns:a16="http://schemas.microsoft.com/office/drawing/2014/main" id="{55AF614D-CB18-13FB-2677-46D8A8D7AAEB}"/>
                </a:ext>
              </a:extLst>
            </p:cNvPr>
            <p:cNvSpPr>
              <a:spLocks noChangeArrowheads="1"/>
            </p:cNvSpPr>
            <p:nvPr/>
          </p:nvSpPr>
          <p:spPr bwMode="auto">
            <a:xfrm>
              <a:off x="720" y="2892"/>
              <a:ext cx="4332" cy="945"/>
            </a:xfrm>
            <a:prstGeom prst="rect">
              <a:avLst/>
            </a:prstGeom>
            <a:solidFill>
              <a:srgbClr val="CCFFFF"/>
            </a:solidFill>
            <a:ln w="7938">
              <a:solidFill>
                <a:srgbClr val="000000"/>
              </a:solidFill>
              <a:miter lim="800000"/>
              <a:headEnd/>
              <a:tailEnd/>
            </a:ln>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2" name="Rectangle 24">
              <a:extLst>
                <a:ext uri="{FF2B5EF4-FFF2-40B4-BE49-F238E27FC236}">
                  <a16:creationId xmlns:a16="http://schemas.microsoft.com/office/drawing/2014/main" id="{B0EA25DF-5558-01D7-EF7A-BD3EE7C32E85}"/>
                </a:ext>
              </a:extLst>
            </p:cNvPr>
            <p:cNvSpPr>
              <a:spLocks noChangeArrowheads="1"/>
            </p:cNvSpPr>
            <p:nvPr/>
          </p:nvSpPr>
          <p:spPr bwMode="auto">
            <a:xfrm>
              <a:off x="783" y="2933"/>
              <a:ext cx="436"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500" u="sng">
                  <a:solidFill>
                    <a:srgbClr val="000000"/>
                  </a:solidFill>
                  <a:latin typeface="Roboto" panose="02000000000000000000" pitchFamily="2" charset="0"/>
                  <a:ea typeface="Roboto" panose="02000000000000000000" pitchFamily="2" charset="0"/>
                </a:rPr>
                <a:t>Deliver To:</a:t>
              </a:r>
              <a:endParaRPr lang="en-US" altLang="en-US" b="0">
                <a:latin typeface="Roboto" panose="02000000000000000000" pitchFamily="2" charset="0"/>
                <a:ea typeface="Roboto" panose="02000000000000000000" pitchFamily="2" charset="0"/>
              </a:endParaRPr>
            </a:p>
          </p:txBody>
        </p:sp>
        <p:sp>
          <p:nvSpPr>
            <p:cNvPr id="43" name="Rectangle 25">
              <a:extLst>
                <a:ext uri="{FF2B5EF4-FFF2-40B4-BE49-F238E27FC236}">
                  <a16:creationId xmlns:a16="http://schemas.microsoft.com/office/drawing/2014/main" id="{473B976A-1D5D-D8EB-F76F-74F226EC41E8}"/>
                </a:ext>
              </a:extLst>
            </p:cNvPr>
            <p:cNvSpPr>
              <a:spLocks noChangeArrowheads="1"/>
            </p:cNvSpPr>
            <p:nvPr/>
          </p:nvSpPr>
          <p:spPr bwMode="auto">
            <a:xfrm>
              <a:off x="976" y="3292"/>
              <a:ext cx="95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dirty="0">
                  <a:solidFill>
                    <a:srgbClr val="000099"/>
                  </a:solidFill>
                  <a:latin typeface="Roboto" panose="02000000000000000000" pitchFamily="2" charset="0"/>
                  <a:ea typeface="Roboto" panose="02000000000000000000" pitchFamily="2" charset="0"/>
                </a:rPr>
                <a:t>Assembly Cell B-12</a:t>
              </a:r>
              <a:endParaRPr lang="en-US" altLang="en-US" b="0" dirty="0">
                <a:solidFill>
                  <a:srgbClr val="000099"/>
                </a:solidFill>
                <a:latin typeface="Roboto" panose="02000000000000000000" pitchFamily="2" charset="0"/>
                <a:ea typeface="Roboto" panose="02000000000000000000" pitchFamily="2" charset="0"/>
              </a:endParaRPr>
            </a:p>
          </p:txBody>
        </p:sp>
        <p:sp>
          <p:nvSpPr>
            <p:cNvPr id="44" name="Freeform 26">
              <a:extLst>
                <a:ext uri="{FF2B5EF4-FFF2-40B4-BE49-F238E27FC236}">
                  <a16:creationId xmlns:a16="http://schemas.microsoft.com/office/drawing/2014/main" id="{99B6A8BC-FC52-DA21-A82C-7A131ED72658}"/>
                </a:ext>
              </a:extLst>
            </p:cNvPr>
            <p:cNvSpPr>
              <a:spLocks/>
            </p:cNvSpPr>
            <p:nvPr/>
          </p:nvSpPr>
          <p:spPr bwMode="auto">
            <a:xfrm>
              <a:off x="3690" y="1345"/>
              <a:ext cx="455" cy="283"/>
            </a:xfrm>
            <a:custGeom>
              <a:avLst/>
              <a:gdLst>
                <a:gd name="T0" fmla="*/ 14 w 648"/>
                <a:gd name="T1" fmla="*/ 0 h 432"/>
                <a:gd name="T2" fmla="*/ 14 w 648"/>
                <a:gd name="T3" fmla="*/ 2 h 432"/>
                <a:gd name="T4" fmla="*/ 0 w 648"/>
                <a:gd name="T5" fmla="*/ 2 h 432"/>
                <a:gd name="T6" fmla="*/ 0 w 648"/>
                <a:gd name="T7" fmla="*/ 5 h 432"/>
                <a:gd name="T8" fmla="*/ 14 w 648"/>
                <a:gd name="T9" fmla="*/ 5 h 432"/>
                <a:gd name="T10" fmla="*/ 14 w 648"/>
                <a:gd name="T11" fmla="*/ 6 h 432"/>
                <a:gd name="T12" fmla="*/ 19 w 648"/>
                <a:gd name="T13" fmla="*/ 3 h 432"/>
                <a:gd name="T14" fmla="*/ 14 w 648"/>
                <a:gd name="T15" fmla="*/ 0 h 4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8" h="432">
                  <a:moveTo>
                    <a:pt x="486" y="0"/>
                  </a:moveTo>
                  <a:lnTo>
                    <a:pt x="486" y="108"/>
                  </a:lnTo>
                  <a:lnTo>
                    <a:pt x="0" y="108"/>
                  </a:lnTo>
                  <a:lnTo>
                    <a:pt x="0" y="324"/>
                  </a:lnTo>
                  <a:lnTo>
                    <a:pt x="486" y="324"/>
                  </a:lnTo>
                  <a:lnTo>
                    <a:pt x="486" y="432"/>
                  </a:lnTo>
                  <a:lnTo>
                    <a:pt x="648" y="216"/>
                  </a:lnTo>
                  <a:lnTo>
                    <a:pt x="486" y="0"/>
                  </a:lnTo>
                  <a:close/>
                </a:path>
              </a:pathLst>
            </a:custGeom>
            <a:solidFill>
              <a:srgbClr val="000000"/>
            </a:solidFill>
            <a:ln w="7938">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Roboto" panose="02000000000000000000" pitchFamily="2" charset="0"/>
                <a:ea typeface="Roboto" panose="02000000000000000000" pitchFamily="2" charset="0"/>
              </a:endParaRPr>
            </a:p>
          </p:txBody>
        </p:sp>
        <p:sp>
          <p:nvSpPr>
            <p:cNvPr id="45" name="Rectangle 27">
              <a:extLst>
                <a:ext uri="{FF2B5EF4-FFF2-40B4-BE49-F238E27FC236}">
                  <a16:creationId xmlns:a16="http://schemas.microsoft.com/office/drawing/2014/main" id="{FE096080-C178-7A35-C17D-D7A37E1E8248}"/>
                </a:ext>
              </a:extLst>
            </p:cNvPr>
            <p:cNvSpPr>
              <a:spLocks noChangeArrowheads="1"/>
            </p:cNvSpPr>
            <p:nvPr/>
          </p:nvSpPr>
          <p:spPr bwMode="auto">
            <a:xfrm>
              <a:off x="1612" y="1045"/>
              <a:ext cx="489"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500" u="sng">
                  <a:solidFill>
                    <a:srgbClr val="000000"/>
                  </a:solidFill>
                  <a:latin typeface="Roboto" panose="02000000000000000000" pitchFamily="2" charset="0"/>
                  <a:ea typeface="Roboto" panose="02000000000000000000" pitchFamily="2" charset="0"/>
                </a:rPr>
                <a:t>Description:</a:t>
              </a:r>
              <a:endParaRPr lang="en-US" altLang="en-US" b="0">
                <a:latin typeface="Roboto" panose="02000000000000000000" pitchFamily="2" charset="0"/>
                <a:ea typeface="Roboto" panose="02000000000000000000" pitchFamily="2" charset="0"/>
              </a:endParaRPr>
            </a:p>
          </p:txBody>
        </p:sp>
        <p:sp>
          <p:nvSpPr>
            <p:cNvPr id="46" name="Rectangle 28">
              <a:extLst>
                <a:ext uri="{FF2B5EF4-FFF2-40B4-BE49-F238E27FC236}">
                  <a16:creationId xmlns:a16="http://schemas.microsoft.com/office/drawing/2014/main" id="{2E42BC98-5621-718D-BB70-F225E34FD9C8}"/>
                </a:ext>
              </a:extLst>
            </p:cNvPr>
            <p:cNvSpPr>
              <a:spLocks noChangeArrowheads="1"/>
            </p:cNvSpPr>
            <p:nvPr/>
          </p:nvSpPr>
          <p:spPr bwMode="auto">
            <a:xfrm>
              <a:off x="1680" y="1272"/>
              <a:ext cx="73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a:solidFill>
                    <a:srgbClr val="000099"/>
                  </a:solidFill>
                  <a:latin typeface="Roboto" panose="02000000000000000000" pitchFamily="2" charset="0"/>
                  <a:ea typeface="Roboto" panose="02000000000000000000" pitchFamily="2" charset="0"/>
                </a:rPr>
                <a:t>Yellow Lever</a:t>
              </a:r>
              <a:endParaRPr lang="en-US" altLang="en-US" b="0">
                <a:solidFill>
                  <a:srgbClr val="000099"/>
                </a:solidFill>
                <a:latin typeface="Roboto" panose="02000000000000000000" pitchFamily="2" charset="0"/>
                <a:ea typeface="Roboto" panose="02000000000000000000" pitchFamily="2" charset="0"/>
              </a:endParaRPr>
            </a:p>
          </p:txBody>
        </p:sp>
        <p:sp>
          <p:nvSpPr>
            <p:cNvPr id="47" name="Line 29">
              <a:extLst>
                <a:ext uri="{FF2B5EF4-FFF2-40B4-BE49-F238E27FC236}">
                  <a16:creationId xmlns:a16="http://schemas.microsoft.com/office/drawing/2014/main" id="{8B9AC865-4C30-0B95-AFF6-9F8E5F123525}"/>
                </a:ext>
              </a:extLst>
            </p:cNvPr>
            <p:cNvSpPr>
              <a:spLocks noChangeShapeType="1"/>
            </p:cNvSpPr>
            <p:nvPr/>
          </p:nvSpPr>
          <p:spPr bwMode="auto">
            <a:xfrm>
              <a:off x="1524" y="957"/>
              <a:ext cx="0" cy="19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8" name="Rectangle 30">
              <a:extLst>
                <a:ext uri="{FF2B5EF4-FFF2-40B4-BE49-F238E27FC236}">
                  <a16:creationId xmlns:a16="http://schemas.microsoft.com/office/drawing/2014/main" id="{485B898E-D630-349A-FEA0-02F5574A6124}"/>
                </a:ext>
              </a:extLst>
            </p:cNvPr>
            <p:cNvSpPr>
              <a:spLocks noChangeArrowheads="1"/>
            </p:cNvSpPr>
            <p:nvPr/>
          </p:nvSpPr>
          <p:spPr bwMode="auto">
            <a:xfrm>
              <a:off x="3829" y="3474"/>
              <a:ext cx="5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a:solidFill>
                    <a:srgbClr val="000000"/>
                  </a:solidFill>
                  <a:latin typeface="Roboto" panose="02000000000000000000" pitchFamily="2" charset="0"/>
                  <a:ea typeface="Roboto" panose="02000000000000000000" pitchFamily="2" charset="0"/>
                </a:rPr>
                <a:t>Card 1 of 7</a:t>
              </a:r>
              <a:endParaRPr lang="en-US" altLang="en-US" b="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372205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Goal: Next order arrives as inventory hits safety stock</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3" name="Group 2">
            <a:extLst>
              <a:ext uri="{FF2B5EF4-FFF2-40B4-BE49-F238E27FC236}">
                <a16:creationId xmlns:a16="http://schemas.microsoft.com/office/drawing/2014/main" id="{7E044F36-E5C5-B3AE-3FD6-FAC561466CC7}"/>
              </a:ext>
            </a:extLst>
          </p:cNvPr>
          <p:cNvGrpSpPr/>
          <p:nvPr/>
        </p:nvGrpSpPr>
        <p:grpSpPr>
          <a:xfrm>
            <a:off x="838200" y="297639"/>
            <a:ext cx="4770120" cy="301303"/>
            <a:chOff x="838200" y="297639"/>
            <a:chExt cx="4770120" cy="301303"/>
          </a:xfrm>
        </p:grpSpPr>
        <p:grpSp>
          <p:nvGrpSpPr>
            <p:cNvPr id="5" name="Group 4">
              <a:extLst>
                <a:ext uri="{FF2B5EF4-FFF2-40B4-BE49-F238E27FC236}">
                  <a16:creationId xmlns:a16="http://schemas.microsoft.com/office/drawing/2014/main" id="{FCDA13AA-978B-7645-7A25-6E5EA5FDAB0F}"/>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20B02423-503E-CF07-796F-C6F4022F2C3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D346CB0D-A610-516C-17D7-E21F1446BCEA}"/>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C4C44AF-6ECD-8DA6-6117-3A2D879ABDF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35B28EF-3E42-DC34-7CB5-71DA681E7CD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2BF75EB4-E7A9-2F64-1B01-420EAC5614A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48C2925F-B6B2-A9A7-EF04-35AF0E0786A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Types of Kanban &amp; How It Works</a:t>
              </a:r>
            </a:p>
          </p:txBody>
        </p:sp>
      </p:grpSp>
      <p:grpSp>
        <p:nvGrpSpPr>
          <p:cNvPr id="60" name="Group 59">
            <a:extLst>
              <a:ext uri="{FF2B5EF4-FFF2-40B4-BE49-F238E27FC236}">
                <a16:creationId xmlns:a16="http://schemas.microsoft.com/office/drawing/2014/main" id="{3045716F-68D5-B699-B5FE-85CDB9E6D40F}"/>
              </a:ext>
            </a:extLst>
          </p:cNvPr>
          <p:cNvGrpSpPr/>
          <p:nvPr/>
        </p:nvGrpSpPr>
        <p:grpSpPr>
          <a:xfrm>
            <a:off x="1326206" y="1783429"/>
            <a:ext cx="9539589" cy="4490454"/>
            <a:chOff x="923925" y="1433513"/>
            <a:chExt cx="7250113" cy="4842117"/>
          </a:xfrm>
        </p:grpSpPr>
        <p:sp>
          <p:nvSpPr>
            <p:cNvPr id="12" name="Text Box 2">
              <a:extLst>
                <a:ext uri="{FF2B5EF4-FFF2-40B4-BE49-F238E27FC236}">
                  <a16:creationId xmlns:a16="http://schemas.microsoft.com/office/drawing/2014/main" id="{0ADE75C1-D469-39FC-BA66-281B75230046}"/>
                </a:ext>
              </a:extLst>
            </p:cNvPr>
            <p:cNvSpPr txBox="1">
              <a:spLocks noChangeArrowheads="1"/>
            </p:cNvSpPr>
            <p:nvPr/>
          </p:nvSpPr>
          <p:spPr bwMode="auto">
            <a:xfrm>
              <a:off x="3036888" y="5930900"/>
              <a:ext cx="1404937" cy="2655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000">
                  <a:latin typeface="Roboto" panose="02000000000000000000" pitchFamily="2" charset="0"/>
                  <a:ea typeface="Roboto" panose="02000000000000000000" pitchFamily="2" charset="0"/>
                </a:rPr>
                <a:t>Lead Time 10 days</a:t>
              </a:r>
            </a:p>
          </p:txBody>
        </p:sp>
        <p:sp>
          <p:nvSpPr>
            <p:cNvPr id="13" name="Rectangle 3">
              <a:extLst>
                <a:ext uri="{FF2B5EF4-FFF2-40B4-BE49-F238E27FC236}">
                  <a16:creationId xmlns:a16="http://schemas.microsoft.com/office/drawing/2014/main" id="{8A0DF5E7-8124-697A-BE5A-252D78B29E96}"/>
                </a:ext>
              </a:extLst>
            </p:cNvPr>
            <p:cNvSpPr>
              <a:spLocks noChangeArrowheads="1"/>
            </p:cNvSpPr>
            <p:nvPr/>
          </p:nvSpPr>
          <p:spPr bwMode="auto">
            <a:xfrm>
              <a:off x="2830513" y="1916113"/>
              <a:ext cx="1695450" cy="396716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 name="Rectangle 4">
              <a:extLst>
                <a:ext uri="{FF2B5EF4-FFF2-40B4-BE49-F238E27FC236}">
                  <a16:creationId xmlns:a16="http://schemas.microsoft.com/office/drawing/2014/main" id="{15C70753-F61E-A376-9C30-C501FC5BE278}"/>
                </a:ext>
              </a:extLst>
            </p:cNvPr>
            <p:cNvSpPr>
              <a:spLocks noChangeArrowheads="1"/>
            </p:cNvSpPr>
            <p:nvPr/>
          </p:nvSpPr>
          <p:spPr bwMode="auto">
            <a:xfrm>
              <a:off x="1919288" y="5310188"/>
              <a:ext cx="5214937" cy="57308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Line 6">
              <a:extLst>
                <a:ext uri="{FF2B5EF4-FFF2-40B4-BE49-F238E27FC236}">
                  <a16:creationId xmlns:a16="http://schemas.microsoft.com/office/drawing/2014/main" id="{BCA37488-C610-7BB9-2CB8-C966B455DCB2}"/>
                </a:ext>
              </a:extLst>
            </p:cNvPr>
            <p:cNvSpPr>
              <a:spLocks noChangeShapeType="1"/>
            </p:cNvSpPr>
            <p:nvPr/>
          </p:nvSpPr>
          <p:spPr bwMode="auto">
            <a:xfrm>
              <a:off x="1895475" y="5937250"/>
              <a:ext cx="5468938"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6" name="Line 7">
              <a:extLst>
                <a:ext uri="{FF2B5EF4-FFF2-40B4-BE49-F238E27FC236}">
                  <a16:creationId xmlns:a16="http://schemas.microsoft.com/office/drawing/2014/main" id="{077D3E9D-4DCC-DBF4-429D-2079B8A0555A}"/>
                </a:ext>
              </a:extLst>
            </p:cNvPr>
            <p:cNvSpPr>
              <a:spLocks noChangeShapeType="1"/>
            </p:cNvSpPr>
            <p:nvPr/>
          </p:nvSpPr>
          <p:spPr bwMode="auto">
            <a:xfrm>
              <a:off x="1895475" y="1755775"/>
              <a:ext cx="0" cy="4181475"/>
            </a:xfrm>
            <a:prstGeom prst="line">
              <a:avLst/>
            </a:prstGeom>
            <a:noFill/>
            <a:ln w="762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Line 8">
              <a:extLst>
                <a:ext uri="{FF2B5EF4-FFF2-40B4-BE49-F238E27FC236}">
                  <a16:creationId xmlns:a16="http://schemas.microsoft.com/office/drawing/2014/main" id="{B1DF3060-7DD2-33D5-B7F2-DBB6DDE0B142}"/>
                </a:ext>
              </a:extLst>
            </p:cNvPr>
            <p:cNvSpPr>
              <a:spLocks noChangeShapeType="1"/>
            </p:cNvSpPr>
            <p:nvPr/>
          </p:nvSpPr>
          <p:spPr bwMode="auto">
            <a:xfrm>
              <a:off x="1895475" y="2786063"/>
              <a:ext cx="5468938" cy="0"/>
            </a:xfrm>
            <a:prstGeom prst="line">
              <a:avLst/>
            </a:prstGeom>
            <a:noFill/>
            <a:ln w="57150">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Line 9">
              <a:extLst>
                <a:ext uri="{FF2B5EF4-FFF2-40B4-BE49-F238E27FC236}">
                  <a16:creationId xmlns:a16="http://schemas.microsoft.com/office/drawing/2014/main" id="{B1656500-4EF0-483D-5080-2BF604337A88}"/>
                </a:ext>
              </a:extLst>
            </p:cNvPr>
            <p:cNvSpPr>
              <a:spLocks noChangeShapeType="1"/>
            </p:cNvSpPr>
            <p:nvPr/>
          </p:nvSpPr>
          <p:spPr bwMode="auto">
            <a:xfrm>
              <a:off x="1895475" y="5294313"/>
              <a:ext cx="54689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9" name="Text Box 11">
              <a:extLst>
                <a:ext uri="{FF2B5EF4-FFF2-40B4-BE49-F238E27FC236}">
                  <a16:creationId xmlns:a16="http://schemas.microsoft.com/office/drawing/2014/main" id="{45BE503F-876A-C461-0169-F5BBBAEEA0E2}"/>
                </a:ext>
              </a:extLst>
            </p:cNvPr>
            <p:cNvSpPr txBox="1">
              <a:spLocks noChangeArrowheads="1"/>
            </p:cNvSpPr>
            <p:nvPr/>
          </p:nvSpPr>
          <p:spPr bwMode="auto">
            <a:xfrm>
              <a:off x="923925" y="1433513"/>
              <a:ext cx="1927225" cy="33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rPr>
                <a:t>Inventory Level</a:t>
              </a:r>
            </a:p>
          </p:txBody>
        </p:sp>
        <p:sp>
          <p:nvSpPr>
            <p:cNvPr id="20" name="Text Box 12">
              <a:extLst>
                <a:ext uri="{FF2B5EF4-FFF2-40B4-BE49-F238E27FC236}">
                  <a16:creationId xmlns:a16="http://schemas.microsoft.com/office/drawing/2014/main" id="{4EA3B1B0-7643-A4E6-255F-1D1625B98804}"/>
                </a:ext>
              </a:extLst>
            </p:cNvPr>
            <p:cNvSpPr txBox="1">
              <a:spLocks noChangeArrowheads="1"/>
            </p:cNvSpPr>
            <p:nvPr/>
          </p:nvSpPr>
          <p:spPr bwMode="auto">
            <a:xfrm>
              <a:off x="5495925" y="5976938"/>
              <a:ext cx="1924050" cy="298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Time</a:t>
              </a:r>
            </a:p>
          </p:txBody>
        </p:sp>
        <p:sp>
          <p:nvSpPr>
            <p:cNvPr id="21" name="Text Box 13">
              <a:extLst>
                <a:ext uri="{FF2B5EF4-FFF2-40B4-BE49-F238E27FC236}">
                  <a16:creationId xmlns:a16="http://schemas.microsoft.com/office/drawing/2014/main" id="{12B57075-B99F-13DD-F144-7F682F2F0095}"/>
                </a:ext>
              </a:extLst>
            </p:cNvPr>
            <p:cNvSpPr txBox="1">
              <a:spLocks noChangeArrowheads="1"/>
            </p:cNvSpPr>
            <p:nvPr/>
          </p:nvSpPr>
          <p:spPr bwMode="auto">
            <a:xfrm>
              <a:off x="3313113" y="5443538"/>
              <a:ext cx="3749675" cy="36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Safety Stock = 307 units</a:t>
              </a:r>
            </a:p>
          </p:txBody>
        </p:sp>
        <p:sp>
          <p:nvSpPr>
            <p:cNvPr id="22" name="Line 14">
              <a:extLst>
                <a:ext uri="{FF2B5EF4-FFF2-40B4-BE49-F238E27FC236}">
                  <a16:creationId xmlns:a16="http://schemas.microsoft.com/office/drawing/2014/main" id="{D144B38E-87E0-2DBF-1D72-5C12997981DE}"/>
                </a:ext>
              </a:extLst>
            </p:cNvPr>
            <p:cNvSpPr>
              <a:spLocks noChangeShapeType="1"/>
            </p:cNvSpPr>
            <p:nvPr/>
          </p:nvSpPr>
          <p:spPr bwMode="auto">
            <a:xfrm>
              <a:off x="2820988" y="1947863"/>
              <a:ext cx="0" cy="3989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Line 15">
              <a:extLst>
                <a:ext uri="{FF2B5EF4-FFF2-40B4-BE49-F238E27FC236}">
                  <a16:creationId xmlns:a16="http://schemas.microsoft.com/office/drawing/2014/main" id="{0D2A8965-F5C7-B82E-3F30-D865520A9DD5}"/>
                </a:ext>
              </a:extLst>
            </p:cNvPr>
            <p:cNvSpPr>
              <a:spLocks noChangeShapeType="1"/>
            </p:cNvSpPr>
            <p:nvPr/>
          </p:nvSpPr>
          <p:spPr bwMode="auto">
            <a:xfrm>
              <a:off x="4514850" y="1947863"/>
              <a:ext cx="0" cy="3989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Text Box 16">
              <a:extLst>
                <a:ext uri="{FF2B5EF4-FFF2-40B4-BE49-F238E27FC236}">
                  <a16:creationId xmlns:a16="http://schemas.microsoft.com/office/drawing/2014/main" id="{C4159EBD-C59D-4AEA-8405-EC397B77CF17}"/>
                </a:ext>
              </a:extLst>
            </p:cNvPr>
            <p:cNvSpPr txBox="1">
              <a:spLocks noChangeArrowheads="1"/>
            </p:cNvSpPr>
            <p:nvPr/>
          </p:nvSpPr>
          <p:spPr bwMode="auto">
            <a:xfrm>
              <a:off x="1914525" y="5946775"/>
              <a:ext cx="1214438" cy="298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Place Order</a:t>
              </a:r>
            </a:p>
          </p:txBody>
        </p:sp>
        <p:sp>
          <p:nvSpPr>
            <p:cNvPr id="51" name="Text Box 17">
              <a:extLst>
                <a:ext uri="{FF2B5EF4-FFF2-40B4-BE49-F238E27FC236}">
                  <a16:creationId xmlns:a16="http://schemas.microsoft.com/office/drawing/2014/main" id="{B214F56A-5B4F-B8B0-429D-F19F55E683E6}"/>
                </a:ext>
              </a:extLst>
            </p:cNvPr>
            <p:cNvSpPr txBox="1">
              <a:spLocks noChangeArrowheads="1"/>
            </p:cNvSpPr>
            <p:nvPr/>
          </p:nvSpPr>
          <p:spPr bwMode="auto">
            <a:xfrm>
              <a:off x="4406900" y="5940425"/>
              <a:ext cx="1822450" cy="298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Reorder</a:t>
              </a:r>
            </a:p>
          </p:txBody>
        </p:sp>
        <p:sp>
          <p:nvSpPr>
            <p:cNvPr id="52" name="Line 18">
              <a:extLst>
                <a:ext uri="{FF2B5EF4-FFF2-40B4-BE49-F238E27FC236}">
                  <a16:creationId xmlns:a16="http://schemas.microsoft.com/office/drawing/2014/main" id="{353847BE-3146-1EC9-691B-2ACE630A3CCB}"/>
                </a:ext>
              </a:extLst>
            </p:cNvPr>
            <p:cNvSpPr>
              <a:spLocks noChangeShapeType="1"/>
            </p:cNvSpPr>
            <p:nvPr/>
          </p:nvSpPr>
          <p:spPr bwMode="auto">
            <a:xfrm>
              <a:off x="3049588" y="6181725"/>
              <a:ext cx="131127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3" name="Line 19">
              <a:extLst>
                <a:ext uri="{FF2B5EF4-FFF2-40B4-BE49-F238E27FC236}">
                  <a16:creationId xmlns:a16="http://schemas.microsoft.com/office/drawing/2014/main" id="{BD5C4F59-1D51-DB33-A998-40A2CC6A05FE}"/>
                </a:ext>
              </a:extLst>
            </p:cNvPr>
            <p:cNvSpPr>
              <a:spLocks noChangeShapeType="1"/>
            </p:cNvSpPr>
            <p:nvPr/>
          </p:nvSpPr>
          <p:spPr bwMode="auto">
            <a:xfrm flipV="1">
              <a:off x="4514850" y="4605338"/>
              <a:ext cx="904875" cy="688975"/>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4" name="Text Box 20">
              <a:extLst>
                <a:ext uri="{FF2B5EF4-FFF2-40B4-BE49-F238E27FC236}">
                  <a16:creationId xmlns:a16="http://schemas.microsoft.com/office/drawing/2014/main" id="{5E38D520-4E03-3016-C6A2-5673B763CB74}"/>
                </a:ext>
              </a:extLst>
            </p:cNvPr>
            <p:cNvSpPr txBox="1">
              <a:spLocks noChangeArrowheads="1"/>
            </p:cNvSpPr>
            <p:nvPr/>
          </p:nvSpPr>
          <p:spPr bwMode="auto">
            <a:xfrm>
              <a:off x="5329238" y="4291013"/>
              <a:ext cx="2844800" cy="36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Demand should = EDDLT</a:t>
              </a:r>
            </a:p>
          </p:txBody>
        </p:sp>
        <p:sp>
          <p:nvSpPr>
            <p:cNvPr id="55" name="Freeform 21">
              <a:extLst>
                <a:ext uri="{FF2B5EF4-FFF2-40B4-BE49-F238E27FC236}">
                  <a16:creationId xmlns:a16="http://schemas.microsoft.com/office/drawing/2014/main" id="{9D31DB18-3585-375C-D624-D90B6D6943E0}"/>
                </a:ext>
              </a:extLst>
            </p:cNvPr>
            <p:cNvSpPr>
              <a:spLocks/>
            </p:cNvSpPr>
            <p:nvPr/>
          </p:nvSpPr>
          <p:spPr bwMode="auto">
            <a:xfrm>
              <a:off x="2809875" y="2808288"/>
              <a:ext cx="1725613" cy="2455862"/>
            </a:xfrm>
            <a:custGeom>
              <a:avLst/>
              <a:gdLst>
                <a:gd name="T0" fmla="*/ 0 w 1075"/>
                <a:gd name="T1" fmla="*/ 0 h 1833"/>
                <a:gd name="T2" fmla="*/ 2147483646 w 1075"/>
                <a:gd name="T3" fmla="*/ 2147483646 h 1833"/>
                <a:gd name="T4" fmla="*/ 2147483646 w 1075"/>
                <a:gd name="T5" fmla="*/ 2147483646 h 1833"/>
                <a:gd name="T6" fmla="*/ 2147483646 w 1075"/>
                <a:gd name="T7" fmla="*/ 2147483646 h 1833"/>
                <a:gd name="T8" fmla="*/ 2147483646 w 1075"/>
                <a:gd name="T9" fmla="*/ 2147483646 h 1833"/>
                <a:gd name="T10" fmla="*/ 2147483646 w 1075"/>
                <a:gd name="T11" fmla="*/ 2147483646 h 1833"/>
                <a:gd name="T12" fmla="*/ 2147483646 w 1075"/>
                <a:gd name="T13" fmla="*/ 2147483646 h 1833"/>
                <a:gd name="T14" fmla="*/ 2147483646 w 1075"/>
                <a:gd name="T15" fmla="*/ 2147483646 h 1833"/>
                <a:gd name="T16" fmla="*/ 2147483646 w 1075"/>
                <a:gd name="T17" fmla="*/ 2147483646 h 1833"/>
                <a:gd name="T18" fmla="*/ 2147483646 w 1075"/>
                <a:gd name="T19" fmla="*/ 2147483646 h 1833"/>
                <a:gd name="T20" fmla="*/ 2147483646 w 1075"/>
                <a:gd name="T21" fmla="*/ 2147483646 h 1833"/>
                <a:gd name="T22" fmla="*/ 2147483646 w 1075"/>
                <a:gd name="T23" fmla="*/ 2147483646 h 1833"/>
                <a:gd name="T24" fmla="*/ 2147483646 w 1075"/>
                <a:gd name="T25" fmla="*/ 2147483646 h 18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75" h="1833">
                  <a:moveTo>
                    <a:pt x="0" y="0"/>
                  </a:moveTo>
                  <a:cubicBezTo>
                    <a:pt x="30" y="7"/>
                    <a:pt x="64" y="6"/>
                    <a:pt x="90" y="22"/>
                  </a:cubicBezTo>
                  <a:cubicBezTo>
                    <a:pt x="105" y="31"/>
                    <a:pt x="111" y="51"/>
                    <a:pt x="113" y="68"/>
                  </a:cubicBezTo>
                  <a:cubicBezTo>
                    <a:pt x="116" y="97"/>
                    <a:pt x="121" y="387"/>
                    <a:pt x="136" y="464"/>
                  </a:cubicBezTo>
                  <a:cubicBezTo>
                    <a:pt x="153" y="557"/>
                    <a:pt x="265" y="581"/>
                    <a:pt x="339" y="600"/>
                  </a:cubicBezTo>
                  <a:cubicBezTo>
                    <a:pt x="385" y="669"/>
                    <a:pt x="391" y="757"/>
                    <a:pt x="407" y="837"/>
                  </a:cubicBezTo>
                  <a:cubicBezTo>
                    <a:pt x="411" y="920"/>
                    <a:pt x="400" y="1005"/>
                    <a:pt x="419" y="1086"/>
                  </a:cubicBezTo>
                  <a:cubicBezTo>
                    <a:pt x="446" y="1203"/>
                    <a:pt x="592" y="1244"/>
                    <a:pt x="690" y="1256"/>
                  </a:cubicBezTo>
                  <a:cubicBezTo>
                    <a:pt x="722" y="1319"/>
                    <a:pt x="730" y="1477"/>
                    <a:pt x="747" y="1505"/>
                  </a:cubicBezTo>
                  <a:cubicBezTo>
                    <a:pt x="786" y="1570"/>
                    <a:pt x="866" y="1574"/>
                    <a:pt x="928" y="1584"/>
                  </a:cubicBezTo>
                  <a:cubicBezTo>
                    <a:pt x="951" y="1618"/>
                    <a:pt x="969" y="1656"/>
                    <a:pt x="996" y="1686"/>
                  </a:cubicBezTo>
                  <a:cubicBezTo>
                    <a:pt x="1004" y="1695"/>
                    <a:pt x="1023" y="1689"/>
                    <a:pt x="1030" y="1698"/>
                  </a:cubicBezTo>
                  <a:cubicBezTo>
                    <a:pt x="1058" y="1734"/>
                    <a:pt x="1041" y="1799"/>
                    <a:pt x="1075" y="1833"/>
                  </a:cubicBezTo>
                </a:path>
              </a:pathLst>
            </a:custGeom>
            <a:noFill/>
            <a:ln w="38100" cmpd="sng">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Roboto" panose="02000000000000000000" pitchFamily="2" charset="0"/>
                <a:ea typeface="Roboto" panose="02000000000000000000" pitchFamily="2" charset="0"/>
              </a:endParaRPr>
            </a:p>
          </p:txBody>
        </p:sp>
        <p:sp>
          <p:nvSpPr>
            <p:cNvPr id="56" name="Freeform 22">
              <a:extLst>
                <a:ext uri="{FF2B5EF4-FFF2-40B4-BE49-F238E27FC236}">
                  <a16:creationId xmlns:a16="http://schemas.microsoft.com/office/drawing/2014/main" id="{FC5CCD04-6F65-18AB-680B-0CA91D229FBE}"/>
                </a:ext>
              </a:extLst>
            </p:cNvPr>
            <p:cNvSpPr>
              <a:spLocks/>
            </p:cNvSpPr>
            <p:nvPr/>
          </p:nvSpPr>
          <p:spPr bwMode="auto">
            <a:xfrm>
              <a:off x="1903413" y="1835150"/>
              <a:ext cx="906462" cy="941388"/>
            </a:xfrm>
            <a:custGeom>
              <a:avLst/>
              <a:gdLst>
                <a:gd name="T0" fmla="*/ 2147483646 w 565"/>
                <a:gd name="T1" fmla="*/ 0 h 702"/>
                <a:gd name="T2" fmla="*/ 2147483646 w 565"/>
                <a:gd name="T3" fmla="*/ 2147483646 h 702"/>
                <a:gd name="T4" fmla="*/ 2147483646 w 565"/>
                <a:gd name="T5" fmla="*/ 2147483646 h 702"/>
                <a:gd name="T6" fmla="*/ 2147483646 w 565"/>
                <a:gd name="T7" fmla="*/ 2147483646 h 702"/>
                <a:gd name="T8" fmla="*/ 2147483646 w 565"/>
                <a:gd name="T9" fmla="*/ 2147483646 h 702"/>
                <a:gd name="T10" fmla="*/ 2147483646 w 565"/>
                <a:gd name="T11" fmla="*/ 2147483646 h 702"/>
                <a:gd name="T12" fmla="*/ 2147483646 w 565"/>
                <a:gd name="T13" fmla="*/ 2147483646 h 702"/>
                <a:gd name="T14" fmla="*/ 2147483646 w 565"/>
                <a:gd name="T15" fmla="*/ 2147483646 h 702"/>
                <a:gd name="T16" fmla="*/ 2147483646 w 565"/>
                <a:gd name="T17" fmla="*/ 2147483646 h 7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5" h="702">
                  <a:moveTo>
                    <a:pt x="10" y="0"/>
                  </a:moveTo>
                  <a:cubicBezTo>
                    <a:pt x="37" y="76"/>
                    <a:pt x="0" y="0"/>
                    <a:pt x="56" y="45"/>
                  </a:cubicBezTo>
                  <a:cubicBezTo>
                    <a:pt x="67" y="53"/>
                    <a:pt x="70" y="68"/>
                    <a:pt x="78" y="79"/>
                  </a:cubicBezTo>
                  <a:cubicBezTo>
                    <a:pt x="169" y="198"/>
                    <a:pt x="131" y="168"/>
                    <a:pt x="203" y="215"/>
                  </a:cubicBezTo>
                  <a:cubicBezTo>
                    <a:pt x="324" y="396"/>
                    <a:pt x="260" y="347"/>
                    <a:pt x="350" y="408"/>
                  </a:cubicBezTo>
                  <a:cubicBezTo>
                    <a:pt x="393" y="472"/>
                    <a:pt x="350" y="572"/>
                    <a:pt x="395" y="634"/>
                  </a:cubicBezTo>
                  <a:cubicBezTo>
                    <a:pt x="420" y="668"/>
                    <a:pt x="478" y="641"/>
                    <a:pt x="520" y="645"/>
                  </a:cubicBezTo>
                  <a:cubicBezTo>
                    <a:pt x="524" y="656"/>
                    <a:pt x="524" y="670"/>
                    <a:pt x="531" y="679"/>
                  </a:cubicBezTo>
                  <a:cubicBezTo>
                    <a:pt x="539" y="690"/>
                    <a:pt x="565" y="702"/>
                    <a:pt x="565" y="702"/>
                  </a:cubicBezTo>
                </a:path>
              </a:pathLst>
            </a:custGeom>
            <a:noFill/>
            <a:ln w="38100" cmpd="sng">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Roboto" panose="02000000000000000000" pitchFamily="2" charset="0"/>
                <a:ea typeface="Roboto" panose="02000000000000000000" pitchFamily="2" charset="0"/>
              </a:endParaRPr>
            </a:p>
          </p:txBody>
        </p:sp>
        <p:sp>
          <p:nvSpPr>
            <p:cNvPr id="57" name="Text Box 23">
              <a:extLst>
                <a:ext uri="{FF2B5EF4-FFF2-40B4-BE49-F238E27FC236}">
                  <a16:creationId xmlns:a16="http://schemas.microsoft.com/office/drawing/2014/main" id="{2FC571D6-92CC-D8A1-773B-45F10C474807}"/>
                </a:ext>
              </a:extLst>
            </p:cNvPr>
            <p:cNvSpPr txBox="1">
              <a:spLocks noChangeArrowheads="1"/>
            </p:cNvSpPr>
            <p:nvPr/>
          </p:nvSpPr>
          <p:spPr bwMode="auto">
            <a:xfrm>
              <a:off x="2716213" y="1579563"/>
              <a:ext cx="2386012" cy="36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600" dirty="0">
                  <a:latin typeface="Roboto" panose="02000000000000000000" pitchFamily="2" charset="0"/>
                  <a:ea typeface="Roboto" panose="02000000000000000000" pitchFamily="2" charset="0"/>
                </a:rPr>
                <a:t>Inventory Curve</a:t>
              </a:r>
            </a:p>
          </p:txBody>
        </p:sp>
        <p:sp>
          <p:nvSpPr>
            <p:cNvPr id="58" name="Line 24">
              <a:extLst>
                <a:ext uri="{FF2B5EF4-FFF2-40B4-BE49-F238E27FC236}">
                  <a16:creationId xmlns:a16="http://schemas.microsoft.com/office/drawing/2014/main" id="{2A943BD8-DF16-7829-4C91-54DB5A0A88B2}"/>
                </a:ext>
              </a:extLst>
            </p:cNvPr>
            <p:cNvSpPr>
              <a:spLocks noChangeShapeType="1"/>
            </p:cNvSpPr>
            <p:nvPr/>
          </p:nvSpPr>
          <p:spPr bwMode="auto">
            <a:xfrm flipH="1">
              <a:off x="2357438" y="1855788"/>
              <a:ext cx="382587" cy="279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9" name="Rectangle 25">
              <a:extLst>
                <a:ext uri="{FF2B5EF4-FFF2-40B4-BE49-F238E27FC236}">
                  <a16:creationId xmlns:a16="http://schemas.microsoft.com/office/drawing/2014/main" id="{4FF4D4BC-76E3-95E9-BD41-549373AEA605}"/>
                </a:ext>
              </a:extLst>
            </p:cNvPr>
            <p:cNvSpPr>
              <a:spLocks noChangeArrowheads="1"/>
            </p:cNvSpPr>
            <p:nvPr/>
          </p:nvSpPr>
          <p:spPr bwMode="auto">
            <a:xfrm>
              <a:off x="2843213" y="5310188"/>
              <a:ext cx="1636712" cy="5746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7682717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Kanban Calculations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the “Set-up Wheel”</a:t>
            </a:r>
          </a:p>
          <a:p>
            <a:r>
              <a:rPr lang="en-US" sz="2400" dirty="0"/>
              <a:t>Define Transport Lead Time and Production Lead Time</a:t>
            </a:r>
          </a:p>
          <a:p>
            <a:r>
              <a:rPr lang="en-US" sz="2400" dirty="0"/>
              <a:t>Calculate minutes available for changeover and lead time</a:t>
            </a:r>
          </a:p>
          <a:p>
            <a:r>
              <a:rPr lang="en-US" sz="2400" dirty="0"/>
              <a:t>Determine the impact that changeover has on lead time</a:t>
            </a:r>
          </a:p>
          <a:p>
            <a:r>
              <a:rPr lang="en-US" sz="2400" dirty="0"/>
              <a:t>Calculate number of kanban signals needed</a:t>
            </a:r>
          </a:p>
          <a:p>
            <a:r>
              <a:rPr lang="en-US" sz="2400" dirty="0"/>
              <a:t>Identify how to perform a Kanban Data Analysis and ABC Analysis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Kanban Calculations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Types of Kanban &amp; How It Works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Push vs. Pull Systems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1880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Set-up Wheel</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Set-up Wheel</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13" name="Group 12">
            <a:extLst>
              <a:ext uri="{FF2B5EF4-FFF2-40B4-BE49-F238E27FC236}">
                <a16:creationId xmlns:a16="http://schemas.microsoft.com/office/drawing/2014/main" id="{FDB0EBAE-D458-D58C-899E-4F2DC285E99B}"/>
              </a:ext>
            </a:extLst>
          </p:cNvPr>
          <p:cNvGrpSpPr/>
          <p:nvPr/>
        </p:nvGrpSpPr>
        <p:grpSpPr>
          <a:xfrm>
            <a:off x="6973630" y="2068831"/>
            <a:ext cx="4730691" cy="4108132"/>
            <a:chOff x="6798849" y="2356803"/>
            <a:chExt cx="3378200"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What is it?</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Production Lead Time </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 time it takes to run (produce) all parts through a piece of equipment base upon demand and changeover, and available time on equipment</a:t>
              </a:r>
            </a:p>
          </p:txBody>
        </p: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Is based on a production set up wheel which determines lead time through equipment</a:t>
              </a:r>
            </a:p>
            <a:p>
              <a:pPr>
                <a:spcBef>
                  <a:spcPct val="30000"/>
                </a:spcBef>
                <a:spcAft>
                  <a:spcPct val="0"/>
                </a:spcAft>
                <a:buClr>
                  <a:schemeClr val="tx1"/>
                </a:buClr>
                <a:buFont typeface="Arial" panose="020B0604020202020204" pitchFamily="34" charset="0"/>
                <a:buChar char="•"/>
              </a:pPr>
              <a:endParaRPr lang="en-US" altLang="en-US" sz="1800" dirty="0">
                <a:latin typeface="Roboto" panose="02000000000000000000" pitchFamily="2" charset="0"/>
                <a:ea typeface="Roboto" panose="02000000000000000000" pitchFamily="2" charset="0"/>
              </a:endParaRPr>
            </a:p>
          </p:txBody>
        </p:sp>
      </p:grpSp>
      <p:grpSp>
        <p:nvGrpSpPr>
          <p:cNvPr id="23" name="Group 22">
            <a:extLst>
              <a:ext uri="{FF2B5EF4-FFF2-40B4-BE49-F238E27FC236}">
                <a16:creationId xmlns:a16="http://schemas.microsoft.com/office/drawing/2014/main" id="{B7CCD446-AD78-5A3F-62F2-FF13CDAB6059}"/>
              </a:ext>
            </a:extLst>
          </p:cNvPr>
          <p:cNvGrpSpPr/>
          <p:nvPr/>
        </p:nvGrpSpPr>
        <p:grpSpPr>
          <a:xfrm>
            <a:off x="838200" y="297639"/>
            <a:ext cx="4770120" cy="301303"/>
            <a:chOff x="838200" y="297639"/>
            <a:chExt cx="4770120" cy="301303"/>
          </a:xfrm>
        </p:grpSpPr>
        <p:grpSp>
          <p:nvGrpSpPr>
            <p:cNvPr id="24" name="Group 23">
              <a:extLst>
                <a:ext uri="{FF2B5EF4-FFF2-40B4-BE49-F238E27FC236}">
                  <a16:creationId xmlns:a16="http://schemas.microsoft.com/office/drawing/2014/main" id="{8CD10C2E-0523-42F1-4F0B-22ADD6086BB7}"/>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0A62F20B-84EB-15A0-4708-7A07B1F2EFF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F4573A6A-5486-A276-7978-DB82AA642356}"/>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870BE3B-6F01-B0ED-A879-C2EB9DF3BBE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E96DC2C2-9717-9D64-C6A4-B0A3D6B181A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6B40A492-5A47-29A5-2480-D440F9B8049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3DA79A17-589E-9F3F-CFF5-6D0044FCB260}"/>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grpSp>
        <p:nvGrpSpPr>
          <p:cNvPr id="79" name="Group 78">
            <a:extLst>
              <a:ext uri="{FF2B5EF4-FFF2-40B4-BE49-F238E27FC236}">
                <a16:creationId xmlns:a16="http://schemas.microsoft.com/office/drawing/2014/main" id="{05A24E54-9FB5-8A9E-2905-5355C469BE3A}"/>
              </a:ext>
            </a:extLst>
          </p:cNvPr>
          <p:cNvGrpSpPr/>
          <p:nvPr/>
        </p:nvGrpSpPr>
        <p:grpSpPr>
          <a:xfrm>
            <a:off x="1681958" y="2325358"/>
            <a:ext cx="3217460" cy="3829468"/>
            <a:chOff x="1423988" y="2209738"/>
            <a:chExt cx="2362200" cy="2811525"/>
          </a:xfrm>
        </p:grpSpPr>
        <p:grpSp>
          <p:nvGrpSpPr>
            <p:cNvPr id="19" name="Group 4">
              <a:extLst>
                <a:ext uri="{FF2B5EF4-FFF2-40B4-BE49-F238E27FC236}">
                  <a16:creationId xmlns:a16="http://schemas.microsoft.com/office/drawing/2014/main" id="{E625F875-09A2-F7C2-62DE-C8C4B7E83690}"/>
                </a:ext>
              </a:extLst>
            </p:cNvPr>
            <p:cNvGrpSpPr>
              <a:grpSpLocks/>
            </p:cNvGrpSpPr>
            <p:nvPr/>
          </p:nvGrpSpPr>
          <p:grpSpPr bwMode="auto">
            <a:xfrm rot="726349">
              <a:off x="1423988" y="2689225"/>
              <a:ext cx="2354262" cy="2332038"/>
              <a:chOff x="1548" y="1194"/>
              <a:chExt cx="2762" cy="2762"/>
            </a:xfrm>
          </p:grpSpPr>
          <p:sp>
            <p:nvSpPr>
              <p:cNvPr id="20" name="Arc 5">
                <a:extLst>
                  <a:ext uri="{FF2B5EF4-FFF2-40B4-BE49-F238E27FC236}">
                    <a16:creationId xmlns:a16="http://schemas.microsoft.com/office/drawing/2014/main" id="{FF27E19F-55A8-94D4-7E7A-6B7DD347F834}"/>
                  </a:ext>
                </a:extLst>
              </p:cNvPr>
              <p:cNvSpPr>
                <a:spLocks/>
              </p:cNvSpPr>
              <p:nvPr/>
            </p:nvSpPr>
            <p:spPr bwMode="auto">
              <a:xfrm>
                <a:off x="2929" y="1194"/>
                <a:ext cx="1313" cy="1381"/>
              </a:xfrm>
              <a:custGeom>
                <a:avLst/>
                <a:gdLst>
                  <a:gd name="T0" fmla="*/ 0 w 20543"/>
                  <a:gd name="T1" fmla="*/ 0 h 21600"/>
                  <a:gd name="T2" fmla="*/ 0 w 20543"/>
                  <a:gd name="T3" fmla="*/ 0 h 21600"/>
                  <a:gd name="T4" fmla="*/ 0 w 20543"/>
                  <a:gd name="T5" fmla="*/ 0 h 21600"/>
                  <a:gd name="T6" fmla="*/ 0 60000 65536"/>
                  <a:gd name="T7" fmla="*/ 0 60000 65536"/>
                  <a:gd name="T8" fmla="*/ 0 60000 65536"/>
                </a:gdLst>
                <a:ahLst/>
                <a:cxnLst>
                  <a:cxn ang="T6">
                    <a:pos x="T0" y="T1"/>
                  </a:cxn>
                  <a:cxn ang="T7">
                    <a:pos x="T2" y="T3"/>
                  </a:cxn>
                  <a:cxn ang="T8">
                    <a:pos x="T4" y="T5"/>
                  </a:cxn>
                </a:cxnLst>
                <a:rect l="0" t="0" r="r" b="b"/>
                <a:pathLst>
                  <a:path w="20543" h="21600" fill="none" extrusionOk="0">
                    <a:moveTo>
                      <a:pt x="-1" y="0"/>
                    </a:moveTo>
                    <a:cubicBezTo>
                      <a:pt x="9357" y="0"/>
                      <a:pt x="17650" y="6025"/>
                      <a:pt x="20542" y="14924"/>
                    </a:cubicBezTo>
                  </a:path>
                  <a:path w="20543" h="21600" stroke="0" extrusionOk="0">
                    <a:moveTo>
                      <a:pt x="-1" y="0"/>
                    </a:moveTo>
                    <a:cubicBezTo>
                      <a:pt x="9357" y="0"/>
                      <a:pt x="17650" y="6025"/>
                      <a:pt x="20542" y="14924"/>
                    </a:cubicBezTo>
                    <a:lnTo>
                      <a:pt x="0" y="21600"/>
                    </a:lnTo>
                    <a:lnTo>
                      <a:pt x="-1" y="0"/>
                    </a:lnTo>
                    <a:close/>
                  </a:path>
                </a:pathLst>
              </a:custGeom>
              <a:solidFill>
                <a:schemeClr val="accent3"/>
              </a:solidFill>
              <a:ln w="9525">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21" name="Arc 6">
                <a:extLst>
                  <a:ext uri="{FF2B5EF4-FFF2-40B4-BE49-F238E27FC236}">
                    <a16:creationId xmlns:a16="http://schemas.microsoft.com/office/drawing/2014/main" id="{4FEF2F20-432D-D65B-75FA-D4D2A8A6AC41}"/>
                  </a:ext>
                </a:extLst>
              </p:cNvPr>
              <p:cNvSpPr>
                <a:spLocks/>
              </p:cNvSpPr>
              <p:nvPr/>
            </p:nvSpPr>
            <p:spPr bwMode="auto">
              <a:xfrm>
                <a:off x="2929" y="2148"/>
                <a:ext cx="1381" cy="1544"/>
              </a:xfrm>
              <a:custGeom>
                <a:avLst/>
                <a:gdLst>
                  <a:gd name="T0" fmla="*/ 0 w 21600"/>
                  <a:gd name="T1" fmla="*/ 0 h 24157"/>
                  <a:gd name="T2" fmla="*/ 0 w 21600"/>
                  <a:gd name="T3" fmla="*/ 0 h 24157"/>
                  <a:gd name="T4" fmla="*/ 0 w 21600"/>
                  <a:gd name="T5" fmla="*/ 0 h 24157"/>
                  <a:gd name="T6" fmla="*/ 0 60000 65536"/>
                  <a:gd name="T7" fmla="*/ 0 60000 65536"/>
                  <a:gd name="T8" fmla="*/ 0 60000 65536"/>
                </a:gdLst>
                <a:ahLst/>
                <a:cxnLst>
                  <a:cxn ang="T6">
                    <a:pos x="T0" y="T1"/>
                  </a:cxn>
                  <a:cxn ang="T7">
                    <a:pos x="T2" y="T3"/>
                  </a:cxn>
                  <a:cxn ang="T8">
                    <a:pos x="T4" y="T5"/>
                  </a:cxn>
                </a:cxnLst>
                <a:rect l="0" t="0" r="r" b="b"/>
                <a:pathLst>
                  <a:path w="21600" h="24157" fill="none" extrusionOk="0">
                    <a:moveTo>
                      <a:pt x="20542" y="0"/>
                    </a:moveTo>
                    <a:cubicBezTo>
                      <a:pt x="21243" y="2156"/>
                      <a:pt x="21600" y="4409"/>
                      <a:pt x="21600" y="6676"/>
                    </a:cubicBezTo>
                    <a:cubicBezTo>
                      <a:pt x="21600" y="13593"/>
                      <a:pt x="18286" y="20093"/>
                      <a:pt x="12687" y="24156"/>
                    </a:cubicBezTo>
                  </a:path>
                  <a:path w="21600" h="24157" stroke="0" extrusionOk="0">
                    <a:moveTo>
                      <a:pt x="20542" y="0"/>
                    </a:moveTo>
                    <a:cubicBezTo>
                      <a:pt x="21243" y="2156"/>
                      <a:pt x="21600" y="4409"/>
                      <a:pt x="21600" y="6676"/>
                    </a:cubicBezTo>
                    <a:cubicBezTo>
                      <a:pt x="21600" y="13593"/>
                      <a:pt x="18286" y="20093"/>
                      <a:pt x="12687" y="24156"/>
                    </a:cubicBezTo>
                    <a:lnTo>
                      <a:pt x="0" y="6676"/>
                    </a:lnTo>
                    <a:lnTo>
                      <a:pt x="20542" y="0"/>
                    </a:lnTo>
                    <a:close/>
                  </a:path>
                </a:pathLst>
              </a:custGeom>
              <a:solidFill>
                <a:schemeClr val="bg2"/>
              </a:solidFill>
              <a:ln w="9525">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22" name="Arc 7">
                <a:extLst>
                  <a:ext uri="{FF2B5EF4-FFF2-40B4-BE49-F238E27FC236}">
                    <a16:creationId xmlns:a16="http://schemas.microsoft.com/office/drawing/2014/main" id="{83659699-D8BE-F524-13D0-899E98C0A244}"/>
                  </a:ext>
                </a:extLst>
              </p:cNvPr>
              <p:cNvSpPr>
                <a:spLocks/>
              </p:cNvSpPr>
              <p:nvPr/>
            </p:nvSpPr>
            <p:spPr bwMode="auto">
              <a:xfrm>
                <a:off x="2117" y="2575"/>
                <a:ext cx="1622" cy="1381"/>
              </a:xfrm>
              <a:custGeom>
                <a:avLst/>
                <a:gdLst>
                  <a:gd name="T0" fmla="*/ 0 w 25386"/>
                  <a:gd name="T1" fmla="*/ 0 h 21600"/>
                  <a:gd name="T2" fmla="*/ 0 w 25386"/>
                  <a:gd name="T3" fmla="*/ 0 h 21600"/>
                  <a:gd name="T4" fmla="*/ 0 w 25386"/>
                  <a:gd name="T5" fmla="*/ 0 h 21600"/>
                  <a:gd name="T6" fmla="*/ 0 60000 65536"/>
                  <a:gd name="T7" fmla="*/ 0 60000 65536"/>
                  <a:gd name="T8" fmla="*/ 0 60000 65536"/>
                </a:gdLst>
                <a:ahLst/>
                <a:cxnLst>
                  <a:cxn ang="T6">
                    <a:pos x="T0" y="T1"/>
                  </a:cxn>
                  <a:cxn ang="T7">
                    <a:pos x="T2" y="T3"/>
                  </a:cxn>
                  <a:cxn ang="T8">
                    <a:pos x="T4" y="T5"/>
                  </a:cxn>
                </a:cxnLst>
                <a:rect l="0" t="0" r="r" b="b"/>
                <a:pathLst>
                  <a:path w="25386" h="21600" fill="none" extrusionOk="0">
                    <a:moveTo>
                      <a:pt x="25385" y="17480"/>
                    </a:moveTo>
                    <a:cubicBezTo>
                      <a:pt x="21697" y="20158"/>
                      <a:pt x="17255" y="21599"/>
                      <a:pt x="12698" y="21600"/>
                    </a:cubicBezTo>
                    <a:cubicBezTo>
                      <a:pt x="8135" y="21600"/>
                      <a:pt x="3690" y="20155"/>
                      <a:pt x="-1" y="17473"/>
                    </a:cubicBezTo>
                  </a:path>
                  <a:path w="25386" h="21600" stroke="0" extrusionOk="0">
                    <a:moveTo>
                      <a:pt x="25385" y="17480"/>
                    </a:moveTo>
                    <a:cubicBezTo>
                      <a:pt x="21697" y="20158"/>
                      <a:pt x="17255" y="21599"/>
                      <a:pt x="12698" y="21600"/>
                    </a:cubicBezTo>
                    <a:cubicBezTo>
                      <a:pt x="8135" y="21600"/>
                      <a:pt x="3690" y="20155"/>
                      <a:pt x="-1" y="17473"/>
                    </a:cubicBezTo>
                    <a:lnTo>
                      <a:pt x="12698" y="0"/>
                    </a:lnTo>
                    <a:lnTo>
                      <a:pt x="25385" y="17480"/>
                    </a:lnTo>
                    <a:close/>
                  </a:path>
                </a:pathLst>
              </a:custGeom>
              <a:solidFill>
                <a:schemeClr val="accent2"/>
              </a:solidFill>
              <a:ln w="9525">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70" name="Arc 8">
                <a:extLst>
                  <a:ext uri="{FF2B5EF4-FFF2-40B4-BE49-F238E27FC236}">
                    <a16:creationId xmlns:a16="http://schemas.microsoft.com/office/drawing/2014/main" id="{061BCCD0-4212-C2B8-CDE4-9BFEF6E12F6D}"/>
                  </a:ext>
                </a:extLst>
              </p:cNvPr>
              <p:cNvSpPr>
                <a:spLocks/>
              </p:cNvSpPr>
              <p:nvPr/>
            </p:nvSpPr>
            <p:spPr bwMode="auto">
              <a:xfrm>
                <a:off x="1548" y="2149"/>
                <a:ext cx="1381" cy="1543"/>
              </a:xfrm>
              <a:custGeom>
                <a:avLst/>
                <a:gdLst>
                  <a:gd name="T0" fmla="*/ 0 w 21600"/>
                  <a:gd name="T1" fmla="*/ 0 h 24144"/>
                  <a:gd name="T2" fmla="*/ 0 w 21600"/>
                  <a:gd name="T3" fmla="*/ 0 h 24144"/>
                  <a:gd name="T4" fmla="*/ 0 w 21600"/>
                  <a:gd name="T5" fmla="*/ 0 h 24144"/>
                  <a:gd name="T6" fmla="*/ 0 60000 65536"/>
                  <a:gd name="T7" fmla="*/ 0 60000 65536"/>
                  <a:gd name="T8" fmla="*/ 0 60000 65536"/>
                </a:gdLst>
                <a:ahLst/>
                <a:cxnLst>
                  <a:cxn ang="T6">
                    <a:pos x="T0" y="T1"/>
                  </a:cxn>
                  <a:cxn ang="T7">
                    <a:pos x="T2" y="T3"/>
                  </a:cxn>
                  <a:cxn ang="T8">
                    <a:pos x="T4" y="T5"/>
                  </a:cxn>
                </a:cxnLst>
                <a:rect l="0" t="0" r="r" b="b"/>
                <a:pathLst>
                  <a:path w="21600" h="24144" fill="none" extrusionOk="0">
                    <a:moveTo>
                      <a:pt x="8901" y="24144"/>
                    </a:moveTo>
                    <a:cubicBezTo>
                      <a:pt x="3309" y="20080"/>
                      <a:pt x="0" y="13584"/>
                      <a:pt x="0" y="6671"/>
                    </a:cubicBezTo>
                    <a:cubicBezTo>
                      <a:pt x="-1" y="4405"/>
                      <a:pt x="356" y="2154"/>
                      <a:pt x="1055" y="-1"/>
                    </a:cubicBezTo>
                  </a:path>
                  <a:path w="21600" h="24144" stroke="0" extrusionOk="0">
                    <a:moveTo>
                      <a:pt x="8901" y="24144"/>
                    </a:moveTo>
                    <a:cubicBezTo>
                      <a:pt x="3309" y="20080"/>
                      <a:pt x="0" y="13584"/>
                      <a:pt x="0" y="6671"/>
                    </a:cubicBezTo>
                    <a:cubicBezTo>
                      <a:pt x="-1" y="4405"/>
                      <a:pt x="356" y="2154"/>
                      <a:pt x="1055" y="-1"/>
                    </a:cubicBezTo>
                    <a:lnTo>
                      <a:pt x="21600" y="6671"/>
                    </a:lnTo>
                    <a:lnTo>
                      <a:pt x="8901" y="24144"/>
                    </a:lnTo>
                    <a:close/>
                  </a:path>
                </a:pathLst>
              </a:custGeom>
              <a:solidFill>
                <a:schemeClr val="accent5"/>
              </a:solidFill>
              <a:ln w="9525">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71" name="Arc 9">
                <a:extLst>
                  <a:ext uri="{FF2B5EF4-FFF2-40B4-BE49-F238E27FC236}">
                    <a16:creationId xmlns:a16="http://schemas.microsoft.com/office/drawing/2014/main" id="{CA4B4C3E-7112-A862-5D89-5352C346DF91}"/>
                  </a:ext>
                </a:extLst>
              </p:cNvPr>
              <p:cNvSpPr>
                <a:spLocks/>
              </p:cNvSpPr>
              <p:nvPr/>
            </p:nvSpPr>
            <p:spPr bwMode="auto">
              <a:xfrm>
                <a:off x="1616" y="1194"/>
                <a:ext cx="1313" cy="1381"/>
              </a:xfrm>
              <a:custGeom>
                <a:avLst/>
                <a:gdLst>
                  <a:gd name="T0" fmla="*/ 0 w 20544"/>
                  <a:gd name="T1" fmla="*/ 0 h 21600"/>
                  <a:gd name="T2" fmla="*/ 0 w 20544"/>
                  <a:gd name="T3" fmla="*/ 0 h 21600"/>
                  <a:gd name="T4" fmla="*/ 0 w 20544"/>
                  <a:gd name="T5" fmla="*/ 0 h 21600"/>
                  <a:gd name="T6" fmla="*/ 0 60000 65536"/>
                  <a:gd name="T7" fmla="*/ 0 60000 65536"/>
                  <a:gd name="T8" fmla="*/ 0 60000 65536"/>
                </a:gdLst>
                <a:ahLst/>
                <a:cxnLst>
                  <a:cxn ang="T6">
                    <a:pos x="T0" y="T1"/>
                  </a:cxn>
                  <a:cxn ang="T7">
                    <a:pos x="T2" y="T3"/>
                  </a:cxn>
                  <a:cxn ang="T8">
                    <a:pos x="T4" y="T5"/>
                  </a:cxn>
                </a:cxnLst>
                <a:rect l="0" t="0" r="r" b="b"/>
                <a:pathLst>
                  <a:path w="20544" h="21600" fill="none" extrusionOk="0">
                    <a:moveTo>
                      <a:pt x="-1" y="14928"/>
                    </a:moveTo>
                    <a:cubicBezTo>
                      <a:pt x="2890" y="6027"/>
                      <a:pt x="11184" y="0"/>
                      <a:pt x="20543" y="0"/>
                    </a:cubicBezTo>
                  </a:path>
                  <a:path w="20544" h="21600" stroke="0" extrusionOk="0">
                    <a:moveTo>
                      <a:pt x="-1" y="14928"/>
                    </a:moveTo>
                    <a:cubicBezTo>
                      <a:pt x="2890" y="6027"/>
                      <a:pt x="11184" y="0"/>
                      <a:pt x="20543" y="0"/>
                    </a:cubicBezTo>
                    <a:lnTo>
                      <a:pt x="20544" y="21600"/>
                    </a:lnTo>
                    <a:lnTo>
                      <a:pt x="-1" y="14928"/>
                    </a:lnTo>
                    <a:close/>
                  </a:path>
                </a:pathLst>
              </a:custGeom>
              <a:solidFill>
                <a:schemeClr val="accent1"/>
              </a:solidFill>
              <a:ln w="9525">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sp>
          <p:nvSpPr>
            <p:cNvPr id="72" name="AutoShape 10">
              <a:extLst>
                <a:ext uri="{FF2B5EF4-FFF2-40B4-BE49-F238E27FC236}">
                  <a16:creationId xmlns:a16="http://schemas.microsoft.com/office/drawing/2014/main" id="{0BF96185-1467-452A-E180-A1EF32FACB5B}"/>
                </a:ext>
              </a:extLst>
            </p:cNvPr>
            <p:cNvSpPr>
              <a:spLocks noChangeArrowheads="1"/>
            </p:cNvSpPr>
            <p:nvPr/>
          </p:nvSpPr>
          <p:spPr bwMode="auto">
            <a:xfrm flipV="1">
              <a:off x="2122488" y="2513013"/>
              <a:ext cx="939800" cy="688975"/>
            </a:xfrm>
            <a:prstGeom prst="triangle">
              <a:avLst>
                <a:gd name="adj" fmla="val 50000"/>
              </a:avLst>
            </a:prstGeom>
            <a:solidFill>
              <a:schemeClr val="tx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3" name="Text Box 11">
              <a:extLst>
                <a:ext uri="{FF2B5EF4-FFF2-40B4-BE49-F238E27FC236}">
                  <a16:creationId xmlns:a16="http://schemas.microsoft.com/office/drawing/2014/main" id="{7DA9492F-A5F8-55A4-1EE8-F79011933F57}"/>
                </a:ext>
              </a:extLst>
            </p:cNvPr>
            <p:cNvSpPr txBox="1">
              <a:spLocks noChangeArrowheads="1"/>
            </p:cNvSpPr>
            <p:nvPr/>
          </p:nvSpPr>
          <p:spPr bwMode="auto">
            <a:xfrm>
              <a:off x="1782763" y="3198813"/>
              <a:ext cx="1022350" cy="27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Part A</a:t>
              </a:r>
            </a:p>
          </p:txBody>
        </p:sp>
        <p:sp>
          <p:nvSpPr>
            <p:cNvPr id="74" name="Text Box 12">
              <a:extLst>
                <a:ext uri="{FF2B5EF4-FFF2-40B4-BE49-F238E27FC236}">
                  <a16:creationId xmlns:a16="http://schemas.microsoft.com/office/drawing/2014/main" id="{BCC2B305-34AC-DC37-B6B7-03FAB960B4A0}"/>
                </a:ext>
              </a:extLst>
            </p:cNvPr>
            <p:cNvSpPr txBox="1">
              <a:spLocks noChangeArrowheads="1"/>
            </p:cNvSpPr>
            <p:nvPr/>
          </p:nvSpPr>
          <p:spPr bwMode="auto">
            <a:xfrm>
              <a:off x="2733675" y="3402013"/>
              <a:ext cx="1022350" cy="27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800" b="0">
                  <a:solidFill>
                    <a:schemeClr val="bg1"/>
                  </a:solidFill>
                  <a:latin typeface="Roboto" panose="02000000000000000000" pitchFamily="2" charset="0"/>
                  <a:ea typeface="Roboto" panose="02000000000000000000" pitchFamily="2" charset="0"/>
                </a:rPr>
                <a:t>Part E</a:t>
              </a:r>
            </a:p>
          </p:txBody>
        </p:sp>
        <p:sp>
          <p:nvSpPr>
            <p:cNvPr id="75" name="Text Box 13">
              <a:extLst>
                <a:ext uri="{FF2B5EF4-FFF2-40B4-BE49-F238E27FC236}">
                  <a16:creationId xmlns:a16="http://schemas.microsoft.com/office/drawing/2014/main" id="{5FC80AA8-6DE5-25DC-CF91-5BC39D06BB1C}"/>
                </a:ext>
              </a:extLst>
            </p:cNvPr>
            <p:cNvSpPr txBox="1">
              <a:spLocks noChangeArrowheads="1"/>
            </p:cNvSpPr>
            <p:nvPr/>
          </p:nvSpPr>
          <p:spPr bwMode="auto">
            <a:xfrm>
              <a:off x="1465263" y="3805238"/>
              <a:ext cx="1022350" cy="27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800" b="0">
                  <a:solidFill>
                    <a:schemeClr val="bg1"/>
                  </a:solidFill>
                  <a:latin typeface="Roboto" panose="02000000000000000000" pitchFamily="2" charset="0"/>
                  <a:ea typeface="Roboto" panose="02000000000000000000" pitchFamily="2" charset="0"/>
                </a:rPr>
                <a:t>Part B</a:t>
              </a:r>
            </a:p>
          </p:txBody>
        </p:sp>
        <p:sp>
          <p:nvSpPr>
            <p:cNvPr id="76" name="Text Box 14">
              <a:extLst>
                <a:ext uri="{FF2B5EF4-FFF2-40B4-BE49-F238E27FC236}">
                  <a16:creationId xmlns:a16="http://schemas.microsoft.com/office/drawing/2014/main" id="{DD6C4C56-2BD3-F74E-0F03-106215FCEE9B}"/>
                </a:ext>
              </a:extLst>
            </p:cNvPr>
            <p:cNvSpPr txBox="1">
              <a:spLocks noChangeArrowheads="1"/>
            </p:cNvSpPr>
            <p:nvPr/>
          </p:nvSpPr>
          <p:spPr bwMode="auto">
            <a:xfrm>
              <a:off x="1946275" y="4535488"/>
              <a:ext cx="1022350" cy="27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800" b="0">
                  <a:latin typeface="Roboto" panose="02000000000000000000" pitchFamily="2" charset="0"/>
                  <a:ea typeface="Roboto" panose="02000000000000000000" pitchFamily="2" charset="0"/>
                </a:rPr>
                <a:t>Part C</a:t>
              </a:r>
            </a:p>
          </p:txBody>
        </p:sp>
        <p:sp>
          <p:nvSpPr>
            <p:cNvPr id="77" name="Text Box 15">
              <a:extLst>
                <a:ext uri="{FF2B5EF4-FFF2-40B4-BE49-F238E27FC236}">
                  <a16:creationId xmlns:a16="http://schemas.microsoft.com/office/drawing/2014/main" id="{3D8D4A84-1014-70D7-283F-4B1F6A60AAAA}"/>
                </a:ext>
              </a:extLst>
            </p:cNvPr>
            <p:cNvSpPr txBox="1">
              <a:spLocks noChangeArrowheads="1"/>
            </p:cNvSpPr>
            <p:nvPr/>
          </p:nvSpPr>
          <p:spPr bwMode="auto">
            <a:xfrm>
              <a:off x="2763838" y="4090988"/>
              <a:ext cx="1022350" cy="27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800" b="0">
                  <a:latin typeface="Roboto" panose="02000000000000000000" pitchFamily="2" charset="0"/>
                  <a:ea typeface="Roboto" panose="02000000000000000000" pitchFamily="2" charset="0"/>
                </a:rPr>
                <a:t>Part D</a:t>
              </a:r>
            </a:p>
          </p:txBody>
        </p:sp>
        <p:sp>
          <p:nvSpPr>
            <p:cNvPr id="78" name="Text Box 16">
              <a:extLst>
                <a:ext uri="{FF2B5EF4-FFF2-40B4-BE49-F238E27FC236}">
                  <a16:creationId xmlns:a16="http://schemas.microsoft.com/office/drawing/2014/main" id="{E216A70B-FB11-F906-A556-467851FDF697}"/>
                </a:ext>
              </a:extLst>
            </p:cNvPr>
            <p:cNvSpPr txBox="1">
              <a:spLocks noChangeArrowheads="1"/>
            </p:cNvSpPr>
            <p:nvPr/>
          </p:nvSpPr>
          <p:spPr bwMode="auto">
            <a:xfrm>
              <a:off x="1489868" y="2209738"/>
              <a:ext cx="2205038" cy="27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Production</a:t>
              </a:r>
            </a:p>
          </p:txBody>
        </p:sp>
      </p:grpSp>
    </p:spTree>
    <p:extLst>
      <p:ext uri="{BB962C8B-B14F-4D97-AF65-F5344CB8AC3E}">
        <p14:creationId xmlns:p14="http://schemas.microsoft.com/office/powerpoint/2010/main" val="653088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Calculating Lead Time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514350" indent="-514350">
              <a:buFont typeface="+mj-lt"/>
              <a:buAutoNum type="arabicPeriod"/>
            </a:pPr>
            <a:r>
              <a:rPr lang="en-US" dirty="0"/>
              <a:t>Determine daily demand for parts produced by equipment.</a:t>
            </a:r>
          </a:p>
          <a:p>
            <a:pPr marL="514350" indent="-514350">
              <a:buFont typeface="+mj-lt"/>
              <a:buAutoNum type="arabicPeriod"/>
            </a:pPr>
            <a:r>
              <a:rPr lang="en-US" dirty="0"/>
              <a:t>Determine Run Time per part</a:t>
            </a:r>
          </a:p>
          <a:p>
            <a:pPr marL="514350" indent="-514350">
              <a:buFont typeface="+mj-lt"/>
              <a:buAutoNum type="arabicPeriod"/>
            </a:pPr>
            <a:r>
              <a:rPr lang="en-US" dirty="0"/>
              <a:t>Calculate available time on equipment in minutes.</a:t>
            </a:r>
          </a:p>
          <a:p>
            <a:pPr marL="514350" indent="-514350">
              <a:buFont typeface="+mj-lt"/>
              <a:buAutoNum type="arabicPeriod"/>
            </a:pPr>
            <a:r>
              <a:rPr lang="en-US" dirty="0"/>
              <a:t>Calculate minutes available for changeover</a:t>
            </a:r>
          </a:p>
          <a:p>
            <a:pPr marL="514350" indent="-514350">
              <a:buFont typeface="+mj-lt"/>
              <a:buAutoNum type="arabicPeriod"/>
            </a:pPr>
            <a:r>
              <a:rPr lang="en-US" dirty="0"/>
              <a:t>Determine part to part changeover time.</a:t>
            </a:r>
          </a:p>
          <a:p>
            <a:pPr marL="514350" indent="-514350">
              <a:buFont typeface="+mj-lt"/>
              <a:buAutoNum type="arabicPeriod"/>
            </a:pPr>
            <a:r>
              <a:rPr lang="en-US" dirty="0"/>
              <a:t>Determine Lead Time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spTree>
    <p:extLst>
      <p:ext uri="{BB962C8B-B14F-4D97-AF65-F5344CB8AC3E}">
        <p14:creationId xmlns:p14="http://schemas.microsoft.com/office/powerpoint/2010/main" val="3199712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Key Calculations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pPr algn="ctr"/>
            <a:r>
              <a:rPr lang="en-US" dirty="0"/>
              <a:t>Minutes Available for Changeover</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pPr algn="ctr"/>
            <a:r>
              <a:rPr lang="en-US" dirty="0"/>
              <a:t>Lead Time Calculation</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grpSp>
        <p:nvGrpSpPr>
          <p:cNvPr id="7" name="Group 6">
            <a:extLst>
              <a:ext uri="{FF2B5EF4-FFF2-40B4-BE49-F238E27FC236}">
                <a16:creationId xmlns:a16="http://schemas.microsoft.com/office/drawing/2014/main" id="{A6B923BD-00A1-8EC8-E0F9-A3CAD6D02E0A}"/>
              </a:ext>
            </a:extLst>
          </p:cNvPr>
          <p:cNvGrpSpPr/>
          <p:nvPr/>
        </p:nvGrpSpPr>
        <p:grpSpPr>
          <a:xfrm>
            <a:off x="838200" y="297639"/>
            <a:ext cx="4770120" cy="301303"/>
            <a:chOff x="838200" y="297639"/>
            <a:chExt cx="4770120" cy="301303"/>
          </a:xfrm>
        </p:grpSpPr>
        <p:grpSp>
          <p:nvGrpSpPr>
            <p:cNvPr id="9" name="Group 8">
              <a:extLst>
                <a:ext uri="{FF2B5EF4-FFF2-40B4-BE49-F238E27FC236}">
                  <a16:creationId xmlns:a16="http://schemas.microsoft.com/office/drawing/2014/main" id="{4FB178CE-4FC2-3224-AA3F-2027608E704E}"/>
                </a:ext>
              </a:extLst>
            </p:cNvPr>
            <p:cNvGrpSpPr/>
            <p:nvPr/>
          </p:nvGrpSpPr>
          <p:grpSpPr>
            <a:xfrm>
              <a:off x="838200" y="297639"/>
              <a:ext cx="1373842" cy="290657"/>
              <a:chOff x="838200" y="297639"/>
              <a:chExt cx="1373842" cy="290657"/>
            </a:xfrm>
          </p:grpSpPr>
          <p:sp>
            <p:nvSpPr>
              <p:cNvPr id="11" name="AutoShape 9">
                <a:extLst>
                  <a:ext uri="{FF2B5EF4-FFF2-40B4-BE49-F238E27FC236}">
                    <a16:creationId xmlns:a16="http://schemas.microsoft.com/office/drawing/2014/main" id="{CFEFA0BF-5703-60E0-EDCC-C313F988239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B85CADE5-AD74-6367-1C88-7EB12DE9CF44}"/>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16403A98-C9CA-D6E4-3E40-0A66434404B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7AB1FD3A-2182-66F9-1F3A-6B37921D3B7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0">
                  <a:extLst>
                    <a:ext uri="{FF2B5EF4-FFF2-40B4-BE49-F238E27FC236}">
                      <a16:creationId xmlns:a16="http://schemas.microsoft.com/office/drawing/2014/main" id="{9AC78F30-C26E-2A46-F687-E0328F3E54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A45207BD-84A8-C375-397A-B93C2DCE8F2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grpSp>
        <p:nvGrpSpPr>
          <p:cNvPr id="23" name="Group 22">
            <a:extLst>
              <a:ext uri="{FF2B5EF4-FFF2-40B4-BE49-F238E27FC236}">
                <a16:creationId xmlns:a16="http://schemas.microsoft.com/office/drawing/2014/main" id="{E860F043-3F9D-ABAE-BD67-7C28AB838CDC}"/>
              </a:ext>
            </a:extLst>
          </p:cNvPr>
          <p:cNvGrpSpPr/>
          <p:nvPr/>
        </p:nvGrpSpPr>
        <p:grpSpPr>
          <a:xfrm>
            <a:off x="642025" y="3025335"/>
            <a:ext cx="5355550" cy="1327591"/>
            <a:chOff x="226416" y="2976563"/>
            <a:chExt cx="4372227" cy="1327591"/>
          </a:xfrm>
        </p:grpSpPr>
        <p:sp>
          <p:nvSpPr>
            <p:cNvPr id="16" name="Text Box 27">
              <a:extLst>
                <a:ext uri="{FF2B5EF4-FFF2-40B4-BE49-F238E27FC236}">
                  <a16:creationId xmlns:a16="http://schemas.microsoft.com/office/drawing/2014/main" id="{87A515C2-BB21-12C1-49AE-5D36F0ED1DA4}"/>
                </a:ext>
              </a:extLst>
            </p:cNvPr>
            <p:cNvSpPr txBox="1">
              <a:spLocks noChangeArrowheads="1"/>
            </p:cNvSpPr>
            <p:nvPr/>
          </p:nvSpPr>
          <p:spPr bwMode="auto">
            <a:xfrm>
              <a:off x="226416" y="3063875"/>
              <a:ext cx="1568058" cy="1079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Minutes</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Available</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for</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Changeover</a:t>
              </a:r>
            </a:p>
          </p:txBody>
        </p:sp>
        <p:sp>
          <p:nvSpPr>
            <p:cNvPr id="17" name="Text Box 28">
              <a:extLst>
                <a:ext uri="{FF2B5EF4-FFF2-40B4-BE49-F238E27FC236}">
                  <a16:creationId xmlns:a16="http://schemas.microsoft.com/office/drawing/2014/main" id="{32C16185-DC18-AB25-2740-E7D554FB5766}"/>
                </a:ext>
              </a:extLst>
            </p:cNvPr>
            <p:cNvSpPr txBox="1">
              <a:spLocks noChangeArrowheads="1"/>
            </p:cNvSpPr>
            <p:nvPr/>
          </p:nvSpPr>
          <p:spPr bwMode="auto">
            <a:xfrm>
              <a:off x="1784950" y="2978150"/>
              <a:ext cx="1484702" cy="132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Available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Daily Time</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on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Equipment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(mins)</a:t>
              </a:r>
            </a:p>
          </p:txBody>
        </p:sp>
        <p:sp>
          <p:nvSpPr>
            <p:cNvPr id="18" name="Line 29">
              <a:extLst>
                <a:ext uri="{FF2B5EF4-FFF2-40B4-BE49-F238E27FC236}">
                  <a16:creationId xmlns:a16="http://schemas.microsoft.com/office/drawing/2014/main" id="{DCD1BA2D-F3C5-A957-21CA-9111C6C2C1EF}"/>
                </a:ext>
              </a:extLst>
            </p:cNvPr>
            <p:cNvSpPr>
              <a:spLocks noChangeShapeType="1"/>
            </p:cNvSpPr>
            <p:nvPr/>
          </p:nvSpPr>
          <p:spPr bwMode="auto">
            <a:xfrm>
              <a:off x="3133143" y="3575368"/>
              <a:ext cx="203200"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sp>
          <p:nvSpPr>
            <p:cNvPr id="19" name="Text Box 30">
              <a:extLst>
                <a:ext uri="{FF2B5EF4-FFF2-40B4-BE49-F238E27FC236}">
                  <a16:creationId xmlns:a16="http://schemas.microsoft.com/office/drawing/2014/main" id="{16382354-B2FE-1D7D-E17B-77FCC9EC5A44}"/>
                </a:ext>
              </a:extLst>
            </p:cNvPr>
            <p:cNvSpPr txBox="1">
              <a:spLocks noChangeArrowheads="1"/>
            </p:cNvSpPr>
            <p:nvPr/>
          </p:nvSpPr>
          <p:spPr bwMode="auto">
            <a:xfrm>
              <a:off x="3389658" y="2976563"/>
              <a:ext cx="1208985" cy="132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(Daily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Demand</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 x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run time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(min))</a:t>
              </a:r>
            </a:p>
          </p:txBody>
        </p:sp>
        <p:grpSp>
          <p:nvGrpSpPr>
            <p:cNvPr id="20" name="Group 39">
              <a:extLst>
                <a:ext uri="{FF2B5EF4-FFF2-40B4-BE49-F238E27FC236}">
                  <a16:creationId xmlns:a16="http://schemas.microsoft.com/office/drawing/2014/main" id="{022EBB39-59A3-5CC2-6C40-8781915D624B}"/>
                </a:ext>
              </a:extLst>
            </p:cNvPr>
            <p:cNvGrpSpPr>
              <a:grpSpLocks/>
            </p:cNvGrpSpPr>
            <p:nvPr/>
          </p:nvGrpSpPr>
          <p:grpSpPr bwMode="auto">
            <a:xfrm>
              <a:off x="1603378" y="3517900"/>
              <a:ext cx="207963" cy="109537"/>
              <a:chOff x="3758" y="2075"/>
              <a:chExt cx="131" cy="69"/>
            </a:xfrm>
          </p:grpSpPr>
          <p:sp>
            <p:nvSpPr>
              <p:cNvPr id="21" name="Line 40">
                <a:extLst>
                  <a:ext uri="{FF2B5EF4-FFF2-40B4-BE49-F238E27FC236}">
                    <a16:creationId xmlns:a16="http://schemas.microsoft.com/office/drawing/2014/main" id="{B61A3AE4-4B48-2298-6299-226E6A9F0ACC}"/>
                  </a:ext>
                </a:extLst>
              </p:cNvPr>
              <p:cNvSpPr>
                <a:spLocks noChangeShapeType="1"/>
              </p:cNvSpPr>
              <p:nvPr/>
            </p:nvSpPr>
            <p:spPr bwMode="auto">
              <a:xfrm>
                <a:off x="3761" y="2075"/>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sp>
            <p:nvSpPr>
              <p:cNvPr id="22" name="Line 41">
                <a:extLst>
                  <a:ext uri="{FF2B5EF4-FFF2-40B4-BE49-F238E27FC236}">
                    <a16:creationId xmlns:a16="http://schemas.microsoft.com/office/drawing/2014/main" id="{35F1FF28-7BC8-FC98-91F1-46B8EE1D7FF6}"/>
                  </a:ext>
                </a:extLst>
              </p:cNvPr>
              <p:cNvSpPr>
                <a:spLocks noChangeShapeType="1"/>
              </p:cNvSpPr>
              <p:nvPr/>
            </p:nvSpPr>
            <p:spPr bwMode="auto">
              <a:xfrm>
                <a:off x="3758" y="2144"/>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grpSp>
      </p:grpSp>
      <p:grpSp>
        <p:nvGrpSpPr>
          <p:cNvPr id="31" name="Group 30">
            <a:extLst>
              <a:ext uri="{FF2B5EF4-FFF2-40B4-BE49-F238E27FC236}">
                <a16:creationId xmlns:a16="http://schemas.microsoft.com/office/drawing/2014/main" id="{84A5E06A-89DA-192B-D34B-18850CD307F1}"/>
              </a:ext>
            </a:extLst>
          </p:cNvPr>
          <p:cNvGrpSpPr/>
          <p:nvPr/>
        </p:nvGrpSpPr>
        <p:grpSpPr>
          <a:xfrm>
            <a:off x="6144570" y="3025335"/>
            <a:ext cx="5226367" cy="1550635"/>
            <a:chOff x="4632851" y="2600643"/>
            <a:chExt cx="4272881" cy="1550635"/>
          </a:xfrm>
        </p:grpSpPr>
        <p:sp>
          <p:nvSpPr>
            <p:cNvPr id="24" name="Text Box 32">
              <a:extLst>
                <a:ext uri="{FF2B5EF4-FFF2-40B4-BE49-F238E27FC236}">
                  <a16:creationId xmlns:a16="http://schemas.microsoft.com/office/drawing/2014/main" id="{4069562D-00C7-20C8-53F6-34A5B32209D9}"/>
                </a:ext>
              </a:extLst>
            </p:cNvPr>
            <p:cNvSpPr txBox="1">
              <a:spLocks noChangeArrowheads="1"/>
            </p:cNvSpPr>
            <p:nvPr/>
          </p:nvSpPr>
          <p:spPr bwMode="auto">
            <a:xfrm>
              <a:off x="4632851" y="3186748"/>
              <a:ext cx="1394934" cy="58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Lead Time</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 Days</a:t>
              </a:r>
            </a:p>
          </p:txBody>
        </p:sp>
        <p:sp>
          <p:nvSpPr>
            <p:cNvPr id="25" name="Text Box 33">
              <a:extLst>
                <a:ext uri="{FF2B5EF4-FFF2-40B4-BE49-F238E27FC236}">
                  <a16:creationId xmlns:a16="http://schemas.microsoft.com/office/drawing/2014/main" id="{C1F5089C-52A0-CA20-B163-8DE05D4697A0}"/>
                </a:ext>
              </a:extLst>
            </p:cNvPr>
            <p:cNvSpPr txBox="1">
              <a:spLocks noChangeArrowheads="1"/>
            </p:cNvSpPr>
            <p:nvPr/>
          </p:nvSpPr>
          <p:spPr bwMode="auto">
            <a:xfrm>
              <a:off x="6013594" y="2600643"/>
              <a:ext cx="2892138" cy="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 of parts on machine x</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part to part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changeover (mins)</a:t>
              </a:r>
            </a:p>
          </p:txBody>
        </p:sp>
        <p:sp>
          <p:nvSpPr>
            <p:cNvPr id="26" name="Text Box 34">
              <a:extLst>
                <a:ext uri="{FF2B5EF4-FFF2-40B4-BE49-F238E27FC236}">
                  <a16:creationId xmlns:a16="http://schemas.microsoft.com/office/drawing/2014/main" id="{E73889BD-22B2-D202-03DD-1BD78D4C551E}"/>
                </a:ext>
              </a:extLst>
            </p:cNvPr>
            <p:cNvSpPr txBox="1">
              <a:spLocks noChangeArrowheads="1"/>
            </p:cNvSpPr>
            <p:nvPr/>
          </p:nvSpPr>
          <p:spPr bwMode="auto">
            <a:xfrm>
              <a:off x="6269970" y="3563938"/>
              <a:ext cx="2236511" cy="58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Mins available for</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changeover/day</a:t>
              </a:r>
            </a:p>
          </p:txBody>
        </p:sp>
        <p:sp>
          <p:nvSpPr>
            <p:cNvPr id="27" name="Line 35">
              <a:extLst>
                <a:ext uri="{FF2B5EF4-FFF2-40B4-BE49-F238E27FC236}">
                  <a16:creationId xmlns:a16="http://schemas.microsoft.com/office/drawing/2014/main" id="{E1164104-98CB-AA5E-15A1-8B5106E05C24}"/>
                </a:ext>
              </a:extLst>
            </p:cNvPr>
            <p:cNvSpPr>
              <a:spLocks noChangeShapeType="1"/>
            </p:cNvSpPr>
            <p:nvPr/>
          </p:nvSpPr>
          <p:spPr bwMode="auto">
            <a:xfrm>
              <a:off x="6376988" y="3436938"/>
              <a:ext cx="2117725"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grpSp>
          <p:nvGrpSpPr>
            <p:cNvPr id="28" name="Group 38">
              <a:extLst>
                <a:ext uri="{FF2B5EF4-FFF2-40B4-BE49-F238E27FC236}">
                  <a16:creationId xmlns:a16="http://schemas.microsoft.com/office/drawing/2014/main" id="{35CE08B9-55C4-2F4A-965A-99954F2C249A}"/>
                </a:ext>
              </a:extLst>
            </p:cNvPr>
            <p:cNvGrpSpPr>
              <a:grpSpLocks/>
            </p:cNvGrpSpPr>
            <p:nvPr/>
          </p:nvGrpSpPr>
          <p:grpSpPr bwMode="auto">
            <a:xfrm>
              <a:off x="5937250" y="3386138"/>
              <a:ext cx="207963" cy="109537"/>
              <a:chOff x="3740" y="1998"/>
              <a:chExt cx="131" cy="69"/>
            </a:xfrm>
          </p:grpSpPr>
          <p:sp>
            <p:nvSpPr>
              <p:cNvPr id="29" name="Line 36">
                <a:extLst>
                  <a:ext uri="{FF2B5EF4-FFF2-40B4-BE49-F238E27FC236}">
                    <a16:creationId xmlns:a16="http://schemas.microsoft.com/office/drawing/2014/main" id="{6344C062-4DED-1DA2-9C72-F6EE4FFD8E19}"/>
                  </a:ext>
                </a:extLst>
              </p:cNvPr>
              <p:cNvSpPr>
                <a:spLocks noChangeShapeType="1"/>
              </p:cNvSpPr>
              <p:nvPr/>
            </p:nvSpPr>
            <p:spPr bwMode="auto">
              <a:xfrm>
                <a:off x="3743" y="1998"/>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sp>
            <p:nvSpPr>
              <p:cNvPr id="30" name="Line 37">
                <a:extLst>
                  <a:ext uri="{FF2B5EF4-FFF2-40B4-BE49-F238E27FC236}">
                    <a16:creationId xmlns:a16="http://schemas.microsoft.com/office/drawing/2014/main" id="{5F951153-26B0-39FA-43BE-8645D47B2F77}"/>
                  </a:ext>
                </a:extLst>
              </p:cNvPr>
              <p:cNvSpPr>
                <a:spLocks noChangeShapeType="1"/>
              </p:cNvSpPr>
              <p:nvPr/>
            </p:nvSpPr>
            <p:spPr bwMode="auto">
              <a:xfrm>
                <a:off x="3740" y="2067"/>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grpSp>
      </p:grpSp>
      <p:sp>
        <p:nvSpPr>
          <p:cNvPr id="32" name="Rectangle 31">
            <a:extLst>
              <a:ext uri="{FF2B5EF4-FFF2-40B4-BE49-F238E27FC236}">
                <a16:creationId xmlns:a16="http://schemas.microsoft.com/office/drawing/2014/main" id="{0CFDE5E4-23A6-A1A8-E7A4-573A78944A6C}"/>
              </a:ext>
            </a:extLst>
          </p:cNvPr>
          <p:cNvSpPr/>
          <p:nvPr/>
        </p:nvSpPr>
        <p:spPr>
          <a:xfrm>
            <a:off x="793384" y="2599250"/>
            <a:ext cx="5334000" cy="242315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B25605B-0744-5BFB-ED59-AE4A64023E23}"/>
              </a:ext>
            </a:extLst>
          </p:cNvPr>
          <p:cNvSpPr/>
          <p:nvPr/>
        </p:nvSpPr>
        <p:spPr>
          <a:xfrm>
            <a:off x="6215975" y="2599250"/>
            <a:ext cx="5334000" cy="242315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4055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Definitions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4DE117D0-8387-6C7A-4036-86D240A3A183}"/>
              </a:ext>
            </a:extLst>
          </p:cNvPr>
          <p:cNvGrpSpPr/>
          <p:nvPr/>
        </p:nvGrpSpPr>
        <p:grpSpPr>
          <a:xfrm>
            <a:off x="838200" y="297639"/>
            <a:ext cx="4770120" cy="301303"/>
            <a:chOff x="838200" y="297639"/>
            <a:chExt cx="4770120" cy="301303"/>
          </a:xfrm>
        </p:grpSpPr>
        <p:grpSp>
          <p:nvGrpSpPr>
            <p:cNvPr id="5" name="Group 4">
              <a:extLst>
                <a:ext uri="{FF2B5EF4-FFF2-40B4-BE49-F238E27FC236}">
                  <a16:creationId xmlns:a16="http://schemas.microsoft.com/office/drawing/2014/main" id="{7DF6932D-B12B-D795-C50D-F293EFD34AD6}"/>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3A4DB365-9A29-7DEF-88CD-6D9182B0191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325DE65-F39D-17EF-3721-AAA57E61D21E}"/>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2F8F9822-4C5B-AA0C-69B1-532288F2C92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18E414AD-6541-9E78-E718-638F616646D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E8FAA969-BC3A-4B3D-3D43-B08254849AC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E241D76C-B8DA-DEEC-B902-D85829DA689C}"/>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grpSp>
        <p:nvGrpSpPr>
          <p:cNvPr id="62" name="Group 61">
            <a:extLst>
              <a:ext uri="{FF2B5EF4-FFF2-40B4-BE49-F238E27FC236}">
                <a16:creationId xmlns:a16="http://schemas.microsoft.com/office/drawing/2014/main" id="{6B0B133F-56BE-C9A0-44E3-231DA8EEAD3F}"/>
              </a:ext>
            </a:extLst>
          </p:cNvPr>
          <p:cNvGrpSpPr/>
          <p:nvPr/>
        </p:nvGrpSpPr>
        <p:grpSpPr>
          <a:xfrm>
            <a:off x="461963" y="1783429"/>
            <a:ext cx="10705147" cy="4393534"/>
            <a:chOff x="461963" y="1231900"/>
            <a:chExt cx="8364537" cy="4926916"/>
          </a:xfrm>
        </p:grpSpPr>
        <p:sp>
          <p:nvSpPr>
            <p:cNvPr id="37" name="Rectangle 19">
              <a:extLst>
                <a:ext uri="{FF2B5EF4-FFF2-40B4-BE49-F238E27FC236}">
                  <a16:creationId xmlns:a16="http://schemas.microsoft.com/office/drawing/2014/main" id="{2A836830-308C-A22F-FAC3-E8A5769A1495}"/>
                </a:ext>
              </a:extLst>
            </p:cNvPr>
            <p:cNvSpPr>
              <a:spLocks noChangeArrowheads="1"/>
            </p:cNvSpPr>
            <p:nvPr/>
          </p:nvSpPr>
          <p:spPr bwMode="auto">
            <a:xfrm>
              <a:off x="1196975" y="1638300"/>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Transport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 time</a:t>
              </a:r>
            </a:p>
          </p:txBody>
        </p:sp>
        <p:sp>
          <p:nvSpPr>
            <p:cNvPr id="38" name="Rectangle 20">
              <a:extLst>
                <a:ext uri="{FF2B5EF4-FFF2-40B4-BE49-F238E27FC236}">
                  <a16:creationId xmlns:a16="http://schemas.microsoft.com/office/drawing/2014/main" id="{496AE9C5-B980-2E97-11D3-341A36F4F588}"/>
                </a:ext>
              </a:extLst>
            </p:cNvPr>
            <p:cNvSpPr>
              <a:spLocks noChangeArrowheads="1"/>
            </p:cNvSpPr>
            <p:nvPr/>
          </p:nvSpPr>
          <p:spPr bwMode="auto">
            <a:xfrm>
              <a:off x="1196975" y="2362200"/>
              <a:ext cx="1908175" cy="568325"/>
            </a:xfrm>
            <a:prstGeom prst="rect">
              <a:avLst/>
            </a:prstGeom>
            <a:solidFill>
              <a:srgbClr val="DDDDDD"/>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Production</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 time</a:t>
              </a:r>
            </a:p>
          </p:txBody>
        </p:sp>
        <p:sp>
          <p:nvSpPr>
            <p:cNvPr id="39" name="Line 21">
              <a:extLst>
                <a:ext uri="{FF2B5EF4-FFF2-40B4-BE49-F238E27FC236}">
                  <a16:creationId xmlns:a16="http://schemas.microsoft.com/office/drawing/2014/main" id="{29C9CF10-31F7-BCFF-76C2-F1FC6781CD08}"/>
                </a:ext>
              </a:extLst>
            </p:cNvPr>
            <p:cNvSpPr>
              <a:spLocks noChangeShapeType="1"/>
            </p:cNvSpPr>
            <p:nvPr/>
          </p:nvSpPr>
          <p:spPr bwMode="auto">
            <a:xfrm>
              <a:off x="471488" y="2274888"/>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0" name="Line 22">
              <a:extLst>
                <a:ext uri="{FF2B5EF4-FFF2-40B4-BE49-F238E27FC236}">
                  <a16:creationId xmlns:a16="http://schemas.microsoft.com/office/drawing/2014/main" id="{3013C3E4-8735-4AC7-FC32-4D0C77F4A13A}"/>
                </a:ext>
              </a:extLst>
            </p:cNvPr>
            <p:cNvSpPr>
              <a:spLocks noChangeShapeType="1"/>
            </p:cNvSpPr>
            <p:nvPr/>
          </p:nvSpPr>
          <p:spPr bwMode="auto">
            <a:xfrm>
              <a:off x="487363" y="3243263"/>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1" name="Rectangle 23">
              <a:extLst>
                <a:ext uri="{FF2B5EF4-FFF2-40B4-BE49-F238E27FC236}">
                  <a16:creationId xmlns:a16="http://schemas.microsoft.com/office/drawing/2014/main" id="{5CAE9C89-3350-2852-D9D7-1B1A7E77C02B}"/>
                </a:ext>
              </a:extLst>
            </p:cNvPr>
            <p:cNvSpPr>
              <a:spLocks noChangeArrowheads="1"/>
            </p:cNvSpPr>
            <p:nvPr/>
          </p:nvSpPr>
          <p:spPr bwMode="auto">
            <a:xfrm>
              <a:off x="3638550" y="1620838"/>
              <a:ext cx="5159375" cy="56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The amount of time it takes to transport the part from the time the signal is sent to the time the part is received</a:t>
              </a:r>
            </a:p>
          </p:txBody>
        </p:sp>
        <p:sp>
          <p:nvSpPr>
            <p:cNvPr id="42" name="Rectangle 24">
              <a:extLst>
                <a:ext uri="{FF2B5EF4-FFF2-40B4-BE49-F238E27FC236}">
                  <a16:creationId xmlns:a16="http://schemas.microsoft.com/office/drawing/2014/main" id="{BF7AF01F-42FE-BF33-899B-40DEC1695C46}"/>
                </a:ext>
              </a:extLst>
            </p:cNvPr>
            <p:cNvSpPr>
              <a:spLocks noChangeArrowheads="1"/>
            </p:cNvSpPr>
            <p:nvPr/>
          </p:nvSpPr>
          <p:spPr bwMode="auto">
            <a:xfrm>
              <a:off x="3641725" y="2366963"/>
              <a:ext cx="5170488" cy="92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The amount of time it takes to produce the part from the time the signal is sent to the time the part is received</a:t>
              </a:r>
            </a:p>
            <a:p>
              <a:pPr>
                <a:lnSpc>
                  <a:spcPct val="100000"/>
                </a:lnSpc>
                <a:spcBef>
                  <a:spcPct val="45000"/>
                </a:spcBef>
                <a:spcAft>
                  <a:spcPct val="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Includes the transport and production time of the part </a:t>
              </a:r>
            </a:p>
          </p:txBody>
        </p:sp>
        <p:sp>
          <p:nvSpPr>
            <p:cNvPr id="43" name="Line 25">
              <a:extLst>
                <a:ext uri="{FF2B5EF4-FFF2-40B4-BE49-F238E27FC236}">
                  <a16:creationId xmlns:a16="http://schemas.microsoft.com/office/drawing/2014/main" id="{4EEABA0A-824C-607F-DCEA-7E3A4AB940B1}"/>
                </a:ext>
              </a:extLst>
            </p:cNvPr>
            <p:cNvSpPr>
              <a:spLocks noChangeShapeType="1"/>
            </p:cNvSpPr>
            <p:nvPr/>
          </p:nvSpPr>
          <p:spPr bwMode="auto">
            <a:xfrm flipV="1">
              <a:off x="461963" y="1519238"/>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4" name="Text Box 26">
              <a:extLst>
                <a:ext uri="{FF2B5EF4-FFF2-40B4-BE49-F238E27FC236}">
                  <a16:creationId xmlns:a16="http://schemas.microsoft.com/office/drawing/2014/main" id="{032D8B34-E538-9289-4B91-334263EBA9CD}"/>
                </a:ext>
              </a:extLst>
            </p:cNvPr>
            <p:cNvSpPr txBox="1">
              <a:spLocks noChangeArrowheads="1"/>
            </p:cNvSpPr>
            <p:nvPr/>
          </p:nvSpPr>
          <p:spPr bwMode="auto">
            <a:xfrm>
              <a:off x="471488" y="1231900"/>
              <a:ext cx="4322686" cy="35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Points		           	  </a:t>
              </a:r>
              <a:r>
                <a:rPr lang="en-US" altLang="en-US" dirty="0">
                  <a:latin typeface="Roboto" panose="02000000000000000000" pitchFamily="2" charset="0"/>
                  <a:ea typeface="Roboto" panose="02000000000000000000" pitchFamily="2" charset="0"/>
                </a:rPr>
                <a:t>	  </a:t>
              </a:r>
              <a:r>
                <a:rPr lang="en-US" altLang="en-US" sz="1800" dirty="0">
                  <a:latin typeface="Roboto" panose="02000000000000000000" pitchFamily="2" charset="0"/>
                  <a:ea typeface="Roboto" panose="02000000000000000000" pitchFamily="2" charset="0"/>
                </a:rPr>
                <a:t>    Descriptions</a:t>
              </a:r>
            </a:p>
          </p:txBody>
        </p:sp>
        <p:sp>
          <p:nvSpPr>
            <p:cNvPr id="45" name="Oval 27">
              <a:extLst>
                <a:ext uri="{FF2B5EF4-FFF2-40B4-BE49-F238E27FC236}">
                  <a16:creationId xmlns:a16="http://schemas.microsoft.com/office/drawing/2014/main" id="{FA78E3BE-C9A0-63FD-1C3B-A0F19B0CFF57}"/>
                </a:ext>
              </a:extLst>
            </p:cNvPr>
            <p:cNvSpPr>
              <a:spLocks noChangeArrowheads="1"/>
            </p:cNvSpPr>
            <p:nvPr/>
          </p:nvSpPr>
          <p:spPr bwMode="auto">
            <a:xfrm>
              <a:off x="519113" y="1630014"/>
              <a:ext cx="400050" cy="574229"/>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sp>
          <p:nvSpPr>
            <p:cNvPr id="46" name="Oval 28">
              <a:extLst>
                <a:ext uri="{FF2B5EF4-FFF2-40B4-BE49-F238E27FC236}">
                  <a16:creationId xmlns:a16="http://schemas.microsoft.com/office/drawing/2014/main" id="{581B6EF6-1CB5-013A-BFA9-1925BE60801B}"/>
                </a:ext>
              </a:extLst>
            </p:cNvPr>
            <p:cNvSpPr>
              <a:spLocks noChangeArrowheads="1"/>
            </p:cNvSpPr>
            <p:nvPr/>
          </p:nvSpPr>
          <p:spPr bwMode="auto">
            <a:xfrm>
              <a:off x="519113" y="2473324"/>
              <a:ext cx="400050" cy="574229"/>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47" name="Rectangle 20">
              <a:extLst>
                <a:ext uri="{FF2B5EF4-FFF2-40B4-BE49-F238E27FC236}">
                  <a16:creationId xmlns:a16="http://schemas.microsoft.com/office/drawing/2014/main" id="{D8DC5CDC-482E-1CA0-D6DB-A8E0E84C5E98}"/>
                </a:ext>
              </a:extLst>
            </p:cNvPr>
            <p:cNvSpPr>
              <a:spLocks noChangeArrowheads="1"/>
            </p:cNvSpPr>
            <p:nvPr/>
          </p:nvSpPr>
          <p:spPr bwMode="auto">
            <a:xfrm>
              <a:off x="1204913" y="3313113"/>
              <a:ext cx="1908175" cy="5683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Daily Demand</a:t>
              </a:r>
            </a:p>
          </p:txBody>
        </p:sp>
        <p:sp>
          <p:nvSpPr>
            <p:cNvPr id="48" name="Line 22">
              <a:extLst>
                <a:ext uri="{FF2B5EF4-FFF2-40B4-BE49-F238E27FC236}">
                  <a16:creationId xmlns:a16="http://schemas.microsoft.com/office/drawing/2014/main" id="{708A2D08-A897-6C87-AE1D-BFD74202C7DF}"/>
                </a:ext>
              </a:extLst>
            </p:cNvPr>
            <p:cNvSpPr>
              <a:spLocks noChangeShapeType="1"/>
            </p:cNvSpPr>
            <p:nvPr/>
          </p:nvSpPr>
          <p:spPr bwMode="auto">
            <a:xfrm>
              <a:off x="495300" y="3962400"/>
              <a:ext cx="8205788"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Rectangle 24">
              <a:extLst>
                <a:ext uri="{FF2B5EF4-FFF2-40B4-BE49-F238E27FC236}">
                  <a16:creationId xmlns:a16="http://schemas.microsoft.com/office/drawing/2014/main" id="{2B34375D-03C8-AC7E-E255-754F8426326A}"/>
                </a:ext>
              </a:extLst>
            </p:cNvPr>
            <p:cNvSpPr>
              <a:spLocks noChangeArrowheads="1"/>
            </p:cNvSpPr>
            <p:nvPr/>
          </p:nvSpPr>
          <p:spPr bwMode="auto">
            <a:xfrm>
              <a:off x="3649663" y="3317875"/>
              <a:ext cx="5170487" cy="32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Current quantity level for a component </a:t>
              </a:r>
            </a:p>
          </p:txBody>
        </p:sp>
        <p:sp>
          <p:nvSpPr>
            <p:cNvPr id="50" name="Oval 28">
              <a:extLst>
                <a:ext uri="{FF2B5EF4-FFF2-40B4-BE49-F238E27FC236}">
                  <a16:creationId xmlns:a16="http://schemas.microsoft.com/office/drawing/2014/main" id="{F8A5079B-881D-07F1-A290-BC1B5D9F6318}"/>
                </a:ext>
              </a:extLst>
            </p:cNvPr>
            <p:cNvSpPr>
              <a:spLocks noChangeArrowheads="1"/>
            </p:cNvSpPr>
            <p:nvPr/>
          </p:nvSpPr>
          <p:spPr bwMode="auto">
            <a:xfrm>
              <a:off x="527050" y="3337719"/>
              <a:ext cx="400050" cy="574229"/>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a:t>
              </a:r>
            </a:p>
          </p:txBody>
        </p:sp>
        <p:sp>
          <p:nvSpPr>
            <p:cNvPr id="51" name="Rectangle 20">
              <a:extLst>
                <a:ext uri="{FF2B5EF4-FFF2-40B4-BE49-F238E27FC236}">
                  <a16:creationId xmlns:a16="http://schemas.microsoft.com/office/drawing/2014/main" id="{DE1C8876-F134-B347-6ACA-C947BC93699A}"/>
                </a:ext>
              </a:extLst>
            </p:cNvPr>
            <p:cNvSpPr>
              <a:spLocks noChangeArrowheads="1"/>
            </p:cNvSpPr>
            <p:nvPr/>
          </p:nvSpPr>
          <p:spPr bwMode="auto">
            <a:xfrm>
              <a:off x="1211263" y="4046538"/>
              <a:ext cx="1908175" cy="568325"/>
            </a:xfrm>
            <a:prstGeom prst="rect">
              <a:avLst/>
            </a:prstGeom>
            <a:solidFill>
              <a:srgbClr val="DDDDDD"/>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Order Frequency</a:t>
              </a:r>
            </a:p>
          </p:txBody>
        </p:sp>
        <p:sp>
          <p:nvSpPr>
            <p:cNvPr id="52" name="Line 22">
              <a:extLst>
                <a:ext uri="{FF2B5EF4-FFF2-40B4-BE49-F238E27FC236}">
                  <a16:creationId xmlns:a16="http://schemas.microsoft.com/office/drawing/2014/main" id="{C33DCEF7-4081-17D4-A3EE-310E15286002}"/>
                </a:ext>
              </a:extLst>
            </p:cNvPr>
            <p:cNvSpPr>
              <a:spLocks noChangeShapeType="1"/>
            </p:cNvSpPr>
            <p:nvPr/>
          </p:nvSpPr>
          <p:spPr bwMode="auto">
            <a:xfrm>
              <a:off x="501650" y="4695825"/>
              <a:ext cx="8205788"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3" name="Rectangle 24">
              <a:extLst>
                <a:ext uri="{FF2B5EF4-FFF2-40B4-BE49-F238E27FC236}">
                  <a16:creationId xmlns:a16="http://schemas.microsoft.com/office/drawing/2014/main" id="{DD34A26A-DDED-9679-5001-CD384B5672D9}"/>
                </a:ext>
              </a:extLst>
            </p:cNvPr>
            <p:cNvSpPr>
              <a:spLocks noChangeArrowheads="1"/>
            </p:cNvSpPr>
            <p:nvPr/>
          </p:nvSpPr>
          <p:spPr bwMode="auto">
            <a:xfrm>
              <a:off x="3656013" y="4051300"/>
              <a:ext cx="5170487" cy="32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Frequency at which the consuming process will take place</a:t>
              </a:r>
            </a:p>
          </p:txBody>
        </p:sp>
        <p:sp>
          <p:nvSpPr>
            <p:cNvPr id="54" name="Oval 28">
              <a:extLst>
                <a:ext uri="{FF2B5EF4-FFF2-40B4-BE49-F238E27FC236}">
                  <a16:creationId xmlns:a16="http://schemas.microsoft.com/office/drawing/2014/main" id="{1CC4F0BF-7EDD-CAD6-837D-27C80926F5D7}"/>
                </a:ext>
              </a:extLst>
            </p:cNvPr>
            <p:cNvSpPr>
              <a:spLocks noChangeArrowheads="1"/>
            </p:cNvSpPr>
            <p:nvPr/>
          </p:nvSpPr>
          <p:spPr bwMode="auto">
            <a:xfrm>
              <a:off x="533400" y="4056854"/>
              <a:ext cx="400050" cy="574229"/>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a:t>
              </a:r>
            </a:p>
          </p:txBody>
        </p:sp>
        <p:sp>
          <p:nvSpPr>
            <p:cNvPr id="55" name="Rectangle 20">
              <a:extLst>
                <a:ext uri="{FF2B5EF4-FFF2-40B4-BE49-F238E27FC236}">
                  <a16:creationId xmlns:a16="http://schemas.microsoft.com/office/drawing/2014/main" id="{1E600F3E-928C-9211-577C-670F02BE6BF3}"/>
                </a:ext>
              </a:extLst>
            </p:cNvPr>
            <p:cNvSpPr>
              <a:spLocks noChangeArrowheads="1"/>
            </p:cNvSpPr>
            <p:nvPr/>
          </p:nvSpPr>
          <p:spPr bwMode="auto">
            <a:xfrm>
              <a:off x="1211263" y="4772025"/>
              <a:ext cx="1908175" cy="5683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Safety Time</a:t>
              </a:r>
            </a:p>
          </p:txBody>
        </p:sp>
        <p:sp>
          <p:nvSpPr>
            <p:cNvPr id="56" name="Line 22">
              <a:extLst>
                <a:ext uri="{FF2B5EF4-FFF2-40B4-BE49-F238E27FC236}">
                  <a16:creationId xmlns:a16="http://schemas.microsoft.com/office/drawing/2014/main" id="{CF83E3F0-F293-F4E3-9521-155CAA999E01}"/>
                </a:ext>
              </a:extLst>
            </p:cNvPr>
            <p:cNvSpPr>
              <a:spLocks noChangeShapeType="1"/>
            </p:cNvSpPr>
            <p:nvPr/>
          </p:nvSpPr>
          <p:spPr bwMode="auto">
            <a:xfrm>
              <a:off x="501650" y="5407025"/>
              <a:ext cx="8205788"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7" name="Rectangle 24">
              <a:extLst>
                <a:ext uri="{FF2B5EF4-FFF2-40B4-BE49-F238E27FC236}">
                  <a16:creationId xmlns:a16="http://schemas.microsoft.com/office/drawing/2014/main" id="{0021DA0F-011A-7BB7-2BAA-052E5E76DF42}"/>
                </a:ext>
              </a:extLst>
            </p:cNvPr>
            <p:cNvSpPr>
              <a:spLocks noChangeArrowheads="1"/>
            </p:cNvSpPr>
            <p:nvPr/>
          </p:nvSpPr>
          <p:spPr bwMode="auto">
            <a:xfrm>
              <a:off x="3656013" y="4776788"/>
              <a:ext cx="5170487" cy="32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Estimate based on machine downtime, and variation in demand lead time</a:t>
              </a:r>
            </a:p>
          </p:txBody>
        </p:sp>
        <p:sp>
          <p:nvSpPr>
            <p:cNvPr id="58" name="Oval 28">
              <a:extLst>
                <a:ext uri="{FF2B5EF4-FFF2-40B4-BE49-F238E27FC236}">
                  <a16:creationId xmlns:a16="http://schemas.microsoft.com/office/drawing/2014/main" id="{C4D6A7CC-5348-639B-AC33-FB9EF1700AC4}"/>
                </a:ext>
              </a:extLst>
            </p:cNvPr>
            <p:cNvSpPr>
              <a:spLocks noChangeArrowheads="1"/>
            </p:cNvSpPr>
            <p:nvPr/>
          </p:nvSpPr>
          <p:spPr bwMode="auto">
            <a:xfrm>
              <a:off x="533400" y="4782156"/>
              <a:ext cx="400050" cy="574229"/>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5</a:t>
              </a:r>
            </a:p>
          </p:txBody>
        </p:sp>
        <p:sp>
          <p:nvSpPr>
            <p:cNvPr id="59" name="Rectangle 20">
              <a:extLst>
                <a:ext uri="{FF2B5EF4-FFF2-40B4-BE49-F238E27FC236}">
                  <a16:creationId xmlns:a16="http://schemas.microsoft.com/office/drawing/2014/main" id="{A4CFD827-8A90-8AEA-C3A1-430EFBEA6549}"/>
                </a:ext>
              </a:extLst>
            </p:cNvPr>
            <p:cNvSpPr>
              <a:spLocks noChangeArrowheads="1"/>
            </p:cNvSpPr>
            <p:nvPr/>
          </p:nvSpPr>
          <p:spPr bwMode="auto">
            <a:xfrm>
              <a:off x="1204913" y="5475288"/>
              <a:ext cx="1908175" cy="568325"/>
            </a:xfrm>
            <a:prstGeom prst="rect">
              <a:avLst/>
            </a:prstGeom>
            <a:solidFill>
              <a:srgbClr val="DDDDDD"/>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Container Quantity</a:t>
              </a:r>
            </a:p>
          </p:txBody>
        </p:sp>
        <p:sp>
          <p:nvSpPr>
            <p:cNvPr id="60" name="Rectangle 32">
              <a:extLst>
                <a:ext uri="{FF2B5EF4-FFF2-40B4-BE49-F238E27FC236}">
                  <a16:creationId xmlns:a16="http://schemas.microsoft.com/office/drawing/2014/main" id="{5F0613CC-D355-E187-727D-D3603AC35A6D}"/>
                </a:ext>
              </a:extLst>
            </p:cNvPr>
            <p:cNvSpPr>
              <a:spLocks noChangeArrowheads="1"/>
            </p:cNvSpPr>
            <p:nvPr/>
          </p:nvSpPr>
          <p:spPr bwMode="auto">
            <a:xfrm>
              <a:off x="3649663" y="5480050"/>
              <a:ext cx="5170487" cy="678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Standard quantity a container holds</a:t>
              </a:r>
            </a:p>
            <a:p>
              <a:pPr>
                <a:lnSpc>
                  <a:spcPct val="100000"/>
                </a:lnSpc>
                <a:spcBef>
                  <a:spcPct val="45000"/>
                </a:spcBef>
                <a:spcAft>
                  <a:spcPct val="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Also on Kanban card</a:t>
              </a:r>
            </a:p>
          </p:txBody>
        </p:sp>
        <p:sp>
          <p:nvSpPr>
            <p:cNvPr id="61" name="Oval 28">
              <a:extLst>
                <a:ext uri="{FF2B5EF4-FFF2-40B4-BE49-F238E27FC236}">
                  <a16:creationId xmlns:a16="http://schemas.microsoft.com/office/drawing/2014/main" id="{759F2160-0BE5-4833-7BA8-4A885072DCC7}"/>
                </a:ext>
              </a:extLst>
            </p:cNvPr>
            <p:cNvSpPr>
              <a:spLocks noChangeArrowheads="1"/>
            </p:cNvSpPr>
            <p:nvPr/>
          </p:nvSpPr>
          <p:spPr bwMode="auto">
            <a:xfrm>
              <a:off x="527050" y="5499441"/>
              <a:ext cx="400050" cy="574229"/>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6</a:t>
              </a:r>
            </a:p>
          </p:txBody>
        </p:sp>
      </p:grpSp>
    </p:spTree>
    <p:extLst>
      <p:ext uri="{BB962C8B-B14F-4D97-AF65-F5344CB8AC3E}">
        <p14:creationId xmlns:p14="http://schemas.microsoft.com/office/powerpoint/2010/main" val="3196428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Impact of changeover on lead time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minutes available lead time when changeover time is reduced.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With the data set from the previous exercise,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reduce the part to part changeover time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by 50% to 40 mins and determine new lead time.   </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Available Daily Time: 480 mins</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Daily Demand Run Time: 410 mins</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of Parts on Machine: 10</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Part to Part Changeover: 40 mins</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Mins Available for Changeover: ________</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 ___________</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Answers to calculations</a:t>
            </a:r>
          </a:p>
        </p:txBody>
      </p:sp>
      <p:grpSp>
        <p:nvGrpSpPr>
          <p:cNvPr id="3" name="Group 2">
            <a:extLst>
              <a:ext uri="{FF2B5EF4-FFF2-40B4-BE49-F238E27FC236}">
                <a16:creationId xmlns:a16="http://schemas.microsoft.com/office/drawing/2014/main" id="{F240E03C-21C7-A1F4-E33A-2F13CCDF96BA}"/>
              </a:ext>
            </a:extLst>
          </p:cNvPr>
          <p:cNvGrpSpPr/>
          <p:nvPr/>
        </p:nvGrpSpPr>
        <p:grpSpPr>
          <a:xfrm>
            <a:off x="838200" y="297639"/>
            <a:ext cx="4770120" cy="301303"/>
            <a:chOff x="838200" y="297639"/>
            <a:chExt cx="4770120" cy="301303"/>
          </a:xfrm>
        </p:grpSpPr>
        <p:grpSp>
          <p:nvGrpSpPr>
            <p:cNvPr id="4" name="Group 3">
              <a:extLst>
                <a:ext uri="{FF2B5EF4-FFF2-40B4-BE49-F238E27FC236}">
                  <a16:creationId xmlns:a16="http://schemas.microsoft.com/office/drawing/2014/main" id="{90DF8EE8-E9F2-6F37-1262-6F6D19855891}"/>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CABF2B8C-95AF-5EA0-0CCB-04C0BC68BCE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BCC88C52-D606-2784-E7BE-04CC89294FAD}"/>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E7E1926-E6C5-B999-D810-626BB968BFC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8E1EEF06-C050-EB64-5B3B-8BE080B149A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0">
                  <a:extLst>
                    <a:ext uri="{FF2B5EF4-FFF2-40B4-BE49-F238E27FC236}">
                      <a16:creationId xmlns:a16="http://schemas.microsoft.com/office/drawing/2014/main" id="{96DA2EBA-EAF1-E1E9-2D55-D33B2EB8211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E385A46C-3C9B-CFC8-995B-813F64BA5004}"/>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spTree>
    <p:extLst>
      <p:ext uri="{BB962C8B-B14F-4D97-AF65-F5344CB8AC3E}">
        <p14:creationId xmlns:p14="http://schemas.microsoft.com/office/powerpoint/2010/main" val="37034612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Calculating Kanban Signals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pPr algn="ctr"/>
            <a:r>
              <a:rPr lang="en-US" dirty="0"/>
              <a:t>Kanban Signal Calculation</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pPr algn="ctr"/>
            <a:r>
              <a:rPr lang="en-US" dirty="0"/>
              <a:t>Example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7" name="Group 6">
            <a:extLst>
              <a:ext uri="{FF2B5EF4-FFF2-40B4-BE49-F238E27FC236}">
                <a16:creationId xmlns:a16="http://schemas.microsoft.com/office/drawing/2014/main" id="{A6B923BD-00A1-8EC8-E0F9-A3CAD6D02E0A}"/>
              </a:ext>
            </a:extLst>
          </p:cNvPr>
          <p:cNvGrpSpPr/>
          <p:nvPr/>
        </p:nvGrpSpPr>
        <p:grpSpPr>
          <a:xfrm>
            <a:off x="838200" y="297639"/>
            <a:ext cx="4770120" cy="301303"/>
            <a:chOff x="838200" y="297639"/>
            <a:chExt cx="4770120" cy="301303"/>
          </a:xfrm>
        </p:grpSpPr>
        <p:grpSp>
          <p:nvGrpSpPr>
            <p:cNvPr id="9" name="Group 8">
              <a:extLst>
                <a:ext uri="{FF2B5EF4-FFF2-40B4-BE49-F238E27FC236}">
                  <a16:creationId xmlns:a16="http://schemas.microsoft.com/office/drawing/2014/main" id="{4FB178CE-4FC2-3224-AA3F-2027608E704E}"/>
                </a:ext>
              </a:extLst>
            </p:cNvPr>
            <p:cNvGrpSpPr/>
            <p:nvPr/>
          </p:nvGrpSpPr>
          <p:grpSpPr>
            <a:xfrm>
              <a:off x="838200" y="297639"/>
              <a:ext cx="1373842" cy="290657"/>
              <a:chOff x="838200" y="297639"/>
              <a:chExt cx="1373842" cy="290657"/>
            </a:xfrm>
          </p:grpSpPr>
          <p:sp>
            <p:nvSpPr>
              <p:cNvPr id="11" name="AutoShape 9">
                <a:extLst>
                  <a:ext uri="{FF2B5EF4-FFF2-40B4-BE49-F238E27FC236}">
                    <a16:creationId xmlns:a16="http://schemas.microsoft.com/office/drawing/2014/main" id="{CFEFA0BF-5703-60E0-EDCC-C313F988239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B85CADE5-AD74-6367-1C88-7EB12DE9CF44}"/>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16403A98-C9CA-D6E4-3E40-0A66434404B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7AB1FD3A-2182-66F9-1F3A-6B37921D3B7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0">
                  <a:extLst>
                    <a:ext uri="{FF2B5EF4-FFF2-40B4-BE49-F238E27FC236}">
                      <a16:creationId xmlns:a16="http://schemas.microsoft.com/office/drawing/2014/main" id="{9AC78F30-C26E-2A46-F687-E0328F3E54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A45207BD-84A8-C375-397A-B93C2DCE8F2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grpSp>
        <p:nvGrpSpPr>
          <p:cNvPr id="23" name="Group 22">
            <a:extLst>
              <a:ext uri="{FF2B5EF4-FFF2-40B4-BE49-F238E27FC236}">
                <a16:creationId xmlns:a16="http://schemas.microsoft.com/office/drawing/2014/main" id="{E860F043-3F9D-ABAE-BD67-7C28AB838CDC}"/>
              </a:ext>
            </a:extLst>
          </p:cNvPr>
          <p:cNvGrpSpPr/>
          <p:nvPr/>
        </p:nvGrpSpPr>
        <p:grpSpPr>
          <a:xfrm>
            <a:off x="1004534" y="3149635"/>
            <a:ext cx="4823615" cy="1322387"/>
            <a:chOff x="407639" y="2978150"/>
            <a:chExt cx="3937960" cy="1322387"/>
          </a:xfrm>
        </p:grpSpPr>
        <p:sp>
          <p:nvSpPr>
            <p:cNvPr id="16" name="Text Box 27">
              <a:extLst>
                <a:ext uri="{FF2B5EF4-FFF2-40B4-BE49-F238E27FC236}">
                  <a16:creationId xmlns:a16="http://schemas.microsoft.com/office/drawing/2014/main" id="{87A515C2-BB21-12C1-49AE-5D36F0ED1DA4}"/>
                </a:ext>
              </a:extLst>
            </p:cNvPr>
            <p:cNvSpPr txBox="1">
              <a:spLocks noChangeArrowheads="1"/>
            </p:cNvSpPr>
            <p:nvPr/>
          </p:nvSpPr>
          <p:spPr bwMode="auto">
            <a:xfrm>
              <a:off x="407639" y="3516455"/>
              <a:ext cx="1284075" cy="58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 of Kanban</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Signals</a:t>
              </a:r>
            </a:p>
          </p:txBody>
        </p:sp>
        <p:sp>
          <p:nvSpPr>
            <p:cNvPr id="17" name="Text Box 28">
              <a:extLst>
                <a:ext uri="{FF2B5EF4-FFF2-40B4-BE49-F238E27FC236}">
                  <a16:creationId xmlns:a16="http://schemas.microsoft.com/office/drawing/2014/main" id="{32C16185-DC18-AB25-2740-E7D554FB5766}"/>
                </a:ext>
              </a:extLst>
            </p:cNvPr>
            <p:cNvSpPr txBox="1">
              <a:spLocks noChangeArrowheads="1"/>
            </p:cNvSpPr>
            <p:nvPr/>
          </p:nvSpPr>
          <p:spPr bwMode="auto">
            <a:xfrm>
              <a:off x="2621671" y="2978150"/>
              <a:ext cx="1416251" cy="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Daily Usage x</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(Lead time +</a:t>
              </a:r>
              <a:br>
                <a:rPr lang="en-US" altLang="en-US" sz="2000" dirty="0">
                  <a:latin typeface="Roboto" panose="02000000000000000000" pitchFamily="2" charset="0"/>
                  <a:ea typeface="Roboto" panose="02000000000000000000" pitchFamily="2" charset="0"/>
                </a:rPr>
              </a:br>
              <a:r>
                <a:rPr lang="en-US" altLang="en-US" sz="2000" dirty="0">
                  <a:latin typeface="Roboto" panose="02000000000000000000" pitchFamily="2" charset="0"/>
                  <a:ea typeface="Roboto" panose="02000000000000000000" pitchFamily="2" charset="0"/>
                </a:rPr>
                <a:t>Safety Stock)</a:t>
              </a:r>
            </a:p>
          </p:txBody>
        </p:sp>
        <p:sp>
          <p:nvSpPr>
            <p:cNvPr id="18" name="Line 29">
              <a:extLst>
                <a:ext uri="{FF2B5EF4-FFF2-40B4-BE49-F238E27FC236}">
                  <a16:creationId xmlns:a16="http://schemas.microsoft.com/office/drawing/2014/main" id="{DCD1BA2D-F3C5-A957-21CA-9111C6C2C1EF}"/>
                </a:ext>
              </a:extLst>
            </p:cNvPr>
            <p:cNvSpPr>
              <a:spLocks noChangeShapeType="1"/>
            </p:cNvSpPr>
            <p:nvPr/>
          </p:nvSpPr>
          <p:spPr bwMode="auto">
            <a:xfrm flipV="1">
              <a:off x="2454982" y="3865242"/>
              <a:ext cx="1890617" cy="6353"/>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sp>
          <p:nvSpPr>
            <p:cNvPr id="19" name="Text Box 30">
              <a:extLst>
                <a:ext uri="{FF2B5EF4-FFF2-40B4-BE49-F238E27FC236}">
                  <a16:creationId xmlns:a16="http://schemas.microsoft.com/office/drawing/2014/main" id="{16382354-B2FE-1D7D-E17B-77FCC9EC5A44}"/>
                </a:ext>
              </a:extLst>
            </p:cNvPr>
            <p:cNvSpPr txBox="1">
              <a:spLocks noChangeArrowheads="1"/>
            </p:cNvSpPr>
            <p:nvPr/>
          </p:nvSpPr>
          <p:spPr bwMode="auto">
            <a:xfrm>
              <a:off x="2405871" y="3959418"/>
              <a:ext cx="1939723"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Container Capacity</a:t>
              </a:r>
            </a:p>
          </p:txBody>
        </p:sp>
        <p:grpSp>
          <p:nvGrpSpPr>
            <p:cNvPr id="20" name="Group 39">
              <a:extLst>
                <a:ext uri="{FF2B5EF4-FFF2-40B4-BE49-F238E27FC236}">
                  <a16:creationId xmlns:a16="http://schemas.microsoft.com/office/drawing/2014/main" id="{022EBB39-59A3-5CC2-6C40-8781915D624B}"/>
                </a:ext>
              </a:extLst>
            </p:cNvPr>
            <p:cNvGrpSpPr>
              <a:grpSpLocks/>
            </p:cNvGrpSpPr>
            <p:nvPr/>
          </p:nvGrpSpPr>
          <p:grpSpPr bwMode="auto">
            <a:xfrm>
              <a:off x="1946279" y="3762374"/>
              <a:ext cx="207963" cy="109537"/>
              <a:chOff x="3974" y="2229"/>
              <a:chExt cx="131" cy="69"/>
            </a:xfrm>
          </p:grpSpPr>
          <p:sp>
            <p:nvSpPr>
              <p:cNvPr id="21" name="Line 40">
                <a:extLst>
                  <a:ext uri="{FF2B5EF4-FFF2-40B4-BE49-F238E27FC236}">
                    <a16:creationId xmlns:a16="http://schemas.microsoft.com/office/drawing/2014/main" id="{B61A3AE4-4B48-2298-6299-226E6A9F0ACC}"/>
                  </a:ext>
                </a:extLst>
              </p:cNvPr>
              <p:cNvSpPr>
                <a:spLocks noChangeShapeType="1"/>
              </p:cNvSpPr>
              <p:nvPr/>
            </p:nvSpPr>
            <p:spPr bwMode="auto">
              <a:xfrm>
                <a:off x="3977" y="2229"/>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sp>
            <p:nvSpPr>
              <p:cNvPr id="22" name="Line 41">
                <a:extLst>
                  <a:ext uri="{FF2B5EF4-FFF2-40B4-BE49-F238E27FC236}">
                    <a16:creationId xmlns:a16="http://schemas.microsoft.com/office/drawing/2014/main" id="{35F1FF28-7BC8-FC98-91F1-46B8EE1D7FF6}"/>
                  </a:ext>
                </a:extLst>
              </p:cNvPr>
              <p:cNvSpPr>
                <a:spLocks noChangeShapeType="1"/>
              </p:cNvSpPr>
              <p:nvPr/>
            </p:nvSpPr>
            <p:spPr bwMode="auto">
              <a:xfrm>
                <a:off x="3974" y="2298"/>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grpSp>
      </p:grpSp>
      <p:grpSp>
        <p:nvGrpSpPr>
          <p:cNvPr id="31" name="Group 30">
            <a:extLst>
              <a:ext uri="{FF2B5EF4-FFF2-40B4-BE49-F238E27FC236}">
                <a16:creationId xmlns:a16="http://schemas.microsoft.com/office/drawing/2014/main" id="{84A5E06A-89DA-192B-D34B-18850CD307F1}"/>
              </a:ext>
            </a:extLst>
          </p:cNvPr>
          <p:cNvGrpSpPr/>
          <p:nvPr/>
        </p:nvGrpSpPr>
        <p:grpSpPr>
          <a:xfrm>
            <a:off x="6585119" y="3958221"/>
            <a:ext cx="4595711" cy="916297"/>
            <a:chOff x="4924739" y="2990642"/>
            <a:chExt cx="3757278" cy="916297"/>
          </a:xfrm>
        </p:grpSpPr>
        <p:sp>
          <p:nvSpPr>
            <p:cNvPr id="24" name="Text Box 32">
              <a:extLst>
                <a:ext uri="{FF2B5EF4-FFF2-40B4-BE49-F238E27FC236}">
                  <a16:creationId xmlns:a16="http://schemas.microsoft.com/office/drawing/2014/main" id="{4069562D-00C7-20C8-53F6-34A5B32209D9}"/>
                </a:ext>
              </a:extLst>
            </p:cNvPr>
            <p:cNvSpPr txBox="1">
              <a:spLocks noChangeArrowheads="1"/>
            </p:cNvSpPr>
            <p:nvPr/>
          </p:nvSpPr>
          <p:spPr bwMode="auto">
            <a:xfrm>
              <a:off x="7645106" y="3270916"/>
              <a:ext cx="1036911"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8 Kanban</a:t>
              </a:r>
            </a:p>
          </p:txBody>
        </p:sp>
        <p:sp>
          <p:nvSpPr>
            <p:cNvPr id="25" name="Text Box 33">
              <a:extLst>
                <a:ext uri="{FF2B5EF4-FFF2-40B4-BE49-F238E27FC236}">
                  <a16:creationId xmlns:a16="http://schemas.microsoft.com/office/drawing/2014/main" id="{C1F5089C-52A0-CA20-B163-8DE05D4697A0}"/>
                </a:ext>
              </a:extLst>
            </p:cNvPr>
            <p:cNvSpPr txBox="1">
              <a:spLocks noChangeArrowheads="1"/>
            </p:cNvSpPr>
            <p:nvPr/>
          </p:nvSpPr>
          <p:spPr bwMode="auto">
            <a:xfrm>
              <a:off x="5370785" y="2990642"/>
              <a:ext cx="1225631"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100 x (5+1)</a:t>
              </a:r>
            </a:p>
          </p:txBody>
        </p:sp>
        <p:sp>
          <p:nvSpPr>
            <p:cNvPr id="26" name="Text Box 34">
              <a:extLst>
                <a:ext uri="{FF2B5EF4-FFF2-40B4-BE49-F238E27FC236}">
                  <a16:creationId xmlns:a16="http://schemas.microsoft.com/office/drawing/2014/main" id="{E73889BD-22B2-D202-03DD-1BD78D4C551E}"/>
                </a:ext>
              </a:extLst>
            </p:cNvPr>
            <p:cNvSpPr txBox="1">
              <a:spLocks noChangeArrowheads="1"/>
            </p:cNvSpPr>
            <p:nvPr/>
          </p:nvSpPr>
          <p:spPr bwMode="auto">
            <a:xfrm>
              <a:off x="5739917" y="3565820"/>
              <a:ext cx="392118"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75</a:t>
              </a:r>
            </a:p>
          </p:txBody>
        </p:sp>
        <p:sp>
          <p:nvSpPr>
            <p:cNvPr id="27" name="Line 35">
              <a:extLst>
                <a:ext uri="{FF2B5EF4-FFF2-40B4-BE49-F238E27FC236}">
                  <a16:creationId xmlns:a16="http://schemas.microsoft.com/office/drawing/2014/main" id="{E1164104-98CB-AA5E-15A1-8B5106E05C24}"/>
                </a:ext>
              </a:extLst>
            </p:cNvPr>
            <p:cNvSpPr>
              <a:spLocks noChangeShapeType="1"/>
            </p:cNvSpPr>
            <p:nvPr/>
          </p:nvSpPr>
          <p:spPr bwMode="auto">
            <a:xfrm>
              <a:off x="4924739" y="3438820"/>
              <a:ext cx="2117725"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grpSp>
          <p:nvGrpSpPr>
            <p:cNvPr id="28" name="Group 38">
              <a:extLst>
                <a:ext uri="{FF2B5EF4-FFF2-40B4-BE49-F238E27FC236}">
                  <a16:creationId xmlns:a16="http://schemas.microsoft.com/office/drawing/2014/main" id="{35CE08B9-55C4-2F4A-965A-99954F2C249A}"/>
                </a:ext>
              </a:extLst>
            </p:cNvPr>
            <p:cNvGrpSpPr>
              <a:grpSpLocks/>
            </p:cNvGrpSpPr>
            <p:nvPr/>
          </p:nvGrpSpPr>
          <p:grpSpPr bwMode="auto">
            <a:xfrm>
              <a:off x="7248528" y="3368676"/>
              <a:ext cx="207963" cy="109537"/>
              <a:chOff x="4566" y="1987"/>
              <a:chExt cx="131" cy="69"/>
            </a:xfrm>
          </p:grpSpPr>
          <p:sp>
            <p:nvSpPr>
              <p:cNvPr id="29" name="Line 36">
                <a:extLst>
                  <a:ext uri="{FF2B5EF4-FFF2-40B4-BE49-F238E27FC236}">
                    <a16:creationId xmlns:a16="http://schemas.microsoft.com/office/drawing/2014/main" id="{6344C062-4DED-1DA2-9C72-F6EE4FFD8E19}"/>
                  </a:ext>
                </a:extLst>
              </p:cNvPr>
              <p:cNvSpPr>
                <a:spLocks noChangeShapeType="1"/>
              </p:cNvSpPr>
              <p:nvPr/>
            </p:nvSpPr>
            <p:spPr bwMode="auto">
              <a:xfrm>
                <a:off x="4569" y="1987"/>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sp>
            <p:nvSpPr>
              <p:cNvPr id="30" name="Line 37">
                <a:extLst>
                  <a:ext uri="{FF2B5EF4-FFF2-40B4-BE49-F238E27FC236}">
                    <a16:creationId xmlns:a16="http://schemas.microsoft.com/office/drawing/2014/main" id="{5F951153-26B0-39FA-43BE-8645D47B2F77}"/>
                  </a:ext>
                </a:extLst>
              </p:cNvPr>
              <p:cNvSpPr>
                <a:spLocks noChangeShapeType="1"/>
              </p:cNvSpPr>
              <p:nvPr/>
            </p:nvSpPr>
            <p:spPr bwMode="auto">
              <a:xfrm>
                <a:off x="4566" y="2056"/>
                <a:ext cx="128" cy="0"/>
              </a:xfrm>
              <a:prstGeom prst="line">
                <a:avLst/>
              </a:prstGeom>
              <a:noFill/>
              <a:ln w="5715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latin typeface="Roboto" panose="02000000000000000000" pitchFamily="2" charset="0"/>
                  <a:ea typeface="Roboto" panose="02000000000000000000" pitchFamily="2" charset="0"/>
                </a:endParaRPr>
              </a:p>
            </p:txBody>
          </p:sp>
        </p:grpSp>
      </p:grpSp>
      <p:sp>
        <p:nvSpPr>
          <p:cNvPr id="32" name="Rectangle 31">
            <a:extLst>
              <a:ext uri="{FF2B5EF4-FFF2-40B4-BE49-F238E27FC236}">
                <a16:creationId xmlns:a16="http://schemas.microsoft.com/office/drawing/2014/main" id="{0CFDE5E4-23A6-A1A8-E7A4-573A78944A6C}"/>
              </a:ext>
            </a:extLst>
          </p:cNvPr>
          <p:cNvSpPr/>
          <p:nvPr/>
        </p:nvSpPr>
        <p:spPr>
          <a:xfrm>
            <a:off x="793384" y="2599250"/>
            <a:ext cx="5334000" cy="242315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B25605B-0744-5BFB-ED59-AE4A64023E23}"/>
              </a:ext>
            </a:extLst>
          </p:cNvPr>
          <p:cNvSpPr/>
          <p:nvPr/>
        </p:nvSpPr>
        <p:spPr>
          <a:xfrm>
            <a:off x="6215975" y="2599250"/>
            <a:ext cx="5334000" cy="242315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4AC43B0-AAE9-2453-6D2E-B892982FB2A3}"/>
              </a:ext>
            </a:extLst>
          </p:cNvPr>
          <p:cNvSpPr txBox="1"/>
          <p:nvPr/>
        </p:nvSpPr>
        <p:spPr>
          <a:xfrm>
            <a:off x="793384" y="5105018"/>
            <a:ext cx="5351186"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This equation applies when the signal is sent prior to the bin being empty</a:t>
            </a:r>
          </a:p>
        </p:txBody>
      </p:sp>
      <p:sp>
        <p:nvSpPr>
          <p:cNvPr id="37" name="TextBox 36">
            <a:extLst>
              <a:ext uri="{FF2B5EF4-FFF2-40B4-BE49-F238E27FC236}">
                <a16:creationId xmlns:a16="http://schemas.microsoft.com/office/drawing/2014/main" id="{3B17C972-03A9-D5A0-A96E-128397B48CDF}"/>
              </a:ext>
            </a:extLst>
          </p:cNvPr>
          <p:cNvSpPr txBox="1"/>
          <p:nvPr/>
        </p:nvSpPr>
        <p:spPr>
          <a:xfrm>
            <a:off x="6405476" y="2703514"/>
            <a:ext cx="2949575" cy="1150443"/>
          </a:xfrm>
          <a:prstGeom prst="rect">
            <a:avLst/>
          </a:prstGeom>
          <a:noFill/>
        </p:spPr>
        <p:txBody>
          <a:bodyPr wrap="square">
            <a:spAutoFit/>
          </a:body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Daily Usage: = 100</a:t>
            </a:r>
          </a:p>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Lead time = 5 days</a:t>
            </a:r>
          </a:p>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Safety Stock = 1 day</a:t>
            </a:r>
          </a:p>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Container Capacity = 75</a:t>
            </a:r>
          </a:p>
        </p:txBody>
      </p:sp>
      <p:sp>
        <p:nvSpPr>
          <p:cNvPr id="39" name="TextBox 38">
            <a:extLst>
              <a:ext uri="{FF2B5EF4-FFF2-40B4-BE49-F238E27FC236}">
                <a16:creationId xmlns:a16="http://schemas.microsoft.com/office/drawing/2014/main" id="{681137D3-3967-3895-E0E6-6536B965C2B3}"/>
              </a:ext>
            </a:extLst>
          </p:cNvPr>
          <p:cNvSpPr txBox="1"/>
          <p:nvPr/>
        </p:nvSpPr>
        <p:spPr>
          <a:xfrm>
            <a:off x="6215975" y="5090095"/>
            <a:ext cx="5334000"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If the signal is sent AFTER the bin is empty, then one more signal must be added to the equation </a:t>
            </a:r>
          </a:p>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8 Kanban + 1 = 9 Kanban</a:t>
            </a:r>
          </a:p>
        </p:txBody>
      </p:sp>
    </p:spTree>
    <p:extLst>
      <p:ext uri="{BB962C8B-B14F-4D97-AF65-F5344CB8AC3E}">
        <p14:creationId xmlns:p14="http://schemas.microsoft.com/office/powerpoint/2010/main" val="7842224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Kanban Data Analysis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3" name="Group 2">
            <a:extLst>
              <a:ext uri="{FF2B5EF4-FFF2-40B4-BE49-F238E27FC236}">
                <a16:creationId xmlns:a16="http://schemas.microsoft.com/office/drawing/2014/main" id="{30180EF3-F508-335C-05F9-20BB0C7CAD2C}"/>
              </a:ext>
            </a:extLst>
          </p:cNvPr>
          <p:cNvGrpSpPr/>
          <p:nvPr/>
        </p:nvGrpSpPr>
        <p:grpSpPr>
          <a:xfrm>
            <a:off x="838200" y="297639"/>
            <a:ext cx="4770120" cy="301303"/>
            <a:chOff x="838200" y="297639"/>
            <a:chExt cx="4770120" cy="301303"/>
          </a:xfrm>
        </p:grpSpPr>
        <p:grpSp>
          <p:nvGrpSpPr>
            <p:cNvPr id="5" name="Group 4">
              <a:extLst>
                <a:ext uri="{FF2B5EF4-FFF2-40B4-BE49-F238E27FC236}">
                  <a16:creationId xmlns:a16="http://schemas.microsoft.com/office/drawing/2014/main" id="{A78B6F2A-E88B-06ED-7086-7F71ED2051FC}"/>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0B09C465-2A54-0A05-6EB6-2E4B906DEA3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891352EB-DA17-439D-5C4D-D2F81EBF41CB}"/>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65AE2780-858F-B5D4-1F5A-CCC12CDED44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92020175-932B-E780-8CED-6601BA66799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035F9D09-85FD-C27E-948E-D6BDC9321E7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66545EAD-757F-CB22-60D6-1600AA2CBF7F}"/>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grpSp>
        <p:nvGrpSpPr>
          <p:cNvPr id="27" name="Group 26">
            <a:extLst>
              <a:ext uri="{FF2B5EF4-FFF2-40B4-BE49-F238E27FC236}">
                <a16:creationId xmlns:a16="http://schemas.microsoft.com/office/drawing/2014/main" id="{272C03C5-9B51-2519-97F8-5AF36ED6328D}"/>
              </a:ext>
            </a:extLst>
          </p:cNvPr>
          <p:cNvGrpSpPr/>
          <p:nvPr/>
        </p:nvGrpSpPr>
        <p:grpSpPr>
          <a:xfrm>
            <a:off x="914559" y="1690688"/>
            <a:ext cx="10362882" cy="4318000"/>
            <a:chOff x="427038" y="1293813"/>
            <a:chExt cx="8631237" cy="4714875"/>
          </a:xfrm>
        </p:grpSpPr>
        <p:pic>
          <p:nvPicPr>
            <p:cNvPr id="12" name="Picture 45">
              <a:extLst>
                <a:ext uri="{FF2B5EF4-FFF2-40B4-BE49-F238E27FC236}">
                  <a16:creationId xmlns:a16="http://schemas.microsoft.com/office/drawing/2014/main" id="{23CB38F9-ED9F-7281-21A6-9A8D81D42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1417638"/>
              <a:ext cx="8262937"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6">
              <a:extLst>
                <a:ext uri="{FF2B5EF4-FFF2-40B4-BE49-F238E27FC236}">
                  <a16:creationId xmlns:a16="http://schemas.microsoft.com/office/drawing/2014/main" id="{3B5CD3FE-E37A-5845-AD55-5BB93296B9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8675" y="3746500"/>
              <a:ext cx="6596063"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47">
              <a:extLst>
                <a:ext uri="{FF2B5EF4-FFF2-40B4-BE49-F238E27FC236}">
                  <a16:creationId xmlns:a16="http://schemas.microsoft.com/office/drawing/2014/main" id="{3C465DA4-79B2-9EE5-B0DF-0B080D25C1A7}"/>
                </a:ext>
              </a:extLst>
            </p:cNvPr>
            <p:cNvGrpSpPr>
              <a:grpSpLocks/>
            </p:cNvGrpSpPr>
            <p:nvPr/>
          </p:nvGrpSpPr>
          <p:grpSpPr bwMode="auto">
            <a:xfrm>
              <a:off x="8296275" y="1293813"/>
              <a:ext cx="762000" cy="2819400"/>
              <a:chOff x="816" y="2544"/>
              <a:chExt cx="624" cy="1392"/>
            </a:xfrm>
          </p:grpSpPr>
          <p:sp>
            <p:nvSpPr>
              <p:cNvPr id="15" name="Line 48">
                <a:extLst>
                  <a:ext uri="{FF2B5EF4-FFF2-40B4-BE49-F238E27FC236}">
                    <a16:creationId xmlns:a16="http://schemas.microsoft.com/office/drawing/2014/main" id="{AD3DA1B5-4000-1807-0E76-19FE449545FD}"/>
                  </a:ext>
                </a:extLst>
              </p:cNvPr>
              <p:cNvSpPr>
                <a:spLocks noChangeShapeType="1"/>
              </p:cNvSpPr>
              <p:nvPr/>
            </p:nvSpPr>
            <p:spPr bwMode="auto">
              <a:xfrm flipH="1">
                <a:off x="1057" y="2544"/>
                <a:ext cx="383" cy="43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49">
                <a:extLst>
                  <a:ext uri="{FF2B5EF4-FFF2-40B4-BE49-F238E27FC236}">
                    <a16:creationId xmlns:a16="http://schemas.microsoft.com/office/drawing/2014/main" id="{12B8AEE3-DEA8-05F1-D3F1-16779B7C0F77}"/>
                  </a:ext>
                </a:extLst>
              </p:cNvPr>
              <p:cNvSpPr>
                <a:spLocks noChangeShapeType="1"/>
              </p:cNvSpPr>
              <p:nvPr/>
            </p:nvSpPr>
            <p:spPr bwMode="auto">
              <a:xfrm flipV="1">
                <a:off x="1057" y="2880"/>
                <a:ext cx="239"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7" name="Group 50">
                <a:extLst>
                  <a:ext uri="{FF2B5EF4-FFF2-40B4-BE49-F238E27FC236}">
                    <a16:creationId xmlns:a16="http://schemas.microsoft.com/office/drawing/2014/main" id="{E584A653-AAEE-460E-D46D-FD3565EAB607}"/>
                  </a:ext>
                </a:extLst>
              </p:cNvPr>
              <p:cNvGrpSpPr>
                <a:grpSpLocks/>
              </p:cNvGrpSpPr>
              <p:nvPr/>
            </p:nvGrpSpPr>
            <p:grpSpPr bwMode="auto">
              <a:xfrm>
                <a:off x="1008" y="2880"/>
                <a:ext cx="288" cy="336"/>
                <a:chOff x="1008" y="2880"/>
                <a:chExt cx="288" cy="336"/>
              </a:xfrm>
            </p:grpSpPr>
            <p:sp>
              <p:nvSpPr>
                <p:cNvPr id="25" name="Line 51">
                  <a:extLst>
                    <a:ext uri="{FF2B5EF4-FFF2-40B4-BE49-F238E27FC236}">
                      <a16:creationId xmlns:a16="http://schemas.microsoft.com/office/drawing/2014/main" id="{79912C92-715B-CF5D-A828-CD3653E1D612}"/>
                    </a:ext>
                  </a:extLst>
                </p:cNvPr>
                <p:cNvSpPr>
                  <a:spLocks noChangeShapeType="1"/>
                </p:cNvSpPr>
                <p:nvPr/>
              </p:nvSpPr>
              <p:spPr bwMode="auto">
                <a:xfrm flipH="1">
                  <a:off x="1008" y="2880"/>
                  <a:ext cx="287" cy="33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52">
                  <a:extLst>
                    <a:ext uri="{FF2B5EF4-FFF2-40B4-BE49-F238E27FC236}">
                      <a16:creationId xmlns:a16="http://schemas.microsoft.com/office/drawing/2014/main" id="{7AABC356-F40A-66AA-7C35-D612F2482D2D}"/>
                    </a:ext>
                  </a:extLst>
                </p:cNvPr>
                <p:cNvSpPr>
                  <a:spLocks noChangeShapeType="1"/>
                </p:cNvSpPr>
                <p:nvPr/>
              </p:nvSpPr>
              <p:spPr bwMode="auto">
                <a:xfrm flipV="1">
                  <a:off x="1008" y="3120"/>
                  <a:ext cx="239"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 name="Group 53">
                <a:extLst>
                  <a:ext uri="{FF2B5EF4-FFF2-40B4-BE49-F238E27FC236}">
                    <a16:creationId xmlns:a16="http://schemas.microsoft.com/office/drawing/2014/main" id="{E219E066-C84A-4F4C-D025-4D37522BC197}"/>
                  </a:ext>
                </a:extLst>
              </p:cNvPr>
              <p:cNvGrpSpPr>
                <a:grpSpLocks/>
              </p:cNvGrpSpPr>
              <p:nvPr/>
            </p:nvGrpSpPr>
            <p:grpSpPr bwMode="auto">
              <a:xfrm>
                <a:off x="960" y="3120"/>
                <a:ext cx="288" cy="336"/>
                <a:chOff x="1008" y="2880"/>
                <a:chExt cx="288" cy="336"/>
              </a:xfrm>
            </p:grpSpPr>
            <p:sp>
              <p:nvSpPr>
                <p:cNvPr id="23" name="Line 54">
                  <a:extLst>
                    <a:ext uri="{FF2B5EF4-FFF2-40B4-BE49-F238E27FC236}">
                      <a16:creationId xmlns:a16="http://schemas.microsoft.com/office/drawing/2014/main" id="{FBDCBE6C-2BC5-D31A-20B5-1E8868FE9AE6}"/>
                    </a:ext>
                  </a:extLst>
                </p:cNvPr>
                <p:cNvSpPr>
                  <a:spLocks noChangeShapeType="1"/>
                </p:cNvSpPr>
                <p:nvPr/>
              </p:nvSpPr>
              <p:spPr bwMode="auto">
                <a:xfrm flipH="1">
                  <a:off x="1008" y="2880"/>
                  <a:ext cx="287" cy="33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55">
                  <a:extLst>
                    <a:ext uri="{FF2B5EF4-FFF2-40B4-BE49-F238E27FC236}">
                      <a16:creationId xmlns:a16="http://schemas.microsoft.com/office/drawing/2014/main" id="{FA33DC55-63B8-AB1B-1310-35C8D592C018}"/>
                    </a:ext>
                  </a:extLst>
                </p:cNvPr>
                <p:cNvSpPr>
                  <a:spLocks noChangeShapeType="1"/>
                </p:cNvSpPr>
                <p:nvPr/>
              </p:nvSpPr>
              <p:spPr bwMode="auto">
                <a:xfrm flipV="1">
                  <a:off x="1008" y="3120"/>
                  <a:ext cx="239"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9" name="Group 56">
                <a:extLst>
                  <a:ext uri="{FF2B5EF4-FFF2-40B4-BE49-F238E27FC236}">
                    <a16:creationId xmlns:a16="http://schemas.microsoft.com/office/drawing/2014/main" id="{D5E2FA65-9210-87D4-0A25-555870FC9671}"/>
                  </a:ext>
                </a:extLst>
              </p:cNvPr>
              <p:cNvGrpSpPr>
                <a:grpSpLocks/>
              </p:cNvGrpSpPr>
              <p:nvPr/>
            </p:nvGrpSpPr>
            <p:grpSpPr bwMode="auto">
              <a:xfrm>
                <a:off x="912" y="3360"/>
                <a:ext cx="288" cy="336"/>
                <a:chOff x="1008" y="2880"/>
                <a:chExt cx="288" cy="336"/>
              </a:xfrm>
            </p:grpSpPr>
            <p:sp>
              <p:nvSpPr>
                <p:cNvPr id="21" name="Line 57">
                  <a:extLst>
                    <a:ext uri="{FF2B5EF4-FFF2-40B4-BE49-F238E27FC236}">
                      <a16:creationId xmlns:a16="http://schemas.microsoft.com/office/drawing/2014/main" id="{A63D4D6E-F323-E887-E4FE-0BD1A1879FB4}"/>
                    </a:ext>
                  </a:extLst>
                </p:cNvPr>
                <p:cNvSpPr>
                  <a:spLocks noChangeShapeType="1"/>
                </p:cNvSpPr>
                <p:nvPr/>
              </p:nvSpPr>
              <p:spPr bwMode="auto">
                <a:xfrm flipH="1">
                  <a:off x="1008" y="2880"/>
                  <a:ext cx="287" cy="33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58">
                  <a:extLst>
                    <a:ext uri="{FF2B5EF4-FFF2-40B4-BE49-F238E27FC236}">
                      <a16:creationId xmlns:a16="http://schemas.microsoft.com/office/drawing/2014/main" id="{6F35FE70-FFA2-F400-3E3B-3F15A095F035}"/>
                    </a:ext>
                  </a:extLst>
                </p:cNvPr>
                <p:cNvSpPr>
                  <a:spLocks noChangeShapeType="1"/>
                </p:cNvSpPr>
                <p:nvPr/>
              </p:nvSpPr>
              <p:spPr bwMode="auto">
                <a:xfrm flipV="1">
                  <a:off x="1008" y="3120"/>
                  <a:ext cx="239"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 name="Line 59">
                <a:extLst>
                  <a:ext uri="{FF2B5EF4-FFF2-40B4-BE49-F238E27FC236}">
                    <a16:creationId xmlns:a16="http://schemas.microsoft.com/office/drawing/2014/main" id="{7C7D030D-FE95-1AC6-8FD8-D37AEDEC69CA}"/>
                  </a:ext>
                </a:extLst>
              </p:cNvPr>
              <p:cNvSpPr>
                <a:spLocks noChangeShapeType="1"/>
              </p:cNvSpPr>
              <p:nvPr/>
            </p:nvSpPr>
            <p:spPr bwMode="auto">
              <a:xfrm flipH="1">
                <a:off x="816" y="3600"/>
                <a:ext cx="335" cy="33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extLst>
      <p:ext uri="{BB962C8B-B14F-4D97-AF65-F5344CB8AC3E}">
        <p14:creationId xmlns:p14="http://schemas.microsoft.com/office/powerpoint/2010/main" val="4027290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ABC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dirty="0"/>
              <a:t>Purpose of the ABC Analysis</a:t>
            </a:r>
          </a:p>
          <a:p>
            <a:r>
              <a:rPr lang="en-US" dirty="0"/>
              <a:t>The business goal is to have on time delivery while minimizing inventory expense.  We want to manage the most inventory dollars with our limited resources.</a:t>
            </a:r>
          </a:p>
          <a:p>
            <a:r>
              <a:rPr lang="en-US" dirty="0"/>
              <a:t>By closely managing A and B items (50% of the stock keeping units),  we can control 95% of the inventory cost.</a:t>
            </a:r>
          </a:p>
          <a:p>
            <a:pPr marL="514350" indent="-514350">
              <a:buFont typeface="+mj-lt"/>
              <a:buAutoNum type="arabicPeriod"/>
            </a:pP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spTree>
    <p:extLst>
      <p:ext uri="{BB962C8B-B14F-4D97-AF65-F5344CB8AC3E}">
        <p14:creationId xmlns:p14="http://schemas.microsoft.com/office/powerpoint/2010/main" val="386556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ABC Analysis Steps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lnSpcReduction="10000"/>
          </a:bodyPr>
          <a:lstStyle/>
          <a:p>
            <a:pPr marL="514350" indent="-514350">
              <a:buFont typeface="+mj-lt"/>
              <a:buAutoNum type="arabicPeriod"/>
            </a:pPr>
            <a:r>
              <a:rPr lang="en-US" dirty="0"/>
              <a:t>Multiply annual volume unit cost to obtain annual dollar volume for each stock keeping unit (SKU)</a:t>
            </a:r>
          </a:p>
          <a:p>
            <a:pPr marL="514350" indent="-514350">
              <a:buFont typeface="+mj-lt"/>
              <a:buAutoNum type="arabicPeriod"/>
            </a:pPr>
            <a:r>
              <a:rPr lang="en-US" dirty="0"/>
              <a:t>Rank SKU’s in descending extended dollar amount</a:t>
            </a:r>
          </a:p>
          <a:p>
            <a:pPr marL="514350" indent="-514350">
              <a:buFont typeface="+mj-lt"/>
              <a:buAutoNum type="arabicPeriod"/>
            </a:pPr>
            <a:r>
              <a:rPr lang="en-US" dirty="0"/>
              <a:t>Assign A,B,C rating to each SKU</a:t>
            </a:r>
          </a:p>
          <a:p>
            <a:pPr lvl="1"/>
            <a:r>
              <a:rPr lang="en-US" dirty="0"/>
              <a:t>A – Top 80% of $</a:t>
            </a:r>
          </a:p>
          <a:p>
            <a:pPr lvl="1"/>
            <a:r>
              <a:rPr lang="en-US" dirty="0"/>
              <a:t>B – Next 15% of $</a:t>
            </a:r>
          </a:p>
          <a:p>
            <a:pPr lvl="1"/>
            <a:r>
              <a:rPr lang="en-US" dirty="0"/>
              <a:t>C – Bottom 5% of $</a:t>
            </a:r>
          </a:p>
          <a:p>
            <a:pPr marL="514350" indent="-514350">
              <a:buFont typeface="+mj-lt"/>
              <a:buAutoNum type="arabicPeriod"/>
            </a:pP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pic>
        <p:nvPicPr>
          <p:cNvPr id="5" name="Content Placeholder 4" descr="ABC">
            <a:extLst>
              <a:ext uri="{FF2B5EF4-FFF2-40B4-BE49-F238E27FC236}">
                <a16:creationId xmlns:a16="http://schemas.microsoft.com/office/drawing/2014/main" id="{B328FA29-2C76-4747-F778-C70C1580A85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190483"/>
            <a:ext cx="5181600" cy="362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
            <a:extLst>
              <a:ext uri="{FF2B5EF4-FFF2-40B4-BE49-F238E27FC236}">
                <a16:creationId xmlns:a16="http://schemas.microsoft.com/office/drawing/2014/main" id="{F344A5D9-BD24-C9D5-80EB-945D2C4DC804}"/>
              </a:ext>
            </a:extLst>
          </p:cNvPr>
          <p:cNvGrpSpPr/>
          <p:nvPr/>
        </p:nvGrpSpPr>
        <p:grpSpPr>
          <a:xfrm>
            <a:off x="838200" y="297639"/>
            <a:ext cx="4770120" cy="301303"/>
            <a:chOff x="838200" y="297639"/>
            <a:chExt cx="4770120" cy="301303"/>
          </a:xfrm>
        </p:grpSpPr>
        <p:grpSp>
          <p:nvGrpSpPr>
            <p:cNvPr id="8" name="Group 7">
              <a:extLst>
                <a:ext uri="{FF2B5EF4-FFF2-40B4-BE49-F238E27FC236}">
                  <a16:creationId xmlns:a16="http://schemas.microsoft.com/office/drawing/2014/main" id="{312794C1-F46B-95BE-7F25-867C0743702F}"/>
                </a:ext>
              </a:extLst>
            </p:cNvPr>
            <p:cNvGrpSpPr/>
            <p:nvPr/>
          </p:nvGrpSpPr>
          <p:grpSpPr>
            <a:xfrm>
              <a:off x="838200" y="297639"/>
              <a:ext cx="1373842" cy="290657"/>
              <a:chOff x="838200" y="297639"/>
              <a:chExt cx="1373842" cy="290657"/>
            </a:xfrm>
          </p:grpSpPr>
          <p:sp>
            <p:nvSpPr>
              <p:cNvPr id="10" name="AutoShape 9">
                <a:extLst>
                  <a:ext uri="{FF2B5EF4-FFF2-40B4-BE49-F238E27FC236}">
                    <a16:creationId xmlns:a16="http://schemas.microsoft.com/office/drawing/2014/main" id="{C06BF6BF-8D62-02B1-5421-41DD2F8FB7F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3098D991-E5AC-3767-6F6F-8B5873D89F17}"/>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0309C7DE-2B45-74F4-0EB7-CBF06C6EE7B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5C78D399-E0AA-3A50-B2C2-E34DE7B0B60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6590678C-9259-4C9B-183C-C6946CFE98D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9" name="TextBox 8">
              <a:extLst>
                <a:ext uri="{FF2B5EF4-FFF2-40B4-BE49-F238E27FC236}">
                  <a16:creationId xmlns:a16="http://schemas.microsoft.com/office/drawing/2014/main" id="{61F301DE-F322-6CDE-F651-5A405F26BDBD}"/>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spTree>
    <p:extLst>
      <p:ext uri="{BB962C8B-B14F-4D97-AF65-F5344CB8AC3E}">
        <p14:creationId xmlns:p14="http://schemas.microsoft.com/office/powerpoint/2010/main" val="2417898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Kanban Calculation Problems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How to Handle Spikes in Production</a:t>
            </a:r>
          </a:p>
          <a:p>
            <a:r>
              <a:rPr lang="en-US" altLang="en-US" dirty="0"/>
              <a:t>How to Determine Amount of WIP </a:t>
            </a:r>
          </a:p>
          <a:p>
            <a:r>
              <a:rPr lang="en-US" altLang="en-US" dirty="0"/>
              <a:t>What if I Loose a Card?</a:t>
            </a:r>
          </a:p>
          <a:p>
            <a:r>
              <a:rPr lang="en-US" altLang="en-US" dirty="0"/>
              <a:t>Is a Kanban a </a:t>
            </a:r>
            <a:r>
              <a:rPr lang="ja-JP" altLang="en-US" dirty="0"/>
              <a:t>“</a:t>
            </a:r>
            <a:r>
              <a:rPr lang="en-US" altLang="ja-JP" dirty="0"/>
              <a:t>Set it and Forget it</a:t>
            </a:r>
            <a:r>
              <a:rPr lang="ja-JP" altLang="en-US" dirty="0"/>
              <a:t>”</a:t>
            </a:r>
            <a:r>
              <a:rPr lang="en-US" altLang="ja-JP" dirty="0"/>
              <a:t> System?</a:t>
            </a:r>
          </a:p>
          <a:p>
            <a:r>
              <a:rPr lang="en-US" altLang="en-US" dirty="0"/>
              <a:t>Where do We Start?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Kanban Calculations</a:t>
              </a:r>
            </a:p>
          </p:txBody>
        </p:sp>
      </p:grpSp>
    </p:spTree>
    <p:extLst>
      <p:ext uri="{BB962C8B-B14F-4D97-AF65-F5344CB8AC3E}">
        <p14:creationId xmlns:p14="http://schemas.microsoft.com/office/powerpoint/2010/main" val="490414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Implementing Kanban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the steps to implement Kanban</a:t>
            </a:r>
          </a:p>
          <a:p>
            <a:r>
              <a:rPr lang="en-US" sz="2400" dirty="0"/>
              <a:t>Define metrics for measuring success with Kanban</a:t>
            </a:r>
          </a:p>
          <a:p>
            <a:r>
              <a:rPr lang="en-US" sz="2400" dirty="0"/>
              <a:t>Review the components of the Kanban Results Form</a:t>
            </a:r>
          </a:p>
          <a:p>
            <a:r>
              <a:rPr lang="en-US" sz="2400" dirty="0"/>
              <a:t>Discuss keys to success with Kanban</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5850075" cy="659879"/>
            <a:chOff x="699911" y="1069861"/>
            <a:chExt cx="5850075" cy="350130"/>
          </a:xfrm>
        </p:grpSpPr>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Implementing Kanban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Kanban Calculations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Types of Kanban &amp; How It Works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Push vs. Pull Systems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209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to Implement Kanban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514350" indent="-514350">
              <a:buFont typeface="+mj-lt"/>
              <a:buAutoNum type="arabicPeriod"/>
            </a:pPr>
            <a:r>
              <a:rPr lang="en-US" altLang="en-US" dirty="0"/>
              <a:t>Conduct an ABC analysis</a:t>
            </a:r>
          </a:p>
          <a:p>
            <a:pPr marL="514350" indent="-514350">
              <a:buFont typeface="+mj-lt"/>
              <a:buAutoNum type="arabicPeriod"/>
            </a:pPr>
            <a:r>
              <a:rPr lang="en-US" altLang="en-US" dirty="0"/>
              <a:t>Put together a demand analysis (see worksheet)</a:t>
            </a:r>
          </a:p>
          <a:p>
            <a:pPr marL="514350" indent="-514350">
              <a:buFont typeface="+mj-lt"/>
              <a:buAutoNum type="arabicPeriod"/>
            </a:pPr>
            <a:r>
              <a:rPr lang="en-US" altLang="en-US" dirty="0"/>
              <a:t>Using the data accumulated, make sure your allocation has overloaded one or more of your supplying sources.</a:t>
            </a:r>
          </a:p>
          <a:p>
            <a:pPr marL="514350" indent="-514350">
              <a:buFont typeface="+mj-lt"/>
              <a:buAutoNum type="arabicPeriod"/>
            </a:pPr>
            <a:r>
              <a:rPr lang="en-US" altLang="en-US" dirty="0"/>
              <a:t>Complete capacity analysis (see worksheet)</a:t>
            </a:r>
          </a:p>
          <a:p>
            <a:pPr marL="514350" indent="-514350">
              <a:buFont typeface="+mj-lt"/>
              <a:buAutoNum type="arabicPeriod"/>
            </a:pPr>
            <a:r>
              <a:rPr lang="en-US" altLang="en-US" dirty="0"/>
              <a:t>Revisit the number of days you plan to run your ABC parts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44</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Tree>
    <p:extLst>
      <p:ext uri="{BB962C8B-B14F-4D97-AF65-F5344CB8AC3E}">
        <p14:creationId xmlns:p14="http://schemas.microsoft.com/office/powerpoint/2010/main" val="37221181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Measuring Progress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 Number of Stock-Outs</a:t>
            </a:r>
          </a:p>
          <a:p>
            <a:r>
              <a:rPr lang="en-US" altLang="en-US" dirty="0"/>
              <a:t> Inventory Levels</a:t>
            </a:r>
          </a:p>
          <a:p>
            <a:r>
              <a:rPr lang="en-US" altLang="en-US" dirty="0"/>
              <a:t> Square Footage</a:t>
            </a:r>
          </a:p>
          <a:p>
            <a:r>
              <a:rPr lang="en-US" altLang="en-US" dirty="0"/>
              <a:t> Number of Inventory Transactions</a:t>
            </a:r>
          </a:p>
          <a:p>
            <a:r>
              <a:rPr lang="en-US" altLang="en-US" dirty="0"/>
              <a:t> Supplier Performance (Internal and External)</a:t>
            </a:r>
          </a:p>
          <a:p>
            <a:r>
              <a:rPr lang="en-US" altLang="en-US" dirty="0"/>
              <a:t> Lead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Tree>
    <p:extLst>
      <p:ext uri="{BB962C8B-B14F-4D97-AF65-F5344CB8AC3E}">
        <p14:creationId xmlns:p14="http://schemas.microsoft.com/office/powerpoint/2010/main" val="2892180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Kanban Inventory Improvements – Results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grpSp>
        <p:nvGrpSpPr>
          <p:cNvPr id="102" name="Group 101">
            <a:extLst>
              <a:ext uri="{FF2B5EF4-FFF2-40B4-BE49-F238E27FC236}">
                <a16:creationId xmlns:a16="http://schemas.microsoft.com/office/drawing/2014/main" id="{7FEAD115-4F13-5056-9FD8-EA3F50EC1ABC}"/>
              </a:ext>
            </a:extLst>
          </p:cNvPr>
          <p:cNvGrpSpPr/>
          <p:nvPr/>
        </p:nvGrpSpPr>
        <p:grpSpPr>
          <a:xfrm>
            <a:off x="1841916" y="1772783"/>
            <a:ext cx="8395872" cy="4857750"/>
            <a:chOff x="344903" y="1524000"/>
            <a:chExt cx="8395872" cy="4857750"/>
          </a:xfrm>
        </p:grpSpPr>
        <p:sp>
          <p:nvSpPr>
            <p:cNvPr id="4" name="Rectangle 2">
              <a:extLst>
                <a:ext uri="{FF2B5EF4-FFF2-40B4-BE49-F238E27FC236}">
                  <a16:creationId xmlns:a16="http://schemas.microsoft.com/office/drawing/2014/main" id="{DC44106C-3F8A-E71A-307F-DE482412BC23}"/>
                </a:ext>
              </a:extLst>
            </p:cNvPr>
            <p:cNvSpPr>
              <a:spLocks noChangeArrowheads="1"/>
            </p:cNvSpPr>
            <p:nvPr/>
          </p:nvSpPr>
          <p:spPr bwMode="auto">
            <a:xfrm>
              <a:off x="847725" y="2209800"/>
              <a:ext cx="51296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i="1" dirty="0">
                  <a:solidFill>
                    <a:srgbClr val="000000"/>
                  </a:solidFill>
                  <a:latin typeface="Roboto" panose="02000000000000000000" pitchFamily="2" charset="0"/>
                  <a:ea typeface="Roboto" panose="02000000000000000000" pitchFamily="2" charset="0"/>
                </a:rPr>
                <a:t>Items</a:t>
              </a:r>
              <a:endParaRPr lang="en-US" altLang="en-US" sz="1600" b="0" dirty="0">
                <a:latin typeface="Roboto" panose="02000000000000000000" pitchFamily="2" charset="0"/>
                <a:ea typeface="Roboto" panose="02000000000000000000" pitchFamily="2" charset="0"/>
              </a:endParaRPr>
            </a:p>
          </p:txBody>
        </p:sp>
        <p:sp>
          <p:nvSpPr>
            <p:cNvPr id="6" name="Rectangle 3">
              <a:extLst>
                <a:ext uri="{FF2B5EF4-FFF2-40B4-BE49-F238E27FC236}">
                  <a16:creationId xmlns:a16="http://schemas.microsoft.com/office/drawing/2014/main" id="{AE0295BE-4801-87BA-0AE7-2FF6D1534630}"/>
                </a:ext>
              </a:extLst>
            </p:cNvPr>
            <p:cNvSpPr>
              <a:spLocks noChangeArrowheads="1"/>
            </p:cNvSpPr>
            <p:nvPr/>
          </p:nvSpPr>
          <p:spPr bwMode="auto">
            <a:xfrm>
              <a:off x="1788537" y="2229322"/>
              <a:ext cx="88325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 of SKU's</a:t>
              </a:r>
              <a:endParaRPr lang="en-US" altLang="en-US" sz="1500" b="0" dirty="0">
                <a:latin typeface="Roboto" panose="02000000000000000000" pitchFamily="2" charset="0"/>
                <a:ea typeface="Roboto" panose="02000000000000000000" pitchFamily="2" charset="0"/>
              </a:endParaRPr>
            </a:p>
          </p:txBody>
        </p:sp>
        <p:sp>
          <p:nvSpPr>
            <p:cNvPr id="7" name="Rectangle 4">
              <a:extLst>
                <a:ext uri="{FF2B5EF4-FFF2-40B4-BE49-F238E27FC236}">
                  <a16:creationId xmlns:a16="http://schemas.microsoft.com/office/drawing/2014/main" id="{54C62255-2682-AD8F-9160-51AB98B177A3}"/>
                </a:ext>
              </a:extLst>
            </p:cNvPr>
            <p:cNvSpPr>
              <a:spLocks noChangeArrowheads="1"/>
            </p:cNvSpPr>
            <p:nvPr/>
          </p:nvSpPr>
          <p:spPr bwMode="auto">
            <a:xfrm>
              <a:off x="2993808" y="2020242"/>
              <a:ext cx="847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Beginning</a:t>
              </a:r>
            </a:p>
            <a:p>
              <a:pPr algn="ct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Inventory</a:t>
              </a:r>
              <a:endParaRPr lang="en-US" altLang="en-US" sz="1500" b="0" dirty="0">
                <a:latin typeface="Roboto" panose="02000000000000000000" pitchFamily="2" charset="0"/>
                <a:ea typeface="Roboto" panose="02000000000000000000" pitchFamily="2" charset="0"/>
              </a:endParaRPr>
            </a:p>
          </p:txBody>
        </p:sp>
        <p:sp>
          <p:nvSpPr>
            <p:cNvPr id="9" name="Rectangle 6">
              <a:extLst>
                <a:ext uri="{FF2B5EF4-FFF2-40B4-BE49-F238E27FC236}">
                  <a16:creationId xmlns:a16="http://schemas.microsoft.com/office/drawing/2014/main" id="{15755865-4820-9FCD-B7C5-689F9F5A6CE0}"/>
                </a:ext>
              </a:extLst>
            </p:cNvPr>
            <p:cNvSpPr>
              <a:spLocks noChangeArrowheads="1"/>
            </p:cNvSpPr>
            <p:nvPr/>
          </p:nvSpPr>
          <p:spPr bwMode="auto">
            <a:xfrm>
              <a:off x="4205900" y="2020241"/>
              <a:ext cx="7886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Ending </a:t>
              </a:r>
            </a:p>
            <a:p>
              <a:pPr algn="ct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Inventory</a:t>
              </a:r>
              <a:endParaRPr lang="en-US" altLang="en-US" sz="1500" b="0" dirty="0">
                <a:latin typeface="Roboto" panose="02000000000000000000" pitchFamily="2" charset="0"/>
                <a:ea typeface="Roboto" panose="02000000000000000000" pitchFamily="2" charset="0"/>
              </a:endParaRPr>
            </a:p>
          </p:txBody>
        </p:sp>
        <p:sp>
          <p:nvSpPr>
            <p:cNvPr id="10" name="Rectangle 7">
              <a:extLst>
                <a:ext uri="{FF2B5EF4-FFF2-40B4-BE49-F238E27FC236}">
                  <a16:creationId xmlns:a16="http://schemas.microsoft.com/office/drawing/2014/main" id="{F9DA98E2-C717-08F0-DCB0-D5930066742B}"/>
                </a:ext>
              </a:extLst>
            </p:cNvPr>
            <p:cNvSpPr>
              <a:spLocks noChangeArrowheads="1"/>
            </p:cNvSpPr>
            <p:nvPr/>
          </p:nvSpPr>
          <p:spPr bwMode="auto">
            <a:xfrm>
              <a:off x="5544701" y="2242965"/>
              <a:ext cx="4376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Total</a:t>
              </a:r>
              <a:endParaRPr lang="en-US" altLang="en-US" sz="1500" b="0" dirty="0">
                <a:latin typeface="Roboto" panose="02000000000000000000" pitchFamily="2" charset="0"/>
                <a:ea typeface="Roboto" panose="02000000000000000000" pitchFamily="2" charset="0"/>
              </a:endParaRPr>
            </a:p>
          </p:txBody>
        </p:sp>
        <p:sp>
          <p:nvSpPr>
            <p:cNvPr id="11" name="Rectangle 8">
              <a:extLst>
                <a:ext uri="{FF2B5EF4-FFF2-40B4-BE49-F238E27FC236}">
                  <a16:creationId xmlns:a16="http://schemas.microsoft.com/office/drawing/2014/main" id="{EF676296-DAAB-DFA7-8892-8124E426B23C}"/>
                </a:ext>
              </a:extLst>
            </p:cNvPr>
            <p:cNvSpPr>
              <a:spLocks noChangeArrowheads="1"/>
            </p:cNvSpPr>
            <p:nvPr/>
          </p:nvSpPr>
          <p:spPr bwMode="auto">
            <a:xfrm>
              <a:off x="6672003" y="2254791"/>
              <a:ext cx="60593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Excess</a:t>
              </a:r>
              <a:endParaRPr lang="en-US" altLang="en-US" sz="1500" b="0" dirty="0">
                <a:latin typeface="Roboto" panose="02000000000000000000" pitchFamily="2" charset="0"/>
                <a:ea typeface="Roboto" panose="02000000000000000000" pitchFamily="2" charset="0"/>
              </a:endParaRPr>
            </a:p>
          </p:txBody>
        </p:sp>
        <p:sp>
          <p:nvSpPr>
            <p:cNvPr id="12" name="Rectangle 9">
              <a:extLst>
                <a:ext uri="{FF2B5EF4-FFF2-40B4-BE49-F238E27FC236}">
                  <a16:creationId xmlns:a16="http://schemas.microsoft.com/office/drawing/2014/main" id="{B53CB710-6A28-947F-6954-598E56FC3BED}"/>
                </a:ext>
              </a:extLst>
            </p:cNvPr>
            <p:cNvSpPr>
              <a:spLocks noChangeArrowheads="1"/>
            </p:cNvSpPr>
            <p:nvPr/>
          </p:nvSpPr>
          <p:spPr bwMode="auto">
            <a:xfrm>
              <a:off x="7695473" y="2259627"/>
              <a:ext cx="76302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500" b="0" dirty="0">
                  <a:solidFill>
                    <a:srgbClr val="000000"/>
                  </a:solidFill>
                  <a:latin typeface="Roboto" panose="02000000000000000000" pitchFamily="2" charset="0"/>
                  <a:ea typeface="Roboto" panose="02000000000000000000" pitchFamily="2" charset="0"/>
                </a:rPr>
                <a:t>Obsolete</a:t>
              </a:r>
              <a:endParaRPr lang="en-US" altLang="en-US" sz="1500" b="0" dirty="0">
                <a:latin typeface="Roboto" panose="02000000000000000000" pitchFamily="2" charset="0"/>
                <a:ea typeface="Roboto" panose="02000000000000000000" pitchFamily="2" charset="0"/>
              </a:endParaRPr>
            </a:p>
          </p:txBody>
        </p:sp>
        <p:sp>
          <p:nvSpPr>
            <p:cNvPr id="21" name="Rectangle 10">
              <a:extLst>
                <a:ext uri="{FF2B5EF4-FFF2-40B4-BE49-F238E27FC236}">
                  <a16:creationId xmlns:a16="http://schemas.microsoft.com/office/drawing/2014/main" id="{E4D02C4B-6ACB-7604-7850-5A80681D3B0A}"/>
                </a:ext>
              </a:extLst>
            </p:cNvPr>
            <p:cNvSpPr>
              <a:spLocks noChangeArrowheads="1"/>
            </p:cNvSpPr>
            <p:nvPr/>
          </p:nvSpPr>
          <p:spPr bwMode="auto">
            <a:xfrm>
              <a:off x="985838" y="2643188"/>
              <a:ext cx="13785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rgbClr val="000000"/>
                  </a:solidFill>
                  <a:latin typeface="Roboto" panose="02000000000000000000" pitchFamily="2" charset="0"/>
                  <a:ea typeface="Roboto" panose="02000000000000000000" pitchFamily="2" charset="0"/>
                </a:rPr>
                <a:t>A</a:t>
              </a:r>
              <a:endParaRPr lang="en-US" altLang="en-US" sz="1600" b="0">
                <a:latin typeface="Roboto" panose="02000000000000000000" pitchFamily="2" charset="0"/>
                <a:ea typeface="Roboto" panose="02000000000000000000" pitchFamily="2" charset="0"/>
              </a:endParaRPr>
            </a:p>
          </p:txBody>
        </p:sp>
        <p:sp>
          <p:nvSpPr>
            <p:cNvPr id="22" name="Rectangle 11">
              <a:extLst>
                <a:ext uri="{FF2B5EF4-FFF2-40B4-BE49-F238E27FC236}">
                  <a16:creationId xmlns:a16="http://schemas.microsoft.com/office/drawing/2014/main" id="{635D9EAC-9F21-A1EC-C354-237A25753B01}"/>
                </a:ext>
              </a:extLst>
            </p:cNvPr>
            <p:cNvSpPr>
              <a:spLocks noChangeArrowheads="1"/>
            </p:cNvSpPr>
            <p:nvPr/>
          </p:nvSpPr>
          <p:spPr bwMode="auto">
            <a:xfrm>
              <a:off x="5757863" y="2593975"/>
              <a:ext cx="5161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$0.00</a:t>
              </a:r>
              <a:endParaRPr lang="en-US" altLang="en-US" sz="1600" b="0">
                <a:latin typeface="Roboto" panose="02000000000000000000" pitchFamily="2" charset="0"/>
                <a:ea typeface="Roboto" panose="02000000000000000000" pitchFamily="2" charset="0"/>
              </a:endParaRPr>
            </a:p>
          </p:txBody>
        </p:sp>
        <p:sp>
          <p:nvSpPr>
            <p:cNvPr id="23" name="Rectangle 12">
              <a:extLst>
                <a:ext uri="{FF2B5EF4-FFF2-40B4-BE49-F238E27FC236}">
                  <a16:creationId xmlns:a16="http://schemas.microsoft.com/office/drawing/2014/main" id="{D9CA0036-6509-7A20-B9C0-6281C85483D7}"/>
                </a:ext>
              </a:extLst>
            </p:cNvPr>
            <p:cNvSpPr>
              <a:spLocks noChangeArrowheads="1"/>
            </p:cNvSpPr>
            <p:nvPr/>
          </p:nvSpPr>
          <p:spPr bwMode="auto">
            <a:xfrm>
              <a:off x="985838" y="3074988"/>
              <a:ext cx="1314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rgbClr val="000000"/>
                  </a:solidFill>
                  <a:latin typeface="Roboto" panose="02000000000000000000" pitchFamily="2" charset="0"/>
                  <a:ea typeface="Roboto" panose="02000000000000000000" pitchFamily="2" charset="0"/>
                </a:rPr>
                <a:t>B</a:t>
              </a:r>
              <a:endParaRPr lang="en-US" altLang="en-US" sz="1600" b="0">
                <a:latin typeface="Roboto" panose="02000000000000000000" pitchFamily="2" charset="0"/>
                <a:ea typeface="Roboto" panose="02000000000000000000" pitchFamily="2" charset="0"/>
              </a:endParaRPr>
            </a:p>
          </p:txBody>
        </p:sp>
        <p:sp>
          <p:nvSpPr>
            <p:cNvPr id="24" name="Rectangle 13">
              <a:extLst>
                <a:ext uri="{FF2B5EF4-FFF2-40B4-BE49-F238E27FC236}">
                  <a16:creationId xmlns:a16="http://schemas.microsoft.com/office/drawing/2014/main" id="{F5CAAD6A-2814-038D-E3CC-2476C35249BC}"/>
                </a:ext>
              </a:extLst>
            </p:cNvPr>
            <p:cNvSpPr>
              <a:spLocks noChangeArrowheads="1"/>
            </p:cNvSpPr>
            <p:nvPr/>
          </p:nvSpPr>
          <p:spPr bwMode="auto">
            <a:xfrm>
              <a:off x="5757863" y="3025775"/>
              <a:ext cx="5161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$0.00</a:t>
              </a:r>
              <a:endParaRPr lang="en-US" altLang="en-US" sz="1600" b="0">
                <a:latin typeface="Roboto" panose="02000000000000000000" pitchFamily="2" charset="0"/>
                <a:ea typeface="Roboto" panose="02000000000000000000" pitchFamily="2" charset="0"/>
              </a:endParaRPr>
            </a:p>
          </p:txBody>
        </p:sp>
        <p:sp>
          <p:nvSpPr>
            <p:cNvPr id="25" name="Rectangle 14">
              <a:extLst>
                <a:ext uri="{FF2B5EF4-FFF2-40B4-BE49-F238E27FC236}">
                  <a16:creationId xmlns:a16="http://schemas.microsoft.com/office/drawing/2014/main" id="{5923F9F0-64E1-9107-214C-89319CB48D50}"/>
                </a:ext>
              </a:extLst>
            </p:cNvPr>
            <p:cNvSpPr>
              <a:spLocks noChangeArrowheads="1"/>
            </p:cNvSpPr>
            <p:nvPr/>
          </p:nvSpPr>
          <p:spPr bwMode="auto">
            <a:xfrm>
              <a:off x="985838" y="3505200"/>
              <a:ext cx="1346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rgbClr val="000000"/>
                  </a:solidFill>
                  <a:latin typeface="Roboto" panose="02000000000000000000" pitchFamily="2" charset="0"/>
                  <a:ea typeface="Roboto" panose="02000000000000000000" pitchFamily="2" charset="0"/>
                </a:rPr>
                <a:t>C</a:t>
              </a:r>
              <a:endParaRPr lang="en-US" altLang="en-US" sz="1600" b="0">
                <a:latin typeface="Roboto" panose="02000000000000000000" pitchFamily="2" charset="0"/>
                <a:ea typeface="Roboto" panose="02000000000000000000" pitchFamily="2" charset="0"/>
              </a:endParaRPr>
            </a:p>
          </p:txBody>
        </p:sp>
        <p:sp>
          <p:nvSpPr>
            <p:cNvPr id="26" name="Rectangle 15">
              <a:extLst>
                <a:ext uri="{FF2B5EF4-FFF2-40B4-BE49-F238E27FC236}">
                  <a16:creationId xmlns:a16="http://schemas.microsoft.com/office/drawing/2014/main" id="{DA0842C6-3D93-DC5D-E6BF-22EABE0F49F1}"/>
                </a:ext>
              </a:extLst>
            </p:cNvPr>
            <p:cNvSpPr>
              <a:spLocks noChangeArrowheads="1"/>
            </p:cNvSpPr>
            <p:nvPr/>
          </p:nvSpPr>
          <p:spPr bwMode="auto">
            <a:xfrm>
              <a:off x="5757863" y="3455988"/>
              <a:ext cx="5161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$0.00</a:t>
              </a:r>
              <a:endParaRPr lang="en-US" altLang="en-US" sz="1600" b="0">
                <a:latin typeface="Roboto" panose="02000000000000000000" pitchFamily="2" charset="0"/>
                <a:ea typeface="Roboto" panose="02000000000000000000" pitchFamily="2" charset="0"/>
              </a:endParaRPr>
            </a:p>
          </p:txBody>
        </p:sp>
        <p:sp>
          <p:nvSpPr>
            <p:cNvPr id="27" name="Rectangle 16">
              <a:extLst>
                <a:ext uri="{FF2B5EF4-FFF2-40B4-BE49-F238E27FC236}">
                  <a16:creationId xmlns:a16="http://schemas.microsoft.com/office/drawing/2014/main" id="{D9642748-29F9-80D9-CEAF-FB26A8B49DAB}"/>
                </a:ext>
              </a:extLst>
            </p:cNvPr>
            <p:cNvSpPr>
              <a:spLocks noChangeArrowheads="1"/>
            </p:cNvSpPr>
            <p:nvPr/>
          </p:nvSpPr>
          <p:spPr bwMode="auto">
            <a:xfrm>
              <a:off x="838200" y="3962400"/>
              <a:ext cx="58189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rgbClr val="000000"/>
                  </a:solidFill>
                  <a:latin typeface="Roboto" panose="02000000000000000000" pitchFamily="2" charset="0"/>
                  <a:ea typeface="Roboto" panose="02000000000000000000" pitchFamily="2" charset="0"/>
                </a:rPr>
                <a:t>Totals</a:t>
              </a:r>
              <a:endParaRPr lang="en-US" altLang="en-US" sz="1600" b="0">
                <a:latin typeface="Roboto" panose="02000000000000000000" pitchFamily="2" charset="0"/>
                <a:ea typeface="Roboto" panose="02000000000000000000" pitchFamily="2" charset="0"/>
              </a:endParaRPr>
            </a:p>
          </p:txBody>
        </p:sp>
        <p:sp>
          <p:nvSpPr>
            <p:cNvPr id="28" name="Rectangle 17">
              <a:extLst>
                <a:ext uri="{FF2B5EF4-FFF2-40B4-BE49-F238E27FC236}">
                  <a16:creationId xmlns:a16="http://schemas.microsoft.com/office/drawing/2014/main" id="{1C87728A-206F-90DF-EA90-E6A869735B69}"/>
                </a:ext>
              </a:extLst>
            </p:cNvPr>
            <p:cNvSpPr>
              <a:spLocks noChangeArrowheads="1"/>
            </p:cNvSpPr>
            <p:nvPr/>
          </p:nvSpPr>
          <p:spPr bwMode="auto">
            <a:xfrm>
              <a:off x="2092325" y="3927475"/>
              <a:ext cx="1154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a:t>
              </a:r>
              <a:endParaRPr lang="en-US" altLang="en-US" sz="1600" b="0">
                <a:latin typeface="Roboto" panose="02000000000000000000" pitchFamily="2" charset="0"/>
                <a:ea typeface="Roboto" panose="02000000000000000000" pitchFamily="2" charset="0"/>
              </a:endParaRPr>
            </a:p>
          </p:txBody>
        </p:sp>
        <p:sp>
          <p:nvSpPr>
            <p:cNvPr id="29" name="Rectangle 18">
              <a:extLst>
                <a:ext uri="{FF2B5EF4-FFF2-40B4-BE49-F238E27FC236}">
                  <a16:creationId xmlns:a16="http://schemas.microsoft.com/office/drawing/2014/main" id="{465A0E1B-1AD9-14D4-D9C3-B1ADDF9CCF24}"/>
                </a:ext>
              </a:extLst>
            </p:cNvPr>
            <p:cNvSpPr>
              <a:spLocks noChangeArrowheads="1"/>
            </p:cNvSpPr>
            <p:nvPr/>
          </p:nvSpPr>
          <p:spPr bwMode="auto">
            <a:xfrm>
              <a:off x="2178050" y="4179888"/>
              <a:ext cx="984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 name="Rectangle 19">
              <a:extLst>
                <a:ext uri="{FF2B5EF4-FFF2-40B4-BE49-F238E27FC236}">
                  <a16:creationId xmlns:a16="http://schemas.microsoft.com/office/drawing/2014/main" id="{DD21D0B6-5285-209E-61CD-1EA4DC68E385}"/>
                </a:ext>
              </a:extLst>
            </p:cNvPr>
            <p:cNvSpPr>
              <a:spLocks noChangeArrowheads="1"/>
            </p:cNvSpPr>
            <p:nvPr/>
          </p:nvSpPr>
          <p:spPr bwMode="auto">
            <a:xfrm>
              <a:off x="2178050" y="4197350"/>
              <a:ext cx="984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Rectangle 20">
              <a:extLst>
                <a:ext uri="{FF2B5EF4-FFF2-40B4-BE49-F238E27FC236}">
                  <a16:creationId xmlns:a16="http://schemas.microsoft.com/office/drawing/2014/main" id="{50A4C223-F6E1-2BF7-7E36-A0145DF04827}"/>
                </a:ext>
              </a:extLst>
            </p:cNvPr>
            <p:cNvSpPr>
              <a:spLocks noChangeArrowheads="1"/>
            </p:cNvSpPr>
            <p:nvPr/>
          </p:nvSpPr>
          <p:spPr bwMode="auto">
            <a:xfrm>
              <a:off x="3414713" y="3927475"/>
              <a:ext cx="5161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$0.00</a:t>
              </a:r>
              <a:endParaRPr lang="en-US" altLang="en-US" sz="1600" b="0">
                <a:latin typeface="Roboto" panose="02000000000000000000" pitchFamily="2" charset="0"/>
                <a:ea typeface="Roboto" panose="02000000000000000000" pitchFamily="2" charset="0"/>
              </a:endParaRPr>
            </a:p>
          </p:txBody>
        </p:sp>
        <p:sp>
          <p:nvSpPr>
            <p:cNvPr id="32" name="Rectangle 21">
              <a:extLst>
                <a:ext uri="{FF2B5EF4-FFF2-40B4-BE49-F238E27FC236}">
                  <a16:creationId xmlns:a16="http://schemas.microsoft.com/office/drawing/2014/main" id="{85EA1E41-07BC-7435-CBC5-B6B611815FA3}"/>
                </a:ext>
              </a:extLst>
            </p:cNvPr>
            <p:cNvSpPr>
              <a:spLocks noChangeArrowheads="1"/>
            </p:cNvSpPr>
            <p:nvPr/>
          </p:nvSpPr>
          <p:spPr bwMode="auto">
            <a:xfrm>
              <a:off x="3500438" y="4179888"/>
              <a:ext cx="4460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 name="Rectangle 22">
              <a:extLst>
                <a:ext uri="{FF2B5EF4-FFF2-40B4-BE49-F238E27FC236}">
                  <a16:creationId xmlns:a16="http://schemas.microsoft.com/office/drawing/2014/main" id="{EB2F771F-48E0-F693-2A61-B1A387C0D314}"/>
                </a:ext>
              </a:extLst>
            </p:cNvPr>
            <p:cNvSpPr>
              <a:spLocks noChangeArrowheads="1"/>
            </p:cNvSpPr>
            <p:nvPr/>
          </p:nvSpPr>
          <p:spPr bwMode="auto">
            <a:xfrm>
              <a:off x="3500438" y="4197350"/>
              <a:ext cx="4460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Rectangle 23">
              <a:extLst>
                <a:ext uri="{FF2B5EF4-FFF2-40B4-BE49-F238E27FC236}">
                  <a16:creationId xmlns:a16="http://schemas.microsoft.com/office/drawing/2014/main" id="{08A10119-B255-A456-AAB5-555E1D44FD95}"/>
                </a:ext>
              </a:extLst>
            </p:cNvPr>
            <p:cNvSpPr>
              <a:spLocks noChangeArrowheads="1"/>
            </p:cNvSpPr>
            <p:nvPr/>
          </p:nvSpPr>
          <p:spPr bwMode="auto">
            <a:xfrm>
              <a:off x="4586288" y="3927475"/>
              <a:ext cx="5161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$0.00</a:t>
              </a:r>
              <a:endParaRPr lang="en-US" altLang="en-US" sz="1600" b="0">
                <a:latin typeface="Roboto" panose="02000000000000000000" pitchFamily="2" charset="0"/>
                <a:ea typeface="Roboto" panose="02000000000000000000" pitchFamily="2" charset="0"/>
              </a:endParaRPr>
            </a:p>
          </p:txBody>
        </p:sp>
        <p:sp>
          <p:nvSpPr>
            <p:cNvPr id="35" name="Rectangle 24">
              <a:extLst>
                <a:ext uri="{FF2B5EF4-FFF2-40B4-BE49-F238E27FC236}">
                  <a16:creationId xmlns:a16="http://schemas.microsoft.com/office/drawing/2014/main" id="{3E1092F2-A33F-97CD-442D-55B2F1379D30}"/>
                </a:ext>
              </a:extLst>
            </p:cNvPr>
            <p:cNvSpPr>
              <a:spLocks noChangeArrowheads="1"/>
            </p:cNvSpPr>
            <p:nvPr/>
          </p:nvSpPr>
          <p:spPr bwMode="auto">
            <a:xfrm>
              <a:off x="4672013" y="4179888"/>
              <a:ext cx="4460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 name="Rectangle 25">
              <a:extLst>
                <a:ext uri="{FF2B5EF4-FFF2-40B4-BE49-F238E27FC236}">
                  <a16:creationId xmlns:a16="http://schemas.microsoft.com/office/drawing/2014/main" id="{B79EE70A-A367-EAD4-30D1-A426A9CFA85C}"/>
                </a:ext>
              </a:extLst>
            </p:cNvPr>
            <p:cNvSpPr>
              <a:spLocks noChangeArrowheads="1"/>
            </p:cNvSpPr>
            <p:nvPr/>
          </p:nvSpPr>
          <p:spPr bwMode="auto">
            <a:xfrm>
              <a:off x="4672013" y="4197350"/>
              <a:ext cx="4460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 name="Rectangle 26">
              <a:extLst>
                <a:ext uri="{FF2B5EF4-FFF2-40B4-BE49-F238E27FC236}">
                  <a16:creationId xmlns:a16="http://schemas.microsoft.com/office/drawing/2014/main" id="{ACDE2D62-6DCD-01C0-933A-C92F0D38E96F}"/>
                </a:ext>
              </a:extLst>
            </p:cNvPr>
            <p:cNvSpPr>
              <a:spLocks noChangeArrowheads="1"/>
            </p:cNvSpPr>
            <p:nvPr/>
          </p:nvSpPr>
          <p:spPr bwMode="auto">
            <a:xfrm>
              <a:off x="5757863" y="3927475"/>
              <a:ext cx="5161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$0.00</a:t>
              </a:r>
              <a:endParaRPr lang="en-US" altLang="en-US" sz="1600" b="0">
                <a:latin typeface="Roboto" panose="02000000000000000000" pitchFamily="2" charset="0"/>
                <a:ea typeface="Roboto" panose="02000000000000000000" pitchFamily="2" charset="0"/>
              </a:endParaRPr>
            </a:p>
          </p:txBody>
        </p:sp>
        <p:sp>
          <p:nvSpPr>
            <p:cNvPr id="38" name="Rectangle 27">
              <a:extLst>
                <a:ext uri="{FF2B5EF4-FFF2-40B4-BE49-F238E27FC236}">
                  <a16:creationId xmlns:a16="http://schemas.microsoft.com/office/drawing/2014/main" id="{1E09B1B1-4399-2382-D74C-0DE340BAF8B2}"/>
                </a:ext>
              </a:extLst>
            </p:cNvPr>
            <p:cNvSpPr>
              <a:spLocks noChangeArrowheads="1"/>
            </p:cNvSpPr>
            <p:nvPr/>
          </p:nvSpPr>
          <p:spPr bwMode="auto">
            <a:xfrm>
              <a:off x="5843588" y="4179888"/>
              <a:ext cx="4476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9" name="Rectangle 28">
              <a:extLst>
                <a:ext uri="{FF2B5EF4-FFF2-40B4-BE49-F238E27FC236}">
                  <a16:creationId xmlns:a16="http://schemas.microsoft.com/office/drawing/2014/main" id="{DBF26886-6C1A-E01E-8E97-709B36D21B1E}"/>
                </a:ext>
              </a:extLst>
            </p:cNvPr>
            <p:cNvSpPr>
              <a:spLocks noChangeArrowheads="1"/>
            </p:cNvSpPr>
            <p:nvPr/>
          </p:nvSpPr>
          <p:spPr bwMode="auto">
            <a:xfrm>
              <a:off x="5843588" y="4197350"/>
              <a:ext cx="4476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0" name="Rectangle 29">
              <a:extLst>
                <a:ext uri="{FF2B5EF4-FFF2-40B4-BE49-F238E27FC236}">
                  <a16:creationId xmlns:a16="http://schemas.microsoft.com/office/drawing/2014/main" id="{14022EFD-9C48-2F8B-2D1C-B3FAF82D949B}"/>
                </a:ext>
              </a:extLst>
            </p:cNvPr>
            <p:cNvSpPr>
              <a:spLocks noChangeArrowheads="1"/>
            </p:cNvSpPr>
            <p:nvPr/>
          </p:nvSpPr>
          <p:spPr bwMode="auto">
            <a:xfrm>
              <a:off x="822325" y="4868863"/>
              <a:ext cx="5578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i="1">
                  <a:solidFill>
                    <a:srgbClr val="000000"/>
                  </a:solidFill>
                  <a:latin typeface="Roboto" panose="02000000000000000000" pitchFamily="2" charset="0"/>
                  <a:ea typeface="Roboto" panose="02000000000000000000" pitchFamily="2" charset="0"/>
                </a:rPr>
                <a:t>Space</a:t>
              </a:r>
              <a:endParaRPr lang="en-US" altLang="en-US" sz="1600" b="0">
                <a:latin typeface="Roboto" panose="02000000000000000000" pitchFamily="2" charset="0"/>
                <a:ea typeface="Roboto" panose="02000000000000000000" pitchFamily="2" charset="0"/>
              </a:endParaRPr>
            </a:p>
          </p:txBody>
        </p:sp>
        <p:sp>
          <p:nvSpPr>
            <p:cNvPr id="41" name="Rectangle 30">
              <a:extLst>
                <a:ext uri="{FF2B5EF4-FFF2-40B4-BE49-F238E27FC236}">
                  <a16:creationId xmlns:a16="http://schemas.microsoft.com/office/drawing/2014/main" id="{6E05A0AF-2EDA-F120-9F9F-78B05E4BAC70}"/>
                </a:ext>
              </a:extLst>
            </p:cNvPr>
            <p:cNvSpPr>
              <a:spLocks noChangeArrowheads="1"/>
            </p:cNvSpPr>
            <p:nvPr/>
          </p:nvSpPr>
          <p:spPr bwMode="auto">
            <a:xfrm>
              <a:off x="2837254" y="4856877"/>
              <a:ext cx="11092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b="0" dirty="0">
                  <a:solidFill>
                    <a:srgbClr val="000000"/>
                  </a:solidFill>
                  <a:latin typeface="Roboto" panose="02000000000000000000" pitchFamily="2" charset="0"/>
                  <a:ea typeface="Roboto" panose="02000000000000000000" pitchFamily="2" charset="0"/>
                </a:rPr>
                <a:t>Before Kaizen</a:t>
              </a:r>
              <a:endParaRPr lang="en-US" altLang="en-US" sz="1400" b="0" dirty="0">
                <a:latin typeface="Roboto" panose="02000000000000000000" pitchFamily="2" charset="0"/>
                <a:ea typeface="Roboto" panose="02000000000000000000" pitchFamily="2" charset="0"/>
              </a:endParaRPr>
            </a:p>
          </p:txBody>
        </p:sp>
        <p:sp>
          <p:nvSpPr>
            <p:cNvPr id="42" name="Rectangle 31">
              <a:extLst>
                <a:ext uri="{FF2B5EF4-FFF2-40B4-BE49-F238E27FC236}">
                  <a16:creationId xmlns:a16="http://schemas.microsoft.com/office/drawing/2014/main" id="{BC20678C-8F84-9C08-B755-CDC4639BDD42}"/>
                </a:ext>
              </a:extLst>
            </p:cNvPr>
            <p:cNvSpPr>
              <a:spLocks noChangeArrowheads="1"/>
            </p:cNvSpPr>
            <p:nvPr/>
          </p:nvSpPr>
          <p:spPr bwMode="auto">
            <a:xfrm>
              <a:off x="4092810" y="4868863"/>
              <a:ext cx="97622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b="0" dirty="0">
                  <a:solidFill>
                    <a:srgbClr val="000000"/>
                  </a:solidFill>
                  <a:latin typeface="Roboto" panose="02000000000000000000" pitchFamily="2" charset="0"/>
                  <a:ea typeface="Roboto" panose="02000000000000000000" pitchFamily="2" charset="0"/>
                </a:rPr>
                <a:t>After Kaizen</a:t>
              </a:r>
              <a:endParaRPr lang="en-US" altLang="en-US" sz="1400" b="0" dirty="0">
                <a:latin typeface="Roboto" panose="02000000000000000000" pitchFamily="2" charset="0"/>
                <a:ea typeface="Roboto" panose="02000000000000000000" pitchFamily="2" charset="0"/>
              </a:endParaRPr>
            </a:p>
          </p:txBody>
        </p:sp>
        <p:sp>
          <p:nvSpPr>
            <p:cNvPr id="43" name="Rectangle 32">
              <a:extLst>
                <a:ext uri="{FF2B5EF4-FFF2-40B4-BE49-F238E27FC236}">
                  <a16:creationId xmlns:a16="http://schemas.microsoft.com/office/drawing/2014/main" id="{A44A4E23-228E-218E-AEBE-1084892D9F9E}"/>
                </a:ext>
              </a:extLst>
            </p:cNvPr>
            <p:cNvSpPr>
              <a:spLocks noChangeArrowheads="1"/>
            </p:cNvSpPr>
            <p:nvPr/>
          </p:nvSpPr>
          <p:spPr bwMode="auto">
            <a:xfrm>
              <a:off x="6583858" y="4843770"/>
              <a:ext cx="7181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dirty="0">
                  <a:solidFill>
                    <a:srgbClr val="000000"/>
                  </a:solidFill>
                  <a:latin typeface="Roboto" panose="02000000000000000000" pitchFamily="2" charset="0"/>
                  <a:ea typeface="Roboto" panose="02000000000000000000" pitchFamily="2" charset="0"/>
                </a:rPr>
                <a:t>Savings</a:t>
              </a:r>
              <a:endParaRPr lang="en-US" altLang="en-US" sz="1600" b="0" dirty="0">
                <a:latin typeface="Roboto" panose="02000000000000000000" pitchFamily="2" charset="0"/>
                <a:ea typeface="Roboto" panose="02000000000000000000" pitchFamily="2" charset="0"/>
              </a:endParaRPr>
            </a:p>
          </p:txBody>
        </p:sp>
        <p:sp>
          <p:nvSpPr>
            <p:cNvPr id="44" name="Rectangle 33">
              <a:extLst>
                <a:ext uri="{FF2B5EF4-FFF2-40B4-BE49-F238E27FC236}">
                  <a16:creationId xmlns:a16="http://schemas.microsoft.com/office/drawing/2014/main" id="{62A940E7-69E5-9CFB-CCBD-02DBCEDEB7CD}"/>
                </a:ext>
              </a:extLst>
            </p:cNvPr>
            <p:cNvSpPr>
              <a:spLocks noChangeArrowheads="1"/>
            </p:cNvSpPr>
            <p:nvPr/>
          </p:nvSpPr>
          <p:spPr bwMode="auto">
            <a:xfrm>
              <a:off x="1678527" y="5267167"/>
              <a:ext cx="109324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dirty="0">
                  <a:solidFill>
                    <a:srgbClr val="000000"/>
                  </a:solidFill>
                  <a:latin typeface="Roboto" panose="02000000000000000000" pitchFamily="2" charset="0"/>
                  <a:ea typeface="Roboto" panose="02000000000000000000" pitchFamily="2" charset="0"/>
                </a:rPr>
                <a:t>Square Feet</a:t>
              </a:r>
              <a:endParaRPr lang="en-US" altLang="en-US" sz="1600" b="0" dirty="0">
                <a:latin typeface="Roboto" panose="02000000000000000000" pitchFamily="2" charset="0"/>
                <a:ea typeface="Roboto" panose="02000000000000000000" pitchFamily="2" charset="0"/>
              </a:endParaRPr>
            </a:p>
          </p:txBody>
        </p:sp>
        <p:sp>
          <p:nvSpPr>
            <p:cNvPr id="45" name="Rectangle 34">
              <a:extLst>
                <a:ext uri="{FF2B5EF4-FFF2-40B4-BE49-F238E27FC236}">
                  <a16:creationId xmlns:a16="http://schemas.microsoft.com/office/drawing/2014/main" id="{0AB77406-5BAA-664C-A1E2-C7DF20FC819A}"/>
                </a:ext>
              </a:extLst>
            </p:cNvPr>
            <p:cNvSpPr>
              <a:spLocks noChangeArrowheads="1"/>
            </p:cNvSpPr>
            <p:nvPr/>
          </p:nvSpPr>
          <p:spPr bwMode="auto">
            <a:xfrm>
              <a:off x="6872288" y="5184775"/>
              <a:ext cx="1154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solidFill>
                    <a:srgbClr val="000000"/>
                  </a:solidFill>
                  <a:latin typeface="Roboto" panose="02000000000000000000" pitchFamily="2" charset="0"/>
                  <a:ea typeface="Roboto" panose="02000000000000000000" pitchFamily="2" charset="0"/>
                </a:rPr>
                <a:t>0</a:t>
              </a:r>
              <a:endParaRPr lang="en-US" altLang="en-US" sz="1600" b="0">
                <a:latin typeface="Roboto" panose="02000000000000000000" pitchFamily="2" charset="0"/>
                <a:ea typeface="Roboto" panose="02000000000000000000" pitchFamily="2" charset="0"/>
              </a:endParaRPr>
            </a:p>
          </p:txBody>
        </p:sp>
        <p:sp>
          <p:nvSpPr>
            <p:cNvPr id="46" name="Rectangle 35">
              <a:extLst>
                <a:ext uri="{FF2B5EF4-FFF2-40B4-BE49-F238E27FC236}">
                  <a16:creationId xmlns:a16="http://schemas.microsoft.com/office/drawing/2014/main" id="{4B855C7E-A846-3F2A-F246-7085BC66312F}"/>
                </a:ext>
              </a:extLst>
            </p:cNvPr>
            <p:cNvSpPr>
              <a:spLocks noChangeArrowheads="1"/>
            </p:cNvSpPr>
            <p:nvPr/>
          </p:nvSpPr>
          <p:spPr bwMode="auto">
            <a:xfrm>
              <a:off x="6616700" y="1736725"/>
              <a:ext cx="7165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i="1" dirty="0">
                  <a:solidFill>
                    <a:srgbClr val="000000"/>
                  </a:solidFill>
                  <a:latin typeface="Roboto" panose="02000000000000000000" pitchFamily="2" charset="0"/>
                  <a:ea typeface="Roboto" panose="02000000000000000000" pitchFamily="2" charset="0"/>
                </a:rPr>
                <a:t>Savings</a:t>
              </a:r>
              <a:endParaRPr lang="en-US" altLang="en-US" sz="1600" b="0" dirty="0">
                <a:latin typeface="Roboto" panose="02000000000000000000" pitchFamily="2" charset="0"/>
                <a:ea typeface="Roboto" panose="02000000000000000000" pitchFamily="2" charset="0"/>
              </a:endParaRPr>
            </a:p>
          </p:txBody>
        </p:sp>
        <p:sp>
          <p:nvSpPr>
            <p:cNvPr id="47" name="Line 37">
              <a:extLst>
                <a:ext uri="{FF2B5EF4-FFF2-40B4-BE49-F238E27FC236}">
                  <a16:creationId xmlns:a16="http://schemas.microsoft.com/office/drawing/2014/main" id="{445A66EA-68A5-3974-1859-3D20DC350912}"/>
                </a:ext>
              </a:extLst>
            </p:cNvPr>
            <p:cNvSpPr>
              <a:spLocks noChangeShapeType="1"/>
            </p:cNvSpPr>
            <p:nvPr/>
          </p:nvSpPr>
          <p:spPr bwMode="auto">
            <a:xfrm>
              <a:off x="2800350" y="2068513"/>
              <a:ext cx="1588" cy="2155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8" name="Rectangle 38">
              <a:extLst>
                <a:ext uri="{FF2B5EF4-FFF2-40B4-BE49-F238E27FC236}">
                  <a16:creationId xmlns:a16="http://schemas.microsoft.com/office/drawing/2014/main" id="{F7930862-0CCB-DF55-2253-C7AD6750B083}"/>
                </a:ext>
              </a:extLst>
            </p:cNvPr>
            <p:cNvSpPr>
              <a:spLocks noChangeArrowheads="1"/>
            </p:cNvSpPr>
            <p:nvPr/>
          </p:nvSpPr>
          <p:spPr bwMode="auto">
            <a:xfrm>
              <a:off x="2800350" y="2068513"/>
              <a:ext cx="12700" cy="2155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9" name="Line 39">
              <a:extLst>
                <a:ext uri="{FF2B5EF4-FFF2-40B4-BE49-F238E27FC236}">
                  <a16:creationId xmlns:a16="http://schemas.microsoft.com/office/drawing/2014/main" id="{4EC94B25-98A8-A8F2-C4F7-1227504B87E2}"/>
                </a:ext>
              </a:extLst>
            </p:cNvPr>
            <p:cNvSpPr>
              <a:spLocks noChangeShapeType="1"/>
            </p:cNvSpPr>
            <p:nvPr/>
          </p:nvSpPr>
          <p:spPr bwMode="auto">
            <a:xfrm>
              <a:off x="3973513" y="2068513"/>
              <a:ext cx="1587" cy="2155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0" name="Rectangle 40">
              <a:extLst>
                <a:ext uri="{FF2B5EF4-FFF2-40B4-BE49-F238E27FC236}">
                  <a16:creationId xmlns:a16="http://schemas.microsoft.com/office/drawing/2014/main" id="{4FCDD165-95CD-BC7D-B4AD-A381CDE92F56}"/>
                </a:ext>
              </a:extLst>
            </p:cNvPr>
            <p:cNvSpPr>
              <a:spLocks noChangeArrowheads="1"/>
            </p:cNvSpPr>
            <p:nvPr/>
          </p:nvSpPr>
          <p:spPr bwMode="auto">
            <a:xfrm>
              <a:off x="3973513" y="2068513"/>
              <a:ext cx="11112" cy="2155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1" name="Line 41">
              <a:extLst>
                <a:ext uri="{FF2B5EF4-FFF2-40B4-BE49-F238E27FC236}">
                  <a16:creationId xmlns:a16="http://schemas.microsoft.com/office/drawing/2014/main" id="{62DAAC14-FD68-8868-5372-6D7C2D17CA9B}"/>
                </a:ext>
              </a:extLst>
            </p:cNvPr>
            <p:cNvSpPr>
              <a:spLocks noChangeShapeType="1"/>
            </p:cNvSpPr>
            <p:nvPr/>
          </p:nvSpPr>
          <p:spPr bwMode="auto">
            <a:xfrm>
              <a:off x="2813050" y="5075238"/>
              <a:ext cx="23431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2" name="Rectangle 42">
              <a:extLst>
                <a:ext uri="{FF2B5EF4-FFF2-40B4-BE49-F238E27FC236}">
                  <a16:creationId xmlns:a16="http://schemas.microsoft.com/office/drawing/2014/main" id="{BC322D2A-9785-7D4A-3987-748AFA34DCFC}"/>
                </a:ext>
              </a:extLst>
            </p:cNvPr>
            <p:cNvSpPr>
              <a:spLocks noChangeArrowheads="1"/>
            </p:cNvSpPr>
            <p:nvPr/>
          </p:nvSpPr>
          <p:spPr bwMode="auto">
            <a:xfrm>
              <a:off x="2813050" y="5075238"/>
              <a:ext cx="23431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3" name="Line 43">
              <a:extLst>
                <a:ext uri="{FF2B5EF4-FFF2-40B4-BE49-F238E27FC236}">
                  <a16:creationId xmlns:a16="http://schemas.microsoft.com/office/drawing/2014/main" id="{89734D12-A663-75DE-50A7-6B930258BE10}"/>
                </a:ext>
              </a:extLst>
            </p:cNvPr>
            <p:cNvSpPr>
              <a:spLocks noChangeShapeType="1"/>
            </p:cNvSpPr>
            <p:nvPr/>
          </p:nvSpPr>
          <p:spPr bwMode="auto">
            <a:xfrm>
              <a:off x="6316663" y="2068513"/>
              <a:ext cx="1587" cy="2155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4" name="Rectangle 44">
              <a:extLst>
                <a:ext uri="{FF2B5EF4-FFF2-40B4-BE49-F238E27FC236}">
                  <a16:creationId xmlns:a16="http://schemas.microsoft.com/office/drawing/2014/main" id="{8BBC2241-3996-4D0C-0B82-C8CF61E6B2C3}"/>
                </a:ext>
              </a:extLst>
            </p:cNvPr>
            <p:cNvSpPr>
              <a:spLocks noChangeArrowheads="1"/>
            </p:cNvSpPr>
            <p:nvPr/>
          </p:nvSpPr>
          <p:spPr bwMode="auto">
            <a:xfrm>
              <a:off x="6316663" y="2068513"/>
              <a:ext cx="12700" cy="2155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Line 45">
              <a:extLst>
                <a:ext uri="{FF2B5EF4-FFF2-40B4-BE49-F238E27FC236}">
                  <a16:creationId xmlns:a16="http://schemas.microsoft.com/office/drawing/2014/main" id="{15D6BFE9-3658-DAA9-C981-505551CC08D9}"/>
                </a:ext>
              </a:extLst>
            </p:cNvPr>
            <p:cNvSpPr>
              <a:spLocks noChangeShapeType="1"/>
            </p:cNvSpPr>
            <p:nvPr/>
          </p:nvSpPr>
          <p:spPr bwMode="auto">
            <a:xfrm>
              <a:off x="7488238" y="2068513"/>
              <a:ext cx="1587" cy="2155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6" name="Rectangle 46">
              <a:extLst>
                <a:ext uri="{FF2B5EF4-FFF2-40B4-BE49-F238E27FC236}">
                  <a16:creationId xmlns:a16="http://schemas.microsoft.com/office/drawing/2014/main" id="{80206157-5D1E-C617-9146-884334E0859C}"/>
                </a:ext>
              </a:extLst>
            </p:cNvPr>
            <p:cNvSpPr>
              <a:spLocks noChangeArrowheads="1"/>
            </p:cNvSpPr>
            <p:nvPr/>
          </p:nvSpPr>
          <p:spPr bwMode="auto">
            <a:xfrm>
              <a:off x="7488238" y="2068513"/>
              <a:ext cx="12700" cy="2155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7" name="Line 47">
              <a:extLst>
                <a:ext uri="{FF2B5EF4-FFF2-40B4-BE49-F238E27FC236}">
                  <a16:creationId xmlns:a16="http://schemas.microsoft.com/office/drawing/2014/main" id="{3450F78A-46A2-6F22-7EB0-867037096D03}"/>
                </a:ext>
              </a:extLst>
            </p:cNvPr>
            <p:cNvSpPr>
              <a:spLocks noChangeShapeType="1"/>
            </p:cNvSpPr>
            <p:nvPr/>
          </p:nvSpPr>
          <p:spPr bwMode="auto">
            <a:xfrm>
              <a:off x="2813050" y="5507038"/>
              <a:ext cx="23431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8" name="Rectangle 48">
              <a:extLst>
                <a:ext uri="{FF2B5EF4-FFF2-40B4-BE49-F238E27FC236}">
                  <a16:creationId xmlns:a16="http://schemas.microsoft.com/office/drawing/2014/main" id="{7EDB26FC-2C3F-E72A-2616-90B74DF1835F}"/>
                </a:ext>
              </a:extLst>
            </p:cNvPr>
            <p:cNvSpPr>
              <a:spLocks noChangeArrowheads="1"/>
            </p:cNvSpPr>
            <p:nvPr/>
          </p:nvSpPr>
          <p:spPr bwMode="auto">
            <a:xfrm>
              <a:off x="2813050" y="5507038"/>
              <a:ext cx="23431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9" name="Line 49">
              <a:extLst>
                <a:ext uri="{FF2B5EF4-FFF2-40B4-BE49-F238E27FC236}">
                  <a16:creationId xmlns:a16="http://schemas.microsoft.com/office/drawing/2014/main" id="{BF35E857-2E75-BE76-6E62-A94FC8BA9B68}"/>
                </a:ext>
              </a:extLst>
            </p:cNvPr>
            <p:cNvSpPr>
              <a:spLocks noChangeShapeType="1"/>
            </p:cNvSpPr>
            <p:nvPr/>
          </p:nvSpPr>
          <p:spPr bwMode="auto">
            <a:xfrm>
              <a:off x="5145088" y="1624013"/>
              <a:ext cx="1587" cy="4325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0" name="Rectangle 50">
              <a:extLst>
                <a:ext uri="{FF2B5EF4-FFF2-40B4-BE49-F238E27FC236}">
                  <a16:creationId xmlns:a16="http://schemas.microsoft.com/office/drawing/2014/main" id="{8D046051-BC11-3423-E68D-37187CB2757F}"/>
                </a:ext>
              </a:extLst>
            </p:cNvPr>
            <p:cNvSpPr>
              <a:spLocks noChangeArrowheads="1"/>
            </p:cNvSpPr>
            <p:nvPr/>
          </p:nvSpPr>
          <p:spPr bwMode="auto">
            <a:xfrm>
              <a:off x="5145088" y="1624013"/>
              <a:ext cx="11112" cy="4325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1" name="Line 51">
              <a:extLst>
                <a:ext uri="{FF2B5EF4-FFF2-40B4-BE49-F238E27FC236}">
                  <a16:creationId xmlns:a16="http://schemas.microsoft.com/office/drawing/2014/main" id="{2E2D43CB-6DD7-B098-4B51-2AA163C8F1DB}"/>
                </a:ext>
              </a:extLst>
            </p:cNvPr>
            <p:cNvSpPr>
              <a:spLocks noChangeShapeType="1"/>
            </p:cNvSpPr>
            <p:nvPr/>
          </p:nvSpPr>
          <p:spPr bwMode="auto">
            <a:xfrm>
              <a:off x="8686800" y="1524000"/>
              <a:ext cx="26988" cy="4459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2" name="Rectangle 52">
              <a:extLst>
                <a:ext uri="{FF2B5EF4-FFF2-40B4-BE49-F238E27FC236}">
                  <a16:creationId xmlns:a16="http://schemas.microsoft.com/office/drawing/2014/main" id="{9E47F9A3-B068-7570-0A75-4196F20829C5}"/>
                </a:ext>
              </a:extLst>
            </p:cNvPr>
            <p:cNvSpPr>
              <a:spLocks noChangeArrowheads="1"/>
            </p:cNvSpPr>
            <p:nvPr/>
          </p:nvSpPr>
          <p:spPr bwMode="auto">
            <a:xfrm>
              <a:off x="8610600" y="1600200"/>
              <a:ext cx="88900" cy="44196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3" name="Line 53">
              <a:extLst>
                <a:ext uri="{FF2B5EF4-FFF2-40B4-BE49-F238E27FC236}">
                  <a16:creationId xmlns:a16="http://schemas.microsoft.com/office/drawing/2014/main" id="{253515B8-C5B5-55B7-86D5-C05A08000826}"/>
                </a:ext>
              </a:extLst>
            </p:cNvPr>
            <p:cNvSpPr>
              <a:spLocks noChangeShapeType="1"/>
            </p:cNvSpPr>
            <p:nvPr/>
          </p:nvSpPr>
          <p:spPr bwMode="auto">
            <a:xfrm>
              <a:off x="457200" y="2055813"/>
              <a:ext cx="0" cy="3963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4" name="Rectangle 54">
              <a:extLst>
                <a:ext uri="{FF2B5EF4-FFF2-40B4-BE49-F238E27FC236}">
                  <a16:creationId xmlns:a16="http://schemas.microsoft.com/office/drawing/2014/main" id="{E5E46794-7679-8712-3163-00236AFF2BD6}"/>
                </a:ext>
              </a:extLst>
            </p:cNvPr>
            <p:cNvSpPr>
              <a:spLocks noChangeArrowheads="1"/>
            </p:cNvSpPr>
            <p:nvPr/>
          </p:nvSpPr>
          <p:spPr bwMode="auto">
            <a:xfrm>
              <a:off x="457200" y="2055813"/>
              <a:ext cx="12700" cy="4325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5" name="Line 55">
              <a:extLst>
                <a:ext uri="{FF2B5EF4-FFF2-40B4-BE49-F238E27FC236}">
                  <a16:creationId xmlns:a16="http://schemas.microsoft.com/office/drawing/2014/main" id="{A8AB2762-B901-C838-4A71-8D344F193AD4}"/>
                </a:ext>
              </a:extLst>
            </p:cNvPr>
            <p:cNvSpPr>
              <a:spLocks noChangeShapeType="1"/>
            </p:cNvSpPr>
            <p:nvPr/>
          </p:nvSpPr>
          <p:spPr bwMode="auto">
            <a:xfrm>
              <a:off x="1628775" y="2068513"/>
              <a:ext cx="1588" cy="21558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6" name="Rectangle 56">
              <a:extLst>
                <a:ext uri="{FF2B5EF4-FFF2-40B4-BE49-F238E27FC236}">
                  <a16:creationId xmlns:a16="http://schemas.microsoft.com/office/drawing/2014/main" id="{919F4FC7-61C3-BAEF-3431-4FB9CDF65599}"/>
                </a:ext>
              </a:extLst>
            </p:cNvPr>
            <p:cNvSpPr>
              <a:spLocks noChangeArrowheads="1"/>
            </p:cNvSpPr>
            <p:nvPr/>
          </p:nvSpPr>
          <p:spPr bwMode="auto">
            <a:xfrm>
              <a:off x="1628775" y="2068513"/>
              <a:ext cx="12700" cy="2155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7" name="Line 57">
              <a:extLst>
                <a:ext uri="{FF2B5EF4-FFF2-40B4-BE49-F238E27FC236}">
                  <a16:creationId xmlns:a16="http://schemas.microsoft.com/office/drawing/2014/main" id="{6C913915-5496-AE7D-1A71-60FC34B87214}"/>
                </a:ext>
              </a:extLst>
            </p:cNvPr>
            <p:cNvSpPr>
              <a:spLocks noChangeShapeType="1"/>
            </p:cNvSpPr>
            <p:nvPr/>
          </p:nvSpPr>
          <p:spPr bwMode="auto">
            <a:xfrm>
              <a:off x="2800350" y="5075238"/>
              <a:ext cx="1588"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8" name="Rectangle 58">
              <a:extLst>
                <a:ext uri="{FF2B5EF4-FFF2-40B4-BE49-F238E27FC236}">
                  <a16:creationId xmlns:a16="http://schemas.microsoft.com/office/drawing/2014/main" id="{3FD00E9D-4B6C-355E-B885-5581B82B14CD}"/>
                </a:ext>
              </a:extLst>
            </p:cNvPr>
            <p:cNvSpPr>
              <a:spLocks noChangeArrowheads="1"/>
            </p:cNvSpPr>
            <p:nvPr/>
          </p:nvSpPr>
          <p:spPr bwMode="auto">
            <a:xfrm>
              <a:off x="2800350" y="5075238"/>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9" name="Line 59">
              <a:extLst>
                <a:ext uri="{FF2B5EF4-FFF2-40B4-BE49-F238E27FC236}">
                  <a16:creationId xmlns:a16="http://schemas.microsoft.com/office/drawing/2014/main" id="{DEBDF418-FADF-C2CF-08AA-DA22CBEA0084}"/>
                </a:ext>
              </a:extLst>
            </p:cNvPr>
            <p:cNvSpPr>
              <a:spLocks noChangeShapeType="1"/>
            </p:cNvSpPr>
            <p:nvPr/>
          </p:nvSpPr>
          <p:spPr bwMode="auto">
            <a:xfrm>
              <a:off x="3973513" y="5087938"/>
              <a:ext cx="1587" cy="431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0" name="Rectangle 60">
              <a:extLst>
                <a:ext uri="{FF2B5EF4-FFF2-40B4-BE49-F238E27FC236}">
                  <a16:creationId xmlns:a16="http://schemas.microsoft.com/office/drawing/2014/main" id="{8C53EB86-8CF7-6E6F-1428-4C4E85B25721}"/>
                </a:ext>
              </a:extLst>
            </p:cNvPr>
            <p:cNvSpPr>
              <a:spLocks noChangeArrowheads="1"/>
            </p:cNvSpPr>
            <p:nvPr/>
          </p:nvSpPr>
          <p:spPr bwMode="auto">
            <a:xfrm>
              <a:off x="3973513" y="5087938"/>
              <a:ext cx="11112" cy="431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1" name="Line 61">
              <a:extLst>
                <a:ext uri="{FF2B5EF4-FFF2-40B4-BE49-F238E27FC236}">
                  <a16:creationId xmlns:a16="http://schemas.microsoft.com/office/drawing/2014/main" id="{5E983B27-5C61-1BFE-EDAB-AF544BD6BF1B}"/>
                </a:ext>
              </a:extLst>
            </p:cNvPr>
            <p:cNvSpPr>
              <a:spLocks noChangeShapeType="1"/>
            </p:cNvSpPr>
            <p:nvPr/>
          </p:nvSpPr>
          <p:spPr bwMode="auto">
            <a:xfrm>
              <a:off x="6316663" y="5075238"/>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2" name="Rectangle 62">
              <a:extLst>
                <a:ext uri="{FF2B5EF4-FFF2-40B4-BE49-F238E27FC236}">
                  <a16:creationId xmlns:a16="http://schemas.microsoft.com/office/drawing/2014/main" id="{43352BFD-AB40-3434-4783-7C838B200D17}"/>
                </a:ext>
              </a:extLst>
            </p:cNvPr>
            <p:cNvSpPr>
              <a:spLocks noChangeArrowheads="1"/>
            </p:cNvSpPr>
            <p:nvPr/>
          </p:nvSpPr>
          <p:spPr bwMode="auto">
            <a:xfrm>
              <a:off x="6316663" y="5075238"/>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3" name="Line 63">
              <a:extLst>
                <a:ext uri="{FF2B5EF4-FFF2-40B4-BE49-F238E27FC236}">
                  <a16:creationId xmlns:a16="http://schemas.microsoft.com/office/drawing/2014/main" id="{40D765F5-9B4F-E24C-9924-5847F972F3BD}"/>
                </a:ext>
              </a:extLst>
            </p:cNvPr>
            <p:cNvSpPr>
              <a:spLocks noChangeShapeType="1"/>
            </p:cNvSpPr>
            <p:nvPr/>
          </p:nvSpPr>
          <p:spPr bwMode="auto">
            <a:xfrm>
              <a:off x="7488238" y="5087938"/>
              <a:ext cx="1587" cy="431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4" name="Rectangle 64">
              <a:extLst>
                <a:ext uri="{FF2B5EF4-FFF2-40B4-BE49-F238E27FC236}">
                  <a16:creationId xmlns:a16="http://schemas.microsoft.com/office/drawing/2014/main" id="{9E0B56AF-1F69-3A24-EF55-6C6388296B1A}"/>
                </a:ext>
              </a:extLst>
            </p:cNvPr>
            <p:cNvSpPr>
              <a:spLocks noChangeArrowheads="1"/>
            </p:cNvSpPr>
            <p:nvPr/>
          </p:nvSpPr>
          <p:spPr bwMode="auto">
            <a:xfrm>
              <a:off x="7488238" y="5087938"/>
              <a:ext cx="12700" cy="431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5" name="Line 65">
              <a:extLst>
                <a:ext uri="{FF2B5EF4-FFF2-40B4-BE49-F238E27FC236}">
                  <a16:creationId xmlns:a16="http://schemas.microsoft.com/office/drawing/2014/main" id="{06F1BDE7-A061-0856-1246-5DEB3ED040F7}"/>
                </a:ext>
              </a:extLst>
            </p:cNvPr>
            <p:cNvSpPr>
              <a:spLocks noChangeShapeType="1"/>
            </p:cNvSpPr>
            <p:nvPr/>
          </p:nvSpPr>
          <p:spPr bwMode="auto">
            <a:xfrm>
              <a:off x="5156200" y="1624013"/>
              <a:ext cx="35163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6" name="Rectangle 66">
              <a:extLst>
                <a:ext uri="{FF2B5EF4-FFF2-40B4-BE49-F238E27FC236}">
                  <a16:creationId xmlns:a16="http://schemas.microsoft.com/office/drawing/2014/main" id="{1FBC4798-0252-EEE8-5BB9-2F2B76EF5B59}"/>
                </a:ext>
              </a:extLst>
            </p:cNvPr>
            <p:cNvSpPr>
              <a:spLocks noChangeArrowheads="1"/>
            </p:cNvSpPr>
            <p:nvPr/>
          </p:nvSpPr>
          <p:spPr bwMode="auto">
            <a:xfrm>
              <a:off x="5156200" y="1624013"/>
              <a:ext cx="35163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7" name="Line 67">
              <a:extLst>
                <a:ext uri="{FF2B5EF4-FFF2-40B4-BE49-F238E27FC236}">
                  <a16:creationId xmlns:a16="http://schemas.microsoft.com/office/drawing/2014/main" id="{F7A74B0C-4D6B-4CD2-8B14-BA20FA3172D8}"/>
                </a:ext>
              </a:extLst>
            </p:cNvPr>
            <p:cNvSpPr>
              <a:spLocks noChangeShapeType="1"/>
            </p:cNvSpPr>
            <p:nvPr/>
          </p:nvSpPr>
          <p:spPr bwMode="auto">
            <a:xfrm>
              <a:off x="469900" y="2055813"/>
              <a:ext cx="82026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8" name="Rectangle 68">
              <a:extLst>
                <a:ext uri="{FF2B5EF4-FFF2-40B4-BE49-F238E27FC236}">
                  <a16:creationId xmlns:a16="http://schemas.microsoft.com/office/drawing/2014/main" id="{35DF2EE1-5F51-779A-0274-4D3AA55E4982}"/>
                </a:ext>
              </a:extLst>
            </p:cNvPr>
            <p:cNvSpPr>
              <a:spLocks noChangeArrowheads="1"/>
            </p:cNvSpPr>
            <p:nvPr/>
          </p:nvSpPr>
          <p:spPr bwMode="auto">
            <a:xfrm>
              <a:off x="469900" y="2055813"/>
              <a:ext cx="82026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9" name="Line 69">
              <a:extLst>
                <a:ext uri="{FF2B5EF4-FFF2-40B4-BE49-F238E27FC236}">
                  <a16:creationId xmlns:a16="http://schemas.microsoft.com/office/drawing/2014/main" id="{7B31620A-46A5-AA91-4594-0DB1EB785D70}"/>
                </a:ext>
              </a:extLst>
            </p:cNvPr>
            <p:cNvSpPr>
              <a:spLocks noChangeShapeType="1"/>
            </p:cNvSpPr>
            <p:nvPr/>
          </p:nvSpPr>
          <p:spPr bwMode="auto">
            <a:xfrm>
              <a:off x="344903" y="2466839"/>
              <a:ext cx="82026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0" name="Rectangle 70">
              <a:extLst>
                <a:ext uri="{FF2B5EF4-FFF2-40B4-BE49-F238E27FC236}">
                  <a16:creationId xmlns:a16="http://schemas.microsoft.com/office/drawing/2014/main" id="{C6292821-C371-02CC-B31A-B89C1F0F7AF8}"/>
                </a:ext>
              </a:extLst>
            </p:cNvPr>
            <p:cNvSpPr>
              <a:spLocks noChangeArrowheads="1"/>
            </p:cNvSpPr>
            <p:nvPr/>
          </p:nvSpPr>
          <p:spPr bwMode="auto">
            <a:xfrm>
              <a:off x="469900" y="2487613"/>
              <a:ext cx="82026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1" name="Line 71">
              <a:extLst>
                <a:ext uri="{FF2B5EF4-FFF2-40B4-BE49-F238E27FC236}">
                  <a16:creationId xmlns:a16="http://schemas.microsoft.com/office/drawing/2014/main" id="{DF95E0AC-D5CF-18E4-8F70-F3E8640E1A08}"/>
                </a:ext>
              </a:extLst>
            </p:cNvPr>
            <p:cNvSpPr>
              <a:spLocks noChangeShapeType="1"/>
            </p:cNvSpPr>
            <p:nvPr/>
          </p:nvSpPr>
          <p:spPr bwMode="auto">
            <a:xfrm>
              <a:off x="469900" y="2919413"/>
              <a:ext cx="82026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2" name="Rectangle 72">
              <a:extLst>
                <a:ext uri="{FF2B5EF4-FFF2-40B4-BE49-F238E27FC236}">
                  <a16:creationId xmlns:a16="http://schemas.microsoft.com/office/drawing/2014/main" id="{427C864E-ACD1-C71F-46F8-B2A3AEF76FE0}"/>
                </a:ext>
              </a:extLst>
            </p:cNvPr>
            <p:cNvSpPr>
              <a:spLocks noChangeArrowheads="1"/>
            </p:cNvSpPr>
            <p:nvPr/>
          </p:nvSpPr>
          <p:spPr bwMode="auto">
            <a:xfrm>
              <a:off x="469900" y="2919413"/>
              <a:ext cx="820261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3" name="Line 73">
              <a:extLst>
                <a:ext uri="{FF2B5EF4-FFF2-40B4-BE49-F238E27FC236}">
                  <a16:creationId xmlns:a16="http://schemas.microsoft.com/office/drawing/2014/main" id="{47AC1977-B1BC-21BA-F761-7075A9B94574}"/>
                </a:ext>
              </a:extLst>
            </p:cNvPr>
            <p:cNvSpPr>
              <a:spLocks noChangeShapeType="1"/>
            </p:cNvSpPr>
            <p:nvPr/>
          </p:nvSpPr>
          <p:spPr bwMode="auto">
            <a:xfrm>
              <a:off x="469900" y="3349625"/>
              <a:ext cx="82026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4" name="Rectangle 74">
              <a:extLst>
                <a:ext uri="{FF2B5EF4-FFF2-40B4-BE49-F238E27FC236}">
                  <a16:creationId xmlns:a16="http://schemas.microsoft.com/office/drawing/2014/main" id="{3A7E6CD6-90A0-2837-0CCC-9D8B968DE14E}"/>
                </a:ext>
              </a:extLst>
            </p:cNvPr>
            <p:cNvSpPr>
              <a:spLocks noChangeArrowheads="1"/>
            </p:cNvSpPr>
            <p:nvPr/>
          </p:nvSpPr>
          <p:spPr bwMode="auto">
            <a:xfrm>
              <a:off x="469900" y="3349625"/>
              <a:ext cx="82026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5" name="Line 75">
              <a:extLst>
                <a:ext uri="{FF2B5EF4-FFF2-40B4-BE49-F238E27FC236}">
                  <a16:creationId xmlns:a16="http://schemas.microsoft.com/office/drawing/2014/main" id="{C23F5757-E351-4933-CB93-BE9B323D1610}"/>
                </a:ext>
              </a:extLst>
            </p:cNvPr>
            <p:cNvSpPr>
              <a:spLocks noChangeShapeType="1"/>
            </p:cNvSpPr>
            <p:nvPr/>
          </p:nvSpPr>
          <p:spPr bwMode="auto">
            <a:xfrm>
              <a:off x="469900" y="3781425"/>
              <a:ext cx="82026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6" name="Rectangle 76">
              <a:extLst>
                <a:ext uri="{FF2B5EF4-FFF2-40B4-BE49-F238E27FC236}">
                  <a16:creationId xmlns:a16="http://schemas.microsoft.com/office/drawing/2014/main" id="{5118D107-8CE6-1895-F0F9-6304A35A16BC}"/>
                </a:ext>
              </a:extLst>
            </p:cNvPr>
            <p:cNvSpPr>
              <a:spLocks noChangeArrowheads="1"/>
            </p:cNvSpPr>
            <p:nvPr/>
          </p:nvSpPr>
          <p:spPr bwMode="auto">
            <a:xfrm>
              <a:off x="469900" y="3781425"/>
              <a:ext cx="820261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7" name="Line 77">
              <a:extLst>
                <a:ext uri="{FF2B5EF4-FFF2-40B4-BE49-F238E27FC236}">
                  <a16:creationId xmlns:a16="http://schemas.microsoft.com/office/drawing/2014/main" id="{0C26E3B3-E379-878D-A74F-0570C7E3E599}"/>
                </a:ext>
              </a:extLst>
            </p:cNvPr>
            <p:cNvSpPr>
              <a:spLocks noChangeShapeType="1"/>
            </p:cNvSpPr>
            <p:nvPr/>
          </p:nvSpPr>
          <p:spPr bwMode="auto">
            <a:xfrm>
              <a:off x="469900" y="4213225"/>
              <a:ext cx="82026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8" name="Rectangle 78">
              <a:extLst>
                <a:ext uri="{FF2B5EF4-FFF2-40B4-BE49-F238E27FC236}">
                  <a16:creationId xmlns:a16="http://schemas.microsoft.com/office/drawing/2014/main" id="{4C14C390-2828-F3F3-3412-C7CD8E0C22A3}"/>
                </a:ext>
              </a:extLst>
            </p:cNvPr>
            <p:cNvSpPr>
              <a:spLocks noChangeArrowheads="1"/>
            </p:cNvSpPr>
            <p:nvPr/>
          </p:nvSpPr>
          <p:spPr bwMode="auto">
            <a:xfrm>
              <a:off x="469900" y="4213225"/>
              <a:ext cx="8202613"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9" name="Line 79">
              <a:extLst>
                <a:ext uri="{FF2B5EF4-FFF2-40B4-BE49-F238E27FC236}">
                  <a16:creationId xmlns:a16="http://schemas.microsoft.com/office/drawing/2014/main" id="{5338CB1F-B858-D84D-23AB-88F8BA18CB02}"/>
                </a:ext>
              </a:extLst>
            </p:cNvPr>
            <p:cNvSpPr>
              <a:spLocks noChangeShapeType="1"/>
            </p:cNvSpPr>
            <p:nvPr/>
          </p:nvSpPr>
          <p:spPr bwMode="auto">
            <a:xfrm>
              <a:off x="6329363" y="5075238"/>
              <a:ext cx="1171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0" name="Rectangle 80">
              <a:extLst>
                <a:ext uri="{FF2B5EF4-FFF2-40B4-BE49-F238E27FC236}">
                  <a16:creationId xmlns:a16="http://schemas.microsoft.com/office/drawing/2014/main" id="{67892A44-79F9-9AC2-6B3C-2BAC35202F5C}"/>
                </a:ext>
              </a:extLst>
            </p:cNvPr>
            <p:cNvSpPr>
              <a:spLocks noChangeArrowheads="1"/>
            </p:cNvSpPr>
            <p:nvPr/>
          </p:nvSpPr>
          <p:spPr bwMode="auto">
            <a:xfrm>
              <a:off x="6329363" y="5075238"/>
              <a:ext cx="1171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1" name="Line 81">
              <a:extLst>
                <a:ext uri="{FF2B5EF4-FFF2-40B4-BE49-F238E27FC236}">
                  <a16:creationId xmlns:a16="http://schemas.microsoft.com/office/drawing/2014/main" id="{C1A23ECE-464E-06FC-58A6-FDC26D89AC1A}"/>
                </a:ext>
              </a:extLst>
            </p:cNvPr>
            <p:cNvSpPr>
              <a:spLocks noChangeShapeType="1"/>
            </p:cNvSpPr>
            <p:nvPr/>
          </p:nvSpPr>
          <p:spPr bwMode="auto">
            <a:xfrm>
              <a:off x="6329363" y="5507038"/>
              <a:ext cx="1171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2" name="Rectangle 82">
              <a:extLst>
                <a:ext uri="{FF2B5EF4-FFF2-40B4-BE49-F238E27FC236}">
                  <a16:creationId xmlns:a16="http://schemas.microsoft.com/office/drawing/2014/main" id="{F6C1ED93-F168-0A7C-50C5-DA06B8EAE098}"/>
                </a:ext>
              </a:extLst>
            </p:cNvPr>
            <p:cNvSpPr>
              <a:spLocks noChangeArrowheads="1"/>
            </p:cNvSpPr>
            <p:nvPr/>
          </p:nvSpPr>
          <p:spPr bwMode="auto">
            <a:xfrm>
              <a:off x="6329363" y="5507038"/>
              <a:ext cx="1171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3" name="Line 83">
              <a:extLst>
                <a:ext uri="{FF2B5EF4-FFF2-40B4-BE49-F238E27FC236}">
                  <a16:creationId xmlns:a16="http://schemas.microsoft.com/office/drawing/2014/main" id="{856A3606-464E-32B6-F108-EE05E00F3DCE}"/>
                </a:ext>
              </a:extLst>
            </p:cNvPr>
            <p:cNvSpPr>
              <a:spLocks noChangeShapeType="1"/>
            </p:cNvSpPr>
            <p:nvPr/>
          </p:nvSpPr>
          <p:spPr bwMode="auto">
            <a:xfrm>
              <a:off x="5156200" y="5938838"/>
              <a:ext cx="35163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4" name="Rectangle 84">
              <a:extLst>
                <a:ext uri="{FF2B5EF4-FFF2-40B4-BE49-F238E27FC236}">
                  <a16:creationId xmlns:a16="http://schemas.microsoft.com/office/drawing/2014/main" id="{D9DC3F8B-B870-0CAB-A9C6-73864D682064}"/>
                </a:ext>
              </a:extLst>
            </p:cNvPr>
            <p:cNvSpPr>
              <a:spLocks noChangeArrowheads="1"/>
            </p:cNvSpPr>
            <p:nvPr/>
          </p:nvSpPr>
          <p:spPr bwMode="auto">
            <a:xfrm>
              <a:off x="5156200" y="5938838"/>
              <a:ext cx="351631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5" name="Line 85">
              <a:extLst>
                <a:ext uri="{FF2B5EF4-FFF2-40B4-BE49-F238E27FC236}">
                  <a16:creationId xmlns:a16="http://schemas.microsoft.com/office/drawing/2014/main" id="{71894FA5-2765-E023-9D42-2BB7E5FA7BB1}"/>
                </a:ext>
              </a:extLst>
            </p:cNvPr>
            <p:cNvSpPr>
              <a:spLocks noChangeShapeType="1"/>
            </p:cNvSpPr>
            <p:nvPr/>
          </p:nvSpPr>
          <p:spPr bwMode="auto">
            <a:xfrm>
              <a:off x="457200" y="6019800"/>
              <a:ext cx="82026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96" name="Group 86">
              <a:extLst>
                <a:ext uri="{FF2B5EF4-FFF2-40B4-BE49-F238E27FC236}">
                  <a16:creationId xmlns:a16="http://schemas.microsoft.com/office/drawing/2014/main" id="{4FE6A6CA-2EFA-3510-635B-ABDA0B626C65}"/>
                </a:ext>
              </a:extLst>
            </p:cNvPr>
            <p:cNvGrpSpPr>
              <a:grpSpLocks/>
            </p:cNvGrpSpPr>
            <p:nvPr/>
          </p:nvGrpSpPr>
          <p:grpSpPr bwMode="auto">
            <a:xfrm>
              <a:off x="5145088" y="1624013"/>
              <a:ext cx="3595687" cy="4395787"/>
              <a:chOff x="3241" y="1023"/>
              <a:chExt cx="2265" cy="2769"/>
            </a:xfrm>
          </p:grpSpPr>
          <p:sp>
            <p:nvSpPr>
              <p:cNvPr id="97" name="Freeform 87">
                <a:extLst>
                  <a:ext uri="{FF2B5EF4-FFF2-40B4-BE49-F238E27FC236}">
                    <a16:creationId xmlns:a16="http://schemas.microsoft.com/office/drawing/2014/main" id="{00709161-FA92-8FC9-80BD-C3F182AFB701}"/>
                  </a:ext>
                </a:extLst>
              </p:cNvPr>
              <p:cNvSpPr>
                <a:spLocks noEditPoints="1"/>
              </p:cNvSpPr>
              <p:nvPr/>
            </p:nvSpPr>
            <p:spPr bwMode="auto">
              <a:xfrm>
                <a:off x="3241" y="1023"/>
                <a:ext cx="2265" cy="2769"/>
              </a:xfrm>
              <a:custGeom>
                <a:avLst/>
                <a:gdLst>
                  <a:gd name="T0" fmla="*/ 0 w 4530"/>
                  <a:gd name="T1" fmla="*/ 0 h 5538"/>
                  <a:gd name="T2" fmla="*/ 0 w 4530"/>
                  <a:gd name="T3" fmla="*/ 6 h 5538"/>
                  <a:gd name="T4" fmla="*/ 5 w 4530"/>
                  <a:gd name="T5" fmla="*/ 6 h 5538"/>
                  <a:gd name="T6" fmla="*/ 5 w 4530"/>
                  <a:gd name="T7" fmla="*/ 0 h 5538"/>
                  <a:gd name="T8" fmla="*/ 0 w 4530"/>
                  <a:gd name="T9" fmla="*/ 0 h 5538"/>
                  <a:gd name="T10" fmla="*/ 0 w 4530"/>
                  <a:gd name="T11" fmla="*/ 0 h 5538"/>
                  <a:gd name="T12" fmla="*/ 0 w 4530"/>
                  <a:gd name="T13" fmla="*/ 6 h 5538"/>
                  <a:gd name="T14" fmla="*/ 1 w 4530"/>
                  <a:gd name="T15" fmla="*/ 6 h 5538"/>
                  <a:gd name="T16" fmla="*/ 1 w 4530"/>
                  <a:gd name="T17" fmla="*/ 6 h 5538"/>
                  <a:gd name="T18" fmla="*/ 1 w 4530"/>
                  <a:gd name="T19" fmla="*/ 6 h 5538"/>
                  <a:gd name="T20" fmla="*/ 1 w 4530"/>
                  <a:gd name="T21" fmla="*/ 6 h 5538"/>
                  <a:gd name="T22" fmla="*/ 5 w 4530"/>
                  <a:gd name="T23" fmla="*/ 6 h 5538"/>
                  <a:gd name="T24" fmla="*/ 5 w 4530"/>
                  <a:gd name="T25" fmla="*/ 6 h 5538"/>
                  <a:gd name="T26" fmla="*/ 5 w 4530"/>
                  <a:gd name="T27" fmla="*/ 6 h 5538"/>
                  <a:gd name="T28" fmla="*/ 5 w 4530"/>
                  <a:gd name="T29" fmla="*/ 1 h 5538"/>
                  <a:gd name="T30" fmla="*/ 5 w 4530"/>
                  <a:gd name="T31" fmla="*/ 1 h 5538"/>
                  <a:gd name="T32" fmla="*/ 5 w 4530"/>
                  <a:gd name="T33" fmla="*/ 1 h 5538"/>
                  <a:gd name="T34" fmla="*/ 5 w 4530"/>
                  <a:gd name="T35" fmla="*/ 1 h 5538"/>
                  <a:gd name="T36" fmla="*/ 5 w 4530"/>
                  <a:gd name="T37" fmla="*/ 0 h 5538"/>
                  <a:gd name="T38" fmla="*/ 0 w 4530"/>
                  <a:gd name="T39" fmla="*/ 0 h 553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30" h="5538">
                    <a:moveTo>
                      <a:pt x="0" y="0"/>
                    </a:moveTo>
                    <a:lnTo>
                      <a:pt x="0" y="5434"/>
                    </a:lnTo>
                    <a:lnTo>
                      <a:pt x="4429" y="5434"/>
                    </a:lnTo>
                    <a:lnTo>
                      <a:pt x="4429" y="0"/>
                    </a:lnTo>
                    <a:lnTo>
                      <a:pt x="0" y="0"/>
                    </a:lnTo>
                    <a:close/>
                    <a:moveTo>
                      <a:pt x="0" y="0"/>
                    </a:moveTo>
                    <a:lnTo>
                      <a:pt x="0" y="5434"/>
                    </a:lnTo>
                    <a:lnTo>
                      <a:pt x="92" y="5434"/>
                    </a:lnTo>
                    <a:lnTo>
                      <a:pt x="92" y="5530"/>
                    </a:lnTo>
                    <a:lnTo>
                      <a:pt x="92" y="5538"/>
                    </a:lnTo>
                    <a:lnTo>
                      <a:pt x="96" y="5538"/>
                    </a:lnTo>
                    <a:lnTo>
                      <a:pt x="4527" y="5538"/>
                    </a:lnTo>
                    <a:lnTo>
                      <a:pt x="4530" y="5538"/>
                    </a:lnTo>
                    <a:lnTo>
                      <a:pt x="4530" y="5530"/>
                    </a:lnTo>
                    <a:lnTo>
                      <a:pt x="4530" y="96"/>
                    </a:lnTo>
                    <a:lnTo>
                      <a:pt x="4530" y="92"/>
                    </a:lnTo>
                    <a:lnTo>
                      <a:pt x="4527" y="92"/>
                    </a:lnTo>
                    <a:lnTo>
                      <a:pt x="4431" y="92"/>
                    </a:lnTo>
                    <a:lnTo>
                      <a:pt x="4431"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98" name="Rectangle 88">
                <a:extLst>
                  <a:ext uri="{FF2B5EF4-FFF2-40B4-BE49-F238E27FC236}">
                    <a16:creationId xmlns:a16="http://schemas.microsoft.com/office/drawing/2014/main" id="{CE9EE4F3-E1EB-A8A4-BEE3-D11A62C5BC7D}"/>
                  </a:ext>
                </a:extLst>
              </p:cNvPr>
              <p:cNvSpPr>
                <a:spLocks noChangeArrowheads="1"/>
              </p:cNvSpPr>
              <p:nvPr/>
            </p:nvSpPr>
            <p:spPr bwMode="auto">
              <a:xfrm>
                <a:off x="3241" y="1023"/>
                <a:ext cx="2215" cy="271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99" name="Group 89">
              <a:extLst>
                <a:ext uri="{FF2B5EF4-FFF2-40B4-BE49-F238E27FC236}">
                  <a16:creationId xmlns:a16="http://schemas.microsoft.com/office/drawing/2014/main" id="{D100D4DD-8FC9-3A85-C704-22F3B58019DD}"/>
                </a:ext>
              </a:extLst>
            </p:cNvPr>
            <p:cNvGrpSpPr>
              <a:grpSpLocks/>
            </p:cNvGrpSpPr>
            <p:nvPr/>
          </p:nvGrpSpPr>
          <p:grpSpPr bwMode="auto">
            <a:xfrm>
              <a:off x="5145088" y="1624013"/>
              <a:ext cx="3595687" cy="4395787"/>
              <a:chOff x="3241" y="1023"/>
              <a:chExt cx="2265" cy="2769"/>
            </a:xfrm>
          </p:grpSpPr>
          <p:sp>
            <p:nvSpPr>
              <p:cNvPr id="100" name="Freeform 90">
                <a:extLst>
                  <a:ext uri="{FF2B5EF4-FFF2-40B4-BE49-F238E27FC236}">
                    <a16:creationId xmlns:a16="http://schemas.microsoft.com/office/drawing/2014/main" id="{E65CA00C-8968-84DF-FB8B-548B02B66E4D}"/>
                  </a:ext>
                </a:extLst>
              </p:cNvPr>
              <p:cNvSpPr>
                <a:spLocks noEditPoints="1"/>
              </p:cNvSpPr>
              <p:nvPr/>
            </p:nvSpPr>
            <p:spPr bwMode="auto">
              <a:xfrm>
                <a:off x="3241" y="1023"/>
                <a:ext cx="2265" cy="2769"/>
              </a:xfrm>
              <a:custGeom>
                <a:avLst/>
                <a:gdLst>
                  <a:gd name="T0" fmla="*/ 0 w 4530"/>
                  <a:gd name="T1" fmla="*/ 0 h 5538"/>
                  <a:gd name="T2" fmla="*/ 0 w 4530"/>
                  <a:gd name="T3" fmla="*/ 6 h 5538"/>
                  <a:gd name="T4" fmla="*/ 5 w 4530"/>
                  <a:gd name="T5" fmla="*/ 6 h 5538"/>
                  <a:gd name="T6" fmla="*/ 5 w 4530"/>
                  <a:gd name="T7" fmla="*/ 0 h 5538"/>
                  <a:gd name="T8" fmla="*/ 0 w 4530"/>
                  <a:gd name="T9" fmla="*/ 0 h 5538"/>
                  <a:gd name="T10" fmla="*/ 0 w 4530"/>
                  <a:gd name="T11" fmla="*/ 0 h 5538"/>
                  <a:gd name="T12" fmla="*/ 0 w 4530"/>
                  <a:gd name="T13" fmla="*/ 6 h 5538"/>
                  <a:gd name="T14" fmla="*/ 1 w 4530"/>
                  <a:gd name="T15" fmla="*/ 6 h 5538"/>
                  <a:gd name="T16" fmla="*/ 1 w 4530"/>
                  <a:gd name="T17" fmla="*/ 6 h 5538"/>
                  <a:gd name="T18" fmla="*/ 1 w 4530"/>
                  <a:gd name="T19" fmla="*/ 6 h 5538"/>
                  <a:gd name="T20" fmla="*/ 1 w 4530"/>
                  <a:gd name="T21" fmla="*/ 6 h 5538"/>
                  <a:gd name="T22" fmla="*/ 5 w 4530"/>
                  <a:gd name="T23" fmla="*/ 6 h 5538"/>
                  <a:gd name="T24" fmla="*/ 5 w 4530"/>
                  <a:gd name="T25" fmla="*/ 6 h 5538"/>
                  <a:gd name="T26" fmla="*/ 5 w 4530"/>
                  <a:gd name="T27" fmla="*/ 6 h 5538"/>
                  <a:gd name="T28" fmla="*/ 5 w 4530"/>
                  <a:gd name="T29" fmla="*/ 1 h 5538"/>
                  <a:gd name="T30" fmla="*/ 5 w 4530"/>
                  <a:gd name="T31" fmla="*/ 1 h 5538"/>
                  <a:gd name="T32" fmla="*/ 5 w 4530"/>
                  <a:gd name="T33" fmla="*/ 1 h 5538"/>
                  <a:gd name="T34" fmla="*/ 5 w 4530"/>
                  <a:gd name="T35" fmla="*/ 1 h 5538"/>
                  <a:gd name="T36" fmla="*/ 5 w 4530"/>
                  <a:gd name="T37" fmla="*/ 0 h 5538"/>
                  <a:gd name="T38" fmla="*/ 0 w 4530"/>
                  <a:gd name="T39" fmla="*/ 0 h 553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30" h="5538">
                    <a:moveTo>
                      <a:pt x="0" y="0"/>
                    </a:moveTo>
                    <a:lnTo>
                      <a:pt x="0" y="5434"/>
                    </a:lnTo>
                    <a:lnTo>
                      <a:pt x="4429" y="5434"/>
                    </a:lnTo>
                    <a:lnTo>
                      <a:pt x="4429" y="0"/>
                    </a:lnTo>
                    <a:lnTo>
                      <a:pt x="0" y="0"/>
                    </a:lnTo>
                    <a:close/>
                    <a:moveTo>
                      <a:pt x="0" y="0"/>
                    </a:moveTo>
                    <a:lnTo>
                      <a:pt x="0" y="5434"/>
                    </a:lnTo>
                    <a:lnTo>
                      <a:pt x="92" y="5434"/>
                    </a:lnTo>
                    <a:lnTo>
                      <a:pt x="92" y="5530"/>
                    </a:lnTo>
                    <a:lnTo>
                      <a:pt x="92" y="5538"/>
                    </a:lnTo>
                    <a:lnTo>
                      <a:pt x="96" y="5538"/>
                    </a:lnTo>
                    <a:lnTo>
                      <a:pt x="4527" y="5538"/>
                    </a:lnTo>
                    <a:lnTo>
                      <a:pt x="4530" y="5538"/>
                    </a:lnTo>
                    <a:lnTo>
                      <a:pt x="4530" y="5530"/>
                    </a:lnTo>
                    <a:lnTo>
                      <a:pt x="4530" y="96"/>
                    </a:lnTo>
                    <a:lnTo>
                      <a:pt x="4530" y="92"/>
                    </a:lnTo>
                    <a:lnTo>
                      <a:pt x="4527" y="92"/>
                    </a:lnTo>
                    <a:lnTo>
                      <a:pt x="4431" y="92"/>
                    </a:lnTo>
                    <a:lnTo>
                      <a:pt x="4431"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01" name="Rectangle 91">
                <a:extLst>
                  <a:ext uri="{FF2B5EF4-FFF2-40B4-BE49-F238E27FC236}">
                    <a16:creationId xmlns:a16="http://schemas.microsoft.com/office/drawing/2014/main" id="{270E1968-C705-8641-08A2-D82985F180D2}"/>
                  </a:ext>
                </a:extLst>
              </p:cNvPr>
              <p:cNvSpPr>
                <a:spLocks noChangeArrowheads="1"/>
              </p:cNvSpPr>
              <p:nvPr/>
            </p:nvSpPr>
            <p:spPr bwMode="auto">
              <a:xfrm>
                <a:off x="3241" y="1023"/>
                <a:ext cx="2215" cy="271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spTree>
    <p:extLst>
      <p:ext uri="{BB962C8B-B14F-4D97-AF65-F5344CB8AC3E}">
        <p14:creationId xmlns:p14="http://schemas.microsoft.com/office/powerpoint/2010/main" val="1837665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Prepare for Final Report-Out to Management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altLang="en-US" dirty="0"/>
              <a:t>All team members should contribute to the final report-out presentation to management</a:t>
            </a:r>
          </a:p>
          <a:p>
            <a:r>
              <a:rPr lang="en-US" altLang="en-US" dirty="0"/>
              <a:t>Report-out should include</a:t>
            </a:r>
          </a:p>
          <a:p>
            <a:pPr lvl="1"/>
            <a:r>
              <a:rPr lang="en-US" altLang="en-US" dirty="0"/>
              <a:t>Introduction of Team</a:t>
            </a:r>
          </a:p>
          <a:p>
            <a:pPr lvl="1"/>
            <a:r>
              <a:rPr lang="en-US" altLang="en-US" dirty="0"/>
              <a:t>Review of Event goals and objectives</a:t>
            </a:r>
          </a:p>
          <a:p>
            <a:pPr lvl="1"/>
            <a:r>
              <a:rPr lang="en-US" altLang="en-US" dirty="0"/>
              <a:t>Review of Former Process and Documentation Forms</a:t>
            </a:r>
          </a:p>
          <a:p>
            <a:pPr lvl="1"/>
            <a:r>
              <a:rPr lang="en-US" altLang="en-US" dirty="0"/>
              <a:t>Review of Improvement Opportunities Identified and Implemented</a:t>
            </a:r>
          </a:p>
          <a:p>
            <a:pPr lvl="1"/>
            <a:r>
              <a:rPr lang="en-US" altLang="en-US" dirty="0"/>
              <a:t>Review of Documentation and Kaizen Results Form</a:t>
            </a:r>
          </a:p>
          <a:p>
            <a:pPr lvl="1"/>
            <a:r>
              <a:rPr lang="en-US" altLang="en-US" dirty="0"/>
              <a:t>Review of Kaizen Newspaper</a:t>
            </a:r>
          </a:p>
          <a:p>
            <a:r>
              <a:rPr lang="en-US" alt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Tree>
    <p:extLst>
      <p:ext uri="{BB962C8B-B14F-4D97-AF65-F5344CB8AC3E}">
        <p14:creationId xmlns:p14="http://schemas.microsoft.com/office/powerpoint/2010/main" val="2646456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Maintaining Kanban</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pPr marL="0" indent="0">
              <a:buNone/>
            </a:pPr>
            <a:r>
              <a:rPr lang="en-US" dirty="0"/>
              <a:t>Key to Success</a:t>
            </a:r>
          </a:p>
          <a:p>
            <a:r>
              <a:rPr lang="en-US" dirty="0"/>
              <a:t>Key to success is to manage the kanban system</a:t>
            </a:r>
          </a:p>
          <a:p>
            <a:r>
              <a:rPr lang="en-US" dirty="0"/>
              <a:t>Kanban is a rigorous and disciplined process</a:t>
            </a:r>
          </a:p>
          <a:p>
            <a:r>
              <a:rPr lang="en-US" dirty="0"/>
              <a:t>Start with focus on execution of the critical few before expanding</a:t>
            </a:r>
          </a:p>
          <a:p>
            <a:pPr marL="514350" indent="-514350">
              <a:buFont typeface="+mj-lt"/>
              <a:buAutoNum type="arabicPeriod"/>
            </a:pP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3" name="Group 2">
            <a:extLst>
              <a:ext uri="{FF2B5EF4-FFF2-40B4-BE49-F238E27FC236}">
                <a16:creationId xmlns:a16="http://schemas.microsoft.com/office/drawing/2014/main" id="{284BC0FF-B272-B6E7-9A76-1C114E2911F8}"/>
              </a:ext>
            </a:extLst>
          </p:cNvPr>
          <p:cNvGrpSpPr/>
          <p:nvPr/>
        </p:nvGrpSpPr>
        <p:grpSpPr>
          <a:xfrm>
            <a:off x="838200" y="297639"/>
            <a:ext cx="4770120" cy="301303"/>
            <a:chOff x="838200" y="297639"/>
            <a:chExt cx="4770120" cy="301303"/>
          </a:xfrm>
        </p:grpSpPr>
        <p:grpSp>
          <p:nvGrpSpPr>
            <p:cNvPr id="7" name="Group 6">
              <a:extLst>
                <a:ext uri="{FF2B5EF4-FFF2-40B4-BE49-F238E27FC236}">
                  <a16:creationId xmlns:a16="http://schemas.microsoft.com/office/drawing/2014/main" id="{13F3D056-F855-3EE0-81C8-ECA384AAC759}"/>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EB17745A-D768-CDF3-E116-0A78EC67402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F9A5468A-6571-05CA-E38C-AC5A37C54B64}"/>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D632E42-21DB-01B3-A436-1AF17B981AD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FA3EA5BD-63CE-4147-77C7-028855E5611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FE46710-6706-53A9-1F19-0FEBE9A9C8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168504E-2F5D-B5FF-64EB-DE8AA21E72C1}"/>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pic>
        <p:nvPicPr>
          <p:cNvPr id="15" name="Picture 18" descr="bigstockphoto_Right_Direction_1149198">
            <a:extLst>
              <a:ext uri="{FF2B5EF4-FFF2-40B4-BE49-F238E27FC236}">
                <a16:creationId xmlns:a16="http://schemas.microsoft.com/office/drawing/2014/main" id="{5B6D3E43-5326-513C-56D7-6903A7BE1A2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113905" y="2351217"/>
            <a:ext cx="4630189" cy="330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0460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Demand Analysis Worksheet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graphicFrame>
        <p:nvGraphicFramePr>
          <p:cNvPr id="4" name="Content Placeholder 2">
            <a:extLst>
              <a:ext uri="{FF2B5EF4-FFF2-40B4-BE49-F238E27FC236}">
                <a16:creationId xmlns:a16="http://schemas.microsoft.com/office/drawing/2014/main" id="{453F9011-1FB2-1850-E398-5A61A29C2269}"/>
              </a:ext>
            </a:extLst>
          </p:cNvPr>
          <p:cNvGraphicFramePr>
            <a:graphicFrameLocks noGrp="1" noChangeAspect="1"/>
          </p:cNvGraphicFramePr>
          <p:nvPr>
            <p:ph idx="1"/>
          </p:nvPr>
        </p:nvGraphicFramePr>
        <p:xfrm>
          <a:off x="1504468" y="1825625"/>
          <a:ext cx="9183063" cy="4351338"/>
        </p:xfrm>
        <a:graphic>
          <a:graphicData uri="http://schemas.openxmlformats.org/presentationml/2006/ole">
            <mc:AlternateContent xmlns:mc="http://schemas.openxmlformats.org/markup-compatibility/2006">
              <mc:Choice xmlns:v="urn:schemas-microsoft-com:vml" Requires="v">
                <p:oleObj name="Worksheet" r:id="rId3" imgW="12563594" imgH="5953176" progId="Excel.Sheet.8">
                  <p:embed/>
                </p:oleObj>
              </mc:Choice>
              <mc:Fallback>
                <p:oleObj name="Worksheet" r:id="rId3" imgW="12563594" imgH="5953176" progId="Excel.Sheet.8">
                  <p:embed/>
                  <p:pic>
                    <p:nvPicPr>
                      <p:cNvPr id="103427" name="Content Placeholder 2">
                        <a:extLst>
                          <a:ext uri="{FF2B5EF4-FFF2-40B4-BE49-F238E27FC236}">
                            <a16:creationId xmlns:a16="http://schemas.microsoft.com/office/drawing/2014/main" id="{F7E86B20-4D9F-15DA-22A8-0FECBAE5EF8E}"/>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468" y="1825625"/>
                        <a:ext cx="9183063" cy="435133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23204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200" dirty="0"/>
              <a:t>Steps to Implement Kanban – Machine Allocation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Fill out the machine allocation table</a:t>
            </a:r>
          </a:p>
          <a:p>
            <a:pPr lvl="1"/>
            <a:r>
              <a:rPr lang="en-US" altLang="en-US" dirty="0"/>
              <a:t>Refer to our ABC analysis</a:t>
            </a:r>
          </a:p>
          <a:p>
            <a:pPr lvl="1"/>
            <a:r>
              <a:rPr lang="en-US" altLang="en-US" dirty="0"/>
              <a:t>Understand machine cycle times</a:t>
            </a:r>
          </a:p>
          <a:p>
            <a:pPr lvl="1"/>
            <a:r>
              <a:rPr lang="en-US" altLang="en-US" dirty="0"/>
              <a:t>Load ABC accordingly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Tree>
    <p:extLst>
      <p:ext uri="{BB962C8B-B14F-4D97-AF65-F5344CB8AC3E}">
        <p14:creationId xmlns:p14="http://schemas.microsoft.com/office/powerpoint/2010/main" val="2891971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Demand Analysis Worksheet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graphicFrame>
        <p:nvGraphicFramePr>
          <p:cNvPr id="7" name="Content Placeholder 2">
            <a:extLst>
              <a:ext uri="{FF2B5EF4-FFF2-40B4-BE49-F238E27FC236}">
                <a16:creationId xmlns:a16="http://schemas.microsoft.com/office/drawing/2014/main" id="{16559482-0198-7961-D3C5-E4E5732AEBFB}"/>
              </a:ext>
            </a:extLst>
          </p:cNvPr>
          <p:cNvGraphicFramePr>
            <a:graphicFrameLocks noGrp="1" noChangeAspect="1"/>
          </p:cNvGraphicFramePr>
          <p:nvPr>
            <p:ph idx="1"/>
            <p:extLst>
              <p:ext uri="{D42A27DB-BD31-4B8C-83A1-F6EECF244321}">
                <p14:modId xmlns:p14="http://schemas.microsoft.com/office/powerpoint/2010/main" val="1839964598"/>
              </p:ext>
            </p:extLst>
          </p:nvPr>
        </p:nvGraphicFramePr>
        <p:xfrm>
          <a:off x="1504468" y="1825625"/>
          <a:ext cx="9183063" cy="4351338"/>
        </p:xfrm>
        <a:graphic>
          <a:graphicData uri="http://schemas.openxmlformats.org/presentationml/2006/ole">
            <mc:AlternateContent xmlns:mc="http://schemas.openxmlformats.org/markup-compatibility/2006">
              <mc:Choice xmlns:v="urn:schemas-microsoft-com:vml" Requires="v">
                <p:oleObj name="Worksheet" r:id="rId3" imgW="12563389" imgH="5953152" progId="Excel.Sheet.8">
                  <p:embed/>
                </p:oleObj>
              </mc:Choice>
              <mc:Fallback>
                <p:oleObj name="Worksheet" r:id="rId3" imgW="12563389" imgH="5953152" progId="Excel.Sheet.8">
                  <p:embed/>
                  <p:pic>
                    <p:nvPicPr>
                      <p:cNvPr id="107523" name="Content Placeholder 2">
                        <a:extLst>
                          <a:ext uri="{FF2B5EF4-FFF2-40B4-BE49-F238E27FC236}">
                            <a16:creationId xmlns:a16="http://schemas.microsoft.com/office/drawing/2014/main" id="{0334F102-E7AA-07E5-4F6D-C4E77145D4BC}"/>
                          </a:ext>
                        </a:extLst>
                      </p:cNvPr>
                      <p:cNvPicPr>
                        <a:picLocks noGrp="1" noChangeAspect="1" noChangeArrowheads="1"/>
                      </p:cNvPicPr>
                      <p:nvPr/>
                    </p:nvPicPr>
                    <p:blipFill>
                      <a:blip r:embed="rId4"/>
                      <a:srcRect/>
                      <a:stretch>
                        <a:fillRect/>
                      </a:stretch>
                    </p:blipFill>
                    <p:spPr bwMode="auto">
                      <a:xfrm>
                        <a:off x="1504468" y="1825625"/>
                        <a:ext cx="9183063" cy="435133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267239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sz="4000" dirty="0"/>
              <a:t>Steps to Implement Kanban - Capacity Analysis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
        <p:nvSpPr>
          <p:cNvPr id="4" name="Content Placeholder 3">
            <a:extLst>
              <a:ext uri="{FF2B5EF4-FFF2-40B4-BE49-F238E27FC236}">
                <a16:creationId xmlns:a16="http://schemas.microsoft.com/office/drawing/2014/main" id="{BB4BB770-B334-8690-9514-4A4799C41C03}"/>
              </a:ext>
            </a:extLst>
          </p:cNvPr>
          <p:cNvSpPr>
            <a:spLocks noGrp="1"/>
          </p:cNvSpPr>
          <p:nvPr>
            <p:ph idx="1"/>
          </p:nvPr>
        </p:nvSpPr>
        <p:spPr/>
        <p:txBody>
          <a:bodyPr/>
          <a:lstStyle/>
          <a:p>
            <a:r>
              <a:rPr lang="en-US" altLang="en-US" dirty="0"/>
              <a:t>Take into account set up times</a:t>
            </a:r>
          </a:p>
          <a:p>
            <a:r>
              <a:rPr lang="en-US" altLang="en-US" dirty="0"/>
              <a:t>Total time available in a day</a:t>
            </a:r>
          </a:p>
          <a:p>
            <a:r>
              <a:rPr lang="en-US" altLang="en-US" dirty="0"/>
              <a:t>Calculate machine (or cell) cycle time</a:t>
            </a:r>
          </a:p>
          <a:p>
            <a:r>
              <a:rPr lang="en-US" altLang="en-US" dirty="0"/>
              <a:t>Calculate set up time</a:t>
            </a:r>
          </a:p>
          <a:p>
            <a:endParaRPr lang="en-US" dirty="0"/>
          </a:p>
        </p:txBody>
      </p:sp>
    </p:spTree>
    <p:extLst>
      <p:ext uri="{BB962C8B-B14F-4D97-AF65-F5344CB8AC3E}">
        <p14:creationId xmlns:p14="http://schemas.microsoft.com/office/powerpoint/2010/main" val="28218186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Capacity Analysis Worksheet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graphicFrame>
        <p:nvGraphicFramePr>
          <p:cNvPr id="3" name="Content Placeholder 4">
            <a:extLst>
              <a:ext uri="{FF2B5EF4-FFF2-40B4-BE49-F238E27FC236}">
                <a16:creationId xmlns:a16="http://schemas.microsoft.com/office/drawing/2014/main" id="{919D15FC-565C-22C4-39D0-DC78D0C16383}"/>
              </a:ext>
            </a:extLst>
          </p:cNvPr>
          <p:cNvGraphicFramePr>
            <a:graphicFrameLocks noGrp="1" noChangeAspect="1"/>
          </p:cNvGraphicFramePr>
          <p:nvPr>
            <p:ph idx="1"/>
            <p:extLst>
              <p:ext uri="{D42A27DB-BD31-4B8C-83A1-F6EECF244321}">
                <p14:modId xmlns:p14="http://schemas.microsoft.com/office/powerpoint/2010/main" val="3408893412"/>
              </p:ext>
            </p:extLst>
          </p:nvPr>
        </p:nvGraphicFramePr>
        <p:xfrm>
          <a:off x="3512972" y="1825625"/>
          <a:ext cx="5166056" cy="4351338"/>
        </p:xfrm>
        <a:graphic>
          <a:graphicData uri="http://schemas.openxmlformats.org/presentationml/2006/ole">
            <mc:AlternateContent xmlns:mc="http://schemas.openxmlformats.org/markup-compatibility/2006">
              <mc:Choice xmlns:v="urn:schemas-microsoft-com:vml" Requires="v">
                <p:oleObj name="Worksheet" r:id="rId3" imgW="5315017" imgH="4476643" progId="Excel.Sheet.8">
                  <p:embed/>
                </p:oleObj>
              </mc:Choice>
              <mc:Fallback>
                <p:oleObj name="Worksheet" r:id="rId3" imgW="5315017" imgH="4476643" progId="Excel.Sheet.8">
                  <p:embed/>
                  <p:pic>
                    <p:nvPicPr>
                      <p:cNvPr id="111619" name="Content Placeholder 4">
                        <a:extLst>
                          <a:ext uri="{FF2B5EF4-FFF2-40B4-BE49-F238E27FC236}">
                            <a16:creationId xmlns:a16="http://schemas.microsoft.com/office/drawing/2014/main" id="{0603BAEF-281A-311F-4BA0-8D43E1CAF426}"/>
                          </a:ext>
                        </a:extLst>
                      </p:cNvPr>
                      <p:cNvPicPr>
                        <a:picLocks noGrp="1" noChangeAspect="1" noChangeArrowheads="1"/>
                      </p:cNvPicPr>
                      <p:nvPr/>
                    </p:nvPicPr>
                    <p:blipFill>
                      <a:blip r:embed="rId4"/>
                      <a:srcRect/>
                      <a:stretch>
                        <a:fillRect/>
                      </a:stretch>
                    </p:blipFill>
                    <p:spPr bwMode="auto">
                      <a:xfrm>
                        <a:off x="3512972" y="1825625"/>
                        <a:ext cx="5166056" cy="435133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164055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Steps to Implement Kanban – Kanban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
        <p:nvSpPr>
          <p:cNvPr id="4" name="Content Placeholder 3">
            <a:extLst>
              <a:ext uri="{FF2B5EF4-FFF2-40B4-BE49-F238E27FC236}">
                <a16:creationId xmlns:a16="http://schemas.microsoft.com/office/drawing/2014/main" id="{BB4BB770-B334-8690-9514-4A4799C41C03}"/>
              </a:ext>
            </a:extLst>
          </p:cNvPr>
          <p:cNvSpPr>
            <a:spLocks noGrp="1"/>
          </p:cNvSpPr>
          <p:nvPr>
            <p:ph idx="1"/>
          </p:nvPr>
        </p:nvSpPr>
        <p:spPr/>
        <p:txBody>
          <a:bodyPr/>
          <a:lstStyle/>
          <a:p>
            <a:r>
              <a:rPr lang="en-US" altLang="en-US" dirty="0"/>
              <a:t>Calculate the number of Kanban cards needed</a:t>
            </a:r>
          </a:p>
          <a:p>
            <a:r>
              <a:rPr lang="en-US" altLang="en-US" dirty="0"/>
              <a:t>Should understand:</a:t>
            </a:r>
          </a:p>
          <a:p>
            <a:pPr lvl="1"/>
            <a:r>
              <a:rPr lang="en-US" altLang="en-US" dirty="0"/>
              <a:t>Number of </a:t>
            </a:r>
            <a:r>
              <a:rPr lang="en-US" altLang="en-US" dirty="0" err="1"/>
              <a:t>Kanbans</a:t>
            </a:r>
            <a:endParaRPr lang="en-US" altLang="en-US" dirty="0"/>
          </a:p>
          <a:p>
            <a:pPr lvl="1"/>
            <a:r>
              <a:rPr lang="en-US" altLang="en-US" dirty="0"/>
              <a:t>Daily Demand</a:t>
            </a:r>
          </a:p>
          <a:p>
            <a:pPr lvl="1"/>
            <a:r>
              <a:rPr lang="en-US" altLang="en-US" dirty="0"/>
              <a:t>Order Frequency</a:t>
            </a:r>
          </a:p>
          <a:p>
            <a:pPr lvl="1"/>
            <a:r>
              <a:rPr lang="en-US" altLang="en-US" dirty="0"/>
              <a:t>Lead Time</a:t>
            </a:r>
          </a:p>
          <a:p>
            <a:pPr lvl="1"/>
            <a:r>
              <a:rPr lang="en-US" altLang="en-US" dirty="0"/>
              <a:t>Safety Time</a:t>
            </a:r>
          </a:p>
          <a:p>
            <a:pPr lvl="1"/>
            <a:r>
              <a:rPr lang="en-US" altLang="en-US" dirty="0"/>
              <a:t>Container Quantity</a:t>
            </a:r>
          </a:p>
        </p:txBody>
      </p:sp>
    </p:spTree>
    <p:extLst>
      <p:ext uri="{BB962C8B-B14F-4D97-AF65-F5344CB8AC3E}">
        <p14:creationId xmlns:p14="http://schemas.microsoft.com/office/powerpoint/2010/main" val="394690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Kanban Calculation Worksheet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graphicFrame>
        <p:nvGraphicFramePr>
          <p:cNvPr id="3" name="Content Placeholder 2">
            <a:extLst>
              <a:ext uri="{FF2B5EF4-FFF2-40B4-BE49-F238E27FC236}">
                <a16:creationId xmlns:a16="http://schemas.microsoft.com/office/drawing/2014/main" id="{4C40367B-D9FD-4CF0-0AE2-ADEBE8E7A07E}"/>
              </a:ext>
            </a:extLst>
          </p:cNvPr>
          <p:cNvGraphicFramePr>
            <a:graphicFrameLocks noGrp="1" noChangeAspect="1"/>
          </p:cNvGraphicFramePr>
          <p:nvPr>
            <p:ph idx="1"/>
            <p:extLst>
              <p:ext uri="{D42A27DB-BD31-4B8C-83A1-F6EECF244321}">
                <p14:modId xmlns:p14="http://schemas.microsoft.com/office/powerpoint/2010/main" val="725250455"/>
              </p:ext>
            </p:extLst>
          </p:nvPr>
        </p:nvGraphicFramePr>
        <p:xfrm>
          <a:off x="290826" y="2148840"/>
          <a:ext cx="11610348" cy="3509010"/>
        </p:xfrm>
        <a:graphic>
          <a:graphicData uri="http://schemas.openxmlformats.org/presentationml/2006/ole">
            <mc:AlternateContent xmlns:mc="http://schemas.openxmlformats.org/markup-compatibility/2006">
              <mc:Choice xmlns:v="urn:schemas-microsoft-com:vml" Requires="v">
                <p:oleObj name="Worksheet" r:id="rId3" imgW="9391553" imgH="2838277" progId="Excel.Sheet.8">
                  <p:embed/>
                </p:oleObj>
              </mc:Choice>
              <mc:Fallback>
                <p:oleObj name="Worksheet" r:id="rId3" imgW="9391553" imgH="2838277" progId="Excel.Sheet.8">
                  <p:embed/>
                  <p:pic>
                    <p:nvPicPr>
                      <p:cNvPr id="115715" name="Content Placeholder 2">
                        <a:extLst>
                          <a:ext uri="{FF2B5EF4-FFF2-40B4-BE49-F238E27FC236}">
                            <a16:creationId xmlns:a16="http://schemas.microsoft.com/office/drawing/2014/main" id="{DB77C26D-438B-76A5-7CEE-1711AF7F22C0}"/>
                          </a:ext>
                        </a:extLst>
                      </p:cNvPr>
                      <p:cNvPicPr>
                        <a:picLocks noGrp="1" noChangeAspect="1" noChangeArrowheads="1"/>
                      </p:cNvPicPr>
                      <p:nvPr/>
                    </p:nvPicPr>
                    <p:blipFill>
                      <a:blip r:embed="rId4"/>
                      <a:srcRect/>
                      <a:stretch>
                        <a:fillRect/>
                      </a:stretch>
                    </p:blipFill>
                    <p:spPr bwMode="auto">
                      <a:xfrm>
                        <a:off x="290826" y="2148840"/>
                        <a:ext cx="11610348" cy="350901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317965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Final Note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
        <p:nvSpPr>
          <p:cNvPr id="6" name="Content Placeholder 5">
            <a:extLst>
              <a:ext uri="{FF2B5EF4-FFF2-40B4-BE49-F238E27FC236}">
                <a16:creationId xmlns:a16="http://schemas.microsoft.com/office/drawing/2014/main" id="{4B799D33-DA8D-ED8C-1029-95A16594BBDD}"/>
              </a:ext>
            </a:extLst>
          </p:cNvPr>
          <p:cNvSpPr>
            <a:spLocks noGrp="1"/>
          </p:cNvSpPr>
          <p:nvPr>
            <p:ph idx="1"/>
          </p:nvPr>
        </p:nvSpPr>
        <p:spPr/>
        <p:txBody>
          <a:bodyPr/>
          <a:lstStyle/>
          <a:p>
            <a:r>
              <a:rPr lang="en-US" altLang="en-US" dirty="0"/>
              <a:t>Once your Kanban is in place, your inventory may grow temporarily</a:t>
            </a:r>
          </a:p>
          <a:p>
            <a:r>
              <a:rPr lang="en-US" altLang="en-US" dirty="0"/>
              <a:t>Your Kanban supermarket part quantities are being adjusted</a:t>
            </a:r>
          </a:p>
          <a:p>
            <a:pPr marL="0" indent="0">
              <a:buNone/>
            </a:pPr>
            <a:endParaRPr lang="en-US" altLang="en-US" dirty="0"/>
          </a:p>
        </p:txBody>
      </p:sp>
    </p:spTree>
    <p:extLst>
      <p:ext uri="{BB962C8B-B14F-4D97-AF65-F5344CB8AC3E}">
        <p14:creationId xmlns:p14="http://schemas.microsoft.com/office/powerpoint/2010/main" val="4129787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Review Exercise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13" name="Group 12">
            <a:extLst>
              <a:ext uri="{FF2B5EF4-FFF2-40B4-BE49-F238E27FC236}">
                <a16:creationId xmlns:a16="http://schemas.microsoft.com/office/drawing/2014/main" id="{C4B1A432-8073-8E87-5524-F93A838B5469}"/>
              </a:ext>
            </a:extLst>
          </p:cNvPr>
          <p:cNvGrpSpPr/>
          <p:nvPr/>
        </p:nvGrpSpPr>
        <p:grpSpPr>
          <a:xfrm>
            <a:off x="838200" y="297639"/>
            <a:ext cx="4770120" cy="301303"/>
            <a:chOff x="838200" y="297639"/>
            <a:chExt cx="4770120" cy="301303"/>
          </a:xfrm>
        </p:grpSpPr>
        <p:grpSp>
          <p:nvGrpSpPr>
            <p:cNvPr id="14" name="Group 13">
              <a:extLst>
                <a:ext uri="{FF2B5EF4-FFF2-40B4-BE49-F238E27FC236}">
                  <a16:creationId xmlns:a16="http://schemas.microsoft.com/office/drawing/2014/main" id="{D308132D-C39E-F615-9822-80203300EEB8}"/>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F46E4106-853E-8E69-FD5B-46C29194989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7" name="Group 16">
                <a:extLst>
                  <a:ext uri="{FF2B5EF4-FFF2-40B4-BE49-F238E27FC236}">
                    <a16:creationId xmlns:a16="http://schemas.microsoft.com/office/drawing/2014/main" id="{6DDC8911-8F87-66FE-DB71-E131C21FC513}"/>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DD8724A0-C29F-EA6D-F7CD-E5DDEDBE72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8F820A3-7D48-479E-01F4-37A7CA1BAF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2B4AC3A0-4CAF-2DD2-60EB-824B223FA17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5D7AC6E-E9E0-C50B-6C8C-6D951AE8C4D2}"/>
                </a:ext>
              </a:extLst>
            </p:cNvPr>
            <p:cNvSpPr txBox="1"/>
            <p:nvPr/>
          </p:nvSpPr>
          <p:spPr>
            <a:xfrm>
              <a:off x="2212042" y="307580"/>
              <a:ext cx="33962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Implementing Kanban</a:t>
              </a:r>
            </a:p>
          </p:txBody>
        </p:sp>
      </p:grpSp>
      <p:sp>
        <p:nvSpPr>
          <p:cNvPr id="6" name="Content Placeholder 5">
            <a:extLst>
              <a:ext uri="{FF2B5EF4-FFF2-40B4-BE49-F238E27FC236}">
                <a16:creationId xmlns:a16="http://schemas.microsoft.com/office/drawing/2014/main" id="{4B799D33-DA8D-ED8C-1029-95A16594BBDD}"/>
              </a:ext>
            </a:extLst>
          </p:cNvPr>
          <p:cNvSpPr>
            <a:spLocks noGrp="1"/>
          </p:cNvSpPr>
          <p:nvPr>
            <p:ph idx="1"/>
          </p:nvPr>
        </p:nvSpPr>
        <p:spPr/>
        <p:txBody>
          <a:bodyPr/>
          <a:lstStyle/>
          <a:p>
            <a:pPr marL="0" indent="0">
              <a:buNone/>
            </a:pPr>
            <a:r>
              <a:rPr lang="en-US" altLang="en-US" b="1" dirty="0"/>
              <a:t>2 Minute Review</a:t>
            </a:r>
          </a:p>
          <a:p>
            <a:r>
              <a:rPr lang="en-US" altLang="en-US" dirty="0"/>
              <a:t>In pairs, or in small groups, spend 2 minutes discussing key learnings and take-aways from this Kanban Event thus far</a:t>
            </a:r>
          </a:p>
          <a:p>
            <a:r>
              <a:rPr lang="en-US" altLang="en-US" dirty="0"/>
              <a:t>One person from each group will share one learning that was discussed with the rest of the class</a:t>
            </a:r>
          </a:p>
        </p:txBody>
      </p:sp>
    </p:spTree>
    <p:extLst>
      <p:ext uri="{BB962C8B-B14F-4D97-AF65-F5344CB8AC3E}">
        <p14:creationId xmlns:p14="http://schemas.microsoft.com/office/powerpoint/2010/main" val="17049891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58</a:t>
            </a:fld>
            <a:endParaRPr lang="en-US" dirty="0"/>
          </a:p>
        </p:txBody>
      </p:sp>
    </p:spTree>
    <p:extLst>
      <p:ext uri="{BB962C8B-B14F-4D97-AF65-F5344CB8AC3E}">
        <p14:creationId xmlns:p14="http://schemas.microsoft.com/office/powerpoint/2010/main" val="258388322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14124</TotalTime>
  <Words>8047</Words>
  <Application>Microsoft Office PowerPoint</Application>
  <PresentationFormat>Widescreen</PresentationFormat>
  <Paragraphs>901</Paragraphs>
  <Slides>58</Slides>
  <Notes>58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6" baseType="lpstr">
      <vt:lpstr>Arial</vt:lpstr>
      <vt:lpstr>Arial Black</vt:lpstr>
      <vt:lpstr>Calibri</vt:lpstr>
      <vt:lpstr>Roboto</vt:lpstr>
      <vt:lpstr>Roboto Medium</vt:lpstr>
      <vt:lpstr>Wingdings</vt:lpstr>
      <vt:lpstr>Office Theme</vt:lpstr>
      <vt:lpstr>Worksheet</vt:lpstr>
      <vt:lpstr>PowerPoint Presentation</vt:lpstr>
      <vt:lpstr>PowerPoint Presentation</vt:lpstr>
      <vt:lpstr>PowerPoint Presentation</vt:lpstr>
      <vt:lpstr>Ground Rules for Event</vt:lpstr>
      <vt:lpstr>Goal of Kanban Module</vt:lpstr>
      <vt:lpstr>Kanban Training Overview</vt:lpstr>
      <vt:lpstr>Introduction to Kanban </vt:lpstr>
      <vt:lpstr>Introduction to Kanban </vt:lpstr>
      <vt:lpstr>Introduction to Kanban </vt:lpstr>
      <vt:lpstr>Exercise: Kanban Charter Review</vt:lpstr>
      <vt:lpstr>Push vs. Pull Systems </vt:lpstr>
      <vt:lpstr>Example of Continuous Flow</vt:lpstr>
      <vt:lpstr>Process Flow Production</vt:lpstr>
      <vt:lpstr>Push Systems vs. Pull Systems</vt:lpstr>
      <vt:lpstr>Pull System Example</vt:lpstr>
      <vt:lpstr>What Is a Pull System? </vt:lpstr>
      <vt:lpstr>Push System</vt:lpstr>
      <vt:lpstr>Pull vs. Push</vt:lpstr>
      <vt:lpstr>Goals of a Pull System</vt:lpstr>
      <vt:lpstr>Pull System Example</vt:lpstr>
      <vt:lpstr>Achieving a Pull System</vt:lpstr>
      <vt:lpstr>Do You Make to Order or to a Supermarket?</vt:lpstr>
      <vt:lpstr>Transitioning from MRP (Push System) to Kanban</vt:lpstr>
      <vt:lpstr>Transitioned from MRP (Push System) to Kanban</vt:lpstr>
      <vt:lpstr>Types of Kanban and How Kanban Works</vt:lpstr>
      <vt:lpstr>What is a Supermarket?</vt:lpstr>
      <vt:lpstr>Types of Kanban</vt:lpstr>
      <vt:lpstr>Kanban Post</vt:lpstr>
      <vt:lpstr>Types of Transport Kanban</vt:lpstr>
      <vt:lpstr>Withdrawal Kanban Example</vt:lpstr>
      <vt:lpstr>Goal: Next order arrives as inventory hits safety stock</vt:lpstr>
      <vt:lpstr>Kanban Calculations</vt:lpstr>
      <vt:lpstr>Set-up Wheel</vt:lpstr>
      <vt:lpstr>Calculating Lead Time</vt:lpstr>
      <vt:lpstr>Key Calculations</vt:lpstr>
      <vt:lpstr>Definitions</vt:lpstr>
      <vt:lpstr>Exercise: Impact of changeover on lead time</vt:lpstr>
      <vt:lpstr>Calculating Kanban Signals</vt:lpstr>
      <vt:lpstr>Kanban Data Analysis</vt:lpstr>
      <vt:lpstr>ABC Analysis</vt:lpstr>
      <vt:lpstr>ABC Analysis Steps</vt:lpstr>
      <vt:lpstr>Kanban Calculation Problems</vt:lpstr>
      <vt:lpstr>Implementing Kanban </vt:lpstr>
      <vt:lpstr>Steps to Implement Kanban</vt:lpstr>
      <vt:lpstr>Measuring Progress</vt:lpstr>
      <vt:lpstr>Kanban Inventory Improvements – Results Form</vt:lpstr>
      <vt:lpstr>Prepare for Final Report-Out to Management</vt:lpstr>
      <vt:lpstr>Maintaining Kanban</vt:lpstr>
      <vt:lpstr>Demand Analysis Worksheet</vt:lpstr>
      <vt:lpstr>Steps to Implement Kanban – Machine Allocation</vt:lpstr>
      <vt:lpstr>Demand Analysis Worksheet</vt:lpstr>
      <vt:lpstr>Steps to Implement Kanban - Capacity Analysis</vt:lpstr>
      <vt:lpstr>Capacity Analysis Worksheet</vt:lpstr>
      <vt:lpstr>Steps to Implement Kanban – Kanban Cards</vt:lpstr>
      <vt:lpstr>Kanban Calculation Worksheet</vt:lpstr>
      <vt:lpstr>Final Note</vt:lpstr>
      <vt:lpstr>Review 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415</cp:revision>
  <dcterms:created xsi:type="dcterms:W3CDTF">2023-02-08T22:10:20Z</dcterms:created>
  <dcterms:modified xsi:type="dcterms:W3CDTF">2023-09-29T20:41:30Z</dcterms:modified>
</cp:coreProperties>
</file>