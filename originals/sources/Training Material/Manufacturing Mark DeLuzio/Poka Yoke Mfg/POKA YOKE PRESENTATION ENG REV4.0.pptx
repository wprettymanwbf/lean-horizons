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57"/>
  </p:notesMasterIdLst>
  <p:handoutMasterIdLst>
    <p:handoutMasterId r:id="rId58"/>
  </p:handoutMasterIdLst>
  <p:sldIdLst>
    <p:sldId id="313" r:id="rId2"/>
    <p:sldId id="283" r:id="rId3"/>
    <p:sldId id="284" r:id="rId4"/>
    <p:sldId id="285" r:id="rId5"/>
    <p:sldId id="314" r:id="rId6"/>
    <p:sldId id="316" r:id="rId7"/>
    <p:sldId id="399" r:id="rId8"/>
    <p:sldId id="368" r:id="rId9"/>
    <p:sldId id="369" r:id="rId10"/>
    <p:sldId id="370" r:id="rId11"/>
    <p:sldId id="400" r:id="rId12"/>
    <p:sldId id="374" r:id="rId13"/>
    <p:sldId id="401" r:id="rId14"/>
    <p:sldId id="315" r:id="rId15"/>
    <p:sldId id="372" r:id="rId16"/>
    <p:sldId id="373" r:id="rId17"/>
    <p:sldId id="402" r:id="rId18"/>
    <p:sldId id="403" r:id="rId19"/>
    <p:sldId id="350" r:id="rId20"/>
    <p:sldId id="404" r:id="rId21"/>
    <p:sldId id="405" r:id="rId22"/>
    <p:sldId id="406" r:id="rId23"/>
    <p:sldId id="407" r:id="rId24"/>
    <p:sldId id="408" r:id="rId25"/>
    <p:sldId id="409" r:id="rId26"/>
    <p:sldId id="410" r:id="rId27"/>
    <p:sldId id="411" r:id="rId28"/>
    <p:sldId id="376" r:id="rId29"/>
    <p:sldId id="377" r:id="rId30"/>
    <p:sldId id="378" r:id="rId31"/>
    <p:sldId id="379" r:id="rId32"/>
    <p:sldId id="380" r:id="rId33"/>
    <p:sldId id="381" r:id="rId34"/>
    <p:sldId id="382" r:id="rId35"/>
    <p:sldId id="412" r:id="rId36"/>
    <p:sldId id="413" r:id="rId37"/>
    <p:sldId id="375" r:id="rId38"/>
    <p:sldId id="414" r:id="rId39"/>
    <p:sldId id="415" r:id="rId40"/>
    <p:sldId id="383" r:id="rId41"/>
    <p:sldId id="384" r:id="rId42"/>
    <p:sldId id="416" r:id="rId43"/>
    <p:sldId id="417" r:id="rId44"/>
    <p:sldId id="418" r:id="rId45"/>
    <p:sldId id="419" r:id="rId46"/>
    <p:sldId id="420" r:id="rId47"/>
    <p:sldId id="421" r:id="rId48"/>
    <p:sldId id="422" r:id="rId49"/>
    <p:sldId id="423" r:id="rId50"/>
    <p:sldId id="424" r:id="rId51"/>
    <p:sldId id="425" r:id="rId52"/>
    <p:sldId id="426" r:id="rId53"/>
    <p:sldId id="396" r:id="rId54"/>
    <p:sldId id="397" r:id="rId55"/>
    <p:sldId id="398"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7B6AAEF-3415-5D22-AFDC-F31A005CEED7}" name="Joe Rutz" initials="JR" userId="S::joe.rutz@leancoachingllc.com::74172d3c-f68f-4a41-af3d-37d02d9c966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2222"/>
    <a:srgbClr val="FFB627"/>
    <a:srgbClr val="177E89"/>
    <a:srgbClr val="8EDCE6"/>
    <a:srgbClr val="F1BF98"/>
    <a:srgbClr val="2EC4B6"/>
    <a:srgbClr val="BDDBD0"/>
    <a:srgbClr val="2D7DD2"/>
    <a:srgbClr val="62929E"/>
    <a:srgbClr val="B3DE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81849" autoAdjust="0"/>
  </p:normalViewPr>
  <p:slideViewPr>
    <p:cSldViewPr snapToGrid="0">
      <p:cViewPr varScale="1">
        <p:scale>
          <a:sx n="67" d="100"/>
          <a:sy n="67" d="100"/>
        </p:scale>
        <p:origin x="1286" y="62"/>
      </p:cViewPr>
      <p:guideLst/>
    </p:cSldViewPr>
  </p:slideViewPr>
  <p:notesTextViewPr>
    <p:cViewPr>
      <p:scale>
        <a:sx n="3" d="2"/>
        <a:sy n="3" d="2"/>
      </p:scale>
      <p:origin x="0" y="0"/>
    </p:cViewPr>
  </p:notesTextViewPr>
  <p:sorterViewPr>
    <p:cViewPr varScale="1">
      <p:scale>
        <a:sx n="100" d="100"/>
        <a:sy n="100" d="100"/>
      </p:scale>
      <p:origin x="0" y="-3413"/>
    </p:cViewPr>
  </p:sorterViewPr>
  <p:notesViewPr>
    <p:cSldViewPr snapToGrid="0">
      <p:cViewPr varScale="1">
        <p:scale>
          <a:sx n="62" d="100"/>
          <a:sy n="62" d="100"/>
        </p:scale>
        <p:origin x="3226" y="7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51E3447-C4AE-F0EE-0A76-D58B8086F14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34F706D-72E6-91C7-E293-79E666D135C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6377DB3-4B9F-4309-98C7-2FE910F4D1E3}" type="datetimeFigureOut">
              <a:rPr lang="en-US" smtClean="0"/>
              <a:t>9/29/2023</a:t>
            </a:fld>
            <a:endParaRPr lang="en-US"/>
          </a:p>
        </p:txBody>
      </p:sp>
      <p:sp>
        <p:nvSpPr>
          <p:cNvPr id="4" name="Footer Placeholder 3">
            <a:extLst>
              <a:ext uri="{FF2B5EF4-FFF2-40B4-BE49-F238E27FC236}">
                <a16:creationId xmlns:a16="http://schemas.microsoft.com/office/drawing/2014/main" id="{CA8DCB59-112C-C964-A192-51DB280D5E4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6524A9E-135B-E2B2-12EF-4F8D676D60D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7F3099D-07B5-48B0-8200-12959784E194}" type="slidenum">
              <a:rPr lang="en-US" smtClean="0"/>
              <a:t>‹#›</a:t>
            </a:fld>
            <a:endParaRPr lang="en-US"/>
          </a:p>
        </p:txBody>
      </p:sp>
    </p:spTree>
    <p:extLst>
      <p:ext uri="{BB962C8B-B14F-4D97-AF65-F5344CB8AC3E}">
        <p14:creationId xmlns:p14="http://schemas.microsoft.com/office/powerpoint/2010/main" val="26003557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86C400-5EB2-4620-B71B-A7454A7EC846}" type="datetimeFigureOut">
              <a:rPr lang="en-US" smtClean="0"/>
              <a:t>9/29/2023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CD8548-F1A2-4EDF-A416-5F2BB6B8F64C}" type="slidenum">
              <a:rPr lang="en-US" smtClean="0"/>
              <a:t>‹#›</a:t>
            </a:fld>
            <a:endParaRPr lang="en-US"/>
          </a:p>
        </p:txBody>
      </p:sp>
    </p:spTree>
    <p:extLst>
      <p:ext uri="{BB962C8B-B14F-4D97-AF65-F5344CB8AC3E}">
        <p14:creationId xmlns:p14="http://schemas.microsoft.com/office/powerpoint/2010/main" val="1973237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a:t>
            </a:fld>
            <a:endParaRPr lang="en-US"/>
          </a:p>
        </p:txBody>
      </p:sp>
    </p:spTree>
    <p:extLst>
      <p:ext uri="{BB962C8B-B14F-4D97-AF65-F5344CB8AC3E}">
        <p14:creationId xmlns:p14="http://schemas.microsoft.com/office/powerpoint/2010/main" val="36113797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a:t>
            </a:fld>
            <a:endParaRPr lang="en-US"/>
          </a:p>
        </p:txBody>
      </p:sp>
    </p:spTree>
    <p:extLst>
      <p:ext uri="{BB962C8B-B14F-4D97-AF65-F5344CB8AC3E}">
        <p14:creationId xmlns:p14="http://schemas.microsoft.com/office/powerpoint/2010/main" val="14412582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a:t>
            </a:fld>
            <a:endParaRPr lang="en-US"/>
          </a:p>
        </p:txBody>
      </p:sp>
    </p:spTree>
    <p:extLst>
      <p:ext uri="{BB962C8B-B14F-4D97-AF65-F5344CB8AC3E}">
        <p14:creationId xmlns:p14="http://schemas.microsoft.com/office/powerpoint/2010/main" val="7673508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 </a:t>
            </a:r>
            <a:r>
              <a:rPr lang="en-US" altLang="en-US" dirty="0">
                <a:latin typeface="Arial" panose="020B0604020202020204" pitchFamily="34" charset="0"/>
              </a:rPr>
              <a:t>Perform Group Introductions. Pick an ice-breaker or exercise to warm the team up to the event. (Icebreaker Example: Everyone uses their name tent and writes a </a:t>
            </a:r>
            <a:r>
              <a:rPr lang="ja-JP" altLang="en-US" dirty="0">
                <a:latin typeface="Arial" panose="020B0604020202020204" pitchFamily="34" charset="0"/>
              </a:rPr>
              <a:t>“</a:t>
            </a:r>
            <a:r>
              <a:rPr lang="en-US" altLang="ja-JP" dirty="0">
                <a:latin typeface="Arial" panose="020B0604020202020204" pitchFamily="34" charset="0"/>
              </a:rPr>
              <a:t>Personal License Plate</a:t>
            </a:r>
            <a:r>
              <a:rPr lang="ja-JP" altLang="en-US" dirty="0">
                <a:latin typeface="Arial" panose="020B0604020202020204" pitchFamily="34" charset="0"/>
              </a:rPr>
              <a:t>”</a:t>
            </a:r>
            <a:r>
              <a:rPr lang="en-US" altLang="ja-JP" dirty="0">
                <a:latin typeface="Arial" panose="020B0604020202020204" pitchFamily="34" charset="0"/>
              </a:rPr>
              <a:t> in which they have 2 minutes to creatively use a total of 7 letters or numbers to tell us something about themselves. Examples </a:t>
            </a:r>
            <a:r>
              <a:rPr lang="ja-JP" altLang="en-US" dirty="0">
                <a:latin typeface="Arial" panose="020B0604020202020204" pitchFamily="34" charset="0"/>
              </a:rPr>
              <a:t>“</a:t>
            </a:r>
            <a:r>
              <a:rPr lang="en-US" altLang="ja-JP" dirty="0">
                <a:latin typeface="Arial" panose="020B0604020202020204" pitchFamily="34" charset="0"/>
              </a:rPr>
              <a:t>LV2SAIL</a:t>
            </a:r>
            <a:r>
              <a:rPr lang="ja-JP" altLang="en-US" dirty="0">
                <a:latin typeface="Arial" panose="020B0604020202020204" pitchFamily="34" charset="0"/>
              </a:rPr>
              <a:t>”</a:t>
            </a:r>
            <a:r>
              <a:rPr lang="en-US" altLang="ja-JP" dirty="0">
                <a:latin typeface="Arial" panose="020B0604020202020204" pitchFamily="34" charset="0"/>
              </a:rPr>
              <a:t> OR </a:t>
            </a:r>
            <a:r>
              <a:rPr lang="ja-JP" altLang="en-US" dirty="0">
                <a:latin typeface="Arial" panose="020B0604020202020204" pitchFamily="34" charset="0"/>
              </a:rPr>
              <a:t>“</a:t>
            </a:r>
            <a:r>
              <a:rPr lang="en-US" altLang="ja-JP" dirty="0">
                <a:latin typeface="Arial" panose="020B0604020202020204" pitchFamily="34" charset="0"/>
              </a:rPr>
              <a:t>DADOV5</a:t>
            </a:r>
            <a:r>
              <a:rPr lang="ja-JP" altLang="en-US" dirty="0">
                <a:latin typeface="Arial" panose="020B0604020202020204" pitchFamily="34" charset="0"/>
              </a:rPr>
              <a:t>”</a:t>
            </a:r>
            <a:r>
              <a:rPr lang="en-US" altLang="ja-JP" dirty="0">
                <a:latin typeface="Arial" panose="020B0604020202020204" pitchFamily="34" charset="0"/>
              </a:rPr>
              <a:t> </a:t>
            </a:r>
          </a:p>
          <a:p>
            <a:r>
              <a:rPr lang="en-US" altLang="en-US" b="1" dirty="0">
                <a:latin typeface="Arial" panose="020B0604020202020204" pitchFamily="34" charset="0"/>
              </a:rPr>
              <a:t>DO</a:t>
            </a:r>
            <a:r>
              <a:rPr lang="en-US" altLang="en-US" dirty="0">
                <a:latin typeface="Arial" panose="020B0604020202020204" pitchFamily="34" charset="0"/>
              </a:rPr>
              <a:t>: Review Event Ground Rules. </a:t>
            </a: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Does anyone have any rules they would like to see added?</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Does everyone agree to these?</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a:t>
            </a:fld>
            <a:endParaRPr lang="en-US"/>
          </a:p>
        </p:txBody>
      </p:sp>
    </p:spTree>
    <p:extLst>
      <p:ext uri="{BB962C8B-B14F-4D97-AF65-F5344CB8AC3E}">
        <p14:creationId xmlns:p14="http://schemas.microsoft.com/office/powerpoint/2010/main" val="13057167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Introduce the notion of Poka-Yoke and the goal of this event. </a:t>
            </a: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In this module we want you to learn the difference between defects and errors, learn how poka-yoke is a vital element of improving product quality, and learn how to implement poka-yoke in your value streams.</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a:t>
            </a:fld>
            <a:endParaRPr lang="en-US"/>
          </a:p>
        </p:txBody>
      </p:sp>
    </p:spTree>
    <p:extLst>
      <p:ext uri="{BB962C8B-B14F-4D97-AF65-F5344CB8AC3E}">
        <p14:creationId xmlns:p14="http://schemas.microsoft.com/office/powerpoint/2010/main" val="36158198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As with all kaizen, our direction for our improvement efforts should be driven by a business need and/or the tool Value Stream Mapping.</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Why?</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We want to make sure we are going to get our </a:t>
            </a:r>
            <a:r>
              <a:rPr lang="ja-JP" altLang="en-US" dirty="0">
                <a:latin typeface="Arial" panose="020B0604020202020204" pitchFamily="34" charset="0"/>
              </a:rPr>
              <a:t>“</a:t>
            </a:r>
            <a:r>
              <a:rPr lang="en-US" altLang="ja-JP" dirty="0">
                <a:latin typeface="Arial" panose="020B0604020202020204" pitchFamily="34" charset="0"/>
              </a:rPr>
              <a:t>bang for the buck</a:t>
            </a:r>
            <a:r>
              <a:rPr lang="ja-JP" altLang="en-US" dirty="0">
                <a:latin typeface="Arial" panose="020B0604020202020204" pitchFamily="34" charset="0"/>
              </a:rPr>
              <a:t>”</a:t>
            </a:r>
            <a:r>
              <a:rPr lang="en-US" altLang="ja-JP" dirty="0">
                <a:latin typeface="Arial" panose="020B0604020202020204" pitchFamily="34" charset="0"/>
              </a:rPr>
              <a:t> with the investment we are making in our improvement efforts.</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What business need is being met with our kaizen event this week?</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Is there a Value Stream Map or a Value Stream Plan that identifies the need for this event?</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6</a:t>
            </a:fld>
            <a:endParaRPr lang="en-US"/>
          </a:p>
        </p:txBody>
      </p:sp>
    </p:spTree>
    <p:extLst>
      <p:ext uri="{BB962C8B-B14F-4D97-AF65-F5344CB8AC3E}">
        <p14:creationId xmlns:p14="http://schemas.microsoft.com/office/powerpoint/2010/main" val="21775214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Define FMEA</a:t>
            </a: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Customers are placing increased demands on companies for high quality, reliable products. The increasing capabilities and functionality of many products are making it more difficult for companies to maintain the quality and reliability. Traditionally, reliability has been achieved through extensive testing and use of techniques such as probabilistic reliability modeling. These are techniques done in the late stages of development. The challenge is to design in quality and reliability early in the development cycle.</a:t>
            </a:r>
          </a:p>
          <a:p>
            <a:r>
              <a:rPr lang="en-US" altLang="en-US" dirty="0">
                <a:latin typeface="Arial" panose="020B0604020202020204" pitchFamily="34" charset="0"/>
              </a:rPr>
              <a:t>Failure Modes and Effects Analysis (FMEA) is methodology for analyzing potential reliability problems early in the development cycle where it is easier to take actions to overcome these issues, thereby enhancing reliability through design. FMEA is used to identify potential failure modes, determine their effect on the operation of the product, and identify actions to mitigate the failures. A crucial step is anticipating what might go wrong with a product. While anticipating every failure mode is not possible, the development team should formulate as extensive a list of potential failure modes as possible.</a:t>
            </a:r>
          </a:p>
          <a:p>
            <a:r>
              <a:rPr lang="en-US" altLang="en-US" dirty="0">
                <a:latin typeface="Arial" panose="020B0604020202020204" pitchFamily="34" charset="0"/>
              </a:rPr>
              <a:t>The early and consistent use of FMEAs in the design process allows the engineer to design out failures and produce reliable, safe, and customer pleasing products. We do this by creating poka-yokes.</a:t>
            </a:r>
            <a:r>
              <a:rPr lang="ja-JP" altLang="en-US" dirty="0">
                <a:latin typeface="Arial" panose="020B0604020202020204" pitchFamily="34" charset="0"/>
              </a:rPr>
              <a:t>”</a:t>
            </a:r>
            <a:r>
              <a:rPr lang="en-US" altLang="ja-JP" dirty="0">
                <a:latin typeface="Arial" panose="020B0604020202020204" pitchFamily="34" charset="0"/>
              </a:rPr>
              <a:t> </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7</a:t>
            </a:fld>
            <a:endParaRPr lang="en-US"/>
          </a:p>
        </p:txBody>
      </p:sp>
    </p:spTree>
    <p:extLst>
      <p:ext uri="{BB962C8B-B14F-4D97-AF65-F5344CB8AC3E}">
        <p14:creationId xmlns:p14="http://schemas.microsoft.com/office/powerpoint/2010/main" val="2441576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Review the Japanese origins and definition of the term, poka-yoke.</a:t>
            </a: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err="1">
                <a:latin typeface="Arial" panose="020B0604020202020204" pitchFamily="34" charset="0"/>
              </a:rPr>
              <a:t>Poka</a:t>
            </a:r>
            <a:r>
              <a:rPr lang="en-US" altLang="ja-JP" dirty="0">
                <a:latin typeface="Arial" panose="020B0604020202020204" pitchFamily="34" charset="0"/>
              </a:rPr>
              <a:t> Yoke is also called mistake-proofing, error-proofing, and </a:t>
            </a:r>
            <a:r>
              <a:rPr lang="en-US" altLang="ja-JP" dirty="0" err="1">
                <a:latin typeface="Arial" panose="020B0604020202020204" pitchFamily="34" charset="0"/>
              </a:rPr>
              <a:t>baka</a:t>
            </a:r>
            <a:r>
              <a:rPr lang="en-US" altLang="ja-JP" dirty="0">
                <a:latin typeface="Arial" panose="020B0604020202020204" pitchFamily="34" charset="0"/>
              </a:rPr>
              <a:t>-yoke (fool proofing)</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Poka-Yoke refers to methods that help associates avoid mistakes in their work caused by choosing the wrong item, leaving out an item, or any other form of doing something incorrectly.</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Poka-yoke is the highest level of </a:t>
            </a:r>
            <a:r>
              <a:rPr lang="en-US" altLang="ja-JP" dirty="0" err="1">
                <a:latin typeface="Arial" panose="020B0604020202020204" pitchFamily="34" charset="0"/>
              </a:rPr>
              <a:t>jidoka</a:t>
            </a:r>
            <a:r>
              <a:rPr lang="en-US" altLang="ja-JP" dirty="0">
                <a:latin typeface="Arial" panose="020B0604020202020204" pitchFamily="34" charset="0"/>
              </a:rPr>
              <a:t>. </a:t>
            </a:r>
            <a:r>
              <a:rPr lang="en-US" altLang="ja-JP" dirty="0" err="1">
                <a:latin typeface="Arial" panose="020B0604020202020204" pitchFamily="34" charset="0"/>
              </a:rPr>
              <a:t>Jidoka</a:t>
            </a:r>
            <a:r>
              <a:rPr lang="en-US" altLang="ja-JP" dirty="0">
                <a:latin typeface="Arial" panose="020B0604020202020204" pitchFamily="34" charset="0"/>
              </a:rPr>
              <a:t> is another Japanese term that refers to providing systems, programs, and associates the ability to detect when an abnormal condition has occurred and immediately stop work. This allows associates to build quality into each process of their work.</a:t>
            </a:r>
            <a:r>
              <a:rPr lang="ja-JP" altLang="en-US" dirty="0">
                <a:latin typeface="Arial" panose="020B0604020202020204" pitchFamily="34" charset="0"/>
              </a:rPr>
              <a:t>”</a:t>
            </a:r>
            <a:r>
              <a:rPr lang="en-US" altLang="ja-JP" dirty="0">
                <a:latin typeface="Arial" panose="020B0604020202020204" pitchFamily="34" charset="0"/>
              </a:rPr>
              <a:t> </a:t>
            </a: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What are other error proofing examples?</a:t>
            </a:r>
            <a:r>
              <a:rPr lang="ja-JP" altLang="en-US" dirty="0">
                <a:latin typeface="Arial" panose="020B0604020202020204" pitchFamily="34" charset="0"/>
              </a:rPr>
              <a:t>”</a:t>
            </a:r>
            <a:endParaRPr lang="en-US" altLang="ja-JP" dirty="0">
              <a:latin typeface="Arial" panose="020B0604020202020204" pitchFamily="34" charset="0"/>
            </a:endParaRPr>
          </a:p>
          <a:p>
            <a:pPr>
              <a:lnSpc>
                <a:spcPct val="80000"/>
              </a:lnSpc>
              <a:spcBef>
                <a:spcPct val="0"/>
              </a:spcBef>
              <a:spcAft>
                <a:spcPct val="50000"/>
              </a:spcAft>
              <a:buClr>
                <a:srgbClr val="0000FF"/>
              </a:buClr>
              <a:buFont typeface="Wingdings 2" panose="05020102010507070707" pitchFamily="18" charset="2"/>
              <a:buNone/>
            </a:pPr>
            <a:r>
              <a:rPr lang="en-US" altLang="en-US" dirty="0">
                <a:latin typeface="Arial" panose="020B0604020202020204" pitchFamily="34" charset="0"/>
              </a:rPr>
              <a:t>Car safety belt warning light or buzzer</a:t>
            </a:r>
          </a:p>
          <a:p>
            <a:pPr>
              <a:lnSpc>
                <a:spcPct val="80000"/>
              </a:lnSpc>
              <a:spcBef>
                <a:spcPct val="0"/>
              </a:spcBef>
              <a:spcAft>
                <a:spcPct val="50000"/>
              </a:spcAft>
              <a:buClr>
                <a:srgbClr val="0000FF"/>
              </a:buClr>
              <a:buFont typeface="Wingdings 2" panose="05020102010507070707" pitchFamily="18" charset="2"/>
              <a:buNone/>
            </a:pPr>
            <a:r>
              <a:rPr lang="en-US" altLang="en-US" dirty="0">
                <a:latin typeface="Arial" panose="020B0604020202020204" pitchFamily="34" charset="0"/>
              </a:rPr>
              <a:t>Clothes iron that shuts itself off if left on inadvertently</a:t>
            </a:r>
          </a:p>
          <a:p>
            <a:pPr>
              <a:lnSpc>
                <a:spcPct val="80000"/>
              </a:lnSpc>
              <a:spcBef>
                <a:spcPct val="0"/>
              </a:spcBef>
              <a:spcAft>
                <a:spcPct val="50000"/>
              </a:spcAft>
              <a:buClr>
                <a:srgbClr val="0000FF"/>
              </a:buClr>
              <a:buFont typeface="Wingdings 2" panose="05020102010507070707" pitchFamily="18" charset="2"/>
              <a:buNone/>
            </a:pPr>
            <a:r>
              <a:rPr lang="en-US" altLang="en-US" dirty="0">
                <a:latin typeface="Arial" panose="020B0604020202020204" pitchFamily="34" charset="0"/>
              </a:rPr>
              <a:t>Garage door opener with safety reversing switch</a:t>
            </a:r>
          </a:p>
          <a:p>
            <a:pPr>
              <a:lnSpc>
                <a:spcPct val="80000"/>
              </a:lnSpc>
              <a:spcBef>
                <a:spcPct val="0"/>
              </a:spcBef>
              <a:spcAft>
                <a:spcPct val="50000"/>
              </a:spcAft>
              <a:buClr>
                <a:srgbClr val="0000FF"/>
              </a:buClr>
              <a:buFont typeface="Wingdings 2" panose="05020102010507070707" pitchFamily="18" charset="2"/>
              <a:buNone/>
            </a:pPr>
            <a:r>
              <a:rPr lang="en-US" altLang="en-US" dirty="0">
                <a:latin typeface="Arial" panose="020B0604020202020204" pitchFamily="34" charset="0"/>
              </a:rPr>
              <a:t>Lawn mower with safety release handle for shutting off mower</a:t>
            </a:r>
          </a:p>
          <a:p>
            <a:pPr>
              <a:lnSpc>
                <a:spcPct val="80000"/>
              </a:lnSpc>
              <a:spcBef>
                <a:spcPct val="0"/>
              </a:spcBef>
              <a:spcAft>
                <a:spcPct val="50000"/>
              </a:spcAft>
              <a:buClr>
                <a:srgbClr val="0000FF"/>
              </a:buClr>
              <a:buFont typeface="Wingdings 2" panose="05020102010507070707" pitchFamily="18" charset="2"/>
              <a:buNone/>
            </a:pPr>
            <a:r>
              <a:rPr lang="en-US" altLang="en-US" dirty="0">
                <a:latin typeface="Arial" panose="020B0604020202020204" pitchFamily="34" charset="0"/>
              </a:rPr>
              <a:t>A car that cannot be started in gear</a:t>
            </a:r>
          </a:p>
          <a:p>
            <a:pPr>
              <a:lnSpc>
                <a:spcPct val="80000"/>
              </a:lnSpc>
              <a:spcBef>
                <a:spcPct val="0"/>
              </a:spcBef>
              <a:spcAft>
                <a:spcPct val="50000"/>
              </a:spcAft>
              <a:buClr>
                <a:srgbClr val="0000FF"/>
              </a:buClr>
              <a:buFont typeface="Wingdings 2" panose="05020102010507070707" pitchFamily="18" charset="2"/>
              <a:buNone/>
            </a:pPr>
            <a:r>
              <a:rPr lang="en-US" altLang="en-US" dirty="0">
                <a:latin typeface="Arial" panose="020B0604020202020204" pitchFamily="34" charset="0"/>
              </a:rPr>
              <a:t>Microwave ovens that will not start with the door open</a:t>
            </a:r>
          </a:p>
        </p:txBody>
      </p:sp>
      <p:sp>
        <p:nvSpPr>
          <p:cNvPr id="4" name="Slide Number Placeholder 3"/>
          <p:cNvSpPr>
            <a:spLocks noGrp="1"/>
          </p:cNvSpPr>
          <p:nvPr>
            <p:ph type="sldNum" sz="quarter" idx="5"/>
          </p:nvPr>
        </p:nvSpPr>
        <p:spPr/>
        <p:txBody>
          <a:bodyPr/>
          <a:lstStyle/>
          <a:p>
            <a:fld id="{AECD8548-F1A2-4EDF-A416-5F2BB6B8F64C}" type="slidenum">
              <a:rPr lang="en-US" smtClean="0"/>
              <a:t>8</a:t>
            </a:fld>
            <a:endParaRPr lang="en-US"/>
          </a:p>
        </p:txBody>
      </p:sp>
    </p:spTree>
    <p:extLst>
      <p:ext uri="{BB962C8B-B14F-4D97-AF65-F5344CB8AC3E}">
        <p14:creationId xmlns:p14="http://schemas.microsoft.com/office/powerpoint/2010/main" val="3784630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key points on the slide. As if anyone has experience implementing poka-yokes in the workplace and if yes, to share.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9</a:t>
            </a:fld>
            <a:endParaRPr lang="en-US"/>
          </a:p>
        </p:txBody>
      </p:sp>
    </p:spTree>
    <p:extLst>
      <p:ext uri="{BB962C8B-B14F-4D97-AF65-F5344CB8AC3E}">
        <p14:creationId xmlns:p14="http://schemas.microsoft.com/office/powerpoint/2010/main" val="3550660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 five elements of production are Me (the operator), Material, Machine, Method, and Information. Each one of these elements has the capability of introducing variation into the process that can result in poor quality. When we error-proof a process, we want to take each of these five elements into consideration so that we can achieve process control.</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10</a:t>
            </a:fld>
            <a:endParaRPr lang="en-US"/>
          </a:p>
        </p:txBody>
      </p:sp>
    </p:spTree>
    <p:extLst>
      <p:ext uri="{BB962C8B-B14F-4D97-AF65-F5344CB8AC3E}">
        <p14:creationId xmlns:p14="http://schemas.microsoft.com/office/powerpoint/2010/main" val="20193289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Poka-Yoke is a key element in our capability to implement Kaizen-Lean Manufacturing Systems. It is a key element in our capability to eliminate waste from: defects, inventories, motions, delays, processes, misused resources, untapped resources.</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Consistency in quality will result in maintaining customer satisfaction and loyalty.</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Think about all of the costs for producing defective work or errors. There are tremendous costs associated with re-work, materials, equipment expenses, shipping – not to mention the damage that happens to our relationship with our customers and how our products and brand are viewed.</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11</a:t>
            </a:fld>
            <a:endParaRPr lang="en-US"/>
          </a:p>
        </p:txBody>
      </p:sp>
    </p:spTree>
    <p:extLst>
      <p:ext uri="{BB962C8B-B14F-4D97-AF65-F5344CB8AC3E}">
        <p14:creationId xmlns:p14="http://schemas.microsoft.com/office/powerpoint/2010/main" val="27525247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Review the 4 levels of error proofing.</a:t>
            </a: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At the </a:t>
            </a:r>
            <a:r>
              <a:rPr lang="ja-JP" altLang="en-US" dirty="0">
                <a:latin typeface="Arial" panose="020B0604020202020204" pitchFamily="34" charset="0"/>
              </a:rPr>
              <a:t>“</a:t>
            </a:r>
            <a:r>
              <a:rPr lang="en-US" altLang="ja-JP" dirty="0">
                <a:latin typeface="Arial" panose="020B0604020202020204" pitchFamily="34" charset="0"/>
              </a:rPr>
              <a:t>Customer Inspects level, we are still allowing defects to get into the hands of customers.</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What is wrong with stopping at Level 2? (we are waiting until after the 3</a:t>
            </a:r>
            <a:r>
              <a:rPr lang="en-US" altLang="ja-JP" baseline="30000" dirty="0">
                <a:latin typeface="Arial" panose="020B0604020202020204" pitchFamily="34" charset="0"/>
              </a:rPr>
              <a:t>rd</a:t>
            </a:r>
            <a:r>
              <a:rPr lang="en-US" altLang="ja-JP" dirty="0">
                <a:latin typeface="Arial" panose="020B0604020202020204" pitchFamily="34" charset="0"/>
              </a:rPr>
              <a:t> process to check if we have a quality part… steps B and C could be working on defect (WASTE – and if they are working in batch even more so!)</a:t>
            </a:r>
          </a:p>
          <a:p>
            <a:r>
              <a:rPr lang="en-US" altLang="en-US" b="1" dirty="0">
                <a:latin typeface="Arial" panose="020B0604020202020204" pitchFamily="34" charset="0"/>
              </a:rPr>
              <a:t>SAY</a:t>
            </a:r>
            <a:r>
              <a:rPr lang="en-US" altLang="en-US" dirty="0">
                <a:latin typeface="Arial" panose="020B0604020202020204" pitchFamily="34" charset="0"/>
              </a:rPr>
              <a:t>:  At level 3 we are getting much better by inspecting at the end of each process (however we are adding time and resources to do so at every point).</a:t>
            </a: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We want to reach a point (Level 4) where it is impossible to pass a defect onto the next process. In this section will discuss ways to build quality into the product so that we can achieve this.</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12</a:t>
            </a:fld>
            <a:endParaRPr lang="en-US"/>
          </a:p>
        </p:txBody>
      </p:sp>
    </p:spTree>
    <p:extLst>
      <p:ext uri="{BB962C8B-B14F-4D97-AF65-F5344CB8AC3E}">
        <p14:creationId xmlns:p14="http://schemas.microsoft.com/office/powerpoint/2010/main" val="23694473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dirty="0">
                <a:ea typeface="ＭＳ Ｐゴシック" charset="0"/>
                <a:cs typeface="+mn-cs"/>
              </a:rPr>
              <a:t>DO:</a:t>
            </a:r>
            <a:r>
              <a:rPr lang="en-US" sz="800" dirty="0">
                <a:ea typeface="ＭＳ Ｐゴシック" charset="0"/>
                <a:cs typeface="+mn-cs"/>
              </a:rPr>
              <a:t> Review the charter for this event.</a:t>
            </a:r>
          </a:p>
          <a:p>
            <a:endParaRPr lang="en-US" altLang="en-US" sz="800" dirty="0"/>
          </a:p>
        </p:txBody>
      </p:sp>
      <p:sp>
        <p:nvSpPr>
          <p:cNvPr id="4" name="Slide Number Placeholder 3"/>
          <p:cNvSpPr>
            <a:spLocks noGrp="1"/>
          </p:cNvSpPr>
          <p:nvPr>
            <p:ph type="sldNum" sz="quarter" idx="5"/>
          </p:nvPr>
        </p:nvSpPr>
        <p:spPr/>
        <p:txBody>
          <a:bodyPr/>
          <a:lstStyle/>
          <a:p>
            <a:fld id="{AECD8548-F1A2-4EDF-A416-5F2BB6B8F64C}" type="slidenum">
              <a:rPr lang="en-US" smtClean="0"/>
              <a:t>13</a:t>
            </a:fld>
            <a:endParaRPr lang="en-US"/>
          </a:p>
        </p:txBody>
      </p:sp>
    </p:spTree>
    <p:extLst>
      <p:ext uri="{BB962C8B-B14F-4D97-AF65-F5344CB8AC3E}">
        <p14:creationId xmlns:p14="http://schemas.microsoft.com/office/powerpoint/2010/main" val="12638714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14</a:t>
            </a:fld>
            <a:endParaRPr lang="en-US"/>
          </a:p>
        </p:txBody>
      </p:sp>
    </p:spTree>
    <p:extLst>
      <p:ext uri="{BB962C8B-B14F-4D97-AF65-F5344CB8AC3E}">
        <p14:creationId xmlns:p14="http://schemas.microsoft.com/office/powerpoint/2010/main" val="28766119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800" b="1" dirty="0">
                <a:latin typeface="Arial" panose="020B0604020202020204" pitchFamily="34" charset="0"/>
              </a:rPr>
              <a:t>DO:</a:t>
            </a:r>
            <a:r>
              <a:rPr lang="en-US" altLang="en-US" sz="800" dirty="0">
                <a:latin typeface="Arial" panose="020B0604020202020204" pitchFamily="34" charset="0"/>
              </a:rPr>
              <a:t> Have the class discuss the exercise in pairs and prepare their answers, or conduct this exercise as a large group calling upon people to share their answers. </a:t>
            </a:r>
          </a:p>
          <a:p>
            <a:r>
              <a:rPr lang="en-US" altLang="en-US" sz="800" b="1" dirty="0">
                <a:latin typeface="Arial" panose="020B0604020202020204" pitchFamily="34" charset="0"/>
              </a:rPr>
              <a:t>SAY</a:t>
            </a:r>
            <a:r>
              <a:rPr lang="en-US" altLang="en-US" sz="800" dirty="0">
                <a:latin typeface="Arial" panose="020B0604020202020204" pitchFamily="34" charset="0"/>
              </a:rPr>
              <a:t>: </a:t>
            </a:r>
            <a:r>
              <a:rPr lang="ja-JP" altLang="en-US" sz="800" dirty="0">
                <a:latin typeface="Arial" panose="020B0604020202020204" pitchFamily="34" charset="0"/>
              </a:rPr>
              <a:t>“</a:t>
            </a:r>
            <a:r>
              <a:rPr lang="en-US" altLang="ja-JP" sz="800" dirty="0">
                <a:latin typeface="Arial" panose="020B0604020202020204" pitchFamily="34" charset="0"/>
              </a:rPr>
              <a:t>Defects are a result of errors that are made – so if you can reduce or eliminate the potential for error, you do the same for the potential for defects.</a:t>
            </a:r>
            <a:r>
              <a:rPr lang="ja-JP" altLang="en-US" sz="800" dirty="0">
                <a:latin typeface="Arial" panose="020B0604020202020204" pitchFamily="34" charset="0"/>
              </a:rPr>
              <a:t>”</a:t>
            </a:r>
            <a:endParaRPr lang="en-US" altLang="en-US" sz="8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15</a:t>
            </a:fld>
            <a:endParaRPr lang="en-US"/>
          </a:p>
        </p:txBody>
      </p:sp>
    </p:spTree>
    <p:extLst>
      <p:ext uri="{BB962C8B-B14F-4D97-AF65-F5344CB8AC3E}">
        <p14:creationId xmlns:p14="http://schemas.microsoft.com/office/powerpoint/2010/main" val="14982578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Human mistakes are the most common cause of defects.</a:t>
            </a:r>
          </a:p>
          <a:p>
            <a:r>
              <a:rPr lang="en-US" altLang="en-US" b="1" dirty="0">
                <a:latin typeface="Arial" panose="020B0604020202020204" pitchFamily="34" charset="0"/>
              </a:rPr>
              <a:t>DO:</a:t>
            </a:r>
            <a:r>
              <a:rPr lang="en-US" altLang="en-US" dirty="0">
                <a:latin typeface="Arial" panose="020B0604020202020204" pitchFamily="34" charset="0"/>
              </a:rPr>
              <a:t> Review the 10 types of human mistakes.</a:t>
            </a:r>
          </a:p>
        </p:txBody>
      </p:sp>
      <p:sp>
        <p:nvSpPr>
          <p:cNvPr id="4" name="Slide Number Placeholder 3"/>
          <p:cNvSpPr>
            <a:spLocks noGrp="1"/>
          </p:cNvSpPr>
          <p:nvPr>
            <p:ph type="sldNum" sz="quarter" idx="5"/>
          </p:nvPr>
        </p:nvSpPr>
        <p:spPr/>
        <p:txBody>
          <a:bodyPr/>
          <a:lstStyle/>
          <a:p>
            <a:fld id="{AECD8548-F1A2-4EDF-A416-5F2BB6B8F64C}" type="slidenum">
              <a:rPr lang="en-US" smtClean="0"/>
              <a:t>16</a:t>
            </a:fld>
            <a:endParaRPr lang="en-US"/>
          </a:p>
        </p:txBody>
      </p:sp>
    </p:spTree>
    <p:extLst>
      <p:ext uri="{BB962C8B-B14F-4D97-AF65-F5344CB8AC3E}">
        <p14:creationId xmlns:p14="http://schemas.microsoft.com/office/powerpoint/2010/main" val="21762321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What does the correlation between the types of human mistakes and causes of defect tell you?</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17</a:t>
            </a:fld>
            <a:endParaRPr lang="en-US"/>
          </a:p>
        </p:txBody>
      </p:sp>
    </p:spTree>
    <p:extLst>
      <p:ext uri="{BB962C8B-B14F-4D97-AF65-F5344CB8AC3E}">
        <p14:creationId xmlns:p14="http://schemas.microsoft.com/office/powerpoint/2010/main" val="17944252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A zero defect quality system makes certain that the required conditions are in place and controlled to make acceptable product 100% of the time.</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DO:</a:t>
            </a:r>
            <a:r>
              <a:rPr lang="en-US" altLang="en-US" dirty="0">
                <a:latin typeface="Arial" panose="020B0604020202020204" pitchFamily="34" charset="0"/>
              </a:rPr>
              <a:t> Review the 4 components of ZDQ and approaches to inspection.</a:t>
            </a:r>
          </a:p>
        </p:txBody>
      </p:sp>
      <p:sp>
        <p:nvSpPr>
          <p:cNvPr id="4" name="Slide Number Placeholder 3"/>
          <p:cNvSpPr>
            <a:spLocks noGrp="1"/>
          </p:cNvSpPr>
          <p:nvPr>
            <p:ph type="sldNum" sz="quarter" idx="5"/>
          </p:nvPr>
        </p:nvSpPr>
        <p:spPr/>
        <p:txBody>
          <a:bodyPr/>
          <a:lstStyle/>
          <a:p>
            <a:fld id="{AECD8548-F1A2-4EDF-A416-5F2BB6B8F64C}" type="slidenum">
              <a:rPr lang="en-US" smtClean="0"/>
              <a:t>18</a:t>
            </a:fld>
            <a:endParaRPr lang="en-US"/>
          </a:p>
        </p:txBody>
      </p:sp>
    </p:spTree>
    <p:extLst>
      <p:ext uri="{BB962C8B-B14F-4D97-AF65-F5344CB8AC3E}">
        <p14:creationId xmlns:p14="http://schemas.microsoft.com/office/powerpoint/2010/main" val="40553903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19</a:t>
            </a:fld>
            <a:endParaRPr lang="en-US"/>
          </a:p>
        </p:txBody>
      </p:sp>
    </p:spTree>
    <p:extLst>
      <p:ext uri="{BB962C8B-B14F-4D97-AF65-F5344CB8AC3E}">
        <p14:creationId xmlns:p14="http://schemas.microsoft.com/office/powerpoint/2010/main" val="30408318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20</a:t>
            </a:fld>
            <a:endParaRPr lang="en-US"/>
          </a:p>
        </p:txBody>
      </p:sp>
    </p:spTree>
    <p:extLst>
      <p:ext uri="{BB962C8B-B14F-4D97-AF65-F5344CB8AC3E}">
        <p14:creationId xmlns:p14="http://schemas.microsoft.com/office/powerpoint/2010/main" val="26062121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21</a:t>
            </a:fld>
            <a:endParaRPr lang="en-US"/>
          </a:p>
        </p:txBody>
      </p:sp>
    </p:spTree>
    <p:extLst>
      <p:ext uri="{BB962C8B-B14F-4D97-AF65-F5344CB8AC3E}">
        <p14:creationId xmlns:p14="http://schemas.microsoft.com/office/powerpoint/2010/main" val="19796660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22</a:t>
            </a:fld>
            <a:endParaRPr lang="en-US"/>
          </a:p>
        </p:txBody>
      </p:sp>
    </p:spTree>
    <p:extLst>
      <p:ext uri="{BB962C8B-B14F-4D97-AF65-F5344CB8AC3E}">
        <p14:creationId xmlns:p14="http://schemas.microsoft.com/office/powerpoint/2010/main" val="28006308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23</a:t>
            </a:fld>
            <a:endParaRPr lang="en-US"/>
          </a:p>
        </p:txBody>
      </p:sp>
    </p:spTree>
    <p:extLst>
      <p:ext uri="{BB962C8B-B14F-4D97-AF65-F5344CB8AC3E}">
        <p14:creationId xmlns:p14="http://schemas.microsoft.com/office/powerpoint/2010/main" val="7946586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24</a:t>
            </a:fld>
            <a:endParaRPr lang="en-US"/>
          </a:p>
        </p:txBody>
      </p:sp>
    </p:spTree>
    <p:extLst>
      <p:ext uri="{BB962C8B-B14F-4D97-AF65-F5344CB8AC3E}">
        <p14:creationId xmlns:p14="http://schemas.microsoft.com/office/powerpoint/2010/main" val="13206881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25</a:t>
            </a:fld>
            <a:endParaRPr lang="en-US"/>
          </a:p>
        </p:txBody>
      </p:sp>
    </p:spTree>
    <p:extLst>
      <p:ext uri="{BB962C8B-B14F-4D97-AF65-F5344CB8AC3E}">
        <p14:creationId xmlns:p14="http://schemas.microsoft.com/office/powerpoint/2010/main" val="28003137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26</a:t>
            </a:fld>
            <a:endParaRPr lang="en-US"/>
          </a:p>
        </p:txBody>
      </p:sp>
    </p:spTree>
    <p:extLst>
      <p:ext uri="{BB962C8B-B14F-4D97-AF65-F5344CB8AC3E}">
        <p14:creationId xmlns:p14="http://schemas.microsoft.com/office/powerpoint/2010/main" val="816429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27</a:t>
            </a:fld>
            <a:endParaRPr lang="en-US"/>
          </a:p>
        </p:txBody>
      </p:sp>
    </p:spTree>
    <p:extLst>
      <p:ext uri="{BB962C8B-B14F-4D97-AF65-F5344CB8AC3E}">
        <p14:creationId xmlns:p14="http://schemas.microsoft.com/office/powerpoint/2010/main" val="243611598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28</a:t>
            </a:fld>
            <a:endParaRPr lang="en-US"/>
          </a:p>
        </p:txBody>
      </p:sp>
    </p:spTree>
    <p:extLst>
      <p:ext uri="{BB962C8B-B14F-4D97-AF65-F5344CB8AC3E}">
        <p14:creationId xmlns:p14="http://schemas.microsoft.com/office/powerpoint/2010/main" val="41940403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the seven steps.</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29</a:t>
            </a:fld>
            <a:endParaRPr lang="en-US"/>
          </a:p>
        </p:txBody>
      </p:sp>
    </p:spTree>
    <p:extLst>
      <p:ext uri="{BB962C8B-B14F-4D97-AF65-F5344CB8AC3E}">
        <p14:creationId xmlns:p14="http://schemas.microsoft.com/office/powerpoint/2010/main" val="42036315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Review Red Flag conditions.</a:t>
            </a:r>
          </a:p>
        </p:txBody>
      </p:sp>
      <p:sp>
        <p:nvSpPr>
          <p:cNvPr id="4" name="Slide Number Placeholder 3"/>
          <p:cNvSpPr>
            <a:spLocks noGrp="1"/>
          </p:cNvSpPr>
          <p:nvPr>
            <p:ph type="sldNum" sz="quarter" idx="5"/>
          </p:nvPr>
        </p:nvSpPr>
        <p:spPr/>
        <p:txBody>
          <a:bodyPr/>
          <a:lstStyle/>
          <a:p>
            <a:fld id="{AECD8548-F1A2-4EDF-A416-5F2BB6B8F64C}" type="slidenum">
              <a:rPr lang="en-US" smtClean="0"/>
              <a:t>30</a:t>
            </a:fld>
            <a:endParaRPr lang="en-US"/>
          </a:p>
        </p:txBody>
      </p:sp>
    </p:spTree>
    <p:extLst>
      <p:ext uri="{BB962C8B-B14F-4D97-AF65-F5344CB8AC3E}">
        <p14:creationId xmlns:p14="http://schemas.microsoft.com/office/powerpoint/2010/main" val="130944317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Review Red Flag conditions.</a:t>
            </a:r>
          </a:p>
        </p:txBody>
      </p:sp>
      <p:sp>
        <p:nvSpPr>
          <p:cNvPr id="4" name="Slide Number Placeholder 3"/>
          <p:cNvSpPr>
            <a:spLocks noGrp="1"/>
          </p:cNvSpPr>
          <p:nvPr>
            <p:ph type="sldNum" sz="quarter" idx="5"/>
          </p:nvPr>
        </p:nvSpPr>
        <p:spPr/>
        <p:txBody>
          <a:bodyPr/>
          <a:lstStyle/>
          <a:p>
            <a:fld id="{AECD8548-F1A2-4EDF-A416-5F2BB6B8F64C}" type="slidenum">
              <a:rPr lang="en-US" smtClean="0"/>
              <a:t>31</a:t>
            </a:fld>
            <a:endParaRPr lang="en-US"/>
          </a:p>
        </p:txBody>
      </p:sp>
    </p:spTree>
    <p:extLst>
      <p:ext uri="{BB962C8B-B14F-4D97-AF65-F5344CB8AC3E}">
        <p14:creationId xmlns:p14="http://schemas.microsoft.com/office/powerpoint/2010/main" val="211132552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With error-proofing we can implement a control/shut down technique in the process – with prevention an error would be impossible, with detection, the defect would be unable to move onto the next step. </a:t>
            </a:r>
          </a:p>
          <a:p>
            <a:r>
              <a:rPr lang="en-US" altLang="en-US" dirty="0">
                <a:latin typeface="Arial" panose="020B0604020202020204" pitchFamily="34" charset="0"/>
              </a:rPr>
              <a:t>By implementing a warning technique, prevention methods would allow us to know that an error is about to be made, and detection methods would let us know that an error has just occurred.</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32</a:t>
            </a:fld>
            <a:endParaRPr lang="en-US"/>
          </a:p>
        </p:txBody>
      </p:sp>
    </p:spTree>
    <p:extLst>
      <p:ext uri="{BB962C8B-B14F-4D97-AF65-F5344CB8AC3E}">
        <p14:creationId xmlns:p14="http://schemas.microsoft.com/office/powerpoint/2010/main" val="2271253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Review examples.</a:t>
            </a: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Are there others that you can think of?</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33</a:t>
            </a:fld>
            <a:endParaRPr lang="en-US"/>
          </a:p>
        </p:txBody>
      </p:sp>
    </p:spTree>
    <p:extLst>
      <p:ext uri="{BB962C8B-B14F-4D97-AF65-F5344CB8AC3E}">
        <p14:creationId xmlns:p14="http://schemas.microsoft.com/office/powerpoint/2010/main" val="383493998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Review examples.</a:t>
            </a: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Are there others that you can think of?</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34</a:t>
            </a:fld>
            <a:endParaRPr lang="en-US"/>
          </a:p>
        </p:txBody>
      </p:sp>
    </p:spTree>
    <p:extLst>
      <p:ext uri="{BB962C8B-B14F-4D97-AF65-F5344CB8AC3E}">
        <p14:creationId xmlns:p14="http://schemas.microsoft.com/office/powerpoint/2010/main" val="25580421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a:ea typeface="ＭＳ Ｐゴシック" charset="0"/>
                <a:cs typeface="+mn-cs"/>
              </a:rPr>
              <a:t>DO:</a:t>
            </a:r>
            <a:r>
              <a:rPr lang="en-US" dirty="0">
                <a:ea typeface="ＭＳ Ｐゴシック" charset="0"/>
                <a:cs typeface="+mn-cs"/>
              </a:rPr>
              <a:t> Review examples.</a:t>
            </a:r>
          </a:p>
          <a:p>
            <a:pPr>
              <a:defRPr/>
            </a:pPr>
            <a:endParaRPr lang="en-US" dirty="0">
              <a:ea typeface="ＭＳ Ｐゴシック" charset="0"/>
              <a:cs typeface="+mn-cs"/>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35</a:t>
            </a:fld>
            <a:endParaRPr lang="en-US"/>
          </a:p>
        </p:txBody>
      </p:sp>
    </p:spTree>
    <p:extLst>
      <p:ext uri="{BB962C8B-B14F-4D97-AF65-F5344CB8AC3E}">
        <p14:creationId xmlns:p14="http://schemas.microsoft.com/office/powerpoint/2010/main" val="282261184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a:ea typeface="ＭＳ Ｐゴシック" charset="0"/>
                <a:cs typeface="+mn-cs"/>
              </a:rPr>
              <a:t>DO:</a:t>
            </a:r>
            <a:r>
              <a:rPr lang="en-US" dirty="0">
                <a:ea typeface="ＭＳ Ｐゴシック" charset="0"/>
                <a:cs typeface="+mn-cs"/>
              </a:rPr>
              <a:t> Review examples.</a:t>
            </a:r>
          </a:p>
          <a:p>
            <a:pPr>
              <a:defRPr/>
            </a:pPr>
            <a:endParaRPr lang="en-US" dirty="0">
              <a:ea typeface="ＭＳ Ｐゴシック" charset="0"/>
              <a:cs typeface="+mn-cs"/>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36</a:t>
            </a:fld>
            <a:endParaRPr lang="en-US"/>
          </a:p>
        </p:txBody>
      </p:sp>
    </p:spTree>
    <p:extLst>
      <p:ext uri="{BB962C8B-B14F-4D97-AF65-F5344CB8AC3E}">
        <p14:creationId xmlns:p14="http://schemas.microsoft.com/office/powerpoint/2010/main" val="334843159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a:ea typeface="ＭＳ Ｐゴシック" charset="0"/>
                <a:cs typeface="+mn-cs"/>
              </a:rPr>
              <a:t>DO:</a:t>
            </a:r>
            <a:r>
              <a:rPr lang="en-US" dirty="0">
                <a:ea typeface="ＭＳ Ｐゴシック" charset="0"/>
                <a:cs typeface="+mn-cs"/>
              </a:rPr>
              <a:t> Review examples.</a:t>
            </a:r>
          </a:p>
          <a:p>
            <a:pPr>
              <a:defRPr/>
            </a:pPr>
            <a:endParaRPr lang="en-US" dirty="0">
              <a:ea typeface="ＭＳ Ｐゴシック" charset="0"/>
              <a:cs typeface="+mn-cs"/>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37</a:t>
            </a:fld>
            <a:endParaRPr lang="en-US"/>
          </a:p>
        </p:txBody>
      </p:sp>
    </p:spTree>
    <p:extLst>
      <p:ext uri="{BB962C8B-B14F-4D97-AF65-F5344CB8AC3E}">
        <p14:creationId xmlns:p14="http://schemas.microsoft.com/office/powerpoint/2010/main" val="165415593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For detection methods and warning methods, it is important that a plan is in place and well practiced for what to do if the line needs to be stopped. Everyone needs to know who does what, and they need to be counted on to do their part so that the process can be trusted.</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What happens in an </a:t>
            </a:r>
            <a:r>
              <a:rPr lang="en-US" altLang="ja-JP" dirty="0" err="1">
                <a:latin typeface="Arial" panose="020B0604020202020204" pitchFamily="34" charset="0"/>
              </a:rPr>
              <a:t>andon</a:t>
            </a:r>
            <a:r>
              <a:rPr lang="en-US" altLang="ja-JP" dirty="0">
                <a:latin typeface="Arial" panose="020B0604020202020204" pitchFamily="34" charset="0"/>
              </a:rPr>
              <a:t> environment when an operator flips the switch to red, and no one responds… he/she ultimately has to go get the supervisor…</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38</a:t>
            </a:fld>
            <a:endParaRPr lang="en-US"/>
          </a:p>
        </p:txBody>
      </p:sp>
    </p:spTree>
    <p:extLst>
      <p:ext uri="{BB962C8B-B14F-4D97-AF65-F5344CB8AC3E}">
        <p14:creationId xmlns:p14="http://schemas.microsoft.com/office/powerpoint/2010/main" val="169941204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Error-proofing is not always possible given the process or what can be reasonably implemented during the improvement period. This slide shows some great ideas for making the process </a:t>
            </a:r>
            <a:r>
              <a:rPr lang="ja-JP" altLang="en-US" dirty="0">
                <a:latin typeface="Arial" panose="020B0604020202020204" pitchFamily="34" charset="0"/>
              </a:rPr>
              <a:t>“</a:t>
            </a:r>
            <a:r>
              <a:rPr lang="en-US" altLang="ja-JP" dirty="0">
                <a:latin typeface="Arial" panose="020B0604020202020204" pitchFamily="34" charset="0"/>
              </a:rPr>
              <a:t>better</a:t>
            </a:r>
            <a:r>
              <a:rPr lang="ja-JP" altLang="en-US" dirty="0">
                <a:latin typeface="Arial" panose="020B0604020202020204" pitchFamily="34" charset="0"/>
              </a:rPr>
              <a:t>”</a:t>
            </a:r>
            <a:r>
              <a:rPr lang="en-US" altLang="ja-JP" dirty="0">
                <a:latin typeface="Arial" panose="020B0604020202020204" pitchFamily="34" charset="0"/>
              </a:rPr>
              <a:t> in these instances.</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With each of these examples, is it possible to pass on a defect? Yes. However, the chances are much less.</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39</a:t>
            </a:fld>
            <a:endParaRPr lang="en-US"/>
          </a:p>
        </p:txBody>
      </p:sp>
    </p:spTree>
    <p:extLst>
      <p:ext uri="{BB962C8B-B14F-4D97-AF65-F5344CB8AC3E}">
        <p14:creationId xmlns:p14="http://schemas.microsoft.com/office/powerpoint/2010/main" val="38924118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Review summary points. </a:t>
            </a:r>
          </a:p>
        </p:txBody>
      </p:sp>
      <p:sp>
        <p:nvSpPr>
          <p:cNvPr id="4" name="Slide Number Placeholder 3"/>
          <p:cNvSpPr>
            <a:spLocks noGrp="1"/>
          </p:cNvSpPr>
          <p:nvPr>
            <p:ph type="sldNum" sz="quarter" idx="5"/>
          </p:nvPr>
        </p:nvSpPr>
        <p:spPr/>
        <p:txBody>
          <a:bodyPr/>
          <a:lstStyle/>
          <a:p>
            <a:fld id="{AECD8548-F1A2-4EDF-A416-5F2BB6B8F64C}" type="slidenum">
              <a:rPr lang="en-US" smtClean="0"/>
              <a:t>40</a:t>
            </a:fld>
            <a:endParaRPr lang="en-US"/>
          </a:p>
        </p:txBody>
      </p:sp>
    </p:spTree>
    <p:extLst>
      <p:ext uri="{BB962C8B-B14F-4D97-AF65-F5344CB8AC3E}">
        <p14:creationId xmlns:p14="http://schemas.microsoft.com/office/powerpoint/2010/main" val="96521439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41</a:t>
            </a:fld>
            <a:endParaRPr lang="en-US"/>
          </a:p>
        </p:txBody>
      </p:sp>
    </p:spTree>
    <p:extLst>
      <p:ext uri="{BB962C8B-B14F-4D97-AF65-F5344CB8AC3E}">
        <p14:creationId xmlns:p14="http://schemas.microsoft.com/office/powerpoint/2010/main" val="290603815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examples.</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42</a:t>
            </a:fld>
            <a:endParaRPr lang="en-US"/>
          </a:p>
        </p:txBody>
      </p:sp>
    </p:spTree>
    <p:extLst>
      <p:ext uri="{BB962C8B-B14F-4D97-AF65-F5344CB8AC3E}">
        <p14:creationId xmlns:p14="http://schemas.microsoft.com/office/powerpoint/2010/main" val="98900544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Review examples.</a:t>
            </a: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43</a:t>
            </a:fld>
            <a:endParaRPr lang="en-US"/>
          </a:p>
        </p:txBody>
      </p:sp>
    </p:spTree>
    <p:extLst>
      <p:ext uri="{BB962C8B-B14F-4D97-AF65-F5344CB8AC3E}">
        <p14:creationId xmlns:p14="http://schemas.microsoft.com/office/powerpoint/2010/main" val="354414620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Review examples.</a:t>
            </a: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44</a:t>
            </a:fld>
            <a:endParaRPr lang="en-US"/>
          </a:p>
        </p:txBody>
      </p:sp>
    </p:spTree>
    <p:extLst>
      <p:ext uri="{BB962C8B-B14F-4D97-AF65-F5344CB8AC3E}">
        <p14:creationId xmlns:p14="http://schemas.microsoft.com/office/powerpoint/2010/main" val="342784747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Review examples.</a:t>
            </a: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45</a:t>
            </a:fld>
            <a:endParaRPr lang="en-US"/>
          </a:p>
        </p:txBody>
      </p:sp>
    </p:spTree>
    <p:extLst>
      <p:ext uri="{BB962C8B-B14F-4D97-AF65-F5344CB8AC3E}">
        <p14:creationId xmlns:p14="http://schemas.microsoft.com/office/powerpoint/2010/main" val="309729143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Review examples.</a:t>
            </a: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46</a:t>
            </a:fld>
            <a:endParaRPr lang="en-US"/>
          </a:p>
        </p:txBody>
      </p:sp>
    </p:spTree>
    <p:extLst>
      <p:ext uri="{BB962C8B-B14F-4D97-AF65-F5344CB8AC3E}">
        <p14:creationId xmlns:p14="http://schemas.microsoft.com/office/powerpoint/2010/main" val="297288088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Review examples.</a:t>
            </a: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47</a:t>
            </a:fld>
            <a:endParaRPr lang="en-US"/>
          </a:p>
        </p:txBody>
      </p:sp>
    </p:spTree>
    <p:extLst>
      <p:ext uri="{BB962C8B-B14F-4D97-AF65-F5344CB8AC3E}">
        <p14:creationId xmlns:p14="http://schemas.microsoft.com/office/powerpoint/2010/main" val="391973468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Review examples.</a:t>
            </a: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48</a:t>
            </a:fld>
            <a:endParaRPr lang="en-US"/>
          </a:p>
        </p:txBody>
      </p:sp>
    </p:spTree>
    <p:extLst>
      <p:ext uri="{BB962C8B-B14F-4D97-AF65-F5344CB8AC3E}">
        <p14:creationId xmlns:p14="http://schemas.microsoft.com/office/powerpoint/2010/main" val="74364167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Review examples.</a:t>
            </a: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49</a:t>
            </a:fld>
            <a:endParaRPr lang="en-US"/>
          </a:p>
        </p:txBody>
      </p:sp>
    </p:spTree>
    <p:extLst>
      <p:ext uri="{BB962C8B-B14F-4D97-AF65-F5344CB8AC3E}">
        <p14:creationId xmlns:p14="http://schemas.microsoft.com/office/powerpoint/2010/main" val="127450316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Review examples.</a:t>
            </a: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50</a:t>
            </a:fld>
            <a:endParaRPr lang="en-US"/>
          </a:p>
        </p:txBody>
      </p:sp>
    </p:spTree>
    <p:extLst>
      <p:ext uri="{BB962C8B-B14F-4D97-AF65-F5344CB8AC3E}">
        <p14:creationId xmlns:p14="http://schemas.microsoft.com/office/powerpoint/2010/main" val="99277231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Review examples.</a:t>
            </a: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51</a:t>
            </a:fld>
            <a:endParaRPr lang="en-US"/>
          </a:p>
        </p:txBody>
      </p:sp>
    </p:spTree>
    <p:extLst>
      <p:ext uri="{BB962C8B-B14F-4D97-AF65-F5344CB8AC3E}">
        <p14:creationId xmlns:p14="http://schemas.microsoft.com/office/powerpoint/2010/main" val="185981650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Review examples.</a:t>
            </a: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52</a:t>
            </a:fld>
            <a:endParaRPr lang="en-US"/>
          </a:p>
        </p:txBody>
      </p:sp>
    </p:spTree>
    <p:extLst>
      <p:ext uri="{BB962C8B-B14F-4D97-AF65-F5344CB8AC3E}">
        <p14:creationId xmlns:p14="http://schemas.microsoft.com/office/powerpoint/2010/main" val="260516206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53</a:t>
            </a:fld>
            <a:endParaRPr lang="en-US"/>
          </a:p>
        </p:txBody>
      </p:sp>
    </p:spTree>
    <p:extLst>
      <p:ext uri="{BB962C8B-B14F-4D97-AF65-F5344CB8AC3E}">
        <p14:creationId xmlns:p14="http://schemas.microsoft.com/office/powerpoint/2010/main" val="259024944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54</a:t>
            </a:fld>
            <a:endParaRPr lang="en-US"/>
          </a:p>
        </p:txBody>
      </p:sp>
    </p:spTree>
    <p:extLst>
      <p:ext uri="{BB962C8B-B14F-4D97-AF65-F5344CB8AC3E}">
        <p14:creationId xmlns:p14="http://schemas.microsoft.com/office/powerpoint/2010/main" val="301441082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55</a:t>
            </a:fld>
            <a:endParaRPr lang="en-US"/>
          </a:p>
        </p:txBody>
      </p:sp>
    </p:spTree>
    <p:extLst>
      <p:ext uri="{BB962C8B-B14F-4D97-AF65-F5344CB8AC3E}">
        <p14:creationId xmlns:p14="http://schemas.microsoft.com/office/powerpoint/2010/main" val="1201354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descr="Logo&#10;&#10;Description automatically generated">
            <a:extLst>
              <a:ext uri="{FF2B5EF4-FFF2-40B4-BE49-F238E27FC236}">
                <a16:creationId xmlns:a16="http://schemas.microsoft.com/office/drawing/2014/main" id="{7B85E90D-7DD7-92B5-E387-8C0441E41AC3}"/>
              </a:ext>
            </a:extLst>
          </p:cNvPr>
          <p:cNvPicPr>
            <a:picLocks noChangeAspect="1"/>
          </p:cNvPicPr>
          <p:nvPr userDrawn="1"/>
        </p:nvPicPr>
        <p:blipFill>
          <a:blip r:embed="rId2"/>
          <a:stretch>
            <a:fillRect/>
          </a:stretch>
        </p:blipFill>
        <p:spPr>
          <a:xfrm>
            <a:off x="2385391" y="1950112"/>
            <a:ext cx="7772400" cy="2590800"/>
          </a:xfrm>
          <a:prstGeom prst="rect">
            <a:avLst/>
          </a:prstGeom>
        </p:spPr>
      </p:pic>
    </p:spTree>
    <p:extLst>
      <p:ext uri="{BB962C8B-B14F-4D97-AF65-F5344CB8AC3E}">
        <p14:creationId xmlns:p14="http://schemas.microsoft.com/office/powerpoint/2010/main" val="185623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685360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DFA04139-8C44-65B7-CCE0-3C7273396743}"/>
              </a:ext>
            </a:extLst>
          </p:cNvPr>
          <p:cNvPicPr>
            <a:picLocks noChangeAspect="1"/>
          </p:cNvPicPr>
          <p:nvPr userDrawn="1"/>
        </p:nvPicPr>
        <p:blipFill>
          <a:blip r:embed="rId2"/>
          <a:stretch>
            <a:fillRect/>
          </a:stretch>
        </p:blipFill>
        <p:spPr>
          <a:xfrm>
            <a:off x="10041954" y="6012921"/>
            <a:ext cx="1825625" cy="365125"/>
          </a:xfrm>
          <a:prstGeom prst="rect">
            <a:avLst/>
          </a:prstGeom>
        </p:spPr>
      </p:pic>
    </p:spTree>
    <p:extLst>
      <p:ext uri="{BB962C8B-B14F-4D97-AF65-F5344CB8AC3E}">
        <p14:creationId xmlns:p14="http://schemas.microsoft.com/office/powerpoint/2010/main" val="1340546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640B0-16F5-BFBE-E22F-812ED893EE4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A30DE2FD-1979-A3D6-90A4-45D744A02739}"/>
              </a:ext>
            </a:extLst>
          </p:cNvPr>
          <p:cNvSpPr>
            <a:spLocks noGrp="1"/>
          </p:cNvSpPr>
          <p:nvPr>
            <p:ph type="subTitle" idx="1"/>
          </p:nvPr>
        </p:nvSpPr>
        <p:spPr>
          <a:xfrm>
            <a:off x="1524000" y="3800722"/>
            <a:ext cx="9144000" cy="1457077"/>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7" name="Picture 6">
            <a:extLst>
              <a:ext uri="{FF2B5EF4-FFF2-40B4-BE49-F238E27FC236}">
                <a16:creationId xmlns:a16="http://schemas.microsoft.com/office/drawing/2014/main" id="{79394B0F-E5B4-CFAF-7473-46BB2646C463}"/>
              </a:ext>
            </a:extLst>
          </p:cNvPr>
          <p:cNvPicPr>
            <a:picLocks noChangeAspect="1"/>
          </p:cNvPicPr>
          <p:nvPr userDrawn="1"/>
        </p:nvPicPr>
        <p:blipFill>
          <a:blip r:embed="rId2"/>
          <a:stretch>
            <a:fillRect/>
          </a:stretch>
        </p:blipFill>
        <p:spPr>
          <a:xfrm>
            <a:off x="4126380" y="3556319"/>
            <a:ext cx="3939240" cy="45719"/>
          </a:xfrm>
          <a:prstGeom prst="rect">
            <a:avLst/>
          </a:prstGeom>
        </p:spPr>
      </p:pic>
    </p:spTree>
    <p:extLst>
      <p:ext uri="{BB962C8B-B14F-4D97-AF65-F5344CB8AC3E}">
        <p14:creationId xmlns:p14="http://schemas.microsoft.com/office/powerpoint/2010/main" val="2626065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36242-F70A-0032-2B4B-BCCF0734FAF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D039E81F-378B-8CF2-E1C3-1D9054EF71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EDBCBB7B-054A-FE83-5F7C-FE4A1CDFEEBA}"/>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1611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EA9C9-FDCA-934D-785B-BFD907843A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695437-1877-C6A2-EE04-3EF98092E16F}"/>
              </a:ext>
            </a:extLst>
          </p:cNvPr>
          <p:cNvSpPr>
            <a:spLocks noGrp="1"/>
          </p:cNvSpPr>
          <p:nvPr>
            <p:ph type="body" idx="1"/>
          </p:nvPr>
        </p:nvSpPr>
        <p:spPr>
          <a:xfrm>
            <a:off x="831850" y="4715123"/>
            <a:ext cx="10515600" cy="137452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428720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8C054-8592-E116-8DB0-D7814A8CDB6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B35C802A-EC64-E4D9-44D3-54E728E3E9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EA5B75-CA16-4AC3-A34C-C3C4FF82FD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23186D81-5D29-FE58-C442-6A6A0689DB5B}"/>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0594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62F87-A7AE-9269-55EC-7B1C8A4D2FA0}"/>
              </a:ext>
            </a:extLst>
          </p:cNvPr>
          <p:cNvSpPr>
            <a:spLocks noGrp="1"/>
          </p:cNvSpPr>
          <p:nvPr>
            <p:ph type="title"/>
          </p:nvPr>
        </p:nvSpPr>
        <p:spPr>
          <a:xfrm>
            <a:off x="839788" y="668337"/>
            <a:ext cx="10515600" cy="1022351"/>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23727D69-EB01-A889-0CC3-A64B4F7DAB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F1EC85-625B-CEAA-F97D-EF024B15F2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D5D1D7-7D1D-2F5D-8D5E-152CC8269A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D830EE-92A6-15ED-D99F-35788F37AD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74CBFE9C-CE1B-ED6E-1745-391F9496BE1D}"/>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3515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D9D87-BBC7-C5DC-191E-E5E1CA2BC2BE}"/>
              </a:ext>
            </a:extLst>
          </p:cNvPr>
          <p:cNvSpPr>
            <a:spLocks noGrp="1"/>
          </p:cNvSpPr>
          <p:nvPr>
            <p:ph type="title"/>
          </p:nvPr>
        </p:nvSpPr>
        <p:spPr/>
        <p:txBody>
          <a:bodyPr/>
          <a:lstStyle/>
          <a:p>
            <a:r>
              <a:rPr lang="en-US" dirty="0"/>
              <a:t>Click to edit Master title style</a:t>
            </a:r>
          </a:p>
        </p:txBody>
      </p:sp>
      <p:cxnSp>
        <p:nvCxnSpPr>
          <p:cNvPr id="6" name="Straight Connector 5">
            <a:extLst>
              <a:ext uri="{FF2B5EF4-FFF2-40B4-BE49-F238E27FC236}">
                <a16:creationId xmlns:a16="http://schemas.microsoft.com/office/drawing/2014/main" id="{7E55C65A-BA96-51C7-B6FE-07AB4FB9C96C}"/>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5302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C6C847F-0B94-F947-B172-F99DB133759E}"/>
              </a:ext>
            </a:extLst>
          </p:cNvPr>
          <p:cNvSpPr>
            <a:spLocks noGrp="1"/>
          </p:cNvSpPr>
          <p:nvPr>
            <p:ph type="sldNum" sz="quarter" idx="11"/>
          </p:nvPr>
        </p:nvSpPr>
        <p:spPr/>
        <p:txBody>
          <a:bodyPr/>
          <a:lstStyle/>
          <a:p>
            <a:fld id="{CC6D4273-7FC1-0947-B9FE-19CB3C0D1FB6}" type="slidenum">
              <a:rPr lang="en-US" smtClean="0"/>
              <a:pPr/>
              <a:t>‹#›</a:t>
            </a:fld>
            <a:endParaRPr lang="en-US" dirty="0"/>
          </a:p>
        </p:txBody>
      </p:sp>
      <p:sp>
        <p:nvSpPr>
          <p:cNvPr id="7" name="TextBox 6">
            <a:extLst>
              <a:ext uri="{FF2B5EF4-FFF2-40B4-BE49-F238E27FC236}">
                <a16:creationId xmlns:a16="http://schemas.microsoft.com/office/drawing/2014/main" id="{5C21B1ED-B2E3-19AE-DDFC-B157A0140513}"/>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067797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5009C-FECA-9E9B-9F45-5710762AEB4B}"/>
              </a:ext>
            </a:extLst>
          </p:cNvPr>
          <p:cNvSpPr>
            <a:spLocks noGrp="1"/>
          </p:cNvSpPr>
          <p:nvPr>
            <p:ph type="title"/>
          </p:nvPr>
        </p:nvSpPr>
        <p:spPr>
          <a:xfrm>
            <a:off x="839788" y="457200"/>
            <a:ext cx="3932237" cy="1465029"/>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25B4662-A656-519F-E5DC-FEF8051A04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555F82-CA62-EC30-181A-37223E01FDD3}"/>
              </a:ext>
            </a:extLst>
          </p:cNvPr>
          <p:cNvSpPr>
            <a:spLocks noGrp="1"/>
          </p:cNvSpPr>
          <p:nvPr>
            <p:ph type="body" sz="half" idx="2"/>
          </p:nvPr>
        </p:nvSpPr>
        <p:spPr>
          <a:xfrm>
            <a:off x="839788" y="2146852"/>
            <a:ext cx="3932237" cy="372213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EB026B9A-5C7E-C150-5C07-A68A167F0F67}"/>
              </a:ext>
            </a:extLst>
          </p:cNvPr>
          <p:cNvCxnSpPr>
            <a:cxnSpLocks/>
          </p:cNvCxnSpPr>
          <p:nvPr userDrawn="1"/>
        </p:nvCxnSpPr>
        <p:spPr>
          <a:xfrm>
            <a:off x="838200" y="1922229"/>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9225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35D53-C186-1B2C-FD72-2AC470B82098}"/>
              </a:ext>
            </a:extLst>
          </p:cNvPr>
          <p:cNvSpPr>
            <a:spLocks noGrp="1"/>
          </p:cNvSpPr>
          <p:nvPr>
            <p:ph type="title"/>
          </p:nvPr>
        </p:nvSpPr>
        <p:spPr>
          <a:xfrm>
            <a:off x="839788" y="457200"/>
            <a:ext cx="3932237" cy="1463045"/>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8C7372F6-C6B1-D2F4-8DED-EF3C3DBEAA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66E1FE-9DAE-4781-C70A-CF8F68AAFDD6}"/>
              </a:ext>
            </a:extLst>
          </p:cNvPr>
          <p:cNvSpPr>
            <a:spLocks noGrp="1"/>
          </p:cNvSpPr>
          <p:nvPr>
            <p:ph type="body" sz="half" idx="2"/>
          </p:nvPr>
        </p:nvSpPr>
        <p:spPr>
          <a:xfrm>
            <a:off x="839788" y="2148836"/>
            <a:ext cx="3932237" cy="372015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6BBD52B6-C25E-E933-F2B7-D40B2BFDF83D}"/>
              </a:ext>
            </a:extLst>
          </p:cNvPr>
          <p:cNvCxnSpPr>
            <a:cxnSpLocks/>
          </p:cNvCxnSpPr>
          <p:nvPr userDrawn="1"/>
        </p:nvCxnSpPr>
        <p:spPr>
          <a:xfrm>
            <a:off x="838200" y="1920245"/>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0194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F5CEA-F0B2-6EAB-4435-59D188AF38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2B515F-CCC6-5F3D-26FA-AF419F9D87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E155FD7A-35A4-E3BB-30E7-93993A9F2FCF}"/>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2860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EEA24E-3139-367F-63CD-6BE14639C42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D504B8-9AC5-F3B2-2873-A2C2344601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3289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C7573B6-84E2-B075-59F6-13B735C1EA0C}"/>
              </a:ext>
            </a:extLst>
          </p:cNvPr>
          <p:cNvPicPr>
            <a:picLocks noChangeAspect="1"/>
          </p:cNvPicPr>
          <p:nvPr userDrawn="1"/>
        </p:nvPicPr>
        <p:blipFill>
          <a:blip r:embed="rId16"/>
          <a:src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AF899C9A-A2FC-CD4A-1E66-538BA9DCD182}"/>
              </a:ext>
            </a:extLst>
          </p:cNvPr>
          <p:cNvSpPr>
            <a:spLocks noGrp="1"/>
          </p:cNvSpPr>
          <p:nvPr>
            <p:ph type="title"/>
          </p:nvPr>
        </p:nvSpPr>
        <p:spPr>
          <a:xfrm>
            <a:off x="838200" y="681037"/>
            <a:ext cx="10515600" cy="100965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5BEC040-D756-ECEA-9BEA-816A77F6A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0655B500-689F-3416-FFFA-6EFE369BF707}"/>
              </a:ext>
            </a:extLst>
          </p:cNvPr>
          <p:cNvSpPr>
            <a:spLocks noGrp="1"/>
          </p:cNvSpPr>
          <p:nvPr>
            <p:ph type="sldNum" sz="quarter" idx="4"/>
          </p:nvPr>
        </p:nvSpPr>
        <p:spPr>
          <a:xfrm>
            <a:off x="8595078" y="6333148"/>
            <a:ext cx="2743200" cy="365125"/>
          </a:xfrm>
          <a:prstGeom prst="rect">
            <a:avLst/>
          </a:prstGeom>
        </p:spPr>
        <p:txBody>
          <a:bodyPr vert="horz" lIns="91440" tIns="45720" rIns="91440" bIns="45720" rtlCol="0" anchor="ctr"/>
          <a:lstStyle>
            <a:lvl1pPr algn="r">
              <a:defRPr sz="1200">
                <a:solidFill>
                  <a:schemeClr val="tx1"/>
                </a:solidFill>
              </a:defRPr>
            </a:lvl1pPr>
          </a:lstStyle>
          <a:p>
            <a:fld id="{CC6D4273-7FC1-0947-B9FE-19CB3C0D1FB6}" type="slidenum">
              <a:rPr lang="en-US" smtClean="0"/>
              <a:pPr/>
              <a:t>‹#›</a:t>
            </a:fld>
            <a:endParaRPr lang="en-US" dirty="0"/>
          </a:p>
        </p:txBody>
      </p:sp>
      <p:pic>
        <p:nvPicPr>
          <p:cNvPr id="10" name="Picture 9" descr="Logo&#10;&#10;Description automatically generated">
            <a:extLst>
              <a:ext uri="{FF2B5EF4-FFF2-40B4-BE49-F238E27FC236}">
                <a16:creationId xmlns:a16="http://schemas.microsoft.com/office/drawing/2014/main" id="{83AB58F5-18C5-C368-94F4-CC4D543C8982}"/>
              </a:ext>
            </a:extLst>
          </p:cNvPr>
          <p:cNvPicPr>
            <a:picLocks noChangeAspect="1"/>
          </p:cNvPicPr>
          <p:nvPr userDrawn="1"/>
        </p:nvPicPr>
        <p:blipFill>
          <a:blip r:embed="rId17"/>
          <a:stretch>
            <a:fillRect/>
          </a:stretch>
        </p:blipFill>
        <p:spPr>
          <a:xfrm>
            <a:off x="10650147" y="311856"/>
            <a:ext cx="1376262" cy="275252"/>
          </a:xfrm>
          <a:prstGeom prst="rect">
            <a:avLst/>
          </a:prstGeom>
        </p:spPr>
      </p:pic>
      <p:cxnSp>
        <p:nvCxnSpPr>
          <p:cNvPr id="16" name="Straight Connector 15">
            <a:extLst>
              <a:ext uri="{FF2B5EF4-FFF2-40B4-BE49-F238E27FC236}">
                <a16:creationId xmlns:a16="http://schemas.microsoft.com/office/drawing/2014/main" id="{BFFEF531-ADF4-AB70-CB0F-227DD4FA1B4F}"/>
              </a:ext>
            </a:extLst>
          </p:cNvPr>
          <p:cNvCxnSpPr/>
          <p:nvPr userDrawn="1"/>
        </p:nvCxnSpPr>
        <p:spPr>
          <a:xfrm>
            <a:off x="838200" y="6382347"/>
            <a:ext cx="10515599"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7AF5F83-88DF-460F-82C5-C2709D4DF5D2}"/>
              </a:ext>
            </a:extLst>
          </p:cNvPr>
          <p:cNvSpPr txBox="1"/>
          <p:nvPr userDrawn="1"/>
        </p:nvSpPr>
        <p:spPr>
          <a:xfrm>
            <a:off x="838200" y="6389310"/>
            <a:ext cx="4171934" cy="400110"/>
          </a:xfrm>
          <a:prstGeom prst="rect">
            <a:avLst/>
          </a:prstGeom>
          <a:noFill/>
        </p:spPr>
        <p:txBody>
          <a:bodyPr wrap="square" rtlCol="0">
            <a:spAutoFit/>
          </a:bodyPr>
          <a:lstStyle/>
          <a:p>
            <a:r>
              <a:rPr lang="en-US" sz="1000" dirty="0"/>
              <a:t>POKA YOKE PRESENTATION ENG REV4.0</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76B0F1ED-1C44-DFD6-E7DA-038409D9167D}"/>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3092232385"/>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10.xml"/><Relationship Id="rId4" Type="http://schemas.openxmlformats.org/officeDocument/2006/relationships/image" Target="../media/image5.gi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image" Target="../media/image7.png"/><Relationship Id="rId7" Type="http://schemas.openxmlformats.org/officeDocument/2006/relationships/image" Target="../media/image11.wmf"/><Relationship Id="rId12"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9.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3.xml"/><Relationship Id="rId1" Type="http://schemas.openxmlformats.org/officeDocument/2006/relationships/slideLayout" Target="../slideLayouts/slideLayout8.xml"/><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image" Target="../media/image19.png"/></Relationships>
</file>

<file path=ppt/slides/_rels/slide3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34.xml"/><Relationship Id="rId1" Type="http://schemas.openxmlformats.org/officeDocument/2006/relationships/slideLayout" Target="../slideLayouts/slideLayout8.xml"/><Relationship Id="rId4" Type="http://schemas.openxmlformats.org/officeDocument/2006/relationships/image" Target="../media/image23.jpeg"/></Relationships>
</file>

<file path=ppt/slides/_rels/slide3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45.xml"/><Relationship Id="rId1" Type="http://schemas.openxmlformats.org/officeDocument/2006/relationships/slideLayout" Target="../slideLayouts/slideLayout9.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46.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46.xml"/><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48.xml"/><Relationship Id="rId1" Type="http://schemas.openxmlformats.org/officeDocument/2006/relationships/slideLayout" Target="../slideLayouts/slideLayout9.xml"/><Relationship Id="rId4" Type="http://schemas.openxmlformats.org/officeDocument/2006/relationships/image" Target="../media/image35.jpe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50.xml"/><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51.xml"/><Relationship Id="rId1" Type="http://schemas.openxmlformats.org/officeDocument/2006/relationships/slideLayout" Target="../slideLayouts/slideLayout9.xml"/><Relationship Id="rId4" Type="http://schemas.openxmlformats.org/officeDocument/2006/relationships/image" Target="../media/image38.jpeg"/></Relationships>
</file>

<file path=ppt/slides/_rels/slide52.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52.xml"/><Relationship Id="rId1" Type="http://schemas.openxmlformats.org/officeDocument/2006/relationships/slideLayout" Target="../slideLayouts/slideLayout9.xml"/><Relationship Id="rId4" Type="http://schemas.openxmlformats.org/officeDocument/2006/relationships/image" Target="../media/image40.jpe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55.xml"/><Relationship Id="rId1" Type="http://schemas.openxmlformats.org/officeDocument/2006/relationships/slideLayout" Target="../slideLayouts/slideLayout10.xml"/><Relationship Id="rId4" Type="http://schemas.openxmlformats.org/officeDocument/2006/relationships/image" Target="../media/image5.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B60FA6-6E24-C6E2-C35D-A4139BCE2E8B}"/>
              </a:ext>
            </a:extLst>
          </p:cNvPr>
          <p:cNvPicPr>
            <a:picLocks noChangeAspect="1"/>
          </p:cNvPicPr>
          <p:nvPr/>
        </p:nvPicPr>
        <p:blipFill>
          <a:blip r:embed="rId3"/>
          <a:stretch>
            <a:fillRect/>
          </a:stretch>
        </p:blipFill>
        <p:spPr>
          <a:xfrm>
            <a:off x="4747929" y="4846192"/>
            <a:ext cx="2696138" cy="45719"/>
          </a:xfrm>
          <a:prstGeom prst="rect">
            <a:avLst/>
          </a:prstGeom>
        </p:spPr>
      </p:pic>
      <p:sp>
        <p:nvSpPr>
          <p:cNvPr id="5" name="TextBox 4">
            <a:extLst>
              <a:ext uri="{FF2B5EF4-FFF2-40B4-BE49-F238E27FC236}">
                <a16:creationId xmlns:a16="http://schemas.microsoft.com/office/drawing/2014/main" id="{0BF4BEED-3D12-D343-768A-9E83F9558AE0}"/>
              </a:ext>
            </a:extLst>
          </p:cNvPr>
          <p:cNvSpPr txBox="1"/>
          <p:nvPr/>
        </p:nvSpPr>
        <p:spPr>
          <a:xfrm>
            <a:off x="3442234" y="3900266"/>
            <a:ext cx="5674290" cy="920252"/>
          </a:xfrm>
          <a:prstGeom prst="rect">
            <a:avLst/>
          </a:prstGeom>
          <a:noFill/>
        </p:spPr>
        <p:txBody>
          <a:bodyPr wrap="square" rtlCol="0">
            <a:spAutoFit/>
          </a:bodyPr>
          <a:lstStyle/>
          <a:p>
            <a:pPr algn="ctr">
              <a:lnSpc>
                <a:spcPct val="150000"/>
              </a:lnSpc>
              <a:spcBef>
                <a:spcPct val="0"/>
              </a:spcBef>
            </a:pPr>
            <a:r>
              <a:rPr lang="en-GB" altLang="en-US" sz="4000" b="0" dirty="0"/>
              <a:t>Poka-Yoke</a:t>
            </a:r>
          </a:p>
        </p:txBody>
      </p:sp>
      <p:sp>
        <p:nvSpPr>
          <p:cNvPr id="6" name="Slide Number Placeholder 5">
            <a:extLst>
              <a:ext uri="{FF2B5EF4-FFF2-40B4-BE49-F238E27FC236}">
                <a16:creationId xmlns:a16="http://schemas.microsoft.com/office/drawing/2014/main" id="{6E4494D2-9BB1-413A-87A5-B87486367AE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pPr/>
              <a:t>1</a:t>
            </a:fld>
            <a:endParaRPr lang="en-US" dirty="0"/>
          </a:p>
        </p:txBody>
      </p:sp>
    </p:spTree>
    <p:extLst>
      <p:ext uri="{BB962C8B-B14F-4D97-AF65-F5344CB8AC3E}">
        <p14:creationId xmlns:p14="http://schemas.microsoft.com/office/powerpoint/2010/main" val="18801871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a:cs typeface="Roboto"/>
              </a:rPr>
              <a:t>Other</a:t>
            </a:r>
            <a:r>
              <a:rPr lang="en-US" dirty="0">
                <a:solidFill>
                  <a:schemeClr val="tx1"/>
                </a:solidFill>
                <a:latin typeface="Roboto Medium"/>
                <a:cs typeface="Roboto Medium"/>
              </a:rPr>
              <a:t>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3"/>
          <a:stretch>
            <a:fillRect/>
          </a:stretch>
        </p:blipFill>
        <p:spPr>
          <a:xfrm>
            <a:off x="605117" y="1638489"/>
            <a:ext cx="3939240" cy="45719"/>
          </a:xfrm>
          <a:prstGeom prst="rect">
            <a:avLst/>
          </a:prstGeom>
        </p:spPr>
      </p:pic>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583925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pic>
        <p:nvPicPr>
          <p:cNvPr id="11" name="Picture 10">
            <a:extLst>
              <a:ext uri="{FF2B5EF4-FFF2-40B4-BE49-F238E27FC236}">
                <a16:creationId xmlns:a16="http://schemas.microsoft.com/office/drawing/2014/main" id="{11F73560-3A07-DDBC-A93D-9C2969C3C8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
        <p:nvSpPr>
          <p:cNvPr id="18" name="Slide Number Placeholder 17">
            <a:extLst>
              <a:ext uri="{FF2B5EF4-FFF2-40B4-BE49-F238E27FC236}">
                <a16:creationId xmlns:a16="http://schemas.microsoft.com/office/drawing/2014/main" id="{F71C8E8F-D781-AA13-E1D1-E5284A242753}"/>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a:t>
            </a:fld>
            <a:endParaRPr lang="en-US" dirty="0"/>
          </a:p>
        </p:txBody>
      </p:sp>
    </p:spTree>
    <p:extLst>
      <p:ext uri="{BB962C8B-B14F-4D97-AF65-F5344CB8AC3E}">
        <p14:creationId xmlns:p14="http://schemas.microsoft.com/office/powerpoint/2010/main" val="811029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3517106" y="2278809"/>
            <a:ext cx="5157787" cy="23003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solidFill>
                  <a:schemeClr val="tx1"/>
                </a:solidFill>
              </a:rPr>
              <a:t>This document contains confidential</a:t>
            </a:r>
            <a:br>
              <a:rPr lang="en-US" sz="2000" dirty="0">
                <a:solidFill>
                  <a:schemeClr val="tx1"/>
                </a:solidFill>
              </a:rPr>
            </a:br>
            <a:r>
              <a:rPr lang="en-US" sz="2000" dirty="0">
                <a:solidFill>
                  <a:schemeClr val="tx1"/>
                </a:solidFill>
              </a:rPr>
              <a:t>and proprietary information owned</a:t>
            </a:r>
            <a:br>
              <a:rPr lang="en-US" sz="2000" dirty="0">
                <a:solidFill>
                  <a:schemeClr val="tx1"/>
                </a:solidFill>
              </a:rPr>
            </a:br>
            <a:r>
              <a:rPr lang="en-US" sz="2000" dirty="0">
                <a:solidFill>
                  <a:schemeClr val="tx1"/>
                </a:solidFill>
              </a:rPr>
              <a:t> by Lean Horizons Consulting, LLC.</a:t>
            </a:r>
            <a:br>
              <a:rPr lang="en-US" sz="2000" dirty="0">
                <a:solidFill>
                  <a:schemeClr val="tx1"/>
                </a:solidFill>
              </a:rPr>
            </a:br>
            <a:br>
              <a:rPr lang="en-US" sz="2000" dirty="0">
                <a:solidFill>
                  <a:schemeClr val="tx1"/>
                </a:solidFill>
              </a:rPr>
            </a:br>
            <a:r>
              <a:rPr lang="en-US" sz="2000" dirty="0">
                <a:solidFill>
                  <a:schemeClr val="tx1"/>
                </a:solidFill>
              </a:rPr>
              <a:t>Any disclosure, use, copying or</a:t>
            </a:r>
            <a:br>
              <a:rPr lang="en-US" sz="2000" dirty="0">
                <a:solidFill>
                  <a:schemeClr val="tx1"/>
                </a:solidFill>
              </a:rPr>
            </a:br>
            <a:r>
              <a:rPr lang="en-US" sz="2000" dirty="0">
                <a:solidFill>
                  <a:schemeClr val="tx1"/>
                </a:solidFill>
              </a:rPr>
              <a:t>distribution of this information without the express written consent of Lean Horizons Consulting is strictly prohibited.</a:t>
            </a:r>
          </a:p>
        </p:txBody>
      </p:sp>
      <p:sp>
        <p:nvSpPr>
          <p:cNvPr id="12" name="Slide Number Placeholder 11">
            <a:extLst>
              <a:ext uri="{FF2B5EF4-FFF2-40B4-BE49-F238E27FC236}">
                <a16:creationId xmlns:a16="http://schemas.microsoft.com/office/drawing/2014/main" id="{C8A6FCFA-DB7B-71C3-70EC-F677EBA239A7}"/>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a:t>
            </a:fld>
            <a:endParaRPr lang="en-US"/>
          </a:p>
        </p:txBody>
      </p:sp>
    </p:spTree>
    <p:extLst>
      <p:ext uri="{BB962C8B-B14F-4D97-AF65-F5344CB8AC3E}">
        <p14:creationId xmlns:p14="http://schemas.microsoft.com/office/powerpoint/2010/main" val="3785296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61B1F-82BB-20AA-556E-27FE22CCD7A0}"/>
              </a:ext>
            </a:extLst>
          </p:cNvPr>
          <p:cNvSpPr>
            <a:spLocks noGrp="1"/>
          </p:cNvSpPr>
          <p:nvPr>
            <p:ph type="title"/>
          </p:nvPr>
        </p:nvSpPr>
        <p:spPr/>
        <p:txBody>
          <a:bodyPr>
            <a:normAutofit/>
          </a:bodyPr>
          <a:lstStyle/>
          <a:p>
            <a:r>
              <a:rPr lang="en-US" sz="4000" dirty="0">
                <a:latin typeface="Roboto Medium"/>
                <a:ea typeface="Roboto Medium"/>
                <a:cs typeface="Roboto Medium"/>
              </a:rPr>
              <a:t>Ground Rules for Event</a:t>
            </a:r>
          </a:p>
        </p:txBody>
      </p:sp>
      <p:sp>
        <p:nvSpPr>
          <p:cNvPr id="3" name="Content Placeholder 2">
            <a:extLst>
              <a:ext uri="{FF2B5EF4-FFF2-40B4-BE49-F238E27FC236}">
                <a16:creationId xmlns:a16="http://schemas.microsoft.com/office/drawing/2014/main" id="{D1CAA202-895A-70BD-7319-C214C2BDD1B2}"/>
              </a:ext>
            </a:extLst>
          </p:cNvPr>
          <p:cNvSpPr>
            <a:spLocks noGrp="1"/>
          </p:cNvSpPr>
          <p:nvPr>
            <p:ph idx="1"/>
          </p:nvPr>
        </p:nvSpPr>
        <p:spPr/>
        <p:txBody>
          <a:bodyPr/>
          <a:lstStyle/>
          <a:p>
            <a:r>
              <a:rPr lang="en-US" altLang="en-US" dirty="0"/>
              <a:t>Safety first (use personal protective equipment)</a:t>
            </a:r>
          </a:p>
          <a:p>
            <a:r>
              <a:rPr lang="en-US" altLang="en-US" dirty="0"/>
              <a:t>Active participation by all</a:t>
            </a:r>
          </a:p>
          <a:p>
            <a:r>
              <a:rPr lang="en-US" altLang="en-US" dirty="0"/>
              <a:t>Start and end on time</a:t>
            </a:r>
          </a:p>
          <a:p>
            <a:r>
              <a:rPr lang="en-US" altLang="en-US" dirty="0"/>
              <a:t>All electronic gadgets (phones, pagers, </a:t>
            </a:r>
            <a:r>
              <a:rPr lang="en-US" altLang="en-US" dirty="0" err="1"/>
              <a:t>etc</a:t>
            </a:r>
            <a:r>
              <a:rPr lang="en-US" altLang="en-US" dirty="0"/>
              <a:t>) turned to </a:t>
            </a:r>
            <a:r>
              <a:rPr lang="ja-JP" altLang="en-US" dirty="0"/>
              <a:t>“</a:t>
            </a:r>
            <a:r>
              <a:rPr lang="en-US" altLang="ja-JP" dirty="0"/>
              <a:t>off</a:t>
            </a:r>
            <a:r>
              <a:rPr lang="ja-JP" altLang="en-US" dirty="0"/>
              <a:t>”</a:t>
            </a:r>
            <a:r>
              <a:rPr lang="en-US" altLang="ja-JP" dirty="0"/>
              <a:t> or </a:t>
            </a:r>
            <a:r>
              <a:rPr lang="ja-JP" altLang="en-US" dirty="0"/>
              <a:t>“</a:t>
            </a:r>
            <a:r>
              <a:rPr lang="en-US" altLang="ja-JP" dirty="0"/>
              <a:t>silent</a:t>
            </a:r>
            <a:r>
              <a:rPr lang="ja-JP" altLang="en-US" dirty="0"/>
              <a:t>”</a:t>
            </a:r>
            <a:endParaRPr lang="en-US" altLang="ja-JP" dirty="0"/>
          </a:p>
          <a:p>
            <a:r>
              <a:rPr lang="en-US" altLang="en-US" dirty="0"/>
              <a:t>Computers to be used only when instructed</a:t>
            </a:r>
          </a:p>
          <a:p>
            <a:r>
              <a:rPr lang="en-US" altLang="en-US" dirty="0"/>
              <a:t>Keep an open mind to change</a:t>
            </a:r>
          </a:p>
          <a:p>
            <a:r>
              <a:rPr lang="en-US" altLang="en-US" dirty="0"/>
              <a:t>Don</a:t>
            </a:r>
            <a:r>
              <a:rPr lang="ja-JP" altLang="en-US" dirty="0"/>
              <a:t>’</a:t>
            </a:r>
            <a:r>
              <a:rPr lang="en-US" altLang="ja-JP" dirty="0"/>
              <a:t>t let </a:t>
            </a:r>
            <a:r>
              <a:rPr lang="ja-JP" altLang="en-US" dirty="0"/>
              <a:t>“</a:t>
            </a:r>
            <a:r>
              <a:rPr lang="en-US" altLang="ja-JP" dirty="0"/>
              <a:t>perfect</a:t>
            </a:r>
            <a:r>
              <a:rPr lang="ja-JP" altLang="en-US" dirty="0"/>
              <a:t>”</a:t>
            </a:r>
            <a:r>
              <a:rPr lang="en-US" altLang="ja-JP" dirty="0"/>
              <a:t> get in the way of </a:t>
            </a:r>
            <a:r>
              <a:rPr lang="ja-JP" altLang="en-US" dirty="0"/>
              <a:t>“</a:t>
            </a:r>
            <a:r>
              <a:rPr lang="en-US" altLang="ja-JP" dirty="0"/>
              <a:t>better</a:t>
            </a:r>
            <a:r>
              <a:rPr lang="ja-JP" altLang="en-US" dirty="0"/>
              <a:t>”</a:t>
            </a:r>
            <a:endParaRPr lang="en-US" altLang="en-US" dirty="0"/>
          </a:p>
        </p:txBody>
      </p:sp>
      <p:sp>
        <p:nvSpPr>
          <p:cNvPr id="8" name="Slide Number Placeholder 7">
            <a:extLst>
              <a:ext uri="{FF2B5EF4-FFF2-40B4-BE49-F238E27FC236}">
                <a16:creationId xmlns:a16="http://schemas.microsoft.com/office/drawing/2014/main" id="{42705716-A551-625A-37E2-96047D07B497}"/>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a:t>
            </a:fld>
            <a:endParaRPr lang="en-US"/>
          </a:p>
        </p:txBody>
      </p:sp>
    </p:spTree>
    <p:extLst>
      <p:ext uri="{BB962C8B-B14F-4D97-AF65-F5344CB8AC3E}">
        <p14:creationId xmlns:p14="http://schemas.microsoft.com/office/powerpoint/2010/main" val="2726188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Goal of Poka-Yoke Module</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To apply the principles and practices of Poka-Yoke to achieve an improved quality target goal for your business. </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a:t>
            </a:fld>
            <a:endParaRPr lang="en-US"/>
          </a:p>
        </p:txBody>
      </p:sp>
      <p:grpSp>
        <p:nvGrpSpPr>
          <p:cNvPr id="8" name="Group 7">
            <a:extLst>
              <a:ext uri="{FF2B5EF4-FFF2-40B4-BE49-F238E27FC236}">
                <a16:creationId xmlns:a16="http://schemas.microsoft.com/office/drawing/2014/main" id="{9A9F6E4E-2CF2-05EE-3268-0C4BCF1B23ED}"/>
              </a:ext>
            </a:extLst>
          </p:cNvPr>
          <p:cNvGrpSpPr/>
          <p:nvPr/>
        </p:nvGrpSpPr>
        <p:grpSpPr>
          <a:xfrm>
            <a:off x="2555399" y="3835400"/>
            <a:ext cx="7081202" cy="1788160"/>
            <a:chOff x="2325688" y="3835400"/>
            <a:chExt cx="4503737" cy="1350963"/>
          </a:xfrm>
        </p:grpSpPr>
        <p:sp>
          <p:nvSpPr>
            <p:cNvPr id="4" name="AutoShape 7">
              <a:extLst>
                <a:ext uri="{FF2B5EF4-FFF2-40B4-BE49-F238E27FC236}">
                  <a16:creationId xmlns:a16="http://schemas.microsoft.com/office/drawing/2014/main" id="{854A2E84-1C2F-0423-7629-9632CF25B234}"/>
                </a:ext>
              </a:extLst>
            </p:cNvPr>
            <p:cNvSpPr>
              <a:spLocks noChangeArrowheads="1"/>
            </p:cNvSpPr>
            <p:nvPr/>
          </p:nvSpPr>
          <p:spPr bwMode="auto">
            <a:xfrm>
              <a:off x="5229225" y="3835400"/>
              <a:ext cx="1600200" cy="1346200"/>
            </a:xfrm>
            <a:prstGeom prst="homePlate">
              <a:avLst>
                <a:gd name="adj" fmla="val 11155"/>
              </a:avLst>
            </a:prstGeom>
            <a:solidFill>
              <a:schemeClr val="accent1"/>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000">
                  <a:solidFill>
                    <a:schemeClr val="bg1"/>
                  </a:solidFill>
                  <a:latin typeface="Roboto" panose="02000000000000000000" pitchFamily="2" charset="0"/>
                  <a:ea typeface="Roboto" panose="02000000000000000000" pitchFamily="2" charset="0"/>
                </a:rPr>
                <a:t>Poka-Yoke</a:t>
              </a:r>
              <a:br>
                <a:rPr lang="en-US" altLang="en-US" sz="2000">
                  <a:solidFill>
                    <a:schemeClr val="bg1"/>
                  </a:solidFill>
                  <a:latin typeface="Roboto" panose="02000000000000000000" pitchFamily="2" charset="0"/>
                  <a:ea typeface="Roboto" panose="02000000000000000000" pitchFamily="2" charset="0"/>
                </a:rPr>
              </a:br>
              <a:r>
                <a:rPr lang="en-US" altLang="en-US" sz="2000">
                  <a:solidFill>
                    <a:schemeClr val="bg1"/>
                  </a:solidFill>
                  <a:latin typeface="Roboto" panose="02000000000000000000" pitchFamily="2" charset="0"/>
                  <a:ea typeface="Roboto" panose="02000000000000000000" pitchFamily="2" charset="0"/>
                </a:rPr>
                <a:t>Examples</a:t>
              </a:r>
            </a:p>
          </p:txBody>
        </p:sp>
        <p:sp>
          <p:nvSpPr>
            <p:cNvPr id="6" name="AutoShape 8">
              <a:extLst>
                <a:ext uri="{FF2B5EF4-FFF2-40B4-BE49-F238E27FC236}">
                  <a16:creationId xmlns:a16="http://schemas.microsoft.com/office/drawing/2014/main" id="{989C1CF3-AD2C-772A-ADF6-8D3B0783109A}"/>
                </a:ext>
              </a:extLst>
            </p:cNvPr>
            <p:cNvSpPr>
              <a:spLocks noChangeArrowheads="1"/>
            </p:cNvSpPr>
            <p:nvPr/>
          </p:nvSpPr>
          <p:spPr bwMode="auto">
            <a:xfrm>
              <a:off x="3773488" y="3840163"/>
              <a:ext cx="1600200" cy="1346200"/>
            </a:xfrm>
            <a:prstGeom prst="homePlate">
              <a:avLst>
                <a:gd name="adj" fmla="val 11155"/>
              </a:avLst>
            </a:prstGeom>
            <a:solidFill>
              <a:schemeClr val="accent1"/>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000">
                  <a:solidFill>
                    <a:schemeClr val="bg1"/>
                  </a:solidFill>
                  <a:latin typeface="Roboto" panose="02000000000000000000" pitchFamily="2" charset="0"/>
                  <a:ea typeface="Roboto" panose="02000000000000000000" pitchFamily="2" charset="0"/>
                </a:rPr>
                <a:t>7 Steps</a:t>
              </a:r>
              <a:br>
                <a:rPr lang="en-US" altLang="en-US" sz="2000">
                  <a:solidFill>
                    <a:schemeClr val="bg1"/>
                  </a:solidFill>
                  <a:latin typeface="Roboto" panose="02000000000000000000" pitchFamily="2" charset="0"/>
                  <a:ea typeface="Roboto" panose="02000000000000000000" pitchFamily="2" charset="0"/>
                </a:rPr>
              </a:br>
              <a:r>
                <a:rPr lang="en-US" altLang="en-US" sz="2000">
                  <a:solidFill>
                    <a:schemeClr val="bg1"/>
                  </a:solidFill>
                  <a:latin typeface="Roboto" panose="02000000000000000000" pitchFamily="2" charset="0"/>
                  <a:ea typeface="Roboto" panose="02000000000000000000" pitchFamily="2" charset="0"/>
                </a:rPr>
                <a:t>of Poka-</a:t>
              </a:r>
              <a:br>
                <a:rPr lang="en-US" altLang="en-US" sz="2000">
                  <a:solidFill>
                    <a:schemeClr val="bg1"/>
                  </a:solidFill>
                  <a:latin typeface="Roboto" panose="02000000000000000000" pitchFamily="2" charset="0"/>
                  <a:ea typeface="Roboto" panose="02000000000000000000" pitchFamily="2" charset="0"/>
                </a:rPr>
              </a:br>
              <a:r>
                <a:rPr lang="en-US" altLang="en-US" sz="2000">
                  <a:solidFill>
                    <a:schemeClr val="bg1"/>
                  </a:solidFill>
                  <a:latin typeface="Roboto" panose="02000000000000000000" pitchFamily="2" charset="0"/>
                  <a:ea typeface="Roboto" panose="02000000000000000000" pitchFamily="2" charset="0"/>
                </a:rPr>
                <a:t>Yoke</a:t>
              </a:r>
            </a:p>
          </p:txBody>
        </p:sp>
        <p:sp>
          <p:nvSpPr>
            <p:cNvPr id="7" name="AutoShape 12">
              <a:extLst>
                <a:ext uri="{FF2B5EF4-FFF2-40B4-BE49-F238E27FC236}">
                  <a16:creationId xmlns:a16="http://schemas.microsoft.com/office/drawing/2014/main" id="{0C6B106A-8032-E64F-D639-F6CC6897ABFA}"/>
                </a:ext>
              </a:extLst>
            </p:cNvPr>
            <p:cNvSpPr>
              <a:spLocks noChangeArrowheads="1"/>
            </p:cNvSpPr>
            <p:nvPr/>
          </p:nvSpPr>
          <p:spPr bwMode="auto">
            <a:xfrm>
              <a:off x="2325688" y="3835400"/>
              <a:ext cx="1600200" cy="1346200"/>
            </a:xfrm>
            <a:prstGeom prst="homePlate">
              <a:avLst>
                <a:gd name="adj" fmla="val 11155"/>
              </a:avLst>
            </a:prstGeom>
            <a:solidFill>
              <a:schemeClr val="accent1"/>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000" dirty="0">
                  <a:solidFill>
                    <a:schemeClr val="bg1"/>
                  </a:solidFill>
                  <a:latin typeface="Roboto" panose="02000000000000000000" pitchFamily="2" charset="0"/>
                  <a:ea typeface="Roboto" panose="02000000000000000000" pitchFamily="2" charset="0"/>
                </a:rPr>
                <a:t>Zero Defect</a:t>
              </a:r>
              <a:br>
                <a:rPr lang="en-US" altLang="en-US" sz="2000" dirty="0">
                  <a:solidFill>
                    <a:schemeClr val="bg1"/>
                  </a:solidFill>
                  <a:latin typeface="Roboto" panose="02000000000000000000" pitchFamily="2" charset="0"/>
                  <a:ea typeface="Roboto" panose="02000000000000000000" pitchFamily="2" charset="0"/>
                </a:rPr>
              </a:br>
              <a:r>
                <a:rPr lang="en-US" altLang="en-US" sz="2000" dirty="0">
                  <a:solidFill>
                    <a:schemeClr val="bg1"/>
                  </a:solidFill>
                  <a:latin typeface="Roboto" panose="02000000000000000000" pitchFamily="2" charset="0"/>
                  <a:ea typeface="Roboto" panose="02000000000000000000" pitchFamily="2" charset="0"/>
                </a:rPr>
                <a:t>Quality</a:t>
              </a:r>
              <a:br>
                <a:rPr lang="en-US" altLang="en-US" sz="2000" dirty="0">
                  <a:solidFill>
                    <a:schemeClr val="bg1"/>
                  </a:solidFill>
                  <a:latin typeface="Roboto" panose="02000000000000000000" pitchFamily="2" charset="0"/>
                  <a:ea typeface="Roboto" panose="02000000000000000000" pitchFamily="2" charset="0"/>
                </a:rPr>
              </a:br>
              <a:r>
                <a:rPr lang="en-US" altLang="en-US" sz="2000" dirty="0">
                  <a:solidFill>
                    <a:schemeClr val="bg1"/>
                  </a:solidFill>
                  <a:latin typeface="Roboto" panose="02000000000000000000" pitchFamily="2" charset="0"/>
                  <a:ea typeface="Roboto" panose="02000000000000000000" pitchFamily="2" charset="0"/>
                </a:rPr>
                <a:t>System</a:t>
              </a:r>
            </a:p>
          </p:txBody>
        </p:sp>
      </p:grpSp>
    </p:spTree>
    <p:extLst>
      <p:ext uri="{BB962C8B-B14F-4D97-AF65-F5344CB8AC3E}">
        <p14:creationId xmlns:p14="http://schemas.microsoft.com/office/powerpoint/2010/main" val="37872261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How did we get here?</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a:t>
            </a:fld>
            <a:endParaRPr lang="en-US"/>
          </a:p>
        </p:txBody>
      </p:sp>
      <p:pic>
        <p:nvPicPr>
          <p:cNvPr id="446" name="Picture 445">
            <a:extLst>
              <a:ext uri="{FF2B5EF4-FFF2-40B4-BE49-F238E27FC236}">
                <a16:creationId xmlns:a16="http://schemas.microsoft.com/office/drawing/2014/main" id="{6B309DC9-CCF5-3FA3-E6BE-51F89EE1C417}"/>
              </a:ext>
            </a:extLst>
          </p:cNvPr>
          <p:cNvPicPr>
            <a:picLocks noChangeAspect="1"/>
          </p:cNvPicPr>
          <p:nvPr/>
        </p:nvPicPr>
        <p:blipFill>
          <a:blip r:embed="rId3"/>
          <a:stretch>
            <a:fillRect/>
          </a:stretch>
        </p:blipFill>
        <p:spPr>
          <a:xfrm>
            <a:off x="1536392" y="1736032"/>
            <a:ext cx="9119217" cy="4597116"/>
          </a:xfrm>
          <a:prstGeom prst="rect">
            <a:avLst/>
          </a:prstGeom>
        </p:spPr>
      </p:pic>
    </p:spTree>
    <p:extLst>
      <p:ext uri="{BB962C8B-B14F-4D97-AF65-F5344CB8AC3E}">
        <p14:creationId xmlns:p14="http://schemas.microsoft.com/office/powerpoint/2010/main" val="655687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How did we get here?</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Failure Mode and Effect Analysis</a:t>
            </a:r>
          </a:p>
          <a:p>
            <a:pPr lvl="1"/>
            <a:r>
              <a:rPr lang="en-US" dirty="0"/>
              <a:t>Methodology for analyzing potential reliability problems early in the development cycle where it is easier to take action</a:t>
            </a:r>
          </a:p>
          <a:p>
            <a:pPr lvl="1"/>
            <a:r>
              <a:rPr lang="en-US" dirty="0"/>
              <a:t>Used to identify potential failure modes, determine their effect on the operation of the product and identify actions to mitigate failures</a:t>
            </a:r>
          </a:p>
          <a:p>
            <a:pPr lvl="1"/>
            <a:r>
              <a:rPr lang="en-US" dirty="0"/>
              <a:t>A crucial step to anticipating what might go wrong with a product or process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a:t>
            </a:fld>
            <a:endParaRPr lang="en-US"/>
          </a:p>
        </p:txBody>
      </p:sp>
    </p:spTree>
    <p:extLst>
      <p:ext uri="{BB962C8B-B14F-4D97-AF65-F5344CB8AC3E}">
        <p14:creationId xmlns:p14="http://schemas.microsoft.com/office/powerpoint/2010/main" val="42378192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36E6-2E20-1277-8A14-A320570578F1}"/>
              </a:ext>
            </a:extLst>
          </p:cNvPr>
          <p:cNvSpPr>
            <a:spLocks noGrp="1"/>
          </p:cNvSpPr>
          <p:nvPr>
            <p:ph type="title"/>
          </p:nvPr>
        </p:nvSpPr>
        <p:spPr/>
        <p:txBody>
          <a:bodyPr/>
          <a:lstStyle/>
          <a:p>
            <a:r>
              <a:rPr lang="en-US" dirty="0"/>
              <a:t>Poka-Yoke: Error-Proofing</a:t>
            </a:r>
          </a:p>
        </p:txBody>
      </p:sp>
      <p:grpSp>
        <p:nvGrpSpPr>
          <p:cNvPr id="22" name="Group 21">
            <a:extLst>
              <a:ext uri="{FF2B5EF4-FFF2-40B4-BE49-F238E27FC236}">
                <a16:creationId xmlns:a16="http://schemas.microsoft.com/office/drawing/2014/main" id="{6C889D24-EEB6-369B-EC17-FB2BA2D2288E}"/>
              </a:ext>
            </a:extLst>
          </p:cNvPr>
          <p:cNvGrpSpPr/>
          <p:nvPr/>
        </p:nvGrpSpPr>
        <p:grpSpPr>
          <a:xfrm>
            <a:off x="1220121" y="1679575"/>
            <a:ext cx="9780196" cy="2366783"/>
            <a:chOff x="646113" y="1679575"/>
            <a:chExt cx="8189912" cy="2209800"/>
          </a:xfrm>
        </p:grpSpPr>
        <p:grpSp>
          <p:nvGrpSpPr>
            <p:cNvPr id="11" name="Group 7">
              <a:extLst>
                <a:ext uri="{FF2B5EF4-FFF2-40B4-BE49-F238E27FC236}">
                  <a16:creationId xmlns:a16="http://schemas.microsoft.com/office/drawing/2014/main" id="{5E5A045A-C515-16C8-FE83-6089A13C1D8F}"/>
                </a:ext>
              </a:extLst>
            </p:cNvPr>
            <p:cNvGrpSpPr>
              <a:grpSpLocks/>
            </p:cNvGrpSpPr>
            <p:nvPr/>
          </p:nvGrpSpPr>
          <p:grpSpPr bwMode="auto">
            <a:xfrm>
              <a:off x="646113" y="1828800"/>
              <a:ext cx="8189912" cy="466725"/>
              <a:chOff x="562" y="1785"/>
              <a:chExt cx="4831" cy="294"/>
            </a:xfrm>
          </p:grpSpPr>
          <p:sp>
            <p:nvSpPr>
              <p:cNvPr id="12" name="AutoShape 8">
                <a:extLst>
                  <a:ext uri="{FF2B5EF4-FFF2-40B4-BE49-F238E27FC236}">
                    <a16:creationId xmlns:a16="http://schemas.microsoft.com/office/drawing/2014/main" id="{42F8807A-2FB6-E5BA-31FE-40BBE7B16FD0}"/>
                  </a:ext>
                </a:extLst>
              </p:cNvPr>
              <p:cNvSpPr>
                <a:spLocks noChangeArrowheads="1"/>
              </p:cNvSpPr>
              <p:nvPr/>
            </p:nvSpPr>
            <p:spPr bwMode="auto">
              <a:xfrm>
                <a:off x="3660" y="1785"/>
                <a:ext cx="1733" cy="294"/>
              </a:xfrm>
              <a:prstGeom prst="homePlate">
                <a:avLst>
                  <a:gd name="adj" fmla="val 48603"/>
                </a:avLst>
              </a:prstGeom>
              <a:solidFill>
                <a:schemeClr val="accent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latin typeface="Roboto" panose="02000000000000000000" pitchFamily="2" charset="0"/>
                    <a:ea typeface="Roboto" panose="02000000000000000000" pitchFamily="2" charset="0"/>
                  </a:rPr>
                  <a:t>Examples</a:t>
                </a:r>
              </a:p>
            </p:txBody>
          </p:sp>
          <p:sp>
            <p:nvSpPr>
              <p:cNvPr id="13" name="AutoShape 9">
                <a:extLst>
                  <a:ext uri="{FF2B5EF4-FFF2-40B4-BE49-F238E27FC236}">
                    <a16:creationId xmlns:a16="http://schemas.microsoft.com/office/drawing/2014/main" id="{307E9645-70B9-8228-5F5A-FF50BB37CCF9}"/>
                  </a:ext>
                </a:extLst>
              </p:cNvPr>
              <p:cNvSpPr>
                <a:spLocks noChangeArrowheads="1"/>
              </p:cNvSpPr>
              <p:nvPr/>
            </p:nvSpPr>
            <p:spPr bwMode="auto">
              <a:xfrm>
                <a:off x="2105" y="1785"/>
                <a:ext cx="1731" cy="294"/>
              </a:xfrm>
              <a:prstGeom prst="homePlate">
                <a:avLst>
                  <a:gd name="adj" fmla="val 48601"/>
                </a:avLst>
              </a:prstGeom>
              <a:solidFill>
                <a:schemeClr val="accent2"/>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err="1">
                    <a:solidFill>
                      <a:schemeClr val="tx1"/>
                    </a:solidFill>
                    <a:latin typeface="Roboto" panose="02000000000000000000" pitchFamily="2" charset="0"/>
                    <a:ea typeface="Roboto" panose="02000000000000000000" pitchFamily="2" charset="0"/>
                  </a:rPr>
                  <a:t>Jidoka</a:t>
                </a:r>
                <a:endParaRPr lang="en-US" altLang="en-US" sz="1800" dirty="0">
                  <a:solidFill>
                    <a:schemeClr val="tx1"/>
                  </a:solidFill>
                  <a:latin typeface="Roboto" panose="02000000000000000000" pitchFamily="2" charset="0"/>
                  <a:ea typeface="Roboto" panose="02000000000000000000" pitchFamily="2" charset="0"/>
                </a:endParaRPr>
              </a:p>
            </p:txBody>
          </p:sp>
          <p:sp>
            <p:nvSpPr>
              <p:cNvPr id="14" name="AutoShape 10">
                <a:extLst>
                  <a:ext uri="{FF2B5EF4-FFF2-40B4-BE49-F238E27FC236}">
                    <a16:creationId xmlns:a16="http://schemas.microsoft.com/office/drawing/2014/main" id="{0FB3E811-127E-1C68-FF2A-2B98269FCF5C}"/>
                  </a:ext>
                </a:extLst>
              </p:cNvPr>
              <p:cNvSpPr>
                <a:spLocks noChangeArrowheads="1"/>
              </p:cNvSpPr>
              <p:nvPr/>
            </p:nvSpPr>
            <p:spPr bwMode="auto">
              <a:xfrm>
                <a:off x="562" y="1785"/>
                <a:ext cx="1733" cy="294"/>
              </a:xfrm>
              <a:prstGeom prst="homePlate">
                <a:avLst>
                  <a:gd name="adj" fmla="val 48603"/>
                </a:avLst>
              </a:prstGeom>
              <a:solidFill>
                <a:schemeClr val="bg2"/>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solidFill>
                      <a:schemeClr val="tx1"/>
                    </a:solidFill>
                    <a:latin typeface="Roboto" panose="02000000000000000000" pitchFamily="2" charset="0"/>
                    <a:ea typeface="Roboto" panose="02000000000000000000" pitchFamily="2" charset="0"/>
                  </a:rPr>
                  <a:t>Poka-Yoke</a:t>
                </a:r>
              </a:p>
            </p:txBody>
          </p:sp>
        </p:grpSp>
        <p:sp>
          <p:nvSpPr>
            <p:cNvPr id="15" name="Rectangle 11">
              <a:extLst>
                <a:ext uri="{FF2B5EF4-FFF2-40B4-BE49-F238E27FC236}">
                  <a16:creationId xmlns:a16="http://schemas.microsoft.com/office/drawing/2014/main" id="{4784B5A8-455A-358B-2CA3-8B6E7C77544D}"/>
                </a:ext>
              </a:extLst>
            </p:cNvPr>
            <p:cNvSpPr>
              <a:spLocks noChangeArrowheads="1"/>
            </p:cNvSpPr>
            <p:nvPr/>
          </p:nvSpPr>
          <p:spPr bwMode="auto">
            <a:xfrm>
              <a:off x="650875" y="2346325"/>
              <a:ext cx="2716213" cy="153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Aft>
                  <a:spcPct val="20000"/>
                </a:spcAft>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A Japanese term meaning, “mistake-proof”</a:t>
              </a:r>
            </a:p>
            <a:p>
              <a:pPr lvl="1" algn="l">
                <a:lnSpc>
                  <a:spcPct val="100000"/>
                </a:lnSpc>
                <a:spcAft>
                  <a:spcPct val="20000"/>
                </a:spcAft>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Inadvertent errors (</a:t>
              </a:r>
              <a:r>
                <a:rPr lang="en-US" altLang="en-US" sz="1600" b="0" dirty="0" err="1">
                  <a:solidFill>
                    <a:schemeClr val="tx1"/>
                  </a:solidFill>
                  <a:latin typeface="Roboto" panose="02000000000000000000" pitchFamily="2" charset="0"/>
                  <a:ea typeface="Roboto" panose="02000000000000000000" pitchFamily="2" charset="0"/>
                </a:rPr>
                <a:t>Poka</a:t>
              </a:r>
              <a:r>
                <a:rPr lang="en-US" altLang="en-US" sz="1600" b="0" dirty="0">
                  <a:solidFill>
                    <a:schemeClr val="tx1"/>
                  </a:solidFill>
                  <a:latin typeface="Roboto" panose="02000000000000000000" pitchFamily="2" charset="0"/>
                  <a:ea typeface="Roboto" panose="02000000000000000000" pitchFamily="2" charset="0"/>
                </a:rPr>
                <a:t>)</a:t>
              </a:r>
            </a:p>
            <a:p>
              <a:pPr lvl="1" algn="l">
                <a:lnSpc>
                  <a:spcPct val="100000"/>
                </a:lnSpc>
                <a:spcAft>
                  <a:spcPct val="20000"/>
                </a:spcAft>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To avoid (</a:t>
              </a:r>
              <a:r>
                <a:rPr lang="en-US" altLang="en-US" sz="1600" b="0" dirty="0" err="1">
                  <a:solidFill>
                    <a:schemeClr val="tx1"/>
                  </a:solidFill>
                  <a:latin typeface="Roboto" panose="02000000000000000000" pitchFamily="2" charset="0"/>
                  <a:ea typeface="Roboto" panose="02000000000000000000" pitchFamily="2" charset="0"/>
                </a:rPr>
                <a:t>yokeru</a:t>
              </a:r>
              <a:r>
                <a:rPr lang="en-US" altLang="en-US" sz="1600" b="0" dirty="0">
                  <a:solidFill>
                    <a:schemeClr val="tx1"/>
                  </a:solidFill>
                  <a:latin typeface="Roboto" panose="02000000000000000000" pitchFamily="2" charset="0"/>
                  <a:ea typeface="Roboto" panose="02000000000000000000" pitchFamily="2" charset="0"/>
                </a:rPr>
                <a:t>)</a:t>
              </a:r>
            </a:p>
            <a:p>
              <a:pPr algn="l" eaLnBrk="1" hangingPunct="1">
                <a:lnSpc>
                  <a:spcPct val="100000"/>
                </a:lnSpc>
                <a:spcAft>
                  <a:spcPct val="20000"/>
                </a:spcAft>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A method of designing processes that will prevent errors</a:t>
              </a:r>
            </a:p>
          </p:txBody>
        </p:sp>
        <p:sp>
          <p:nvSpPr>
            <p:cNvPr id="16" name="Rectangle 12">
              <a:extLst>
                <a:ext uri="{FF2B5EF4-FFF2-40B4-BE49-F238E27FC236}">
                  <a16:creationId xmlns:a16="http://schemas.microsoft.com/office/drawing/2014/main" id="{8CF06C38-3DFC-BFFE-AD99-519002CFE07D}"/>
                </a:ext>
              </a:extLst>
            </p:cNvPr>
            <p:cNvSpPr>
              <a:spLocks noChangeArrowheads="1"/>
            </p:cNvSpPr>
            <p:nvPr/>
          </p:nvSpPr>
          <p:spPr bwMode="auto">
            <a:xfrm>
              <a:off x="3411538" y="2354263"/>
              <a:ext cx="2527300"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20000"/>
                </a:spcBef>
                <a:spcAft>
                  <a:spcPct val="20000"/>
                </a:spcAft>
                <a:buClr>
                  <a:schemeClr val="tx1"/>
                </a:buClr>
                <a:buFont typeface="Arial" panose="020B0604020202020204" pitchFamily="34" charset="0"/>
                <a:buChar char="•"/>
              </a:pPr>
              <a:r>
                <a:rPr lang="en-US" altLang="en-US" sz="1600" b="0" dirty="0">
                  <a:latin typeface="Roboto" panose="02000000000000000000" pitchFamily="2" charset="0"/>
                  <a:ea typeface="Roboto" panose="02000000000000000000" pitchFamily="2" charset="0"/>
                </a:rPr>
                <a:t>Also referred to as “autonomation”, means a method of transferring human intelligence to the process</a:t>
              </a:r>
            </a:p>
            <a:p>
              <a:pPr eaLnBrk="1" hangingPunct="1">
                <a:lnSpc>
                  <a:spcPct val="100000"/>
                </a:lnSpc>
                <a:spcBef>
                  <a:spcPct val="20000"/>
                </a:spcBef>
                <a:spcAft>
                  <a:spcPct val="20000"/>
                </a:spcAft>
                <a:buClr>
                  <a:schemeClr val="tx1"/>
                </a:buClr>
                <a:buFont typeface="Arial" panose="020B0604020202020204" pitchFamily="34" charset="0"/>
                <a:buChar char="•"/>
              </a:pPr>
              <a:r>
                <a:rPr lang="en-US" altLang="en-US" sz="1600" b="0" dirty="0">
                  <a:latin typeface="Roboto" panose="02000000000000000000" pitchFamily="2" charset="0"/>
                  <a:ea typeface="Roboto" panose="02000000000000000000" pitchFamily="2" charset="0"/>
                </a:rPr>
                <a:t>The process detects abnormalities and stops when detected</a:t>
              </a:r>
            </a:p>
          </p:txBody>
        </p:sp>
        <p:sp>
          <p:nvSpPr>
            <p:cNvPr id="17" name="Rectangle 13">
              <a:extLst>
                <a:ext uri="{FF2B5EF4-FFF2-40B4-BE49-F238E27FC236}">
                  <a16:creationId xmlns:a16="http://schemas.microsoft.com/office/drawing/2014/main" id="{E3321DB4-0127-BD99-4DC9-593F0F50C4E9}"/>
                </a:ext>
              </a:extLst>
            </p:cNvPr>
            <p:cNvSpPr>
              <a:spLocks noChangeArrowheads="1"/>
            </p:cNvSpPr>
            <p:nvPr/>
          </p:nvSpPr>
          <p:spPr bwMode="auto">
            <a:xfrm>
              <a:off x="5962650" y="2354263"/>
              <a:ext cx="2759075"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Aft>
                  <a:spcPct val="20000"/>
                </a:spcAft>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Motion detect light switches room enter and exit</a:t>
              </a:r>
            </a:p>
            <a:p>
              <a:pPr algn="l" eaLnBrk="1" hangingPunct="1">
                <a:lnSpc>
                  <a:spcPct val="100000"/>
                </a:lnSpc>
                <a:spcAft>
                  <a:spcPct val="20000"/>
                </a:spcAft>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Car stops when object in path.</a:t>
              </a:r>
            </a:p>
            <a:p>
              <a:pPr algn="l" eaLnBrk="1" hangingPunct="1">
                <a:lnSpc>
                  <a:spcPct val="100000"/>
                </a:lnSpc>
                <a:spcAft>
                  <a:spcPct val="20000"/>
                </a:spcAft>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Auto shut-off irons</a:t>
              </a:r>
            </a:p>
            <a:p>
              <a:pPr algn="l" eaLnBrk="1" hangingPunct="1">
                <a:lnSpc>
                  <a:spcPct val="100000"/>
                </a:lnSpc>
                <a:spcAft>
                  <a:spcPct val="20000"/>
                </a:spcAft>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Automatic sinks in public restrooms</a:t>
              </a:r>
            </a:p>
            <a:p>
              <a:pPr algn="l" eaLnBrk="1" hangingPunct="1">
                <a:lnSpc>
                  <a:spcPct val="100000"/>
                </a:lnSpc>
                <a:spcAft>
                  <a:spcPct val="20000"/>
                </a:spcAft>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Low clearance barriers in parking garage</a:t>
              </a:r>
            </a:p>
          </p:txBody>
        </p:sp>
        <p:sp>
          <p:nvSpPr>
            <p:cNvPr id="18" name="Oval 14">
              <a:extLst>
                <a:ext uri="{FF2B5EF4-FFF2-40B4-BE49-F238E27FC236}">
                  <a16:creationId xmlns:a16="http://schemas.microsoft.com/office/drawing/2014/main" id="{10424D23-D6AE-D70D-D272-DB7ADC7566D8}"/>
                </a:ext>
              </a:extLst>
            </p:cNvPr>
            <p:cNvSpPr>
              <a:spLocks noChangeArrowheads="1"/>
            </p:cNvSpPr>
            <p:nvPr/>
          </p:nvSpPr>
          <p:spPr bwMode="auto">
            <a:xfrm>
              <a:off x="776288" y="1682750"/>
              <a:ext cx="323850" cy="287338"/>
            </a:xfrm>
            <a:prstGeom prst="ellipse">
              <a:avLst/>
            </a:prstGeom>
            <a:solidFill>
              <a:schemeClr val="bg1"/>
            </a:solidFill>
            <a:ln w="19050" cap="sq">
              <a:solidFill>
                <a:srgbClr val="000066"/>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a:solidFill>
                    <a:schemeClr val="tx1"/>
                  </a:solidFill>
                  <a:latin typeface="Roboto" panose="02000000000000000000" pitchFamily="2" charset="0"/>
                  <a:ea typeface="Roboto" panose="02000000000000000000" pitchFamily="2" charset="0"/>
                </a:rPr>
                <a:t>1</a:t>
              </a:r>
            </a:p>
          </p:txBody>
        </p:sp>
        <p:sp>
          <p:nvSpPr>
            <p:cNvPr id="19" name="Oval 15">
              <a:extLst>
                <a:ext uri="{FF2B5EF4-FFF2-40B4-BE49-F238E27FC236}">
                  <a16:creationId xmlns:a16="http://schemas.microsoft.com/office/drawing/2014/main" id="{94E33EDE-8EFA-4D5B-0BA1-785F41683101}"/>
                </a:ext>
              </a:extLst>
            </p:cNvPr>
            <p:cNvSpPr>
              <a:spLocks noChangeArrowheads="1"/>
            </p:cNvSpPr>
            <p:nvPr/>
          </p:nvSpPr>
          <p:spPr bwMode="auto">
            <a:xfrm>
              <a:off x="3448050" y="1690688"/>
              <a:ext cx="323850" cy="287337"/>
            </a:xfrm>
            <a:prstGeom prst="ellipse">
              <a:avLst/>
            </a:prstGeom>
            <a:solidFill>
              <a:schemeClr val="bg1"/>
            </a:solidFill>
            <a:ln w="19050" cap="sq">
              <a:solidFill>
                <a:srgbClr val="000066"/>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dirty="0">
                  <a:solidFill>
                    <a:schemeClr val="tx1"/>
                  </a:solidFill>
                  <a:latin typeface="Roboto" panose="02000000000000000000" pitchFamily="2" charset="0"/>
                  <a:ea typeface="Roboto" panose="02000000000000000000" pitchFamily="2" charset="0"/>
                </a:rPr>
                <a:t>2</a:t>
              </a:r>
            </a:p>
          </p:txBody>
        </p:sp>
        <p:sp>
          <p:nvSpPr>
            <p:cNvPr id="20" name="Oval 16">
              <a:extLst>
                <a:ext uri="{FF2B5EF4-FFF2-40B4-BE49-F238E27FC236}">
                  <a16:creationId xmlns:a16="http://schemas.microsoft.com/office/drawing/2014/main" id="{92B71777-2A2A-C40B-AF33-125E30957E60}"/>
                </a:ext>
              </a:extLst>
            </p:cNvPr>
            <p:cNvSpPr>
              <a:spLocks noChangeArrowheads="1"/>
            </p:cNvSpPr>
            <p:nvPr/>
          </p:nvSpPr>
          <p:spPr bwMode="auto">
            <a:xfrm>
              <a:off x="5970588" y="1679575"/>
              <a:ext cx="323850" cy="287338"/>
            </a:xfrm>
            <a:prstGeom prst="ellipse">
              <a:avLst/>
            </a:prstGeom>
            <a:solidFill>
              <a:schemeClr val="bg1"/>
            </a:solidFill>
            <a:ln w="19050" cap="sq">
              <a:solidFill>
                <a:srgbClr val="000066"/>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dirty="0">
                  <a:solidFill>
                    <a:schemeClr val="tx1"/>
                  </a:solidFill>
                  <a:latin typeface="Roboto" panose="02000000000000000000" pitchFamily="2" charset="0"/>
                  <a:ea typeface="Roboto" panose="02000000000000000000" pitchFamily="2" charset="0"/>
                </a:rPr>
                <a:t>3</a:t>
              </a:r>
            </a:p>
          </p:txBody>
        </p:sp>
      </p:grpSp>
    </p:spTree>
    <p:extLst>
      <p:ext uri="{BB962C8B-B14F-4D97-AF65-F5344CB8AC3E}">
        <p14:creationId xmlns:p14="http://schemas.microsoft.com/office/powerpoint/2010/main" val="22311641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Poka-Yoke Philosophy</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altLang="en-US" dirty="0"/>
              <a:t>Promotes defect prevention vs. defect detection</a:t>
            </a:r>
          </a:p>
          <a:p>
            <a:r>
              <a:rPr lang="en-US" altLang="en-US" dirty="0"/>
              <a:t>Recognizes that people forget and make errors, and machines and processes fail and make errors </a:t>
            </a:r>
          </a:p>
          <a:p>
            <a:r>
              <a:rPr lang="en-US" altLang="en-US" dirty="0"/>
              <a:t>Respects the intelligence of workers by taking the judgment out of repetitive tasks or actions where errors are likely to occur</a:t>
            </a:r>
          </a:p>
          <a:p>
            <a:r>
              <a:rPr lang="en-US" altLang="en-US" dirty="0"/>
              <a:t>Utilizes people working in the process to </a:t>
            </a:r>
            <a:r>
              <a:rPr lang="ja-JP" altLang="en-US" dirty="0"/>
              <a:t>“</a:t>
            </a:r>
            <a:r>
              <a:rPr lang="en-US" altLang="ja-JP" dirty="0"/>
              <a:t>mistake-proof</a:t>
            </a:r>
            <a:r>
              <a:rPr lang="ja-JP" altLang="en-US" dirty="0"/>
              <a:t>”</a:t>
            </a:r>
            <a:r>
              <a:rPr lang="en-US" altLang="ja-JP" dirty="0"/>
              <a:t> the process because they own the process</a:t>
            </a:r>
            <a:endParaRPr lang="en-US" alt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a:t>
            </a:fld>
            <a:endParaRPr lang="en-US"/>
          </a:p>
        </p:txBody>
      </p:sp>
    </p:spTree>
    <p:extLst>
      <p:ext uri="{BB962C8B-B14F-4D97-AF65-F5344CB8AC3E}">
        <p14:creationId xmlns:p14="http://schemas.microsoft.com/office/powerpoint/2010/main" val="8295176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ea typeface="+mj-ea"/>
              </a:rPr>
              <a:t>The Five Elements of Production</a:t>
            </a:r>
            <a:endParaRPr lang="en-US" dirty="0"/>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10</a:t>
            </a:fld>
            <a:endParaRPr lang="en-US"/>
          </a:p>
        </p:txBody>
      </p:sp>
      <p:grpSp>
        <p:nvGrpSpPr>
          <p:cNvPr id="3" name="Group 2">
            <a:extLst>
              <a:ext uri="{FF2B5EF4-FFF2-40B4-BE49-F238E27FC236}">
                <a16:creationId xmlns:a16="http://schemas.microsoft.com/office/drawing/2014/main" id="{180558DE-658D-86E7-8F65-82E23AF1C4E0}"/>
              </a:ext>
            </a:extLst>
          </p:cNvPr>
          <p:cNvGrpSpPr/>
          <p:nvPr/>
        </p:nvGrpSpPr>
        <p:grpSpPr>
          <a:xfrm>
            <a:off x="838200" y="297639"/>
            <a:ext cx="2778942" cy="306433"/>
            <a:chOff x="838200" y="297639"/>
            <a:chExt cx="2778942" cy="306433"/>
          </a:xfrm>
        </p:grpSpPr>
        <p:grpSp>
          <p:nvGrpSpPr>
            <p:cNvPr id="5" name="Group 4">
              <a:extLst>
                <a:ext uri="{FF2B5EF4-FFF2-40B4-BE49-F238E27FC236}">
                  <a16:creationId xmlns:a16="http://schemas.microsoft.com/office/drawing/2014/main" id="{C3F4E980-7FE7-386F-BEBF-A8971B7D8C8A}"/>
                </a:ext>
              </a:extLst>
            </p:cNvPr>
            <p:cNvGrpSpPr/>
            <p:nvPr/>
          </p:nvGrpSpPr>
          <p:grpSpPr>
            <a:xfrm>
              <a:off x="838200" y="297639"/>
              <a:ext cx="1060167" cy="290657"/>
              <a:chOff x="826426" y="4041857"/>
              <a:chExt cx="1060167" cy="290657"/>
            </a:xfrm>
          </p:grpSpPr>
          <p:sp>
            <p:nvSpPr>
              <p:cNvPr id="7" name="AutoShape 9">
                <a:extLst>
                  <a:ext uri="{FF2B5EF4-FFF2-40B4-BE49-F238E27FC236}">
                    <a16:creationId xmlns:a16="http://schemas.microsoft.com/office/drawing/2014/main" id="{FAE99FB2-F1AE-8F39-8883-0D9E08B0250E}"/>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11">
                <a:extLst>
                  <a:ext uri="{FF2B5EF4-FFF2-40B4-BE49-F238E27FC236}">
                    <a16:creationId xmlns:a16="http://schemas.microsoft.com/office/drawing/2014/main" id="{4FE49726-9C96-7AC1-0CDA-AB1110138583}"/>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0">
                <a:extLst>
                  <a:ext uri="{FF2B5EF4-FFF2-40B4-BE49-F238E27FC236}">
                    <a16:creationId xmlns:a16="http://schemas.microsoft.com/office/drawing/2014/main" id="{6052DD42-1535-D208-FEB2-8F32E83C6091}"/>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6" name="TextBox 5">
              <a:extLst>
                <a:ext uri="{FF2B5EF4-FFF2-40B4-BE49-F238E27FC236}">
                  <a16:creationId xmlns:a16="http://schemas.microsoft.com/office/drawing/2014/main" id="{4E2FE4E5-4C9E-E3C0-972F-AD3F0447D007}"/>
                </a:ext>
              </a:extLst>
            </p:cNvPr>
            <p:cNvSpPr txBox="1"/>
            <p:nvPr/>
          </p:nvSpPr>
          <p:spPr>
            <a:xfrm>
              <a:off x="190849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Introduction</a:t>
              </a:r>
            </a:p>
          </p:txBody>
        </p:sp>
      </p:grpSp>
      <p:grpSp>
        <p:nvGrpSpPr>
          <p:cNvPr id="29" name="Group 3">
            <a:extLst>
              <a:ext uri="{FF2B5EF4-FFF2-40B4-BE49-F238E27FC236}">
                <a16:creationId xmlns:a16="http://schemas.microsoft.com/office/drawing/2014/main" id="{05B28619-462F-00C3-8376-43510ADA35C0}"/>
              </a:ext>
            </a:extLst>
          </p:cNvPr>
          <p:cNvGrpSpPr>
            <a:grpSpLocks/>
          </p:cNvGrpSpPr>
          <p:nvPr/>
        </p:nvGrpSpPr>
        <p:grpSpPr bwMode="auto">
          <a:xfrm>
            <a:off x="991553" y="1783429"/>
            <a:ext cx="10208895" cy="4504246"/>
            <a:chOff x="183" y="695"/>
            <a:chExt cx="5386" cy="3853"/>
          </a:xfrm>
        </p:grpSpPr>
        <p:sp useBgFill="1">
          <p:nvSpPr>
            <p:cNvPr id="30" name="Rectangle 4">
              <a:extLst>
                <a:ext uri="{FF2B5EF4-FFF2-40B4-BE49-F238E27FC236}">
                  <a16:creationId xmlns:a16="http://schemas.microsoft.com/office/drawing/2014/main" id="{CFB8CE68-2759-0221-50A6-90BE95D8E5A1}"/>
                </a:ext>
              </a:extLst>
            </p:cNvPr>
            <p:cNvSpPr>
              <a:spLocks noChangeArrowheads="1"/>
            </p:cNvSpPr>
            <p:nvPr/>
          </p:nvSpPr>
          <p:spPr bwMode="auto">
            <a:xfrm>
              <a:off x="183" y="2372"/>
              <a:ext cx="1586" cy="867"/>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800">
                  <a:latin typeface="Roboto" panose="02000000000000000000" pitchFamily="2" charset="0"/>
                  <a:ea typeface="Roboto" panose="02000000000000000000" pitchFamily="2" charset="0"/>
                </a:rPr>
                <a:t>5. INFORMATION</a:t>
              </a:r>
              <a:endParaRPr lang="en-US" altLang="en-US" sz="1600" b="0">
                <a:latin typeface="Roboto" panose="02000000000000000000" pitchFamily="2" charset="0"/>
                <a:ea typeface="Roboto" panose="02000000000000000000" pitchFamily="2" charset="0"/>
              </a:endParaRPr>
            </a:p>
            <a:p>
              <a:pPr>
                <a:lnSpc>
                  <a:spcPct val="100000"/>
                </a:lnSpc>
                <a:spcBef>
                  <a:spcPct val="0"/>
                </a:spcBef>
                <a:spcAft>
                  <a:spcPct val="0"/>
                </a:spcAft>
                <a:buClrTx/>
                <a:buSzTx/>
                <a:buFontTx/>
                <a:buNone/>
              </a:pPr>
              <a:r>
                <a:rPr lang="en-US" altLang="en-US" sz="1400" b="0">
                  <a:latin typeface="Roboto" panose="02000000000000000000" pitchFamily="2" charset="0"/>
                  <a:ea typeface="Roboto" panose="02000000000000000000" pitchFamily="2" charset="0"/>
                </a:rPr>
                <a:t>Control: Visual controls (e.g.: instruction sheets, kanban)</a:t>
              </a:r>
            </a:p>
          </p:txBody>
        </p:sp>
        <p:grpSp>
          <p:nvGrpSpPr>
            <p:cNvPr id="31" name="Group 5">
              <a:extLst>
                <a:ext uri="{FF2B5EF4-FFF2-40B4-BE49-F238E27FC236}">
                  <a16:creationId xmlns:a16="http://schemas.microsoft.com/office/drawing/2014/main" id="{57D5D22B-9664-59BA-CB36-1EABF8E3000B}"/>
                </a:ext>
              </a:extLst>
            </p:cNvPr>
            <p:cNvGrpSpPr>
              <a:grpSpLocks/>
            </p:cNvGrpSpPr>
            <p:nvPr/>
          </p:nvGrpSpPr>
          <p:grpSpPr bwMode="auto">
            <a:xfrm>
              <a:off x="3670" y="1002"/>
              <a:ext cx="1323" cy="2497"/>
              <a:chOff x="3670" y="1002"/>
              <a:chExt cx="1323" cy="2497"/>
            </a:xfrm>
          </p:grpSpPr>
          <p:grpSp>
            <p:nvGrpSpPr>
              <p:cNvPr id="308" name="Group 6">
                <a:extLst>
                  <a:ext uri="{FF2B5EF4-FFF2-40B4-BE49-F238E27FC236}">
                    <a16:creationId xmlns:a16="http://schemas.microsoft.com/office/drawing/2014/main" id="{D0501D31-CFE3-10BD-45E7-047D5F7918DC}"/>
                  </a:ext>
                </a:extLst>
              </p:cNvPr>
              <p:cNvGrpSpPr>
                <a:grpSpLocks/>
              </p:cNvGrpSpPr>
              <p:nvPr/>
            </p:nvGrpSpPr>
            <p:grpSpPr bwMode="auto">
              <a:xfrm>
                <a:off x="3670" y="1002"/>
                <a:ext cx="1323" cy="2497"/>
                <a:chOff x="3670" y="1002"/>
                <a:chExt cx="1323" cy="2497"/>
              </a:xfrm>
            </p:grpSpPr>
            <p:sp>
              <p:nvSpPr>
                <p:cNvPr id="310" name="Rectangle 7">
                  <a:extLst>
                    <a:ext uri="{FF2B5EF4-FFF2-40B4-BE49-F238E27FC236}">
                      <a16:creationId xmlns:a16="http://schemas.microsoft.com/office/drawing/2014/main" id="{CB91B10A-615D-5B9D-F139-187B5A4F64CA}"/>
                    </a:ext>
                  </a:extLst>
                </p:cNvPr>
                <p:cNvSpPr>
                  <a:spLocks noChangeArrowheads="1"/>
                </p:cNvSpPr>
                <p:nvPr/>
              </p:nvSpPr>
              <p:spPr bwMode="auto">
                <a:xfrm>
                  <a:off x="3670" y="1004"/>
                  <a:ext cx="1028" cy="240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11" name="Rectangle 8">
                  <a:extLst>
                    <a:ext uri="{FF2B5EF4-FFF2-40B4-BE49-F238E27FC236}">
                      <a16:creationId xmlns:a16="http://schemas.microsoft.com/office/drawing/2014/main" id="{01166002-AB49-89F3-BAA3-297B2184503F}"/>
                    </a:ext>
                  </a:extLst>
                </p:cNvPr>
                <p:cNvSpPr>
                  <a:spLocks noChangeArrowheads="1"/>
                </p:cNvSpPr>
                <p:nvPr/>
              </p:nvSpPr>
              <p:spPr bwMode="auto">
                <a:xfrm>
                  <a:off x="3670" y="1002"/>
                  <a:ext cx="1030" cy="241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12" name="Rectangle 9">
                  <a:extLst>
                    <a:ext uri="{FF2B5EF4-FFF2-40B4-BE49-F238E27FC236}">
                      <a16:creationId xmlns:a16="http://schemas.microsoft.com/office/drawing/2014/main" id="{59851846-5459-42AF-6B7A-0AFC81D088EA}"/>
                    </a:ext>
                  </a:extLst>
                </p:cNvPr>
                <p:cNvSpPr>
                  <a:spLocks noChangeArrowheads="1"/>
                </p:cNvSpPr>
                <p:nvPr/>
              </p:nvSpPr>
              <p:spPr bwMode="auto">
                <a:xfrm>
                  <a:off x="4793" y="1004"/>
                  <a:ext cx="198" cy="240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13" name="Rectangle 10">
                  <a:extLst>
                    <a:ext uri="{FF2B5EF4-FFF2-40B4-BE49-F238E27FC236}">
                      <a16:creationId xmlns:a16="http://schemas.microsoft.com/office/drawing/2014/main" id="{E290A0C7-FD7B-ACDB-DA93-F9DB19750B38}"/>
                    </a:ext>
                  </a:extLst>
                </p:cNvPr>
                <p:cNvSpPr>
                  <a:spLocks noChangeArrowheads="1"/>
                </p:cNvSpPr>
                <p:nvPr/>
              </p:nvSpPr>
              <p:spPr bwMode="auto">
                <a:xfrm>
                  <a:off x="4793" y="1002"/>
                  <a:ext cx="199" cy="241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14" name="Line 11">
                  <a:extLst>
                    <a:ext uri="{FF2B5EF4-FFF2-40B4-BE49-F238E27FC236}">
                      <a16:creationId xmlns:a16="http://schemas.microsoft.com/office/drawing/2014/main" id="{E44CFC0E-0174-42FE-24CE-11FC3DEFB7C4}"/>
                    </a:ext>
                  </a:extLst>
                </p:cNvPr>
                <p:cNvSpPr>
                  <a:spLocks noChangeShapeType="1"/>
                </p:cNvSpPr>
                <p:nvPr/>
              </p:nvSpPr>
              <p:spPr bwMode="auto">
                <a:xfrm>
                  <a:off x="4692" y="1002"/>
                  <a:ext cx="10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15" name="Line 12">
                  <a:extLst>
                    <a:ext uri="{FF2B5EF4-FFF2-40B4-BE49-F238E27FC236}">
                      <a16:creationId xmlns:a16="http://schemas.microsoft.com/office/drawing/2014/main" id="{A83C41DD-0592-76DA-76B9-F6EFA0E1A565}"/>
                    </a:ext>
                  </a:extLst>
                </p:cNvPr>
                <p:cNvSpPr>
                  <a:spLocks noChangeShapeType="1"/>
                </p:cNvSpPr>
                <p:nvPr/>
              </p:nvSpPr>
              <p:spPr bwMode="auto">
                <a:xfrm>
                  <a:off x="4698" y="3422"/>
                  <a:ext cx="93"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16" name="Freeform 13">
                  <a:extLst>
                    <a:ext uri="{FF2B5EF4-FFF2-40B4-BE49-F238E27FC236}">
                      <a16:creationId xmlns:a16="http://schemas.microsoft.com/office/drawing/2014/main" id="{978A723A-0786-FB69-A0BA-8706261498DB}"/>
                    </a:ext>
                  </a:extLst>
                </p:cNvPr>
                <p:cNvSpPr>
                  <a:spLocks/>
                </p:cNvSpPr>
                <p:nvPr/>
              </p:nvSpPr>
              <p:spPr bwMode="auto">
                <a:xfrm>
                  <a:off x="3714" y="3417"/>
                  <a:ext cx="1277" cy="82"/>
                </a:xfrm>
                <a:custGeom>
                  <a:avLst/>
                  <a:gdLst>
                    <a:gd name="T0" fmla="*/ 0 w 1277"/>
                    <a:gd name="T1" fmla="*/ 0 h 82"/>
                    <a:gd name="T2" fmla="*/ 0 w 1277"/>
                    <a:gd name="T3" fmla="*/ 81 h 82"/>
                    <a:gd name="T4" fmla="*/ 1128 w 1277"/>
                    <a:gd name="T5" fmla="*/ 81 h 82"/>
                    <a:gd name="T6" fmla="*/ 1276 w 1277"/>
                    <a:gd name="T7" fmla="*/ 4 h 82"/>
                    <a:gd name="T8" fmla="*/ 0 w 1277"/>
                    <a:gd name="T9" fmla="*/ 0 h 8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77" h="82">
                      <a:moveTo>
                        <a:pt x="0" y="0"/>
                      </a:moveTo>
                      <a:lnTo>
                        <a:pt x="0" y="81"/>
                      </a:lnTo>
                      <a:lnTo>
                        <a:pt x="1128" y="81"/>
                      </a:lnTo>
                      <a:lnTo>
                        <a:pt x="1276" y="4"/>
                      </a:lnTo>
                      <a:lnTo>
                        <a:pt x="0" y="0"/>
                      </a:lnTo>
                    </a:path>
                  </a:pathLst>
                </a:custGeom>
                <a:solidFill>
                  <a:srgbClr val="000000"/>
                </a:solidFill>
                <a:ln w="12700" cap="rnd" cmpd="sng">
                  <a:solidFill>
                    <a:srgbClr val="000000"/>
                  </a:solidFill>
                  <a:prstDash val="solid"/>
                  <a:round/>
                  <a:headEnd type="none" w="med" len="med"/>
                  <a:tailEnd type="none" w="med" len="med"/>
                </a:ln>
              </p:spPr>
              <p:txBody>
                <a:bodyPr/>
                <a:lstStyle/>
                <a:p>
                  <a:endParaRPr lang="en-US">
                    <a:latin typeface="Roboto" panose="02000000000000000000" pitchFamily="2" charset="0"/>
                    <a:ea typeface="Roboto" panose="02000000000000000000" pitchFamily="2" charset="0"/>
                  </a:endParaRPr>
                </a:p>
              </p:txBody>
            </p:sp>
            <p:sp>
              <p:nvSpPr>
                <p:cNvPr id="317" name="Freeform 14">
                  <a:extLst>
                    <a:ext uri="{FF2B5EF4-FFF2-40B4-BE49-F238E27FC236}">
                      <a16:creationId xmlns:a16="http://schemas.microsoft.com/office/drawing/2014/main" id="{7E8B973F-552E-1A17-E537-985891B61A03}"/>
                    </a:ext>
                  </a:extLst>
                </p:cNvPr>
                <p:cNvSpPr>
                  <a:spLocks/>
                </p:cNvSpPr>
                <p:nvPr/>
              </p:nvSpPr>
              <p:spPr bwMode="auto">
                <a:xfrm>
                  <a:off x="3709" y="3412"/>
                  <a:ext cx="1278" cy="82"/>
                </a:xfrm>
                <a:custGeom>
                  <a:avLst/>
                  <a:gdLst>
                    <a:gd name="T0" fmla="*/ 0 w 1278"/>
                    <a:gd name="T1" fmla="*/ 0 h 82"/>
                    <a:gd name="T2" fmla="*/ 0 w 1278"/>
                    <a:gd name="T3" fmla="*/ 81 h 82"/>
                    <a:gd name="T4" fmla="*/ 1128 w 1278"/>
                    <a:gd name="T5" fmla="*/ 81 h 82"/>
                    <a:gd name="T6" fmla="*/ 1277 w 1278"/>
                    <a:gd name="T7" fmla="*/ 5 h 8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78" h="82">
                      <a:moveTo>
                        <a:pt x="0" y="0"/>
                      </a:moveTo>
                      <a:lnTo>
                        <a:pt x="0" y="81"/>
                      </a:lnTo>
                      <a:lnTo>
                        <a:pt x="1128" y="81"/>
                      </a:lnTo>
                      <a:lnTo>
                        <a:pt x="1277" y="5"/>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318" name="Rectangle 15">
                  <a:extLst>
                    <a:ext uri="{FF2B5EF4-FFF2-40B4-BE49-F238E27FC236}">
                      <a16:creationId xmlns:a16="http://schemas.microsoft.com/office/drawing/2014/main" id="{FD52DBFD-4225-EDBD-D9C2-7342D00BFBA1}"/>
                    </a:ext>
                  </a:extLst>
                </p:cNvPr>
                <p:cNvSpPr>
                  <a:spLocks noChangeArrowheads="1"/>
                </p:cNvSpPr>
                <p:nvPr/>
              </p:nvSpPr>
              <p:spPr bwMode="auto">
                <a:xfrm>
                  <a:off x="4813" y="3281"/>
                  <a:ext cx="53" cy="9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19" name="Rectangle 16">
                  <a:extLst>
                    <a:ext uri="{FF2B5EF4-FFF2-40B4-BE49-F238E27FC236}">
                      <a16:creationId xmlns:a16="http://schemas.microsoft.com/office/drawing/2014/main" id="{7E674A42-D4EA-AFA5-00E3-C08FFE11FF18}"/>
                    </a:ext>
                  </a:extLst>
                </p:cNvPr>
                <p:cNvSpPr>
                  <a:spLocks noChangeArrowheads="1"/>
                </p:cNvSpPr>
                <p:nvPr/>
              </p:nvSpPr>
              <p:spPr bwMode="auto">
                <a:xfrm>
                  <a:off x="4812" y="3281"/>
                  <a:ext cx="56" cy="9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20" name="Line 17">
                  <a:extLst>
                    <a:ext uri="{FF2B5EF4-FFF2-40B4-BE49-F238E27FC236}">
                      <a16:creationId xmlns:a16="http://schemas.microsoft.com/office/drawing/2014/main" id="{83C08635-966F-293A-8D04-A3F984CA69E4}"/>
                    </a:ext>
                  </a:extLst>
                </p:cNvPr>
                <p:cNvSpPr>
                  <a:spLocks noChangeShapeType="1"/>
                </p:cNvSpPr>
                <p:nvPr/>
              </p:nvSpPr>
              <p:spPr bwMode="auto">
                <a:xfrm>
                  <a:off x="4885" y="3291"/>
                  <a:ext cx="74"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21" name="Line 18">
                  <a:extLst>
                    <a:ext uri="{FF2B5EF4-FFF2-40B4-BE49-F238E27FC236}">
                      <a16:creationId xmlns:a16="http://schemas.microsoft.com/office/drawing/2014/main" id="{D674DD79-3F57-5388-10C1-598D101EB547}"/>
                    </a:ext>
                  </a:extLst>
                </p:cNvPr>
                <p:cNvSpPr>
                  <a:spLocks noChangeShapeType="1"/>
                </p:cNvSpPr>
                <p:nvPr/>
              </p:nvSpPr>
              <p:spPr bwMode="auto">
                <a:xfrm>
                  <a:off x="4894" y="3315"/>
                  <a:ext cx="73"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22" name="Line 19">
                  <a:extLst>
                    <a:ext uri="{FF2B5EF4-FFF2-40B4-BE49-F238E27FC236}">
                      <a16:creationId xmlns:a16="http://schemas.microsoft.com/office/drawing/2014/main" id="{8E701F14-D587-724B-CACE-8F518C9E4FA7}"/>
                    </a:ext>
                  </a:extLst>
                </p:cNvPr>
                <p:cNvSpPr>
                  <a:spLocks noChangeShapeType="1"/>
                </p:cNvSpPr>
                <p:nvPr/>
              </p:nvSpPr>
              <p:spPr bwMode="auto">
                <a:xfrm>
                  <a:off x="4885" y="3339"/>
                  <a:ext cx="74"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23" name="Line 20">
                  <a:extLst>
                    <a:ext uri="{FF2B5EF4-FFF2-40B4-BE49-F238E27FC236}">
                      <a16:creationId xmlns:a16="http://schemas.microsoft.com/office/drawing/2014/main" id="{EFE247A5-EB66-56F9-5A7D-E115E642706D}"/>
                    </a:ext>
                  </a:extLst>
                </p:cNvPr>
                <p:cNvSpPr>
                  <a:spLocks noChangeShapeType="1"/>
                </p:cNvSpPr>
                <p:nvPr/>
              </p:nvSpPr>
              <p:spPr bwMode="auto">
                <a:xfrm>
                  <a:off x="4885" y="3358"/>
                  <a:ext cx="74"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24" name="Rectangle 21">
                  <a:extLst>
                    <a:ext uri="{FF2B5EF4-FFF2-40B4-BE49-F238E27FC236}">
                      <a16:creationId xmlns:a16="http://schemas.microsoft.com/office/drawing/2014/main" id="{C998CA6F-0D8B-CB8D-B71A-D300813A8D4B}"/>
                    </a:ext>
                  </a:extLst>
                </p:cNvPr>
                <p:cNvSpPr>
                  <a:spLocks noChangeArrowheads="1"/>
                </p:cNvSpPr>
                <p:nvPr/>
              </p:nvSpPr>
              <p:spPr bwMode="auto">
                <a:xfrm>
                  <a:off x="3948" y="1664"/>
                  <a:ext cx="622" cy="162"/>
                </a:xfrm>
                <a:prstGeom prst="rect">
                  <a:avLst/>
                </a:prstGeom>
                <a:solidFill>
                  <a:srgbClr val="FFFFFF"/>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25" name="Rectangle 22">
                  <a:extLst>
                    <a:ext uri="{FF2B5EF4-FFF2-40B4-BE49-F238E27FC236}">
                      <a16:creationId xmlns:a16="http://schemas.microsoft.com/office/drawing/2014/main" id="{7420EB93-88B1-4EF7-E3D1-BF404CD2E672}"/>
                    </a:ext>
                  </a:extLst>
                </p:cNvPr>
                <p:cNvSpPr>
                  <a:spLocks noChangeArrowheads="1"/>
                </p:cNvSpPr>
                <p:nvPr/>
              </p:nvSpPr>
              <p:spPr bwMode="auto">
                <a:xfrm>
                  <a:off x="3890" y="1194"/>
                  <a:ext cx="679" cy="358"/>
                </a:xfrm>
                <a:prstGeom prst="rect">
                  <a:avLst/>
                </a:prstGeom>
                <a:solidFill>
                  <a:srgbClr val="FFFFFF"/>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26" name="AutoShape 23">
                  <a:extLst>
                    <a:ext uri="{FF2B5EF4-FFF2-40B4-BE49-F238E27FC236}">
                      <a16:creationId xmlns:a16="http://schemas.microsoft.com/office/drawing/2014/main" id="{C0D5CA46-37CA-52FB-D583-2340D66FDA96}"/>
                    </a:ext>
                  </a:extLst>
                </p:cNvPr>
                <p:cNvSpPr>
                  <a:spLocks noChangeArrowheads="1"/>
                </p:cNvSpPr>
                <p:nvPr/>
              </p:nvSpPr>
              <p:spPr bwMode="auto">
                <a:xfrm>
                  <a:off x="3934" y="1232"/>
                  <a:ext cx="248" cy="152"/>
                </a:xfrm>
                <a:prstGeom prst="roundRect">
                  <a:avLst>
                    <a:gd name="adj" fmla="val 38685"/>
                  </a:avLst>
                </a:prstGeom>
                <a:blipFill dpi="0" rotWithShape="0">
                  <a:blip r:embed="rId3"/>
                  <a:srcRect/>
                  <a:tile tx="0" ty="0" sx="100000" sy="100000" flip="none" algn="tl"/>
                </a:blip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27" name="Line 24">
                  <a:extLst>
                    <a:ext uri="{FF2B5EF4-FFF2-40B4-BE49-F238E27FC236}">
                      <a16:creationId xmlns:a16="http://schemas.microsoft.com/office/drawing/2014/main" id="{4713F5B3-22A1-B37A-0D76-D5148D20E990}"/>
                    </a:ext>
                  </a:extLst>
                </p:cNvPr>
                <p:cNvSpPr>
                  <a:spLocks noChangeShapeType="1"/>
                </p:cNvSpPr>
                <p:nvPr/>
              </p:nvSpPr>
              <p:spPr bwMode="auto">
                <a:xfrm>
                  <a:off x="3891" y="1419"/>
                  <a:ext cx="67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28" name="Line 25">
                  <a:extLst>
                    <a:ext uri="{FF2B5EF4-FFF2-40B4-BE49-F238E27FC236}">
                      <a16:creationId xmlns:a16="http://schemas.microsoft.com/office/drawing/2014/main" id="{14B4A86F-1D51-85F5-99AE-50D41A87612E}"/>
                    </a:ext>
                  </a:extLst>
                </p:cNvPr>
                <p:cNvSpPr>
                  <a:spLocks noChangeShapeType="1"/>
                </p:cNvSpPr>
                <p:nvPr/>
              </p:nvSpPr>
              <p:spPr bwMode="auto">
                <a:xfrm>
                  <a:off x="3891" y="1439"/>
                  <a:ext cx="67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29" name="Oval 26">
                  <a:extLst>
                    <a:ext uri="{FF2B5EF4-FFF2-40B4-BE49-F238E27FC236}">
                      <a16:creationId xmlns:a16="http://schemas.microsoft.com/office/drawing/2014/main" id="{0D0CDFBD-AE88-1251-87AC-D13458AF6E41}"/>
                    </a:ext>
                  </a:extLst>
                </p:cNvPr>
                <p:cNvSpPr>
                  <a:spLocks noChangeArrowheads="1"/>
                </p:cNvSpPr>
                <p:nvPr/>
              </p:nvSpPr>
              <p:spPr bwMode="auto">
                <a:xfrm>
                  <a:off x="4150" y="1477"/>
                  <a:ext cx="32" cy="32"/>
                </a:xfrm>
                <a:prstGeom prst="ellipse">
                  <a:avLst/>
                </a:prstGeom>
                <a:blipFill dpi="0" rotWithShape="0">
                  <a:blip r:embed="rId4"/>
                  <a:srcRect/>
                  <a:tile tx="0" ty="0" sx="100000" sy="100000" flip="none" algn="tl"/>
                </a:blip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30" name="Oval 27">
                  <a:extLst>
                    <a:ext uri="{FF2B5EF4-FFF2-40B4-BE49-F238E27FC236}">
                      <a16:creationId xmlns:a16="http://schemas.microsoft.com/office/drawing/2014/main" id="{2FFC757C-F203-790E-0CDF-FAF9A89863AD}"/>
                    </a:ext>
                  </a:extLst>
                </p:cNvPr>
                <p:cNvSpPr>
                  <a:spLocks noChangeArrowheads="1"/>
                </p:cNvSpPr>
                <p:nvPr/>
              </p:nvSpPr>
              <p:spPr bwMode="auto">
                <a:xfrm>
                  <a:off x="4202" y="1477"/>
                  <a:ext cx="31" cy="32"/>
                </a:xfrm>
                <a:prstGeom prst="ellipse">
                  <a:avLst/>
                </a:prstGeom>
                <a:blipFill dpi="0" rotWithShape="0">
                  <a:blip r:embed="rId4"/>
                  <a:srcRect/>
                  <a:tile tx="0" ty="0" sx="100000" sy="100000" flip="none" algn="tl"/>
                </a:blip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31" name="Oval 28">
                  <a:extLst>
                    <a:ext uri="{FF2B5EF4-FFF2-40B4-BE49-F238E27FC236}">
                      <a16:creationId xmlns:a16="http://schemas.microsoft.com/office/drawing/2014/main" id="{A50AF5C8-7986-BF2D-F8F9-72AF1F71FDC7}"/>
                    </a:ext>
                  </a:extLst>
                </p:cNvPr>
                <p:cNvSpPr>
                  <a:spLocks noChangeArrowheads="1"/>
                </p:cNvSpPr>
                <p:nvPr/>
              </p:nvSpPr>
              <p:spPr bwMode="auto">
                <a:xfrm>
                  <a:off x="4260" y="1477"/>
                  <a:ext cx="31" cy="32"/>
                </a:xfrm>
                <a:prstGeom prst="ellipse">
                  <a:avLst/>
                </a:prstGeom>
                <a:blipFill dpi="0" rotWithShape="0">
                  <a:blip r:embed="rId4"/>
                  <a:srcRect/>
                  <a:tile tx="0" ty="0" sx="100000" sy="100000" flip="none" algn="tl"/>
                </a:blip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32" name="Oval 29">
                  <a:extLst>
                    <a:ext uri="{FF2B5EF4-FFF2-40B4-BE49-F238E27FC236}">
                      <a16:creationId xmlns:a16="http://schemas.microsoft.com/office/drawing/2014/main" id="{D5E8CA40-776B-614C-2E96-D23995376E67}"/>
                    </a:ext>
                  </a:extLst>
                </p:cNvPr>
                <p:cNvSpPr>
                  <a:spLocks noChangeArrowheads="1"/>
                </p:cNvSpPr>
                <p:nvPr/>
              </p:nvSpPr>
              <p:spPr bwMode="auto">
                <a:xfrm>
                  <a:off x="4313" y="1477"/>
                  <a:ext cx="31" cy="32"/>
                </a:xfrm>
                <a:prstGeom prst="ellipse">
                  <a:avLst/>
                </a:prstGeom>
                <a:blipFill dpi="0" rotWithShape="0">
                  <a:blip r:embed="rId4"/>
                  <a:srcRect/>
                  <a:tile tx="0" ty="0" sx="100000" sy="100000" flip="none" algn="tl"/>
                </a:blip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33" name="Oval 30">
                  <a:extLst>
                    <a:ext uri="{FF2B5EF4-FFF2-40B4-BE49-F238E27FC236}">
                      <a16:creationId xmlns:a16="http://schemas.microsoft.com/office/drawing/2014/main" id="{0891E1FB-57FB-1E1C-6906-D0AA21CE78CE}"/>
                    </a:ext>
                  </a:extLst>
                </p:cNvPr>
                <p:cNvSpPr>
                  <a:spLocks noChangeArrowheads="1"/>
                </p:cNvSpPr>
                <p:nvPr/>
              </p:nvSpPr>
              <p:spPr bwMode="auto">
                <a:xfrm>
                  <a:off x="4370" y="1477"/>
                  <a:ext cx="31" cy="32"/>
                </a:xfrm>
                <a:prstGeom prst="ellipse">
                  <a:avLst/>
                </a:prstGeom>
                <a:blipFill dpi="0" rotWithShape="0">
                  <a:blip r:embed="rId4"/>
                  <a:srcRect/>
                  <a:tile tx="0" ty="0" sx="100000" sy="100000" flip="none" algn="tl"/>
                </a:blip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nvGrpSpPr>
                <p:cNvPr id="334" name="Group 31">
                  <a:extLst>
                    <a:ext uri="{FF2B5EF4-FFF2-40B4-BE49-F238E27FC236}">
                      <a16:creationId xmlns:a16="http://schemas.microsoft.com/office/drawing/2014/main" id="{B640E219-B57A-227D-CECA-BD5B51982A89}"/>
                    </a:ext>
                  </a:extLst>
                </p:cNvPr>
                <p:cNvGrpSpPr>
                  <a:grpSpLocks/>
                </p:cNvGrpSpPr>
                <p:nvPr/>
              </p:nvGrpSpPr>
              <p:grpSpPr bwMode="auto">
                <a:xfrm>
                  <a:off x="4476" y="1453"/>
                  <a:ext cx="27" cy="27"/>
                  <a:chOff x="4476" y="1453"/>
                  <a:chExt cx="27" cy="27"/>
                </a:xfrm>
              </p:grpSpPr>
              <p:sp>
                <p:nvSpPr>
                  <p:cNvPr id="389" name="Rectangle 32">
                    <a:extLst>
                      <a:ext uri="{FF2B5EF4-FFF2-40B4-BE49-F238E27FC236}">
                        <a16:creationId xmlns:a16="http://schemas.microsoft.com/office/drawing/2014/main" id="{BD5D4876-00D0-8711-AA32-9DC238AB9074}"/>
                      </a:ext>
                    </a:extLst>
                  </p:cNvPr>
                  <p:cNvSpPr>
                    <a:spLocks noChangeArrowheads="1"/>
                  </p:cNvSpPr>
                  <p:nvPr/>
                </p:nvSpPr>
                <p:spPr bwMode="auto">
                  <a:xfrm>
                    <a:off x="4480" y="1453"/>
                    <a:ext cx="22" cy="22"/>
                  </a:xfrm>
                  <a:prstGeom prst="rect">
                    <a:avLst/>
                  </a:prstGeom>
                  <a:solidFill>
                    <a:srgbClr val="000000"/>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90" name="Rectangle 33">
                    <a:extLst>
                      <a:ext uri="{FF2B5EF4-FFF2-40B4-BE49-F238E27FC236}">
                        <a16:creationId xmlns:a16="http://schemas.microsoft.com/office/drawing/2014/main" id="{7D56690A-F41F-6524-ECE3-227E5C04863E}"/>
                      </a:ext>
                    </a:extLst>
                  </p:cNvPr>
                  <p:cNvSpPr>
                    <a:spLocks noChangeArrowheads="1"/>
                  </p:cNvSpPr>
                  <p:nvPr/>
                </p:nvSpPr>
                <p:spPr bwMode="auto">
                  <a:xfrm>
                    <a:off x="4476" y="1458"/>
                    <a:ext cx="17" cy="22"/>
                  </a:xfrm>
                  <a:prstGeom prst="rect">
                    <a:avLst/>
                  </a:prstGeom>
                  <a:solidFill>
                    <a:srgbClr val="FFFFFF"/>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335" name="Group 34">
                  <a:extLst>
                    <a:ext uri="{FF2B5EF4-FFF2-40B4-BE49-F238E27FC236}">
                      <a16:creationId xmlns:a16="http://schemas.microsoft.com/office/drawing/2014/main" id="{463227C1-4B6F-0660-10A5-4BF8839D65A2}"/>
                    </a:ext>
                  </a:extLst>
                </p:cNvPr>
                <p:cNvGrpSpPr>
                  <a:grpSpLocks/>
                </p:cNvGrpSpPr>
                <p:nvPr/>
              </p:nvGrpSpPr>
              <p:grpSpPr bwMode="auto">
                <a:xfrm>
                  <a:off x="4476" y="1506"/>
                  <a:ext cx="27" cy="27"/>
                  <a:chOff x="4476" y="1506"/>
                  <a:chExt cx="27" cy="27"/>
                </a:xfrm>
              </p:grpSpPr>
              <p:sp>
                <p:nvSpPr>
                  <p:cNvPr id="387" name="Rectangle 35">
                    <a:extLst>
                      <a:ext uri="{FF2B5EF4-FFF2-40B4-BE49-F238E27FC236}">
                        <a16:creationId xmlns:a16="http://schemas.microsoft.com/office/drawing/2014/main" id="{E72D90A8-FCF3-8057-6A96-707228D713CF}"/>
                      </a:ext>
                    </a:extLst>
                  </p:cNvPr>
                  <p:cNvSpPr>
                    <a:spLocks noChangeArrowheads="1"/>
                  </p:cNvSpPr>
                  <p:nvPr/>
                </p:nvSpPr>
                <p:spPr bwMode="auto">
                  <a:xfrm>
                    <a:off x="4480" y="1506"/>
                    <a:ext cx="22" cy="22"/>
                  </a:xfrm>
                  <a:prstGeom prst="rect">
                    <a:avLst/>
                  </a:prstGeom>
                  <a:solidFill>
                    <a:srgbClr val="000000"/>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88" name="Rectangle 36">
                    <a:extLst>
                      <a:ext uri="{FF2B5EF4-FFF2-40B4-BE49-F238E27FC236}">
                        <a16:creationId xmlns:a16="http://schemas.microsoft.com/office/drawing/2014/main" id="{5C5E0FDB-3C27-8B08-F069-35B38EF6A294}"/>
                      </a:ext>
                    </a:extLst>
                  </p:cNvPr>
                  <p:cNvSpPr>
                    <a:spLocks noChangeArrowheads="1"/>
                  </p:cNvSpPr>
                  <p:nvPr/>
                </p:nvSpPr>
                <p:spPr bwMode="auto">
                  <a:xfrm>
                    <a:off x="4476" y="1511"/>
                    <a:ext cx="17" cy="22"/>
                  </a:xfrm>
                  <a:prstGeom prst="rect">
                    <a:avLst/>
                  </a:prstGeom>
                  <a:solidFill>
                    <a:srgbClr val="FFFFFF"/>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336" name="Group 37">
                  <a:extLst>
                    <a:ext uri="{FF2B5EF4-FFF2-40B4-BE49-F238E27FC236}">
                      <a16:creationId xmlns:a16="http://schemas.microsoft.com/office/drawing/2014/main" id="{E5A55F1A-A561-9F70-5B0B-5436704583B3}"/>
                    </a:ext>
                  </a:extLst>
                </p:cNvPr>
                <p:cNvGrpSpPr>
                  <a:grpSpLocks/>
                </p:cNvGrpSpPr>
                <p:nvPr/>
              </p:nvGrpSpPr>
              <p:grpSpPr bwMode="auto">
                <a:xfrm>
                  <a:off x="3986" y="1458"/>
                  <a:ext cx="23" cy="27"/>
                  <a:chOff x="3986" y="1458"/>
                  <a:chExt cx="23" cy="27"/>
                </a:xfrm>
              </p:grpSpPr>
              <p:sp>
                <p:nvSpPr>
                  <p:cNvPr id="385" name="Rectangle 38">
                    <a:extLst>
                      <a:ext uri="{FF2B5EF4-FFF2-40B4-BE49-F238E27FC236}">
                        <a16:creationId xmlns:a16="http://schemas.microsoft.com/office/drawing/2014/main" id="{1F965A72-62CE-63B2-E965-329F8A3B3D94}"/>
                      </a:ext>
                    </a:extLst>
                  </p:cNvPr>
                  <p:cNvSpPr>
                    <a:spLocks noChangeArrowheads="1"/>
                  </p:cNvSpPr>
                  <p:nvPr/>
                </p:nvSpPr>
                <p:spPr bwMode="auto">
                  <a:xfrm>
                    <a:off x="3991" y="1458"/>
                    <a:ext cx="17" cy="22"/>
                  </a:xfrm>
                  <a:prstGeom prst="rect">
                    <a:avLst/>
                  </a:prstGeom>
                  <a:solidFill>
                    <a:srgbClr val="000000"/>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86" name="Rectangle 39">
                    <a:extLst>
                      <a:ext uri="{FF2B5EF4-FFF2-40B4-BE49-F238E27FC236}">
                        <a16:creationId xmlns:a16="http://schemas.microsoft.com/office/drawing/2014/main" id="{13BBCD97-0288-B33A-D984-7657C1D05C2D}"/>
                      </a:ext>
                    </a:extLst>
                  </p:cNvPr>
                  <p:cNvSpPr>
                    <a:spLocks noChangeArrowheads="1"/>
                  </p:cNvSpPr>
                  <p:nvPr/>
                </p:nvSpPr>
                <p:spPr bwMode="auto">
                  <a:xfrm>
                    <a:off x="3986" y="1463"/>
                    <a:ext cx="17" cy="22"/>
                  </a:xfrm>
                  <a:prstGeom prst="rect">
                    <a:avLst/>
                  </a:prstGeom>
                  <a:solidFill>
                    <a:srgbClr val="FFFFFF"/>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337" name="Group 40">
                  <a:extLst>
                    <a:ext uri="{FF2B5EF4-FFF2-40B4-BE49-F238E27FC236}">
                      <a16:creationId xmlns:a16="http://schemas.microsoft.com/office/drawing/2014/main" id="{127EEF50-7FE5-5BD6-51C7-F96D910D4BBE}"/>
                    </a:ext>
                  </a:extLst>
                </p:cNvPr>
                <p:cNvGrpSpPr>
                  <a:grpSpLocks/>
                </p:cNvGrpSpPr>
                <p:nvPr/>
              </p:nvGrpSpPr>
              <p:grpSpPr bwMode="auto">
                <a:xfrm>
                  <a:off x="3986" y="1511"/>
                  <a:ext cx="23" cy="27"/>
                  <a:chOff x="3986" y="1511"/>
                  <a:chExt cx="23" cy="27"/>
                </a:xfrm>
              </p:grpSpPr>
              <p:sp>
                <p:nvSpPr>
                  <p:cNvPr id="383" name="Rectangle 41">
                    <a:extLst>
                      <a:ext uri="{FF2B5EF4-FFF2-40B4-BE49-F238E27FC236}">
                        <a16:creationId xmlns:a16="http://schemas.microsoft.com/office/drawing/2014/main" id="{EDB8B975-2C71-D64A-EB31-D7CEB707E3FD}"/>
                      </a:ext>
                    </a:extLst>
                  </p:cNvPr>
                  <p:cNvSpPr>
                    <a:spLocks noChangeArrowheads="1"/>
                  </p:cNvSpPr>
                  <p:nvPr/>
                </p:nvSpPr>
                <p:spPr bwMode="auto">
                  <a:xfrm>
                    <a:off x="3991" y="1511"/>
                    <a:ext cx="17" cy="22"/>
                  </a:xfrm>
                  <a:prstGeom prst="rect">
                    <a:avLst/>
                  </a:prstGeom>
                  <a:solidFill>
                    <a:srgbClr val="000000"/>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84" name="Rectangle 42">
                    <a:extLst>
                      <a:ext uri="{FF2B5EF4-FFF2-40B4-BE49-F238E27FC236}">
                        <a16:creationId xmlns:a16="http://schemas.microsoft.com/office/drawing/2014/main" id="{93DF58FD-AA69-CC4A-BD69-DA59372CD1C1}"/>
                      </a:ext>
                    </a:extLst>
                  </p:cNvPr>
                  <p:cNvSpPr>
                    <a:spLocks noChangeArrowheads="1"/>
                  </p:cNvSpPr>
                  <p:nvPr/>
                </p:nvSpPr>
                <p:spPr bwMode="auto">
                  <a:xfrm>
                    <a:off x="3986" y="1511"/>
                    <a:ext cx="17" cy="27"/>
                  </a:xfrm>
                  <a:prstGeom prst="rect">
                    <a:avLst/>
                  </a:prstGeom>
                  <a:solidFill>
                    <a:srgbClr val="FFFFFF"/>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338" name="Group 43">
                  <a:extLst>
                    <a:ext uri="{FF2B5EF4-FFF2-40B4-BE49-F238E27FC236}">
                      <a16:creationId xmlns:a16="http://schemas.microsoft.com/office/drawing/2014/main" id="{EAD163AA-3E8B-F9AE-0647-6CEB6982D58E}"/>
                    </a:ext>
                  </a:extLst>
                </p:cNvPr>
                <p:cNvGrpSpPr>
                  <a:grpSpLocks/>
                </p:cNvGrpSpPr>
                <p:nvPr/>
              </p:nvGrpSpPr>
              <p:grpSpPr bwMode="auto">
                <a:xfrm>
                  <a:off x="4246" y="1275"/>
                  <a:ext cx="27" cy="28"/>
                  <a:chOff x="4246" y="1275"/>
                  <a:chExt cx="27" cy="28"/>
                </a:xfrm>
              </p:grpSpPr>
              <p:sp>
                <p:nvSpPr>
                  <p:cNvPr id="381" name="Rectangle 44">
                    <a:extLst>
                      <a:ext uri="{FF2B5EF4-FFF2-40B4-BE49-F238E27FC236}">
                        <a16:creationId xmlns:a16="http://schemas.microsoft.com/office/drawing/2014/main" id="{8D1732C5-D182-54E7-C517-748C10A7336F}"/>
                      </a:ext>
                    </a:extLst>
                  </p:cNvPr>
                  <p:cNvSpPr>
                    <a:spLocks noChangeArrowheads="1"/>
                  </p:cNvSpPr>
                  <p:nvPr/>
                </p:nvSpPr>
                <p:spPr bwMode="auto">
                  <a:xfrm>
                    <a:off x="4249" y="1275"/>
                    <a:ext cx="23" cy="23"/>
                  </a:xfrm>
                  <a:prstGeom prst="rect">
                    <a:avLst/>
                  </a:prstGeom>
                  <a:solidFill>
                    <a:srgbClr val="000000"/>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82" name="Rectangle 45">
                    <a:extLst>
                      <a:ext uri="{FF2B5EF4-FFF2-40B4-BE49-F238E27FC236}">
                        <a16:creationId xmlns:a16="http://schemas.microsoft.com/office/drawing/2014/main" id="{681E90C7-420B-725C-9C1F-AC7829A08A3C}"/>
                      </a:ext>
                    </a:extLst>
                  </p:cNvPr>
                  <p:cNvSpPr>
                    <a:spLocks noChangeArrowheads="1"/>
                  </p:cNvSpPr>
                  <p:nvPr/>
                </p:nvSpPr>
                <p:spPr bwMode="auto">
                  <a:xfrm>
                    <a:off x="4246" y="1275"/>
                    <a:ext cx="16" cy="28"/>
                  </a:xfrm>
                  <a:prstGeom prst="rect">
                    <a:avLst/>
                  </a:prstGeom>
                  <a:solidFill>
                    <a:srgbClr val="FFFFFF"/>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339" name="Group 46">
                  <a:extLst>
                    <a:ext uri="{FF2B5EF4-FFF2-40B4-BE49-F238E27FC236}">
                      <a16:creationId xmlns:a16="http://schemas.microsoft.com/office/drawing/2014/main" id="{8F1978CC-9FF2-08EF-5B9A-CD149DC82EC6}"/>
                    </a:ext>
                  </a:extLst>
                </p:cNvPr>
                <p:cNvGrpSpPr>
                  <a:grpSpLocks/>
                </p:cNvGrpSpPr>
                <p:nvPr/>
              </p:nvGrpSpPr>
              <p:grpSpPr bwMode="auto">
                <a:xfrm>
                  <a:off x="4246" y="1323"/>
                  <a:ext cx="22" cy="28"/>
                  <a:chOff x="4246" y="1323"/>
                  <a:chExt cx="22" cy="28"/>
                </a:xfrm>
              </p:grpSpPr>
              <p:sp>
                <p:nvSpPr>
                  <p:cNvPr id="379" name="Rectangle 47">
                    <a:extLst>
                      <a:ext uri="{FF2B5EF4-FFF2-40B4-BE49-F238E27FC236}">
                        <a16:creationId xmlns:a16="http://schemas.microsoft.com/office/drawing/2014/main" id="{FC9BB22F-1AF3-E6F1-63B6-0035A0F56251}"/>
                      </a:ext>
                    </a:extLst>
                  </p:cNvPr>
                  <p:cNvSpPr>
                    <a:spLocks noChangeArrowheads="1"/>
                  </p:cNvSpPr>
                  <p:nvPr/>
                </p:nvSpPr>
                <p:spPr bwMode="auto">
                  <a:xfrm>
                    <a:off x="4249" y="1323"/>
                    <a:ext cx="19" cy="23"/>
                  </a:xfrm>
                  <a:prstGeom prst="rect">
                    <a:avLst/>
                  </a:prstGeom>
                  <a:solidFill>
                    <a:srgbClr val="000000"/>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80" name="Rectangle 48">
                    <a:extLst>
                      <a:ext uri="{FF2B5EF4-FFF2-40B4-BE49-F238E27FC236}">
                        <a16:creationId xmlns:a16="http://schemas.microsoft.com/office/drawing/2014/main" id="{17508F49-FEDB-9AA0-BD22-EC003864071C}"/>
                      </a:ext>
                    </a:extLst>
                  </p:cNvPr>
                  <p:cNvSpPr>
                    <a:spLocks noChangeArrowheads="1"/>
                  </p:cNvSpPr>
                  <p:nvPr/>
                </p:nvSpPr>
                <p:spPr bwMode="auto">
                  <a:xfrm>
                    <a:off x="4246" y="1328"/>
                    <a:ext cx="17" cy="23"/>
                  </a:xfrm>
                  <a:prstGeom prst="rect">
                    <a:avLst/>
                  </a:prstGeom>
                  <a:solidFill>
                    <a:srgbClr val="FFFFFF"/>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340" name="Group 49">
                  <a:extLst>
                    <a:ext uri="{FF2B5EF4-FFF2-40B4-BE49-F238E27FC236}">
                      <a16:creationId xmlns:a16="http://schemas.microsoft.com/office/drawing/2014/main" id="{3573C196-59DB-6E05-D192-8AF252EBC83E}"/>
                    </a:ext>
                  </a:extLst>
                </p:cNvPr>
                <p:cNvGrpSpPr>
                  <a:grpSpLocks/>
                </p:cNvGrpSpPr>
                <p:nvPr/>
              </p:nvGrpSpPr>
              <p:grpSpPr bwMode="auto">
                <a:xfrm>
                  <a:off x="4034" y="1707"/>
                  <a:ext cx="28" cy="27"/>
                  <a:chOff x="4034" y="1707"/>
                  <a:chExt cx="28" cy="27"/>
                </a:xfrm>
              </p:grpSpPr>
              <p:sp>
                <p:nvSpPr>
                  <p:cNvPr id="377" name="Rectangle 50">
                    <a:extLst>
                      <a:ext uri="{FF2B5EF4-FFF2-40B4-BE49-F238E27FC236}">
                        <a16:creationId xmlns:a16="http://schemas.microsoft.com/office/drawing/2014/main" id="{17D34284-B35A-C4E8-7A0B-40ADC89E5380}"/>
                      </a:ext>
                    </a:extLst>
                  </p:cNvPr>
                  <p:cNvSpPr>
                    <a:spLocks noChangeArrowheads="1"/>
                  </p:cNvSpPr>
                  <p:nvPr/>
                </p:nvSpPr>
                <p:spPr bwMode="auto">
                  <a:xfrm>
                    <a:off x="4038" y="1707"/>
                    <a:ext cx="23" cy="23"/>
                  </a:xfrm>
                  <a:prstGeom prst="rect">
                    <a:avLst/>
                  </a:prstGeom>
                  <a:solidFill>
                    <a:srgbClr val="000000"/>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78" name="Rectangle 51">
                    <a:extLst>
                      <a:ext uri="{FF2B5EF4-FFF2-40B4-BE49-F238E27FC236}">
                        <a16:creationId xmlns:a16="http://schemas.microsoft.com/office/drawing/2014/main" id="{51273FE7-2593-AA24-82F3-EFF2DFEBDED7}"/>
                      </a:ext>
                    </a:extLst>
                  </p:cNvPr>
                  <p:cNvSpPr>
                    <a:spLocks noChangeArrowheads="1"/>
                  </p:cNvSpPr>
                  <p:nvPr/>
                </p:nvSpPr>
                <p:spPr bwMode="auto">
                  <a:xfrm>
                    <a:off x="4034" y="1707"/>
                    <a:ext cx="23" cy="27"/>
                  </a:xfrm>
                  <a:prstGeom prst="rect">
                    <a:avLst/>
                  </a:prstGeom>
                  <a:solidFill>
                    <a:srgbClr val="FFFFFF"/>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341" name="Group 52">
                  <a:extLst>
                    <a:ext uri="{FF2B5EF4-FFF2-40B4-BE49-F238E27FC236}">
                      <a16:creationId xmlns:a16="http://schemas.microsoft.com/office/drawing/2014/main" id="{4AE2CE08-5A55-601B-CD7B-2380B8CCB489}"/>
                    </a:ext>
                  </a:extLst>
                </p:cNvPr>
                <p:cNvGrpSpPr>
                  <a:grpSpLocks/>
                </p:cNvGrpSpPr>
                <p:nvPr/>
              </p:nvGrpSpPr>
              <p:grpSpPr bwMode="auto">
                <a:xfrm>
                  <a:off x="4034" y="1755"/>
                  <a:ext cx="28" cy="27"/>
                  <a:chOff x="4034" y="1755"/>
                  <a:chExt cx="28" cy="27"/>
                </a:xfrm>
              </p:grpSpPr>
              <p:sp>
                <p:nvSpPr>
                  <p:cNvPr id="375" name="Rectangle 53">
                    <a:extLst>
                      <a:ext uri="{FF2B5EF4-FFF2-40B4-BE49-F238E27FC236}">
                        <a16:creationId xmlns:a16="http://schemas.microsoft.com/office/drawing/2014/main" id="{442DBF38-A386-EEA9-5E72-56D8DEA95805}"/>
                      </a:ext>
                    </a:extLst>
                  </p:cNvPr>
                  <p:cNvSpPr>
                    <a:spLocks noChangeArrowheads="1"/>
                  </p:cNvSpPr>
                  <p:nvPr/>
                </p:nvSpPr>
                <p:spPr bwMode="auto">
                  <a:xfrm>
                    <a:off x="4038" y="1755"/>
                    <a:ext cx="23" cy="23"/>
                  </a:xfrm>
                  <a:prstGeom prst="rect">
                    <a:avLst/>
                  </a:prstGeom>
                  <a:solidFill>
                    <a:srgbClr val="000000"/>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76" name="Rectangle 54">
                    <a:extLst>
                      <a:ext uri="{FF2B5EF4-FFF2-40B4-BE49-F238E27FC236}">
                        <a16:creationId xmlns:a16="http://schemas.microsoft.com/office/drawing/2014/main" id="{36666C61-0333-7850-3CDF-2E2B6E3AE581}"/>
                      </a:ext>
                    </a:extLst>
                  </p:cNvPr>
                  <p:cNvSpPr>
                    <a:spLocks noChangeArrowheads="1"/>
                  </p:cNvSpPr>
                  <p:nvPr/>
                </p:nvSpPr>
                <p:spPr bwMode="auto">
                  <a:xfrm>
                    <a:off x="4034" y="1760"/>
                    <a:ext cx="17" cy="22"/>
                  </a:xfrm>
                  <a:prstGeom prst="rect">
                    <a:avLst/>
                  </a:prstGeom>
                  <a:solidFill>
                    <a:srgbClr val="FFFFFF"/>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342" name="Group 55">
                  <a:extLst>
                    <a:ext uri="{FF2B5EF4-FFF2-40B4-BE49-F238E27FC236}">
                      <a16:creationId xmlns:a16="http://schemas.microsoft.com/office/drawing/2014/main" id="{B7E80193-12AC-89EF-77E2-2B9F7FBCFC1A}"/>
                    </a:ext>
                  </a:extLst>
                </p:cNvPr>
                <p:cNvGrpSpPr>
                  <a:grpSpLocks/>
                </p:cNvGrpSpPr>
                <p:nvPr/>
              </p:nvGrpSpPr>
              <p:grpSpPr bwMode="auto">
                <a:xfrm>
                  <a:off x="4092" y="1707"/>
                  <a:ext cx="22" cy="27"/>
                  <a:chOff x="4092" y="1707"/>
                  <a:chExt cx="22" cy="27"/>
                </a:xfrm>
              </p:grpSpPr>
              <p:sp>
                <p:nvSpPr>
                  <p:cNvPr id="373" name="Rectangle 56">
                    <a:extLst>
                      <a:ext uri="{FF2B5EF4-FFF2-40B4-BE49-F238E27FC236}">
                        <a16:creationId xmlns:a16="http://schemas.microsoft.com/office/drawing/2014/main" id="{C708180F-915F-10FD-89C5-6A0A64E30523}"/>
                      </a:ext>
                    </a:extLst>
                  </p:cNvPr>
                  <p:cNvSpPr>
                    <a:spLocks noChangeArrowheads="1"/>
                  </p:cNvSpPr>
                  <p:nvPr/>
                </p:nvSpPr>
                <p:spPr bwMode="auto">
                  <a:xfrm>
                    <a:off x="4096" y="1707"/>
                    <a:ext cx="17" cy="23"/>
                  </a:xfrm>
                  <a:prstGeom prst="rect">
                    <a:avLst/>
                  </a:prstGeom>
                  <a:solidFill>
                    <a:srgbClr val="000000"/>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74" name="Rectangle 57">
                    <a:extLst>
                      <a:ext uri="{FF2B5EF4-FFF2-40B4-BE49-F238E27FC236}">
                        <a16:creationId xmlns:a16="http://schemas.microsoft.com/office/drawing/2014/main" id="{5728BDA6-AA2C-BEF5-AFE1-68C45DD7F616}"/>
                      </a:ext>
                    </a:extLst>
                  </p:cNvPr>
                  <p:cNvSpPr>
                    <a:spLocks noChangeArrowheads="1"/>
                  </p:cNvSpPr>
                  <p:nvPr/>
                </p:nvSpPr>
                <p:spPr bwMode="auto">
                  <a:xfrm>
                    <a:off x="4092" y="1707"/>
                    <a:ext cx="19" cy="27"/>
                  </a:xfrm>
                  <a:prstGeom prst="rect">
                    <a:avLst/>
                  </a:prstGeom>
                  <a:solidFill>
                    <a:srgbClr val="FFFFFF"/>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343" name="Group 58">
                  <a:extLst>
                    <a:ext uri="{FF2B5EF4-FFF2-40B4-BE49-F238E27FC236}">
                      <a16:creationId xmlns:a16="http://schemas.microsoft.com/office/drawing/2014/main" id="{5C815AC7-F07D-0B72-FC70-CD9F5556C908}"/>
                    </a:ext>
                  </a:extLst>
                </p:cNvPr>
                <p:cNvGrpSpPr>
                  <a:grpSpLocks/>
                </p:cNvGrpSpPr>
                <p:nvPr/>
              </p:nvGrpSpPr>
              <p:grpSpPr bwMode="auto">
                <a:xfrm>
                  <a:off x="4087" y="1755"/>
                  <a:ext cx="27" cy="27"/>
                  <a:chOff x="4087" y="1755"/>
                  <a:chExt cx="27" cy="27"/>
                </a:xfrm>
              </p:grpSpPr>
              <p:sp>
                <p:nvSpPr>
                  <p:cNvPr id="371" name="Rectangle 59">
                    <a:extLst>
                      <a:ext uri="{FF2B5EF4-FFF2-40B4-BE49-F238E27FC236}">
                        <a16:creationId xmlns:a16="http://schemas.microsoft.com/office/drawing/2014/main" id="{2321E6C7-18F5-B4B9-115D-09BB9115A72F}"/>
                      </a:ext>
                    </a:extLst>
                  </p:cNvPr>
                  <p:cNvSpPr>
                    <a:spLocks noChangeArrowheads="1"/>
                  </p:cNvSpPr>
                  <p:nvPr/>
                </p:nvSpPr>
                <p:spPr bwMode="auto">
                  <a:xfrm>
                    <a:off x="4092" y="1755"/>
                    <a:ext cx="22" cy="23"/>
                  </a:xfrm>
                  <a:prstGeom prst="rect">
                    <a:avLst/>
                  </a:prstGeom>
                  <a:solidFill>
                    <a:srgbClr val="000000"/>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72" name="Rectangle 60">
                    <a:extLst>
                      <a:ext uri="{FF2B5EF4-FFF2-40B4-BE49-F238E27FC236}">
                        <a16:creationId xmlns:a16="http://schemas.microsoft.com/office/drawing/2014/main" id="{C14F1A35-A88C-AC46-0FD6-379B046715B3}"/>
                      </a:ext>
                    </a:extLst>
                  </p:cNvPr>
                  <p:cNvSpPr>
                    <a:spLocks noChangeArrowheads="1"/>
                  </p:cNvSpPr>
                  <p:nvPr/>
                </p:nvSpPr>
                <p:spPr bwMode="auto">
                  <a:xfrm>
                    <a:off x="4087" y="1760"/>
                    <a:ext cx="23" cy="22"/>
                  </a:xfrm>
                  <a:prstGeom prst="rect">
                    <a:avLst/>
                  </a:prstGeom>
                  <a:solidFill>
                    <a:srgbClr val="FFFFFF"/>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344" name="Group 61">
                  <a:extLst>
                    <a:ext uri="{FF2B5EF4-FFF2-40B4-BE49-F238E27FC236}">
                      <a16:creationId xmlns:a16="http://schemas.microsoft.com/office/drawing/2014/main" id="{BFA4C153-32B2-4509-DAAF-9C78194D092D}"/>
                    </a:ext>
                  </a:extLst>
                </p:cNvPr>
                <p:cNvGrpSpPr>
                  <a:grpSpLocks/>
                </p:cNvGrpSpPr>
                <p:nvPr/>
              </p:nvGrpSpPr>
              <p:grpSpPr bwMode="auto">
                <a:xfrm>
                  <a:off x="4500" y="1688"/>
                  <a:ext cx="27" cy="8"/>
                  <a:chOff x="4500" y="1688"/>
                  <a:chExt cx="27" cy="8"/>
                </a:xfrm>
              </p:grpSpPr>
              <p:sp>
                <p:nvSpPr>
                  <p:cNvPr id="369" name="Rectangle 62">
                    <a:extLst>
                      <a:ext uri="{FF2B5EF4-FFF2-40B4-BE49-F238E27FC236}">
                        <a16:creationId xmlns:a16="http://schemas.microsoft.com/office/drawing/2014/main" id="{BED6F284-C363-B9E7-ECCF-AB06D12982DF}"/>
                      </a:ext>
                    </a:extLst>
                  </p:cNvPr>
                  <p:cNvSpPr>
                    <a:spLocks noChangeArrowheads="1"/>
                  </p:cNvSpPr>
                  <p:nvPr/>
                </p:nvSpPr>
                <p:spPr bwMode="auto">
                  <a:xfrm>
                    <a:off x="4505" y="1688"/>
                    <a:ext cx="22" cy="7"/>
                  </a:xfrm>
                  <a:prstGeom prst="rect">
                    <a:avLst/>
                  </a:prstGeom>
                  <a:solidFill>
                    <a:srgbClr val="000000"/>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70" name="Rectangle 63">
                    <a:extLst>
                      <a:ext uri="{FF2B5EF4-FFF2-40B4-BE49-F238E27FC236}">
                        <a16:creationId xmlns:a16="http://schemas.microsoft.com/office/drawing/2014/main" id="{A1FD5129-05C2-DAFC-A04B-60D592444EA8}"/>
                      </a:ext>
                    </a:extLst>
                  </p:cNvPr>
                  <p:cNvSpPr>
                    <a:spLocks noChangeArrowheads="1"/>
                  </p:cNvSpPr>
                  <p:nvPr/>
                </p:nvSpPr>
                <p:spPr bwMode="auto">
                  <a:xfrm>
                    <a:off x="4500" y="1693"/>
                    <a:ext cx="17" cy="2"/>
                  </a:xfrm>
                  <a:prstGeom prst="rect">
                    <a:avLst/>
                  </a:prstGeom>
                  <a:solidFill>
                    <a:srgbClr val="FFFFFF"/>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345" name="Group 64">
                  <a:extLst>
                    <a:ext uri="{FF2B5EF4-FFF2-40B4-BE49-F238E27FC236}">
                      <a16:creationId xmlns:a16="http://schemas.microsoft.com/office/drawing/2014/main" id="{D56E228E-6FCB-42F8-B4CE-9043B179F27C}"/>
                    </a:ext>
                  </a:extLst>
                </p:cNvPr>
                <p:cNvGrpSpPr>
                  <a:grpSpLocks/>
                </p:cNvGrpSpPr>
                <p:nvPr/>
              </p:nvGrpSpPr>
              <p:grpSpPr bwMode="auto">
                <a:xfrm>
                  <a:off x="4500" y="1722"/>
                  <a:ext cx="27" cy="8"/>
                  <a:chOff x="4500" y="1722"/>
                  <a:chExt cx="27" cy="8"/>
                </a:xfrm>
              </p:grpSpPr>
              <p:sp>
                <p:nvSpPr>
                  <p:cNvPr id="367" name="Rectangle 65">
                    <a:extLst>
                      <a:ext uri="{FF2B5EF4-FFF2-40B4-BE49-F238E27FC236}">
                        <a16:creationId xmlns:a16="http://schemas.microsoft.com/office/drawing/2014/main" id="{8CAECDE4-33EB-6E92-9B49-6D66A70D03DE}"/>
                      </a:ext>
                    </a:extLst>
                  </p:cNvPr>
                  <p:cNvSpPr>
                    <a:spLocks noChangeArrowheads="1"/>
                  </p:cNvSpPr>
                  <p:nvPr/>
                </p:nvSpPr>
                <p:spPr bwMode="auto">
                  <a:xfrm>
                    <a:off x="4505" y="1723"/>
                    <a:ext cx="22" cy="2"/>
                  </a:xfrm>
                  <a:prstGeom prst="rect">
                    <a:avLst/>
                  </a:prstGeom>
                  <a:solidFill>
                    <a:srgbClr val="000000"/>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68" name="Rectangle 66">
                    <a:extLst>
                      <a:ext uri="{FF2B5EF4-FFF2-40B4-BE49-F238E27FC236}">
                        <a16:creationId xmlns:a16="http://schemas.microsoft.com/office/drawing/2014/main" id="{2B846639-3DC7-16E7-6243-E6519F769FB8}"/>
                      </a:ext>
                    </a:extLst>
                  </p:cNvPr>
                  <p:cNvSpPr>
                    <a:spLocks noChangeArrowheads="1"/>
                  </p:cNvSpPr>
                  <p:nvPr/>
                </p:nvSpPr>
                <p:spPr bwMode="auto">
                  <a:xfrm>
                    <a:off x="4500" y="1723"/>
                    <a:ext cx="17" cy="7"/>
                  </a:xfrm>
                  <a:prstGeom prst="rect">
                    <a:avLst/>
                  </a:prstGeom>
                  <a:solidFill>
                    <a:srgbClr val="FFFFFF"/>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346" name="Group 67">
                  <a:extLst>
                    <a:ext uri="{FF2B5EF4-FFF2-40B4-BE49-F238E27FC236}">
                      <a16:creationId xmlns:a16="http://schemas.microsoft.com/office/drawing/2014/main" id="{8967C280-EA88-D938-B2C7-31A0C7AC4609}"/>
                    </a:ext>
                  </a:extLst>
                </p:cNvPr>
                <p:cNvGrpSpPr>
                  <a:grpSpLocks/>
                </p:cNvGrpSpPr>
                <p:nvPr/>
              </p:nvGrpSpPr>
              <p:grpSpPr bwMode="auto">
                <a:xfrm>
                  <a:off x="4500" y="1750"/>
                  <a:ext cx="22" cy="8"/>
                  <a:chOff x="4500" y="1750"/>
                  <a:chExt cx="22" cy="8"/>
                </a:xfrm>
              </p:grpSpPr>
              <p:sp>
                <p:nvSpPr>
                  <p:cNvPr id="365" name="Rectangle 68">
                    <a:extLst>
                      <a:ext uri="{FF2B5EF4-FFF2-40B4-BE49-F238E27FC236}">
                        <a16:creationId xmlns:a16="http://schemas.microsoft.com/office/drawing/2014/main" id="{6E402950-400E-936D-7AA0-4EC981DE68A8}"/>
                      </a:ext>
                    </a:extLst>
                  </p:cNvPr>
                  <p:cNvSpPr>
                    <a:spLocks noChangeArrowheads="1"/>
                  </p:cNvSpPr>
                  <p:nvPr/>
                </p:nvSpPr>
                <p:spPr bwMode="auto">
                  <a:xfrm>
                    <a:off x="4505" y="1750"/>
                    <a:ext cx="17" cy="5"/>
                  </a:xfrm>
                  <a:prstGeom prst="rect">
                    <a:avLst/>
                  </a:prstGeom>
                  <a:solidFill>
                    <a:srgbClr val="000000"/>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66" name="Rectangle 69">
                    <a:extLst>
                      <a:ext uri="{FF2B5EF4-FFF2-40B4-BE49-F238E27FC236}">
                        <a16:creationId xmlns:a16="http://schemas.microsoft.com/office/drawing/2014/main" id="{AD460800-9DB1-4582-9FD2-830883E213AE}"/>
                      </a:ext>
                    </a:extLst>
                  </p:cNvPr>
                  <p:cNvSpPr>
                    <a:spLocks noChangeArrowheads="1"/>
                  </p:cNvSpPr>
                  <p:nvPr/>
                </p:nvSpPr>
                <p:spPr bwMode="auto">
                  <a:xfrm>
                    <a:off x="4500" y="1750"/>
                    <a:ext cx="19" cy="9"/>
                  </a:xfrm>
                  <a:prstGeom prst="rect">
                    <a:avLst/>
                  </a:prstGeom>
                  <a:solidFill>
                    <a:srgbClr val="FFFFFF"/>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347" name="Group 70">
                  <a:extLst>
                    <a:ext uri="{FF2B5EF4-FFF2-40B4-BE49-F238E27FC236}">
                      <a16:creationId xmlns:a16="http://schemas.microsoft.com/office/drawing/2014/main" id="{6E11B0C7-3666-FA18-C358-4B24C084BBDA}"/>
                    </a:ext>
                  </a:extLst>
                </p:cNvPr>
                <p:cNvGrpSpPr>
                  <a:grpSpLocks/>
                </p:cNvGrpSpPr>
                <p:nvPr/>
              </p:nvGrpSpPr>
              <p:grpSpPr bwMode="auto">
                <a:xfrm>
                  <a:off x="4500" y="1779"/>
                  <a:ext cx="22" cy="8"/>
                  <a:chOff x="4500" y="1779"/>
                  <a:chExt cx="22" cy="8"/>
                </a:xfrm>
              </p:grpSpPr>
              <p:sp>
                <p:nvSpPr>
                  <p:cNvPr id="363" name="Rectangle 71">
                    <a:extLst>
                      <a:ext uri="{FF2B5EF4-FFF2-40B4-BE49-F238E27FC236}">
                        <a16:creationId xmlns:a16="http://schemas.microsoft.com/office/drawing/2014/main" id="{8930BF81-9E04-56C0-8D69-6A6160BFCC17}"/>
                      </a:ext>
                    </a:extLst>
                  </p:cNvPr>
                  <p:cNvSpPr>
                    <a:spLocks noChangeArrowheads="1"/>
                  </p:cNvSpPr>
                  <p:nvPr/>
                </p:nvSpPr>
                <p:spPr bwMode="auto">
                  <a:xfrm>
                    <a:off x="4505" y="1779"/>
                    <a:ext cx="17" cy="9"/>
                  </a:xfrm>
                  <a:prstGeom prst="rect">
                    <a:avLst/>
                  </a:prstGeom>
                  <a:solidFill>
                    <a:srgbClr val="000000"/>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64" name="Rectangle 72">
                    <a:extLst>
                      <a:ext uri="{FF2B5EF4-FFF2-40B4-BE49-F238E27FC236}">
                        <a16:creationId xmlns:a16="http://schemas.microsoft.com/office/drawing/2014/main" id="{28F054BC-7DBA-9161-D8DE-CEE787F66165}"/>
                      </a:ext>
                    </a:extLst>
                  </p:cNvPr>
                  <p:cNvSpPr>
                    <a:spLocks noChangeArrowheads="1"/>
                  </p:cNvSpPr>
                  <p:nvPr/>
                </p:nvSpPr>
                <p:spPr bwMode="auto">
                  <a:xfrm>
                    <a:off x="4500" y="1784"/>
                    <a:ext cx="19" cy="4"/>
                  </a:xfrm>
                  <a:prstGeom prst="rect">
                    <a:avLst/>
                  </a:prstGeom>
                  <a:solidFill>
                    <a:srgbClr val="FFFFFF"/>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348" name="Group 73">
                  <a:extLst>
                    <a:ext uri="{FF2B5EF4-FFF2-40B4-BE49-F238E27FC236}">
                      <a16:creationId xmlns:a16="http://schemas.microsoft.com/office/drawing/2014/main" id="{8B52A908-8961-F26A-014C-128083F8603A}"/>
                    </a:ext>
                  </a:extLst>
                </p:cNvPr>
                <p:cNvGrpSpPr>
                  <a:grpSpLocks/>
                </p:cNvGrpSpPr>
                <p:nvPr/>
              </p:nvGrpSpPr>
              <p:grpSpPr bwMode="auto">
                <a:xfrm>
                  <a:off x="4155" y="1702"/>
                  <a:ext cx="141" cy="104"/>
                  <a:chOff x="4155" y="1702"/>
                  <a:chExt cx="141" cy="104"/>
                </a:xfrm>
              </p:grpSpPr>
              <p:sp>
                <p:nvSpPr>
                  <p:cNvPr id="356" name="Oval 74">
                    <a:extLst>
                      <a:ext uri="{FF2B5EF4-FFF2-40B4-BE49-F238E27FC236}">
                        <a16:creationId xmlns:a16="http://schemas.microsoft.com/office/drawing/2014/main" id="{4818B169-1838-B593-06EA-0CF9DC039D9A}"/>
                      </a:ext>
                    </a:extLst>
                  </p:cNvPr>
                  <p:cNvSpPr>
                    <a:spLocks noChangeArrowheads="1"/>
                  </p:cNvSpPr>
                  <p:nvPr/>
                </p:nvSpPr>
                <p:spPr bwMode="auto">
                  <a:xfrm>
                    <a:off x="4178" y="1702"/>
                    <a:ext cx="104" cy="96"/>
                  </a:xfrm>
                  <a:prstGeom prst="ellipse">
                    <a:avLst/>
                  </a:prstGeom>
                  <a:solidFill>
                    <a:srgbClr val="FFFFFF"/>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57" name="Rectangle 75">
                    <a:extLst>
                      <a:ext uri="{FF2B5EF4-FFF2-40B4-BE49-F238E27FC236}">
                        <a16:creationId xmlns:a16="http://schemas.microsoft.com/office/drawing/2014/main" id="{CC6D84A6-23D4-B0C0-B700-FB795DDA9FBF}"/>
                      </a:ext>
                    </a:extLst>
                  </p:cNvPr>
                  <p:cNvSpPr>
                    <a:spLocks noChangeArrowheads="1"/>
                  </p:cNvSpPr>
                  <p:nvPr/>
                </p:nvSpPr>
                <p:spPr bwMode="auto">
                  <a:xfrm>
                    <a:off x="4154" y="1746"/>
                    <a:ext cx="141" cy="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58" name="Rectangle 76">
                    <a:extLst>
                      <a:ext uri="{FF2B5EF4-FFF2-40B4-BE49-F238E27FC236}">
                        <a16:creationId xmlns:a16="http://schemas.microsoft.com/office/drawing/2014/main" id="{5A372032-CD42-E9CC-C14F-C6E62C3C4BE5}"/>
                      </a:ext>
                    </a:extLst>
                  </p:cNvPr>
                  <p:cNvSpPr>
                    <a:spLocks noChangeArrowheads="1"/>
                  </p:cNvSpPr>
                  <p:nvPr/>
                </p:nvSpPr>
                <p:spPr bwMode="auto">
                  <a:xfrm>
                    <a:off x="4154" y="1746"/>
                    <a:ext cx="141" cy="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59" name="Line 77">
                    <a:extLst>
                      <a:ext uri="{FF2B5EF4-FFF2-40B4-BE49-F238E27FC236}">
                        <a16:creationId xmlns:a16="http://schemas.microsoft.com/office/drawing/2014/main" id="{C7292652-BC93-9088-F1D5-DE71B97923F1}"/>
                      </a:ext>
                    </a:extLst>
                  </p:cNvPr>
                  <p:cNvSpPr>
                    <a:spLocks noChangeShapeType="1"/>
                  </p:cNvSpPr>
                  <p:nvPr/>
                </p:nvSpPr>
                <p:spPr bwMode="auto">
                  <a:xfrm>
                    <a:off x="4173" y="1750"/>
                    <a:ext cx="114"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60" name="Line 78">
                    <a:extLst>
                      <a:ext uri="{FF2B5EF4-FFF2-40B4-BE49-F238E27FC236}">
                        <a16:creationId xmlns:a16="http://schemas.microsoft.com/office/drawing/2014/main" id="{A7F9A7E2-0B2E-5C70-2256-BB100EBEC544}"/>
                      </a:ext>
                    </a:extLst>
                  </p:cNvPr>
                  <p:cNvSpPr>
                    <a:spLocks noChangeShapeType="1"/>
                  </p:cNvSpPr>
                  <p:nvPr/>
                </p:nvSpPr>
                <p:spPr bwMode="auto">
                  <a:xfrm flipV="1">
                    <a:off x="4222" y="1718"/>
                    <a:ext cx="34" cy="3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61" name="Line 79">
                    <a:extLst>
                      <a:ext uri="{FF2B5EF4-FFF2-40B4-BE49-F238E27FC236}">
                        <a16:creationId xmlns:a16="http://schemas.microsoft.com/office/drawing/2014/main" id="{6E721A5C-1CEE-A20B-FE3F-A6F5DFCEC0DB}"/>
                      </a:ext>
                    </a:extLst>
                  </p:cNvPr>
                  <p:cNvSpPr>
                    <a:spLocks noChangeShapeType="1"/>
                  </p:cNvSpPr>
                  <p:nvPr/>
                </p:nvSpPr>
                <p:spPr bwMode="auto">
                  <a:xfrm flipH="1">
                    <a:off x="4226" y="1717"/>
                    <a:ext cx="21" cy="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62" name="Line 80">
                    <a:extLst>
                      <a:ext uri="{FF2B5EF4-FFF2-40B4-BE49-F238E27FC236}">
                        <a16:creationId xmlns:a16="http://schemas.microsoft.com/office/drawing/2014/main" id="{1F5A461C-DE0F-914D-A09B-A68A17B78723}"/>
                      </a:ext>
                    </a:extLst>
                  </p:cNvPr>
                  <p:cNvSpPr>
                    <a:spLocks noChangeShapeType="1"/>
                  </p:cNvSpPr>
                  <p:nvPr/>
                </p:nvSpPr>
                <p:spPr bwMode="auto">
                  <a:xfrm>
                    <a:off x="4255" y="1713"/>
                    <a:ext cx="0" cy="1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grpSp>
              <p:nvGrpSpPr>
                <p:cNvPr id="349" name="Group 81">
                  <a:extLst>
                    <a:ext uri="{FF2B5EF4-FFF2-40B4-BE49-F238E27FC236}">
                      <a16:creationId xmlns:a16="http://schemas.microsoft.com/office/drawing/2014/main" id="{9209015E-B73C-F95E-4757-32DA0D159FD8}"/>
                    </a:ext>
                  </a:extLst>
                </p:cNvPr>
                <p:cNvGrpSpPr>
                  <a:grpSpLocks/>
                </p:cNvGrpSpPr>
                <p:nvPr/>
              </p:nvGrpSpPr>
              <p:grpSpPr bwMode="auto">
                <a:xfrm>
                  <a:off x="4314" y="1702"/>
                  <a:ext cx="140" cy="104"/>
                  <a:chOff x="4314" y="1702"/>
                  <a:chExt cx="140" cy="104"/>
                </a:xfrm>
              </p:grpSpPr>
              <p:sp>
                <p:nvSpPr>
                  <p:cNvPr id="350" name="Oval 82">
                    <a:extLst>
                      <a:ext uri="{FF2B5EF4-FFF2-40B4-BE49-F238E27FC236}">
                        <a16:creationId xmlns:a16="http://schemas.microsoft.com/office/drawing/2014/main" id="{20ADE554-4EEA-5B78-DE1A-E1D87C2C0231}"/>
                      </a:ext>
                    </a:extLst>
                  </p:cNvPr>
                  <p:cNvSpPr>
                    <a:spLocks noChangeArrowheads="1"/>
                  </p:cNvSpPr>
                  <p:nvPr/>
                </p:nvSpPr>
                <p:spPr bwMode="auto">
                  <a:xfrm>
                    <a:off x="4332" y="1702"/>
                    <a:ext cx="103" cy="96"/>
                  </a:xfrm>
                  <a:prstGeom prst="ellipse">
                    <a:avLst/>
                  </a:prstGeom>
                  <a:solidFill>
                    <a:srgbClr val="FFFFFF"/>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51" name="Rectangle 83">
                    <a:extLst>
                      <a:ext uri="{FF2B5EF4-FFF2-40B4-BE49-F238E27FC236}">
                        <a16:creationId xmlns:a16="http://schemas.microsoft.com/office/drawing/2014/main" id="{870ECBEA-872B-9791-A02C-7E9D68810420}"/>
                      </a:ext>
                    </a:extLst>
                  </p:cNvPr>
                  <p:cNvSpPr>
                    <a:spLocks noChangeArrowheads="1"/>
                  </p:cNvSpPr>
                  <p:nvPr/>
                </p:nvSpPr>
                <p:spPr bwMode="auto">
                  <a:xfrm>
                    <a:off x="4313" y="1751"/>
                    <a:ext cx="140" cy="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52" name="Rectangle 84">
                    <a:extLst>
                      <a:ext uri="{FF2B5EF4-FFF2-40B4-BE49-F238E27FC236}">
                        <a16:creationId xmlns:a16="http://schemas.microsoft.com/office/drawing/2014/main" id="{E9F63D59-F3B5-5258-6DF8-85391FBC68E1}"/>
                      </a:ext>
                    </a:extLst>
                  </p:cNvPr>
                  <p:cNvSpPr>
                    <a:spLocks noChangeArrowheads="1"/>
                  </p:cNvSpPr>
                  <p:nvPr/>
                </p:nvSpPr>
                <p:spPr bwMode="auto">
                  <a:xfrm>
                    <a:off x="4313" y="1751"/>
                    <a:ext cx="140" cy="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53" name="Line 85">
                    <a:extLst>
                      <a:ext uri="{FF2B5EF4-FFF2-40B4-BE49-F238E27FC236}">
                        <a16:creationId xmlns:a16="http://schemas.microsoft.com/office/drawing/2014/main" id="{5F55403F-0BAE-C9BF-F381-C43FB91B239C}"/>
                      </a:ext>
                    </a:extLst>
                  </p:cNvPr>
                  <p:cNvSpPr>
                    <a:spLocks noChangeShapeType="1"/>
                  </p:cNvSpPr>
                  <p:nvPr/>
                </p:nvSpPr>
                <p:spPr bwMode="auto">
                  <a:xfrm flipH="1">
                    <a:off x="4327" y="1750"/>
                    <a:ext cx="112"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54" name="Freeform 86">
                    <a:extLst>
                      <a:ext uri="{FF2B5EF4-FFF2-40B4-BE49-F238E27FC236}">
                        <a16:creationId xmlns:a16="http://schemas.microsoft.com/office/drawing/2014/main" id="{5D1C4D77-29EC-C37C-EA95-F43BA408A14F}"/>
                      </a:ext>
                    </a:extLst>
                  </p:cNvPr>
                  <p:cNvSpPr>
                    <a:spLocks/>
                  </p:cNvSpPr>
                  <p:nvPr/>
                </p:nvSpPr>
                <p:spPr bwMode="auto">
                  <a:xfrm>
                    <a:off x="4365" y="1718"/>
                    <a:ext cx="30" cy="30"/>
                  </a:xfrm>
                  <a:custGeom>
                    <a:avLst/>
                    <a:gdLst>
                      <a:gd name="T0" fmla="*/ 29 w 30"/>
                      <a:gd name="T1" fmla="*/ 29 h 29"/>
                      <a:gd name="T2" fmla="*/ 0 w 30"/>
                      <a:gd name="T3" fmla="*/ 0 h 29"/>
                      <a:gd name="T4" fmla="*/ 20 w 30"/>
                      <a:gd name="T5" fmla="*/ 0 h 29"/>
                      <a:gd name="T6" fmla="*/ 0 60000 65536"/>
                      <a:gd name="T7" fmla="*/ 0 60000 65536"/>
                      <a:gd name="T8" fmla="*/ 0 60000 65536"/>
                    </a:gdLst>
                    <a:ahLst/>
                    <a:cxnLst>
                      <a:cxn ang="T6">
                        <a:pos x="T0" y="T1"/>
                      </a:cxn>
                      <a:cxn ang="T7">
                        <a:pos x="T2" y="T3"/>
                      </a:cxn>
                      <a:cxn ang="T8">
                        <a:pos x="T4" y="T5"/>
                      </a:cxn>
                    </a:cxnLst>
                    <a:rect l="0" t="0" r="r" b="b"/>
                    <a:pathLst>
                      <a:path w="30" h="29">
                        <a:moveTo>
                          <a:pt x="29" y="28"/>
                        </a:moveTo>
                        <a:lnTo>
                          <a:pt x="0" y="0"/>
                        </a:lnTo>
                        <a:lnTo>
                          <a:pt x="20" y="0"/>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355" name="Line 87">
                    <a:extLst>
                      <a:ext uri="{FF2B5EF4-FFF2-40B4-BE49-F238E27FC236}">
                        <a16:creationId xmlns:a16="http://schemas.microsoft.com/office/drawing/2014/main" id="{35F38C00-FDD7-C590-2588-5C1F44C982D1}"/>
                      </a:ext>
                    </a:extLst>
                  </p:cNvPr>
                  <p:cNvSpPr>
                    <a:spLocks noChangeShapeType="1"/>
                  </p:cNvSpPr>
                  <p:nvPr/>
                </p:nvSpPr>
                <p:spPr bwMode="auto">
                  <a:xfrm>
                    <a:off x="4369" y="1718"/>
                    <a:ext cx="0" cy="1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grpSp>
          <p:sp>
            <p:nvSpPr>
              <p:cNvPr id="309" name="Oval 88">
                <a:extLst>
                  <a:ext uri="{FF2B5EF4-FFF2-40B4-BE49-F238E27FC236}">
                    <a16:creationId xmlns:a16="http://schemas.microsoft.com/office/drawing/2014/main" id="{094DE559-9BFE-8E67-E1D2-6D7E29B0D132}"/>
                  </a:ext>
                </a:extLst>
              </p:cNvPr>
              <p:cNvSpPr>
                <a:spLocks noChangeArrowheads="1"/>
              </p:cNvSpPr>
              <p:nvPr/>
            </p:nvSpPr>
            <p:spPr bwMode="auto">
              <a:xfrm>
                <a:off x="4836" y="1257"/>
                <a:ext cx="94" cy="343"/>
              </a:xfrm>
              <a:prstGeom prst="ellipse">
                <a:avLst/>
              </a:prstGeom>
              <a:blipFill dpi="0" rotWithShape="0">
                <a:blip r:embed="rId5"/>
                <a:srcRect/>
                <a:tile tx="0" ty="0" sx="100000" sy="100000" flip="none" algn="tl"/>
              </a:blip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32" name="Group 89">
              <a:extLst>
                <a:ext uri="{FF2B5EF4-FFF2-40B4-BE49-F238E27FC236}">
                  <a16:creationId xmlns:a16="http://schemas.microsoft.com/office/drawing/2014/main" id="{83D028E9-BB2A-A28E-2070-CDCE5F3838F2}"/>
                </a:ext>
              </a:extLst>
            </p:cNvPr>
            <p:cNvGrpSpPr>
              <a:grpSpLocks/>
            </p:cNvGrpSpPr>
            <p:nvPr/>
          </p:nvGrpSpPr>
          <p:grpSpPr bwMode="auto">
            <a:xfrm>
              <a:off x="1639" y="695"/>
              <a:ext cx="752" cy="953"/>
              <a:chOff x="1639" y="695"/>
              <a:chExt cx="752" cy="953"/>
            </a:xfrm>
          </p:grpSpPr>
          <p:grpSp>
            <p:nvGrpSpPr>
              <p:cNvPr id="222" name="Group 90">
                <a:extLst>
                  <a:ext uri="{FF2B5EF4-FFF2-40B4-BE49-F238E27FC236}">
                    <a16:creationId xmlns:a16="http://schemas.microsoft.com/office/drawing/2014/main" id="{55FAE4A9-51D2-CE58-6B54-F5F128DE5194}"/>
                  </a:ext>
                </a:extLst>
              </p:cNvPr>
              <p:cNvGrpSpPr>
                <a:grpSpLocks/>
              </p:cNvGrpSpPr>
              <p:nvPr/>
            </p:nvGrpSpPr>
            <p:grpSpPr bwMode="auto">
              <a:xfrm>
                <a:off x="1639" y="915"/>
                <a:ext cx="752" cy="733"/>
                <a:chOff x="1639" y="915"/>
                <a:chExt cx="752" cy="733"/>
              </a:xfrm>
            </p:grpSpPr>
            <p:sp>
              <p:nvSpPr>
                <p:cNvPr id="306" name="Rectangle 91">
                  <a:extLst>
                    <a:ext uri="{FF2B5EF4-FFF2-40B4-BE49-F238E27FC236}">
                      <a16:creationId xmlns:a16="http://schemas.microsoft.com/office/drawing/2014/main" id="{347C6EE7-9336-6226-2A82-1B08752D0AD7}"/>
                    </a:ext>
                  </a:extLst>
                </p:cNvPr>
                <p:cNvSpPr>
                  <a:spLocks noChangeArrowheads="1"/>
                </p:cNvSpPr>
                <p:nvPr/>
              </p:nvSpPr>
              <p:spPr bwMode="auto">
                <a:xfrm>
                  <a:off x="1639" y="915"/>
                  <a:ext cx="734" cy="719"/>
                </a:xfrm>
                <a:prstGeom prst="rect">
                  <a:avLst/>
                </a:prstGeom>
                <a:solidFill>
                  <a:srgbClr val="FFFFFF"/>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07" name="Rectangle 92">
                  <a:extLst>
                    <a:ext uri="{FF2B5EF4-FFF2-40B4-BE49-F238E27FC236}">
                      <a16:creationId xmlns:a16="http://schemas.microsoft.com/office/drawing/2014/main" id="{9711393E-83D8-FA58-6DED-CD66F84FFA8D}"/>
                    </a:ext>
                  </a:extLst>
                </p:cNvPr>
                <p:cNvSpPr>
                  <a:spLocks noChangeArrowheads="1"/>
                </p:cNvSpPr>
                <p:nvPr/>
              </p:nvSpPr>
              <p:spPr bwMode="auto">
                <a:xfrm>
                  <a:off x="1658" y="930"/>
                  <a:ext cx="734" cy="718"/>
                </a:xfrm>
                <a:prstGeom prst="rect">
                  <a:avLst/>
                </a:prstGeom>
                <a:solidFill>
                  <a:srgbClr val="FFFFFF"/>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sp>
            <p:nvSpPr>
              <p:cNvPr id="223" name="Rectangle 93">
                <a:extLst>
                  <a:ext uri="{FF2B5EF4-FFF2-40B4-BE49-F238E27FC236}">
                    <a16:creationId xmlns:a16="http://schemas.microsoft.com/office/drawing/2014/main" id="{7E7FC651-4BD1-E51C-0939-34E9D08D3DF6}"/>
                  </a:ext>
                </a:extLst>
              </p:cNvPr>
              <p:cNvSpPr>
                <a:spLocks noChangeArrowheads="1"/>
              </p:cNvSpPr>
              <p:nvPr/>
            </p:nvSpPr>
            <p:spPr bwMode="auto">
              <a:xfrm>
                <a:off x="1708" y="992"/>
                <a:ext cx="680"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700">
                    <a:solidFill>
                      <a:srgbClr val="000000"/>
                    </a:solidFill>
                    <a:latin typeface="Roboto" panose="02000000000000000000" pitchFamily="2" charset="0"/>
                    <a:ea typeface="Roboto" panose="02000000000000000000" pitchFamily="2" charset="0"/>
                  </a:rPr>
                  <a:t>WORK STANDARD</a:t>
                </a:r>
              </a:p>
            </p:txBody>
          </p:sp>
          <p:sp>
            <p:nvSpPr>
              <p:cNvPr id="224" name="Line 94">
                <a:extLst>
                  <a:ext uri="{FF2B5EF4-FFF2-40B4-BE49-F238E27FC236}">
                    <a16:creationId xmlns:a16="http://schemas.microsoft.com/office/drawing/2014/main" id="{DA7A1339-D2DF-9BB5-CA42-B03AC409AAB4}"/>
                  </a:ext>
                </a:extLst>
              </p:cNvPr>
              <p:cNvSpPr>
                <a:spLocks noChangeShapeType="1"/>
              </p:cNvSpPr>
              <p:nvPr/>
            </p:nvSpPr>
            <p:spPr bwMode="auto">
              <a:xfrm>
                <a:off x="1951" y="1372"/>
                <a:ext cx="0"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nvGrpSpPr>
              <p:cNvPr id="225" name="Group 95">
                <a:extLst>
                  <a:ext uri="{FF2B5EF4-FFF2-40B4-BE49-F238E27FC236}">
                    <a16:creationId xmlns:a16="http://schemas.microsoft.com/office/drawing/2014/main" id="{1B777CE0-505A-7AE3-9093-5FAFD283D150}"/>
                  </a:ext>
                </a:extLst>
              </p:cNvPr>
              <p:cNvGrpSpPr>
                <a:grpSpLocks/>
              </p:cNvGrpSpPr>
              <p:nvPr/>
            </p:nvGrpSpPr>
            <p:grpSpPr bwMode="auto">
              <a:xfrm>
                <a:off x="1706" y="1117"/>
                <a:ext cx="637" cy="507"/>
                <a:chOff x="1706" y="1117"/>
                <a:chExt cx="637" cy="507"/>
              </a:xfrm>
            </p:grpSpPr>
            <p:grpSp>
              <p:nvGrpSpPr>
                <p:cNvPr id="270" name="Group 96">
                  <a:extLst>
                    <a:ext uri="{FF2B5EF4-FFF2-40B4-BE49-F238E27FC236}">
                      <a16:creationId xmlns:a16="http://schemas.microsoft.com/office/drawing/2014/main" id="{C4B2CDF6-F442-C92B-DF44-1C8DDF6DA5F8}"/>
                    </a:ext>
                  </a:extLst>
                </p:cNvPr>
                <p:cNvGrpSpPr>
                  <a:grpSpLocks/>
                </p:cNvGrpSpPr>
                <p:nvPr/>
              </p:nvGrpSpPr>
              <p:grpSpPr bwMode="auto">
                <a:xfrm>
                  <a:off x="1784" y="1554"/>
                  <a:ext cx="481" cy="59"/>
                  <a:chOff x="1784" y="1554"/>
                  <a:chExt cx="481" cy="59"/>
                </a:xfrm>
              </p:grpSpPr>
              <p:sp>
                <p:nvSpPr>
                  <p:cNvPr id="302" name="Freeform 97">
                    <a:extLst>
                      <a:ext uri="{FF2B5EF4-FFF2-40B4-BE49-F238E27FC236}">
                        <a16:creationId xmlns:a16="http://schemas.microsoft.com/office/drawing/2014/main" id="{AFADC351-71A3-0AE2-E8C4-8656A584BC19}"/>
                      </a:ext>
                    </a:extLst>
                  </p:cNvPr>
                  <p:cNvSpPr>
                    <a:spLocks/>
                  </p:cNvSpPr>
                  <p:nvPr/>
                </p:nvSpPr>
                <p:spPr bwMode="auto">
                  <a:xfrm>
                    <a:off x="2110" y="1553"/>
                    <a:ext cx="155" cy="59"/>
                  </a:xfrm>
                  <a:custGeom>
                    <a:avLst/>
                    <a:gdLst>
                      <a:gd name="T0" fmla="*/ 154 w 155"/>
                      <a:gd name="T1" fmla="*/ 0 h 59"/>
                      <a:gd name="T2" fmla="*/ 140 w 155"/>
                      <a:gd name="T3" fmla="*/ 34 h 59"/>
                      <a:gd name="T4" fmla="*/ 58 w 155"/>
                      <a:gd name="T5" fmla="*/ 58 h 59"/>
                      <a:gd name="T6" fmla="*/ 0 w 155"/>
                      <a:gd name="T7" fmla="*/ 58 h 5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5" h="59">
                        <a:moveTo>
                          <a:pt x="154" y="0"/>
                        </a:moveTo>
                        <a:lnTo>
                          <a:pt x="140" y="34"/>
                        </a:lnTo>
                        <a:lnTo>
                          <a:pt x="58" y="58"/>
                        </a:lnTo>
                        <a:lnTo>
                          <a:pt x="0" y="58"/>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303" name="Freeform 98">
                    <a:extLst>
                      <a:ext uri="{FF2B5EF4-FFF2-40B4-BE49-F238E27FC236}">
                        <a16:creationId xmlns:a16="http://schemas.microsoft.com/office/drawing/2014/main" id="{38A9CE49-7F42-85EE-B354-5882C5313DD7}"/>
                      </a:ext>
                    </a:extLst>
                  </p:cNvPr>
                  <p:cNvSpPr>
                    <a:spLocks/>
                  </p:cNvSpPr>
                  <p:nvPr/>
                </p:nvSpPr>
                <p:spPr bwMode="auto">
                  <a:xfrm>
                    <a:off x="2110" y="1553"/>
                    <a:ext cx="155" cy="59"/>
                  </a:xfrm>
                  <a:custGeom>
                    <a:avLst/>
                    <a:gdLst>
                      <a:gd name="T0" fmla="*/ 154 w 155"/>
                      <a:gd name="T1" fmla="*/ 0 h 59"/>
                      <a:gd name="T2" fmla="*/ 149 w 155"/>
                      <a:gd name="T3" fmla="*/ 10 h 59"/>
                      <a:gd name="T4" fmla="*/ 140 w 155"/>
                      <a:gd name="T5" fmla="*/ 24 h 59"/>
                      <a:gd name="T6" fmla="*/ 125 w 155"/>
                      <a:gd name="T7" fmla="*/ 34 h 59"/>
                      <a:gd name="T8" fmla="*/ 106 w 155"/>
                      <a:gd name="T9" fmla="*/ 44 h 59"/>
                      <a:gd name="T10" fmla="*/ 96 w 155"/>
                      <a:gd name="T11" fmla="*/ 44 h 59"/>
                      <a:gd name="T12" fmla="*/ 87 w 155"/>
                      <a:gd name="T13" fmla="*/ 48 h 59"/>
                      <a:gd name="T14" fmla="*/ 63 w 155"/>
                      <a:gd name="T15" fmla="*/ 53 h 59"/>
                      <a:gd name="T16" fmla="*/ 39 w 155"/>
                      <a:gd name="T17" fmla="*/ 58 h 59"/>
                      <a:gd name="T18" fmla="*/ 15 w 155"/>
                      <a:gd name="T19" fmla="*/ 58 h 59"/>
                      <a:gd name="T20" fmla="*/ 0 w 155"/>
                      <a:gd name="T21" fmla="*/ 58 h 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55" h="59">
                        <a:moveTo>
                          <a:pt x="154" y="0"/>
                        </a:moveTo>
                        <a:lnTo>
                          <a:pt x="149" y="10"/>
                        </a:lnTo>
                        <a:lnTo>
                          <a:pt x="140" y="24"/>
                        </a:lnTo>
                        <a:lnTo>
                          <a:pt x="125" y="34"/>
                        </a:lnTo>
                        <a:lnTo>
                          <a:pt x="106" y="44"/>
                        </a:lnTo>
                        <a:lnTo>
                          <a:pt x="96" y="44"/>
                        </a:lnTo>
                        <a:lnTo>
                          <a:pt x="87" y="48"/>
                        </a:lnTo>
                        <a:lnTo>
                          <a:pt x="63" y="53"/>
                        </a:lnTo>
                        <a:lnTo>
                          <a:pt x="39" y="58"/>
                        </a:lnTo>
                        <a:lnTo>
                          <a:pt x="15" y="58"/>
                        </a:lnTo>
                        <a:lnTo>
                          <a:pt x="0" y="58"/>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304" name="Freeform 99">
                    <a:extLst>
                      <a:ext uri="{FF2B5EF4-FFF2-40B4-BE49-F238E27FC236}">
                        <a16:creationId xmlns:a16="http://schemas.microsoft.com/office/drawing/2014/main" id="{FE856745-96B1-711B-84D4-39ADEA022E26}"/>
                      </a:ext>
                    </a:extLst>
                  </p:cNvPr>
                  <p:cNvSpPr>
                    <a:spLocks/>
                  </p:cNvSpPr>
                  <p:nvPr/>
                </p:nvSpPr>
                <p:spPr bwMode="auto">
                  <a:xfrm>
                    <a:off x="1784" y="1558"/>
                    <a:ext cx="169" cy="49"/>
                  </a:xfrm>
                  <a:custGeom>
                    <a:avLst/>
                    <a:gdLst>
                      <a:gd name="T0" fmla="*/ 168 w 169"/>
                      <a:gd name="T1" fmla="*/ 48 h 49"/>
                      <a:gd name="T2" fmla="*/ 53 w 169"/>
                      <a:gd name="T3" fmla="*/ 39 h 49"/>
                      <a:gd name="T4" fmla="*/ 10 w 169"/>
                      <a:gd name="T5" fmla="*/ 19 h 49"/>
                      <a:gd name="T6" fmla="*/ 0 w 169"/>
                      <a:gd name="T7" fmla="*/ 0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9" h="49">
                        <a:moveTo>
                          <a:pt x="168" y="48"/>
                        </a:moveTo>
                        <a:lnTo>
                          <a:pt x="53" y="39"/>
                        </a:lnTo>
                        <a:lnTo>
                          <a:pt x="10" y="19"/>
                        </a:lnTo>
                        <a:lnTo>
                          <a:pt x="0" y="0"/>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305" name="Freeform 100">
                    <a:extLst>
                      <a:ext uri="{FF2B5EF4-FFF2-40B4-BE49-F238E27FC236}">
                        <a16:creationId xmlns:a16="http://schemas.microsoft.com/office/drawing/2014/main" id="{44F3409A-FBD4-B4F6-7415-6DBB07CF48A7}"/>
                      </a:ext>
                    </a:extLst>
                  </p:cNvPr>
                  <p:cNvSpPr>
                    <a:spLocks/>
                  </p:cNvSpPr>
                  <p:nvPr/>
                </p:nvSpPr>
                <p:spPr bwMode="auto">
                  <a:xfrm>
                    <a:off x="1784" y="1558"/>
                    <a:ext cx="169" cy="49"/>
                  </a:xfrm>
                  <a:custGeom>
                    <a:avLst/>
                    <a:gdLst>
                      <a:gd name="T0" fmla="*/ 168 w 169"/>
                      <a:gd name="T1" fmla="*/ 48 h 49"/>
                      <a:gd name="T2" fmla="*/ 154 w 169"/>
                      <a:gd name="T3" fmla="*/ 48 h 49"/>
                      <a:gd name="T4" fmla="*/ 125 w 169"/>
                      <a:gd name="T5" fmla="*/ 43 h 49"/>
                      <a:gd name="T6" fmla="*/ 106 w 169"/>
                      <a:gd name="T7" fmla="*/ 43 h 49"/>
                      <a:gd name="T8" fmla="*/ 82 w 169"/>
                      <a:gd name="T9" fmla="*/ 39 h 49"/>
                      <a:gd name="T10" fmla="*/ 67 w 169"/>
                      <a:gd name="T11" fmla="*/ 39 h 49"/>
                      <a:gd name="T12" fmla="*/ 48 w 169"/>
                      <a:gd name="T13" fmla="*/ 34 h 49"/>
                      <a:gd name="T14" fmla="*/ 43 w 169"/>
                      <a:gd name="T15" fmla="*/ 34 h 49"/>
                      <a:gd name="T16" fmla="*/ 29 w 169"/>
                      <a:gd name="T17" fmla="*/ 29 h 49"/>
                      <a:gd name="T18" fmla="*/ 19 w 169"/>
                      <a:gd name="T19" fmla="*/ 24 h 49"/>
                      <a:gd name="T20" fmla="*/ 5 w 169"/>
                      <a:gd name="T21" fmla="*/ 10 h 49"/>
                      <a:gd name="T22" fmla="*/ 0 w 169"/>
                      <a:gd name="T23" fmla="*/ 0 h 4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69" h="49">
                        <a:moveTo>
                          <a:pt x="168" y="48"/>
                        </a:moveTo>
                        <a:lnTo>
                          <a:pt x="154" y="48"/>
                        </a:lnTo>
                        <a:lnTo>
                          <a:pt x="125" y="43"/>
                        </a:lnTo>
                        <a:lnTo>
                          <a:pt x="106" y="43"/>
                        </a:lnTo>
                        <a:lnTo>
                          <a:pt x="82" y="39"/>
                        </a:lnTo>
                        <a:lnTo>
                          <a:pt x="67" y="39"/>
                        </a:lnTo>
                        <a:lnTo>
                          <a:pt x="48" y="34"/>
                        </a:lnTo>
                        <a:lnTo>
                          <a:pt x="43" y="34"/>
                        </a:lnTo>
                        <a:lnTo>
                          <a:pt x="29" y="29"/>
                        </a:lnTo>
                        <a:lnTo>
                          <a:pt x="19" y="24"/>
                        </a:lnTo>
                        <a:lnTo>
                          <a:pt x="5" y="10"/>
                        </a:lnTo>
                        <a:lnTo>
                          <a:pt x="0" y="0"/>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grpSp>
            <p:grpSp>
              <p:nvGrpSpPr>
                <p:cNvPr id="271" name="Group 101">
                  <a:extLst>
                    <a:ext uri="{FF2B5EF4-FFF2-40B4-BE49-F238E27FC236}">
                      <a16:creationId xmlns:a16="http://schemas.microsoft.com/office/drawing/2014/main" id="{2940AF4B-85A8-D647-2589-03E7979EC42E}"/>
                    </a:ext>
                  </a:extLst>
                </p:cNvPr>
                <p:cNvGrpSpPr>
                  <a:grpSpLocks/>
                </p:cNvGrpSpPr>
                <p:nvPr/>
              </p:nvGrpSpPr>
              <p:grpSpPr bwMode="auto">
                <a:xfrm>
                  <a:off x="1706" y="1117"/>
                  <a:ext cx="637" cy="507"/>
                  <a:chOff x="1706" y="1117"/>
                  <a:chExt cx="637" cy="507"/>
                </a:xfrm>
              </p:grpSpPr>
              <p:grpSp>
                <p:nvGrpSpPr>
                  <p:cNvPr id="272" name="Group 102">
                    <a:extLst>
                      <a:ext uri="{FF2B5EF4-FFF2-40B4-BE49-F238E27FC236}">
                        <a16:creationId xmlns:a16="http://schemas.microsoft.com/office/drawing/2014/main" id="{4CEDFB84-1EE2-6438-4AE3-B974F597A243}"/>
                      </a:ext>
                    </a:extLst>
                  </p:cNvPr>
                  <p:cNvGrpSpPr>
                    <a:grpSpLocks/>
                  </p:cNvGrpSpPr>
                  <p:nvPr/>
                </p:nvGrpSpPr>
                <p:grpSpPr bwMode="auto">
                  <a:xfrm>
                    <a:off x="1706" y="1117"/>
                    <a:ext cx="637" cy="210"/>
                    <a:chOff x="1706" y="1117"/>
                    <a:chExt cx="637" cy="210"/>
                  </a:xfrm>
                </p:grpSpPr>
                <p:sp>
                  <p:nvSpPr>
                    <p:cNvPr id="293" name="Rectangle 103">
                      <a:extLst>
                        <a:ext uri="{FF2B5EF4-FFF2-40B4-BE49-F238E27FC236}">
                          <a16:creationId xmlns:a16="http://schemas.microsoft.com/office/drawing/2014/main" id="{BC9F2E43-0619-2398-E523-6A5C1DE24B03}"/>
                        </a:ext>
                      </a:extLst>
                    </p:cNvPr>
                    <p:cNvSpPr>
                      <a:spLocks noChangeArrowheads="1"/>
                    </p:cNvSpPr>
                    <p:nvPr/>
                  </p:nvSpPr>
                  <p:spPr bwMode="auto">
                    <a:xfrm>
                      <a:off x="1707" y="1117"/>
                      <a:ext cx="637" cy="210"/>
                    </a:xfrm>
                    <a:prstGeom prst="rect">
                      <a:avLst/>
                    </a:prstGeom>
                    <a:solidFill>
                      <a:srgbClr val="FFFFFF"/>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94" name="Freeform 104">
                      <a:extLst>
                        <a:ext uri="{FF2B5EF4-FFF2-40B4-BE49-F238E27FC236}">
                          <a16:creationId xmlns:a16="http://schemas.microsoft.com/office/drawing/2014/main" id="{47D1A88B-384B-4B03-F43B-F431C3C343A7}"/>
                        </a:ext>
                      </a:extLst>
                    </p:cNvPr>
                    <p:cNvSpPr>
                      <a:spLocks/>
                    </p:cNvSpPr>
                    <p:nvPr/>
                  </p:nvSpPr>
                  <p:spPr bwMode="auto">
                    <a:xfrm>
                      <a:off x="1821" y="1163"/>
                      <a:ext cx="514" cy="136"/>
                    </a:xfrm>
                    <a:custGeom>
                      <a:avLst/>
                      <a:gdLst>
                        <a:gd name="T0" fmla="*/ 0 w 514"/>
                        <a:gd name="T1" fmla="*/ 10 h 136"/>
                        <a:gd name="T2" fmla="*/ 81 w 514"/>
                        <a:gd name="T3" fmla="*/ 10 h 136"/>
                        <a:gd name="T4" fmla="*/ 101 w 514"/>
                        <a:gd name="T5" fmla="*/ 87 h 136"/>
                        <a:gd name="T6" fmla="*/ 134 w 514"/>
                        <a:gd name="T7" fmla="*/ 106 h 136"/>
                        <a:gd name="T8" fmla="*/ 201 w 514"/>
                        <a:gd name="T9" fmla="*/ 135 h 136"/>
                        <a:gd name="T10" fmla="*/ 230 w 514"/>
                        <a:gd name="T11" fmla="*/ 96 h 136"/>
                        <a:gd name="T12" fmla="*/ 245 w 514"/>
                        <a:gd name="T13" fmla="*/ 29 h 136"/>
                        <a:gd name="T14" fmla="*/ 297 w 514"/>
                        <a:gd name="T15" fmla="*/ 0 h 136"/>
                        <a:gd name="T16" fmla="*/ 369 w 514"/>
                        <a:gd name="T17" fmla="*/ 5 h 136"/>
                        <a:gd name="T18" fmla="*/ 384 w 514"/>
                        <a:gd name="T19" fmla="*/ 48 h 136"/>
                        <a:gd name="T20" fmla="*/ 441 w 514"/>
                        <a:gd name="T21" fmla="*/ 125 h 136"/>
                        <a:gd name="T22" fmla="*/ 513 w 514"/>
                        <a:gd name="T23" fmla="*/ 135 h 1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14" h="136">
                          <a:moveTo>
                            <a:pt x="0" y="10"/>
                          </a:moveTo>
                          <a:lnTo>
                            <a:pt x="81" y="10"/>
                          </a:lnTo>
                          <a:lnTo>
                            <a:pt x="101" y="87"/>
                          </a:lnTo>
                          <a:lnTo>
                            <a:pt x="134" y="106"/>
                          </a:lnTo>
                          <a:lnTo>
                            <a:pt x="201" y="135"/>
                          </a:lnTo>
                          <a:lnTo>
                            <a:pt x="230" y="96"/>
                          </a:lnTo>
                          <a:lnTo>
                            <a:pt x="245" y="29"/>
                          </a:lnTo>
                          <a:lnTo>
                            <a:pt x="297" y="0"/>
                          </a:lnTo>
                          <a:lnTo>
                            <a:pt x="369" y="5"/>
                          </a:lnTo>
                          <a:lnTo>
                            <a:pt x="384" y="48"/>
                          </a:lnTo>
                          <a:lnTo>
                            <a:pt x="441" y="125"/>
                          </a:lnTo>
                          <a:lnTo>
                            <a:pt x="513" y="135"/>
                          </a:lnTo>
                        </a:path>
                      </a:pathLst>
                    </a:custGeom>
                    <a:noFill/>
                    <a:ln w="254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295" name="Freeform 105">
                      <a:extLst>
                        <a:ext uri="{FF2B5EF4-FFF2-40B4-BE49-F238E27FC236}">
                          <a16:creationId xmlns:a16="http://schemas.microsoft.com/office/drawing/2014/main" id="{0875A1A1-D3E9-0F09-5B51-C02BA39700DC}"/>
                        </a:ext>
                      </a:extLst>
                    </p:cNvPr>
                    <p:cNvSpPr>
                      <a:spLocks/>
                    </p:cNvSpPr>
                    <p:nvPr/>
                  </p:nvSpPr>
                  <p:spPr bwMode="auto">
                    <a:xfrm>
                      <a:off x="1811" y="1155"/>
                      <a:ext cx="515" cy="135"/>
                    </a:xfrm>
                    <a:custGeom>
                      <a:avLst/>
                      <a:gdLst>
                        <a:gd name="T0" fmla="*/ 0 w 515"/>
                        <a:gd name="T1" fmla="*/ 9 h 135"/>
                        <a:gd name="T2" fmla="*/ 82 w 515"/>
                        <a:gd name="T3" fmla="*/ 9 h 135"/>
                        <a:gd name="T4" fmla="*/ 101 w 515"/>
                        <a:gd name="T5" fmla="*/ 86 h 135"/>
                        <a:gd name="T6" fmla="*/ 135 w 515"/>
                        <a:gd name="T7" fmla="*/ 105 h 135"/>
                        <a:gd name="T8" fmla="*/ 202 w 515"/>
                        <a:gd name="T9" fmla="*/ 134 h 135"/>
                        <a:gd name="T10" fmla="*/ 231 w 515"/>
                        <a:gd name="T11" fmla="*/ 96 h 135"/>
                        <a:gd name="T12" fmla="*/ 245 w 515"/>
                        <a:gd name="T13" fmla="*/ 28 h 135"/>
                        <a:gd name="T14" fmla="*/ 298 w 515"/>
                        <a:gd name="T15" fmla="*/ 0 h 135"/>
                        <a:gd name="T16" fmla="*/ 370 w 515"/>
                        <a:gd name="T17" fmla="*/ 4 h 135"/>
                        <a:gd name="T18" fmla="*/ 384 w 515"/>
                        <a:gd name="T19" fmla="*/ 48 h 135"/>
                        <a:gd name="T20" fmla="*/ 442 w 515"/>
                        <a:gd name="T21" fmla="*/ 124 h 135"/>
                        <a:gd name="T22" fmla="*/ 514 w 515"/>
                        <a:gd name="T23" fmla="*/ 134 h 13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15" h="135">
                          <a:moveTo>
                            <a:pt x="0" y="9"/>
                          </a:moveTo>
                          <a:lnTo>
                            <a:pt x="82" y="9"/>
                          </a:lnTo>
                          <a:lnTo>
                            <a:pt x="101" y="86"/>
                          </a:lnTo>
                          <a:lnTo>
                            <a:pt x="135" y="105"/>
                          </a:lnTo>
                          <a:lnTo>
                            <a:pt x="202" y="134"/>
                          </a:lnTo>
                          <a:lnTo>
                            <a:pt x="231" y="96"/>
                          </a:lnTo>
                          <a:lnTo>
                            <a:pt x="245" y="28"/>
                          </a:lnTo>
                          <a:lnTo>
                            <a:pt x="298" y="0"/>
                          </a:lnTo>
                          <a:lnTo>
                            <a:pt x="370" y="4"/>
                          </a:lnTo>
                          <a:lnTo>
                            <a:pt x="384" y="48"/>
                          </a:lnTo>
                          <a:lnTo>
                            <a:pt x="442" y="124"/>
                          </a:lnTo>
                          <a:lnTo>
                            <a:pt x="514" y="134"/>
                          </a:lnTo>
                        </a:path>
                      </a:pathLst>
                    </a:custGeom>
                    <a:noFill/>
                    <a:ln w="254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296" name="Rectangle 106">
                      <a:extLst>
                        <a:ext uri="{FF2B5EF4-FFF2-40B4-BE49-F238E27FC236}">
                          <a16:creationId xmlns:a16="http://schemas.microsoft.com/office/drawing/2014/main" id="{7D65CDB9-8FD4-A886-0F3E-D7196D112594}"/>
                        </a:ext>
                      </a:extLst>
                    </p:cNvPr>
                    <p:cNvSpPr>
                      <a:spLocks noChangeArrowheads="1"/>
                    </p:cNvSpPr>
                    <p:nvPr/>
                  </p:nvSpPr>
                  <p:spPr bwMode="auto">
                    <a:xfrm>
                      <a:off x="1707" y="1117"/>
                      <a:ext cx="85" cy="210"/>
                    </a:xfrm>
                    <a:prstGeom prst="rect">
                      <a:avLst/>
                    </a:prstGeom>
                    <a:solidFill>
                      <a:srgbClr val="FFFFFF"/>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97" name="Line 107">
                      <a:extLst>
                        <a:ext uri="{FF2B5EF4-FFF2-40B4-BE49-F238E27FC236}">
                          <a16:creationId xmlns:a16="http://schemas.microsoft.com/office/drawing/2014/main" id="{3BFF684A-45B4-96E9-8C4F-013B807583C9}"/>
                        </a:ext>
                      </a:extLst>
                    </p:cNvPr>
                    <p:cNvSpPr>
                      <a:spLocks noChangeShapeType="1"/>
                    </p:cNvSpPr>
                    <p:nvPr/>
                  </p:nvSpPr>
                  <p:spPr bwMode="auto">
                    <a:xfrm>
                      <a:off x="1708" y="1155"/>
                      <a:ext cx="83"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98" name="Line 108">
                      <a:extLst>
                        <a:ext uri="{FF2B5EF4-FFF2-40B4-BE49-F238E27FC236}">
                          <a16:creationId xmlns:a16="http://schemas.microsoft.com/office/drawing/2014/main" id="{4325F7CC-417C-5BB2-D74A-BD7EF4EAE836}"/>
                        </a:ext>
                      </a:extLst>
                    </p:cNvPr>
                    <p:cNvSpPr>
                      <a:spLocks noChangeShapeType="1"/>
                    </p:cNvSpPr>
                    <p:nvPr/>
                  </p:nvSpPr>
                  <p:spPr bwMode="auto">
                    <a:xfrm>
                      <a:off x="1708" y="1194"/>
                      <a:ext cx="83"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99" name="Line 109">
                      <a:extLst>
                        <a:ext uri="{FF2B5EF4-FFF2-40B4-BE49-F238E27FC236}">
                          <a16:creationId xmlns:a16="http://schemas.microsoft.com/office/drawing/2014/main" id="{20D8D144-DE13-93DA-5C67-7AE76C3500E1}"/>
                        </a:ext>
                      </a:extLst>
                    </p:cNvPr>
                    <p:cNvSpPr>
                      <a:spLocks noChangeShapeType="1"/>
                    </p:cNvSpPr>
                    <p:nvPr/>
                  </p:nvSpPr>
                  <p:spPr bwMode="auto">
                    <a:xfrm>
                      <a:off x="1708" y="1222"/>
                      <a:ext cx="83"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00" name="Line 110">
                      <a:extLst>
                        <a:ext uri="{FF2B5EF4-FFF2-40B4-BE49-F238E27FC236}">
                          <a16:creationId xmlns:a16="http://schemas.microsoft.com/office/drawing/2014/main" id="{DD6E55E9-B3D7-7B2C-8A78-C5A66D6CB8DF}"/>
                        </a:ext>
                      </a:extLst>
                    </p:cNvPr>
                    <p:cNvSpPr>
                      <a:spLocks noChangeShapeType="1"/>
                    </p:cNvSpPr>
                    <p:nvPr/>
                  </p:nvSpPr>
                  <p:spPr bwMode="auto">
                    <a:xfrm>
                      <a:off x="1708" y="1260"/>
                      <a:ext cx="83"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01" name="Line 111">
                      <a:extLst>
                        <a:ext uri="{FF2B5EF4-FFF2-40B4-BE49-F238E27FC236}">
                          <a16:creationId xmlns:a16="http://schemas.microsoft.com/office/drawing/2014/main" id="{F776F683-CDD9-EB38-2636-6492B000E8FA}"/>
                        </a:ext>
                      </a:extLst>
                    </p:cNvPr>
                    <p:cNvSpPr>
                      <a:spLocks noChangeShapeType="1"/>
                    </p:cNvSpPr>
                    <p:nvPr/>
                  </p:nvSpPr>
                  <p:spPr bwMode="auto">
                    <a:xfrm>
                      <a:off x="1708" y="1299"/>
                      <a:ext cx="83"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grpSp>
                <p:nvGrpSpPr>
                  <p:cNvPr id="273" name="Group 112">
                    <a:extLst>
                      <a:ext uri="{FF2B5EF4-FFF2-40B4-BE49-F238E27FC236}">
                        <a16:creationId xmlns:a16="http://schemas.microsoft.com/office/drawing/2014/main" id="{12F24888-455A-5291-FABB-D82F09A0CB91}"/>
                      </a:ext>
                    </a:extLst>
                  </p:cNvPr>
                  <p:cNvGrpSpPr>
                    <a:grpSpLocks/>
                  </p:cNvGrpSpPr>
                  <p:nvPr/>
                </p:nvGrpSpPr>
                <p:grpSpPr bwMode="auto">
                  <a:xfrm>
                    <a:off x="1735" y="1410"/>
                    <a:ext cx="579" cy="214"/>
                    <a:chOff x="1735" y="1410"/>
                    <a:chExt cx="579" cy="214"/>
                  </a:xfrm>
                </p:grpSpPr>
                <p:grpSp>
                  <p:nvGrpSpPr>
                    <p:cNvPr id="274" name="Group 113">
                      <a:extLst>
                        <a:ext uri="{FF2B5EF4-FFF2-40B4-BE49-F238E27FC236}">
                          <a16:creationId xmlns:a16="http://schemas.microsoft.com/office/drawing/2014/main" id="{44E692DE-B263-2E9D-3BC9-6E6DD54E4AAB}"/>
                        </a:ext>
                      </a:extLst>
                    </p:cNvPr>
                    <p:cNvGrpSpPr>
                      <a:grpSpLocks/>
                    </p:cNvGrpSpPr>
                    <p:nvPr/>
                  </p:nvGrpSpPr>
                  <p:grpSpPr bwMode="auto">
                    <a:xfrm>
                      <a:off x="1735" y="1410"/>
                      <a:ext cx="579" cy="214"/>
                      <a:chOff x="1735" y="1410"/>
                      <a:chExt cx="579" cy="214"/>
                    </a:xfrm>
                  </p:grpSpPr>
                  <p:sp>
                    <p:nvSpPr>
                      <p:cNvPr id="283" name="Rectangle 114">
                        <a:extLst>
                          <a:ext uri="{FF2B5EF4-FFF2-40B4-BE49-F238E27FC236}">
                            <a16:creationId xmlns:a16="http://schemas.microsoft.com/office/drawing/2014/main" id="{BFBE5023-B1F1-376F-734A-8F677DF70EA6}"/>
                          </a:ext>
                        </a:extLst>
                      </p:cNvPr>
                      <p:cNvSpPr>
                        <a:spLocks noChangeArrowheads="1"/>
                      </p:cNvSpPr>
                      <p:nvPr/>
                    </p:nvSpPr>
                    <p:spPr bwMode="auto">
                      <a:xfrm>
                        <a:off x="1894" y="1487"/>
                        <a:ext cx="266" cy="6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84" name="Rectangle 115">
                        <a:extLst>
                          <a:ext uri="{FF2B5EF4-FFF2-40B4-BE49-F238E27FC236}">
                            <a16:creationId xmlns:a16="http://schemas.microsoft.com/office/drawing/2014/main" id="{47674BFD-2BC8-880F-724C-935FEACAC2E2}"/>
                          </a:ext>
                        </a:extLst>
                      </p:cNvPr>
                      <p:cNvSpPr>
                        <a:spLocks noChangeArrowheads="1"/>
                      </p:cNvSpPr>
                      <p:nvPr/>
                    </p:nvSpPr>
                    <p:spPr bwMode="auto">
                      <a:xfrm>
                        <a:off x="1894" y="1487"/>
                        <a:ext cx="267" cy="7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85" name="Rectangle 116">
                        <a:extLst>
                          <a:ext uri="{FF2B5EF4-FFF2-40B4-BE49-F238E27FC236}">
                            <a16:creationId xmlns:a16="http://schemas.microsoft.com/office/drawing/2014/main" id="{C8FCF7F7-6F11-BFDA-E2EB-E1220E864E86}"/>
                          </a:ext>
                        </a:extLst>
                      </p:cNvPr>
                      <p:cNvSpPr>
                        <a:spLocks noChangeArrowheads="1"/>
                      </p:cNvSpPr>
                      <p:nvPr/>
                    </p:nvSpPr>
                    <p:spPr bwMode="auto">
                      <a:xfrm>
                        <a:off x="1971" y="1409"/>
                        <a:ext cx="103" cy="27"/>
                      </a:xfrm>
                      <a:prstGeom prst="rect">
                        <a:avLst/>
                      </a:prstGeom>
                      <a:blipFill dpi="0" rotWithShape="0">
                        <a:blip r:embed="rId5"/>
                        <a:srcRect/>
                        <a:tile tx="0" ty="0" sx="100000" sy="100000" flip="none" algn="tl"/>
                      </a:blip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86" name="Rectangle 117">
                        <a:extLst>
                          <a:ext uri="{FF2B5EF4-FFF2-40B4-BE49-F238E27FC236}">
                            <a16:creationId xmlns:a16="http://schemas.microsoft.com/office/drawing/2014/main" id="{4CCD95FB-9A2E-E822-F2CE-BB24517F29F6}"/>
                          </a:ext>
                        </a:extLst>
                      </p:cNvPr>
                      <p:cNvSpPr>
                        <a:spLocks noChangeArrowheads="1"/>
                      </p:cNvSpPr>
                      <p:nvPr/>
                    </p:nvSpPr>
                    <p:spPr bwMode="auto">
                      <a:xfrm>
                        <a:off x="1976" y="1596"/>
                        <a:ext cx="99" cy="27"/>
                      </a:xfrm>
                      <a:prstGeom prst="rect">
                        <a:avLst/>
                      </a:prstGeom>
                      <a:blipFill dpi="0" rotWithShape="0">
                        <a:blip r:embed="rId5"/>
                        <a:srcRect/>
                        <a:tile tx="0" ty="0" sx="100000" sy="100000" flip="none" algn="tl"/>
                      </a:blip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87" name="Rectangle 118">
                        <a:extLst>
                          <a:ext uri="{FF2B5EF4-FFF2-40B4-BE49-F238E27FC236}">
                            <a16:creationId xmlns:a16="http://schemas.microsoft.com/office/drawing/2014/main" id="{0D5452C2-AE7D-1475-796B-7DF3E3FE817E}"/>
                          </a:ext>
                        </a:extLst>
                      </p:cNvPr>
                      <p:cNvSpPr>
                        <a:spLocks noChangeArrowheads="1"/>
                      </p:cNvSpPr>
                      <p:nvPr/>
                    </p:nvSpPr>
                    <p:spPr bwMode="auto">
                      <a:xfrm>
                        <a:off x="2216" y="1510"/>
                        <a:ext cx="99" cy="27"/>
                      </a:xfrm>
                      <a:prstGeom prst="rect">
                        <a:avLst/>
                      </a:prstGeom>
                      <a:blipFill dpi="0" rotWithShape="0">
                        <a:blip r:embed="rId5"/>
                        <a:srcRect/>
                        <a:tile tx="0" ty="0" sx="100000" sy="100000" flip="none" algn="tl"/>
                      </a:blip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88" name="Rectangle 119">
                        <a:extLst>
                          <a:ext uri="{FF2B5EF4-FFF2-40B4-BE49-F238E27FC236}">
                            <a16:creationId xmlns:a16="http://schemas.microsoft.com/office/drawing/2014/main" id="{D64A9302-1FCF-21E0-CDA2-15C5246BB6C5}"/>
                          </a:ext>
                        </a:extLst>
                      </p:cNvPr>
                      <p:cNvSpPr>
                        <a:spLocks noChangeArrowheads="1"/>
                      </p:cNvSpPr>
                      <p:nvPr/>
                    </p:nvSpPr>
                    <p:spPr bwMode="auto">
                      <a:xfrm>
                        <a:off x="1736" y="1505"/>
                        <a:ext cx="104" cy="27"/>
                      </a:xfrm>
                      <a:prstGeom prst="rect">
                        <a:avLst/>
                      </a:prstGeom>
                      <a:blipFill dpi="0" rotWithShape="0">
                        <a:blip r:embed="rId5"/>
                        <a:srcRect/>
                        <a:tile tx="0" ty="0" sx="100000" sy="100000" flip="none" algn="tl"/>
                      </a:blip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89" name="Freeform 120">
                        <a:extLst>
                          <a:ext uri="{FF2B5EF4-FFF2-40B4-BE49-F238E27FC236}">
                            <a16:creationId xmlns:a16="http://schemas.microsoft.com/office/drawing/2014/main" id="{7069A0F8-7741-41E0-55D2-A64C0DE816AF}"/>
                          </a:ext>
                        </a:extLst>
                      </p:cNvPr>
                      <p:cNvSpPr>
                        <a:spLocks/>
                      </p:cNvSpPr>
                      <p:nvPr/>
                    </p:nvSpPr>
                    <p:spPr bwMode="auto">
                      <a:xfrm>
                        <a:off x="2101" y="1419"/>
                        <a:ext cx="165" cy="59"/>
                      </a:xfrm>
                      <a:custGeom>
                        <a:avLst/>
                        <a:gdLst>
                          <a:gd name="T0" fmla="*/ 0 w 164"/>
                          <a:gd name="T1" fmla="*/ 0 h 59"/>
                          <a:gd name="T2" fmla="*/ 81 w 164"/>
                          <a:gd name="T3" fmla="*/ 10 h 59"/>
                          <a:gd name="T4" fmla="*/ 140 w 164"/>
                          <a:gd name="T5" fmla="*/ 29 h 59"/>
                          <a:gd name="T6" fmla="*/ 164 w 164"/>
                          <a:gd name="T7" fmla="*/ 58 h 5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4" h="59">
                            <a:moveTo>
                              <a:pt x="0" y="0"/>
                            </a:moveTo>
                            <a:lnTo>
                              <a:pt x="81" y="10"/>
                            </a:lnTo>
                            <a:lnTo>
                              <a:pt x="139" y="29"/>
                            </a:lnTo>
                            <a:lnTo>
                              <a:pt x="163" y="58"/>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290" name="Freeform 121">
                        <a:extLst>
                          <a:ext uri="{FF2B5EF4-FFF2-40B4-BE49-F238E27FC236}">
                            <a16:creationId xmlns:a16="http://schemas.microsoft.com/office/drawing/2014/main" id="{B82F0CB1-A847-8AB4-6DB4-CADA80DA8B1A}"/>
                          </a:ext>
                        </a:extLst>
                      </p:cNvPr>
                      <p:cNvSpPr>
                        <a:spLocks/>
                      </p:cNvSpPr>
                      <p:nvPr/>
                    </p:nvSpPr>
                    <p:spPr bwMode="auto">
                      <a:xfrm>
                        <a:off x="2101" y="1419"/>
                        <a:ext cx="165" cy="59"/>
                      </a:xfrm>
                      <a:custGeom>
                        <a:avLst/>
                        <a:gdLst>
                          <a:gd name="T0" fmla="*/ 0 w 164"/>
                          <a:gd name="T1" fmla="*/ 0 h 59"/>
                          <a:gd name="T2" fmla="*/ 9 w 164"/>
                          <a:gd name="T3" fmla="*/ 0 h 59"/>
                          <a:gd name="T4" fmla="*/ 33 w 164"/>
                          <a:gd name="T5" fmla="*/ 5 h 59"/>
                          <a:gd name="T6" fmla="*/ 43 w 164"/>
                          <a:gd name="T7" fmla="*/ 5 h 59"/>
                          <a:gd name="T8" fmla="*/ 62 w 164"/>
                          <a:gd name="T9" fmla="*/ 10 h 59"/>
                          <a:gd name="T10" fmla="*/ 72 w 164"/>
                          <a:gd name="T11" fmla="*/ 10 h 59"/>
                          <a:gd name="T12" fmla="*/ 92 w 164"/>
                          <a:gd name="T13" fmla="*/ 15 h 59"/>
                          <a:gd name="T14" fmla="*/ 97 w 164"/>
                          <a:gd name="T15" fmla="*/ 15 h 59"/>
                          <a:gd name="T16" fmla="*/ 111 w 164"/>
                          <a:gd name="T17" fmla="*/ 19 h 59"/>
                          <a:gd name="T18" fmla="*/ 121 w 164"/>
                          <a:gd name="T19" fmla="*/ 24 h 59"/>
                          <a:gd name="T20" fmla="*/ 130 w 164"/>
                          <a:gd name="T21" fmla="*/ 29 h 59"/>
                          <a:gd name="T22" fmla="*/ 145 w 164"/>
                          <a:gd name="T23" fmla="*/ 39 h 59"/>
                          <a:gd name="T24" fmla="*/ 159 w 164"/>
                          <a:gd name="T25" fmla="*/ 53 h 59"/>
                          <a:gd name="T26" fmla="*/ 164 w 164"/>
                          <a:gd name="T27" fmla="*/ 58 h 5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64" h="59">
                            <a:moveTo>
                              <a:pt x="0" y="0"/>
                            </a:moveTo>
                            <a:lnTo>
                              <a:pt x="9" y="0"/>
                            </a:lnTo>
                            <a:lnTo>
                              <a:pt x="33" y="5"/>
                            </a:lnTo>
                            <a:lnTo>
                              <a:pt x="43" y="5"/>
                            </a:lnTo>
                            <a:lnTo>
                              <a:pt x="62" y="10"/>
                            </a:lnTo>
                            <a:lnTo>
                              <a:pt x="72" y="10"/>
                            </a:lnTo>
                            <a:lnTo>
                              <a:pt x="91" y="15"/>
                            </a:lnTo>
                            <a:lnTo>
                              <a:pt x="96" y="15"/>
                            </a:lnTo>
                            <a:lnTo>
                              <a:pt x="110" y="19"/>
                            </a:lnTo>
                            <a:lnTo>
                              <a:pt x="120" y="24"/>
                            </a:lnTo>
                            <a:lnTo>
                              <a:pt x="129" y="29"/>
                            </a:lnTo>
                            <a:lnTo>
                              <a:pt x="144" y="39"/>
                            </a:lnTo>
                            <a:lnTo>
                              <a:pt x="158" y="53"/>
                            </a:lnTo>
                            <a:lnTo>
                              <a:pt x="163" y="58"/>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291" name="Freeform 122">
                        <a:extLst>
                          <a:ext uri="{FF2B5EF4-FFF2-40B4-BE49-F238E27FC236}">
                            <a16:creationId xmlns:a16="http://schemas.microsoft.com/office/drawing/2014/main" id="{18DC0D59-3A10-8BCE-987C-A8FC158F4B5F}"/>
                          </a:ext>
                        </a:extLst>
                      </p:cNvPr>
                      <p:cNvSpPr>
                        <a:spLocks/>
                      </p:cNvSpPr>
                      <p:nvPr/>
                    </p:nvSpPr>
                    <p:spPr bwMode="auto">
                      <a:xfrm>
                        <a:off x="1775" y="1419"/>
                        <a:ext cx="179" cy="64"/>
                      </a:xfrm>
                      <a:custGeom>
                        <a:avLst/>
                        <a:gdLst>
                          <a:gd name="T0" fmla="*/ 178 w 179"/>
                          <a:gd name="T1" fmla="*/ 0 h 64"/>
                          <a:gd name="T2" fmla="*/ 140 w 179"/>
                          <a:gd name="T3" fmla="*/ 0 h 64"/>
                          <a:gd name="T4" fmla="*/ 44 w 179"/>
                          <a:gd name="T5" fmla="*/ 19 h 64"/>
                          <a:gd name="T6" fmla="*/ 10 w 179"/>
                          <a:gd name="T7" fmla="*/ 48 h 64"/>
                          <a:gd name="T8" fmla="*/ 0 w 179"/>
                          <a:gd name="T9" fmla="*/ 63 h 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9" h="64">
                            <a:moveTo>
                              <a:pt x="178" y="0"/>
                            </a:moveTo>
                            <a:lnTo>
                              <a:pt x="140" y="0"/>
                            </a:lnTo>
                            <a:lnTo>
                              <a:pt x="44" y="19"/>
                            </a:lnTo>
                            <a:lnTo>
                              <a:pt x="10" y="48"/>
                            </a:lnTo>
                            <a:lnTo>
                              <a:pt x="0" y="63"/>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292" name="Freeform 123">
                        <a:extLst>
                          <a:ext uri="{FF2B5EF4-FFF2-40B4-BE49-F238E27FC236}">
                            <a16:creationId xmlns:a16="http://schemas.microsoft.com/office/drawing/2014/main" id="{416D1C35-81C6-35A1-9050-959BBB12A47D}"/>
                          </a:ext>
                        </a:extLst>
                      </p:cNvPr>
                      <p:cNvSpPr>
                        <a:spLocks/>
                      </p:cNvSpPr>
                      <p:nvPr/>
                    </p:nvSpPr>
                    <p:spPr bwMode="auto">
                      <a:xfrm>
                        <a:off x="1775" y="1419"/>
                        <a:ext cx="179" cy="64"/>
                      </a:xfrm>
                      <a:custGeom>
                        <a:avLst/>
                        <a:gdLst>
                          <a:gd name="T0" fmla="*/ 178 w 179"/>
                          <a:gd name="T1" fmla="*/ 0 h 64"/>
                          <a:gd name="T2" fmla="*/ 159 w 179"/>
                          <a:gd name="T3" fmla="*/ 0 h 64"/>
                          <a:gd name="T4" fmla="*/ 116 w 179"/>
                          <a:gd name="T5" fmla="*/ 5 h 64"/>
                          <a:gd name="T6" fmla="*/ 92 w 179"/>
                          <a:gd name="T7" fmla="*/ 10 h 64"/>
                          <a:gd name="T8" fmla="*/ 77 w 179"/>
                          <a:gd name="T9" fmla="*/ 15 h 64"/>
                          <a:gd name="T10" fmla="*/ 58 w 179"/>
                          <a:gd name="T11" fmla="*/ 19 h 64"/>
                          <a:gd name="T12" fmla="*/ 44 w 179"/>
                          <a:gd name="T13" fmla="*/ 24 h 64"/>
                          <a:gd name="T14" fmla="*/ 34 w 179"/>
                          <a:gd name="T15" fmla="*/ 29 h 64"/>
                          <a:gd name="T16" fmla="*/ 29 w 179"/>
                          <a:gd name="T17" fmla="*/ 34 h 64"/>
                          <a:gd name="T18" fmla="*/ 20 w 179"/>
                          <a:gd name="T19" fmla="*/ 43 h 64"/>
                          <a:gd name="T20" fmla="*/ 5 w 179"/>
                          <a:gd name="T21" fmla="*/ 58 h 64"/>
                          <a:gd name="T22" fmla="*/ 0 w 179"/>
                          <a:gd name="T23" fmla="*/ 63 h 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9" h="64">
                            <a:moveTo>
                              <a:pt x="178" y="0"/>
                            </a:moveTo>
                            <a:lnTo>
                              <a:pt x="159" y="0"/>
                            </a:lnTo>
                            <a:lnTo>
                              <a:pt x="116" y="5"/>
                            </a:lnTo>
                            <a:lnTo>
                              <a:pt x="92" y="10"/>
                            </a:lnTo>
                            <a:lnTo>
                              <a:pt x="77" y="15"/>
                            </a:lnTo>
                            <a:lnTo>
                              <a:pt x="58" y="19"/>
                            </a:lnTo>
                            <a:lnTo>
                              <a:pt x="44" y="24"/>
                            </a:lnTo>
                            <a:lnTo>
                              <a:pt x="34" y="29"/>
                            </a:lnTo>
                            <a:lnTo>
                              <a:pt x="29" y="34"/>
                            </a:lnTo>
                            <a:lnTo>
                              <a:pt x="20" y="43"/>
                            </a:lnTo>
                            <a:lnTo>
                              <a:pt x="5" y="58"/>
                            </a:lnTo>
                            <a:lnTo>
                              <a:pt x="0" y="63"/>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grpSp>
                <p:sp>
                  <p:nvSpPr>
                    <p:cNvPr id="275" name="Freeform 124">
                      <a:extLst>
                        <a:ext uri="{FF2B5EF4-FFF2-40B4-BE49-F238E27FC236}">
                          <a16:creationId xmlns:a16="http://schemas.microsoft.com/office/drawing/2014/main" id="{A005D28F-3726-23E0-D530-1D2C47C12FD1}"/>
                        </a:ext>
                      </a:extLst>
                    </p:cNvPr>
                    <p:cNvSpPr>
                      <a:spLocks/>
                    </p:cNvSpPr>
                    <p:nvPr/>
                  </p:nvSpPr>
                  <p:spPr bwMode="auto">
                    <a:xfrm>
                      <a:off x="2246" y="1462"/>
                      <a:ext cx="16" cy="17"/>
                    </a:xfrm>
                    <a:custGeom>
                      <a:avLst/>
                      <a:gdLst>
                        <a:gd name="T0" fmla="*/ 12 w 17"/>
                        <a:gd name="T1" fmla="*/ 0 h 17"/>
                        <a:gd name="T2" fmla="*/ 0 w 17"/>
                        <a:gd name="T3" fmla="*/ 10 h 17"/>
                        <a:gd name="T4" fmla="*/ 15 w 17"/>
                        <a:gd name="T5" fmla="*/ 16 h 17"/>
                        <a:gd name="T6" fmla="*/ 12 w 17"/>
                        <a:gd name="T7" fmla="*/ 0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13" y="0"/>
                          </a:moveTo>
                          <a:lnTo>
                            <a:pt x="0" y="10"/>
                          </a:lnTo>
                          <a:lnTo>
                            <a:pt x="16" y="16"/>
                          </a:lnTo>
                          <a:lnTo>
                            <a:pt x="13" y="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Roboto" panose="02000000000000000000" pitchFamily="2" charset="0"/>
                        <a:ea typeface="Roboto" panose="02000000000000000000" pitchFamily="2" charset="0"/>
                      </a:endParaRPr>
                    </a:p>
                  </p:txBody>
                </p:sp>
                <p:sp>
                  <p:nvSpPr>
                    <p:cNvPr id="276" name="Freeform 125">
                      <a:extLst>
                        <a:ext uri="{FF2B5EF4-FFF2-40B4-BE49-F238E27FC236}">
                          <a16:creationId xmlns:a16="http://schemas.microsoft.com/office/drawing/2014/main" id="{A42660B8-AF08-8F9C-0307-70A7F88C73A4}"/>
                        </a:ext>
                      </a:extLst>
                    </p:cNvPr>
                    <p:cNvSpPr>
                      <a:spLocks/>
                    </p:cNvSpPr>
                    <p:nvPr/>
                  </p:nvSpPr>
                  <p:spPr bwMode="auto">
                    <a:xfrm>
                      <a:off x="2246" y="1462"/>
                      <a:ext cx="24" cy="25"/>
                    </a:xfrm>
                    <a:custGeom>
                      <a:avLst/>
                      <a:gdLst>
                        <a:gd name="T0" fmla="*/ 18 w 25"/>
                        <a:gd name="T1" fmla="*/ 0 h 25"/>
                        <a:gd name="T2" fmla="*/ 0 w 25"/>
                        <a:gd name="T3" fmla="*/ 15 h 25"/>
                        <a:gd name="T4" fmla="*/ 23 w 25"/>
                        <a:gd name="T5" fmla="*/ 24 h 25"/>
                        <a:gd name="T6" fmla="*/ 18 w 25"/>
                        <a:gd name="T7" fmla="*/ 0 h 25"/>
                        <a:gd name="T8" fmla="*/ 0 w 25"/>
                        <a:gd name="T9" fmla="*/ 15 h 25"/>
                        <a:gd name="T10" fmla="*/ 23 w 25"/>
                        <a:gd name="T11" fmla="*/ 24 h 25"/>
                        <a:gd name="T12" fmla="*/ 18 w 25"/>
                        <a:gd name="T13" fmla="*/ 0 h 2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25">
                          <a:moveTo>
                            <a:pt x="19" y="0"/>
                          </a:moveTo>
                          <a:lnTo>
                            <a:pt x="0" y="15"/>
                          </a:lnTo>
                          <a:lnTo>
                            <a:pt x="24" y="24"/>
                          </a:lnTo>
                          <a:lnTo>
                            <a:pt x="19" y="0"/>
                          </a:lnTo>
                          <a:lnTo>
                            <a:pt x="0" y="15"/>
                          </a:lnTo>
                          <a:lnTo>
                            <a:pt x="24" y="24"/>
                          </a:lnTo>
                          <a:lnTo>
                            <a:pt x="19" y="0"/>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277" name="Freeform 126">
                      <a:extLst>
                        <a:ext uri="{FF2B5EF4-FFF2-40B4-BE49-F238E27FC236}">
                          <a16:creationId xmlns:a16="http://schemas.microsoft.com/office/drawing/2014/main" id="{C5318147-2803-A4A6-487F-A05A4203C4F9}"/>
                        </a:ext>
                      </a:extLst>
                    </p:cNvPr>
                    <p:cNvSpPr>
                      <a:spLocks/>
                    </p:cNvSpPr>
                    <p:nvPr/>
                  </p:nvSpPr>
                  <p:spPr bwMode="auto">
                    <a:xfrm>
                      <a:off x="2107" y="1601"/>
                      <a:ext cx="20" cy="21"/>
                    </a:xfrm>
                    <a:custGeom>
                      <a:avLst/>
                      <a:gdLst>
                        <a:gd name="T0" fmla="*/ 0 w 20"/>
                        <a:gd name="T1" fmla="*/ 10 h 21"/>
                        <a:gd name="T2" fmla="*/ 19 w 20"/>
                        <a:gd name="T3" fmla="*/ 0 h 21"/>
                        <a:gd name="T4" fmla="*/ 19 w 20"/>
                        <a:gd name="T5" fmla="*/ 20 h 21"/>
                        <a:gd name="T6" fmla="*/ 0 w 20"/>
                        <a:gd name="T7" fmla="*/ 15 h 21"/>
                        <a:gd name="T8" fmla="*/ 0 w 20"/>
                        <a:gd name="T9" fmla="*/ 10 h 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21">
                          <a:moveTo>
                            <a:pt x="0" y="10"/>
                          </a:moveTo>
                          <a:lnTo>
                            <a:pt x="19" y="0"/>
                          </a:lnTo>
                          <a:lnTo>
                            <a:pt x="19" y="20"/>
                          </a:lnTo>
                          <a:lnTo>
                            <a:pt x="0" y="15"/>
                          </a:lnTo>
                          <a:lnTo>
                            <a:pt x="0" y="10"/>
                          </a:lnTo>
                        </a:path>
                      </a:pathLst>
                    </a:custGeom>
                    <a:solidFill>
                      <a:srgbClr val="000000"/>
                    </a:solidFill>
                    <a:ln w="12700" cap="rnd" cmpd="sng">
                      <a:solidFill>
                        <a:srgbClr val="000000"/>
                      </a:solidFill>
                      <a:prstDash val="solid"/>
                      <a:round/>
                      <a:headEnd type="none" w="med" len="med"/>
                      <a:tailEnd type="none" w="med" len="med"/>
                    </a:ln>
                  </p:spPr>
                  <p:txBody>
                    <a:bodyPr/>
                    <a:lstStyle/>
                    <a:p>
                      <a:endParaRPr lang="en-US">
                        <a:latin typeface="Roboto" panose="02000000000000000000" pitchFamily="2" charset="0"/>
                        <a:ea typeface="Roboto" panose="02000000000000000000" pitchFamily="2" charset="0"/>
                      </a:endParaRPr>
                    </a:p>
                  </p:txBody>
                </p:sp>
                <p:sp>
                  <p:nvSpPr>
                    <p:cNvPr id="278" name="Freeform 127">
                      <a:extLst>
                        <a:ext uri="{FF2B5EF4-FFF2-40B4-BE49-F238E27FC236}">
                          <a16:creationId xmlns:a16="http://schemas.microsoft.com/office/drawing/2014/main" id="{6BE3F991-AB85-06FE-6F92-166B6CCD99E3}"/>
                        </a:ext>
                      </a:extLst>
                    </p:cNvPr>
                    <p:cNvSpPr>
                      <a:spLocks/>
                    </p:cNvSpPr>
                    <p:nvPr/>
                  </p:nvSpPr>
                  <p:spPr bwMode="auto">
                    <a:xfrm>
                      <a:off x="2107" y="1601"/>
                      <a:ext cx="20" cy="21"/>
                    </a:xfrm>
                    <a:custGeom>
                      <a:avLst/>
                      <a:gdLst>
                        <a:gd name="T0" fmla="*/ 0 w 20"/>
                        <a:gd name="T1" fmla="*/ 10 h 21"/>
                        <a:gd name="T2" fmla="*/ 19 w 20"/>
                        <a:gd name="T3" fmla="*/ 0 h 21"/>
                        <a:gd name="T4" fmla="*/ 19 w 20"/>
                        <a:gd name="T5" fmla="*/ 20 h 21"/>
                        <a:gd name="T6" fmla="*/ 0 w 20"/>
                        <a:gd name="T7" fmla="*/ 15 h 2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1">
                          <a:moveTo>
                            <a:pt x="0" y="10"/>
                          </a:moveTo>
                          <a:lnTo>
                            <a:pt x="19" y="0"/>
                          </a:lnTo>
                          <a:lnTo>
                            <a:pt x="19" y="20"/>
                          </a:lnTo>
                          <a:lnTo>
                            <a:pt x="0" y="15"/>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279" name="Freeform 128">
                      <a:extLst>
                        <a:ext uri="{FF2B5EF4-FFF2-40B4-BE49-F238E27FC236}">
                          <a16:creationId xmlns:a16="http://schemas.microsoft.com/office/drawing/2014/main" id="{C2816A2E-B62A-5C46-2377-9155FC81FB98}"/>
                        </a:ext>
                      </a:extLst>
                    </p:cNvPr>
                    <p:cNvSpPr>
                      <a:spLocks/>
                    </p:cNvSpPr>
                    <p:nvPr/>
                  </p:nvSpPr>
                  <p:spPr bwMode="auto">
                    <a:xfrm>
                      <a:off x="1780" y="1558"/>
                      <a:ext cx="12" cy="17"/>
                    </a:xfrm>
                    <a:custGeom>
                      <a:avLst/>
                      <a:gdLst>
                        <a:gd name="T0" fmla="*/ 0 w 12"/>
                        <a:gd name="T1" fmla="*/ 0 h 17"/>
                        <a:gd name="T2" fmla="*/ 3 w 12"/>
                        <a:gd name="T3" fmla="*/ 16 h 17"/>
                        <a:gd name="T4" fmla="*/ 11 w 12"/>
                        <a:gd name="T5" fmla="*/ 7 h 17"/>
                        <a:gd name="T6" fmla="*/ 3 w 12"/>
                        <a:gd name="T7" fmla="*/ 0 h 17"/>
                        <a:gd name="T8" fmla="*/ 0 w 12"/>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17">
                          <a:moveTo>
                            <a:pt x="0" y="0"/>
                          </a:moveTo>
                          <a:lnTo>
                            <a:pt x="3" y="16"/>
                          </a:lnTo>
                          <a:lnTo>
                            <a:pt x="11" y="7"/>
                          </a:lnTo>
                          <a:lnTo>
                            <a:pt x="3" y="0"/>
                          </a:lnTo>
                          <a:lnTo>
                            <a:pt x="0" y="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Roboto" panose="02000000000000000000" pitchFamily="2" charset="0"/>
                        <a:ea typeface="Roboto" panose="02000000000000000000" pitchFamily="2" charset="0"/>
                      </a:endParaRPr>
                    </a:p>
                  </p:txBody>
                </p:sp>
                <p:sp>
                  <p:nvSpPr>
                    <p:cNvPr id="280" name="Freeform 129">
                      <a:extLst>
                        <a:ext uri="{FF2B5EF4-FFF2-40B4-BE49-F238E27FC236}">
                          <a16:creationId xmlns:a16="http://schemas.microsoft.com/office/drawing/2014/main" id="{297920D4-920C-C893-301C-8D8FBD8292C2}"/>
                        </a:ext>
                      </a:extLst>
                    </p:cNvPr>
                    <p:cNvSpPr>
                      <a:spLocks/>
                    </p:cNvSpPr>
                    <p:nvPr/>
                  </p:nvSpPr>
                  <p:spPr bwMode="auto">
                    <a:xfrm>
                      <a:off x="1780" y="1558"/>
                      <a:ext cx="20" cy="25"/>
                    </a:xfrm>
                    <a:custGeom>
                      <a:avLst/>
                      <a:gdLst>
                        <a:gd name="T0" fmla="*/ 0 w 20"/>
                        <a:gd name="T1" fmla="*/ 0 h 25"/>
                        <a:gd name="T2" fmla="*/ 5 w 20"/>
                        <a:gd name="T3" fmla="*/ 24 h 25"/>
                        <a:gd name="T4" fmla="*/ 19 w 20"/>
                        <a:gd name="T5" fmla="*/ 10 h 25"/>
                        <a:gd name="T6" fmla="*/ 5 w 20"/>
                        <a:gd name="T7" fmla="*/ 0 h 25"/>
                        <a:gd name="T8" fmla="*/ 0 w 20"/>
                        <a:gd name="T9" fmla="*/ 0 h 25"/>
                        <a:gd name="T10" fmla="*/ 5 w 20"/>
                        <a:gd name="T11" fmla="*/ 24 h 25"/>
                        <a:gd name="T12" fmla="*/ 19 w 20"/>
                        <a:gd name="T13" fmla="*/ 10 h 25"/>
                        <a:gd name="T14" fmla="*/ 5 w 20"/>
                        <a:gd name="T15" fmla="*/ 0 h 25"/>
                        <a:gd name="T16" fmla="*/ 0 w 20"/>
                        <a:gd name="T17" fmla="*/ 0 h 2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0" h="25">
                          <a:moveTo>
                            <a:pt x="0" y="0"/>
                          </a:moveTo>
                          <a:lnTo>
                            <a:pt x="5" y="24"/>
                          </a:lnTo>
                          <a:lnTo>
                            <a:pt x="19" y="10"/>
                          </a:lnTo>
                          <a:lnTo>
                            <a:pt x="5" y="0"/>
                          </a:lnTo>
                          <a:lnTo>
                            <a:pt x="0" y="0"/>
                          </a:lnTo>
                          <a:lnTo>
                            <a:pt x="5" y="24"/>
                          </a:lnTo>
                          <a:lnTo>
                            <a:pt x="19" y="10"/>
                          </a:lnTo>
                          <a:lnTo>
                            <a:pt x="5" y="0"/>
                          </a:lnTo>
                          <a:lnTo>
                            <a:pt x="0" y="0"/>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281" name="Freeform 130">
                      <a:extLst>
                        <a:ext uri="{FF2B5EF4-FFF2-40B4-BE49-F238E27FC236}">
                          <a16:creationId xmlns:a16="http://schemas.microsoft.com/office/drawing/2014/main" id="{901E3653-1D74-DB85-7C2F-7AB9E103E6BD}"/>
                        </a:ext>
                      </a:extLst>
                    </p:cNvPr>
                    <p:cNvSpPr>
                      <a:spLocks/>
                    </p:cNvSpPr>
                    <p:nvPr/>
                  </p:nvSpPr>
                  <p:spPr bwMode="auto">
                    <a:xfrm>
                      <a:off x="1939" y="1410"/>
                      <a:ext cx="20" cy="25"/>
                    </a:xfrm>
                    <a:custGeom>
                      <a:avLst/>
                      <a:gdLst>
                        <a:gd name="T0" fmla="*/ 19 w 20"/>
                        <a:gd name="T1" fmla="*/ 9 h 25"/>
                        <a:gd name="T2" fmla="*/ 0 w 20"/>
                        <a:gd name="T3" fmla="*/ 0 h 25"/>
                        <a:gd name="T4" fmla="*/ 0 w 20"/>
                        <a:gd name="T5" fmla="*/ 24 h 25"/>
                        <a:gd name="T6" fmla="*/ 14 w 20"/>
                        <a:gd name="T7" fmla="*/ 9 h 25"/>
                        <a:gd name="T8" fmla="*/ 19 w 20"/>
                        <a:gd name="T9" fmla="*/ 9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25">
                          <a:moveTo>
                            <a:pt x="19" y="9"/>
                          </a:moveTo>
                          <a:lnTo>
                            <a:pt x="0" y="0"/>
                          </a:lnTo>
                          <a:lnTo>
                            <a:pt x="0" y="24"/>
                          </a:lnTo>
                          <a:lnTo>
                            <a:pt x="14" y="9"/>
                          </a:lnTo>
                          <a:lnTo>
                            <a:pt x="19" y="9"/>
                          </a:lnTo>
                        </a:path>
                      </a:pathLst>
                    </a:custGeom>
                    <a:solidFill>
                      <a:srgbClr val="000000"/>
                    </a:solidFill>
                    <a:ln w="12700" cap="rnd" cmpd="sng">
                      <a:solidFill>
                        <a:srgbClr val="000000"/>
                      </a:solidFill>
                      <a:prstDash val="solid"/>
                      <a:round/>
                      <a:headEnd type="none" w="med" len="med"/>
                      <a:tailEnd type="none" w="med" len="med"/>
                    </a:ln>
                  </p:spPr>
                  <p:txBody>
                    <a:bodyPr/>
                    <a:lstStyle/>
                    <a:p>
                      <a:endParaRPr lang="en-US">
                        <a:latin typeface="Roboto" panose="02000000000000000000" pitchFamily="2" charset="0"/>
                        <a:ea typeface="Roboto" panose="02000000000000000000" pitchFamily="2" charset="0"/>
                      </a:endParaRPr>
                    </a:p>
                  </p:txBody>
                </p:sp>
                <p:sp>
                  <p:nvSpPr>
                    <p:cNvPr id="282" name="Freeform 131">
                      <a:extLst>
                        <a:ext uri="{FF2B5EF4-FFF2-40B4-BE49-F238E27FC236}">
                          <a16:creationId xmlns:a16="http://schemas.microsoft.com/office/drawing/2014/main" id="{4192892A-E43A-5D2F-956E-8BA986F81268}"/>
                        </a:ext>
                      </a:extLst>
                    </p:cNvPr>
                    <p:cNvSpPr>
                      <a:spLocks/>
                    </p:cNvSpPr>
                    <p:nvPr/>
                  </p:nvSpPr>
                  <p:spPr bwMode="auto">
                    <a:xfrm>
                      <a:off x="1939" y="1410"/>
                      <a:ext cx="20" cy="25"/>
                    </a:xfrm>
                    <a:custGeom>
                      <a:avLst/>
                      <a:gdLst>
                        <a:gd name="T0" fmla="*/ 19 w 20"/>
                        <a:gd name="T1" fmla="*/ 9 h 25"/>
                        <a:gd name="T2" fmla="*/ 0 w 20"/>
                        <a:gd name="T3" fmla="*/ 0 h 25"/>
                        <a:gd name="T4" fmla="*/ 0 w 20"/>
                        <a:gd name="T5" fmla="*/ 24 h 25"/>
                        <a:gd name="T6" fmla="*/ 14 w 20"/>
                        <a:gd name="T7" fmla="*/ 9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5">
                          <a:moveTo>
                            <a:pt x="19" y="9"/>
                          </a:moveTo>
                          <a:lnTo>
                            <a:pt x="0" y="0"/>
                          </a:lnTo>
                          <a:lnTo>
                            <a:pt x="0" y="24"/>
                          </a:lnTo>
                          <a:lnTo>
                            <a:pt x="14" y="9"/>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grpSp>
            </p:grpSp>
          </p:grpSp>
          <p:sp>
            <p:nvSpPr>
              <p:cNvPr id="226" name="Oval 132">
                <a:extLst>
                  <a:ext uri="{FF2B5EF4-FFF2-40B4-BE49-F238E27FC236}">
                    <a16:creationId xmlns:a16="http://schemas.microsoft.com/office/drawing/2014/main" id="{45E8CFA9-0F5F-AE37-DC0A-DECB4144A332}"/>
                  </a:ext>
                </a:extLst>
              </p:cNvPr>
              <p:cNvSpPr>
                <a:spLocks noChangeArrowheads="1"/>
              </p:cNvSpPr>
              <p:nvPr/>
            </p:nvSpPr>
            <p:spPr bwMode="auto">
              <a:xfrm>
                <a:off x="1751" y="949"/>
                <a:ext cx="36" cy="32"/>
              </a:xfrm>
              <a:prstGeom prst="ellipse">
                <a:avLst/>
              </a:prstGeom>
              <a:blipFill dpi="0" rotWithShape="0">
                <a:blip r:embed="rId4"/>
                <a:srcRect/>
                <a:tile tx="0" ty="0" sx="100000" sy="100000" flip="none" algn="tl"/>
              </a:blip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27" name="Freeform 133">
                <a:extLst>
                  <a:ext uri="{FF2B5EF4-FFF2-40B4-BE49-F238E27FC236}">
                    <a16:creationId xmlns:a16="http://schemas.microsoft.com/office/drawing/2014/main" id="{2A5F8F87-8FAB-121D-BEC1-2FFCD58F4228}"/>
                  </a:ext>
                </a:extLst>
              </p:cNvPr>
              <p:cNvSpPr>
                <a:spLocks/>
              </p:cNvSpPr>
              <p:nvPr/>
            </p:nvSpPr>
            <p:spPr bwMode="auto">
              <a:xfrm>
                <a:off x="1760" y="935"/>
                <a:ext cx="39" cy="41"/>
              </a:xfrm>
              <a:custGeom>
                <a:avLst/>
                <a:gdLst>
                  <a:gd name="T0" fmla="*/ 19 w 39"/>
                  <a:gd name="T1" fmla="*/ 0 h 40"/>
                  <a:gd name="T2" fmla="*/ 38 w 39"/>
                  <a:gd name="T3" fmla="*/ 0 h 40"/>
                  <a:gd name="T4" fmla="*/ 38 w 39"/>
                  <a:gd name="T5" fmla="*/ 40 h 40"/>
                  <a:gd name="T6" fmla="*/ 0 w 39"/>
                  <a:gd name="T7" fmla="*/ 40 h 40"/>
                  <a:gd name="T8" fmla="*/ 0 w 39"/>
                  <a:gd name="T9" fmla="*/ 25 h 40"/>
                  <a:gd name="T10" fmla="*/ 14 w 39"/>
                  <a:gd name="T11" fmla="*/ 25 h 40"/>
                  <a:gd name="T12" fmla="*/ 14 w 39"/>
                  <a:gd name="T13" fmla="*/ 0 h 40"/>
                  <a:gd name="T14" fmla="*/ 19 w 39"/>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 h="40">
                    <a:moveTo>
                      <a:pt x="19" y="0"/>
                    </a:moveTo>
                    <a:lnTo>
                      <a:pt x="38" y="0"/>
                    </a:lnTo>
                    <a:lnTo>
                      <a:pt x="38" y="39"/>
                    </a:lnTo>
                    <a:lnTo>
                      <a:pt x="0" y="39"/>
                    </a:lnTo>
                    <a:lnTo>
                      <a:pt x="0" y="24"/>
                    </a:lnTo>
                    <a:lnTo>
                      <a:pt x="14" y="24"/>
                    </a:lnTo>
                    <a:lnTo>
                      <a:pt x="14" y="0"/>
                    </a:lnTo>
                    <a:lnTo>
                      <a:pt x="19" y="0"/>
                    </a:lnTo>
                  </a:path>
                </a:pathLst>
              </a:custGeom>
              <a:solidFill>
                <a:srgbClr val="FFFFFF"/>
              </a:solidFill>
              <a:ln w="12700" cap="rnd" cmpd="sng">
                <a:solidFill>
                  <a:srgbClr val="000000"/>
                </a:solidFill>
                <a:prstDash val="solid"/>
                <a:round/>
                <a:headEnd type="none" w="med" len="med"/>
                <a:tailEnd type="none" w="med" len="med"/>
              </a:ln>
            </p:spPr>
            <p:txBody>
              <a:bodyPr/>
              <a:lstStyle/>
              <a:p>
                <a:endParaRPr lang="en-US">
                  <a:latin typeface="Roboto" panose="02000000000000000000" pitchFamily="2" charset="0"/>
                  <a:ea typeface="Roboto" panose="02000000000000000000" pitchFamily="2" charset="0"/>
                </a:endParaRPr>
              </a:p>
            </p:txBody>
          </p:sp>
          <p:sp>
            <p:nvSpPr>
              <p:cNvPr id="228" name="Freeform 134">
                <a:extLst>
                  <a:ext uri="{FF2B5EF4-FFF2-40B4-BE49-F238E27FC236}">
                    <a16:creationId xmlns:a16="http://schemas.microsoft.com/office/drawing/2014/main" id="{C03FDAE4-EE70-9A03-09F8-16CE7DA9B7E2}"/>
                  </a:ext>
                </a:extLst>
              </p:cNvPr>
              <p:cNvSpPr>
                <a:spLocks/>
              </p:cNvSpPr>
              <p:nvPr/>
            </p:nvSpPr>
            <p:spPr bwMode="auto">
              <a:xfrm>
                <a:off x="1760" y="935"/>
                <a:ext cx="39" cy="41"/>
              </a:xfrm>
              <a:custGeom>
                <a:avLst/>
                <a:gdLst>
                  <a:gd name="T0" fmla="*/ 19 w 39"/>
                  <a:gd name="T1" fmla="*/ 0 h 40"/>
                  <a:gd name="T2" fmla="*/ 38 w 39"/>
                  <a:gd name="T3" fmla="*/ 0 h 40"/>
                  <a:gd name="T4" fmla="*/ 38 w 39"/>
                  <a:gd name="T5" fmla="*/ 40 h 40"/>
                  <a:gd name="T6" fmla="*/ 0 w 39"/>
                  <a:gd name="T7" fmla="*/ 40 h 40"/>
                  <a:gd name="T8" fmla="*/ 0 w 39"/>
                  <a:gd name="T9" fmla="*/ 25 h 40"/>
                  <a:gd name="T10" fmla="*/ 14 w 39"/>
                  <a:gd name="T11" fmla="*/ 25 h 40"/>
                  <a:gd name="T12" fmla="*/ 14 w 39"/>
                  <a:gd name="T13" fmla="*/ 0 h 4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9" h="40">
                    <a:moveTo>
                      <a:pt x="19" y="0"/>
                    </a:moveTo>
                    <a:lnTo>
                      <a:pt x="38" y="0"/>
                    </a:lnTo>
                    <a:lnTo>
                      <a:pt x="38" y="39"/>
                    </a:lnTo>
                    <a:lnTo>
                      <a:pt x="0" y="39"/>
                    </a:lnTo>
                    <a:lnTo>
                      <a:pt x="0" y="24"/>
                    </a:lnTo>
                    <a:lnTo>
                      <a:pt x="14" y="24"/>
                    </a:lnTo>
                    <a:lnTo>
                      <a:pt x="14" y="0"/>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grpSp>
            <p:nvGrpSpPr>
              <p:cNvPr id="229" name="Group 135">
                <a:extLst>
                  <a:ext uri="{FF2B5EF4-FFF2-40B4-BE49-F238E27FC236}">
                    <a16:creationId xmlns:a16="http://schemas.microsoft.com/office/drawing/2014/main" id="{6206E1A9-8EF3-E5F8-9034-9801734F34CC}"/>
                  </a:ext>
                </a:extLst>
              </p:cNvPr>
              <p:cNvGrpSpPr>
                <a:grpSpLocks/>
              </p:cNvGrpSpPr>
              <p:nvPr/>
            </p:nvGrpSpPr>
            <p:grpSpPr bwMode="auto">
              <a:xfrm>
                <a:off x="1764" y="695"/>
                <a:ext cx="13" cy="209"/>
                <a:chOff x="1764" y="695"/>
                <a:chExt cx="13" cy="209"/>
              </a:xfrm>
            </p:grpSpPr>
            <p:grpSp>
              <p:nvGrpSpPr>
                <p:cNvPr id="252" name="Group 136">
                  <a:extLst>
                    <a:ext uri="{FF2B5EF4-FFF2-40B4-BE49-F238E27FC236}">
                      <a16:creationId xmlns:a16="http://schemas.microsoft.com/office/drawing/2014/main" id="{4F1458B9-3BFD-EA8A-F154-CB01B5C59F0A}"/>
                    </a:ext>
                  </a:extLst>
                </p:cNvPr>
                <p:cNvGrpSpPr>
                  <a:grpSpLocks/>
                </p:cNvGrpSpPr>
                <p:nvPr/>
              </p:nvGrpSpPr>
              <p:grpSpPr bwMode="auto">
                <a:xfrm>
                  <a:off x="1764" y="882"/>
                  <a:ext cx="13" cy="22"/>
                  <a:chOff x="1764" y="882"/>
                  <a:chExt cx="13" cy="22"/>
                </a:xfrm>
              </p:grpSpPr>
              <p:sp>
                <p:nvSpPr>
                  <p:cNvPr id="268" name="Oval 137">
                    <a:extLst>
                      <a:ext uri="{FF2B5EF4-FFF2-40B4-BE49-F238E27FC236}">
                        <a16:creationId xmlns:a16="http://schemas.microsoft.com/office/drawing/2014/main" id="{B936DDE1-59E6-7864-18D9-EC830CB6B80B}"/>
                      </a:ext>
                    </a:extLst>
                  </p:cNvPr>
                  <p:cNvSpPr>
                    <a:spLocks noChangeArrowheads="1"/>
                  </p:cNvSpPr>
                  <p:nvPr/>
                </p:nvSpPr>
                <p:spPr bwMode="auto">
                  <a:xfrm>
                    <a:off x="1765" y="882"/>
                    <a:ext cx="13" cy="22"/>
                  </a:xfrm>
                  <a:prstGeom prst="ellipse">
                    <a:avLst/>
                  </a:prstGeom>
                  <a:solidFill>
                    <a:srgbClr val="FFFFFF"/>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69" name="Oval 138">
                    <a:extLst>
                      <a:ext uri="{FF2B5EF4-FFF2-40B4-BE49-F238E27FC236}">
                        <a16:creationId xmlns:a16="http://schemas.microsoft.com/office/drawing/2014/main" id="{7315E2C5-2C32-750B-7946-9D5A7BA1799F}"/>
                      </a:ext>
                    </a:extLst>
                  </p:cNvPr>
                  <p:cNvSpPr>
                    <a:spLocks noChangeArrowheads="1"/>
                  </p:cNvSpPr>
                  <p:nvPr/>
                </p:nvSpPr>
                <p:spPr bwMode="auto">
                  <a:xfrm>
                    <a:off x="1766" y="887"/>
                    <a:ext cx="6" cy="9"/>
                  </a:xfrm>
                  <a:prstGeom prst="ellipse">
                    <a:avLst/>
                  </a:prstGeom>
                  <a:solidFill>
                    <a:srgbClr val="FFFFFF"/>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253" name="Group 139">
                  <a:extLst>
                    <a:ext uri="{FF2B5EF4-FFF2-40B4-BE49-F238E27FC236}">
                      <a16:creationId xmlns:a16="http://schemas.microsoft.com/office/drawing/2014/main" id="{B7D89361-AE26-0807-AFBA-26F6307CFC70}"/>
                    </a:ext>
                  </a:extLst>
                </p:cNvPr>
                <p:cNvGrpSpPr>
                  <a:grpSpLocks/>
                </p:cNvGrpSpPr>
                <p:nvPr/>
              </p:nvGrpSpPr>
              <p:grpSpPr bwMode="auto">
                <a:xfrm>
                  <a:off x="1764" y="843"/>
                  <a:ext cx="13" cy="23"/>
                  <a:chOff x="1764" y="843"/>
                  <a:chExt cx="13" cy="23"/>
                </a:xfrm>
              </p:grpSpPr>
              <p:sp>
                <p:nvSpPr>
                  <p:cNvPr id="266" name="Oval 140">
                    <a:extLst>
                      <a:ext uri="{FF2B5EF4-FFF2-40B4-BE49-F238E27FC236}">
                        <a16:creationId xmlns:a16="http://schemas.microsoft.com/office/drawing/2014/main" id="{441B2CD4-8B94-13A6-B2A8-C49C123D9BB8}"/>
                      </a:ext>
                    </a:extLst>
                  </p:cNvPr>
                  <p:cNvSpPr>
                    <a:spLocks noChangeArrowheads="1"/>
                  </p:cNvSpPr>
                  <p:nvPr/>
                </p:nvSpPr>
                <p:spPr bwMode="auto">
                  <a:xfrm>
                    <a:off x="1765" y="843"/>
                    <a:ext cx="13" cy="23"/>
                  </a:xfrm>
                  <a:prstGeom prst="ellipse">
                    <a:avLst/>
                  </a:prstGeom>
                  <a:solidFill>
                    <a:srgbClr val="FFFFFF"/>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67" name="Oval 141">
                    <a:extLst>
                      <a:ext uri="{FF2B5EF4-FFF2-40B4-BE49-F238E27FC236}">
                        <a16:creationId xmlns:a16="http://schemas.microsoft.com/office/drawing/2014/main" id="{EF2259C2-0D5D-0E73-C4CC-A65154C50DEE}"/>
                      </a:ext>
                    </a:extLst>
                  </p:cNvPr>
                  <p:cNvSpPr>
                    <a:spLocks noChangeArrowheads="1"/>
                  </p:cNvSpPr>
                  <p:nvPr/>
                </p:nvSpPr>
                <p:spPr bwMode="auto">
                  <a:xfrm>
                    <a:off x="1766" y="847"/>
                    <a:ext cx="6" cy="14"/>
                  </a:xfrm>
                  <a:prstGeom prst="ellipse">
                    <a:avLst/>
                  </a:prstGeom>
                  <a:solidFill>
                    <a:srgbClr val="FFFFFF"/>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254" name="Group 142">
                  <a:extLst>
                    <a:ext uri="{FF2B5EF4-FFF2-40B4-BE49-F238E27FC236}">
                      <a16:creationId xmlns:a16="http://schemas.microsoft.com/office/drawing/2014/main" id="{DE3DA6A0-16B4-6E5A-5CC2-29B1F4E0011E}"/>
                    </a:ext>
                  </a:extLst>
                </p:cNvPr>
                <p:cNvGrpSpPr>
                  <a:grpSpLocks/>
                </p:cNvGrpSpPr>
                <p:nvPr/>
              </p:nvGrpSpPr>
              <p:grpSpPr bwMode="auto">
                <a:xfrm>
                  <a:off x="1764" y="805"/>
                  <a:ext cx="13" cy="22"/>
                  <a:chOff x="1764" y="805"/>
                  <a:chExt cx="13" cy="22"/>
                </a:xfrm>
              </p:grpSpPr>
              <p:sp>
                <p:nvSpPr>
                  <p:cNvPr id="264" name="Oval 143">
                    <a:extLst>
                      <a:ext uri="{FF2B5EF4-FFF2-40B4-BE49-F238E27FC236}">
                        <a16:creationId xmlns:a16="http://schemas.microsoft.com/office/drawing/2014/main" id="{6B2F0E9E-5402-0F61-A037-49265EB93CA2}"/>
                      </a:ext>
                    </a:extLst>
                  </p:cNvPr>
                  <p:cNvSpPr>
                    <a:spLocks noChangeArrowheads="1"/>
                  </p:cNvSpPr>
                  <p:nvPr/>
                </p:nvSpPr>
                <p:spPr bwMode="auto">
                  <a:xfrm>
                    <a:off x="1765" y="804"/>
                    <a:ext cx="13" cy="22"/>
                  </a:xfrm>
                  <a:prstGeom prst="ellipse">
                    <a:avLst/>
                  </a:prstGeom>
                  <a:solidFill>
                    <a:srgbClr val="FFFFFF"/>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65" name="Oval 144">
                    <a:extLst>
                      <a:ext uri="{FF2B5EF4-FFF2-40B4-BE49-F238E27FC236}">
                        <a16:creationId xmlns:a16="http://schemas.microsoft.com/office/drawing/2014/main" id="{4D49B4A4-B04B-0D78-4B7E-D2B9CD46F03B}"/>
                      </a:ext>
                    </a:extLst>
                  </p:cNvPr>
                  <p:cNvSpPr>
                    <a:spLocks noChangeArrowheads="1"/>
                  </p:cNvSpPr>
                  <p:nvPr/>
                </p:nvSpPr>
                <p:spPr bwMode="auto">
                  <a:xfrm>
                    <a:off x="1766" y="809"/>
                    <a:ext cx="6" cy="14"/>
                  </a:xfrm>
                  <a:prstGeom prst="ellipse">
                    <a:avLst/>
                  </a:prstGeom>
                  <a:solidFill>
                    <a:srgbClr val="FFFFFF"/>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255" name="Group 145">
                  <a:extLst>
                    <a:ext uri="{FF2B5EF4-FFF2-40B4-BE49-F238E27FC236}">
                      <a16:creationId xmlns:a16="http://schemas.microsoft.com/office/drawing/2014/main" id="{371FD677-08B2-7579-A660-3B650FA0B14B}"/>
                    </a:ext>
                  </a:extLst>
                </p:cNvPr>
                <p:cNvGrpSpPr>
                  <a:grpSpLocks/>
                </p:cNvGrpSpPr>
                <p:nvPr/>
              </p:nvGrpSpPr>
              <p:grpSpPr bwMode="auto">
                <a:xfrm>
                  <a:off x="1764" y="767"/>
                  <a:ext cx="13" cy="27"/>
                  <a:chOff x="1764" y="767"/>
                  <a:chExt cx="13" cy="27"/>
                </a:xfrm>
              </p:grpSpPr>
              <p:sp>
                <p:nvSpPr>
                  <p:cNvPr id="262" name="Oval 146">
                    <a:extLst>
                      <a:ext uri="{FF2B5EF4-FFF2-40B4-BE49-F238E27FC236}">
                        <a16:creationId xmlns:a16="http://schemas.microsoft.com/office/drawing/2014/main" id="{5AABC46E-C433-E201-F34A-29BFCEAE3BE2}"/>
                      </a:ext>
                    </a:extLst>
                  </p:cNvPr>
                  <p:cNvSpPr>
                    <a:spLocks noChangeArrowheads="1"/>
                  </p:cNvSpPr>
                  <p:nvPr/>
                </p:nvSpPr>
                <p:spPr bwMode="auto">
                  <a:xfrm>
                    <a:off x="1765" y="768"/>
                    <a:ext cx="13" cy="27"/>
                  </a:xfrm>
                  <a:prstGeom prst="ellipse">
                    <a:avLst/>
                  </a:prstGeom>
                  <a:solidFill>
                    <a:srgbClr val="FFFFFF"/>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63" name="Oval 147">
                    <a:extLst>
                      <a:ext uri="{FF2B5EF4-FFF2-40B4-BE49-F238E27FC236}">
                        <a16:creationId xmlns:a16="http://schemas.microsoft.com/office/drawing/2014/main" id="{1E2782E0-9FA7-89B5-0EE9-635A51A66007}"/>
                      </a:ext>
                    </a:extLst>
                  </p:cNvPr>
                  <p:cNvSpPr>
                    <a:spLocks noChangeArrowheads="1"/>
                  </p:cNvSpPr>
                  <p:nvPr/>
                </p:nvSpPr>
                <p:spPr bwMode="auto">
                  <a:xfrm>
                    <a:off x="1766" y="776"/>
                    <a:ext cx="6" cy="9"/>
                  </a:xfrm>
                  <a:prstGeom prst="ellipse">
                    <a:avLst/>
                  </a:prstGeom>
                  <a:solidFill>
                    <a:srgbClr val="FFFFFF"/>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256" name="Group 148">
                  <a:extLst>
                    <a:ext uri="{FF2B5EF4-FFF2-40B4-BE49-F238E27FC236}">
                      <a16:creationId xmlns:a16="http://schemas.microsoft.com/office/drawing/2014/main" id="{352CC7FA-70A2-9430-88F2-FA5131F4A566}"/>
                    </a:ext>
                  </a:extLst>
                </p:cNvPr>
                <p:cNvGrpSpPr>
                  <a:grpSpLocks/>
                </p:cNvGrpSpPr>
                <p:nvPr/>
              </p:nvGrpSpPr>
              <p:grpSpPr bwMode="auto">
                <a:xfrm>
                  <a:off x="1764" y="733"/>
                  <a:ext cx="13" cy="22"/>
                  <a:chOff x="1764" y="733"/>
                  <a:chExt cx="13" cy="22"/>
                </a:xfrm>
              </p:grpSpPr>
              <p:sp>
                <p:nvSpPr>
                  <p:cNvPr id="260" name="Oval 149">
                    <a:extLst>
                      <a:ext uri="{FF2B5EF4-FFF2-40B4-BE49-F238E27FC236}">
                        <a16:creationId xmlns:a16="http://schemas.microsoft.com/office/drawing/2014/main" id="{DB000CC4-A48C-2018-05DA-031FD8683E5B}"/>
                      </a:ext>
                    </a:extLst>
                  </p:cNvPr>
                  <p:cNvSpPr>
                    <a:spLocks noChangeArrowheads="1"/>
                  </p:cNvSpPr>
                  <p:nvPr/>
                </p:nvSpPr>
                <p:spPr bwMode="auto">
                  <a:xfrm>
                    <a:off x="1765" y="733"/>
                    <a:ext cx="13" cy="22"/>
                  </a:xfrm>
                  <a:prstGeom prst="ellipse">
                    <a:avLst/>
                  </a:prstGeom>
                  <a:solidFill>
                    <a:srgbClr val="FFFFFF"/>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61" name="Oval 150">
                    <a:extLst>
                      <a:ext uri="{FF2B5EF4-FFF2-40B4-BE49-F238E27FC236}">
                        <a16:creationId xmlns:a16="http://schemas.microsoft.com/office/drawing/2014/main" id="{88B91444-C465-D127-26E9-CB49989DD86A}"/>
                      </a:ext>
                    </a:extLst>
                  </p:cNvPr>
                  <p:cNvSpPr>
                    <a:spLocks noChangeArrowheads="1"/>
                  </p:cNvSpPr>
                  <p:nvPr/>
                </p:nvSpPr>
                <p:spPr bwMode="auto">
                  <a:xfrm>
                    <a:off x="1766" y="738"/>
                    <a:ext cx="6" cy="9"/>
                  </a:xfrm>
                  <a:prstGeom prst="ellipse">
                    <a:avLst/>
                  </a:prstGeom>
                  <a:solidFill>
                    <a:srgbClr val="FFFFFF"/>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257" name="Group 151">
                  <a:extLst>
                    <a:ext uri="{FF2B5EF4-FFF2-40B4-BE49-F238E27FC236}">
                      <a16:creationId xmlns:a16="http://schemas.microsoft.com/office/drawing/2014/main" id="{DD01178C-7AE9-DCFA-6A59-47039A9FDF95}"/>
                    </a:ext>
                  </a:extLst>
                </p:cNvPr>
                <p:cNvGrpSpPr>
                  <a:grpSpLocks/>
                </p:cNvGrpSpPr>
                <p:nvPr/>
              </p:nvGrpSpPr>
              <p:grpSpPr bwMode="auto">
                <a:xfrm>
                  <a:off x="1764" y="695"/>
                  <a:ext cx="13" cy="22"/>
                  <a:chOff x="1764" y="695"/>
                  <a:chExt cx="13" cy="22"/>
                </a:xfrm>
              </p:grpSpPr>
              <p:sp>
                <p:nvSpPr>
                  <p:cNvPr id="258" name="Oval 152">
                    <a:extLst>
                      <a:ext uri="{FF2B5EF4-FFF2-40B4-BE49-F238E27FC236}">
                        <a16:creationId xmlns:a16="http://schemas.microsoft.com/office/drawing/2014/main" id="{535C7240-1E74-B4A5-202B-B588813C957A}"/>
                      </a:ext>
                    </a:extLst>
                  </p:cNvPr>
                  <p:cNvSpPr>
                    <a:spLocks noChangeArrowheads="1"/>
                  </p:cNvSpPr>
                  <p:nvPr/>
                </p:nvSpPr>
                <p:spPr bwMode="auto">
                  <a:xfrm>
                    <a:off x="1765" y="695"/>
                    <a:ext cx="13" cy="22"/>
                  </a:xfrm>
                  <a:prstGeom prst="ellipse">
                    <a:avLst/>
                  </a:prstGeom>
                  <a:solidFill>
                    <a:srgbClr val="FFFFFF"/>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59" name="Oval 153">
                    <a:extLst>
                      <a:ext uri="{FF2B5EF4-FFF2-40B4-BE49-F238E27FC236}">
                        <a16:creationId xmlns:a16="http://schemas.microsoft.com/office/drawing/2014/main" id="{8F955D93-0202-10A4-D93C-2C9372C86127}"/>
                      </a:ext>
                    </a:extLst>
                  </p:cNvPr>
                  <p:cNvSpPr>
                    <a:spLocks noChangeArrowheads="1"/>
                  </p:cNvSpPr>
                  <p:nvPr/>
                </p:nvSpPr>
                <p:spPr bwMode="auto">
                  <a:xfrm>
                    <a:off x="1766" y="699"/>
                    <a:ext cx="6" cy="14"/>
                  </a:xfrm>
                  <a:prstGeom prst="ellipse">
                    <a:avLst/>
                  </a:prstGeom>
                  <a:solidFill>
                    <a:srgbClr val="FFFFFF"/>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sp>
            <p:nvSpPr>
              <p:cNvPr id="230" name="Oval 154">
                <a:extLst>
                  <a:ext uri="{FF2B5EF4-FFF2-40B4-BE49-F238E27FC236}">
                    <a16:creationId xmlns:a16="http://schemas.microsoft.com/office/drawing/2014/main" id="{F2264F4A-3003-3F53-5B6E-498D2700E494}"/>
                  </a:ext>
                </a:extLst>
              </p:cNvPr>
              <p:cNvSpPr>
                <a:spLocks noChangeArrowheads="1"/>
              </p:cNvSpPr>
              <p:nvPr/>
            </p:nvSpPr>
            <p:spPr bwMode="auto">
              <a:xfrm>
                <a:off x="2234" y="949"/>
                <a:ext cx="37" cy="32"/>
              </a:xfrm>
              <a:prstGeom prst="ellipse">
                <a:avLst/>
              </a:prstGeom>
              <a:blipFill dpi="0" rotWithShape="0">
                <a:blip r:embed="rId4"/>
                <a:srcRect/>
                <a:tile tx="0" ty="0" sx="100000" sy="100000" flip="none" algn="tl"/>
              </a:blip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31" name="Freeform 155">
                <a:extLst>
                  <a:ext uri="{FF2B5EF4-FFF2-40B4-BE49-F238E27FC236}">
                    <a16:creationId xmlns:a16="http://schemas.microsoft.com/office/drawing/2014/main" id="{B8709EE7-511E-8085-05DA-2C4A47354B0F}"/>
                  </a:ext>
                </a:extLst>
              </p:cNvPr>
              <p:cNvSpPr>
                <a:spLocks/>
              </p:cNvSpPr>
              <p:nvPr/>
            </p:nvSpPr>
            <p:spPr bwMode="auto">
              <a:xfrm>
                <a:off x="2246" y="935"/>
                <a:ext cx="30" cy="32"/>
              </a:xfrm>
              <a:custGeom>
                <a:avLst/>
                <a:gdLst>
                  <a:gd name="T0" fmla="*/ 15 w 31"/>
                  <a:gd name="T1" fmla="*/ 0 h 32"/>
                  <a:gd name="T2" fmla="*/ 29 w 31"/>
                  <a:gd name="T3" fmla="*/ 0 h 32"/>
                  <a:gd name="T4" fmla="*/ 29 w 31"/>
                  <a:gd name="T5" fmla="*/ 31 h 32"/>
                  <a:gd name="T6" fmla="*/ 0 w 31"/>
                  <a:gd name="T7" fmla="*/ 31 h 32"/>
                  <a:gd name="T8" fmla="*/ 0 w 31"/>
                  <a:gd name="T9" fmla="*/ 19 h 32"/>
                  <a:gd name="T10" fmla="*/ 11 w 31"/>
                  <a:gd name="T11" fmla="*/ 19 h 32"/>
                  <a:gd name="T12" fmla="*/ 15 w 31"/>
                  <a:gd name="T13" fmla="*/ 0 h 3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1" h="32">
                    <a:moveTo>
                      <a:pt x="15" y="0"/>
                    </a:moveTo>
                    <a:lnTo>
                      <a:pt x="30" y="0"/>
                    </a:lnTo>
                    <a:lnTo>
                      <a:pt x="30" y="31"/>
                    </a:lnTo>
                    <a:lnTo>
                      <a:pt x="0" y="31"/>
                    </a:lnTo>
                    <a:lnTo>
                      <a:pt x="0" y="19"/>
                    </a:lnTo>
                    <a:lnTo>
                      <a:pt x="11" y="19"/>
                    </a:lnTo>
                    <a:lnTo>
                      <a:pt x="15" y="0"/>
                    </a:ln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Roboto" panose="02000000000000000000" pitchFamily="2" charset="0"/>
                  <a:ea typeface="Roboto" panose="02000000000000000000" pitchFamily="2" charset="0"/>
                </a:endParaRPr>
              </a:p>
            </p:txBody>
          </p:sp>
          <p:sp>
            <p:nvSpPr>
              <p:cNvPr id="232" name="Freeform 156">
                <a:extLst>
                  <a:ext uri="{FF2B5EF4-FFF2-40B4-BE49-F238E27FC236}">
                    <a16:creationId xmlns:a16="http://schemas.microsoft.com/office/drawing/2014/main" id="{DEB8B2CD-1D36-E046-1447-C4A04F5880AD}"/>
                  </a:ext>
                </a:extLst>
              </p:cNvPr>
              <p:cNvSpPr>
                <a:spLocks/>
              </p:cNvSpPr>
              <p:nvPr/>
            </p:nvSpPr>
            <p:spPr bwMode="auto">
              <a:xfrm>
                <a:off x="2246" y="935"/>
                <a:ext cx="38" cy="41"/>
              </a:xfrm>
              <a:custGeom>
                <a:avLst/>
                <a:gdLst>
                  <a:gd name="T0" fmla="*/ 19 w 39"/>
                  <a:gd name="T1" fmla="*/ 0 h 40"/>
                  <a:gd name="T2" fmla="*/ 37 w 39"/>
                  <a:gd name="T3" fmla="*/ 0 h 40"/>
                  <a:gd name="T4" fmla="*/ 37 w 39"/>
                  <a:gd name="T5" fmla="*/ 40 h 40"/>
                  <a:gd name="T6" fmla="*/ 0 w 39"/>
                  <a:gd name="T7" fmla="*/ 40 h 40"/>
                  <a:gd name="T8" fmla="*/ 0 w 39"/>
                  <a:gd name="T9" fmla="*/ 25 h 40"/>
                  <a:gd name="T10" fmla="*/ 14 w 39"/>
                  <a:gd name="T11" fmla="*/ 25 h 40"/>
                  <a:gd name="T12" fmla="*/ 19 w 39"/>
                  <a:gd name="T13" fmla="*/ 0 h 40"/>
                  <a:gd name="T14" fmla="*/ 37 w 39"/>
                  <a:gd name="T15" fmla="*/ 0 h 40"/>
                  <a:gd name="T16" fmla="*/ 37 w 39"/>
                  <a:gd name="T17" fmla="*/ 40 h 40"/>
                  <a:gd name="T18" fmla="*/ 0 w 39"/>
                  <a:gd name="T19" fmla="*/ 40 h 40"/>
                  <a:gd name="T20" fmla="*/ 0 w 39"/>
                  <a:gd name="T21" fmla="*/ 25 h 40"/>
                  <a:gd name="T22" fmla="*/ 14 w 39"/>
                  <a:gd name="T23" fmla="*/ 25 h 40"/>
                  <a:gd name="T24" fmla="*/ 19 w 39"/>
                  <a:gd name="T25" fmla="*/ 0 h 4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9" h="40">
                    <a:moveTo>
                      <a:pt x="19" y="0"/>
                    </a:moveTo>
                    <a:lnTo>
                      <a:pt x="38" y="0"/>
                    </a:lnTo>
                    <a:lnTo>
                      <a:pt x="38" y="39"/>
                    </a:lnTo>
                    <a:lnTo>
                      <a:pt x="0" y="39"/>
                    </a:lnTo>
                    <a:lnTo>
                      <a:pt x="0" y="24"/>
                    </a:lnTo>
                    <a:lnTo>
                      <a:pt x="14" y="24"/>
                    </a:lnTo>
                    <a:lnTo>
                      <a:pt x="19" y="0"/>
                    </a:lnTo>
                    <a:lnTo>
                      <a:pt x="38" y="0"/>
                    </a:lnTo>
                    <a:lnTo>
                      <a:pt x="38" y="39"/>
                    </a:lnTo>
                    <a:lnTo>
                      <a:pt x="0" y="39"/>
                    </a:lnTo>
                    <a:lnTo>
                      <a:pt x="0" y="24"/>
                    </a:lnTo>
                    <a:lnTo>
                      <a:pt x="14" y="24"/>
                    </a:lnTo>
                    <a:lnTo>
                      <a:pt x="19" y="0"/>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grpSp>
            <p:nvGrpSpPr>
              <p:cNvPr id="233" name="Group 157">
                <a:extLst>
                  <a:ext uri="{FF2B5EF4-FFF2-40B4-BE49-F238E27FC236}">
                    <a16:creationId xmlns:a16="http://schemas.microsoft.com/office/drawing/2014/main" id="{04D0E086-23EF-52CC-8484-386544188246}"/>
                  </a:ext>
                </a:extLst>
              </p:cNvPr>
              <p:cNvGrpSpPr>
                <a:grpSpLocks/>
              </p:cNvGrpSpPr>
              <p:nvPr/>
            </p:nvGrpSpPr>
            <p:grpSpPr bwMode="auto">
              <a:xfrm>
                <a:off x="2244" y="695"/>
                <a:ext cx="13" cy="209"/>
                <a:chOff x="2244" y="695"/>
                <a:chExt cx="13" cy="209"/>
              </a:xfrm>
            </p:grpSpPr>
            <p:grpSp>
              <p:nvGrpSpPr>
                <p:cNvPr id="234" name="Group 158">
                  <a:extLst>
                    <a:ext uri="{FF2B5EF4-FFF2-40B4-BE49-F238E27FC236}">
                      <a16:creationId xmlns:a16="http://schemas.microsoft.com/office/drawing/2014/main" id="{C3B75F9A-4E2A-D35C-EE84-20AB1323A740}"/>
                    </a:ext>
                  </a:extLst>
                </p:cNvPr>
                <p:cNvGrpSpPr>
                  <a:grpSpLocks/>
                </p:cNvGrpSpPr>
                <p:nvPr/>
              </p:nvGrpSpPr>
              <p:grpSpPr bwMode="auto">
                <a:xfrm>
                  <a:off x="2244" y="877"/>
                  <a:ext cx="13" cy="27"/>
                  <a:chOff x="2244" y="877"/>
                  <a:chExt cx="13" cy="27"/>
                </a:xfrm>
              </p:grpSpPr>
              <p:sp>
                <p:nvSpPr>
                  <p:cNvPr id="250" name="Oval 159">
                    <a:extLst>
                      <a:ext uri="{FF2B5EF4-FFF2-40B4-BE49-F238E27FC236}">
                        <a16:creationId xmlns:a16="http://schemas.microsoft.com/office/drawing/2014/main" id="{39184F61-93E7-DE3C-932B-790B0AF4E0C5}"/>
                      </a:ext>
                    </a:extLst>
                  </p:cNvPr>
                  <p:cNvSpPr>
                    <a:spLocks noChangeArrowheads="1"/>
                  </p:cNvSpPr>
                  <p:nvPr/>
                </p:nvSpPr>
                <p:spPr bwMode="auto">
                  <a:xfrm>
                    <a:off x="2245" y="877"/>
                    <a:ext cx="13" cy="27"/>
                  </a:xfrm>
                  <a:prstGeom prst="ellipse">
                    <a:avLst/>
                  </a:prstGeom>
                  <a:solidFill>
                    <a:srgbClr val="FFFFFF"/>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51" name="Oval 160">
                    <a:extLst>
                      <a:ext uri="{FF2B5EF4-FFF2-40B4-BE49-F238E27FC236}">
                        <a16:creationId xmlns:a16="http://schemas.microsoft.com/office/drawing/2014/main" id="{2050A585-32A7-BF99-FA80-8F92D461D34E}"/>
                      </a:ext>
                    </a:extLst>
                  </p:cNvPr>
                  <p:cNvSpPr>
                    <a:spLocks noChangeArrowheads="1"/>
                  </p:cNvSpPr>
                  <p:nvPr/>
                </p:nvSpPr>
                <p:spPr bwMode="auto">
                  <a:xfrm>
                    <a:off x="2250" y="887"/>
                    <a:ext cx="6" cy="9"/>
                  </a:xfrm>
                  <a:prstGeom prst="ellipse">
                    <a:avLst/>
                  </a:prstGeom>
                  <a:solidFill>
                    <a:srgbClr val="FFFFFF"/>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235" name="Group 161">
                  <a:extLst>
                    <a:ext uri="{FF2B5EF4-FFF2-40B4-BE49-F238E27FC236}">
                      <a16:creationId xmlns:a16="http://schemas.microsoft.com/office/drawing/2014/main" id="{83EE93FA-AF98-A893-0C4F-4C1D6E5E5035}"/>
                    </a:ext>
                  </a:extLst>
                </p:cNvPr>
                <p:cNvGrpSpPr>
                  <a:grpSpLocks/>
                </p:cNvGrpSpPr>
                <p:nvPr/>
              </p:nvGrpSpPr>
              <p:grpSpPr bwMode="auto">
                <a:xfrm>
                  <a:off x="2244" y="843"/>
                  <a:ext cx="13" cy="23"/>
                  <a:chOff x="2244" y="843"/>
                  <a:chExt cx="13" cy="23"/>
                </a:xfrm>
              </p:grpSpPr>
              <p:sp>
                <p:nvSpPr>
                  <p:cNvPr id="248" name="Oval 162">
                    <a:extLst>
                      <a:ext uri="{FF2B5EF4-FFF2-40B4-BE49-F238E27FC236}">
                        <a16:creationId xmlns:a16="http://schemas.microsoft.com/office/drawing/2014/main" id="{8EEEE9F9-97F9-DC26-C7FB-4418C2A5D5E9}"/>
                      </a:ext>
                    </a:extLst>
                  </p:cNvPr>
                  <p:cNvSpPr>
                    <a:spLocks noChangeArrowheads="1"/>
                  </p:cNvSpPr>
                  <p:nvPr/>
                </p:nvSpPr>
                <p:spPr bwMode="auto">
                  <a:xfrm>
                    <a:off x="2245" y="843"/>
                    <a:ext cx="13" cy="23"/>
                  </a:xfrm>
                  <a:prstGeom prst="ellipse">
                    <a:avLst/>
                  </a:prstGeom>
                  <a:solidFill>
                    <a:srgbClr val="FFFFFF"/>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49" name="Oval 163">
                    <a:extLst>
                      <a:ext uri="{FF2B5EF4-FFF2-40B4-BE49-F238E27FC236}">
                        <a16:creationId xmlns:a16="http://schemas.microsoft.com/office/drawing/2014/main" id="{8156828D-B61B-EE53-2FBB-168317497975}"/>
                      </a:ext>
                    </a:extLst>
                  </p:cNvPr>
                  <p:cNvSpPr>
                    <a:spLocks noChangeArrowheads="1"/>
                  </p:cNvSpPr>
                  <p:nvPr/>
                </p:nvSpPr>
                <p:spPr bwMode="auto">
                  <a:xfrm>
                    <a:off x="2250" y="847"/>
                    <a:ext cx="6" cy="9"/>
                  </a:xfrm>
                  <a:prstGeom prst="ellipse">
                    <a:avLst/>
                  </a:prstGeom>
                  <a:solidFill>
                    <a:srgbClr val="FFFFFF"/>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236" name="Group 164">
                  <a:extLst>
                    <a:ext uri="{FF2B5EF4-FFF2-40B4-BE49-F238E27FC236}">
                      <a16:creationId xmlns:a16="http://schemas.microsoft.com/office/drawing/2014/main" id="{0907AF23-AD48-4464-3B7B-9B02870108BA}"/>
                    </a:ext>
                  </a:extLst>
                </p:cNvPr>
                <p:cNvGrpSpPr>
                  <a:grpSpLocks/>
                </p:cNvGrpSpPr>
                <p:nvPr/>
              </p:nvGrpSpPr>
              <p:grpSpPr bwMode="auto">
                <a:xfrm>
                  <a:off x="2244" y="805"/>
                  <a:ext cx="13" cy="22"/>
                  <a:chOff x="2244" y="805"/>
                  <a:chExt cx="13" cy="22"/>
                </a:xfrm>
              </p:grpSpPr>
              <p:sp>
                <p:nvSpPr>
                  <p:cNvPr id="246" name="Oval 165">
                    <a:extLst>
                      <a:ext uri="{FF2B5EF4-FFF2-40B4-BE49-F238E27FC236}">
                        <a16:creationId xmlns:a16="http://schemas.microsoft.com/office/drawing/2014/main" id="{F7DD1B60-3E6E-23D4-6B7C-D4DFDCF7D340}"/>
                      </a:ext>
                    </a:extLst>
                  </p:cNvPr>
                  <p:cNvSpPr>
                    <a:spLocks noChangeArrowheads="1"/>
                  </p:cNvSpPr>
                  <p:nvPr/>
                </p:nvSpPr>
                <p:spPr bwMode="auto">
                  <a:xfrm>
                    <a:off x="2245" y="804"/>
                    <a:ext cx="13" cy="22"/>
                  </a:xfrm>
                  <a:prstGeom prst="ellipse">
                    <a:avLst/>
                  </a:prstGeom>
                  <a:solidFill>
                    <a:srgbClr val="FFFFFF"/>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47" name="Oval 166">
                    <a:extLst>
                      <a:ext uri="{FF2B5EF4-FFF2-40B4-BE49-F238E27FC236}">
                        <a16:creationId xmlns:a16="http://schemas.microsoft.com/office/drawing/2014/main" id="{71C138F4-0585-81D4-C5BE-9944945A39EB}"/>
                      </a:ext>
                    </a:extLst>
                  </p:cNvPr>
                  <p:cNvSpPr>
                    <a:spLocks noChangeArrowheads="1"/>
                  </p:cNvSpPr>
                  <p:nvPr/>
                </p:nvSpPr>
                <p:spPr bwMode="auto">
                  <a:xfrm>
                    <a:off x="2250" y="809"/>
                    <a:ext cx="6" cy="14"/>
                  </a:xfrm>
                  <a:prstGeom prst="ellipse">
                    <a:avLst/>
                  </a:prstGeom>
                  <a:solidFill>
                    <a:srgbClr val="FFFFFF"/>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237" name="Group 167">
                  <a:extLst>
                    <a:ext uri="{FF2B5EF4-FFF2-40B4-BE49-F238E27FC236}">
                      <a16:creationId xmlns:a16="http://schemas.microsoft.com/office/drawing/2014/main" id="{6A0E7A9E-729D-7B45-E0D6-9877DB28A1A2}"/>
                    </a:ext>
                  </a:extLst>
                </p:cNvPr>
                <p:cNvGrpSpPr>
                  <a:grpSpLocks/>
                </p:cNvGrpSpPr>
                <p:nvPr/>
              </p:nvGrpSpPr>
              <p:grpSpPr bwMode="auto">
                <a:xfrm>
                  <a:off x="2244" y="767"/>
                  <a:ext cx="13" cy="22"/>
                  <a:chOff x="2244" y="767"/>
                  <a:chExt cx="13" cy="22"/>
                </a:xfrm>
              </p:grpSpPr>
              <p:sp>
                <p:nvSpPr>
                  <p:cNvPr id="244" name="Oval 168">
                    <a:extLst>
                      <a:ext uri="{FF2B5EF4-FFF2-40B4-BE49-F238E27FC236}">
                        <a16:creationId xmlns:a16="http://schemas.microsoft.com/office/drawing/2014/main" id="{FC3D35F5-1B71-2C0F-4CEF-579A44A4390B}"/>
                      </a:ext>
                    </a:extLst>
                  </p:cNvPr>
                  <p:cNvSpPr>
                    <a:spLocks noChangeArrowheads="1"/>
                  </p:cNvSpPr>
                  <p:nvPr/>
                </p:nvSpPr>
                <p:spPr bwMode="auto">
                  <a:xfrm>
                    <a:off x="2245" y="768"/>
                    <a:ext cx="13" cy="21"/>
                  </a:xfrm>
                  <a:prstGeom prst="ellipse">
                    <a:avLst/>
                  </a:prstGeom>
                  <a:solidFill>
                    <a:srgbClr val="FFFFFF"/>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45" name="Oval 169">
                    <a:extLst>
                      <a:ext uri="{FF2B5EF4-FFF2-40B4-BE49-F238E27FC236}">
                        <a16:creationId xmlns:a16="http://schemas.microsoft.com/office/drawing/2014/main" id="{E959423C-F732-0A1A-A2D0-7727A0C5F891}"/>
                      </a:ext>
                    </a:extLst>
                  </p:cNvPr>
                  <p:cNvSpPr>
                    <a:spLocks noChangeArrowheads="1"/>
                  </p:cNvSpPr>
                  <p:nvPr/>
                </p:nvSpPr>
                <p:spPr bwMode="auto">
                  <a:xfrm>
                    <a:off x="2250" y="771"/>
                    <a:ext cx="6" cy="12"/>
                  </a:xfrm>
                  <a:prstGeom prst="ellipse">
                    <a:avLst/>
                  </a:prstGeom>
                  <a:solidFill>
                    <a:srgbClr val="FFFFFF"/>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238" name="Group 170">
                  <a:extLst>
                    <a:ext uri="{FF2B5EF4-FFF2-40B4-BE49-F238E27FC236}">
                      <a16:creationId xmlns:a16="http://schemas.microsoft.com/office/drawing/2014/main" id="{98C70330-2052-D03B-CF84-322F3AB39D7A}"/>
                    </a:ext>
                  </a:extLst>
                </p:cNvPr>
                <p:cNvGrpSpPr>
                  <a:grpSpLocks/>
                </p:cNvGrpSpPr>
                <p:nvPr/>
              </p:nvGrpSpPr>
              <p:grpSpPr bwMode="auto">
                <a:xfrm>
                  <a:off x="2244" y="728"/>
                  <a:ext cx="13" cy="27"/>
                  <a:chOff x="2244" y="728"/>
                  <a:chExt cx="13" cy="27"/>
                </a:xfrm>
              </p:grpSpPr>
              <p:sp>
                <p:nvSpPr>
                  <p:cNvPr id="242" name="Oval 171">
                    <a:extLst>
                      <a:ext uri="{FF2B5EF4-FFF2-40B4-BE49-F238E27FC236}">
                        <a16:creationId xmlns:a16="http://schemas.microsoft.com/office/drawing/2014/main" id="{6F16F493-07CF-3A53-AAB1-7399AB7E5062}"/>
                      </a:ext>
                    </a:extLst>
                  </p:cNvPr>
                  <p:cNvSpPr>
                    <a:spLocks noChangeArrowheads="1"/>
                  </p:cNvSpPr>
                  <p:nvPr/>
                </p:nvSpPr>
                <p:spPr bwMode="auto">
                  <a:xfrm>
                    <a:off x="2245" y="728"/>
                    <a:ext cx="13" cy="27"/>
                  </a:xfrm>
                  <a:prstGeom prst="ellipse">
                    <a:avLst/>
                  </a:prstGeom>
                  <a:solidFill>
                    <a:srgbClr val="FFFFFF"/>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43" name="Oval 172">
                    <a:extLst>
                      <a:ext uri="{FF2B5EF4-FFF2-40B4-BE49-F238E27FC236}">
                        <a16:creationId xmlns:a16="http://schemas.microsoft.com/office/drawing/2014/main" id="{DB0A43C4-B3AB-4F20-5DBC-11D5327359E2}"/>
                      </a:ext>
                    </a:extLst>
                  </p:cNvPr>
                  <p:cNvSpPr>
                    <a:spLocks noChangeArrowheads="1"/>
                  </p:cNvSpPr>
                  <p:nvPr/>
                </p:nvSpPr>
                <p:spPr bwMode="auto">
                  <a:xfrm>
                    <a:off x="2250" y="738"/>
                    <a:ext cx="6" cy="9"/>
                  </a:xfrm>
                  <a:prstGeom prst="ellipse">
                    <a:avLst/>
                  </a:prstGeom>
                  <a:solidFill>
                    <a:srgbClr val="FFFFFF"/>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239" name="Group 173">
                  <a:extLst>
                    <a:ext uri="{FF2B5EF4-FFF2-40B4-BE49-F238E27FC236}">
                      <a16:creationId xmlns:a16="http://schemas.microsoft.com/office/drawing/2014/main" id="{2A8A628F-9A90-284B-3DBD-959C8A2141A5}"/>
                    </a:ext>
                  </a:extLst>
                </p:cNvPr>
                <p:cNvGrpSpPr>
                  <a:grpSpLocks/>
                </p:cNvGrpSpPr>
                <p:nvPr/>
              </p:nvGrpSpPr>
              <p:grpSpPr bwMode="auto">
                <a:xfrm>
                  <a:off x="2244" y="695"/>
                  <a:ext cx="13" cy="22"/>
                  <a:chOff x="2244" y="695"/>
                  <a:chExt cx="13" cy="22"/>
                </a:xfrm>
              </p:grpSpPr>
              <p:sp>
                <p:nvSpPr>
                  <p:cNvPr id="240" name="Oval 174">
                    <a:extLst>
                      <a:ext uri="{FF2B5EF4-FFF2-40B4-BE49-F238E27FC236}">
                        <a16:creationId xmlns:a16="http://schemas.microsoft.com/office/drawing/2014/main" id="{BDA02299-674A-375F-F695-F52382D4E1B1}"/>
                      </a:ext>
                    </a:extLst>
                  </p:cNvPr>
                  <p:cNvSpPr>
                    <a:spLocks noChangeArrowheads="1"/>
                  </p:cNvSpPr>
                  <p:nvPr/>
                </p:nvSpPr>
                <p:spPr bwMode="auto">
                  <a:xfrm>
                    <a:off x="2245" y="695"/>
                    <a:ext cx="13" cy="22"/>
                  </a:xfrm>
                  <a:prstGeom prst="ellipse">
                    <a:avLst/>
                  </a:prstGeom>
                  <a:solidFill>
                    <a:srgbClr val="FFFFFF"/>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41" name="Oval 175">
                    <a:extLst>
                      <a:ext uri="{FF2B5EF4-FFF2-40B4-BE49-F238E27FC236}">
                        <a16:creationId xmlns:a16="http://schemas.microsoft.com/office/drawing/2014/main" id="{DB04357B-0579-3C8B-89AF-B3D0DE08D500}"/>
                      </a:ext>
                    </a:extLst>
                  </p:cNvPr>
                  <p:cNvSpPr>
                    <a:spLocks noChangeArrowheads="1"/>
                  </p:cNvSpPr>
                  <p:nvPr/>
                </p:nvSpPr>
                <p:spPr bwMode="auto">
                  <a:xfrm>
                    <a:off x="2250" y="699"/>
                    <a:ext cx="6" cy="9"/>
                  </a:xfrm>
                  <a:prstGeom prst="ellipse">
                    <a:avLst/>
                  </a:prstGeom>
                  <a:solidFill>
                    <a:srgbClr val="FFFFFF"/>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grpSp>
        <p:grpSp>
          <p:nvGrpSpPr>
            <p:cNvPr id="33" name="Group 176">
              <a:extLst>
                <a:ext uri="{FF2B5EF4-FFF2-40B4-BE49-F238E27FC236}">
                  <a16:creationId xmlns:a16="http://schemas.microsoft.com/office/drawing/2014/main" id="{CF671CE9-57B5-01C2-5A34-A70ED40F238E}"/>
                </a:ext>
              </a:extLst>
            </p:cNvPr>
            <p:cNvGrpSpPr>
              <a:grpSpLocks/>
            </p:cNvGrpSpPr>
            <p:nvPr/>
          </p:nvGrpSpPr>
          <p:grpSpPr bwMode="auto">
            <a:xfrm>
              <a:off x="1189" y="1862"/>
              <a:ext cx="1306" cy="2213"/>
              <a:chOff x="1189" y="1862"/>
              <a:chExt cx="1306" cy="2213"/>
            </a:xfrm>
          </p:grpSpPr>
          <p:sp>
            <p:nvSpPr>
              <p:cNvPr id="119" name="Rectangle 177">
                <a:extLst>
                  <a:ext uri="{FF2B5EF4-FFF2-40B4-BE49-F238E27FC236}">
                    <a16:creationId xmlns:a16="http://schemas.microsoft.com/office/drawing/2014/main" id="{168B8EF5-4495-1A70-D247-338D6C5C1A2E}"/>
                  </a:ext>
                </a:extLst>
              </p:cNvPr>
              <p:cNvSpPr>
                <a:spLocks noChangeArrowheads="1"/>
              </p:cNvSpPr>
              <p:nvPr/>
            </p:nvSpPr>
            <p:spPr bwMode="auto">
              <a:xfrm>
                <a:off x="1467" y="4007"/>
                <a:ext cx="52" cy="55"/>
              </a:xfrm>
              <a:prstGeom prst="rect">
                <a:avLst/>
              </a:prstGeom>
              <a:solidFill>
                <a:srgbClr val="000000"/>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20" name="Line 178">
                <a:extLst>
                  <a:ext uri="{FF2B5EF4-FFF2-40B4-BE49-F238E27FC236}">
                    <a16:creationId xmlns:a16="http://schemas.microsoft.com/office/drawing/2014/main" id="{CC8AE895-1717-E63D-DB06-042B75E3863D}"/>
                  </a:ext>
                </a:extLst>
              </p:cNvPr>
              <p:cNvSpPr>
                <a:spLocks noChangeShapeType="1"/>
              </p:cNvSpPr>
              <p:nvPr/>
            </p:nvSpPr>
            <p:spPr bwMode="auto">
              <a:xfrm flipV="1">
                <a:off x="1203" y="2527"/>
                <a:ext cx="1221" cy="49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1" name="Line 179">
                <a:extLst>
                  <a:ext uri="{FF2B5EF4-FFF2-40B4-BE49-F238E27FC236}">
                    <a16:creationId xmlns:a16="http://schemas.microsoft.com/office/drawing/2014/main" id="{5E0E441B-45BA-56E6-74EB-DD19E6CD27FA}"/>
                  </a:ext>
                </a:extLst>
              </p:cNvPr>
              <p:cNvSpPr>
                <a:spLocks noChangeShapeType="1"/>
              </p:cNvSpPr>
              <p:nvPr/>
            </p:nvSpPr>
            <p:spPr bwMode="auto">
              <a:xfrm flipV="1">
                <a:off x="1237" y="2551"/>
                <a:ext cx="1220" cy="49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2" name="Line 180">
                <a:extLst>
                  <a:ext uri="{FF2B5EF4-FFF2-40B4-BE49-F238E27FC236}">
                    <a16:creationId xmlns:a16="http://schemas.microsoft.com/office/drawing/2014/main" id="{7CEE02F2-1646-2602-B351-3BD3EBD900B6}"/>
                  </a:ext>
                </a:extLst>
              </p:cNvPr>
              <p:cNvSpPr>
                <a:spLocks noChangeShapeType="1"/>
              </p:cNvSpPr>
              <p:nvPr/>
            </p:nvSpPr>
            <p:spPr bwMode="auto">
              <a:xfrm flipV="1">
                <a:off x="1491" y="2042"/>
                <a:ext cx="920" cy="35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nvGrpSpPr>
              <p:cNvPr id="123" name="Group 181">
                <a:extLst>
                  <a:ext uri="{FF2B5EF4-FFF2-40B4-BE49-F238E27FC236}">
                    <a16:creationId xmlns:a16="http://schemas.microsoft.com/office/drawing/2014/main" id="{091DB2CA-E62C-C273-DDBA-250F096F37F2}"/>
                  </a:ext>
                </a:extLst>
              </p:cNvPr>
              <p:cNvGrpSpPr>
                <a:grpSpLocks/>
              </p:cNvGrpSpPr>
              <p:nvPr/>
            </p:nvGrpSpPr>
            <p:grpSpPr bwMode="auto">
              <a:xfrm>
                <a:off x="1390" y="1862"/>
                <a:ext cx="563" cy="525"/>
                <a:chOff x="1390" y="1862"/>
                <a:chExt cx="563" cy="525"/>
              </a:xfrm>
            </p:grpSpPr>
            <p:sp>
              <p:nvSpPr>
                <p:cNvPr id="202" name="Rectangle 182">
                  <a:extLst>
                    <a:ext uri="{FF2B5EF4-FFF2-40B4-BE49-F238E27FC236}">
                      <a16:creationId xmlns:a16="http://schemas.microsoft.com/office/drawing/2014/main" id="{98DB5C0F-1493-4F4D-BEFA-1A7E4C75E375}"/>
                    </a:ext>
                  </a:extLst>
                </p:cNvPr>
                <p:cNvSpPr>
                  <a:spLocks noChangeArrowheads="1"/>
                </p:cNvSpPr>
                <p:nvPr/>
              </p:nvSpPr>
              <p:spPr bwMode="auto">
                <a:xfrm>
                  <a:off x="1644" y="2234"/>
                  <a:ext cx="61" cy="104"/>
                </a:xfrm>
                <a:prstGeom prst="rect">
                  <a:avLst/>
                </a:prstGeom>
                <a:solidFill>
                  <a:srgbClr val="FFFFFF"/>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03" name="Freeform 183">
                  <a:extLst>
                    <a:ext uri="{FF2B5EF4-FFF2-40B4-BE49-F238E27FC236}">
                      <a16:creationId xmlns:a16="http://schemas.microsoft.com/office/drawing/2014/main" id="{C3F21347-A636-FB12-7678-B1410F8C4FFF}"/>
                    </a:ext>
                  </a:extLst>
                </p:cNvPr>
                <p:cNvSpPr>
                  <a:spLocks/>
                </p:cNvSpPr>
                <p:nvPr/>
              </p:nvSpPr>
              <p:spPr bwMode="auto">
                <a:xfrm>
                  <a:off x="1410" y="1862"/>
                  <a:ext cx="544" cy="441"/>
                </a:xfrm>
                <a:custGeom>
                  <a:avLst/>
                  <a:gdLst>
                    <a:gd name="T0" fmla="*/ 0 w 543"/>
                    <a:gd name="T1" fmla="*/ 168 h 442"/>
                    <a:gd name="T2" fmla="*/ 52 w 543"/>
                    <a:gd name="T3" fmla="*/ 440 h 442"/>
                    <a:gd name="T4" fmla="*/ 543 w 543"/>
                    <a:gd name="T5" fmla="*/ 282 h 442"/>
                    <a:gd name="T6" fmla="*/ 471 w 543"/>
                    <a:gd name="T7" fmla="*/ 0 h 442"/>
                    <a:gd name="T8" fmla="*/ 4 w 543"/>
                    <a:gd name="T9" fmla="*/ 139 h 442"/>
                    <a:gd name="T10" fmla="*/ 0 w 543"/>
                    <a:gd name="T11" fmla="*/ 158 h 442"/>
                    <a:gd name="T12" fmla="*/ 0 w 543"/>
                    <a:gd name="T13" fmla="*/ 168 h 4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43" h="442">
                      <a:moveTo>
                        <a:pt x="0" y="168"/>
                      </a:moveTo>
                      <a:lnTo>
                        <a:pt x="52" y="441"/>
                      </a:lnTo>
                      <a:lnTo>
                        <a:pt x="542" y="283"/>
                      </a:lnTo>
                      <a:lnTo>
                        <a:pt x="470" y="0"/>
                      </a:lnTo>
                      <a:lnTo>
                        <a:pt x="4" y="139"/>
                      </a:lnTo>
                      <a:lnTo>
                        <a:pt x="0" y="158"/>
                      </a:lnTo>
                      <a:lnTo>
                        <a:pt x="0" y="168"/>
                      </a:lnTo>
                    </a:path>
                  </a:pathLst>
                </a:custGeom>
                <a:blipFill dpi="0" rotWithShape="0">
                  <a:blip r:embed="rId6"/>
                  <a:srcRect/>
                  <a:tile tx="0" ty="0" sx="100000" sy="100000" flip="none" algn="tl"/>
                </a:blipFill>
                <a:ln w="12700" cap="rnd" cmpd="sng">
                  <a:solidFill>
                    <a:srgbClr val="000000"/>
                  </a:solidFill>
                  <a:prstDash val="solid"/>
                  <a:round/>
                  <a:headEnd type="none" w="med" len="med"/>
                  <a:tailEnd type="none" w="med" len="med"/>
                </a:ln>
              </p:spPr>
              <p:txBody>
                <a:bodyPr/>
                <a:lstStyle/>
                <a:p>
                  <a:endParaRPr lang="en-US">
                    <a:latin typeface="Roboto" panose="02000000000000000000" pitchFamily="2" charset="0"/>
                    <a:ea typeface="Roboto" panose="02000000000000000000" pitchFamily="2" charset="0"/>
                  </a:endParaRPr>
                </a:p>
              </p:txBody>
            </p:sp>
            <p:sp>
              <p:nvSpPr>
                <p:cNvPr id="204" name="Freeform 184">
                  <a:extLst>
                    <a:ext uri="{FF2B5EF4-FFF2-40B4-BE49-F238E27FC236}">
                      <a16:creationId xmlns:a16="http://schemas.microsoft.com/office/drawing/2014/main" id="{163C14F1-E7AE-BE09-43D1-12C1B427AE40}"/>
                    </a:ext>
                  </a:extLst>
                </p:cNvPr>
                <p:cNvSpPr>
                  <a:spLocks/>
                </p:cNvSpPr>
                <p:nvPr/>
              </p:nvSpPr>
              <p:spPr bwMode="auto">
                <a:xfrm>
                  <a:off x="1410" y="1862"/>
                  <a:ext cx="544" cy="441"/>
                </a:xfrm>
                <a:custGeom>
                  <a:avLst/>
                  <a:gdLst>
                    <a:gd name="T0" fmla="*/ 0 w 543"/>
                    <a:gd name="T1" fmla="*/ 168 h 442"/>
                    <a:gd name="T2" fmla="*/ 52 w 543"/>
                    <a:gd name="T3" fmla="*/ 440 h 442"/>
                    <a:gd name="T4" fmla="*/ 543 w 543"/>
                    <a:gd name="T5" fmla="*/ 282 h 442"/>
                    <a:gd name="T6" fmla="*/ 471 w 543"/>
                    <a:gd name="T7" fmla="*/ 0 h 442"/>
                    <a:gd name="T8" fmla="*/ 4 w 543"/>
                    <a:gd name="T9" fmla="*/ 139 h 442"/>
                    <a:gd name="T10" fmla="*/ 0 w 543"/>
                    <a:gd name="T11" fmla="*/ 158 h 44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43" h="442">
                      <a:moveTo>
                        <a:pt x="0" y="168"/>
                      </a:moveTo>
                      <a:lnTo>
                        <a:pt x="52" y="441"/>
                      </a:lnTo>
                      <a:lnTo>
                        <a:pt x="542" y="283"/>
                      </a:lnTo>
                      <a:lnTo>
                        <a:pt x="470" y="0"/>
                      </a:lnTo>
                      <a:lnTo>
                        <a:pt x="4" y="139"/>
                      </a:lnTo>
                      <a:lnTo>
                        <a:pt x="0" y="158"/>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205" name="Freeform 185">
                  <a:extLst>
                    <a:ext uri="{FF2B5EF4-FFF2-40B4-BE49-F238E27FC236}">
                      <a16:creationId xmlns:a16="http://schemas.microsoft.com/office/drawing/2014/main" id="{6FF3FFE6-E8BB-B1E1-57D1-4062005654BA}"/>
                    </a:ext>
                  </a:extLst>
                </p:cNvPr>
                <p:cNvSpPr>
                  <a:spLocks/>
                </p:cNvSpPr>
                <p:nvPr/>
              </p:nvSpPr>
              <p:spPr bwMode="auto">
                <a:xfrm>
                  <a:off x="1390" y="1886"/>
                  <a:ext cx="545" cy="441"/>
                </a:xfrm>
                <a:custGeom>
                  <a:avLst/>
                  <a:gdLst>
                    <a:gd name="T0" fmla="*/ 0 w 544"/>
                    <a:gd name="T1" fmla="*/ 168 h 442"/>
                    <a:gd name="T2" fmla="*/ 53 w 544"/>
                    <a:gd name="T3" fmla="*/ 440 h 442"/>
                    <a:gd name="T4" fmla="*/ 544 w 544"/>
                    <a:gd name="T5" fmla="*/ 282 h 442"/>
                    <a:gd name="T6" fmla="*/ 472 w 544"/>
                    <a:gd name="T7" fmla="*/ 0 h 442"/>
                    <a:gd name="T8" fmla="*/ 0 w 544"/>
                    <a:gd name="T9" fmla="*/ 139 h 442"/>
                    <a:gd name="T10" fmla="*/ 0 w 544"/>
                    <a:gd name="T11" fmla="*/ 158 h 442"/>
                    <a:gd name="T12" fmla="*/ 0 w 544"/>
                    <a:gd name="T13" fmla="*/ 168 h 4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44" h="442">
                      <a:moveTo>
                        <a:pt x="0" y="168"/>
                      </a:moveTo>
                      <a:lnTo>
                        <a:pt x="53" y="441"/>
                      </a:lnTo>
                      <a:lnTo>
                        <a:pt x="543" y="283"/>
                      </a:lnTo>
                      <a:lnTo>
                        <a:pt x="471" y="0"/>
                      </a:lnTo>
                      <a:lnTo>
                        <a:pt x="0" y="139"/>
                      </a:lnTo>
                      <a:lnTo>
                        <a:pt x="0" y="158"/>
                      </a:lnTo>
                      <a:lnTo>
                        <a:pt x="0" y="168"/>
                      </a:lnTo>
                    </a:path>
                  </a:pathLst>
                </a:custGeom>
                <a:solidFill>
                  <a:srgbClr val="FFFFFF"/>
                </a:solidFill>
                <a:ln w="12700" cap="rnd" cmpd="sng">
                  <a:solidFill>
                    <a:srgbClr val="000000"/>
                  </a:solidFill>
                  <a:prstDash val="solid"/>
                  <a:round/>
                  <a:headEnd type="none" w="med" len="med"/>
                  <a:tailEnd type="none" w="med" len="med"/>
                </a:ln>
              </p:spPr>
              <p:txBody>
                <a:bodyPr/>
                <a:lstStyle/>
                <a:p>
                  <a:endParaRPr lang="en-US">
                    <a:latin typeface="Roboto" panose="02000000000000000000" pitchFamily="2" charset="0"/>
                    <a:ea typeface="Roboto" panose="02000000000000000000" pitchFamily="2" charset="0"/>
                  </a:endParaRPr>
                </a:p>
              </p:txBody>
            </p:sp>
            <p:sp>
              <p:nvSpPr>
                <p:cNvPr id="206" name="Freeform 186">
                  <a:extLst>
                    <a:ext uri="{FF2B5EF4-FFF2-40B4-BE49-F238E27FC236}">
                      <a16:creationId xmlns:a16="http://schemas.microsoft.com/office/drawing/2014/main" id="{1FD788DB-20DA-E83B-03EB-0E5086122FC9}"/>
                    </a:ext>
                  </a:extLst>
                </p:cNvPr>
                <p:cNvSpPr>
                  <a:spLocks/>
                </p:cNvSpPr>
                <p:nvPr/>
              </p:nvSpPr>
              <p:spPr bwMode="auto">
                <a:xfrm>
                  <a:off x="1390" y="1886"/>
                  <a:ext cx="545" cy="441"/>
                </a:xfrm>
                <a:custGeom>
                  <a:avLst/>
                  <a:gdLst>
                    <a:gd name="T0" fmla="*/ 0 w 544"/>
                    <a:gd name="T1" fmla="*/ 168 h 442"/>
                    <a:gd name="T2" fmla="*/ 53 w 544"/>
                    <a:gd name="T3" fmla="*/ 440 h 442"/>
                    <a:gd name="T4" fmla="*/ 544 w 544"/>
                    <a:gd name="T5" fmla="*/ 282 h 442"/>
                    <a:gd name="T6" fmla="*/ 472 w 544"/>
                    <a:gd name="T7" fmla="*/ 0 h 442"/>
                    <a:gd name="T8" fmla="*/ 0 w 544"/>
                    <a:gd name="T9" fmla="*/ 139 h 442"/>
                    <a:gd name="T10" fmla="*/ 0 w 544"/>
                    <a:gd name="T11" fmla="*/ 158 h 44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44" h="442">
                      <a:moveTo>
                        <a:pt x="0" y="168"/>
                      </a:moveTo>
                      <a:lnTo>
                        <a:pt x="53" y="441"/>
                      </a:lnTo>
                      <a:lnTo>
                        <a:pt x="543" y="283"/>
                      </a:lnTo>
                      <a:lnTo>
                        <a:pt x="471" y="0"/>
                      </a:lnTo>
                      <a:lnTo>
                        <a:pt x="0" y="139"/>
                      </a:lnTo>
                      <a:lnTo>
                        <a:pt x="0" y="158"/>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pic>
              <p:nvPicPr>
                <p:cNvPr id="207" name="Picture 187">
                  <a:extLst>
                    <a:ext uri="{FF2B5EF4-FFF2-40B4-BE49-F238E27FC236}">
                      <a16:creationId xmlns:a16="http://schemas.microsoft.com/office/drawing/2014/main" id="{A98963D1-C3D9-4FBE-0573-67CF829CAD99}"/>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29" y="1910"/>
                  <a:ext cx="453"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8" name="Freeform 188">
                  <a:extLst>
                    <a:ext uri="{FF2B5EF4-FFF2-40B4-BE49-F238E27FC236}">
                      <a16:creationId xmlns:a16="http://schemas.microsoft.com/office/drawing/2014/main" id="{5AD11BDA-2DEB-72A9-0A0F-1EE7B5F4B95E}"/>
                    </a:ext>
                  </a:extLst>
                </p:cNvPr>
                <p:cNvSpPr>
                  <a:spLocks/>
                </p:cNvSpPr>
                <p:nvPr/>
              </p:nvSpPr>
              <p:spPr bwMode="auto">
                <a:xfrm>
                  <a:off x="1467" y="1991"/>
                  <a:ext cx="386" cy="116"/>
                </a:xfrm>
                <a:custGeom>
                  <a:avLst/>
                  <a:gdLst>
                    <a:gd name="T0" fmla="*/ 0 w 385"/>
                    <a:gd name="T1" fmla="*/ 115 h 116"/>
                    <a:gd name="T2" fmla="*/ 19 w 385"/>
                    <a:gd name="T3" fmla="*/ 111 h 116"/>
                    <a:gd name="T4" fmla="*/ 39 w 385"/>
                    <a:gd name="T5" fmla="*/ 96 h 116"/>
                    <a:gd name="T6" fmla="*/ 58 w 385"/>
                    <a:gd name="T7" fmla="*/ 101 h 116"/>
                    <a:gd name="T8" fmla="*/ 120 w 385"/>
                    <a:gd name="T9" fmla="*/ 77 h 116"/>
                    <a:gd name="T10" fmla="*/ 139 w 385"/>
                    <a:gd name="T11" fmla="*/ 72 h 116"/>
                    <a:gd name="T12" fmla="*/ 154 w 385"/>
                    <a:gd name="T13" fmla="*/ 72 h 116"/>
                    <a:gd name="T14" fmla="*/ 168 w 385"/>
                    <a:gd name="T15" fmla="*/ 67 h 116"/>
                    <a:gd name="T16" fmla="*/ 192 w 385"/>
                    <a:gd name="T17" fmla="*/ 53 h 116"/>
                    <a:gd name="T18" fmla="*/ 212 w 385"/>
                    <a:gd name="T19" fmla="*/ 48 h 116"/>
                    <a:gd name="T20" fmla="*/ 232 w 385"/>
                    <a:gd name="T21" fmla="*/ 53 h 116"/>
                    <a:gd name="T22" fmla="*/ 246 w 385"/>
                    <a:gd name="T23" fmla="*/ 39 h 116"/>
                    <a:gd name="T24" fmla="*/ 251 w 385"/>
                    <a:gd name="T25" fmla="*/ 34 h 116"/>
                    <a:gd name="T26" fmla="*/ 275 w 385"/>
                    <a:gd name="T27" fmla="*/ 34 h 116"/>
                    <a:gd name="T28" fmla="*/ 304 w 385"/>
                    <a:gd name="T29" fmla="*/ 29 h 116"/>
                    <a:gd name="T30" fmla="*/ 328 w 385"/>
                    <a:gd name="T31" fmla="*/ 24 h 116"/>
                    <a:gd name="T32" fmla="*/ 352 w 385"/>
                    <a:gd name="T33" fmla="*/ 19 h 116"/>
                    <a:gd name="T34" fmla="*/ 376 w 385"/>
                    <a:gd name="T35" fmla="*/ 0 h 116"/>
                    <a:gd name="T36" fmla="*/ 385 w 385"/>
                    <a:gd name="T37" fmla="*/ 10 h 11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85" h="116">
                      <a:moveTo>
                        <a:pt x="0" y="115"/>
                      </a:moveTo>
                      <a:lnTo>
                        <a:pt x="19" y="111"/>
                      </a:lnTo>
                      <a:lnTo>
                        <a:pt x="39" y="96"/>
                      </a:lnTo>
                      <a:lnTo>
                        <a:pt x="58" y="101"/>
                      </a:lnTo>
                      <a:lnTo>
                        <a:pt x="120" y="77"/>
                      </a:lnTo>
                      <a:lnTo>
                        <a:pt x="139" y="72"/>
                      </a:lnTo>
                      <a:lnTo>
                        <a:pt x="154" y="72"/>
                      </a:lnTo>
                      <a:lnTo>
                        <a:pt x="168" y="67"/>
                      </a:lnTo>
                      <a:lnTo>
                        <a:pt x="192" y="53"/>
                      </a:lnTo>
                      <a:lnTo>
                        <a:pt x="211" y="48"/>
                      </a:lnTo>
                      <a:lnTo>
                        <a:pt x="231" y="53"/>
                      </a:lnTo>
                      <a:lnTo>
                        <a:pt x="245" y="39"/>
                      </a:lnTo>
                      <a:lnTo>
                        <a:pt x="250" y="34"/>
                      </a:lnTo>
                      <a:lnTo>
                        <a:pt x="274" y="34"/>
                      </a:lnTo>
                      <a:lnTo>
                        <a:pt x="303" y="29"/>
                      </a:lnTo>
                      <a:lnTo>
                        <a:pt x="327" y="24"/>
                      </a:lnTo>
                      <a:lnTo>
                        <a:pt x="351" y="19"/>
                      </a:lnTo>
                      <a:lnTo>
                        <a:pt x="375" y="0"/>
                      </a:lnTo>
                      <a:lnTo>
                        <a:pt x="384" y="10"/>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209" name="Freeform 189">
                  <a:extLst>
                    <a:ext uri="{FF2B5EF4-FFF2-40B4-BE49-F238E27FC236}">
                      <a16:creationId xmlns:a16="http://schemas.microsoft.com/office/drawing/2014/main" id="{DFD241F0-042C-3B29-95FC-CAF32AEED23E}"/>
                    </a:ext>
                  </a:extLst>
                </p:cNvPr>
                <p:cNvSpPr>
                  <a:spLocks/>
                </p:cNvSpPr>
                <p:nvPr/>
              </p:nvSpPr>
              <p:spPr bwMode="auto">
                <a:xfrm>
                  <a:off x="1467" y="1991"/>
                  <a:ext cx="386" cy="116"/>
                </a:xfrm>
                <a:custGeom>
                  <a:avLst/>
                  <a:gdLst>
                    <a:gd name="T0" fmla="*/ 0 w 385"/>
                    <a:gd name="T1" fmla="*/ 115 h 116"/>
                    <a:gd name="T2" fmla="*/ 19 w 385"/>
                    <a:gd name="T3" fmla="*/ 111 h 116"/>
                    <a:gd name="T4" fmla="*/ 39 w 385"/>
                    <a:gd name="T5" fmla="*/ 96 h 116"/>
                    <a:gd name="T6" fmla="*/ 58 w 385"/>
                    <a:gd name="T7" fmla="*/ 101 h 116"/>
                    <a:gd name="T8" fmla="*/ 120 w 385"/>
                    <a:gd name="T9" fmla="*/ 77 h 116"/>
                    <a:gd name="T10" fmla="*/ 139 w 385"/>
                    <a:gd name="T11" fmla="*/ 72 h 116"/>
                    <a:gd name="T12" fmla="*/ 154 w 385"/>
                    <a:gd name="T13" fmla="*/ 72 h 116"/>
                    <a:gd name="T14" fmla="*/ 168 w 385"/>
                    <a:gd name="T15" fmla="*/ 67 h 116"/>
                    <a:gd name="T16" fmla="*/ 192 w 385"/>
                    <a:gd name="T17" fmla="*/ 53 h 116"/>
                    <a:gd name="T18" fmla="*/ 212 w 385"/>
                    <a:gd name="T19" fmla="*/ 48 h 116"/>
                    <a:gd name="T20" fmla="*/ 232 w 385"/>
                    <a:gd name="T21" fmla="*/ 53 h 116"/>
                    <a:gd name="T22" fmla="*/ 246 w 385"/>
                    <a:gd name="T23" fmla="*/ 39 h 116"/>
                    <a:gd name="T24" fmla="*/ 251 w 385"/>
                    <a:gd name="T25" fmla="*/ 34 h 116"/>
                    <a:gd name="T26" fmla="*/ 275 w 385"/>
                    <a:gd name="T27" fmla="*/ 34 h 116"/>
                    <a:gd name="T28" fmla="*/ 304 w 385"/>
                    <a:gd name="T29" fmla="*/ 29 h 116"/>
                    <a:gd name="T30" fmla="*/ 328 w 385"/>
                    <a:gd name="T31" fmla="*/ 24 h 116"/>
                    <a:gd name="T32" fmla="*/ 352 w 385"/>
                    <a:gd name="T33" fmla="*/ 19 h 116"/>
                    <a:gd name="T34" fmla="*/ 376 w 385"/>
                    <a:gd name="T35" fmla="*/ 0 h 116"/>
                    <a:gd name="T36" fmla="*/ 385 w 385"/>
                    <a:gd name="T37" fmla="*/ 10 h 11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85" h="116">
                      <a:moveTo>
                        <a:pt x="0" y="115"/>
                      </a:moveTo>
                      <a:lnTo>
                        <a:pt x="19" y="111"/>
                      </a:lnTo>
                      <a:lnTo>
                        <a:pt x="39" y="96"/>
                      </a:lnTo>
                      <a:lnTo>
                        <a:pt x="58" y="101"/>
                      </a:lnTo>
                      <a:lnTo>
                        <a:pt x="120" y="77"/>
                      </a:lnTo>
                      <a:lnTo>
                        <a:pt x="139" y="72"/>
                      </a:lnTo>
                      <a:lnTo>
                        <a:pt x="154" y="72"/>
                      </a:lnTo>
                      <a:lnTo>
                        <a:pt x="168" y="67"/>
                      </a:lnTo>
                      <a:lnTo>
                        <a:pt x="192" y="53"/>
                      </a:lnTo>
                      <a:lnTo>
                        <a:pt x="211" y="48"/>
                      </a:lnTo>
                      <a:lnTo>
                        <a:pt x="231" y="53"/>
                      </a:lnTo>
                      <a:lnTo>
                        <a:pt x="245" y="39"/>
                      </a:lnTo>
                      <a:lnTo>
                        <a:pt x="250" y="34"/>
                      </a:lnTo>
                      <a:lnTo>
                        <a:pt x="274" y="34"/>
                      </a:lnTo>
                      <a:lnTo>
                        <a:pt x="303" y="29"/>
                      </a:lnTo>
                      <a:lnTo>
                        <a:pt x="327" y="24"/>
                      </a:lnTo>
                      <a:lnTo>
                        <a:pt x="351" y="19"/>
                      </a:lnTo>
                      <a:lnTo>
                        <a:pt x="375" y="0"/>
                      </a:lnTo>
                      <a:lnTo>
                        <a:pt x="384" y="10"/>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210" name="Freeform 190">
                  <a:extLst>
                    <a:ext uri="{FF2B5EF4-FFF2-40B4-BE49-F238E27FC236}">
                      <a16:creationId xmlns:a16="http://schemas.microsoft.com/office/drawing/2014/main" id="{C348061B-2B24-C119-6DAA-C6D53A0A72D0}"/>
                    </a:ext>
                  </a:extLst>
                </p:cNvPr>
                <p:cNvSpPr>
                  <a:spLocks/>
                </p:cNvSpPr>
                <p:nvPr/>
              </p:nvSpPr>
              <p:spPr bwMode="auto">
                <a:xfrm>
                  <a:off x="1462" y="2020"/>
                  <a:ext cx="385" cy="116"/>
                </a:xfrm>
                <a:custGeom>
                  <a:avLst/>
                  <a:gdLst>
                    <a:gd name="T0" fmla="*/ 0 w 385"/>
                    <a:gd name="T1" fmla="*/ 115 h 116"/>
                    <a:gd name="T2" fmla="*/ 20 w 385"/>
                    <a:gd name="T3" fmla="*/ 110 h 116"/>
                    <a:gd name="T4" fmla="*/ 39 w 385"/>
                    <a:gd name="T5" fmla="*/ 96 h 116"/>
                    <a:gd name="T6" fmla="*/ 58 w 385"/>
                    <a:gd name="T7" fmla="*/ 101 h 116"/>
                    <a:gd name="T8" fmla="*/ 120 w 385"/>
                    <a:gd name="T9" fmla="*/ 77 h 116"/>
                    <a:gd name="T10" fmla="*/ 140 w 385"/>
                    <a:gd name="T11" fmla="*/ 72 h 116"/>
                    <a:gd name="T12" fmla="*/ 154 w 385"/>
                    <a:gd name="T13" fmla="*/ 72 h 116"/>
                    <a:gd name="T14" fmla="*/ 168 w 385"/>
                    <a:gd name="T15" fmla="*/ 67 h 116"/>
                    <a:gd name="T16" fmla="*/ 192 w 385"/>
                    <a:gd name="T17" fmla="*/ 53 h 116"/>
                    <a:gd name="T18" fmla="*/ 212 w 385"/>
                    <a:gd name="T19" fmla="*/ 48 h 116"/>
                    <a:gd name="T20" fmla="*/ 231 w 385"/>
                    <a:gd name="T21" fmla="*/ 53 h 116"/>
                    <a:gd name="T22" fmla="*/ 245 w 385"/>
                    <a:gd name="T23" fmla="*/ 38 h 116"/>
                    <a:gd name="T24" fmla="*/ 250 w 385"/>
                    <a:gd name="T25" fmla="*/ 34 h 116"/>
                    <a:gd name="T26" fmla="*/ 274 w 385"/>
                    <a:gd name="T27" fmla="*/ 34 h 116"/>
                    <a:gd name="T28" fmla="*/ 303 w 385"/>
                    <a:gd name="T29" fmla="*/ 29 h 116"/>
                    <a:gd name="T30" fmla="*/ 327 w 385"/>
                    <a:gd name="T31" fmla="*/ 24 h 116"/>
                    <a:gd name="T32" fmla="*/ 351 w 385"/>
                    <a:gd name="T33" fmla="*/ 19 h 116"/>
                    <a:gd name="T34" fmla="*/ 375 w 385"/>
                    <a:gd name="T35" fmla="*/ 0 h 116"/>
                    <a:gd name="T36" fmla="*/ 384 w 385"/>
                    <a:gd name="T37" fmla="*/ 10 h 11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85" h="116">
                      <a:moveTo>
                        <a:pt x="0" y="115"/>
                      </a:moveTo>
                      <a:lnTo>
                        <a:pt x="20" y="110"/>
                      </a:lnTo>
                      <a:lnTo>
                        <a:pt x="39" y="96"/>
                      </a:lnTo>
                      <a:lnTo>
                        <a:pt x="58" y="101"/>
                      </a:lnTo>
                      <a:lnTo>
                        <a:pt x="120" y="77"/>
                      </a:lnTo>
                      <a:lnTo>
                        <a:pt x="140" y="72"/>
                      </a:lnTo>
                      <a:lnTo>
                        <a:pt x="154" y="72"/>
                      </a:lnTo>
                      <a:lnTo>
                        <a:pt x="168" y="67"/>
                      </a:lnTo>
                      <a:lnTo>
                        <a:pt x="192" y="53"/>
                      </a:lnTo>
                      <a:lnTo>
                        <a:pt x="212" y="48"/>
                      </a:lnTo>
                      <a:lnTo>
                        <a:pt x="231" y="53"/>
                      </a:lnTo>
                      <a:lnTo>
                        <a:pt x="245" y="38"/>
                      </a:lnTo>
                      <a:lnTo>
                        <a:pt x="250" y="34"/>
                      </a:lnTo>
                      <a:lnTo>
                        <a:pt x="274" y="34"/>
                      </a:lnTo>
                      <a:lnTo>
                        <a:pt x="303" y="29"/>
                      </a:lnTo>
                      <a:lnTo>
                        <a:pt x="327" y="24"/>
                      </a:lnTo>
                      <a:lnTo>
                        <a:pt x="351" y="19"/>
                      </a:lnTo>
                      <a:lnTo>
                        <a:pt x="375" y="0"/>
                      </a:lnTo>
                      <a:lnTo>
                        <a:pt x="384" y="10"/>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211" name="Freeform 191">
                  <a:extLst>
                    <a:ext uri="{FF2B5EF4-FFF2-40B4-BE49-F238E27FC236}">
                      <a16:creationId xmlns:a16="http://schemas.microsoft.com/office/drawing/2014/main" id="{BED6C483-7643-4C1F-5721-391B3335764A}"/>
                    </a:ext>
                  </a:extLst>
                </p:cNvPr>
                <p:cNvSpPr>
                  <a:spLocks/>
                </p:cNvSpPr>
                <p:nvPr/>
              </p:nvSpPr>
              <p:spPr bwMode="auto">
                <a:xfrm>
                  <a:off x="1462" y="2020"/>
                  <a:ext cx="385" cy="116"/>
                </a:xfrm>
                <a:custGeom>
                  <a:avLst/>
                  <a:gdLst>
                    <a:gd name="T0" fmla="*/ 0 w 385"/>
                    <a:gd name="T1" fmla="*/ 115 h 116"/>
                    <a:gd name="T2" fmla="*/ 20 w 385"/>
                    <a:gd name="T3" fmla="*/ 110 h 116"/>
                    <a:gd name="T4" fmla="*/ 39 w 385"/>
                    <a:gd name="T5" fmla="*/ 96 h 116"/>
                    <a:gd name="T6" fmla="*/ 58 w 385"/>
                    <a:gd name="T7" fmla="*/ 101 h 116"/>
                    <a:gd name="T8" fmla="*/ 120 w 385"/>
                    <a:gd name="T9" fmla="*/ 77 h 116"/>
                    <a:gd name="T10" fmla="*/ 140 w 385"/>
                    <a:gd name="T11" fmla="*/ 72 h 116"/>
                    <a:gd name="T12" fmla="*/ 154 w 385"/>
                    <a:gd name="T13" fmla="*/ 72 h 116"/>
                    <a:gd name="T14" fmla="*/ 168 w 385"/>
                    <a:gd name="T15" fmla="*/ 67 h 116"/>
                    <a:gd name="T16" fmla="*/ 192 w 385"/>
                    <a:gd name="T17" fmla="*/ 53 h 116"/>
                    <a:gd name="T18" fmla="*/ 212 w 385"/>
                    <a:gd name="T19" fmla="*/ 48 h 116"/>
                    <a:gd name="T20" fmla="*/ 231 w 385"/>
                    <a:gd name="T21" fmla="*/ 53 h 116"/>
                    <a:gd name="T22" fmla="*/ 245 w 385"/>
                    <a:gd name="T23" fmla="*/ 38 h 116"/>
                    <a:gd name="T24" fmla="*/ 250 w 385"/>
                    <a:gd name="T25" fmla="*/ 34 h 116"/>
                    <a:gd name="T26" fmla="*/ 274 w 385"/>
                    <a:gd name="T27" fmla="*/ 34 h 116"/>
                    <a:gd name="T28" fmla="*/ 303 w 385"/>
                    <a:gd name="T29" fmla="*/ 29 h 116"/>
                    <a:gd name="T30" fmla="*/ 327 w 385"/>
                    <a:gd name="T31" fmla="*/ 24 h 116"/>
                    <a:gd name="T32" fmla="*/ 351 w 385"/>
                    <a:gd name="T33" fmla="*/ 19 h 116"/>
                    <a:gd name="T34" fmla="*/ 375 w 385"/>
                    <a:gd name="T35" fmla="*/ 0 h 116"/>
                    <a:gd name="T36" fmla="*/ 384 w 385"/>
                    <a:gd name="T37" fmla="*/ 10 h 11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85" h="116">
                      <a:moveTo>
                        <a:pt x="0" y="115"/>
                      </a:moveTo>
                      <a:lnTo>
                        <a:pt x="20" y="110"/>
                      </a:lnTo>
                      <a:lnTo>
                        <a:pt x="39" y="96"/>
                      </a:lnTo>
                      <a:lnTo>
                        <a:pt x="58" y="101"/>
                      </a:lnTo>
                      <a:lnTo>
                        <a:pt x="120" y="77"/>
                      </a:lnTo>
                      <a:lnTo>
                        <a:pt x="140" y="72"/>
                      </a:lnTo>
                      <a:lnTo>
                        <a:pt x="154" y="72"/>
                      </a:lnTo>
                      <a:lnTo>
                        <a:pt x="168" y="67"/>
                      </a:lnTo>
                      <a:lnTo>
                        <a:pt x="192" y="53"/>
                      </a:lnTo>
                      <a:lnTo>
                        <a:pt x="212" y="48"/>
                      </a:lnTo>
                      <a:lnTo>
                        <a:pt x="231" y="53"/>
                      </a:lnTo>
                      <a:lnTo>
                        <a:pt x="245" y="38"/>
                      </a:lnTo>
                      <a:lnTo>
                        <a:pt x="250" y="34"/>
                      </a:lnTo>
                      <a:lnTo>
                        <a:pt x="274" y="34"/>
                      </a:lnTo>
                      <a:lnTo>
                        <a:pt x="303" y="29"/>
                      </a:lnTo>
                      <a:lnTo>
                        <a:pt x="327" y="24"/>
                      </a:lnTo>
                      <a:lnTo>
                        <a:pt x="351" y="19"/>
                      </a:lnTo>
                      <a:lnTo>
                        <a:pt x="375" y="0"/>
                      </a:lnTo>
                      <a:lnTo>
                        <a:pt x="384" y="10"/>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212" name="Freeform 192">
                  <a:extLst>
                    <a:ext uri="{FF2B5EF4-FFF2-40B4-BE49-F238E27FC236}">
                      <a16:creationId xmlns:a16="http://schemas.microsoft.com/office/drawing/2014/main" id="{6EC42115-1AD4-9678-F1E2-FEF92F02B705}"/>
                    </a:ext>
                  </a:extLst>
                </p:cNvPr>
                <p:cNvSpPr>
                  <a:spLocks/>
                </p:cNvSpPr>
                <p:nvPr/>
              </p:nvSpPr>
              <p:spPr bwMode="auto">
                <a:xfrm>
                  <a:off x="1477" y="2034"/>
                  <a:ext cx="380" cy="120"/>
                </a:xfrm>
                <a:custGeom>
                  <a:avLst/>
                  <a:gdLst>
                    <a:gd name="T0" fmla="*/ 0 w 380"/>
                    <a:gd name="T1" fmla="*/ 119 h 121"/>
                    <a:gd name="T2" fmla="*/ 19 w 380"/>
                    <a:gd name="T3" fmla="*/ 115 h 121"/>
                    <a:gd name="T4" fmla="*/ 38 w 380"/>
                    <a:gd name="T5" fmla="*/ 100 h 121"/>
                    <a:gd name="T6" fmla="*/ 57 w 380"/>
                    <a:gd name="T7" fmla="*/ 105 h 121"/>
                    <a:gd name="T8" fmla="*/ 115 w 380"/>
                    <a:gd name="T9" fmla="*/ 81 h 121"/>
                    <a:gd name="T10" fmla="*/ 134 w 380"/>
                    <a:gd name="T11" fmla="*/ 76 h 121"/>
                    <a:gd name="T12" fmla="*/ 149 w 380"/>
                    <a:gd name="T13" fmla="*/ 76 h 121"/>
                    <a:gd name="T14" fmla="*/ 163 w 380"/>
                    <a:gd name="T15" fmla="*/ 71 h 121"/>
                    <a:gd name="T16" fmla="*/ 192 w 380"/>
                    <a:gd name="T17" fmla="*/ 58 h 121"/>
                    <a:gd name="T18" fmla="*/ 211 w 380"/>
                    <a:gd name="T19" fmla="*/ 48 h 121"/>
                    <a:gd name="T20" fmla="*/ 225 w 380"/>
                    <a:gd name="T21" fmla="*/ 53 h 121"/>
                    <a:gd name="T22" fmla="*/ 240 w 380"/>
                    <a:gd name="T23" fmla="*/ 44 h 121"/>
                    <a:gd name="T24" fmla="*/ 249 w 380"/>
                    <a:gd name="T25" fmla="*/ 34 h 121"/>
                    <a:gd name="T26" fmla="*/ 269 w 380"/>
                    <a:gd name="T27" fmla="*/ 39 h 121"/>
                    <a:gd name="T28" fmla="*/ 297 w 380"/>
                    <a:gd name="T29" fmla="*/ 29 h 121"/>
                    <a:gd name="T30" fmla="*/ 321 w 380"/>
                    <a:gd name="T31" fmla="*/ 29 h 121"/>
                    <a:gd name="T32" fmla="*/ 345 w 380"/>
                    <a:gd name="T33" fmla="*/ 20 h 121"/>
                    <a:gd name="T34" fmla="*/ 374 w 380"/>
                    <a:gd name="T35" fmla="*/ 0 h 121"/>
                    <a:gd name="T36" fmla="*/ 379 w 380"/>
                    <a:gd name="T37" fmla="*/ 10 h 12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80" h="121">
                      <a:moveTo>
                        <a:pt x="0" y="120"/>
                      </a:moveTo>
                      <a:lnTo>
                        <a:pt x="19" y="116"/>
                      </a:lnTo>
                      <a:lnTo>
                        <a:pt x="38" y="101"/>
                      </a:lnTo>
                      <a:lnTo>
                        <a:pt x="57" y="106"/>
                      </a:lnTo>
                      <a:lnTo>
                        <a:pt x="115" y="82"/>
                      </a:lnTo>
                      <a:lnTo>
                        <a:pt x="134" y="77"/>
                      </a:lnTo>
                      <a:lnTo>
                        <a:pt x="149" y="77"/>
                      </a:lnTo>
                      <a:lnTo>
                        <a:pt x="163" y="72"/>
                      </a:lnTo>
                      <a:lnTo>
                        <a:pt x="192" y="58"/>
                      </a:lnTo>
                      <a:lnTo>
                        <a:pt x="211" y="48"/>
                      </a:lnTo>
                      <a:lnTo>
                        <a:pt x="225" y="53"/>
                      </a:lnTo>
                      <a:lnTo>
                        <a:pt x="240" y="44"/>
                      </a:lnTo>
                      <a:lnTo>
                        <a:pt x="249" y="34"/>
                      </a:lnTo>
                      <a:lnTo>
                        <a:pt x="269" y="39"/>
                      </a:lnTo>
                      <a:lnTo>
                        <a:pt x="297" y="29"/>
                      </a:lnTo>
                      <a:lnTo>
                        <a:pt x="321" y="29"/>
                      </a:lnTo>
                      <a:lnTo>
                        <a:pt x="345" y="20"/>
                      </a:lnTo>
                      <a:lnTo>
                        <a:pt x="374" y="0"/>
                      </a:lnTo>
                      <a:lnTo>
                        <a:pt x="379" y="10"/>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213" name="Freeform 193">
                  <a:extLst>
                    <a:ext uri="{FF2B5EF4-FFF2-40B4-BE49-F238E27FC236}">
                      <a16:creationId xmlns:a16="http://schemas.microsoft.com/office/drawing/2014/main" id="{B182780F-FFDE-193A-3FF6-E1000461939F}"/>
                    </a:ext>
                  </a:extLst>
                </p:cNvPr>
                <p:cNvSpPr>
                  <a:spLocks/>
                </p:cNvSpPr>
                <p:nvPr/>
              </p:nvSpPr>
              <p:spPr bwMode="auto">
                <a:xfrm>
                  <a:off x="1477" y="2034"/>
                  <a:ext cx="380" cy="120"/>
                </a:xfrm>
                <a:custGeom>
                  <a:avLst/>
                  <a:gdLst>
                    <a:gd name="T0" fmla="*/ 0 w 380"/>
                    <a:gd name="T1" fmla="*/ 119 h 121"/>
                    <a:gd name="T2" fmla="*/ 19 w 380"/>
                    <a:gd name="T3" fmla="*/ 115 h 121"/>
                    <a:gd name="T4" fmla="*/ 38 w 380"/>
                    <a:gd name="T5" fmla="*/ 100 h 121"/>
                    <a:gd name="T6" fmla="*/ 57 w 380"/>
                    <a:gd name="T7" fmla="*/ 105 h 121"/>
                    <a:gd name="T8" fmla="*/ 115 w 380"/>
                    <a:gd name="T9" fmla="*/ 81 h 121"/>
                    <a:gd name="T10" fmla="*/ 134 w 380"/>
                    <a:gd name="T11" fmla="*/ 76 h 121"/>
                    <a:gd name="T12" fmla="*/ 149 w 380"/>
                    <a:gd name="T13" fmla="*/ 76 h 121"/>
                    <a:gd name="T14" fmla="*/ 163 w 380"/>
                    <a:gd name="T15" fmla="*/ 71 h 121"/>
                    <a:gd name="T16" fmla="*/ 192 w 380"/>
                    <a:gd name="T17" fmla="*/ 58 h 121"/>
                    <a:gd name="T18" fmla="*/ 211 w 380"/>
                    <a:gd name="T19" fmla="*/ 48 h 121"/>
                    <a:gd name="T20" fmla="*/ 225 w 380"/>
                    <a:gd name="T21" fmla="*/ 53 h 121"/>
                    <a:gd name="T22" fmla="*/ 240 w 380"/>
                    <a:gd name="T23" fmla="*/ 44 h 121"/>
                    <a:gd name="T24" fmla="*/ 249 w 380"/>
                    <a:gd name="T25" fmla="*/ 34 h 121"/>
                    <a:gd name="T26" fmla="*/ 269 w 380"/>
                    <a:gd name="T27" fmla="*/ 39 h 121"/>
                    <a:gd name="T28" fmla="*/ 297 w 380"/>
                    <a:gd name="T29" fmla="*/ 29 h 121"/>
                    <a:gd name="T30" fmla="*/ 321 w 380"/>
                    <a:gd name="T31" fmla="*/ 29 h 121"/>
                    <a:gd name="T32" fmla="*/ 345 w 380"/>
                    <a:gd name="T33" fmla="*/ 20 h 121"/>
                    <a:gd name="T34" fmla="*/ 374 w 380"/>
                    <a:gd name="T35" fmla="*/ 0 h 121"/>
                    <a:gd name="T36" fmla="*/ 379 w 380"/>
                    <a:gd name="T37" fmla="*/ 10 h 12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80" h="121">
                      <a:moveTo>
                        <a:pt x="0" y="120"/>
                      </a:moveTo>
                      <a:lnTo>
                        <a:pt x="19" y="116"/>
                      </a:lnTo>
                      <a:lnTo>
                        <a:pt x="38" y="101"/>
                      </a:lnTo>
                      <a:lnTo>
                        <a:pt x="57" y="106"/>
                      </a:lnTo>
                      <a:lnTo>
                        <a:pt x="115" y="82"/>
                      </a:lnTo>
                      <a:lnTo>
                        <a:pt x="134" y="77"/>
                      </a:lnTo>
                      <a:lnTo>
                        <a:pt x="149" y="77"/>
                      </a:lnTo>
                      <a:lnTo>
                        <a:pt x="163" y="72"/>
                      </a:lnTo>
                      <a:lnTo>
                        <a:pt x="192" y="58"/>
                      </a:lnTo>
                      <a:lnTo>
                        <a:pt x="211" y="48"/>
                      </a:lnTo>
                      <a:lnTo>
                        <a:pt x="225" y="53"/>
                      </a:lnTo>
                      <a:lnTo>
                        <a:pt x="240" y="44"/>
                      </a:lnTo>
                      <a:lnTo>
                        <a:pt x="249" y="34"/>
                      </a:lnTo>
                      <a:lnTo>
                        <a:pt x="269" y="39"/>
                      </a:lnTo>
                      <a:lnTo>
                        <a:pt x="297" y="29"/>
                      </a:lnTo>
                      <a:lnTo>
                        <a:pt x="321" y="29"/>
                      </a:lnTo>
                      <a:lnTo>
                        <a:pt x="345" y="20"/>
                      </a:lnTo>
                      <a:lnTo>
                        <a:pt x="374" y="0"/>
                      </a:lnTo>
                      <a:lnTo>
                        <a:pt x="379" y="10"/>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214" name="Freeform 194">
                  <a:extLst>
                    <a:ext uri="{FF2B5EF4-FFF2-40B4-BE49-F238E27FC236}">
                      <a16:creationId xmlns:a16="http://schemas.microsoft.com/office/drawing/2014/main" id="{3BCB16B5-05F5-951E-85F9-86A100604FCF}"/>
                    </a:ext>
                  </a:extLst>
                </p:cNvPr>
                <p:cNvSpPr>
                  <a:spLocks/>
                </p:cNvSpPr>
                <p:nvPr/>
              </p:nvSpPr>
              <p:spPr bwMode="auto">
                <a:xfrm>
                  <a:off x="1472" y="2062"/>
                  <a:ext cx="380" cy="122"/>
                </a:xfrm>
                <a:custGeom>
                  <a:avLst/>
                  <a:gdLst>
                    <a:gd name="T0" fmla="*/ 0 w 380"/>
                    <a:gd name="T1" fmla="*/ 121 h 121"/>
                    <a:gd name="T2" fmla="*/ 19 w 380"/>
                    <a:gd name="T3" fmla="*/ 116 h 121"/>
                    <a:gd name="T4" fmla="*/ 38 w 380"/>
                    <a:gd name="T5" fmla="*/ 102 h 121"/>
                    <a:gd name="T6" fmla="*/ 58 w 380"/>
                    <a:gd name="T7" fmla="*/ 107 h 121"/>
                    <a:gd name="T8" fmla="*/ 115 w 380"/>
                    <a:gd name="T9" fmla="*/ 83 h 121"/>
                    <a:gd name="T10" fmla="*/ 134 w 380"/>
                    <a:gd name="T11" fmla="*/ 78 h 121"/>
                    <a:gd name="T12" fmla="*/ 149 w 380"/>
                    <a:gd name="T13" fmla="*/ 78 h 121"/>
                    <a:gd name="T14" fmla="*/ 163 w 380"/>
                    <a:gd name="T15" fmla="*/ 73 h 121"/>
                    <a:gd name="T16" fmla="*/ 192 w 380"/>
                    <a:gd name="T17" fmla="*/ 58 h 121"/>
                    <a:gd name="T18" fmla="*/ 211 w 380"/>
                    <a:gd name="T19" fmla="*/ 48 h 121"/>
                    <a:gd name="T20" fmla="*/ 226 w 380"/>
                    <a:gd name="T21" fmla="*/ 53 h 121"/>
                    <a:gd name="T22" fmla="*/ 240 w 380"/>
                    <a:gd name="T23" fmla="*/ 43 h 121"/>
                    <a:gd name="T24" fmla="*/ 250 w 380"/>
                    <a:gd name="T25" fmla="*/ 34 h 121"/>
                    <a:gd name="T26" fmla="*/ 269 w 380"/>
                    <a:gd name="T27" fmla="*/ 39 h 121"/>
                    <a:gd name="T28" fmla="*/ 298 w 380"/>
                    <a:gd name="T29" fmla="*/ 29 h 121"/>
                    <a:gd name="T30" fmla="*/ 322 w 380"/>
                    <a:gd name="T31" fmla="*/ 29 h 121"/>
                    <a:gd name="T32" fmla="*/ 346 w 380"/>
                    <a:gd name="T33" fmla="*/ 19 h 121"/>
                    <a:gd name="T34" fmla="*/ 374 w 380"/>
                    <a:gd name="T35" fmla="*/ 0 h 121"/>
                    <a:gd name="T36" fmla="*/ 379 w 380"/>
                    <a:gd name="T37" fmla="*/ 10 h 12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80" h="121">
                      <a:moveTo>
                        <a:pt x="0" y="120"/>
                      </a:moveTo>
                      <a:lnTo>
                        <a:pt x="19" y="115"/>
                      </a:lnTo>
                      <a:lnTo>
                        <a:pt x="38" y="101"/>
                      </a:lnTo>
                      <a:lnTo>
                        <a:pt x="58" y="106"/>
                      </a:lnTo>
                      <a:lnTo>
                        <a:pt x="115" y="82"/>
                      </a:lnTo>
                      <a:lnTo>
                        <a:pt x="134" y="77"/>
                      </a:lnTo>
                      <a:lnTo>
                        <a:pt x="149" y="77"/>
                      </a:lnTo>
                      <a:lnTo>
                        <a:pt x="163" y="72"/>
                      </a:lnTo>
                      <a:lnTo>
                        <a:pt x="192" y="58"/>
                      </a:lnTo>
                      <a:lnTo>
                        <a:pt x="211" y="48"/>
                      </a:lnTo>
                      <a:lnTo>
                        <a:pt x="226" y="53"/>
                      </a:lnTo>
                      <a:lnTo>
                        <a:pt x="240" y="43"/>
                      </a:lnTo>
                      <a:lnTo>
                        <a:pt x="250" y="34"/>
                      </a:lnTo>
                      <a:lnTo>
                        <a:pt x="269" y="39"/>
                      </a:lnTo>
                      <a:lnTo>
                        <a:pt x="298" y="29"/>
                      </a:lnTo>
                      <a:lnTo>
                        <a:pt x="322" y="29"/>
                      </a:lnTo>
                      <a:lnTo>
                        <a:pt x="346" y="19"/>
                      </a:lnTo>
                      <a:lnTo>
                        <a:pt x="374" y="0"/>
                      </a:lnTo>
                      <a:lnTo>
                        <a:pt x="379" y="10"/>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215" name="Freeform 195">
                  <a:extLst>
                    <a:ext uri="{FF2B5EF4-FFF2-40B4-BE49-F238E27FC236}">
                      <a16:creationId xmlns:a16="http://schemas.microsoft.com/office/drawing/2014/main" id="{EC7738CD-4930-2BDB-DCB5-840CE6787908}"/>
                    </a:ext>
                  </a:extLst>
                </p:cNvPr>
                <p:cNvSpPr>
                  <a:spLocks/>
                </p:cNvSpPr>
                <p:nvPr/>
              </p:nvSpPr>
              <p:spPr bwMode="auto">
                <a:xfrm>
                  <a:off x="1472" y="2062"/>
                  <a:ext cx="380" cy="122"/>
                </a:xfrm>
                <a:custGeom>
                  <a:avLst/>
                  <a:gdLst>
                    <a:gd name="T0" fmla="*/ 0 w 380"/>
                    <a:gd name="T1" fmla="*/ 121 h 121"/>
                    <a:gd name="T2" fmla="*/ 19 w 380"/>
                    <a:gd name="T3" fmla="*/ 116 h 121"/>
                    <a:gd name="T4" fmla="*/ 38 w 380"/>
                    <a:gd name="T5" fmla="*/ 102 h 121"/>
                    <a:gd name="T6" fmla="*/ 58 w 380"/>
                    <a:gd name="T7" fmla="*/ 107 h 121"/>
                    <a:gd name="T8" fmla="*/ 115 w 380"/>
                    <a:gd name="T9" fmla="*/ 83 h 121"/>
                    <a:gd name="T10" fmla="*/ 134 w 380"/>
                    <a:gd name="T11" fmla="*/ 78 h 121"/>
                    <a:gd name="T12" fmla="*/ 149 w 380"/>
                    <a:gd name="T13" fmla="*/ 78 h 121"/>
                    <a:gd name="T14" fmla="*/ 163 w 380"/>
                    <a:gd name="T15" fmla="*/ 73 h 121"/>
                    <a:gd name="T16" fmla="*/ 192 w 380"/>
                    <a:gd name="T17" fmla="*/ 58 h 121"/>
                    <a:gd name="T18" fmla="*/ 211 w 380"/>
                    <a:gd name="T19" fmla="*/ 48 h 121"/>
                    <a:gd name="T20" fmla="*/ 226 w 380"/>
                    <a:gd name="T21" fmla="*/ 53 h 121"/>
                    <a:gd name="T22" fmla="*/ 240 w 380"/>
                    <a:gd name="T23" fmla="*/ 43 h 121"/>
                    <a:gd name="T24" fmla="*/ 250 w 380"/>
                    <a:gd name="T25" fmla="*/ 34 h 121"/>
                    <a:gd name="T26" fmla="*/ 269 w 380"/>
                    <a:gd name="T27" fmla="*/ 39 h 121"/>
                    <a:gd name="T28" fmla="*/ 298 w 380"/>
                    <a:gd name="T29" fmla="*/ 29 h 121"/>
                    <a:gd name="T30" fmla="*/ 322 w 380"/>
                    <a:gd name="T31" fmla="*/ 29 h 121"/>
                    <a:gd name="T32" fmla="*/ 346 w 380"/>
                    <a:gd name="T33" fmla="*/ 19 h 121"/>
                    <a:gd name="T34" fmla="*/ 374 w 380"/>
                    <a:gd name="T35" fmla="*/ 0 h 121"/>
                    <a:gd name="T36" fmla="*/ 379 w 380"/>
                    <a:gd name="T37" fmla="*/ 10 h 12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80" h="121">
                      <a:moveTo>
                        <a:pt x="0" y="120"/>
                      </a:moveTo>
                      <a:lnTo>
                        <a:pt x="19" y="115"/>
                      </a:lnTo>
                      <a:lnTo>
                        <a:pt x="38" y="101"/>
                      </a:lnTo>
                      <a:lnTo>
                        <a:pt x="58" y="106"/>
                      </a:lnTo>
                      <a:lnTo>
                        <a:pt x="115" y="82"/>
                      </a:lnTo>
                      <a:lnTo>
                        <a:pt x="134" y="77"/>
                      </a:lnTo>
                      <a:lnTo>
                        <a:pt x="149" y="77"/>
                      </a:lnTo>
                      <a:lnTo>
                        <a:pt x="163" y="72"/>
                      </a:lnTo>
                      <a:lnTo>
                        <a:pt x="192" y="58"/>
                      </a:lnTo>
                      <a:lnTo>
                        <a:pt x="211" y="48"/>
                      </a:lnTo>
                      <a:lnTo>
                        <a:pt x="226" y="53"/>
                      </a:lnTo>
                      <a:lnTo>
                        <a:pt x="240" y="43"/>
                      </a:lnTo>
                      <a:lnTo>
                        <a:pt x="250" y="34"/>
                      </a:lnTo>
                      <a:lnTo>
                        <a:pt x="269" y="39"/>
                      </a:lnTo>
                      <a:lnTo>
                        <a:pt x="298" y="29"/>
                      </a:lnTo>
                      <a:lnTo>
                        <a:pt x="322" y="29"/>
                      </a:lnTo>
                      <a:lnTo>
                        <a:pt x="346" y="19"/>
                      </a:lnTo>
                      <a:lnTo>
                        <a:pt x="374" y="0"/>
                      </a:lnTo>
                      <a:lnTo>
                        <a:pt x="379" y="10"/>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216" name="Freeform 196">
                  <a:extLst>
                    <a:ext uri="{FF2B5EF4-FFF2-40B4-BE49-F238E27FC236}">
                      <a16:creationId xmlns:a16="http://schemas.microsoft.com/office/drawing/2014/main" id="{2307A68F-6ED8-C10D-7745-811CEB74EA51}"/>
                    </a:ext>
                  </a:extLst>
                </p:cNvPr>
                <p:cNvSpPr>
                  <a:spLocks/>
                </p:cNvSpPr>
                <p:nvPr/>
              </p:nvSpPr>
              <p:spPr bwMode="auto">
                <a:xfrm>
                  <a:off x="1482" y="2082"/>
                  <a:ext cx="386" cy="117"/>
                </a:xfrm>
                <a:custGeom>
                  <a:avLst/>
                  <a:gdLst>
                    <a:gd name="T0" fmla="*/ 0 w 385"/>
                    <a:gd name="T1" fmla="*/ 116 h 117"/>
                    <a:gd name="T2" fmla="*/ 19 w 385"/>
                    <a:gd name="T3" fmla="*/ 111 h 117"/>
                    <a:gd name="T4" fmla="*/ 38 w 385"/>
                    <a:gd name="T5" fmla="*/ 96 h 117"/>
                    <a:gd name="T6" fmla="*/ 57 w 385"/>
                    <a:gd name="T7" fmla="*/ 101 h 117"/>
                    <a:gd name="T8" fmla="*/ 120 w 385"/>
                    <a:gd name="T9" fmla="*/ 77 h 117"/>
                    <a:gd name="T10" fmla="*/ 139 w 385"/>
                    <a:gd name="T11" fmla="*/ 72 h 117"/>
                    <a:gd name="T12" fmla="*/ 153 w 385"/>
                    <a:gd name="T13" fmla="*/ 72 h 117"/>
                    <a:gd name="T14" fmla="*/ 168 w 385"/>
                    <a:gd name="T15" fmla="*/ 68 h 117"/>
                    <a:gd name="T16" fmla="*/ 192 w 385"/>
                    <a:gd name="T17" fmla="*/ 53 h 117"/>
                    <a:gd name="T18" fmla="*/ 212 w 385"/>
                    <a:gd name="T19" fmla="*/ 48 h 117"/>
                    <a:gd name="T20" fmla="*/ 231 w 385"/>
                    <a:gd name="T21" fmla="*/ 53 h 117"/>
                    <a:gd name="T22" fmla="*/ 245 w 385"/>
                    <a:gd name="T23" fmla="*/ 39 h 117"/>
                    <a:gd name="T24" fmla="*/ 250 w 385"/>
                    <a:gd name="T25" fmla="*/ 34 h 117"/>
                    <a:gd name="T26" fmla="*/ 274 w 385"/>
                    <a:gd name="T27" fmla="*/ 34 h 117"/>
                    <a:gd name="T28" fmla="*/ 303 w 385"/>
                    <a:gd name="T29" fmla="*/ 29 h 117"/>
                    <a:gd name="T30" fmla="*/ 327 w 385"/>
                    <a:gd name="T31" fmla="*/ 24 h 117"/>
                    <a:gd name="T32" fmla="*/ 351 w 385"/>
                    <a:gd name="T33" fmla="*/ 20 h 117"/>
                    <a:gd name="T34" fmla="*/ 375 w 385"/>
                    <a:gd name="T35" fmla="*/ 0 h 117"/>
                    <a:gd name="T36" fmla="*/ 385 w 385"/>
                    <a:gd name="T37" fmla="*/ 10 h 11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85" h="117">
                      <a:moveTo>
                        <a:pt x="0" y="116"/>
                      </a:moveTo>
                      <a:lnTo>
                        <a:pt x="19" y="111"/>
                      </a:lnTo>
                      <a:lnTo>
                        <a:pt x="38" y="96"/>
                      </a:lnTo>
                      <a:lnTo>
                        <a:pt x="57" y="101"/>
                      </a:lnTo>
                      <a:lnTo>
                        <a:pt x="120" y="77"/>
                      </a:lnTo>
                      <a:lnTo>
                        <a:pt x="139" y="72"/>
                      </a:lnTo>
                      <a:lnTo>
                        <a:pt x="153" y="72"/>
                      </a:lnTo>
                      <a:lnTo>
                        <a:pt x="168" y="68"/>
                      </a:lnTo>
                      <a:lnTo>
                        <a:pt x="192" y="53"/>
                      </a:lnTo>
                      <a:lnTo>
                        <a:pt x="211" y="48"/>
                      </a:lnTo>
                      <a:lnTo>
                        <a:pt x="230" y="53"/>
                      </a:lnTo>
                      <a:lnTo>
                        <a:pt x="244" y="39"/>
                      </a:lnTo>
                      <a:lnTo>
                        <a:pt x="249" y="34"/>
                      </a:lnTo>
                      <a:lnTo>
                        <a:pt x="273" y="34"/>
                      </a:lnTo>
                      <a:lnTo>
                        <a:pt x="302" y="29"/>
                      </a:lnTo>
                      <a:lnTo>
                        <a:pt x="326" y="24"/>
                      </a:lnTo>
                      <a:lnTo>
                        <a:pt x="350" y="20"/>
                      </a:lnTo>
                      <a:lnTo>
                        <a:pt x="374" y="0"/>
                      </a:lnTo>
                      <a:lnTo>
                        <a:pt x="384" y="10"/>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217" name="Freeform 197">
                  <a:extLst>
                    <a:ext uri="{FF2B5EF4-FFF2-40B4-BE49-F238E27FC236}">
                      <a16:creationId xmlns:a16="http://schemas.microsoft.com/office/drawing/2014/main" id="{6ABD7A0C-ED9D-77F3-C895-E717880C1ED3}"/>
                    </a:ext>
                  </a:extLst>
                </p:cNvPr>
                <p:cNvSpPr>
                  <a:spLocks/>
                </p:cNvSpPr>
                <p:nvPr/>
              </p:nvSpPr>
              <p:spPr bwMode="auto">
                <a:xfrm>
                  <a:off x="1482" y="2082"/>
                  <a:ext cx="386" cy="117"/>
                </a:xfrm>
                <a:custGeom>
                  <a:avLst/>
                  <a:gdLst>
                    <a:gd name="T0" fmla="*/ 0 w 385"/>
                    <a:gd name="T1" fmla="*/ 116 h 117"/>
                    <a:gd name="T2" fmla="*/ 19 w 385"/>
                    <a:gd name="T3" fmla="*/ 111 h 117"/>
                    <a:gd name="T4" fmla="*/ 38 w 385"/>
                    <a:gd name="T5" fmla="*/ 96 h 117"/>
                    <a:gd name="T6" fmla="*/ 57 w 385"/>
                    <a:gd name="T7" fmla="*/ 101 h 117"/>
                    <a:gd name="T8" fmla="*/ 120 w 385"/>
                    <a:gd name="T9" fmla="*/ 77 h 117"/>
                    <a:gd name="T10" fmla="*/ 139 w 385"/>
                    <a:gd name="T11" fmla="*/ 72 h 117"/>
                    <a:gd name="T12" fmla="*/ 153 w 385"/>
                    <a:gd name="T13" fmla="*/ 72 h 117"/>
                    <a:gd name="T14" fmla="*/ 168 w 385"/>
                    <a:gd name="T15" fmla="*/ 68 h 117"/>
                    <a:gd name="T16" fmla="*/ 192 w 385"/>
                    <a:gd name="T17" fmla="*/ 53 h 117"/>
                    <a:gd name="T18" fmla="*/ 212 w 385"/>
                    <a:gd name="T19" fmla="*/ 48 h 117"/>
                    <a:gd name="T20" fmla="*/ 231 w 385"/>
                    <a:gd name="T21" fmla="*/ 53 h 117"/>
                    <a:gd name="T22" fmla="*/ 245 w 385"/>
                    <a:gd name="T23" fmla="*/ 39 h 117"/>
                    <a:gd name="T24" fmla="*/ 250 w 385"/>
                    <a:gd name="T25" fmla="*/ 34 h 117"/>
                    <a:gd name="T26" fmla="*/ 274 w 385"/>
                    <a:gd name="T27" fmla="*/ 34 h 117"/>
                    <a:gd name="T28" fmla="*/ 303 w 385"/>
                    <a:gd name="T29" fmla="*/ 29 h 117"/>
                    <a:gd name="T30" fmla="*/ 327 w 385"/>
                    <a:gd name="T31" fmla="*/ 24 h 117"/>
                    <a:gd name="T32" fmla="*/ 351 w 385"/>
                    <a:gd name="T33" fmla="*/ 20 h 117"/>
                    <a:gd name="T34" fmla="*/ 375 w 385"/>
                    <a:gd name="T35" fmla="*/ 0 h 117"/>
                    <a:gd name="T36" fmla="*/ 385 w 385"/>
                    <a:gd name="T37" fmla="*/ 10 h 11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85" h="117">
                      <a:moveTo>
                        <a:pt x="0" y="116"/>
                      </a:moveTo>
                      <a:lnTo>
                        <a:pt x="19" y="111"/>
                      </a:lnTo>
                      <a:lnTo>
                        <a:pt x="38" y="96"/>
                      </a:lnTo>
                      <a:lnTo>
                        <a:pt x="57" y="101"/>
                      </a:lnTo>
                      <a:lnTo>
                        <a:pt x="120" y="77"/>
                      </a:lnTo>
                      <a:lnTo>
                        <a:pt x="139" y="72"/>
                      </a:lnTo>
                      <a:lnTo>
                        <a:pt x="153" y="72"/>
                      </a:lnTo>
                      <a:lnTo>
                        <a:pt x="168" y="68"/>
                      </a:lnTo>
                      <a:lnTo>
                        <a:pt x="192" y="53"/>
                      </a:lnTo>
                      <a:lnTo>
                        <a:pt x="211" y="48"/>
                      </a:lnTo>
                      <a:lnTo>
                        <a:pt x="230" y="53"/>
                      </a:lnTo>
                      <a:lnTo>
                        <a:pt x="244" y="39"/>
                      </a:lnTo>
                      <a:lnTo>
                        <a:pt x="249" y="34"/>
                      </a:lnTo>
                      <a:lnTo>
                        <a:pt x="273" y="34"/>
                      </a:lnTo>
                      <a:lnTo>
                        <a:pt x="302" y="29"/>
                      </a:lnTo>
                      <a:lnTo>
                        <a:pt x="326" y="24"/>
                      </a:lnTo>
                      <a:lnTo>
                        <a:pt x="350" y="20"/>
                      </a:lnTo>
                      <a:lnTo>
                        <a:pt x="374" y="0"/>
                      </a:lnTo>
                      <a:lnTo>
                        <a:pt x="384" y="10"/>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218" name="Freeform 198">
                  <a:extLst>
                    <a:ext uri="{FF2B5EF4-FFF2-40B4-BE49-F238E27FC236}">
                      <a16:creationId xmlns:a16="http://schemas.microsoft.com/office/drawing/2014/main" id="{FCDFE4BA-C7FD-86A3-7999-5CBCDDA2BD7C}"/>
                    </a:ext>
                  </a:extLst>
                </p:cNvPr>
                <p:cNvSpPr>
                  <a:spLocks/>
                </p:cNvSpPr>
                <p:nvPr/>
              </p:nvSpPr>
              <p:spPr bwMode="auto">
                <a:xfrm>
                  <a:off x="1477" y="2111"/>
                  <a:ext cx="385" cy="116"/>
                </a:xfrm>
                <a:custGeom>
                  <a:avLst/>
                  <a:gdLst>
                    <a:gd name="T0" fmla="*/ 0 w 385"/>
                    <a:gd name="T1" fmla="*/ 115 h 116"/>
                    <a:gd name="T2" fmla="*/ 19 w 385"/>
                    <a:gd name="T3" fmla="*/ 111 h 116"/>
                    <a:gd name="T4" fmla="*/ 38 w 385"/>
                    <a:gd name="T5" fmla="*/ 96 h 116"/>
                    <a:gd name="T6" fmla="*/ 57 w 385"/>
                    <a:gd name="T7" fmla="*/ 101 h 116"/>
                    <a:gd name="T8" fmla="*/ 120 w 385"/>
                    <a:gd name="T9" fmla="*/ 77 h 116"/>
                    <a:gd name="T10" fmla="*/ 139 w 385"/>
                    <a:gd name="T11" fmla="*/ 72 h 116"/>
                    <a:gd name="T12" fmla="*/ 153 w 385"/>
                    <a:gd name="T13" fmla="*/ 72 h 116"/>
                    <a:gd name="T14" fmla="*/ 168 w 385"/>
                    <a:gd name="T15" fmla="*/ 67 h 116"/>
                    <a:gd name="T16" fmla="*/ 192 w 385"/>
                    <a:gd name="T17" fmla="*/ 53 h 116"/>
                    <a:gd name="T18" fmla="*/ 211 w 385"/>
                    <a:gd name="T19" fmla="*/ 48 h 116"/>
                    <a:gd name="T20" fmla="*/ 230 w 385"/>
                    <a:gd name="T21" fmla="*/ 53 h 116"/>
                    <a:gd name="T22" fmla="*/ 245 w 385"/>
                    <a:gd name="T23" fmla="*/ 39 h 116"/>
                    <a:gd name="T24" fmla="*/ 249 w 385"/>
                    <a:gd name="T25" fmla="*/ 34 h 116"/>
                    <a:gd name="T26" fmla="*/ 273 w 385"/>
                    <a:gd name="T27" fmla="*/ 34 h 116"/>
                    <a:gd name="T28" fmla="*/ 302 w 385"/>
                    <a:gd name="T29" fmla="*/ 29 h 116"/>
                    <a:gd name="T30" fmla="*/ 326 w 385"/>
                    <a:gd name="T31" fmla="*/ 24 h 116"/>
                    <a:gd name="T32" fmla="*/ 350 w 385"/>
                    <a:gd name="T33" fmla="*/ 19 h 116"/>
                    <a:gd name="T34" fmla="*/ 374 w 385"/>
                    <a:gd name="T35" fmla="*/ 0 h 116"/>
                    <a:gd name="T36" fmla="*/ 384 w 385"/>
                    <a:gd name="T37" fmla="*/ 10 h 11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85" h="116">
                      <a:moveTo>
                        <a:pt x="0" y="115"/>
                      </a:moveTo>
                      <a:lnTo>
                        <a:pt x="19" y="111"/>
                      </a:lnTo>
                      <a:lnTo>
                        <a:pt x="38" y="96"/>
                      </a:lnTo>
                      <a:lnTo>
                        <a:pt x="57" y="101"/>
                      </a:lnTo>
                      <a:lnTo>
                        <a:pt x="120" y="77"/>
                      </a:lnTo>
                      <a:lnTo>
                        <a:pt x="139" y="72"/>
                      </a:lnTo>
                      <a:lnTo>
                        <a:pt x="153" y="72"/>
                      </a:lnTo>
                      <a:lnTo>
                        <a:pt x="168" y="67"/>
                      </a:lnTo>
                      <a:lnTo>
                        <a:pt x="192" y="53"/>
                      </a:lnTo>
                      <a:lnTo>
                        <a:pt x="211" y="48"/>
                      </a:lnTo>
                      <a:lnTo>
                        <a:pt x="230" y="53"/>
                      </a:lnTo>
                      <a:lnTo>
                        <a:pt x="245" y="39"/>
                      </a:lnTo>
                      <a:lnTo>
                        <a:pt x="249" y="34"/>
                      </a:lnTo>
                      <a:lnTo>
                        <a:pt x="273" y="34"/>
                      </a:lnTo>
                      <a:lnTo>
                        <a:pt x="302" y="29"/>
                      </a:lnTo>
                      <a:lnTo>
                        <a:pt x="326" y="24"/>
                      </a:lnTo>
                      <a:lnTo>
                        <a:pt x="350" y="19"/>
                      </a:lnTo>
                      <a:lnTo>
                        <a:pt x="374" y="0"/>
                      </a:lnTo>
                      <a:lnTo>
                        <a:pt x="384" y="10"/>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219" name="Freeform 199">
                  <a:extLst>
                    <a:ext uri="{FF2B5EF4-FFF2-40B4-BE49-F238E27FC236}">
                      <a16:creationId xmlns:a16="http://schemas.microsoft.com/office/drawing/2014/main" id="{CFC43515-CE06-192A-0929-6B1645F29078}"/>
                    </a:ext>
                  </a:extLst>
                </p:cNvPr>
                <p:cNvSpPr>
                  <a:spLocks/>
                </p:cNvSpPr>
                <p:nvPr/>
              </p:nvSpPr>
              <p:spPr bwMode="auto">
                <a:xfrm>
                  <a:off x="1477" y="2111"/>
                  <a:ext cx="385" cy="116"/>
                </a:xfrm>
                <a:custGeom>
                  <a:avLst/>
                  <a:gdLst>
                    <a:gd name="T0" fmla="*/ 0 w 385"/>
                    <a:gd name="T1" fmla="*/ 115 h 116"/>
                    <a:gd name="T2" fmla="*/ 19 w 385"/>
                    <a:gd name="T3" fmla="*/ 111 h 116"/>
                    <a:gd name="T4" fmla="*/ 38 w 385"/>
                    <a:gd name="T5" fmla="*/ 96 h 116"/>
                    <a:gd name="T6" fmla="*/ 57 w 385"/>
                    <a:gd name="T7" fmla="*/ 101 h 116"/>
                    <a:gd name="T8" fmla="*/ 120 w 385"/>
                    <a:gd name="T9" fmla="*/ 77 h 116"/>
                    <a:gd name="T10" fmla="*/ 139 w 385"/>
                    <a:gd name="T11" fmla="*/ 72 h 116"/>
                    <a:gd name="T12" fmla="*/ 153 w 385"/>
                    <a:gd name="T13" fmla="*/ 72 h 116"/>
                    <a:gd name="T14" fmla="*/ 168 w 385"/>
                    <a:gd name="T15" fmla="*/ 67 h 116"/>
                    <a:gd name="T16" fmla="*/ 192 w 385"/>
                    <a:gd name="T17" fmla="*/ 53 h 116"/>
                    <a:gd name="T18" fmla="*/ 211 w 385"/>
                    <a:gd name="T19" fmla="*/ 48 h 116"/>
                    <a:gd name="T20" fmla="*/ 230 w 385"/>
                    <a:gd name="T21" fmla="*/ 53 h 116"/>
                    <a:gd name="T22" fmla="*/ 245 w 385"/>
                    <a:gd name="T23" fmla="*/ 39 h 116"/>
                    <a:gd name="T24" fmla="*/ 249 w 385"/>
                    <a:gd name="T25" fmla="*/ 34 h 116"/>
                    <a:gd name="T26" fmla="*/ 273 w 385"/>
                    <a:gd name="T27" fmla="*/ 34 h 116"/>
                    <a:gd name="T28" fmla="*/ 302 w 385"/>
                    <a:gd name="T29" fmla="*/ 29 h 116"/>
                    <a:gd name="T30" fmla="*/ 326 w 385"/>
                    <a:gd name="T31" fmla="*/ 24 h 116"/>
                    <a:gd name="T32" fmla="*/ 350 w 385"/>
                    <a:gd name="T33" fmla="*/ 19 h 116"/>
                    <a:gd name="T34" fmla="*/ 374 w 385"/>
                    <a:gd name="T35" fmla="*/ 0 h 116"/>
                    <a:gd name="T36" fmla="*/ 384 w 385"/>
                    <a:gd name="T37" fmla="*/ 10 h 11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85" h="116">
                      <a:moveTo>
                        <a:pt x="0" y="115"/>
                      </a:moveTo>
                      <a:lnTo>
                        <a:pt x="19" y="111"/>
                      </a:lnTo>
                      <a:lnTo>
                        <a:pt x="38" y="96"/>
                      </a:lnTo>
                      <a:lnTo>
                        <a:pt x="57" y="101"/>
                      </a:lnTo>
                      <a:lnTo>
                        <a:pt x="120" y="77"/>
                      </a:lnTo>
                      <a:lnTo>
                        <a:pt x="139" y="72"/>
                      </a:lnTo>
                      <a:lnTo>
                        <a:pt x="153" y="72"/>
                      </a:lnTo>
                      <a:lnTo>
                        <a:pt x="168" y="67"/>
                      </a:lnTo>
                      <a:lnTo>
                        <a:pt x="192" y="53"/>
                      </a:lnTo>
                      <a:lnTo>
                        <a:pt x="211" y="48"/>
                      </a:lnTo>
                      <a:lnTo>
                        <a:pt x="230" y="53"/>
                      </a:lnTo>
                      <a:lnTo>
                        <a:pt x="245" y="39"/>
                      </a:lnTo>
                      <a:lnTo>
                        <a:pt x="249" y="34"/>
                      </a:lnTo>
                      <a:lnTo>
                        <a:pt x="273" y="34"/>
                      </a:lnTo>
                      <a:lnTo>
                        <a:pt x="302" y="29"/>
                      </a:lnTo>
                      <a:lnTo>
                        <a:pt x="326" y="24"/>
                      </a:lnTo>
                      <a:lnTo>
                        <a:pt x="350" y="19"/>
                      </a:lnTo>
                      <a:lnTo>
                        <a:pt x="374" y="0"/>
                      </a:lnTo>
                      <a:lnTo>
                        <a:pt x="384" y="10"/>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220" name="Freeform 200">
                  <a:extLst>
                    <a:ext uri="{FF2B5EF4-FFF2-40B4-BE49-F238E27FC236}">
                      <a16:creationId xmlns:a16="http://schemas.microsoft.com/office/drawing/2014/main" id="{F5128594-23AF-F046-B444-73D9CC3792CB}"/>
                    </a:ext>
                  </a:extLst>
                </p:cNvPr>
                <p:cNvSpPr>
                  <a:spLocks/>
                </p:cNvSpPr>
                <p:nvPr/>
              </p:nvSpPr>
              <p:spPr bwMode="auto">
                <a:xfrm>
                  <a:off x="1606" y="2308"/>
                  <a:ext cx="124" cy="79"/>
                </a:xfrm>
                <a:custGeom>
                  <a:avLst/>
                  <a:gdLst>
                    <a:gd name="T0" fmla="*/ 105 w 123"/>
                    <a:gd name="T1" fmla="*/ 0 h 79"/>
                    <a:gd name="T2" fmla="*/ 123 w 123"/>
                    <a:gd name="T3" fmla="*/ 44 h 79"/>
                    <a:gd name="T4" fmla="*/ 19 w 123"/>
                    <a:gd name="T5" fmla="*/ 78 h 79"/>
                    <a:gd name="T6" fmla="*/ 0 w 123"/>
                    <a:gd name="T7" fmla="*/ 34 h 79"/>
                    <a:gd name="T8" fmla="*/ 105 w 123"/>
                    <a:gd name="T9" fmla="*/ 0 h 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3" h="79">
                      <a:moveTo>
                        <a:pt x="104" y="0"/>
                      </a:moveTo>
                      <a:lnTo>
                        <a:pt x="122" y="44"/>
                      </a:lnTo>
                      <a:lnTo>
                        <a:pt x="19" y="78"/>
                      </a:lnTo>
                      <a:lnTo>
                        <a:pt x="0" y="34"/>
                      </a:lnTo>
                      <a:lnTo>
                        <a:pt x="104" y="0"/>
                      </a:ln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Roboto" panose="02000000000000000000" pitchFamily="2" charset="0"/>
                    <a:ea typeface="Roboto" panose="02000000000000000000" pitchFamily="2" charset="0"/>
                  </a:endParaRPr>
                </a:p>
              </p:txBody>
            </p:sp>
            <p:sp>
              <p:nvSpPr>
                <p:cNvPr id="221" name="Freeform 201">
                  <a:extLst>
                    <a:ext uri="{FF2B5EF4-FFF2-40B4-BE49-F238E27FC236}">
                      <a16:creationId xmlns:a16="http://schemas.microsoft.com/office/drawing/2014/main" id="{5B78CB51-BACE-0732-3E06-B46EA98738DE}"/>
                    </a:ext>
                  </a:extLst>
                </p:cNvPr>
                <p:cNvSpPr>
                  <a:spLocks/>
                </p:cNvSpPr>
                <p:nvPr/>
              </p:nvSpPr>
              <p:spPr bwMode="auto">
                <a:xfrm>
                  <a:off x="1606" y="2308"/>
                  <a:ext cx="124" cy="79"/>
                </a:xfrm>
                <a:custGeom>
                  <a:avLst/>
                  <a:gdLst>
                    <a:gd name="T0" fmla="*/ 105 w 123"/>
                    <a:gd name="T1" fmla="*/ 0 h 79"/>
                    <a:gd name="T2" fmla="*/ 123 w 123"/>
                    <a:gd name="T3" fmla="*/ 44 h 79"/>
                    <a:gd name="T4" fmla="*/ 19 w 123"/>
                    <a:gd name="T5" fmla="*/ 78 h 79"/>
                    <a:gd name="T6" fmla="*/ 0 w 123"/>
                    <a:gd name="T7" fmla="*/ 34 h 79"/>
                    <a:gd name="T8" fmla="*/ 105 w 123"/>
                    <a:gd name="T9" fmla="*/ 0 h 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3" h="79">
                      <a:moveTo>
                        <a:pt x="104" y="0"/>
                      </a:moveTo>
                      <a:lnTo>
                        <a:pt x="122" y="44"/>
                      </a:lnTo>
                      <a:lnTo>
                        <a:pt x="19" y="78"/>
                      </a:lnTo>
                      <a:lnTo>
                        <a:pt x="0" y="34"/>
                      </a:lnTo>
                      <a:lnTo>
                        <a:pt x="10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Roboto" panose="02000000000000000000" pitchFamily="2" charset="0"/>
                    <a:ea typeface="Roboto" panose="02000000000000000000" pitchFamily="2" charset="0"/>
                  </a:endParaRPr>
                </a:p>
              </p:txBody>
            </p:sp>
          </p:grpSp>
          <p:sp>
            <p:nvSpPr>
              <p:cNvPr id="124" name="Freeform 202">
                <a:extLst>
                  <a:ext uri="{FF2B5EF4-FFF2-40B4-BE49-F238E27FC236}">
                    <a16:creationId xmlns:a16="http://schemas.microsoft.com/office/drawing/2014/main" id="{AD980C61-6BFB-1339-2EDE-17D8F32E301E}"/>
                  </a:ext>
                </a:extLst>
              </p:cNvPr>
              <p:cNvSpPr>
                <a:spLocks/>
              </p:cNvSpPr>
              <p:nvPr/>
            </p:nvSpPr>
            <p:spPr bwMode="auto">
              <a:xfrm>
                <a:off x="2384" y="2552"/>
                <a:ext cx="73" cy="26"/>
              </a:xfrm>
              <a:custGeom>
                <a:avLst/>
                <a:gdLst>
                  <a:gd name="T0" fmla="*/ 14 w 73"/>
                  <a:gd name="T1" fmla="*/ 0 h 25"/>
                  <a:gd name="T2" fmla="*/ 0 w 73"/>
                  <a:gd name="T3" fmla="*/ 9 h 25"/>
                  <a:gd name="T4" fmla="*/ 10 w 73"/>
                  <a:gd name="T5" fmla="*/ 25 h 25"/>
                  <a:gd name="T6" fmla="*/ 72 w 73"/>
                  <a:gd name="T7" fmla="*/ 20 h 25"/>
                  <a:gd name="T8" fmla="*/ 14 w 73"/>
                  <a:gd name="T9" fmla="*/ 0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3" h="25">
                    <a:moveTo>
                      <a:pt x="14" y="0"/>
                    </a:moveTo>
                    <a:lnTo>
                      <a:pt x="0" y="9"/>
                    </a:lnTo>
                    <a:lnTo>
                      <a:pt x="10" y="24"/>
                    </a:lnTo>
                    <a:lnTo>
                      <a:pt x="72" y="19"/>
                    </a:lnTo>
                    <a:lnTo>
                      <a:pt x="14" y="0"/>
                    </a:lnTo>
                  </a:path>
                </a:pathLst>
              </a:custGeom>
              <a:solidFill>
                <a:srgbClr val="FFFFFF"/>
              </a:solidFill>
              <a:ln w="12700" cap="rnd" cmpd="sng">
                <a:solidFill>
                  <a:srgbClr val="000000"/>
                </a:solidFill>
                <a:prstDash val="solid"/>
                <a:round/>
                <a:headEnd type="none" w="med" len="med"/>
                <a:tailEnd type="none" w="med" len="med"/>
              </a:ln>
            </p:spPr>
            <p:txBody>
              <a:bodyPr/>
              <a:lstStyle/>
              <a:p>
                <a:endParaRPr lang="en-US">
                  <a:latin typeface="Roboto" panose="02000000000000000000" pitchFamily="2" charset="0"/>
                  <a:ea typeface="Roboto" panose="02000000000000000000" pitchFamily="2" charset="0"/>
                </a:endParaRPr>
              </a:p>
            </p:txBody>
          </p:sp>
          <p:sp>
            <p:nvSpPr>
              <p:cNvPr id="125" name="Freeform 203">
                <a:extLst>
                  <a:ext uri="{FF2B5EF4-FFF2-40B4-BE49-F238E27FC236}">
                    <a16:creationId xmlns:a16="http://schemas.microsoft.com/office/drawing/2014/main" id="{EFCB8072-39A9-73A5-A8D2-ABB759AE22D8}"/>
                  </a:ext>
                </a:extLst>
              </p:cNvPr>
              <p:cNvSpPr>
                <a:spLocks/>
              </p:cNvSpPr>
              <p:nvPr/>
            </p:nvSpPr>
            <p:spPr bwMode="auto">
              <a:xfrm>
                <a:off x="2384" y="2552"/>
                <a:ext cx="73" cy="26"/>
              </a:xfrm>
              <a:custGeom>
                <a:avLst/>
                <a:gdLst>
                  <a:gd name="T0" fmla="*/ 14 w 73"/>
                  <a:gd name="T1" fmla="*/ 0 h 25"/>
                  <a:gd name="T2" fmla="*/ 0 w 73"/>
                  <a:gd name="T3" fmla="*/ 9 h 25"/>
                  <a:gd name="T4" fmla="*/ 10 w 73"/>
                  <a:gd name="T5" fmla="*/ 25 h 25"/>
                  <a:gd name="T6" fmla="*/ 72 w 73"/>
                  <a:gd name="T7" fmla="*/ 2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3" h="25">
                    <a:moveTo>
                      <a:pt x="14" y="0"/>
                    </a:moveTo>
                    <a:lnTo>
                      <a:pt x="0" y="9"/>
                    </a:lnTo>
                    <a:lnTo>
                      <a:pt x="10" y="24"/>
                    </a:lnTo>
                    <a:lnTo>
                      <a:pt x="72" y="19"/>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126" name="Rectangle 204">
                <a:extLst>
                  <a:ext uri="{FF2B5EF4-FFF2-40B4-BE49-F238E27FC236}">
                    <a16:creationId xmlns:a16="http://schemas.microsoft.com/office/drawing/2014/main" id="{2DC379C9-3797-06C5-1875-EE23A15B5F3D}"/>
                  </a:ext>
                </a:extLst>
              </p:cNvPr>
              <p:cNvSpPr>
                <a:spLocks noChangeArrowheads="1"/>
              </p:cNvSpPr>
              <p:nvPr/>
            </p:nvSpPr>
            <p:spPr bwMode="auto">
              <a:xfrm>
                <a:off x="2052" y="3531"/>
                <a:ext cx="3" cy="37"/>
              </a:xfrm>
              <a:prstGeom prst="rect">
                <a:avLst/>
              </a:prstGeom>
              <a:solidFill>
                <a:srgbClr val="000000"/>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27" name="Freeform 205">
                <a:extLst>
                  <a:ext uri="{FF2B5EF4-FFF2-40B4-BE49-F238E27FC236}">
                    <a16:creationId xmlns:a16="http://schemas.microsoft.com/office/drawing/2014/main" id="{CDBD3FDD-3882-5DD1-B86C-7A2A1240DBCF}"/>
                  </a:ext>
                </a:extLst>
              </p:cNvPr>
              <p:cNvSpPr>
                <a:spLocks/>
              </p:cNvSpPr>
              <p:nvPr/>
            </p:nvSpPr>
            <p:spPr bwMode="auto">
              <a:xfrm>
                <a:off x="1194" y="2999"/>
                <a:ext cx="951" cy="530"/>
              </a:xfrm>
              <a:custGeom>
                <a:avLst/>
                <a:gdLst>
                  <a:gd name="T0" fmla="*/ 0 w 951"/>
                  <a:gd name="T1" fmla="*/ 240 h 529"/>
                  <a:gd name="T2" fmla="*/ 556 w 951"/>
                  <a:gd name="T3" fmla="*/ 0 h 529"/>
                  <a:gd name="T4" fmla="*/ 950 w 951"/>
                  <a:gd name="T5" fmla="*/ 259 h 529"/>
                  <a:gd name="T6" fmla="*/ 360 w 951"/>
                  <a:gd name="T7" fmla="*/ 529 h 529"/>
                  <a:gd name="T8" fmla="*/ 0 w 951"/>
                  <a:gd name="T9" fmla="*/ 250 h 5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51" h="529">
                    <a:moveTo>
                      <a:pt x="0" y="240"/>
                    </a:moveTo>
                    <a:lnTo>
                      <a:pt x="556" y="0"/>
                    </a:lnTo>
                    <a:lnTo>
                      <a:pt x="950" y="259"/>
                    </a:lnTo>
                    <a:lnTo>
                      <a:pt x="360" y="528"/>
                    </a:lnTo>
                    <a:lnTo>
                      <a:pt x="0" y="250"/>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128" name="Freeform 206">
                <a:extLst>
                  <a:ext uri="{FF2B5EF4-FFF2-40B4-BE49-F238E27FC236}">
                    <a16:creationId xmlns:a16="http://schemas.microsoft.com/office/drawing/2014/main" id="{632FD3A2-50A3-F9E4-A586-8FAB60DFC1E4}"/>
                  </a:ext>
                </a:extLst>
              </p:cNvPr>
              <p:cNvSpPr>
                <a:spLocks/>
              </p:cNvSpPr>
              <p:nvPr/>
            </p:nvSpPr>
            <p:spPr bwMode="auto">
              <a:xfrm>
                <a:off x="1194" y="2999"/>
                <a:ext cx="951" cy="530"/>
              </a:xfrm>
              <a:custGeom>
                <a:avLst/>
                <a:gdLst>
                  <a:gd name="T0" fmla="*/ 0 w 951"/>
                  <a:gd name="T1" fmla="*/ 240 h 529"/>
                  <a:gd name="T2" fmla="*/ 556 w 951"/>
                  <a:gd name="T3" fmla="*/ 0 h 529"/>
                  <a:gd name="T4" fmla="*/ 950 w 951"/>
                  <a:gd name="T5" fmla="*/ 259 h 529"/>
                  <a:gd name="T6" fmla="*/ 360 w 951"/>
                  <a:gd name="T7" fmla="*/ 529 h 529"/>
                  <a:gd name="T8" fmla="*/ 0 w 951"/>
                  <a:gd name="T9" fmla="*/ 250 h 5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51" h="529">
                    <a:moveTo>
                      <a:pt x="0" y="240"/>
                    </a:moveTo>
                    <a:lnTo>
                      <a:pt x="556" y="0"/>
                    </a:lnTo>
                    <a:lnTo>
                      <a:pt x="950" y="259"/>
                    </a:lnTo>
                    <a:lnTo>
                      <a:pt x="360" y="528"/>
                    </a:lnTo>
                    <a:lnTo>
                      <a:pt x="0" y="250"/>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129" name="Rectangle 207">
                <a:extLst>
                  <a:ext uri="{FF2B5EF4-FFF2-40B4-BE49-F238E27FC236}">
                    <a16:creationId xmlns:a16="http://schemas.microsoft.com/office/drawing/2014/main" id="{ED218089-43A8-81EE-F1C2-5C4918216872}"/>
                  </a:ext>
                </a:extLst>
              </p:cNvPr>
              <p:cNvSpPr>
                <a:spLocks noChangeArrowheads="1"/>
              </p:cNvSpPr>
              <p:nvPr/>
            </p:nvSpPr>
            <p:spPr bwMode="auto">
              <a:xfrm>
                <a:off x="1213" y="3777"/>
                <a:ext cx="37" cy="55"/>
              </a:xfrm>
              <a:prstGeom prst="rect">
                <a:avLst/>
              </a:prstGeom>
              <a:solidFill>
                <a:srgbClr val="000000"/>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30" name="Rectangle 208">
                <a:extLst>
                  <a:ext uri="{FF2B5EF4-FFF2-40B4-BE49-F238E27FC236}">
                    <a16:creationId xmlns:a16="http://schemas.microsoft.com/office/drawing/2014/main" id="{83D86BF9-8D2F-6F79-3DDE-C344526022AB}"/>
                  </a:ext>
                </a:extLst>
              </p:cNvPr>
              <p:cNvSpPr>
                <a:spLocks noChangeArrowheads="1"/>
              </p:cNvSpPr>
              <p:nvPr/>
            </p:nvSpPr>
            <p:spPr bwMode="auto">
              <a:xfrm>
                <a:off x="2071" y="3772"/>
                <a:ext cx="48" cy="65"/>
              </a:xfrm>
              <a:prstGeom prst="rect">
                <a:avLst/>
              </a:prstGeom>
              <a:solidFill>
                <a:srgbClr val="000000"/>
              </a:solid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31" name="Freeform 209">
                <a:extLst>
                  <a:ext uri="{FF2B5EF4-FFF2-40B4-BE49-F238E27FC236}">
                    <a16:creationId xmlns:a16="http://schemas.microsoft.com/office/drawing/2014/main" id="{B73078B8-70B3-B20B-C022-86CFB5B75CDE}"/>
                  </a:ext>
                </a:extLst>
              </p:cNvPr>
              <p:cNvSpPr>
                <a:spLocks/>
              </p:cNvSpPr>
              <p:nvPr/>
            </p:nvSpPr>
            <p:spPr bwMode="auto">
              <a:xfrm>
                <a:off x="1194" y="3249"/>
                <a:ext cx="951" cy="826"/>
              </a:xfrm>
              <a:custGeom>
                <a:avLst/>
                <a:gdLst>
                  <a:gd name="T0" fmla="*/ 0 w 951"/>
                  <a:gd name="T1" fmla="*/ 0 h 826"/>
                  <a:gd name="T2" fmla="*/ 0 w 951"/>
                  <a:gd name="T3" fmla="*/ 532 h 826"/>
                  <a:gd name="T4" fmla="*/ 355 w 951"/>
                  <a:gd name="T5" fmla="*/ 825 h 826"/>
                  <a:gd name="T6" fmla="*/ 355 w 951"/>
                  <a:gd name="T7" fmla="*/ 283 h 826"/>
                  <a:gd name="T8" fmla="*/ 950 w 951"/>
                  <a:gd name="T9" fmla="*/ 19 h 826"/>
                  <a:gd name="T10" fmla="*/ 950 w 951"/>
                  <a:gd name="T11" fmla="*/ 532 h 826"/>
                  <a:gd name="T12" fmla="*/ 360 w 951"/>
                  <a:gd name="T13" fmla="*/ 816 h 826"/>
                  <a:gd name="T14" fmla="*/ 355 w 951"/>
                  <a:gd name="T15" fmla="*/ 820 h 826"/>
                  <a:gd name="T16" fmla="*/ 360 w 951"/>
                  <a:gd name="T17" fmla="*/ 820 h 826"/>
                  <a:gd name="T18" fmla="*/ 0 w 951"/>
                  <a:gd name="T19" fmla="*/ 0 h 82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951" h="826">
                    <a:moveTo>
                      <a:pt x="0" y="0"/>
                    </a:moveTo>
                    <a:lnTo>
                      <a:pt x="0" y="532"/>
                    </a:lnTo>
                    <a:lnTo>
                      <a:pt x="355" y="825"/>
                    </a:lnTo>
                    <a:lnTo>
                      <a:pt x="355" y="283"/>
                    </a:lnTo>
                    <a:lnTo>
                      <a:pt x="950" y="19"/>
                    </a:lnTo>
                    <a:lnTo>
                      <a:pt x="950" y="532"/>
                    </a:lnTo>
                    <a:lnTo>
                      <a:pt x="360" y="816"/>
                    </a:lnTo>
                    <a:lnTo>
                      <a:pt x="355" y="820"/>
                    </a:lnTo>
                    <a:lnTo>
                      <a:pt x="360" y="820"/>
                    </a:lnTo>
                    <a:lnTo>
                      <a:pt x="0" y="0"/>
                    </a:lnTo>
                  </a:path>
                </a:pathLst>
              </a:custGeom>
              <a:solidFill>
                <a:srgbClr val="FFFFFF"/>
              </a:solidFill>
              <a:ln w="12700" cap="rnd" cmpd="sng">
                <a:solidFill>
                  <a:srgbClr val="000000"/>
                </a:solidFill>
                <a:prstDash val="solid"/>
                <a:round/>
                <a:headEnd type="none" w="med" len="med"/>
                <a:tailEnd type="none" w="med" len="med"/>
              </a:ln>
            </p:spPr>
            <p:txBody>
              <a:bodyPr/>
              <a:lstStyle/>
              <a:p>
                <a:endParaRPr lang="en-US">
                  <a:latin typeface="Roboto" panose="02000000000000000000" pitchFamily="2" charset="0"/>
                  <a:ea typeface="Roboto" panose="02000000000000000000" pitchFamily="2" charset="0"/>
                </a:endParaRPr>
              </a:p>
            </p:txBody>
          </p:sp>
          <p:sp>
            <p:nvSpPr>
              <p:cNvPr id="132" name="Freeform 210">
                <a:extLst>
                  <a:ext uri="{FF2B5EF4-FFF2-40B4-BE49-F238E27FC236}">
                    <a16:creationId xmlns:a16="http://schemas.microsoft.com/office/drawing/2014/main" id="{16437EF0-46A2-7134-6439-56D5B1FF5E69}"/>
                  </a:ext>
                </a:extLst>
              </p:cNvPr>
              <p:cNvSpPr>
                <a:spLocks/>
              </p:cNvSpPr>
              <p:nvPr/>
            </p:nvSpPr>
            <p:spPr bwMode="auto">
              <a:xfrm>
                <a:off x="1194" y="3249"/>
                <a:ext cx="951" cy="826"/>
              </a:xfrm>
              <a:custGeom>
                <a:avLst/>
                <a:gdLst>
                  <a:gd name="T0" fmla="*/ 0 w 951"/>
                  <a:gd name="T1" fmla="*/ 0 h 826"/>
                  <a:gd name="T2" fmla="*/ 0 w 951"/>
                  <a:gd name="T3" fmla="*/ 532 h 826"/>
                  <a:gd name="T4" fmla="*/ 355 w 951"/>
                  <a:gd name="T5" fmla="*/ 825 h 826"/>
                  <a:gd name="T6" fmla="*/ 355 w 951"/>
                  <a:gd name="T7" fmla="*/ 283 h 826"/>
                  <a:gd name="T8" fmla="*/ 950 w 951"/>
                  <a:gd name="T9" fmla="*/ 19 h 826"/>
                  <a:gd name="T10" fmla="*/ 950 w 951"/>
                  <a:gd name="T11" fmla="*/ 532 h 826"/>
                  <a:gd name="T12" fmla="*/ 360 w 951"/>
                  <a:gd name="T13" fmla="*/ 816 h 826"/>
                  <a:gd name="T14" fmla="*/ 355 w 951"/>
                  <a:gd name="T15" fmla="*/ 820 h 826"/>
                  <a:gd name="T16" fmla="*/ 360 w 951"/>
                  <a:gd name="T17" fmla="*/ 820 h 8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951" h="826">
                    <a:moveTo>
                      <a:pt x="0" y="0"/>
                    </a:moveTo>
                    <a:lnTo>
                      <a:pt x="0" y="532"/>
                    </a:lnTo>
                    <a:lnTo>
                      <a:pt x="355" y="825"/>
                    </a:lnTo>
                    <a:lnTo>
                      <a:pt x="355" y="283"/>
                    </a:lnTo>
                    <a:lnTo>
                      <a:pt x="950" y="19"/>
                    </a:lnTo>
                    <a:lnTo>
                      <a:pt x="950" y="532"/>
                    </a:lnTo>
                    <a:lnTo>
                      <a:pt x="360" y="816"/>
                    </a:lnTo>
                    <a:lnTo>
                      <a:pt x="355" y="820"/>
                    </a:lnTo>
                    <a:lnTo>
                      <a:pt x="360" y="820"/>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133" name="Line 211">
                <a:extLst>
                  <a:ext uri="{FF2B5EF4-FFF2-40B4-BE49-F238E27FC236}">
                    <a16:creationId xmlns:a16="http://schemas.microsoft.com/office/drawing/2014/main" id="{AF3A93BA-6E5A-50BD-B12B-FE2985AE1824}"/>
                  </a:ext>
                </a:extLst>
              </p:cNvPr>
              <p:cNvSpPr>
                <a:spLocks noChangeShapeType="1"/>
              </p:cNvSpPr>
              <p:nvPr/>
            </p:nvSpPr>
            <p:spPr bwMode="auto">
              <a:xfrm flipV="1">
                <a:off x="1549" y="3498"/>
                <a:ext cx="587" cy="25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34" name="Line 212">
                <a:extLst>
                  <a:ext uri="{FF2B5EF4-FFF2-40B4-BE49-F238E27FC236}">
                    <a16:creationId xmlns:a16="http://schemas.microsoft.com/office/drawing/2014/main" id="{46D12D09-087C-4833-3A5B-2F28DFFC6035}"/>
                  </a:ext>
                </a:extLst>
              </p:cNvPr>
              <p:cNvSpPr>
                <a:spLocks noChangeShapeType="1"/>
              </p:cNvSpPr>
              <p:nvPr/>
            </p:nvSpPr>
            <p:spPr bwMode="auto">
              <a:xfrm flipH="1" flipV="1">
                <a:off x="1189" y="3479"/>
                <a:ext cx="359" cy="28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35" name="Oval 213">
                <a:extLst>
                  <a:ext uri="{FF2B5EF4-FFF2-40B4-BE49-F238E27FC236}">
                    <a16:creationId xmlns:a16="http://schemas.microsoft.com/office/drawing/2014/main" id="{17D06D7D-8EBA-4354-9218-90D9EA9604C3}"/>
                  </a:ext>
                </a:extLst>
              </p:cNvPr>
              <p:cNvSpPr>
                <a:spLocks noChangeArrowheads="1"/>
              </p:cNvSpPr>
              <p:nvPr/>
            </p:nvSpPr>
            <p:spPr bwMode="auto">
              <a:xfrm>
                <a:off x="1654" y="3101"/>
                <a:ext cx="169" cy="87"/>
              </a:xfrm>
              <a:prstGeom prst="ellipse">
                <a:avLst/>
              </a:prstGeom>
              <a:blipFill dpi="0" rotWithShape="0">
                <a:blip r:embed="rId8"/>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36" name="Oval 214">
                <a:extLst>
                  <a:ext uri="{FF2B5EF4-FFF2-40B4-BE49-F238E27FC236}">
                    <a16:creationId xmlns:a16="http://schemas.microsoft.com/office/drawing/2014/main" id="{09206D9C-1448-EC42-C079-A2759013CAAF}"/>
                  </a:ext>
                </a:extLst>
              </p:cNvPr>
              <p:cNvSpPr>
                <a:spLocks noChangeArrowheads="1"/>
              </p:cNvSpPr>
              <p:nvPr/>
            </p:nvSpPr>
            <p:spPr bwMode="auto">
              <a:xfrm>
                <a:off x="1653" y="3098"/>
                <a:ext cx="173" cy="92"/>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37" name="Rectangle 215">
                <a:extLst>
                  <a:ext uri="{FF2B5EF4-FFF2-40B4-BE49-F238E27FC236}">
                    <a16:creationId xmlns:a16="http://schemas.microsoft.com/office/drawing/2014/main" id="{3FBFF349-AFD2-9EFA-B1F1-1DD1C0EC29E0}"/>
                  </a:ext>
                </a:extLst>
              </p:cNvPr>
              <p:cNvSpPr>
                <a:spLocks noChangeArrowheads="1"/>
              </p:cNvSpPr>
              <p:nvPr/>
            </p:nvSpPr>
            <p:spPr bwMode="auto">
              <a:xfrm flipH="1">
                <a:off x="1651" y="3149"/>
                <a:ext cx="3" cy="29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38" name="Rectangle 216">
                <a:extLst>
                  <a:ext uri="{FF2B5EF4-FFF2-40B4-BE49-F238E27FC236}">
                    <a16:creationId xmlns:a16="http://schemas.microsoft.com/office/drawing/2014/main" id="{BDE4AC5B-02DE-8E23-40BB-A5622B6B2DA3}"/>
                  </a:ext>
                </a:extLst>
              </p:cNvPr>
              <p:cNvSpPr>
                <a:spLocks noChangeArrowheads="1"/>
              </p:cNvSpPr>
              <p:nvPr/>
            </p:nvSpPr>
            <p:spPr bwMode="auto">
              <a:xfrm>
                <a:off x="1650" y="3147"/>
                <a:ext cx="7" cy="296"/>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39" name="Rectangle 217">
                <a:extLst>
                  <a:ext uri="{FF2B5EF4-FFF2-40B4-BE49-F238E27FC236}">
                    <a16:creationId xmlns:a16="http://schemas.microsoft.com/office/drawing/2014/main" id="{723F931D-2FCD-1D8E-44A7-52A105B8C2E1}"/>
                  </a:ext>
                </a:extLst>
              </p:cNvPr>
              <p:cNvSpPr>
                <a:spLocks noChangeArrowheads="1"/>
              </p:cNvSpPr>
              <p:nvPr/>
            </p:nvSpPr>
            <p:spPr bwMode="auto">
              <a:xfrm flipH="1">
                <a:off x="1824" y="3162"/>
                <a:ext cx="3" cy="19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40" name="Rectangle 218">
                <a:extLst>
                  <a:ext uri="{FF2B5EF4-FFF2-40B4-BE49-F238E27FC236}">
                    <a16:creationId xmlns:a16="http://schemas.microsoft.com/office/drawing/2014/main" id="{31BA0029-6FC2-E42B-FD29-E1B0C983D111}"/>
                  </a:ext>
                </a:extLst>
              </p:cNvPr>
              <p:cNvSpPr>
                <a:spLocks noChangeArrowheads="1"/>
              </p:cNvSpPr>
              <p:nvPr/>
            </p:nvSpPr>
            <p:spPr bwMode="auto">
              <a:xfrm>
                <a:off x="1823" y="3162"/>
                <a:ext cx="7" cy="19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41" name="Freeform 219">
                <a:extLst>
                  <a:ext uri="{FF2B5EF4-FFF2-40B4-BE49-F238E27FC236}">
                    <a16:creationId xmlns:a16="http://schemas.microsoft.com/office/drawing/2014/main" id="{DD141396-C616-782A-BE03-8AEBC0C1249D}"/>
                  </a:ext>
                </a:extLst>
              </p:cNvPr>
              <p:cNvSpPr>
                <a:spLocks/>
              </p:cNvSpPr>
              <p:nvPr/>
            </p:nvSpPr>
            <p:spPr bwMode="auto">
              <a:xfrm>
                <a:off x="1246" y="3033"/>
                <a:ext cx="831" cy="226"/>
              </a:xfrm>
              <a:custGeom>
                <a:avLst/>
                <a:gdLst>
                  <a:gd name="T0" fmla="*/ 0 w 832"/>
                  <a:gd name="T1" fmla="*/ 220 h 226"/>
                  <a:gd name="T2" fmla="*/ 503 w 832"/>
                  <a:gd name="T3" fmla="*/ 0 h 226"/>
                  <a:gd name="T4" fmla="*/ 830 w 832"/>
                  <a:gd name="T5" fmla="*/ 225 h 226"/>
                  <a:gd name="T6" fmla="*/ 0 60000 65536"/>
                  <a:gd name="T7" fmla="*/ 0 60000 65536"/>
                  <a:gd name="T8" fmla="*/ 0 60000 65536"/>
                </a:gdLst>
                <a:ahLst/>
                <a:cxnLst>
                  <a:cxn ang="T6">
                    <a:pos x="T0" y="T1"/>
                  </a:cxn>
                  <a:cxn ang="T7">
                    <a:pos x="T2" y="T3"/>
                  </a:cxn>
                  <a:cxn ang="T8">
                    <a:pos x="T4" y="T5"/>
                  </a:cxn>
                </a:cxnLst>
                <a:rect l="0" t="0" r="r" b="b"/>
                <a:pathLst>
                  <a:path w="832" h="226">
                    <a:moveTo>
                      <a:pt x="0" y="220"/>
                    </a:moveTo>
                    <a:lnTo>
                      <a:pt x="504" y="0"/>
                    </a:lnTo>
                    <a:lnTo>
                      <a:pt x="831" y="225"/>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142" name="Line 220">
                <a:extLst>
                  <a:ext uri="{FF2B5EF4-FFF2-40B4-BE49-F238E27FC236}">
                    <a16:creationId xmlns:a16="http://schemas.microsoft.com/office/drawing/2014/main" id="{4359EB39-683A-FEC0-2E21-B2923623740B}"/>
                  </a:ext>
                </a:extLst>
              </p:cNvPr>
              <p:cNvSpPr>
                <a:spLocks noChangeShapeType="1"/>
              </p:cNvSpPr>
              <p:nvPr/>
            </p:nvSpPr>
            <p:spPr bwMode="auto">
              <a:xfrm>
                <a:off x="1246" y="3253"/>
                <a:ext cx="317" cy="2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43" name="Oval 221">
                <a:extLst>
                  <a:ext uri="{FF2B5EF4-FFF2-40B4-BE49-F238E27FC236}">
                    <a16:creationId xmlns:a16="http://schemas.microsoft.com/office/drawing/2014/main" id="{5C10CF33-6961-A804-4575-AE27486F3D7F}"/>
                  </a:ext>
                </a:extLst>
              </p:cNvPr>
              <p:cNvSpPr>
                <a:spLocks noChangeArrowheads="1"/>
              </p:cNvSpPr>
              <p:nvPr/>
            </p:nvSpPr>
            <p:spPr bwMode="auto">
              <a:xfrm>
                <a:off x="1795" y="3202"/>
                <a:ext cx="168" cy="87"/>
              </a:xfrm>
              <a:prstGeom prst="ellipse">
                <a:avLst/>
              </a:prstGeom>
              <a:blipFill dpi="0" rotWithShape="0">
                <a:blip r:embed="rId8"/>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44" name="Oval 222">
                <a:extLst>
                  <a:ext uri="{FF2B5EF4-FFF2-40B4-BE49-F238E27FC236}">
                    <a16:creationId xmlns:a16="http://schemas.microsoft.com/office/drawing/2014/main" id="{E1D7A6F3-4774-28D2-8CF9-EB7552433DA1}"/>
                  </a:ext>
                </a:extLst>
              </p:cNvPr>
              <p:cNvSpPr>
                <a:spLocks noChangeArrowheads="1"/>
              </p:cNvSpPr>
              <p:nvPr/>
            </p:nvSpPr>
            <p:spPr bwMode="auto">
              <a:xfrm>
                <a:off x="1792" y="3199"/>
                <a:ext cx="173" cy="91"/>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45" name="Rectangle 223">
                <a:extLst>
                  <a:ext uri="{FF2B5EF4-FFF2-40B4-BE49-F238E27FC236}">
                    <a16:creationId xmlns:a16="http://schemas.microsoft.com/office/drawing/2014/main" id="{5C084FF8-E08F-C968-4859-026B17DF04D8}"/>
                  </a:ext>
                </a:extLst>
              </p:cNvPr>
              <p:cNvSpPr>
                <a:spLocks noChangeArrowheads="1"/>
              </p:cNvSpPr>
              <p:nvPr/>
            </p:nvSpPr>
            <p:spPr bwMode="auto">
              <a:xfrm flipH="1">
                <a:off x="1787" y="3249"/>
                <a:ext cx="8" cy="1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46" name="Rectangle 224">
                <a:extLst>
                  <a:ext uri="{FF2B5EF4-FFF2-40B4-BE49-F238E27FC236}">
                    <a16:creationId xmlns:a16="http://schemas.microsoft.com/office/drawing/2014/main" id="{182B10DA-0BF7-B81F-6369-3BA022623402}"/>
                  </a:ext>
                </a:extLst>
              </p:cNvPr>
              <p:cNvSpPr>
                <a:spLocks noChangeArrowheads="1"/>
              </p:cNvSpPr>
              <p:nvPr/>
            </p:nvSpPr>
            <p:spPr bwMode="auto">
              <a:xfrm>
                <a:off x="1789" y="3248"/>
                <a:ext cx="1" cy="128"/>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47" name="Rectangle 225">
                <a:extLst>
                  <a:ext uri="{FF2B5EF4-FFF2-40B4-BE49-F238E27FC236}">
                    <a16:creationId xmlns:a16="http://schemas.microsoft.com/office/drawing/2014/main" id="{3ED6F84A-E218-7E26-1F7A-6A51E5099A3C}"/>
                  </a:ext>
                </a:extLst>
              </p:cNvPr>
              <p:cNvSpPr>
                <a:spLocks noChangeArrowheads="1"/>
              </p:cNvSpPr>
              <p:nvPr/>
            </p:nvSpPr>
            <p:spPr bwMode="auto">
              <a:xfrm flipH="1">
                <a:off x="1958" y="3263"/>
                <a:ext cx="8"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48" name="Rectangle 226">
                <a:extLst>
                  <a:ext uri="{FF2B5EF4-FFF2-40B4-BE49-F238E27FC236}">
                    <a16:creationId xmlns:a16="http://schemas.microsoft.com/office/drawing/2014/main" id="{0C738F77-1AF1-29CF-E46C-DDCB1EBC385F}"/>
                  </a:ext>
                </a:extLst>
              </p:cNvPr>
              <p:cNvSpPr>
                <a:spLocks noChangeArrowheads="1"/>
              </p:cNvSpPr>
              <p:nvPr/>
            </p:nvSpPr>
            <p:spPr bwMode="auto">
              <a:xfrm>
                <a:off x="1962" y="3262"/>
                <a:ext cx="1" cy="43"/>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49" name="Rectangle 227">
                <a:extLst>
                  <a:ext uri="{FF2B5EF4-FFF2-40B4-BE49-F238E27FC236}">
                    <a16:creationId xmlns:a16="http://schemas.microsoft.com/office/drawing/2014/main" id="{20FDA8EE-A4A4-ACA8-2B25-043B6B3F12D0}"/>
                  </a:ext>
                </a:extLst>
              </p:cNvPr>
              <p:cNvSpPr>
                <a:spLocks noChangeArrowheads="1"/>
              </p:cNvSpPr>
              <p:nvPr/>
            </p:nvSpPr>
            <p:spPr bwMode="auto">
              <a:xfrm>
                <a:off x="1823" y="3301"/>
                <a:ext cx="7" cy="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50" name="Rectangle 228">
                <a:extLst>
                  <a:ext uri="{FF2B5EF4-FFF2-40B4-BE49-F238E27FC236}">
                    <a16:creationId xmlns:a16="http://schemas.microsoft.com/office/drawing/2014/main" id="{6047A90D-D222-1113-FCBE-7A62C0B5CD60}"/>
                  </a:ext>
                </a:extLst>
              </p:cNvPr>
              <p:cNvSpPr>
                <a:spLocks noChangeArrowheads="1"/>
              </p:cNvSpPr>
              <p:nvPr/>
            </p:nvSpPr>
            <p:spPr bwMode="auto">
              <a:xfrm>
                <a:off x="1823" y="3301"/>
                <a:ext cx="7" cy="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51" name="Line 229">
                <a:extLst>
                  <a:ext uri="{FF2B5EF4-FFF2-40B4-BE49-F238E27FC236}">
                    <a16:creationId xmlns:a16="http://schemas.microsoft.com/office/drawing/2014/main" id="{BAC21347-CA58-6DCC-6029-9828FA5B61D1}"/>
                  </a:ext>
                </a:extLst>
              </p:cNvPr>
              <p:cNvSpPr>
                <a:spLocks noChangeShapeType="1"/>
              </p:cNvSpPr>
              <p:nvPr/>
            </p:nvSpPr>
            <p:spPr bwMode="auto">
              <a:xfrm flipV="1">
                <a:off x="1558" y="3267"/>
                <a:ext cx="511" cy="23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52" name="Freeform 230">
                <a:extLst>
                  <a:ext uri="{FF2B5EF4-FFF2-40B4-BE49-F238E27FC236}">
                    <a16:creationId xmlns:a16="http://schemas.microsoft.com/office/drawing/2014/main" id="{1173A919-958B-D47F-AF47-711C870CA63D}"/>
                  </a:ext>
                </a:extLst>
              </p:cNvPr>
              <p:cNvSpPr>
                <a:spLocks/>
              </p:cNvSpPr>
              <p:nvPr/>
            </p:nvSpPr>
            <p:spPr bwMode="auto">
              <a:xfrm>
                <a:off x="1315" y="3138"/>
                <a:ext cx="336" cy="117"/>
              </a:xfrm>
              <a:custGeom>
                <a:avLst/>
                <a:gdLst>
                  <a:gd name="T0" fmla="*/ 0 w 337"/>
                  <a:gd name="T1" fmla="*/ 116 h 116"/>
                  <a:gd name="T2" fmla="*/ 258 w 337"/>
                  <a:gd name="T3" fmla="*/ 0 h 116"/>
                  <a:gd name="T4" fmla="*/ 335 w 337"/>
                  <a:gd name="T5" fmla="*/ 53 h 116"/>
                  <a:gd name="T6" fmla="*/ 0 60000 65536"/>
                  <a:gd name="T7" fmla="*/ 0 60000 65536"/>
                  <a:gd name="T8" fmla="*/ 0 60000 65536"/>
                </a:gdLst>
                <a:ahLst/>
                <a:cxnLst>
                  <a:cxn ang="T6">
                    <a:pos x="T0" y="T1"/>
                  </a:cxn>
                  <a:cxn ang="T7">
                    <a:pos x="T2" y="T3"/>
                  </a:cxn>
                  <a:cxn ang="T8">
                    <a:pos x="T4" y="T5"/>
                  </a:cxn>
                </a:cxnLst>
                <a:rect l="0" t="0" r="r" b="b"/>
                <a:pathLst>
                  <a:path w="337" h="116">
                    <a:moveTo>
                      <a:pt x="0" y="115"/>
                    </a:moveTo>
                    <a:lnTo>
                      <a:pt x="259" y="0"/>
                    </a:lnTo>
                    <a:lnTo>
                      <a:pt x="336" y="53"/>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153" name="Freeform 231">
                <a:extLst>
                  <a:ext uri="{FF2B5EF4-FFF2-40B4-BE49-F238E27FC236}">
                    <a16:creationId xmlns:a16="http://schemas.microsoft.com/office/drawing/2014/main" id="{AF4A697D-0A04-E0F8-6695-368B255767B8}"/>
                  </a:ext>
                </a:extLst>
              </p:cNvPr>
              <p:cNvSpPr>
                <a:spLocks/>
              </p:cNvSpPr>
              <p:nvPr/>
            </p:nvSpPr>
            <p:spPr bwMode="auto">
              <a:xfrm>
                <a:off x="1309" y="3134"/>
                <a:ext cx="337" cy="117"/>
              </a:xfrm>
              <a:custGeom>
                <a:avLst/>
                <a:gdLst>
                  <a:gd name="T0" fmla="*/ 0 w 337"/>
                  <a:gd name="T1" fmla="*/ 116 h 116"/>
                  <a:gd name="T2" fmla="*/ 259 w 337"/>
                  <a:gd name="T3" fmla="*/ 0 h 116"/>
                  <a:gd name="T4" fmla="*/ 336 w 337"/>
                  <a:gd name="T5" fmla="*/ 52 h 116"/>
                  <a:gd name="T6" fmla="*/ 0 60000 65536"/>
                  <a:gd name="T7" fmla="*/ 0 60000 65536"/>
                  <a:gd name="T8" fmla="*/ 0 60000 65536"/>
                </a:gdLst>
                <a:ahLst/>
                <a:cxnLst>
                  <a:cxn ang="T6">
                    <a:pos x="T0" y="T1"/>
                  </a:cxn>
                  <a:cxn ang="T7">
                    <a:pos x="T2" y="T3"/>
                  </a:cxn>
                  <a:cxn ang="T8">
                    <a:pos x="T4" y="T5"/>
                  </a:cxn>
                </a:cxnLst>
                <a:rect l="0" t="0" r="r" b="b"/>
                <a:pathLst>
                  <a:path w="337" h="116">
                    <a:moveTo>
                      <a:pt x="0" y="115"/>
                    </a:moveTo>
                    <a:lnTo>
                      <a:pt x="259" y="0"/>
                    </a:lnTo>
                    <a:lnTo>
                      <a:pt x="336" y="52"/>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154" name="Line 232">
                <a:extLst>
                  <a:ext uri="{FF2B5EF4-FFF2-40B4-BE49-F238E27FC236}">
                    <a16:creationId xmlns:a16="http://schemas.microsoft.com/office/drawing/2014/main" id="{C8043145-B61F-F690-9AED-65D614CD7587}"/>
                  </a:ext>
                </a:extLst>
              </p:cNvPr>
              <p:cNvSpPr>
                <a:spLocks noChangeShapeType="1"/>
              </p:cNvSpPr>
              <p:nvPr/>
            </p:nvSpPr>
            <p:spPr bwMode="auto">
              <a:xfrm>
                <a:off x="1318" y="3253"/>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55" name="Line 233">
                <a:extLst>
                  <a:ext uri="{FF2B5EF4-FFF2-40B4-BE49-F238E27FC236}">
                    <a16:creationId xmlns:a16="http://schemas.microsoft.com/office/drawing/2014/main" id="{07F33734-D7BA-454B-D00B-5ADE1010C78F}"/>
                  </a:ext>
                </a:extLst>
              </p:cNvPr>
              <p:cNvSpPr>
                <a:spLocks noChangeShapeType="1"/>
              </p:cNvSpPr>
              <p:nvPr/>
            </p:nvSpPr>
            <p:spPr bwMode="auto">
              <a:xfrm>
                <a:off x="1314" y="3249"/>
                <a:ext cx="0" cy="4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56" name="Freeform 234">
                <a:extLst>
                  <a:ext uri="{FF2B5EF4-FFF2-40B4-BE49-F238E27FC236}">
                    <a16:creationId xmlns:a16="http://schemas.microsoft.com/office/drawing/2014/main" id="{DF98DA8C-FEEF-C257-959E-E6AE7AB204A6}"/>
                  </a:ext>
                </a:extLst>
              </p:cNvPr>
              <p:cNvSpPr>
                <a:spLocks/>
              </p:cNvSpPr>
              <p:nvPr/>
            </p:nvSpPr>
            <p:spPr bwMode="auto">
              <a:xfrm>
                <a:off x="1315" y="3253"/>
                <a:ext cx="341" cy="198"/>
              </a:xfrm>
              <a:custGeom>
                <a:avLst/>
                <a:gdLst>
                  <a:gd name="T0" fmla="*/ 0 w 341"/>
                  <a:gd name="T1" fmla="*/ 0 h 198"/>
                  <a:gd name="T2" fmla="*/ 259 w 341"/>
                  <a:gd name="T3" fmla="*/ 197 h 198"/>
                  <a:gd name="T4" fmla="*/ 340 w 341"/>
                  <a:gd name="T5" fmla="*/ 159 h 198"/>
                  <a:gd name="T6" fmla="*/ 0 w 341"/>
                  <a:gd name="T7" fmla="*/ 0 h 1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41" h="198">
                    <a:moveTo>
                      <a:pt x="0" y="0"/>
                    </a:moveTo>
                    <a:lnTo>
                      <a:pt x="259" y="197"/>
                    </a:lnTo>
                    <a:lnTo>
                      <a:pt x="340" y="159"/>
                    </a:lnTo>
                    <a:lnTo>
                      <a:pt x="0" y="0"/>
                    </a:lnTo>
                  </a:path>
                </a:pathLst>
              </a:custGeom>
              <a:solidFill>
                <a:srgbClr val="FFFFFF"/>
              </a:solidFill>
              <a:ln w="12700" cap="rnd" cmpd="sng">
                <a:solidFill>
                  <a:srgbClr val="000000"/>
                </a:solidFill>
                <a:prstDash val="solid"/>
                <a:round/>
                <a:headEnd type="none" w="med" len="med"/>
                <a:tailEnd type="none" w="med" len="med"/>
              </a:ln>
            </p:spPr>
            <p:txBody>
              <a:bodyPr/>
              <a:lstStyle/>
              <a:p>
                <a:endParaRPr lang="en-US">
                  <a:latin typeface="Roboto" panose="02000000000000000000" pitchFamily="2" charset="0"/>
                  <a:ea typeface="Roboto" panose="02000000000000000000" pitchFamily="2" charset="0"/>
                </a:endParaRPr>
              </a:p>
            </p:txBody>
          </p:sp>
          <p:sp>
            <p:nvSpPr>
              <p:cNvPr id="157" name="Freeform 235">
                <a:extLst>
                  <a:ext uri="{FF2B5EF4-FFF2-40B4-BE49-F238E27FC236}">
                    <a16:creationId xmlns:a16="http://schemas.microsoft.com/office/drawing/2014/main" id="{8C2A5D39-72E8-0BE0-10B8-A0043E0DFCD2}"/>
                  </a:ext>
                </a:extLst>
              </p:cNvPr>
              <p:cNvSpPr>
                <a:spLocks/>
              </p:cNvSpPr>
              <p:nvPr/>
            </p:nvSpPr>
            <p:spPr bwMode="auto">
              <a:xfrm>
                <a:off x="1309" y="3249"/>
                <a:ext cx="342" cy="197"/>
              </a:xfrm>
              <a:custGeom>
                <a:avLst/>
                <a:gdLst>
                  <a:gd name="T0" fmla="*/ 0 w 342"/>
                  <a:gd name="T1" fmla="*/ 0 h 197"/>
                  <a:gd name="T2" fmla="*/ 259 w 342"/>
                  <a:gd name="T3" fmla="*/ 196 h 197"/>
                  <a:gd name="T4" fmla="*/ 341 w 342"/>
                  <a:gd name="T5" fmla="*/ 158 h 197"/>
                  <a:gd name="T6" fmla="*/ 0 60000 65536"/>
                  <a:gd name="T7" fmla="*/ 0 60000 65536"/>
                  <a:gd name="T8" fmla="*/ 0 60000 65536"/>
                </a:gdLst>
                <a:ahLst/>
                <a:cxnLst>
                  <a:cxn ang="T6">
                    <a:pos x="T0" y="T1"/>
                  </a:cxn>
                  <a:cxn ang="T7">
                    <a:pos x="T2" y="T3"/>
                  </a:cxn>
                  <a:cxn ang="T8">
                    <a:pos x="T4" y="T5"/>
                  </a:cxn>
                </a:cxnLst>
                <a:rect l="0" t="0" r="r" b="b"/>
                <a:pathLst>
                  <a:path w="342" h="197">
                    <a:moveTo>
                      <a:pt x="0" y="0"/>
                    </a:moveTo>
                    <a:lnTo>
                      <a:pt x="259" y="196"/>
                    </a:lnTo>
                    <a:lnTo>
                      <a:pt x="341" y="158"/>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158" name="Line 236">
                <a:extLst>
                  <a:ext uri="{FF2B5EF4-FFF2-40B4-BE49-F238E27FC236}">
                    <a16:creationId xmlns:a16="http://schemas.microsoft.com/office/drawing/2014/main" id="{464B068D-2ACD-2615-CA03-644F0776D32E}"/>
                  </a:ext>
                </a:extLst>
              </p:cNvPr>
              <p:cNvSpPr>
                <a:spLocks noChangeShapeType="1"/>
              </p:cNvSpPr>
              <p:nvPr/>
            </p:nvSpPr>
            <p:spPr bwMode="auto">
              <a:xfrm>
                <a:off x="1572" y="3445"/>
                <a:ext cx="0" cy="3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nvGrpSpPr>
              <p:cNvPr id="159" name="Group 237">
                <a:extLst>
                  <a:ext uri="{FF2B5EF4-FFF2-40B4-BE49-F238E27FC236}">
                    <a16:creationId xmlns:a16="http://schemas.microsoft.com/office/drawing/2014/main" id="{8205FECB-4F8F-F7AE-D6AC-59169BC578DB}"/>
                  </a:ext>
                </a:extLst>
              </p:cNvPr>
              <p:cNvGrpSpPr>
                <a:grpSpLocks/>
              </p:cNvGrpSpPr>
              <p:nvPr/>
            </p:nvGrpSpPr>
            <p:grpSpPr bwMode="auto">
              <a:xfrm>
                <a:off x="1414" y="3641"/>
                <a:ext cx="73" cy="93"/>
                <a:chOff x="1414" y="3641"/>
                <a:chExt cx="73" cy="93"/>
              </a:xfrm>
            </p:grpSpPr>
            <p:sp>
              <p:nvSpPr>
                <p:cNvPr id="196" name="AutoShape 238">
                  <a:extLst>
                    <a:ext uri="{FF2B5EF4-FFF2-40B4-BE49-F238E27FC236}">
                      <a16:creationId xmlns:a16="http://schemas.microsoft.com/office/drawing/2014/main" id="{55C95D6D-DA04-2C92-9608-6E6D608A956A}"/>
                    </a:ext>
                  </a:extLst>
                </p:cNvPr>
                <p:cNvSpPr>
                  <a:spLocks noChangeArrowheads="1"/>
                </p:cNvSpPr>
                <p:nvPr/>
              </p:nvSpPr>
              <p:spPr bwMode="auto">
                <a:xfrm>
                  <a:off x="1439" y="3642"/>
                  <a:ext cx="16" cy="90"/>
                </a:xfrm>
                <a:prstGeom prst="roundRect">
                  <a:avLst>
                    <a:gd name="adj" fmla="val 48477"/>
                  </a:avLst>
                </a:prstGeom>
                <a:blipFill dpi="0" rotWithShape="0">
                  <a:blip r:embed="rId3"/>
                  <a:srcRect/>
                  <a:tile tx="0" ty="0" sx="100000" sy="100000" flip="none" algn="tl"/>
                </a:blip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97" name="Freeform 239">
                  <a:extLst>
                    <a:ext uri="{FF2B5EF4-FFF2-40B4-BE49-F238E27FC236}">
                      <a16:creationId xmlns:a16="http://schemas.microsoft.com/office/drawing/2014/main" id="{5A3D4B67-D2A9-9A34-499D-A4F8BBC2928E}"/>
                    </a:ext>
                  </a:extLst>
                </p:cNvPr>
                <p:cNvSpPr>
                  <a:spLocks/>
                </p:cNvSpPr>
                <p:nvPr/>
              </p:nvSpPr>
              <p:spPr bwMode="auto">
                <a:xfrm>
                  <a:off x="1414" y="3643"/>
                  <a:ext cx="73" cy="91"/>
                </a:xfrm>
                <a:custGeom>
                  <a:avLst/>
                  <a:gdLst>
                    <a:gd name="T0" fmla="*/ 44 w 73"/>
                    <a:gd name="T1" fmla="*/ 5 h 92"/>
                    <a:gd name="T2" fmla="*/ 44 w 73"/>
                    <a:gd name="T3" fmla="*/ 5 h 92"/>
                    <a:gd name="T4" fmla="*/ 53 w 73"/>
                    <a:gd name="T5" fmla="*/ 0 h 92"/>
                    <a:gd name="T6" fmla="*/ 58 w 73"/>
                    <a:gd name="T7" fmla="*/ 0 h 92"/>
                    <a:gd name="T8" fmla="*/ 63 w 73"/>
                    <a:gd name="T9" fmla="*/ 0 h 92"/>
                    <a:gd name="T10" fmla="*/ 68 w 73"/>
                    <a:gd name="T11" fmla="*/ 5 h 92"/>
                    <a:gd name="T12" fmla="*/ 68 w 73"/>
                    <a:gd name="T13" fmla="*/ 10 h 92"/>
                    <a:gd name="T14" fmla="*/ 72 w 73"/>
                    <a:gd name="T15" fmla="*/ 15 h 92"/>
                    <a:gd name="T16" fmla="*/ 68 w 73"/>
                    <a:gd name="T17" fmla="*/ 19 h 92"/>
                    <a:gd name="T18" fmla="*/ 29 w 73"/>
                    <a:gd name="T19" fmla="*/ 86 h 92"/>
                    <a:gd name="T20" fmla="*/ 24 w 73"/>
                    <a:gd name="T21" fmla="*/ 90 h 92"/>
                    <a:gd name="T22" fmla="*/ 20 w 73"/>
                    <a:gd name="T23" fmla="*/ 90 h 92"/>
                    <a:gd name="T24" fmla="*/ 15 w 73"/>
                    <a:gd name="T25" fmla="*/ 90 h 92"/>
                    <a:gd name="T26" fmla="*/ 10 w 73"/>
                    <a:gd name="T27" fmla="*/ 90 h 92"/>
                    <a:gd name="T28" fmla="*/ 5 w 73"/>
                    <a:gd name="T29" fmla="*/ 86 h 92"/>
                    <a:gd name="T30" fmla="*/ 0 w 73"/>
                    <a:gd name="T31" fmla="*/ 81 h 92"/>
                    <a:gd name="T32" fmla="*/ 0 w 73"/>
                    <a:gd name="T33" fmla="*/ 76 h 92"/>
                    <a:gd name="T34" fmla="*/ 5 w 73"/>
                    <a:gd name="T35" fmla="*/ 66 h 92"/>
                    <a:gd name="T36" fmla="*/ 44 w 73"/>
                    <a:gd name="T37" fmla="*/ 5 h 9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73" h="92">
                      <a:moveTo>
                        <a:pt x="44" y="5"/>
                      </a:moveTo>
                      <a:lnTo>
                        <a:pt x="44" y="5"/>
                      </a:lnTo>
                      <a:lnTo>
                        <a:pt x="53" y="0"/>
                      </a:lnTo>
                      <a:lnTo>
                        <a:pt x="58" y="0"/>
                      </a:lnTo>
                      <a:lnTo>
                        <a:pt x="63" y="0"/>
                      </a:lnTo>
                      <a:lnTo>
                        <a:pt x="68" y="5"/>
                      </a:lnTo>
                      <a:lnTo>
                        <a:pt x="68" y="10"/>
                      </a:lnTo>
                      <a:lnTo>
                        <a:pt x="72" y="15"/>
                      </a:lnTo>
                      <a:lnTo>
                        <a:pt x="68" y="19"/>
                      </a:lnTo>
                      <a:lnTo>
                        <a:pt x="29" y="87"/>
                      </a:lnTo>
                      <a:lnTo>
                        <a:pt x="24" y="91"/>
                      </a:lnTo>
                      <a:lnTo>
                        <a:pt x="20" y="91"/>
                      </a:lnTo>
                      <a:lnTo>
                        <a:pt x="15" y="91"/>
                      </a:lnTo>
                      <a:lnTo>
                        <a:pt x="10" y="91"/>
                      </a:lnTo>
                      <a:lnTo>
                        <a:pt x="5" y="87"/>
                      </a:lnTo>
                      <a:lnTo>
                        <a:pt x="0" y="82"/>
                      </a:lnTo>
                      <a:lnTo>
                        <a:pt x="0" y="77"/>
                      </a:lnTo>
                      <a:lnTo>
                        <a:pt x="5" y="67"/>
                      </a:lnTo>
                      <a:lnTo>
                        <a:pt x="44" y="5"/>
                      </a:lnTo>
                    </a:path>
                  </a:pathLst>
                </a:custGeom>
                <a:blipFill dpi="0" rotWithShape="0">
                  <a:blip r:embed="rId9"/>
                  <a:srcRect/>
                  <a:tile tx="0" ty="0" sx="100000" sy="100000" flip="none" algn="tl"/>
                </a:blipFill>
                <a:ln w="12700" cap="rnd" cmpd="sng">
                  <a:solidFill>
                    <a:srgbClr val="000000"/>
                  </a:solidFill>
                  <a:prstDash val="solid"/>
                  <a:round/>
                  <a:headEnd type="none" w="med" len="med"/>
                  <a:tailEnd type="none" w="med" len="med"/>
                </a:ln>
              </p:spPr>
              <p:txBody>
                <a:bodyPr/>
                <a:lstStyle/>
                <a:p>
                  <a:endParaRPr lang="en-US">
                    <a:latin typeface="Roboto" panose="02000000000000000000" pitchFamily="2" charset="0"/>
                    <a:ea typeface="Roboto" panose="02000000000000000000" pitchFamily="2" charset="0"/>
                  </a:endParaRPr>
                </a:p>
              </p:txBody>
            </p:sp>
            <p:sp>
              <p:nvSpPr>
                <p:cNvPr id="198" name="Oval 240">
                  <a:extLst>
                    <a:ext uri="{FF2B5EF4-FFF2-40B4-BE49-F238E27FC236}">
                      <a16:creationId xmlns:a16="http://schemas.microsoft.com/office/drawing/2014/main" id="{B6771A13-4FBE-1561-128B-D5EC608B0C36}"/>
                    </a:ext>
                  </a:extLst>
                </p:cNvPr>
                <p:cNvSpPr>
                  <a:spLocks noChangeArrowheads="1"/>
                </p:cNvSpPr>
                <p:nvPr/>
              </p:nvSpPr>
              <p:spPr bwMode="auto">
                <a:xfrm>
                  <a:off x="1457" y="3647"/>
                  <a:ext cx="17" cy="23"/>
                </a:xfrm>
                <a:prstGeom prst="ellipse">
                  <a:avLst/>
                </a:prstGeom>
                <a:blipFill dpi="0" rotWithShape="0">
                  <a:blip r:embed="rId3"/>
                  <a:srcRect/>
                  <a:tile tx="0" ty="0" sx="100000" sy="100000" flip="none" algn="tl"/>
                </a:blip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99" name="Freeform 241">
                  <a:extLst>
                    <a:ext uri="{FF2B5EF4-FFF2-40B4-BE49-F238E27FC236}">
                      <a16:creationId xmlns:a16="http://schemas.microsoft.com/office/drawing/2014/main" id="{F1E37B8C-5913-50D4-855E-DAED32321E60}"/>
                    </a:ext>
                  </a:extLst>
                </p:cNvPr>
                <p:cNvSpPr>
                  <a:spLocks/>
                </p:cNvSpPr>
                <p:nvPr/>
              </p:nvSpPr>
              <p:spPr bwMode="auto">
                <a:xfrm>
                  <a:off x="1454" y="3643"/>
                  <a:ext cx="34" cy="34"/>
                </a:xfrm>
                <a:custGeom>
                  <a:avLst/>
                  <a:gdLst>
                    <a:gd name="T0" fmla="*/ 5 w 34"/>
                    <a:gd name="T1" fmla="*/ 10 h 35"/>
                    <a:gd name="T2" fmla="*/ 5 w 34"/>
                    <a:gd name="T3" fmla="*/ 5 h 35"/>
                    <a:gd name="T4" fmla="*/ 9 w 34"/>
                    <a:gd name="T5" fmla="*/ 0 h 35"/>
                    <a:gd name="T6" fmla="*/ 14 w 34"/>
                    <a:gd name="T7" fmla="*/ 0 h 35"/>
                    <a:gd name="T8" fmla="*/ 19 w 34"/>
                    <a:gd name="T9" fmla="*/ 0 h 35"/>
                    <a:gd name="T10" fmla="*/ 24 w 34"/>
                    <a:gd name="T11" fmla="*/ 0 h 35"/>
                    <a:gd name="T12" fmla="*/ 29 w 34"/>
                    <a:gd name="T13" fmla="*/ 5 h 35"/>
                    <a:gd name="T14" fmla="*/ 29 w 34"/>
                    <a:gd name="T15" fmla="*/ 10 h 35"/>
                    <a:gd name="T16" fmla="*/ 33 w 34"/>
                    <a:gd name="T17" fmla="*/ 15 h 35"/>
                    <a:gd name="T18" fmla="*/ 33 w 34"/>
                    <a:gd name="T19" fmla="*/ 18 h 35"/>
                    <a:gd name="T20" fmla="*/ 29 w 34"/>
                    <a:gd name="T21" fmla="*/ 23 h 35"/>
                    <a:gd name="T22" fmla="*/ 24 w 34"/>
                    <a:gd name="T23" fmla="*/ 28 h 35"/>
                    <a:gd name="T24" fmla="*/ 19 w 34"/>
                    <a:gd name="T25" fmla="*/ 28 h 35"/>
                    <a:gd name="T26" fmla="*/ 14 w 34"/>
                    <a:gd name="T27" fmla="*/ 33 h 35"/>
                    <a:gd name="T28" fmla="*/ 9 w 34"/>
                    <a:gd name="T29" fmla="*/ 33 h 35"/>
                    <a:gd name="T30" fmla="*/ 5 w 34"/>
                    <a:gd name="T31" fmla="*/ 28 h 35"/>
                    <a:gd name="T32" fmla="*/ 0 w 34"/>
                    <a:gd name="T33" fmla="*/ 23 h 35"/>
                    <a:gd name="T34" fmla="*/ 0 w 34"/>
                    <a:gd name="T35" fmla="*/ 18 h 35"/>
                    <a:gd name="T36" fmla="*/ 5 w 34"/>
                    <a:gd name="T37" fmla="*/ 10 h 3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4" h="35">
                      <a:moveTo>
                        <a:pt x="5" y="10"/>
                      </a:moveTo>
                      <a:lnTo>
                        <a:pt x="5" y="5"/>
                      </a:lnTo>
                      <a:lnTo>
                        <a:pt x="9" y="0"/>
                      </a:lnTo>
                      <a:lnTo>
                        <a:pt x="14" y="0"/>
                      </a:lnTo>
                      <a:lnTo>
                        <a:pt x="19" y="0"/>
                      </a:lnTo>
                      <a:lnTo>
                        <a:pt x="24" y="0"/>
                      </a:lnTo>
                      <a:lnTo>
                        <a:pt x="29" y="5"/>
                      </a:lnTo>
                      <a:lnTo>
                        <a:pt x="29" y="10"/>
                      </a:lnTo>
                      <a:lnTo>
                        <a:pt x="33" y="15"/>
                      </a:lnTo>
                      <a:lnTo>
                        <a:pt x="33" y="19"/>
                      </a:lnTo>
                      <a:lnTo>
                        <a:pt x="29" y="24"/>
                      </a:lnTo>
                      <a:lnTo>
                        <a:pt x="24" y="29"/>
                      </a:lnTo>
                      <a:lnTo>
                        <a:pt x="19" y="29"/>
                      </a:lnTo>
                      <a:lnTo>
                        <a:pt x="14" y="34"/>
                      </a:lnTo>
                      <a:lnTo>
                        <a:pt x="9" y="34"/>
                      </a:lnTo>
                      <a:lnTo>
                        <a:pt x="5" y="29"/>
                      </a:lnTo>
                      <a:lnTo>
                        <a:pt x="0" y="24"/>
                      </a:lnTo>
                      <a:lnTo>
                        <a:pt x="0" y="19"/>
                      </a:lnTo>
                      <a:lnTo>
                        <a:pt x="5" y="10"/>
                      </a:lnTo>
                    </a:path>
                  </a:pathLst>
                </a:custGeom>
                <a:blipFill dpi="0" rotWithShape="0">
                  <a:blip r:embed="rId9"/>
                  <a:srcRect/>
                  <a:tile tx="0" ty="0" sx="100000" sy="100000" flip="none" algn="tl"/>
                </a:blipFill>
                <a:ln w="12700" cap="rnd" cmpd="sng">
                  <a:solidFill>
                    <a:srgbClr val="000000"/>
                  </a:solidFill>
                  <a:prstDash val="solid"/>
                  <a:round/>
                  <a:headEnd type="none" w="med" len="med"/>
                  <a:tailEnd type="none" w="med" len="med"/>
                </a:ln>
              </p:spPr>
              <p:txBody>
                <a:bodyPr/>
                <a:lstStyle/>
                <a:p>
                  <a:endParaRPr lang="en-US">
                    <a:latin typeface="Roboto" panose="02000000000000000000" pitchFamily="2" charset="0"/>
                    <a:ea typeface="Roboto" panose="02000000000000000000" pitchFamily="2" charset="0"/>
                  </a:endParaRPr>
                </a:p>
              </p:txBody>
            </p:sp>
            <p:sp>
              <p:nvSpPr>
                <p:cNvPr id="200" name="Oval 242">
                  <a:extLst>
                    <a:ext uri="{FF2B5EF4-FFF2-40B4-BE49-F238E27FC236}">
                      <a16:creationId xmlns:a16="http://schemas.microsoft.com/office/drawing/2014/main" id="{D8E391BB-7E65-C576-75FF-2D64F17A5F9D}"/>
                    </a:ext>
                  </a:extLst>
                </p:cNvPr>
                <p:cNvSpPr>
                  <a:spLocks noChangeArrowheads="1"/>
                </p:cNvSpPr>
                <p:nvPr/>
              </p:nvSpPr>
              <p:spPr bwMode="auto">
                <a:xfrm>
                  <a:off x="1418" y="3704"/>
                  <a:ext cx="19" cy="22"/>
                </a:xfrm>
                <a:prstGeom prst="ellipse">
                  <a:avLst/>
                </a:prstGeom>
                <a:blipFill dpi="0" rotWithShape="0">
                  <a:blip r:embed="rId3"/>
                  <a:srcRect/>
                  <a:tile tx="0" ty="0" sx="100000" sy="100000" flip="none" algn="tl"/>
                </a:blip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01" name="Freeform 243">
                  <a:extLst>
                    <a:ext uri="{FF2B5EF4-FFF2-40B4-BE49-F238E27FC236}">
                      <a16:creationId xmlns:a16="http://schemas.microsoft.com/office/drawing/2014/main" id="{02BAE853-8B7E-4F12-707F-F49B75AC8672}"/>
                    </a:ext>
                  </a:extLst>
                </p:cNvPr>
                <p:cNvSpPr>
                  <a:spLocks/>
                </p:cNvSpPr>
                <p:nvPr/>
              </p:nvSpPr>
              <p:spPr bwMode="auto">
                <a:xfrm>
                  <a:off x="1414" y="3706"/>
                  <a:ext cx="35" cy="28"/>
                </a:xfrm>
                <a:custGeom>
                  <a:avLst/>
                  <a:gdLst>
                    <a:gd name="T0" fmla="*/ 5 w 35"/>
                    <a:gd name="T1" fmla="*/ 4 h 29"/>
                    <a:gd name="T2" fmla="*/ 5 w 35"/>
                    <a:gd name="T3" fmla="*/ 4 h 29"/>
                    <a:gd name="T4" fmla="*/ 15 w 35"/>
                    <a:gd name="T5" fmla="*/ 0 h 29"/>
                    <a:gd name="T6" fmla="*/ 20 w 35"/>
                    <a:gd name="T7" fmla="*/ 0 h 29"/>
                    <a:gd name="T8" fmla="*/ 24 w 35"/>
                    <a:gd name="T9" fmla="*/ 0 h 29"/>
                    <a:gd name="T10" fmla="*/ 29 w 35"/>
                    <a:gd name="T11" fmla="*/ 4 h 29"/>
                    <a:gd name="T12" fmla="*/ 29 w 35"/>
                    <a:gd name="T13" fmla="*/ 9 h 29"/>
                    <a:gd name="T14" fmla="*/ 34 w 35"/>
                    <a:gd name="T15" fmla="*/ 14 h 29"/>
                    <a:gd name="T16" fmla="*/ 29 w 35"/>
                    <a:gd name="T17" fmla="*/ 18 h 29"/>
                    <a:gd name="T18" fmla="*/ 29 w 35"/>
                    <a:gd name="T19" fmla="*/ 23 h 29"/>
                    <a:gd name="T20" fmla="*/ 24 w 35"/>
                    <a:gd name="T21" fmla="*/ 27 h 29"/>
                    <a:gd name="T22" fmla="*/ 20 w 35"/>
                    <a:gd name="T23" fmla="*/ 27 h 29"/>
                    <a:gd name="T24" fmla="*/ 15 w 35"/>
                    <a:gd name="T25" fmla="*/ 27 h 29"/>
                    <a:gd name="T26" fmla="*/ 10 w 35"/>
                    <a:gd name="T27" fmla="*/ 27 h 29"/>
                    <a:gd name="T28" fmla="*/ 5 w 35"/>
                    <a:gd name="T29" fmla="*/ 27 h 29"/>
                    <a:gd name="T30" fmla="*/ 0 w 35"/>
                    <a:gd name="T31" fmla="*/ 23 h 29"/>
                    <a:gd name="T32" fmla="*/ 0 w 35"/>
                    <a:gd name="T33" fmla="*/ 18 h 29"/>
                    <a:gd name="T34" fmla="*/ 0 w 35"/>
                    <a:gd name="T35" fmla="*/ 14 h 29"/>
                    <a:gd name="T36" fmla="*/ 5 w 35"/>
                    <a:gd name="T37" fmla="*/ 4 h 2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5" h="29">
                      <a:moveTo>
                        <a:pt x="5" y="4"/>
                      </a:moveTo>
                      <a:lnTo>
                        <a:pt x="5" y="4"/>
                      </a:lnTo>
                      <a:lnTo>
                        <a:pt x="15" y="0"/>
                      </a:lnTo>
                      <a:lnTo>
                        <a:pt x="20" y="0"/>
                      </a:lnTo>
                      <a:lnTo>
                        <a:pt x="24" y="0"/>
                      </a:lnTo>
                      <a:lnTo>
                        <a:pt x="29" y="4"/>
                      </a:lnTo>
                      <a:lnTo>
                        <a:pt x="29" y="9"/>
                      </a:lnTo>
                      <a:lnTo>
                        <a:pt x="34" y="14"/>
                      </a:lnTo>
                      <a:lnTo>
                        <a:pt x="29" y="19"/>
                      </a:lnTo>
                      <a:lnTo>
                        <a:pt x="29" y="24"/>
                      </a:lnTo>
                      <a:lnTo>
                        <a:pt x="24" y="28"/>
                      </a:lnTo>
                      <a:lnTo>
                        <a:pt x="20" y="28"/>
                      </a:lnTo>
                      <a:lnTo>
                        <a:pt x="15" y="28"/>
                      </a:lnTo>
                      <a:lnTo>
                        <a:pt x="10" y="28"/>
                      </a:lnTo>
                      <a:lnTo>
                        <a:pt x="5" y="28"/>
                      </a:lnTo>
                      <a:lnTo>
                        <a:pt x="0" y="24"/>
                      </a:lnTo>
                      <a:lnTo>
                        <a:pt x="0" y="19"/>
                      </a:lnTo>
                      <a:lnTo>
                        <a:pt x="0" y="14"/>
                      </a:lnTo>
                      <a:lnTo>
                        <a:pt x="5" y="4"/>
                      </a:lnTo>
                    </a:path>
                  </a:pathLst>
                </a:custGeom>
                <a:blipFill dpi="0" rotWithShape="0">
                  <a:blip r:embed="rId9"/>
                  <a:srcRect/>
                  <a:tile tx="0" ty="0" sx="100000" sy="100000" flip="none" algn="tl"/>
                </a:blipFill>
                <a:ln w="12700" cap="rnd" cmpd="sng">
                  <a:solidFill>
                    <a:srgbClr val="000000"/>
                  </a:solidFill>
                  <a:prstDash val="solid"/>
                  <a:round/>
                  <a:headEnd type="none" w="med" len="med"/>
                  <a:tailEnd type="none" w="med" len="med"/>
                </a:ln>
              </p:spPr>
              <p:txBody>
                <a:bodyPr/>
                <a:lstStyle/>
                <a:p>
                  <a:endParaRPr lang="en-US">
                    <a:latin typeface="Roboto" panose="02000000000000000000" pitchFamily="2" charset="0"/>
                    <a:ea typeface="Roboto" panose="02000000000000000000" pitchFamily="2" charset="0"/>
                  </a:endParaRPr>
                </a:p>
              </p:txBody>
            </p:sp>
          </p:grpSp>
          <p:grpSp>
            <p:nvGrpSpPr>
              <p:cNvPr id="160" name="Group 244">
                <a:extLst>
                  <a:ext uri="{FF2B5EF4-FFF2-40B4-BE49-F238E27FC236}">
                    <a16:creationId xmlns:a16="http://schemas.microsoft.com/office/drawing/2014/main" id="{911DD248-8568-3747-02E2-0737E6A83208}"/>
                  </a:ext>
                </a:extLst>
              </p:cNvPr>
              <p:cNvGrpSpPr>
                <a:grpSpLocks/>
              </p:cNvGrpSpPr>
              <p:nvPr/>
            </p:nvGrpSpPr>
            <p:grpSpPr bwMode="auto">
              <a:xfrm>
                <a:off x="1232" y="3493"/>
                <a:ext cx="68" cy="97"/>
                <a:chOff x="1232" y="3493"/>
                <a:chExt cx="68" cy="97"/>
              </a:xfrm>
            </p:grpSpPr>
            <p:sp>
              <p:nvSpPr>
                <p:cNvPr id="190" name="AutoShape 245">
                  <a:extLst>
                    <a:ext uri="{FF2B5EF4-FFF2-40B4-BE49-F238E27FC236}">
                      <a16:creationId xmlns:a16="http://schemas.microsoft.com/office/drawing/2014/main" id="{6224192B-3FC5-9CE5-D6E8-33B5436CF52F}"/>
                    </a:ext>
                  </a:extLst>
                </p:cNvPr>
                <p:cNvSpPr>
                  <a:spLocks noChangeArrowheads="1"/>
                </p:cNvSpPr>
                <p:nvPr/>
              </p:nvSpPr>
              <p:spPr bwMode="auto">
                <a:xfrm>
                  <a:off x="1256" y="3493"/>
                  <a:ext cx="19" cy="95"/>
                </a:xfrm>
                <a:prstGeom prst="roundRect">
                  <a:avLst>
                    <a:gd name="adj" fmla="val 49995"/>
                  </a:avLst>
                </a:prstGeom>
                <a:blipFill dpi="0" rotWithShape="0">
                  <a:blip r:embed="rId3"/>
                  <a:srcRect/>
                  <a:tile tx="0" ty="0" sx="100000" sy="100000" flip="none" algn="tl"/>
                </a:blip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91" name="Freeform 246">
                  <a:extLst>
                    <a:ext uri="{FF2B5EF4-FFF2-40B4-BE49-F238E27FC236}">
                      <a16:creationId xmlns:a16="http://schemas.microsoft.com/office/drawing/2014/main" id="{BE092899-B46C-5FAC-19E0-E46D2C57F5B1}"/>
                    </a:ext>
                  </a:extLst>
                </p:cNvPr>
                <p:cNvSpPr>
                  <a:spLocks/>
                </p:cNvSpPr>
                <p:nvPr/>
              </p:nvSpPr>
              <p:spPr bwMode="auto">
                <a:xfrm>
                  <a:off x="1232" y="3498"/>
                  <a:ext cx="68" cy="92"/>
                </a:xfrm>
                <a:custGeom>
                  <a:avLst/>
                  <a:gdLst>
                    <a:gd name="T0" fmla="*/ 43 w 68"/>
                    <a:gd name="T1" fmla="*/ 5 h 92"/>
                    <a:gd name="T2" fmla="*/ 43 w 68"/>
                    <a:gd name="T3" fmla="*/ 5 h 92"/>
                    <a:gd name="T4" fmla="*/ 48 w 68"/>
                    <a:gd name="T5" fmla="*/ 0 h 92"/>
                    <a:gd name="T6" fmla="*/ 53 w 68"/>
                    <a:gd name="T7" fmla="*/ 0 h 92"/>
                    <a:gd name="T8" fmla="*/ 58 w 68"/>
                    <a:gd name="T9" fmla="*/ 0 h 92"/>
                    <a:gd name="T10" fmla="*/ 62 w 68"/>
                    <a:gd name="T11" fmla="*/ 0 h 92"/>
                    <a:gd name="T12" fmla="*/ 67 w 68"/>
                    <a:gd name="T13" fmla="*/ 5 h 92"/>
                    <a:gd name="T14" fmla="*/ 67 w 68"/>
                    <a:gd name="T15" fmla="*/ 10 h 92"/>
                    <a:gd name="T16" fmla="*/ 67 w 68"/>
                    <a:gd name="T17" fmla="*/ 15 h 92"/>
                    <a:gd name="T18" fmla="*/ 67 w 68"/>
                    <a:gd name="T19" fmla="*/ 19 h 92"/>
                    <a:gd name="T20" fmla="*/ 29 w 68"/>
                    <a:gd name="T21" fmla="*/ 82 h 92"/>
                    <a:gd name="T22" fmla="*/ 24 w 68"/>
                    <a:gd name="T23" fmla="*/ 87 h 92"/>
                    <a:gd name="T24" fmla="*/ 19 w 68"/>
                    <a:gd name="T25" fmla="*/ 91 h 92"/>
                    <a:gd name="T26" fmla="*/ 14 w 68"/>
                    <a:gd name="T27" fmla="*/ 91 h 92"/>
                    <a:gd name="T28" fmla="*/ 10 w 68"/>
                    <a:gd name="T29" fmla="*/ 91 h 92"/>
                    <a:gd name="T30" fmla="*/ 5 w 68"/>
                    <a:gd name="T31" fmla="*/ 87 h 92"/>
                    <a:gd name="T32" fmla="*/ 0 w 68"/>
                    <a:gd name="T33" fmla="*/ 82 h 92"/>
                    <a:gd name="T34" fmla="*/ 0 w 68"/>
                    <a:gd name="T35" fmla="*/ 77 h 92"/>
                    <a:gd name="T36" fmla="*/ 0 w 68"/>
                    <a:gd name="T37" fmla="*/ 72 h 92"/>
                    <a:gd name="T38" fmla="*/ 0 w 68"/>
                    <a:gd name="T39" fmla="*/ 67 h 92"/>
                    <a:gd name="T40" fmla="*/ 43 w 68"/>
                    <a:gd name="T41" fmla="*/ 5 h 9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68" h="92">
                      <a:moveTo>
                        <a:pt x="43" y="5"/>
                      </a:moveTo>
                      <a:lnTo>
                        <a:pt x="43" y="5"/>
                      </a:lnTo>
                      <a:lnTo>
                        <a:pt x="48" y="0"/>
                      </a:lnTo>
                      <a:lnTo>
                        <a:pt x="53" y="0"/>
                      </a:lnTo>
                      <a:lnTo>
                        <a:pt x="58" y="0"/>
                      </a:lnTo>
                      <a:lnTo>
                        <a:pt x="62" y="0"/>
                      </a:lnTo>
                      <a:lnTo>
                        <a:pt x="67" y="5"/>
                      </a:lnTo>
                      <a:lnTo>
                        <a:pt x="67" y="10"/>
                      </a:lnTo>
                      <a:lnTo>
                        <a:pt x="67" y="15"/>
                      </a:lnTo>
                      <a:lnTo>
                        <a:pt x="67" y="19"/>
                      </a:lnTo>
                      <a:lnTo>
                        <a:pt x="29" y="82"/>
                      </a:lnTo>
                      <a:lnTo>
                        <a:pt x="24" y="87"/>
                      </a:lnTo>
                      <a:lnTo>
                        <a:pt x="19" y="91"/>
                      </a:lnTo>
                      <a:lnTo>
                        <a:pt x="14" y="91"/>
                      </a:lnTo>
                      <a:lnTo>
                        <a:pt x="10" y="91"/>
                      </a:lnTo>
                      <a:lnTo>
                        <a:pt x="5" y="87"/>
                      </a:lnTo>
                      <a:lnTo>
                        <a:pt x="0" y="82"/>
                      </a:lnTo>
                      <a:lnTo>
                        <a:pt x="0" y="77"/>
                      </a:lnTo>
                      <a:lnTo>
                        <a:pt x="0" y="72"/>
                      </a:lnTo>
                      <a:lnTo>
                        <a:pt x="0" y="67"/>
                      </a:lnTo>
                      <a:lnTo>
                        <a:pt x="43" y="5"/>
                      </a:lnTo>
                    </a:path>
                  </a:pathLst>
                </a:custGeom>
                <a:blipFill dpi="0" rotWithShape="0">
                  <a:blip r:embed="rId9"/>
                  <a:srcRect/>
                  <a:tile tx="0" ty="0" sx="100000" sy="100000" flip="none" algn="tl"/>
                </a:blipFill>
                <a:ln w="12700" cap="rnd" cmpd="sng">
                  <a:solidFill>
                    <a:srgbClr val="000000"/>
                  </a:solidFill>
                  <a:prstDash val="solid"/>
                  <a:round/>
                  <a:headEnd type="none" w="med" len="med"/>
                  <a:tailEnd type="none" w="med" len="med"/>
                </a:ln>
              </p:spPr>
              <p:txBody>
                <a:bodyPr/>
                <a:lstStyle/>
                <a:p>
                  <a:endParaRPr lang="en-US">
                    <a:latin typeface="Roboto" panose="02000000000000000000" pitchFamily="2" charset="0"/>
                    <a:ea typeface="Roboto" panose="02000000000000000000" pitchFamily="2" charset="0"/>
                  </a:endParaRPr>
                </a:p>
              </p:txBody>
            </p:sp>
            <p:sp>
              <p:nvSpPr>
                <p:cNvPr id="192" name="Oval 247">
                  <a:extLst>
                    <a:ext uri="{FF2B5EF4-FFF2-40B4-BE49-F238E27FC236}">
                      <a16:creationId xmlns:a16="http://schemas.microsoft.com/office/drawing/2014/main" id="{25D37A3B-82F4-0B4E-451D-8E3CF98DCD75}"/>
                    </a:ext>
                  </a:extLst>
                </p:cNvPr>
                <p:cNvSpPr>
                  <a:spLocks noChangeArrowheads="1"/>
                </p:cNvSpPr>
                <p:nvPr/>
              </p:nvSpPr>
              <p:spPr bwMode="auto">
                <a:xfrm>
                  <a:off x="1274" y="3497"/>
                  <a:ext cx="19" cy="23"/>
                </a:xfrm>
                <a:prstGeom prst="ellipse">
                  <a:avLst/>
                </a:prstGeom>
                <a:blipFill dpi="0" rotWithShape="0">
                  <a:blip r:embed="rId3"/>
                  <a:srcRect/>
                  <a:tile tx="0" ty="0" sx="100000" sy="100000" flip="none" algn="tl"/>
                </a:blip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93" name="Freeform 248">
                  <a:extLst>
                    <a:ext uri="{FF2B5EF4-FFF2-40B4-BE49-F238E27FC236}">
                      <a16:creationId xmlns:a16="http://schemas.microsoft.com/office/drawing/2014/main" id="{0D721458-1A78-F68E-9947-B9F92FCFAED5}"/>
                    </a:ext>
                  </a:extLst>
                </p:cNvPr>
                <p:cNvSpPr>
                  <a:spLocks/>
                </p:cNvSpPr>
                <p:nvPr/>
              </p:nvSpPr>
              <p:spPr bwMode="auto">
                <a:xfrm>
                  <a:off x="1271" y="3498"/>
                  <a:ext cx="30" cy="36"/>
                </a:xfrm>
                <a:custGeom>
                  <a:avLst/>
                  <a:gdLst>
                    <a:gd name="T0" fmla="*/ 0 w 30"/>
                    <a:gd name="T1" fmla="*/ 5 h 35"/>
                    <a:gd name="T2" fmla="*/ 0 w 30"/>
                    <a:gd name="T3" fmla="*/ 5 h 35"/>
                    <a:gd name="T4" fmla="*/ 10 w 30"/>
                    <a:gd name="T5" fmla="*/ 0 h 35"/>
                    <a:gd name="T6" fmla="*/ 15 w 30"/>
                    <a:gd name="T7" fmla="*/ 0 h 35"/>
                    <a:gd name="T8" fmla="*/ 20 w 30"/>
                    <a:gd name="T9" fmla="*/ 0 h 35"/>
                    <a:gd name="T10" fmla="*/ 24 w 30"/>
                    <a:gd name="T11" fmla="*/ 0 h 35"/>
                    <a:gd name="T12" fmla="*/ 29 w 30"/>
                    <a:gd name="T13" fmla="*/ 5 h 35"/>
                    <a:gd name="T14" fmla="*/ 29 w 30"/>
                    <a:gd name="T15" fmla="*/ 10 h 35"/>
                    <a:gd name="T16" fmla="*/ 29 w 30"/>
                    <a:gd name="T17" fmla="*/ 15 h 35"/>
                    <a:gd name="T18" fmla="*/ 29 w 30"/>
                    <a:gd name="T19" fmla="*/ 20 h 35"/>
                    <a:gd name="T20" fmla="*/ 29 w 30"/>
                    <a:gd name="T21" fmla="*/ 25 h 35"/>
                    <a:gd name="T22" fmla="*/ 24 w 30"/>
                    <a:gd name="T23" fmla="*/ 30 h 35"/>
                    <a:gd name="T24" fmla="*/ 20 w 30"/>
                    <a:gd name="T25" fmla="*/ 30 h 35"/>
                    <a:gd name="T26" fmla="*/ 15 w 30"/>
                    <a:gd name="T27" fmla="*/ 35 h 35"/>
                    <a:gd name="T28" fmla="*/ 10 w 30"/>
                    <a:gd name="T29" fmla="*/ 35 h 35"/>
                    <a:gd name="T30" fmla="*/ 5 w 30"/>
                    <a:gd name="T31" fmla="*/ 30 h 35"/>
                    <a:gd name="T32" fmla="*/ 0 w 30"/>
                    <a:gd name="T33" fmla="*/ 25 h 35"/>
                    <a:gd name="T34" fmla="*/ 0 w 30"/>
                    <a:gd name="T35" fmla="*/ 20 h 35"/>
                    <a:gd name="T36" fmla="*/ 0 w 30"/>
                    <a:gd name="T37" fmla="*/ 10 h 35"/>
                    <a:gd name="T38" fmla="*/ 0 w 30"/>
                    <a:gd name="T39" fmla="*/ 5 h 3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0" h="35">
                      <a:moveTo>
                        <a:pt x="0" y="5"/>
                      </a:moveTo>
                      <a:lnTo>
                        <a:pt x="0" y="5"/>
                      </a:lnTo>
                      <a:lnTo>
                        <a:pt x="10" y="0"/>
                      </a:lnTo>
                      <a:lnTo>
                        <a:pt x="15" y="0"/>
                      </a:lnTo>
                      <a:lnTo>
                        <a:pt x="20" y="0"/>
                      </a:lnTo>
                      <a:lnTo>
                        <a:pt x="24" y="0"/>
                      </a:lnTo>
                      <a:lnTo>
                        <a:pt x="29" y="5"/>
                      </a:lnTo>
                      <a:lnTo>
                        <a:pt x="29" y="10"/>
                      </a:lnTo>
                      <a:lnTo>
                        <a:pt x="29" y="15"/>
                      </a:lnTo>
                      <a:lnTo>
                        <a:pt x="29" y="19"/>
                      </a:lnTo>
                      <a:lnTo>
                        <a:pt x="29" y="24"/>
                      </a:lnTo>
                      <a:lnTo>
                        <a:pt x="24" y="29"/>
                      </a:lnTo>
                      <a:lnTo>
                        <a:pt x="20" y="29"/>
                      </a:lnTo>
                      <a:lnTo>
                        <a:pt x="15" y="34"/>
                      </a:lnTo>
                      <a:lnTo>
                        <a:pt x="10" y="34"/>
                      </a:lnTo>
                      <a:lnTo>
                        <a:pt x="5" y="29"/>
                      </a:lnTo>
                      <a:lnTo>
                        <a:pt x="0" y="24"/>
                      </a:lnTo>
                      <a:lnTo>
                        <a:pt x="0" y="19"/>
                      </a:lnTo>
                      <a:lnTo>
                        <a:pt x="0" y="10"/>
                      </a:lnTo>
                      <a:lnTo>
                        <a:pt x="0" y="5"/>
                      </a:lnTo>
                    </a:path>
                  </a:pathLst>
                </a:custGeom>
                <a:blipFill dpi="0" rotWithShape="0">
                  <a:blip r:embed="rId9"/>
                  <a:srcRect/>
                  <a:tile tx="0" ty="0" sx="100000" sy="100000" flip="none" algn="tl"/>
                </a:blipFill>
                <a:ln w="12700" cap="rnd" cmpd="sng">
                  <a:solidFill>
                    <a:srgbClr val="000000"/>
                  </a:solidFill>
                  <a:prstDash val="solid"/>
                  <a:round/>
                  <a:headEnd type="none" w="med" len="med"/>
                  <a:tailEnd type="none" w="med" len="med"/>
                </a:ln>
              </p:spPr>
              <p:txBody>
                <a:bodyPr/>
                <a:lstStyle/>
                <a:p>
                  <a:endParaRPr lang="en-US">
                    <a:latin typeface="Roboto" panose="02000000000000000000" pitchFamily="2" charset="0"/>
                    <a:ea typeface="Roboto" panose="02000000000000000000" pitchFamily="2" charset="0"/>
                  </a:endParaRPr>
                </a:p>
              </p:txBody>
            </p:sp>
            <p:sp>
              <p:nvSpPr>
                <p:cNvPr id="194" name="Oval 249">
                  <a:extLst>
                    <a:ext uri="{FF2B5EF4-FFF2-40B4-BE49-F238E27FC236}">
                      <a16:creationId xmlns:a16="http://schemas.microsoft.com/office/drawing/2014/main" id="{809B1073-865D-78CE-D1BD-5D03DE8BAE48}"/>
                    </a:ext>
                  </a:extLst>
                </p:cNvPr>
                <p:cNvSpPr>
                  <a:spLocks noChangeArrowheads="1"/>
                </p:cNvSpPr>
                <p:nvPr/>
              </p:nvSpPr>
              <p:spPr bwMode="auto">
                <a:xfrm>
                  <a:off x="1236" y="3561"/>
                  <a:ext cx="19" cy="21"/>
                </a:xfrm>
                <a:prstGeom prst="ellipse">
                  <a:avLst/>
                </a:prstGeom>
                <a:blipFill dpi="0" rotWithShape="0">
                  <a:blip r:embed="rId3"/>
                  <a:srcRect/>
                  <a:tile tx="0" ty="0" sx="100000" sy="100000" flip="none" algn="tl"/>
                </a:blip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95" name="Freeform 250">
                  <a:extLst>
                    <a:ext uri="{FF2B5EF4-FFF2-40B4-BE49-F238E27FC236}">
                      <a16:creationId xmlns:a16="http://schemas.microsoft.com/office/drawing/2014/main" id="{0CB11CE7-DB92-C933-9F2E-F6460A7211F8}"/>
                    </a:ext>
                  </a:extLst>
                </p:cNvPr>
                <p:cNvSpPr>
                  <a:spLocks/>
                </p:cNvSpPr>
                <p:nvPr/>
              </p:nvSpPr>
              <p:spPr bwMode="auto">
                <a:xfrm>
                  <a:off x="1232" y="3556"/>
                  <a:ext cx="30" cy="34"/>
                </a:xfrm>
                <a:custGeom>
                  <a:avLst/>
                  <a:gdLst>
                    <a:gd name="T0" fmla="*/ 5 w 30"/>
                    <a:gd name="T1" fmla="*/ 9 h 34"/>
                    <a:gd name="T2" fmla="*/ 5 w 30"/>
                    <a:gd name="T3" fmla="*/ 9 h 34"/>
                    <a:gd name="T4" fmla="*/ 10 w 30"/>
                    <a:gd name="T5" fmla="*/ 5 h 34"/>
                    <a:gd name="T6" fmla="*/ 14 w 30"/>
                    <a:gd name="T7" fmla="*/ 0 h 34"/>
                    <a:gd name="T8" fmla="*/ 19 w 30"/>
                    <a:gd name="T9" fmla="*/ 0 h 34"/>
                    <a:gd name="T10" fmla="*/ 24 w 30"/>
                    <a:gd name="T11" fmla="*/ 5 h 34"/>
                    <a:gd name="T12" fmla="*/ 29 w 30"/>
                    <a:gd name="T13" fmla="*/ 5 h 34"/>
                    <a:gd name="T14" fmla="*/ 29 w 30"/>
                    <a:gd name="T15" fmla="*/ 9 h 34"/>
                    <a:gd name="T16" fmla="*/ 29 w 30"/>
                    <a:gd name="T17" fmla="*/ 14 h 34"/>
                    <a:gd name="T18" fmla="*/ 29 w 30"/>
                    <a:gd name="T19" fmla="*/ 19 h 34"/>
                    <a:gd name="T20" fmla="*/ 29 w 30"/>
                    <a:gd name="T21" fmla="*/ 24 h 34"/>
                    <a:gd name="T22" fmla="*/ 24 w 30"/>
                    <a:gd name="T23" fmla="*/ 29 h 34"/>
                    <a:gd name="T24" fmla="*/ 19 w 30"/>
                    <a:gd name="T25" fmla="*/ 33 h 34"/>
                    <a:gd name="T26" fmla="*/ 14 w 30"/>
                    <a:gd name="T27" fmla="*/ 33 h 34"/>
                    <a:gd name="T28" fmla="*/ 10 w 30"/>
                    <a:gd name="T29" fmla="*/ 33 h 34"/>
                    <a:gd name="T30" fmla="*/ 5 w 30"/>
                    <a:gd name="T31" fmla="*/ 29 h 34"/>
                    <a:gd name="T32" fmla="*/ 0 w 30"/>
                    <a:gd name="T33" fmla="*/ 24 h 34"/>
                    <a:gd name="T34" fmla="*/ 0 w 30"/>
                    <a:gd name="T35" fmla="*/ 19 h 34"/>
                    <a:gd name="T36" fmla="*/ 5 w 30"/>
                    <a:gd name="T37" fmla="*/ 9 h 3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0" h="34">
                      <a:moveTo>
                        <a:pt x="5" y="9"/>
                      </a:moveTo>
                      <a:lnTo>
                        <a:pt x="5" y="9"/>
                      </a:lnTo>
                      <a:lnTo>
                        <a:pt x="10" y="5"/>
                      </a:lnTo>
                      <a:lnTo>
                        <a:pt x="14" y="0"/>
                      </a:lnTo>
                      <a:lnTo>
                        <a:pt x="19" y="0"/>
                      </a:lnTo>
                      <a:lnTo>
                        <a:pt x="24" y="5"/>
                      </a:lnTo>
                      <a:lnTo>
                        <a:pt x="29" y="5"/>
                      </a:lnTo>
                      <a:lnTo>
                        <a:pt x="29" y="9"/>
                      </a:lnTo>
                      <a:lnTo>
                        <a:pt x="29" y="14"/>
                      </a:lnTo>
                      <a:lnTo>
                        <a:pt x="29" y="19"/>
                      </a:lnTo>
                      <a:lnTo>
                        <a:pt x="29" y="24"/>
                      </a:lnTo>
                      <a:lnTo>
                        <a:pt x="24" y="29"/>
                      </a:lnTo>
                      <a:lnTo>
                        <a:pt x="19" y="33"/>
                      </a:lnTo>
                      <a:lnTo>
                        <a:pt x="14" y="33"/>
                      </a:lnTo>
                      <a:lnTo>
                        <a:pt x="10" y="33"/>
                      </a:lnTo>
                      <a:lnTo>
                        <a:pt x="5" y="29"/>
                      </a:lnTo>
                      <a:lnTo>
                        <a:pt x="0" y="24"/>
                      </a:lnTo>
                      <a:lnTo>
                        <a:pt x="0" y="19"/>
                      </a:lnTo>
                      <a:lnTo>
                        <a:pt x="5" y="9"/>
                      </a:lnTo>
                    </a:path>
                  </a:pathLst>
                </a:custGeom>
                <a:blipFill dpi="0" rotWithShape="0">
                  <a:blip r:embed="rId9"/>
                  <a:srcRect/>
                  <a:tile tx="0" ty="0" sx="100000" sy="100000" flip="none" algn="tl"/>
                </a:blipFill>
                <a:ln w="12700" cap="rnd" cmpd="sng">
                  <a:solidFill>
                    <a:srgbClr val="000000"/>
                  </a:solidFill>
                  <a:prstDash val="solid"/>
                  <a:round/>
                  <a:headEnd type="none" w="med" len="med"/>
                  <a:tailEnd type="none" w="med" len="med"/>
                </a:ln>
              </p:spPr>
              <p:txBody>
                <a:bodyPr/>
                <a:lstStyle/>
                <a:p>
                  <a:endParaRPr lang="en-US">
                    <a:latin typeface="Roboto" panose="02000000000000000000" pitchFamily="2" charset="0"/>
                    <a:ea typeface="Roboto" panose="02000000000000000000" pitchFamily="2" charset="0"/>
                  </a:endParaRPr>
                </a:p>
              </p:txBody>
            </p:sp>
          </p:grpSp>
          <p:sp>
            <p:nvSpPr>
              <p:cNvPr id="161" name="Rectangle 251">
                <a:extLst>
                  <a:ext uri="{FF2B5EF4-FFF2-40B4-BE49-F238E27FC236}">
                    <a16:creationId xmlns:a16="http://schemas.microsoft.com/office/drawing/2014/main" id="{A7082F6F-4140-3CD9-4A46-D9DBA1DFF349}"/>
                  </a:ext>
                </a:extLst>
              </p:cNvPr>
              <p:cNvSpPr>
                <a:spLocks noChangeArrowheads="1"/>
              </p:cNvSpPr>
              <p:nvPr/>
            </p:nvSpPr>
            <p:spPr bwMode="auto">
              <a:xfrm>
                <a:off x="1846" y="3106"/>
                <a:ext cx="2" cy="8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62" name="Rectangle 252">
                <a:extLst>
                  <a:ext uri="{FF2B5EF4-FFF2-40B4-BE49-F238E27FC236}">
                    <a16:creationId xmlns:a16="http://schemas.microsoft.com/office/drawing/2014/main" id="{2622BDC8-CC89-C926-01CC-34C5DA8A5590}"/>
                  </a:ext>
                </a:extLst>
              </p:cNvPr>
              <p:cNvSpPr>
                <a:spLocks noChangeArrowheads="1"/>
              </p:cNvSpPr>
              <p:nvPr/>
            </p:nvSpPr>
            <p:spPr bwMode="auto">
              <a:xfrm>
                <a:off x="1846" y="3106"/>
                <a:ext cx="2" cy="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63" name="Rectangle 253">
                <a:extLst>
                  <a:ext uri="{FF2B5EF4-FFF2-40B4-BE49-F238E27FC236}">
                    <a16:creationId xmlns:a16="http://schemas.microsoft.com/office/drawing/2014/main" id="{1D62CFB6-01B1-21FF-6C8E-A41F8053693E}"/>
                  </a:ext>
                </a:extLst>
              </p:cNvPr>
              <p:cNvSpPr>
                <a:spLocks noChangeArrowheads="1"/>
              </p:cNvSpPr>
              <p:nvPr/>
            </p:nvSpPr>
            <p:spPr bwMode="auto">
              <a:xfrm>
                <a:off x="1846" y="3301"/>
                <a:ext cx="7" cy="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64" name="Rectangle 254">
                <a:extLst>
                  <a:ext uri="{FF2B5EF4-FFF2-40B4-BE49-F238E27FC236}">
                    <a16:creationId xmlns:a16="http://schemas.microsoft.com/office/drawing/2014/main" id="{87408DC7-0734-15B5-9A00-842885E7518E}"/>
                  </a:ext>
                </a:extLst>
              </p:cNvPr>
              <p:cNvSpPr>
                <a:spLocks noChangeArrowheads="1"/>
              </p:cNvSpPr>
              <p:nvPr/>
            </p:nvSpPr>
            <p:spPr bwMode="auto">
              <a:xfrm>
                <a:off x="1846" y="3301"/>
                <a:ext cx="7" cy="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65" name="Freeform 255">
                <a:extLst>
                  <a:ext uri="{FF2B5EF4-FFF2-40B4-BE49-F238E27FC236}">
                    <a16:creationId xmlns:a16="http://schemas.microsoft.com/office/drawing/2014/main" id="{CFC9ABD5-D23E-9A12-52DE-D721CDDB7C46}"/>
                  </a:ext>
                </a:extLst>
              </p:cNvPr>
              <p:cNvSpPr>
                <a:spLocks/>
              </p:cNvSpPr>
              <p:nvPr/>
            </p:nvSpPr>
            <p:spPr bwMode="auto">
              <a:xfrm>
                <a:off x="1856" y="3354"/>
                <a:ext cx="22" cy="22"/>
              </a:xfrm>
              <a:custGeom>
                <a:avLst/>
                <a:gdLst>
                  <a:gd name="T0" fmla="*/ 14 w 22"/>
                  <a:gd name="T1" fmla="*/ 0 h 22"/>
                  <a:gd name="T2" fmla="*/ 21 w 22"/>
                  <a:gd name="T3" fmla="*/ 14 h 22"/>
                  <a:gd name="T4" fmla="*/ 7 w 22"/>
                  <a:gd name="T5" fmla="*/ 21 h 22"/>
                  <a:gd name="T6" fmla="*/ 0 w 22"/>
                  <a:gd name="T7" fmla="*/ 7 h 22"/>
                  <a:gd name="T8" fmla="*/ 14 w 22"/>
                  <a:gd name="T9" fmla="*/ 0 h 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2">
                    <a:moveTo>
                      <a:pt x="14" y="0"/>
                    </a:moveTo>
                    <a:lnTo>
                      <a:pt x="21" y="14"/>
                    </a:lnTo>
                    <a:lnTo>
                      <a:pt x="7" y="21"/>
                    </a:lnTo>
                    <a:lnTo>
                      <a:pt x="0" y="7"/>
                    </a:lnTo>
                    <a:lnTo>
                      <a:pt x="14" y="0"/>
                    </a:ln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Roboto" panose="02000000000000000000" pitchFamily="2" charset="0"/>
                  <a:ea typeface="Roboto" panose="02000000000000000000" pitchFamily="2" charset="0"/>
                </a:endParaRPr>
              </a:p>
            </p:txBody>
          </p:sp>
          <p:sp>
            <p:nvSpPr>
              <p:cNvPr id="166" name="Freeform 256">
                <a:extLst>
                  <a:ext uri="{FF2B5EF4-FFF2-40B4-BE49-F238E27FC236}">
                    <a16:creationId xmlns:a16="http://schemas.microsoft.com/office/drawing/2014/main" id="{4BA4C411-530C-E98A-98D5-3AE9E4F26752}"/>
                  </a:ext>
                </a:extLst>
              </p:cNvPr>
              <p:cNvSpPr>
                <a:spLocks/>
              </p:cNvSpPr>
              <p:nvPr/>
            </p:nvSpPr>
            <p:spPr bwMode="auto">
              <a:xfrm>
                <a:off x="1856" y="3354"/>
                <a:ext cx="22" cy="22"/>
              </a:xfrm>
              <a:custGeom>
                <a:avLst/>
                <a:gdLst>
                  <a:gd name="T0" fmla="*/ 14 w 22"/>
                  <a:gd name="T1" fmla="*/ 0 h 22"/>
                  <a:gd name="T2" fmla="*/ 21 w 22"/>
                  <a:gd name="T3" fmla="*/ 14 h 22"/>
                  <a:gd name="T4" fmla="*/ 7 w 22"/>
                  <a:gd name="T5" fmla="*/ 21 h 22"/>
                  <a:gd name="T6" fmla="*/ 0 w 22"/>
                  <a:gd name="T7" fmla="*/ 7 h 22"/>
                  <a:gd name="T8" fmla="*/ 14 w 22"/>
                  <a:gd name="T9" fmla="*/ 0 h 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2">
                    <a:moveTo>
                      <a:pt x="14" y="0"/>
                    </a:moveTo>
                    <a:lnTo>
                      <a:pt x="21" y="14"/>
                    </a:lnTo>
                    <a:lnTo>
                      <a:pt x="7" y="21"/>
                    </a:lnTo>
                    <a:lnTo>
                      <a:pt x="0" y="7"/>
                    </a:lnTo>
                    <a:lnTo>
                      <a:pt x="1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Roboto" panose="02000000000000000000" pitchFamily="2" charset="0"/>
                  <a:ea typeface="Roboto" panose="02000000000000000000" pitchFamily="2" charset="0"/>
                </a:endParaRPr>
              </a:p>
            </p:txBody>
          </p:sp>
          <p:sp>
            <p:nvSpPr>
              <p:cNvPr id="167" name="Freeform 257">
                <a:extLst>
                  <a:ext uri="{FF2B5EF4-FFF2-40B4-BE49-F238E27FC236}">
                    <a16:creationId xmlns:a16="http://schemas.microsoft.com/office/drawing/2014/main" id="{BCBFE8BB-C312-C510-A877-73B80452180C}"/>
                  </a:ext>
                </a:extLst>
              </p:cNvPr>
              <p:cNvSpPr>
                <a:spLocks/>
              </p:cNvSpPr>
              <p:nvPr/>
            </p:nvSpPr>
            <p:spPr bwMode="auto">
              <a:xfrm>
                <a:off x="1832" y="3066"/>
                <a:ext cx="31" cy="32"/>
              </a:xfrm>
              <a:custGeom>
                <a:avLst/>
                <a:gdLst>
                  <a:gd name="T0" fmla="*/ 11 w 31"/>
                  <a:gd name="T1" fmla="*/ 0 h 32"/>
                  <a:gd name="T2" fmla="*/ 30 w 31"/>
                  <a:gd name="T3" fmla="*/ 12 h 32"/>
                  <a:gd name="T4" fmla="*/ 19 w 31"/>
                  <a:gd name="T5" fmla="*/ 31 h 32"/>
                  <a:gd name="T6" fmla="*/ 0 w 31"/>
                  <a:gd name="T7" fmla="*/ 16 h 32"/>
                  <a:gd name="T8" fmla="*/ 11 w 31"/>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 h="32">
                    <a:moveTo>
                      <a:pt x="11" y="0"/>
                    </a:moveTo>
                    <a:lnTo>
                      <a:pt x="30" y="12"/>
                    </a:lnTo>
                    <a:lnTo>
                      <a:pt x="19" y="31"/>
                    </a:lnTo>
                    <a:lnTo>
                      <a:pt x="0" y="16"/>
                    </a:lnTo>
                    <a:lnTo>
                      <a:pt x="11" y="0"/>
                    </a:ln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Roboto" panose="02000000000000000000" pitchFamily="2" charset="0"/>
                  <a:ea typeface="Roboto" panose="02000000000000000000" pitchFamily="2" charset="0"/>
                </a:endParaRPr>
              </a:p>
            </p:txBody>
          </p:sp>
          <p:sp>
            <p:nvSpPr>
              <p:cNvPr id="168" name="Freeform 258">
                <a:extLst>
                  <a:ext uri="{FF2B5EF4-FFF2-40B4-BE49-F238E27FC236}">
                    <a16:creationId xmlns:a16="http://schemas.microsoft.com/office/drawing/2014/main" id="{899D1E7E-DE1E-10D7-9D82-13993B61F02D}"/>
                  </a:ext>
                </a:extLst>
              </p:cNvPr>
              <p:cNvSpPr>
                <a:spLocks/>
              </p:cNvSpPr>
              <p:nvPr/>
            </p:nvSpPr>
            <p:spPr bwMode="auto">
              <a:xfrm>
                <a:off x="1832" y="3066"/>
                <a:ext cx="31" cy="32"/>
              </a:xfrm>
              <a:custGeom>
                <a:avLst/>
                <a:gdLst>
                  <a:gd name="T0" fmla="*/ 11 w 31"/>
                  <a:gd name="T1" fmla="*/ 0 h 32"/>
                  <a:gd name="T2" fmla="*/ 30 w 31"/>
                  <a:gd name="T3" fmla="*/ 12 h 32"/>
                  <a:gd name="T4" fmla="*/ 19 w 31"/>
                  <a:gd name="T5" fmla="*/ 31 h 32"/>
                  <a:gd name="T6" fmla="*/ 0 w 31"/>
                  <a:gd name="T7" fmla="*/ 16 h 32"/>
                  <a:gd name="T8" fmla="*/ 11 w 31"/>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 h="32">
                    <a:moveTo>
                      <a:pt x="11" y="0"/>
                    </a:moveTo>
                    <a:lnTo>
                      <a:pt x="30" y="12"/>
                    </a:lnTo>
                    <a:lnTo>
                      <a:pt x="19" y="31"/>
                    </a:lnTo>
                    <a:lnTo>
                      <a:pt x="0" y="16"/>
                    </a:lnTo>
                    <a:lnTo>
                      <a:pt x="1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Roboto" panose="02000000000000000000" pitchFamily="2" charset="0"/>
                  <a:ea typeface="Roboto" panose="02000000000000000000" pitchFamily="2" charset="0"/>
                </a:endParaRPr>
              </a:p>
            </p:txBody>
          </p:sp>
          <p:sp>
            <p:nvSpPr>
              <p:cNvPr id="169" name="Freeform 259">
                <a:extLst>
                  <a:ext uri="{FF2B5EF4-FFF2-40B4-BE49-F238E27FC236}">
                    <a16:creationId xmlns:a16="http://schemas.microsoft.com/office/drawing/2014/main" id="{B5B3094A-0026-B28E-ECAD-CBF9527F5B7E}"/>
                  </a:ext>
                </a:extLst>
              </p:cNvPr>
              <p:cNvSpPr>
                <a:spLocks/>
              </p:cNvSpPr>
              <p:nvPr/>
            </p:nvSpPr>
            <p:spPr bwMode="auto">
              <a:xfrm>
                <a:off x="1592" y="2620"/>
                <a:ext cx="903" cy="443"/>
              </a:xfrm>
              <a:custGeom>
                <a:avLst/>
                <a:gdLst>
                  <a:gd name="T0" fmla="*/ 269 w 903"/>
                  <a:gd name="T1" fmla="*/ 442 h 443"/>
                  <a:gd name="T2" fmla="*/ 902 w 903"/>
                  <a:gd name="T3" fmla="*/ 139 h 443"/>
                  <a:gd name="T4" fmla="*/ 715 w 903"/>
                  <a:gd name="T5" fmla="*/ 0 h 443"/>
                  <a:gd name="T6" fmla="*/ 0 w 903"/>
                  <a:gd name="T7" fmla="*/ 293 h 443"/>
                  <a:gd name="T8" fmla="*/ 134 w 903"/>
                  <a:gd name="T9" fmla="*/ 374 h 4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03" h="443">
                    <a:moveTo>
                      <a:pt x="269" y="442"/>
                    </a:moveTo>
                    <a:lnTo>
                      <a:pt x="902" y="139"/>
                    </a:lnTo>
                    <a:lnTo>
                      <a:pt x="715" y="0"/>
                    </a:lnTo>
                    <a:lnTo>
                      <a:pt x="0" y="293"/>
                    </a:lnTo>
                    <a:lnTo>
                      <a:pt x="134" y="374"/>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170" name="Freeform 260">
                <a:extLst>
                  <a:ext uri="{FF2B5EF4-FFF2-40B4-BE49-F238E27FC236}">
                    <a16:creationId xmlns:a16="http://schemas.microsoft.com/office/drawing/2014/main" id="{7534A7A6-01D2-57D5-E3B6-E20CAD6B793B}"/>
                  </a:ext>
                </a:extLst>
              </p:cNvPr>
              <p:cNvSpPr>
                <a:spLocks/>
              </p:cNvSpPr>
              <p:nvPr/>
            </p:nvSpPr>
            <p:spPr bwMode="auto">
              <a:xfrm>
                <a:off x="1587" y="2615"/>
                <a:ext cx="904" cy="443"/>
              </a:xfrm>
              <a:custGeom>
                <a:avLst/>
                <a:gdLst>
                  <a:gd name="T0" fmla="*/ 269 w 904"/>
                  <a:gd name="T1" fmla="*/ 442 h 443"/>
                  <a:gd name="T2" fmla="*/ 903 w 904"/>
                  <a:gd name="T3" fmla="*/ 139 h 443"/>
                  <a:gd name="T4" fmla="*/ 715 w 904"/>
                  <a:gd name="T5" fmla="*/ 0 h 443"/>
                  <a:gd name="T6" fmla="*/ 0 w 904"/>
                  <a:gd name="T7" fmla="*/ 293 h 443"/>
                  <a:gd name="T8" fmla="*/ 135 w 904"/>
                  <a:gd name="T9" fmla="*/ 375 h 4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04" h="443">
                    <a:moveTo>
                      <a:pt x="269" y="442"/>
                    </a:moveTo>
                    <a:lnTo>
                      <a:pt x="903" y="139"/>
                    </a:lnTo>
                    <a:lnTo>
                      <a:pt x="715" y="0"/>
                    </a:lnTo>
                    <a:lnTo>
                      <a:pt x="0" y="293"/>
                    </a:lnTo>
                    <a:lnTo>
                      <a:pt x="135" y="375"/>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171" name="Line 261">
                <a:extLst>
                  <a:ext uri="{FF2B5EF4-FFF2-40B4-BE49-F238E27FC236}">
                    <a16:creationId xmlns:a16="http://schemas.microsoft.com/office/drawing/2014/main" id="{224C162C-87E0-0E44-0AE0-7A4CDA7A7384}"/>
                  </a:ext>
                </a:extLst>
              </p:cNvPr>
              <p:cNvSpPr>
                <a:spLocks noChangeShapeType="1"/>
              </p:cNvSpPr>
              <p:nvPr/>
            </p:nvSpPr>
            <p:spPr bwMode="auto">
              <a:xfrm>
                <a:off x="1592" y="2913"/>
                <a:ext cx="0" cy="15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72" name="Freeform 262">
                <a:extLst>
                  <a:ext uri="{FF2B5EF4-FFF2-40B4-BE49-F238E27FC236}">
                    <a16:creationId xmlns:a16="http://schemas.microsoft.com/office/drawing/2014/main" id="{1D759F32-F872-0363-8E30-C48A621920B3}"/>
                  </a:ext>
                </a:extLst>
              </p:cNvPr>
              <p:cNvSpPr>
                <a:spLocks/>
              </p:cNvSpPr>
              <p:nvPr/>
            </p:nvSpPr>
            <p:spPr bwMode="auto">
              <a:xfrm>
                <a:off x="2010" y="2754"/>
                <a:ext cx="154" cy="141"/>
              </a:xfrm>
              <a:custGeom>
                <a:avLst/>
                <a:gdLst>
                  <a:gd name="T0" fmla="*/ 38 w 154"/>
                  <a:gd name="T1" fmla="*/ 0 h 141"/>
                  <a:gd name="T2" fmla="*/ 153 w 154"/>
                  <a:gd name="T3" fmla="*/ 101 h 141"/>
                  <a:gd name="T4" fmla="*/ 120 w 154"/>
                  <a:gd name="T5" fmla="*/ 140 h 141"/>
                  <a:gd name="T6" fmla="*/ 0 w 154"/>
                  <a:gd name="T7" fmla="*/ 39 h 141"/>
                  <a:gd name="T8" fmla="*/ 38 w 154"/>
                  <a:gd name="T9" fmla="*/ 0 h 14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4" h="141">
                    <a:moveTo>
                      <a:pt x="38" y="0"/>
                    </a:moveTo>
                    <a:lnTo>
                      <a:pt x="153" y="101"/>
                    </a:lnTo>
                    <a:lnTo>
                      <a:pt x="120" y="140"/>
                    </a:lnTo>
                    <a:lnTo>
                      <a:pt x="0" y="39"/>
                    </a:lnTo>
                    <a:lnTo>
                      <a:pt x="38" y="0"/>
                    </a:lnTo>
                  </a:path>
                </a:pathLst>
              </a:custGeom>
              <a:blipFill dpi="0" rotWithShape="0">
                <a:blip r:embed="rId6"/>
                <a:srcRect/>
                <a:tile tx="0" ty="0" sx="100000" sy="100000" flip="none" algn="tl"/>
              </a:blipFill>
              <a:ln w="12700" cap="rnd" cmpd="sng">
                <a:solidFill>
                  <a:srgbClr val="000000"/>
                </a:solidFill>
                <a:prstDash val="solid"/>
                <a:round/>
                <a:headEnd type="none" w="med" len="med"/>
                <a:tailEnd type="none" w="med" len="med"/>
              </a:ln>
            </p:spPr>
            <p:txBody>
              <a:bodyPr/>
              <a:lstStyle/>
              <a:p>
                <a:endParaRPr lang="en-US">
                  <a:latin typeface="Roboto" panose="02000000000000000000" pitchFamily="2" charset="0"/>
                  <a:ea typeface="Roboto" panose="02000000000000000000" pitchFamily="2" charset="0"/>
                </a:endParaRPr>
              </a:p>
            </p:txBody>
          </p:sp>
          <p:sp>
            <p:nvSpPr>
              <p:cNvPr id="173" name="Freeform 263">
                <a:extLst>
                  <a:ext uri="{FF2B5EF4-FFF2-40B4-BE49-F238E27FC236}">
                    <a16:creationId xmlns:a16="http://schemas.microsoft.com/office/drawing/2014/main" id="{7A7694CC-D1FF-9ABD-4DBB-4BF85C2E43AA}"/>
                  </a:ext>
                </a:extLst>
              </p:cNvPr>
              <p:cNvSpPr>
                <a:spLocks/>
              </p:cNvSpPr>
              <p:nvPr/>
            </p:nvSpPr>
            <p:spPr bwMode="auto">
              <a:xfrm>
                <a:off x="1933" y="2789"/>
                <a:ext cx="154" cy="140"/>
              </a:xfrm>
              <a:custGeom>
                <a:avLst/>
                <a:gdLst>
                  <a:gd name="T0" fmla="*/ 38 w 154"/>
                  <a:gd name="T1" fmla="*/ 0 h 140"/>
                  <a:gd name="T2" fmla="*/ 153 w 154"/>
                  <a:gd name="T3" fmla="*/ 101 h 140"/>
                  <a:gd name="T4" fmla="*/ 120 w 154"/>
                  <a:gd name="T5" fmla="*/ 139 h 140"/>
                  <a:gd name="T6" fmla="*/ 0 w 154"/>
                  <a:gd name="T7" fmla="*/ 38 h 140"/>
                  <a:gd name="T8" fmla="*/ 38 w 154"/>
                  <a:gd name="T9" fmla="*/ 0 h 1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4" h="140">
                    <a:moveTo>
                      <a:pt x="38" y="0"/>
                    </a:moveTo>
                    <a:lnTo>
                      <a:pt x="153" y="101"/>
                    </a:lnTo>
                    <a:lnTo>
                      <a:pt x="120" y="139"/>
                    </a:lnTo>
                    <a:lnTo>
                      <a:pt x="0" y="38"/>
                    </a:lnTo>
                    <a:lnTo>
                      <a:pt x="38" y="0"/>
                    </a:lnTo>
                  </a:path>
                </a:pathLst>
              </a:custGeom>
              <a:blipFill dpi="0" rotWithShape="0">
                <a:blip r:embed="rId6"/>
                <a:srcRect/>
                <a:tile tx="0" ty="0" sx="100000" sy="100000" flip="none" algn="tl"/>
              </a:blipFill>
              <a:ln w="12700" cap="rnd" cmpd="sng">
                <a:solidFill>
                  <a:srgbClr val="000000"/>
                </a:solidFill>
                <a:prstDash val="solid"/>
                <a:round/>
                <a:headEnd type="none" w="med" len="med"/>
                <a:tailEnd type="none" w="med" len="med"/>
              </a:ln>
            </p:spPr>
            <p:txBody>
              <a:bodyPr/>
              <a:lstStyle/>
              <a:p>
                <a:endParaRPr lang="en-US">
                  <a:latin typeface="Roboto" panose="02000000000000000000" pitchFamily="2" charset="0"/>
                  <a:ea typeface="Roboto" panose="02000000000000000000" pitchFamily="2" charset="0"/>
                </a:endParaRPr>
              </a:p>
            </p:txBody>
          </p:sp>
          <p:sp>
            <p:nvSpPr>
              <p:cNvPr id="174" name="Freeform 264">
                <a:extLst>
                  <a:ext uri="{FF2B5EF4-FFF2-40B4-BE49-F238E27FC236}">
                    <a16:creationId xmlns:a16="http://schemas.microsoft.com/office/drawing/2014/main" id="{CB630DD2-9143-EC4A-78C3-389B415B12A9}"/>
                  </a:ext>
                </a:extLst>
              </p:cNvPr>
              <p:cNvSpPr>
                <a:spLocks/>
              </p:cNvSpPr>
              <p:nvPr/>
            </p:nvSpPr>
            <p:spPr bwMode="auto">
              <a:xfrm>
                <a:off x="1856" y="2822"/>
                <a:ext cx="155" cy="140"/>
              </a:xfrm>
              <a:custGeom>
                <a:avLst/>
                <a:gdLst>
                  <a:gd name="T0" fmla="*/ 38 w 155"/>
                  <a:gd name="T1" fmla="*/ 0 h 140"/>
                  <a:gd name="T2" fmla="*/ 154 w 155"/>
                  <a:gd name="T3" fmla="*/ 100 h 140"/>
                  <a:gd name="T4" fmla="*/ 120 w 155"/>
                  <a:gd name="T5" fmla="*/ 139 h 140"/>
                  <a:gd name="T6" fmla="*/ 0 w 155"/>
                  <a:gd name="T7" fmla="*/ 38 h 140"/>
                  <a:gd name="T8" fmla="*/ 38 w 155"/>
                  <a:gd name="T9" fmla="*/ 0 h 1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5" h="140">
                    <a:moveTo>
                      <a:pt x="38" y="0"/>
                    </a:moveTo>
                    <a:lnTo>
                      <a:pt x="154" y="100"/>
                    </a:lnTo>
                    <a:lnTo>
                      <a:pt x="120" y="139"/>
                    </a:lnTo>
                    <a:lnTo>
                      <a:pt x="0" y="38"/>
                    </a:lnTo>
                    <a:lnTo>
                      <a:pt x="38" y="0"/>
                    </a:lnTo>
                  </a:path>
                </a:pathLst>
              </a:custGeom>
              <a:blipFill dpi="0" rotWithShape="0">
                <a:blip r:embed="rId6"/>
                <a:srcRect/>
                <a:tile tx="0" ty="0" sx="100000" sy="100000" flip="none" algn="tl"/>
              </a:blipFill>
              <a:ln w="12700" cap="rnd" cmpd="sng">
                <a:solidFill>
                  <a:srgbClr val="000000"/>
                </a:solidFill>
                <a:prstDash val="solid"/>
                <a:round/>
                <a:headEnd type="none" w="med" len="med"/>
                <a:tailEnd type="none" w="med" len="med"/>
              </a:ln>
            </p:spPr>
            <p:txBody>
              <a:bodyPr/>
              <a:lstStyle/>
              <a:p>
                <a:endParaRPr lang="en-US">
                  <a:latin typeface="Roboto" panose="02000000000000000000" pitchFamily="2" charset="0"/>
                  <a:ea typeface="Roboto" panose="02000000000000000000" pitchFamily="2" charset="0"/>
                </a:endParaRPr>
              </a:p>
            </p:txBody>
          </p:sp>
          <p:sp>
            <p:nvSpPr>
              <p:cNvPr id="175" name="Freeform 265">
                <a:extLst>
                  <a:ext uri="{FF2B5EF4-FFF2-40B4-BE49-F238E27FC236}">
                    <a16:creationId xmlns:a16="http://schemas.microsoft.com/office/drawing/2014/main" id="{3947F98C-CE63-9303-8D02-1B6B8C11437C}"/>
                  </a:ext>
                </a:extLst>
              </p:cNvPr>
              <p:cNvSpPr>
                <a:spLocks/>
              </p:cNvSpPr>
              <p:nvPr/>
            </p:nvSpPr>
            <p:spPr bwMode="auto">
              <a:xfrm>
                <a:off x="1780" y="2855"/>
                <a:ext cx="154" cy="140"/>
              </a:xfrm>
              <a:custGeom>
                <a:avLst/>
                <a:gdLst>
                  <a:gd name="T0" fmla="*/ 39 w 155"/>
                  <a:gd name="T1" fmla="*/ 0 h 140"/>
                  <a:gd name="T2" fmla="*/ 153 w 155"/>
                  <a:gd name="T3" fmla="*/ 101 h 140"/>
                  <a:gd name="T4" fmla="*/ 119 w 155"/>
                  <a:gd name="T5" fmla="*/ 139 h 140"/>
                  <a:gd name="T6" fmla="*/ 0 w 155"/>
                  <a:gd name="T7" fmla="*/ 39 h 140"/>
                  <a:gd name="T8" fmla="*/ 39 w 155"/>
                  <a:gd name="T9" fmla="*/ 0 h 1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5" h="140">
                    <a:moveTo>
                      <a:pt x="39" y="0"/>
                    </a:moveTo>
                    <a:lnTo>
                      <a:pt x="154" y="101"/>
                    </a:lnTo>
                    <a:lnTo>
                      <a:pt x="120" y="139"/>
                    </a:lnTo>
                    <a:lnTo>
                      <a:pt x="0" y="39"/>
                    </a:lnTo>
                    <a:lnTo>
                      <a:pt x="39" y="0"/>
                    </a:lnTo>
                  </a:path>
                </a:pathLst>
              </a:custGeom>
              <a:blipFill dpi="0" rotWithShape="0">
                <a:blip r:embed="rId6"/>
                <a:srcRect/>
                <a:tile tx="0" ty="0" sx="100000" sy="100000" flip="none" algn="tl"/>
              </a:blipFill>
              <a:ln w="12700" cap="rnd" cmpd="sng">
                <a:solidFill>
                  <a:srgbClr val="000000"/>
                </a:solidFill>
                <a:prstDash val="solid"/>
                <a:round/>
                <a:headEnd type="none" w="med" len="med"/>
                <a:tailEnd type="none" w="med" len="med"/>
              </a:ln>
            </p:spPr>
            <p:txBody>
              <a:bodyPr/>
              <a:lstStyle/>
              <a:p>
                <a:endParaRPr lang="en-US">
                  <a:latin typeface="Roboto" panose="02000000000000000000" pitchFamily="2" charset="0"/>
                  <a:ea typeface="Roboto" panose="02000000000000000000" pitchFamily="2" charset="0"/>
                </a:endParaRPr>
              </a:p>
            </p:txBody>
          </p:sp>
          <p:sp>
            <p:nvSpPr>
              <p:cNvPr id="176" name="Freeform 266">
                <a:extLst>
                  <a:ext uri="{FF2B5EF4-FFF2-40B4-BE49-F238E27FC236}">
                    <a16:creationId xmlns:a16="http://schemas.microsoft.com/office/drawing/2014/main" id="{4144BF20-7F47-3B85-1C84-677DE406329A}"/>
                  </a:ext>
                </a:extLst>
              </p:cNvPr>
              <p:cNvSpPr>
                <a:spLocks/>
              </p:cNvSpPr>
              <p:nvPr/>
            </p:nvSpPr>
            <p:spPr bwMode="auto">
              <a:xfrm>
                <a:off x="1702" y="2889"/>
                <a:ext cx="155" cy="140"/>
              </a:xfrm>
              <a:custGeom>
                <a:avLst/>
                <a:gdLst>
                  <a:gd name="T0" fmla="*/ 39 w 155"/>
                  <a:gd name="T1" fmla="*/ 0 h 140"/>
                  <a:gd name="T2" fmla="*/ 154 w 155"/>
                  <a:gd name="T3" fmla="*/ 101 h 140"/>
                  <a:gd name="T4" fmla="*/ 120 w 155"/>
                  <a:gd name="T5" fmla="*/ 139 h 140"/>
                  <a:gd name="T6" fmla="*/ 0 w 155"/>
                  <a:gd name="T7" fmla="*/ 38 h 140"/>
                  <a:gd name="T8" fmla="*/ 39 w 155"/>
                  <a:gd name="T9" fmla="*/ 0 h 1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5" h="140">
                    <a:moveTo>
                      <a:pt x="39" y="0"/>
                    </a:moveTo>
                    <a:lnTo>
                      <a:pt x="154" y="101"/>
                    </a:lnTo>
                    <a:lnTo>
                      <a:pt x="120" y="139"/>
                    </a:lnTo>
                    <a:lnTo>
                      <a:pt x="0" y="38"/>
                    </a:lnTo>
                    <a:lnTo>
                      <a:pt x="39" y="0"/>
                    </a:lnTo>
                  </a:path>
                </a:pathLst>
              </a:custGeom>
              <a:blipFill dpi="0" rotWithShape="0">
                <a:blip r:embed="rId6"/>
                <a:srcRect/>
                <a:tile tx="0" ty="0" sx="100000" sy="100000" flip="none" algn="tl"/>
              </a:blipFill>
              <a:ln w="12700" cap="rnd" cmpd="sng">
                <a:solidFill>
                  <a:srgbClr val="000000"/>
                </a:solidFill>
                <a:prstDash val="solid"/>
                <a:round/>
                <a:headEnd type="none" w="med" len="med"/>
                <a:tailEnd type="none" w="med" len="med"/>
              </a:ln>
            </p:spPr>
            <p:txBody>
              <a:bodyPr/>
              <a:lstStyle/>
              <a:p>
                <a:endParaRPr lang="en-US">
                  <a:latin typeface="Roboto" panose="02000000000000000000" pitchFamily="2" charset="0"/>
                  <a:ea typeface="Roboto" panose="02000000000000000000" pitchFamily="2" charset="0"/>
                </a:endParaRPr>
              </a:p>
            </p:txBody>
          </p:sp>
          <p:sp>
            <p:nvSpPr>
              <p:cNvPr id="177" name="Line 267">
                <a:extLst>
                  <a:ext uri="{FF2B5EF4-FFF2-40B4-BE49-F238E27FC236}">
                    <a16:creationId xmlns:a16="http://schemas.microsoft.com/office/drawing/2014/main" id="{B21FDF4E-0687-E913-DC3B-AE702D69B7FF}"/>
                  </a:ext>
                </a:extLst>
              </p:cNvPr>
              <p:cNvSpPr>
                <a:spLocks noChangeShapeType="1"/>
              </p:cNvSpPr>
              <p:nvPr/>
            </p:nvSpPr>
            <p:spPr bwMode="auto">
              <a:xfrm flipV="1">
                <a:off x="1995" y="2913"/>
                <a:ext cx="494" cy="2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78" name="Rectangle 268">
                <a:extLst>
                  <a:ext uri="{FF2B5EF4-FFF2-40B4-BE49-F238E27FC236}">
                    <a16:creationId xmlns:a16="http://schemas.microsoft.com/office/drawing/2014/main" id="{45EFCAB0-B9EC-1857-EA44-A47FD0DCBE41}"/>
                  </a:ext>
                </a:extLst>
              </p:cNvPr>
              <p:cNvSpPr>
                <a:spLocks noChangeArrowheads="1"/>
              </p:cNvSpPr>
              <p:nvPr/>
            </p:nvSpPr>
            <p:spPr bwMode="auto">
              <a:xfrm>
                <a:off x="2269" y="2951"/>
                <a:ext cx="6" cy="5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79" name="Rectangle 269">
                <a:extLst>
                  <a:ext uri="{FF2B5EF4-FFF2-40B4-BE49-F238E27FC236}">
                    <a16:creationId xmlns:a16="http://schemas.microsoft.com/office/drawing/2014/main" id="{ED1F2B91-492D-0533-98B0-080EF20B5910}"/>
                  </a:ext>
                </a:extLst>
              </p:cNvPr>
              <p:cNvSpPr>
                <a:spLocks noChangeArrowheads="1"/>
              </p:cNvSpPr>
              <p:nvPr/>
            </p:nvSpPr>
            <p:spPr bwMode="auto">
              <a:xfrm>
                <a:off x="2269" y="2951"/>
                <a:ext cx="6"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80" name="Freeform 270">
                <a:extLst>
                  <a:ext uri="{FF2B5EF4-FFF2-40B4-BE49-F238E27FC236}">
                    <a16:creationId xmlns:a16="http://schemas.microsoft.com/office/drawing/2014/main" id="{ED7D3EAC-7F59-529C-0393-561F6D68369A}"/>
                  </a:ext>
                </a:extLst>
              </p:cNvPr>
              <p:cNvSpPr>
                <a:spLocks/>
              </p:cNvSpPr>
              <p:nvPr/>
            </p:nvSpPr>
            <p:spPr bwMode="auto">
              <a:xfrm>
                <a:off x="2078" y="3230"/>
                <a:ext cx="12" cy="45"/>
              </a:xfrm>
              <a:custGeom>
                <a:avLst/>
                <a:gdLst>
                  <a:gd name="T0" fmla="*/ 8 w 12"/>
                  <a:gd name="T1" fmla="*/ 0 h 45"/>
                  <a:gd name="T2" fmla="*/ 11 w 12"/>
                  <a:gd name="T3" fmla="*/ 44 h 45"/>
                  <a:gd name="T4" fmla="*/ 3 w 12"/>
                  <a:gd name="T5" fmla="*/ 44 h 45"/>
                  <a:gd name="T6" fmla="*/ 0 w 12"/>
                  <a:gd name="T7" fmla="*/ 0 h 45"/>
                  <a:gd name="T8" fmla="*/ 8 w 12"/>
                  <a:gd name="T9" fmla="*/ 0 h 4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45">
                    <a:moveTo>
                      <a:pt x="8" y="0"/>
                    </a:moveTo>
                    <a:lnTo>
                      <a:pt x="11" y="44"/>
                    </a:lnTo>
                    <a:lnTo>
                      <a:pt x="3" y="44"/>
                    </a:lnTo>
                    <a:lnTo>
                      <a:pt x="0" y="0"/>
                    </a:lnTo>
                    <a:lnTo>
                      <a:pt x="8" y="0"/>
                    </a:ln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Roboto" panose="02000000000000000000" pitchFamily="2" charset="0"/>
                  <a:ea typeface="Roboto" panose="02000000000000000000" pitchFamily="2" charset="0"/>
                </a:endParaRPr>
              </a:p>
            </p:txBody>
          </p:sp>
          <p:sp>
            <p:nvSpPr>
              <p:cNvPr id="181" name="Freeform 271">
                <a:extLst>
                  <a:ext uri="{FF2B5EF4-FFF2-40B4-BE49-F238E27FC236}">
                    <a16:creationId xmlns:a16="http://schemas.microsoft.com/office/drawing/2014/main" id="{F657E51C-E4C1-1094-6186-E2B51E79046E}"/>
                  </a:ext>
                </a:extLst>
              </p:cNvPr>
              <p:cNvSpPr>
                <a:spLocks/>
              </p:cNvSpPr>
              <p:nvPr/>
            </p:nvSpPr>
            <p:spPr bwMode="auto">
              <a:xfrm>
                <a:off x="2078" y="3230"/>
                <a:ext cx="12" cy="45"/>
              </a:xfrm>
              <a:custGeom>
                <a:avLst/>
                <a:gdLst>
                  <a:gd name="T0" fmla="*/ 8 w 12"/>
                  <a:gd name="T1" fmla="*/ 0 h 45"/>
                  <a:gd name="T2" fmla="*/ 11 w 12"/>
                  <a:gd name="T3" fmla="*/ 44 h 45"/>
                  <a:gd name="T4" fmla="*/ 3 w 12"/>
                  <a:gd name="T5" fmla="*/ 44 h 45"/>
                  <a:gd name="T6" fmla="*/ 0 w 12"/>
                  <a:gd name="T7" fmla="*/ 0 h 45"/>
                  <a:gd name="T8" fmla="*/ 8 w 12"/>
                  <a:gd name="T9" fmla="*/ 0 h 4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45">
                    <a:moveTo>
                      <a:pt x="8" y="0"/>
                    </a:moveTo>
                    <a:lnTo>
                      <a:pt x="11" y="44"/>
                    </a:lnTo>
                    <a:lnTo>
                      <a:pt x="3" y="44"/>
                    </a:lnTo>
                    <a:lnTo>
                      <a:pt x="0" y="0"/>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Roboto" panose="02000000000000000000" pitchFamily="2" charset="0"/>
                  <a:ea typeface="Roboto" panose="02000000000000000000" pitchFamily="2" charset="0"/>
                </a:endParaRPr>
              </a:p>
            </p:txBody>
          </p:sp>
          <p:sp>
            <p:nvSpPr>
              <p:cNvPr id="182" name="Line 272">
                <a:extLst>
                  <a:ext uri="{FF2B5EF4-FFF2-40B4-BE49-F238E27FC236}">
                    <a16:creationId xmlns:a16="http://schemas.microsoft.com/office/drawing/2014/main" id="{6144A8C2-5532-274D-CEDB-FABA28B8044B}"/>
                  </a:ext>
                </a:extLst>
              </p:cNvPr>
              <p:cNvSpPr>
                <a:spLocks noChangeShapeType="1"/>
              </p:cNvSpPr>
              <p:nvPr/>
            </p:nvSpPr>
            <p:spPr bwMode="auto">
              <a:xfrm>
                <a:off x="2485" y="2754"/>
                <a:ext cx="0" cy="38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83" name="Line 273">
                <a:extLst>
                  <a:ext uri="{FF2B5EF4-FFF2-40B4-BE49-F238E27FC236}">
                    <a16:creationId xmlns:a16="http://schemas.microsoft.com/office/drawing/2014/main" id="{8ABE3D9C-B42A-CB0A-0655-6222593D56E8}"/>
                  </a:ext>
                </a:extLst>
              </p:cNvPr>
              <p:cNvSpPr>
                <a:spLocks noChangeShapeType="1"/>
              </p:cNvSpPr>
              <p:nvPr/>
            </p:nvSpPr>
            <p:spPr bwMode="auto">
              <a:xfrm flipH="1">
                <a:off x="2144" y="3129"/>
                <a:ext cx="347" cy="17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84" name="Freeform 274">
                <a:extLst>
                  <a:ext uri="{FF2B5EF4-FFF2-40B4-BE49-F238E27FC236}">
                    <a16:creationId xmlns:a16="http://schemas.microsoft.com/office/drawing/2014/main" id="{645FA49E-8B8E-47F4-417F-C52F31556927}"/>
                  </a:ext>
                </a:extLst>
              </p:cNvPr>
              <p:cNvSpPr>
                <a:spLocks/>
              </p:cNvSpPr>
              <p:nvPr/>
            </p:nvSpPr>
            <p:spPr bwMode="auto">
              <a:xfrm>
                <a:off x="2240" y="2655"/>
                <a:ext cx="155" cy="139"/>
              </a:xfrm>
              <a:custGeom>
                <a:avLst/>
                <a:gdLst>
                  <a:gd name="T0" fmla="*/ 38 w 155"/>
                  <a:gd name="T1" fmla="*/ 0 h 140"/>
                  <a:gd name="T2" fmla="*/ 154 w 155"/>
                  <a:gd name="T3" fmla="*/ 99 h 140"/>
                  <a:gd name="T4" fmla="*/ 120 w 155"/>
                  <a:gd name="T5" fmla="*/ 138 h 140"/>
                  <a:gd name="T6" fmla="*/ 0 w 155"/>
                  <a:gd name="T7" fmla="*/ 38 h 140"/>
                  <a:gd name="T8" fmla="*/ 38 w 155"/>
                  <a:gd name="T9" fmla="*/ 0 h 1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5" h="140">
                    <a:moveTo>
                      <a:pt x="38" y="0"/>
                    </a:moveTo>
                    <a:lnTo>
                      <a:pt x="154" y="100"/>
                    </a:lnTo>
                    <a:lnTo>
                      <a:pt x="120" y="139"/>
                    </a:lnTo>
                    <a:lnTo>
                      <a:pt x="0" y="38"/>
                    </a:lnTo>
                    <a:lnTo>
                      <a:pt x="38" y="0"/>
                    </a:lnTo>
                  </a:path>
                </a:pathLst>
              </a:custGeom>
              <a:blipFill dpi="0" rotWithShape="0">
                <a:blip r:embed="rId6"/>
                <a:srcRect/>
                <a:tile tx="0" ty="0" sx="100000" sy="100000" flip="none" algn="tl"/>
              </a:blipFill>
              <a:ln w="12700" cap="rnd" cmpd="sng">
                <a:solidFill>
                  <a:srgbClr val="000000"/>
                </a:solidFill>
                <a:prstDash val="solid"/>
                <a:round/>
                <a:headEnd type="none" w="med" len="med"/>
                <a:tailEnd type="none" w="med" len="med"/>
              </a:ln>
            </p:spPr>
            <p:txBody>
              <a:bodyPr/>
              <a:lstStyle/>
              <a:p>
                <a:endParaRPr lang="en-US">
                  <a:latin typeface="Roboto" panose="02000000000000000000" pitchFamily="2" charset="0"/>
                  <a:ea typeface="Roboto" panose="02000000000000000000" pitchFamily="2" charset="0"/>
                </a:endParaRPr>
              </a:p>
            </p:txBody>
          </p:sp>
          <p:sp>
            <p:nvSpPr>
              <p:cNvPr id="185" name="Freeform 275">
                <a:extLst>
                  <a:ext uri="{FF2B5EF4-FFF2-40B4-BE49-F238E27FC236}">
                    <a16:creationId xmlns:a16="http://schemas.microsoft.com/office/drawing/2014/main" id="{0C5CB5FF-8116-0D6A-31E5-10C8CD2BDAC1}"/>
                  </a:ext>
                </a:extLst>
              </p:cNvPr>
              <p:cNvSpPr>
                <a:spLocks/>
              </p:cNvSpPr>
              <p:nvPr/>
            </p:nvSpPr>
            <p:spPr bwMode="auto">
              <a:xfrm>
                <a:off x="2163" y="2686"/>
                <a:ext cx="154" cy="140"/>
              </a:xfrm>
              <a:custGeom>
                <a:avLst/>
                <a:gdLst>
                  <a:gd name="T0" fmla="*/ 39 w 155"/>
                  <a:gd name="T1" fmla="*/ 0 h 140"/>
                  <a:gd name="T2" fmla="*/ 153 w 155"/>
                  <a:gd name="T3" fmla="*/ 101 h 140"/>
                  <a:gd name="T4" fmla="*/ 119 w 155"/>
                  <a:gd name="T5" fmla="*/ 139 h 140"/>
                  <a:gd name="T6" fmla="*/ 0 w 155"/>
                  <a:gd name="T7" fmla="*/ 39 h 140"/>
                  <a:gd name="T8" fmla="*/ 39 w 155"/>
                  <a:gd name="T9" fmla="*/ 0 h 1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5" h="140">
                    <a:moveTo>
                      <a:pt x="39" y="0"/>
                    </a:moveTo>
                    <a:lnTo>
                      <a:pt x="154" y="101"/>
                    </a:lnTo>
                    <a:lnTo>
                      <a:pt x="120" y="139"/>
                    </a:lnTo>
                    <a:lnTo>
                      <a:pt x="0" y="39"/>
                    </a:lnTo>
                    <a:lnTo>
                      <a:pt x="39" y="0"/>
                    </a:lnTo>
                  </a:path>
                </a:pathLst>
              </a:custGeom>
              <a:blipFill dpi="0" rotWithShape="0">
                <a:blip r:embed="rId6"/>
                <a:srcRect/>
                <a:tile tx="0" ty="0" sx="100000" sy="100000" flip="none" algn="tl"/>
              </a:blipFill>
              <a:ln w="12700" cap="rnd" cmpd="sng">
                <a:solidFill>
                  <a:srgbClr val="000000"/>
                </a:solidFill>
                <a:prstDash val="solid"/>
                <a:round/>
                <a:headEnd type="none" w="med" len="med"/>
                <a:tailEnd type="none" w="med" len="med"/>
              </a:ln>
            </p:spPr>
            <p:txBody>
              <a:bodyPr/>
              <a:lstStyle/>
              <a:p>
                <a:endParaRPr lang="en-US">
                  <a:latin typeface="Roboto" panose="02000000000000000000" pitchFamily="2" charset="0"/>
                  <a:ea typeface="Roboto" panose="02000000000000000000" pitchFamily="2" charset="0"/>
                </a:endParaRPr>
              </a:p>
            </p:txBody>
          </p:sp>
          <p:sp>
            <p:nvSpPr>
              <p:cNvPr id="186" name="Freeform 276">
                <a:extLst>
                  <a:ext uri="{FF2B5EF4-FFF2-40B4-BE49-F238E27FC236}">
                    <a16:creationId xmlns:a16="http://schemas.microsoft.com/office/drawing/2014/main" id="{95BB757B-D82A-424F-BC67-2EFB07AF7B39}"/>
                  </a:ext>
                </a:extLst>
              </p:cNvPr>
              <p:cNvSpPr>
                <a:spLocks/>
              </p:cNvSpPr>
              <p:nvPr/>
            </p:nvSpPr>
            <p:spPr bwMode="auto">
              <a:xfrm>
                <a:off x="2086" y="2721"/>
                <a:ext cx="155" cy="140"/>
              </a:xfrm>
              <a:custGeom>
                <a:avLst/>
                <a:gdLst>
                  <a:gd name="T0" fmla="*/ 39 w 155"/>
                  <a:gd name="T1" fmla="*/ 0 h 140"/>
                  <a:gd name="T2" fmla="*/ 154 w 155"/>
                  <a:gd name="T3" fmla="*/ 101 h 140"/>
                  <a:gd name="T4" fmla="*/ 120 w 155"/>
                  <a:gd name="T5" fmla="*/ 139 h 140"/>
                  <a:gd name="T6" fmla="*/ 0 w 155"/>
                  <a:gd name="T7" fmla="*/ 38 h 140"/>
                  <a:gd name="T8" fmla="*/ 39 w 155"/>
                  <a:gd name="T9" fmla="*/ 0 h 1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5" h="140">
                    <a:moveTo>
                      <a:pt x="39" y="0"/>
                    </a:moveTo>
                    <a:lnTo>
                      <a:pt x="154" y="101"/>
                    </a:lnTo>
                    <a:lnTo>
                      <a:pt x="120" y="139"/>
                    </a:lnTo>
                    <a:lnTo>
                      <a:pt x="0" y="38"/>
                    </a:lnTo>
                    <a:lnTo>
                      <a:pt x="39" y="0"/>
                    </a:lnTo>
                  </a:path>
                </a:pathLst>
              </a:custGeom>
              <a:blipFill dpi="0" rotWithShape="0">
                <a:blip r:embed="rId6"/>
                <a:srcRect/>
                <a:tile tx="0" ty="0" sx="100000" sy="100000" flip="none" algn="tl"/>
              </a:blipFill>
              <a:ln w="12700" cap="rnd" cmpd="sng">
                <a:solidFill>
                  <a:srgbClr val="000000"/>
                </a:solidFill>
                <a:prstDash val="solid"/>
                <a:round/>
                <a:headEnd type="none" w="med" len="med"/>
                <a:tailEnd type="none" w="med" len="med"/>
              </a:ln>
            </p:spPr>
            <p:txBody>
              <a:bodyPr/>
              <a:lstStyle/>
              <a:p>
                <a:endParaRPr lang="en-US">
                  <a:latin typeface="Roboto" panose="02000000000000000000" pitchFamily="2" charset="0"/>
                  <a:ea typeface="Roboto" panose="02000000000000000000" pitchFamily="2" charset="0"/>
                </a:endParaRPr>
              </a:p>
            </p:txBody>
          </p:sp>
          <p:sp>
            <p:nvSpPr>
              <p:cNvPr id="187" name="Freeform 277">
                <a:extLst>
                  <a:ext uri="{FF2B5EF4-FFF2-40B4-BE49-F238E27FC236}">
                    <a16:creationId xmlns:a16="http://schemas.microsoft.com/office/drawing/2014/main" id="{B67015E4-493D-CA02-156A-41FB337714C0}"/>
                  </a:ext>
                </a:extLst>
              </p:cNvPr>
              <p:cNvSpPr>
                <a:spLocks/>
              </p:cNvSpPr>
              <p:nvPr/>
            </p:nvSpPr>
            <p:spPr bwMode="auto">
              <a:xfrm>
                <a:off x="1995" y="3681"/>
                <a:ext cx="123" cy="123"/>
              </a:xfrm>
              <a:custGeom>
                <a:avLst/>
                <a:gdLst>
                  <a:gd name="T0" fmla="*/ 68 w 123"/>
                  <a:gd name="T1" fmla="*/ 122 h 122"/>
                  <a:gd name="T2" fmla="*/ 122 w 123"/>
                  <a:gd name="T3" fmla="*/ 53 h 122"/>
                  <a:gd name="T4" fmla="*/ 77 w 123"/>
                  <a:gd name="T5" fmla="*/ 0 h 122"/>
                  <a:gd name="T6" fmla="*/ 0 w 123"/>
                  <a:gd name="T7" fmla="*/ 91 h 122"/>
                  <a:gd name="T8" fmla="*/ 68 w 123"/>
                  <a:gd name="T9" fmla="*/ 122 h 1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3" h="122">
                    <a:moveTo>
                      <a:pt x="68" y="121"/>
                    </a:moveTo>
                    <a:lnTo>
                      <a:pt x="122" y="53"/>
                    </a:lnTo>
                    <a:lnTo>
                      <a:pt x="77" y="0"/>
                    </a:lnTo>
                    <a:lnTo>
                      <a:pt x="0" y="90"/>
                    </a:lnTo>
                    <a:lnTo>
                      <a:pt x="68" y="121"/>
                    </a:ln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Roboto" panose="02000000000000000000" pitchFamily="2" charset="0"/>
                  <a:ea typeface="Roboto" panose="02000000000000000000" pitchFamily="2" charset="0"/>
                </a:endParaRPr>
              </a:p>
            </p:txBody>
          </p:sp>
          <p:sp>
            <p:nvSpPr>
              <p:cNvPr id="188" name="Rectangle 278">
                <a:extLst>
                  <a:ext uri="{FF2B5EF4-FFF2-40B4-BE49-F238E27FC236}">
                    <a16:creationId xmlns:a16="http://schemas.microsoft.com/office/drawing/2014/main" id="{8F5FCEFA-A6E3-4FF6-1814-B3D4BC6F5754}"/>
                  </a:ext>
                </a:extLst>
              </p:cNvPr>
              <p:cNvSpPr>
                <a:spLocks noChangeArrowheads="1"/>
              </p:cNvSpPr>
              <p:nvPr/>
            </p:nvSpPr>
            <p:spPr bwMode="auto">
              <a:xfrm>
                <a:off x="1520" y="3993"/>
                <a:ext cx="12" cy="2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89" name="Rectangle 279">
                <a:extLst>
                  <a:ext uri="{FF2B5EF4-FFF2-40B4-BE49-F238E27FC236}">
                    <a16:creationId xmlns:a16="http://schemas.microsoft.com/office/drawing/2014/main" id="{7A3708FF-346E-0DE8-9FB3-D12420F2FDC5}"/>
                  </a:ext>
                </a:extLst>
              </p:cNvPr>
              <p:cNvSpPr>
                <a:spLocks noChangeArrowheads="1"/>
              </p:cNvSpPr>
              <p:nvPr/>
            </p:nvSpPr>
            <p:spPr bwMode="auto">
              <a:xfrm>
                <a:off x="1520" y="3993"/>
                <a:ext cx="12" cy="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sp useBgFill="1">
          <p:nvSpPr>
            <p:cNvPr id="34" name="Rectangle 280">
              <a:extLst>
                <a:ext uri="{FF2B5EF4-FFF2-40B4-BE49-F238E27FC236}">
                  <a16:creationId xmlns:a16="http://schemas.microsoft.com/office/drawing/2014/main" id="{4B84962B-0B2E-50A9-AD88-B0FA3FD66747}"/>
                </a:ext>
              </a:extLst>
            </p:cNvPr>
            <p:cNvSpPr>
              <a:spLocks noChangeArrowheads="1"/>
            </p:cNvSpPr>
            <p:nvPr/>
          </p:nvSpPr>
          <p:spPr bwMode="auto">
            <a:xfrm>
              <a:off x="1803" y="3712"/>
              <a:ext cx="1638" cy="498"/>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800">
                  <a:latin typeface="Roboto" panose="02000000000000000000" pitchFamily="2" charset="0"/>
                  <a:ea typeface="Roboto" panose="02000000000000000000" pitchFamily="2" charset="0"/>
                </a:rPr>
                <a:t>2. MATERIAL</a:t>
              </a:r>
              <a:endParaRPr lang="en-US" altLang="en-US" sz="1600" b="0">
                <a:latin typeface="Roboto" panose="02000000000000000000" pitchFamily="2" charset="0"/>
                <a:ea typeface="Roboto" panose="02000000000000000000" pitchFamily="2" charset="0"/>
              </a:endParaRPr>
            </a:p>
            <a:p>
              <a:pPr>
                <a:lnSpc>
                  <a:spcPct val="100000"/>
                </a:lnSpc>
                <a:spcBef>
                  <a:spcPct val="0"/>
                </a:spcBef>
                <a:spcAft>
                  <a:spcPct val="0"/>
                </a:spcAft>
                <a:buClrTx/>
                <a:buSzTx/>
                <a:buFontTx/>
                <a:buNone/>
              </a:pPr>
              <a:r>
                <a:rPr lang="en-US" altLang="en-US" sz="1400" b="0" u="sng">
                  <a:latin typeface="Roboto" panose="02000000000000000000" pitchFamily="2" charset="0"/>
                  <a:ea typeface="Roboto" panose="02000000000000000000" pitchFamily="2" charset="0"/>
                </a:rPr>
                <a:t>Control</a:t>
              </a:r>
              <a:r>
                <a:rPr lang="en-US" altLang="en-US" sz="1400" b="0">
                  <a:latin typeface="Roboto" panose="02000000000000000000" pitchFamily="2" charset="0"/>
                  <a:ea typeface="Roboto" panose="02000000000000000000" pitchFamily="2" charset="0"/>
                </a:rPr>
                <a:t>: Source controls</a:t>
              </a:r>
            </a:p>
          </p:txBody>
        </p:sp>
        <p:grpSp>
          <p:nvGrpSpPr>
            <p:cNvPr id="35" name="Group 281">
              <a:extLst>
                <a:ext uri="{FF2B5EF4-FFF2-40B4-BE49-F238E27FC236}">
                  <a16:creationId xmlns:a16="http://schemas.microsoft.com/office/drawing/2014/main" id="{AAE60D1E-6D07-4B02-3534-7024A0E826A6}"/>
                </a:ext>
              </a:extLst>
            </p:cNvPr>
            <p:cNvGrpSpPr>
              <a:grpSpLocks/>
            </p:cNvGrpSpPr>
            <p:nvPr/>
          </p:nvGrpSpPr>
          <p:grpSpPr bwMode="auto">
            <a:xfrm>
              <a:off x="2427" y="1319"/>
              <a:ext cx="1110" cy="2444"/>
              <a:chOff x="2427" y="1319"/>
              <a:chExt cx="1110" cy="2444"/>
            </a:xfrm>
          </p:grpSpPr>
          <p:sp>
            <p:nvSpPr>
              <p:cNvPr id="39" name="Freeform 282">
                <a:extLst>
                  <a:ext uri="{FF2B5EF4-FFF2-40B4-BE49-F238E27FC236}">
                    <a16:creationId xmlns:a16="http://schemas.microsoft.com/office/drawing/2014/main" id="{7716C4A8-E914-5477-AF39-498F1E915D32}"/>
                  </a:ext>
                </a:extLst>
              </p:cNvPr>
              <p:cNvSpPr>
                <a:spLocks/>
              </p:cNvSpPr>
              <p:nvPr/>
            </p:nvSpPr>
            <p:spPr bwMode="auto">
              <a:xfrm>
                <a:off x="2874" y="2007"/>
                <a:ext cx="101" cy="476"/>
              </a:xfrm>
              <a:custGeom>
                <a:avLst/>
                <a:gdLst>
                  <a:gd name="T0" fmla="*/ 100 w 101"/>
                  <a:gd name="T1" fmla="*/ 0 h 476"/>
                  <a:gd name="T2" fmla="*/ 100 w 101"/>
                  <a:gd name="T3" fmla="*/ 475 h 476"/>
                  <a:gd name="T4" fmla="*/ 0 w 101"/>
                  <a:gd name="T5" fmla="*/ 475 h 476"/>
                  <a:gd name="T6" fmla="*/ 0 w 101"/>
                  <a:gd name="T7" fmla="*/ 148 h 476"/>
                  <a:gd name="T8" fmla="*/ 100 w 101"/>
                  <a:gd name="T9" fmla="*/ 0 h 4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1" h="476">
                    <a:moveTo>
                      <a:pt x="100" y="0"/>
                    </a:moveTo>
                    <a:lnTo>
                      <a:pt x="100" y="475"/>
                    </a:lnTo>
                    <a:lnTo>
                      <a:pt x="0" y="475"/>
                    </a:lnTo>
                    <a:lnTo>
                      <a:pt x="0" y="148"/>
                    </a:lnTo>
                    <a:lnTo>
                      <a:pt x="100" y="0"/>
                    </a:lnTo>
                  </a:path>
                </a:pathLst>
              </a:custGeom>
              <a:blipFill dpi="0" rotWithShape="0">
                <a:blip r:embed="rId10"/>
                <a:srcRect/>
                <a:tile tx="0" ty="0" sx="100000" sy="100000" flip="none" algn="tl"/>
              </a:blipFill>
              <a:ln w="12700" cap="rnd" cmpd="sng">
                <a:solidFill>
                  <a:srgbClr val="000000"/>
                </a:solidFill>
                <a:prstDash val="solid"/>
                <a:round/>
                <a:headEnd type="none" w="med" len="med"/>
                <a:tailEnd type="none" w="med" len="med"/>
              </a:ln>
            </p:spPr>
            <p:txBody>
              <a:bodyPr/>
              <a:lstStyle/>
              <a:p>
                <a:endParaRPr lang="en-US">
                  <a:latin typeface="Roboto" panose="02000000000000000000" pitchFamily="2" charset="0"/>
                  <a:ea typeface="Roboto" panose="02000000000000000000" pitchFamily="2" charset="0"/>
                </a:endParaRPr>
              </a:p>
            </p:txBody>
          </p:sp>
          <p:sp>
            <p:nvSpPr>
              <p:cNvPr id="40" name="Freeform 283">
                <a:extLst>
                  <a:ext uri="{FF2B5EF4-FFF2-40B4-BE49-F238E27FC236}">
                    <a16:creationId xmlns:a16="http://schemas.microsoft.com/office/drawing/2014/main" id="{97DD1182-F1CD-5F1C-01B2-F527B65E01B2}"/>
                  </a:ext>
                </a:extLst>
              </p:cNvPr>
              <p:cNvSpPr>
                <a:spLocks/>
              </p:cNvSpPr>
              <p:nvPr/>
            </p:nvSpPr>
            <p:spPr bwMode="auto">
              <a:xfrm>
                <a:off x="2874" y="2007"/>
                <a:ext cx="101" cy="476"/>
              </a:xfrm>
              <a:custGeom>
                <a:avLst/>
                <a:gdLst>
                  <a:gd name="T0" fmla="*/ 100 w 101"/>
                  <a:gd name="T1" fmla="*/ 0 h 476"/>
                  <a:gd name="T2" fmla="*/ 100 w 101"/>
                  <a:gd name="T3" fmla="*/ 475 h 476"/>
                  <a:gd name="T4" fmla="*/ 0 w 101"/>
                  <a:gd name="T5" fmla="*/ 475 h 476"/>
                  <a:gd name="T6" fmla="*/ 0 w 101"/>
                  <a:gd name="T7" fmla="*/ 148 h 47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1" h="476">
                    <a:moveTo>
                      <a:pt x="100" y="0"/>
                    </a:moveTo>
                    <a:lnTo>
                      <a:pt x="100" y="475"/>
                    </a:lnTo>
                    <a:lnTo>
                      <a:pt x="0" y="475"/>
                    </a:lnTo>
                    <a:lnTo>
                      <a:pt x="0" y="148"/>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grpSp>
            <p:nvGrpSpPr>
              <p:cNvPr id="41" name="Group 284">
                <a:extLst>
                  <a:ext uri="{FF2B5EF4-FFF2-40B4-BE49-F238E27FC236}">
                    <a16:creationId xmlns:a16="http://schemas.microsoft.com/office/drawing/2014/main" id="{FCC85792-8B73-A8E5-4412-62CFB2F49895}"/>
                  </a:ext>
                </a:extLst>
              </p:cNvPr>
              <p:cNvGrpSpPr>
                <a:grpSpLocks/>
              </p:cNvGrpSpPr>
              <p:nvPr/>
            </p:nvGrpSpPr>
            <p:grpSpPr bwMode="auto">
              <a:xfrm>
                <a:off x="2427" y="1319"/>
                <a:ext cx="1110" cy="2444"/>
                <a:chOff x="2427" y="1319"/>
                <a:chExt cx="1110" cy="2444"/>
              </a:xfrm>
            </p:grpSpPr>
            <p:sp>
              <p:nvSpPr>
                <p:cNvPr id="54" name="Rectangle 285">
                  <a:extLst>
                    <a:ext uri="{FF2B5EF4-FFF2-40B4-BE49-F238E27FC236}">
                      <a16:creationId xmlns:a16="http://schemas.microsoft.com/office/drawing/2014/main" id="{AE82CF93-A9E0-7796-1773-692A26124CC3}"/>
                    </a:ext>
                  </a:extLst>
                </p:cNvPr>
                <p:cNvSpPr>
                  <a:spLocks noChangeArrowheads="1"/>
                </p:cNvSpPr>
                <p:nvPr/>
              </p:nvSpPr>
              <p:spPr bwMode="auto">
                <a:xfrm>
                  <a:off x="2528" y="2554"/>
                  <a:ext cx="41" cy="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55" name="Rectangle 286">
                  <a:extLst>
                    <a:ext uri="{FF2B5EF4-FFF2-40B4-BE49-F238E27FC236}">
                      <a16:creationId xmlns:a16="http://schemas.microsoft.com/office/drawing/2014/main" id="{525EE3FC-1101-94CB-06C7-A15248C0B3B0}"/>
                    </a:ext>
                  </a:extLst>
                </p:cNvPr>
                <p:cNvSpPr>
                  <a:spLocks noChangeArrowheads="1"/>
                </p:cNvSpPr>
                <p:nvPr/>
              </p:nvSpPr>
              <p:spPr bwMode="auto">
                <a:xfrm>
                  <a:off x="2528" y="2554"/>
                  <a:ext cx="41" cy="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56" name="Rectangle 287">
                  <a:extLst>
                    <a:ext uri="{FF2B5EF4-FFF2-40B4-BE49-F238E27FC236}">
                      <a16:creationId xmlns:a16="http://schemas.microsoft.com/office/drawing/2014/main" id="{90335AC0-FD54-8D5F-BAFB-63EBA7E69C1B}"/>
                    </a:ext>
                  </a:extLst>
                </p:cNvPr>
                <p:cNvSpPr>
                  <a:spLocks noChangeArrowheads="1"/>
                </p:cNvSpPr>
                <p:nvPr/>
              </p:nvSpPr>
              <p:spPr bwMode="auto">
                <a:xfrm>
                  <a:off x="2455" y="2126"/>
                  <a:ext cx="422" cy="420"/>
                </a:xfrm>
                <a:prstGeom prst="rect">
                  <a:avLst/>
                </a:prstGeom>
                <a:blipFill dpi="0" rotWithShape="0">
                  <a:blip r:embed="rId11"/>
                  <a:srcRect/>
                  <a:tile tx="0" ty="0" sx="100000" sy="100000" flip="none" algn="tl"/>
                </a:blip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57" name="Freeform 288">
                  <a:extLst>
                    <a:ext uri="{FF2B5EF4-FFF2-40B4-BE49-F238E27FC236}">
                      <a16:creationId xmlns:a16="http://schemas.microsoft.com/office/drawing/2014/main" id="{550B2EFC-064C-18CA-ECD5-8D8724F3F5DA}"/>
                    </a:ext>
                  </a:extLst>
                </p:cNvPr>
                <p:cNvSpPr>
                  <a:spLocks/>
                </p:cNvSpPr>
                <p:nvPr/>
              </p:nvSpPr>
              <p:spPr bwMode="auto">
                <a:xfrm>
                  <a:off x="2451" y="1967"/>
                  <a:ext cx="529" cy="155"/>
                </a:xfrm>
                <a:custGeom>
                  <a:avLst/>
                  <a:gdLst>
                    <a:gd name="T0" fmla="*/ 0 w 529"/>
                    <a:gd name="T1" fmla="*/ 154 h 155"/>
                    <a:gd name="T2" fmla="*/ 154 w 529"/>
                    <a:gd name="T3" fmla="*/ 0 h 155"/>
                    <a:gd name="T4" fmla="*/ 528 w 529"/>
                    <a:gd name="T5" fmla="*/ 0 h 155"/>
                    <a:gd name="T6" fmla="*/ 432 w 529"/>
                    <a:gd name="T7" fmla="*/ 154 h 155"/>
                    <a:gd name="T8" fmla="*/ 5 w 529"/>
                    <a:gd name="T9" fmla="*/ 154 h 155"/>
                    <a:gd name="T10" fmla="*/ 0 w 529"/>
                    <a:gd name="T11" fmla="*/ 154 h 15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9" h="155">
                      <a:moveTo>
                        <a:pt x="0" y="154"/>
                      </a:moveTo>
                      <a:lnTo>
                        <a:pt x="154" y="0"/>
                      </a:lnTo>
                      <a:lnTo>
                        <a:pt x="528" y="0"/>
                      </a:lnTo>
                      <a:lnTo>
                        <a:pt x="432" y="154"/>
                      </a:lnTo>
                      <a:lnTo>
                        <a:pt x="5" y="154"/>
                      </a:lnTo>
                      <a:lnTo>
                        <a:pt x="0" y="154"/>
                      </a:lnTo>
                    </a:path>
                  </a:pathLst>
                </a:custGeom>
                <a:blipFill dpi="0" rotWithShape="0">
                  <a:blip r:embed="rId10"/>
                  <a:srcRect/>
                  <a:tile tx="0" ty="0" sx="100000" sy="100000" flip="none" algn="tl"/>
                </a:blipFill>
                <a:ln w="12700" cap="rnd" cmpd="sng">
                  <a:solidFill>
                    <a:srgbClr val="000000"/>
                  </a:solidFill>
                  <a:prstDash val="solid"/>
                  <a:round/>
                  <a:headEnd type="none" w="med" len="med"/>
                  <a:tailEnd type="none" w="med" len="med"/>
                </a:ln>
              </p:spPr>
              <p:txBody>
                <a:bodyPr/>
                <a:lstStyle/>
                <a:p>
                  <a:endParaRPr lang="en-US">
                    <a:latin typeface="Roboto" panose="02000000000000000000" pitchFamily="2" charset="0"/>
                    <a:ea typeface="Roboto" panose="02000000000000000000" pitchFamily="2" charset="0"/>
                  </a:endParaRPr>
                </a:p>
              </p:txBody>
            </p:sp>
            <p:sp>
              <p:nvSpPr>
                <p:cNvPr id="58" name="Freeform 289">
                  <a:extLst>
                    <a:ext uri="{FF2B5EF4-FFF2-40B4-BE49-F238E27FC236}">
                      <a16:creationId xmlns:a16="http://schemas.microsoft.com/office/drawing/2014/main" id="{98E03487-131D-61FD-220D-1BF49EB98303}"/>
                    </a:ext>
                  </a:extLst>
                </p:cNvPr>
                <p:cNvSpPr>
                  <a:spLocks/>
                </p:cNvSpPr>
                <p:nvPr/>
              </p:nvSpPr>
              <p:spPr bwMode="auto">
                <a:xfrm>
                  <a:off x="2451" y="1967"/>
                  <a:ext cx="529" cy="155"/>
                </a:xfrm>
                <a:custGeom>
                  <a:avLst/>
                  <a:gdLst>
                    <a:gd name="T0" fmla="*/ 0 w 529"/>
                    <a:gd name="T1" fmla="*/ 154 h 155"/>
                    <a:gd name="T2" fmla="*/ 154 w 529"/>
                    <a:gd name="T3" fmla="*/ 0 h 155"/>
                    <a:gd name="T4" fmla="*/ 528 w 529"/>
                    <a:gd name="T5" fmla="*/ 0 h 155"/>
                    <a:gd name="T6" fmla="*/ 432 w 529"/>
                    <a:gd name="T7" fmla="*/ 154 h 155"/>
                    <a:gd name="T8" fmla="*/ 5 w 529"/>
                    <a:gd name="T9" fmla="*/ 154 h 1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9" h="155">
                      <a:moveTo>
                        <a:pt x="0" y="154"/>
                      </a:moveTo>
                      <a:lnTo>
                        <a:pt x="154" y="0"/>
                      </a:lnTo>
                      <a:lnTo>
                        <a:pt x="528" y="0"/>
                      </a:lnTo>
                      <a:lnTo>
                        <a:pt x="432" y="154"/>
                      </a:lnTo>
                      <a:lnTo>
                        <a:pt x="5" y="154"/>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59" name="Freeform 290">
                  <a:extLst>
                    <a:ext uri="{FF2B5EF4-FFF2-40B4-BE49-F238E27FC236}">
                      <a16:creationId xmlns:a16="http://schemas.microsoft.com/office/drawing/2014/main" id="{DA052919-34F3-A872-4F6A-9558097BA2D2}"/>
                    </a:ext>
                  </a:extLst>
                </p:cNvPr>
                <p:cNvSpPr>
                  <a:spLocks/>
                </p:cNvSpPr>
                <p:nvPr/>
              </p:nvSpPr>
              <p:spPr bwMode="auto">
                <a:xfrm>
                  <a:off x="2427" y="2342"/>
                  <a:ext cx="237" cy="226"/>
                </a:xfrm>
                <a:custGeom>
                  <a:avLst/>
                  <a:gdLst>
                    <a:gd name="T0" fmla="*/ 236 w 236"/>
                    <a:gd name="T1" fmla="*/ 67 h 226"/>
                    <a:gd name="T2" fmla="*/ 198 w 236"/>
                    <a:gd name="T3" fmla="*/ 67 h 226"/>
                    <a:gd name="T4" fmla="*/ 179 w 236"/>
                    <a:gd name="T5" fmla="*/ 38 h 226"/>
                    <a:gd name="T6" fmla="*/ 164 w 236"/>
                    <a:gd name="T7" fmla="*/ 19 h 226"/>
                    <a:gd name="T8" fmla="*/ 136 w 236"/>
                    <a:gd name="T9" fmla="*/ 0 h 226"/>
                    <a:gd name="T10" fmla="*/ 121 w 236"/>
                    <a:gd name="T11" fmla="*/ 0 h 226"/>
                    <a:gd name="T12" fmla="*/ 111 w 236"/>
                    <a:gd name="T13" fmla="*/ 14 h 226"/>
                    <a:gd name="T14" fmla="*/ 131 w 236"/>
                    <a:gd name="T15" fmla="*/ 28 h 226"/>
                    <a:gd name="T16" fmla="*/ 145 w 236"/>
                    <a:gd name="T17" fmla="*/ 57 h 226"/>
                    <a:gd name="T18" fmla="*/ 126 w 236"/>
                    <a:gd name="T19" fmla="*/ 100 h 226"/>
                    <a:gd name="T20" fmla="*/ 29 w 236"/>
                    <a:gd name="T21" fmla="*/ 115 h 226"/>
                    <a:gd name="T22" fmla="*/ 19 w 236"/>
                    <a:gd name="T23" fmla="*/ 134 h 226"/>
                    <a:gd name="T24" fmla="*/ 115 w 236"/>
                    <a:gd name="T25" fmla="*/ 139 h 226"/>
                    <a:gd name="T26" fmla="*/ 15 w 236"/>
                    <a:gd name="T27" fmla="*/ 144 h 226"/>
                    <a:gd name="T28" fmla="*/ 0 w 236"/>
                    <a:gd name="T29" fmla="*/ 158 h 226"/>
                    <a:gd name="T30" fmla="*/ 10 w 236"/>
                    <a:gd name="T31" fmla="*/ 168 h 226"/>
                    <a:gd name="T32" fmla="*/ 115 w 236"/>
                    <a:gd name="T33" fmla="*/ 177 h 226"/>
                    <a:gd name="T34" fmla="*/ 10 w 236"/>
                    <a:gd name="T35" fmla="*/ 182 h 226"/>
                    <a:gd name="T36" fmla="*/ 0 w 236"/>
                    <a:gd name="T37" fmla="*/ 192 h 226"/>
                    <a:gd name="T38" fmla="*/ 10 w 236"/>
                    <a:gd name="T39" fmla="*/ 211 h 226"/>
                    <a:gd name="T40" fmla="*/ 111 w 236"/>
                    <a:gd name="T41" fmla="*/ 211 h 226"/>
                    <a:gd name="T42" fmla="*/ 145 w 236"/>
                    <a:gd name="T43" fmla="*/ 225 h 226"/>
                    <a:gd name="T44" fmla="*/ 217 w 236"/>
                    <a:gd name="T45" fmla="*/ 196 h 226"/>
                    <a:gd name="T46" fmla="*/ 236 w 236"/>
                    <a:gd name="T47" fmla="*/ 172 h 226"/>
                    <a:gd name="T48" fmla="*/ 236 w 236"/>
                    <a:gd name="T49" fmla="*/ 67 h 22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36" h="226">
                      <a:moveTo>
                        <a:pt x="235" y="67"/>
                      </a:moveTo>
                      <a:lnTo>
                        <a:pt x="197" y="67"/>
                      </a:lnTo>
                      <a:lnTo>
                        <a:pt x="178" y="38"/>
                      </a:lnTo>
                      <a:lnTo>
                        <a:pt x="163" y="19"/>
                      </a:lnTo>
                      <a:lnTo>
                        <a:pt x="135" y="0"/>
                      </a:lnTo>
                      <a:lnTo>
                        <a:pt x="120" y="0"/>
                      </a:lnTo>
                      <a:lnTo>
                        <a:pt x="111" y="14"/>
                      </a:lnTo>
                      <a:lnTo>
                        <a:pt x="130" y="28"/>
                      </a:lnTo>
                      <a:lnTo>
                        <a:pt x="144" y="57"/>
                      </a:lnTo>
                      <a:lnTo>
                        <a:pt x="125" y="100"/>
                      </a:lnTo>
                      <a:lnTo>
                        <a:pt x="29" y="115"/>
                      </a:lnTo>
                      <a:lnTo>
                        <a:pt x="19" y="134"/>
                      </a:lnTo>
                      <a:lnTo>
                        <a:pt x="115" y="139"/>
                      </a:lnTo>
                      <a:lnTo>
                        <a:pt x="15" y="144"/>
                      </a:lnTo>
                      <a:lnTo>
                        <a:pt x="0" y="158"/>
                      </a:lnTo>
                      <a:lnTo>
                        <a:pt x="10" y="168"/>
                      </a:lnTo>
                      <a:lnTo>
                        <a:pt x="115" y="177"/>
                      </a:lnTo>
                      <a:lnTo>
                        <a:pt x="10" y="182"/>
                      </a:lnTo>
                      <a:lnTo>
                        <a:pt x="0" y="192"/>
                      </a:lnTo>
                      <a:lnTo>
                        <a:pt x="10" y="211"/>
                      </a:lnTo>
                      <a:lnTo>
                        <a:pt x="111" y="211"/>
                      </a:lnTo>
                      <a:lnTo>
                        <a:pt x="144" y="225"/>
                      </a:lnTo>
                      <a:lnTo>
                        <a:pt x="216" y="196"/>
                      </a:lnTo>
                      <a:lnTo>
                        <a:pt x="235" y="172"/>
                      </a:lnTo>
                      <a:lnTo>
                        <a:pt x="235" y="67"/>
                      </a:lnTo>
                    </a:path>
                  </a:pathLst>
                </a:custGeom>
                <a:solidFill>
                  <a:srgbClr val="FFFFFF"/>
                </a:solidFill>
                <a:ln w="12700" cap="rnd" cmpd="sng">
                  <a:solidFill>
                    <a:srgbClr val="000000"/>
                  </a:solidFill>
                  <a:prstDash val="solid"/>
                  <a:round/>
                  <a:headEnd type="none" w="med" len="med"/>
                  <a:tailEnd type="none" w="med" len="med"/>
                </a:ln>
              </p:spPr>
              <p:txBody>
                <a:bodyPr/>
                <a:lstStyle/>
                <a:p>
                  <a:endParaRPr lang="en-US">
                    <a:latin typeface="Roboto" panose="02000000000000000000" pitchFamily="2" charset="0"/>
                    <a:ea typeface="Roboto" panose="02000000000000000000" pitchFamily="2" charset="0"/>
                  </a:endParaRPr>
                </a:p>
              </p:txBody>
            </p:sp>
            <p:sp>
              <p:nvSpPr>
                <p:cNvPr id="60" name="Freeform 291">
                  <a:extLst>
                    <a:ext uri="{FF2B5EF4-FFF2-40B4-BE49-F238E27FC236}">
                      <a16:creationId xmlns:a16="http://schemas.microsoft.com/office/drawing/2014/main" id="{237B88C2-B944-9041-C166-70952E30AD96}"/>
                    </a:ext>
                  </a:extLst>
                </p:cNvPr>
                <p:cNvSpPr>
                  <a:spLocks/>
                </p:cNvSpPr>
                <p:nvPr/>
              </p:nvSpPr>
              <p:spPr bwMode="auto">
                <a:xfrm>
                  <a:off x="2427" y="2342"/>
                  <a:ext cx="237" cy="226"/>
                </a:xfrm>
                <a:custGeom>
                  <a:avLst/>
                  <a:gdLst>
                    <a:gd name="T0" fmla="*/ 236 w 236"/>
                    <a:gd name="T1" fmla="*/ 67 h 226"/>
                    <a:gd name="T2" fmla="*/ 198 w 236"/>
                    <a:gd name="T3" fmla="*/ 67 h 226"/>
                    <a:gd name="T4" fmla="*/ 179 w 236"/>
                    <a:gd name="T5" fmla="*/ 38 h 226"/>
                    <a:gd name="T6" fmla="*/ 164 w 236"/>
                    <a:gd name="T7" fmla="*/ 19 h 226"/>
                    <a:gd name="T8" fmla="*/ 136 w 236"/>
                    <a:gd name="T9" fmla="*/ 0 h 226"/>
                    <a:gd name="T10" fmla="*/ 121 w 236"/>
                    <a:gd name="T11" fmla="*/ 0 h 226"/>
                    <a:gd name="T12" fmla="*/ 111 w 236"/>
                    <a:gd name="T13" fmla="*/ 14 h 226"/>
                    <a:gd name="T14" fmla="*/ 131 w 236"/>
                    <a:gd name="T15" fmla="*/ 28 h 226"/>
                    <a:gd name="T16" fmla="*/ 145 w 236"/>
                    <a:gd name="T17" fmla="*/ 57 h 226"/>
                    <a:gd name="T18" fmla="*/ 126 w 236"/>
                    <a:gd name="T19" fmla="*/ 100 h 226"/>
                    <a:gd name="T20" fmla="*/ 29 w 236"/>
                    <a:gd name="T21" fmla="*/ 115 h 226"/>
                    <a:gd name="T22" fmla="*/ 19 w 236"/>
                    <a:gd name="T23" fmla="*/ 134 h 226"/>
                    <a:gd name="T24" fmla="*/ 115 w 236"/>
                    <a:gd name="T25" fmla="*/ 139 h 226"/>
                    <a:gd name="T26" fmla="*/ 15 w 236"/>
                    <a:gd name="T27" fmla="*/ 144 h 226"/>
                    <a:gd name="T28" fmla="*/ 0 w 236"/>
                    <a:gd name="T29" fmla="*/ 158 h 226"/>
                    <a:gd name="T30" fmla="*/ 10 w 236"/>
                    <a:gd name="T31" fmla="*/ 168 h 226"/>
                    <a:gd name="T32" fmla="*/ 115 w 236"/>
                    <a:gd name="T33" fmla="*/ 177 h 226"/>
                    <a:gd name="T34" fmla="*/ 10 w 236"/>
                    <a:gd name="T35" fmla="*/ 182 h 226"/>
                    <a:gd name="T36" fmla="*/ 0 w 236"/>
                    <a:gd name="T37" fmla="*/ 192 h 226"/>
                    <a:gd name="T38" fmla="*/ 10 w 236"/>
                    <a:gd name="T39" fmla="*/ 211 h 226"/>
                    <a:gd name="T40" fmla="*/ 111 w 236"/>
                    <a:gd name="T41" fmla="*/ 211 h 226"/>
                    <a:gd name="T42" fmla="*/ 145 w 236"/>
                    <a:gd name="T43" fmla="*/ 225 h 226"/>
                    <a:gd name="T44" fmla="*/ 217 w 236"/>
                    <a:gd name="T45" fmla="*/ 196 h 226"/>
                    <a:gd name="T46" fmla="*/ 236 w 236"/>
                    <a:gd name="T47" fmla="*/ 172 h 22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36" h="226">
                      <a:moveTo>
                        <a:pt x="235" y="67"/>
                      </a:moveTo>
                      <a:lnTo>
                        <a:pt x="197" y="67"/>
                      </a:lnTo>
                      <a:lnTo>
                        <a:pt x="178" y="38"/>
                      </a:lnTo>
                      <a:lnTo>
                        <a:pt x="163" y="19"/>
                      </a:lnTo>
                      <a:lnTo>
                        <a:pt x="135" y="0"/>
                      </a:lnTo>
                      <a:lnTo>
                        <a:pt x="120" y="0"/>
                      </a:lnTo>
                      <a:lnTo>
                        <a:pt x="111" y="14"/>
                      </a:lnTo>
                      <a:lnTo>
                        <a:pt x="130" y="28"/>
                      </a:lnTo>
                      <a:lnTo>
                        <a:pt x="144" y="57"/>
                      </a:lnTo>
                      <a:lnTo>
                        <a:pt x="125" y="100"/>
                      </a:lnTo>
                      <a:lnTo>
                        <a:pt x="29" y="115"/>
                      </a:lnTo>
                      <a:lnTo>
                        <a:pt x="19" y="134"/>
                      </a:lnTo>
                      <a:lnTo>
                        <a:pt x="115" y="139"/>
                      </a:lnTo>
                      <a:lnTo>
                        <a:pt x="15" y="144"/>
                      </a:lnTo>
                      <a:lnTo>
                        <a:pt x="0" y="158"/>
                      </a:lnTo>
                      <a:lnTo>
                        <a:pt x="10" y="168"/>
                      </a:lnTo>
                      <a:lnTo>
                        <a:pt x="115" y="177"/>
                      </a:lnTo>
                      <a:lnTo>
                        <a:pt x="10" y="182"/>
                      </a:lnTo>
                      <a:lnTo>
                        <a:pt x="0" y="192"/>
                      </a:lnTo>
                      <a:lnTo>
                        <a:pt x="10" y="211"/>
                      </a:lnTo>
                      <a:lnTo>
                        <a:pt x="111" y="211"/>
                      </a:lnTo>
                      <a:lnTo>
                        <a:pt x="144" y="225"/>
                      </a:lnTo>
                      <a:lnTo>
                        <a:pt x="216" y="196"/>
                      </a:lnTo>
                      <a:lnTo>
                        <a:pt x="235" y="172"/>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61" name="Rectangle 292">
                  <a:extLst>
                    <a:ext uri="{FF2B5EF4-FFF2-40B4-BE49-F238E27FC236}">
                      <a16:creationId xmlns:a16="http://schemas.microsoft.com/office/drawing/2014/main" id="{644E7683-7108-2BAB-D527-02591D70FC3E}"/>
                    </a:ext>
                  </a:extLst>
                </p:cNvPr>
                <p:cNvSpPr>
                  <a:spLocks noChangeArrowheads="1"/>
                </p:cNvSpPr>
                <p:nvPr/>
              </p:nvSpPr>
              <p:spPr bwMode="auto">
                <a:xfrm>
                  <a:off x="3186" y="1650"/>
                  <a:ext cx="16" cy="8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2" name="Rectangle 293">
                  <a:extLst>
                    <a:ext uri="{FF2B5EF4-FFF2-40B4-BE49-F238E27FC236}">
                      <a16:creationId xmlns:a16="http://schemas.microsoft.com/office/drawing/2014/main" id="{B7C78532-155A-CB70-174C-952D711C2485}"/>
                    </a:ext>
                  </a:extLst>
                </p:cNvPr>
                <p:cNvSpPr>
                  <a:spLocks noChangeArrowheads="1"/>
                </p:cNvSpPr>
                <p:nvPr/>
              </p:nvSpPr>
              <p:spPr bwMode="auto">
                <a:xfrm>
                  <a:off x="3186" y="1650"/>
                  <a:ext cx="16" cy="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3" name="Rectangle 294">
                  <a:extLst>
                    <a:ext uri="{FF2B5EF4-FFF2-40B4-BE49-F238E27FC236}">
                      <a16:creationId xmlns:a16="http://schemas.microsoft.com/office/drawing/2014/main" id="{F27A7057-B20F-2524-3AB2-F723F7EAD122}"/>
                    </a:ext>
                  </a:extLst>
                </p:cNvPr>
                <p:cNvSpPr>
                  <a:spLocks noChangeArrowheads="1"/>
                </p:cNvSpPr>
                <p:nvPr/>
              </p:nvSpPr>
              <p:spPr bwMode="auto">
                <a:xfrm>
                  <a:off x="3191" y="1954"/>
                  <a:ext cx="30" cy="2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4" name="Rectangle 295">
                  <a:extLst>
                    <a:ext uri="{FF2B5EF4-FFF2-40B4-BE49-F238E27FC236}">
                      <a16:creationId xmlns:a16="http://schemas.microsoft.com/office/drawing/2014/main" id="{9ED5A726-6449-48CD-8B44-878CFC8581DD}"/>
                    </a:ext>
                  </a:extLst>
                </p:cNvPr>
                <p:cNvSpPr>
                  <a:spLocks noChangeArrowheads="1"/>
                </p:cNvSpPr>
                <p:nvPr/>
              </p:nvSpPr>
              <p:spPr bwMode="auto">
                <a:xfrm>
                  <a:off x="3191" y="1954"/>
                  <a:ext cx="3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5" name="Rectangle 296">
                  <a:extLst>
                    <a:ext uri="{FF2B5EF4-FFF2-40B4-BE49-F238E27FC236}">
                      <a16:creationId xmlns:a16="http://schemas.microsoft.com/office/drawing/2014/main" id="{CFDF9A13-9BDB-A92A-8D67-BE96E7F5A073}"/>
                    </a:ext>
                  </a:extLst>
                </p:cNvPr>
                <p:cNvSpPr>
                  <a:spLocks noChangeArrowheads="1"/>
                </p:cNvSpPr>
                <p:nvPr/>
              </p:nvSpPr>
              <p:spPr bwMode="auto">
                <a:xfrm>
                  <a:off x="3191" y="1833"/>
                  <a:ext cx="12" cy="4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6" name="Rectangle 297">
                  <a:extLst>
                    <a:ext uri="{FF2B5EF4-FFF2-40B4-BE49-F238E27FC236}">
                      <a16:creationId xmlns:a16="http://schemas.microsoft.com/office/drawing/2014/main" id="{BB819BEC-768A-8252-DA02-72BB724745E3}"/>
                    </a:ext>
                  </a:extLst>
                </p:cNvPr>
                <p:cNvSpPr>
                  <a:spLocks noChangeArrowheads="1"/>
                </p:cNvSpPr>
                <p:nvPr/>
              </p:nvSpPr>
              <p:spPr bwMode="auto">
                <a:xfrm>
                  <a:off x="3191" y="1833"/>
                  <a:ext cx="12" cy="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7" name="Freeform 298">
                  <a:extLst>
                    <a:ext uri="{FF2B5EF4-FFF2-40B4-BE49-F238E27FC236}">
                      <a16:creationId xmlns:a16="http://schemas.microsoft.com/office/drawing/2014/main" id="{1A4CB608-E957-B5CF-F7D4-4DE36732E339}"/>
                    </a:ext>
                  </a:extLst>
                </p:cNvPr>
                <p:cNvSpPr>
                  <a:spLocks/>
                </p:cNvSpPr>
                <p:nvPr/>
              </p:nvSpPr>
              <p:spPr bwMode="auto">
                <a:xfrm>
                  <a:off x="3056" y="3628"/>
                  <a:ext cx="467" cy="135"/>
                </a:xfrm>
                <a:custGeom>
                  <a:avLst/>
                  <a:gdLst>
                    <a:gd name="T0" fmla="*/ 235 w 467"/>
                    <a:gd name="T1" fmla="*/ 0 h 135"/>
                    <a:gd name="T2" fmla="*/ 72 w 467"/>
                    <a:gd name="T3" fmla="*/ 24 h 135"/>
                    <a:gd name="T4" fmla="*/ 0 w 467"/>
                    <a:gd name="T5" fmla="*/ 62 h 135"/>
                    <a:gd name="T6" fmla="*/ 5 w 467"/>
                    <a:gd name="T7" fmla="*/ 86 h 135"/>
                    <a:gd name="T8" fmla="*/ 24 w 467"/>
                    <a:gd name="T9" fmla="*/ 115 h 135"/>
                    <a:gd name="T10" fmla="*/ 365 w 467"/>
                    <a:gd name="T11" fmla="*/ 105 h 135"/>
                    <a:gd name="T12" fmla="*/ 374 w 467"/>
                    <a:gd name="T13" fmla="*/ 134 h 135"/>
                    <a:gd name="T14" fmla="*/ 466 w 467"/>
                    <a:gd name="T15" fmla="*/ 134 h 135"/>
                    <a:gd name="T16" fmla="*/ 456 w 467"/>
                    <a:gd name="T17" fmla="*/ 19 h 135"/>
                    <a:gd name="T18" fmla="*/ 235 w 467"/>
                    <a:gd name="T19" fmla="*/ 0 h 13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67" h="135">
                      <a:moveTo>
                        <a:pt x="235" y="0"/>
                      </a:moveTo>
                      <a:lnTo>
                        <a:pt x="72" y="24"/>
                      </a:lnTo>
                      <a:lnTo>
                        <a:pt x="0" y="62"/>
                      </a:lnTo>
                      <a:lnTo>
                        <a:pt x="5" y="86"/>
                      </a:lnTo>
                      <a:lnTo>
                        <a:pt x="24" y="115"/>
                      </a:lnTo>
                      <a:lnTo>
                        <a:pt x="365" y="105"/>
                      </a:lnTo>
                      <a:lnTo>
                        <a:pt x="374" y="134"/>
                      </a:lnTo>
                      <a:lnTo>
                        <a:pt x="466" y="134"/>
                      </a:lnTo>
                      <a:lnTo>
                        <a:pt x="456" y="19"/>
                      </a:lnTo>
                      <a:lnTo>
                        <a:pt x="235" y="0"/>
                      </a:lnTo>
                    </a:path>
                  </a:pathLst>
                </a:custGeom>
                <a:blipFill dpi="0" rotWithShape="0">
                  <a:blip r:embed="rId6"/>
                  <a:srcRect/>
                  <a:tile tx="0" ty="0" sx="100000" sy="100000" flip="none" algn="tl"/>
                </a:blipFill>
                <a:ln w="12700" cap="rnd" cmpd="sng">
                  <a:solidFill>
                    <a:srgbClr val="000000"/>
                  </a:solidFill>
                  <a:prstDash val="solid"/>
                  <a:round/>
                  <a:headEnd type="none" w="med" len="med"/>
                  <a:tailEnd type="none" w="med" len="med"/>
                </a:ln>
              </p:spPr>
              <p:txBody>
                <a:bodyPr/>
                <a:lstStyle/>
                <a:p>
                  <a:endParaRPr lang="en-US">
                    <a:latin typeface="Roboto" panose="02000000000000000000" pitchFamily="2" charset="0"/>
                    <a:ea typeface="Roboto" panose="02000000000000000000" pitchFamily="2" charset="0"/>
                  </a:endParaRPr>
                </a:p>
              </p:txBody>
            </p:sp>
            <p:sp>
              <p:nvSpPr>
                <p:cNvPr id="68" name="Freeform 299">
                  <a:extLst>
                    <a:ext uri="{FF2B5EF4-FFF2-40B4-BE49-F238E27FC236}">
                      <a16:creationId xmlns:a16="http://schemas.microsoft.com/office/drawing/2014/main" id="{8AAB36F2-6463-F60E-5B0E-A263857726A3}"/>
                    </a:ext>
                  </a:extLst>
                </p:cNvPr>
                <p:cNvSpPr>
                  <a:spLocks/>
                </p:cNvSpPr>
                <p:nvPr/>
              </p:nvSpPr>
              <p:spPr bwMode="auto">
                <a:xfrm>
                  <a:off x="3056" y="3628"/>
                  <a:ext cx="467" cy="135"/>
                </a:xfrm>
                <a:custGeom>
                  <a:avLst/>
                  <a:gdLst>
                    <a:gd name="T0" fmla="*/ 235 w 467"/>
                    <a:gd name="T1" fmla="*/ 0 h 135"/>
                    <a:gd name="T2" fmla="*/ 72 w 467"/>
                    <a:gd name="T3" fmla="*/ 24 h 135"/>
                    <a:gd name="T4" fmla="*/ 0 w 467"/>
                    <a:gd name="T5" fmla="*/ 62 h 135"/>
                    <a:gd name="T6" fmla="*/ 5 w 467"/>
                    <a:gd name="T7" fmla="*/ 86 h 135"/>
                    <a:gd name="T8" fmla="*/ 24 w 467"/>
                    <a:gd name="T9" fmla="*/ 115 h 135"/>
                    <a:gd name="T10" fmla="*/ 365 w 467"/>
                    <a:gd name="T11" fmla="*/ 105 h 135"/>
                    <a:gd name="T12" fmla="*/ 374 w 467"/>
                    <a:gd name="T13" fmla="*/ 134 h 135"/>
                    <a:gd name="T14" fmla="*/ 466 w 467"/>
                    <a:gd name="T15" fmla="*/ 134 h 135"/>
                    <a:gd name="T16" fmla="*/ 456 w 467"/>
                    <a:gd name="T17" fmla="*/ 19 h 1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67" h="135">
                      <a:moveTo>
                        <a:pt x="235" y="0"/>
                      </a:moveTo>
                      <a:lnTo>
                        <a:pt x="72" y="24"/>
                      </a:lnTo>
                      <a:lnTo>
                        <a:pt x="0" y="62"/>
                      </a:lnTo>
                      <a:lnTo>
                        <a:pt x="5" y="86"/>
                      </a:lnTo>
                      <a:lnTo>
                        <a:pt x="24" y="115"/>
                      </a:lnTo>
                      <a:lnTo>
                        <a:pt x="365" y="105"/>
                      </a:lnTo>
                      <a:lnTo>
                        <a:pt x="374" y="134"/>
                      </a:lnTo>
                      <a:lnTo>
                        <a:pt x="466" y="134"/>
                      </a:lnTo>
                      <a:lnTo>
                        <a:pt x="456" y="19"/>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69" name="Freeform 300">
                  <a:extLst>
                    <a:ext uri="{FF2B5EF4-FFF2-40B4-BE49-F238E27FC236}">
                      <a16:creationId xmlns:a16="http://schemas.microsoft.com/office/drawing/2014/main" id="{9AFAEDF3-BC1C-14BB-846E-011D1F2D48A9}"/>
                    </a:ext>
                  </a:extLst>
                </p:cNvPr>
                <p:cNvSpPr>
                  <a:spLocks/>
                </p:cNvSpPr>
                <p:nvPr/>
              </p:nvSpPr>
              <p:spPr bwMode="auto">
                <a:xfrm>
                  <a:off x="2797" y="3638"/>
                  <a:ext cx="487" cy="117"/>
                </a:xfrm>
                <a:custGeom>
                  <a:avLst/>
                  <a:gdLst>
                    <a:gd name="T0" fmla="*/ 246 w 486"/>
                    <a:gd name="T1" fmla="*/ 0 h 117"/>
                    <a:gd name="T2" fmla="*/ 77 w 486"/>
                    <a:gd name="T3" fmla="*/ 20 h 117"/>
                    <a:gd name="T4" fmla="*/ 0 w 486"/>
                    <a:gd name="T5" fmla="*/ 53 h 117"/>
                    <a:gd name="T6" fmla="*/ 5 w 486"/>
                    <a:gd name="T7" fmla="*/ 72 h 117"/>
                    <a:gd name="T8" fmla="*/ 24 w 486"/>
                    <a:gd name="T9" fmla="*/ 96 h 117"/>
                    <a:gd name="T10" fmla="*/ 380 w 486"/>
                    <a:gd name="T11" fmla="*/ 92 h 117"/>
                    <a:gd name="T12" fmla="*/ 390 w 486"/>
                    <a:gd name="T13" fmla="*/ 116 h 117"/>
                    <a:gd name="T14" fmla="*/ 486 w 486"/>
                    <a:gd name="T15" fmla="*/ 116 h 117"/>
                    <a:gd name="T16" fmla="*/ 476 w 486"/>
                    <a:gd name="T17" fmla="*/ 15 h 117"/>
                    <a:gd name="T18" fmla="*/ 246 w 486"/>
                    <a:gd name="T19" fmla="*/ 0 h 11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86" h="117">
                      <a:moveTo>
                        <a:pt x="245" y="0"/>
                      </a:moveTo>
                      <a:lnTo>
                        <a:pt x="77" y="20"/>
                      </a:lnTo>
                      <a:lnTo>
                        <a:pt x="0" y="53"/>
                      </a:lnTo>
                      <a:lnTo>
                        <a:pt x="5" y="72"/>
                      </a:lnTo>
                      <a:lnTo>
                        <a:pt x="24" y="96"/>
                      </a:lnTo>
                      <a:lnTo>
                        <a:pt x="379" y="92"/>
                      </a:lnTo>
                      <a:lnTo>
                        <a:pt x="389" y="116"/>
                      </a:lnTo>
                      <a:lnTo>
                        <a:pt x="485" y="116"/>
                      </a:lnTo>
                      <a:lnTo>
                        <a:pt x="475" y="15"/>
                      </a:lnTo>
                      <a:lnTo>
                        <a:pt x="245" y="0"/>
                      </a:lnTo>
                    </a:path>
                  </a:pathLst>
                </a:custGeom>
                <a:blipFill dpi="0" rotWithShape="0">
                  <a:blip r:embed="rId6"/>
                  <a:srcRect/>
                  <a:tile tx="0" ty="0" sx="100000" sy="100000" flip="none" algn="tl"/>
                </a:blipFill>
                <a:ln w="12700" cap="rnd" cmpd="sng">
                  <a:solidFill>
                    <a:srgbClr val="000000"/>
                  </a:solidFill>
                  <a:prstDash val="solid"/>
                  <a:round/>
                  <a:headEnd type="none" w="med" len="med"/>
                  <a:tailEnd type="none" w="med" len="med"/>
                </a:ln>
              </p:spPr>
              <p:txBody>
                <a:bodyPr/>
                <a:lstStyle/>
                <a:p>
                  <a:endParaRPr lang="en-US">
                    <a:latin typeface="Roboto" panose="02000000000000000000" pitchFamily="2" charset="0"/>
                    <a:ea typeface="Roboto" panose="02000000000000000000" pitchFamily="2" charset="0"/>
                  </a:endParaRPr>
                </a:p>
              </p:txBody>
            </p:sp>
            <p:sp>
              <p:nvSpPr>
                <p:cNvPr id="70" name="Freeform 301">
                  <a:extLst>
                    <a:ext uri="{FF2B5EF4-FFF2-40B4-BE49-F238E27FC236}">
                      <a16:creationId xmlns:a16="http://schemas.microsoft.com/office/drawing/2014/main" id="{8972CD85-B80A-C560-822C-6AC24B5B2F75}"/>
                    </a:ext>
                  </a:extLst>
                </p:cNvPr>
                <p:cNvSpPr>
                  <a:spLocks/>
                </p:cNvSpPr>
                <p:nvPr/>
              </p:nvSpPr>
              <p:spPr bwMode="auto">
                <a:xfrm>
                  <a:off x="2797" y="3638"/>
                  <a:ext cx="487" cy="117"/>
                </a:xfrm>
                <a:custGeom>
                  <a:avLst/>
                  <a:gdLst>
                    <a:gd name="T0" fmla="*/ 246 w 486"/>
                    <a:gd name="T1" fmla="*/ 0 h 117"/>
                    <a:gd name="T2" fmla="*/ 77 w 486"/>
                    <a:gd name="T3" fmla="*/ 20 h 117"/>
                    <a:gd name="T4" fmla="*/ 0 w 486"/>
                    <a:gd name="T5" fmla="*/ 53 h 117"/>
                    <a:gd name="T6" fmla="*/ 5 w 486"/>
                    <a:gd name="T7" fmla="*/ 72 h 117"/>
                    <a:gd name="T8" fmla="*/ 24 w 486"/>
                    <a:gd name="T9" fmla="*/ 96 h 117"/>
                    <a:gd name="T10" fmla="*/ 380 w 486"/>
                    <a:gd name="T11" fmla="*/ 92 h 117"/>
                    <a:gd name="T12" fmla="*/ 390 w 486"/>
                    <a:gd name="T13" fmla="*/ 116 h 117"/>
                    <a:gd name="T14" fmla="*/ 486 w 486"/>
                    <a:gd name="T15" fmla="*/ 116 h 117"/>
                    <a:gd name="T16" fmla="*/ 476 w 486"/>
                    <a:gd name="T17" fmla="*/ 15 h 1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86" h="117">
                      <a:moveTo>
                        <a:pt x="245" y="0"/>
                      </a:moveTo>
                      <a:lnTo>
                        <a:pt x="77" y="20"/>
                      </a:lnTo>
                      <a:lnTo>
                        <a:pt x="0" y="53"/>
                      </a:lnTo>
                      <a:lnTo>
                        <a:pt x="5" y="72"/>
                      </a:lnTo>
                      <a:lnTo>
                        <a:pt x="24" y="96"/>
                      </a:lnTo>
                      <a:lnTo>
                        <a:pt x="379" y="92"/>
                      </a:lnTo>
                      <a:lnTo>
                        <a:pt x="389" y="116"/>
                      </a:lnTo>
                      <a:lnTo>
                        <a:pt x="485" y="116"/>
                      </a:lnTo>
                      <a:lnTo>
                        <a:pt x="475" y="15"/>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71" name="Oval 302">
                  <a:extLst>
                    <a:ext uri="{FF2B5EF4-FFF2-40B4-BE49-F238E27FC236}">
                      <a16:creationId xmlns:a16="http://schemas.microsoft.com/office/drawing/2014/main" id="{3A188F1E-9990-7D5C-3DD1-0E664FD30674}"/>
                    </a:ext>
                  </a:extLst>
                </p:cNvPr>
                <p:cNvSpPr>
                  <a:spLocks noChangeArrowheads="1"/>
                </p:cNvSpPr>
                <p:nvPr/>
              </p:nvSpPr>
              <p:spPr bwMode="auto">
                <a:xfrm>
                  <a:off x="3017" y="1526"/>
                  <a:ext cx="71" cy="80"/>
                </a:xfrm>
                <a:prstGeom prst="ellipse">
                  <a:avLst/>
                </a:prstGeom>
                <a:solidFill>
                  <a:srgbClr val="FFFFFF"/>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72" name="Oval 303">
                  <a:extLst>
                    <a:ext uri="{FF2B5EF4-FFF2-40B4-BE49-F238E27FC236}">
                      <a16:creationId xmlns:a16="http://schemas.microsoft.com/office/drawing/2014/main" id="{63774EE2-7A3D-4558-DCEE-37E572221A25}"/>
                    </a:ext>
                  </a:extLst>
                </p:cNvPr>
                <p:cNvSpPr>
                  <a:spLocks noChangeArrowheads="1"/>
                </p:cNvSpPr>
                <p:nvPr/>
              </p:nvSpPr>
              <p:spPr bwMode="auto">
                <a:xfrm>
                  <a:off x="3041" y="1549"/>
                  <a:ext cx="3" cy="37"/>
                </a:xfrm>
                <a:prstGeom prst="ellipse">
                  <a:avLst/>
                </a:prstGeom>
                <a:solidFill>
                  <a:srgbClr val="000000"/>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73" name="Freeform 304">
                  <a:extLst>
                    <a:ext uri="{FF2B5EF4-FFF2-40B4-BE49-F238E27FC236}">
                      <a16:creationId xmlns:a16="http://schemas.microsoft.com/office/drawing/2014/main" id="{8303866C-CE67-258C-CC95-B43199D15FEF}"/>
                    </a:ext>
                  </a:extLst>
                </p:cNvPr>
                <p:cNvSpPr>
                  <a:spLocks/>
                </p:cNvSpPr>
                <p:nvPr/>
              </p:nvSpPr>
              <p:spPr bwMode="auto">
                <a:xfrm>
                  <a:off x="2955" y="1503"/>
                  <a:ext cx="305" cy="333"/>
                </a:xfrm>
                <a:custGeom>
                  <a:avLst/>
                  <a:gdLst>
                    <a:gd name="T0" fmla="*/ 122 w 305"/>
                    <a:gd name="T1" fmla="*/ 0 h 333"/>
                    <a:gd name="T2" fmla="*/ 122 w 305"/>
                    <a:gd name="T3" fmla="*/ 9 h 333"/>
                    <a:gd name="T4" fmla="*/ 112 w 305"/>
                    <a:gd name="T5" fmla="*/ 28 h 333"/>
                    <a:gd name="T6" fmla="*/ 108 w 305"/>
                    <a:gd name="T7" fmla="*/ 42 h 333"/>
                    <a:gd name="T8" fmla="*/ 103 w 305"/>
                    <a:gd name="T9" fmla="*/ 51 h 333"/>
                    <a:gd name="T10" fmla="*/ 94 w 305"/>
                    <a:gd name="T11" fmla="*/ 65 h 333"/>
                    <a:gd name="T12" fmla="*/ 85 w 305"/>
                    <a:gd name="T13" fmla="*/ 79 h 333"/>
                    <a:gd name="T14" fmla="*/ 80 w 305"/>
                    <a:gd name="T15" fmla="*/ 84 h 333"/>
                    <a:gd name="T16" fmla="*/ 65 w 305"/>
                    <a:gd name="T17" fmla="*/ 94 h 333"/>
                    <a:gd name="T18" fmla="*/ 61 w 305"/>
                    <a:gd name="T19" fmla="*/ 94 h 333"/>
                    <a:gd name="T20" fmla="*/ 52 w 305"/>
                    <a:gd name="T21" fmla="*/ 98 h 333"/>
                    <a:gd name="T22" fmla="*/ 38 w 305"/>
                    <a:gd name="T23" fmla="*/ 107 h 333"/>
                    <a:gd name="T24" fmla="*/ 23 w 305"/>
                    <a:gd name="T25" fmla="*/ 121 h 333"/>
                    <a:gd name="T26" fmla="*/ 10 w 305"/>
                    <a:gd name="T27" fmla="*/ 136 h 333"/>
                    <a:gd name="T28" fmla="*/ 5 w 305"/>
                    <a:gd name="T29" fmla="*/ 145 h 333"/>
                    <a:gd name="T30" fmla="*/ 0 w 305"/>
                    <a:gd name="T31" fmla="*/ 159 h 333"/>
                    <a:gd name="T32" fmla="*/ 0 w 305"/>
                    <a:gd name="T33" fmla="*/ 168 h 333"/>
                    <a:gd name="T34" fmla="*/ 0 w 305"/>
                    <a:gd name="T35" fmla="*/ 173 h 333"/>
                    <a:gd name="T36" fmla="*/ 5 w 305"/>
                    <a:gd name="T37" fmla="*/ 178 h 333"/>
                    <a:gd name="T38" fmla="*/ 10 w 305"/>
                    <a:gd name="T39" fmla="*/ 183 h 333"/>
                    <a:gd name="T40" fmla="*/ 19 w 305"/>
                    <a:gd name="T41" fmla="*/ 187 h 333"/>
                    <a:gd name="T42" fmla="*/ 28 w 305"/>
                    <a:gd name="T43" fmla="*/ 191 h 333"/>
                    <a:gd name="T44" fmla="*/ 38 w 305"/>
                    <a:gd name="T45" fmla="*/ 191 h 333"/>
                    <a:gd name="T46" fmla="*/ 57 w 305"/>
                    <a:gd name="T47" fmla="*/ 191 h 333"/>
                    <a:gd name="T48" fmla="*/ 80 w 305"/>
                    <a:gd name="T49" fmla="*/ 191 h 333"/>
                    <a:gd name="T50" fmla="*/ 89 w 305"/>
                    <a:gd name="T51" fmla="*/ 191 h 333"/>
                    <a:gd name="T52" fmla="*/ 94 w 305"/>
                    <a:gd name="T53" fmla="*/ 191 h 333"/>
                    <a:gd name="T54" fmla="*/ 103 w 305"/>
                    <a:gd name="T55" fmla="*/ 191 h 333"/>
                    <a:gd name="T56" fmla="*/ 117 w 305"/>
                    <a:gd name="T57" fmla="*/ 196 h 333"/>
                    <a:gd name="T58" fmla="*/ 127 w 305"/>
                    <a:gd name="T59" fmla="*/ 201 h 333"/>
                    <a:gd name="T60" fmla="*/ 132 w 305"/>
                    <a:gd name="T61" fmla="*/ 206 h 333"/>
                    <a:gd name="T62" fmla="*/ 135 w 305"/>
                    <a:gd name="T63" fmla="*/ 211 h 333"/>
                    <a:gd name="T64" fmla="*/ 135 w 305"/>
                    <a:gd name="T65" fmla="*/ 215 h 333"/>
                    <a:gd name="T66" fmla="*/ 140 w 305"/>
                    <a:gd name="T67" fmla="*/ 225 h 333"/>
                    <a:gd name="T68" fmla="*/ 140 w 305"/>
                    <a:gd name="T69" fmla="*/ 229 h 333"/>
                    <a:gd name="T70" fmla="*/ 140 w 305"/>
                    <a:gd name="T71" fmla="*/ 234 h 333"/>
                    <a:gd name="T72" fmla="*/ 140 w 305"/>
                    <a:gd name="T73" fmla="*/ 243 h 333"/>
                    <a:gd name="T74" fmla="*/ 145 w 305"/>
                    <a:gd name="T75" fmla="*/ 258 h 333"/>
                    <a:gd name="T76" fmla="*/ 150 w 305"/>
                    <a:gd name="T77" fmla="*/ 267 h 333"/>
                    <a:gd name="T78" fmla="*/ 155 w 305"/>
                    <a:gd name="T79" fmla="*/ 276 h 333"/>
                    <a:gd name="T80" fmla="*/ 159 w 305"/>
                    <a:gd name="T81" fmla="*/ 276 h 333"/>
                    <a:gd name="T82" fmla="*/ 169 w 305"/>
                    <a:gd name="T83" fmla="*/ 290 h 333"/>
                    <a:gd name="T84" fmla="*/ 173 w 305"/>
                    <a:gd name="T85" fmla="*/ 295 h 333"/>
                    <a:gd name="T86" fmla="*/ 182 w 305"/>
                    <a:gd name="T87" fmla="*/ 300 h 333"/>
                    <a:gd name="T88" fmla="*/ 192 w 305"/>
                    <a:gd name="T89" fmla="*/ 309 h 333"/>
                    <a:gd name="T90" fmla="*/ 210 w 305"/>
                    <a:gd name="T91" fmla="*/ 318 h 333"/>
                    <a:gd name="T92" fmla="*/ 229 w 305"/>
                    <a:gd name="T93" fmla="*/ 328 h 333"/>
                    <a:gd name="T94" fmla="*/ 248 w 305"/>
                    <a:gd name="T95" fmla="*/ 332 h 333"/>
                    <a:gd name="T96" fmla="*/ 257 w 305"/>
                    <a:gd name="T97" fmla="*/ 332 h 333"/>
                    <a:gd name="T98" fmla="*/ 267 w 305"/>
                    <a:gd name="T99" fmla="*/ 332 h 333"/>
                    <a:gd name="T100" fmla="*/ 276 w 305"/>
                    <a:gd name="T101" fmla="*/ 332 h 333"/>
                    <a:gd name="T102" fmla="*/ 290 w 305"/>
                    <a:gd name="T103" fmla="*/ 328 h 333"/>
                    <a:gd name="T104" fmla="*/ 299 w 305"/>
                    <a:gd name="T105" fmla="*/ 318 h 333"/>
                    <a:gd name="T106" fmla="*/ 304 w 305"/>
                    <a:gd name="T107" fmla="*/ 313 h 333"/>
                    <a:gd name="T108" fmla="*/ 122 w 305"/>
                    <a:gd name="T109" fmla="*/ 0 h 33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305" h="333">
                      <a:moveTo>
                        <a:pt x="122" y="0"/>
                      </a:moveTo>
                      <a:lnTo>
                        <a:pt x="122" y="9"/>
                      </a:lnTo>
                      <a:lnTo>
                        <a:pt x="112" y="28"/>
                      </a:lnTo>
                      <a:lnTo>
                        <a:pt x="108" y="42"/>
                      </a:lnTo>
                      <a:lnTo>
                        <a:pt x="103" y="51"/>
                      </a:lnTo>
                      <a:lnTo>
                        <a:pt x="94" y="65"/>
                      </a:lnTo>
                      <a:lnTo>
                        <a:pt x="85" y="79"/>
                      </a:lnTo>
                      <a:lnTo>
                        <a:pt x="80" y="84"/>
                      </a:lnTo>
                      <a:lnTo>
                        <a:pt x="65" y="94"/>
                      </a:lnTo>
                      <a:lnTo>
                        <a:pt x="61" y="94"/>
                      </a:lnTo>
                      <a:lnTo>
                        <a:pt x="52" y="98"/>
                      </a:lnTo>
                      <a:lnTo>
                        <a:pt x="38" y="107"/>
                      </a:lnTo>
                      <a:lnTo>
                        <a:pt x="23" y="121"/>
                      </a:lnTo>
                      <a:lnTo>
                        <a:pt x="10" y="136"/>
                      </a:lnTo>
                      <a:lnTo>
                        <a:pt x="5" y="145"/>
                      </a:lnTo>
                      <a:lnTo>
                        <a:pt x="0" y="159"/>
                      </a:lnTo>
                      <a:lnTo>
                        <a:pt x="0" y="168"/>
                      </a:lnTo>
                      <a:lnTo>
                        <a:pt x="0" y="173"/>
                      </a:lnTo>
                      <a:lnTo>
                        <a:pt x="5" y="178"/>
                      </a:lnTo>
                      <a:lnTo>
                        <a:pt x="10" y="183"/>
                      </a:lnTo>
                      <a:lnTo>
                        <a:pt x="19" y="187"/>
                      </a:lnTo>
                      <a:lnTo>
                        <a:pt x="28" y="191"/>
                      </a:lnTo>
                      <a:lnTo>
                        <a:pt x="38" y="191"/>
                      </a:lnTo>
                      <a:lnTo>
                        <a:pt x="57" y="191"/>
                      </a:lnTo>
                      <a:lnTo>
                        <a:pt x="80" y="191"/>
                      </a:lnTo>
                      <a:lnTo>
                        <a:pt x="89" y="191"/>
                      </a:lnTo>
                      <a:lnTo>
                        <a:pt x="94" y="191"/>
                      </a:lnTo>
                      <a:lnTo>
                        <a:pt x="103" y="191"/>
                      </a:lnTo>
                      <a:lnTo>
                        <a:pt x="117" y="196"/>
                      </a:lnTo>
                      <a:lnTo>
                        <a:pt x="127" y="201"/>
                      </a:lnTo>
                      <a:lnTo>
                        <a:pt x="132" y="206"/>
                      </a:lnTo>
                      <a:lnTo>
                        <a:pt x="135" y="211"/>
                      </a:lnTo>
                      <a:lnTo>
                        <a:pt x="135" y="215"/>
                      </a:lnTo>
                      <a:lnTo>
                        <a:pt x="140" y="225"/>
                      </a:lnTo>
                      <a:lnTo>
                        <a:pt x="140" y="229"/>
                      </a:lnTo>
                      <a:lnTo>
                        <a:pt x="140" y="234"/>
                      </a:lnTo>
                      <a:lnTo>
                        <a:pt x="140" y="243"/>
                      </a:lnTo>
                      <a:lnTo>
                        <a:pt x="145" y="258"/>
                      </a:lnTo>
                      <a:lnTo>
                        <a:pt x="150" y="267"/>
                      </a:lnTo>
                      <a:lnTo>
                        <a:pt x="155" y="276"/>
                      </a:lnTo>
                      <a:lnTo>
                        <a:pt x="159" y="276"/>
                      </a:lnTo>
                      <a:lnTo>
                        <a:pt x="169" y="290"/>
                      </a:lnTo>
                      <a:lnTo>
                        <a:pt x="173" y="295"/>
                      </a:lnTo>
                      <a:lnTo>
                        <a:pt x="182" y="300"/>
                      </a:lnTo>
                      <a:lnTo>
                        <a:pt x="192" y="309"/>
                      </a:lnTo>
                      <a:lnTo>
                        <a:pt x="210" y="318"/>
                      </a:lnTo>
                      <a:lnTo>
                        <a:pt x="229" y="328"/>
                      </a:lnTo>
                      <a:lnTo>
                        <a:pt x="248" y="332"/>
                      </a:lnTo>
                      <a:lnTo>
                        <a:pt x="257" y="332"/>
                      </a:lnTo>
                      <a:lnTo>
                        <a:pt x="267" y="332"/>
                      </a:lnTo>
                      <a:lnTo>
                        <a:pt x="276" y="332"/>
                      </a:lnTo>
                      <a:lnTo>
                        <a:pt x="290" y="328"/>
                      </a:lnTo>
                      <a:lnTo>
                        <a:pt x="299" y="318"/>
                      </a:lnTo>
                      <a:lnTo>
                        <a:pt x="304" y="313"/>
                      </a:lnTo>
                      <a:lnTo>
                        <a:pt x="122" y="0"/>
                      </a:ln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Roboto" panose="02000000000000000000" pitchFamily="2" charset="0"/>
                    <a:ea typeface="Roboto" panose="02000000000000000000" pitchFamily="2" charset="0"/>
                  </a:endParaRPr>
                </a:p>
              </p:txBody>
            </p:sp>
            <p:sp>
              <p:nvSpPr>
                <p:cNvPr id="74" name="Freeform 305">
                  <a:extLst>
                    <a:ext uri="{FF2B5EF4-FFF2-40B4-BE49-F238E27FC236}">
                      <a16:creationId xmlns:a16="http://schemas.microsoft.com/office/drawing/2014/main" id="{DC5B3CAB-F38E-9299-C957-0F3AF12FF73B}"/>
                    </a:ext>
                  </a:extLst>
                </p:cNvPr>
                <p:cNvSpPr>
                  <a:spLocks/>
                </p:cNvSpPr>
                <p:nvPr/>
              </p:nvSpPr>
              <p:spPr bwMode="auto">
                <a:xfrm>
                  <a:off x="2946" y="1503"/>
                  <a:ext cx="322" cy="341"/>
                </a:xfrm>
                <a:custGeom>
                  <a:avLst/>
                  <a:gdLst>
                    <a:gd name="T0" fmla="*/ 134 w 322"/>
                    <a:gd name="T1" fmla="*/ 0 h 341"/>
                    <a:gd name="T2" fmla="*/ 115 w 322"/>
                    <a:gd name="T3" fmla="*/ 76 h 341"/>
                    <a:gd name="T4" fmla="*/ 33 w 322"/>
                    <a:gd name="T5" fmla="*/ 115 h 341"/>
                    <a:gd name="T6" fmla="*/ 0 w 322"/>
                    <a:gd name="T7" fmla="*/ 182 h 341"/>
                    <a:gd name="T8" fmla="*/ 52 w 322"/>
                    <a:gd name="T9" fmla="*/ 201 h 341"/>
                    <a:gd name="T10" fmla="*/ 148 w 322"/>
                    <a:gd name="T11" fmla="*/ 196 h 341"/>
                    <a:gd name="T12" fmla="*/ 153 w 322"/>
                    <a:gd name="T13" fmla="*/ 278 h 341"/>
                    <a:gd name="T14" fmla="*/ 235 w 322"/>
                    <a:gd name="T15" fmla="*/ 336 h 341"/>
                    <a:gd name="T16" fmla="*/ 307 w 322"/>
                    <a:gd name="T17" fmla="*/ 340 h 341"/>
                    <a:gd name="T18" fmla="*/ 321 w 322"/>
                    <a:gd name="T19" fmla="*/ 321 h 3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22" h="341">
                      <a:moveTo>
                        <a:pt x="134" y="0"/>
                      </a:moveTo>
                      <a:lnTo>
                        <a:pt x="115" y="76"/>
                      </a:lnTo>
                      <a:lnTo>
                        <a:pt x="33" y="115"/>
                      </a:lnTo>
                      <a:lnTo>
                        <a:pt x="0" y="182"/>
                      </a:lnTo>
                      <a:lnTo>
                        <a:pt x="52" y="201"/>
                      </a:lnTo>
                      <a:lnTo>
                        <a:pt x="148" y="196"/>
                      </a:lnTo>
                      <a:lnTo>
                        <a:pt x="153" y="278"/>
                      </a:lnTo>
                      <a:lnTo>
                        <a:pt x="235" y="336"/>
                      </a:lnTo>
                      <a:lnTo>
                        <a:pt x="307" y="340"/>
                      </a:lnTo>
                      <a:lnTo>
                        <a:pt x="321" y="321"/>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75" name="Freeform 306">
                  <a:extLst>
                    <a:ext uri="{FF2B5EF4-FFF2-40B4-BE49-F238E27FC236}">
                      <a16:creationId xmlns:a16="http://schemas.microsoft.com/office/drawing/2014/main" id="{590BFF1F-73CC-FAB2-35AA-DBBB2850CD21}"/>
                    </a:ext>
                  </a:extLst>
                </p:cNvPr>
                <p:cNvSpPr>
                  <a:spLocks/>
                </p:cNvSpPr>
                <p:nvPr/>
              </p:nvSpPr>
              <p:spPr bwMode="auto">
                <a:xfrm>
                  <a:off x="2955" y="1503"/>
                  <a:ext cx="313" cy="341"/>
                </a:xfrm>
                <a:custGeom>
                  <a:avLst/>
                  <a:gdLst>
                    <a:gd name="T0" fmla="*/ 125 w 313"/>
                    <a:gd name="T1" fmla="*/ 0 h 341"/>
                    <a:gd name="T2" fmla="*/ 125 w 313"/>
                    <a:gd name="T3" fmla="*/ 9 h 341"/>
                    <a:gd name="T4" fmla="*/ 115 w 313"/>
                    <a:gd name="T5" fmla="*/ 29 h 341"/>
                    <a:gd name="T6" fmla="*/ 111 w 313"/>
                    <a:gd name="T7" fmla="*/ 43 h 341"/>
                    <a:gd name="T8" fmla="*/ 106 w 313"/>
                    <a:gd name="T9" fmla="*/ 52 h 341"/>
                    <a:gd name="T10" fmla="*/ 96 w 313"/>
                    <a:gd name="T11" fmla="*/ 67 h 341"/>
                    <a:gd name="T12" fmla="*/ 87 w 313"/>
                    <a:gd name="T13" fmla="*/ 81 h 341"/>
                    <a:gd name="T14" fmla="*/ 82 w 313"/>
                    <a:gd name="T15" fmla="*/ 86 h 341"/>
                    <a:gd name="T16" fmla="*/ 67 w 313"/>
                    <a:gd name="T17" fmla="*/ 96 h 341"/>
                    <a:gd name="T18" fmla="*/ 63 w 313"/>
                    <a:gd name="T19" fmla="*/ 96 h 341"/>
                    <a:gd name="T20" fmla="*/ 53 w 313"/>
                    <a:gd name="T21" fmla="*/ 100 h 341"/>
                    <a:gd name="T22" fmla="*/ 39 w 313"/>
                    <a:gd name="T23" fmla="*/ 110 h 341"/>
                    <a:gd name="T24" fmla="*/ 24 w 313"/>
                    <a:gd name="T25" fmla="*/ 124 h 341"/>
                    <a:gd name="T26" fmla="*/ 10 w 313"/>
                    <a:gd name="T27" fmla="*/ 139 h 341"/>
                    <a:gd name="T28" fmla="*/ 5 w 313"/>
                    <a:gd name="T29" fmla="*/ 148 h 341"/>
                    <a:gd name="T30" fmla="*/ 0 w 313"/>
                    <a:gd name="T31" fmla="*/ 163 h 341"/>
                    <a:gd name="T32" fmla="*/ 0 w 313"/>
                    <a:gd name="T33" fmla="*/ 172 h 341"/>
                    <a:gd name="T34" fmla="*/ 0 w 313"/>
                    <a:gd name="T35" fmla="*/ 177 h 341"/>
                    <a:gd name="T36" fmla="*/ 5 w 313"/>
                    <a:gd name="T37" fmla="*/ 182 h 341"/>
                    <a:gd name="T38" fmla="*/ 10 w 313"/>
                    <a:gd name="T39" fmla="*/ 187 h 341"/>
                    <a:gd name="T40" fmla="*/ 19 w 313"/>
                    <a:gd name="T41" fmla="*/ 192 h 341"/>
                    <a:gd name="T42" fmla="*/ 29 w 313"/>
                    <a:gd name="T43" fmla="*/ 196 h 341"/>
                    <a:gd name="T44" fmla="*/ 39 w 313"/>
                    <a:gd name="T45" fmla="*/ 196 h 341"/>
                    <a:gd name="T46" fmla="*/ 58 w 313"/>
                    <a:gd name="T47" fmla="*/ 196 h 341"/>
                    <a:gd name="T48" fmla="*/ 82 w 313"/>
                    <a:gd name="T49" fmla="*/ 196 h 341"/>
                    <a:gd name="T50" fmla="*/ 91 w 313"/>
                    <a:gd name="T51" fmla="*/ 196 h 341"/>
                    <a:gd name="T52" fmla="*/ 96 w 313"/>
                    <a:gd name="T53" fmla="*/ 196 h 341"/>
                    <a:gd name="T54" fmla="*/ 106 w 313"/>
                    <a:gd name="T55" fmla="*/ 196 h 341"/>
                    <a:gd name="T56" fmla="*/ 120 w 313"/>
                    <a:gd name="T57" fmla="*/ 201 h 341"/>
                    <a:gd name="T58" fmla="*/ 130 w 313"/>
                    <a:gd name="T59" fmla="*/ 206 h 341"/>
                    <a:gd name="T60" fmla="*/ 135 w 313"/>
                    <a:gd name="T61" fmla="*/ 211 h 341"/>
                    <a:gd name="T62" fmla="*/ 139 w 313"/>
                    <a:gd name="T63" fmla="*/ 216 h 341"/>
                    <a:gd name="T64" fmla="*/ 139 w 313"/>
                    <a:gd name="T65" fmla="*/ 220 h 341"/>
                    <a:gd name="T66" fmla="*/ 144 w 313"/>
                    <a:gd name="T67" fmla="*/ 230 h 341"/>
                    <a:gd name="T68" fmla="*/ 144 w 313"/>
                    <a:gd name="T69" fmla="*/ 235 h 341"/>
                    <a:gd name="T70" fmla="*/ 144 w 313"/>
                    <a:gd name="T71" fmla="*/ 240 h 341"/>
                    <a:gd name="T72" fmla="*/ 144 w 313"/>
                    <a:gd name="T73" fmla="*/ 249 h 341"/>
                    <a:gd name="T74" fmla="*/ 149 w 313"/>
                    <a:gd name="T75" fmla="*/ 264 h 341"/>
                    <a:gd name="T76" fmla="*/ 154 w 313"/>
                    <a:gd name="T77" fmla="*/ 273 h 341"/>
                    <a:gd name="T78" fmla="*/ 159 w 313"/>
                    <a:gd name="T79" fmla="*/ 283 h 341"/>
                    <a:gd name="T80" fmla="*/ 163 w 313"/>
                    <a:gd name="T81" fmla="*/ 283 h 341"/>
                    <a:gd name="T82" fmla="*/ 173 w 313"/>
                    <a:gd name="T83" fmla="*/ 297 h 341"/>
                    <a:gd name="T84" fmla="*/ 178 w 313"/>
                    <a:gd name="T85" fmla="*/ 302 h 341"/>
                    <a:gd name="T86" fmla="*/ 187 w 313"/>
                    <a:gd name="T87" fmla="*/ 307 h 341"/>
                    <a:gd name="T88" fmla="*/ 197 w 313"/>
                    <a:gd name="T89" fmla="*/ 316 h 341"/>
                    <a:gd name="T90" fmla="*/ 216 w 313"/>
                    <a:gd name="T91" fmla="*/ 326 h 341"/>
                    <a:gd name="T92" fmla="*/ 235 w 313"/>
                    <a:gd name="T93" fmla="*/ 336 h 341"/>
                    <a:gd name="T94" fmla="*/ 255 w 313"/>
                    <a:gd name="T95" fmla="*/ 340 h 341"/>
                    <a:gd name="T96" fmla="*/ 264 w 313"/>
                    <a:gd name="T97" fmla="*/ 340 h 341"/>
                    <a:gd name="T98" fmla="*/ 274 w 313"/>
                    <a:gd name="T99" fmla="*/ 340 h 341"/>
                    <a:gd name="T100" fmla="*/ 283 w 313"/>
                    <a:gd name="T101" fmla="*/ 340 h 341"/>
                    <a:gd name="T102" fmla="*/ 298 w 313"/>
                    <a:gd name="T103" fmla="*/ 336 h 341"/>
                    <a:gd name="T104" fmla="*/ 307 w 313"/>
                    <a:gd name="T105" fmla="*/ 326 h 341"/>
                    <a:gd name="T106" fmla="*/ 312 w 313"/>
                    <a:gd name="T107" fmla="*/ 321 h 34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313" h="341">
                      <a:moveTo>
                        <a:pt x="125" y="0"/>
                      </a:moveTo>
                      <a:lnTo>
                        <a:pt x="125" y="9"/>
                      </a:lnTo>
                      <a:lnTo>
                        <a:pt x="115" y="29"/>
                      </a:lnTo>
                      <a:lnTo>
                        <a:pt x="111" y="43"/>
                      </a:lnTo>
                      <a:lnTo>
                        <a:pt x="106" y="52"/>
                      </a:lnTo>
                      <a:lnTo>
                        <a:pt x="96" y="67"/>
                      </a:lnTo>
                      <a:lnTo>
                        <a:pt x="87" y="81"/>
                      </a:lnTo>
                      <a:lnTo>
                        <a:pt x="82" y="86"/>
                      </a:lnTo>
                      <a:lnTo>
                        <a:pt x="67" y="96"/>
                      </a:lnTo>
                      <a:lnTo>
                        <a:pt x="63" y="96"/>
                      </a:lnTo>
                      <a:lnTo>
                        <a:pt x="53" y="100"/>
                      </a:lnTo>
                      <a:lnTo>
                        <a:pt x="39" y="110"/>
                      </a:lnTo>
                      <a:lnTo>
                        <a:pt x="24" y="124"/>
                      </a:lnTo>
                      <a:lnTo>
                        <a:pt x="10" y="139"/>
                      </a:lnTo>
                      <a:lnTo>
                        <a:pt x="5" y="148"/>
                      </a:lnTo>
                      <a:lnTo>
                        <a:pt x="0" y="163"/>
                      </a:lnTo>
                      <a:lnTo>
                        <a:pt x="0" y="172"/>
                      </a:lnTo>
                      <a:lnTo>
                        <a:pt x="0" y="177"/>
                      </a:lnTo>
                      <a:lnTo>
                        <a:pt x="5" y="182"/>
                      </a:lnTo>
                      <a:lnTo>
                        <a:pt x="10" y="187"/>
                      </a:lnTo>
                      <a:lnTo>
                        <a:pt x="19" y="192"/>
                      </a:lnTo>
                      <a:lnTo>
                        <a:pt x="29" y="196"/>
                      </a:lnTo>
                      <a:lnTo>
                        <a:pt x="39" y="196"/>
                      </a:lnTo>
                      <a:lnTo>
                        <a:pt x="58" y="196"/>
                      </a:lnTo>
                      <a:lnTo>
                        <a:pt x="82" y="196"/>
                      </a:lnTo>
                      <a:lnTo>
                        <a:pt x="91" y="196"/>
                      </a:lnTo>
                      <a:lnTo>
                        <a:pt x="96" y="196"/>
                      </a:lnTo>
                      <a:lnTo>
                        <a:pt x="106" y="196"/>
                      </a:lnTo>
                      <a:lnTo>
                        <a:pt x="120" y="201"/>
                      </a:lnTo>
                      <a:lnTo>
                        <a:pt x="130" y="206"/>
                      </a:lnTo>
                      <a:lnTo>
                        <a:pt x="135" y="211"/>
                      </a:lnTo>
                      <a:lnTo>
                        <a:pt x="139" y="216"/>
                      </a:lnTo>
                      <a:lnTo>
                        <a:pt x="139" y="220"/>
                      </a:lnTo>
                      <a:lnTo>
                        <a:pt x="144" y="230"/>
                      </a:lnTo>
                      <a:lnTo>
                        <a:pt x="144" y="235"/>
                      </a:lnTo>
                      <a:lnTo>
                        <a:pt x="144" y="240"/>
                      </a:lnTo>
                      <a:lnTo>
                        <a:pt x="144" y="249"/>
                      </a:lnTo>
                      <a:lnTo>
                        <a:pt x="149" y="264"/>
                      </a:lnTo>
                      <a:lnTo>
                        <a:pt x="154" y="273"/>
                      </a:lnTo>
                      <a:lnTo>
                        <a:pt x="159" y="283"/>
                      </a:lnTo>
                      <a:lnTo>
                        <a:pt x="163" y="283"/>
                      </a:lnTo>
                      <a:lnTo>
                        <a:pt x="173" y="297"/>
                      </a:lnTo>
                      <a:lnTo>
                        <a:pt x="178" y="302"/>
                      </a:lnTo>
                      <a:lnTo>
                        <a:pt x="187" y="307"/>
                      </a:lnTo>
                      <a:lnTo>
                        <a:pt x="197" y="316"/>
                      </a:lnTo>
                      <a:lnTo>
                        <a:pt x="216" y="326"/>
                      </a:lnTo>
                      <a:lnTo>
                        <a:pt x="235" y="336"/>
                      </a:lnTo>
                      <a:lnTo>
                        <a:pt x="255" y="340"/>
                      </a:lnTo>
                      <a:lnTo>
                        <a:pt x="264" y="340"/>
                      </a:lnTo>
                      <a:lnTo>
                        <a:pt x="274" y="340"/>
                      </a:lnTo>
                      <a:lnTo>
                        <a:pt x="283" y="340"/>
                      </a:lnTo>
                      <a:lnTo>
                        <a:pt x="298" y="336"/>
                      </a:lnTo>
                      <a:lnTo>
                        <a:pt x="307" y="326"/>
                      </a:lnTo>
                      <a:lnTo>
                        <a:pt x="312" y="321"/>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76" name="Line 307">
                  <a:extLst>
                    <a:ext uri="{FF2B5EF4-FFF2-40B4-BE49-F238E27FC236}">
                      <a16:creationId xmlns:a16="http://schemas.microsoft.com/office/drawing/2014/main" id="{06945B29-4297-25DC-F9E8-A788E8BC3DB5}"/>
                    </a:ext>
                  </a:extLst>
                </p:cNvPr>
                <p:cNvSpPr>
                  <a:spLocks noChangeShapeType="1"/>
                </p:cNvSpPr>
                <p:nvPr/>
              </p:nvSpPr>
              <p:spPr bwMode="auto">
                <a:xfrm flipV="1">
                  <a:off x="3147" y="1751"/>
                  <a:ext cx="82" cy="5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77" name="Oval 308">
                  <a:extLst>
                    <a:ext uri="{FF2B5EF4-FFF2-40B4-BE49-F238E27FC236}">
                      <a16:creationId xmlns:a16="http://schemas.microsoft.com/office/drawing/2014/main" id="{D92E3458-AA08-5B3E-FDCE-FC436E3C4F0A}"/>
                    </a:ext>
                  </a:extLst>
                </p:cNvPr>
                <p:cNvSpPr>
                  <a:spLocks noChangeArrowheads="1"/>
                </p:cNvSpPr>
                <p:nvPr/>
              </p:nvSpPr>
              <p:spPr bwMode="auto">
                <a:xfrm>
                  <a:off x="3084" y="1549"/>
                  <a:ext cx="70" cy="75"/>
                </a:xfrm>
                <a:prstGeom prst="ellipse">
                  <a:avLst/>
                </a:prstGeom>
                <a:solidFill>
                  <a:srgbClr val="FFFFFF"/>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78" name="Freeform 309">
                  <a:extLst>
                    <a:ext uri="{FF2B5EF4-FFF2-40B4-BE49-F238E27FC236}">
                      <a16:creationId xmlns:a16="http://schemas.microsoft.com/office/drawing/2014/main" id="{754E8801-82DF-2807-3D17-CA8AF15C738F}"/>
                    </a:ext>
                  </a:extLst>
                </p:cNvPr>
                <p:cNvSpPr>
                  <a:spLocks/>
                </p:cNvSpPr>
                <p:nvPr/>
              </p:nvSpPr>
              <p:spPr bwMode="auto">
                <a:xfrm>
                  <a:off x="3052" y="1554"/>
                  <a:ext cx="39" cy="11"/>
                </a:xfrm>
                <a:custGeom>
                  <a:avLst/>
                  <a:gdLst>
                    <a:gd name="T0" fmla="*/ 0 w 40"/>
                    <a:gd name="T1" fmla="*/ 0 h 11"/>
                    <a:gd name="T2" fmla="*/ 33 w 40"/>
                    <a:gd name="T3" fmla="*/ 5 h 11"/>
                    <a:gd name="T4" fmla="*/ 38 w 40"/>
                    <a:gd name="T5" fmla="*/ 10 h 11"/>
                    <a:gd name="T6" fmla="*/ 0 60000 65536"/>
                    <a:gd name="T7" fmla="*/ 0 60000 65536"/>
                    <a:gd name="T8" fmla="*/ 0 60000 65536"/>
                  </a:gdLst>
                  <a:ahLst/>
                  <a:cxnLst>
                    <a:cxn ang="T6">
                      <a:pos x="T0" y="T1"/>
                    </a:cxn>
                    <a:cxn ang="T7">
                      <a:pos x="T2" y="T3"/>
                    </a:cxn>
                    <a:cxn ang="T8">
                      <a:pos x="T4" y="T5"/>
                    </a:cxn>
                  </a:cxnLst>
                  <a:rect l="0" t="0" r="r" b="b"/>
                  <a:pathLst>
                    <a:path w="40" h="11">
                      <a:moveTo>
                        <a:pt x="0" y="0"/>
                      </a:moveTo>
                      <a:lnTo>
                        <a:pt x="34" y="5"/>
                      </a:lnTo>
                      <a:lnTo>
                        <a:pt x="39" y="10"/>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79" name="Freeform 310">
                  <a:extLst>
                    <a:ext uri="{FF2B5EF4-FFF2-40B4-BE49-F238E27FC236}">
                      <a16:creationId xmlns:a16="http://schemas.microsoft.com/office/drawing/2014/main" id="{96565A20-86A1-0C75-1B66-F212D2678062}"/>
                    </a:ext>
                  </a:extLst>
                </p:cNvPr>
                <p:cNvSpPr>
                  <a:spLocks/>
                </p:cNvSpPr>
                <p:nvPr/>
              </p:nvSpPr>
              <p:spPr bwMode="auto">
                <a:xfrm>
                  <a:off x="3052" y="1554"/>
                  <a:ext cx="39" cy="11"/>
                </a:xfrm>
                <a:custGeom>
                  <a:avLst/>
                  <a:gdLst>
                    <a:gd name="T0" fmla="*/ 0 w 40"/>
                    <a:gd name="T1" fmla="*/ 0 h 11"/>
                    <a:gd name="T2" fmla="*/ 5 w 40"/>
                    <a:gd name="T3" fmla="*/ 0 h 11"/>
                    <a:gd name="T4" fmla="*/ 23 w 40"/>
                    <a:gd name="T5" fmla="*/ 5 h 11"/>
                    <a:gd name="T6" fmla="*/ 28 w 40"/>
                    <a:gd name="T7" fmla="*/ 5 h 11"/>
                    <a:gd name="T8" fmla="*/ 38 w 40"/>
                    <a:gd name="T9" fmla="*/ 10 h 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11">
                      <a:moveTo>
                        <a:pt x="0" y="0"/>
                      </a:moveTo>
                      <a:lnTo>
                        <a:pt x="5" y="0"/>
                      </a:lnTo>
                      <a:lnTo>
                        <a:pt x="24" y="5"/>
                      </a:lnTo>
                      <a:lnTo>
                        <a:pt x="29" y="5"/>
                      </a:lnTo>
                      <a:lnTo>
                        <a:pt x="39" y="10"/>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80" name="Oval 311">
                  <a:extLst>
                    <a:ext uri="{FF2B5EF4-FFF2-40B4-BE49-F238E27FC236}">
                      <a16:creationId xmlns:a16="http://schemas.microsoft.com/office/drawing/2014/main" id="{1E80FD0A-91AF-F3F1-BEE1-7FA7BBF8D42D}"/>
                    </a:ext>
                  </a:extLst>
                </p:cNvPr>
                <p:cNvSpPr>
                  <a:spLocks noChangeArrowheads="1"/>
                </p:cNvSpPr>
                <p:nvPr/>
              </p:nvSpPr>
              <p:spPr bwMode="auto">
                <a:xfrm>
                  <a:off x="3103" y="1569"/>
                  <a:ext cx="3" cy="37"/>
                </a:xfrm>
                <a:prstGeom prst="ellipse">
                  <a:avLst/>
                </a:prstGeom>
                <a:solidFill>
                  <a:srgbClr val="000000"/>
                </a:solid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81" name="Freeform 312">
                  <a:extLst>
                    <a:ext uri="{FF2B5EF4-FFF2-40B4-BE49-F238E27FC236}">
                      <a16:creationId xmlns:a16="http://schemas.microsoft.com/office/drawing/2014/main" id="{0DFA89D7-A912-515D-EF0A-04510C8610CA}"/>
                    </a:ext>
                  </a:extLst>
                </p:cNvPr>
                <p:cNvSpPr>
                  <a:spLocks/>
                </p:cNvSpPr>
                <p:nvPr/>
              </p:nvSpPr>
              <p:spPr bwMode="auto">
                <a:xfrm>
                  <a:off x="2888" y="1319"/>
                  <a:ext cx="486" cy="223"/>
                </a:xfrm>
                <a:custGeom>
                  <a:avLst/>
                  <a:gdLst>
                    <a:gd name="T0" fmla="*/ 115 w 486"/>
                    <a:gd name="T1" fmla="*/ 222 h 222"/>
                    <a:gd name="T2" fmla="*/ 480 w 486"/>
                    <a:gd name="T3" fmla="*/ 222 h 222"/>
                    <a:gd name="T4" fmla="*/ 485 w 486"/>
                    <a:gd name="T5" fmla="*/ 126 h 222"/>
                    <a:gd name="T6" fmla="*/ 451 w 486"/>
                    <a:gd name="T7" fmla="*/ 58 h 222"/>
                    <a:gd name="T8" fmla="*/ 365 w 486"/>
                    <a:gd name="T9" fmla="*/ 0 h 222"/>
                    <a:gd name="T10" fmla="*/ 230 w 486"/>
                    <a:gd name="T11" fmla="*/ 15 h 222"/>
                    <a:gd name="T12" fmla="*/ 187 w 486"/>
                    <a:gd name="T13" fmla="*/ 72 h 222"/>
                    <a:gd name="T14" fmla="*/ 178 w 486"/>
                    <a:gd name="T15" fmla="*/ 179 h 222"/>
                    <a:gd name="T16" fmla="*/ 38 w 486"/>
                    <a:gd name="T17" fmla="*/ 193 h 222"/>
                    <a:gd name="T18" fmla="*/ 0 w 486"/>
                    <a:gd name="T19" fmla="*/ 217 h 222"/>
                    <a:gd name="T20" fmla="*/ 134 w 486"/>
                    <a:gd name="T21" fmla="*/ 222 h 222"/>
                    <a:gd name="T22" fmla="*/ 115 w 486"/>
                    <a:gd name="T23" fmla="*/ 222 h 2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86" h="222">
                      <a:moveTo>
                        <a:pt x="115" y="221"/>
                      </a:moveTo>
                      <a:lnTo>
                        <a:pt x="480" y="221"/>
                      </a:lnTo>
                      <a:lnTo>
                        <a:pt x="485" y="125"/>
                      </a:lnTo>
                      <a:lnTo>
                        <a:pt x="451" y="58"/>
                      </a:lnTo>
                      <a:lnTo>
                        <a:pt x="365" y="0"/>
                      </a:lnTo>
                      <a:lnTo>
                        <a:pt x="230" y="15"/>
                      </a:lnTo>
                      <a:lnTo>
                        <a:pt x="187" y="72"/>
                      </a:lnTo>
                      <a:lnTo>
                        <a:pt x="178" y="178"/>
                      </a:lnTo>
                      <a:lnTo>
                        <a:pt x="38" y="192"/>
                      </a:lnTo>
                      <a:lnTo>
                        <a:pt x="0" y="216"/>
                      </a:lnTo>
                      <a:lnTo>
                        <a:pt x="134" y="221"/>
                      </a:lnTo>
                      <a:lnTo>
                        <a:pt x="115" y="221"/>
                      </a:lnTo>
                    </a:path>
                  </a:pathLst>
                </a:custGeom>
                <a:blipFill dpi="0" rotWithShape="0">
                  <a:blip r:embed="rId12"/>
                  <a:srcRect/>
                  <a:tile tx="0" ty="0" sx="100000" sy="100000" flip="none" algn="tl"/>
                </a:blipFill>
                <a:ln w="12700" cap="rnd" cmpd="sng">
                  <a:solidFill>
                    <a:srgbClr val="000000"/>
                  </a:solidFill>
                  <a:prstDash val="solid"/>
                  <a:round/>
                  <a:headEnd type="none" w="med" len="med"/>
                  <a:tailEnd type="none" w="med" len="med"/>
                </a:ln>
              </p:spPr>
              <p:txBody>
                <a:bodyPr/>
                <a:lstStyle/>
                <a:p>
                  <a:endParaRPr lang="en-US">
                    <a:latin typeface="Roboto" panose="02000000000000000000" pitchFamily="2" charset="0"/>
                    <a:ea typeface="Roboto" panose="02000000000000000000" pitchFamily="2" charset="0"/>
                  </a:endParaRPr>
                </a:p>
              </p:txBody>
            </p:sp>
            <p:sp>
              <p:nvSpPr>
                <p:cNvPr id="82" name="Freeform 313">
                  <a:extLst>
                    <a:ext uri="{FF2B5EF4-FFF2-40B4-BE49-F238E27FC236}">
                      <a16:creationId xmlns:a16="http://schemas.microsoft.com/office/drawing/2014/main" id="{55B90EB7-5033-4F04-A4B7-8C94685A63D6}"/>
                    </a:ext>
                  </a:extLst>
                </p:cNvPr>
                <p:cNvSpPr>
                  <a:spLocks/>
                </p:cNvSpPr>
                <p:nvPr/>
              </p:nvSpPr>
              <p:spPr bwMode="auto">
                <a:xfrm>
                  <a:off x="2888" y="1319"/>
                  <a:ext cx="486" cy="223"/>
                </a:xfrm>
                <a:custGeom>
                  <a:avLst/>
                  <a:gdLst>
                    <a:gd name="T0" fmla="*/ 115 w 486"/>
                    <a:gd name="T1" fmla="*/ 222 h 222"/>
                    <a:gd name="T2" fmla="*/ 480 w 486"/>
                    <a:gd name="T3" fmla="*/ 222 h 222"/>
                    <a:gd name="T4" fmla="*/ 485 w 486"/>
                    <a:gd name="T5" fmla="*/ 126 h 222"/>
                    <a:gd name="T6" fmla="*/ 451 w 486"/>
                    <a:gd name="T7" fmla="*/ 58 h 222"/>
                    <a:gd name="T8" fmla="*/ 365 w 486"/>
                    <a:gd name="T9" fmla="*/ 0 h 222"/>
                    <a:gd name="T10" fmla="*/ 230 w 486"/>
                    <a:gd name="T11" fmla="*/ 15 h 222"/>
                    <a:gd name="T12" fmla="*/ 187 w 486"/>
                    <a:gd name="T13" fmla="*/ 72 h 222"/>
                    <a:gd name="T14" fmla="*/ 178 w 486"/>
                    <a:gd name="T15" fmla="*/ 179 h 222"/>
                    <a:gd name="T16" fmla="*/ 38 w 486"/>
                    <a:gd name="T17" fmla="*/ 193 h 222"/>
                    <a:gd name="T18" fmla="*/ 0 w 486"/>
                    <a:gd name="T19" fmla="*/ 217 h 222"/>
                    <a:gd name="T20" fmla="*/ 134 w 486"/>
                    <a:gd name="T21" fmla="*/ 222 h 22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86" h="222">
                      <a:moveTo>
                        <a:pt x="115" y="221"/>
                      </a:moveTo>
                      <a:lnTo>
                        <a:pt x="480" y="221"/>
                      </a:lnTo>
                      <a:lnTo>
                        <a:pt x="485" y="125"/>
                      </a:lnTo>
                      <a:lnTo>
                        <a:pt x="451" y="58"/>
                      </a:lnTo>
                      <a:lnTo>
                        <a:pt x="365" y="0"/>
                      </a:lnTo>
                      <a:lnTo>
                        <a:pt x="230" y="15"/>
                      </a:lnTo>
                      <a:lnTo>
                        <a:pt x="187" y="72"/>
                      </a:lnTo>
                      <a:lnTo>
                        <a:pt x="178" y="178"/>
                      </a:lnTo>
                      <a:lnTo>
                        <a:pt x="38" y="192"/>
                      </a:lnTo>
                      <a:lnTo>
                        <a:pt x="0" y="216"/>
                      </a:lnTo>
                      <a:lnTo>
                        <a:pt x="134" y="221"/>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83" name="Freeform 314">
                  <a:extLst>
                    <a:ext uri="{FF2B5EF4-FFF2-40B4-BE49-F238E27FC236}">
                      <a16:creationId xmlns:a16="http://schemas.microsoft.com/office/drawing/2014/main" id="{3CD0EAE5-3664-2D24-1EC7-6A58007716C8}"/>
                    </a:ext>
                  </a:extLst>
                </p:cNvPr>
                <p:cNvSpPr>
                  <a:spLocks/>
                </p:cNvSpPr>
                <p:nvPr/>
              </p:nvSpPr>
              <p:spPr bwMode="auto">
                <a:xfrm>
                  <a:off x="3186" y="1541"/>
                  <a:ext cx="218" cy="189"/>
                </a:xfrm>
                <a:custGeom>
                  <a:avLst/>
                  <a:gdLst>
                    <a:gd name="T0" fmla="*/ 0 w 218"/>
                    <a:gd name="T1" fmla="*/ 0 h 190"/>
                    <a:gd name="T2" fmla="*/ 0 w 218"/>
                    <a:gd name="T3" fmla="*/ 5 h 190"/>
                    <a:gd name="T4" fmla="*/ 0 w 218"/>
                    <a:gd name="T5" fmla="*/ 23 h 190"/>
                    <a:gd name="T6" fmla="*/ 4 w 218"/>
                    <a:gd name="T7" fmla="*/ 41 h 190"/>
                    <a:gd name="T8" fmla="*/ 4 w 218"/>
                    <a:gd name="T9" fmla="*/ 56 h 190"/>
                    <a:gd name="T10" fmla="*/ 4 w 218"/>
                    <a:gd name="T11" fmla="*/ 64 h 190"/>
                    <a:gd name="T12" fmla="*/ 4 w 218"/>
                    <a:gd name="T13" fmla="*/ 74 h 190"/>
                    <a:gd name="T14" fmla="*/ 4 w 218"/>
                    <a:gd name="T15" fmla="*/ 83 h 190"/>
                    <a:gd name="T16" fmla="*/ 4 w 218"/>
                    <a:gd name="T17" fmla="*/ 87 h 190"/>
                    <a:gd name="T18" fmla="*/ 4 w 218"/>
                    <a:gd name="T19" fmla="*/ 92 h 190"/>
                    <a:gd name="T20" fmla="*/ 4 w 218"/>
                    <a:gd name="T21" fmla="*/ 96 h 190"/>
                    <a:gd name="T22" fmla="*/ 9 w 218"/>
                    <a:gd name="T23" fmla="*/ 105 h 190"/>
                    <a:gd name="T24" fmla="*/ 14 w 218"/>
                    <a:gd name="T25" fmla="*/ 114 h 190"/>
                    <a:gd name="T26" fmla="*/ 27 w 218"/>
                    <a:gd name="T27" fmla="*/ 119 h 190"/>
                    <a:gd name="T28" fmla="*/ 32 w 218"/>
                    <a:gd name="T29" fmla="*/ 119 h 190"/>
                    <a:gd name="T30" fmla="*/ 37 w 218"/>
                    <a:gd name="T31" fmla="*/ 119 h 190"/>
                    <a:gd name="T32" fmla="*/ 41 w 218"/>
                    <a:gd name="T33" fmla="*/ 114 h 190"/>
                    <a:gd name="T34" fmla="*/ 50 w 218"/>
                    <a:gd name="T35" fmla="*/ 105 h 190"/>
                    <a:gd name="T36" fmla="*/ 60 w 218"/>
                    <a:gd name="T37" fmla="*/ 92 h 190"/>
                    <a:gd name="T38" fmla="*/ 60 w 218"/>
                    <a:gd name="T39" fmla="*/ 87 h 190"/>
                    <a:gd name="T40" fmla="*/ 60 w 218"/>
                    <a:gd name="T41" fmla="*/ 83 h 190"/>
                    <a:gd name="T42" fmla="*/ 65 w 218"/>
                    <a:gd name="T43" fmla="*/ 69 h 190"/>
                    <a:gd name="T44" fmla="*/ 69 w 218"/>
                    <a:gd name="T45" fmla="*/ 59 h 190"/>
                    <a:gd name="T46" fmla="*/ 78 w 218"/>
                    <a:gd name="T47" fmla="*/ 56 h 190"/>
                    <a:gd name="T48" fmla="*/ 93 w 218"/>
                    <a:gd name="T49" fmla="*/ 56 h 190"/>
                    <a:gd name="T50" fmla="*/ 96 w 218"/>
                    <a:gd name="T51" fmla="*/ 59 h 190"/>
                    <a:gd name="T52" fmla="*/ 101 w 218"/>
                    <a:gd name="T53" fmla="*/ 64 h 190"/>
                    <a:gd name="T54" fmla="*/ 101 w 218"/>
                    <a:gd name="T55" fmla="*/ 69 h 190"/>
                    <a:gd name="T56" fmla="*/ 106 w 218"/>
                    <a:gd name="T57" fmla="*/ 79 h 190"/>
                    <a:gd name="T58" fmla="*/ 111 w 218"/>
                    <a:gd name="T59" fmla="*/ 92 h 190"/>
                    <a:gd name="T60" fmla="*/ 111 w 218"/>
                    <a:gd name="T61" fmla="*/ 101 h 190"/>
                    <a:gd name="T62" fmla="*/ 111 w 218"/>
                    <a:gd name="T63" fmla="*/ 124 h 190"/>
                    <a:gd name="T64" fmla="*/ 111 w 218"/>
                    <a:gd name="T65" fmla="*/ 132 h 190"/>
                    <a:gd name="T66" fmla="*/ 111 w 218"/>
                    <a:gd name="T67" fmla="*/ 142 h 190"/>
                    <a:gd name="T68" fmla="*/ 111 w 218"/>
                    <a:gd name="T69" fmla="*/ 155 h 190"/>
                    <a:gd name="T70" fmla="*/ 116 w 218"/>
                    <a:gd name="T71" fmla="*/ 165 h 190"/>
                    <a:gd name="T72" fmla="*/ 120 w 218"/>
                    <a:gd name="T73" fmla="*/ 170 h 190"/>
                    <a:gd name="T74" fmla="*/ 124 w 218"/>
                    <a:gd name="T75" fmla="*/ 174 h 190"/>
                    <a:gd name="T76" fmla="*/ 134 w 218"/>
                    <a:gd name="T77" fmla="*/ 178 h 190"/>
                    <a:gd name="T78" fmla="*/ 152 w 218"/>
                    <a:gd name="T79" fmla="*/ 183 h 190"/>
                    <a:gd name="T80" fmla="*/ 162 w 218"/>
                    <a:gd name="T81" fmla="*/ 188 h 190"/>
                    <a:gd name="T82" fmla="*/ 166 w 218"/>
                    <a:gd name="T83" fmla="*/ 188 h 190"/>
                    <a:gd name="T84" fmla="*/ 176 w 218"/>
                    <a:gd name="T85" fmla="*/ 188 h 190"/>
                    <a:gd name="T86" fmla="*/ 180 w 218"/>
                    <a:gd name="T87" fmla="*/ 188 h 190"/>
                    <a:gd name="T88" fmla="*/ 185 w 218"/>
                    <a:gd name="T89" fmla="*/ 183 h 190"/>
                    <a:gd name="T90" fmla="*/ 194 w 218"/>
                    <a:gd name="T91" fmla="*/ 174 h 190"/>
                    <a:gd name="T92" fmla="*/ 199 w 218"/>
                    <a:gd name="T93" fmla="*/ 165 h 190"/>
                    <a:gd name="T94" fmla="*/ 208 w 218"/>
                    <a:gd name="T95" fmla="*/ 147 h 190"/>
                    <a:gd name="T96" fmla="*/ 217 w 218"/>
                    <a:gd name="T97" fmla="*/ 114 h 190"/>
                    <a:gd name="T98" fmla="*/ 217 w 218"/>
                    <a:gd name="T99" fmla="*/ 96 h 190"/>
                    <a:gd name="T100" fmla="*/ 217 w 218"/>
                    <a:gd name="T101" fmla="*/ 92 h 190"/>
                    <a:gd name="T102" fmla="*/ 217 w 218"/>
                    <a:gd name="T103" fmla="*/ 83 h 190"/>
                    <a:gd name="T104" fmla="*/ 217 w 218"/>
                    <a:gd name="T105" fmla="*/ 74 h 190"/>
                    <a:gd name="T106" fmla="*/ 212 w 218"/>
                    <a:gd name="T107" fmla="*/ 64 h 190"/>
                    <a:gd name="T108" fmla="*/ 203 w 218"/>
                    <a:gd name="T109" fmla="*/ 46 h 190"/>
                    <a:gd name="T110" fmla="*/ 199 w 218"/>
                    <a:gd name="T111" fmla="*/ 36 h 190"/>
                    <a:gd name="T112" fmla="*/ 189 w 218"/>
                    <a:gd name="T113" fmla="*/ 23 h 190"/>
                    <a:gd name="T114" fmla="*/ 176 w 218"/>
                    <a:gd name="T115" fmla="*/ 5 h 190"/>
                    <a:gd name="T116" fmla="*/ 171 w 218"/>
                    <a:gd name="T117" fmla="*/ 0 h 190"/>
                    <a:gd name="T118" fmla="*/ 0 w 218"/>
                    <a:gd name="T119" fmla="*/ 0 h 19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218" h="190">
                      <a:moveTo>
                        <a:pt x="0" y="0"/>
                      </a:moveTo>
                      <a:lnTo>
                        <a:pt x="0" y="5"/>
                      </a:lnTo>
                      <a:lnTo>
                        <a:pt x="0" y="23"/>
                      </a:lnTo>
                      <a:lnTo>
                        <a:pt x="4" y="41"/>
                      </a:lnTo>
                      <a:lnTo>
                        <a:pt x="4" y="56"/>
                      </a:lnTo>
                      <a:lnTo>
                        <a:pt x="4" y="64"/>
                      </a:lnTo>
                      <a:lnTo>
                        <a:pt x="4" y="74"/>
                      </a:lnTo>
                      <a:lnTo>
                        <a:pt x="4" y="83"/>
                      </a:lnTo>
                      <a:lnTo>
                        <a:pt x="4" y="87"/>
                      </a:lnTo>
                      <a:lnTo>
                        <a:pt x="4" y="92"/>
                      </a:lnTo>
                      <a:lnTo>
                        <a:pt x="4" y="97"/>
                      </a:lnTo>
                      <a:lnTo>
                        <a:pt x="9" y="106"/>
                      </a:lnTo>
                      <a:lnTo>
                        <a:pt x="14" y="115"/>
                      </a:lnTo>
                      <a:lnTo>
                        <a:pt x="27" y="120"/>
                      </a:lnTo>
                      <a:lnTo>
                        <a:pt x="32" y="120"/>
                      </a:lnTo>
                      <a:lnTo>
                        <a:pt x="37" y="120"/>
                      </a:lnTo>
                      <a:lnTo>
                        <a:pt x="41" y="115"/>
                      </a:lnTo>
                      <a:lnTo>
                        <a:pt x="50" y="106"/>
                      </a:lnTo>
                      <a:lnTo>
                        <a:pt x="60" y="92"/>
                      </a:lnTo>
                      <a:lnTo>
                        <a:pt x="60" y="87"/>
                      </a:lnTo>
                      <a:lnTo>
                        <a:pt x="60" y="83"/>
                      </a:lnTo>
                      <a:lnTo>
                        <a:pt x="65" y="69"/>
                      </a:lnTo>
                      <a:lnTo>
                        <a:pt x="69" y="59"/>
                      </a:lnTo>
                      <a:lnTo>
                        <a:pt x="78" y="56"/>
                      </a:lnTo>
                      <a:lnTo>
                        <a:pt x="93" y="56"/>
                      </a:lnTo>
                      <a:lnTo>
                        <a:pt x="96" y="59"/>
                      </a:lnTo>
                      <a:lnTo>
                        <a:pt x="101" y="64"/>
                      </a:lnTo>
                      <a:lnTo>
                        <a:pt x="101" y="69"/>
                      </a:lnTo>
                      <a:lnTo>
                        <a:pt x="106" y="79"/>
                      </a:lnTo>
                      <a:lnTo>
                        <a:pt x="111" y="92"/>
                      </a:lnTo>
                      <a:lnTo>
                        <a:pt x="111" y="102"/>
                      </a:lnTo>
                      <a:lnTo>
                        <a:pt x="111" y="125"/>
                      </a:lnTo>
                      <a:lnTo>
                        <a:pt x="111" y="133"/>
                      </a:lnTo>
                      <a:lnTo>
                        <a:pt x="111" y="143"/>
                      </a:lnTo>
                      <a:lnTo>
                        <a:pt x="111" y="156"/>
                      </a:lnTo>
                      <a:lnTo>
                        <a:pt x="116" y="166"/>
                      </a:lnTo>
                      <a:lnTo>
                        <a:pt x="120" y="171"/>
                      </a:lnTo>
                      <a:lnTo>
                        <a:pt x="124" y="175"/>
                      </a:lnTo>
                      <a:lnTo>
                        <a:pt x="134" y="179"/>
                      </a:lnTo>
                      <a:lnTo>
                        <a:pt x="152" y="184"/>
                      </a:lnTo>
                      <a:lnTo>
                        <a:pt x="162" y="189"/>
                      </a:lnTo>
                      <a:lnTo>
                        <a:pt x="166" y="189"/>
                      </a:lnTo>
                      <a:lnTo>
                        <a:pt x="176" y="189"/>
                      </a:lnTo>
                      <a:lnTo>
                        <a:pt x="180" y="189"/>
                      </a:lnTo>
                      <a:lnTo>
                        <a:pt x="185" y="184"/>
                      </a:lnTo>
                      <a:lnTo>
                        <a:pt x="194" y="175"/>
                      </a:lnTo>
                      <a:lnTo>
                        <a:pt x="199" y="166"/>
                      </a:lnTo>
                      <a:lnTo>
                        <a:pt x="208" y="148"/>
                      </a:lnTo>
                      <a:lnTo>
                        <a:pt x="217" y="115"/>
                      </a:lnTo>
                      <a:lnTo>
                        <a:pt x="217" y="97"/>
                      </a:lnTo>
                      <a:lnTo>
                        <a:pt x="217" y="92"/>
                      </a:lnTo>
                      <a:lnTo>
                        <a:pt x="217" y="83"/>
                      </a:lnTo>
                      <a:lnTo>
                        <a:pt x="217" y="74"/>
                      </a:lnTo>
                      <a:lnTo>
                        <a:pt x="212" y="64"/>
                      </a:lnTo>
                      <a:lnTo>
                        <a:pt x="203" y="46"/>
                      </a:lnTo>
                      <a:lnTo>
                        <a:pt x="199" y="36"/>
                      </a:lnTo>
                      <a:lnTo>
                        <a:pt x="189" y="23"/>
                      </a:lnTo>
                      <a:lnTo>
                        <a:pt x="176" y="5"/>
                      </a:lnTo>
                      <a:lnTo>
                        <a:pt x="171" y="0"/>
                      </a:lnTo>
                      <a:lnTo>
                        <a:pt x="0" y="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Roboto" panose="02000000000000000000" pitchFamily="2" charset="0"/>
                    <a:ea typeface="Roboto" panose="02000000000000000000" pitchFamily="2" charset="0"/>
                  </a:endParaRPr>
                </a:p>
              </p:txBody>
            </p:sp>
            <p:sp>
              <p:nvSpPr>
                <p:cNvPr id="84" name="Freeform 315">
                  <a:extLst>
                    <a:ext uri="{FF2B5EF4-FFF2-40B4-BE49-F238E27FC236}">
                      <a16:creationId xmlns:a16="http://schemas.microsoft.com/office/drawing/2014/main" id="{0F1EF069-FF41-17DD-25B6-9303750212F1}"/>
                    </a:ext>
                  </a:extLst>
                </p:cNvPr>
                <p:cNvSpPr>
                  <a:spLocks/>
                </p:cNvSpPr>
                <p:nvPr/>
              </p:nvSpPr>
              <p:spPr bwMode="auto">
                <a:xfrm>
                  <a:off x="3186" y="1541"/>
                  <a:ext cx="231" cy="207"/>
                </a:xfrm>
                <a:custGeom>
                  <a:avLst/>
                  <a:gdLst>
                    <a:gd name="T0" fmla="*/ 0 w 231"/>
                    <a:gd name="T1" fmla="*/ 0 h 207"/>
                    <a:gd name="T2" fmla="*/ 4 w 231"/>
                    <a:gd name="T3" fmla="*/ 72 h 207"/>
                    <a:gd name="T4" fmla="*/ 9 w 231"/>
                    <a:gd name="T5" fmla="*/ 125 h 207"/>
                    <a:gd name="T6" fmla="*/ 52 w 231"/>
                    <a:gd name="T7" fmla="*/ 120 h 207"/>
                    <a:gd name="T8" fmla="*/ 67 w 231"/>
                    <a:gd name="T9" fmla="*/ 62 h 207"/>
                    <a:gd name="T10" fmla="*/ 96 w 231"/>
                    <a:gd name="T11" fmla="*/ 53 h 207"/>
                    <a:gd name="T12" fmla="*/ 120 w 231"/>
                    <a:gd name="T13" fmla="*/ 96 h 207"/>
                    <a:gd name="T14" fmla="*/ 115 w 231"/>
                    <a:gd name="T15" fmla="*/ 178 h 207"/>
                    <a:gd name="T16" fmla="*/ 144 w 231"/>
                    <a:gd name="T17" fmla="*/ 187 h 207"/>
                    <a:gd name="T18" fmla="*/ 187 w 231"/>
                    <a:gd name="T19" fmla="*/ 206 h 207"/>
                    <a:gd name="T20" fmla="*/ 220 w 231"/>
                    <a:gd name="T21" fmla="*/ 139 h 207"/>
                    <a:gd name="T22" fmla="*/ 230 w 231"/>
                    <a:gd name="T23" fmla="*/ 62 h 207"/>
                    <a:gd name="T24" fmla="*/ 177 w 231"/>
                    <a:gd name="T25" fmla="*/ 0 h 2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31" h="207">
                      <a:moveTo>
                        <a:pt x="0" y="0"/>
                      </a:moveTo>
                      <a:lnTo>
                        <a:pt x="4" y="72"/>
                      </a:lnTo>
                      <a:lnTo>
                        <a:pt x="9" y="125"/>
                      </a:lnTo>
                      <a:lnTo>
                        <a:pt x="52" y="120"/>
                      </a:lnTo>
                      <a:lnTo>
                        <a:pt x="67" y="62"/>
                      </a:lnTo>
                      <a:lnTo>
                        <a:pt x="96" y="53"/>
                      </a:lnTo>
                      <a:lnTo>
                        <a:pt x="120" y="96"/>
                      </a:lnTo>
                      <a:lnTo>
                        <a:pt x="115" y="178"/>
                      </a:lnTo>
                      <a:lnTo>
                        <a:pt x="144" y="187"/>
                      </a:lnTo>
                      <a:lnTo>
                        <a:pt x="187" y="206"/>
                      </a:lnTo>
                      <a:lnTo>
                        <a:pt x="220" y="139"/>
                      </a:lnTo>
                      <a:lnTo>
                        <a:pt x="230" y="62"/>
                      </a:lnTo>
                      <a:lnTo>
                        <a:pt x="177" y="0"/>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85" name="Freeform 316">
                  <a:extLst>
                    <a:ext uri="{FF2B5EF4-FFF2-40B4-BE49-F238E27FC236}">
                      <a16:creationId xmlns:a16="http://schemas.microsoft.com/office/drawing/2014/main" id="{1A4CE354-2593-9FBA-1FD4-A41D9774364B}"/>
                    </a:ext>
                  </a:extLst>
                </p:cNvPr>
                <p:cNvSpPr>
                  <a:spLocks/>
                </p:cNvSpPr>
                <p:nvPr/>
              </p:nvSpPr>
              <p:spPr bwMode="auto">
                <a:xfrm>
                  <a:off x="3186" y="1541"/>
                  <a:ext cx="226" cy="198"/>
                </a:xfrm>
                <a:custGeom>
                  <a:avLst/>
                  <a:gdLst>
                    <a:gd name="T0" fmla="*/ 0 w 226"/>
                    <a:gd name="T1" fmla="*/ 0 h 198"/>
                    <a:gd name="T2" fmla="*/ 0 w 226"/>
                    <a:gd name="T3" fmla="*/ 5 h 198"/>
                    <a:gd name="T4" fmla="*/ 0 w 226"/>
                    <a:gd name="T5" fmla="*/ 24 h 198"/>
                    <a:gd name="T6" fmla="*/ 4 w 226"/>
                    <a:gd name="T7" fmla="*/ 43 h 198"/>
                    <a:gd name="T8" fmla="*/ 4 w 226"/>
                    <a:gd name="T9" fmla="*/ 58 h 198"/>
                    <a:gd name="T10" fmla="*/ 4 w 226"/>
                    <a:gd name="T11" fmla="*/ 67 h 198"/>
                    <a:gd name="T12" fmla="*/ 4 w 226"/>
                    <a:gd name="T13" fmla="*/ 77 h 198"/>
                    <a:gd name="T14" fmla="*/ 4 w 226"/>
                    <a:gd name="T15" fmla="*/ 86 h 198"/>
                    <a:gd name="T16" fmla="*/ 4 w 226"/>
                    <a:gd name="T17" fmla="*/ 91 h 198"/>
                    <a:gd name="T18" fmla="*/ 4 w 226"/>
                    <a:gd name="T19" fmla="*/ 96 h 198"/>
                    <a:gd name="T20" fmla="*/ 4 w 226"/>
                    <a:gd name="T21" fmla="*/ 101 h 198"/>
                    <a:gd name="T22" fmla="*/ 9 w 226"/>
                    <a:gd name="T23" fmla="*/ 110 h 198"/>
                    <a:gd name="T24" fmla="*/ 14 w 226"/>
                    <a:gd name="T25" fmla="*/ 120 h 198"/>
                    <a:gd name="T26" fmla="*/ 28 w 226"/>
                    <a:gd name="T27" fmla="*/ 125 h 198"/>
                    <a:gd name="T28" fmla="*/ 33 w 226"/>
                    <a:gd name="T29" fmla="*/ 125 h 198"/>
                    <a:gd name="T30" fmla="*/ 38 w 226"/>
                    <a:gd name="T31" fmla="*/ 125 h 198"/>
                    <a:gd name="T32" fmla="*/ 43 w 226"/>
                    <a:gd name="T33" fmla="*/ 120 h 198"/>
                    <a:gd name="T34" fmla="*/ 52 w 226"/>
                    <a:gd name="T35" fmla="*/ 110 h 198"/>
                    <a:gd name="T36" fmla="*/ 62 w 226"/>
                    <a:gd name="T37" fmla="*/ 96 h 198"/>
                    <a:gd name="T38" fmla="*/ 62 w 226"/>
                    <a:gd name="T39" fmla="*/ 91 h 198"/>
                    <a:gd name="T40" fmla="*/ 62 w 226"/>
                    <a:gd name="T41" fmla="*/ 86 h 198"/>
                    <a:gd name="T42" fmla="*/ 67 w 226"/>
                    <a:gd name="T43" fmla="*/ 72 h 198"/>
                    <a:gd name="T44" fmla="*/ 72 w 226"/>
                    <a:gd name="T45" fmla="*/ 62 h 198"/>
                    <a:gd name="T46" fmla="*/ 81 w 226"/>
                    <a:gd name="T47" fmla="*/ 58 h 198"/>
                    <a:gd name="T48" fmla="*/ 96 w 226"/>
                    <a:gd name="T49" fmla="*/ 58 h 198"/>
                    <a:gd name="T50" fmla="*/ 100 w 226"/>
                    <a:gd name="T51" fmla="*/ 62 h 198"/>
                    <a:gd name="T52" fmla="*/ 105 w 226"/>
                    <a:gd name="T53" fmla="*/ 67 h 198"/>
                    <a:gd name="T54" fmla="*/ 105 w 226"/>
                    <a:gd name="T55" fmla="*/ 72 h 198"/>
                    <a:gd name="T56" fmla="*/ 110 w 226"/>
                    <a:gd name="T57" fmla="*/ 82 h 198"/>
                    <a:gd name="T58" fmla="*/ 115 w 226"/>
                    <a:gd name="T59" fmla="*/ 96 h 198"/>
                    <a:gd name="T60" fmla="*/ 115 w 226"/>
                    <a:gd name="T61" fmla="*/ 106 h 198"/>
                    <a:gd name="T62" fmla="*/ 115 w 226"/>
                    <a:gd name="T63" fmla="*/ 130 h 198"/>
                    <a:gd name="T64" fmla="*/ 115 w 226"/>
                    <a:gd name="T65" fmla="*/ 139 h 198"/>
                    <a:gd name="T66" fmla="*/ 115 w 226"/>
                    <a:gd name="T67" fmla="*/ 149 h 198"/>
                    <a:gd name="T68" fmla="*/ 115 w 226"/>
                    <a:gd name="T69" fmla="*/ 163 h 198"/>
                    <a:gd name="T70" fmla="*/ 120 w 226"/>
                    <a:gd name="T71" fmla="*/ 173 h 198"/>
                    <a:gd name="T72" fmla="*/ 124 w 226"/>
                    <a:gd name="T73" fmla="*/ 178 h 198"/>
                    <a:gd name="T74" fmla="*/ 129 w 226"/>
                    <a:gd name="T75" fmla="*/ 182 h 198"/>
                    <a:gd name="T76" fmla="*/ 139 w 226"/>
                    <a:gd name="T77" fmla="*/ 187 h 198"/>
                    <a:gd name="T78" fmla="*/ 158 w 226"/>
                    <a:gd name="T79" fmla="*/ 192 h 198"/>
                    <a:gd name="T80" fmla="*/ 168 w 226"/>
                    <a:gd name="T81" fmla="*/ 197 h 198"/>
                    <a:gd name="T82" fmla="*/ 172 w 226"/>
                    <a:gd name="T83" fmla="*/ 197 h 198"/>
                    <a:gd name="T84" fmla="*/ 182 w 226"/>
                    <a:gd name="T85" fmla="*/ 197 h 198"/>
                    <a:gd name="T86" fmla="*/ 187 w 226"/>
                    <a:gd name="T87" fmla="*/ 197 h 198"/>
                    <a:gd name="T88" fmla="*/ 192 w 226"/>
                    <a:gd name="T89" fmla="*/ 192 h 198"/>
                    <a:gd name="T90" fmla="*/ 201 w 226"/>
                    <a:gd name="T91" fmla="*/ 182 h 198"/>
                    <a:gd name="T92" fmla="*/ 206 w 226"/>
                    <a:gd name="T93" fmla="*/ 173 h 198"/>
                    <a:gd name="T94" fmla="*/ 216 w 226"/>
                    <a:gd name="T95" fmla="*/ 154 h 198"/>
                    <a:gd name="T96" fmla="*/ 225 w 226"/>
                    <a:gd name="T97" fmla="*/ 120 h 198"/>
                    <a:gd name="T98" fmla="*/ 225 w 226"/>
                    <a:gd name="T99" fmla="*/ 101 h 198"/>
                    <a:gd name="T100" fmla="*/ 225 w 226"/>
                    <a:gd name="T101" fmla="*/ 96 h 198"/>
                    <a:gd name="T102" fmla="*/ 225 w 226"/>
                    <a:gd name="T103" fmla="*/ 86 h 198"/>
                    <a:gd name="T104" fmla="*/ 225 w 226"/>
                    <a:gd name="T105" fmla="*/ 77 h 198"/>
                    <a:gd name="T106" fmla="*/ 220 w 226"/>
                    <a:gd name="T107" fmla="*/ 67 h 198"/>
                    <a:gd name="T108" fmla="*/ 211 w 226"/>
                    <a:gd name="T109" fmla="*/ 48 h 198"/>
                    <a:gd name="T110" fmla="*/ 206 w 226"/>
                    <a:gd name="T111" fmla="*/ 38 h 198"/>
                    <a:gd name="T112" fmla="*/ 196 w 226"/>
                    <a:gd name="T113" fmla="*/ 24 h 198"/>
                    <a:gd name="T114" fmla="*/ 182 w 226"/>
                    <a:gd name="T115" fmla="*/ 5 h 198"/>
                    <a:gd name="T116" fmla="*/ 177 w 226"/>
                    <a:gd name="T117" fmla="*/ 0 h 19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226" h="198">
                      <a:moveTo>
                        <a:pt x="0" y="0"/>
                      </a:moveTo>
                      <a:lnTo>
                        <a:pt x="0" y="5"/>
                      </a:lnTo>
                      <a:lnTo>
                        <a:pt x="0" y="24"/>
                      </a:lnTo>
                      <a:lnTo>
                        <a:pt x="4" y="43"/>
                      </a:lnTo>
                      <a:lnTo>
                        <a:pt x="4" y="58"/>
                      </a:lnTo>
                      <a:lnTo>
                        <a:pt x="4" y="67"/>
                      </a:lnTo>
                      <a:lnTo>
                        <a:pt x="4" y="77"/>
                      </a:lnTo>
                      <a:lnTo>
                        <a:pt x="4" y="86"/>
                      </a:lnTo>
                      <a:lnTo>
                        <a:pt x="4" y="91"/>
                      </a:lnTo>
                      <a:lnTo>
                        <a:pt x="4" y="96"/>
                      </a:lnTo>
                      <a:lnTo>
                        <a:pt x="4" y="101"/>
                      </a:lnTo>
                      <a:lnTo>
                        <a:pt x="9" y="110"/>
                      </a:lnTo>
                      <a:lnTo>
                        <a:pt x="14" y="120"/>
                      </a:lnTo>
                      <a:lnTo>
                        <a:pt x="28" y="125"/>
                      </a:lnTo>
                      <a:lnTo>
                        <a:pt x="33" y="125"/>
                      </a:lnTo>
                      <a:lnTo>
                        <a:pt x="38" y="125"/>
                      </a:lnTo>
                      <a:lnTo>
                        <a:pt x="43" y="120"/>
                      </a:lnTo>
                      <a:lnTo>
                        <a:pt x="52" y="110"/>
                      </a:lnTo>
                      <a:lnTo>
                        <a:pt x="62" y="96"/>
                      </a:lnTo>
                      <a:lnTo>
                        <a:pt x="62" y="91"/>
                      </a:lnTo>
                      <a:lnTo>
                        <a:pt x="62" y="86"/>
                      </a:lnTo>
                      <a:lnTo>
                        <a:pt x="67" y="72"/>
                      </a:lnTo>
                      <a:lnTo>
                        <a:pt x="72" y="62"/>
                      </a:lnTo>
                      <a:lnTo>
                        <a:pt x="81" y="58"/>
                      </a:lnTo>
                      <a:lnTo>
                        <a:pt x="96" y="58"/>
                      </a:lnTo>
                      <a:lnTo>
                        <a:pt x="100" y="62"/>
                      </a:lnTo>
                      <a:lnTo>
                        <a:pt x="105" y="67"/>
                      </a:lnTo>
                      <a:lnTo>
                        <a:pt x="105" y="72"/>
                      </a:lnTo>
                      <a:lnTo>
                        <a:pt x="110" y="82"/>
                      </a:lnTo>
                      <a:lnTo>
                        <a:pt x="115" y="96"/>
                      </a:lnTo>
                      <a:lnTo>
                        <a:pt x="115" y="106"/>
                      </a:lnTo>
                      <a:lnTo>
                        <a:pt x="115" y="130"/>
                      </a:lnTo>
                      <a:lnTo>
                        <a:pt x="115" y="139"/>
                      </a:lnTo>
                      <a:lnTo>
                        <a:pt x="115" y="149"/>
                      </a:lnTo>
                      <a:lnTo>
                        <a:pt x="115" y="163"/>
                      </a:lnTo>
                      <a:lnTo>
                        <a:pt x="120" y="173"/>
                      </a:lnTo>
                      <a:lnTo>
                        <a:pt x="124" y="178"/>
                      </a:lnTo>
                      <a:lnTo>
                        <a:pt x="129" y="182"/>
                      </a:lnTo>
                      <a:lnTo>
                        <a:pt x="139" y="187"/>
                      </a:lnTo>
                      <a:lnTo>
                        <a:pt x="158" y="192"/>
                      </a:lnTo>
                      <a:lnTo>
                        <a:pt x="168" y="197"/>
                      </a:lnTo>
                      <a:lnTo>
                        <a:pt x="172" y="197"/>
                      </a:lnTo>
                      <a:lnTo>
                        <a:pt x="182" y="197"/>
                      </a:lnTo>
                      <a:lnTo>
                        <a:pt x="187" y="197"/>
                      </a:lnTo>
                      <a:lnTo>
                        <a:pt x="192" y="192"/>
                      </a:lnTo>
                      <a:lnTo>
                        <a:pt x="201" y="182"/>
                      </a:lnTo>
                      <a:lnTo>
                        <a:pt x="206" y="173"/>
                      </a:lnTo>
                      <a:lnTo>
                        <a:pt x="216" y="154"/>
                      </a:lnTo>
                      <a:lnTo>
                        <a:pt x="225" y="120"/>
                      </a:lnTo>
                      <a:lnTo>
                        <a:pt x="225" y="101"/>
                      </a:lnTo>
                      <a:lnTo>
                        <a:pt x="225" y="96"/>
                      </a:lnTo>
                      <a:lnTo>
                        <a:pt x="225" y="86"/>
                      </a:lnTo>
                      <a:lnTo>
                        <a:pt x="225" y="77"/>
                      </a:lnTo>
                      <a:lnTo>
                        <a:pt x="220" y="67"/>
                      </a:lnTo>
                      <a:lnTo>
                        <a:pt x="211" y="48"/>
                      </a:lnTo>
                      <a:lnTo>
                        <a:pt x="206" y="38"/>
                      </a:lnTo>
                      <a:lnTo>
                        <a:pt x="196" y="24"/>
                      </a:lnTo>
                      <a:lnTo>
                        <a:pt x="182" y="5"/>
                      </a:lnTo>
                      <a:lnTo>
                        <a:pt x="177" y="0"/>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86" name="Freeform 317">
                  <a:extLst>
                    <a:ext uri="{FF2B5EF4-FFF2-40B4-BE49-F238E27FC236}">
                      <a16:creationId xmlns:a16="http://schemas.microsoft.com/office/drawing/2014/main" id="{1533CC46-75DD-9CDC-E061-321EC7FB54C5}"/>
                    </a:ext>
                  </a:extLst>
                </p:cNvPr>
                <p:cNvSpPr>
                  <a:spLocks/>
                </p:cNvSpPr>
                <p:nvPr/>
              </p:nvSpPr>
              <p:spPr bwMode="auto">
                <a:xfrm>
                  <a:off x="3253" y="1627"/>
                  <a:ext cx="15" cy="44"/>
                </a:xfrm>
                <a:custGeom>
                  <a:avLst/>
                  <a:gdLst>
                    <a:gd name="T0" fmla="*/ 9 w 15"/>
                    <a:gd name="T1" fmla="*/ 0 h 45"/>
                    <a:gd name="T2" fmla="*/ 5 w 15"/>
                    <a:gd name="T3" fmla="*/ 20 h 45"/>
                    <a:gd name="T4" fmla="*/ 14 w 15"/>
                    <a:gd name="T5" fmla="*/ 43 h 45"/>
                    <a:gd name="T6" fmla="*/ 0 w 15"/>
                    <a:gd name="T7" fmla="*/ 38 h 4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45">
                      <a:moveTo>
                        <a:pt x="9" y="0"/>
                      </a:moveTo>
                      <a:lnTo>
                        <a:pt x="5" y="20"/>
                      </a:lnTo>
                      <a:lnTo>
                        <a:pt x="14" y="44"/>
                      </a:lnTo>
                      <a:lnTo>
                        <a:pt x="0" y="39"/>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87" name="Freeform 318">
                  <a:extLst>
                    <a:ext uri="{FF2B5EF4-FFF2-40B4-BE49-F238E27FC236}">
                      <a16:creationId xmlns:a16="http://schemas.microsoft.com/office/drawing/2014/main" id="{5594FCED-05C6-C34B-E289-8A79DC3F36E2}"/>
                    </a:ext>
                  </a:extLst>
                </p:cNvPr>
                <p:cNvSpPr>
                  <a:spLocks/>
                </p:cNvSpPr>
                <p:nvPr/>
              </p:nvSpPr>
              <p:spPr bwMode="auto">
                <a:xfrm>
                  <a:off x="3253" y="1627"/>
                  <a:ext cx="10" cy="44"/>
                </a:xfrm>
                <a:custGeom>
                  <a:avLst/>
                  <a:gdLst>
                    <a:gd name="T0" fmla="*/ 9 w 10"/>
                    <a:gd name="T1" fmla="*/ 0 h 45"/>
                    <a:gd name="T2" fmla="*/ 9 w 10"/>
                    <a:gd name="T3" fmla="*/ 10 h 45"/>
                    <a:gd name="T4" fmla="*/ 9 w 10"/>
                    <a:gd name="T5" fmla="*/ 23 h 45"/>
                    <a:gd name="T6" fmla="*/ 9 w 10"/>
                    <a:gd name="T7" fmla="*/ 33 h 45"/>
                    <a:gd name="T8" fmla="*/ 9 w 10"/>
                    <a:gd name="T9" fmla="*/ 43 h 45"/>
                    <a:gd name="T10" fmla="*/ 9 w 10"/>
                    <a:gd name="T11" fmla="*/ 38 h 45"/>
                    <a:gd name="T12" fmla="*/ 0 w 10"/>
                    <a:gd name="T13" fmla="*/ 38 h 4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 h="45">
                      <a:moveTo>
                        <a:pt x="9" y="0"/>
                      </a:moveTo>
                      <a:lnTo>
                        <a:pt x="9" y="10"/>
                      </a:lnTo>
                      <a:lnTo>
                        <a:pt x="9" y="24"/>
                      </a:lnTo>
                      <a:lnTo>
                        <a:pt x="9" y="34"/>
                      </a:lnTo>
                      <a:lnTo>
                        <a:pt x="9" y="44"/>
                      </a:lnTo>
                      <a:lnTo>
                        <a:pt x="9" y="39"/>
                      </a:lnTo>
                      <a:lnTo>
                        <a:pt x="0" y="39"/>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88" name="Freeform 319">
                  <a:extLst>
                    <a:ext uri="{FF2B5EF4-FFF2-40B4-BE49-F238E27FC236}">
                      <a16:creationId xmlns:a16="http://schemas.microsoft.com/office/drawing/2014/main" id="{9ACB90CA-E2C0-8DE4-F2FF-131EF504EAAC}"/>
                    </a:ext>
                  </a:extLst>
                </p:cNvPr>
                <p:cNvSpPr>
                  <a:spLocks/>
                </p:cNvSpPr>
                <p:nvPr/>
              </p:nvSpPr>
              <p:spPr bwMode="auto">
                <a:xfrm>
                  <a:off x="3364" y="1742"/>
                  <a:ext cx="39" cy="145"/>
                </a:xfrm>
                <a:custGeom>
                  <a:avLst/>
                  <a:gdLst>
                    <a:gd name="T0" fmla="*/ 0 w 40"/>
                    <a:gd name="T1" fmla="*/ 0 h 145"/>
                    <a:gd name="T2" fmla="*/ 10 w 40"/>
                    <a:gd name="T3" fmla="*/ 100 h 145"/>
                    <a:gd name="T4" fmla="*/ 38 w 40"/>
                    <a:gd name="T5" fmla="*/ 144 h 145"/>
                    <a:gd name="T6" fmla="*/ 0 60000 65536"/>
                    <a:gd name="T7" fmla="*/ 0 60000 65536"/>
                    <a:gd name="T8" fmla="*/ 0 60000 65536"/>
                  </a:gdLst>
                  <a:ahLst/>
                  <a:cxnLst>
                    <a:cxn ang="T6">
                      <a:pos x="T0" y="T1"/>
                    </a:cxn>
                    <a:cxn ang="T7">
                      <a:pos x="T2" y="T3"/>
                    </a:cxn>
                    <a:cxn ang="T8">
                      <a:pos x="T4" y="T5"/>
                    </a:cxn>
                  </a:cxnLst>
                  <a:rect l="0" t="0" r="r" b="b"/>
                  <a:pathLst>
                    <a:path w="40" h="145">
                      <a:moveTo>
                        <a:pt x="0" y="0"/>
                      </a:moveTo>
                      <a:lnTo>
                        <a:pt x="10" y="100"/>
                      </a:lnTo>
                      <a:lnTo>
                        <a:pt x="39" y="144"/>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89" name="Freeform 320">
                  <a:extLst>
                    <a:ext uri="{FF2B5EF4-FFF2-40B4-BE49-F238E27FC236}">
                      <a16:creationId xmlns:a16="http://schemas.microsoft.com/office/drawing/2014/main" id="{BB579079-8B0B-7E92-EE6F-57F251F4F29D}"/>
                    </a:ext>
                  </a:extLst>
                </p:cNvPr>
                <p:cNvSpPr>
                  <a:spLocks/>
                </p:cNvSpPr>
                <p:nvPr/>
              </p:nvSpPr>
              <p:spPr bwMode="auto">
                <a:xfrm>
                  <a:off x="3364" y="1742"/>
                  <a:ext cx="39" cy="145"/>
                </a:xfrm>
                <a:custGeom>
                  <a:avLst/>
                  <a:gdLst>
                    <a:gd name="T0" fmla="*/ 0 w 40"/>
                    <a:gd name="T1" fmla="*/ 0 h 145"/>
                    <a:gd name="T2" fmla="*/ 10 w 40"/>
                    <a:gd name="T3" fmla="*/ 100 h 145"/>
                    <a:gd name="T4" fmla="*/ 38 w 40"/>
                    <a:gd name="T5" fmla="*/ 144 h 145"/>
                    <a:gd name="T6" fmla="*/ 0 60000 65536"/>
                    <a:gd name="T7" fmla="*/ 0 60000 65536"/>
                    <a:gd name="T8" fmla="*/ 0 60000 65536"/>
                  </a:gdLst>
                  <a:ahLst/>
                  <a:cxnLst>
                    <a:cxn ang="T6">
                      <a:pos x="T0" y="T1"/>
                    </a:cxn>
                    <a:cxn ang="T7">
                      <a:pos x="T2" y="T3"/>
                    </a:cxn>
                    <a:cxn ang="T8">
                      <a:pos x="T4" y="T5"/>
                    </a:cxn>
                  </a:cxnLst>
                  <a:rect l="0" t="0" r="r" b="b"/>
                  <a:pathLst>
                    <a:path w="40" h="145">
                      <a:moveTo>
                        <a:pt x="0" y="0"/>
                      </a:moveTo>
                      <a:lnTo>
                        <a:pt x="10" y="100"/>
                      </a:lnTo>
                      <a:lnTo>
                        <a:pt x="39" y="144"/>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90" name="Freeform 321">
                  <a:extLst>
                    <a:ext uri="{FF2B5EF4-FFF2-40B4-BE49-F238E27FC236}">
                      <a16:creationId xmlns:a16="http://schemas.microsoft.com/office/drawing/2014/main" id="{9CE8CFC1-99C1-A360-4C3F-38863D76FD3E}"/>
                    </a:ext>
                  </a:extLst>
                </p:cNvPr>
                <p:cNvSpPr>
                  <a:spLocks/>
                </p:cNvSpPr>
                <p:nvPr/>
              </p:nvSpPr>
              <p:spPr bwMode="auto">
                <a:xfrm>
                  <a:off x="3085" y="1833"/>
                  <a:ext cx="313" cy="140"/>
                </a:xfrm>
                <a:custGeom>
                  <a:avLst/>
                  <a:gdLst>
                    <a:gd name="T0" fmla="*/ 293 w 313"/>
                    <a:gd name="T1" fmla="*/ 5 h 140"/>
                    <a:gd name="T2" fmla="*/ 33 w 313"/>
                    <a:gd name="T3" fmla="*/ 77 h 140"/>
                    <a:gd name="T4" fmla="*/ 0 w 313"/>
                    <a:gd name="T5" fmla="*/ 125 h 140"/>
                    <a:gd name="T6" fmla="*/ 24 w 313"/>
                    <a:gd name="T7" fmla="*/ 139 h 140"/>
                    <a:gd name="T8" fmla="*/ 216 w 313"/>
                    <a:gd name="T9" fmla="*/ 91 h 140"/>
                    <a:gd name="T10" fmla="*/ 312 w 313"/>
                    <a:gd name="T11" fmla="*/ 19 h 140"/>
                    <a:gd name="T12" fmla="*/ 288 w 313"/>
                    <a:gd name="T13" fmla="*/ 0 h 140"/>
                    <a:gd name="T14" fmla="*/ 293 w 313"/>
                    <a:gd name="T15" fmla="*/ 5 h 1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13" h="140">
                      <a:moveTo>
                        <a:pt x="293" y="5"/>
                      </a:moveTo>
                      <a:lnTo>
                        <a:pt x="33" y="77"/>
                      </a:lnTo>
                      <a:lnTo>
                        <a:pt x="0" y="125"/>
                      </a:lnTo>
                      <a:lnTo>
                        <a:pt x="24" y="139"/>
                      </a:lnTo>
                      <a:lnTo>
                        <a:pt x="216" y="91"/>
                      </a:lnTo>
                      <a:lnTo>
                        <a:pt x="312" y="19"/>
                      </a:lnTo>
                      <a:lnTo>
                        <a:pt x="288" y="0"/>
                      </a:lnTo>
                      <a:lnTo>
                        <a:pt x="293" y="5"/>
                      </a:lnTo>
                    </a:path>
                  </a:pathLst>
                </a:custGeom>
                <a:blipFill dpi="0" rotWithShape="0">
                  <a:blip r:embed="rId6"/>
                  <a:srcRect/>
                  <a:tile tx="0" ty="0" sx="100000" sy="100000" flip="none" algn="tl"/>
                </a:blipFill>
                <a:ln w="12700" cap="rnd" cmpd="sng">
                  <a:solidFill>
                    <a:srgbClr val="000000"/>
                  </a:solidFill>
                  <a:prstDash val="solid"/>
                  <a:round/>
                  <a:headEnd type="none" w="med" len="med"/>
                  <a:tailEnd type="none" w="med" len="med"/>
                </a:ln>
              </p:spPr>
              <p:txBody>
                <a:bodyPr/>
                <a:lstStyle/>
                <a:p>
                  <a:endParaRPr lang="en-US">
                    <a:latin typeface="Roboto" panose="02000000000000000000" pitchFamily="2" charset="0"/>
                    <a:ea typeface="Roboto" panose="02000000000000000000" pitchFamily="2" charset="0"/>
                  </a:endParaRPr>
                </a:p>
              </p:txBody>
            </p:sp>
            <p:sp>
              <p:nvSpPr>
                <p:cNvPr id="91" name="Freeform 322">
                  <a:extLst>
                    <a:ext uri="{FF2B5EF4-FFF2-40B4-BE49-F238E27FC236}">
                      <a16:creationId xmlns:a16="http://schemas.microsoft.com/office/drawing/2014/main" id="{8AA83F1B-4B98-BA9F-A08B-644DC5A2BECB}"/>
                    </a:ext>
                  </a:extLst>
                </p:cNvPr>
                <p:cNvSpPr>
                  <a:spLocks/>
                </p:cNvSpPr>
                <p:nvPr/>
              </p:nvSpPr>
              <p:spPr bwMode="auto">
                <a:xfrm>
                  <a:off x="3085" y="1833"/>
                  <a:ext cx="313" cy="140"/>
                </a:xfrm>
                <a:custGeom>
                  <a:avLst/>
                  <a:gdLst>
                    <a:gd name="T0" fmla="*/ 293 w 313"/>
                    <a:gd name="T1" fmla="*/ 5 h 140"/>
                    <a:gd name="T2" fmla="*/ 33 w 313"/>
                    <a:gd name="T3" fmla="*/ 77 h 140"/>
                    <a:gd name="T4" fmla="*/ 0 w 313"/>
                    <a:gd name="T5" fmla="*/ 125 h 140"/>
                    <a:gd name="T6" fmla="*/ 24 w 313"/>
                    <a:gd name="T7" fmla="*/ 139 h 140"/>
                    <a:gd name="T8" fmla="*/ 216 w 313"/>
                    <a:gd name="T9" fmla="*/ 91 h 140"/>
                    <a:gd name="T10" fmla="*/ 312 w 313"/>
                    <a:gd name="T11" fmla="*/ 19 h 140"/>
                    <a:gd name="T12" fmla="*/ 288 w 313"/>
                    <a:gd name="T13" fmla="*/ 0 h 14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13" h="140">
                      <a:moveTo>
                        <a:pt x="293" y="5"/>
                      </a:moveTo>
                      <a:lnTo>
                        <a:pt x="33" y="77"/>
                      </a:lnTo>
                      <a:lnTo>
                        <a:pt x="0" y="125"/>
                      </a:lnTo>
                      <a:lnTo>
                        <a:pt x="24" y="139"/>
                      </a:lnTo>
                      <a:lnTo>
                        <a:pt x="216" y="91"/>
                      </a:lnTo>
                      <a:lnTo>
                        <a:pt x="312" y="19"/>
                      </a:lnTo>
                      <a:lnTo>
                        <a:pt x="288" y="0"/>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92" name="Freeform 323">
                  <a:extLst>
                    <a:ext uri="{FF2B5EF4-FFF2-40B4-BE49-F238E27FC236}">
                      <a16:creationId xmlns:a16="http://schemas.microsoft.com/office/drawing/2014/main" id="{61F5F351-D136-FF29-80D8-2F384A3799CB}"/>
                    </a:ext>
                  </a:extLst>
                </p:cNvPr>
                <p:cNvSpPr>
                  <a:spLocks/>
                </p:cNvSpPr>
                <p:nvPr/>
              </p:nvSpPr>
              <p:spPr bwMode="auto">
                <a:xfrm>
                  <a:off x="3182" y="1833"/>
                  <a:ext cx="24" cy="58"/>
                </a:xfrm>
                <a:custGeom>
                  <a:avLst/>
                  <a:gdLst>
                    <a:gd name="T0" fmla="*/ 23 w 25"/>
                    <a:gd name="T1" fmla="*/ 0 h 58"/>
                    <a:gd name="T2" fmla="*/ 13 w 25"/>
                    <a:gd name="T3" fmla="*/ 33 h 58"/>
                    <a:gd name="T4" fmla="*/ 0 w 25"/>
                    <a:gd name="T5" fmla="*/ 57 h 58"/>
                    <a:gd name="T6" fmla="*/ 0 60000 65536"/>
                    <a:gd name="T7" fmla="*/ 0 60000 65536"/>
                    <a:gd name="T8" fmla="*/ 0 60000 65536"/>
                  </a:gdLst>
                  <a:ahLst/>
                  <a:cxnLst>
                    <a:cxn ang="T6">
                      <a:pos x="T0" y="T1"/>
                    </a:cxn>
                    <a:cxn ang="T7">
                      <a:pos x="T2" y="T3"/>
                    </a:cxn>
                    <a:cxn ang="T8">
                      <a:pos x="T4" y="T5"/>
                    </a:cxn>
                  </a:cxnLst>
                  <a:rect l="0" t="0" r="r" b="b"/>
                  <a:pathLst>
                    <a:path w="25" h="58">
                      <a:moveTo>
                        <a:pt x="24" y="0"/>
                      </a:moveTo>
                      <a:lnTo>
                        <a:pt x="14" y="33"/>
                      </a:lnTo>
                      <a:lnTo>
                        <a:pt x="0" y="57"/>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93" name="Freeform 324">
                  <a:extLst>
                    <a:ext uri="{FF2B5EF4-FFF2-40B4-BE49-F238E27FC236}">
                      <a16:creationId xmlns:a16="http://schemas.microsoft.com/office/drawing/2014/main" id="{BD96C5A5-01BF-B646-3936-2B8B6E41DBB3}"/>
                    </a:ext>
                  </a:extLst>
                </p:cNvPr>
                <p:cNvSpPr>
                  <a:spLocks/>
                </p:cNvSpPr>
                <p:nvPr/>
              </p:nvSpPr>
              <p:spPr bwMode="auto">
                <a:xfrm>
                  <a:off x="3182" y="1833"/>
                  <a:ext cx="24" cy="58"/>
                </a:xfrm>
                <a:custGeom>
                  <a:avLst/>
                  <a:gdLst>
                    <a:gd name="T0" fmla="*/ 23 w 25"/>
                    <a:gd name="T1" fmla="*/ 0 h 58"/>
                    <a:gd name="T2" fmla="*/ 18 w 25"/>
                    <a:gd name="T3" fmla="*/ 19 h 58"/>
                    <a:gd name="T4" fmla="*/ 9 w 25"/>
                    <a:gd name="T5" fmla="*/ 43 h 58"/>
                    <a:gd name="T6" fmla="*/ 0 w 25"/>
                    <a:gd name="T7" fmla="*/ 57 h 5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58">
                      <a:moveTo>
                        <a:pt x="24" y="0"/>
                      </a:moveTo>
                      <a:lnTo>
                        <a:pt x="19" y="19"/>
                      </a:lnTo>
                      <a:lnTo>
                        <a:pt x="9" y="43"/>
                      </a:lnTo>
                      <a:lnTo>
                        <a:pt x="0" y="57"/>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94" name="Freeform 325">
                  <a:extLst>
                    <a:ext uri="{FF2B5EF4-FFF2-40B4-BE49-F238E27FC236}">
                      <a16:creationId xmlns:a16="http://schemas.microsoft.com/office/drawing/2014/main" id="{8D780EFF-0DB6-244E-5DB5-842649C969E4}"/>
                    </a:ext>
                  </a:extLst>
                </p:cNvPr>
                <p:cNvSpPr>
                  <a:spLocks/>
                </p:cNvSpPr>
                <p:nvPr/>
              </p:nvSpPr>
              <p:spPr bwMode="auto">
                <a:xfrm>
                  <a:off x="3013" y="2529"/>
                  <a:ext cx="502" cy="1146"/>
                </a:xfrm>
                <a:custGeom>
                  <a:avLst/>
                  <a:gdLst>
                    <a:gd name="T0" fmla="*/ 434 w 502"/>
                    <a:gd name="T1" fmla="*/ 14 h 1145"/>
                    <a:gd name="T2" fmla="*/ 463 w 502"/>
                    <a:gd name="T3" fmla="*/ 62 h 1145"/>
                    <a:gd name="T4" fmla="*/ 481 w 502"/>
                    <a:gd name="T5" fmla="*/ 104 h 1145"/>
                    <a:gd name="T6" fmla="*/ 491 w 502"/>
                    <a:gd name="T7" fmla="*/ 128 h 1145"/>
                    <a:gd name="T8" fmla="*/ 496 w 502"/>
                    <a:gd name="T9" fmla="*/ 148 h 1145"/>
                    <a:gd name="T10" fmla="*/ 501 w 502"/>
                    <a:gd name="T11" fmla="*/ 200 h 1145"/>
                    <a:gd name="T12" fmla="*/ 496 w 502"/>
                    <a:gd name="T13" fmla="*/ 228 h 1145"/>
                    <a:gd name="T14" fmla="*/ 472 w 502"/>
                    <a:gd name="T15" fmla="*/ 262 h 1145"/>
                    <a:gd name="T16" fmla="*/ 444 w 502"/>
                    <a:gd name="T17" fmla="*/ 291 h 1145"/>
                    <a:gd name="T18" fmla="*/ 415 w 502"/>
                    <a:gd name="T19" fmla="*/ 315 h 1145"/>
                    <a:gd name="T20" fmla="*/ 378 w 502"/>
                    <a:gd name="T21" fmla="*/ 329 h 1145"/>
                    <a:gd name="T22" fmla="*/ 363 w 502"/>
                    <a:gd name="T23" fmla="*/ 329 h 1145"/>
                    <a:gd name="T24" fmla="*/ 344 w 502"/>
                    <a:gd name="T25" fmla="*/ 339 h 1145"/>
                    <a:gd name="T26" fmla="*/ 331 w 502"/>
                    <a:gd name="T27" fmla="*/ 353 h 1145"/>
                    <a:gd name="T28" fmla="*/ 316 w 502"/>
                    <a:gd name="T29" fmla="*/ 376 h 1145"/>
                    <a:gd name="T30" fmla="*/ 307 w 502"/>
                    <a:gd name="T31" fmla="*/ 405 h 1145"/>
                    <a:gd name="T32" fmla="*/ 297 w 502"/>
                    <a:gd name="T33" fmla="*/ 438 h 1145"/>
                    <a:gd name="T34" fmla="*/ 292 w 502"/>
                    <a:gd name="T35" fmla="*/ 467 h 1145"/>
                    <a:gd name="T36" fmla="*/ 288 w 502"/>
                    <a:gd name="T37" fmla="*/ 509 h 1145"/>
                    <a:gd name="T38" fmla="*/ 283 w 502"/>
                    <a:gd name="T39" fmla="*/ 553 h 1145"/>
                    <a:gd name="T40" fmla="*/ 279 w 502"/>
                    <a:gd name="T41" fmla="*/ 616 h 1145"/>
                    <a:gd name="T42" fmla="*/ 274 w 502"/>
                    <a:gd name="T43" fmla="*/ 682 h 1145"/>
                    <a:gd name="T44" fmla="*/ 269 w 502"/>
                    <a:gd name="T45" fmla="*/ 754 h 1145"/>
                    <a:gd name="T46" fmla="*/ 265 w 502"/>
                    <a:gd name="T47" fmla="*/ 820 h 1145"/>
                    <a:gd name="T48" fmla="*/ 260 w 502"/>
                    <a:gd name="T49" fmla="*/ 883 h 1145"/>
                    <a:gd name="T50" fmla="*/ 260 w 502"/>
                    <a:gd name="T51" fmla="*/ 949 h 1145"/>
                    <a:gd name="T52" fmla="*/ 260 w 502"/>
                    <a:gd name="T53" fmla="*/ 1011 h 1145"/>
                    <a:gd name="T54" fmla="*/ 255 w 502"/>
                    <a:gd name="T55" fmla="*/ 1064 h 1145"/>
                    <a:gd name="T56" fmla="*/ 255 w 502"/>
                    <a:gd name="T57" fmla="*/ 1101 h 1145"/>
                    <a:gd name="T58" fmla="*/ 255 w 502"/>
                    <a:gd name="T59" fmla="*/ 1121 h 1145"/>
                    <a:gd name="T60" fmla="*/ 255 w 502"/>
                    <a:gd name="T61" fmla="*/ 1135 h 1145"/>
                    <a:gd name="T62" fmla="*/ 260 w 502"/>
                    <a:gd name="T63" fmla="*/ 1140 h 1145"/>
                    <a:gd name="T64" fmla="*/ 255 w 502"/>
                    <a:gd name="T65" fmla="*/ 1125 h 1145"/>
                    <a:gd name="T66" fmla="*/ 231 w 502"/>
                    <a:gd name="T67" fmla="*/ 1121 h 1145"/>
                    <a:gd name="T68" fmla="*/ 203 w 502"/>
                    <a:gd name="T69" fmla="*/ 1121 h 1145"/>
                    <a:gd name="T70" fmla="*/ 165 w 502"/>
                    <a:gd name="T71" fmla="*/ 1121 h 1145"/>
                    <a:gd name="T72" fmla="*/ 132 w 502"/>
                    <a:gd name="T73" fmla="*/ 1121 h 1145"/>
                    <a:gd name="T74" fmla="*/ 85 w 502"/>
                    <a:gd name="T75" fmla="*/ 1121 h 1145"/>
                    <a:gd name="T76" fmla="*/ 56 w 502"/>
                    <a:gd name="T77" fmla="*/ 1121 h 1145"/>
                    <a:gd name="T78" fmla="*/ 29 w 502"/>
                    <a:gd name="T79" fmla="*/ 1111 h 1145"/>
                    <a:gd name="T80" fmla="*/ 14 w 502"/>
                    <a:gd name="T81" fmla="*/ 1101 h 1145"/>
                    <a:gd name="T82" fmla="*/ 5 w 502"/>
                    <a:gd name="T83" fmla="*/ 1082 h 1145"/>
                    <a:gd name="T84" fmla="*/ 0 w 502"/>
                    <a:gd name="T85" fmla="*/ 1054 h 1145"/>
                    <a:gd name="T86" fmla="*/ 0 w 502"/>
                    <a:gd name="T87" fmla="*/ 1035 h 1145"/>
                    <a:gd name="T88" fmla="*/ 0 w 502"/>
                    <a:gd name="T89" fmla="*/ 1011 h 1145"/>
                    <a:gd name="T90" fmla="*/ 0 w 502"/>
                    <a:gd name="T91" fmla="*/ 973 h 1145"/>
                    <a:gd name="T92" fmla="*/ 0 w 502"/>
                    <a:gd name="T93" fmla="*/ 926 h 1145"/>
                    <a:gd name="T94" fmla="*/ 5 w 502"/>
                    <a:gd name="T95" fmla="*/ 868 h 1145"/>
                    <a:gd name="T96" fmla="*/ 9 w 502"/>
                    <a:gd name="T97" fmla="*/ 801 h 1145"/>
                    <a:gd name="T98" fmla="*/ 19 w 502"/>
                    <a:gd name="T99" fmla="*/ 635 h 1145"/>
                    <a:gd name="T100" fmla="*/ 24 w 502"/>
                    <a:gd name="T101" fmla="*/ 597 h 1145"/>
                    <a:gd name="T102" fmla="*/ 29 w 502"/>
                    <a:gd name="T103" fmla="*/ 553 h 1145"/>
                    <a:gd name="T104" fmla="*/ 32 w 502"/>
                    <a:gd name="T105" fmla="*/ 509 h 1145"/>
                    <a:gd name="T106" fmla="*/ 32 w 502"/>
                    <a:gd name="T107" fmla="*/ 477 h 1145"/>
                    <a:gd name="T108" fmla="*/ 32 w 502"/>
                    <a:gd name="T109" fmla="*/ 462 h 1145"/>
                    <a:gd name="T110" fmla="*/ 32 w 502"/>
                    <a:gd name="T111" fmla="*/ 405 h 1145"/>
                    <a:gd name="T112" fmla="*/ 32 w 502"/>
                    <a:gd name="T113" fmla="*/ 358 h 1145"/>
                    <a:gd name="T114" fmla="*/ 32 w 502"/>
                    <a:gd name="T115" fmla="*/ 305 h 1145"/>
                    <a:gd name="T116" fmla="*/ 29 w 502"/>
                    <a:gd name="T117" fmla="*/ 233 h 1145"/>
                    <a:gd name="T118" fmla="*/ 19 w 502"/>
                    <a:gd name="T119" fmla="*/ 172 h 1145"/>
                    <a:gd name="T120" fmla="*/ 5 w 502"/>
                    <a:gd name="T121" fmla="*/ 48 h 114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502" h="1145">
                      <a:moveTo>
                        <a:pt x="425" y="0"/>
                      </a:moveTo>
                      <a:lnTo>
                        <a:pt x="434" y="14"/>
                      </a:lnTo>
                      <a:lnTo>
                        <a:pt x="449" y="43"/>
                      </a:lnTo>
                      <a:lnTo>
                        <a:pt x="463" y="62"/>
                      </a:lnTo>
                      <a:lnTo>
                        <a:pt x="472" y="85"/>
                      </a:lnTo>
                      <a:lnTo>
                        <a:pt x="481" y="104"/>
                      </a:lnTo>
                      <a:lnTo>
                        <a:pt x="486" y="114"/>
                      </a:lnTo>
                      <a:lnTo>
                        <a:pt x="491" y="128"/>
                      </a:lnTo>
                      <a:lnTo>
                        <a:pt x="496" y="143"/>
                      </a:lnTo>
                      <a:lnTo>
                        <a:pt x="496" y="148"/>
                      </a:lnTo>
                      <a:lnTo>
                        <a:pt x="501" y="167"/>
                      </a:lnTo>
                      <a:lnTo>
                        <a:pt x="501" y="200"/>
                      </a:lnTo>
                      <a:lnTo>
                        <a:pt x="496" y="219"/>
                      </a:lnTo>
                      <a:lnTo>
                        <a:pt x="496" y="228"/>
                      </a:lnTo>
                      <a:lnTo>
                        <a:pt x="486" y="243"/>
                      </a:lnTo>
                      <a:lnTo>
                        <a:pt x="472" y="262"/>
                      </a:lnTo>
                      <a:lnTo>
                        <a:pt x="458" y="281"/>
                      </a:lnTo>
                      <a:lnTo>
                        <a:pt x="444" y="291"/>
                      </a:lnTo>
                      <a:lnTo>
                        <a:pt x="434" y="300"/>
                      </a:lnTo>
                      <a:lnTo>
                        <a:pt x="415" y="315"/>
                      </a:lnTo>
                      <a:lnTo>
                        <a:pt x="397" y="324"/>
                      </a:lnTo>
                      <a:lnTo>
                        <a:pt x="378" y="329"/>
                      </a:lnTo>
                      <a:lnTo>
                        <a:pt x="368" y="329"/>
                      </a:lnTo>
                      <a:lnTo>
                        <a:pt x="363" y="329"/>
                      </a:lnTo>
                      <a:lnTo>
                        <a:pt x="354" y="334"/>
                      </a:lnTo>
                      <a:lnTo>
                        <a:pt x="344" y="339"/>
                      </a:lnTo>
                      <a:lnTo>
                        <a:pt x="336" y="348"/>
                      </a:lnTo>
                      <a:lnTo>
                        <a:pt x="331" y="353"/>
                      </a:lnTo>
                      <a:lnTo>
                        <a:pt x="321" y="366"/>
                      </a:lnTo>
                      <a:lnTo>
                        <a:pt x="316" y="376"/>
                      </a:lnTo>
                      <a:lnTo>
                        <a:pt x="312" y="395"/>
                      </a:lnTo>
                      <a:lnTo>
                        <a:pt x="307" y="405"/>
                      </a:lnTo>
                      <a:lnTo>
                        <a:pt x="302" y="424"/>
                      </a:lnTo>
                      <a:lnTo>
                        <a:pt x="297" y="438"/>
                      </a:lnTo>
                      <a:lnTo>
                        <a:pt x="297" y="448"/>
                      </a:lnTo>
                      <a:lnTo>
                        <a:pt x="292" y="467"/>
                      </a:lnTo>
                      <a:lnTo>
                        <a:pt x="292" y="482"/>
                      </a:lnTo>
                      <a:lnTo>
                        <a:pt x="288" y="509"/>
                      </a:lnTo>
                      <a:lnTo>
                        <a:pt x="288" y="529"/>
                      </a:lnTo>
                      <a:lnTo>
                        <a:pt x="283" y="553"/>
                      </a:lnTo>
                      <a:lnTo>
                        <a:pt x="279" y="586"/>
                      </a:lnTo>
                      <a:lnTo>
                        <a:pt x="279" y="615"/>
                      </a:lnTo>
                      <a:lnTo>
                        <a:pt x="274" y="648"/>
                      </a:lnTo>
                      <a:lnTo>
                        <a:pt x="274" y="681"/>
                      </a:lnTo>
                      <a:lnTo>
                        <a:pt x="269" y="719"/>
                      </a:lnTo>
                      <a:lnTo>
                        <a:pt x="269" y="753"/>
                      </a:lnTo>
                      <a:lnTo>
                        <a:pt x="265" y="800"/>
                      </a:lnTo>
                      <a:lnTo>
                        <a:pt x="265" y="819"/>
                      </a:lnTo>
                      <a:lnTo>
                        <a:pt x="265" y="838"/>
                      </a:lnTo>
                      <a:lnTo>
                        <a:pt x="260" y="882"/>
                      </a:lnTo>
                      <a:lnTo>
                        <a:pt x="260" y="920"/>
                      </a:lnTo>
                      <a:lnTo>
                        <a:pt x="260" y="948"/>
                      </a:lnTo>
                      <a:lnTo>
                        <a:pt x="260" y="981"/>
                      </a:lnTo>
                      <a:lnTo>
                        <a:pt x="260" y="1010"/>
                      </a:lnTo>
                      <a:lnTo>
                        <a:pt x="255" y="1039"/>
                      </a:lnTo>
                      <a:lnTo>
                        <a:pt x="255" y="1063"/>
                      </a:lnTo>
                      <a:lnTo>
                        <a:pt x="255" y="1081"/>
                      </a:lnTo>
                      <a:lnTo>
                        <a:pt x="255" y="1100"/>
                      </a:lnTo>
                      <a:lnTo>
                        <a:pt x="255" y="1110"/>
                      </a:lnTo>
                      <a:lnTo>
                        <a:pt x="255" y="1120"/>
                      </a:lnTo>
                      <a:lnTo>
                        <a:pt x="255" y="1129"/>
                      </a:lnTo>
                      <a:lnTo>
                        <a:pt x="255" y="1134"/>
                      </a:lnTo>
                      <a:lnTo>
                        <a:pt x="260" y="1144"/>
                      </a:lnTo>
                      <a:lnTo>
                        <a:pt x="260" y="1139"/>
                      </a:lnTo>
                      <a:lnTo>
                        <a:pt x="260" y="1129"/>
                      </a:lnTo>
                      <a:lnTo>
                        <a:pt x="255" y="1124"/>
                      </a:lnTo>
                      <a:lnTo>
                        <a:pt x="250" y="1124"/>
                      </a:lnTo>
                      <a:lnTo>
                        <a:pt x="231" y="1120"/>
                      </a:lnTo>
                      <a:lnTo>
                        <a:pt x="221" y="1120"/>
                      </a:lnTo>
                      <a:lnTo>
                        <a:pt x="203" y="1120"/>
                      </a:lnTo>
                      <a:lnTo>
                        <a:pt x="174" y="1120"/>
                      </a:lnTo>
                      <a:lnTo>
                        <a:pt x="165" y="1120"/>
                      </a:lnTo>
                      <a:lnTo>
                        <a:pt x="156" y="1120"/>
                      </a:lnTo>
                      <a:lnTo>
                        <a:pt x="132" y="1120"/>
                      </a:lnTo>
                      <a:lnTo>
                        <a:pt x="103" y="1120"/>
                      </a:lnTo>
                      <a:lnTo>
                        <a:pt x="85" y="1120"/>
                      </a:lnTo>
                      <a:lnTo>
                        <a:pt x="71" y="1120"/>
                      </a:lnTo>
                      <a:lnTo>
                        <a:pt x="56" y="1120"/>
                      </a:lnTo>
                      <a:lnTo>
                        <a:pt x="42" y="1115"/>
                      </a:lnTo>
                      <a:lnTo>
                        <a:pt x="29" y="1110"/>
                      </a:lnTo>
                      <a:lnTo>
                        <a:pt x="19" y="1105"/>
                      </a:lnTo>
                      <a:lnTo>
                        <a:pt x="14" y="1100"/>
                      </a:lnTo>
                      <a:lnTo>
                        <a:pt x="9" y="1091"/>
                      </a:lnTo>
                      <a:lnTo>
                        <a:pt x="5" y="1081"/>
                      </a:lnTo>
                      <a:lnTo>
                        <a:pt x="5" y="1073"/>
                      </a:lnTo>
                      <a:lnTo>
                        <a:pt x="0" y="1053"/>
                      </a:lnTo>
                      <a:lnTo>
                        <a:pt x="0" y="1044"/>
                      </a:lnTo>
                      <a:lnTo>
                        <a:pt x="0" y="1034"/>
                      </a:lnTo>
                      <a:lnTo>
                        <a:pt x="0" y="1025"/>
                      </a:lnTo>
                      <a:lnTo>
                        <a:pt x="0" y="1010"/>
                      </a:lnTo>
                      <a:lnTo>
                        <a:pt x="0" y="991"/>
                      </a:lnTo>
                      <a:lnTo>
                        <a:pt x="0" y="972"/>
                      </a:lnTo>
                      <a:lnTo>
                        <a:pt x="0" y="948"/>
                      </a:lnTo>
                      <a:lnTo>
                        <a:pt x="0" y="925"/>
                      </a:lnTo>
                      <a:lnTo>
                        <a:pt x="5" y="896"/>
                      </a:lnTo>
                      <a:lnTo>
                        <a:pt x="5" y="867"/>
                      </a:lnTo>
                      <a:lnTo>
                        <a:pt x="5" y="858"/>
                      </a:lnTo>
                      <a:lnTo>
                        <a:pt x="9" y="800"/>
                      </a:lnTo>
                      <a:lnTo>
                        <a:pt x="14" y="691"/>
                      </a:lnTo>
                      <a:lnTo>
                        <a:pt x="19" y="634"/>
                      </a:lnTo>
                      <a:lnTo>
                        <a:pt x="19" y="625"/>
                      </a:lnTo>
                      <a:lnTo>
                        <a:pt x="24" y="596"/>
                      </a:lnTo>
                      <a:lnTo>
                        <a:pt x="29" y="567"/>
                      </a:lnTo>
                      <a:lnTo>
                        <a:pt x="29" y="553"/>
                      </a:lnTo>
                      <a:lnTo>
                        <a:pt x="29" y="529"/>
                      </a:lnTo>
                      <a:lnTo>
                        <a:pt x="32" y="509"/>
                      </a:lnTo>
                      <a:lnTo>
                        <a:pt x="32" y="491"/>
                      </a:lnTo>
                      <a:lnTo>
                        <a:pt x="32" y="477"/>
                      </a:lnTo>
                      <a:lnTo>
                        <a:pt x="32" y="472"/>
                      </a:lnTo>
                      <a:lnTo>
                        <a:pt x="32" y="462"/>
                      </a:lnTo>
                      <a:lnTo>
                        <a:pt x="32" y="434"/>
                      </a:lnTo>
                      <a:lnTo>
                        <a:pt x="32" y="405"/>
                      </a:lnTo>
                      <a:lnTo>
                        <a:pt x="32" y="376"/>
                      </a:lnTo>
                      <a:lnTo>
                        <a:pt x="32" y="358"/>
                      </a:lnTo>
                      <a:lnTo>
                        <a:pt x="32" y="343"/>
                      </a:lnTo>
                      <a:lnTo>
                        <a:pt x="32" y="305"/>
                      </a:lnTo>
                      <a:lnTo>
                        <a:pt x="32" y="271"/>
                      </a:lnTo>
                      <a:lnTo>
                        <a:pt x="29" y="233"/>
                      </a:lnTo>
                      <a:lnTo>
                        <a:pt x="24" y="210"/>
                      </a:lnTo>
                      <a:lnTo>
                        <a:pt x="19" y="172"/>
                      </a:lnTo>
                      <a:lnTo>
                        <a:pt x="9" y="90"/>
                      </a:lnTo>
                      <a:lnTo>
                        <a:pt x="5" y="48"/>
                      </a:lnTo>
                      <a:lnTo>
                        <a:pt x="425" y="0"/>
                      </a:ln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Roboto" panose="02000000000000000000" pitchFamily="2" charset="0"/>
                    <a:ea typeface="Roboto" panose="02000000000000000000" pitchFamily="2" charset="0"/>
                  </a:endParaRPr>
                </a:p>
              </p:txBody>
            </p:sp>
            <p:sp>
              <p:nvSpPr>
                <p:cNvPr id="95" name="Freeform 326">
                  <a:extLst>
                    <a:ext uri="{FF2B5EF4-FFF2-40B4-BE49-F238E27FC236}">
                      <a16:creationId xmlns:a16="http://schemas.microsoft.com/office/drawing/2014/main" id="{07A88A0F-5CD4-A2E2-210D-B1357DB8E9E4}"/>
                    </a:ext>
                  </a:extLst>
                </p:cNvPr>
                <p:cNvSpPr>
                  <a:spLocks/>
                </p:cNvSpPr>
                <p:nvPr/>
              </p:nvSpPr>
              <p:spPr bwMode="auto">
                <a:xfrm>
                  <a:off x="3013" y="2529"/>
                  <a:ext cx="510" cy="1173"/>
                </a:xfrm>
                <a:custGeom>
                  <a:avLst/>
                  <a:gdLst>
                    <a:gd name="T0" fmla="*/ 432 w 510"/>
                    <a:gd name="T1" fmla="*/ 0 h 1172"/>
                    <a:gd name="T2" fmla="*/ 499 w 510"/>
                    <a:gd name="T3" fmla="*/ 110 h 1172"/>
                    <a:gd name="T4" fmla="*/ 509 w 510"/>
                    <a:gd name="T5" fmla="*/ 182 h 1172"/>
                    <a:gd name="T6" fmla="*/ 494 w 510"/>
                    <a:gd name="T7" fmla="*/ 259 h 1172"/>
                    <a:gd name="T8" fmla="*/ 408 w 510"/>
                    <a:gd name="T9" fmla="*/ 331 h 1172"/>
                    <a:gd name="T10" fmla="*/ 336 w 510"/>
                    <a:gd name="T11" fmla="*/ 336 h 1172"/>
                    <a:gd name="T12" fmla="*/ 288 w 510"/>
                    <a:gd name="T13" fmla="*/ 480 h 1172"/>
                    <a:gd name="T14" fmla="*/ 254 w 510"/>
                    <a:gd name="T15" fmla="*/ 1172 h 1172"/>
                    <a:gd name="T16" fmla="*/ 273 w 510"/>
                    <a:gd name="T17" fmla="*/ 1124 h 1172"/>
                    <a:gd name="T18" fmla="*/ 62 w 510"/>
                    <a:gd name="T19" fmla="*/ 1133 h 1172"/>
                    <a:gd name="T20" fmla="*/ 0 w 510"/>
                    <a:gd name="T21" fmla="*/ 1109 h 1172"/>
                    <a:gd name="T22" fmla="*/ 0 w 510"/>
                    <a:gd name="T23" fmla="*/ 975 h 1172"/>
                    <a:gd name="T24" fmla="*/ 9 w 510"/>
                    <a:gd name="T25" fmla="*/ 754 h 1172"/>
                    <a:gd name="T26" fmla="*/ 33 w 510"/>
                    <a:gd name="T27" fmla="*/ 528 h 1172"/>
                    <a:gd name="T28" fmla="*/ 33 w 510"/>
                    <a:gd name="T29" fmla="*/ 427 h 1172"/>
                    <a:gd name="T30" fmla="*/ 38 w 510"/>
                    <a:gd name="T31" fmla="*/ 293 h 1172"/>
                    <a:gd name="T32" fmla="*/ 9 w 510"/>
                    <a:gd name="T33" fmla="*/ 129 h 1172"/>
                    <a:gd name="T34" fmla="*/ 5 w 510"/>
                    <a:gd name="T35" fmla="*/ 48 h 117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510" h="1172">
                      <a:moveTo>
                        <a:pt x="432" y="0"/>
                      </a:moveTo>
                      <a:lnTo>
                        <a:pt x="499" y="110"/>
                      </a:lnTo>
                      <a:lnTo>
                        <a:pt x="509" y="182"/>
                      </a:lnTo>
                      <a:lnTo>
                        <a:pt x="494" y="259"/>
                      </a:lnTo>
                      <a:lnTo>
                        <a:pt x="408" y="331"/>
                      </a:lnTo>
                      <a:lnTo>
                        <a:pt x="336" y="336"/>
                      </a:lnTo>
                      <a:lnTo>
                        <a:pt x="288" y="480"/>
                      </a:lnTo>
                      <a:lnTo>
                        <a:pt x="254" y="1171"/>
                      </a:lnTo>
                      <a:lnTo>
                        <a:pt x="273" y="1123"/>
                      </a:lnTo>
                      <a:lnTo>
                        <a:pt x="62" y="1132"/>
                      </a:lnTo>
                      <a:lnTo>
                        <a:pt x="0" y="1108"/>
                      </a:lnTo>
                      <a:lnTo>
                        <a:pt x="0" y="974"/>
                      </a:lnTo>
                      <a:lnTo>
                        <a:pt x="9" y="753"/>
                      </a:lnTo>
                      <a:lnTo>
                        <a:pt x="33" y="528"/>
                      </a:lnTo>
                      <a:lnTo>
                        <a:pt x="33" y="427"/>
                      </a:lnTo>
                      <a:lnTo>
                        <a:pt x="38" y="293"/>
                      </a:lnTo>
                      <a:lnTo>
                        <a:pt x="9" y="129"/>
                      </a:lnTo>
                      <a:lnTo>
                        <a:pt x="5" y="48"/>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96" name="Freeform 327">
                  <a:extLst>
                    <a:ext uri="{FF2B5EF4-FFF2-40B4-BE49-F238E27FC236}">
                      <a16:creationId xmlns:a16="http://schemas.microsoft.com/office/drawing/2014/main" id="{6980B569-9008-E7EE-DB5A-D622DFF536AC}"/>
                    </a:ext>
                  </a:extLst>
                </p:cNvPr>
                <p:cNvSpPr>
                  <a:spLocks/>
                </p:cNvSpPr>
                <p:nvPr/>
              </p:nvSpPr>
              <p:spPr bwMode="auto">
                <a:xfrm>
                  <a:off x="3013" y="2529"/>
                  <a:ext cx="510" cy="1153"/>
                </a:xfrm>
                <a:custGeom>
                  <a:avLst/>
                  <a:gdLst>
                    <a:gd name="T0" fmla="*/ 441 w 510"/>
                    <a:gd name="T1" fmla="*/ 14 h 1153"/>
                    <a:gd name="T2" fmla="*/ 470 w 510"/>
                    <a:gd name="T3" fmla="*/ 62 h 1153"/>
                    <a:gd name="T4" fmla="*/ 489 w 510"/>
                    <a:gd name="T5" fmla="*/ 105 h 1153"/>
                    <a:gd name="T6" fmla="*/ 499 w 510"/>
                    <a:gd name="T7" fmla="*/ 129 h 1153"/>
                    <a:gd name="T8" fmla="*/ 504 w 510"/>
                    <a:gd name="T9" fmla="*/ 149 h 1153"/>
                    <a:gd name="T10" fmla="*/ 509 w 510"/>
                    <a:gd name="T11" fmla="*/ 201 h 1153"/>
                    <a:gd name="T12" fmla="*/ 504 w 510"/>
                    <a:gd name="T13" fmla="*/ 230 h 1153"/>
                    <a:gd name="T14" fmla="*/ 480 w 510"/>
                    <a:gd name="T15" fmla="*/ 264 h 1153"/>
                    <a:gd name="T16" fmla="*/ 451 w 510"/>
                    <a:gd name="T17" fmla="*/ 293 h 1153"/>
                    <a:gd name="T18" fmla="*/ 422 w 510"/>
                    <a:gd name="T19" fmla="*/ 317 h 1153"/>
                    <a:gd name="T20" fmla="*/ 384 w 510"/>
                    <a:gd name="T21" fmla="*/ 331 h 1153"/>
                    <a:gd name="T22" fmla="*/ 369 w 510"/>
                    <a:gd name="T23" fmla="*/ 331 h 1153"/>
                    <a:gd name="T24" fmla="*/ 350 w 510"/>
                    <a:gd name="T25" fmla="*/ 341 h 1153"/>
                    <a:gd name="T26" fmla="*/ 336 w 510"/>
                    <a:gd name="T27" fmla="*/ 355 h 1153"/>
                    <a:gd name="T28" fmla="*/ 321 w 510"/>
                    <a:gd name="T29" fmla="*/ 379 h 1153"/>
                    <a:gd name="T30" fmla="*/ 312 w 510"/>
                    <a:gd name="T31" fmla="*/ 408 h 1153"/>
                    <a:gd name="T32" fmla="*/ 302 w 510"/>
                    <a:gd name="T33" fmla="*/ 441 h 1153"/>
                    <a:gd name="T34" fmla="*/ 297 w 510"/>
                    <a:gd name="T35" fmla="*/ 470 h 1153"/>
                    <a:gd name="T36" fmla="*/ 293 w 510"/>
                    <a:gd name="T37" fmla="*/ 513 h 1153"/>
                    <a:gd name="T38" fmla="*/ 288 w 510"/>
                    <a:gd name="T39" fmla="*/ 557 h 1153"/>
                    <a:gd name="T40" fmla="*/ 283 w 510"/>
                    <a:gd name="T41" fmla="*/ 619 h 1153"/>
                    <a:gd name="T42" fmla="*/ 278 w 510"/>
                    <a:gd name="T43" fmla="*/ 686 h 1153"/>
                    <a:gd name="T44" fmla="*/ 273 w 510"/>
                    <a:gd name="T45" fmla="*/ 758 h 1153"/>
                    <a:gd name="T46" fmla="*/ 269 w 510"/>
                    <a:gd name="T47" fmla="*/ 825 h 1153"/>
                    <a:gd name="T48" fmla="*/ 264 w 510"/>
                    <a:gd name="T49" fmla="*/ 888 h 1153"/>
                    <a:gd name="T50" fmla="*/ 264 w 510"/>
                    <a:gd name="T51" fmla="*/ 955 h 1153"/>
                    <a:gd name="T52" fmla="*/ 264 w 510"/>
                    <a:gd name="T53" fmla="*/ 1017 h 1153"/>
                    <a:gd name="T54" fmla="*/ 259 w 510"/>
                    <a:gd name="T55" fmla="*/ 1070 h 1153"/>
                    <a:gd name="T56" fmla="*/ 259 w 510"/>
                    <a:gd name="T57" fmla="*/ 1108 h 1153"/>
                    <a:gd name="T58" fmla="*/ 259 w 510"/>
                    <a:gd name="T59" fmla="*/ 1128 h 1153"/>
                    <a:gd name="T60" fmla="*/ 259 w 510"/>
                    <a:gd name="T61" fmla="*/ 1142 h 1153"/>
                    <a:gd name="T62" fmla="*/ 264 w 510"/>
                    <a:gd name="T63" fmla="*/ 1147 h 1153"/>
                    <a:gd name="T64" fmla="*/ 259 w 510"/>
                    <a:gd name="T65" fmla="*/ 1132 h 1153"/>
                    <a:gd name="T66" fmla="*/ 235 w 510"/>
                    <a:gd name="T67" fmla="*/ 1128 h 1153"/>
                    <a:gd name="T68" fmla="*/ 206 w 510"/>
                    <a:gd name="T69" fmla="*/ 1128 h 1153"/>
                    <a:gd name="T70" fmla="*/ 168 w 510"/>
                    <a:gd name="T71" fmla="*/ 1128 h 1153"/>
                    <a:gd name="T72" fmla="*/ 134 w 510"/>
                    <a:gd name="T73" fmla="*/ 1128 h 1153"/>
                    <a:gd name="T74" fmla="*/ 86 w 510"/>
                    <a:gd name="T75" fmla="*/ 1128 h 1153"/>
                    <a:gd name="T76" fmla="*/ 57 w 510"/>
                    <a:gd name="T77" fmla="*/ 1128 h 1153"/>
                    <a:gd name="T78" fmla="*/ 29 w 510"/>
                    <a:gd name="T79" fmla="*/ 1118 h 1153"/>
                    <a:gd name="T80" fmla="*/ 14 w 510"/>
                    <a:gd name="T81" fmla="*/ 1108 h 1153"/>
                    <a:gd name="T82" fmla="*/ 5 w 510"/>
                    <a:gd name="T83" fmla="*/ 1089 h 1153"/>
                    <a:gd name="T84" fmla="*/ 0 w 510"/>
                    <a:gd name="T85" fmla="*/ 1060 h 1153"/>
                    <a:gd name="T86" fmla="*/ 0 w 510"/>
                    <a:gd name="T87" fmla="*/ 1041 h 1153"/>
                    <a:gd name="T88" fmla="*/ 0 w 510"/>
                    <a:gd name="T89" fmla="*/ 1017 h 1153"/>
                    <a:gd name="T90" fmla="*/ 0 w 510"/>
                    <a:gd name="T91" fmla="*/ 979 h 1153"/>
                    <a:gd name="T92" fmla="*/ 0 w 510"/>
                    <a:gd name="T93" fmla="*/ 931 h 1153"/>
                    <a:gd name="T94" fmla="*/ 5 w 510"/>
                    <a:gd name="T95" fmla="*/ 873 h 1153"/>
                    <a:gd name="T96" fmla="*/ 9 w 510"/>
                    <a:gd name="T97" fmla="*/ 806 h 1153"/>
                    <a:gd name="T98" fmla="*/ 19 w 510"/>
                    <a:gd name="T99" fmla="*/ 638 h 1153"/>
                    <a:gd name="T100" fmla="*/ 24 w 510"/>
                    <a:gd name="T101" fmla="*/ 600 h 1153"/>
                    <a:gd name="T102" fmla="*/ 29 w 510"/>
                    <a:gd name="T103" fmla="*/ 557 h 1153"/>
                    <a:gd name="T104" fmla="*/ 33 w 510"/>
                    <a:gd name="T105" fmla="*/ 513 h 1153"/>
                    <a:gd name="T106" fmla="*/ 33 w 510"/>
                    <a:gd name="T107" fmla="*/ 480 h 1153"/>
                    <a:gd name="T108" fmla="*/ 33 w 510"/>
                    <a:gd name="T109" fmla="*/ 465 h 1153"/>
                    <a:gd name="T110" fmla="*/ 33 w 510"/>
                    <a:gd name="T111" fmla="*/ 408 h 1153"/>
                    <a:gd name="T112" fmla="*/ 33 w 510"/>
                    <a:gd name="T113" fmla="*/ 360 h 1153"/>
                    <a:gd name="T114" fmla="*/ 33 w 510"/>
                    <a:gd name="T115" fmla="*/ 307 h 1153"/>
                    <a:gd name="T116" fmla="*/ 29 w 510"/>
                    <a:gd name="T117" fmla="*/ 235 h 1153"/>
                    <a:gd name="T118" fmla="*/ 19 w 510"/>
                    <a:gd name="T119" fmla="*/ 173 h 1153"/>
                    <a:gd name="T120" fmla="*/ 5 w 510"/>
                    <a:gd name="T121" fmla="*/ 48 h 115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510" h="1153">
                      <a:moveTo>
                        <a:pt x="432" y="0"/>
                      </a:moveTo>
                      <a:lnTo>
                        <a:pt x="441" y="14"/>
                      </a:lnTo>
                      <a:lnTo>
                        <a:pt x="456" y="43"/>
                      </a:lnTo>
                      <a:lnTo>
                        <a:pt x="470" y="62"/>
                      </a:lnTo>
                      <a:lnTo>
                        <a:pt x="480" y="86"/>
                      </a:lnTo>
                      <a:lnTo>
                        <a:pt x="489" y="105"/>
                      </a:lnTo>
                      <a:lnTo>
                        <a:pt x="494" y="115"/>
                      </a:lnTo>
                      <a:lnTo>
                        <a:pt x="499" y="129"/>
                      </a:lnTo>
                      <a:lnTo>
                        <a:pt x="504" y="144"/>
                      </a:lnTo>
                      <a:lnTo>
                        <a:pt x="504" y="149"/>
                      </a:lnTo>
                      <a:lnTo>
                        <a:pt x="509" y="168"/>
                      </a:lnTo>
                      <a:lnTo>
                        <a:pt x="509" y="201"/>
                      </a:lnTo>
                      <a:lnTo>
                        <a:pt x="504" y="221"/>
                      </a:lnTo>
                      <a:lnTo>
                        <a:pt x="504" y="230"/>
                      </a:lnTo>
                      <a:lnTo>
                        <a:pt x="494" y="245"/>
                      </a:lnTo>
                      <a:lnTo>
                        <a:pt x="480" y="264"/>
                      </a:lnTo>
                      <a:lnTo>
                        <a:pt x="465" y="283"/>
                      </a:lnTo>
                      <a:lnTo>
                        <a:pt x="451" y="293"/>
                      </a:lnTo>
                      <a:lnTo>
                        <a:pt x="441" y="302"/>
                      </a:lnTo>
                      <a:lnTo>
                        <a:pt x="422" y="317"/>
                      </a:lnTo>
                      <a:lnTo>
                        <a:pt x="403" y="326"/>
                      </a:lnTo>
                      <a:lnTo>
                        <a:pt x="384" y="331"/>
                      </a:lnTo>
                      <a:lnTo>
                        <a:pt x="374" y="331"/>
                      </a:lnTo>
                      <a:lnTo>
                        <a:pt x="369" y="331"/>
                      </a:lnTo>
                      <a:lnTo>
                        <a:pt x="360" y="336"/>
                      </a:lnTo>
                      <a:lnTo>
                        <a:pt x="350" y="341"/>
                      </a:lnTo>
                      <a:lnTo>
                        <a:pt x="341" y="350"/>
                      </a:lnTo>
                      <a:lnTo>
                        <a:pt x="336" y="355"/>
                      </a:lnTo>
                      <a:lnTo>
                        <a:pt x="326" y="369"/>
                      </a:lnTo>
                      <a:lnTo>
                        <a:pt x="321" y="379"/>
                      </a:lnTo>
                      <a:lnTo>
                        <a:pt x="317" y="398"/>
                      </a:lnTo>
                      <a:lnTo>
                        <a:pt x="312" y="408"/>
                      </a:lnTo>
                      <a:lnTo>
                        <a:pt x="307" y="427"/>
                      </a:lnTo>
                      <a:lnTo>
                        <a:pt x="302" y="441"/>
                      </a:lnTo>
                      <a:lnTo>
                        <a:pt x="302" y="451"/>
                      </a:lnTo>
                      <a:lnTo>
                        <a:pt x="297" y="470"/>
                      </a:lnTo>
                      <a:lnTo>
                        <a:pt x="297" y="485"/>
                      </a:lnTo>
                      <a:lnTo>
                        <a:pt x="293" y="513"/>
                      </a:lnTo>
                      <a:lnTo>
                        <a:pt x="293" y="533"/>
                      </a:lnTo>
                      <a:lnTo>
                        <a:pt x="288" y="557"/>
                      </a:lnTo>
                      <a:lnTo>
                        <a:pt x="283" y="590"/>
                      </a:lnTo>
                      <a:lnTo>
                        <a:pt x="283" y="619"/>
                      </a:lnTo>
                      <a:lnTo>
                        <a:pt x="278" y="653"/>
                      </a:lnTo>
                      <a:lnTo>
                        <a:pt x="278" y="686"/>
                      </a:lnTo>
                      <a:lnTo>
                        <a:pt x="273" y="724"/>
                      </a:lnTo>
                      <a:lnTo>
                        <a:pt x="273" y="758"/>
                      </a:lnTo>
                      <a:lnTo>
                        <a:pt x="269" y="806"/>
                      </a:lnTo>
                      <a:lnTo>
                        <a:pt x="269" y="825"/>
                      </a:lnTo>
                      <a:lnTo>
                        <a:pt x="269" y="844"/>
                      </a:lnTo>
                      <a:lnTo>
                        <a:pt x="264" y="888"/>
                      </a:lnTo>
                      <a:lnTo>
                        <a:pt x="264" y="926"/>
                      </a:lnTo>
                      <a:lnTo>
                        <a:pt x="264" y="955"/>
                      </a:lnTo>
                      <a:lnTo>
                        <a:pt x="264" y="988"/>
                      </a:lnTo>
                      <a:lnTo>
                        <a:pt x="264" y="1017"/>
                      </a:lnTo>
                      <a:lnTo>
                        <a:pt x="259" y="1046"/>
                      </a:lnTo>
                      <a:lnTo>
                        <a:pt x="259" y="1070"/>
                      </a:lnTo>
                      <a:lnTo>
                        <a:pt x="259" y="1089"/>
                      </a:lnTo>
                      <a:lnTo>
                        <a:pt x="259" y="1108"/>
                      </a:lnTo>
                      <a:lnTo>
                        <a:pt x="259" y="1118"/>
                      </a:lnTo>
                      <a:lnTo>
                        <a:pt x="259" y="1128"/>
                      </a:lnTo>
                      <a:lnTo>
                        <a:pt x="259" y="1137"/>
                      </a:lnTo>
                      <a:lnTo>
                        <a:pt x="259" y="1142"/>
                      </a:lnTo>
                      <a:lnTo>
                        <a:pt x="264" y="1152"/>
                      </a:lnTo>
                      <a:lnTo>
                        <a:pt x="264" y="1147"/>
                      </a:lnTo>
                      <a:lnTo>
                        <a:pt x="264" y="1137"/>
                      </a:lnTo>
                      <a:lnTo>
                        <a:pt x="259" y="1132"/>
                      </a:lnTo>
                      <a:lnTo>
                        <a:pt x="254" y="1132"/>
                      </a:lnTo>
                      <a:lnTo>
                        <a:pt x="235" y="1128"/>
                      </a:lnTo>
                      <a:lnTo>
                        <a:pt x="225" y="1128"/>
                      </a:lnTo>
                      <a:lnTo>
                        <a:pt x="206" y="1128"/>
                      </a:lnTo>
                      <a:lnTo>
                        <a:pt x="177" y="1128"/>
                      </a:lnTo>
                      <a:lnTo>
                        <a:pt x="168" y="1128"/>
                      </a:lnTo>
                      <a:lnTo>
                        <a:pt x="158" y="1128"/>
                      </a:lnTo>
                      <a:lnTo>
                        <a:pt x="134" y="1128"/>
                      </a:lnTo>
                      <a:lnTo>
                        <a:pt x="105" y="1128"/>
                      </a:lnTo>
                      <a:lnTo>
                        <a:pt x="86" y="1128"/>
                      </a:lnTo>
                      <a:lnTo>
                        <a:pt x="72" y="1128"/>
                      </a:lnTo>
                      <a:lnTo>
                        <a:pt x="57" y="1128"/>
                      </a:lnTo>
                      <a:lnTo>
                        <a:pt x="43" y="1123"/>
                      </a:lnTo>
                      <a:lnTo>
                        <a:pt x="29" y="1118"/>
                      </a:lnTo>
                      <a:lnTo>
                        <a:pt x="19" y="1113"/>
                      </a:lnTo>
                      <a:lnTo>
                        <a:pt x="14" y="1108"/>
                      </a:lnTo>
                      <a:lnTo>
                        <a:pt x="9" y="1099"/>
                      </a:lnTo>
                      <a:lnTo>
                        <a:pt x="5" y="1089"/>
                      </a:lnTo>
                      <a:lnTo>
                        <a:pt x="5" y="1080"/>
                      </a:lnTo>
                      <a:lnTo>
                        <a:pt x="0" y="1060"/>
                      </a:lnTo>
                      <a:lnTo>
                        <a:pt x="0" y="1051"/>
                      </a:lnTo>
                      <a:lnTo>
                        <a:pt x="0" y="1041"/>
                      </a:lnTo>
                      <a:lnTo>
                        <a:pt x="0" y="1032"/>
                      </a:lnTo>
                      <a:lnTo>
                        <a:pt x="0" y="1017"/>
                      </a:lnTo>
                      <a:lnTo>
                        <a:pt x="0" y="998"/>
                      </a:lnTo>
                      <a:lnTo>
                        <a:pt x="0" y="979"/>
                      </a:lnTo>
                      <a:lnTo>
                        <a:pt x="0" y="955"/>
                      </a:lnTo>
                      <a:lnTo>
                        <a:pt x="0" y="931"/>
                      </a:lnTo>
                      <a:lnTo>
                        <a:pt x="5" y="902"/>
                      </a:lnTo>
                      <a:lnTo>
                        <a:pt x="5" y="873"/>
                      </a:lnTo>
                      <a:lnTo>
                        <a:pt x="5" y="864"/>
                      </a:lnTo>
                      <a:lnTo>
                        <a:pt x="9" y="806"/>
                      </a:lnTo>
                      <a:lnTo>
                        <a:pt x="14" y="696"/>
                      </a:lnTo>
                      <a:lnTo>
                        <a:pt x="19" y="638"/>
                      </a:lnTo>
                      <a:lnTo>
                        <a:pt x="19" y="629"/>
                      </a:lnTo>
                      <a:lnTo>
                        <a:pt x="24" y="600"/>
                      </a:lnTo>
                      <a:lnTo>
                        <a:pt x="29" y="571"/>
                      </a:lnTo>
                      <a:lnTo>
                        <a:pt x="29" y="557"/>
                      </a:lnTo>
                      <a:lnTo>
                        <a:pt x="29" y="533"/>
                      </a:lnTo>
                      <a:lnTo>
                        <a:pt x="33" y="513"/>
                      </a:lnTo>
                      <a:lnTo>
                        <a:pt x="33" y="494"/>
                      </a:lnTo>
                      <a:lnTo>
                        <a:pt x="33" y="480"/>
                      </a:lnTo>
                      <a:lnTo>
                        <a:pt x="33" y="475"/>
                      </a:lnTo>
                      <a:lnTo>
                        <a:pt x="33" y="465"/>
                      </a:lnTo>
                      <a:lnTo>
                        <a:pt x="33" y="437"/>
                      </a:lnTo>
                      <a:lnTo>
                        <a:pt x="33" y="408"/>
                      </a:lnTo>
                      <a:lnTo>
                        <a:pt x="33" y="379"/>
                      </a:lnTo>
                      <a:lnTo>
                        <a:pt x="33" y="360"/>
                      </a:lnTo>
                      <a:lnTo>
                        <a:pt x="33" y="345"/>
                      </a:lnTo>
                      <a:lnTo>
                        <a:pt x="33" y="307"/>
                      </a:lnTo>
                      <a:lnTo>
                        <a:pt x="33" y="273"/>
                      </a:lnTo>
                      <a:lnTo>
                        <a:pt x="29" y="235"/>
                      </a:lnTo>
                      <a:lnTo>
                        <a:pt x="24" y="211"/>
                      </a:lnTo>
                      <a:lnTo>
                        <a:pt x="19" y="173"/>
                      </a:lnTo>
                      <a:lnTo>
                        <a:pt x="9" y="91"/>
                      </a:lnTo>
                      <a:lnTo>
                        <a:pt x="5" y="48"/>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97" name="Freeform 328">
                  <a:extLst>
                    <a:ext uri="{FF2B5EF4-FFF2-40B4-BE49-F238E27FC236}">
                      <a16:creationId xmlns:a16="http://schemas.microsoft.com/office/drawing/2014/main" id="{A66CB5E8-CF08-EF0A-69C3-30714F03AB8D}"/>
                    </a:ext>
                  </a:extLst>
                </p:cNvPr>
                <p:cNvSpPr>
                  <a:spLocks/>
                </p:cNvSpPr>
                <p:nvPr/>
              </p:nvSpPr>
              <p:spPr bwMode="auto">
                <a:xfrm>
                  <a:off x="3272" y="2812"/>
                  <a:ext cx="257" cy="838"/>
                </a:xfrm>
                <a:custGeom>
                  <a:avLst/>
                  <a:gdLst>
                    <a:gd name="T0" fmla="*/ 200 w 257"/>
                    <a:gd name="T1" fmla="*/ 0 h 838"/>
                    <a:gd name="T2" fmla="*/ 200 w 257"/>
                    <a:gd name="T3" fmla="*/ 19 h 838"/>
                    <a:gd name="T4" fmla="*/ 205 w 257"/>
                    <a:gd name="T5" fmla="*/ 71 h 838"/>
                    <a:gd name="T6" fmla="*/ 209 w 257"/>
                    <a:gd name="T7" fmla="*/ 119 h 838"/>
                    <a:gd name="T8" fmla="*/ 214 w 257"/>
                    <a:gd name="T9" fmla="*/ 171 h 838"/>
                    <a:gd name="T10" fmla="*/ 219 w 257"/>
                    <a:gd name="T11" fmla="*/ 200 h 838"/>
                    <a:gd name="T12" fmla="*/ 219 w 257"/>
                    <a:gd name="T13" fmla="*/ 209 h 838"/>
                    <a:gd name="T14" fmla="*/ 223 w 257"/>
                    <a:gd name="T15" fmla="*/ 243 h 838"/>
                    <a:gd name="T16" fmla="*/ 228 w 257"/>
                    <a:gd name="T17" fmla="*/ 280 h 838"/>
                    <a:gd name="T18" fmla="*/ 233 w 257"/>
                    <a:gd name="T19" fmla="*/ 319 h 838"/>
                    <a:gd name="T20" fmla="*/ 233 w 257"/>
                    <a:gd name="T21" fmla="*/ 357 h 838"/>
                    <a:gd name="T22" fmla="*/ 238 w 257"/>
                    <a:gd name="T23" fmla="*/ 399 h 838"/>
                    <a:gd name="T24" fmla="*/ 242 w 257"/>
                    <a:gd name="T25" fmla="*/ 452 h 838"/>
                    <a:gd name="T26" fmla="*/ 246 w 257"/>
                    <a:gd name="T27" fmla="*/ 504 h 838"/>
                    <a:gd name="T28" fmla="*/ 246 w 257"/>
                    <a:gd name="T29" fmla="*/ 528 h 838"/>
                    <a:gd name="T30" fmla="*/ 246 w 257"/>
                    <a:gd name="T31" fmla="*/ 537 h 838"/>
                    <a:gd name="T32" fmla="*/ 246 w 257"/>
                    <a:gd name="T33" fmla="*/ 566 h 838"/>
                    <a:gd name="T34" fmla="*/ 251 w 257"/>
                    <a:gd name="T35" fmla="*/ 594 h 838"/>
                    <a:gd name="T36" fmla="*/ 251 w 257"/>
                    <a:gd name="T37" fmla="*/ 618 h 838"/>
                    <a:gd name="T38" fmla="*/ 251 w 257"/>
                    <a:gd name="T39" fmla="*/ 642 h 838"/>
                    <a:gd name="T40" fmla="*/ 251 w 257"/>
                    <a:gd name="T41" fmla="*/ 656 h 838"/>
                    <a:gd name="T42" fmla="*/ 251 w 257"/>
                    <a:gd name="T43" fmla="*/ 675 h 838"/>
                    <a:gd name="T44" fmla="*/ 251 w 257"/>
                    <a:gd name="T45" fmla="*/ 694 h 838"/>
                    <a:gd name="T46" fmla="*/ 256 w 257"/>
                    <a:gd name="T47" fmla="*/ 713 h 838"/>
                    <a:gd name="T48" fmla="*/ 256 w 257"/>
                    <a:gd name="T49" fmla="*/ 732 h 838"/>
                    <a:gd name="T50" fmla="*/ 256 w 257"/>
                    <a:gd name="T51" fmla="*/ 742 h 838"/>
                    <a:gd name="T52" fmla="*/ 256 w 257"/>
                    <a:gd name="T53" fmla="*/ 756 h 838"/>
                    <a:gd name="T54" fmla="*/ 256 w 257"/>
                    <a:gd name="T55" fmla="*/ 766 h 838"/>
                    <a:gd name="T56" fmla="*/ 256 w 257"/>
                    <a:gd name="T57" fmla="*/ 775 h 838"/>
                    <a:gd name="T58" fmla="*/ 256 w 257"/>
                    <a:gd name="T59" fmla="*/ 785 h 838"/>
                    <a:gd name="T60" fmla="*/ 256 w 257"/>
                    <a:gd name="T61" fmla="*/ 789 h 838"/>
                    <a:gd name="T62" fmla="*/ 256 w 257"/>
                    <a:gd name="T63" fmla="*/ 793 h 838"/>
                    <a:gd name="T64" fmla="*/ 256 w 257"/>
                    <a:gd name="T65" fmla="*/ 803 h 838"/>
                    <a:gd name="T66" fmla="*/ 251 w 257"/>
                    <a:gd name="T67" fmla="*/ 808 h 838"/>
                    <a:gd name="T68" fmla="*/ 246 w 257"/>
                    <a:gd name="T69" fmla="*/ 817 h 838"/>
                    <a:gd name="T70" fmla="*/ 238 w 257"/>
                    <a:gd name="T71" fmla="*/ 822 h 838"/>
                    <a:gd name="T72" fmla="*/ 228 w 257"/>
                    <a:gd name="T73" fmla="*/ 827 h 838"/>
                    <a:gd name="T74" fmla="*/ 214 w 257"/>
                    <a:gd name="T75" fmla="*/ 832 h 838"/>
                    <a:gd name="T76" fmla="*/ 205 w 257"/>
                    <a:gd name="T77" fmla="*/ 832 h 838"/>
                    <a:gd name="T78" fmla="*/ 196 w 257"/>
                    <a:gd name="T79" fmla="*/ 832 h 838"/>
                    <a:gd name="T80" fmla="*/ 168 w 257"/>
                    <a:gd name="T81" fmla="*/ 832 h 838"/>
                    <a:gd name="T82" fmla="*/ 112 w 257"/>
                    <a:gd name="T83" fmla="*/ 832 h 838"/>
                    <a:gd name="T84" fmla="*/ 83 w 257"/>
                    <a:gd name="T85" fmla="*/ 832 h 838"/>
                    <a:gd name="T86" fmla="*/ 70 w 257"/>
                    <a:gd name="T87" fmla="*/ 832 h 838"/>
                    <a:gd name="T88" fmla="*/ 47 w 257"/>
                    <a:gd name="T89" fmla="*/ 832 h 838"/>
                    <a:gd name="T90" fmla="*/ 28 w 257"/>
                    <a:gd name="T91" fmla="*/ 832 h 838"/>
                    <a:gd name="T92" fmla="*/ 5 w 257"/>
                    <a:gd name="T93" fmla="*/ 837 h 838"/>
                    <a:gd name="T94" fmla="*/ 0 w 257"/>
                    <a:gd name="T95" fmla="*/ 837 h 838"/>
                    <a:gd name="T96" fmla="*/ 200 w 257"/>
                    <a:gd name="T97" fmla="*/ 0 h 83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257" h="838">
                      <a:moveTo>
                        <a:pt x="200" y="0"/>
                      </a:moveTo>
                      <a:lnTo>
                        <a:pt x="200" y="19"/>
                      </a:lnTo>
                      <a:lnTo>
                        <a:pt x="205" y="71"/>
                      </a:lnTo>
                      <a:lnTo>
                        <a:pt x="209" y="119"/>
                      </a:lnTo>
                      <a:lnTo>
                        <a:pt x="214" y="171"/>
                      </a:lnTo>
                      <a:lnTo>
                        <a:pt x="219" y="200"/>
                      </a:lnTo>
                      <a:lnTo>
                        <a:pt x="219" y="209"/>
                      </a:lnTo>
                      <a:lnTo>
                        <a:pt x="223" y="243"/>
                      </a:lnTo>
                      <a:lnTo>
                        <a:pt x="228" y="280"/>
                      </a:lnTo>
                      <a:lnTo>
                        <a:pt x="233" y="319"/>
                      </a:lnTo>
                      <a:lnTo>
                        <a:pt x="233" y="357"/>
                      </a:lnTo>
                      <a:lnTo>
                        <a:pt x="238" y="399"/>
                      </a:lnTo>
                      <a:lnTo>
                        <a:pt x="242" y="452"/>
                      </a:lnTo>
                      <a:lnTo>
                        <a:pt x="246" y="504"/>
                      </a:lnTo>
                      <a:lnTo>
                        <a:pt x="246" y="528"/>
                      </a:lnTo>
                      <a:lnTo>
                        <a:pt x="246" y="537"/>
                      </a:lnTo>
                      <a:lnTo>
                        <a:pt x="246" y="566"/>
                      </a:lnTo>
                      <a:lnTo>
                        <a:pt x="251" y="594"/>
                      </a:lnTo>
                      <a:lnTo>
                        <a:pt x="251" y="618"/>
                      </a:lnTo>
                      <a:lnTo>
                        <a:pt x="251" y="642"/>
                      </a:lnTo>
                      <a:lnTo>
                        <a:pt x="251" y="656"/>
                      </a:lnTo>
                      <a:lnTo>
                        <a:pt x="251" y="675"/>
                      </a:lnTo>
                      <a:lnTo>
                        <a:pt x="251" y="694"/>
                      </a:lnTo>
                      <a:lnTo>
                        <a:pt x="256" y="713"/>
                      </a:lnTo>
                      <a:lnTo>
                        <a:pt x="256" y="732"/>
                      </a:lnTo>
                      <a:lnTo>
                        <a:pt x="256" y="742"/>
                      </a:lnTo>
                      <a:lnTo>
                        <a:pt x="256" y="756"/>
                      </a:lnTo>
                      <a:lnTo>
                        <a:pt x="256" y="766"/>
                      </a:lnTo>
                      <a:lnTo>
                        <a:pt x="256" y="775"/>
                      </a:lnTo>
                      <a:lnTo>
                        <a:pt x="256" y="785"/>
                      </a:lnTo>
                      <a:lnTo>
                        <a:pt x="256" y="789"/>
                      </a:lnTo>
                      <a:lnTo>
                        <a:pt x="256" y="793"/>
                      </a:lnTo>
                      <a:lnTo>
                        <a:pt x="256" y="803"/>
                      </a:lnTo>
                      <a:lnTo>
                        <a:pt x="251" y="808"/>
                      </a:lnTo>
                      <a:lnTo>
                        <a:pt x="246" y="817"/>
                      </a:lnTo>
                      <a:lnTo>
                        <a:pt x="238" y="822"/>
                      </a:lnTo>
                      <a:lnTo>
                        <a:pt x="228" y="827"/>
                      </a:lnTo>
                      <a:lnTo>
                        <a:pt x="214" y="832"/>
                      </a:lnTo>
                      <a:lnTo>
                        <a:pt x="205" y="832"/>
                      </a:lnTo>
                      <a:lnTo>
                        <a:pt x="196" y="832"/>
                      </a:lnTo>
                      <a:lnTo>
                        <a:pt x="168" y="832"/>
                      </a:lnTo>
                      <a:lnTo>
                        <a:pt x="112" y="832"/>
                      </a:lnTo>
                      <a:lnTo>
                        <a:pt x="83" y="832"/>
                      </a:lnTo>
                      <a:lnTo>
                        <a:pt x="70" y="832"/>
                      </a:lnTo>
                      <a:lnTo>
                        <a:pt x="47" y="832"/>
                      </a:lnTo>
                      <a:lnTo>
                        <a:pt x="28" y="832"/>
                      </a:lnTo>
                      <a:lnTo>
                        <a:pt x="5" y="837"/>
                      </a:lnTo>
                      <a:lnTo>
                        <a:pt x="0" y="837"/>
                      </a:lnTo>
                      <a:lnTo>
                        <a:pt x="200" y="0"/>
                      </a:ln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Roboto" panose="02000000000000000000" pitchFamily="2" charset="0"/>
                    <a:ea typeface="Roboto" panose="02000000000000000000" pitchFamily="2" charset="0"/>
                  </a:endParaRPr>
                </a:p>
              </p:txBody>
            </p:sp>
            <p:sp>
              <p:nvSpPr>
                <p:cNvPr id="98" name="Freeform 329">
                  <a:extLst>
                    <a:ext uri="{FF2B5EF4-FFF2-40B4-BE49-F238E27FC236}">
                      <a16:creationId xmlns:a16="http://schemas.microsoft.com/office/drawing/2014/main" id="{48F314DF-565F-8CFB-CDA1-BFF514E14FFB}"/>
                    </a:ext>
                  </a:extLst>
                </p:cNvPr>
                <p:cNvSpPr>
                  <a:spLocks/>
                </p:cNvSpPr>
                <p:nvPr/>
              </p:nvSpPr>
              <p:spPr bwMode="auto">
                <a:xfrm>
                  <a:off x="3272" y="2812"/>
                  <a:ext cx="266" cy="847"/>
                </a:xfrm>
                <a:custGeom>
                  <a:avLst/>
                  <a:gdLst>
                    <a:gd name="T0" fmla="*/ 207 w 265"/>
                    <a:gd name="T1" fmla="*/ 0 h 846"/>
                    <a:gd name="T2" fmla="*/ 212 w 265"/>
                    <a:gd name="T3" fmla="*/ 91 h 846"/>
                    <a:gd name="T4" fmla="*/ 241 w 265"/>
                    <a:gd name="T5" fmla="*/ 312 h 846"/>
                    <a:gd name="T6" fmla="*/ 265 w 265"/>
                    <a:gd name="T7" fmla="*/ 759 h 846"/>
                    <a:gd name="T8" fmla="*/ 265 w 265"/>
                    <a:gd name="T9" fmla="*/ 841 h 846"/>
                    <a:gd name="T10" fmla="*/ 140 w 265"/>
                    <a:gd name="T11" fmla="*/ 841 h 846"/>
                    <a:gd name="T12" fmla="*/ 29 w 265"/>
                    <a:gd name="T13" fmla="*/ 841 h 846"/>
                    <a:gd name="T14" fmla="*/ 0 w 265"/>
                    <a:gd name="T15" fmla="*/ 846 h 8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65" h="846">
                      <a:moveTo>
                        <a:pt x="206" y="0"/>
                      </a:moveTo>
                      <a:lnTo>
                        <a:pt x="211" y="91"/>
                      </a:lnTo>
                      <a:lnTo>
                        <a:pt x="240" y="312"/>
                      </a:lnTo>
                      <a:lnTo>
                        <a:pt x="264" y="758"/>
                      </a:lnTo>
                      <a:lnTo>
                        <a:pt x="264" y="840"/>
                      </a:lnTo>
                      <a:lnTo>
                        <a:pt x="139" y="840"/>
                      </a:lnTo>
                      <a:lnTo>
                        <a:pt x="29" y="840"/>
                      </a:lnTo>
                      <a:lnTo>
                        <a:pt x="0" y="845"/>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99" name="Freeform 330">
                  <a:extLst>
                    <a:ext uri="{FF2B5EF4-FFF2-40B4-BE49-F238E27FC236}">
                      <a16:creationId xmlns:a16="http://schemas.microsoft.com/office/drawing/2014/main" id="{9552BEDF-BF28-00D2-B483-24B25887BC23}"/>
                    </a:ext>
                  </a:extLst>
                </p:cNvPr>
                <p:cNvSpPr>
                  <a:spLocks/>
                </p:cNvSpPr>
                <p:nvPr/>
              </p:nvSpPr>
              <p:spPr bwMode="auto">
                <a:xfrm>
                  <a:off x="3272" y="2812"/>
                  <a:ext cx="266" cy="847"/>
                </a:xfrm>
                <a:custGeom>
                  <a:avLst/>
                  <a:gdLst>
                    <a:gd name="T0" fmla="*/ 207 w 265"/>
                    <a:gd name="T1" fmla="*/ 0 h 846"/>
                    <a:gd name="T2" fmla="*/ 207 w 265"/>
                    <a:gd name="T3" fmla="*/ 19 h 846"/>
                    <a:gd name="T4" fmla="*/ 212 w 265"/>
                    <a:gd name="T5" fmla="*/ 72 h 846"/>
                    <a:gd name="T6" fmla="*/ 217 w 265"/>
                    <a:gd name="T7" fmla="*/ 120 h 846"/>
                    <a:gd name="T8" fmla="*/ 222 w 265"/>
                    <a:gd name="T9" fmla="*/ 173 h 846"/>
                    <a:gd name="T10" fmla="*/ 227 w 265"/>
                    <a:gd name="T11" fmla="*/ 202 h 846"/>
                    <a:gd name="T12" fmla="*/ 227 w 265"/>
                    <a:gd name="T13" fmla="*/ 211 h 846"/>
                    <a:gd name="T14" fmla="*/ 231 w 265"/>
                    <a:gd name="T15" fmla="*/ 245 h 846"/>
                    <a:gd name="T16" fmla="*/ 236 w 265"/>
                    <a:gd name="T17" fmla="*/ 283 h 846"/>
                    <a:gd name="T18" fmla="*/ 241 w 265"/>
                    <a:gd name="T19" fmla="*/ 322 h 846"/>
                    <a:gd name="T20" fmla="*/ 241 w 265"/>
                    <a:gd name="T21" fmla="*/ 360 h 846"/>
                    <a:gd name="T22" fmla="*/ 246 w 265"/>
                    <a:gd name="T23" fmla="*/ 403 h 846"/>
                    <a:gd name="T24" fmla="*/ 251 w 265"/>
                    <a:gd name="T25" fmla="*/ 457 h 846"/>
                    <a:gd name="T26" fmla="*/ 255 w 265"/>
                    <a:gd name="T27" fmla="*/ 510 h 846"/>
                    <a:gd name="T28" fmla="*/ 255 w 265"/>
                    <a:gd name="T29" fmla="*/ 534 h 846"/>
                    <a:gd name="T30" fmla="*/ 255 w 265"/>
                    <a:gd name="T31" fmla="*/ 543 h 846"/>
                    <a:gd name="T32" fmla="*/ 255 w 265"/>
                    <a:gd name="T33" fmla="*/ 572 h 846"/>
                    <a:gd name="T34" fmla="*/ 260 w 265"/>
                    <a:gd name="T35" fmla="*/ 601 h 846"/>
                    <a:gd name="T36" fmla="*/ 260 w 265"/>
                    <a:gd name="T37" fmla="*/ 625 h 846"/>
                    <a:gd name="T38" fmla="*/ 260 w 265"/>
                    <a:gd name="T39" fmla="*/ 649 h 846"/>
                    <a:gd name="T40" fmla="*/ 260 w 265"/>
                    <a:gd name="T41" fmla="*/ 663 h 846"/>
                    <a:gd name="T42" fmla="*/ 260 w 265"/>
                    <a:gd name="T43" fmla="*/ 682 h 846"/>
                    <a:gd name="T44" fmla="*/ 260 w 265"/>
                    <a:gd name="T45" fmla="*/ 702 h 846"/>
                    <a:gd name="T46" fmla="*/ 265 w 265"/>
                    <a:gd name="T47" fmla="*/ 721 h 846"/>
                    <a:gd name="T48" fmla="*/ 265 w 265"/>
                    <a:gd name="T49" fmla="*/ 740 h 846"/>
                    <a:gd name="T50" fmla="*/ 265 w 265"/>
                    <a:gd name="T51" fmla="*/ 750 h 846"/>
                    <a:gd name="T52" fmla="*/ 265 w 265"/>
                    <a:gd name="T53" fmla="*/ 764 h 846"/>
                    <a:gd name="T54" fmla="*/ 265 w 265"/>
                    <a:gd name="T55" fmla="*/ 774 h 846"/>
                    <a:gd name="T56" fmla="*/ 265 w 265"/>
                    <a:gd name="T57" fmla="*/ 783 h 846"/>
                    <a:gd name="T58" fmla="*/ 265 w 265"/>
                    <a:gd name="T59" fmla="*/ 793 h 846"/>
                    <a:gd name="T60" fmla="*/ 265 w 265"/>
                    <a:gd name="T61" fmla="*/ 798 h 846"/>
                    <a:gd name="T62" fmla="*/ 265 w 265"/>
                    <a:gd name="T63" fmla="*/ 802 h 846"/>
                    <a:gd name="T64" fmla="*/ 265 w 265"/>
                    <a:gd name="T65" fmla="*/ 812 h 846"/>
                    <a:gd name="T66" fmla="*/ 260 w 265"/>
                    <a:gd name="T67" fmla="*/ 817 h 846"/>
                    <a:gd name="T68" fmla="*/ 255 w 265"/>
                    <a:gd name="T69" fmla="*/ 826 h 846"/>
                    <a:gd name="T70" fmla="*/ 246 w 265"/>
                    <a:gd name="T71" fmla="*/ 831 h 846"/>
                    <a:gd name="T72" fmla="*/ 236 w 265"/>
                    <a:gd name="T73" fmla="*/ 836 h 846"/>
                    <a:gd name="T74" fmla="*/ 222 w 265"/>
                    <a:gd name="T75" fmla="*/ 841 h 846"/>
                    <a:gd name="T76" fmla="*/ 212 w 265"/>
                    <a:gd name="T77" fmla="*/ 841 h 846"/>
                    <a:gd name="T78" fmla="*/ 203 w 265"/>
                    <a:gd name="T79" fmla="*/ 841 h 846"/>
                    <a:gd name="T80" fmla="*/ 174 w 265"/>
                    <a:gd name="T81" fmla="*/ 841 h 846"/>
                    <a:gd name="T82" fmla="*/ 115 w 265"/>
                    <a:gd name="T83" fmla="*/ 841 h 846"/>
                    <a:gd name="T84" fmla="*/ 86 w 265"/>
                    <a:gd name="T85" fmla="*/ 841 h 846"/>
                    <a:gd name="T86" fmla="*/ 72 w 265"/>
                    <a:gd name="T87" fmla="*/ 841 h 846"/>
                    <a:gd name="T88" fmla="*/ 48 w 265"/>
                    <a:gd name="T89" fmla="*/ 841 h 846"/>
                    <a:gd name="T90" fmla="*/ 29 w 265"/>
                    <a:gd name="T91" fmla="*/ 841 h 846"/>
                    <a:gd name="T92" fmla="*/ 5 w 265"/>
                    <a:gd name="T93" fmla="*/ 846 h 846"/>
                    <a:gd name="T94" fmla="*/ 0 w 265"/>
                    <a:gd name="T95" fmla="*/ 846 h 84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65" h="846">
                      <a:moveTo>
                        <a:pt x="206" y="0"/>
                      </a:moveTo>
                      <a:lnTo>
                        <a:pt x="206" y="19"/>
                      </a:lnTo>
                      <a:lnTo>
                        <a:pt x="211" y="72"/>
                      </a:lnTo>
                      <a:lnTo>
                        <a:pt x="216" y="120"/>
                      </a:lnTo>
                      <a:lnTo>
                        <a:pt x="221" y="173"/>
                      </a:lnTo>
                      <a:lnTo>
                        <a:pt x="226" y="202"/>
                      </a:lnTo>
                      <a:lnTo>
                        <a:pt x="226" y="211"/>
                      </a:lnTo>
                      <a:lnTo>
                        <a:pt x="230" y="245"/>
                      </a:lnTo>
                      <a:lnTo>
                        <a:pt x="235" y="283"/>
                      </a:lnTo>
                      <a:lnTo>
                        <a:pt x="240" y="322"/>
                      </a:lnTo>
                      <a:lnTo>
                        <a:pt x="240" y="360"/>
                      </a:lnTo>
                      <a:lnTo>
                        <a:pt x="245" y="403"/>
                      </a:lnTo>
                      <a:lnTo>
                        <a:pt x="250" y="456"/>
                      </a:lnTo>
                      <a:lnTo>
                        <a:pt x="254" y="509"/>
                      </a:lnTo>
                      <a:lnTo>
                        <a:pt x="254" y="533"/>
                      </a:lnTo>
                      <a:lnTo>
                        <a:pt x="254" y="542"/>
                      </a:lnTo>
                      <a:lnTo>
                        <a:pt x="254" y="571"/>
                      </a:lnTo>
                      <a:lnTo>
                        <a:pt x="259" y="600"/>
                      </a:lnTo>
                      <a:lnTo>
                        <a:pt x="259" y="624"/>
                      </a:lnTo>
                      <a:lnTo>
                        <a:pt x="259" y="648"/>
                      </a:lnTo>
                      <a:lnTo>
                        <a:pt x="259" y="662"/>
                      </a:lnTo>
                      <a:lnTo>
                        <a:pt x="259" y="681"/>
                      </a:lnTo>
                      <a:lnTo>
                        <a:pt x="259" y="701"/>
                      </a:lnTo>
                      <a:lnTo>
                        <a:pt x="264" y="720"/>
                      </a:lnTo>
                      <a:lnTo>
                        <a:pt x="264" y="739"/>
                      </a:lnTo>
                      <a:lnTo>
                        <a:pt x="264" y="749"/>
                      </a:lnTo>
                      <a:lnTo>
                        <a:pt x="264" y="763"/>
                      </a:lnTo>
                      <a:lnTo>
                        <a:pt x="264" y="773"/>
                      </a:lnTo>
                      <a:lnTo>
                        <a:pt x="264" y="782"/>
                      </a:lnTo>
                      <a:lnTo>
                        <a:pt x="264" y="792"/>
                      </a:lnTo>
                      <a:lnTo>
                        <a:pt x="264" y="797"/>
                      </a:lnTo>
                      <a:lnTo>
                        <a:pt x="264" y="801"/>
                      </a:lnTo>
                      <a:lnTo>
                        <a:pt x="264" y="811"/>
                      </a:lnTo>
                      <a:lnTo>
                        <a:pt x="259" y="816"/>
                      </a:lnTo>
                      <a:lnTo>
                        <a:pt x="254" y="825"/>
                      </a:lnTo>
                      <a:lnTo>
                        <a:pt x="245" y="830"/>
                      </a:lnTo>
                      <a:lnTo>
                        <a:pt x="235" y="835"/>
                      </a:lnTo>
                      <a:lnTo>
                        <a:pt x="221" y="840"/>
                      </a:lnTo>
                      <a:lnTo>
                        <a:pt x="211" y="840"/>
                      </a:lnTo>
                      <a:lnTo>
                        <a:pt x="202" y="840"/>
                      </a:lnTo>
                      <a:lnTo>
                        <a:pt x="173" y="840"/>
                      </a:lnTo>
                      <a:lnTo>
                        <a:pt x="115" y="840"/>
                      </a:lnTo>
                      <a:lnTo>
                        <a:pt x="86" y="840"/>
                      </a:lnTo>
                      <a:lnTo>
                        <a:pt x="72" y="840"/>
                      </a:lnTo>
                      <a:lnTo>
                        <a:pt x="48" y="840"/>
                      </a:lnTo>
                      <a:lnTo>
                        <a:pt x="29" y="840"/>
                      </a:lnTo>
                      <a:lnTo>
                        <a:pt x="5" y="845"/>
                      </a:lnTo>
                      <a:lnTo>
                        <a:pt x="0" y="845"/>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100" name="Freeform 331">
                  <a:extLst>
                    <a:ext uri="{FF2B5EF4-FFF2-40B4-BE49-F238E27FC236}">
                      <a16:creationId xmlns:a16="http://schemas.microsoft.com/office/drawing/2014/main" id="{67AA69E7-ED9A-C923-B285-8C6D608356A7}"/>
                    </a:ext>
                  </a:extLst>
                </p:cNvPr>
                <p:cNvSpPr>
                  <a:spLocks/>
                </p:cNvSpPr>
                <p:nvPr/>
              </p:nvSpPr>
              <p:spPr bwMode="auto">
                <a:xfrm>
                  <a:off x="3003" y="2466"/>
                  <a:ext cx="463" cy="125"/>
                </a:xfrm>
                <a:custGeom>
                  <a:avLst/>
                  <a:gdLst>
                    <a:gd name="T0" fmla="*/ 452 w 462"/>
                    <a:gd name="T1" fmla="*/ 0 h 126"/>
                    <a:gd name="T2" fmla="*/ 462 w 462"/>
                    <a:gd name="T3" fmla="*/ 63 h 126"/>
                    <a:gd name="T4" fmla="*/ 10 w 462"/>
                    <a:gd name="T5" fmla="*/ 124 h 126"/>
                    <a:gd name="T6" fmla="*/ 0 w 462"/>
                    <a:gd name="T7" fmla="*/ 63 h 126"/>
                    <a:gd name="T8" fmla="*/ 452 w 462"/>
                    <a:gd name="T9" fmla="*/ 0 h 1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 h="126">
                      <a:moveTo>
                        <a:pt x="451" y="0"/>
                      </a:moveTo>
                      <a:lnTo>
                        <a:pt x="461" y="63"/>
                      </a:lnTo>
                      <a:lnTo>
                        <a:pt x="10" y="125"/>
                      </a:lnTo>
                      <a:lnTo>
                        <a:pt x="0" y="63"/>
                      </a:lnTo>
                      <a:lnTo>
                        <a:pt x="451" y="0"/>
                      </a:lnTo>
                    </a:path>
                  </a:pathLst>
                </a:custGeom>
                <a:blipFill dpi="0" rotWithShape="0">
                  <a:blip r:embed="rId6"/>
                  <a:srcRect/>
                  <a:tile tx="0" ty="0" sx="100000" sy="100000" flip="none" algn="tl"/>
                </a:blipFill>
                <a:ln w="12700" cap="rnd" cmpd="sng">
                  <a:solidFill>
                    <a:srgbClr val="000000"/>
                  </a:solidFill>
                  <a:prstDash val="solid"/>
                  <a:round/>
                  <a:headEnd type="none" w="med" len="med"/>
                  <a:tailEnd type="none" w="med" len="med"/>
                </a:ln>
              </p:spPr>
              <p:txBody>
                <a:bodyPr/>
                <a:lstStyle/>
                <a:p>
                  <a:endParaRPr lang="en-US">
                    <a:latin typeface="Roboto" panose="02000000000000000000" pitchFamily="2" charset="0"/>
                    <a:ea typeface="Roboto" panose="02000000000000000000" pitchFamily="2" charset="0"/>
                  </a:endParaRPr>
                </a:p>
              </p:txBody>
            </p:sp>
            <p:sp>
              <p:nvSpPr>
                <p:cNvPr id="101" name="Freeform 332">
                  <a:extLst>
                    <a:ext uri="{FF2B5EF4-FFF2-40B4-BE49-F238E27FC236}">
                      <a16:creationId xmlns:a16="http://schemas.microsoft.com/office/drawing/2014/main" id="{2FF863A2-7E3B-D4EB-DD25-135E23F017C7}"/>
                    </a:ext>
                  </a:extLst>
                </p:cNvPr>
                <p:cNvSpPr>
                  <a:spLocks/>
                </p:cNvSpPr>
                <p:nvPr/>
              </p:nvSpPr>
              <p:spPr bwMode="auto">
                <a:xfrm>
                  <a:off x="2671" y="1959"/>
                  <a:ext cx="541" cy="593"/>
                </a:xfrm>
                <a:custGeom>
                  <a:avLst/>
                  <a:gdLst>
                    <a:gd name="T0" fmla="*/ 450 w 540"/>
                    <a:gd name="T1" fmla="*/ 9 h 593"/>
                    <a:gd name="T2" fmla="*/ 408 w 540"/>
                    <a:gd name="T3" fmla="*/ 66 h 593"/>
                    <a:gd name="T4" fmla="*/ 389 w 540"/>
                    <a:gd name="T5" fmla="*/ 113 h 593"/>
                    <a:gd name="T6" fmla="*/ 374 w 540"/>
                    <a:gd name="T7" fmla="*/ 170 h 593"/>
                    <a:gd name="T8" fmla="*/ 366 w 540"/>
                    <a:gd name="T9" fmla="*/ 246 h 593"/>
                    <a:gd name="T10" fmla="*/ 366 w 540"/>
                    <a:gd name="T11" fmla="*/ 274 h 593"/>
                    <a:gd name="T12" fmla="*/ 361 w 540"/>
                    <a:gd name="T13" fmla="*/ 312 h 593"/>
                    <a:gd name="T14" fmla="*/ 356 w 540"/>
                    <a:gd name="T15" fmla="*/ 335 h 593"/>
                    <a:gd name="T16" fmla="*/ 346 w 540"/>
                    <a:gd name="T17" fmla="*/ 364 h 593"/>
                    <a:gd name="T18" fmla="*/ 342 w 540"/>
                    <a:gd name="T19" fmla="*/ 374 h 593"/>
                    <a:gd name="T20" fmla="*/ 322 w 540"/>
                    <a:gd name="T21" fmla="*/ 393 h 593"/>
                    <a:gd name="T22" fmla="*/ 308 w 540"/>
                    <a:gd name="T23" fmla="*/ 403 h 593"/>
                    <a:gd name="T24" fmla="*/ 280 w 540"/>
                    <a:gd name="T25" fmla="*/ 407 h 593"/>
                    <a:gd name="T26" fmla="*/ 250 w 540"/>
                    <a:gd name="T27" fmla="*/ 411 h 593"/>
                    <a:gd name="T28" fmla="*/ 132 w 540"/>
                    <a:gd name="T29" fmla="*/ 416 h 593"/>
                    <a:gd name="T30" fmla="*/ 81 w 540"/>
                    <a:gd name="T31" fmla="*/ 416 h 593"/>
                    <a:gd name="T32" fmla="*/ 47 w 540"/>
                    <a:gd name="T33" fmla="*/ 421 h 593"/>
                    <a:gd name="T34" fmla="*/ 19 w 540"/>
                    <a:gd name="T35" fmla="*/ 435 h 593"/>
                    <a:gd name="T36" fmla="*/ 5 w 540"/>
                    <a:gd name="T37" fmla="*/ 450 h 593"/>
                    <a:gd name="T38" fmla="*/ 0 w 540"/>
                    <a:gd name="T39" fmla="*/ 464 h 593"/>
                    <a:gd name="T40" fmla="*/ 0 w 540"/>
                    <a:gd name="T41" fmla="*/ 487 h 593"/>
                    <a:gd name="T42" fmla="*/ 5 w 540"/>
                    <a:gd name="T43" fmla="*/ 525 h 593"/>
                    <a:gd name="T44" fmla="*/ 5 w 540"/>
                    <a:gd name="T45" fmla="*/ 535 h 593"/>
                    <a:gd name="T46" fmla="*/ 19 w 540"/>
                    <a:gd name="T47" fmla="*/ 558 h 593"/>
                    <a:gd name="T48" fmla="*/ 34 w 540"/>
                    <a:gd name="T49" fmla="*/ 563 h 593"/>
                    <a:gd name="T50" fmla="*/ 47 w 540"/>
                    <a:gd name="T51" fmla="*/ 568 h 593"/>
                    <a:gd name="T52" fmla="*/ 85 w 540"/>
                    <a:gd name="T53" fmla="*/ 577 h 593"/>
                    <a:gd name="T54" fmla="*/ 104 w 540"/>
                    <a:gd name="T55" fmla="*/ 577 h 593"/>
                    <a:gd name="T56" fmla="*/ 152 w 540"/>
                    <a:gd name="T57" fmla="*/ 577 h 593"/>
                    <a:gd name="T58" fmla="*/ 189 w 540"/>
                    <a:gd name="T59" fmla="*/ 572 h 593"/>
                    <a:gd name="T60" fmla="*/ 232 w 540"/>
                    <a:gd name="T61" fmla="*/ 568 h 593"/>
                    <a:gd name="T62" fmla="*/ 280 w 540"/>
                    <a:gd name="T63" fmla="*/ 568 h 593"/>
                    <a:gd name="T64" fmla="*/ 299 w 540"/>
                    <a:gd name="T65" fmla="*/ 568 h 593"/>
                    <a:gd name="T66" fmla="*/ 342 w 540"/>
                    <a:gd name="T67" fmla="*/ 572 h 593"/>
                    <a:gd name="T68" fmla="*/ 366 w 540"/>
                    <a:gd name="T69" fmla="*/ 582 h 593"/>
                    <a:gd name="T70" fmla="*/ 389 w 540"/>
                    <a:gd name="T71" fmla="*/ 592 h 593"/>
                    <a:gd name="T72" fmla="*/ 427 w 540"/>
                    <a:gd name="T73" fmla="*/ 587 h 593"/>
                    <a:gd name="T74" fmla="*/ 445 w 540"/>
                    <a:gd name="T75" fmla="*/ 577 h 593"/>
                    <a:gd name="T76" fmla="*/ 469 w 540"/>
                    <a:gd name="T77" fmla="*/ 563 h 593"/>
                    <a:gd name="T78" fmla="*/ 488 w 540"/>
                    <a:gd name="T79" fmla="*/ 545 h 593"/>
                    <a:gd name="T80" fmla="*/ 507 w 540"/>
                    <a:gd name="T81" fmla="*/ 511 h 593"/>
                    <a:gd name="T82" fmla="*/ 516 w 540"/>
                    <a:gd name="T83" fmla="*/ 482 h 593"/>
                    <a:gd name="T84" fmla="*/ 521 w 540"/>
                    <a:gd name="T85" fmla="*/ 464 h 593"/>
                    <a:gd name="T86" fmla="*/ 526 w 540"/>
                    <a:gd name="T87" fmla="*/ 435 h 593"/>
                    <a:gd name="T88" fmla="*/ 531 w 540"/>
                    <a:gd name="T89" fmla="*/ 403 h 593"/>
                    <a:gd name="T90" fmla="*/ 535 w 540"/>
                    <a:gd name="T91" fmla="*/ 379 h 593"/>
                    <a:gd name="T92" fmla="*/ 540 w 540"/>
                    <a:gd name="T93" fmla="*/ 308 h 593"/>
                    <a:gd name="T94" fmla="*/ 531 w 540"/>
                    <a:gd name="T95" fmla="*/ 237 h 59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540" h="593">
                      <a:moveTo>
                        <a:pt x="459" y="0"/>
                      </a:moveTo>
                      <a:lnTo>
                        <a:pt x="449" y="9"/>
                      </a:lnTo>
                      <a:lnTo>
                        <a:pt x="426" y="37"/>
                      </a:lnTo>
                      <a:lnTo>
                        <a:pt x="407" y="66"/>
                      </a:lnTo>
                      <a:lnTo>
                        <a:pt x="392" y="99"/>
                      </a:lnTo>
                      <a:lnTo>
                        <a:pt x="388" y="113"/>
                      </a:lnTo>
                      <a:lnTo>
                        <a:pt x="383" y="132"/>
                      </a:lnTo>
                      <a:lnTo>
                        <a:pt x="373" y="170"/>
                      </a:lnTo>
                      <a:lnTo>
                        <a:pt x="369" y="208"/>
                      </a:lnTo>
                      <a:lnTo>
                        <a:pt x="365" y="246"/>
                      </a:lnTo>
                      <a:lnTo>
                        <a:pt x="365" y="264"/>
                      </a:lnTo>
                      <a:lnTo>
                        <a:pt x="365" y="274"/>
                      </a:lnTo>
                      <a:lnTo>
                        <a:pt x="365" y="293"/>
                      </a:lnTo>
                      <a:lnTo>
                        <a:pt x="360" y="312"/>
                      </a:lnTo>
                      <a:lnTo>
                        <a:pt x="360" y="322"/>
                      </a:lnTo>
                      <a:lnTo>
                        <a:pt x="355" y="335"/>
                      </a:lnTo>
                      <a:lnTo>
                        <a:pt x="350" y="355"/>
                      </a:lnTo>
                      <a:lnTo>
                        <a:pt x="345" y="364"/>
                      </a:lnTo>
                      <a:lnTo>
                        <a:pt x="345" y="369"/>
                      </a:lnTo>
                      <a:lnTo>
                        <a:pt x="341" y="374"/>
                      </a:lnTo>
                      <a:lnTo>
                        <a:pt x="331" y="388"/>
                      </a:lnTo>
                      <a:lnTo>
                        <a:pt x="321" y="393"/>
                      </a:lnTo>
                      <a:lnTo>
                        <a:pt x="317" y="398"/>
                      </a:lnTo>
                      <a:lnTo>
                        <a:pt x="307" y="403"/>
                      </a:lnTo>
                      <a:lnTo>
                        <a:pt x="289" y="407"/>
                      </a:lnTo>
                      <a:lnTo>
                        <a:pt x="279" y="407"/>
                      </a:lnTo>
                      <a:lnTo>
                        <a:pt x="260" y="411"/>
                      </a:lnTo>
                      <a:lnTo>
                        <a:pt x="250" y="411"/>
                      </a:lnTo>
                      <a:lnTo>
                        <a:pt x="213" y="411"/>
                      </a:lnTo>
                      <a:lnTo>
                        <a:pt x="132" y="416"/>
                      </a:lnTo>
                      <a:lnTo>
                        <a:pt x="90" y="416"/>
                      </a:lnTo>
                      <a:lnTo>
                        <a:pt x="81" y="416"/>
                      </a:lnTo>
                      <a:lnTo>
                        <a:pt x="61" y="421"/>
                      </a:lnTo>
                      <a:lnTo>
                        <a:pt x="47" y="421"/>
                      </a:lnTo>
                      <a:lnTo>
                        <a:pt x="34" y="426"/>
                      </a:lnTo>
                      <a:lnTo>
                        <a:pt x="19" y="435"/>
                      </a:lnTo>
                      <a:lnTo>
                        <a:pt x="14" y="440"/>
                      </a:lnTo>
                      <a:lnTo>
                        <a:pt x="5" y="450"/>
                      </a:lnTo>
                      <a:lnTo>
                        <a:pt x="0" y="459"/>
                      </a:lnTo>
                      <a:lnTo>
                        <a:pt x="0" y="464"/>
                      </a:lnTo>
                      <a:lnTo>
                        <a:pt x="0" y="474"/>
                      </a:lnTo>
                      <a:lnTo>
                        <a:pt x="0" y="487"/>
                      </a:lnTo>
                      <a:lnTo>
                        <a:pt x="0" y="511"/>
                      </a:lnTo>
                      <a:lnTo>
                        <a:pt x="5" y="525"/>
                      </a:lnTo>
                      <a:lnTo>
                        <a:pt x="5" y="530"/>
                      </a:lnTo>
                      <a:lnTo>
                        <a:pt x="5" y="535"/>
                      </a:lnTo>
                      <a:lnTo>
                        <a:pt x="10" y="545"/>
                      </a:lnTo>
                      <a:lnTo>
                        <a:pt x="19" y="558"/>
                      </a:lnTo>
                      <a:lnTo>
                        <a:pt x="29" y="563"/>
                      </a:lnTo>
                      <a:lnTo>
                        <a:pt x="34" y="563"/>
                      </a:lnTo>
                      <a:lnTo>
                        <a:pt x="37" y="568"/>
                      </a:lnTo>
                      <a:lnTo>
                        <a:pt x="47" y="568"/>
                      </a:lnTo>
                      <a:lnTo>
                        <a:pt x="61" y="572"/>
                      </a:lnTo>
                      <a:lnTo>
                        <a:pt x="85" y="577"/>
                      </a:lnTo>
                      <a:lnTo>
                        <a:pt x="95" y="577"/>
                      </a:lnTo>
                      <a:lnTo>
                        <a:pt x="104" y="577"/>
                      </a:lnTo>
                      <a:lnTo>
                        <a:pt x="128" y="577"/>
                      </a:lnTo>
                      <a:lnTo>
                        <a:pt x="152" y="577"/>
                      </a:lnTo>
                      <a:lnTo>
                        <a:pt x="175" y="577"/>
                      </a:lnTo>
                      <a:lnTo>
                        <a:pt x="189" y="572"/>
                      </a:lnTo>
                      <a:lnTo>
                        <a:pt x="203" y="572"/>
                      </a:lnTo>
                      <a:lnTo>
                        <a:pt x="232" y="568"/>
                      </a:lnTo>
                      <a:lnTo>
                        <a:pt x="255" y="568"/>
                      </a:lnTo>
                      <a:lnTo>
                        <a:pt x="279" y="568"/>
                      </a:lnTo>
                      <a:lnTo>
                        <a:pt x="289" y="568"/>
                      </a:lnTo>
                      <a:lnTo>
                        <a:pt x="298" y="568"/>
                      </a:lnTo>
                      <a:lnTo>
                        <a:pt x="321" y="568"/>
                      </a:lnTo>
                      <a:lnTo>
                        <a:pt x="341" y="572"/>
                      </a:lnTo>
                      <a:lnTo>
                        <a:pt x="355" y="577"/>
                      </a:lnTo>
                      <a:lnTo>
                        <a:pt x="365" y="582"/>
                      </a:lnTo>
                      <a:lnTo>
                        <a:pt x="373" y="587"/>
                      </a:lnTo>
                      <a:lnTo>
                        <a:pt x="388" y="592"/>
                      </a:lnTo>
                      <a:lnTo>
                        <a:pt x="407" y="592"/>
                      </a:lnTo>
                      <a:lnTo>
                        <a:pt x="426" y="587"/>
                      </a:lnTo>
                      <a:lnTo>
                        <a:pt x="436" y="582"/>
                      </a:lnTo>
                      <a:lnTo>
                        <a:pt x="444" y="577"/>
                      </a:lnTo>
                      <a:lnTo>
                        <a:pt x="454" y="572"/>
                      </a:lnTo>
                      <a:lnTo>
                        <a:pt x="468" y="563"/>
                      </a:lnTo>
                      <a:lnTo>
                        <a:pt x="483" y="549"/>
                      </a:lnTo>
                      <a:lnTo>
                        <a:pt x="487" y="545"/>
                      </a:lnTo>
                      <a:lnTo>
                        <a:pt x="497" y="530"/>
                      </a:lnTo>
                      <a:lnTo>
                        <a:pt x="506" y="511"/>
                      </a:lnTo>
                      <a:lnTo>
                        <a:pt x="510" y="497"/>
                      </a:lnTo>
                      <a:lnTo>
                        <a:pt x="515" y="482"/>
                      </a:lnTo>
                      <a:lnTo>
                        <a:pt x="515" y="478"/>
                      </a:lnTo>
                      <a:lnTo>
                        <a:pt x="520" y="464"/>
                      </a:lnTo>
                      <a:lnTo>
                        <a:pt x="520" y="454"/>
                      </a:lnTo>
                      <a:lnTo>
                        <a:pt x="525" y="435"/>
                      </a:lnTo>
                      <a:lnTo>
                        <a:pt x="525" y="426"/>
                      </a:lnTo>
                      <a:lnTo>
                        <a:pt x="530" y="403"/>
                      </a:lnTo>
                      <a:lnTo>
                        <a:pt x="530" y="398"/>
                      </a:lnTo>
                      <a:lnTo>
                        <a:pt x="534" y="379"/>
                      </a:lnTo>
                      <a:lnTo>
                        <a:pt x="539" y="340"/>
                      </a:lnTo>
                      <a:lnTo>
                        <a:pt x="539" y="308"/>
                      </a:lnTo>
                      <a:lnTo>
                        <a:pt x="534" y="260"/>
                      </a:lnTo>
                      <a:lnTo>
                        <a:pt x="530" y="237"/>
                      </a:lnTo>
                      <a:lnTo>
                        <a:pt x="459" y="0"/>
                      </a:ln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Roboto" panose="02000000000000000000" pitchFamily="2" charset="0"/>
                    <a:ea typeface="Roboto" panose="02000000000000000000" pitchFamily="2" charset="0"/>
                  </a:endParaRPr>
                </a:p>
              </p:txBody>
            </p:sp>
            <p:sp>
              <p:nvSpPr>
                <p:cNvPr id="102" name="Freeform 333">
                  <a:extLst>
                    <a:ext uri="{FF2B5EF4-FFF2-40B4-BE49-F238E27FC236}">
                      <a16:creationId xmlns:a16="http://schemas.microsoft.com/office/drawing/2014/main" id="{EC97F12A-0582-1E49-4437-4A42C3C645D1}"/>
                    </a:ext>
                  </a:extLst>
                </p:cNvPr>
                <p:cNvSpPr>
                  <a:spLocks/>
                </p:cNvSpPr>
                <p:nvPr/>
              </p:nvSpPr>
              <p:spPr bwMode="auto">
                <a:xfrm>
                  <a:off x="2667" y="1959"/>
                  <a:ext cx="559" cy="610"/>
                </a:xfrm>
                <a:custGeom>
                  <a:avLst/>
                  <a:gdLst>
                    <a:gd name="T0" fmla="*/ 472 w 558"/>
                    <a:gd name="T1" fmla="*/ 0 h 610"/>
                    <a:gd name="T2" fmla="*/ 424 w 558"/>
                    <a:gd name="T3" fmla="*/ 43 h 610"/>
                    <a:gd name="T4" fmla="*/ 380 w 558"/>
                    <a:gd name="T5" fmla="*/ 187 h 610"/>
                    <a:gd name="T6" fmla="*/ 371 w 558"/>
                    <a:gd name="T7" fmla="*/ 350 h 610"/>
                    <a:gd name="T8" fmla="*/ 337 w 558"/>
                    <a:gd name="T9" fmla="*/ 412 h 610"/>
                    <a:gd name="T10" fmla="*/ 183 w 558"/>
                    <a:gd name="T11" fmla="*/ 417 h 610"/>
                    <a:gd name="T12" fmla="*/ 15 w 558"/>
                    <a:gd name="T13" fmla="*/ 427 h 610"/>
                    <a:gd name="T14" fmla="*/ 0 w 558"/>
                    <a:gd name="T15" fmla="*/ 508 h 610"/>
                    <a:gd name="T16" fmla="*/ 15 w 558"/>
                    <a:gd name="T17" fmla="*/ 561 h 610"/>
                    <a:gd name="T18" fmla="*/ 58 w 558"/>
                    <a:gd name="T19" fmla="*/ 580 h 610"/>
                    <a:gd name="T20" fmla="*/ 144 w 558"/>
                    <a:gd name="T21" fmla="*/ 590 h 610"/>
                    <a:gd name="T22" fmla="*/ 255 w 558"/>
                    <a:gd name="T23" fmla="*/ 576 h 610"/>
                    <a:gd name="T24" fmla="*/ 342 w 558"/>
                    <a:gd name="T25" fmla="*/ 571 h 610"/>
                    <a:gd name="T26" fmla="*/ 409 w 558"/>
                    <a:gd name="T27" fmla="*/ 609 h 610"/>
                    <a:gd name="T28" fmla="*/ 481 w 558"/>
                    <a:gd name="T29" fmla="*/ 576 h 610"/>
                    <a:gd name="T30" fmla="*/ 515 w 558"/>
                    <a:gd name="T31" fmla="*/ 528 h 610"/>
                    <a:gd name="T32" fmla="*/ 534 w 558"/>
                    <a:gd name="T33" fmla="*/ 475 h 610"/>
                    <a:gd name="T34" fmla="*/ 558 w 558"/>
                    <a:gd name="T35" fmla="*/ 336 h 610"/>
                    <a:gd name="T36" fmla="*/ 544 w 558"/>
                    <a:gd name="T37" fmla="*/ 240 h 61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558" h="610">
                      <a:moveTo>
                        <a:pt x="471" y="0"/>
                      </a:moveTo>
                      <a:lnTo>
                        <a:pt x="423" y="43"/>
                      </a:lnTo>
                      <a:lnTo>
                        <a:pt x="379" y="187"/>
                      </a:lnTo>
                      <a:lnTo>
                        <a:pt x="370" y="350"/>
                      </a:lnTo>
                      <a:lnTo>
                        <a:pt x="336" y="412"/>
                      </a:lnTo>
                      <a:lnTo>
                        <a:pt x="183" y="417"/>
                      </a:lnTo>
                      <a:lnTo>
                        <a:pt x="15" y="427"/>
                      </a:lnTo>
                      <a:lnTo>
                        <a:pt x="0" y="508"/>
                      </a:lnTo>
                      <a:lnTo>
                        <a:pt x="15" y="561"/>
                      </a:lnTo>
                      <a:lnTo>
                        <a:pt x="58" y="580"/>
                      </a:lnTo>
                      <a:lnTo>
                        <a:pt x="144" y="590"/>
                      </a:lnTo>
                      <a:lnTo>
                        <a:pt x="255" y="576"/>
                      </a:lnTo>
                      <a:lnTo>
                        <a:pt x="341" y="571"/>
                      </a:lnTo>
                      <a:lnTo>
                        <a:pt x="408" y="609"/>
                      </a:lnTo>
                      <a:lnTo>
                        <a:pt x="480" y="576"/>
                      </a:lnTo>
                      <a:lnTo>
                        <a:pt x="514" y="528"/>
                      </a:lnTo>
                      <a:lnTo>
                        <a:pt x="533" y="475"/>
                      </a:lnTo>
                      <a:lnTo>
                        <a:pt x="557" y="336"/>
                      </a:lnTo>
                      <a:lnTo>
                        <a:pt x="543" y="240"/>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103" name="Freeform 334">
                  <a:extLst>
                    <a:ext uri="{FF2B5EF4-FFF2-40B4-BE49-F238E27FC236}">
                      <a16:creationId xmlns:a16="http://schemas.microsoft.com/office/drawing/2014/main" id="{09833BEC-B894-7994-B286-269A362490D5}"/>
                    </a:ext>
                  </a:extLst>
                </p:cNvPr>
                <p:cNvSpPr>
                  <a:spLocks/>
                </p:cNvSpPr>
                <p:nvPr/>
              </p:nvSpPr>
              <p:spPr bwMode="auto">
                <a:xfrm>
                  <a:off x="2671" y="1959"/>
                  <a:ext cx="548" cy="601"/>
                </a:xfrm>
                <a:custGeom>
                  <a:avLst/>
                  <a:gdLst>
                    <a:gd name="T0" fmla="*/ 456 w 548"/>
                    <a:gd name="T1" fmla="*/ 9 h 601"/>
                    <a:gd name="T2" fmla="*/ 413 w 548"/>
                    <a:gd name="T3" fmla="*/ 67 h 601"/>
                    <a:gd name="T4" fmla="*/ 394 w 548"/>
                    <a:gd name="T5" fmla="*/ 115 h 601"/>
                    <a:gd name="T6" fmla="*/ 379 w 548"/>
                    <a:gd name="T7" fmla="*/ 172 h 601"/>
                    <a:gd name="T8" fmla="*/ 370 w 548"/>
                    <a:gd name="T9" fmla="*/ 249 h 601"/>
                    <a:gd name="T10" fmla="*/ 370 w 548"/>
                    <a:gd name="T11" fmla="*/ 278 h 601"/>
                    <a:gd name="T12" fmla="*/ 365 w 548"/>
                    <a:gd name="T13" fmla="*/ 316 h 601"/>
                    <a:gd name="T14" fmla="*/ 360 w 548"/>
                    <a:gd name="T15" fmla="*/ 340 h 601"/>
                    <a:gd name="T16" fmla="*/ 350 w 548"/>
                    <a:gd name="T17" fmla="*/ 369 h 601"/>
                    <a:gd name="T18" fmla="*/ 346 w 548"/>
                    <a:gd name="T19" fmla="*/ 379 h 601"/>
                    <a:gd name="T20" fmla="*/ 326 w 548"/>
                    <a:gd name="T21" fmla="*/ 398 h 601"/>
                    <a:gd name="T22" fmla="*/ 312 w 548"/>
                    <a:gd name="T23" fmla="*/ 408 h 601"/>
                    <a:gd name="T24" fmla="*/ 283 w 548"/>
                    <a:gd name="T25" fmla="*/ 412 h 601"/>
                    <a:gd name="T26" fmla="*/ 254 w 548"/>
                    <a:gd name="T27" fmla="*/ 417 h 601"/>
                    <a:gd name="T28" fmla="*/ 134 w 548"/>
                    <a:gd name="T29" fmla="*/ 422 h 601"/>
                    <a:gd name="T30" fmla="*/ 82 w 548"/>
                    <a:gd name="T31" fmla="*/ 422 h 601"/>
                    <a:gd name="T32" fmla="*/ 48 w 548"/>
                    <a:gd name="T33" fmla="*/ 427 h 601"/>
                    <a:gd name="T34" fmla="*/ 19 w 548"/>
                    <a:gd name="T35" fmla="*/ 441 h 601"/>
                    <a:gd name="T36" fmla="*/ 5 w 548"/>
                    <a:gd name="T37" fmla="*/ 456 h 601"/>
                    <a:gd name="T38" fmla="*/ 0 w 548"/>
                    <a:gd name="T39" fmla="*/ 470 h 601"/>
                    <a:gd name="T40" fmla="*/ 0 w 548"/>
                    <a:gd name="T41" fmla="*/ 494 h 601"/>
                    <a:gd name="T42" fmla="*/ 5 w 548"/>
                    <a:gd name="T43" fmla="*/ 532 h 601"/>
                    <a:gd name="T44" fmla="*/ 5 w 548"/>
                    <a:gd name="T45" fmla="*/ 542 h 601"/>
                    <a:gd name="T46" fmla="*/ 19 w 548"/>
                    <a:gd name="T47" fmla="*/ 566 h 601"/>
                    <a:gd name="T48" fmla="*/ 34 w 548"/>
                    <a:gd name="T49" fmla="*/ 571 h 601"/>
                    <a:gd name="T50" fmla="*/ 48 w 548"/>
                    <a:gd name="T51" fmla="*/ 576 h 601"/>
                    <a:gd name="T52" fmla="*/ 86 w 548"/>
                    <a:gd name="T53" fmla="*/ 585 h 601"/>
                    <a:gd name="T54" fmla="*/ 106 w 548"/>
                    <a:gd name="T55" fmla="*/ 585 h 601"/>
                    <a:gd name="T56" fmla="*/ 154 w 548"/>
                    <a:gd name="T57" fmla="*/ 585 h 601"/>
                    <a:gd name="T58" fmla="*/ 192 w 548"/>
                    <a:gd name="T59" fmla="*/ 580 h 601"/>
                    <a:gd name="T60" fmla="*/ 235 w 548"/>
                    <a:gd name="T61" fmla="*/ 576 h 601"/>
                    <a:gd name="T62" fmla="*/ 283 w 548"/>
                    <a:gd name="T63" fmla="*/ 576 h 601"/>
                    <a:gd name="T64" fmla="*/ 302 w 548"/>
                    <a:gd name="T65" fmla="*/ 576 h 601"/>
                    <a:gd name="T66" fmla="*/ 346 w 548"/>
                    <a:gd name="T67" fmla="*/ 580 h 601"/>
                    <a:gd name="T68" fmla="*/ 370 w 548"/>
                    <a:gd name="T69" fmla="*/ 590 h 601"/>
                    <a:gd name="T70" fmla="*/ 394 w 548"/>
                    <a:gd name="T71" fmla="*/ 600 h 601"/>
                    <a:gd name="T72" fmla="*/ 432 w 548"/>
                    <a:gd name="T73" fmla="*/ 595 h 601"/>
                    <a:gd name="T74" fmla="*/ 451 w 548"/>
                    <a:gd name="T75" fmla="*/ 585 h 601"/>
                    <a:gd name="T76" fmla="*/ 475 w 548"/>
                    <a:gd name="T77" fmla="*/ 571 h 601"/>
                    <a:gd name="T78" fmla="*/ 494 w 548"/>
                    <a:gd name="T79" fmla="*/ 552 h 601"/>
                    <a:gd name="T80" fmla="*/ 514 w 548"/>
                    <a:gd name="T81" fmla="*/ 518 h 601"/>
                    <a:gd name="T82" fmla="*/ 523 w 548"/>
                    <a:gd name="T83" fmla="*/ 489 h 601"/>
                    <a:gd name="T84" fmla="*/ 528 w 548"/>
                    <a:gd name="T85" fmla="*/ 470 h 601"/>
                    <a:gd name="T86" fmla="*/ 533 w 548"/>
                    <a:gd name="T87" fmla="*/ 441 h 601"/>
                    <a:gd name="T88" fmla="*/ 538 w 548"/>
                    <a:gd name="T89" fmla="*/ 408 h 601"/>
                    <a:gd name="T90" fmla="*/ 542 w 548"/>
                    <a:gd name="T91" fmla="*/ 384 h 601"/>
                    <a:gd name="T92" fmla="*/ 547 w 548"/>
                    <a:gd name="T93" fmla="*/ 312 h 601"/>
                    <a:gd name="T94" fmla="*/ 538 w 548"/>
                    <a:gd name="T95" fmla="*/ 240 h 60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548" h="601">
                      <a:moveTo>
                        <a:pt x="466" y="0"/>
                      </a:moveTo>
                      <a:lnTo>
                        <a:pt x="456" y="9"/>
                      </a:lnTo>
                      <a:lnTo>
                        <a:pt x="432" y="38"/>
                      </a:lnTo>
                      <a:lnTo>
                        <a:pt x="413" y="67"/>
                      </a:lnTo>
                      <a:lnTo>
                        <a:pt x="398" y="100"/>
                      </a:lnTo>
                      <a:lnTo>
                        <a:pt x="394" y="115"/>
                      </a:lnTo>
                      <a:lnTo>
                        <a:pt x="389" y="134"/>
                      </a:lnTo>
                      <a:lnTo>
                        <a:pt x="379" y="172"/>
                      </a:lnTo>
                      <a:lnTo>
                        <a:pt x="374" y="211"/>
                      </a:lnTo>
                      <a:lnTo>
                        <a:pt x="370" y="249"/>
                      </a:lnTo>
                      <a:lnTo>
                        <a:pt x="370" y="268"/>
                      </a:lnTo>
                      <a:lnTo>
                        <a:pt x="370" y="278"/>
                      </a:lnTo>
                      <a:lnTo>
                        <a:pt x="370" y="297"/>
                      </a:lnTo>
                      <a:lnTo>
                        <a:pt x="365" y="316"/>
                      </a:lnTo>
                      <a:lnTo>
                        <a:pt x="365" y="326"/>
                      </a:lnTo>
                      <a:lnTo>
                        <a:pt x="360" y="340"/>
                      </a:lnTo>
                      <a:lnTo>
                        <a:pt x="355" y="360"/>
                      </a:lnTo>
                      <a:lnTo>
                        <a:pt x="350" y="369"/>
                      </a:lnTo>
                      <a:lnTo>
                        <a:pt x="350" y="374"/>
                      </a:lnTo>
                      <a:lnTo>
                        <a:pt x="346" y="379"/>
                      </a:lnTo>
                      <a:lnTo>
                        <a:pt x="336" y="393"/>
                      </a:lnTo>
                      <a:lnTo>
                        <a:pt x="326" y="398"/>
                      </a:lnTo>
                      <a:lnTo>
                        <a:pt x="322" y="403"/>
                      </a:lnTo>
                      <a:lnTo>
                        <a:pt x="312" y="408"/>
                      </a:lnTo>
                      <a:lnTo>
                        <a:pt x="293" y="412"/>
                      </a:lnTo>
                      <a:lnTo>
                        <a:pt x="283" y="412"/>
                      </a:lnTo>
                      <a:lnTo>
                        <a:pt x="264" y="417"/>
                      </a:lnTo>
                      <a:lnTo>
                        <a:pt x="254" y="417"/>
                      </a:lnTo>
                      <a:lnTo>
                        <a:pt x="216" y="417"/>
                      </a:lnTo>
                      <a:lnTo>
                        <a:pt x="134" y="422"/>
                      </a:lnTo>
                      <a:lnTo>
                        <a:pt x="91" y="422"/>
                      </a:lnTo>
                      <a:lnTo>
                        <a:pt x="82" y="422"/>
                      </a:lnTo>
                      <a:lnTo>
                        <a:pt x="62" y="427"/>
                      </a:lnTo>
                      <a:lnTo>
                        <a:pt x="48" y="427"/>
                      </a:lnTo>
                      <a:lnTo>
                        <a:pt x="34" y="432"/>
                      </a:lnTo>
                      <a:lnTo>
                        <a:pt x="19" y="441"/>
                      </a:lnTo>
                      <a:lnTo>
                        <a:pt x="14" y="446"/>
                      </a:lnTo>
                      <a:lnTo>
                        <a:pt x="5" y="456"/>
                      </a:lnTo>
                      <a:lnTo>
                        <a:pt x="0" y="465"/>
                      </a:lnTo>
                      <a:lnTo>
                        <a:pt x="0" y="470"/>
                      </a:lnTo>
                      <a:lnTo>
                        <a:pt x="0" y="480"/>
                      </a:lnTo>
                      <a:lnTo>
                        <a:pt x="0" y="494"/>
                      </a:lnTo>
                      <a:lnTo>
                        <a:pt x="0" y="518"/>
                      </a:lnTo>
                      <a:lnTo>
                        <a:pt x="5" y="532"/>
                      </a:lnTo>
                      <a:lnTo>
                        <a:pt x="5" y="537"/>
                      </a:lnTo>
                      <a:lnTo>
                        <a:pt x="5" y="542"/>
                      </a:lnTo>
                      <a:lnTo>
                        <a:pt x="10" y="552"/>
                      </a:lnTo>
                      <a:lnTo>
                        <a:pt x="19" y="566"/>
                      </a:lnTo>
                      <a:lnTo>
                        <a:pt x="29" y="571"/>
                      </a:lnTo>
                      <a:lnTo>
                        <a:pt x="34" y="571"/>
                      </a:lnTo>
                      <a:lnTo>
                        <a:pt x="38" y="576"/>
                      </a:lnTo>
                      <a:lnTo>
                        <a:pt x="48" y="576"/>
                      </a:lnTo>
                      <a:lnTo>
                        <a:pt x="62" y="580"/>
                      </a:lnTo>
                      <a:lnTo>
                        <a:pt x="86" y="585"/>
                      </a:lnTo>
                      <a:lnTo>
                        <a:pt x="96" y="585"/>
                      </a:lnTo>
                      <a:lnTo>
                        <a:pt x="106" y="585"/>
                      </a:lnTo>
                      <a:lnTo>
                        <a:pt x="130" y="585"/>
                      </a:lnTo>
                      <a:lnTo>
                        <a:pt x="154" y="585"/>
                      </a:lnTo>
                      <a:lnTo>
                        <a:pt x="178" y="585"/>
                      </a:lnTo>
                      <a:lnTo>
                        <a:pt x="192" y="580"/>
                      </a:lnTo>
                      <a:lnTo>
                        <a:pt x="206" y="580"/>
                      </a:lnTo>
                      <a:lnTo>
                        <a:pt x="235" y="576"/>
                      </a:lnTo>
                      <a:lnTo>
                        <a:pt x="259" y="576"/>
                      </a:lnTo>
                      <a:lnTo>
                        <a:pt x="283" y="576"/>
                      </a:lnTo>
                      <a:lnTo>
                        <a:pt x="293" y="576"/>
                      </a:lnTo>
                      <a:lnTo>
                        <a:pt x="302" y="576"/>
                      </a:lnTo>
                      <a:lnTo>
                        <a:pt x="326" y="576"/>
                      </a:lnTo>
                      <a:lnTo>
                        <a:pt x="346" y="580"/>
                      </a:lnTo>
                      <a:lnTo>
                        <a:pt x="360" y="585"/>
                      </a:lnTo>
                      <a:lnTo>
                        <a:pt x="370" y="590"/>
                      </a:lnTo>
                      <a:lnTo>
                        <a:pt x="379" y="595"/>
                      </a:lnTo>
                      <a:lnTo>
                        <a:pt x="394" y="600"/>
                      </a:lnTo>
                      <a:lnTo>
                        <a:pt x="413" y="600"/>
                      </a:lnTo>
                      <a:lnTo>
                        <a:pt x="432" y="595"/>
                      </a:lnTo>
                      <a:lnTo>
                        <a:pt x="442" y="590"/>
                      </a:lnTo>
                      <a:lnTo>
                        <a:pt x="451" y="585"/>
                      </a:lnTo>
                      <a:lnTo>
                        <a:pt x="461" y="580"/>
                      </a:lnTo>
                      <a:lnTo>
                        <a:pt x="475" y="571"/>
                      </a:lnTo>
                      <a:lnTo>
                        <a:pt x="490" y="556"/>
                      </a:lnTo>
                      <a:lnTo>
                        <a:pt x="494" y="552"/>
                      </a:lnTo>
                      <a:lnTo>
                        <a:pt x="504" y="537"/>
                      </a:lnTo>
                      <a:lnTo>
                        <a:pt x="514" y="518"/>
                      </a:lnTo>
                      <a:lnTo>
                        <a:pt x="518" y="504"/>
                      </a:lnTo>
                      <a:lnTo>
                        <a:pt x="523" y="489"/>
                      </a:lnTo>
                      <a:lnTo>
                        <a:pt x="523" y="484"/>
                      </a:lnTo>
                      <a:lnTo>
                        <a:pt x="528" y="470"/>
                      </a:lnTo>
                      <a:lnTo>
                        <a:pt x="528" y="460"/>
                      </a:lnTo>
                      <a:lnTo>
                        <a:pt x="533" y="441"/>
                      </a:lnTo>
                      <a:lnTo>
                        <a:pt x="533" y="432"/>
                      </a:lnTo>
                      <a:lnTo>
                        <a:pt x="538" y="408"/>
                      </a:lnTo>
                      <a:lnTo>
                        <a:pt x="538" y="403"/>
                      </a:lnTo>
                      <a:lnTo>
                        <a:pt x="542" y="384"/>
                      </a:lnTo>
                      <a:lnTo>
                        <a:pt x="547" y="345"/>
                      </a:lnTo>
                      <a:lnTo>
                        <a:pt x="547" y="312"/>
                      </a:lnTo>
                      <a:lnTo>
                        <a:pt x="542" y="264"/>
                      </a:lnTo>
                      <a:lnTo>
                        <a:pt x="538" y="240"/>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104" name="Freeform 335">
                  <a:extLst>
                    <a:ext uri="{FF2B5EF4-FFF2-40B4-BE49-F238E27FC236}">
                      <a16:creationId xmlns:a16="http://schemas.microsoft.com/office/drawing/2014/main" id="{99327886-BA32-E595-C113-1C983E6A676C}"/>
                    </a:ext>
                  </a:extLst>
                </p:cNvPr>
                <p:cNvSpPr>
                  <a:spLocks/>
                </p:cNvSpPr>
                <p:nvPr/>
              </p:nvSpPr>
              <p:spPr bwMode="auto">
                <a:xfrm>
                  <a:off x="3393" y="1871"/>
                  <a:ext cx="116" cy="596"/>
                </a:xfrm>
                <a:custGeom>
                  <a:avLst/>
                  <a:gdLst>
                    <a:gd name="T0" fmla="*/ 0 w 116"/>
                    <a:gd name="T1" fmla="*/ 0 h 596"/>
                    <a:gd name="T2" fmla="*/ 48 w 116"/>
                    <a:gd name="T3" fmla="*/ 67 h 596"/>
                    <a:gd name="T4" fmla="*/ 82 w 116"/>
                    <a:gd name="T5" fmla="*/ 135 h 596"/>
                    <a:gd name="T6" fmla="*/ 115 w 116"/>
                    <a:gd name="T7" fmla="*/ 355 h 596"/>
                    <a:gd name="T8" fmla="*/ 106 w 116"/>
                    <a:gd name="T9" fmla="*/ 461 h 596"/>
                    <a:gd name="T10" fmla="*/ 67 w 116"/>
                    <a:gd name="T11" fmla="*/ 581 h 596"/>
                    <a:gd name="T12" fmla="*/ 58 w 116"/>
                    <a:gd name="T13" fmla="*/ 595 h 59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6" h="596">
                      <a:moveTo>
                        <a:pt x="0" y="0"/>
                      </a:moveTo>
                      <a:lnTo>
                        <a:pt x="48" y="67"/>
                      </a:lnTo>
                      <a:lnTo>
                        <a:pt x="82" y="135"/>
                      </a:lnTo>
                      <a:lnTo>
                        <a:pt x="115" y="355"/>
                      </a:lnTo>
                      <a:lnTo>
                        <a:pt x="106" y="461"/>
                      </a:lnTo>
                      <a:lnTo>
                        <a:pt x="67" y="581"/>
                      </a:lnTo>
                      <a:lnTo>
                        <a:pt x="58" y="595"/>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105" name="Freeform 336">
                  <a:extLst>
                    <a:ext uri="{FF2B5EF4-FFF2-40B4-BE49-F238E27FC236}">
                      <a16:creationId xmlns:a16="http://schemas.microsoft.com/office/drawing/2014/main" id="{7A159A3A-CA31-4C98-D10E-9DA2F44D124F}"/>
                    </a:ext>
                  </a:extLst>
                </p:cNvPr>
                <p:cNvSpPr>
                  <a:spLocks/>
                </p:cNvSpPr>
                <p:nvPr/>
              </p:nvSpPr>
              <p:spPr bwMode="auto">
                <a:xfrm>
                  <a:off x="3393" y="1871"/>
                  <a:ext cx="111" cy="596"/>
                </a:xfrm>
                <a:custGeom>
                  <a:avLst/>
                  <a:gdLst>
                    <a:gd name="T0" fmla="*/ 0 w 111"/>
                    <a:gd name="T1" fmla="*/ 0 h 596"/>
                    <a:gd name="T2" fmla="*/ 14 w 111"/>
                    <a:gd name="T3" fmla="*/ 19 h 596"/>
                    <a:gd name="T4" fmla="*/ 34 w 111"/>
                    <a:gd name="T5" fmla="*/ 48 h 596"/>
                    <a:gd name="T6" fmla="*/ 48 w 111"/>
                    <a:gd name="T7" fmla="*/ 72 h 596"/>
                    <a:gd name="T8" fmla="*/ 58 w 111"/>
                    <a:gd name="T9" fmla="*/ 91 h 596"/>
                    <a:gd name="T10" fmla="*/ 62 w 111"/>
                    <a:gd name="T11" fmla="*/ 101 h 596"/>
                    <a:gd name="T12" fmla="*/ 67 w 111"/>
                    <a:gd name="T13" fmla="*/ 106 h 596"/>
                    <a:gd name="T14" fmla="*/ 67 w 111"/>
                    <a:gd name="T15" fmla="*/ 115 h 596"/>
                    <a:gd name="T16" fmla="*/ 72 w 111"/>
                    <a:gd name="T17" fmla="*/ 125 h 596"/>
                    <a:gd name="T18" fmla="*/ 77 w 111"/>
                    <a:gd name="T19" fmla="*/ 144 h 596"/>
                    <a:gd name="T20" fmla="*/ 82 w 111"/>
                    <a:gd name="T21" fmla="*/ 159 h 596"/>
                    <a:gd name="T22" fmla="*/ 86 w 111"/>
                    <a:gd name="T23" fmla="*/ 183 h 596"/>
                    <a:gd name="T24" fmla="*/ 91 w 111"/>
                    <a:gd name="T25" fmla="*/ 207 h 596"/>
                    <a:gd name="T26" fmla="*/ 96 w 111"/>
                    <a:gd name="T27" fmla="*/ 235 h 596"/>
                    <a:gd name="T28" fmla="*/ 96 w 111"/>
                    <a:gd name="T29" fmla="*/ 245 h 596"/>
                    <a:gd name="T30" fmla="*/ 101 w 111"/>
                    <a:gd name="T31" fmla="*/ 259 h 596"/>
                    <a:gd name="T32" fmla="*/ 101 w 111"/>
                    <a:gd name="T33" fmla="*/ 283 h 596"/>
                    <a:gd name="T34" fmla="*/ 106 w 111"/>
                    <a:gd name="T35" fmla="*/ 307 h 596"/>
                    <a:gd name="T36" fmla="*/ 110 w 111"/>
                    <a:gd name="T37" fmla="*/ 331 h 596"/>
                    <a:gd name="T38" fmla="*/ 110 w 111"/>
                    <a:gd name="T39" fmla="*/ 355 h 596"/>
                    <a:gd name="T40" fmla="*/ 110 w 111"/>
                    <a:gd name="T41" fmla="*/ 370 h 596"/>
                    <a:gd name="T42" fmla="*/ 110 w 111"/>
                    <a:gd name="T43" fmla="*/ 384 h 596"/>
                    <a:gd name="T44" fmla="*/ 110 w 111"/>
                    <a:gd name="T45" fmla="*/ 403 h 596"/>
                    <a:gd name="T46" fmla="*/ 110 w 111"/>
                    <a:gd name="T47" fmla="*/ 408 h 596"/>
                    <a:gd name="T48" fmla="*/ 110 w 111"/>
                    <a:gd name="T49" fmla="*/ 418 h 596"/>
                    <a:gd name="T50" fmla="*/ 106 w 111"/>
                    <a:gd name="T51" fmla="*/ 447 h 596"/>
                    <a:gd name="T52" fmla="*/ 101 w 111"/>
                    <a:gd name="T53" fmla="*/ 475 h 596"/>
                    <a:gd name="T54" fmla="*/ 91 w 111"/>
                    <a:gd name="T55" fmla="*/ 504 h 596"/>
                    <a:gd name="T56" fmla="*/ 86 w 111"/>
                    <a:gd name="T57" fmla="*/ 519 h 596"/>
                    <a:gd name="T58" fmla="*/ 86 w 111"/>
                    <a:gd name="T59" fmla="*/ 523 h 596"/>
                    <a:gd name="T60" fmla="*/ 82 w 111"/>
                    <a:gd name="T61" fmla="*/ 538 h 596"/>
                    <a:gd name="T62" fmla="*/ 77 w 111"/>
                    <a:gd name="T63" fmla="*/ 552 h 596"/>
                    <a:gd name="T64" fmla="*/ 72 w 111"/>
                    <a:gd name="T65" fmla="*/ 562 h 596"/>
                    <a:gd name="T66" fmla="*/ 67 w 111"/>
                    <a:gd name="T67" fmla="*/ 576 h 596"/>
                    <a:gd name="T68" fmla="*/ 62 w 111"/>
                    <a:gd name="T69" fmla="*/ 586 h 596"/>
                    <a:gd name="T70" fmla="*/ 58 w 111"/>
                    <a:gd name="T71" fmla="*/ 595 h 5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11" h="596">
                      <a:moveTo>
                        <a:pt x="0" y="0"/>
                      </a:moveTo>
                      <a:lnTo>
                        <a:pt x="14" y="19"/>
                      </a:lnTo>
                      <a:lnTo>
                        <a:pt x="34" y="48"/>
                      </a:lnTo>
                      <a:lnTo>
                        <a:pt x="48" y="72"/>
                      </a:lnTo>
                      <a:lnTo>
                        <a:pt x="58" y="91"/>
                      </a:lnTo>
                      <a:lnTo>
                        <a:pt x="62" y="101"/>
                      </a:lnTo>
                      <a:lnTo>
                        <a:pt x="67" y="106"/>
                      </a:lnTo>
                      <a:lnTo>
                        <a:pt x="67" y="115"/>
                      </a:lnTo>
                      <a:lnTo>
                        <a:pt x="72" y="125"/>
                      </a:lnTo>
                      <a:lnTo>
                        <a:pt x="77" y="144"/>
                      </a:lnTo>
                      <a:lnTo>
                        <a:pt x="82" y="159"/>
                      </a:lnTo>
                      <a:lnTo>
                        <a:pt x="86" y="183"/>
                      </a:lnTo>
                      <a:lnTo>
                        <a:pt x="91" y="207"/>
                      </a:lnTo>
                      <a:lnTo>
                        <a:pt x="96" y="235"/>
                      </a:lnTo>
                      <a:lnTo>
                        <a:pt x="96" y="245"/>
                      </a:lnTo>
                      <a:lnTo>
                        <a:pt x="101" y="259"/>
                      </a:lnTo>
                      <a:lnTo>
                        <a:pt x="101" y="283"/>
                      </a:lnTo>
                      <a:lnTo>
                        <a:pt x="106" y="307"/>
                      </a:lnTo>
                      <a:lnTo>
                        <a:pt x="110" y="331"/>
                      </a:lnTo>
                      <a:lnTo>
                        <a:pt x="110" y="355"/>
                      </a:lnTo>
                      <a:lnTo>
                        <a:pt x="110" y="370"/>
                      </a:lnTo>
                      <a:lnTo>
                        <a:pt x="110" y="384"/>
                      </a:lnTo>
                      <a:lnTo>
                        <a:pt x="110" y="403"/>
                      </a:lnTo>
                      <a:lnTo>
                        <a:pt x="110" y="408"/>
                      </a:lnTo>
                      <a:lnTo>
                        <a:pt x="110" y="418"/>
                      </a:lnTo>
                      <a:lnTo>
                        <a:pt x="106" y="447"/>
                      </a:lnTo>
                      <a:lnTo>
                        <a:pt x="101" y="475"/>
                      </a:lnTo>
                      <a:lnTo>
                        <a:pt x="91" y="504"/>
                      </a:lnTo>
                      <a:lnTo>
                        <a:pt x="86" y="519"/>
                      </a:lnTo>
                      <a:lnTo>
                        <a:pt x="86" y="523"/>
                      </a:lnTo>
                      <a:lnTo>
                        <a:pt x="82" y="538"/>
                      </a:lnTo>
                      <a:lnTo>
                        <a:pt x="77" y="552"/>
                      </a:lnTo>
                      <a:lnTo>
                        <a:pt x="72" y="562"/>
                      </a:lnTo>
                      <a:lnTo>
                        <a:pt x="67" y="576"/>
                      </a:lnTo>
                      <a:lnTo>
                        <a:pt x="62" y="586"/>
                      </a:lnTo>
                      <a:lnTo>
                        <a:pt x="58" y="595"/>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106" name="Freeform 337">
                  <a:extLst>
                    <a:ext uri="{FF2B5EF4-FFF2-40B4-BE49-F238E27FC236}">
                      <a16:creationId xmlns:a16="http://schemas.microsoft.com/office/drawing/2014/main" id="{F7D321E0-F2A6-F1AB-AFB9-3E2B3E5F1705}"/>
                    </a:ext>
                  </a:extLst>
                </p:cNvPr>
                <p:cNvSpPr>
                  <a:spLocks/>
                </p:cNvSpPr>
                <p:nvPr/>
              </p:nvSpPr>
              <p:spPr bwMode="auto">
                <a:xfrm>
                  <a:off x="3286" y="3245"/>
                  <a:ext cx="89" cy="103"/>
                </a:xfrm>
                <a:custGeom>
                  <a:avLst/>
                  <a:gdLst>
                    <a:gd name="T0" fmla="*/ 5 w 89"/>
                    <a:gd name="T1" fmla="*/ 0 h 103"/>
                    <a:gd name="T2" fmla="*/ 88 w 89"/>
                    <a:gd name="T3" fmla="*/ 0 h 103"/>
                    <a:gd name="T4" fmla="*/ 88 w 89"/>
                    <a:gd name="T5" fmla="*/ 102 h 103"/>
                    <a:gd name="T6" fmla="*/ 0 w 89"/>
                    <a:gd name="T7" fmla="*/ 102 h 103"/>
                    <a:gd name="T8" fmla="*/ 5 w 89"/>
                    <a:gd name="T9" fmla="*/ 0 h 10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9" h="103">
                      <a:moveTo>
                        <a:pt x="5" y="0"/>
                      </a:moveTo>
                      <a:lnTo>
                        <a:pt x="88" y="0"/>
                      </a:lnTo>
                      <a:lnTo>
                        <a:pt x="88" y="102"/>
                      </a:lnTo>
                      <a:lnTo>
                        <a:pt x="0" y="102"/>
                      </a:lnTo>
                      <a:lnTo>
                        <a:pt x="5" y="0"/>
                      </a:ln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Roboto" panose="02000000000000000000" pitchFamily="2" charset="0"/>
                    <a:ea typeface="Roboto" panose="02000000000000000000" pitchFamily="2" charset="0"/>
                  </a:endParaRPr>
                </a:p>
              </p:txBody>
            </p:sp>
            <p:sp>
              <p:nvSpPr>
                <p:cNvPr id="107" name="Freeform 338">
                  <a:extLst>
                    <a:ext uri="{FF2B5EF4-FFF2-40B4-BE49-F238E27FC236}">
                      <a16:creationId xmlns:a16="http://schemas.microsoft.com/office/drawing/2014/main" id="{360B43A4-25AF-E4DF-5658-2BBFF21A501A}"/>
                    </a:ext>
                  </a:extLst>
                </p:cNvPr>
                <p:cNvSpPr>
                  <a:spLocks/>
                </p:cNvSpPr>
                <p:nvPr/>
              </p:nvSpPr>
              <p:spPr bwMode="auto">
                <a:xfrm>
                  <a:off x="3286" y="3245"/>
                  <a:ext cx="89" cy="103"/>
                </a:xfrm>
                <a:custGeom>
                  <a:avLst/>
                  <a:gdLst>
                    <a:gd name="T0" fmla="*/ 5 w 89"/>
                    <a:gd name="T1" fmla="*/ 0 h 103"/>
                    <a:gd name="T2" fmla="*/ 88 w 89"/>
                    <a:gd name="T3" fmla="*/ 0 h 103"/>
                    <a:gd name="T4" fmla="*/ 88 w 89"/>
                    <a:gd name="T5" fmla="*/ 102 h 103"/>
                    <a:gd name="T6" fmla="*/ 0 w 89"/>
                    <a:gd name="T7" fmla="*/ 102 h 103"/>
                    <a:gd name="T8" fmla="*/ 5 w 89"/>
                    <a:gd name="T9" fmla="*/ 0 h 10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9" h="103">
                      <a:moveTo>
                        <a:pt x="5" y="0"/>
                      </a:moveTo>
                      <a:lnTo>
                        <a:pt x="88" y="0"/>
                      </a:lnTo>
                      <a:lnTo>
                        <a:pt x="88" y="102"/>
                      </a:lnTo>
                      <a:lnTo>
                        <a:pt x="0" y="102"/>
                      </a:lnTo>
                      <a:lnTo>
                        <a:pt x="5"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Roboto" panose="02000000000000000000" pitchFamily="2" charset="0"/>
                    <a:ea typeface="Roboto" panose="02000000000000000000" pitchFamily="2" charset="0"/>
                  </a:endParaRPr>
                </a:p>
              </p:txBody>
            </p:sp>
            <p:sp>
              <p:nvSpPr>
                <p:cNvPr id="108" name="Rectangle 339">
                  <a:extLst>
                    <a:ext uri="{FF2B5EF4-FFF2-40B4-BE49-F238E27FC236}">
                      <a16:creationId xmlns:a16="http://schemas.microsoft.com/office/drawing/2014/main" id="{FEC65148-A955-3672-E35F-FF6146A7B244}"/>
                    </a:ext>
                  </a:extLst>
                </p:cNvPr>
                <p:cNvSpPr>
                  <a:spLocks noChangeArrowheads="1"/>
                </p:cNvSpPr>
                <p:nvPr/>
              </p:nvSpPr>
              <p:spPr bwMode="auto">
                <a:xfrm>
                  <a:off x="2667" y="2380"/>
                  <a:ext cx="45" cy="155"/>
                </a:xfrm>
                <a:prstGeom prst="rect">
                  <a:avLst/>
                </a:pr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09" name="Rectangle 340">
                  <a:extLst>
                    <a:ext uri="{FF2B5EF4-FFF2-40B4-BE49-F238E27FC236}">
                      <a16:creationId xmlns:a16="http://schemas.microsoft.com/office/drawing/2014/main" id="{1CD301B1-81AC-4A79-FB2E-4E02CB0CE5E4}"/>
                    </a:ext>
                  </a:extLst>
                </p:cNvPr>
                <p:cNvSpPr>
                  <a:spLocks noChangeArrowheads="1"/>
                </p:cNvSpPr>
                <p:nvPr/>
              </p:nvSpPr>
              <p:spPr bwMode="auto">
                <a:xfrm>
                  <a:off x="2667" y="2380"/>
                  <a:ext cx="45"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10" name="Rectangle 341">
                  <a:extLst>
                    <a:ext uri="{FF2B5EF4-FFF2-40B4-BE49-F238E27FC236}">
                      <a16:creationId xmlns:a16="http://schemas.microsoft.com/office/drawing/2014/main" id="{B8D0FB48-037F-259D-25FC-3644ABF65B47}"/>
                    </a:ext>
                  </a:extLst>
                </p:cNvPr>
                <p:cNvSpPr>
                  <a:spLocks noChangeArrowheads="1"/>
                </p:cNvSpPr>
                <p:nvPr/>
              </p:nvSpPr>
              <p:spPr bwMode="auto">
                <a:xfrm>
                  <a:off x="3195" y="2448"/>
                  <a:ext cx="7" cy="3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11" name="Rectangle 342">
                  <a:extLst>
                    <a:ext uri="{FF2B5EF4-FFF2-40B4-BE49-F238E27FC236}">
                      <a16:creationId xmlns:a16="http://schemas.microsoft.com/office/drawing/2014/main" id="{361BC40C-C43A-FFB6-96E2-2CAE30811789}"/>
                    </a:ext>
                  </a:extLst>
                </p:cNvPr>
                <p:cNvSpPr>
                  <a:spLocks noChangeArrowheads="1"/>
                </p:cNvSpPr>
                <p:nvPr/>
              </p:nvSpPr>
              <p:spPr bwMode="auto">
                <a:xfrm>
                  <a:off x="3195" y="2448"/>
                  <a:ext cx="7" cy="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12" name="Freeform 343">
                  <a:extLst>
                    <a:ext uri="{FF2B5EF4-FFF2-40B4-BE49-F238E27FC236}">
                      <a16:creationId xmlns:a16="http://schemas.microsoft.com/office/drawing/2014/main" id="{E60D6A42-2FFD-1F9D-79B2-E4CF204CE583}"/>
                    </a:ext>
                  </a:extLst>
                </p:cNvPr>
                <p:cNvSpPr>
                  <a:spLocks/>
                </p:cNvSpPr>
                <p:nvPr/>
              </p:nvSpPr>
              <p:spPr bwMode="auto">
                <a:xfrm>
                  <a:off x="2931" y="3268"/>
                  <a:ext cx="27" cy="37"/>
                </a:xfrm>
                <a:custGeom>
                  <a:avLst/>
                  <a:gdLst>
                    <a:gd name="T0" fmla="*/ 11 w 27"/>
                    <a:gd name="T1" fmla="*/ 36 h 36"/>
                    <a:gd name="T2" fmla="*/ 26 w 27"/>
                    <a:gd name="T3" fmla="*/ 25 h 36"/>
                    <a:gd name="T4" fmla="*/ 26 w 27"/>
                    <a:gd name="T5" fmla="*/ 0 h 36"/>
                    <a:gd name="T6" fmla="*/ 0 w 27"/>
                    <a:gd name="T7" fmla="*/ 11 h 36"/>
                    <a:gd name="T8" fmla="*/ 11 w 27"/>
                    <a:gd name="T9" fmla="*/ 36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36">
                      <a:moveTo>
                        <a:pt x="11" y="35"/>
                      </a:moveTo>
                      <a:lnTo>
                        <a:pt x="26" y="24"/>
                      </a:lnTo>
                      <a:lnTo>
                        <a:pt x="26" y="0"/>
                      </a:lnTo>
                      <a:lnTo>
                        <a:pt x="0" y="11"/>
                      </a:lnTo>
                      <a:lnTo>
                        <a:pt x="11" y="35"/>
                      </a:ln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Roboto" panose="02000000000000000000" pitchFamily="2" charset="0"/>
                    <a:ea typeface="Roboto" panose="02000000000000000000" pitchFamily="2" charset="0"/>
                  </a:endParaRPr>
                </a:p>
              </p:txBody>
            </p:sp>
            <p:sp>
              <p:nvSpPr>
                <p:cNvPr id="113" name="Freeform 344">
                  <a:extLst>
                    <a:ext uri="{FF2B5EF4-FFF2-40B4-BE49-F238E27FC236}">
                      <a16:creationId xmlns:a16="http://schemas.microsoft.com/office/drawing/2014/main" id="{6D6276BC-9906-D6D8-A73E-43FE99639C99}"/>
                    </a:ext>
                  </a:extLst>
                </p:cNvPr>
                <p:cNvSpPr>
                  <a:spLocks/>
                </p:cNvSpPr>
                <p:nvPr/>
              </p:nvSpPr>
              <p:spPr bwMode="auto">
                <a:xfrm>
                  <a:off x="2874" y="1914"/>
                  <a:ext cx="226" cy="97"/>
                </a:xfrm>
                <a:custGeom>
                  <a:avLst/>
                  <a:gdLst>
                    <a:gd name="T0" fmla="*/ 225 w 226"/>
                    <a:gd name="T1" fmla="*/ 96 h 97"/>
                    <a:gd name="T2" fmla="*/ 72 w 226"/>
                    <a:gd name="T3" fmla="*/ 0 h 97"/>
                    <a:gd name="T4" fmla="*/ 0 w 226"/>
                    <a:gd name="T5" fmla="*/ 53 h 97"/>
                    <a:gd name="T6" fmla="*/ 0 60000 65536"/>
                    <a:gd name="T7" fmla="*/ 0 60000 65536"/>
                    <a:gd name="T8" fmla="*/ 0 60000 65536"/>
                  </a:gdLst>
                  <a:ahLst/>
                  <a:cxnLst>
                    <a:cxn ang="T6">
                      <a:pos x="T0" y="T1"/>
                    </a:cxn>
                    <a:cxn ang="T7">
                      <a:pos x="T2" y="T3"/>
                    </a:cxn>
                    <a:cxn ang="T8">
                      <a:pos x="T4" y="T5"/>
                    </a:cxn>
                  </a:cxnLst>
                  <a:rect l="0" t="0" r="r" b="b"/>
                  <a:pathLst>
                    <a:path w="226" h="97">
                      <a:moveTo>
                        <a:pt x="225" y="96"/>
                      </a:moveTo>
                      <a:lnTo>
                        <a:pt x="72" y="0"/>
                      </a:lnTo>
                      <a:lnTo>
                        <a:pt x="0" y="53"/>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114" name="Freeform 345">
                  <a:extLst>
                    <a:ext uri="{FF2B5EF4-FFF2-40B4-BE49-F238E27FC236}">
                      <a16:creationId xmlns:a16="http://schemas.microsoft.com/office/drawing/2014/main" id="{9174BFD5-A667-3478-49F0-AEF35CAA3B82}"/>
                    </a:ext>
                  </a:extLst>
                </p:cNvPr>
                <p:cNvSpPr>
                  <a:spLocks/>
                </p:cNvSpPr>
                <p:nvPr/>
              </p:nvSpPr>
              <p:spPr bwMode="auto">
                <a:xfrm>
                  <a:off x="2874" y="1914"/>
                  <a:ext cx="226" cy="97"/>
                </a:xfrm>
                <a:custGeom>
                  <a:avLst/>
                  <a:gdLst>
                    <a:gd name="T0" fmla="*/ 225 w 226"/>
                    <a:gd name="T1" fmla="*/ 96 h 97"/>
                    <a:gd name="T2" fmla="*/ 72 w 226"/>
                    <a:gd name="T3" fmla="*/ 0 h 97"/>
                    <a:gd name="T4" fmla="*/ 0 w 226"/>
                    <a:gd name="T5" fmla="*/ 53 h 97"/>
                    <a:gd name="T6" fmla="*/ 0 60000 65536"/>
                    <a:gd name="T7" fmla="*/ 0 60000 65536"/>
                    <a:gd name="T8" fmla="*/ 0 60000 65536"/>
                  </a:gdLst>
                  <a:ahLst/>
                  <a:cxnLst>
                    <a:cxn ang="T6">
                      <a:pos x="T0" y="T1"/>
                    </a:cxn>
                    <a:cxn ang="T7">
                      <a:pos x="T2" y="T3"/>
                    </a:cxn>
                    <a:cxn ang="T8">
                      <a:pos x="T4" y="T5"/>
                    </a:cxn>
                  </a:cxnLst>
                  <a:rect l="0" t="0" r="r" b="b"/>
                  <a:pathLst>
                    <a:path w="226" h="97">
                      <a:moveTo>
                        <a:pt x="225" y="96"/>
                      </a:moveTo>
                      <a:lnTo>
                        <a:pt x="72" y="0"/>
                      </a:lnTo>
                      <a:lnTo>
                        <a:pt x="0" y="53"/>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115" name="Line 346">
                  <a:extLst>
                    <a:ext uri="{FF2B5EF4-FFF2-40B4-BE49-F238E27FC236}">
                      <a16:creationId xmlns:a16="http://schemas.microsoft.com/office/drawing/2014/main" id="{A4695D45-EFB8-705C-1440-97419C265CB8}"/>
                    </a:ext>
                  </a:extLst>
                </p:cNvPr>
                <p:cNvSpPr>
                  <a:spLocks noChangeShapeType="1"/>
                </p:cNvSpPr>
                <p:nvPr/>
              </p:nvSpPr>
              <p:spPr bwMode="auto">
                <a:xfrm flipH="1" flipV="1">
                  <a:off x="2984" y="2116"/>
                  <a:ext cx="67" cy="4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16" name="Line 347">
                  <a:extLst>
                    <a:ext uri="{FF2B5EF4-FFF2-40B4-BE49-F238E27FC236}">
                      <a16:creationId xmlns:a16="http://schemas.microsoft.com/office/drawing/2014/main" id="{85015A46-ECC8-90E9-71C8-EC1EF3B7CE7B}"/>
                    </a:ext>
                  </a:extLst>
                </p:cNvPr>
                <p:cNvSpPr>
                  <a:spLocks noChangeShapeType="1"/>
                </p:cNvSpPr>
                <p:nvPr/>
              </p:nvSpPr>
              <p:spPr bwMode="auto">
                <a:xfrm flipH="1" flipV="1">
                  <a:off x="2984" y="2116"/>
                  <a:ext cx="67" cy="4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17" name="Freeform 348">
                  <a:extLst>
                    <a:ext uri="{FF2B5EF4-FFF2-40B4-BE49-F238E27FC236}">
                      <a16:creationId xmlns:a16="http://schemas.microsoft.com/office/drawing/2014/main" id="{193B3057-6074-9E10-EBD2-9A90F7481656}"/>
                    </a:ext>
                  </a:extLst>
                </p:cNvPr>
                <p:cNvSpPr>
                  <a:spLocks/>
                </p:cNvSpPr>
                <p:nvPr/>
              </p:nvSpPr>
              <p:spPr bwMode="auto">
                <a:xfrm>
                  <a:off x="2878" y="1914"/>
                  <a:ext cx="112" cy="54"/>
                </a:xfrm>
                <a:custGeom>
                  <a:avLst/>
                  <a:gdLst>
                    <a:gd name="T0" fmla="*/ 72 w 112"/>
                    <a:gd name="T1" fmla="*/ 0 h 54"/>
                    <a:gd name="T2" fmla="*/ 111 w 112"/>
                    <a:gd name="T3" fmla="*/ 29 h 54"/>
                    <a:gd name="T4" fmla="*/ 87 w 112"/>
                    <a:gd name="T5" fmla="*/ 53 h 54"/>
                    <a:gd name="T6" fmla="*/ 0 w 112"/>
                    <a:gd name="T7" fmla="*/ 53 h 54"/>
                    <a:gd name="T8" fmla="*/ 68 w 112"/>
                    <a:gd name="T9" fmla="*/ 0 h 54"/>
                    <a:gd name="T10" fmla="*/ 72 w 112"/>
                    <a:gd name="T11" fmla="*/ 0 h 5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2" h="54">
                      <a:moveTo>
                        <a:pt x="72" y="0"/>
                      </a:moveTo>
                      <a:lnTo>
                        <a:pt x="111" y="29"/>
                      </a:lnTo>
                      <a:lnTo>
                        <a:pt x="87" y="53"/>
                      </a:lnTo>
                      <a:lnTo>
                        <a:pt x="0" y="53"/>
                      </a:lnTo>
                      <a:lnTo>
                        <a:pt x="68" y="0"/>
                      </a:lnTo>
                      <a:lnTo>
                        <a:pt x="72" y="0"/>
                      </a:lnTo>
                    </a:path>
                  </a:pathLst>
                </a:custGeom>
                <a:blipFill dpi="0" rotWithShape="0">
                  <a:blip r:embed="rId6"/>
                  <a:srcRect/>
                  <a:tile tx="0" ty="0" sx="100000" sy="100000" flip="none" algn="tl"/>
                </a:blipFill>
                <a:ln w="12700" cap="rnd" cmpd="sng">
                  <a:solidFill>
                    <a:srgbClr val="000000"/>
                  </a:solidFill>
                  <a:prstDash val="solid"/>
                  <a:round/>
                  <a:headEnd type="none" w="med" len="med"/>
                  <a:tailEnd type="none" w="med" len="med"/>
                </a:ln>
              </p:spPr>
              <p:txBody>
                <a:bodyPr/>
                <a:lstStyle/>
                <a:p>
                  <a:endParaRPr lang="en-US">
                    <a:latin typeface="Roboto" panose="02000000000000000000" pitchFamily="2" charset="0"/>
                    <a:ea typeface="Roboto" panose="02000000000000000000" pitchFamily="2" charset="0"/>
                  </a:endParaRPr>
                </a:p>
              </p:txBody>
            </p:sp>
            <p:sp>
              <p:nvSpPr>
                <p:cNvPr id="118" name="Freeform 349">
                  <a:extLst>
                    <a:ext uri="{FF2B5EF4-FFF2-40B4-BE49-F238E27FC236}">
                      <a16:creationId xmlns:a16="http://schemas.microsoft.com/office/drawing/2014/main" id="{1A403181-27CF-0235-1E60-CB12747EB0D3}"/>
                    </a:ext>
                  </a:extLst>
                </p:cNvPr>
                <p:cNvSpPr>
                  <a:spLocks/>
                </p:cNvSpPr>
                <p:nvPr/>
              </p:nvSpPr>
              <p:spPr bwMode="auto">
                <a:xfrm>
                  <a:off x="2878" y="1914"/>
                  <a:ext cx="112" cy="54"/>
                </a:xfrm>
                <a:custGeom>
                  <a:avLst/>
                  <a:gdLst>
                    <a:gd name="T0" fmla="*/ 72 w 112"/>
                    <a:gd name="T1" fmla="*/ 0 h 54"/>
                    <a:gd name="T2" fmla="*/ 111 w 112"/>
                    <a:gd name="T3" fmla="*/ 29 h 54"/>
                    <a:gd name="T4" fmla="*/ 87 w 112"/>
                    <a:gd name="T5" fmla="*/ 53 h 54"/>
                    <a:gd name="T6" fmla="*/ 0 w 112"/>
                    <a:gd name="T7" fmla="*/ 53 h 54"/>
                    <a:gd name="T8" fmla="*/ 68 w 112"/>
                    <a:gd name="T9" fmla="*/ 0 h 5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2" h="54">
                      <a:moveTo>
                        <a:pt x="72" y="0"/>
                      </a:moveTo>
                      <a:lnTo>
                        <a:pt x="111" y="29"/>
                      </a:lnTo>
                      <a:lnTo>
                        <a:pt x="87" y="53"/>
                      </a:lnTo>
                      <a:lnTo>
                        <a:pt x="0" y="53"/>
                      </a:lnTo>
                      <a:lnTo>
                        <a:pt x="68" y="0"/>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grpSp>
          <p:grpSp>
            <p:nvGrpSpPr>
              <p:cNvPr id="42" name="Group 350">
                <a:extLst>
                  <a:ext uri="{FF2B5EF4-FFF2-40B4-BE49-F238E27FC236}">
                    <a16:creationId xmlns:a16="http://schemas.microsoft.com/office/drawing/2014/main" id="{8E705D26-8BC2-DEAB-528A-F519E7C7C303}"/>
                  </a:ext>
                </a:extLst>
              </p:cNvPr>
              <p:cNvGrpSpPr>
                <a:grpSpLocks/>
              </p:cNvGrpSpPr>
              <p:nvPr/>
            </p:nvGrpSpPr>
            <p:grpSpPr bwMode="auto">
              <a:xfrm>
                <a:off x="2744" y="1694"/>
                <a:ext cx="179" cy="265"/>
                <a:chOff x="2744" y="1694"/>
                <a:chExt cx="179" cy="265"/>
              </a:xfrm>
            </p:grpSpPr>
            <p:sp>
              <p:nvSpPr>
                <p:cNvPr id="44" name="Freeform 351">
                  <a:extLst>
                    <a:ext uri="{FF2B5EF4-FFF2-40B4-BE49-F238E27FC236}">
                      <a16:creationId xmlns:a16="http://schemas.microsoft.com/office/drawing/2014/main" id="{A054F03C-0A62-BD74-71CD-DADB1E9B9272}"/>
                    </a:ext>
                  </a:extLst>
                </p:cNvPr>
                <p:cNvSpPr>
                  <a:spLocks/>
                </p:cNvSpPr>
                <p:nvPr/>
              </p:nvSpPr>
              <p:spPr bwMode="auto">
                <a:xfrm>
                  <a:off x="2778" y="1867"/>
                  <a:ext cx="145" cy="49"/>
                </a:xfrm>
                <a:custGeom>
                  <a:avLst/>
                  <a:gdLst>
                    <a:gd name="T0" fmla="*/ 144 w 145"/>
                    <a:gd name="T1" fmla="*/ 48 h 49"/>
                    <a:gd name="T2" fmla="*/ 110 w 145"/>
                    <a:gd name="T3" fmla="*/ 5 h 49"/>
                    <a:gd name="T4" fmla="*/ 67 w 145"/>
                    <a:gd name="T5" fmla="*/ 0 h 49"/>
                    <a:gd name="T6" fmla="*/ 19 w 145"/>
                    <a:gd name="T7" fmla="*/ 15 h 49"/>
                    <a:gd name="T8" fmla="*/ 0 w 145"/>
                    <a:gd name="T9" fmla="*/ 20 h 49"/>
                    <a:gd name="T10" fmla="*/ 4 w 145"/>
                    <a:gd name="T11" fmla="*/ 34 h 49"/>
                    <a:gd name="T12" fmla="*/ 72 w 145"/>
                    <a:gd name="T13" fmla="*/ 29 h 49"/>
                    <a:gd name="T14" fmla="*/ 100 w 145"/>
                    <a:gd name="T15" fmla="*/ 34 h 49"/>
                    <a:gd name="T16" fmla="*/ 96 w 145"/>
                    <a:gd name="T17" fmla="*/ 29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45" h="49">
                      <a:moveTo>
                        <a:pt x="144" y="48"/>
                      </a:moveTo>
                      <a:lnTo>
                        <a:pt x="110" y="5"/>
                      </a:lnTo>
                      <a:lnTo>
                        <a:pt x="67" y="0"/>
                      </a:lnTo>
                      <a:lnTo>
                        <a:pt x="19" y="15"/>
                      </a:lnTo>
                      <a:lnTo>
                        <a:pt x="0" y="20"/>
                      </a:lnTo>
                      <a:lnTo>
                        <a:pt x="4" y="34"/>
                      </a:lnTo>
                      <a:lnTo>
                        <a:pt x="72" y="29"/>
                      </a:lnTo>
                      <a:lnTo>
                        <a:pt x="100" y="34"/>
                      </a:lnTo>
                      <a:lnTo>
                        <a:pt x="96" y="29"/>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45" name="Freeform 352">
                  <a:extLst>
                    <a:ext uri="{FF2B5EF4-FFF2-40B4-BE49-F238E27FC236}">
                      <a16:creationId xmlns:a16="http://schemas.microsoft.com/office/drawing/2014/main" id="{4ADF6D6B-1811-E8B6-5657-A9674DCB1266}"/>
                    </a:ext>
                  </a:extLst>
                </p:cNvPr>
                <p:cNvSpPr>
                  <a:spLocks/>
                </p:cNvSpPr>
                <p:nvPr/>
              </p:nvSpPr>
              <p:spPr bwMode="auto">
                <a:xfrm>
                  <a:off x="2778" y="1867"/>
                  <a:ext cx="145" cy="49"/>
                </a:xfrm>
                <a:custGeom>
                  <a:avLst/>
                  <a:gdLst>
                    <a:gd name="T0" fmla="*/ 144 w 145"/>
                    <a:gd name="T1" fmla="*/ 48 h 49"/>
                    <a:gd name="T2" fmla="*/ 110 w 145"/>
                    <a:gd name="T3" fmla="*/ 5 h 49"/>
                    <a:gd name="T4" fmla="*/ 67 w 145"/>
                    <a:gd name="T5" fmla="*/ 0 h 49"/>
                    <a:gd name="T6" fmla="*/ 19 w 145"/>
                    <a:gd name="T7" fmla="*/ 15 h 49"/>
                    <a:gd name="T8" fmla="*/ 0 w 145"/>
                    <a:gd name="T9" fmla="*/ 20 h 49"/>
                    <a:gd name="T10" fmla="*/ 4 w 145"/>
                    <a:gd name="T11" fmla="*/ 34 h 49"/>
                    <a:gd name="T12" fmla="*/ 72 w 145"/>
                    <a:gd name="T13" fmla="*/ 29 h 49"/>
                    <a:gd name="T14" fmla="*/ 100 w 145"/>
                    <a:gd name="T15" fmla="*/ 34 h 49"/>
                    <a:gd name="T16" fmla="*/ 96 w 145"/>
                    <a:gd name="T17" fmla="*/ 29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45" h="49">
                      <a:moveTo>
                        <a:pt x="144" y="48"/>
                      </a:moveTo>
                      <a:lnTo>
                        <a:pt x="110" y="5"/>
                      </a:lnTo>
                      <a:lnTo>
                        <a:pt x="67" y="0"/>
                      </a:lnTo>
                      <a:lnTo>
                        <a:pt x="19" y="15"/>
                      </a:lnTo>
                      <a:lnTo>
                        <a:pt x="0" y="20"/>
                      </a:lnTo>
                      <a:lnTo>
                        <a:pt x="4" y="34"/>
                      </a:lnTo>
                      <a:lnTo>
                        <a:pt x="72" y="29"/>
                      </a:lnTo>
                      <a:lnTo>
                        <a:pt x="100" y="34"/>
                      </a:lnTo>
                      <a:lnTo>
                        <a:pt x="96" y="29"/>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46" name="Freeform 353">
                  <a:extLst>
                    <a:ext uri="{FF2B5EF4-FFF2-40B4-BE49-F238E27FC236}">
                      <a16:creationId xmlns:a16="http://schemas.microsoft.com/office/drawing/2014/main" id="{1FE26F42-2559-7AD1-1DC1-55FDE9930366}"/>
                    </a:ext>
                  </a:extLst>
                </p:cNvPr>
                <p:cNvSpPr>
                  <a:spLocks/>
                </p:cNvSpPr>
                <p:nvPr/>
              </p:nvSpPr>
              <p:spPr bwMode="auto">
                <a:xfrm>
                  <a:off x="2798" y="1901"/>
                  <a:ext cx="81" cy="34"/>
                </a:xfrm>
                <a:custGeom>
                  <a:avLst/>
                  <a:gdLst>
                    <a:gd name="T0" fmla="*/ 9 w 82"/>
                    <a:gd name="T1" fmla="*/ 0 h 35"/>
                    <a:gd name="T2" fmla="*/ 0 w 82"/>
                    <a:gd name="T3" fmla="*/ 5 h 35"/>
                    <a:gd name="T4" fmla="*/ 9 w 82"/>
                    <a:gd name="T5" fmla="*/ 10 h 35"/>
                    <a:gd name="T6" fmla="*/ 80 w 82"/>
                    <a:gd name="T7" fmla="*/ 14 h 35"/>
                    <a:gd name="T8" fmla="*/ 9 w 82"/>
                    <a:gd name="T9" fmla="*/ 18 h 35"/>
                    <a:gd name="T10" fmla="*/ 0 w 82"/>
                    <a:gd name="T11" fmla="*/ 23 h 35"/>
                    <a:gd name="T12" fmla="*/ 9 w 82"/>
                    <a:gd name="T13" fmla="*/ 33 h 35"/>
                    <a:gd name="T14" fmla="*/ 76 w 82"/>
                    <a:gd name="T15" fmla="*/ 33 h 3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2" h="35">
                      <a:moveTo>
                        <a:pt x="9" y="0"/>
                      </a:moveTo>
                      <a:lnTo>
                        <a:pt x="0" y="5"/>
                      </a:lnTo>
                      <a:lnTo>
                        <a:pt x="9" y="10"/>
                      </a:lnTo>
                      <a:lnTo>
                        <a:pt x="81" y="14"/>
                      </a:lnTo>
                      <a:lnTo>
                        <a:pt x="9" y="19"/>
                      </a:lnTo>
                      <a:lnTo>
                        <a:pt x="0" y="24"/>
                      </a:lnTo>
                      <a:lnTo>
                        <a:pt x="9" y="34"/>
                      </a:lnTo>
                      <a:lnTo>
                        <a:pt x="77" y="34"/>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47" name="Freeform 354">
                  <a:extLst>
                    <a:ext uri="{FF2B5EF4-FFF2-40B4-BE49-F238E27FC236}">
                      <a16:creationId xmlns:a16="http://schemas.microsoft.com/office/drawing/2014/main" id="{1EFE0516-3D76-E3A6-AE10-511304360C83}"/>
                    </a:ext>
                  </a:extLst>
                </p:cNvPr>
                <p:cNvSpPr>
                  <a:spLocks/>
                </p:cNvSpPr>
                <p:nvPr/>
              </p:nvSpPr>
              <p:spPr bwMode="auto">
                <a:xfrm>
                  <a:off x="2798" y="1901"/>
                  <a:ext cx="81" cy="34"/>
                </a:xfrm>
                <a:custGeom>
                  <a:avLst/>
                  <a:gdLst>
                    <a:gd name="T0" fmla="*/ 9 w 82"/>
                    <a:gd name="T1" fmla="*/ 0 h 35"/>
                    <a:gd name="T2" fmla="*/ 0 w 82"/>
                    <a:gd name="T3" fmla="*/ 5 h 35"/>
                    <a:gd name="T4" fmla="*/ 9 w 82"/>
                    <a:gd name="T5" fmla="*/ 10 h 35"/>
                    <a:gd name="T6" fmla="*/ 80 w 82"/>
                    <a:gd name="T7" fmla="*/ 14 h 35"/>
                    <a:gd name="T8" fmla="*/ 9 w 82"/>
                    <a:gd name="T9" fmla="*/ 18 h 35"/>
                    <a:gd name="T10" fmla="*/ 0 w 82"/>
                    <a:gd name="T11" fmla="*/ 23 h 35"/>
                    <a:gd name="T12" fmla="*/ 9 w 82"/>
                    <a:gd name="T13" fmla="*/ 33 h 35"/>
                    <a:gd name="T14" fmla="*/ 76 w 82"/>
                    <a:gd name="T15" fmla="*/ 33 h 3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2" h="35">
                      <a:moveTo>
                        <a:pt x="9" y="0"/>
                      </a:moveTo>
                      <a:lnTo>
                        <a:pt x="0" y="5"/>
                      </a:lnTo>
                      <a:lnTo>
                        <a:pt x="9" y="10"/>
                      </a:lnTo>
                      <a:lnTo>
                        <a:pt x="81" y="14"/>
                      </a:lnTo>
                      <a:lnTo>
                        <a:pt x="9" y="19"/>
                      </a:lnTo>
                      <a:lnTo>
                        <a:pt x="0" y="24"/>
                      </a:lnTo>
                      <a:lnTo>
                        <a:pt x="9" y="34"/>
                      </a:lnTo>
                      <a:lnTo>
                        <a:pt x="77" y="34"/>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48" name="Freeform 355">
                  <a:extLst>
                    <a:ext uri="{FF2B5EF4-FFF2-40B4-BE49-F238E27FC236}">
                      <a16:creationId xmlns:a16="http://schemas.microsoft.com/office/drawing/2014/main" id="{837972FD-3DD5-A86E-55E2-5A6F08333473}"/>
                    </a:ext>
                  </a:extLst>
                </p:cNvPr>
                <p:cNvSpPr>
                  <a:spLocks/>
                </p:cNvSpPr>
                <p:nvPr/>
              </p:nvSpPr>
              <p:spPr bwMode="auto">
                <a:xfrm>
                  <a:off x="2806" y="1939"/>
                  <a:ext cx="73" cy="21"/>
                </a:xfrm>
                <a:custGeom>
                  <a:avLst/>
                  <a:gdLst>
                    <a:gd name="T0" fmla="*/ 0 w 73"/>
                    <a:gd name="T1" fmla="*/ 0 h 21"/>
                    <a:gd name="T2" fmla="*/ 0 w 73"/>
                    <a:gd name="T3" fmla="*/ 15 h 21"/>
                    <a:gd name="T4" fmla="*/ 44 w 73"/>
                    <a:gd name="T5" fmla="*/ 20 h 21"/>
                    <a:gd name="T6" fmla="*/ 72 w 73"/>
                    <a:gd name="T7" fmla="*/ 10 h 2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3" h="21">
                      <a:moveTo>
                        <a:pt x="0" y="0"/>
                      </a:moveTo>
                      <a:lnTo>
                        <a:pt x="0" y="15"/>
                      </a:lnTo>
                      <a:lnTo>
                        <a:pt x="44" y="20"/>
                      </a:lnTo>
                      <a:lnTo>
                        <a:pt x="72" y="10"/>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49" name="Freeform 356">
                  <a:extLst>
                    <a:ext uri="{FF2B5EF4-FFF2-40B4-BE49-F238E27FC236}">
                      <a16:creationId xmlns:a16="http://schemas.microsoft.com/office/drawing/2014/main" id="{098FE820-AEB2-DCE6-E843-A050F6CB810E}"/>
                    </a:ext>
                  </a:extLst>
                </p:cNvPr>
                <p:cNvSpPr>
                  <a:spLocks/>
                </p:cNvSpPr>
                <p:nvPr/>
              </p:nvSpPr>
              <p:spPr bwMode="auto">
                <a:xfrm>
                  <a:off x="2806" y="1939"/>
                  <a:ext cx="73" cy="21"/>
                </a:xfrm>
                <a:custGeom>
                  <a:avLst/>
                  <a:gdLst>
                    <a:gd name="T0" fmla="*/ 0 w 73"/>
                    <a:gd name="T1" fmla="*/ 0 h 21"/>
                    <a:gd name="T2" fmla="*/ 0 w 73"/>
                    <a:gd name="T3" fmla="*/ 15 h 21"/>
                    <a:gd name="T4" fmla="*/ 44 w 73"/>
                    <a:gd name="T5" fmla="*/ 20 h 21"/>
                    <a:gd name="T6" fmla="*/ 72 w 73"/>
                    <a:gd name="T7" fmla="*/ 10 h 2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3" h="21">
                      <a:moveTo>
                        <a:pt x="0" y="0"/>
                      </a:moveTo>
                      <a:lnTo>
                        <a:pt x="0" y="15"/>
                      </a:lnTo>
                      <a:lnTo>
                        <a:pt x="44" y="20"/>
                      </a:lnTo>
                      <a:lnTo>
                        <a:pt x="72" y="10"/>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50" name="Freeform 357">
                  <a:extLst>
                    <a:ext uri="{FF2B5EF4-FFF2-40B4-BE49-F238E27FC236}">
                      <a16:creationId xmlns:a16="http://schemas.microsoft.com/office/drawing/2014/main" id="{54B84307-EDCF-B91C-5766-2B5BC0A0593E}"/>
                    </a:ext>
                  </a:extLst>
                </p:cNvPr>
                <p:cNvSpPr>
                  <a:spLocks/>
                </p:cNvSpPr>
                <p:nvPr/>
              </p:nvSpPr>
              <p:spPr bwMode="auto">
                <a:xfrm>
                  <a:off x="2744" y="1694"/>
                  <a:ext cx="92" cy="178"/>
                </a:xfrm>
                <a:custGeom>
                  <a:avLst/>
                  <a:gdLst>
                    <a:gd name="T0" fmla="*/ 5 w 92"/>
                    <a:gd name="T1" fmla="*/ 9 h 178"/>
                    <a:gd name="T2" fmla="*/ 19 w 92"/>
                    <a:gd name="T3" fmla="*/ 0 h 178"/>
                    <a:gd name="T4" fmla="*/ 53 w 92"/>
                    <a:gd name="T5" fmla="*/ 33 h 178"/>
                    <a:gd name="T6" fmla="*/ 48 w 92"/>
                    <a:gd name="T7" fmla="*/ 57 h 178"/>
                    <a:gd name="T8" fmla="*/ 91 w 92"/>
                    <a:gd name="T9" fmla="*/ 172 h 178"/>
                    <a:gd name="T10" fmla="*/ 72 w 92"/>
                    <a:gd name="T11" fmla="*/ 177 h 178"/>
                    <a:gd name="T12" fmla="*/ 29 w 92"/>
                    <a:gd name="T13" fmla="*/ 57 h 178"/>
                    <a:gd name="T14" fmla="*/ 10 w 92"/>
                    <a:gd name="T15" fmla="*/ 52 h 178"/>
                    <a:gd name="T16" fmla="*/ 0 w 92"/>
                    <a:gd name="T17" fmla="*/ 4 h 178"/>
                    <a:gd name="T18" fmla="*/ 5 w 92"/>
                    <a:gd name="T19" fmla="*/ 9 h 17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92" h="178">
                      <a:moveTo>
                        <a:pt x="5" y="9"/>
                      </a:moveTo>
                      <a:lnTo>
                        <a:pt x="19" y="0"/>
                      </a:lnTo>
                      <a:lnTo>
                        <a:pt x="53" y="33"/>
                      </a:lnTo>
                      <a:lnTo>
                        <a:pt x="48" y="57"/>
                      </a:lnTo>
                      <a:lnTo>
                        <a:pt x="91" y="172"/>
                      </a:lnTo>
                      <a:lnTo>
                        <a:pt x="72" y="177"/>
                      </a:lnTo>
                      <a:lnTo>
                        <a:pt x="29" y="57"/>
                      </a:lnTo>
                      <a:lnTo>
                        <a:pt x="10" y="52"/>
                      </a:lnTo>
                      <a:lnTo>
                        <a:pt x="0" y="4"/>
                      </a:lnTo>
                      <a:lnTo>
                        <a:pt x="5" y="9"/>
                      </a:lnTo>
                    </a:path>
                  </a:pathLst>
                </a:custGeom>
                <a:blipFill dpi="0" rotWithShape="0">
                  <a:blip r:embed="rId6"/>
                  <a:srcRect/>
                  <a:tile tx="0" ty="0" sx="100000" sy="100000" flip="none" algn="tl"/>
                </a:blipFill>
                <a:ln w="12700" cap="rnd" cmpd="sng">
                  <a:solidFill>
                    <a:srgbClr val="000000"/>
                  </a:solidFill>
                  <a:prstDash val="solid"/>
                  <a:round/>
                  <a:headEnd type="none" w="med" len="med"/>
                  <a:tailEnd type="none" w="med" len="med"/>
                </a:ln>
              </p:spPr>
              <p:txBody>
                <a:bodyPr/>
                <a:lstStyle/>
                <a:p>
                  <a:endParaRPr lang="en-US">
                    <a:latin typeface="Roboto" panose="02000000000000000000" pitchFamily="2" charset="0"/>
                    <a:ea typeface="Roboto" panose="02000000000000000000" pitchFamily="2" charset="0"/>
                  </a:endParaRPr>
                </a:p>
              </p:txBody>
            </p:sp>
            <p:sp>
              <p:nvSpPr>
                <p:cNvPr id="51" name="Freeform 358">
                  <a:extLst>
                    <a:ext uri="{FF2B5EF4-FFF2-40B4-BE49-F238E27FC236}">
                      <a16:creationId xmlns:a16="http://schemas.microsoft.com/office/drawing/2014/main" id="{76197147-6E66-0991-7929-1D506332523F}"/>
                    </a:ext>
                  </a:extLst>
                </p:cNvPr>
                <p:cNvSpPr>
                  <a:spLocks/>
                </p:cNvSpPr>
                <p:nvPr/>
              </p:nvSpPr>
              <p:spPr bwMode="auto">
                <a:xfrm>
                  <a:off x="2744" y="1694"/>
                  <a:ext cx="92" cy="178"/>
                </a:xfrm>
                <a:custGeom>
                  <a:avLst/>
                  <a:gdLst>
                    <a:gd name="T0" fmla="*/ 5 w 92"/>
                    <a:gd name="T1" fmla="*/ 9 h 178"/>
                    <a:gd name="T2" fmla="*/ 19 w 92"/>
                    <a:gd name="T3" fmla="*/ 0 h 178"/>
                    <a:gd name="T4" fmla="*/ 53 w 92"/>
                    <a:gd name="T5" fmla="*/ 33 h 178"/>
                    <a:gd name="T6" fmla="*/ 48 w 92"/>
                    <a:gd name="T7" fmla="*/ 57 h 178"/>
                    <a:gd name="T8" fmla="*/ 91 w 92"/>
                    <a:gd name="T9" fmla="*/ 172 h 178"/>
                    <a:gd name="T10" fmla="*/ 72 w 92"/>
                    <a:gd name="T11" fmla="*/ 177 h 178"/>
                    <a:gd name="T12" fmla="*/ 29 w 92"/>
                    <a:gd name="T13" fmla="*/ 57 h 178"/>
                    <a:gd name="T14" fmla="*/ 10 w 92"/>
                    <a:gd name="T15" fmla="*/ 52 h 178"/>
                    <a:gd name="T16" fmla="*/ 0 w 92"/>
                    <a:gd name="T17" fmla="*/ 4 h 17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92" h="178">
                      <a:moveTo>
                        <a:pt x="5" y="9"/>
                      </a:moveTo>
                      <a:lnTo>
                        <a:pt x="19" y="0"/>
                      </a:lnTo>
                      <a:lnTo>
                        <a:pt x="53" y="33"/>
                      </a:lnTo>
                      <a:lnTo>
                        <a:pt x="48" y="57"/>
                      </a:lnTo>
                      <a:lnTo>
                        <a:pt x="91" y="172"/>
                      </a:lnTo>
                      <a:lnTo>
                        <a:pt x="72" y="177"/>
                      </a:lnTo>
                      <a:lnTo>
                        <a:pt x="29" y="57"/>
                      </a:lnTo>
                      <a:lnTo>
                        <a:pt x="10" y="52"/>
                      </a:lnTo>
                      <a:lnTo>
                        <a:pt x="0" y="4"/>
                      </a:lnTo>
                    </a:path>
                  </a:pathLst>
                </a:custGeom>
                <a:noFill/>
                <a:ln w="12700" cap="rnd"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52" name="AutoShape 359">
                  <a:extLst>
                    <a:ext uri="{FF2B5EF4-FFF2-40B4-BE49-F238E27FC236}">
                      <a16:creationId xmlns:a16="http://schemas.microsoft.com/office/drawing/2014/main" id="{F2E00123-035D-1CDD-B7E1-43EE21328EDB}"/>
                    </a:ext>
                  </a:extLst>
                </p:cNvPr>
                <p:cNvSpPr>
                  <a:spLocks noChangeArrowheads="1"/>
                </p:cNvSpPr>
                <p:nvPr/>
              </p:nvSpPr>
              <p:spPr bwMode="auto">
                <a:xfrm>
                  <a:off x="2786" y="1843"/>
                  <a:ext cx="66" cy="16"/>
                </a:xfrm>
                <a:prstGeom prst="roundRect">
                  <a:avLst>
                    <a:gd name="adj" fmla="val 48477"/>
                  </a:avLst>
                </a:prstGeom>
                <a:blipFill dpi="0" rotWithShape="0">
                  <a:blip r:embed="rId8"/>
                  <a:srcRect/>
                  <a:tile tx="0" ty="0" sx="100000" sy="100000" flip="none" algn="tl"/>
                </a:blipFill>
                <a:ln w="12700">
                  <a:solidFill>
                    <a:srgbClr val="0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53" name="Freeform 360">
                  <a:extLst>
                    <a:ext uri="{FF2B5EF4-FFF2-40B4-BE49-F238E27FC236}">
                      <a16:creationId xmlns:a16="http://schemas.microsoft.com/office/drawing/2014/main" id="{58A2610C-566C-78BC-0E74-138DA1371550}"/>
                    </a:ext>
                  </a:extLst>
                </p:cNvPr>
                <p:cNvSpPr>
                  <a:spLocks/>
                </p:cNvSpPr>
                <p:nvPr/>
              </p:nvSpPr>
              <p:spPr bwMode="auto">
                <a:xfrm>
                  <a:off x="2783" y="1828"/>
                  <a:ext cx="78" cy="49"/>
                </a:xfrm>
                <a:custGeom>
                  <a:avLst/>
                  <a:gdLst>
                    <a:gd name="T0" fmla="*/ 0 w 78"/>
                    <a:gd name="T1" fmla="*/ 34 h 49"/>
                    <a:gd name="T2" fmla="*/ 0 w 78"/>
                    <a:gd name="T3" fmla="*/ 34 h 49"/>
                    <a:gd name="T4" fmla="*/ 5 w 78"/>
                    <a:gd name="T5" fmla="*/ 24 h 49"/>
                    <a:gd name="T6" fmla="*/ 5 w 78"/>
                    <a:gd name="T7" fmla="*/ 19 h 49"/>
                    <a:gd name="T8" fmla="*/ 10 w 78"/>
                    <a:gd name="T9" fmla="*/ 14 h 49"/>
                    <a:gd name="T10" fmla="*/ 58 w 78"/>
                    <a:gd name="T11" fmla="*/ 0 h 49"/>
                    <a:gd name="T12" fmla="*/ 63 w 78"/>
                    <a:gd name="T13" fmla="*/ 0 h 49"/>
                    <a:gd name="T14" fmla="*/ 68 w 78"/>
                    <a:gd name="T15" fmla="*/ 5 h 49"/>
                    <a:gd name="T16" fmla="*/ 72 w 78"/>
                    <a:gd name="T17" fmla="*/ 5 h 49"/>
                    <a:gd name="T18" fmla="*/ 77 w 78"/>
                    <a:gd name="T19" fmla="*/ 5 h 49"/>
                    <a:gd name="T20" fmla="*/ 77 w 78"/>
                    <a:gd name="T21" fmla="*/ 10 h 49"/>
                    <a:gd name="T22" fmla="*/ 77 w 78"/>
                    <a:gd name="T23" fmla="*/ 14 h 49"/>
                    <a:gd name="T24" fmla="*/ 77 w 78"/>
                    <a:gd name="T25" fmla="*/ 19 h 49"/>
                    <a:gd name="T26" fmla="*/ 77 w 78"/>
                    <a:gd name="T27" fmla="*/ 24 h 49"/>
                    <a:gd name="T28" fmla="*/ 72 w 78"/>
                    <a:gd name="T29" fmla="*/ 29 h 49"/>
                    <a:gd name="T30" fmla="*/ 68 w 78"/>
                    <a:gd name="T31" fmla="*/ 34 h 49"/>
                    <a:gd name="T32" fmla="*/ 20 w 78"/>
                    <a:gd name="T33" fmla="*/ 43 h 49"/>
                    <a:gd name="T34" fmla="*/ 15 w 78"/>
                    <a:gd name="T35" fmla="*/ 48 h 49"/>
                    <a:gd name="T36" fmla="*/ 10 w 78"/>
                    <a:gd name="T37" fmla="*/ 43 h 49"/>
                    <a:gd name="T38" fmla="*/ 5 w 78"/>
                    <a:gd name="T39" fmla="*/ 38 h 49"/>
                    <a:gd name="T40" fmla="*/ 0 w 78"/>
                    <a:gd name="T41" fmla="*/ 34 h 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8" h="49">
                      <a:moveTo>
                        <a:pt x="0" y="34"/>
                      </a:moveTo>
                      <a:lnTo>
                        <a:pt x="0" y="34"/>
                      </a:lnTo>
                      <a:lnTo>
                        <a:pt x="5" y="24"/>
                      </a:lnTo>
                      <a:lnTo>
                        <a:pt x="5" y="19"/>
                      </a:lnTo>
                      <a:lnTo>
                        <a:pt x="10" y="14"/>
                      </a:lnTo>
                      <a:lnTo>
                        <a:pt x="58" y="0"/>
                      </a:lnTo>
                      <a:lnTo>
                        <a:pt x="63" y="0"/>
                      </a:lnTo>
                      <a:lnTo>
                        <a:pt x="68" y="5"/>
                      </a:lnTo>
                      <a:lnTo>
                        <a:pt x="72" y="5"/>
                      </a:lnTo>
                      <a:lnTo>
                        <a:pt x="77" y="5"/>
                      </a:lnTo>
                      <a:lnTo>
                        <a:pt x="77" y="10"/>
                      </a:lnTo>
                      <a:lnTo>
                        <a:pt x="77" y="14"/>
                      </a:lnTo>
                      <a:lnTo>
                        <a:pt x="77" y="19"/>
                      </a:lnTo>
                      <a:lnTo>
                        <a:pt x="77" y="24"/>
                      </a:lnTo>
                      <a:lnTo>
                        <a:pt x="72" y="29"/>
                      </a:lnTo>
                      <a:lnTo>
                        <a:pt x="68" y="34"/>
                      </a:lnTo>
                      <a:lnTo>
                        <a:pt x="20" y="43"/>
                      </a:lnTo>
                      <a:lnTo>
                        <a:pt x="15" y="48"/>
                      </a:lnTo>
                      <a:lnTo>
                        <a:pt x="10" y="43"/>
                      </a:lnTo>
                      <a:lnTo>
                        <a:pt x="5" y="38"/>
                      </a:lnTo>
                      <a:lnTo>
                        <a:pt x="0" y="34"/>
                      </a:lnTo>
                    </a:path>
                  </a:pathLst>
                </a:custGeom>
                <a:blipFill dpi="0" rotWithShape="0">
                  <a:blip r:embed="rId13"/>
                  <a:srcRect/>
                  <a:tile tx="0" ty="0" sx="100000" sy="100000" flip="none" algn="tl"/>
                </a:blipFill>
                <a:ln w="12700" cap="rnd" cmpd="sng">
                  <a:solidFill>
                    <a:srgbClr val="000000"/>
                  </a:solidFill>
                  <a:prstDash val="solid"/>
                  <a:round/>
                  <a:headEnd type="none" w="med" len="med"/>
                  <a:tailEnd type="none" w="med" len="med"/>
                </a:ln>
              </p:spPr>
              <p:txBody>
                <a:bodyPr/>
                <a:lstStyle/>
                <a:p>
                  <a:endParaRPr lang="en-US">
                    <a:latin typeface="Roboto" panose="02000000000000000000" pitchFamily="2" charset="0"/>
                    <a:ea typeface="Roboto" panose="02000000000000000000" pitchFamily="2" charset="0"/>
                  </a:endParaRPr>
                </a:p>
              </p:txBody>
            </p:sp>
          </p:grpSp>
          <p:sp>
            <p:nvSpPr>
              <p:cNvPr id="43" name="Rectangle 361">
                <a:extLst>
                  <a:ext uri="{FF2B5EF4-FFF2-40B4-BE49-F238E27FC236}">
                    <a16:creationId xmlns:a16="http://schemas.microsoft.com/office/drawing/2014/main" id="{81E0B335-FDCE-ACB3-BA40-35437C2C1DA8}"/>
                  </a:ext>
                </a:extLst>
              </p:cNvPr>
              <p:cNvSpPr>
                <a:spLocks noChangeArrowheads="1"/>
              </p:cNvSpPr>
              <p:nvPr/>
            </p:nvSpPr>
            <p:spPr bwMode="auto">
              <a:xfrm>
                <a:off x="2671" y="2399"/>
                <a:ext cx="51" cy="151"/>
              </a:xfrm>
              <a:prstGeom prst="rect">
                <a:avLst/>
              </a:prstGeom>
              <a:blipFill dpi="0" rotWithShape="0">
                <a:blip r:embed="rId4"/>
                <a:srcRect/>
                <a:tile tx="0" ty="0" sx="100000" sy="100000" flip="none" algn="tl"/>
              </a:blipFill>
              <a:ln w="127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sp useBgFill="1">
          <p:nvSpPr>
            <p:cNvPr id="36" name="Rectangle 362">
              <a:extLst>
                <a:ext uri="{FF2B5EF4-FFF2-40B4-BE49-F238E27FC236}">
                  <a16:creationId xmlns:a16="http://schemas.microsoft.com/office/drawing/2014/main" id="{D3B45364-A3F7-B4A3-F43C-0B9001FC0A9B}"/>
                </a:ext>
              </a:extLst>
            </p:cNvPr>
            <p:cNvSpPr>
              <a:spLocks noChangeArrowheads="1"/>
            </p:cNvSpPr>
            <p:nvPr/>
          </p:nvSpPr>
          <p:spPr bwMode="auto">
            <a:xfrm>
              <a:off x="3931" y="2352"/>
              <a:ext cx="1638" cy="867"/>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800">
                  <a:latin typeface="Roboto" panose="02000000000000000000" pitchFamily="2" charset="0"/>
                  <a:ea typeface="Roboto" panose="02000000000000000000" pitchFamily="2" charset="0"/>
                </a:rPr>
                <a:t>3. MACHINE</a:t>
              </a:r>
              <a:endParaRPr lang="en-US" altLang="en-US" sz="1600" b="0">
                <a:latin typeface="Roboto" panose="02000000000000000000" pitchFamily="2" charset="0"/>
                <a:ea typeface="Roboto" panose="02000000000000000000" pitchFamily="2" charset="0"/>
              </a:endParaRPr>
            </a:p>
            <a:p>
              <a:pPr>
                <a:lnSpc>
                  <a:spcPct val="100000"/>
                </a:lnSpc>
                <a:spcBef>
                  <a:spcPct val="0"/>
                </a:spcBef>
                <a:spcAft>
                  <a:spcPct val="0"/>
                </a:spcAft>
                <a:buClrTx/>
                <a:buSzTx/>
                <a:buFontTx/>
                <a:buNone/>
              </a:pPr>
              <a:r>
                <a:rPr lang="en-US" altLang="en-US" sz="1400" b="0">
                  <a:latin typeface="Roboto" panose="02000000000000000000" pitchFamily="2" charset="0"/>
                  <a:ea typeface="Roboto" panose="02000000000000000000" pitchFamily="2" charset="0"/>
                </a:rPr>
                <a:t>Control: Conditions assured through TPM and everyone</a:t>
              </a:r>
              <a:r>
                <a:rPr lang="ja-JP" altLang="en-US" sz="1400" b="0">
                  <a:latin typeface="Roboto" panose="02000000000000000000" pitchFamily="2" charset="0"/>
                </a:rPr>
                <a:t>’</a:t>
              </a:r>
              <a:r>
                <a:rPr lang="en-US" altLang="ja-JP" sz="1400" b="0">
                  <a:latin typeface="Roboto" panose="02000000000000000000" pitchFamily="2" charset="0"/>
                  <a:ea typeface="Roboto" panose="02000000000000000000" pitchFamily="2" charset="0"/>
                </a:rPr>
                <a:t>s participation</a:t>
              </a:r>
              <a:endParaRPr lang="en-US" altLang="en-US" sz="1400" b="0">
                <a:latin typeface="Roboto" panose="02000000000000000000" pitchFamily="2" charset="0"/>
                <a:ea typeface="Roboto" panose="02000000000000000000" pitchFamily="2" charset="0"/>
              </a:endParaRPr>
            </a:p>
          </p:txBody>
        </p:sp>
        <p:sp useBgFill="1">
          <p:nvSpPr>
            <p:cNvPr id="37" name="Rectangle 363">
              <a:extLst>
                <a:ext uri="{FF2B5EF4-FFF2-40B4-BE49-F238E27FC236}">
                  <a16:creationId xmlns:a16="http://schemas.microsoft.com/office/drawing/2014/main" id="{80D7E4EA-3933-8BA6-F14C-DD7E3A9B2032}"/>
                </a:ext>
              </a:extLst>
            </p:cNvPr>
            <p:cNvSpPr>
              <a:spLocks noChangeArrowheads="1"/>
            </p:cNvSpPr>
            <p:nvPr/>
          </p:nvSpPr>
          <p:spPr bwMode="auto">
            <a:xfrm>
              <a:off x="271" y="940"/>
              <a:ext cx="1333" cy="682"/>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800">
                  <a:latin typeface="Roboto" panose="02000000000000000000" pitchFamily="2" charset="0"/>
                  <a:ea typeface="Roboto" panose="02000000000000000000" pitchFamily="2" charset="0"/>
                </a:rPr>
                <a:t>4. METHOD</a:t>
              </a:r>
              <a:endParaRPr lang="en-US" altLang="en-US" sz="1600" b="0">
                <a:latin typeface="Roboto" panose="02000000000000000000" pitchFamily="2" charset="0"/>
                <a:ea typeface="Roboto" panose="02000000000000000000" pitchFamily="2" charset="0"/>
              </a:endParaRPr>
            </a:p>
            <a:p>
              <a:pPr>
                <a:lnSpc>
                  <a:spcPct val="100000"/>
                </a:lnSpc>
                <a:spcBef>
                  <a:spcPct val="0"/>
                </a:spcBef>
                <a:spcAft>
                  <a:spcPct val="0"/>
                </a:spcAft>
                <a:buClrTx/>
                <a:buSzTx/>
                <a:buFontTx/>
                <a:buNone/>
              </a:pPr>
              <a:r>
                <a:rPr lang="en-US" altLang="en-US" sz="1400" b="0">
                  <a:latin typeface="Roboto" panose="02000000000000000000" pitchFamily="2" charset="0"/>
                  <a:ea typeface="Roboto" panose="02000000000000000000" pitchFamily="2" charset="0"/>
                </a:rPr>
                <a:t>Control: Work standards</a:t>
              </a:r>
            </a:p>
          </p:txBody>
        </p:sp>
        <p:sp useBgFill="1">
          <p:nvSpPr>
            <p:cNvPr id="38" name="Rectangle 364">
              <a:extLst>
                <a:ext uri="{FF2B5EF4-FFF2-40B4-BE49-F238E27FC236}">
                  <a16:creationId xmlns:a16="http://schemas.microsoft.com/office/drawing/2014/main" id="{65A22C76-F367-8F1B-4FDE-8846C5F3EA31}"/>
                </a:ext>
              </a:extLst>
            </p:cNvPr>
            <p:cNvSpPr>
              <a:spLocks noChangeArrowheads="1"/>
            </p:cNvSpPr>
            <p:nvPr/>
          </p:nvSpPr>
          <p:spPr bwMode="auto">
            <a:xfrm>
              <a:off x="3720" y="3497"/>
              <a:ext cx="1502" cy="1051"/>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800">
                  <a:latin typeface="Roboto" panose="02000000000000000000" pitchFamily="2" charset="0"/>
                  <a:ea typeface="Roboto" panose="02000000000000000000" pitchFamily="2" charset="0"/>
                </a:rPr>
                <a:t>1. ME</a:t>
              </a:r>
              <a:endParaRPr lang="en-US" altLang="en-US" sz="1600" b="0">
                <a:latin typeface="Roboto" panose="02000000000000000000" pitchFamily="2" charset="0"/>
                <a:ea typeface="Roboto" panose="02000000000000000000" pitchFamily="2" charset="0"/>
              </a:endParaRPr>
            </a:p>
            <a:p>
              <a:pPr>
                <a:lnSpc>
                  <a:spcPct val="100000"/>
                </a:lnSpc>
                <a:spcBef>
                  <a:spcPct val="0"/>
                </a:spcBef>
                <a:spcAft>
                  <a:spcPct val="0"/>
                </a:spcAft>
                <a:buClrTx/>
                <a:buSzTx/>
                <a:buFontTx/>
                <a:buNone/>
              </a:pPr>
              <a:r>
                <a:rPr lang="en-US" altLang="en-US" sz="1400" b="0">
                  <a:latin typeface="Roboto" panose="02000000000000000000" pitchFamily="2" charset="0"/>
                  <a:ea typeface="Roboto" panose="02000000000000000000" pitchFamily="2" charset="0"/>
                </a:rPr>
                <a:t>Control: Discipline, fundamental education, cross-training assignments</a:t>
              </a:r>
            </a:p>
          </p:txBody>
        </p:sp>
      </p:grpSp>
    </p:spTree>
    <p:extLst>
      <p:ext uri="{BB962C8B-B14F-4D97-AF65-F5344CB8AC3E}">
        <p14:creationId xmlns:p14="http://schemas.microsoft.com/office/powerpoint/2010/main" val="13491583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Why is Poka-Yoke an important concept?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altLang="en-US" dirty="0"/>
              <a:t>Key element in our capability to eliminate waste</a:t>
            </a:r>
          </a:p>
          <a:p>
            <a:r>
              <a:rPr lang="en-US" altLang="en-US" dirty="0"/>
              <a:t>No need for “just in case” inventories</a:t>
            </a:r>
          </a:p>
          <a:p>
            <a:r>
              <a:rPr lang="en-US" altLang="en-US" dirty="0"/>
              <a:t>Allows company to make only what the customer needs</a:t>
            </a:r>
          </a:p>
          <a:p>
            <a:r>
              <a:rPr lang="en-US" altLang="en-US" dirty="0"/>
              <a:t>Maintain customer satisfaction and loyalty</a:t>
            </a:r>
          </a:p>
          <a:p>
            <a:r>
              <a:rPr lang="en-US" altLang="en-US" dirty="0"/>
              <a:t>Happy customers mean more sales</a:t>
            </a:r>
          </a:p>
          <a:p>
            <a:r>
              <a:rPr lang="en-US" altLang="en-US" dirty="0"/>
              <a:t>Always a cost associated with manufacturing defects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11</a:t>
            </a:fld>
            <a:endParaRPr lang="en-US"/>
          </a:p>
        </p:txBody>
      </p:sp>
    </p:spTree>
    <p:extLst>
      <p:ext uri="{BB962C8B-B14F-4D97-AF65-F5344CB8AC3E}">
        <p14:creationId xmlns:p14="http://schemas.microsoft.com/office/powerpoint/2010/main" val="3610272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ea typeface="+mj-ea"/>
              </a:rPr>
              <a:t>Error-Proofing</a:t>
            </a:r>
            <a:endParaRPr lang="en-US"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Level 1 - Customer Inspects</a:t>
            </a:r>
          </a:p>
          <a:p>
            <a:r>
              <a:rPr lang="en-US" altLang="en-US" sz="2800" dirty="0"/>
              <a:t>Level 2 - End of Value Stream Inspection</a:t>
            </a:r>
          </a:p>
          <a:p>
            <a:endParaRPr lang="en-US" altLang="en-US" dirty="0"/>
          </a:p>
          <a:p>
            <a:endParaRPr lang="en-US" altLang="en-US" sz="2800" dirty="0"/>
          </a:p>
          <a:p>
            <a:r>
              <a:rPr lang="en-US" dirty="0"/>
              <a:t>Level 3 - End of Process Inspection</a:t>
            </a:r>
          </a:p>
          <a:p>
            <a:r>
              <a:rPr lang="en-US" dirty="0"/>
              <a:t>Level 4 - Perfect Quality Built In</a:t>
            </a:r>
          </a:p>
          <a:p>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12</a:t>
            </a:fld>
            <a:endParaRPr lang="en-US"/>
          </a:p>
        </p:txBody>
      </p:sp>
      <p:grpSp>
        <p:nvGrpSpPr>
          <p:cNvPr id="4" name="Group 3">
            <a:extLst>
              <a:ext uri="{FF2B5EF4-FFF2-40B4-BE49-F238E27FC236}">
                <a16:creationId xmlns:a16="http://schemas.microsoft.com/office/drawing/2014/main" id="{CDD5FE28-040A-8392-FEE2-C0B98295DEDC}"/>
              </a:ext>
            </a:extLst>
          </p:cNvPr>
          <p:cNvGrpSpPr/>
          <p:nvPr/>
        </p:nvGrpSpPr>
        <p:grpSpPr>
          <a:xfrm>
            <a:off x="838200" y="297639"/>
            <a:ext cx="2778942" cy="306433"/>
            <a:chOff x="838200" y="297639"/>
            <a:chExt cx="2778942" cy="306433"/>
          </a:xfrm>
        </p:grpSpPr>
        <p:grpSp>
          <p:nvGrpSpPr>
            <p:cNvPr id="6" name="Group 5">
              <a:extLst>
                <a:ext uri="{FF2B5EF4-FFF2-40B4-BE49-F238E27FC236}">
                  <a16:creationId xmlns:a16="http://schemas.microsoft.com/office/drawing/2014/main" id="{7467AD91-46C7-4517-3D28-9EE477004485}"/>
                </a:ext>
              </a:extLst>
            </p:cNvPr>
            <p:cNvGrpSpPr/>
            <p:nvPr/>
          </p:nvGrpSpPr>
          <p:grpSpPr>
            <a:xfrm>
              <a:off x="838200" y="297639"/>
              <a:ext cx="1060167" cy="290657"/>
              <a:chOff x="826426" y="4041857"/>
              <a:chExt cx="1060167" cy="290657"/>
            </a:xfrm>
          </p:grpSpPr>
          <p:sp>
            <p:nvSpPr>
              <p:cNvPr id="8" name="AutoShape 9">
                <a:extLst>
                  <a:ext uri="{FF2B5EF4-FFF2-40B4-BE49-F238E27FC236}">
                    <a16:creationId xmlns:a16="http://schemas.microsoft.com/office/drawing/2014/main" id="{96C1F976-1426-462F-26B3-A18AFC011DC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B766CDB8-99CD-CDAF-C311-E9C6C4DF6DA8}"/>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0">
                <a:extLst>
                  <a:ext uri="{FF2B5EF4-FFF2-40B4-BE49-F238E27FC236}">
                    <a16:creationId xmlns:a16="http://schemas.microsoft.com/office/drawing/2014/main" id="{9E81DAF3-7DD1-8B80-BA1A-6AD1ECB47258}"/>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7" name="TextBox 6">
              <a:extLst>
                <a:ext uri="{FF2B5EF4-FFF2-40B4-BE49-F238E27FC236}">
                  <a16:creationId xmlns:a16="http://schemas.microsoft.com/office/drawing/2014/main" id="{B431F571-42CF-E1C5-16A8-984334812CCB}"/>
                </a:ext>
              </a:extLst>
            </p:cNvPr>
            <p:cNvSpPr txBox="1"/>
            <p:nvPr/>
          </p:nvSpPr>
          <p:spPr>
            <a:xfrm>
              <a:off x="190849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Introduction</a:t>
              </a:r>
            </a:p>
          </p:txBody>
        </p:sp>
      </p:grpSp>
      <p:grpSp>
        <p:nvGrpSpPr>
          <p:cNvPr id="35" name="Group 34">
            <a:extLst>
              <a:ext uri="{FF2B5EF4-FFF2-40B4-BE49-F238E27FC236}">
                <a16:creationId xmlns:a16="http://schemas.microsoft.com/office/drawing/2014/main" id="{156AAFEA-32C2-8E97-EBBE-5CE893857A95}"/>
              </a:ext>
            </a:extLst>
          </p:cNvPr>
          <p:cNvGrpSpPr/>
          <p:nvPr/>
        </p:nvGrpSpPr>
        <p:grpSpPr>
          <a:xfrm>
            <a:off x="4013488" y="2377722"/>
            <a:ext cx="6831013" cy="1739900"/>
            <a:chOff x="977900" y="2044700"/>
            <a:chExt cx="6831013" cy="1739900"/>
          </a:xfrm>
        </p:grpSpPr>
        <p:sp>
          <p:nvSpPr>
            <p:cNvPr id="15" name="Rectangle 28">
              <a:extLst>
                <a:ext uri="{FF2B5EF4-FFF2-40B4-BE49-F238E27FC236}">
                  <a16:creationId xmlns:a16="http://schemas.microsoft.com/office/drawing/2014/main" id="{B97E307B-DBF1-D484-A6E6-387169707045}"/>
                </a:ext>
              </a:extLst>
            </p:cNvPr>
            <p:cNvSpPr>
              <a:spLocks noChangeArrowheads="1"/>
            </p:cNvSpPr>
            <p:nvPr/>
          </p:nvSpPr>
          <p:spPr bwMode="auto">
            <a:xfrm>
              <a:off x="4665663" y="2084388"/>
              <a:ext cx="1516062" cy="322262"/>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latin typeface="Roboto" panose="02000000000000000000" pitchFamily="2" charset="0"/>
                <a:ea typeface="Roboto" panose="02000000000000000000" pitchFamily="2" charset="0"/>
              </a:endParaRPr>
            </a:p>
          </p:txBody>
        </p:sp>
        <p:sp>
          <p:nvSpPr>
            <p:cNvPr id="16" name="Rectangle 29">
              <a:extLst>
                <a:ext uri="{FF2B5EF4-FFF2-40B4-BE49-F238E27FC236}">
                  <a16:creationId xmlns:a16="http://schemas.microsoft.com/office/drawing/2014/main" id="{F881E832-2A31-5F42-20D2-C6F8FE0EA77B}"/>
                </a:ext>
              </a:extLst>
            </p:cNvPr>
            <p:cNvSpPr>
              <a:spLocks noChangeArrowheads="1"/>
            </p:cNvSpPr>
            <p:nvPr/>
          </p:nvSpPr>
          <p:spPr bwMode="auto">
            <a:xfrm>
              <a:off x="4646613" y="3433763"/>
              <a:ext cx="1516062" cy="35083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latin typeface="Roboto" panose="02000000000000000000" pitchFamily="2" charset="0"/>
                <a:ea typeface="Roboto" panose="02000000000000000000" pitchFamily="2" charset="0"/>
              </a:endParaRPr>
            </a:p>
          </p:txBody>
        </p:sp>
        <p:sp>
          <p:nvSpPr>
            <p:cNvPr id="17" name="Rectangle 30">
              <a:extLst>
                <a:ext uri="{FF2B5EF4-FFF2-40B4-BE49-F238E27FC236}">
                  <a16:creationId xmlns:a16="http://schemas.microsoft.com/office/drawing/2014/main" id="{D1D8C1FA-A681-F5FB-6840-4979FB3B8A55}"/>
                </a:ext>
              </a:extLst>
            </p:cNvPr>
            <p:cNvSpPr>
              <a:spLocks noChangeArrowheads="1"/>
            </p:cNvSpPr>
            <p:nvPr/>
          </p:nvSpPr>
          <p:spPr bwMode="auto">
            <a:xfrm>
              <a:off x="6696075" y="2733675"/>
              <a:ext cx="1112838" cy="45243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latin typeface="Roboto" panose="02000000000000000000" pitchFamily="2" charset="0"/>
                <a:ea typeface="Roboto" panose="02000000000000000000" pitchFamily="2" charset="0"/>
              </a:endParaRPr>
            </a:p>
          </p:txBody>
        </p:sp>
        <p:sp>
          <p:nvSpPr>
            <p:cNvPr id="18" name="Rectangle 31">
              <a:extLst>
                <a:ext uri="{FF2B5EF4-FFF2-40B4-BE49-F238E27FC236}">
                  <a16:creationId xmlns:a16="http://schemas.microsoft.com/office/drawing/2014/main" id="{1E0DCCF0-7EE0-C71F-5441-9ABB7B2E0338}"/>
                </a:ext>
              </a:extLst>
            </p:cNvPr>
            <p:cNvSpPr>
              <a:spLocks noChangeArrowheads="1"/>
            </p:cNvSpPr>
            <p:nvPr/>
          </p:nvSpPr>
          <p:spPr bwMode="auto">
            <a:xfrm>
              <a:off x="4827588" y="2044700"/>
              <a:ext cx="1193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600">
                  <a:latin typeface="Roboto" panose="02000000000000000000" pitchFamily="2" charset="0"/>
                  <a:ea typeface="Roboto" panose="02000000000000000000" pitchFamily="2" charset="0"/>
                </a:rPr>
                <a:t>Rework</a:t>
              </a:r>
            </a:p>
          </p:txBody>
        </p:sp>
        <p:sp>
          <p:nvSpPr>
            <p:cNvPr id="19" name="Rectangle 32">
              <a:extLst>
                <a:ext uri="{FF2B5EF4-FFF2-40B4-BE49-F238E27FC236}">
                  <a16:creationId xmlns:a16="http://schemas.microsoft.com/office/drawing/2014/main" id="{E10843BE-144C-D489-F1CB-173DDA66223C}"/>
                </a:ext>
              </a:extLst>
            </p:cNvPr>
            <p:cNvSpPr>
              <a:spLocks noChangeArrowheads="1"/>
            </p:cNvSpPr>
            <p:nvPr/>
          </p:nvSpPr>
          <p:spPr bwMode="auto">
            <a:xfrm>
              <a:off x="4954588" y="3402013"/>
              <a:ext cx="7477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600">
                  <a:latin typeface="Roboto" panose="02000000000000000000" pitchFamily="2" charset="0"/>
                  <a:ea typeface="Roboto" panose="02000000000000000000" pitchFamily="2" charset="0"/>
                </a:rPr>
                <a:t>Scrap</a:t>
              </a:r>
            </a:p>
          </p:txBody>
        </p:sp>
        <p:sp>
          <p:nvSpPr>
            <p:cNvPr id="20" name="AutoShape 33">
              <a:extLst>
                <a:ext uri="{FF2B5EF4-FFF2-40B4-BE49-F238E27FC236}">
                  <a16:creationId xmlns:a16="http://schemas.microsoft.com/office/drawing/2014/main" id="{FBE30363-759D-3542-C621-17FC2906B384}"/>
                </a:ext>
              </a:extLst>
            </p:cNvPr>
            <p:cNvSpPr>
              <a:spLocks noChangeArrowheads="1"/>
            </p:cNvSpPr>
            <p:nvPr/>
          </p:nvSpPr>
          <p:spPr bwMode="auto">
            <a:xfrm>
              <a:off x="5167313" y="2482850"/>
              <a:ext cx="354012" cy="234950"/>
            </a:xfrm>
            <a:prstGeom prst="upArrow">
              <a:avLst>
                <a:gd name="adj1" fmla="val 50000"/>
                <a:gd name="adj2" fmla="val 49995"/>
              </a:avLst>
            </a:prstGeom>
            <a:solidFill>
              <a:schemeClr val="accent1"/>
            </a:solidFill>
            <a:ln w="12700">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latin typeface="Roboto" panose="02000000000000000000" pitchFamily="2" charset="0"/>
                <a:ea typeface="Roboto" panose="02000000000000000000" pitchFamily="2" charset="0"/>
              </a:endParaRPr>
            </a:p>
          </p:txBody>
        </p:sp>
        <p:sp>
          <p:nvSpPr>
            <p:cNvPr id="21" name="AutoShape 34">
              <a:extLst>
                <a:ext uri="{FF2B5EF4-FFF2-40B4-BE49-F238E27FC236}">
                  <a16:creationId xmlns:a16="http://schemas.microsoft.com/office/drawing/2014/main" id="{EC5CD5FD-092A-99B2-44DE-721978994BC0}"/>
                </a:ext>
              </a:extLst>
            </p:cNvPr>
            <p:cNvSpPr>
              <a:spLocks noChangeArrowheads="1"/>
            </p:cNvSpPr>
            <p:nvPr/>
          </p:nvSpPr>
          <p:spPr bwMode="auto">
            <a:xfrm>
              <a:off x="5199063" y="3184525"/>
              <a:ext cx="280987" cy="234950"/>
            </a:xfrm>
            <a:prstGeom prst="downArrow">
              <a:avLst>
                <a:gd name="adj1" fmla="val 50000"/>
                <a:gd name="adj2" fmla="val 50005"/>
              </a:avLst>
            </a:prstGeom>
            <a:solidFill>
              <a:schemeClr val="accent1"/>
            </a:solidFill>
            <a:ln w="12700">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latin typeface="Roboto" panose="02000000000000000000" pitchFamily="2" charset="0"/>
                <a:ea typeface="Roboto" panose="02000000000000000000" pitchFamily="2" charset="0"/>
              </a:endParaRPr>
            </a:p>
          </p:txBody>
        </p:sp>
        <p:sp>
          <p:nvSpPr>
            <p:cNvPr id="22" name="AutoShape 35">
              <a:extLst>
                <a:ext uri="{FF2B5EF4-FFF2-40B4-BE49-F238E27FC236}">
                  <a16:creationId xmlns:a16="http://schemas.microsoft.com/office/drawing/2014/main" id="{0BE58126-5E24-892C-4DAE-FB0E9811DCA5}"/>
                </a:ext>
              </a:extLst>
            </p:cNvPr>
            <p:cNvSpPr>
              <a:spLocks noChangeArrowheads="1"/>
            </p:cNvSpPr>
            <p:nvPr/>
          </p:nvSpPr>
          <p:spPr bwMode="auto">
            <a:xfrm>
              <a:off x="6342063" y="2751138"/>
              <a:ext cx="280987" cy="417512"/>
            </a:xfrm>
            <a:prstGeom prst="rightArrow">
              <a:avLst>
                <a:gd name="adj1" fmla="val 50000"/>
                <a:gd name="adj2" fmla="val 50005"/>
              </a:avLst>
            </a:prstGeom>
            <a:solidFill>
              <a:schemeClr val="accent1"/>
            </a:solidFill>
            <a:ln w="12700">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latin typeface="Roboto" panose="02000000000000000000" pitchFamily="2" charset="0"/>
                <a:ea typeface="Roboto" panose="02000000000000000000" pitchFamily="2" charset="0"/>
              </a:endParaRPr>
            </a:p>
          </p:txBody>
        </p:sp>
        <p:sp>
          <p:nvSpPr>
            <p:cNvPr id="23" name="Rectangle 36">
              <a:extLst>
                <a:ext uri="{FF2B5EF4-FFF2-40B4-BE49-F238E27FC236}">
                  <a16:creationId xmlns:a16="http://schemas.microsoft.com/office/drawing/2014/main" id="{3A393769-5127-EC65-53CD-330F4554B501}"/>
                </a:ext>
              </a:extLst>
            </p:cNvPr>
            <p:cNvSpPr>
              <a:spLocks noChangeArrowheads="1"/>
            </p:cNvSpPr>
            <p:nvPr/>
          </p:nvSpPr>
          <p:spPr bwMode="auto">
            <a:xfrm>
              <a:off x="6956708" y="2776538"/>
              <a:ext cx="597921"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600">
                  <a:latin typeface="Roboto" panose="02000000000000000000" pitchFamily="2" charset="0"/>
                  <a:ea typeface="Roboto" panose="02000000000000000000" pitchFamily="2" charset="0"/>
                </a:rPr>
                <a:t>Ship</a:t>
              </a:r>
            </a:p>
          </p:txBody>
        </p:sp>
        <p:sp>
          <p:nvSpPr>
            <p:cNvPr id="24" name="Rectangle 38">
              <a:extLst>
                <a:ext uri="{FF2B5EF4-FFF2-40B4-BE49-F238E27FC236}">
                  <a16:creationId xmlns:a16="http://schemas.microsoft.com/office/drawing/2014/main" id="{B0716C96-4C0A-6ACC-C12D-CC4DF15F8B04}"/>
                </a:ext>
              </a:extLst>
            </p:cNvPr>
            <p:cNvSpPr>
              <a:spLocks noChangeArrowheads="1"/>
            </p:cNvSpPr>
            <p:nvPr/>
          </p:nvSpPr>
          <p:spPr bwMode="auto">
            <a:xfrm>
              <a:off x="977900" y="2740025"/>
              <a:ext cx="750888" cy="43973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latin typeface="Roboto" panose="02000000000000000000" pitchFamily="2" charset="0"/>
                <a:ea typeface="Roboto" panose="02000000000000000000" pitchFamily="2" charset="0"/>
              </a:endParaRPr>
            </a:p>
          </p:txBody>
        </p:sp>
        <p:sp>
          <p:nvSpPr>
            <p:cNvPr id="25" name="Rectangle 39">
              <a:extLst>
                <a:ext uri="{FF2B5EF4-FFF2-40B4-BE49-F238E27FC236}">
                  <a16:creationId xmlns:a16="http://schemas.microsoft.com/office/drawing/2014/main" id="{CD3C8111-6B96-B2C5-F75A-5F4828583CC6}"/>
                </a:ext>
              </a:extLst>
            </p:cNvPr>
            <p:cNvSpPr>
              <a:spLocks noChangeArrowheads="1"/>
            </p:cNvSpPr>
            <p:nvPr/>
          </p:nvSpPr>
          <p:spPr bwMode="auto">
            <a:xfrm>
              <a:off x="2138363" y="2740025"/>
              <a:ext cx="750887" cy="43973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latin typeface="Roboto" panose="02000000000000000000" pitchFamily="2" charset="0"/>
                <a:ea typeface="Roboto" panose="02000000000000000000" pitchFamily="2" charset="0"/>
              </a:endParaRPr>
            </a:p>
          </p:txBody>
        </p:sp>
        <p:sp>
          <p:nvSpPr>
            <p:cNvPr id="26" name="Rectangle 40">
              <a:extLst>
                <a:ext uri="{FF2B5EF4-FFF2-40B4-BE49-F238E27FC236}">
                  <a16:creationId xmlns:a16="http://schemas.microsoft.com/office/drawing/2014/main" id="{CE00F500-9B46-7AF3-BA2C-34A767FC3C07}"/>
                </a:ext>
              </a:extLst>
            </p:cNvPr>
            <p:cNvSpPr>
              <a:spLocks noChangeArrowheads="1"/>
            </p:cNvSpPr>
            <p:nvPr/>
          </p:nvSpPr>
          <p:spPr bwMode="auto">
            <a:xfrm>
              <a:off x="3297238" y="2740025"/>
              <a:ext cx="750887" cy="43973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latin typeface="Roboto" panose="02000000000000000000" pitchFamily="2" charset="0"/>
                <a:ea typeface="Roboto" panose="02000000000000000000" pitchFamily="2" charset="0"/>
              </a:endParaRPr>
            </a:p>
          </p:txBody>
        </p:sp>
        <p:sp>
          <p:nvSpPr>
            <p:cNvPr id="27" name="Rectangle 41">
              <a:extLst>
                <a:ext uri="{FF2B5EF4-FFF2-40B4-BE49-F238E27FC236}">
                  <a16:creationId xmlns:a16="http://schemas.microsoft.com/office/drawing/2014/main" id="{D517C0AD-B12B-631D-1075-25E3B272CA25}"/>
                </a:ext>
              </a:extLst>
            </p:cNvPr>
            <p:cNvSpPr>
              <a:spLocks noChangeArrowheads="1"/>
            </p:cNvSpPr>
            <p:nvPr/>
          </p:nvSpPr>
          <p:spPr bwMode="auto">
            <a:xfrm>
              <a:off x="4665663" y="2732088"/>
              <a:ext cx="1516062" cy="44608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latin typeface="Roboto" panose="02000000000000000000" pitchFamily="2" charset="0"/>
                <a:ea typeface="Roboto" panose="02000000000000000000" pitchFamily="2" charset="0"/>
              </a:endParaRPr>
            </a:p>
          </p:txBody>
        </p:sp>
        <p:sp>
          <p:nvSpPr>
            <p:cNvPr id="28" name="Rectangle 42">
              <a:extLst>
                <a:ext uri="{FF2B5EF4-FFF2-40B4-BE49-F238E27FC236}">
                  <a16:creationId xmlns:a16="http://schemas.microsoft.com/office/drawing/2014/main" id="{AEA79EE5-1FE3-7F43-4446-993136940E57}"/>
                </a:ext>
              </a:extLst>
            </p:cNvPr>
            <p:cNvSpPr>
              <a:spLocks noChangeArrowheads="1"/>
            </p:cNvSpPr>
            <p:nvPr/>
          </p:nvSpPr>
          <p:spPr bwMode="auto">
            <a:xfrm>
              <a:off x="1127125" y="2752725"/>
              <a:ext cx="581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600">
                  <a:latin typeface="Roboto" panose="02000000000000000000" pitchFamily="2" charset="0"/>
                  <a:ea typeface="Roboto" panose="02000000000000000000" pitchFamily="2" charset="0"/>
                </a:rPr>
                <a:t>A</a:t>
              </a:r>
            </a:p>
          </p:txBody>
        </p:sp>
        <p:sp>
          <p:nvSpPr>
            <p:cNvPr id="29" name="Rectangle 43">
              <a:extLst>
                <a:ext uri="{FF2B5EF4-FFF2-40B4-BE49-F238E27FC236}">
                  <a16:creationId xmlns:a16="http://schemas.microsoft.com/office/drawing/2014/main" id="{26A23E93-B25B-9FDD-0533-FDE901D56E54}"/>
                </a:ext>
              </a:extLst>
            </p:cNvPr>
            <p:cNvSpPr>
              <a:spLocks noChangeArrowheads="1"/>
            </p:cNvSpPr>
            <p:nvPr/>
          </p:nvSpPr>
          <p:spPr bwMode="auto">
            <a:xfrm>
              <a:off x="2355902" y="2752725"/>
              <a:ext cx="317395"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600">
                  <a:latin typeface="Roboto" panose="02000000000000000000" pitchFamily="2" charset="0"/>
                  <a:ea typeface="Roboto" panose="02000000000000000000" pitchFamily="2" charset="0"/>
                </a:rPr>
                <a:t>B</a:t>
              </a:r>
            </a:p>
          </p:txBody>
        </p:sp>
        <p:sp>
          <p:nvSpPr>
            <p:cNvPr id="30" name="Rectangle 44">
              <a:extLst>
                <a:ext uri="{FF2B5EF4-FFF2-40B4-BE49-F238E27FC236}">
                  <a16:creationId xmlns:a16="http://schemas.microsoft.com/office/drawing/2014/main" id="{3671A4A3-983B-D72D-5C7C-88D42E425586}"/>
                </a:ext>
              </a:extLst>
            </p:cNvPr>
            <p:cNvSpPr>
              <a:spLocks noChangeArrowheads="1"/>
            </p:cNvSpPr>
            <p:nvPr/>
          </p:nvSpPr>
          <p:spPr bwMode="auto">
            <a:xfrm>
              <a:off x="3454400" y="2752725"/>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600">
                  <a:latin typeface="Roboto" panose="02000000000000000000" pitchFamily="2" charset="0"/>
                  <a:ea typeface="Roboto" panose="02000000000000000000" pitchFamily="2" charset="0"/>
                </a:rPr>
                <a:t>C</a:t>
              </a:r>
            </a:p>
          </p:txBody>
        </p:sp>
        <p:sp>
          <p:nvSpPr>
            <p:cNvPr id="31" name="Rectangle 45">
              <a:extLst>
                <a:ext uri="{FF2B5EF4-FFF2-40B4-BE49-F238E27FC236}">
                  <a16:creationId xmlns:a16="http://schemas.microsoft.com/office/drawing/2014/main" id="{6F3E66B3-15E6-3DCE-ABDC-5DAB702F0069}"/>
                </a:ext>
              </a:extLst>
            </p:cNvPr>
            <p:cNvSpPr>
              <a:spLocks noChangeArrowheads="1"/>
            </p:cNvSpPr>
            <p:nvPr/>
          </p:nvSpPr>
          <p:spPr bwMode="auto">
            <a:xfrm>
              <a:off x="4773613" y="2676525"/>
              <a:ext cx="1389062"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600" dirty="0">
                  <a:latin typeface="Roboto" panose="02000000000000000000" pitchFamily="2" charset="0"/>
                  <a:ea typeface="Roboto" panose="02000000000000000000" pitchFamily="2" charset="0"/>
                </a:rPr>
                <a:t>Inspection</a:t>
              </a:r>
            </a:p>
            <a:p>
              <a:pPr algn="ctr">
                <a:lnSpc>
                  <a:spcPct val="100000"/>
                </a:lnSpc>
                <a:spcBef>
                  <a:spcPct val="0"/>
                </a:spcBef>
                <a:spcAft>
                  <a:spcPct val="0"/>
                </a:spcAft>
                <a:buClrTx/>
                <a:buSzTx/>
                <a:buFontTx/>
                <a:buNone/>
              </a:pPr>
              <a:r>
                <a:rPr lang="en-US" altLang="en-US" sz="1600" dirty="0">
                  <a:latin typeface="Roboto" panose="02000000000000000000" pitchFamily="2" charset="0"/>
                  <a:ea typeface="Roboto" panose="02000000000000000000" pitchFamily="2" charset="0"/>
                </a:rPr>
                <a:t>A  B  C</a:t>
              </a:r>
            </a:p>
          </p:txBody>
        </p:sp>
        <p:sp>
          <p:nvSpPr>
            <p:cNvPr id="32" name="AutoShape 46">
              <a:extLst>
                <a:ext uri="{FF2B5EF4-FFF2-40B4-BE49-F238E27FC236}">
                  <a16:creationId xmlns:a16="http://schemas.microsoft.com/office/drawing/2014/main" id="{9FCB25D0-A7CB-6631-14D5-76FE3F32C885}"/>
                </a:ext>
              </a:extLst>
            </p:cNvPr>
            <p:cNvSpPr>
              <a:spLocks noChangeArrowheads="1"/>
            </p:cNvSpPr>
            <p:nvPr/>
          </p:nvSpPr>
          <p:spPr bwMode="auto">
            <a:xfrm>
              <a:off x="1787525" y="2751138"/>
              <a:ext cx="280988" cy="417512"/>
            </a:xfrm>
            <a:prstGeom prst="rightArrow">
              <a:avLst>
                <a:gd name="adj1" fmla="val 50000"/>
                <a:gd name="adj2" fmla="val 50005"/>
              </a:avLst>
            </a:prstGeom>
            <a:solidFill>
              <a:schemeClr val="accent1"/>
            </a:solidFill>
            <a:ln w="12700">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latin typeface="Roboto" panose="02000000000000000000" pitchFamily="2" charset="0"/>
                <a:ea typeface="Roboto" panose="02000000000000000000" pitchFamily="2" charset="0"/>
              </a:endParaRPr>
            </a:p>
          </p:txBody>
        </p:sp>
        <p:sp>
          <p:nvSpPr>
            <p:cNvPr id="33" name="AutoShape 47">
              <a:extLst>
                <a:ext uri="{FF2B5EF4-FFF2-40B4-BE49-F238E27FC236}">
                  <a16:creationId xmlns:a16="http://schemas.microsoft.com/office/drawing/2014/main" id="{CF798B73-421F-045B-B101-CBE0D0D726D5}"/>
                </a:ext>
              </a:extLst>
            </p:cNvPr>
            <p:cNvSpPr>
              <a:spLocks noChangeArrowheads="1"/>
            </p:cNvSpPr>
            <p:nvPr/>
          </p:nvSpPr>
          <p:spPr bwMode="auto">
            <a:xfrm>
              <a:off x="2962275" y="2751138"/>
              <a:ext cx="282575" cy="417512"/>
            </a:xfrm>
            <a:prstGeom prst="rightArrow">
              <a:avLst>
                <a:gd name="adj1" fmla="val 50000"/>
                <a:gd name="adj2" fmla="val 50005"/>
              </a:avLst>
            </a:prstGeom>
            <a:solidFill>
              <a:schemeClr val="accent1"/>
            </a:solidFill>
            <a:ln w="12700">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latin typeface="Roboto" panose="02000000000000000000" pitchFamily="2" charset="0"/>
                <a:ea typeface="Roboto" panose="02000000000000000000" pitchFamily="2" charset="0"/>
              </a:endParaRPr>
            </a:p>
          </p:txBody>
        </p:sp>
        <p:sp>
          <p:nvSpPr>
            <p:cNvPr id="34" name="AutoShape 48">
              <a:extLst>
                <a:ext uri="{FF2B5EF4-FFF2-40B4-BE49-F238E27FC236}">
                  <a16:creationId xmlns:a16="http://schemas.microsoft.com/office/drawing/2014/main" id="{3776E6F4-8EA1-111B-937B-71A2588286A2}"/>
                </a:ext>
              </a:extLst>
            </p:cNvPr>
            <p:cNvSpPr>
              <a:spLocks noChangeArrowheads="1"/>
            </p:cNvSpPr>
            <p:nvPr/>
          </p:nvSpPr>
          <p:spPr bwMode="auto">
            <a:xfrm>
              <a:off x="4211638" y="2751138"/>
              <a:ext cx="280987" cy="417512"/>
            </a:xfrm>
            <a:prstGeom prst="rightArrow">
              <a:avLst>
                <a:gd name="adj1" fmla="val 50000"/>
                <a:gd name="adj2" fmla="val 50005"/>
              </a:avLst>
            </a:prstGeom>
            <a:solidFill>
              <a:schemeClr val="accent1"/>
            </a:solidFill>
            <a:ln w="12700">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latin typeface="Roboto" panose="02000000000000000000" pitchFamily="2" charset="0"/>
                <a:ea typeface="Roboto" panose="02000000000000000000" pitchFamily="2" charset="0"/>
              </a:endParaRPr>
            </a:p>
          </p:txBody>
        </p:sp>
      </p:grpSp>
      <p:grpSp>
        <p:nvGrpSpPr>
          <p:cNvPr id="61" name="Group 60">
            <a:extLst>
              <a:ext uri="{FF2B5EF4-FFF2-40B4-BE49-F238E27FC236}">
                <a16:creationId xmlns:a16="http://schemas.microsoft.com/office/drawing/2014/main" id="{ACC12762-EAA5-70C7-9E63-C9F1BEE5B525}"/>
              </a:ext>
            </a:extLst>
          </p:cNvPr>
          <p:cNvGrpSpPr/>
          <p:nvPr/>
        </p:nvGrpSpPr>
        <p:grpSpPr>
          <a:xfrm>
            <a:off x="5391490" y="4854117"/>
            <a:ext cx="5456238" cy="1525295"/>
            <a:chOff x="4678010" y="4838701"/>
            <a:chExt cx="5456238" cy="1525295"/>
          </a:xfrm>
        </p:grpSpPr>
        <p:grpSp>
          <p:nvGrpSpPr>
            <p:cNvPr id="59" name="Group 58">
              <a:extLst>
                <a:ext uri="{FF2B5EF4-FFF2-40B4-BE49-F238E27FC236}">
                  <a16:creationId xmlns:a16="http://schemas.microsoft.com/office/drawing/2014/main" id="{3F5AE943-9DA4-3FC5-34D0-2A5C0E9E4468}"/>
                </a:ext>
              </a:extLst>
            </p:cNvPr>
            <p:cNvGrpSpPr/>
            <p:nvPr/>
          </p:nvGrpSpPr>
          <p:grpSpPr>
            <a:xfrm>
              <a:off x="4678010" y="4838701"/>
              <a:ext cx="5456238" cy="1393825"/>
              <a:chOff x="844550" y="4773613"/>
              <a:chExt cx="5456238" cy="1393825"/>
            </a:xfrm>
          </p:grpSpPr>
          <p:sp>
            <p:nvSpPr>
              <p:cNvPr id="36" name="Rectangle 2">
                <a:extLst>
                  <a:ext uri="{FF2B5EF4-FFF2-40B4-BE49-F238E27FC236}">
                    <a16:creationId xmlns:a16="http://schemas.microsoft.com/office/drawing/2014/main" id="{36E8C116-4544-00E3-E0BA-EFD6461E49C7}"/>
                  </a:ext>
                </a:extLst>
              </p:cNvPr>
              <p:cNvSpPr>
                <a:spLocks noChangeArrowheads="1"/>
              </p:cNvSpPr>
              <p:nvPr/>
            </p:nvSpPr>
            <p:spPr bwMode="auto">
              <a:xfrm>
                <a:off x="844550" y="4992688"/>
                <a:ext cx="779463" cy="47783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latin typeface="Roboto" panose="02000000000000000000" pitchFamily="2" charset="0"/>
                  <a:ea typeface="Roboto" panose="02000000000000000000" pitchFamily="2" charset="0"/>
                </a:endParaRPr>
              </a:p>
            </p:txBody>
          </p:sp>
          <p:sp>
            <p:nvSpPr>
              <p:cNvPr id="37" name="Rectangle 3">
                <a:extLst>
                  <a:ext uri="{FF2B5EF4-FFF2-40B4-BE49-F238E27FC236}">
                    <a16:creationId xmlns:a16="http://schemas.microsoft.com/office/drawing/2014/main" id="{A407AF61-7414-B976-8D52-662002392DCA}"/>
                  </a:ext>
                </a:extLst>
              </p:cNvPr>
              <p:cNvSpPr>
                <a:spLocks noChangeArrowheads="1"/>
              </p:cNvSpPr>
              <p:nvPr/>
            </p:nvSpPr>
            <p:spPr bwMode="auto">
              <a:xfrm>
                <a:off x="915988" y="5770563"/>
                <a:ext cx="1905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latin typeface="Roboto" panose="02000000000000000000" pitchFamily="2" charset="0"/>
                  <a:ea typeface="Roboto" panose="02000000000000000000" pitchFamily="2" charset="0"/>
                </a:endParaRPr>
              </a:p>
            </p:txBody>
          </p:sp>
          <p:sp>
            <p:nvSpPr>
              <p:cNvPr id="38" name="Rectangle 5">
                <a:extLst>
                  <a:ext uri="{FF2B5EF4-FFF2-40B4-BE49-F238E27FC236}">
                    <a16:creationId xmlns:a16="http://schemas.microsoft.com/office/drawing/2014/main" id="{864103B6-A1BD-D6ED-08B1-98713995A71C}"/>
                  </a:ext>
                </a:extLst>
              </p:cNvPr>
              <p:cNvSpPr>
                <a:spLocks noChangeArrowheads="1"/>
              </p:cNvSpPr>
              <p:nvPr/>
            </p:nvSpPr>
            <p:spPr bwMode="auto">
              <a:xfrm>
                <a:off x="2047875" y="4992688"/>
                <a:ext cx="779463" cy="47783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latin typeface="Roboto" panose="02000000000000000000" pitchFamily="2" charset="0"/>
                  <a:ea typeface="Roboto" panose="02000000000000000000" pitchFamily="2" charset="0"/>
                </a:endParaRPr>
              </a:p>
            </p:txBody>
          </p:sp>
          <p:sp>
            <p:nvSpPr>
              <p:cNvPr id="39" name="Rectangle 6">
                <a:extLst>
                  <a:ext uri="{FF2B5EF4-FFF2-40B4-BE49-F238E27FC236}">
                    <a16:creationId xmlns:a16="http://schemas.microsoft.com/office/drawing/2014/main" id="{1890C07A-0086-1977-8069-9DB1EFB599E9}"/>
                  </a:ext>
                </a:extLst>
              </p:cNvPr>
              <p:cNvSpPr>
                <a:spLocks noChangeArrowheads="1"/>
              </p:cNvSpPr>
              <p:nvPr/>
            </p:nvSpPr>
            <p:spPr bwMode="auto">
              <a:xfrm>
                <a:off x="3249613" y="4992688"/>
                <a:ext cx="779462" cy="47783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latin typeface="Roboto" panose="02000000000000000000" pitchFamily="2" charset="0"/>
                  <a:ea typeface="Roboto" panose="02000000000000000000" pitchFamily="2" charset="0"/>
                </a:endParaRPr>
              </a:p>
            </p:txBody>
          </p:sp>
          <p:sp>
            <p:nvSpPr>
              <p:cNvPr id="40" name="Rectangle 7">
                <a:extLst>
                  <a:ext uri="{FF2B5EF4-FFF2-40B4-BE49-F238E27FC236}">
                    <a16:creationId xmlns:a16="http://schemas.microsoft.com/office/drawing/2014/main" id="{A2026257-2AB8-82ED-8FC1-362C5BBDDC29}"/>
                  </a:ext>
                </a:extLst>
              </p:cNvPr>
              <p:cNvSpPr>
                <a:spLocks noChangeArrowheads="1"/>
              </p:cNvSpPr>
              <p:nvPr/>
            </p:nvSpPr>
            <p:spPr bwMode="auto">
              <a:xfrm>
                <a:off x="4729163" y="5010150"/>
                <a:ext cx="1571625" cy="442913"/>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latin typeface="Roboto" panose="02000000000000000000" pitchFamily="2" charset="0"/>
                  <a:ea typeface="Roboto" panose="02000000000000000000" pitchFamily="2" charset="0"/>
                </a:endParaRPr>
              </a:p>
            </p:txBody>
          </p:sp>
          <p:sp>
            <p:nvSpPr>
              <p:cNvPr id="41" name="Rectangle 8">
                <a:extLst>
                  <a:ext uri="{FF2B5EF4-FFF2-40B4-BE49-F238E27FC236}">
                    <a16:creationId xmlns:a16="http://schemas.microsoft.com/office/drawing/2014/main" id="{739F4367-C210-688B-E5C4-50B858A920D2}"/>
                  </a:ext>
                </a:extLst>
              </p:cNvPr>
              <p:cNvSpPr>
                <a:spLocks noChangeArrowheads="1"/>
              </p:cNvSpPr>
              <p:nvPr/>
            </p:nvSpPr>
            <p:spPr bwMode="auto">
              <a:xfrm>
                <a:off x="1055688" y="5006975"/>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600">
                    <a:latin typeface="Roboto" panose="02000000000000000000" pitchFamily="2" charset="0"/>
                    <a:ea typeface="Roboto" panose="02000000000000000000" pitchFamily="2" charset="0"/>
                  </a:rPr>
                  <a:t>A</a:t>
                </a:r>
              </a:p>
            </p:txBody>
          </p:sp>
          <p:sp>
            <p:nvSpPr>
              <p:cNvPr id="42" name="Rectangle 9">
                <a:extLst>
                  <a:ext uri="{FF2B5EF4-FFF2-40B4-BE49-F238E27FC236}">
                    <a16:creationId xmlns:a16="http://schemas.microsoft.com/office/drawing/2014/main" id="{CC8437BD-0A8B-1215-90DB-E10E90247AAF}"/>
                  </a:ext>
                </a:extLst>
              </p:cNvPr>
              <p:cNvSpPr>
                <a:spLocks noChangeArrowheads="1"/>
              </p:cNvSpPr>
              <p:nvPr/>
            </p:nvSpPr>
            <p:spPr bwMode="auto">
              <a:xfrm>
                <a:off x="2279702" y="5006975"/>
                <a:ext cx="317395"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600">
                    <a:latin typeface="Roboto" panose="02000000000000000000" pitchFamily="2" charset="0"/>
                    <a:ea typeface="Roboto" panose="02000000000000000000" pitchFamily="2" charset="0"/>
                  </a:rPr>
                  <a:t>B</a:t>
                </a:r>
              </a:p>
            </p:txBody>
          </p:sp>
          <p:sp>
            <p:nvSpPr>
              <p:cNvPr id="43" name="Rectangle 10">
                <a:extLst>
                  <a:ext uri="{FF2B5EF4-FFF2-40B4-BE49-F238E27FC236}">
                    <a16:creationId xmlns:a16="http://schemas.microsoft.com/office/drawing/2014/main" id="{AEBD212F-440D-5980-0452-9B2C8B28AD02}"/>
                  </a:ext>
                </a:extLst>
              </p:cNvPr>
              <p:cNvSpPr>
                <a:spLocks noChangeArrowheads="1"/>
              </p:cNvSpPr>
              <p:nvPr/>
            </p:nvSpPr>
            <p:spPr bwMode="auto">
              <a:xfrm>
                <a:off x="3417888" y="5006975"/>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600">
                    <a:latin typeface="Roboto" panose="02000000000000000000" pitchFamily="2" charset="0"/>
                    <a:ea typeface="Roboto" panose="02000000000000000000" pitchFamily="2" charset="0"/>
                  </a:rPr>
                  <a:t>C</a:t>
                </a:r>
              </a:p>
            </p:txBody>
          </p:sp>
          <p:sp>
            <p:nvSpPr>
              <p:cNvPr id="44" name="Rectangle 11">
                <a:extLst>
                  <a:ext uri="{FF2B5EF4-FFF2-40B4-BE49-F238E27FC236}">
                    <a16:creationId xmlns:a16="http://schemas.microsoft.com/office/drawing/2014/main" id="{BC6ECE89-A15D-0252-5C6B-C146E1DCED33}"/>
                  </a:ext>
                </a:extLst>
              </p:cNvPr>
              <p:cNvSpPr>
                <a:spLocks noChangeArrowheads="1"/>
              </p:cNvSpPr>
              <p:nvPr/>
            </p:nvSpPr>
            <p:spPr bwMode="auto">
              <a:xfrm>
                <a:off x="5116796" y="5032375"/>
                <a:ext cx="597920" cy="33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600" dirty="0">
                    <a:latin typeface="Roboto" panose="02000000000000000000" pitchFamily="2" charset="0"/>
                    <a:ea typeface="Roboto" panose="02000000000000000000" pitchFamily="2" charset="0"/>
                  </a:rPr>
                  <a:t>Ship</a:t>
                </a:r>
              </a:p>
            </p:txBody>
          </p:sp>
          <p:sp>
            <p:nvSpPr>
              <p:cNvPr id="45" name="AutoShape 12">
                <a:extLst>
                  <a:ext uri="{FF2B5EF4-FFF2-40B4-BE49-F238E27FC236}">
                    <a16:creationId xmlns:a16="http://schemas.microsoft.com/office/drawing/2014/main" id="{F270E54D-B2AE-D37A-8005-F7E939DF19A6}"/>
                  </a:ext>
                </a:extLst>
              </p:cNvPr>
              <p:cNvSpPr>
                <a:spLocks noChangeArrowheads="1"/>
              </p:cNvSpPr>
              <p:nvPr/>
            </p:nvSpPr>
            <p:spPr bwMode="auto">
              <a:xfrm>
                <a:off x="1684338" y="5005388"/>
                <a:ext cx="292100" cy="454025"/>
              </a:xfrm>
              <a:prstGeom prst="rightArrow">
                <a:avLst>
                  <a:gd name="adj1" fmla="val 50000"/>
                  <a:gd name="adj2" fmla="val 50005"/>
                </a:avLst>
              </a:prstGeom>
              <a:solidFill>
                <a:schemeClr val="accent1"/>
              </a:solidFill>
              <a:ln w="12700">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latin typeface="Roboto" panose="02000000000000000000" pitchFamily="2" charset="0"/>
                  <a:ea typeface="Roboto" panose="02000000000000000000" pitchFamily="2" charset="0"/>
                </a:endParaRPr>
              </a:p>
            </p:txBody>
          </p:sp>
          <p:sp>
            <p:nvSpPr>
              <p:cNvPr id="46" name="AutoShape 13">
                <a:extLst>
                  <a:ext uri="{FF2B5EF4-FFF2-40B4-BE49-F238E27FC236}">
                    <a16:creationId xmlns:a16="http://schemas.microsoft.com/office/drawing/2014/main" id="{D3B3D53C-199B-651A-257A-D1BF2D309A1D}"/>
                  </a:ext>
                </a:extLst>
              </p:cNvPr>
              <p:cNvSpPr>
                <a:spLocks noChangeArrowheads="1"/>
              </p:cNvSpPr>
              <p:nvPr/>
            </p:nvSpPr>
            <p:spPr bwMode="auto">
              <a:xfrm>
                <a:off x="2903538" y="5005388"/>
                <a:ext cx="292100" cy="454025"/>
              </a:xfrm>
              <a:prstGeom prst="rightArrow">
                <a:avLst>
                  <a:gd name="adj1" fmla="val 50000"/>
                  <a:gd name="adj2" fmla="val 50005"/>
                </a:avLst>
              </a:prstGeom>
              <a:solidFill>
                <a:schemeClr val="accent1"/>
              </a:solidFill>
              <a:ln w="12700">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latin typeface="Roboto" panose="02000000000000000000" pitchFamily="2" charset="0"/>
                  <a:ea typeface="Roboto" panose="02000000000000000000" pitchFamily="2" charset="0"/>
                </a:endParaRPr>
              </a:p>
            </p:txBody>
          </p:sp>
          <p:sp>
            <p:nvSpPr>
              <p:cNvPr id="47" name="AutoShape 14">
                <a:extLst>
                  <a:ext uri="{FF2B5EF4-FFF2-40B4-BE49-F238E27FC236}">
                    <a16:creationId xmlns:a16="http://schemas.microsoft.com/office/drawing/2014/main" id="{1D59D51B-7BF7-DCAA-5C13-0B6C93426E40}"/>
                  </a:ext>
                </a:extLst>
              </p:cNvPr>
              <p:cNvSpPr>
                <a:spLocks noChangeArrowheads="1"/>
              </p:cNvSpPr>
              <p:nvPr/>
            </p:nvSpPr>
            <p:spPr bwMode="auto">
              <a:xfrm>
                <a:off x="4198938" y="5005388"/>
                <a:ext cx="292100" cy="454025"/>
              </a:xfrm>
              <a:prstGeom prst="rightArrow">
                <a:avLst>
                  <a:gd name="adj1" fmla="val 50000"/>
                  <a:gd name="adj2" fmla="val 50005"/>
                </a:avLst>
              </a:prstGeom>
              <a:solidFill>
                <a:schemeClr val="accent1"/>
              </a:solidFill>
              <a:ln w="12700">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latin typeface="Roboto" panose="02000000000000000000" pitchFamily="2" charset="0"/>
                  <a:ea typeface="Roboto" panose="02000000000000000000" pitchFamily="2" charset="0"/>
                </a:endParaRPr>
              </a:p>
            </p:txBody>
          </p:sp>
          <p:grpSp>
            <p:nvGrpSpPr>
              <p:cNvPr id="48" name="Group 16">
                <a:extLst>
                  <a:ext uri="{FF2B5EF4-FFF2-40B4-BE49-F238E27FC236}">
                    <a16:creationId xmlns:a16="http://schemas.microsoft.com/office/drawing/2014/main" id="{1AD6CB61-AAD9-C99B-4649-05F0165F43C7}"/>
                  </a:ext>
                </a:extLst>
              </p:cNvPr>
              <p:cNvGrpSpPr>
                <a:grpSpLocks/>
              </p:cNvGrpSpPr>
              <p:nvPr/>
            </p:nvGrpSpPr>
            <p:grpSpPr bwMode="auto">
              <a:xfrm>
                <a:off x="2516188" y="4773613"/>
                <a:ext cx="1143000" cy="200025"/>
                <a:chOff x="1551" y="3216"/>
                <a:chExt cx="720" cy="144"/>
              </a:xfrm>
            </p:grpSpPr>
            <p:sp>
              <p:nvSpPr>
                <p:cNvPr id="49" name="Line 17">
                  <a:extLst>
                    <a:ext uri="{FF2B5EF4-FFF2-40B4-BE49-F238E27FC236}">
                      <a16:creationId xmlns:a16="http://schemas.microsoft.com/office/drawing/2014/main" id="{498DE7D6-09BA-048F-B979-EC6003A5ABAE}"/>
                    </a:ext>
                  </a:extLst>
                </p:cNvPr>
                <p:cNvSpPr>
                  <a:spLocks noChangeShapeType="1"/>
                </p:cNvSpPr>
                <p:nvPr/>
              </p:nvSpPr>
              <p:spPr bwMode="auto">
                <a:xfrm flipV="1">
                  <a:off x="2271" y="321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50" name="Line 18">
                  <a:extLst>
                    <a:ext uri="{FF2B5EF4-FFF2-40B4-BE49-F238E27FC236}">
                      <a16:creationId xmlns:a16="http://schemas.microsoft.com/office/drawing/2014/main" id="{B6F78F17-41B1-853E-127B-1D6E7EF175C7}"/>
                    </a:ext>
                  </a:extLst>
                </p:cNvPr>
                <p:cNvSpPr>
                  <a:spLocks noChangeShapeType="1"/>
                </p:cNvSpPr>
                <p:nvPr/>
              </p:nvSpPr>
              <p:spPr bwMode="auto">
                <a:xfrm flipH="1">
                  <a:off x="1551" y="3216"/>
                  <a:ext cx="72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51" name="Line 19">
                  <a:extLst>
                    <a:ext uri="{FF2B5EF4-FFF2-40B4-BE49-F238E27FC236}">
                      <a16:creationId xmlns:a16="http://schemas.microsoft.com/office/drawing/2014/main" id="{CAB803FB-578E-D47C-2CA7-81D859A8EF9E}"/>
                    </a:ext>
                  </a:extLst>
                </p:cNvPr>
                <p:cNvSpPr>
                  <a:spLocks noChangeShapeType="1"/>
                </p:cNvSpPr>
                <p:nvPr/>
              </p:nvSpPr>
              <p:spPr bwMode="auto">
                <a:xfrm>
                  <a:off x="1551" y="3216"/>
                  <a:ext cx="0" cy="144"/>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grpSp>
            <p:nvGrpSpPr>
              <p:cNvPr id="52" name="Group 20">
                <a:extLst>
                  <a:ext uri="{FF2B5EF4-FFF2-40B4-BE49-F238E27FC236}">
                    <a16:creationId xmlns:a16="http://schemas.microsoft.com/office/drawing/2014/main" id="{EE287701-A773-2CA4-767F-AE6ADA0D3E2C}"/>
                  </a:ext>
                </a:extLst>
              </p:cNvPr>
              <p:cNvGrpSpPr>
                <a:grpSpLocks/>
              </p:cNvGrpSpPr>
              <p:nvPr/>
            </p:nvGrpSpPr>
            <p:grpSpPr bwMode="auto">
              <a:xfrm>
                <a:off x="1220788" y="4773613"/>
                <a:ext cx="1143000" cy="200025"/>
                <a:chOff x="735" y="3216"/>
                <a:chExt cx="720" cy="144"/>
              </a:xfrm>
            </p:grpSpPr>
            <p:sp>
              <p:nvSpPr>
                <p:cNvPr id="53" name="Line 21">
                  <a:extLst>
                    <a:ext uri="{FF2B5EF4-FFF2-40B4-BE49-F238E27FC236}">
                      <a16:creationId xmlns:a16="http://schemas.microsoft.com/office/drawing/2014/main" id="{5F40EDD7-4F70-7CA7-BA55-E588FF9054AF}"/>
                    </a:ext>
                  </a:extLst>
                </p:cNvPr>
                <p:cNvSpPr>
                  <a:spLocks noChangeShapeType="1"/>
                </p:cNvSpPr>
                <p:nvPr/>
              </p:nvSpPr>
              <p:spPr bwMode="auto">
                <a:xfrm flipV="1">
                  <a:off x="1455" y="321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54" name="Line 22">
                  <a:extLst>
                    <a:ext uri="{FF2B5EF4-FFF2-40B4-BE49-F238E27FC236}">
                      <a16:creationId xmlns:a16="http://schemas.microsoft.com/office/drawing/2014/main" id="{595B5BD5-951E-C058-ED14-3D4FE4537438}"/>
                    </a:ext>
                  </a:extLst>
                </p:cNvPr>
                <p:cNvSpPr>
                  <a:spLocks noChangeShapeType="1"/>
                </p:cNvSpPr>
                <p:nvPr/>
              </p:nvSpPr>
              <p:spPr bwMode="auto">
                <a:xfrm flipH="1">
                  <a:off x="735" y="3216"/>
                  <a:ext cx="72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55" name="Line 23">
                  <a:extLst>
                    <a:ext uri="{FF2B5EF4-FFF2-40B4-BE49-F238E27FC236}">
                      <a16:creationId xmlns:a16="http://schemas.microsoft.com/office/drawing/2014/main" id="{7F0AB73D-A694-1427-2FC8-9FE42BD3B184}"/>
                    </a:ext>
                  </a:extLst>
                </p:cNvPr>
                <p:cNvSpPr>
                  <a:spLocks noChangeShapeType="1"/>
                </p:cNvSpPr>
                <p:nvPr/>
              </p:nvSpPr>
              <p:spPr bwMode="auto">
                <a:xfrm>
                  <a:off x="735" y="3216"/>
                  <a:ext cx="0" cy="144"/>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sp>
            <p:nvSpPr>
              <p:cNvPr id="56" name="Line 25">
                <a:extLst>
                  <a:ext uri="{FF2B5EF4-FFF2-40B4-BE49-F238E27FC236}">
                    <a16:creationId xmlns:a16="http://schemas.microsoft.com/office/drawing/2014/main" id="{908C02F9-DD22-E1F4-5F3F-20419E892A0A}"/>
                  </a:ext>
                </a:extLst>
              </p:cNvPr>
              <p:cNvSpPr>
                <a:spLocks noChangeShapeType="1"/>
              </p:cNvSpPr>
              <p:nvPr/>
            </p:nvSpPr>
            <p:spPr bwMode="auto">
              <a:xfrm flipH="1" flipV="1">
                <a:off x="1220788" y="5570538"/>
                <a:ext cx="304800" cy="331787"/>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57" name="Line 26">
                <a:extLst>
                  <a:ext uri="{FF2B5EF4-FFF2-40B4-BE49-F238E27FC236}">
                    <a16:creationId xmlns:a16="http://schemas.microsoft.com/office/drawing/2014/main" id="{2CB7E4A1-B9BA-0BB4-AF25-630374FBD034}"/>
                  </a:ext>
                </a:extLst>
              </p:cNvPr>
              <p:cNvSpPr>
                <a:spLocks noChangeShapeType="1"/>
              </p:cNvSpPr>
              <p:nvPr/>
            </p:nvSpPr>
            <p:spPr bwMode="auto">
              <a:xfrm flipV="1">
                <a:off x="3459163" y="5619750"/>
                <a:ext cx="247650" cy="366713"/>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58" name="Line 27">
                <a:extLst>
                  <a:ext uri="{FF2B5EF4-FFF2-40B4-BE49-F238E27FC236}">
                    <a16:creationId xmlns:a16="http://schemas.microsoft.com/office/drawing/2014/main" id="{1DE2A310-306E-B218-BBC2-EC60D793ECF3}"/>
                  </a:ext>
                </a:extLst>
              </p:cNvPr>
              <p:cNvSpPr>
                <a:spLocks noChangeShapeType="1"/>
              </p:cNvSpPr>
              <p:nvPr/>
            </p:nvSpPr>
            <p:spPr bwMode="auto">
              <a:xfrm flipV="1">
                <a:off x="2439988" y="5457825"/>
                <a:ext cx="1587" cy="246063"/>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sp>
          <p:nvSpPr>
            <p:cNvPr id="60" name="Rectangle 24">
              <a:extLst>
                <a:ext uri="{FF2B5EF4-FFF2-40B4-BE49-F238E27FC236}">
                  <a16:creationId xmlns:a16="http://schemas.microsoft.com/office/drawing/2014/main" id="{9ECD753A-3D8E-9F77-41ED-259A4C56337F}"/>
                </a:ext>
              </a:extLst>
            </p:cNvPr>
            <p:cNvSpPr>
              <a:spLocks noChangeArrowheads="1"/>
            </p:cNvSpPr>
            <p:nvPr/>
          </p:nvSpPr>
          <p:spPr bwMode="auto">
            <a:xfrm>
              <a:off x="5490671" y="5778578"/>
              <a:ext cx="1670329"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600" dirty="0">
                  <a:latin typeface="Roboto" panose="02000000000000000000" pitchFamily="2" charset="0"/>
                  <a:ea typeface="Roboto" panose="02000000000000000000" pitchFamily="2" charset="0"/>
                </a:rPr>
                <a:t>Build in Quality</a:t>
              </a:r>
            </a:p>
            <a:p>
              <a:pPr algn="ctr">
                <a:lnSpc>
                  <a:spcPct val="100000"/>
                </a:lnSpc>
                <a:spcBef>
                  <a:spcPct val="0"/>
                </a:spcBef>
                <a:spcAft>
                  <a:spcPct val="0"/>
                </a:spcAft>
                <a:buClrTx/>
                <a:buSzTx/>
                <a:buFontTx/>
                <a:buNone/>
              </a:pPr>
              <a:r>
                <a:rPr lang="en-US" altLang="en-US" sz="1600" dirty="0">
                  <a:latin typeface="Roboto" panose="02000000000000000000" pitchFamily="2" charset="0"/>
                  <a:ea typeface="Roboto" panose="02000000000000000000" pitchFamily="2" charset="0"/>
                </a:rPr>
                <a:t>at Each Process</a:t>
              </a:r>
            </a:p>
          </p:txBody>
        </p:sp>
      </p:grpSp>
    </p:spTree>
    <p:extLst>
      <p:ext uri="{BB962C8B-B14F-4D97-AF65-F5344CB8AC3E}">
        <p14:creationId xmlns:p14="http://schemas.microsoft.com/office/powerpoint/2010/main" val="17652996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Poka-Yoke Charter Review</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13</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Review the Poka-Yoke Charter for the event against charter criteria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team review the event charter and answer the following questions:</a:t>
            </a:r>
          </a:p>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is the business need for this event?</a:t>
            </a:r>
          </a:p>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Who is the owner?</a:t>
            </a:r>
          </a:p>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are the goals for this event?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30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59"/>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Make any modifications</a:t>
            </a:r>
            <a:b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br>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to charter as necessary. </a:t>
            </a:r>
          </a:p>
        </p:txBody>
      </p:sp>
      <p:grpSp>
        <p:nvGrpSpPr>
          <p:cNvPr id="3" name="Group 2">
            <a:extLst>
              <a:ext uri="{FF2B5EF4-FFF2-40B4-BE49-F238E27FC236}">
                <a16:creationId xmlns:a16="http://schemas.microsoft.com/office/drawing/2014/main" id="{015689BF-FE9E-A9A8-D450-F90D70ECEC20}"/>
              </a:ext>
            </a:extLst>
          </p:cNvPr>
          <p:cNvGrpSpPr/>
          <p:nvPr/>
        </p:nvGrpSpPr>
        <p:grpSpPr>
          <a:xfrm>
            <a:off x="838200" y="297639"/>
            <a:ext cx="2778942" cy="306433"/>
            <a:chOff x="838200" y="297639"/>
            <a:chExt cx="2778942" cy="306433"/>
          </a:xfrm>
        </p:grpSpPr>
        <p:grpSp>
          <p:nvGrpSpPr>
            <p:cNvPr id="4" name="Group 3">
              <a:extLst>
                <a:ext uri="{FF2B5EF4-FFF2-40B4-BE49-F238E27FC236}">
                  <a16:creationId xmlns:a16="http://schemas.microsoft.com/office/drawing/2014/main" id="{097102EB-000B-6396-23F8-7B68D5CDED7D}"/>
                </a:ext>
              </a:extLst>
            </p:cNvPr>
            <p:cNvGrpSpPr/>
            <p:nvPr/>
          </p:nvGrpSpPr>
          <p:grpSpPr>
            <a:xfrm>
              <a:off x="838200" y="297639"/>
              <a:ext cx="1060167" cy="290657"/>
              <a:chOff x="826426" y="4041857"/>
              <a:chExt cx="1060167" cy="290657"/>
            </a:xfrm>
          </p:grpSpPr>
          <p:sp>
            <p:nvSpPr>
              <p:cNvPr id="7" name="AutoShape 9">
                <a:extLst>
                  <a:ext uri="{FF2B5EF4-FFF2-40B4-BE49-F238E27FC236}">
                    <a16:creationId xmlns:a16="http://schemas.microsoft.com/office/drawing/2014/main" id="{120E6CE5-60D8-06C6-2A22-55E8768B4A5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11">
                <a:extLst>
                  <a:ext uri="{FF2B5EF4-FFF2-40B4-BE49-F238E27FC236}">
                    <a16:creationId xmlns:a16="http://schemas.microsoft.com/office/drawing/2014/main" id="{540CA4AA-CFF3-A576-EB30-4C6CE3E9DED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0">
                <a:extLst>
                  <a:ext uri="{FF2B5EF4-FFF2-40B4-BE49-F238E27FC236}">
                    <a16:creationId xmlns:a16="http://schemas.microsoft.com/office/drawing/2014/main" id="{43EB12F0-E140-B191-8B7A-5BF557A44EFD}"/>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6" name="TextBox 5">
              <a:extLst>
                <a:ext uri="{FF2B5EF4-FFF2-40B4-BE49-F238E27FC236}">
                  <a16:creationId xmlns:a16="http://schemas.microsoft.com/office/drawing/2014/main" id="{8C8BC5EE-C17B-F521-AD64-A96CBD55A38D}"/>
                </a:ext>
              </a:extLst>
            </p:cNvPr>
            <p:cNvSpPr txBox="1"/>
            <p:nvPr/>
          </p:nvSpPr>
          <p:spPr>
            <a:xfrm>
              <a:off x="190849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Introduction</a:t>
              </a:r>
            </a:p>
          </p:txBody>
        </p:sp>
      </p:grpSp>
    </p:spTree>
    <p:extLst>
      <p:ext uri="{BB962C8B-B14F-4D97-AF65-F5344CB8AC3E}">
        <p14:creationId xmlns:p14="http://schemas.microsoft.com/office/powerpoint/2010/main" val="4504345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14</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Zero Defect Quality System</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dirty="0"/>
              <a:t>Discuss difference between defects and errors</a:t>
            </a:r>
          </a:p>
          <a:p>
            <a:r>
              <a:rPr lang="en-US" dirty="0"/>
              <a:t>Discuss causes of defects</a:t>
            </a:r>
          </a:p>
          <a:p>
            <a:r>
              <a:rPr lang="en-US" dirty="0"/>
              <a:t>Define Zero Defect Quality (ZDQ) System</a:t>
            </a:r>
          </a:p>
          <a:p>
            <a:r>
              <a:rPr lang="en-US" dirty="0"/>
              <a:t>Review and discuss each component of the ZDQ System </a:t>
            </a:r>
          </a:p>
          <a:p>
            <a:endParaRPr lang="en-US" dirty="0"/>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DADE2756-B973-0064-D4DD-52D3744FBA6B}"/>
              </a:ext>
            </a:extLst>
          </p:cNvPr>
          <p:cNvGrpSpPr/>
          <p:nvPr/>
        </p:nvGrpSpPr>
        <p:grpSpPr>
          <a:xfrm>
            <a:off x="699911" y="837133"/>
            <a:ext cx="4425950" cy="659879"/>
            <a:chOff x="5627530" y="641179"/>
            <a:chExt cx="6564470" cy="804977"/>
          </a:xfrm>
        </p:grpSpPr>
        <p:sp>
          <p:nvSpPr>
            <p:cNvPr id="14" name="AutoShape 9">
              <a:extLst>
                <a:ext uri="{FF2B5EF4-FFF2-40B4-BE49-F238E27FC236}">
                  <a16:creationId xmlns:a16="http://schemas.microsoft.com/office/drawing/2014/main" id="{FF83B6EB-BAFE-C193-44C8-50C54ED609A3}"/>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Poka-Yoke Examples</a:t>
              </a:r>
            </a:p>
          </p:txBody>
        </p:sp>
        <p:sp>
          <p:nvSpPr>
            <p:cNvPr id="15" name="AutoShape 10">
              <a:extLst>
                <a:ext uri="{FF2B5EF4-FFF2-40B4-BE49-F238E27FC236}">
                  <a16:creationId xmlns:a16="http://schemas.microsoft.com/office/drawing/2014/main" id="{386767CB-AD12-A8CE-F49D-60EB435EC2D3}"/>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7 Steps of Poka-Yoke</a:t>
              </a:r>
            </a:p>
          </p:txBody>
        </p:sp>
        <p:sp>
          <p:nvSpPr>
            <p:cNvPr id="16" name="AutoShape 11">
              <a:extLst>
                <a:ext uri="{FF2B5EF4-FFF2-40B4-BE49-F238E27FC236}">
                  <a16:creationId xmlns:a16="http://schemas.microsoft.com/office/drawing/2014/main" id="{C2EFD1F9-72F5-1220-34C5-1283C9247686}"/>
                </a:ext>
              </a:extLst>
            </p:cNvPr>
            <p:cNvSpPr>
              <a:spLocks noChangeArrowheads="1"/>
            </p:cNvSpPr>
            <p:nvPr/>
          </p:nvSpPr>
          <p:spPr bwMode="auto">
            <a:xfrm>
              <a:off x="5627530" y="641179"/>
              <a:ext cx="2340864" cy="804977"/>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latin typeface="Roboto" panose="02000000000000000000" pitchFamily="2" charset="0"/>
                  <a:ea typeface="Roboto" panose="02000000000000000000" pitchFamily="2" charset="0"/>
                  <a:cs typeface="Roboto" panose="02000000000000000000" pitchFamily="2" charset="0"/>
                </a:rPr>
                <a:t>Zero Defect</a:t>
              </a:r>
              <a:br>
                <a:rPr lang="en-US" altLang="en-US" sz="1200" dirty="0">
                  <a:latin typeface="Roboto" panose="02000000000000000000" pitchFamily="2" charset="0"/>
                  <a:ea typeface="Roboto" panose="02000000000000000000" pitchFamily="2" charset="0"/>
                  <a:cs typeface="Roboto" panose="02000000000000000000" pitchFamily="2" charset="0"/>
                </a:rPr>
              </a:br>
              <a:r>
                <a:rPr lang="en-US" altLang="en-US" sz="1200" dirty="0">
                  <a:latin typeface="Roboto" panose="02000000000000000000" pitchFamily="2" charset="0"/>
                  <a:ea typeface="Roboto" panose="02000000000000000000" pitchFamily="2" charset="0"/>
                  <a:cs typeface="Roboto" panose="02000000000000000000" pitchFamily="2" charset="0"/>
                </a:rPr>
                <a:t>Quality System</a:t>
              </a:r>
            </a:p>
          </p:txBody>
        </p:sp>
      </p:grpSp>
    </p:spTree>
    <p:extLst>
      <p:ext uri="{BB962C8B-B14F-4D97-AF65-F5344CB8AC3E}">
        <p14:creationId xmlns:p14="http://schemas.microsoft.com/office/powerpoint/2010/main" val="958300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Discussion</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15</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Discuss the difference between “defects” and “errors”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pairs, discuss what you think the difference is between the terms “defects” and “errors”.</a:t>
            </a:r>
          </a:p>
          <a:p>
            <a:pPr marL="0" marR="0" indent="0" algn="l" defTabSz="584200" rtl="0" fontAlgn="auto" latinLnBrk="0" hangingPunct="0">
              <a:lnSpc>
                <a:spcPct val="100000"/>
              </a:lnSpc>
              <a:spcBef>
                <a:spcPts val="0"/>
              </a:spcBef>
              <a:spcAft>
                <a:spcPts val="0"/>
              </a:spcAft>
              <a:buClrTx/>
              <a:buSzTx/>
              <a:buFontTx/>
              <a:buNone/>
              <a:tabLst/>
            </a:pPr>
            <a:endPar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Discuss answers as a class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3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59"/>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Class discussion of</a:t>
            </a:r>
            <a:b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br>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answers </a:t>
            </a:r>
          </a:p>
        </p:txBody>
      </p:sp>
      <p:grpSp>
        <p:nvGrpSpPr>
          <p:cNvPr id="3" name="Group 2">
            <a:extLst>
              <a:ext uri="{FF2B5EF4-FFF2-40B4-BE49-F238E27FC236}">
                <a16:creationId xmlns:a16="http://schemas.microsoft.com/office/drawing/2014/main" id="{015689BF-FE9E-A9A8-D450-F90D70ECEC20}"/>
              </a:ext>
            </a:extLst>
          </p:cNvPr>
          <p:cNvGrpSpPr/>
          <p:nvPr/>
        </p:nvGrpSpPr>
        <p:grpSpPr>
          <a:xfrm>
            <a:off x="838200" y="297639"/>
            <a:ext cx="4030980" cy="307138"/>
            <a:chOff x="838200" y="297639"/>
            <a:chExt cx="4030980" cy="307138"/>
          </a:xfrm>
        </p:grpSpPr>
        <p:grpSp>
          <p:nvGrpSpPr>
            <p:cNvPr id="4" name="Group 3">
              <a:extLst>
                <a:ext uri="{FF2B5EF4-FFF2-40B4-BE49-F238E27FC236}">
                  <a16:creationId xmlns:a16="http://schemas.microsoft.com/office/drawing/2014/main" id="{097102EB-000B-6396-23F8-7B68D5CDED7D}"/>
                </a:ext>
              </a:extLst>
            </p:cNvPr>
            <p:cNvGrpSpPr/>
            <p:nvPr/>
          </p:nvGrpSpPr>
          <p:grpSpPr>
            <a:xfrm>
              <a:off x="838200" y="297639"/>
              <a:ext cx="1060167" cy="290657"/>
              <a:chOff x="826426" y="4041857"/>
              <a:chExt cx="1060167" cy="290657"/>
            </a:xfrm>
          </p:grpSpPr>
          <p:sp>
            <p:nvSpPr>
              <p:cNvPr id="7" name="AutoShape 9">
                <a:extLst>
                  <a:ext uri="{FF2B5EF4-FFF2-40B4-BE49-F238E27FC236}">
                    <a16:creationId xmlns:a16="http://schemas.microsoft.com/office/drawing/2014/main" id="{120E6CE5-60D8-06C6-2A22-55E8768B4A5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11">
                <a:extLst>
                  <a:ext uri="{FF2B5EF4-FFF2-40B4-BE49-F238E27FC236}">
                    <a16:creationId xmlns:a16="http://schemas.microsoft.com/office/drawing/2014/main" id="{540CA4AA-CFF3-A576-EB30-4C6CE3E9DED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0">
                <a:extLst>
                  <a:ext uri="{FF2B5EF4-FFF2-40B4-BE49-F238E27FC236}">
                    <a16:creationId xmlns:a16="http://schemas.microsoft.com/office/drawing/2014/main" id="{43EB12F0-E140-B191-8B7A-5BF557A44EFD}"/>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6" name="TextBox 5">
              <a:extLst>
                <a:ext uri="{FF2B5EF4-FFF2-40B4-BE49-F238E27FC236}">
                  <a16:creationId xmlns:a16="http://schemas.microsoft.com/office/drawing/2014/main" id="{8C8BC5EE-C17B-F521-AD64-A96CBD55A38D}"/>
                </a:ext>
              </a:extLst>
            </p:cNvPr>
            <p:cNvSpPr txBox="1"/>
            <p:nvPr/>
          </p:nvSpPr>
          <p:spPr>
            <a:xfrm>
              <a:off x="1908497" y="313415"/>
              <a:ext cx="29606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Zero Defect Quality System</a:t>
              </a:r>
            </a:p>
          </p:txBody>
        </p:sp>
      </p:grpSp>
    </p:spTree>
    <p:extLst>
      <p:ext uri="{BB962C8B-B14F-4D97-AF65-F5344CB8AC3E}">
        <p14:creationId xmlns:p14="http://schemas.microsoft.com/office/powerpoint/2010/main" val="9957711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What causes defects?</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normAutofit fontScale="77500" lnSpcReduction="20000"/>
          </a:bodyPr>
          <a:lstStyle/>
          <a:p>
            <a:pPr marL="0" indent="0">
              <a:buNone/>
            </a:pPr>
            <a:r>
              <a:rPr lang="en-US" altLang="en-US" sz="2800" b="1" dirty="0"/>
              <a:t>Human Mistakes:</a:t>
            </a:r>
            <a:endParaRPr lang="en-US" b="1" dirty="0"/>
          </a:p>
          <a:p>
            <a:r>
              <a:rPr lang="en-US" dirty="0"/>
              <a:t>Simple errors, the most common cause of defects, occur unpredictably</a:t>
            </a:r>
          </a:p>
          <a:p>
            <a:r>
              <a:rPr lang="en-US" dirty="0"/>
              <a:t>Ten Types of Human Mistakes:</a:t>
            </a:r>
          </a:p>
          <a:p>
            <a:pPr lvl="1"/>
            <a:r>
              <a:rPr lang="en-US" dirty="0"/>
              <a:t>Forgetfulness</a:t>
            </a:r>
          </a:p>
          <a:p>
            <a:pPr lvl="1"/>
            <a:r>
              <a:rPr lang="en-US" dirty="0"/>
              <a:t>Misunderstanding</a:t>
            </a:r>
          </a:p>
          <a:p>
            <a:pPr lvl="1"/>
            <a:r>
              <a:rPr lang="en-US" dirty="0"/>
              <a:t>Wrong Identification</a:t>
            </a:r>
          </a:p>
          <a:p>
            <a:pPr lvl="1"/>
            <a:r>
              <a:rPr lang="en-US" dirty="0"/>
              <a:t>Lack of Experience</a:t>
            </a:r>
          </a:p>
          <a:p>
            <a:pPr lvl="1"/>
            <a:r>
              <a:rPr lang="en-US" dirty="0"/>
              <a:t>Willful ignoring</a:t>
            </a:r>
          </a:p>
          <a:p>
            <a:pPr lvl="1"/>
            <a:r>
              <a:rPr lang="en-US" dirty="0"/>
              <a:t>Inadvertent or sloppiness</a:t>
            </a:r>
          </a:p>
          <a:p>
            <a:pPr lvl="1"/>
            <a:r>
              <a:rPr lang="en-US" dirty="0"/>
              <a:t>Slowness</a:t>
            </a:r>
          </a:p>
          <a:p>
            <a:pPr lvl="1"/>
            <a:r>
              <a:rPr lang="en-US" dirty="0"/>
              <a:t>Lack of standardization</a:t>
            </a:r>
          </a:p>
          <a:p>
            <a:pPr lvl="1"/>
            <a:r>
              <a:rPr lang="en-US" dirty="0"/>
              <a:t>Surprise</a:t>
            </a:r>
          </a:p>
          <a:p>
            <a:pPr lvl="1"/>
            <a:r>
              <a:rPr lang="en-US" dirty="0"/>
              <a:t>Intentional</a:t>
            </a:r>
          </a:p>
          <a:p>
            <a:endParaRPr lang="en-US" dirty="0"/>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16</a:t>
            </a:fld>
            <a:endParaRPr lang="en-US"/>
          </a:p>
        </p:txBody>
      </p:sp>
      <p:sp>
        <p:nvSpPr>
          <p:cNvPr id="12" name="AutoShape 7">
            <a:extLst>
              <a:ext uri="{FF2B5EF4-FFF2-40B4-BE49-F238E27FC236}">
                <a16:creationId xmlns:a16="http://schemas.microsoft.com/office/drawing/2014/main" id="{27277986-9BE6-35D3-3CB1-E009796A75FC}"/>
              </a:ext>
            </a:extLst>
          </p:cNvPr>
          <p:cNvSpPr>
            <a:spLocks noChangeArrowheads="1"/>
          </p:cNvSpPr>
          <p:nvPr/>
        </p:nvSpPr>
        <p:spPr bwMode="auto">
          <a:xfrm>
            <a:off x="5842000" y="2834481"/>
            <a:ext cx="254000" cy="2333625"/>
          </a:xfrm>
          <a:prstGeom prst="rightArrow">
            <a:avLst>
              <a:gd name="adj1" fmla="val 74426"/>
              <a:gd name="adj2" fmla="val 71213"/>
            </a:avLst>
          </a:prstGeom>
          <a:solidFill>
            <a:schemeClr val="accent1"/>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3" name="Rectangle 8">
            <a:extLst>
              <a:ext uri="{FF2B5EF4-FFF2-40B4-BE49-F238E27FC236}">
                <a16:creationId xmlns:a16="http://schemas.microsoft.com/office/drawing/2014/main" id="{3ED53F65-AE0B-21A9-A44D-DF01E516DCD8}"/>
              </a:ext>
            </a:extLst>
          </p:cNvPr>
          <p:cNvSpPr>
            <a:spLocks noChangeArrowheads="1"/>
          </p:cNvSpPr>
          <p:nvPr/>
        </p:nvSpPr>
        <p:spPr bwMode="auto">
          <a:xfrm>
            <a:off x="2456498" y="1825625"/>
            <a:ext cx="2620962" cy="6350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1. Poor Procedures </a:t>
            </a:r>
            <a:br>
              <a:rPr lang="en-US" altLang="en-US" sz="1400" dirty="0">
                <a:latin typeface="Roboto" panose="02000000000000000000" pitchFamily="2" charset="0"/>
                <a:ea typeface="Roboto" panose="02000000000000000000" pitchFamily="2" charset="0"/>
              </a:rPr>
            </a:br>
            <a:r>
              <a:rPr lang="en-US" altLang="en-US" sz="1400" dirty="0">
                <a:latin typeface="Roboto" panose="02000000000000000000" pitchFamily="2" charset="0"/>
                <a:ea typeface="Roboto" panose="02000000000000000000" pitchFamily="2" charset="0"/>
              </a:rPr>
              <a:t>or Standards</a:t>
            </a:r>
          </a:p>
        </p:txBody>
      </p:sp>
      <p:sp>
        <p:nvSpPr>
          <p:cNvPr id="14" name="Rectangle 9">
            <a:extLst>
              <a:ext uri="{FF2B5EF4-FFF2-40B4-BE49-F238E27FC236}">
                <a16:creationId xmlns:a16="http://schemas.microsoft.com/office/drawing/2014/main" id="{A0C750F9-9721-651C-25A2-0E1B58B835F4}"/>
              </a:ext>
            </a:extLst>
          </p:cNvPr>
          <p:cNvSpPr>
            <a:spLocks noChangeArrowheads="1"/>
          </p:cNvSpPr>
          <p:nvPr/>
        </p:nvSpPr>
        <p:spPr bwMode="auto">
          <a:xfrm>
            <a:off x="2456498" y="2755900"/>
            <a:ext cx="2620962" cy="635000"/>
          </a:xfrm>
          <a:prstGeom prst="rect">
            <a:avLst/>
          </a:prstGeom>
          <a:solidFill>
            <a:schemeClr val="bg2"/>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2. Equipment</a:t>
            </a:r>
          </a:p>
        </p:txBody>
      </p:sp>
      <p:sp>
        <p:nvSpPr>
          <p:cNvPr id="15" name="Rectangle 10">
            <a:extLst>
              <a:ext uri="{FF2B5EF4-FFF2-40B4-BE49-F238E27FC236}">
                <a16:creationId xmlns:a16="http://schemas.microsoft.com/office/drawing/2014/main" id="{DEC799F7-8CA4-78BA-2A62-C70D047C02B5}"/>
              </a:ext>
            </a:extLst>
          </p:cNvPr>
          <p:cNvSpPr>
            <a:spLocks noChangeArrowheads="1"/>
          </p:cNvSpPr>
          <p:nvPr/>
        </p:nvSpPr>
        <p:spPr bwMode="auto">
          <a:xfrm>
            <a:off x="2456498" y="3689350"/>
            <a:ext cx="2620962" cy="635000"/>
          </a:xfrm>
          <a:prstGeom prst="rect">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3. Non-conforming Material</a:t>
            </a:r>
          </a:p>
        </p:txBody>
      </p:sp>
      <p:sp>
        <p:nvSpPr>
          <p:cNvPr id="16" name="Rectangle 11">
            <a:extLst>
              <a:ext uri="{FF2B5EF4-FFF2-40B4-BE49-F238E27FC236}">
                <a16:creationId xmlns:a16="http://schemas.microsoft.com/office/drawing/2014/main" id="{E1150C2B-8EEA-D403-551C-72F32201CFDB}"/>
              </a:ext>
            </a:extLst>
          </p:cNvPr>
          <p:cNvSpPr>
            <a:spLocks noChangeArrowheads="1"/>
          </p:cNvSpPr>
          <p:nvPr/>
        </p:nvSpPr>
        <p:spPr bwMode="auto">
          <a:xfrm>
            <a:off x="2456498" y="4662487"/>
            <a:ext cx="2620962" cy="635000"/>
          </a:xfrm>
          <a:prstGeom prst="rect">
            <a:avLst/>
          </a:prstGeom>
          <a:solidFill>
            <a:schemeClr val="accent4"/>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4. Worn Tooling</a:t>
            </a:r>
          </a:p>
        </p:txBody>
      </p:sp>
      <p:cxnSp>
        <p:nvCxnSpPr>
          <p:cNvPr id="17" name="AutoShape 12">
            <a:extLst>
              <a:ext uri="{FF2B5EF4-FFF2-40B4-BE49-F238E27FC236}">
                <a16:creationId xmlns:a16="http://schemas.microsoft.com/office/drawing/2014/main" id="{C79DC80A-0CB7-D202-FBD5-884DDBFB791B}"/>
              </a:ext>
            </a:extLst>
          </p:cNvPr>
          <p:cNvCxnSpPr>
            <a:cxnSpLocks noChangeShapeType="1"/>
            <a:stCxn id="13" idx="2"/>
            <a:endCxn id="14" idx="0"/>
          </p:cNvCxnSpPr>
          <p:nvPr/>
        </p:nvCxnSpPr>
        <p:spPr bwMode="auto">
          <a:xfrm>
            <a:off x="3767773" y="2460625"/>
            <a:ext cx="0" cy="295275"/>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8" name="AutoShape 13">
            <a:extLst>
              <a:ext uri="{FF2B5EF4-FFF2-40B4-BE49-F238E27FC236}">
                <a16:creationId xmlns:a16="http://schemas.microsoft.com/office/drawing/2014/main" id="{89C99D6B-102F-ED3B-296B-37D1E7D9B1E5}"/>
              </a:ext>
            </a:extLst>
          </p:cNvPr>
          <p:cNvCxnSpPr>
            <a:cxnSpLocks noChangeShapeType="1"/>
            <a:stCxn id="14" idx="2"/>
            <a:endCxn id="15" idx="0"/>
          </p:cNvCxnSpPr>
          <p:nvPr/>
        </p:nvCxnSpPr>
        <p:spPr bwMode="auto">
          <a:xfrm>
            <a:off x="3767773" y="3390900"/>
            <a:ext cx="0" cy="29845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 name="AutoShape 14">
            <a:extLst>
              <a:ext uri="{FF2B5EF4-FFF2-40B4-BE49-F238E27FC236}">
                <a16:creationId xmlns:a16="http://schemas.microsoft.com/office/drawing/2014/main" id="{7D1CE6D2-7272-4EF7-10F6-8253701B3567}"/>
              </a:ext>
            </a:extLst>
          </p:cNvPr>
          <p:cNvCxnSpPr>
            <a:cxnSpLocks noChangeShapeType="1"/>
            <a:stCxn id="15" idx="2"/>
            <a:endCxn id="16" idx="0"/>
          </p:cNvCxnSpPr>
          <p:nvPr/>
        </p:nvCxnSpPr>
        <p:spPr bwMode="auto">
          <a:xfrm>
            <a:off x="3767773" y="4324350"/>
            <a:ext cx="0" cy="338137"/>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0" name="Oval 15">
            <a:extLst>
              <a:ext uri="{FF2B5EF4-FFF2-40B4-BE49-F238E27FC236}">
                <a16:creationId xmlns:a16="http://schemas.microsoft.com/office/drawing/2014/main" id="{993A4334-B69E-1835-43C8-92D5BB78F007}"/>
              </a:ext>
            </a:extLst>
          </p:cNvPr>
          <p:cNvSpPr>
            <a:spLocks noChangeArrowheads="1"/>
          </p:cNvSpPr>
          <p:nvPr/>
        </p:nvSpPr>
        <p:spPr bwMode="auto">
          <a:xfrm>
            <a:off x="2456498" y="5621337"/>
            <a:ext cx="2620962" cy="601663"/>
          </a:xfrm>
          <a:prstGeom prst="ellipse">
            <a:avLst/>
          </a:prstGeom>
          <a:solidFill>
            <a:schemeClr val="accent2"/>
          </a:solidFill>
          <a:ln w="12700" cap="sq">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5. Human Mistakes</a:t>
            </a:r>
          </a:p>
        </p:txBody>
      </p:sp>
      <p:cxnSp>
        <p:nvCxnSpPr>
          <p:cNvPr id="21" name="AutoShape 16">
            <a:extLst>
              <a:ext uri="{FF2B5EF4-FFF2-40B4-BE49-F238E27FC236}">
                <a16:creationId xmlns:a16="http://schemas.microsoft.com/office/drawing/2014/main" id="{48752864-66DB-9E2E-7197-CEF6E0CAE917}"/>
              </a:ext>
            </a:extLst>
          </p:cNvPr>
          <p:cNvCxnSpPr>
            <a:cxnSpLocks noChangeShapeType="1"/>
            <a:stCxn id="16" idx="2"/>
            <a:endCxn id="20" idx="0"/>
          </p:cNvCxnSpPr>
          <p:nvPr/>
        </p:nvCxnSpPr>
        <p:spPr bwMode="auto">
          <a:xfrm>
            <a:off x="3767773" y="5297487"/>
            <a:ext cx="0" cy="32385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grpSp>
        <p:nvGrpSpPr>
          <p:cNvPr id="3" name="Group 2">
            <a:extLst>
              <a:ext uri="{FF2B5EF4-FFF2-40B4-BE49-F238E27FC236}">
                <a16:creationId xmlns:a16="http://schemas.microsoft.com/office/drawing/2014/main" id="{AA4BC5F0-C249-7233-F9EC-EE82F8AAF6EB}"/>
              </a:ext>
            </a:extLst>
          </p:cNvPr>
          <p:cNvGrpSpPr/>
          <p:nvPr/>
        </p:nvGrpSpPr>
        <p:grpSpPr>
          <a:xfrm>
            <a:off x="838200" y="297639"/>
            <a:ext cx="4030980" cy="307138"/>
            <a:chOff x="838200" y="297639"/>
            <a:chExt cx="4030980" cy="307138"/>
          </a:xfrm>
        </p:grpSpPr>
        <p:grpSp>
          <p:nvGrpSpPr>
            <p:cNvPr id="22" name="Group 21">
              <a:extLst>
                <a:ext uri="{FF2B5EF4-FFF2-40B4-BE49-F238E27FC236}">
                  <a16:creationId xmlns:a16="http://schemas.microsoft.com/office/drawing/2014/main" id="{0C9552ED-DF29-F52D-F56C-F27A783FA6DE}"/>
                </a:ext>
              </a:extLst>
            </p:cNvPr>
            <p:cNvGrpSpPr/>
            <p:nvPr/>
          </p:nvGrpSpPr>
          <p:grpSpPr>
            <a:xfrm>
              <a:off x="838200" y="297639"/>
              <a:ext cx="1060167" cy="290657"/>
              <a:chOff x="826426" y="4041857"/>
              <a:chExt cx="1060167" cy="290657"/>
            </a:xfrm>
          </p:grpSpPr>
          <p:sp>
            <p:nvSpPr>
              <p:cNvPr id="24" name="AutoShape 9">
                <a:extLst>
                  <a:ext uri="{FF2B5EF4-FFF2-40B4-BE49-F238E27FC236}">
                    <a16:creationId xmlns:a16="http://schemas.microsoft.com/office/drawing/2014/main" id="{85039451-9074-5956-8D53-FB08E79D7681}"/>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5" name="AutoShape 11">
                <a:extLst>
                  <a:ext uri="{FF2B5EF4-FFF2-40B4-BE49-F238E27FC236}">
                    <a16:creationId xmlns:a16="http://schemas.microsoft.com/office/drawing/2014/main" id="{ADA52127-A965-1072-01BD-55D476702A5A}"/>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6" name="AutoShape 10">
                <a:extLst>
                  <a:ext uri="{FF2B5EF4-FFF2-40B4-BE49-F238E27FC236}">
                    <a16:creationId xmlns:a16="http://schemas.microsoft.com/office/drawing/2014/main" id="{C498374F-9800-FCB5-1F87-C7E77FE94755}"/>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23" name="TextBox 22">
              <a:extLst>
                <a:ext uri="{FF2B5EF4-FFF2-40B4-BE49-F238E27FC236}">
                  <a16:creationId xmlns:a16="http://schemas.microsoft.com/office/drawing/2014/main" id="{3660DC4D-E34A-2086-E126-04FD1C1DDDB6}"/>
                </a:ext>
              </a:extLst>
            </p:cNvPr>
            <p:cNvSpPr txBox="1"/>
            <p:nvPr/>
          </p:nvSpPr>
          <p:spPr>
            <a:xfrm>
              <a:off x="1908497" y="313415"/>
              <a:ext cx="29606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Zero Defect Quality System</a:t>
              </a:r>
            </a:p>
          </p:txBody>
        </p:sp>
      </p:grpSp>
    </p:spTree>
    <p:extLst>
      <p:ext uri="{BB962C8B-B14F-4D97-AF65-F5344CB8AC3E}">
        <p14:creationId xmlns:p14="http://schemas.microsoft.com/office/powerpoint/2010/main" val="31554743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7F20A-D288-9F87-1579-E0403A6F781B}"/>
              </a:ext>
            </a:extLst>
          </p:cNvPr>
          <p:cNvSpPr>
            <a:spLocks noGrp="1"/>
          </p:cNvSpPr>
          <p:nvPr>
            <p:ph type="title"/>
          </p:nvPr>
        </p:nvSpPr>
        <p:spPr/>
        <p:txBody>
          <a:bodyPr/>
          <a:lstStyle/>
          <a:p>
            <a:r>
              <a:rPr lang="en-US" dirty="0"/>
              <a:t>Defects and Human Errors</a:t>
            </a:r>
          </a:p>
        </p:txBody>
      </p:sp>
      <p:grpSp>
        <p:nvGrpSpPr>
          <p:cNvPr id="4" name="Group 3">
            <a:extLst>
              <a:ext uri="{FF2B5EF4-FFF2-40B4-BE49-F238E27FC236}">
                <a16:creationId xmlns:a16="http://schemas.microsoft.com/office/drawing/2014/main" id="{CC3A7EA9-6CD9-3149-79DD-F8FCEC0EE157}"/>
              </a:ext>
            </a:extLst>
          </p:cNvPr>
          <p:cNvGrpSpPr/>
          <p:nvPr/>
        </p:nvGrpSpPr>
        <p:grpSpPr>
          <a:xfrm>
            <a:off x="838200" y="297639"/>
            <a:ext cx="4030980" cy="307138"/>
            <a:chOff x="838200" y="297639"/>
            <a:chExt cx="4030980" cy="307138"/>
          </a:xfrm>
        </p:grpSpPr>
        <p:grpSp>
          <p:nvGrpSpPr>
            <p:cNvPr id="5" name="Group 4">
              <a:extLst>
                <a:ext uri="{FF2B5EF4-FFF2-40B4-BE49-F238E27FC236}">
                  <a16:creationId xmlns:a16="http://schemas.microsoft.com/office/drawing/2014/main" id="{67851C97-39E8-CC99-2393-8E0A37CE99DB}"/>
                </a:ext>
              </a:extLst>
            </p:cNvPr>
            <p:cNvGrpSpPr/>
            <p:nvPr/>
          </p:nvGrpSpPr>
          <p:grpSpPr>
            <a:xfrm>
              <a:off x="838200" y="297639"/>
              <a:ext cx="1060167" cy="290657"/>
              <a:chOff x="826426" y="4041857"/>
              <a:chExt cx="1060167" cy="290657"/>
            </a:xfrm>
          </p:grpSpPr>
          <p:sp>
            <p:nvSpPr>
              <p:cNvPr id="7" name="AutoShape 9">
                <a:extLst>
                  <a:ext uri="{FF2B5EF4-FFF2-40B4-BE49-F238E27FC236}">
                    <a16:creationId xmlns:a16="http://schemas.microsoft.com/office/drawing/2014/main" id="{F73E996D-775D-AC13-7ABD-E915C9063861}"/>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11">
                <a:extLst>
                  <a:ext uri="{FF2B5EF4-FFF2-40B4-BE49-F238E27FC236}">
                    <a16:creationId xmlns:a16="http://schemas.microsoft.com/office/drawing/2014/main" id="{C40AA4DE-184D-E14B-C033-021DA7C7FE4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0">
                <a:extLst>
                  <a:ext uri="{FF2B5EF4-FFF2-40B4-BE49-F238E27FC236}">
                    <a16:creationId xmlns:a16="http://schemas.microsoft.com/office/drawing/2014/main" id="{05A64557-77D6-A6AF-E73B-45EF47C71694}"/>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6" name="TextBox 5">
              <a:extLst>
                <a:ext uri="{FF2B5EF4-FFF2-40B4-BE49-F238E27FC236}">
                  <a16:creationId xmlns:a16="http://schemas.microsoft.com/office/drawing/2014/main" id="{6FA3617C-977E-6895-594A-D6EAC511E537}"/>
                </a:ext>
              </a:extLst>
            </p:cNvPr>
            <p:cNvSpPr txBox="1"/>
            <p:nvPr/>
          </p:nvSpPr>
          <p:spPr>
            <a:xfrm>
              <a:off x="1908497" y="313415"/>
              <a:ext cx="29606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Zero Defect Quality System</a:t>
              </a:r>
            </a:p>
          </p:txBody>
        </p:sp>
      </p:grpSp>
      <p:grpSp>
        <p:nvGrpSpPr>
          <p:cNvPr id="351" name="Group 350">
            <a:extLst>
              <a:ext uri="{FF2B5EF4-FFF2-40B4-BE49-F238E27FC236}">
                <a16:creationId xmlns:a16="http://schemas.microsoft.com/office/drawing/2014/main" id="{C3810BBE-C030-E546-9F59-2BEA61FB7899}"/>
              </a:ext>
            </a:extLst>
          </p:cNvPr>
          <p:cNvGrpSpPr/>
          <p:nvPr/>
        </p:nvGrpSpPr>
        <p:grpSpPr>
          <a:xfrm>
            <a:off x="1271017" y="1766950"/>
            <a:ext cx="9484613" cy="4526792"/>
            <a:chOff x="485775" y="1371600"/>
            <a:chExt cx="8159750" cy="4863524"/>
          </a:xfrm>
        </p:grpSpPr>
        <p:sp>
          <p:nvSpPr>
            <p:cNvPr id="10" name="Rectangle 3">
              <a:extLst>
                <a:ext uri="{FF2B5EF4-FFF2-40B4-BE49-F238E27FC236}">
                  <a16:creationId xmlns:a16="http://schemas.microsoft.com/office/drawing/2014/main" id="{DD609BED-4921-8EC0-3CA7-3F6EE79A977E}"/>
                </a:ext>
              </a:extLst>
            </p:cNvPr>
            <p:cNvSpPr>
              <a:spLocks noChangeArrowheads="1"/>
            </p:cNvSpPr>
            <p:nvPr/>
          </p:nvSpPr>
          <p:spPr bwMode="auto">
            <a:xfrm>
              <a:off x="515938" y="2552700"/>
              <a:ext cx="1071551" cy="198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200" dirty="0">
                  <a:solidFill>
                    <a:srgbClr val="000000"/>
                  </a:solidFill>
                  <a:latin typeface="Roboto" panose="02000000000000000000" pitchFamily="2" charset="0"/>
                  <a:ea typeface="Roboto" panose="02000000000000000000" pitchFamily="2" charset="0"/>
                </a:rPr>
                <a:t>Causes of defects</a:t>
              </a:r>
              <a:endParaRPr lang="en-US" altLang="en-US" sz="2400" b="0" dirty="0">
                <a:latin typeface="Roboto" panose="02000000000000000000" pitchFamily="2" charset="0"/>
                <a:ea typeface="Roboto" panose="02000000000000000000" pitchFamily="2" charset="0"/>
              </a:endParaRPr>
            </a:p>
          </p:txBody>
        </p:sp>
        <p:sp>
          <p:nvSpPr>
            <p:cNvPr id="11" name="Rectangle 4">
              <a:extLst>
                <a:ext uri="{FF2B5EF4-FFF2-40B4-BE49-F238E27FC236}">
                  <a16:creationId xmlns:a16="http://schemas.microsoft.com/office/drawing/2014/main" id="{9EC27411-7E08-51BE-BB6E-B0D20EB1C17C}"/>
                </a:ext>
              </a:extLst>
            </p:cNvPr>
            <p:cNvSpPr>
              <a:spLocks noChangeArrowheads="1"/>
            </p:cNvSpPr>
            <p:nvPr/>
          </p:nvSpPr>
          <p:spPr bwMode="auto">
            <a:xfrm rot="16200000">
              <a:off x="1564664" y="1969017"/>
              <a:ext cx="1201355" cy="158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200" dirty="0">
                  <a:solidFill>
                    <a:srgbClr val="000000"/>
                  </a:solidFill>
                  <a:latin typeface="Roboto" panose="02000000000000000000" pitchFamily="2" charset="0"/>
                  <a:ea typeface="Roboto" panose="02000000000000000000" pitchFamily="2" charset="0"/>
                </a:rPr>
                <a:t>Human errors</a:t>
              </a:r>
              <a:endParaRPr lang="en-US" altLang="en-US" sz="2400" b="0" dirty="0">
                <a:latin typeface="Roboto" panose="02000000000000000000" pitchFamily="2" charset="0"/>
                <a:ea typeface="Roboto" panose="02000000000000000000" pitchFamily="2" charset="0"/>
              </a:endParaRPr>
            </a:p>
          </p:txBody>
        </p:sp>
        <p:sp>
          <p:nvSpPr>
            <p:cNvPr id="12" name="Rectangle 5">
              <a:extLst>
                <a:ext uri="{FF2B5EF4-FFF2-40B4-BE49-F238E27FC236}">
                  <a16:creationId xmlns:a16="http://schemas.microsoft.com/office/drawing/2014/main" id="{03B56C52-83A4-70A8-F376-28BBF4531DC5}"/>
                </a:ext>
              </a:extLst>
            </p:cNvPr>
            <p:cNvSpPr>
              <a:spLocks noChangeArrowheads="1"/>
            </p:cNvSpPr>
            <p:nvPr/>
          </p:nvSpPr>
          <p:spPr bwMode="auto">
            <a:xfrm rot="16200000">
              <a:off x="2371613" y="2181550"/>
              <a:ext cx="793955" cy="158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200">
                  <a:solidFill>
                    <a:srgbClr val="000000"/>
                  </a:solidFill>
                  <a:latin typeface="Roboto" panose="02000000000000000000" pitchFamily="2" charset="0"/>
                  <a:ea typeface="Roboto" panose="02000000000000000000" pitchFamily="2" charset="0"/>
                </a:rPr>
                <a:t>Intentional</a:t>
              </a:r>
              <a:endParaRPr lang="en-US" altLang="en-US" sz="2400">
                <a:latin typeface="Roboto" panose="02000000000000000000" pitchFamily="2" charset="0"/>
                <a:ea typeface="Roboto" panose="02000000000000000000" pitchFamily="2" charset="0"/>
              </a:endParaRPr>
            </a:p>
          </p:txBody>
        </p:sp>
        <p:sp>
          <p:nvSpPr>
            <p:cNvPr id="13" name="Rectangle 6">
              <a:extLst>
                <a:ext uri="{FF2B5EF4-FFF2-40B4-BE49-F238E27FC236}">
                  <a16:creationId xmlns:a16="http://schemas.microsoft.com/office/drawing/2014/main" id="{37BE14FE-414B-B2D6-85C0-409C538E8643}"/>
                </a:ext>
              </a:extLst>
            </p:cNvPr>
            <p:cNvSpPr>
              <a:spLocks noChangeArrowheads="1"/>
            </p:cNvSpPr>
            <p:nvPr/>
          </p:nvSpPr>
          <p:spPr bwMode="auto">
            <a:xfrm rot="16200000">
              <a:off x="2793377" y="1951838"/>
              <a:ext cx="1233127" cy="145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100" dirty="0">
                  <a:solidFill>
                    <a:srgbClr val="000000"/>
                  </a:solidFill>
                  <a:latin typeface="Roboto" panose="02000000000000000000" pitchFamily="2" charset="0"/>
                  <a:ea typeface="Roboto" panose="02000000000000000000" pitchFamily="2" charset="0"/>
                </a:rPr>
                <a:t>Misunderstanding</a:t>
              </a:r>
              <a:endParaRPr lang="en-US" altLang="en-US" sz="2000" dirty="0">
                <a:latin typeface="Roboto" panose="02000000000000000000" pitchFamily="2" charset="0"/>
                <a:ea typeface="Roboto" panose="02000000000000000000" pitchFamily="2" charset="0"/>
              </a:endParaRPr>
            </a:p>
          </p:txBody>
        </p:sp>
        <p:sp>
          <p:nvSpPr>
            <p:cNvPr id="14" name="Rectangle 7">
              <a:extLst>
                <a:ext uri="{FF2B5EF4-FFF2-40B4-BE49-F238E27FC236}">
                  <a16:creationId xmlns:a16="http://schemas.microsoft.com/office/drawing/2014/main" id="{B533D6CF-FCB6-E0DD-115D-AC6BE4800845}"/>
                </a:ext>
              </a:extLst>
            </p:cNvPr>
            <p:cNvSpPr>
              <a:spLocks noChangeArrowheads="1"/>
            </p:cNvSpPr>
            <p:nvPr/>
          </p:nvSpPr>
          <p:spPr bwMode="auto">
            <a:xfrm rot="16200000">
              <a:off x="3713596" y="2238700"/>
              <a:ext cx="678564" cy="158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200">
                  <a:solidFill>
                    <a:srgbClr val="000000"/>
                  </a:solidFill>
                  <a:latin typeface="Roboto" panose="02000000000000000000" pitchFamily="2" charset="0"/>
                  <a:ea typeface="Roboto" panose="02000000000000000000" pitchFamily="2" charset="0"/>
                </a:rPr>
                <a:t>Forgetful</a:t>
              </a:r>
              <a:endParaRPr lang="en-US" altLang="en-US" sz="2400">
                <a:latin typeface="Roboto" panose="02000000000000000000" pitchFamily="2" charset="0"/>
                <a:ea typeface="Roboto" panose="02000000000000000000" pitchFamily="2" charset="0"/>
              </a:endParaRPr>
            </a:p>
          </p:txBody>
        </p:sp>
        <p:sp>
          <p:nvSpPr>
            <p:cNvPr id="15" name="Rectangle 8">
              <a:extLst>
                <a:ext uri="{FF2B5EF4-FFF2-40B4-BE49-F238E27FC236}">
                  <a16:creationId xmlns:a16="http://schemas.microsoft.com/office/drawing/2014/main" id="{D59BE70B-C32C-DD88-96B9-CE6079DE9539}"/>
                </a:ext>
              </a:extLst>
            </p:cNvPr>
            <p:cNvSpPr>
              <a:spLocks noChangeArrowheads="1"/>
            </p:cNvSpPr>
            <p:nvPr/>
          </p:nvSpPr>
          <p:spPr bwMode="auto">
            <a:xfrm rot="16200000">
              <a:off x="4069915" y="1967237"/>
              <a:ext cx="1248628" cy="158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200">
                  <a:solidFill>
                    <a:srgbClr val="000000"/>
                  </a:solidFill>
                  <a:latin typeface="Roboto" panose="02000000000000000000" pitchFamily="2" charset="0"/>
                  <a:ea typeface="Roboto" panose="02000000000000000000" pitchFamily="2" charset="0"/>
                </a:rPr>
                <a:t>Misidentification</a:t>
              </a:r>
              <a:endParaRPr lang="en-US" altLang="en-US" sz="2400">
                <a:latin typeface="Roboto" panose="02000000000000000000" pitchFamily="2" charset="0"/>
                <a:ea typeface="Roboto" panose="02000000000000000000" pitchFamily="2" charset="0"/>
              </a:endParaRPr>
            </a:p>
          </p:txBody>
        </p:sp>
        <p:sp>
          <p:nvSpPr>
            <p:cNvPr id="16" name="Rectangle 9">
              <a:extLst>
                <a:ext uri="{FF2B5EF4-FFF2-40B4-BE49-F238E27FC236}">
                  <a16:creationId xmlns:a16="http://schemas.microsoft.com/office/drawing/2014/main" id="{152398E3-0568-19E2-B65C-E864174D42EC}"/>
                </a:ext>
              </a:extLst>
            </p:cNvPr>
            <p:cNvSpPr>
              <a:spLocks noChangeArrowheads="1"/>
            </p:cNvSpPr>
            <p:nvPr/>
          </p:nvSpPr>
          <p:spPr bwMode="auto">
            <a:xfrm rot="16200000">
              <a:off x="4973045" y="2219650"/>
              <a:ext cx="725066" cy="158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200">
                  <a:solidFill>
                    <a:srgbClr val="000000"/>
                  </a:solidFill>
                  <a:latin typeface="Roboto" panose="02000000000000000000" pitchFamily="2" charset="0"/>
                  <a:ea typeface="Roboto" panose="02000000000000000000" pitchFamily="2" charset="0"/>
                </a:rPr>
                <a:t>Amateurs</a:t>
              </a:r>
              <a:endParaRPr lang="en-US" altLang="en-US" sz="2400">
                <a:latin typeface="Roboto" panose="02000000000000000000" pitchFamily="2" charset="0"/>
                <a:ea typeface="Roboto" panose="02000000000000000000" pitchFamily="2" charset="0"/>
              </a:endParaRPr>
            </a:p>
          </p:txBody>
        </p:sp>
        <p:sp>
          <p:nvSpPr>
            <p:cNvPr id="17" name="Rectangle 10">
              <a:extLst>
                <a:ext uri="{FF2B5EF4-FFF2-40B4-BE49-F238E27FC236}">
                  <a16:creationId xmlns:a16="http://schemas.microsoft.com/office/drawing/2014/main" id="{76953507-F2CE-3831-8772-A116DF36F7BF}"/>
                </a:ext>
              </a:extLst>
            </p:cNvPr>
            <p:cNvSpPr>
              <a:spLocks noChangeArrowheads="1"/>
            </p:cNvSpPr>
            <p:nvPr/>
          </p:nvSpPr>
          <p:spPr bwMode="auto">
            <a:xfrm rot="16200000">
              <a:off x="5742703" y="2339507"/>
              <a:ext cx="468451" cy="158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200">
                  <a:solidFill>
                    <a:srgbClr val="000000"/>
                  </a:solidFill>
                  <a:latin typeface="Roboto" panose="02000000000000000000" pitchFamily="2" charset="0"/>
                  <a:ea typeface="Roboto" panose="02000000000000000000" pitchFamily="2" charset="0"/>
                </a:rPr>
                <a:t>Willful</a:t>
              </a:r>
              <a:endParaRPr lang="en-US" altLang="en-US" sz="2400">
                <a:latin typeface="Roboto" panose="02000000000000000000" pitchFamily="2" charset="0"/>
                <a:ea typeface="Roboto" panose="02000000000000000000" pitchFamily="2" charset="0"/>
              </a:endParaRPr>
            </a:p>
          </p:txBody>
        </p:sp>
        <p:sp>
          <p:nvSpPr>
            <p:cNvPr id="18" name="Rectangle 11">
              <a:extLst>
                <a:ext uri="{FF2B5EF4-FFF2-40B4-BE49-F238E27FC236}">
                  <a16:creationId xmlns:a16="http://schemas.microsoft.com/office/drawing/2014/main" id="{793642FD-EE94-67EF-C4EA-4767AC42689B}"/>
                </a:ext>
              </a:extLst>
            </p:cNvPr>
            <p:cNvSpPr>
              <a:spLocks noChangeArrowheads="1"/>
            </p:cNvSpPr>
            <p:nvPr/>
          </p:nvSpPr>
          <p:spPr bwMode="auto">
            <a:xfrm rot="16200000">
              <a:off x="6193744" y="2157737"/>
              <a:ext cx="849067" cy="158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200">
                  <a:solidFill>
                    <a:srgbClr val="000000"/>
                  </a:solidFill>
                  <a:latin typeface="Roboto" panose="02000000000000000000" pitchFamily="2" charset="0"/>
                  <a:ea typeface="Roboto" panose="02000000000000000000" pitchFamily="2" charset="0"/>
                </a:rPr>
                <a:t>Inadvertent</a:t>
              </a:r>
              <a:endParaRPr lang="en-US" altLang="en-US" sz="2400">
                <a:latin typeface="Roboto" panose="02000000000000000000" pitchFamily="2" charset="0"/>
                <a:ea typeface="Roboto" panose="02000000000000000000" pitchFamily="2" charset="0"/>
              </a:endParaRPr>
            </a:p>
          </p:txBody>
        </p:sp>
        <p:sp>
          <p:nvSpPr>
            <p:cNvPr id="19" name="Rectangle 12">
              <a:extLst>
                <a:ext uri="{FF2B5EF4-FFF2-40B4-BE49-F238E27FC236}">
                  <a16:creationId xmlns:a16="http://schemas.microsoft.com/office/drawing/2014/main" id="{78AB722B-AA56-20DD-7503-68C1EAE6AD91}"/>
                </a:ext>
              </a:extLst>
            </p:cNvPr>
            <p:cNvSpPr>
              <a:spLocks noChangeArrowheads="1"/>
            </p:cNvSpPr>
            <p:nvPr/>
          </p:nvSpPr>
          <p:spPr bwMode="auto">
            <a:xfrm rot="16200000">
              <a:off x="6903985" y="2218062"/>
              <a:ext cx="711288" cy="158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200">
                  <a:solidFill>
                    <a:srgbClr val="000000"/>
                  </a:solidFill>
                  <a:latin typeface="Roboto" panose="02000000000000000000" pitchFamily="2" charset="0"/>
                  <a:ea typeface="Roboto" panose="02000000000000000000" pitchFamily="2" charset="0"/>
                </a:rPr>
                <a:t>Slowness</a:t>
              </a:r>
              <a:endParaRPr lang="en-US" altLang="en-US" sz="2400">
                <a:latin typeface="Roboto" panose="02000000000000000000" pitchFamily="2" charset="0"/>
                <a:ea typeface="Roboto" panose="02000000000000000000" pitchFamily="2" charset="0"/>
              </a:endParaRPr>
            </a:p>
          </p:txBody>
        </p:sp>
        <p:sp>
          <p:nvSpPr>
            <p:cNvPr id="20" name="Rectangle 13">
              <a:extLst>
                <a:ext uri="{FF2B5EF4-FFF2-40B4-BE49-F238E27FC236}">
                  <a16:creationId xmlns:a16="http://schemas.microsoft.com/office/drawing/2014/main" id="{1FD137CE-9F23-82A6-8C53-FE2B55083A67}"/>
                </a:ext>
              </a:extLst>
            </p:cNvPr>
            <p:cNvSpPr>
              <a:spLocks noChangeArrowheads="1"/>
            </p:cNvSpPr>
            <p:nvPr/>
          </p:nvSpPr>
          <p:spPr bwMode="auto">
            <a:xfrm rot="16200000">
              <a:off x="7288584" y="1968031"/>
              <a:ext cx="1227961" cy="158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200">
                  <a:solidFill>
                    <a:srgbClr val="000000"/>
                  </a:solidFill>
                  <a:latin typeface="Roboto" panose="02000000000000000000" pitchFamily="2" charset="0"/>
                  <a:ea typeface="Roboto" panose="02000000000000000000" pitchFamily="2" charset="0"/>
                </a:rPr>
                <a:t>Non-supervision</a:t>
              </a:r>
              <a:endParaRPr lang="en-US" altLang="en-US" sz="2400">
                <a:latin typeface="Roboto" panose="02000000000000000000" pitchFamily="2" charset="0"/>
                <a:ea typeface="Roboto" panose="02000000000000000000" pitchFamily="2" charset="0"/>
              </a:endParaRPr>
            </a:p>
          </p:txBody>
        </p:sp>
        <p:sp>
          <p:nvSpPr>
            <p:cNvPr id="21" name="Rectangle 14">
              <a:extLst>
                <a:ext uri="{FF2B5EF4-FFF2-40B4-BE49-F238E27FC236}">
                  <a16:creationId xmlns:a16="http://schemas.microsoft.com/office/drawing/2014/main" id="{3C12F52B-548E-18AB-819D-B875F930E082}"/>
                </a:ext>
              </a:extLst>
            </p:cNvPr>
            <p:cNvSpPr>
              <a:spLocks noChangeArrowheads="1"/>
            </p:cNvSpPr>
            <p:nvPr/>
          </p:nvSpPr>
          <p:spPr bwMode="auto">
            <a:xfrm rot="16200000">
              <a:off x="8231328" y="2259337"/>
              <a:ext cx="625176" cy="158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200">
                  <a:solidFill>
                    <a:srgbClr val="000000"/>
                  </a:solidFill>
                  <a:latin typeface="Roboto" panose="02000000000000000000" pitchFamily="2" charset="0"/>
                  <a:ea typeface="Roboto" panose="02000000000000000000" pitchFamily="2" charset="0"/>
                </a:rPr>
                <a:t>Surprise</a:t>
              </a:r>
              <a:endParaRPr lang="en-US" altLang="en-US" sz="2400">
                <a:latin typeface="Roboto" panose="02000000000000000000" pitchFamily="2" charset="0"/>
                <a:ea typeface="Roboto" panose="02000000000000000000" pitchFamily="2" charset="0"/>
              </a:endParaRPr>
            </a:p>
          </p:txBody>
        </p:sp>
        <p:sp>
          <p:nvSpPr>
            <p:cNvPr id="22" name="Rectangle 15">
              <a:extLst>
                <a:ext uri="{FF2B5EF4-FFF2-40B4-BE49-F238E27FC236}">
                  <a16:creationId xmlns:a16="http://schemas.microsoft.com/office/drawing/2014/main" id="{63F99997-7E14-9EEB-4535-ADF36EE7414E}"/>
                </a:ext>
              </a:extLst>
            </p:cNvPr>
            <p:cNvSpPr>
              <a:spLocks noChangeArrowheads="1"/>
            </p:cNvSpPr>
            <p:nvPr/>
          </p:nvSpPr>
          <p:spPr bwMode="auto">
            <a:xfrm>
              <a:off x="515938" y="2862263"/>
              <a:ext cx="1264623" cy="198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200" dirty="0">
                  <a:solidFill>
                    <a:srgbClr val="000000"/>
                  </a:solidFill>
                  <a:latin typeface="Roboto" panose="02000000000000000000" pitchFamily="2" charset="0"/>
                  <a:ea typeface="Roboto" panose="02000000000000000000" pitchFamily="2" charset="0"/>
                </a:rPr>
                <a:t>Missed operations</a:t>
              </a:r>
              <a:r>
                <a:rPr lang="en-US" altLang="en-US" sz="1200" b="0" dirty="0">
                  <a:solidFill>
                    <a:srgbClr val="000000"/>
                  </a:solidFill>
                  <a:latin typeface="Roboto" panose="02000000000000000000" pitchFamily="2" charset="0"/>
                  <a:ea typeface="Roboto" panose="02000000000000000000" pitchFamily="2" charset="0"/>
                </a:rPr>
                <a:t>     </a:t>
              </a:r>
              <a:endParaRPr lang="en-US" altLang="en-US" sz="2400" b="0" dirty="0">
                <a:latin typeface="Roboto" panose="02000000000000000000" pitchFamily="2" charset="0"/>
                <a:ea typeface="Roboto" panose="02000000000000000000" pitchFamily="2" charset="0"/>
              </a:endParaRPr>
            </a:p>
          </p:txBody>
        </p:sp>
        <p:sp>
          <p:nvSpPr>
            <p:cNvPr id="23" name="Rectangle 16">
              <a:extLst>
                <a:ext uri="{FF2B5EF4-FFF2-40B4-BE49-F238E27FC236}">
                  <a16:creationId xmlns:a16="http://schemas.microsoft.com/office/drawing/2014/main" id="{0B2A1772-D570-3871-486E-D0B6FB66E342}"/>
                </a:ext>
              </a:extLst>
            </p:cNvPr>
            <p:cNvSpPr>
              <a:spLocks noChangeArrowheads="1"/>
            </p:cNvSpPr>
            <p:nvPr/>
          </p:nvSpPr>
          <p:spPr bwMode="auto">
            <a:xfrm>
              <a:off x="515938" y="3165475"/>
              <a:ext cx="1192910" cy="198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200">
                  <a:solidFill>
                    <a:srgbClr val="000000"/>
                  </a:solidFill>
                  <a:latin typeface="Roboto" panose="02000000000000000000" pitchFamily="2" charset="0"/>
                  <a:ea typeface="Roboto" panose="02000000000000000000" pitchFamily="2" charset="0"/>
                </a:rPr>
                <a:t>Processing errors</a:t>
              </a:r>
              <a:r>
                <a:rPr lang="en-US" altLang="en-US" sz="1200" b="0">
                  <a:solidFill>
                    <a:srgbClr val="000000"/>
                  </a:solidFill>
                  <a:latin typeface="Roboto" panose="02000000000000000000" pitchFamily="2" charset="0"/>
                  <a:ea typeface="Roboto" panose="02000000000000000000" pitchFamily="2" charset="0"/>
                </a:rPr>
                <a:t>    </a:t>
              </a:r>
              <a:endParaRPr lang="en-US" altLang="en-US" sz="2400" b="0">
                <a:latin typeface="Roboto" panose="02000000000000000000" pitchFamily="2" charset="0"/>
                <a:ea typeface="Roboto" panose="02000000000000000000" pitchFamily="2" charset="0"/>
              </a:endParaRPr>
            </a:p>
          </p:txBody>
        </p:sp>
        <p:sp>
          <p:nvSpPr>
            <p:cNvPr id="24" name="Rectangle 17">
              <a:extLst>
                <a:ext uri="{FF2B5EF4-FFF2-40B4-BE49-F238E27FC236}">
                  <a16:creationId xmlns:a16="http://schemas.microsoft.com/office/drawing/2014/main" id="{3E74877F-6B11-6B76-6576-0D7FA677453D}"/>
                </a:ext>
              </a:extLst>
            </p:cNvPr>
            <p:cNvSpPr>
              <a:spLocks noChangeArrowheads="1"/>
            </p:cNvSpPr>
            <p:nvPr/>
          </p:nvSpPr>
          <p:spPr bwMode="auto">
            <a:xfrm>
              <a:off x="515938" y="3468688"/>
              <a:ext cx="1223250" cy="198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200">
                  <a:solidFill>
                    <a:srgbClr val="000000"/>
                  </a:solidFill>
                  <a:latin typeface="Roboto" panose="02000000000000000000" pitchFamily="2" charset="0"/>
                  <a:ea typeface="Roboto" panose="02000000000000000000" pitchFamily="2" charset="0"/>
                </a:rPr>
                <a:t>Errors in part set-up</a:t>
              </a:r>
              <a:r>
                <a:rPr lang="en-US" altLang="en-US" sz="1200" b="0">
                  <a:solidFill>
                    <a:srgbClr val="000000"/>
                  </a:solidFill>
                  <a:latin typeface="Roboto" panose="02000000000000000000" pitchFamily="2" charset="0"/>
                  <a:ea typeface="Roboto" panose="02000000000000000000" pitchFamily="2" charset="0"/>
                </a:rPr>
                <a:t> </a:t>
              </a:r>
              <a:endParaRPr lang="en-US" altLang="en-US" sz="2400" b="0">
                <a:latin typeface="Roboto" panose="02000000000000000000" pitchFamily="2" charset="0"/>
                <a:ea typeface="Roboto" panose="02000000000000000000" pitchFamily="2" charset="0"/>
              </a:endParaRPr>
            </a:p>
          </p:txBody>
        </p:sp>
        <p:sp>
          <p:nvSpPr>
            <p:cNvPr id="25" name="Rectangle 18">
              <a:extLst>
                <a:ext uri="{FF2B5EF4-FFF2-40B4-BE49-F238E27FC236}">
                  <a16:creationId xmlns:a16="http://schemas.microsoft.com/office/drawing/2014/main" id="{AB9B14F0-BA07-CC95-1198-521C2ADF4D66}"/>
                </a:ext>
              </a:extLst>
            </p:cNvPr>
            <p:cNvSpPr>
              <a:spLocks noChangeArrowheads="1"/>
            </p:cNvSpPr>
            <p:nvPr/>
          </p:nvSpPr>
          <p:spPr bwMode="auto">
            <a:xfrm>
              <a:off x="515938" y="3771900"/>
              <a:ext cx="1304616" cy="198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200">
                  <a:solidFill>
                    <a:srgbClr val="000000"/>
                  </a:solidFill>
                  <a:latin typeface="Roboto" panose="02000000000000000000" pitchFamily="2" charset="0"/>
                  <a:ea typeface="Roboto" panose="02000000000000000000" pitchFamily="2" charset="0"/>
                </a:rPr>
                <a:t>Missing parts</a:t>
              </a:r>
              <a:r>
                <a:rPr lang="en-US" altLang="en-US" sz="1200" b="0">
                  <a:solidFill>
                    <a:srgbClr val="000000"/>
                  </a:solidFill>
                  <a:latin typeface="Roboto" panose="02000000000000000000" pitchFamily="2" charset="0"/>
                  <a:ea typeface="Roboto" panose="02000000000000000000" pitchFamily="2" charset="0"/>
                </a:rPr>
                <a:t>               </a:t>
              </a:r>
              <a:endParaRPr lang="en-US" altLang="en-US" sz="2400" b="0">
                <a:latin typeface="Roboto" panose="02000000000000000000" pitchFamily="2" charset="0"/>
                <a:ea typeface="Roboto" panose="02000000000000000000" pitchFamily="2" charset="0"/>
              </a:endParaRPr>
            </a:p>
          </p:txBody>
        </p:sp>
        <p:sp>
          <p:nvSpPr>
            <p:cNvPr id="26" name="Rectangle 19">
              <a:extLst>
                <a:ext uri="{FF2B5EF4-FFF2-40B4-BE49-F238E27FC236}">
                  <a16:creationId xmlns:a16="http://schemas.microsoft.com/office/drawing/2014/main" id="{76D003D3-9DFC-C736-9E17-74BADB2B6E36}"/>
                </a:ext>
              </a:extLst>
            </p:cNvPr>
            <p:cNvSpPr>
              <a:spLocks noChangeArrowheads="1"/>
            </p:cNvSpPr>
            <p:nvPr/>
          </p:nvSpPr>
          <p:spPr bwMode="auto">
            <a:xfrm>
              <a:off x="515938" y="4075113"/>
              <a:ext cx="1322544" cy="198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200">
                  <a:solidFill>
                    <a:srgbClr val="000000"/>
                  </a:solidFill>
                  <a:latin typeface="Roboto" panose="02000000000000000000" pitchFamily="2" charset="0"/>
                  <a:ea typeface="Roboto" panose="02000000000000000000" pitchFamily="2" charset="0"/>
                </a:rPr>
                <a:t>Wrong parts</a:t>
              </a:r>
              <a:r>
                <a:rPr lang="en-US" altLang="en-US" sz="1200" b="0">
                  <a:solidFill>
                    <a:srgbClr val="000000"/>
                  </a:solidFill>
                  <a:latin typeface="Roboto" panose="02000000000000000000" pitchFamily="2" charset="0"/>
                  <a:ea typeface="Roboto" panose="02000000000000000000" pitchFamily="2" charset="0"/>
                </a:rPr>
                <a:t>                  </a:t>
              </a:r>
              <a:endParaRPr lang="en-US" altLang="en-US" sz="2400" b="0">
                <a:latin typeface="Roboto" panose="02000000000000000000" pitchFamily="2" charset="0"/>
                <a:ea typeface="Roboto" panose="02000000000000000000" pitchFamily="2" charset="0"/>
              </a:endParaRPr>
            </a:p>
          </p:txBody>
        </p:sp>
        <p:sp>
          <p:nvSpPr>
            <p:cNvPr id="27" name="Rectangle 20">
              <a:extLst>
                <a:ext uri="{FF2B5EF4-FFF2-40B4-BE49-F238E27FC236}">
                  <a16:creationId xmlns:a16="http://schemas.microsoft.com/office/drawing/2014/main" id="{40518223-3EC7-E380-A3B9-3F01210E194C}"/>
                </a:ext>
              </a:extLst>
            </p:cNvPr>
            <p:cNvSpPr>
              <a:spLocks noChangeArrowheads="1"/>
            </p:cNvSpPr>
            <p:nvPr/>
          </p:nvSpPr>
          <p:spPr bwMode="auto">
            <a:xfrm>
              <a:off x="515938" y="4378325"/>
              <a:ext cx="1460454" cy="165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000">
                  <a:solidFill>
                    <a:srgbClr val="000000"/>
                  </a:solidFill>
                  <a:latin typeface="Roboto" panose="02000000000000000000" pitchFamily="2" charset="0"/>
                  <a:ea typeface="Roboto" panose="02000000000000000000" pitchFamily="2" charset="0"/>
                </a:rPr>
                <a:t>Processing wrong work piece</a:t>
              </a:r>
              <a:endParaRPr lang="en-US" altLang="en-US" sz="1000">
                <a:latin typeface="Roboto" panose="02000000000000000000" pitchFamily="2" charset="0"/>
                <a:ea typeface="Roboto" panose="02000000000000000000" pitchFamily="2" charset="0"/>
              </a:endParaRPr>
            </a:p>
          </p:txBody>
        </p:sp>
        <p:sp>
          <p:nvSpPr>
            <p:cNvPr id="28" name="Rectangle 21">
              <a:extLst>
                <a:ext uri="{FF2B5EF4-FFF2-40B4-BE49-F238E27FC236}">
                  <a16:creationId xmlns:a16="http://schemas.microsoft.com/office/drawing/2014/main" id="{11262B62-6606-08C1-B200-4DF2757DE85A}"/>
                </a:ext>
              </a:extLst>
            </p:cNvPr>
            <p:cNvSpPr>
              <a:spLocks noChangeArrowheads="1"/>
            </p:cNvSpPr>
            <p:nvPr/>
          </p:nvSpPr>
          <p:spPr bwMode="auto">
            <a:xfrm>
              <a:off x="515938" y="4681538"/>
              <a:ext cx="1446663" cy="198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200">
                  <a:solidFill>
                    <a:srgbClr val="000000"/>
                  </a:solidFill>
                  <a:latin typeface="Roboto" panose="02000000000000000000" pitchFamily="2" charset="0"/>
                  <a:ea typeface="Roboto" panose="02000000000000000000" pitchFamily="2" charset="0"/>
                </a:rPr>
                <a:t>Misoperation     </a:t>
              </a:r>
              <a:r>
                <a:rPr lang="en-US" altLang="en-US" sz="1200" b="0">
                  <a:solidFill>
                    <a:srgbClr val="000000"/>
                  </a:solidFill>
                  <a:latin typeface="Roboto" panose="02000000000000000000" pitchFamily="2" charset="0"/>
                  <a:ea typeface="Roboto" panose="02000000000000000000" pitchFamily="2" charset="0"/>
                </a:rPr>
                <a:t>               </a:t>
              </a:r>
              <a:endParaRPr lang="en-US" altLang="en-US" sz="2400" b="0">
                <a:latin typeface="Roboto" panose="02000000000000000000" pitchFamily="2" charset="0"/>
                <a:ea typeface="Roboto" panose="02000000000000000000" pitchFamily="2" charset="0"/>
              </a:endParaRPr>
            </a:p>
          </p:txBody>
        </p:sp>
        <p:sp>
          <p:nvSpPr>
            <p:cNvPr id="29" name="Rectangle 22">
              <a:extLst>
                <a:ext uri="{FF2B5EF4-FFF2-40B4-BE49-F238E27FC236}">
                  <a16:creationId xmlns:a16="http://schemas.microsoft.com/office/drawing/2014/main" id="{8346A7BB-CEE2-9C1F-CB25-A8803BF7279C}"/>
                </a:ext>
              </a:extLst>
            </p:cNvPr>
            <p:cNvSpPr>
              <a:spLocks noChangeArrowheads="1"/>
            </p:cNvSpPr>
            <p:nvPr/>
          </p:nvSpPr>
          <p:spPr bwMode="auto">
            <a:xfrm>
              <a:off x="515938" y="4984750"/>
              <a:ext cx="1675591" cy="198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200">
                  <a:solidFill>
                    <a:srgbClr val="000000"/>
                  </a:solidFill>
                  <a:latin typeface="Roboto" panose="02000000000000000000" pitchFamily="2" charset="0"/>
                  <a:ea typeface="Roboto" panose="02000000000000000000" pitchFamily="2" charset="0"/>
                </a:rPr>
                <a:t>Adjustment error</a:t>
              </a:r>
              <a:r>
                <a:rPr lang="en-US" altLang="en-US" sz="1200" b="0">
                  <a:solidFill>
                    <a:srgbClr val="000000"/>
                  </a:solidFill>
                  <a:latin typeface="Roboto" panose="02000000000000000000" pitchFamily="2" charset="0"/>
                  <a:ea typeface="Roboto" panose="02000000000000000000" pitchFamily="2" charset="0"/>
                </a:rPr>
                <a:t>                    </a:t>
              </a:r>
              <a:endParaRPr lang="en-US" altLang="en-US" sz="2400" b="0">
                <a:latin typeface="Roboto" panose="02000000000000000000" pitchFamily="2" charset="0"/>
                <a:ea typeface="Roboto" panose="02000000000000000000" pitchFamily="2" charset="0"/>
              </a:endParaRPr>
            </a:p>
          </p:txBody>
        </p:sp>
        <p:sp>
          <p:nvSpPr>
            <p:cNvPr id="30" name="Rectangle 23">
              <a:extLst>
                <a:ext uri="{FF2B5EF4-FFF2-40B4-BE49-F238E27FC236}">
                  <a16:creationId xmlns:a16="http://schemas.microsoft.com/office/drawing/2014/main" id="{34573DD8-2C8F-32C3-07CE-878C4AB9FD4B}"/>
                </a:ext>
              </a:extLst>
            </p:cNvPr>
            <p:cNvSpPr>
              <a:spLocks noChangeArrowheads="1"/>
            </p:cNvSpPr>
            <p:nvPr/>
          </p:nvSpPr>
          <p:spPr bwMode="auto">
            <a:xfrm>
              <a:off x="515938" y="5289550"/>
              <a:ext cx="1355642" cy="165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000">
                  <a:solidFill>
                    <a:srgbClr val="000000"/>
                  </a:solidFill>
                  <a:latin typeface="Roboto" panose="02000000000000000000" pitchFamily="2" charset="0"/>
                  <a:ea typeface="Roboto" panose="02000000000000000000" pitchFamily="2" charset="0"/>
                </a:rPr>
                <a:t>Improper equipment set-up</a:t>
              </a:r>
              <a:endParaRPr lang="en-US" altLang="en-US" sz="1000">
                <a:latin typeface="Roboto" panose="02000000000000000000" pitchFamily="2" charset="0"/>
                <a:ea typeface="Roboto" panose="02000000000000000000" pitchFamily="2" charset="0"/>
              </a:endParaRPr>
            </a:p>
          </p:txBody>
        </p:sp>
        <p:sp>
          <p:nvSpPr>
            <p:cNvPr id="31" name="Rectangle 24">
              <a:extLst>
                <a:ext uri="{FF2B5EF4-FFF2-40B4-BE49-F238E27FC236}">
                  <a16:creationId xmlns:a16="http://schemas.microsoft.com/office/drawing/2014/main" id="{FB35F29D-2246-298D-461D-84B82BC31B69}"/>
                </a:ext>
              </a:extLst>
            </p:cNvPr>
            <p:cNvSpPr>
              <a:spLocks noChangeArrowheads="1"/>
            </p:cNvSpPr>
            <p:nvPr/>
          </p:nvSpPr>
          <p:spPr bwMode="auto">
            <a:xfrm>
              <a:off x="515938" y="5592763"/>
              <a:ext cx="1370812" cy="198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200">
                  <a:solidFill>
                    <a:srgbClr val="000000"/>
                  </a:solidFill>
                  <a:latin typeface="Roboto" panose="02000000000000000000" pitchFamily="2" charset="0"/>
                  <a:ea typeface="Roboto" panose="02000000000000000000" pitchFamily="2" charset="0"/>
                </a:rPr>
                <a:t>Improper tools and jigs</a:t>
              </a:r>
              <a:endParaRPr lang="en-US" altLang="en-US" sz="2400">
                <a:latin typeface="Roboto" panose="02000000000000000000" pitchFamily="2" charset="0"/>
                <a:ea typeface="Roboto" panose="02000000000000000000" pitchFamily="2" charset="0"/>
              </a:endParaRPr>
            </a:p>
          </p:txBody>
        </p:sp>
        <p:sp>
          <p:nvSpPr>
            <p:cNvPr id="32" name="Rectangle 25">
              <a:extLst>
                <a:ext uri="{FF2B5EF4-FFF2-40B4-BE49-F238E27FC236}">
                  <a16:creationId xmlns:a16="http://schemas.microsoft.com/office/drawing/2014/main" id="{B1A06921-8E55-8F39-AD03-4BB542F72AFF}"/>
                </a:ext>
              </a:extLst>
            </p:cNvPr>
            <p:cNvSpPr>
              <a:spLocks noChangeArrowheads="1"/>
            </p:cNvSpPr>
            <p:nvPr/>
          </p:nvSpPr>
          <p:spPr bwMode="auto">
            <a:xfrm>
              <a:off x="2820988" y="5970588"/>
              <a:ext cx="1638300" cy="264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a:solidFill>
                    <a:srgbClr val="000000"/>
                  </a:solidFill>
                  <a:latin typeface="Roboto" panose="02000000000000000000" pitchFamily="2" charset="0"/>
                  <a:ea typeface="Roboto" panose="02000000000000000000" pitchFamily="2" charset="0"/>
                </a:rPr>
                <a:t>highly correlated</a:t>
              </a:r>
              <a:endParaRPr lang="en-US" altLang="en-US" sz="1600" b="0">
                <a:latin typeface="Roboto" panose="02000000000000000000" pitchFamily="2" charset="0"/>
                <a:ea typeface="Roboto" panose="02000000000000000000" pitchFamily="2" charset="0"/>
              </a:endParaRPr>
            </a:p>
          </p:txBody>
        </p:sp>
        <p:sp>
          <p:nvSpPr>
            <p:cNvPr id="33" name="Rectangle 26">
              <a:extLst>
                <a:ext uri="{FF2B5EF4-FFF2-40B4-BE49-F238E27FC236}">
                  <a16:creationId xmlns:a16="http://schemas.microsoft.com/office/drawing/2014/main" id="{F06623CF-1821-000A-1A59-D4EC3B8BF345}"/>
                </a:ext>
              </a:extLst>
            </p:cNvPr>
            <p:cNvSpPr>
              <a:spLocks noChangeArrowheads="1"/>
            </p:cNvSpPr>
            <p:nvPr/>
          </p:nvSpPr>
          <p:spPr bwMode="auto">
            <a:xfrm>
              <a:off x="6089650" y="5970587"/>
              <a:ext cx="982663" cy="264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600">
                  <a:solidFill>
                    <a:srgbClr val="000000"/>
                  </a:solidFill>
                  <a:latin typeface="Roboto" panose="02000000000000000000" pitchFamily="2" charset="0"/>
                  <a:ea typeface="Roboto" panose="02000000000000000000" pitchFamily="2" charset="0"/>
                </a:rPr>
                <a:t>correlated</a:t>
              </a:r>
              <a:endParaRPr lang="en-US" altLang="en-US" sz="1600" b="0">
                <a:latin typeface="Roboto" panose="02000000000000000000" pitchFamily="2" charset="0"/>
                <a:ea typeface="Roboto" panose="02000000000000000000" pitchFamily="2" charset="0"/>
              </a:endParaRPr>
            </a:p>
          </p:txBody>
        </p:sp>
        <p:sp>
          <p:nvSpPr>
            <p:cNvPr id="34" name="Line 27">
              <a:extLst>
                <a:ext uri="{FF2B5EF4-FFF2-40B4-BE49-F238E27FC236}">
                  <a16:creationId xmlns:a16="http://schemas.microsoft.com/office/drawing/2014/main" id="{E307A16F-0D61-CFCF-E22F-0DD2E2367002}"/>
                </a:ext>
              </a:extLst>
            </p:cNvPr>
            <p:cNvSpPr>
              <a:spLocks noChangeShapeType="1"/>
            </p:cNvSpPr>
            <p:nvPr/>
          </p:nvSpPr>
          <p:spPr bwMode="auto">
            <a:xfrm>
              <a:off x="485775" y="1371600"/>
              <a:ext cx="1588" cy="44053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5" name="Rectangle 28">
              <a:extLst>
                <a:ext uri="{FF2B5EF4-FFF2-40B4-BE49-F238E27FC236}">
                  <a16:creationId xmlns:a16="http://schemas.microsoft.com/office/drawing/2014/main" id="{95E05FA7-C569-A600-35E2-10149067BB0B}"/>
                </a:ext>
              </a:extLst>
            </p:cNvPr>
            <p:cNvSpPr>
              <a:spLocks noChangeArrowheads="1"/>
            </p:cNvSpPr>
            <p:nvPr/>
          </p:nvSpPr>
          <p:spPr bwMode="auto">
            <a:xfrm>
              <a:off x="485775" y="1371600"/>
              <a:ext cx="12700" cy="44053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6" name="Line 29">
              <a:extLst>
                <a:ext uri="{FF2B5EF4-FFF2-40B4-BE49-F238E27FC236}">
                  <a16:creationId xmlns:a16="http://schemas.microsoft.com/office/drawing/2014/main" id="{97F14338-4569-CFAE-81CC-6720688C181F}"/>
                </a:ext>
              </a:extLst>
            </p:cNvPr>
            <p:cNvSpPr>
              <a:spLocks noChangeShapeType="1"/>
            </p:cNvSpPr>
            <p:nvPr/>
          </p:nvSpPr>
          <p:spPr bwMode="auto">
            <a:xfrm>
              <a:off x="2289175" y="1385888"/>
              <a:ext cx="1588" cy="43910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7" name="Rectangle 30">
              <a:extLst>
                <a:ext uri="{FF2B5EF4-FFF2-40B4-BE49-F238E27FC236}">
                  <a16:creationId xmlns:a16="http://schemas.microsoft.com/office/drawing/2014/main" id="{21C3D7A1-3D76-E3C0-724A-AAB22F0B94C1}"/>
                </a:ext>
              </a:extLst>
            </p:cNvPr>
            <p:cNvSpPr>
              <a:spLocks noChangeArrowheads="1"/>
            </p:cNvSpPr>
            <p:nvPr/>
          </p:nvSpPr>
          <p:spPr bwMode="auto">
            <a:xfrm>
              <a:off x="2290763" y="1385888"/>
              <a:ext cx="11112" cy="43910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8" name="Line 31">
              <a:extLst>
                <a:ext uri="{FF2B5EF4-FFF2-40B4-BE49-F238E27FC236}">
                  <a16:creationId xmlns:a16="http://schemas.microsoft.com/office/drawing/2014/main" id="{6B2567BF-A0D6-C5EF-9752-D7522BE51362}"/>
                </a:ext>
              </a:extLst>
            </p:cNvPr>
            <p:cNvSpPr>
              <a:spLocks noChangeShapeType="1"/>
            </p:cNvSpPr>
            <p:nvPr/>
          </p:nvSpPr>
          <p:spPr bwMode="auto">
            <a:xfrm>
              <a:off x="2851150" y="1385888"/>
              <a:ext cx="1588" cy="43910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9" name="Rectangle 32">
              <a:extLst>
                <a:ext uri="{FF2B5EF4-FFF2-40B4-BE49-F238E27FC236}">
                  <a16:creationId xmlns:a16="http://schemas.microsoft.com/office/drawing/2014/main" id="{245BA481-60F8-7079-D4BE-ED6F25D217F8}"/>
                </a:ext>
              </a:extLst>
            </p:cNvPr>
            <p:cNvSpPr>
              <a:spLocks noChangeArrowheads="1"/>
            </p:cNvSpPr>
            <p:nvPr/>
          </p:nvSpPr>
          <p:spPr bwMode="auto">
            <a:xfrm>
              <a:off x="2851150" y="1385888"/>
              <a:ext cx="12700" cy="43910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40" name="Line 33">
              <a:extLst>
                <a:ext uri="{FF2B5EF4-FFF2-40B4-BE49-F238E27FC236}">
                  <a16:creationId xmlns:a16="http://schemas.microsoft.com/office/drawing/2014/main" id="{F8777053-D4C8-590E-BA7E-21394F7C995A}"/>
                </a:ext>
              </a:extLst>
            </p:cNvPr>
            <p:cNvSpPr>
              <a:spLocks noChangeShapeType="1"/>
            </p:cNvSpPr>
            <p:nvPr/>
          </p:nvSpPr>
          <p:spPr bwMode="auto">
            <a:xfrm>
              <a:off x="3492500" y="1385888"/>
              <a:ext cx="1588" cy="43910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1" name="Rectangle 34">
              <a:extLst>
                <a:ext uri="{FF2B5EF4-FFF2-40B4-BE49-F238E27FC236}">
                  <a16:creationId xmlns:a16="http://schemas.microsoft.com/office/drawing/2014/main" id="{F8CFA9B9-CE4D-69D2-0DAD-1AD043073819}"/>
                </a:ext>
              </a:extLst>
            </p:cNvPr>
            <p:cNvSpPr>
              <a:spLocks noChangeArrowheads="1"/>
            </p:cNvSpPr>
            <p:nvPr/>
          </p:nvSpPr>
          <p:spPr bwMode="auto">
            <a:xfrm>
              <a:off x="3492500" y="1385888"/>
              <a:ext cx="12700" cy="43910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42" name="Line 35">
              <a:extLst>
                <a:ext uri="{FF2B5EF4-FFF2-40B4-BE49-F238E27FC236}">
                  <a16:creationId xmlns:a16="http://schemas.microsoft.com/office/drawing/2014/main" id="{58C3F80E-9BC9-81E4-9DD5-F0A19F6740A1}"/>
                </a:ext>
              </a:extLst>
            </p:cNvPr>
            <p:cNvSpPr>
              <a:spLocks noChangeShapeType="1"/>
            </p:cNvSpPr>
            <p:nvPr/>
          </p:nvSpPr>
          <p:spPr bwMode="auto">
            <a:xfrm>
              <a:off x="4133850" y="1385888"/>
              <a:ext cx="1588" cy="43910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3" name="Rectangle 36">
              <a:extLst>
                <a:ext uri="{FF2B5EF4-FFF2-40B4-BE49-F238E27FC236}">
                  <a16:creationId xmlns:a16="http://schemas.microsoft.com/office/drawing/2014/main" id="{95D42BBF-758A-A690-06E9-7C8E6EE5699E}"/>
                </a:ext>
              </a:extLst>
            </p:cNvPr>
            <p:cNvSpPr>
              <a:spLocks noChangeArrowheads="1"/>
            </p:cNvSpPr>
            <p:nvPr/>
          </p:nvSpPr>
          <p:spPr bwMode="auto">
            <a:xfrm>
              <a:off x="4133850" y="1385888"/>
              <a:ext cx="12700" cy="43910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44" name="Line 37">
              <a:extLst>
                <a:ext uri="{FF2B5EF4-FFF2-40B4-BE49-F238E27FC236}">
                  <a16:creationId xmlns:a16="http://schemas.microsoft.com/office/drawing/2014/main" id="{8B20FBCE-AB6D-3929-B3BE-FA34AEEF2C27}"/>
                </a:ext>
              </a:extLst>
            </p:cNvPr>
            <p:cNvSpPr>
              <a:spLocks noChangeShapeType="1"/>
            </p:cNvSpPr>
            <p:nvPr/>
          </p:nvSpPr>
          <p:spPr bwMode="auto">
            <a:xfrm>
              <a:off x="4775200" y="1385888"/>
              <a:ext cx="1588" cy="43910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5" name="Rectangle 38">
              <a:extLst>
                <a:ext uri="{FF2B5EF4-FFF2-40B4-BE49-F238E27FC236}">
                  <a16:creationId xmlns:a16="http://schemas.microsoft.com/office/drawing/2014/main" id="{9CB9231B-0497-A6A2-C7E5-A9D499767221}"/>
                </a:ext>
              </a:extLst>
            </p:cNvPr>
            <p:cNvSpPr>
              <a:spLocks noChangeArrowheads="1"/>
            </p:cNvSpPr>
            <p:nvPr/>
          </p:nvSpPr>
          <p:spPr bwMode="auto">
            <a:xfrm>
              <a:off x="4775200" y="1385888"/>
              <a:ext cx="12700" cy="43910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46" name="Line 39">
              <a:extLst>
                <a:ext uri="{FF2B5EF4-FFF2-40B4-BE49-F238E27FC236}">
                  <a16:creationId xmlns:a16="http://schemas.microsoft.com/office/drawing/2014/main" id="{FC1F22CF-4FE8-DC08-8435-E998C75BEE87}"/>
                </a:ext>
              </a:extLst>
            </p:cNvPr>
            <p:cNvSpPr>
              <a:spLocks noChangeShapeType="1"/>
            </p:cNvSpPr>
            <p:nvPr/>
          </p:nvSpPr>
          <p:spPr bwMode="auto">
            <a:xfrm>
              <a:off x="5418138" y="1385888"/>
              <a:ext cx="1587" cy="43910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7" name="Rectangle 40">
              <a:extLst>
                <a:ext uri="{FF2B5EF4-FFF2-40B4-BE49-F238E27FC236}">
                  <a16:creationId xmlns:a16="http://schemas.microsoft.com/office/drawing/2014/main" id="{DD84F857-2BBC-DB70-1367-2A538E0B427F}"/>
                </a:ext>
              </a:extLst>
            </p:cNvPr>
            <p:cNvSpPr>
              <a:spLocks noChangeArrowheads="1"/>
            </p:cNvSpPr>
            <p:nvPr/>
          </p:nvSpPr>
          <p:spPr bwMode="auto">
            <a:xfrm>
              <a:off x="5418138" y="1385888"/>
              <a:ext cx="11112" cy="43910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48" name="Line 41">
              <a:extLst>
                <a:ext uri="{FF2B5EF4-FFF2-40B4-BE49-F238E27FC236}">
                  <a16:creationId xmlns:a16="http://schemas.microsoft.com/office/drawing/2014/main" id="{075E0004-71C3-B316-1445-E342B8065761}"/>
                </a:ext>
              </a:extLst>
            </p:cNvPr>
            <p:cNvSpPr>
              <a:spLocks noChangeShapeType="1"/>
            </p:cNvSpPr>
            <p:nvPr/>
          </p:nvSpPr>
          <p:spPr bwMode="auto">
            <a:xfrm>
              <a:off x="6059488" y="1385888"/>
              <a:ext cx="1587" cy="43910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9" name="Rectangle 42">
              <a:extLst>
                <a:ext uri="{FF2B5EF4-FFF2-40B4-BE49-F238E27FC236}">
                  <a16:creationId xmlns:a16="http://schemas.microsoft.com/office/drawing/2014/main" id="{3081A19A-FDF2-C839-051A-A1CBF863BE12}"/>
                </a:ext>
              </a:extLst>
            </p:cNvPr>
            <p:cNvSpPr>
              <a:spLocks noChangeArrowheads="1"/>
            </p:cNvSpPr>
            <p:nvPr/>
          </p:nvSpPr>
          <p:spPr bwMode="auto">
            <a:xfrm>
              <a:off x="6059488" y="1385888"/>
              <a:ext cx="11112" cy="43910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50" name="Line 43">
              <a:extLst>
                <a:ext uri="{FF2B5EF4-FFF2-40B4-BE49-F238E27FC236}">
                  <a16:creationId xmlns:a16="http://schemas.microsoft.com/office/drawing/2014/main" id="{99445287-1E0C-1139-189D-F862CC3E050F}"/>
                </a:ext>
              </a:extLst>
            </p:cNvPr>
            <p:cNvSpPr>
              <a:spLocks noChangeShapeType="1"/>
            </p:cNvSpPr>
            <p:nvPr/>
          </p:nvSpPr>
          <p:spPr bwMode="auto">
            <a:xfrm>
              <a:off x="6700838" y="1385888"/>
              <a:ext cx="1587" cy="43910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51" name="Rectangle 44">
              <a:extLst>
                <a:ext uri="{FF2B5EF4-FFF2-40B4-BE49-F238E27FC236}">
                  <a16:creationId xmlns:a16="http://schemas.microsoft.com/office/drawing/2014/main" id="{C72422EB-2EFF-2926-7619-412ABC83AC29}"/>
                </a:ext>
              </a:extLst>
            </p:cNvPr>
            <p:cNvSpPr>
              <a:spLocks noChangeArrowheads="1"/>
            </p:cNvSpPr>
            <p:nvPr/>
          </p:nvSpPr>
          <p:spPr bwMode="auto">
            <a:xfrm>
              <a:off x="6700838" y="1385888"/>
              <a:ext cx="12700" cy="43910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52" name="Line 45">
              <a:extLst>
                <a:ext uri="{FF2B5EF4-FFF2-40B4-BE49-F238E27FC236}">
                  <a16:creationId xmlns:a16="http://schemas.microsoft.com/office/drawing/2014/main" id="{9E0FA4D1-AB3C-0219-3272-3F27E4CC598D}"/>
                </a:ext>
              </a:extLst>
            </p:cNvPr>
            <p:cNvSpPr>
              <a:spLocks noChangeShapeType="1"/>
            </p:cNvSpPr>
            <p:nvPr/>
          </p:nvSpPr>
          <p:spPr bwMode="auto">
            <a:xfrm>
              <a:off x="7342188" y="1385888"/>
              <a:ext cx="1587" cy="43910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53" name="Rectangle 46">
              <a:extLst>
                <a:ext uri="{FF2B5EF4-FFF2-40B4-BE49-F238E27FC236}">
                  <a16:creationId xmlns:a16="http://schemas.microsoft.com/office/drawing/2014/main" id="{1D8F55B8-650B-1EAD-9EC1-F07CEE01038D}"/>
                </a:ext>
              </a:extLst>
            </p:cNvPr>
            <p:cNvSpPr>
              <a:spLocks noChangeArrowheads="1"/>
            </p:cNvSpPr>
            <p:nvPr/>
          </p:nvSpPr>
          <p:spPr bwMode="auto">
            <a:xfrm>
              <a:off x="7342188" y="1385888"/>
              <a:ext cx="12700" cy="43910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54" name="Line 47">
              <a:extLst>
                <a:ext uri="{FF2B5EF4-FFF2-40B4-BE49-F238E27FC236}">
                  <a16:creationId xmlns:a16="http://schemas.microsoft.com/office/drawing/2014/main" id="{D647F6EE-D4DA-CE46-7404-1201BF0BA8A3}"/>
                </a:ext>
              </a:extLst>
            </p:cNvPr>
            <p:cNvSpPr>
              <a:spLocks noChangeShapeType="1"/>
            </p:cNvSpPr>
            <p:nvPr/>
          </p:nvSpPr>
          <p:spPr bwMode="auto">
            <a:xfrm>
              <a:off x="7983538" y="1385888"/>
              <a:ext cx="1587" cy="43910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55" name="Rectangle 48">
              <a:extLst>
                <a:ext uri="{FF2B5EF4-FFF2-40B4-BE49-F238E27FC236}">
                  <a16:creationId xmlns:a16="http://schemas.microsoft.com/office/drawing/2014/main" id="{97B23209-7D5B-C3BF-C17E-4670C0A02EBF}"/>
                </a:ext>
              </a:extLst>
            </p:cNvPr>
            <p:cNvSpPr>
              <a:spLocks noChangeArrowheads="1"/>
            </p:cNvSpPr>
            <p:nvPr/>
          </p:nvSpPr>
          <p:spPr bwMode="auto">
            <a:xfrm>
              <a:off x="7983538" y="1385888"/>
              <a:ext cx="12700" cy="43910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56" name="Line 49">
              <a:extLst>
                <a:ext uri="{FF2B5EF4-FFF2-40B4-BE49-F238E27FC236}">
                  <a16:creationId xmlns:a16="http://schemas.microsoft.com/office/drawing/2014/main" id="{8175A48E-95C7-EB1B-8C52-ACA4F35F987D}"/>
                </a:ext>
              </a:extLst>
            </p:cNvPr>
            <p:cNvSpPr>
              <a:spLocks noChangeShapeType="1"/>
            </p:cNvSpPr>
            <p:nvPr/>
          </p:nvSpPr>
          <p:spPr bwMode="auto">
            <a:xfrm>
              <a:off x="8624888" y="1385888"/>
              <a:ext cx="1587" cy="43910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57" name="Rectangle 50">
              <a:extLst>
                <a:ext uri="{FF2B5EF4-FFF2-40B4-BE49-F238E27FC236}">
                  <a16:creationId xmlns:a16="http://schemas.microsoft.com/office/drawing/2014/main" id="{06B8DE44-E843-0BDF-BCD4-C161FDF9437C}"/>
                </a:ext>
              </a:extLst>
            </p:cNvPr>
            <p:cNvSpPr>
              <a:spLocks noChangeArrowheads="1"/>
            </p:cNvSpPr>
            <p:nvPr/>
          </p:nvSpPr>
          <p:spPr bwMode="auto">
            <a:xfrm>
              <a:off x="8624888" y="1385888"/>
              <a:ext cx="12700" cy="43910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58" name="Line 51">
              <a:extLst>
                <a:ext uri="{FF2B5EF4-FFF2-40B4-BE49-F238E27FC236}">
                  <a16:creationId xmlns:a16="http://schemas.microsoft.com/office/drawing/2014/main" id="{B11A0EDB-ECE3-57B5-0B9A-CBD12A993EE6}"/>
                </a:ext>
              </a:extLst>
            </p:cNvPr>
            <p:cNvSpPr>
              <a:spLocks noChangeShapeType="1"/>
            </p:cNvSpPr>
            <p:nvPr/>
          </p:nvSpPr>
          <p:spPr bwMode="auto">
            <a:xfrm>
              <a:off x="506413" y="1371600"/>
              <a:ext cx="8139112"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59" name="Rectangle 52">
              <a:extLst>
                <a:ext uri="{FF2B5EF4-FFF2-40B4-BE49-F238E27FC236}">
                  <a16:creationId xmlns:a16="http://schemas.microsoft.com/office/drawing/2014/main" id="{3ED62664-508C-4944-AC4A-547936C74522}"/>
                </a:ext>
              </a:extLst>
            </p:cNvPr>
            <p:cNvSpPr>
              <a:spLocks noChangeArrowheads="1"/>
            </p:cNvSpPr>
            <p:nvPr/>
          </p:nvSpPr>
          <p:spPr bwMode="auto">
            <a:xfrm>
              <a:off x="498475" y="1371600"/>
              <a:ext cx="8139113" cy="142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0" name="Line 53">
              <a:extLst>
                <a:ext uri="{FF2B5EF4-FFF2-40B4-BE49-F238E27FC236}">
                  <a16:creationId xmlns:a16="http://schemas.microsoft.com/office/drawing/2014/main" id="{0004B0F3-0A89-39F5-E1E6-F0915B25D2C5}"/>
                </a:ext>
              </a:extLst>
            </p:cNvPr>
            <p:cNvSpPr>
              <a:spLocks noChangeShapeType="1"/>
            </p:cNvSpPr>
            <p:nvPr/>
          </p:nvSpPr>
          <p:spPr bwMode="auto">
            <a:xfrm>
              <a:off x="498475" y="2717800"/>
              <a:ext cx="8139113"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1" name="Rectangle 54">
              <a:extLst>
                <a:ext uri="{FF2B5EF4-FFF2-40B4-BE49-F238E27FC236}">
                  <a16:creationId xmlns:a16="http://schemas.microsoft.com/office/drawing/2014/main" id="{831D89F1-CB74-059E-393C-8457184E8326}"/>
                </a:ext>
              </a:extLst>
            </p:cNvPr>
            <p:cNvSpPr>
              <a:spLocks noChangeArrowheads="1"/>
            </p:cNvSpPr>
            <p:nvPr/>
          </p:nvSpPr>
          <p:spPr bwMode="auto">
            <a:xfrm>
              <a:off x="498475" y="2727325"/>
              <a:ext cx="8139113" cy="142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2" name="Line 55">
              <a:extLst>
                <a:ext uri="{FF2B5EF4-FFF2-40B4-BE49-F238E27FC236}">
                  <a16:creationId xmlns:a16="http://schemas.microsoft.com/office/drawing/2014/main" id="{6ACA28FE-31FC-1F23-F4B1-4F21F3EE503D}"/>
                </a:ext>
              </a:extLst>
            </p:cNvPr>
            <p:cNvSpPr>
              <a:spLocks noChangeShapeType="1"/>
            </p:cNvSpPr>
            <p:nvPr/>
          </p:nvSpPr>
          <p:spPr bwMode="auto">
            <a:xfrm>
              <a:off x="498475" y="3030538"/>
              <a:ext cx="8139113"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3" name="Rectangle 56">
              <a:extLst>
                <a:ext uri="{FF2B5EF4-FFF2-40B4-BE49-F238E27FC236}">
                  <a16:creationId xmlns:a16="http://schemas.microsoft.com/office/drawing/2014/main" id="{E99340C6-322E-3FFD-B8C2-AB6972AAB0C0}"/>
                </a:ext>
              </a:extLst>
            </p:cNvPr>
            <p:cNvSpPr>
              <a:spLocks noChangeArrowheads="1"/>
            </p:cNvSpPr>
            <p:nvPr/>
          </p:nvSpPr>
          <p:spPr bwMode="auto">
            <a:xfrm>
              <a:off x="498475" y="3030538"/>
              <a:ext cx="8139113" cy="158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4" name="Line 57">
              <a:extLst>
                <a:ext uri="{FF2B5EF4-FFF2-40B4-BE49-F238E27FC236}">
                  <a16:creationId xmlns:a16="http://schemas.microsoft.com/office/drawing/2014/main" id="{C18462F3-3132-6CB3-1237-7059B6312F5E}"/>
                </a:ext>
              </a:extLst>
            </p:cNvPr>
            <p:cNvSpPr>
              <a:spLocks noChangeShapeType="1"/>
            </p:cNvSpPr>
            <p:nvPr/>
          </p:nvSpPr>
          <p:spPr bwMode="auto">
            <a:xfrm>
              <a:off x="498475" y="3335338"/>
              <a:ext cx="8139113"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5" name="Rectangle 58">
              <a:extLst>
                <a:ext uri="{FF2B5EF4-FFF2-40B4-BE49-F238E27FC236}">
                  <a16:creationId xmlns:a16="http://schemas.microsoft.com/office/drawing/2014/main" id="{F7F2D8C6-DFA7-4E7D-03A8-F303C3BE51FF}"/>
                </a:ext>
              </a:extLst>
            </p:cNvPr>
            <p:cNvSpPr>
              <a:spLocks noChangeArrowheads="1"/>
            </p:cNvSpPr>
            <p:nvPr/>
          </p:nvSpPr>
          <p:spPr bwMode="auto">
            <a:xfrm>
              <a:off x="498475" y="3335338"/>
              <a:ext cx="8139113" cy="142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6" name="Line 59">
              <a:extLst>
                <a:ext uri="{FF2B5EF4-FFF2-40B4-BE49-F238E27FC236}">
                  <a16:creationId xmlns:a16="http://schemas.microsoft.com/office/drawing/2014/main" id="{FF689B73-F5A9-FCA0-2B95-33B74A94C5C6}"/>
                </a:ext>
              </a:extLst>
            </p:cNvPr>
            <p:cNvSpPr>
              <a:spLocks noChangeShapeType="1"/>
            </p:cNvSpPr>
            <p:nvPr/>
          </p:nvSpPr>
          <p:spPr bwMode="auto">
            <a:xfrm>
              <a:off x="498475" y="3638550"/>
              <a:ext cx="8139113"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7" name="Rectangle 60">
              <a:extLst>
                <a:ext uri="{FF2B5EF4-FFF2-40B4-BE49-F238E27FC236}">
                  <a16:creationId xmlns:a16="http://schemas.microsoft.com/office/drawing/2014/main" id="{E339C958-57D7-1B44-077B-8132E7BAF531}"/>
                </a:ext>
              </a:extLst>
            </p:cNvPr>
            <p:cNvSpPr>
              <a:spLocks noChangeArrowheads="1"/>
            </p:cNvSpPr>
            <p:nvPr/>
          </p:nvSpPr>
          <p:spPr bwMode="auto">
            <a:xfrm>
              <a:off x="498475" y="3638550"/>
              <a:ext cx="8139113" cy="142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8" name="Line 61">
              <a:extLst>
                <a:ext uri="{FF2B5EF4-FFF2-40B4-BE49-F238E27FC236}">
                  <a16:creationId xmlns:a16="http://schemas.microsoft.com/office/drawing/2014/main" id="{6C55BD1D-873A-5DEB-F595-017492F76483}"/>
                </a:ext>
              </a:extLst>
            </p:cNvPr>
            <p:cNvSpPr>
              <a:spLocks noChangeShapeType="1"/>
            </p:cNvSpPr>
            <p:nvPr/>
          </p:nvSpPr>
          <p:spPr bwMode="auto">
            <a:xfrm>
              <a:off x="498475" y="3941763"/>
              <a:ext cx="8139113"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9" name="Rectangle 62">
              <a:extLst>
                <a:ext uri="{FF2B5EF4-FFF2-40B4-BE49-F238E27FC236}">
                  <a16:creationId xmlns:a16="http://schemas.microsoft.com/office/drawing/2014/main" id="{80A006A3-77BD-2553-7BE0-039185D14B4F}"/>
                </a:ext>
              </a:extLst>
            </p:cNvPr>
            <p:cNvSpPr>
              <a:spLocks noChangeArrowheads="1"/>
            </p:cNvSpPr>
            <p:nvPr/>
          </p:nvSpPr>
          <p:spPr bwMode="auto">
            <a:xfrm>
              <a:off x="498475" y="3941763"/>
              <a:ext cx="8139113" cy="142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70" name="Line 63">
              <a:extLst>
                <a:ext uri="{FF2B5EF4-FFF2-40B4-BE49-F238E27FC236}">
                  <a16:creationId xmlns:a16="http://schemas.microsoft.com/office/drawing/2014/main" id="{48FCA516-E749-2964-F858-8F10EC446F06}"/>
                </a:ext>
              </a:extLst>
            </p:cNvPr>
            <p:cNvSpPr>
              <a:spLocks noChangeShapeType="1"/>
            </p:cNvSpPr>
            <p:nvPr/>
          </p:nvSpPr>
          <p:spPr bwMode="auto">
            <a:xfrm>
              <a:off x="498475" y="4244975"/>
              <a:ext cx="8139113"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71" name="Rectangle 64">
              <a:extLst>
                <a:ext uri="{FF2B5EF4-FFF2-40B4-BE49-F238E27FC236}">
                  <a16:creationId xmlns:a16="http://schemas.microsoft.com/office/drawing/2014/main" id="{0288E30B-0B26-B858-5939-979A3715AC4F}"/>
                </a:ext>
              </a:extLst>
            </p:cNvPr>
            <p:cNvSpPr>
              <a:spLocks noChangeArrowheads="1"/>
            </p:cNvSpPr>
            <p:nvPr/>
          </p:nvSpPr>
          <p:spPr bwMode="auto">
            <a:xfrm>
              <a:off x="498475" y="4244975"/>
              <a:ext cx="8139113" cy="142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72" name="Line 65">
              <a:extLst>
                <a:ext uri="{FF2B5EF4-FFF2-40B4-BE49-F238E27FC236}">
                  <a16:creationId xmlns:a16="http://schemas.microsoft.com/office/drawing/2014/main" id="{66638EA7-B5F9-C337-A26F-285628BCABE3}"/>
                </a:ext>
              </a:extLst>
            </p:cNvPr>
            <p:cNvSpPr>
              <a:spLocks noChangeShapeType="1"/>
            </p:cNvSpPr>
            <p:nvPr/>
          </p:nvSpPr>
          <p:spPr bwMode="auto">
            <a:xfrm>
              <a:off x="498475" y="4548188"/>
              <a:ext cx="8139113"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73" name="Rectangle 66">
              <a:extLst>
                <a:ext uri="{FF2B5EF4-FFF2-40B4-BE49-F238E27FC236}">
                  <a16:creationId xmlns:a16="http://schemas.microsoft.com/office/drawing/2014/main" id="{7E2AC3A4-EC01-8728-DB4E-4F59C26022EC}"/>
                </a:ext>
              </a:extLst>
            </p:cNvPr>
            <p:cNvSpPr>
              <a:spLocks noChangeArrowheads="1"/>
            </p:cNvSpPr>
            <p:nvPr/>
          </p:nvSpPr>
          <p:spPr bwMode="auto">
            <a:xfrm>
              <a:off x="498475" y="4548188"/>
              <a:ext cx="8139113" cy="142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74" name="Line 67">
              <a:extLst>
                <a:ext uri="{FF2B5EF4-FFF2-40B4-BE49-F238E27FC236}">
                  <a16:creationId xmlns:a16="http://schemas.microsoft.com/office/drawing/2014/main" id="{D97946E8-507B-F3F2-F1C9-DFA93F84CB77}"/>
                </a:ext>
              </a:extLst>
            </p:cNvPr>
            <p:cNvSpPr>
              <a:spLocks noChangeShapeType="1"/>
            </p:cNvSpPr>
            <p:nvPr/>
          </p:nvSpPr>
          <p:spPr bwMode="auto">
            <a:xfrm>
              <a:off x="498475" y="4851400"/>
              <a:ext cx="8139113"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75" name="Rectangle 68">
              <a:extLst>
                <a:ext uri="{FF2B5EF4-FFF2-40B4-BE49-F238E27FC236}">
                  <a16:creationId xmlns:a16="http://schemas.microsoft.com/office/drawing/2014/main" id="{EE8BEBE5-91F5-965D-0594-31E7E2105405}"/>
                </a:ext>
              </a:extLst>
            </p:cNvPr>
            <p:cNvSpPr>
              <a:spLocks noChangeArrowheads="1"/>
            </p:cNvSpPr>
            <p:nvPr/>
          </p:nvSpPr>
          <p:spPr bwMode="auto">
            <a:xfrm>
              <a:off x="498475" y="4851400"/>
              <a:ext cx="8139113" cy="142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76" name="Line 69">
              <a:extLst>
                <a:ext uri="{FF2B5EF4-FFF2-40B4-BE49-F238E27FC236}">
                  <a16:creationId xmlns:a16="http://schemas.microsoft.com/office/drawing/2014/main" id="{E698FD6E-1685-E8C3-3D7E-AB06C3E902E6}"/>
                </a:ext>
              </a:extLst>
            </p:cNvPr>
            <p:cNvSpPr>
              <a:spLocks noChangeShapeType="1"/>
            </p:cNvSpPr>
            <p:nvPr/>
          </p:nvSpPr>
          <p:spPr bwMode="auto">
            <a:xfrm>
              <a:off x="498475" y="5154613"/>
              <a:ext cx="8139113"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77" name="Rectangle 70">
              <a:extLst>
                <a:ext uri="{FF2B5EF4-FFF2-40B4-BE49-F238E27FC236}">
                  <a16:creationId xmlns:a16="http://schemas.microsoft.com/office/drawing/2014/main" id="{90047335-5C80-A2FF-D9DA-6AA621A33CDE}"/>
                </a:ext>
              </a:extLst>
            </p:cNvPr>
            <p:cNvSpPr>
              <a:spLocks noChangeArrowheads="1"/>
            </p:cNvSpPr>
            <p:nvPr/>
          </p:nvSpPr>
          <p:spPr bwMode="auto">
            <a:xfrm>
              <a:off x="498475" y="5154613"/>
              <a:ext cx="8139113" cy="142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78" name="Line 71">
              <a:extLst>
                <a:ext uri="{FF2B5EF4-FFF2-40B4-BE49-F238E27FC236}">
                  <a16:creationId xmlns:a16="http://schemas.microsoft.com/office/drawing/2014/main" id="{28E00936-7667-4BD6-3EC3-227571E49A30}"/>
                </a:ext>
              </a:extLst>
            </p:cNvPr>
            <p:cNvSpPr>
              <a:spLocks noChangeShapeType="1"/>
            </p:cNvSpPr>
            <p:nvPr/>
          </p:nvSpPr>
          <p:spPr bwMode="auto">
            <a:xfrm>
              <a:off x="498475" y="5459413"/>
              <a:ext cx="8139113"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79" name="Rectangle 72">
              <a:extLst>
                <a:ext uri="{FF2B5EF4-FFF2-40B4-BE49-F238E27FC236}">
                  <a16:creationId xmlns:a16="http://schemas.microsoft.com/office/drawing/2014/main" id="{190D4D48-5BE8-D2F6-6AE7-F7040BB85B87}"/>
                </a:ext>
              </a:extLst>
            </p:cNvPr>
            <p:cNvSpPr>
              <a:spLocks noChangeArrowheads="1"/>
            </p:cNvSpPr>
            <p:nvPr/>
          </p:nvSpPr>
          <p:spPr bwMode="auto">
            <a:xfrm>
              <a:off x="498475" y="5459413"/>
              <a:ext cx="8139113" cy="142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80" name="Line 73">
              <a:extLst>
                <a:ext uri="{FF2B5EF4-FFF2-40B4-BE49-F238E27FC236}">
                  <a16:creationId xmlns:a16="http://schemas.microsoft.com/office/drawing/2014/main" id="{4CE09D20-ACD2-B231-BEC2-18070DE61CCC}"/>
                </a:ext>
              </a:extLst>
            </p:cNvPr>
            <p:cNvSpPr>
              <a:spLocks noChangeShapeType="1"/>
            </p:cNvSpPr>
            <p:nvPr/>
          </p:nvSpPr>
          <p:spPr bwMode="auto">
            <a:xfrm>
              <a:off x="498475" y="5762625"/>
              <a:ext cx="8139113"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81" name="Rectangle 74">
              <a:extLst>
                <a:ext uri="{FF2B5EF4-FFF2-40B4-BE49-F238E27FC236}">
                  <a16:creationId xmlns:a16="http://schemas.microsoft.com/office/drawing/2014/main" id="{BC9DCAB2-A4A2-7413-F547-63695F14FC45}"/>
                </a:ext>
              </a:extLst>
            </p:cNvPr>
            <p:cNvSpPr>
              <a:spLocks noChangeArrowheads="1"/>
            </p:cNvSpPr>
            <p:nvPr/>
          </p:nvSpPr>
          <p:spPr bwMode="auto">
            <a:xfrm>
              <a:off x="498475" y="5762625"/>
              <a:ext cx="8139113" cy="142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nvGrpSpPr>
            <p:cNvPr id="82" name="Group 75">
              <a:extLst>
                <a:ext uri="{FF2B5EF4-FFF2-40B4-BE49-F238E27FC236}">
                  <a16:creationId xmlns:a16="http://schemas.microsoft.com/office/drawing/2014/main" id="{2D1ED87B-5608-C712-EB60-525BC2FCC882}"/>
                </a:ext>
              </a:extLst>
            </p:cNvPr>
            <p:cNvGrpSpPr>
              <a:grpSpLocks/>
            </p:cNvGrpSpPr>
            <p:nvPr/>
          </p:nvGrpSpPr>
          <p:grpSpPr bwMode="auto">
            <a:xfrm>
              <a:off x="2449513" y="2792413"/>
              <a:ext cx="203200" cy="179387"/>
              <a:chOff x="1669" y="1780"/>
              <a:chExt cx="128" cy="113"/>
            </a:xfrm>
          </p:grpSpPr>
          <p:grpSp>
            <p:nvGrpSpPr>
              <p:cNvPr id="83" name="Group 76">
                <a:extLst>
                  <a:ext uri="{FF2B5EF4-FFF2-40B4-BE49-F238E27FC236}">
                    <a16:creationId xmlns:a16="http://schemas.microsoft.com/office/drawing/2014/main" id="{7B64D5A8-5B89-CD3A-99FE-4650269EECEF}"/>
                  </a:ext>
                </a:extLst>
              </p:cNvPr>
              <p:cNvGrpSpPr>
                <a:grpSpLocks/>
              </p:cNvGrpSpPr>
              <p:nvPr/>
            </p:nvGrpSpPr>
            <p:grpSpPr bwMode="auto">
              <a:xfrm>
                <a:off x="1669" y="1780"/>
                <a:ext cx="128" cy="113"/>
                <a:chOff x="1669" y="1780"/>
                <a:chExt cx="128" cy="113"/>
              </a:xfrm>
            </p:grpSpPr>
            <p:sp>
              <p:nvSpPr>
                <p:cNvPr id="85" name="Rectangle 77">
                  <a:extLst>
                    <a:ext uri="{FF2B5EF4-FFF2-40B4-BE49-F238E27FC236}">
                      <a16:creationId xmlns:a16="http://schemas.microsoft.com/office/drawing/2014/main" id="{F39CAB5F-63C7-3B34-0A96-F07F05AB2EBF}"/>
                    </a:ext>
                  </a:extLst>
                </p:cNvPr>
                <p:cNvSpPr>
                  <a:spLocks noChangeArrowheads="1"/>
                </p:cNvSpPr>
                <p:nvPr/>
              </p:nvSpPr>
              <p:spPr bwMode="auto">
                <a:xfrm>
                  <a:off x="1669" y="1780"/>
                  <a:ext cx="128" cy="1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86" name="Freeform 78">
                  <a:extLst>
                    <a:ext uri="{FF2B5EF4-FFF2-40B4-BE49-F238E27FC236}">
                      <a16:creationId xmlns:a16="http://schemas.microsoft.com/office/drawing/2014/main" id="{F6637222-5EB4-DE8A-FA73-623C6963C7B1}"/>
                    </a:ext>
                  </a:extLst>
                </p:cNvPr>
                <p:cNvSpPr>
                  <a:spLocks/>
                </p:cNvSpPr>
                <p:nvPr/>
              </p:nvSpPr>
              <p:spPr bwMode="auto">
                <a:xfrm>
                  <a:off x="1669" y="1780"/>
                  <a:ext cx="126" cy="111"/>
                </a:xfrm>
                <a:custGeom>
                  <a:avLst/>
                  <a:gdLst>
                    <a:gd name="T0" fmla="*/ 16 w 251"/>
                    <a:gd name="T1" fmla="*/ 0 h 111"/>
                    <a:gd name="T2" fmla="*/ 13 w 251"/>
                    <a:gd name="T3" fmla="*/ 1 h 111"/>
                    <a:gd name="T4" fmla="*/ 10 w 251"/>
                    <a:gd name="T5" fmla="*/ 5 h 111"/>
                    <a:gd name="T6" fmla="*/ 7 w 251"/>
                    <a:gd name="T7" fmla="*/ 9 h 111"/>
                    <a:gd name="T8" fmla="*/ 5 w 251"/>
                    <a:gd name="T9" fmla="*/ 16 h 111"/>
                    <a:gd name="T10" fmla="*/ 3 w 251"/>
                    <a:gd name="T11" fmla="*/ 24 h 111"/>
                    <a:gd name="T12" fmla="*/ 2 w 251"/>
                    <a:gd name="T13" fmla="*/ 34 h 111"/>
                    <a:gd name="T14" fmla="*/ 1 w 251"/>
                    <a:gd name="T15" fmla="*/ 45 h 111"/>
                    <a:gd name="T16" fmla="*/ 0 w 251"/>
                    <a:gd name="T17" fmla="*/ 55 h 111"/>
                    <a:gd name="T18" fmla="*/ 1 w 251"/>
                    <a:gd name="T19" fmla="*/ 66 h 111"/>
                    <a:gd name="T20" fmla="*/ 2 w 251"/>
                    <a:gd name="T21" fmla="*/ 77 h 111"/>
                    <a:gd name="T22" fmla="*/ 3 w 251"/>
                    <a:gd name="T23" fmla="*/ 86 h 111"/>
                    <a:gd name="T24" fmla="*/ 5 w 251"/>
                    <a:gd name="T25" fmla="*/ 95 h 111"/>
                    <a:gd name="T26" fmla="*/ 7 w 251"/>
                    <a:gd name="T27" fmla="*/ 102 h 111"/>
                    <a:gd name="T28" fmla="*/ 10 w 251"/>
                    <a:gd name="T29" fmla="*/ 106 h 111"/>
                    <a:gd name="T30" fmla="*/ 13 w 251"/>
                    <a:gd name="T31" fmla="*/ 110 h 111"/>
                    <a:gd name="T32" fmla="*/ 16 w 251"/>
                    <a:gd name="T33" fmla="*/ 111 h 111"/>
                    <a:gd name="T34" fmla="*/ 19 w 251"/>
                    <a:gd name="T35" fmla="*/ 110 h 111"/>
                    <a:gd name="T36" fmla="*/ 22 w 251"/>
                    <a:gd name="T37" fmla="*/ 106 h 111"/>
                    <a:gd name="T38" fmla="*/ 25 w 251"/>
                    <a:gd name="T39" fmla="*/ 102 h 111"/>
                    <a:gd name="T40" fmla="*/ 27 w 251"/>
                    <a:gd name="T41" fmla="*/ 95 h 111"/>
                    <a:gd name="T42" fmla="*/ 29 w 251"/>
                    <a:gd name="T43" fmla="*/ 86 h 111"/>
                    <a:gd name="T44" fmla="*/ 31 w 251"/>
                    <a:gd name="T45" fmla="*/ 77 h 111"/>
                    <a:gd name="T46" fmla="*/ 32 w 251"/>
                    <a:gd name="T47" fmla="*/ 66 h 111"/>
                    <a:gd name="T48" fmla="*/ 32 w 251"/>
                    <a:gd name="T49" fmla="*/ 55 h 111"/>
                    <a:gd name="T50" fmla="*/ 32 w 251"/>
                    <a:gd name="T51" fmla="*/ 45 h 111"/>
                    <a:gd name="T52" fmla="*/ 31 w 251"/>
                    <a:gd name="T53" fmla="*/ 34 h 111"/>
                    <a:gd name="T54" fmla="*/ 29 w 251"/>
                    <a:gd name="T55" fmla="*/ 24 h 111"/>
                    <a:gd name="T56" fmla="*/ 27 w 251"/>
                    <a:gd name="T57" fmla="*/ 16 h 111"/>
                    <a:gd name="T58" fmla="*/ 25 w 251"/>
                    <a:gd name="T59" fmla="*/ 9 h 111"/>
                    <a:gd name="T60" fmla="*/ 22 w 251"/>
                    <a:gd name="T61" fmla="*/ 5 h 111"/>
                    <a:gd name="T62" fmla="*/ 19 w 251"/>
                    <a:gd name="T63" fmla="*/ 1 h 111"/>
                    <a:gd name="T64" fmla="*/ 16 w 251"/>
                    <a:gd name="T65" fmla="*/ 0 h 11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1" h="111">
                      <a:moveTo>
                        <a:pt x="125" y="0"/>
                      </a:moveTo>
                      <a:lnTo>
                        <a:pt x="100" y="1"/>
                      </a:lnTo>
                      <a:lnTo>
                        <a:pt x="77" y="5"/>
                      </a:lnTo>
                      <a:lnTo>
                        <a:pt x="56" y="9"/>
                      </a:lnTo>
                      <a:lnTo>
                        <a:pt x="36" y="16"/>
                      </a:lnTo>
                      <a:lnTo>
                        <a:pt x="21" y="24"/>
                      </a:lnTo>
                      <a:lnTo>
                        <a:pt x="9" y="34"/>
                      </a:lnTo>
                      <a:lnTo>
                        <a:pt x="2" y="45"/>
                      </a:lnTo>
                      <a:lnTo>
                        <a:pt x="0" y="55"/>
                      </a:lnTo>
                      <a:lnTo>
                        <a:pt x="2" y="66"/>
                      </a:lnTo>
                      <a:lnTo>
                        <a:pt x="9" y="77"/>
                      </a:lnTo>
                      <a:lnTo>
                        <a:pt x="21" y="86"/>
                      </a:lnTo>
                      <a:lnTo>
                        <a:pt x="36" y="95"/>
                      </a:lnTo>
                      <a:lnTo>
                        <a:pt x="56" y="102"/>
                      </a:lnTo>
                      <a:lnTo>
                        <a:pt x="77" y="106"/>
                      </a:lnTo>
                      <a:lnTo>
                        <a:pt x="100" y="110"/>
                      </a:lnTo>
                      <a:lnTo>
                        <a:pt x="125" y="111"/>
                      </a:lnTo>
                      <a:lnTo>
                        <a:pt x="150" y="110"/>
                      </a:lnTo>
                      <a:lnTo>
                        <a:pt x="175" y="106"/>
                      </a:lnTo>
                      <a:lnTo>
                        <a:pt x="196" y="102"/>
                      </a:lnTo>
                      <a:lnTo>
                        <a:pt x="215" y="95"/>
                      </a:lnTo>
                      <a:lnTo>
                        <a:pt x="230" y="86"/>
                      </a:lnTo>
                      <a:lnTo>
                        <a:pt x="242" y="77"/>
                      </a:lnTo>
                      <a:lnTo>
                        <a:pt x="249" y="66"/>
                      </a:lnTo>
                      <a:lnTo>
                        <a:pt x="251" y="55"/>
                      </a:lnTo>
                      <a:lnTo>
                        <a:pt x="249" y="45"/>
                      </a:lnTo>
                      <a:lnTo>
                        <a:pt x="242" y="34"/>
                      </a:lnTo>
                      <a:lnTo>
                        <a:pt x="230" y="24"/>
                      </a:lnTo>
                      <a:lnTo>
                        <a:pt x="215" y="16"/>
                      </a:lnTo>
                      <a:lnTo>
                        <a:pt x="196" y="9"/>
                      </a:lnTo>
                      <a:lnTo>
                        <a:pt x="175" y="5"/>
                      </a:lnTo>
                      <a:lnTo>
                        <a:pt x="150" y="1"/>
                      </a:lnTo>
                      <a:lnTo>
                        <a:pt x="125" y="0"/>
                      </a:lnTo>
                      <a:close/>
                    </a:path>
                  </a:pathLst>
                </a:custGeom>
                <a:solidFill>
                  <a:srgbClr val="FF0000"/>
                </a:solidFill>
                <a:ln w="0">
                  <a:solidFill>
                    <a:srgbClr val="FFFFFF"/>
                  </a:solidFill>
                  <a:prstDash val="solid"/>
                  <a:round/>
                  <a:headEnd/>
                  <a:tailEnd/>
                </a:ln>
              </p:spPr>
              <p:txBody>
                <a:bodyPr/>
                <a:lstStyle/>
                <a:p>
                  <a:endParaRPr lang="en-US">
                    <a:latin typeface="Roboto" panose="02000000000000000000" pitchFamily="2" charset="0"/>
                    <a:ea typeface="Roboto" panose="02000000000000000000" pitchFamily="2" charset="0"/>
                  </a:endParaRPr>
                </a:p>
              </p:txBody>
            </p:sp>
            <p:sp>
              <p:nvSpPr>
                <p:cNvPr id="87" name="Oval 79">
                  <a:extLst>
                    <a:ext uri="{FF2B5EF4-FFF2-40B4-BE49-F238E27FC236}">
                      <a16:creationId xmlns:a16="http://schemas.microsoft.com/office/drawing/2014/main" id="{E36904EE-B633-FF73-2274-6FFA3A1D1FA1}"/>
                    </a:ext>
                  </a:extLst>
                </p:cNvPr>
                <p:cNvSpPr>
                  <a:spLocks noChangeArrowheads="1"/>
                </p:cNvSpPr>
                <p:nvPr/>
              </p:nvSpPr>
              <p:spPr bwMode="auto">
                <a:xfrm>
                  <a:off x="1669" y="1780"/>
                  <a:ext cx="127" cy="112"/>
                </a:xfrm>
                <a:prstGeom prst="ellipse">
                  <a:avLst/>
                </a:prstGeom>
                <a:blipFill dpi="0" rotWithShape="0">
                  <a:blip/>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88" name="Rectangle 80">
                  <a:extLst>
                    <a:ext uri="{FF2B5EF4-FFF2-40B4-BE49-F238E27FC236}">
                      <a16:creationId xmlns:a16="http://schemas.microsoft.com/office/drawing/2014/main" id="{149DC8AB-CA70-9DA4-8A49-96439E8B6F58}"/>
                    </a:ext>
                  </a:extLst>
                </p:cNvPr>
                <p:cNvSpPr>
                  <a:spLocks noChangeArrowheads="1"/>
                </p:cNvSpPr>
                <p:nvPr/>
              </p:nvSpPr>
              <p:spPr bwMode="auto">
                <a:xfrm>
                  <a:off x="1669" y="1780"/>
                  <a:ext cx="128" cy="1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dirty="0">
                    <a:solidFill>
                      <a:schemeClr val="bg1"/>
                    </a:solidFill>
                    <a:latin typeface="Roboto" panose="02000000000000000000" pitchFamily="2" charset="0"/>
                    <a:ea typeface="Roboto" panose="02000000000000000000" pitchFamily="2" charset="0"/>
                  </a:endParaRPr>
                </a:p>
              </p:txBody>
            </p:sp>
          </p:grpSp>
          <p:sp>
            <p:nvSpPr>
              <p:cNvPr id="84" name="Oval 81">
                <a:extLst>
                  <a:ext uri="{FF2B5EF4-FFF2-40B4-BE49-F238E27FC236}">
                    <a16:creationId xmlns:a16="http://schemas.microsoft.com/office/drawing/2014/main" id="{881CED67-3ADD-5B9E-FAA9-6F7A06663351}"/>
                  </a:ext>
                </a:extLst>
              </p:cNvPr>
              <p:cNvSpPr>
                <a:spLocks noChangeArrowheads="1"/>
              </p:cNvSpPr>
              <p:nvPr/>
            </p:nvSpPr>
            <p:spPr bwMode="auto">
              <a:xfrm>
                <a:off x="1669" y="1780"/>
                <a:ext cx="127" cy="112"/>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89" name="Group 82">
              <a:extLst>
                <a:ext uri="{FF2B5EF4-FFF2-40B4-BE49-F238E27FC236}">
                  <a16:creationId xmlns:a16="http://schemas.microsoft.com/office/drawing/2014/main" id="{AB9359E9-0D23-B0C3-DB61-2B5044B362A5}"/>
                </a:ext>
              </a:extLst>
            </p:cNvPr>
            <p:cNvGrpSpPr>
              <a:grpSpLocks/>
            </p:cNvGrpSpPr>
            <p:nvPr/>
          </p:nvGrpSpPr>
          <p:grpSpPr bwMode="auto">
            <a:xfrm>
              <a:off x="2449513" y="3095625"/>
              <a:ext cx="203200" cy="179388"/>
              <a:chOff x="1669" y="1971"/>
              <a:chExt cx="128" cy="113"/>
            </a:xfrm>
          </p:grpSpPr>
          <p:grpSp>
            <p:nvGrpSpPr>
              <p:cNvPr id="90" name="Group 83">
                <a:extLst>
                  <a:ext uri="{FF2B5EF4-FFF2-40B4-BE49-F238E27FC236}">
                    <a16:creationId xmlns:a16="http://schemas.microsoft.com/office/drawing/2014/main" id="{20B9945B-1926-ADD4-B4EA-3BB398B6DD64}"/>
                  </a:ext>
                </a:extLst>
              </p:cNvPr>
              <p:cNvGrpSpPr>
                <a:grpSpLocks/>
              </p:cNvGrpSpPr>
              <p:nvPr/>
            </p:nvGrpSpPr>
            <p:grpSpPr bwMode="auto">
              <a:xfrm>
                <a:off x="1669" y="1971"/>
                <a:ext cx="128" cy="113"/>
                <a:chOff x="1669" y="1971"/>
                <a:chExt cx="128" cy="113"/>
              </a:xfrm>
            </p:grpSpPr>
            <p:sp>
              <p:nvSpPr>
                <p:cNvPr id="92" name="Rectangle 84">
                  <a:extLst>
                    <a:ext uri="{FF2B5EF4-FFF2-40B4-BE49-F238E27FC236}">
                      <a16:creationId xmlns:a16="http://schemas.microsoft.com/office/drawing/2014/main" id="{B3F26189-5C4E-9EFA-B659-ECA3825E725C}"/>
                    </a:ext>
                  </a:extLst>
                </p:cNvPr>
                <p:cNvSpPr>
                  <a:spLocks noChangeArrowheads="1"/>
                </p:cNvSpPr>
                <p:nvPr/>
              </p:nvSpPr>
              <p:spPr bwMode="auto">
                <a:xfrm>
                  <a:off x="1669" y="1971"/>
                  <a:ext cx="128" cy="1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93" name="Freeform 85">
                  <a:extLst>
                    <a:ext uri="{FF2B5EF4-FFF2-40B4-BE49-F238E27FC236}">
                      <a16:creationId xmlns:a16="http://schemas.microsoft.com/office/drawing/2014/main" id="{F913CB86-B30D-D00F-70F8-7D5972C58BB1}"/>
                    </a:ext>
                  </a:extLst>
                </p:cNvPr>
                <p:cNvSpPr>
                  <a:spLocks/>
                </p:cNvSpPr>
                <p:nvPr/>
              </p:nvSpPr>
              <p:spPr bwMode="auto">
                <a:xfrm>
                  <a:off x="1669" y="1971"/>
                  <a:ext cx="126" cy="111"/>
                </a:xfrm>
                <a:custGeom>
                  <a:avLst/>
                  <a:gdLst>
                    <a:gd name="T0" fmla="*/ 16 w 251"/>
                    <a:gd name="T1" fmla="*/ 0 h 111"/>
                    <a:gd name="T2" fmla="*/ 13 w 251"/>
                    <a:gd name="T3" fmla="*/ 2 h 111"/>
                    <a:gd name="T4" fmla="*/ 10 w 251"/>
                    <a:gd name="T5" fmla="*/ 5 h 111"/>
                    <a:gd name="T6" fmla="*/ 7 w 251"/>
                    <a:gd name="T7" fmla="*/ 10 h 111"/>
                    <a:gd name="T8" fmla="*/ 5 w 251"/>
                    <a:gd name="T9" fmla="*/ 16 h 111"/>
                    <a:gd name="T10" fmla="*/ 3 w 251"/>
                    <a:gd name="T11" fmla="*/ 24 h 111"/>
                    <a:gd name="T12" fmla="*/ 2 w 251"/>
                    <a:gd name="T13" fmla="*/ 35 h 111"/>
                    <a:gd name="T14" fmla="*/ 1 w 251"/>
                    <a:gd name="T15" fmla="*/ 45 h 111"/>
                    <a:gd name="T16" fmla="*/ 0 w 251"/>
                    <a:gd name="T17" fmla="*/ 55 h 111"/>
                    <a:gd name="T18" fmla="*/ 1 w 251"/>
                    <a:gd name="T19" fmla="*/ 66 h 111"/>
                    <a:gd name="T20" fmla="*/ 2 w 251"/>
                    <a:gd name="T21" fmla="*/ 77 h 111"/>
                    <a:gd name="T22" fmla="*/ 3 w 251"/>
                    <a:gd name="T23" fmla="*/ 86 h 111"/>
                    <a:gd name="T24" fmla="*/ 5 w 251"/>
                    <a:gd name="T25" fmla="*/ 95 h 111"/>
                    <a:gd name="T26" fmla="*/ 7 w 251"/>
                    <a:gd name="T27" fmla="*/ 102 h 111"/>
                    <a:gd name="T28" fmla="*/ 10 w 251"/>
                    <a:gd name="T29" fmla="*/ 106 h 111"/>
                    <a:gd name="T30" fmla="*/ 13 w 251"/>
                    <a:gd name="T31" fmla="*/ 110 h 111"/>
                    <a:gd name="T32" fmla="*/ 16 w 251"/>
                    <a:gd name="T33" fmla="*/ 111 h 111"/>
                    <a:gd name="T34" fmla="*/ 19 w 251"/>
                    <a:gd name="T35" fmla="*/ 110 h 111"/>
                    <a:gd name="T36" fmla="*/ 22 w 251"/>
                    <a:gd name="T37" fmla="*/ 106 h 111"/>
                    <a:gd name="T38" fmla="*/ 25 w 251"/>
                    <a:gd name="T39" fmla="*/ 102 h 111"/>
                    <a:gd name="T40" fmla="*/ 27 w 251"/>
                    <a:gd name="T41" fmla="*/ 95 h 111"/>
                    <a:gd name="T42" fmla="*/ 29 w 251"/>
                    <a:gd name="T43" fmla="*/ 86 h 111"/>
                    <a:gd name="T44" fmla="*/ 31 w 251"/>
                    <a:gd name="T45" fmla="*/ 77 h 111"/>
                    <a:gd name="T46" fmla="*/ 32 w 251"/>
                    <a:gd name="T47" fmla="*/ 66 h 111"/>
                    <a:gd name="T48" fmla="*/ 32 w 251"/>
                    <a:gd name="T49" fmla="*/ 55 h 111"/>
                    <a:gd name="T50" fmla="*/ 32 w 251"/>
                    <a:gd name="T51" fmla="*/ 45 h 111"/>
                    <a:gd name="T52" fmla="*/ 31 w 251"/>
                    <a:gd name="T53" fmla="*/ 35 h 111"/>
                    <a:gd name="T54" fmla="*/ 29 w 251"/>
                    <a:gd name="T55" fmla="*/ 24 h 111"/>
                    <a:gd name="T56" fmla="*/ 27 w 251"/>
                    <a:gd name="T57" fmla="*/ 16 h 111"/>
                    <a:gd name="T58" fmla="*/ 25 w 251"/>
                    <a:gd name="T59" fmla="*/ 10 h 111"/>
                    <a:gd name="T60" fmla="*/ 22 w 251"/>
                    <a:gd name="T61" fmla="*/ 5 h 111"/>
                    <a:gd name="T62" fmla="*/ 19 w 251"/>
                    <a:gd name="T63" fmla="*/ 2 h 111"/>
                    <a:gd name="T64" fmla="*/ 16 w 251"/>
                    <a:gd name="T65" fmla="*/ 0 h 11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1" h="111">
                      <a:moveTo>
                        <a:pt x="125" y="0"/>
                      </a:moveTo>
                      <a:lnTo>
                        <a:pt x="100" y="2"/>
                      </a:lnTo>
                      <a:lnTo>
                        <a:pt x="77" y="5"/>
                      </a:lnTo>
                      <a:lnTo>
                        <a:pt x="56" y="10"/>
                      </a:lnTo>
                      <a:lnTo>
                        <a:pt x="36" y="16"/>
                      </a:lnTo>
                      <a:lnTo>
                        <a:pt x="21" y="24"/>
                      </a:lnTo>
                      <a:lnTo>
                        <a:pt x="9" y="35"/>
                      </a:lnTo>
                      <a:lnTo>
                        <a:pt x="2" y="45"/>
                      </a:lnTo>
                      <a:lnTo>
                        <a:pt x="0" y="55"/>
                      </a:lnTo>
                      <a:lnTo>
                        <a:pt x="2" y="66"/>
                      </a:lnTo>
                      <a:lnTo>
                        <a:pt x="9" y="77"/>
                      </a:lnTo>
                      <a:lnTo>
                        <a:pt x="21" y="86"/>
                      </a:lnTo>
                      <a:lnTo>
                        <a:pt x="36" y="95"/>
                      </a:lnTo>
                      <a:lnTo>
                        <a:pt x="56" y="102"/>
                      </a:lnTo>
                      <a:lnTo>
                        <a:pt x="77" y="106"/>
                      </a:lnTo>
                      <a:lnTo>
                        <a:pt x="100" y="110"/>
                      </a:lnTo>
                      <a:lnTo>
                        <a:pt x="125" y="111"/>
                      </a:lnTo>
                      <a:lnTo>
                        <a:pt x="150" y="110"/>
                      </a:lnTo>
                      <a:lnTo>
                        <a:pt x="175" y="106"/>
                      </a:lnTo>
                      <a:lnTo>
                        <a:pt x="196" y="102"/>
                      </a:lnTo>
                      <a:lnTo>
                        <a:pt x="215" y="95"/>
                      </a:lnTo>
                      <a:lnTo>
                        <a:pt x="230" y="86"/>
                      </a:lnTo>
                      <a:lnTo>
                        <a:pt x="242" y="77"/>
                      </a:lnTo>
                      <a:lnTo>
                        <a:pt x="249" y="66"/>
                      </a:lnTo>
                      <a:lnTo>
                        <a:pt x="251" y="55"/>
                      </a:lnTo>
                      <a:lnTo>
                        <a:pt x="249" y="45"/>
                      </a:lnTo>
                      <a:lnTo>
                        <a:pt x="242" y="35"/>
                      </a:lnTo>
                      <a:lnTo>
                        <a:pt x="230" y="24"/>
                      </a:lnTo>
                      <a:lnTo>
                        <a:pt x="215" y="16"/>
                      </a:lnTo>
                      <a:lnTo>
                        <a:pt x="196" y="10"/>
                      </a:lnTo>
                      <a:lnTo>
                        <a:pt x="175" y="5"/>
                      </a:lnTo>
                      <a:lnTo>
                        <a:pt x="150" y="2"/>
                      </a:lnTo>
                      <a:lnTo>
                        <a:pt x="125" y="0"/>
                      </a:lnTo>
                      <a:close/>
                    </a:path>
                  </a:pathLst>
                </a:custGeom>
                <a:solidFill>
                  <a:srgbClr val="FF0000"/>
                </a:solidFill>
                <a:ln w="0">
                  <a:solidFill>
                    <a:srgbClr val="FFFFFF"/>
                  </a:solidFill>
                  <a:prstDash val="solid"/>
                  <a:round/>
                  <a:headEnd/>
                  <a:tailEnd/>
                </a:ln>
              </p:spPr>
              <p:txBody>
                <a:bodyPr/>
                <a:lstStyle/>
                <a:p>
                  <a:endParaRPr lang="en-US">
                    <a:latin typeface="Roboto" panose="02000000000000000000" pitchFamily="2" charset="0"/>
                    <a:ea typeface="Roboto" panose="02000000000000000000" pitchFamily="2" charset="0"/>
                  </a:endParaRPr>
                </a:p>
              </p:txBody>
            </p:sp>
            <p:sp>
              <p:nvSpPr>
                <p:cNvPr id="94" name="Oval 86">
                  <a:extLst>
                    <a:ext uri="{FF2B5EF4-FFF2-40B4-BE49-F238E27FC236}">
                      <a16:creationId xmlns:a16="http://schemas.microsoft.com/office/drawing/2014/main" id="{070F3C7F-E49F-DBF2-50FA-C8D69873692D}"/>
                    </a:ext>
                  </a:extLst>
                </p:cNvPr>
                <p:cNvSpPr>
                  <a:spLocks noChangeArrowheads="1"/>
                </p:cNvSpPr>
                <p:nvPr/>
              </p:nvSpPr>
              <p:spPr bwMode="auto">
                <a:xfrm>
                  <a:off x="1669" y="1971"/>
                  <a:ext cx="127" cy="112"/>
                </a:xfrm>
                <a:prstGeom prst="ellipse">
                  <a:avLst/>
                </a:prstGeom>
                <a:blipFill dpi="0" rotWithShape="0">
                  <a:blip/>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95" name="Rectangle 87">
                  <a:extLst>
                    <a:ext uri="{FF2B5EF4-FFF2-40B4-BE49-F238E27FC236}">
                      <a16:creationId xmlns:a16="http://schemas.microsoft.com/office/drawing/2014/main" id="{1AF34F43-967F-E7FB-FA9C-372EB4F8EE22}"/>
                    </a:ext>
                  </a:extLst>
                </p:cNvPr>
                <p:cNvSpPr>
                  <a:spLocks noChangeArrowheads="1"/>
                </p:cNvSpPr>
                <p:nvPr/>
              </p:nvSpPr>
              <p:spPr bwMode="auto">
                <a:xfrm>
                  <a:off x="1669" y="1971"/>
                  <a:ext cx="128" cy="1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sp>
            <p:nvSpPr>
              <p:cNvPr id="91" name="Oval 88">
                <a:extLst>
                  <a:ext uri="{FF2B5EF4-FFF2-40B4-BE49-F238E27FC236}">
                    <a16:creationId xmlns:a16="http://schemas.microsoft.com/office/drawing/2014/main" id="{C0AB2945-7308-B131-6531-D59AA0F3AF95}"/>
                  </a:ext>
                </a:extLst>
              </p:cNvPr>
              <p:cNvSpPr>
                <a:spLocks noChangeArrowheads="1"/>
              </p:cNvSpPr>
              <p:nvPr/>
            </p:nvSpPr>
            <p:spPr bwMode="auto">
              <a:xfrm>
                <a:off x="1669" y="1971"/>
                <a:ext cx="127" cy="112"/>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96" name="Group 89">
              <a:extLst>
                <a:ext uri="{FF2B5EF4-FFF2-40B4-BE49-F238E27FC236}">
                  <a16:creationId xmlns:a16="http://schemas.microsoft.com/office/drawing/2014/main" id="{07436E02-919D-6AAF-9705-0FF712A2F2BA}"/>
                </a:ext>
              </a:extLst>
            </p:cNvPr>
            <p:cNvGrpSpPr>
              <a:grpSpLocks/>
            </p:cNvGrpSpPr>
            <p:nvPr/>
          </p:nvGrpSpPr>
          <p:grpSpPr bwMode="auto">
            <a:xfrm>
              <a:off x="2449513" y="3703638"/>
              <a:ext cx="203200" cy="177800"/>
              <a:chOff x="1669" y="2354"/>
              <a:chExt cx="128" cy="112"/>
            </a:xfrm>
          </p:grpSpPr>
          <p:grpSp>
            <p:nvGrpSpPr>
              <p:cNvPr id="97" name="Group 90">
                <a:extLst>
                  <a:ext uri="{FF2B5EF4-FFF2-40B4-BE49-F238E27FC236}">
                    <a16:creationId xmlns:a16="http://schemas.microsoft.com/office/drawing/2014/main" id="{FCE3C80F-4184-6BE3-37A7-D572E24F7D74}"/>
                  </a:ext>
                </a:extLst>
              </p:cNvPr>
              <p:cNvGrpSpPr>
                <a:grpSpLocks/>
              </p:cNvGrpSpPr>
              <p:nvPr/>
            </p:nvGrpSpPr>
            <p:grpSpPr bwMode="auto">
              <a:xfrm>
                <a:off x="1669" y="2354"/>
                <a:ext cx="128" cy="112"/>
                <a:chOff x="1669" y="2354"/>
                <a:chExt cx="128" cy="112"/>
              </a:xfrm>
            </p:grpSpPr>
            <p:sp>
              <p:nvSpPr>
                <p:cNvPr id="99" name="Rectangle 91">
                  <a:extLst>
                    <a:ext uri="{FF2B5EF4-FFF2-40B4-BE49-F238E27FC236}">
                      <a16:creationId xmlns:a16="http://schemas.microsoft.com/office/drawing/2014/main" id="{6E6EAC5E-6418-1E76-7F09-2A29A7CAA9D3}"/>
                    </a:ext>
                  </a:extLst>
                </p:cNvPr>
                <p:cNvSpPr>
                  <a:spLocks noChangeArrowheads="1"/>
                </p:cNvSpPr>
                <p:nvPr/>
              </p:nvSpPr>
              <p:spPr bwMode="auto">
                <a:xfrm>
                  <a:off x="1669" y="2354"/>
                  <a:ext cx="128" cy="112"/>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00" name="Freeform 92">
                  <a:extLst>
                    <a:ext uri="{FF2B5EF4-FFF2-40B4-BE49-F238E27FC236}">
                      <a16:creationId xmlns:a16="http://schemas.microsoft.com/office/drawing/2014/main" id="{F75344F3-4299-8C63-7D3E-EE9CC705ED65}"/>
                    </a:ext>
                  </a:extLst>
                </p:cNvPr>
                <p:cNvSpPr>
                  <a:spLocks/>
                </p:cNvSpPr>
                <p:nvPr/>
              </p:nvSpPr>
              <p:spPr bwMode="auto">
                <a:xfrm>
                  <a:off x="1669" y="2354"/>
                  <a:ext cx="126" cy="110"/>
                </a:xfrm>
                <a:custGeom>
                  <a:avLst/>
                  <a:gdLst>
                    <a:gd name="T0" fmla="*/ 16 w 251"/>
                    <a:gd name="T1" fmla="*/ 0 h 110"/>
                    <a:gd name="T2" fmla="*/ 13 w 251"/>
                    <a:gd name="T3" fmla="*/ 1 h 110"/>
                    <a:gd name="T4" fmla="*/ 10 w 251"/>
                    <a:gd name="T5" fmla="*/ 4 h 110"/>
                    <a:gd name="T6" fmla="*/ 7 w 251"/>
                    <a:gd name="T7" fmla="*/ 9 h 110"/>
                    <a:gd name="T8" fmla="*/ 5 w 251"/>
                    <a:gd name="T9" fmla="*/ 16 h 110"/>
                    <a:gd name="T10" fmla="*/ 3 w 251"/>
                    <a:gd name="T11" fmla="*/ 24 h 110"/>
                    <a:gd name="T12" fmla="*/ 2 w 251"/>
                    <a:gd name="T13" fmla="*/ 34 h 110"/>
                    <a:gd name="T14" fmla="*/ 1 w 251"/>
                    <a:gd name="T15" fmla="*/ 44 h 110"/>
                    <a:gd name="T16" fmla="*/ 0 w 251"/>
                    <a:gd name="T17" fmla="*/ 54 h 110"/>
                    <a:gd name="T18" fmla="*/ 1 w 251"/>
                    <a:gd name="T19" fmla="*/ 66 h 110"/>
                    <a:gd name="T20" fmla="*/ 2 w 251"/>
                    <a:gd name="T21" fmla="*/ 76 h 110"/>
                    <a:gd name="T22" fmla="*/ 3 w 251"/>
                    <a:gd name="T23" fmla="*/ 85 h 110"/>
                    <a:gd name="T24" fmla="*/ 5 w 251"/>
                    <a:gd name="T25" fmla="*/ 94 h 110"/>
                    <a:gd name="T26" fmla="*/ 7 w 251"/>
                    <a:gd name="T27" fmla="*/ 101 h 110"/>
                    <a:gd name="T28" fmla="*/ 10 w 251"/>
                    <a:gd name="T29" fmla="*/ 105 h 110"/>
                    <a:gd name="T30" fmla="*/ 13 w 251"/>
                    <a:gd name="T31" fmla="*/ 109 h 110"/>
                    <a:gd name="T32" fmla="*/ 16 w 251"/>
                    <a:gd name="T33" fmla="*/ 110 h 110"/>
                    <a:gd name="T34" fmla="*/ 19 w 251"/>
                    <a:gd name="T35" fmla="*/ 109 h 110"/>
                    <a:gd name="T36" fmla="*/ 22 w 251"/>
                    <a:gd name="T37" fmla="*/ 105 h 110"/>
                    <a:gd name="T38" fmla="*/ 25 w 251"/>
                    <a:gd name="T39" fmla="*/ 101 h 110"/>
                    <a:gd name="T40" fmla="*/ 27 w 251"/>
                    <a:gd name="T41" fmla="*/ 94 h 110"/>
                    <a:gd name="T42" fmla="*/ 29 w 251"/>
                    <a:gd name="T43" fmla="*/ 85 h 110"/>
                    <a:gd name="T44" fmla="*/ 31 w 251"/>
                    <a:gd name="T45" fmla="*/ 76 h 110"/>
                    <a:gd name="T46" fmla="*/ 32 w 251"/>
                    <a:gd name="T47" fmla="*/ 66 h 110"/>
                    <a:gd name="T48" fmla="*/ 32 w 251"/>
                    <a:gd name="T49" fmla="*/ 54 h 110"/>
                    <a:gd name="T50" fmla="*/ 32 w 251"/>
                    <a:gd name="T51" fmla="*/ 44 h 110"/>
                    <a:gd name="T52" fmla="*/ 31 w 251"/>
                    <a:gd name="T53" fmla="*/ 34 h 110"/>
                    <a:gd name="T54" fmla="*/ 29 w 251"/>
                    <a:gd name="T55" fmla="*/ 24 h 110"/>
                    <a:gd name="T56" fmla="*/ 27 w 251"/>
                    <a:gd name="T57" fmla="*/ 16 h 110"/>
                    <a:gd name="T58" fmla="*/ 25 w 251"/>
                    <a:gd name="T59" fmla="*/ 9 h 110"/>
                    <a:gd name="T60" fmla="*/ 22 w 251"/>
                    <a:gd name="T61" fmla="*/ 4 h 110"/>
                    <a:gd name="T62" fmla="*/ 19 w 251"/>
                    <a:gd name="T63" fmla="*/ 1 h 110"/>
                    <a:gd name="T64" fmla="*/ 16 w 251"/>
                    <a:gd name="T65" fmla="*/ 0 h 11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1" h="110">
                      <a:moveTo>
                        <a:pt x="125" y="0"/>
                      </a:moveTo>
                      <a:lnTo>
                        <a:pt x="100" y="1"/>
                      </a:lnTo>
                      <a:lnTo>
                        <a:pt x="77" y="4"/>
                      </a:lnTo>
                      <a:lnTo>
                        <a:pt x="56" y="9"/>
                      </a:lnTo>
                      <a:lnTo>
                        <a:pt x="36" y="16"/>
                      </a:lnTo>
                      <a:lnTo>
                        <a:pt x="21" y="24"/>
                      </a:lnTo>
                      <a:lnTo>
                        <a:pt x="9" y="34"/>
                      </a:lnTo>
                      <a:lnTo>
                        <a:pt x="2" y="44"/>
                      </a:lnTo>
                      <a:lnTo>
                        <a:pt x="0" y="54"/>
                      </a:lnTo>
                      <a:lnTo>
                        <a:pt x="2" y="66"/>
                      </a:lnTo>
                      <a:lnTo>
                        <a:pt x="9" y="76"/>
                      </a:lnTo>
                      <a:lnTo>
                        <a:pt x="21" y="85"/>
                      </a:lnTo>
                      <a:lnTo>
                        <a:pt x="36" y="94"/>
                      </a:lnTo>
                      <a:lnTo>
                        <a:pt x="56" y="101"/>
                      </a:lnTo>
                      <a:lnTo>
                        <a:pt x="77" y="105"/>
                      </a:lnTo>
                      <a:lnTo>
                        <a:pt x="100" y="109"/>
                      </a:lnTo>
                      <a:lnTo>
                        <a:pt x="125" y="110"/>
                      </a:lnTo>
                      <a:lnTo>
                        <a:pt x="150" y="109"/>
                      </a:lnTo>
                      <a:lnTo>
                        <a:pt x="175" y="105"/>
                      </a:lnTo>
                      <a:lnTo>
                        <a:pt x="196" y="101"/>
                      </a:lnTo>
                      <a:lnTo>
                        <a:pt x="215" y="94"/>
                      </a:lnTo>
                      <a:lnTo>
                        <a:pt x="230" y="85"/>
                      </a:lnTo>
                      <a:lnTo>
                        <a:pt x="242" y="76"/>
                      </a:lnTo>
                      <a:lnTo>
                        <a:pt x="249" y="66"/>
                      </a:lnTo>
                      <a:lnTo>
                        <a:pt x="251" y="54"/>
                      </a:lnTo>
                      <a:lnTo>
                        <a:pt x="249" y="44"/>
                      </a:lnTo>
                      <a:lnTo>
                        <a:pt x="242" y="34"/>
                      </a:lnTo>
                      <a:lnTo>
                        <a:pt x="230" y="24"/>
                      </a:lnTo>
                      <a:lnTo>
                        <a:pt x="215" y="16"/>
                      </a:lnTo>
                      <a:lnTo>
                        <a:pt x="196" y="9"/>
                      </a:lnTo>
                      <a:lnTo>
                        <a:pt x="175" y="4"/>
                      </a:lnTo>
                      <a:lnTo>
                        <a:pt x="150" y="1"/>
                      </a:lnTo>
                      <a:lnTo>
                        <a:pt x="125" y="0"/>
                      </a:lnTo>
                      <a:close/>
                    </a:path>
                  </a:pathLst>
                </a:custGeom>
                <a:solidFill>
                  <a:srgbClr val="FF0000"/>
                </a:solidFill>
                <a:ln w="0">
                  <a:solidFill>
                    <a:srgbClr val="FFFFFF"/>
                  </a:solidFill>
                  <a:prstDash val="solid"/>
                  <a:round/>
                  <a:headEnd/>
                  <a:tailEnd/>
                </a:ln>
              </p:spPr>
              <p:txBody>
                <a:bodyPr/>
                <a:lstStyle/>
                <a:p>
                  <a:endParaRPr lang="en-US">
                    <a:latin typeface="Roboto" panose="02000000000000000000" pitchFamily="2" charset="0"/>
                    <a:ea typeface="Roboto" panose="02000000000000000000" pitchFamily="2" charset="0"/>
                  </a:endParaRPr>
                </a:p>
              </p:txBody>
            </p:sp>
            <p:sp>
              <p:nvSpPr>
                <p:cNvPr id="101" name="Oval 93">
                  <a:extLst>
                    <a:ext uri="{FF2B5EF4-FFF2-40B4-BE49-F238E27FC236}">
                      <a16:creationId xmlns:a16="http://schemas.microsoft.com/office/drawing/2014/main" id="{4A8CBD29-C648-2C45-52F2-A6A7D1E8F874}"/>
                    </a:ext>
                  </a:extLst>
                </p:cNvPr>
                <p:cNvSpPr>
                  <a:spLocks noChangeArrowheads="1"/>
                </p:cNvSpPr>
                <p:nvPr/>
              </p:nvSpPr>
              <p:spPr bwMode="auto">
                <a:xfrm>
                  <a:off x="1669" y="2354"/>
                  <a:ext cx="127" cy="111"/>
                </a:xfrm>
                <a:prstGeom prst="ellipse">
                  <a:avLst/>
                </a:prstGeom>
                <a:blipFill dpi="0" rotWithShape="0">
                  <a:blip/>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02" name="Rectangle 94">
                  <a:extLst>
                    <a:ext uri="{FF2B5EF4-FFF2-40B4-BE49-F238E27FC236}">
                      <a16:creationId xmlns:a16="http://schemas.microsoft.com/office/drawing/2014/main" id="{69F5616F-7912-22E4-F0D2-333BBA766774}"/>
                    </a:ext>
                  </a:extLst>
                </p:cNvPr>
                <p:cNvSpPr>
                  <a:spLocks noChangeArrowheads="1"/>
                </p:cNvSpPr>
                <p:nvPr/>
              </p:nvSpPr>
              <p:spPr bwMode="auto">
                <a:xfrm>
                  <a:off x="1669" y="2354"/>
                  <a:ext cx="128" cy="112"/>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sp>
            <p:nvSpPr>
              <p:cNvPr id="98" name="Oval 95">
                <a:extLst>
                  <a:ext uri="{FF2B5EF4-FFF2-40B4-BE49-F238E27FC236}">
                    <a16:creationId xmlns:a16="http://schemas.microsoft.com/office/drawing/2014/main" id="{99AA11C0-859C-6573-316D-55786BB6EF83}"/>
                  </a:ext>
                </a:extLst>
              </p:cNvPr>
              <p:cNvSpPr>
                <a:spLocks noChangeArrowheads="1"/>
              </p:cNvSpPr>
              <p:nvPr/>
            </p:nvSpPr>
            <p:spPr bwMode="auto">
              <a:xfrm>
                <a:off x="1669" y="2354"/>
                <a:ext cx="127" cy="111"/>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103" name="Group 96">
              <a:extLst>
                <a:ext uri="{FF2B5EF4-FFF2-40B4-BE49-F238E27FC236}">
                  <a16:creationId xmlns:a16="http://schemas.microsoft.com/office/drawing/2014/main" id="{C3C34158-7747-4ABF-0650-7640AB7FAB99}"/>
                </a:ext>
              </a:extLst>
            </p:cNvPr>
            <p:cNvGrpSpPr>
              <a:grpSpLocks/>
            </p:cNvGrpSpPr>
            <p:nvPr/>
          </p:nvGrpSpPr>
          <p:grpSpPr bwMode="auto">
            <a:xfrm>
              <a:off x="2449513" y="4006850"/>
              <a:ext cx="203200" cy="177800"/>
              <a:chOff x="1669" y="2545"/>
              <a:chExt cx="128" cy="112"/>
            </a:xfrm>
          </p:grpSpPr>
          <p:grpSp>
            <p:nvGrpSpPr>
              <p:cNvPr id="104" name="Group 97">
                <a:extLst>
                  <a:ext uri="{FF2B5EF4-FFF2-40B4-BE49-F238E27FC236}">
                    <a16:creationId xmlns:a16="http://schemas.microsoft.com/office/drawing/2014/main" id="{D2F6F21A-F124-3780-3F9D-31EBFB4F0E8E}"/>
                  </a:ext>
                </a:extLst>
              </p:cNvPr>
              <p:cNvGrpSpPr>
                <a:grpSpLocks/>
              </p:cNvGrpSpPr>
              <p:nvPr/>
            </p:nvGrpSpPr>
            <p:grpSpPr bwMode="auto">
              <a:xfrm>
                <a:off x="1669" y="2545"/>
                <a:ext cx="128" cy="112"/>
                <a:chOff x="1669" y="2545"/>
                <a:chExt cx="128" cy="112"/>
              </a:xfrm>
            </p:grpSpPr>
            <p:sp>
              <p:nvSpPr>
                <p:cNvPr id="106" name="Rectangle 98">
                  <a:extLst>
                    <a:ext uri="{FF2B5EF4-FFF2-40B4-BE49-F238E27FC236}">
                      <a16:creationId xmlns:a16="http://schemas.microsoft.com/office/drawing/2014/main" id="{5008C924-AF27-C42C-7C24-0687423FB832}"/>
                    </a:ext>
                  </a:extLst>
                </p:cNvPr>
                <p:cNvSpPr>
                  <a:spLocks noChangeArrowheads="1"/>
                </p:cNvSpPr>
                <p:nvPr/>
              </p:nvSpPr>
              <p:spPr bwMode="auto">
                <a:xfrm>
                  <a:off x="1669" y="2545"/>
                  <a:ext cx="128" cy="112"/>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07" name="Freeform 99">
                  <a:extLst>
                    <a:ext uri="{FF2B5EF4-FFF2-40B4-BE49-F238E27FC236}">
                      <a16:creationId xmlns:a16="http://schemas.microsoft.com/office/drawing/2014/main" id="{7ECC1FA7-DAAD-DB1B-8E40-6A85ABFE6DFD}"/>
                    </a:ext>
                  </a:extLst>
                </p:cNvPr>
                <p:cNvSpPr>
                  <a:spLocks/>
                </p:cNvSpPr>
                <p:nvPr/>
              </p:nvSpPr>
              <p:spPr bwMode="auto">
                <a:xfrm>
                  <a:off x="1669" y="2545"/>
                  <a:ext cx="126" cy="110"/>
                </a:xfrm>
                <a:custGeom>
                  <a:avLst/>
                  <a:gdLst>
                    <a:gd name="T0" fmla="*/ 16 w 251"/>
                    <a:gd name="T1" fmla="*/ 0 h 110"/>
                    <a:gd name="T2" fmla="*/ 13 w 251"/>
                    <a:gd name="T3" fmla="*/ 1 h 110"/>
                    <a:gd name="T4" fmla="*/ 10 w 251"/>
                    <a:gd name="T5" fmla="*/ 4 h 110"/>
                    <a:gd name="T6" fmla="*/ 7 w 251"/>
                    <a:gd name="T7" fmla="*/ 9 h 110"/>
                    <a:gd name="T8" fmla="*/ 5 w 251"/>
                    <a:gd name="T9" fmla="*/ 16 h 110"/>
                    <a:gd name="T10" fmla="*/ 3 w 251"/>
                    <a:gd name="T11" fmla="*/ 24 h 110"/>
                    <a:gd name="T12" fmla="*/ 2 w 251"/>
                    <a:gd name="T13" fmla="*/ 34 h 110"/>
                    <a:gd name="T14" fmla="*/ 1 w 251"/>
                    <a:gd name="T15" fmla="*/ 44 h 110"/>
                    <a:gd name="T16" fmla="*/ 0 w 251"/>
                    <a:gd name="T17" fmla="*/ 54 h 110"/>
                    <a:gd name="T18" fmla="*/ 1 w 251"/>
                    <a:gd name="T19" fmla="*/ 66 h 110"/>
                    <a:gd name="T20" fmla="*/ 2 w 251"/>
                    <a:gd name="T21" fmla="*/ 76 h 110"/>
                    <a:gd name="T22" fmla="*/ 3 w 251"/>
                    <a:gd name="T23" fmla="*/ 85 h 110"/>
                    <a:gd name="T24" fmla="*/ 5 w 251"/>
                    <a:gd name="T25" fmla="*/ 94 h 110"/>
                    <a:gd name="T26" fmla="*/ 7 w 251"/>
                    <a:gd name="T27" fmla="*/ 101 h 110"/>
                    <a:gd name="T28" fmla="*/ 10 w 251"/>
                    <a:gd name="T29" fmla="*/ 106 h 110"/>
                    <a:gd name="T30" fmla="*/ 13 w 251"/>
                    <a:gd name="T31" fmla="*/ 109 h 110"/>
                    <a:gd name="T32" fmla="*/ 16 w 251"/>
                    <a:gd name="T33" fmla="*/ 110 h 110"/>
                    <a:gd name="T34" fmla="*/ 19 w 251"/>
                    <a:gd name="T35" fmla="*/ 109 h 110"/>
                    <a:gd name="T36" fmla="*/ 22 w 251"/>
                    <a:gd name="T37" fmla="*/ 106 h 110"/>
                    <a:gd name="T38" fmla="*/ 25 w 251"/>
                    <a:gd name="T39" fmla="*/ 101 h 110"/>
                    <a:gd name="T40" fmla="*/ 27 w 251"/>
                    <a:gd name="T41" fmla="*/ 94 h 110"/>
                    <a:gd name="T42" fmla="*/ 29 w 251"/>
                    <a:gd name="T43" fmla="*/ 85 h 110"/>
                    <a:gd name="T44" fmla="*/ 31 w 251"/>
                    <a:gd name="T45" fmla="*/ 76 h 110"/>
                    <a:gd name="T46" fmla="*/ 32 w 251"/>
                    <a:gd name="T47" fmla="*/ 66 h 110"/>
                    <a:gd name="T48" fmla="*/ 32 w 251"/>
                    <a:gd name="T49" fmla="*/ 54 h 110"/>
                    <a:gd name="T50" fmla="*/ 32 w 251"/>
                    <a:gd name="T51" fmla="*/ 44 h 110"/>
                    <a:gd name="T52" fmla="*/ 31 w 251"/>
                    <a:gd name="T53" fmla="*/ 34 h 110"/>
                    <a:gd name="T54" fmla="*/ 29 w 251"/>
                    <a:gd name="T55" fmla="*/ 24 h 110"/>
                    <a:gd name="T56" fmla="*/ 27 w 251"/>
                    <a:gd name="T57" fmla="*/ 16 h 110"/>
                    <a:gd name="T58" fmla="*/ 25 w 251"/>
                    <a:gd name="T59" fmla="*/ 9 h 110"/>
                    <a:gd name="T60" fmla="*/ 22 w 251"/>
                    <a:gd name="T61" fmla="*/ 4 h 110"/>
                    <a:gd name="T62" fmla="*/ 19 w 251"/>
                    <a:gd name="T63" fmla="*/ 1 h 110"/>
                    <a:gd name="T64" fmla="*/ 16 w 251"/>
                    <a:gd name="T65" fmla="*/ 0 h 11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1" h="110">
                      <a:moveTo>
                        <a:pt x="125" y="0"/>
                      </a:moveTo>
                      <a:lnTo>
                        <a:pt x="100" y="1"/>
                      </a:lnTo>
                      <a:lnTo>
                        <a:pt x="77" y="4"/>
                      </a:lnTo>
                      <a:lnTo>
                        <a:pt x="56" y="9"/>
                      </a:lnTo>
                      <a:lnTo>
                        <a:pt x="36" y="16"/>
                      </a:lnTo>
                      <a:lnTo>
                        <a:pt x="21" y="24"/>
                      </a:lnTo>
                      <a:lnTo>
                        <a:pt x="9" y="34"/>
                      </a:lnTo>
                      <a:lnTo>
                        <a:pt x="2" y="44"/>
                      </a:lnTo>
                      <a:lnTo>
                        <a:pt x="0" y="54"/>
                      </a:lnTo>
                      <a:lnTo>
                        <a:pt x="2" y="66"/>
                      </a:lnTo>
                      <a:lnTo>
                        <a:pt x="9" y="76"/>
                      </a:lnTo>
                      <a:lnTo>
                        <a:pt x="21" y="85"/>
                      </a:lnTo>
                      <a:lnTo>
                        <a:pt x="36" y="94"/>
                      </a:lnTo>
                      <a:lnTo>
                        <a:pt x="56" y="101"/>
                      </a:lnTo>
                      <a:lnTo>
                        <a:pt x="77" y="106"/>
                      </a:lnTo>
                      <a:lnTo>
                        <a:pt x="100" y="109"/>
                      </a:lnTo>
                      <a:lnTo>
                        <a:pt x="125" y="110"/>
                      </a:lnTo>
                      <a:lnTo>
                        <a:pt x="150" y="109"/>
                      </a:lnTo>
                      <a:lnTo>
                        <a:pt x="175" y="106"/>
                      </a:lnTo>
                      <a:lnTo>
                        <a:pt x="196" y="101"/>
                      </a:lnTo>
                      <a:lnTo>
                        <a:pt x="215" y="94"/>
                      </a:lnTo>
                      <a:lnTo>
                        <a:pt x="230" y="85"/>
                      </a:lnTo>
                      <a:lnTo>
                        <a:pt x="242" y="76"/>
                      </a:lnTo>
                      <a:lnTo>
                        <a:pt x="249" y="66"/>
                      </a:lnTo>
                      <a:lnTo>
                        <a:pt x="251" y="54"/>
                      </a:lnTo>
                      <a:lnTo>
                        <a:pt x="249" y="44"/>
                      </a:lnTo>
                      <a:lnTo>
                        <a:pt x="242" y="34"/>
                      </a:lnTo>
                      <a:lnTo>
                        <a:pt x="230" y="24"/>
                      </a:lnTo>
                      <a:lnTo>
                        <a:pt x="215" y="16"/>
                      </a:lnTo>
                      <a:lnTo>
                        <a:pt x="196" y="9"/>
                      </a:lnTo>
                      <a:lnTo>
                        <a:pt x="175" y="4"/>
                      </a:lnTo>
                      <a:lnTo>
                        <a:pt x="150" y="1"/>
                      </a:lnTo>
                      <a:lnTo>
                        <a:pt x="125" y="0"/>
                      </a:lnTo>
                      <a:close/>
                    </a:path>
                  </a:pathLst>
                </a:custGeom>
                <a:solidFill>
                  <a:srgbClr val="FF0000"/>
                </a:solidFill>
                <a:ln w="0">
                  <a:solidFill>
                    <a:srgbClr val="FFFFFF"/>
                  </a:solidFill>
                  <a:prstDash val="solid"/>
                  <a:round/>
                  <a:headEnd/>
                  <a:tailEnd/>
                </a:ln>
              </p:spPr>
              <p:txBody>
                <a:bodyPr/>
                <a:lstStyle/>
                <a:p>
                  <a:endParaRPr lang="en-US">
                    <a:latin typeface="Roboto" panose="02000000000000000000" pitchFamily="2" charset="0"/>
                    <a:ea typeface="Roboto" panose="02000000000000000000" pitchFamily="2" charset="0"/>
                  </a:endParaRPr>
                </a:p>
              </p:txBody>
            </p:sp>
            <p:sp>
              <p:nvSpPr>
                <p:cNvPr id="108" name="Oval 100">
                  <a:extLst>
                    <a:ext uri="{FF2B5EF4-FFF2-40B4-BE49-F238E27FC236}">
                      <a16:creationId xmlns:a16="http://schemas.microsoft.com/office/drawing/2014/main" id="{5D9BACE8-63AE-3298-CE96-C08DFECF1393}"/>
                    </a:ext>
                  </a:extLst>
                </p:cNvPr>
                <p:cNvSpPr>
                  <a:spLocks noChangeArrowheads="1"/>
                </p:cNvSpPr>
                <p:nvPr/>
              </p:nvSpPr>
              <p:spPr bwMode="auto">
                <a:xfrm>
                  <a:off x="1669" y="2545"/>
                  <a:ext cx="127" cy="111"/>
                </a:xfrm>
                <a:prstGeom prst="ellipse">
                  <a:avLst/>
                </a:prstGeom>
                <a:blipFill dpi="0" rotWithShape="0">
                  <a:blip/>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09" name="Rectangle 101">
                  <a:extLst>
                    <a:ext uri="{FF2B5EF4-FFF2-40B4-BE49-F238E27FC236}">
                      <a16:creationId xmlns:a16="http://schemas.microsoft.com/office/drawing/2014/main" id="{58A9FAAB-17AE-F6A3-FF05-F8BEF1824E94}"/>
                    </a:ext>
                  </a:extLst>
                </p:cNvPr>
                <p:cNvSpPr>
                  <a:spLocks noChangeArrowheads="1"/>
                </p:cNvSpPr>
                <p:nvPr/>
              </p:nvSpPr>
              <p:spPr bwMode="auto">
                <a:xfrm>
                  <a:off x="1669" y="2545"/>
                  <a:ext cx="128" cy="112"/>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sp>
            <p:nvSpPr>
              <p:cNvPr id="105" name="Oval 102">
                <a:extLst>
                  <a:ext uri="{FF2B5EF4-FFF2-40B4-BE49-F238E27FC236}">
                    <a16:creationId xmlns:a16="http://schemas.microsoft.com/office/drawing/2014/main" id="{BC2201B4-FDA1-0B3C-D65E-1300E8A70C27}"/>
                  </a:ext>
                </a:extLst>
              </p:cNvPr>
              <p:cNvSpPr>
                <a:spLocks noChangeArrowheads="1"/>
              </p:cNvSpPr>
              <p:nvPr/>
            </p:nvSpPr>
            <p:spPr bwMode="auto">
              <a:xfrm>
                <a:off x="1669" y="2545"/>
                <a:ext cx="127" cy="111"/>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110" name="Group 103">
              <a:extLst>
                <a:ext uri="{FF2B5EF4-FFF2-40B4-BE49-F238E27FC236}">
                  <a16:creationId xmlns:a16="http://schemas.microsoft.com/office/drawing/2014/main" id="{471D1B46-E1D9-F26F-2A23-4BC450421699}"/>
                </a:ext>
              </a:extLst>
            </p:cNvPr>
            <p:cNvGrpSpPr>
              <a:grpSpLocks/>
            </p:cNvGrpSpPr>
            <p:nvPr/>
          </p:nvGrpSpPr>
          <p:grpSpPr bwMode="auto">
            <a:xfrm>
              <a:off x="3092450" y="3095625"/>
              <a:ext cx="201613" cy="179388"/>
              <a:chOff x="2074" y="1971"/>
              <a:chExt cx="127" cy="113"/>
            </a:xfrm>
          </p:grpSpPr>
          <p:grpSp>
            <p:nvGrpSpPr>
              <p:cNvPr id="111" name="Group 104">
                <a:extLst>
                  <a:ext uri="{FF2B5EF4-FFF2-40B4-BE49-F238E27FC236}">
                    <a16:creationId xmlns:a16="http://schemas.microsoft.com/office/drawing/2014/main" id="{1F31F354-7385-AA46-EE1E-FD9F7F21E275}"/>
                  </a:ext>
                </a:extLst>
              </p:cNvPr>
              <p:cNvGrpSpPr>
                <a:grpSpLocks/>
              </p:cNvGrpSpPr>
              <p:nvPr/>
            </p:nvGrpSpPr>
            <p:grpSpPr bwMode="auto">
              <a:xfrm>
                <a:off x="2074" y="1971"/>
                <a:ext cx="127" cy="113"/>
                <a:chOff x="2074" y="1971"/>
                <a:chExt cx="127" cy="113"/>
              </a:xfrm>
            </p:grpSpPr>
            <p:sp>
              <p:nvSpPr>
                <p:cNvPr id="113" name="Rectangle 105">
                  <a:extLst>
                    <a:ext uri="{FF2B5EF4-FFF2-40B4-BE49-F238E27FC236}">
                      <a16:creationId xmlns:a16="http://schemas.microsoft.com/office/drawing/2014/main" id="{BFF67F26-8EC0-E2B3-97F6-3841B8A73031}"/>
                    </a:ext>
                  </a:extLst>
                </p:cNvPr>
                <p:cNvSpPr>
                  <a:spLocks noChangeArrowheads="1"/>
                </p:cNvSpPr>
                <p:nvPr/>
              </p:nvSpPr>
              <p:spPr bwMode="auto">
                <a:xfrm>
                  <a:off x="2074" y="1971"/>
                  <a:ext cx="127" cy="1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14" name="Freeform 106">
                  <a:extLst>
                    <a:ext uri="{FF2B5EF4-FFF2-40B4-BE49-F238E27FC236}">
                      <a16:creationId xmlns:a16="http://schemas.microsoft.com/office/drawing/2014/main" id="{9A9CDE9C-659A-412C-0223-F08345D07CDB}"/>
                    </a:ext>
                  </a:extLst>
                </p:cNvPr>
                <p:cNvSpPr>
                  <a:spLocks/>
                </p:cNvSpPr>
                <p:nvPr/>
              </p:nvSpPr>
              <p:spPr bwMode="auto">
                <a:xfrm>
                  <a:off x="2074" y="1971"/>
                  <a:ext cx="125" cy="111"/>
                </a:xfrm>
                <a:custGeom>
                  <a:avLst/>
                  <a:gdLst>
                    <a:gd name="T0" fmla="*/ 15 w 252"/>
                    <a:gd name="T1" fmla="*/ 0 h 111"/>
                    <a:gd name="T2" fmla="*/ 12 w 252"/>
                    <a:gd name="T3" fmla="*/ 2 h 111"/>
                    <a:gd name="T4" fmla="*/ 9 w 252"/>
                    <a:gd name="T5" fmla="*/ 5 h 111"/>
                    <a:gd name="T6" fmla="*/ 7 w 252"/>
                    <a:gd name="T7" fmla="*/ 10 h 111"/>
                    <a:gd name="T8" fmla="*/ 4 w 252"/>
                    <a:gd name="T9" fmla="*/ 16 h 111"/>
                    <a:gd name="T10" fmla="*/ 2 w 252"/>
                    <a:gd name="T11" fmla="*/ 24 h 111"/>
                    <a:gd name="T12" fmla="*/ 1 w 252"/>
                    <a:gd name="T13" fmla="*/ 35 h 111"/>
                    <a:gd name="T14" fmla="*/ 0 w 252"/>
                    <a:gd name="T15" fmla="*/ 45 h 111"/>
                    <a:gd name="T16" fmla="*/ 0 w 252"/>
                    <a:gd name="T17" fmla="*/ 55 h 111"/>
                    <a:gd name="T18" fmla="*/ 0 w 252"/>
                    <a:gd name="T19" fmla="*/ 66 h 111"/>
                    <a:gd name="T20" fmla="*/ 1 w 252"/>
                    <a:gd name="T21" fmla="*/ 77 h 111"/>
                    <a:gd name="T22" fmla="*/ 2 w 252"/>
                    <a:gd name="T23" fmla="*/ 86 h 111"/>
                    <a:gd name="T24" fmla="*/ 4 w 252"/>
                    <a:gd name="T25" fmla="*/ 95 h 111"/>
                    <a:gd name="T26" fmla="*/ 7 w 252"/>
                    <a:gd name="T27" fmla="*/ 102 h 111"/>
                    <a:gd name="T28" fmla="*/ 9 w 252"/>
                    <a:gd name="T29" fmla="*/ 106 h 111"/>
                    <a:gd name="T30" fmla="*/ 12 w 252"/>
                    <a:gd name="T31" fmla="*/ 110 h 111"/>
                    <a:gd name="T32" fmla="*/ 15 w 252"/>
                    <a:gd name="T33" fmla="*/ 111 h 111"/>
                    <a:gd name="T34" fmla="*/ 18 w 252"/>
                    <a:gd name="T35" fmla="*/ 110 h 111"/>
                    <a:gd name="T36" fmla="*/ 21 w 252"/>
                    <a:gd name="T37" fmla="*/ 106 h 111"/>
                    <a:gd name="T38" fmla="*/ 24 w 252"/>
                    <a:gd name="T39" fmla="*/ 102 h 111"/>
                    <a:gd name="T40" fmla="*/ 26 w 252"/>
                    <a:gd name="T41" fmla="*/ 95 h 111"/>
                    <a:gd name="T42" fmla="*/ 28 w 252"/>
                    <a:gd name="T43" fmla="*/ 86 h 111"/>
                    <a:gd name="T44" fmla="*/ 30 w 252"/>
                    <a:gd name="T45" fmla="*/ 77 h 111"/>
                    <a:gd name="T46" fmla="*/ 31 w 252"/>
                    <a:gd name="T47" fmla="*/ 66 h 111"/>
                    <a:gd name="T48" fmla="*/ 31 w 252"/>
                    <a:gd name="T49" fmla="*/ 55 h 111"/>
                    <a:gd name="T50" fmla="*/ 31 w 252"/>
                    <a:gd name="T51" fmla="*/ 45 h 111"/>
                    <a:gd name="T52" fmla="*/ 30 w 252"/>
                    <a:gd name="T53" fmla="*/ 35 h 111"/>
                    <a:gd name="T54" fmla="*/ 28 w 252"/>
                    <a:gd name="T55" fmla="*/ 24 h 111"/>
                    <a:gd name="T56" fmla="*/ 26 w 252"/>
                    <a:gd name="T57" fmla="*/ 16 h 111"/>
                    <a:gd name="T58" fmla="*/ 24 w 252"/>
                    <a:gd name="T59" fmla="*/ 10 h 111"/>
                    <a:gd name="T60" fmla="*/ 21 w 252"/>
                    <a:gd name="T61" fmla="*/ 5 h 111"/>
                    <a:gd name="T62" fmla="*/ 18 w 252"/>
                    <a:gd name="T63" fmla="*/ 2 h 111"/>
                    <a:gd name="T64" fmla="*/ 15 w 252"/>
                    <a:gd name="T65" fmla="*/ 0 h 11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2" h="111">
                      <a:moveTo>
                        <a:pt x="125" y="0"/>
                      </a:moveTo>
                      <a:lnTo>
                        <a:pt x="100" y="2"/>
                      </a:lnTo>
                      <a:lnTo>
                        <a:pt x="77" y="5"/>
                      </a:lnTo>
                      <a:lnTo>
                        <a:pt x="56" y="10"/>
                      </a:lnTo>
                      <a:lnTo>
                        <a:pt x="37" y="16"/>
                      </a:lnTo>
                      <a:lnTo>
                        <a:pt x="21" y="24"/>
                      </a:lnTo>
                      <a:lnTo>
                        <a:pt x="10" y="35"/>
                      </a:lnTo>
                      <a:lnTo>
                        <a:pt x="2" y="45"/>
                      </a:lnTo>
                      <a:lnTo>
                        <a:pt x="0" y="55"/>
                      </a:lnTo>
                      <a:lnTo>
                        <a:pt x="2" y="66"/>
                      </a:lnTo>
                      <a:lnTo>
                        <a:pt x="10" y="77"/>
                      </a:lnTo>
                      <a:lnTo>
                        <a:pt x="21" y="86"/>
                      </a:lnTo>
                      <a:lnTo>
                        <a:pt x="37" y="95"/>
                      </a:lnTo>
                      <a:lnTo>
                        <a:pt x="56" y="102"/>
                      </a:lnTo>
                      <a:lnTo>
                        <a:pt x="77" y="106"/>
                      </a:lnTo>
                      <a:lnTo>
                        <a:pt x="100" y="110"/>
                      </a:lnTo>
                      <a:lnTo>
                        <a:pt x="125" y="111"/>
                      </a:lnTo>
                      <a:lnTo>
                        <a:pt x="150" y="110"/>
                      </a:lnTo>
                      <a:lnTo>
                        <a:pt x="175" y="106"/>
                      </a:lnTo>
                      <a:lnTo>
                        <a:pt x="196" y="102"/>
                      </a:lnTo>
                      <a:lnTo>
                        <a:pt x="215" y="95"/>
                      </a:lnTo>
                      <a:lnTo>
                        <a:pt x="231" y="86"/>
                      </a:lnTo>
                      <a:lnTo>
                        <a:pt x="242" y="77"/>
                      </a:lnTo>
                      <a:lnTo>
                        <a:pt x="250" y="66"/>
                      </a:lnTo>
                      <a:lnTo>
                        <a:pt x="252" y="55"/>
                      </a:lnTo>
                      <a:lnTo>
                        <a:pt x="250" y="45"/>
                      </a:lnTo>
                      <a:lnTo>
                        <a:pt x="242" y="35"/>
                      </a:lnTo>
                      <a:lnTo>
                        <a:pt x="231" y="24"/>
                      </a:lnTo>
                      <a:lnTo>
                        <a:pt x="215" y="16"/>
                      </a:lnTo>
                      <a:lnTo>
                        <a:pt x="196" y="10"/>
                      </a:lnTo>
                      <a:lnTo>
                        <a:pt x="175" y="5"/>
                      </a:lnTo>
                      <a:lnTo>
                        <a:pt x="150" y="2"/>
                      </a:lnTo>
                      <a:lnTo>
                        <a:pt x="125" y="0"/>
                      </a:lnTo>
                      <a:close/>
                    </a:path>
                  </a:pathLst>
                </a:custGeom>
                <a:solidFill>
                  <a:srgbClr val="FF0000"/>
                </a:solidFill>
                <a:ln w="0">
                  <a:solidFill>
                    <a:srgbClr val="FFFFFF"/>
                  </a:solidFill>
                  <a:prstDash val="solid"/>
                  <a:round/>
                  <a:headEnd/>
                  <a:tailEnd/>
                </a:ln>
              </p:spPr>
              <p:txBody>
                <a:bodyPr/>
                <a:lstStyle/>
                <a:p>
                  <a:endParaRPr lang="en-US">
                    <a:latin typeface="Roboto" panose="02000000000000000000" pitchFamily="2" charset="0"/>
                    <a:ea typeface="Roboto" panose="02000000000000000000" pitchFamily="2" charset="0"/>
                  </a:endParaRPr>
                </a:p>
              </p:txBody>
            </p:sp>
            <p:sp>
              <p:nvSpPr>
                <p:cNvPr id="115" name="Oval 107">
                  <a:extLst>
                    <a:ext uri="{FF2B5EF4-FFF2-40B4-BE49-F238E27FC236}">
                      <a16:creationId xmlns:a16="http://schemas.microsoft.com/office/drawing/2014/main" id="{E9DA1053-0E51-7B7F-A97C-DBF84C606A37}"/>
                    </a:ext>
                  </a:extLst>
                </p:cNvPr>
                <p:cNvSpPr>
                  <a:spLocks noChangeArrowheads="1"/>
                </p:cNvSpPr>
                <p:nvPr/>
              </p:nvSpPr>
              <p:spPr bwMode="auto">
                <a:xfrm>
                  <a:off x="2074" y="1971"/>
                  <a:ext cx="126" cy="112"/>
                </a:xfrm>
                <a:prstGeom prst="ellipse">
                  <a:avLst/>
                </a:prstGeom>
                <a:blipFill dpi="0" rotWithShape="0">
                  <a:blip/>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16" name="Rectangle 108">
                  <a:extLst>
                    <a:ext uri="{FF2B5EF4-FFF2-40B4-BE49-F238E27FC236}">
                      <a16:creationId xmlns:a16="http://schemas.microsoft.com/office/drawing/2014/main" id="{4D08A255-83F4-B80F-E926-F760D344A8DB}"/>
                    </a:ext>
                  </a:extLst>
                </p:cNvPr>
                <p:cNvSpPr>
                  <a:spLocks noChangeArrowheads="1"/>
                </p:cNvSpPr>
                <p:nvPr/>
              </p:nvSpPr>
              <p:spPr bwMode="auto">
                <a:xfrm>
                  <a:off x="2074" y="1971"/>
                  <a:ext cx="127" cy="1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sp>
            <p:nvSpPr>
              <p:cNvPr id="112" name="Oval 109">
                <a:extLst>
                  <a:ext uri="{FF2B5EF4-FFF2-40B4-BE49-F238E27FC236}">
                    <a16:creationId xmlns:a16="http://schemas.microsoft.com/office/drawing/2014/main" id="{C6D7799D-D91C-A761-FCAF-48B205993C56}"/>
                  </a:ext>
                </a:extLst>
              </p:cNvPr>
              <p:cNvSpPr>
                <a:spLocks noChangeArrowheads="1"/>
              </p:cNvSpPr>
              <p:nvPr/>
            </p:nvSpPr>
            <p:spPr bwMode="auto">
              <a:xfrm>
                <a:off x="2074" y="1971"/>
                <a:ext cx="126" cy="112"/>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117" name="Group 110">
              <a:extLst>
                <a:ext uri="{FF2B5EF4-FFF2-40B4-BE49-F238E27FC236}">
                  <a16:creationId xmlns:a16="http://schemas.microsoft.com/office/drawing/2014/main" id="{A5042923-5479-5EFD-4127-9DC8733D5C0C}"/>
                </a:ext>
              </a:extLst>
            </p:cNvPr>
            <p:cNvGrpSpPr>
              <a:grpSpLocks/>
            </p:cNvGrpSpPr>
            <p:nvPr/>
          </p:nvGrpSpPr>
          <p:grpSpPr bwMode="auto">
            <a:xfrm>
              <a:off x="3092450" y="4006850"/>
              <a:ext cx="201613" cy="177800"/>
              <a:chOff x="2074" y="2545"/>
              <a:chExt cx="127" cy="112"/>
            </a:xfrm>
          </p:grpSpPr>
          <p:grpSp>
            <p:nvGrpSpPr>
              <p:cNvPr id="118" name="Group 111">
                <a:extLst>
                  <a:ext uri="{FF2B5EF4-FFF2-40B4-BE49-F238E27FC236}">
                    <a16:creationId xmlns:a16="http://schemas.microsoft.com/office/drawing/2014/main" id="{1ABDD28E-B4DE-1DE0-1521-82DC5D91F28B}"/>
                  </a:ext>
                </a:extLst>
              </p:cNvPr>
              <p:cNvGrpSpPr>
                <a:grpSpLocks/>
              </p:cNvGrpSpPr>
              <p:nvPr/>
            </p:nvGrpSpPr>
            <p:grpSpPr bwMode="auto">
              <a:xfrm>
                <a:off x="2074" y="2545"/>
                <a:ext cx="127" cy="112"/>
                <a:chOff x="2074" y="2545"/>
                <a:chExt cx="127" cy="112"/>
              </a:xfrm>
            </p:grpSpPr>
            <p:sp>
              <p:nvSpPr>
                <p:cNvPr id="120" name="Rectangle 112">
                  <a:extLst>
                    <a:ext uri="{FF2B5EF4-FFF2-40B4-BE49-F238E27FC236}">
                      <a16:creationId xmlns:a16="http://schemas.microsoft.com/office/drawing/2014/main" id="{1E8B4C14-AAA0-607D-F420-317C236D0536}"/>
                    </a:ext>
                  </a:extLst>
                </p:cNvPr>
                <p:cNvSpPr>
                  <a:spLocks noChangeArrowheads="1"/>
                </p:cNvSpPr>
                <p:nvPr/>
              </p:nvSpPr>
              <p:spPr bwMode="auto">
                <a:xfrm>
                  <a:off x="2074" y="2545"/>
                  <a:ext cx="127" cy="112"/>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21" name="Freeform 113">
                  <a:extLst>
                    <a:ext uri="{FF2B5EF4-FFF2-40B4-BE49-F238E27FC236}">
                      <a16:creationId xmlns:a16="http://schemas.microsoft.com/office/drawing/2014/main" id="{04F9C243-9EAB-DF75-7658-EA5C37810708}"/>
                    </a:ext>
                  </a:extLst>
                </p:cNvPr>
                <p:cNvSpPr>
                  <a:spLocks/>
                </p:cNvSpPr>
                <p:nvPr/>
              </p:nvSpPr>
              <p:spPr bwMode="auto">
                <a:xfrm>
                  <a:off x="2074" y="2545"/>
                  <a:ext cx="125" cy="110"/>
                </a:xfrm>
                <a:custGeom>
                  <a:avLst/>
                  <a:gdLst>
                    <a:gd name="T0" fmla="*/ 15 w 252"/>
                    <a:gd name="T1" fmla="*/ 0 h 110"/>
                    <a:gd name="T2" fmla="*/ 12 w 252"/>
                    <a:gd name="T3" fmla="*/ 1 h 110"/>
                    <a:gd name="T4" fmla="*/ 9 w 252"/>
                    <a:gd name="T5" fmla="*/ 4 h 110"/>
                    <a:gd name="T6" fmla="*/ 7 w 252"/>
                    <a:gd name="T7" fmla="*/ 9 h 110"/>
                    <a:gd name="T8" fmla="*/ 4 w 252"/>
                    <a:gd name="T9" fmla="*/ 16 h 110"/>
                    <a:gd name="T10" fmla="*/ 2 w 252"/>
                    <a:gd name="T11" fmla="*/ 24 h 110"/>
                    <a:gd name="T12" fmla="*/ 1 w 252"/>
                    <a:gd name="T13" fmla="*/ 34 h 110"/>
                    <a:gd name="T14" fmla="*/ 0 w 252"/>
                    <a:gd name="T15" fmla="*/ 44 h 110"/>
                    <a:gd name="T16" fmla="*/ 0 w 252"/>
                    <a:gd name="T17" fmla="*/ 54 h 110"/>
                    <a:gd name="T18" fmla="*/ 0 w 252"/>
                    <a:gd name="T19" fmla="*/ 66 h 110"/>
                    <a:gd name="T20" fmla="*/ 1 w 252"/>
                    <a:gd name="T21" fmla="*/ 76 h 110"/>
                    <a:gd name="T22" fmla="*/ 2 w 252"/>
                    <a:gd name="T23" fmla="*/ 85 h 110"/>
                    <a:gd name="T24" fmla="*/ 4 w 252"/>
                    <a:gd name="T25" fmla="*/ 94 h 110"/>
                    <a:gd name="T26" fmla="*/ 7 w 252"/>
                    <a:gd name="T27" fmla="*/ 101 h 110"/>
                    <a:gd name="T28" fmla="*/ 9 w 252"/>
                    <a:gd name="T29" fmla="*/ 106 h 110"/>
                    <a:gd name="T30" fmla="*/ 12 w 252"/>
                    <a:gd name="T31" fmla="*/ 109 h 110"/>
                    <a:gd name="T32" fmla="*/ 15 w 252"/>
                    <a:gd name="T33" fmla="*/ 110 h 110"/>
                    <a:gd name="T34" fmla="*/ 18 w 252"/>
                    <a:gd name="T35" fmla="*/ 109 h 110"/>
                    <a:gd name="T36" fmla="*/ 21 w 252"/>
                    <a:gd name="T37" fmla="*/ 106 h 110"/>
                    <a:gd name="T38" fmla="*/ 24 w 252"/>
                    <a:gd name="T39" fmla="*/ 101 h 110"/>
                    <a:gd name="T40" fmla="*/ 26 w 252"/>
                    <a:gd name="T41" fmla="*/ 94 h 110"/>
                    <a:gd name="T42" fmla="*/ 28 w 252"/>
                    <a:gd name="T43" fmla="*/ 85 h 110"/>
                    <a:gd name="T44" fmla="*/ 30 w 252"/>
                    <a:gd name="T45" fmla="*/ 76 h 110"/>
                    <a:gd name="T46" fmla="*/ 31 w 252"/>
                    <a:gd name="T47" fmla="*/ 66 h 110"/>
                    <a:gd name="T48" fmla="*/ 31 w 252"/>
                    <a:gd name="T49" fmla="*/ 54 h 110"/>
                    <a:gd name="T50" fmla="*/ 31 w 252"/>
                    <a:gd name="T51" fmla="*/ 44 h 110"/>
                    <a:gd name="T52" fmla="*/ 30 w 252"/>
                    <a:gd name="T53" fmla="*/ 34 h 110"/>
                    <a:gd name="T54" fmla="*/ 28 w 252"/>
                    <a:gd name="T55" fmla="*/ 24 h 110"/>
                    <a:gd name="T56" fmla="*/ 26 w 252"/>
                    <a:gd name="T57" fmla="*/ 16 h 110"/>
                    <a:gd name="T58" fmla="*/ 24 w 252"/>
                    <a:gd name="T59" fmla="*/ 9 h 110"/>
                    <a:gd name="T60" fmla="*/ 21 w 252"/>
                    <a:gd name="T61" fmla="*/ 4 h 110"/>
                    <a:gd name="T62" fmla="*/ 18 w 252"/>
                    <a:gd name="T63" fmla="*/ 1 h 110"/>
                    <a:gd name="T64" fmla="*/ 15 w 252"/>
                    <a:gd name="T65" fmla="*/ 0 h 11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2" h="110">
                      <a:moveTo>
                        <a:pt x="125" y="0"/>
                      </a:moveTo>
                      <a:lnTo>
                        <a:pt x="100" y="1"/>
                      </a:lnTo>
                      <a:lnTo>
                        <a:pt x="77" y="4"/>
                      </a:lnTo>
                      <a:lnTo>
                        <a:pt x="56" y="9"/>
                      </a:lnTo>
                      <a:lnTo>
                        <a:pt x="37" y="16"/>
                      </a:lnTo>
                      <a:lnTo>
                        <a:pt x="21" y="24"/>
                      </a:lnTo>
                      <a:lnTo>
                        <a:pt x="10" y="34"/>
                      </a:lnTo>
                      <a:lnTo>
                        <a:pt x="2" y="44"/>
                      </a:lnTo>
                      <a:lnTo>
                        <a:pt x="0" y="54"/>
                      </a:lnTo>
                      <a:lnTo>
                        <a:pt x="2" y="66"/>
                      </a:lnTo>
                      <a:lnTo>
                        <a:pt x="10" y="76"/>
                      </a:lnTo>
                      <a:lnTo>
                        <a:pt x="21" y="85"/>
                      </a:lnTo>
                      <a:lnTo>
                        <a:pt x="37" y="94"/>
                      </a:lnTo>
                      <a:lnTo>
                        <a:pt x="56" y="101"/>
                      </a:lnTo>
                      <a:lnTo>
                        <a:pt x="77" y="106"/>
                      </a:lnTo>
                      <a:lnTo>
                        <a:pt x="100" y="109"/>
                      </a:lnTo>
                      <a:lnTo>
                        <a:pt x="125" y="110"/>
                      </a:lnTo>
                      <a:lnTo>
                        <a:pt x="150" y="109"/>
                      </a:lnTo>
                      <a:lnTo>
                        <a:pt x="175" y="106"/>
                      </a:lnTo>
                      <a:lnTo>
                        <a:pt x="196" y="101"/>
                      </a:lnTo>
                      <a:lnTo>
                        <a:pt x="215" y="94"/>
                      </a:lnTo>
                      <a:lnTo>
                        <a:pt x="231" y="85"/>
                      </a:lnTo>
                      <a:lnTo>
                        <a:pt x="242" y="76"/>
                      </a:lnTo>
                      <a:lnTo>
                        <a:pt x="250" y="66"/>
                      </a:lnTo>
                      <a:lnTo>
                        <a:pt x="252" y="54"/>
                      </a:lnTo>
                      <a:lnTo>
                        <a:pt x="250" y="44"/>
                      </a:lnTo>
                      <a:lnTo>
                        <a:pt x="242" y="34"/>
                      </a:lnTo>
                      <a:lnTo>
                        <a:pt x="231" y="24"/>
                      </a:lnTo>
                      <a:lnTo>
                        <a:pt x="215" y="16"/>
                      </a:lnTo>
                      <a:lnTo>
                        <a:pt x="196" y="9"/>
                      </a:lnTo>
                      <a:lnTo>
                        <a:pt x="175" y="4"/>
                      </a:lnTo>
                      <a:lnTo>
                        <a:pt x="150" y="1"/>
                      </a:lnTo>
                      <a:lnTo>
                        <a:pt x="125" y="0"/>
                      </a:lnTo>
                      <a:close/>
                    </a:path>
                  </a:pathLst>
                </a:custGeom>
                <a:solidFill>
                  <a:srgbClr val="FF0000"/>
                </a:solidFill>
                <a:ln w="0">
                  <a:solidFill>
                    <a:srgbClr val="FFFFFF"/>
                  </a:solidFill>
                  <a:prstDash val="solid"/>
                  <a:round/>
                  <a:headEnd/>
                  <a:tailEnd/>
                </a:ln>
              </p:spPr>
              <p:txBody>
                <a:bodyPr/>
                <a:lstStyle/>
                <a:p>
                  <a:endParaRPr lang="en-US">
                    <a:latin typeface="Roboto" panose="02000000000000000000" pitchFamily="2" charset="0"/>
                    <a:ea typeface="Roboto" panose="02000000000000000000" pitchFamily="2" charset="0"/>
                  </a:endParaRPr>
                </a:p>
              </p:txBody>
            </p:sp>
            <p:sp>
              <p:nvSpPr>
                <p:cNvPr id="122" name="Oval 114">
                  <a:extLst>
                    <a:ext uri="{FF2B5EF4-FFF2-40B4-BE49-F238E27FC236}">
                      <a16:creationId xmlns:a16="http://schemas.microsoft.com/office/drawing/2014/main" id="{5B62CCEF-88A2-61C5-18F6-3A306463E71D}"/>
                    </a:ext>
                  </a:extLst>
                </p:cNvPr>
                <p:cNvSpPr>
                  <a:spLocks noChangeArrowheads="1"/>
                </p:cNvSpPr>
                <p:nvPr/>
              </p:nvSpPr>
              <p:spPr bwMode="auto">
                <a:xfrm>
                  <a:off x="2074" y="2545"/>
                  <a:ext cx="126" cy="111"/>
                </a:xfrm>
                <a:prstGeom prst="ellipse">
                  <a:avLst/>
                </a:prstGeom>
                <a:blipFill dpi="0" rotWithShape="0">
                  <a:blip/>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23" name="Rectangle 115">
                  <a:extLst>
                    <a:ext uri="{FF2B5EF4-FFF2-40B4-BE49-F238E27FC236}">
                      <a16:creationId xmlns:a16="http://schemas.microsoft.com/office/drawing/2014/main" id="{14645BAC-CE8E-A05A-2AAF-A852CB024FB0}"/>
                    </a:ext>
                  </a:extLst>
                </p:cNvPr>
                <p:cNvSpPr>
                  <a:spLocks noChangeArrowheads="1"/>
                </p:cNvSpPr>
                <p:nvPr/>
              </p:nvSpPr>
              <p:spPr bwMode="auto">
                <a:xfrm>
                  <a:off x="2074" y="2545"/>
                  <a:ext cx="127" cy="112"/>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sp>
            <p:nvSpPr>
              <p:cNvPr id="119" name="Oval 116">
                <a:extLst>
                  <a:ext uri="{FF2B5EF4-FFF2-40B4-BE49-F238E27FC236}">
                    <a16:creationId xmlns:a16="http://schemas.microsoft.com/office/drawing/2014/main" id="{B8E9FDF6-CCA3-642F-D454-CA893795316F}"/>
                  </a:ext>
                </a:extLst>
              </p:cNvPr>
              <p:cNvSpPr>
                <a:spLocks noChangeArrowheads="1"/>
              </p:cNvSpPr>
              <p:nvPr/>
            </p:nvSpPr>
            <p:spPr bwMode="auto">
              <a:xfrm>
                <a:off x="2074" y="2545"/>
                <a:ext cx="126" cy="111"/>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124" name="Group 117">
              <a:extLst>
                <a:ext uri="{FF2B5EF4-FFF2-40B4-BE49-F238E27FC236}">
                  <a16:creationId xmlns:a16="http://schemas.microsoft.com/office/drawing/2014/main" id="{0CB63380-8B61-AEC9-DA1A-D3795123091F}"/>
                </a:ext>
              </a:extLst>
            </p:cNvPr>
            <p:cNvGrpSpPr>
              <a:grpSpLocks/>
            </p:cNvGrpSpPr>
            <p:nvPr/>
          </p:nvGrpSpPr>
          <p:grpSpPr bwMode="auto">
            <a:xfrm>
              <a:off x="3092450" y="4310063"/>
              <a:ext cx="201613" cy="179387"/>
              <a:chOff x="2074" y="2736"/>
              <a:chExt cx="127" cy="113"/>
            </a:xfrm>
          </p:grpSpPr>
          <p:grpSp>
            <p:nvGrpSpPr>
              <p:cNvPr id="125" name="Group 118">
                <a:extLst>
                  <a:ext uri="{FF2B5EF4-FFF2-40B4-BE49-F238E27FC236}">
                    <a16:creationId xmlns:a16="http://schemas.microsoft.com/office/drawing/2014/main" id="{19738BF4-3EE1-E7ED-A0A4-F777666402DB}"/>
                  </a:ext>
                </a:extLst>
              </p:cNvPr>
              <p:cNvGrpSpPr>
                <a:grpSpLocks/>
              </p:cNvGrpSpPr>
              <p:nvPr/>
            </p:nvGrpSpPr>
            <p:grpSpPr bwMode="auto">
              <a:xfrm>
                <a:off x="2074" y="2736"/>
                <a:ext cx="127" cy="113"/>
                <a:chOff x="2074" y="2736"/>
                <a:chExt cx="127" cy="113"/>
              </a:xfrm>
            </p:grpSpPr>
            <p:sp>
              <p:nvSpPr>
                <p:cNvPr id="127" name="Rectangle 119">
                  <a:extLst>
                    <a:ext uri="{FF2B5EF4-FFF2-40B4-BE49-F238E27FC236}">
                      <a16:creationId xmlns:a16="http://schemas.microsoft.com/office/drawing/2014/main" id="{72EFCBC6-4056-265D-3184-81B88ECF7323}"/>
                    </a:ext>
                  </a:extLst>
                </p:cNvPr>
                <p:cNvSpPr>
                  <a:spLocks noChangeArrowheads="1"/>
                </p:cNvSpPr>
                <p:nvPr/>
              </p:nvSpPr>
              <p:spPr bwMode="auto">
                <a:xfrm>
                  <a:off x="2074" y="2736"/>
                  <a:ext cx="127" cy="1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28" name="Freeform 120">
                  <a:extLst>
                    <a:ext uri="{FF2B5EF4-FFF2-40B4-BE49-F238E27FC236}">
                      <a16:creationId xmlns:a16="http://schemas.microsoft.com/office/drawing/2014/main" id="{75B2CBE4-2C38-EE03-BCF8-8215CC1EB136}"/>
                    </a:ext>
                  </a:extLst>
                </p:cNvPr>
                <p:cNvSpPr>
                  <a:spLocks/>
                </p:cNvSpPr>
                <p:nvPr/>
              </p:nvSpPr>
              <p:spPr bwMode="auto">
                <a:xfrm>
                  <a:off x="2074" y="2736"/>
                  <a:ext cx="125" cy="110"/>
                </a:xfrm>
                <a:custGeom>
                  <a:avLst/>
                  <a:gdLst>
                    <a:gd name="T0" fmla="*/ 15 w 252"/>
                    <a:gd name="T1" fmla="*/ 0 h 110"/>
                    <a:gd name="T2" fmla="*/ 12 w 252"/>
                    <a:gd name="T3" fmla="*/ 1 h 110"/>
                    <a:gd name="T4" fmla="*/ 9 w 252"/>
                    <a:gd name="T5" fmla="*/ 5 h 110"/>
                    <a:gd name="T6" fmla="*/ 7 w 252"/>
                    <a:gd name="T7" fmla="*/ 9 h 110"/>
                    <a:gd name="T8" fmla="*/ 4 w 252"/>
                    <a:gd name="T9" fmla="*/ 16 h 110"/>
                    <a:gd name="T10" fmla="*/ 2 w 252"/>
                    <a:gd name="T11" fmla="*/ 24 h 110"/>
                    <a:gd name="T12" fmla="*/ 1 w 252"/>
                    <a:gd name="T13" fmla="*/ 34 h 110"/>
                    <a:gd name="T14" fmla="*/ 0 w 252"/>
                    <a:gd name="T15" fmla="*/ 44 h 110"/>
                    <a:gd name="T16" fmla="*/ 0 w 252"/>
                    <a:gd name="T17" fmla="*/ 55 h 110"/>
                    <a:gd name="T18" fmla="*/ 0 w 252"/>
                    <a:gd name="T19" fmla="*/ 66 h 110"/>
                    <a:gd name="T20" fmla="*/ 1 w 252"/>
                    <a:gd name="T21" fmla="*/ 76 h 110"/>
                    <a:gd name="T22" fmla="*/ 2 w 252"/>
                    <a:gd name="T23" fmla="*/ 85 h 110"/>
                    <a:gd name="T24" fmla="*/ 4 w 252"/>
                    <a:gd name="T25" fmla="*/ 94 h 110"/>
                    <a:gd name="T26" fmla="*/ 7 w 252"/>
                    <a:gd name="T27" fmla="*/ 101 h 110"/>
                    <a:gd name="T28" fmla="*/ 9 w 252"/>
                    <a:gd name="T29" fmla="*/ 106 h 110"/>
                    <a:gd name="T30" fmla="*/ 12 w 252"/>
                    <a:gd name="T31" fmla="*/ 109 h 110"/>
                    <a:gd name="T32" fmla="*/ 15 w 252"/>
                    <a:gd name="T33" fmla="*/ 110 h 110"/>
                    <a:gd name="T34" fmla="*/ 18 w 252"/>
                    <a:gd name="T35" fmla="*/ 109 h 110"/>
                    <a:gd name="T36" fmla="*/ 21 w 252"/>
                    <a:gd name="T37" fmla="*/ 106 h 110"/>
                    <a:gd name="T38" fmla="*/ 24 w 252"/>
                    <a:gd name="T39" fmla="*/ 101 h 110"/>
                    <a:gd name="T40" fmla="*/ 26 w 252"/>
                    <a:gd name="T41" fmla="*/ 94 h 110"/>
                    <a:gd name="T42" fmla="*/ 28 w 252"/>
                    <a:gd name="T43" fmla="*/ 85 h 110"/>
                    <a:gd name="T44" fmla="*/ 30 w 252"/>
                    <a:gd name="T45" fmla="*/ 76 h 110"/>
                    <a:gd name="T46" fmla="*/ 31 w 252"/>
                    <a:gd name="T47" fmla="*/ 66 h 110"/>
                    <a:gd name="T48" fmla="*/ 31 w 252"/>
                    <a:gd name="T49" fmla="*/ 55 h 110"/>
                    <a:gd name="T50" fmla="*/ 31 w 252"/>
                    <a:gd name="T51" fmla="*/ 44 h 110"/>
                    <a:gd name="T52" fmla="*/ 30 w 252"/>
                    <a:gd name="T53" fmla="*/ 34 h 110"/>
                    <a:gd name="T54" fmla="*/ 28 w 252"/>
                    <a:gd name="T55" fmla="*/ 24 h 110"/>
                    <a:gd name="T56" fmla="*/ 26 w 252"/>
                    <a:gd name="T57" fmla="*/ 16 h 110"/>
                    <a:gd name="T58" fmla="*/ 24 w 252"/>
                    <a:gd name="T59" fmla="*/ 9 h 110"/>
                    <a:gd name="T60" fmla="*/ 21 w 252"/>
                    <a:gd name="T61" fmla="*/ 5 h 110"/>
                    <a:gd name="T62" fmla="*/ 18 w 252"/>
                    <a:gd name="T63" fmla="*/ 1 h 110"/>
                    <a:gd name="T64" fmla="*/ 15 w 252"/>
                    <a:gd name="T65" fmla="*/ 0 h 11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2" h="110">
                      <a:moveTo>
                        <a:pt x="125" y="0"/>
                      </a:moveTo>
                      <a:lnTo>
                        <a:pt x="100" y="1"/>
                      </a:lnTo>
                      <a:lnTo>
                        <a:pt x="77" y="5"/>
                      </a:lnTo>
                      <a:lnTo>
                        <a:pt x="56" y="9"/>
                      </a:lnTo>
                      <a:lnTo>
                        <a:pt x="37" y="16"/>
                      </a:lnTo>
                      <a:lnTo>
                        <a:pt x="21" y="24"/>
                      </a:lnTo>
                      <a:lnTo>
                        <a:pt x="10" y="34"/>
                      </a:lnTo>
                      <a:lnTo>
                        <a:pt x="2" y="44"/>
                      </a:lnTo>
                      <a:lnTo>
                        <a:pt x="0" y="55"/>
                      </a:lnTo>
                      <a:lnTo>
                        <a:pt x="2" y="66"/>
                      </a:lnTo>
                      <a:lnTo>
                        <a:pt x="10" y="76"/>
                      </a:lnTo>
                      <a:lnTo>
                        <a:pt x="21" y="85"/>
                      </a:lnTo>
                      <a:lnTo>
                        <a:pt x="37" y="94"/>
                      </a:lnTo>
                      <a:lnTo>
                        <a:pt x="56" y="101"/>
                      </a:lnTo>
                      <a:lnTo>
                        <a:pt x="77" y="106"/>
                      </a:lnTo>
                      <a:lnTo>
                        <a:pt x="100" y="109"/>
                      </a:lnTo>
                      <a:lnTo>
                        <a:pt x="125" y="110"/>
                      </a:lnTo>
                      <a:lnTo>
                        <a:pt x="150" y="109"/>
                      </a:lnTo>
                      <a:lnTo>
                        <a:pt x="175" y="106"/>
                      </a:lnTo>
                      <a:lnTo>
                        <a:pt x="196" y="101"/>
                      </a:lnTo>
                      <a:lnTo>
                        <a:pt x="215" y="94"/>
                      </a:lnTo>
                      <a:lnTo>
                        <a:pt x="231" y="85"/>
                      </a:lnTo>
                      <a:lnTo>
                        <a:pt x="242" y="76"/>
                      </a:lnTo>
                      <a:lnTo>
                        <a:pt x="250" y="66"/>
                      </a:lnTo>
                      <a:lnTo>
                        <a:pt x="252" y="55"/>
                      </a:lnTo>
                      <a:lnTo>
                        <a:pt x="250" y="44"/>
                      </a:lnTo>
                      <a:lnTo>
                        <a:pt x="242" y="34"/>
                      </a:lnTo>
                      <a:lnTo>
                        <a:pt x="231" y="24"/>
                      </a:lnTo>
                      <a:lnTo>
                        <a:pt x="215" y="16"/>
                      </a:lnTo>
                      <a:lnTo>
                        <a:pt x="196" y="9"/>
                      </a:lnTo>
                      <a:lnTo>
                        <a:pt x="175" y="5"/>
                      </a:lnTo>
                      <a:lnTo>
                        <a:pt x="150" y="1"/>
                      </a:lnTo>
                      <a:lnTo>
                        <a:pt x="125" y="0"/>
                      </a:lnTo>
                      <a:close/>
                    </a:path>
                  </a:pathLst>
                </a:custGeom>
                <a:solidFill>
                  <a:srgbClr val="FF0000"/>
                </a:solidFill>
                <a:ln w="0">
                  <a:solidFill>
                    <a:srgbClr val="FFFFFF"/>
                  </a:solidFill>
                  <a:prstDash val="solid"/>
                  <a:round/>
                  <a:headEnd/>
                  <a:tailEnd/>
                </a:ln>
              </p:spPr>
              <p:txBody>
                <a:bodyPr/>
                <a:lstStyle/>
                <a:p>
                  <a:endParaRPr lang="en-US">
                    <a:latin typeface="Roboto" panose="02000000000000000000" pitchFamily="2" charset="0"/>
                    <a:ea typeface="Roboto" panose="02000000000000000000" pitchFamily="2" charset="0"/>
                  </a:endParaRPr>
                </a:p>
              </p:txBody>
            </p:sp>
            <p:sp>
              <p:nvSpPr>
                <p:cNvPr id="129" name="Oval 121">
                  <a:extLst>
                    <a:ext uri="{FF2B5EF4-FFF2-40B4-BE49-F238E27FC236}">
                      <a16:creationId xmlns:a16="http://schemas.microsoft.com/office/drawing/2014/main" id="{FB2B5662-4DBA-1AC1-3C67-F7FBA60A8C7F}"/>
                    </a:ext>
                  </a:extLst>
                </p:cNvPr>
                <p:cNvSpPr>
                  <a:spLocks noChangeArrowheads="1"/>
                </p:cNvSpPr>
                <p:nvPr/>
              </p:nvSpPr>
              <p:spPr bwMode="auto">
                <a:xfrm>
                  <a:off x="2074" y="2736"/>
                  <a:ext cx="126" cy="111"/>
                </a:xfrm>
                <a:prstGeom prst="ellipse">
                  <a:avLst/>
                </a:prstGeom>
                <a:blipFill dpi="0" rotWithShape="0">
                  <a:blip/>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30" name="Rectangle 122">
                  <a:extLst>
                    <a:ext uri="{FF2B5EF4-FFF2-40B4-BE49-F238E27FC236}">
                      <a16:creationId xmlns:a16="http://schemas.microsoft.com/office/drawing/2014/main" id="{4D7D9F17-F19E-BC70-22DB-7961CBD44579}"/>
                    </a:ext>
                  </a:extLst>
                </p:cNvPr>
                <p:cNvSpPr>
                  <a:spLocks noChangeArrowheads="1"/>
                </p:cNvSpPr>
                <p:nvPr/>
              </p:nvSpPr>
              <p:spPr bwMode="auto">
                <a:xfrm>
                  <a:off x="2074" y="2736"/>
                  <a:ext cx="127" cy="1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sp>
            <p:nvSpPr>
              <p:cNvPr id="126" name="Oval 123">
                <a:extLst>
                  <a:ext uri="{FF2B5EF4-FFF2-40B4-BE49-F238E27FC236}">
                    <a16:creationId xmlns:a16="http://schemas.microsoft.com/office/drawing/2014/main" id="{B4144A9D-4D2F-044D-1497-62940D1BD221}"/>
                  </a:ext>
                </a:extLst>
              </p:cNvPr>
              <p:cNvSpPr>
                <a:spLocks noChangeArrowheads="1"/>
              </p:cNvSpPr>
              <p:nvPr/>
            </p:nvSpPr>
            <p:spPr bwMode="auto">
              <a:xfrm>
                <a:off x="2074" y="2736"/>
                <a:ext cx="126" cy="111"/>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131" name="Group 124">
              <a:extLst>
                <a:ext uri="{FF2B5EF4-FFF2-40B4-BE49-F238E27FC236}">
                  <a16:creationId xmlns:a16="http://schemas.microsoft.com/office/drawing/2014/main" id="{F606CBB7-9945-566E-848D-64D93B122E18}"/>
                </a:ext>
              </a:extLst>
            </p:cNvPr>
            <p:cNvGrpSpPr>
              <a:grpSpLocks/>
            </p:cNvGrpSpPr>
            <p:nvPr/>
          </p:nvGrpSpPr>
          <p:grpSpPr bwMode="auto">
            <a:xfrm>
              <a:off x="3733800" y="4006850"/>
              <a:ext cx="201613" cy="177800"/>
              <a:chOff x="2478" y="2545"/>
              <a:chExt cx="127" cy="112"/>
            </a:xfrm>
          </p:grpSpPr>
          <p:grpSp>
            <p:nvGrpSpPr>
              <p:cNvPr id="132" name="Group 125">
                <a:extLst>
                  <a:ext uri="{FF2B5EF4-FFF2-40B4-BE49-F238E27FC236}">
                    <a16:creationId xmlns:a16="http://schemas.microsoft.com/office/drawing/2014/main" id="{6BE4580B-6FAC-4607-0CF0-2E610FF668FE}"/>
                  </a:ext>
                </a:extLst>
              </p:cNvPr>
              <p:cNvGrpSpPr>
                <a:grpSpLocks/>
              </p:cNvGrpSpPr>
              <p:nvPr/>
            </p:nvGrpSpPr>
            <p:grpSpPr bwMode="auto">
              <a:xfrm>
                <a:off x="2478" y="2545"/>
                <a:ext cx="127" cy="112"/>
                <a:chOff x="2478" y="2545"/>
                <a:chExt cx="127" cy="112"/>
              </a:xfrm>
            </p:grpSpPr>
            <p:sp>
              <p:nvSpPr>
                <p:cNvPr id="134" name="Rectangle 126">
                  <a:extLst>
                    <a:ext uri="{FF2B5EF4-FFF2-40B4-BE49-F238E27FC236}">
                      <a16:creationId xmlns:a16="http://schemas.microsoft.com/office/drawing/2014/main" id="{2B955FB6-81C4-D4ED-6698-38DEA38179B9}"/>
                    </a:ext>
                  </a:extLst>
                </p:cNvPr>
                <p:cNvSpPr>
                  <a:spLocks noChangeArrowheads="1"/>
                </p:cNvSpPr>
                <p:nvPr/>
              </p:nvSpPr>
              <p:spPr bwMode="auto">
                <a:xfrm>
                  <a:off x="2478" y="2545"/>
                  <a:ext cx="127" cy="112"/>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35" name="Freeform 127">
                  <a:extLst>
                    <a:ext uri="{FF2B5EF4-FFF2-40B4-BE49-F238E27FC236}">
                      <a16:creationId xmlns:a16="http://schemas.microsoft.com/office/drawing/2014/main" id="{E3F6BE59-8524-AA5D-B118-B21E6ED26B7B}"/>
                    </a:ext>
                  </a:extLst>
                </p:cNvPr>
                <p:cNvSpPr>
                  <a:spLocks/>
                </p:cNvSpPr>
                <p:nvPr/>
              </p:nvSpPr>
              <p:spPr bwMode="auto">
                <a:xfrm>
                  <a:off x="2478" y="2545"/>
                  <a:ext cx="126" cy="110"/>
                </a:xfrm>
                <a:custGeom>
                  <a:avLst/>
                  <a:gdLst>
                    <a:gd name="T0" fmla="*/ 16 w 252"/>
                    <a:gd name="T1" fmla="*/ 0 h 110"/>
                    <a:gd name="T2" fmla="*/ 13 w 252"/>
                    <a:gd name="T3" fmla="*/ 1 h 110"/>
                    <a:gd name="T4" fmla="*/ 10 w 252"/>
                    <a:gd name="T5" fmla="*/ 4 h 110"/>
                    <a:gd name="T6" fmla="*/ 7 w 252"/>
                    <a:gd name="T7" fmla="*/ 9 h 110"/>
                    <a:gd name="T8" fmla="*/ 5 w 252"/>
                    <a:gd name="T9" fmla="*/ 16 h 110"/>
                    <a:gd name="T10" fmla="*/ 3 w 252"/>
                    <a:gd name="T11" fmla="*/ 24 h 110"/>
                    <a:gd name="T12" fmla="*/ 2 w 252"/>
                    <a:gd name="T13" fmla="*/ 34 h 110"/>
                    <a:gd name="T14" fmla="*/ 1 w 252"/>
                    <a:gd name="T15" fmla="*/ 44 h 110"/>
                    <a:gd name="T16" fmla="*/ 0 w 252"/>
                    <a:gd name="T17" fmla="*/ 54 h 110"/>
                    <a:gd name="T18" fmla="*/ 1 w 252"/>
                    <a:gd name="T19" fmla="*/ 66 h 110"/>
                    <a:gd name="T20" fmla="*/ 2 w 252"/>
                    <a:gd name="T21" fmla="*/ 76 h 110"/>
                    <a:gd name="T22" fmla="*/ 3 w 252"/>
                    <a:gd name="T23" fmla="*/ 85 h 110"/>
                    <a:gd name="T24" fmla="*/ 5 w 252"/>
                    <a:gd name="T25" fmla="*/ 94 h 110"/>
                    <a:gd name="T26" fmla="*/ 7 w 252"/>
                    <a:gd name="T27" fmla="*/ 101 h 110"/>
                    <a:gd name="T28" fmla="*/ 10 w 252"/>
                    <a:gd name="T29" fmla="*/ 106 h 110"/>
                    <a:gd name="T30" fmla="*/ 13 w 252"/>
                    <a:gd name="T31" fmla="*/ 109 h 110"/>
                    <a:gd name="T32" fmla="*/ 16 w 252"/>
                    <a:gd name="T33" fmla="*/ 110 h 110"/>
                    <a:gd name="T34" fmla="*/ 19 w 252"/>
                    <a:gd name="T35" fmla="*/ 109 h 110"/>
                    <a:gd name="T36" fmla="*/ 22 w 252"/>
                    <a:gd name="T37" fmla="*/ 106 h 110"/>
                    <a:gd name="T38" fmla="*/ 25 w 252"/>
                    <a:gd name="T39" fmla="*/ 101 h 110"/>
                    <a:gd name="T40" fmla="*/ 27 w 252"/>
                    <a:gd name="T41" fmla="*/ 94 h 110"/>
                    <a:gd name="T42" fmla="*/ 29 w 252"/>
                    <a:gd name="T43" fmla="*/ 85 h 110"/>
                    <a:gd name="T44" fmla="*/ 31 w 252"/>
                    <a:gd name="T45" fmla="*/ 76 h 110"/>
                    <a:gd name="T46" fmla="*/ 32 w 252"/>
                    <a:gd name="T47" fmla="*/ 66 h 110"/>
                    <a:gd name="T48" fmla="*/ 32 w 252"/>
                    <a:gd name="T49" fmla="*/ 54 h 110"/>
                    <a:gd name="T50" fmla="*/ 32 w 252"/>
                    <a:gd name="T51" fmla="*/ 44 h 110"/>
                    <a:gd name="T52" fmla="*/ 31 w 252"/>
                    <a:gd name="T53" fmla="*/ 34 h 110"/>
                    <a:gd name="T54" fmla="*/ 29 w 252"/>
                    <a:gd name="T55" fmla="*/ 24 h 110"/>
                    <a:gd name="T56" fmla="*/ 27 w 252"/>
                    <a:gd name="T57" fmla="*/ 16 h 110"/>
                    <a:gd name="T58" fmla="*/ 25 w 252"/>
                    <a:gd name="T59" fmla="*/ 9 h 110"/>
                    <a:gd name="T60" fmla="*/ 22 w 252"/>
                    <a:gd name="T61" fmla="*/ 4 h 110"/>
                    <a:gd name="T62" fmla="*/ 19 w 252"/>
                    <a:gd name="T63" fmla="*/ 1 h 110"/>
                    <a:gd name="T64" fmla="*/ 16 w 252"/>
                    <a:gd name="T65" fmla="*/ 0 h 11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2" h="110">
                      <a:moveTo>
                        <a:pt x="125" y="0"/>
                      </a:moveTo>
                      <a:lnTo>
                        <a:pt x="100" y="1"/>
                      </a:lnTo>
                      <a:lnTo>
                        <a:pt x="77" y="4"/>
                      </a:lnTo>
                      <a:lnTo>
                        <a:pt x="56" y="9"/>
                      </a:lnTo>
                      <a:lnTo>
                        <a:pt x="37" y="16"/>
                      </a:lnTo>
                      <a:lnTo>
                        <a:pt x="22" y="24"/>
                      </a:lnTo>
                      <a:lnTo>
                        <a:pt x="10" y="34"/>
                      </a:lnTo>
                      <a:lnTo>
                        <a:pt x="2" y="44"/>
                      </a:lnTo>
                      <a:lnTo>
                        <a:pt x="0" y="54"/>
                      </a:lnTo>
                      <a:lnTo>
                        <a:pt x="2" y="66"/>
                      </a:lnTo>
                      <a:lnTo>
                        <a:pt x="10" y="76"/>
                      </a:lnTo>
                      <a:lnTo>
                        <a:pt x="22" y="85"/>
                      </a:lnTo>
                      <a:lnTo>
                        <a:pt x="37" y="94"/>
                      </a:lnTo>
                      <a:lnTo>
                        <a:pt x="56" y="101"/>
                      </a:lnTo>
                      <a:lnTo>
                        <a:pt x="77" y="106"/>
                      </a:lnTo>
                      <a:lnTo>
                        <a:pt x="100" y="109"/>
                      </a:lnTo>
                      <a:lnTo>
                        <a:pt x="125" y="110"/>
                      </a:lnTo>
                      <a:lnTo>
                        <a:pt x="150" y="109"/>
                      </a:lnTo>
                      <a:lnTo>
                        <a:pt x="175" y="106"/>
                      </a:lnTo>
                      <a:lnTo>
                        <a:pt x="196" y="101"/>
                      </a:lnTo>
                      <a:lnTo>
                        <a:pt x="216" y="94"/>
                      </a:lnTo>
                      <a:lnTo>
                        <a:pt x="231" y="85"/>
                      </a:lnTo>
                      <a:lnTo>
                        <a:pt x="242" y="76"/>
                      </a:lnTo>
                      <a:lnTo>
                        <a:pt x="250" y="66"/>
                      </a:lnTo>
                      <a:lnTo>
                        <a:pt x="252" y="54"/>
                      </a:lnTo>
                      <a:lnTo>
                        <a:pt x="250" y="44"/>
                      </a:lnTo>
                      <a:lnTo>
                        <a:pt x="242" y="34"/>
                      </a:lnTo>
                      <a:lnTo>
                        <a:pt x="231" y="24"/>
                      </a:lnTo>
                      <a:lnTo>
                        <a:pt x="216" y="16"/>
                      </a:lnTo>
                      <a:lnTo>
                        <a:pt x="196" y="9"/>
                      </a:lnTo>
                      <a:lnTo>
                        <a:pt x="175" y="4"/>
                      </a:lnTo>
                      <a:lnTo>
                        <a:pt x="150" y="1"/>
                      </a:lnTo>
                      <a:lnTo>
                        <a:pt x="125" y="0"/>
                      </a:lnTo>
                      <a:close/>
                    </a:path>
                  </a:pathLst>
                </a:custGeom>
                <a:solidFill>
                  <a:srgbClr val="FF0000"/>
                </a:solidFill>
                <a:ln w="0">
                  <a:solidFill>
                    <a:srgbClr val="FFFFFF"/>
                  </a:solidFill>
                  <a:prstDash val="solid"/>
                  <a:round/>
                  <a:headEnd/>
                  <a:tailEnd/>
                </a:ln>
              </p:spPr>
              <p:txBody>
                <a:bodyPr/>
                <a:lstStyle/>
                <a:p>
                  <a:endParaRPr lang="en-US">
                    <a:latin typeface="Roboto" panose="02000000000000000000" pitchFamily="2" charset="0"/>
                    <a:ea typeface="Roboto" panose="02000000000000000000" pitchFamily="2" charset="0"/>
                  </a:endParaRPr>
                </a:p>
              </p:txBody>
            </p:sp>
            <p:sp>
              <p:nvSpPr>
                <p:cNvPr id="136" name="Oval 128">
                  <a:extLst>
                    <a:ext uri="{FF2B5EF4-FFF2-40B4-BE49-F238E27FC236}">
                      <a16:creationId xmlns:a16="http://schemas.microsoft.com/office/drawing/2014/main" id="{725E1B3E-211A-3E7D-B815-5178DB24F236}"/>
                    </a:ext>
                  </a:extLst>
                </p:cNvPr>
                <p:cNvSpPr>
                  <a:spLocks noChangeArrowheads="1"/>
                </p:cNvSpPr>
                <p:nvPr/>
              </p:nvSpPr>
              <p:spPr bwMode="auto">
                <a:xfrm>
                  <a:off x="2478" y="2545"/>
                  <a:ext cx="126" cy="111"/>
                </a:xfrm>
                <a:prstGeom prst="ellipse">
                  <a:avLst/>
                </a:prstGeom>
                <a:blipFill dpi="0" rotWithShape="0">
                  <a:blip/>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37" name="Rectangle 129">
                  <a:extLst>
                    <a:ext uri="{FF2B5EF4-FFF2-40B4-BE49-F238E27FC236}">
                      <a16:creationId xmlns:a16="http://schemas.microsoft.com/office/drawing/2014/main" id="{42B7D611-1DE7-F50E-CDD9-1B4A787E481A}"/>
                    </a:ext>
                  </a:extLst>
                </p:cNvPr>
                <p:cNvSpPr>
                  <a:spLocks noChangeArrowheads="1"/>
                </p:cNvSpPr>
                <p:nvPr/>
              </p:nvSpPr>
              <p:spPr bwMode="auto">
                <a:xfrm>
                  <a:off x="2478" y="2545"/>
                  <a:ext cx="127" cy="112"/>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sp>
            <p:nvSpPr>
              <p:cNvPr id="133" name="Oval 130">
                <a:extLst>
                  <a:ext uri="{FF2B5EF4-FFF2-40B4-BE49-F238E27FC236}">
                    <a16:creationId xmlns:a16="http://schemas.microsoft.com/office/drawing/2014/main" id="{54873F7E-0D9B-C986-6F5F-835E0958F7AE}"/>
                  </a:ext>
                </a:extLst>
              </p:cNvPr>
              <p:cNvSpPr>
                <a:spLocks noChangeArrowheads="1"/>
              </p:cNvSpPr>
              <p:nvPr/>
            </p:nvSpPr>
            <p:spPr bwMode="auto">
              <a:xfrm>
                <a:off x="2478" y="2545"/>
                <a:ext cx="126" cy="111"/>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138" name="Group 131">
              <a:extLst>
                <a:ext uri="{FF2B5EF4-FFF2-40B4-BE49-F238E27FC236}">
                  <a16:creationId xmlns:a16="http://schemas.microsoft.com/office/drawing/2014/main" id="{7C311F0C-A380-F1A0-A896-AADEB0C8B003}"/>
                </a:ext>
              </a:extLst>
            </p:cNvPr>
            <p:cNvGrpSpPr>
              <a:grpSpLocks/>
            </p:cNvGrpSpPr>
            <p:nvPr/>
          </p:nvGrpSpPr>
          <p:grpSpPr bwMode="auto">
            <a:xfrm>
              <a:off x="3733800" y="4310063"/>
              <a:ext cx="201613" cy="179387"/>
              <a:chOff x="2478" y="2736"/>
              <a:chExt cx="127" cy="113"/>
            </a:xfrm>
          </p:grpSpPr>
          <p:grpSp>
            <p:nvGrpSpPr>
              <p:cNvPr id="139" name="Group 132">
                <a:extLst>
                  <a:ext uri="{FF2B5EF4-FFF2-40B4-BE49-F238E27FC236}">
                    <a16:creationId xmlns:a16="http://schemas.microsoft.com/office/drawing/2014/main" id="{015D5A60-254C-E3BC-31DE-1DCA4849988C}"/>
                  </a:ext>
                </a:extLst>
              </p:cNvPr>
              <p:cNvGrpSpPr>
                <a:grpSpLocks/>
              </p:cNvGrpSpPr>
              <p:nvPr/>
            </p:nvGrpSpPr>
            <p:grpSpPr bwMode="auto">
              <a:xfrm>
                <a:off x="2478" y="2736"/>
                <a:ext cx="127" cy="113"/>
                <a:chOff x="2478" y="2736"/>
                <a:chExt cx="127" cy="113"/>
              </a:xfrm>
            </p:grpSpPr>
            <p:sp>
              <p:nvSpPr>
                <p:cNvPr id="141" name="Rectangle 133">
                  <a:extLst>
                    <a:ext uri="{FF2B5EF4-FFF2-40B4-BE49-F238E27FC236}">
                      <a16:creationId xmlns:a16="http://schemas.microsoft.com/office/drawing/2014/main" id="{04EB54AA-1D09-6012-22D9-8B3BFB007703}"/>
                    </a:ext>
                  </a:extLst>
                </p:cNvPr>
                <p:cNvSpPr>
                  <a:spLocks noChangeArrowheads="1"/>
                </p:cNvSpPr>
                <p:nvPr/>
              </p:nvSpPr>
              <p:spPr bwMode="auto">
                <a:xfrm>
                  <a:off x="2478" y="2736"/>
                  <a:ext cx="127" cy="1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42" name="Freeform 134">
                  <a:extLst>
                    <a:ext uri="{FF2B5EF4-FFF2-40B4-BE49-F238E27FC236}">
                      <a16:creationId xmlns:a16="http://schemas.microsoft.com/office/drawing/2014/main" id="{0D417297-BEEE-D030-04E4-7C96A95E76BC}"/>
                    </a:ext>
                  </a:extLst>
                </p:cNvPr>
                <p:cNvSpPr>
                  <a:spLocks/>
                </p:cNvSpPr>
                <p:nvPr/>
              </p:nvSpPr>
              <p:spPr bwMode="auto">
                <a:xfrm>
                  <a:off x="2478" y="2736"/>
                  <a:ext cx="126" cy="110"/>
                </a:xfrm>
                <a:custGeom>
                  <a:avLst/>
                  <a:gdLst>
                    <a:gd name="T0" fmla="*/ 16 w 252"/>
                    <a:gd name="T1" fmla="*/ 0 h 110"/>
                    <a:gd name="T2" fmla="*/ 13 w 252"/>
                    <a:gd name="T3" fmla="*/ 1 h 110"/>
                    <a:gd name="T4" fmla="*/ 10 w 252"/>
                    <a:gd name="T5" fmla="*/ 5 h 110"/>
                    <a:gd name="T6" fmla="*/ 7 w 252"/>
                    <a:gd name="T7" fmla="*/ 9 h 110"/>
                    <a:gd name="T8" fmla="*/ 5 w 252"/>
                    <a:gd name="T9" fmla="*/ 16 h 110"/>
                    <a:gd name="T10" fmla="*/ 3 w 252"/>
                    <a:gd name="T11" fmla="*/ 24 h 110"/>
                    <a:gd name="T12" fmla="*/ 2 w 252"/>
                    <a:gd name="T13" fmla="*/ 34 h 110"/>
                    <a:gd name="T14" fmla="*/ 1 w 252"/>
                    <a:gd name="T15" fmla="*/ 44 h 110"/>
                    <a:gd name="T16" fmla="*/ 0 w 252"/>
                    <a:gd name="T17" fmla="*/ 55 h 110"/>
                    <a:gd name="T18" fmla="*/ 1 w 252"/>
                    <a:gd name="T19" fmla="*/ 66 h 110"/>
                    <a:gd name="T20" fmla="*/ 2 w 252"/>
                    <a:gd name="T21" fmla="*/ 76 h 110"/>
                    <a:gd name="T22" fmla="*/ 3 w 252"/>
                    <a:gd name="T23" fmla="*/ 85 h 110"/>
                    <a:gd name="T24" fmla="*/ 5 w 252"/>
                    <a:gd name="T25" fmla="*/ 94 h 110"/>
                    <a:gd name="T26" fmla="*/ 7 w 252"/>
                    <a:gd name="T27" fmla="*/ 101 h 110"/>
                    <a:gd name="T28" fmla="*/ 10 w 252"/>
                    <a:gd name="T29" fmla="*/ 106 h 110"/>
                    <a:gd name="T30" fmla="*/ 13 w 252"/>
                    <a:gd name="T31" fmla="*/ 109 h 110"/>
                    <a:gd name="T32" fmla="*/ 16 w 252"/>
                    <a:gd name="T33" fmla="*/ 110 h 110"/>
                    <a:gd name="T34" fmla="*/ 19 w 252"/>
                    <a:gd name="T35" fmla="*/ 109 h 110"/>
                    <a:gd name="T36" fmla="*/ 22 w 252"/>
                    <a:gd name="T37" fmla="*/ 106 h 110"/>
                    <a:gd name="T38" fmla="*/ 25 w 252"/>
                    <a:gd name="T39" fmla="*/ 101 h 110"/>
                    <a:gd name="T40" fmla="*/ 27 w 252"/>
                    <a:gd name="T41" fmla="*/ 94 h 110"/>
                    <a:gd name="T42" fmla="*/ 29 w 252"/>
                    <a:gd name="T43" fmla="*/ 85 h 110"/>
                    <a:gd name="T44" fmla="*/ 31 w 252"/>
                    <a:gd name="T45" fmla="*/ 76 h 110"/>
                    <a:gd name="T46" fmla="*/ 32 w 252"/>
                    <a:gd name="T47" fmla="*/ 66 h 110"/>
                    <a:gd name="T48" fmla="*/ 32 w 252"/>
                    <a:gd name="T49" fmla="*/ 55 h 110"/>
                    <a:gd name="T50" fmla="*/ 32 w 252"/>
                    <a:gd name="T51" fmla="*/ 44 h 110"/>
                    <a:gd name="T52" fmla="*/ 31 w 252"/>
                    <a:gd name="T53" fmla="*/ 34 h 110"/>
                    <a:gd name="T54" fmla="*/ 29 w 252"/>
                    <a:gd name="T55" fmla="*/ 24 h 110"/>
                    <a:gd name="T56" fmla="*/ 27 w 252"/>
                    <a:gd name="T57" fmla="*/ 16 h 110"/>
                    <a:gd name="T58" fmla="*/ 25 w 252"/>
                    <a:gd name="T59" fmla="*/ 9 h 110"/>
                    <a:gd name="T60" fmla="*/ 22 w 252"/>
                    <a:gd name="T61" fmla="*/ 5 h 110"/>
                    <a:gd name="T62" fmla="*/ 19 w 252"/>
                    <a:gd name="T63" fmla="*/ 1 h 110"/>
                    <a:gd name="T64" fmla="*/ 16 w 252"/>
                    <a:gd name="T65" fmla="*/ 0 h 11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2" h="110">
                      <a:moveTo>
                        <a:pt x="125" y="0"/>
                      </a:moveTo>
                      <a:lnTo>
                        <a:pt x="100" y="1"/>
                      </a:lnTo>
                      <a:lnTo>
                        <a:pt x="77" y="5"/>
                      </a:lnTo>
                      <a:lnTo>
                        <a:pt x="56" y="9"/>
                      </a:lnTo>
                      <a:lnTo>
                        <a:pt x="37" y="16"/>
                      </a:lnTo>
                      <a:lnTo>
                        <a:pt x="22" y="24"/>
                      </a:lnTo>
                      <a:lnTo>
                        <a:pt x="10" y="34"/>
                      </a:lnTo>
                      <a:lnTo>
                        <a:pt x="2" y="44"/>
                      </a:lnTo>
                      <a:lnTo>
                        <a:pt x="0" y="55"/>
                      </a:lnTo>
                      <a:lnTo>
                        <a:pt x="2" y="66"/>
                      </a:lnTo>
                      <a:lnTo>
                        <a:pt x="10" y="76"/>
                      </a:lnTo>
                      <a:lnTo>
                        <a:pt x="22" y="85"/>
                      </a:lnTo>
                      <a:lnTo>
                        <a:pt x="37" y="94"/>
                      </a:lnTo>
                      <a:lnTo>
                        <a:pt x="56" y="101"/>
                      </a:lnTo>
                      <a:lnTo>
                        <a:pt x="77" y="106"/>
                      </a:lnTo>
                      <a:lnTo>
                        <a:pt x="100" y="109"/>
                      </a:lnTo>
                      <a:lnTo>
                        <a:pt x="125" y="110"/>
                      </a:lnTo>
                      <a:lnTo>
                        <a:pt x="150" y="109"/>
                      </a:lnTo>
                      <a:lnTo>
                        <a:pt x="175" y="106"/>
                      </a:lnTo>
                      <a:lnTo>
                        <a:pt x="196" y="101"/>
                      </a:lnTo>
                      <a:lnTo>
                        <a:pt x="216" y="94"/>
                      </a:lnTo>
                      <a:lnTo>
                        <a:pt x="231" y="85"/>
                      </a:lnTo>
                      <a:lnTo>
                        <a:pt x="242" y="76"/>
                      </a:lnTo>
                      <a:lnTo>
                        <a:pt x="250" y="66"/>
                      </a:lnTo>
                      <a:lnTo>
                        <a:pt x="252" y="55"/>
                      </a:lnTo>
                      <a:lnTo>
                        <a:pt x="250" y="44"/>
                      </a:lnTo>
                      <a:lnTo>
                        <a:pt x="242" y="34"/>
                      </a:lnTo>
                      <a:lnTo>
                        <a:pt x="231" y="24"/>
                      </a:lnTo>
                      <a:lnTo>
                        <a:pt x="216" y="16"/>
                      </a:lnTo>
                      <a:lnTo>
                        <a:pt x="196" y="9"/>
                      </a:lnTo>
                      <a:lnTo>
                        <a:pt x="175" y="5"/>
                      </a:lnTo>
                      <a:lnTo>
                        <a:pt x="150" y="1"/>
                      </a:lnTo>
                      <a:lnTo>
                        <a:pt x="125" y="0"/>
                      </a:lnTo>
                      <a:close/>
                    </a:path>
                  </a:pathLst>
                </a:custGeom>
                <a:solidFill>
                  <a:srgbClr val="FF0000"/>
                </a:solidFill>
                <a:ln w="0">
                  <a:solidFill>
                    <a:srgbClr val="FFFFFF"/>
                  </a:solidFill>
                  <a:prstDash val="solid"/>
                  <a:round/>
                  <a:headEnd/>
                  <a:tailEnd/>
                </a:ln>
              </p:spPr>
              <p:txBody>
                <a:bodyPr/>
                <a:lstStyle/>
                <a:p>
                  <a:endParaRPr lang="en-US">
                    <a:latin typeface="Roboto" panose="02000000000000000000" pitchFamily="2" charset="0"/>
                    <a:ea typeface="Roboto" panose="02000000000000000000" pitchFamily="2" charset="0"/>
                  </a:endParaRPr>
                </a:p>
              </p:txBody>
            </p:sp>
            <p:sp>
              <p:nvSpPr>
                <p:cNvPr id="143" name="Oval 135">
                  <a:extLst>
                    <a:ext uri="{FF2B5EF4-FFF2-40B4-BE49-F238E27FC236}">
                      <a16:creationId xmlns:a16="http://schemas.microsoft.com/office/drawing/2014/main" id="{B34C4673-A79F-F5FB-7E8E-66A96F62A58A}"/>
                    </a:ext>
                  </a:extLst>
                </p:cNvPr>
                <p:cNvSpPr>
                  <a:spLocks noChangeArrowheads="1"/>
                </p:cNvSpPr>
                <p:nvPr/>
              </p:nvSpPr>
              <p:spPr bwMode="auto">
                <a:xfrm>
                  <a:off x="2478" y="2736"/>
                  <a:ext cx="126" cy="111"/>
                </a:xfrm>
                <a:prstGeom prst="ellipse">
                  <a:avLst/>
                </a:prstGeom>
                <a:blipFill dpi="0" rotWithShape="0">
                  <a:blip/>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44" name="Rectangle 136">
                  <a:extLst>
                    <a:ext uri="{FF2B5EF4-FFF2-40B4-BE49-F238E27FC236}">
                      <a16:creationId xmlns:a16="http://schemas.microsoft.com/office/drawing/2014/main" id="{9A8F0214-7597-6603-D573-59F3795948CD}"/>
                    </a:ext>
                  </a:extLst>
                </p:cNvPr>
                <p:cNvSpPr>
                  <a:spLocks noChangeArrowheads="1"/>
                </p:cNvSpPr>
                <p:nvPr/>
              </p:nvSpPr>
              <p:spPr bwMode="auto">
                <a:xfrm>
                  <a:off x="2478" y="2736"/>
                  <a:ext cx="127" cy="1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sp>
            <p:nvSpPr>
              <p:cNvPr id="140" name="Oval 137">
                <a:extLst>
                  <a:ext uri="{FF2B5EF4-FFF2-40B4-BE49-F238E27FC236}">
                    <a16:creationId xmlns:a16="http://schemas.microsoft.com/office/drawing/2014/main" id="{DE032498-2E73-F391-2C4F-1C7FC2A764A4}"/>
                  </a:ext>
                </a:extLst>
              </p:cNvPr>
              <p:cNvSpPr>
                <a:spLocks noChangeArrowheads="1"/>
              </p:cNvSpPr>
              <p:nvPr/>
            </p:nvSpPr>
            <p:spPr bwMode="auto">
              <a:xfrm>
                <a:off x="2478" y="2736"/>
                <a:ext cx="126" cy="111"/>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145" name="Group 138">
              <a:extLst>
                <a:ext uri="{FF2B5EF4-FFF2-40B4-BE49-F238E27FC236}">
                  <a16:creationId xmlns:a16="http://schemas.microsoft.com/office/drawing/2014/main" id="{74C7C7EA-CDF3-4D39-3433-24D85E020284}"/>
                </a:ext>
              </a:extLst>
            </p:cNvPr>
            <p:cNvGrpSpPr>
              <a:grpSpLocks/>
            </p:cNvGrpSpPr>
            <p:nvPr/>
          </p:nvGrpSpPr>
          <p:grpSpPr bwMode="auto">
            <a:xfrm>
              <a:off x="4375150" y="4006850"/>
              <a:ext cx="203200" cy="177800"/>
              <a:chOff x="2882" y="2545"/>
              <a:chExt cx="128" cy="112"/>
            </a:xfrm>
          </p:grpSpPr>
          <p:grpSp>
            <p:nvGrpSpPr>
              <p:cNvPr id="146" name="Group 139">
                <a:extLst>
                  <a:ext uri="{FF2B5EF4-FFF2-40B4-BE49-F238E27FC236}">
                    <a16:creationId xmlns:a16="http://schemas.microsoft.com/office/drawing/2014/main" id="{CDB251A7-011B-873A-08F4-C030DCCFCEC1}"/>
                  </a:ext>
                </a:extLst>
              </p:cNvPr>
              <p:cNvGrpSpPr>
                <a:grpSpLocks/>
              </p:cNvGrpSpPr>
              <p:nvPr/>
            </p:nvGrpSpPr>
            <p:grpSpPr bwMode="auto">
              <a:xfrm>
                <a:off x="2882" y="2545"/>
                <a:ext cx="128" cy="112"/>
                <a:chOff x="2882" y="2545"/>
                <a:chExt cx="128" cy="112"/>
              </a:xfrm>
            </p:grpSpPr>
            <p:sp>
              <p:nvSpPr>
                <p:cNvPr id="148" name="Rectangle 140">
                  <a:extLst>
                    <a:ext uri="{FF2B5EF4-FFF2-40B4-BE49-F238E27FC236}">
                      <a16:creationId xmlns:a16="http://schemas.microsoft.com/office/drawing/2014/main" id="{1166D64B-C52F-153D-DE42-26D8E82BFA43}"/>
                    </a:ext>
                  </a:extLst>
                </p:cNvPr>
                <p:cNvSpPr>
                  <a:spLocks noChangeArrowheads="1"/>
                </p:cNvSpPr>
                <p:nvPr/>
              </p:nvSpPr>
              <p:spPr bwMode="auto">
                <a:xfrm>
                  <a:off x="2882" y="2545"/>
                  <a:ext cx="128" cy="112"/>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49" name="Freeform 141">
                  <a:extLst>
                    <a:ext uri="{FF2B5EF4-FFF2-40B4-BE49-F238E27FC236}">
                      <a16:creationId xmlns:a16="http://schemas.microsoft.com/office/drawing/2014/main" id="{66CF6ADD-C86A-47C0-DCB4-238E9D8135B6}"/>
                    </a:ext>
                  </a:extLst>
                </p:cNvPr>
                <p:cNvSpPr>
                  <a:spLocks/>
                </p:cNvSpPr>
                <p:nvPr/>
              </p:nvSpPr>
              <p:spPr bwMode="auto">
                <a:xfrm>
                  <a:off x="2882" y="2545"/>
                  <a:ext cx="126" cy="110"/>
                </a:xfrm>
                <a:custGeom>
                  <a:avLst/>
                  <a:gdLst>
                    <a:gd name="T0" fmla="*/ 16 w 251"/>
                    <a:gd name="T1" fmla="*/ 0 h 110"/>
                    <a:gd name="T2" fmla="*/ 13 w 251"/>
                    <a:gd name="T3" fmla="*/ 1 h 110"/>
                    <a:gd name="T4" fmla="*/ 10 w 251"/>
                    <a:gd name="T5" fmla="*/ 4 h 110"/>
                    <a:gd name="T6" fmla="*/ 7 w 251"/>
                    <a:gd name="T7" fmla="*/ 9 h 110"/>
                    <a:gd name="T8" fmla="*/ 5 w 251"/>
                    <a:gd name="T9" fmla="*/ 16 h 110"/>
                    <a:gd name="T10" fmla="*/ 3 w 251"/>
                    <a:gd name="T11" fmla="*/ 24 h 110"/>
                    <a:gd name="T12" fmla="*/ 2 w 251"/>
                    <a:gd name="T13" fmla="*/ 34 h 110"/>
                    <a:gd name="T14" fmla="*/ 1 w 251"/>
                    <a:gd name="T15" fmla="*/ 44 h 110"/>
                    <a:gd name="T16" fmla="*/ 0 w 251"/>
                    <a:gd name="T17" fmla="*/ 54 h 110"/>
                    <a:gd name="T18" fmla="*/ 1 w 251"/>
                    <a:gd name="T19" fmla="*/ 66 h 110"/>
                    <a:gd name="T20" fmla="*/ 2 w 251"/>
                    <a:gd name="T21" fmla="*/ 76 h 110"/>
                    <a:gd name="T22" fmla="*/ 3 w 251"/>
                    <a:gd name="T23" fmla="*/ 85 h 110"/>
                    <a:gd name="T24" fmla="*/ 5 w 251"/>
                    <a:gd name="T25" fmla="*/ 94 h 110"/>
                    <a:gd name="T26" fmla="*/ 7 w 251"/>
                    <a:gd name="T27" fmla="*/ 101 h 110"/>
                    <a:gd name="T28" fmla="*/ 10 w 251"/>
                    <a:gd name="T29" fmla="*/ 106 h 110"/>
                    <a:gd name="T30" fmla="*/ 13 w 251"/>
                    <a:gd name="T31" fmla="*/ 109 h 110"/>
                    <a:gd name="T32" fmla="*/ 16 w 251"/>
                    <a:gd name="T33" fmla="*/ 110 h 110"/>
                    <a:gd name="T34" fmla="*/ 19 w 251"/>
                    <a:gd name="T35" fmla="*/ 109 h 110"/>
                    <a:gd name="T36" fmla="*/ 22 w 251"/>
                    <a:gd name="T37" fmla="*/ 106 h 110"/>
                    <a:gd name="T38" fmla="*/ 25 w 251"/>
                    <a:gd name="T39" fmla="*/ 101 h 110"/>
                    <a:gd name="T40" fmla="*/ 27 w 251"/>
                    <a:gd name="T41" fmla="*/ 94 h 110"/>
                    <a:gd name="T42" fmla="*/ 29 w 251"/>
                    <a:gd name="T43" fmla="*/ 85 h 110"/>
                    <a:gd name="T44" fmla="*/ 31 w 251"/>
                    <a:gd name="T45" fmla="*/ 76 h 110"/>
                    <a:gd name="T46" fmla="*/ 32 w 251"/>
                    <a:gd name="T47" fmla="*/ 66 h 110"/>
                    <a:gd name="T48" fmla="*/ 32 w 251"/>
                    <a:gd name="T49" fmla="*/ 54 h 110"/>
                    <a:gd name="T50" fmla="*/ 32 w 251"/>
                    <a:gd name="T51" fmla="*/ 44 h 110"/>
                    <a:gd name="T52" fmla="*/ 31 w 251"/>
                    <a:gd name="T53" fmla="*/ 34 h 110"/>
                    <a:gd name="T54" fmla="*/ 29 w 251"/>
                    <a:gd name="T55" fmla="*/ 24 h 110"/>
                    <a:gd name="T56" fmla="*/ 27 w 251"/>
                    <a:gd name="T57" fmla="*/ 16 h 110"/>
                    <a:gd name="T58" fmla="*/ 25 w 251"/>
                    <a:gd name="T59" fmla="*/ 9 h 110"/>
                    <a:gd name="T60" fmla="*/ 22 w 251"/>
                    <a:gd name="T61" fmla="*/ 4 h 110"/>
                    <a:gd name="T62" fmla="*/ 19 w 251"/>
                    <a:gd name="T63" fmla="*/ 1 h 110"/>
                    <a:gd name="T64" fmla="*/ 16 w 251"/>
                    <a:gd name="T65" fmla="*/ 0 h 11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1" h="110">
                      <a:moveTo>
                        <a:pt x="125" y="0"/>
                      </a:moveTo>
                      <a:lnTo>
                        <a:pt x="100" y="1"/>
                      </a:lnTo>
                      <a:lnTo>
                        <a:pt x="77" y="4"/>
                      </a:lnTo>
                      <a:lnTo>
                        <a:pt x="55" y="9"/>
                      </a:lnTo>
                      <a:lnTo>
                        <a:pt x="36" y="16"/>
                      </a:lnTo>
                      <a:lnTo>
                        <a:pt x="21" y="24"/>
                      </a:lnTo>
                      <a:lnTo>
                        <a:pt x="9" y="34"/>
                      </a:lnTo>
                      <a:lnTo>
                        <a:pt x="2" y="44"/>
                      </a:lnTo>
                      <a:lnTo>
                        <a:pt x="0" y="54"/>
                      </a:lnTo>
                      <a:lnTo>
                        <a:pt x="2" y="66"/>
                      </a:lnTo>
                      <a:lnTo>
                        <a:pt x="9" y="76"/>
                      </a:lnTo>
                      <a:lnTo>
                        <a:pt x="21" y="85"/>
                      </a:lnTo>
                      <a:lnTo>
                        <a:pt x="36" y="94"/>
                      </a:lnTo>
                      <a:lnTo>
                        <a:pt x="55" y="101"/>
                      </a:lnTo>
                      <a:lnTo>
                        <a:pt x="77" y="106"/>
                      </a:lnTo>
                      <a:lnTo>
                        <a:pt x="100" y="109"/>
                      </a:lnTo>
                      <a:lnTo>
                        <a:pt x="125" y="110"/>
                      </a:lnTo>
                      <a:lnTo>
                        <a:pt x="150" y="109"/>
                      </a:lnTo>
                      <a:lnTo>
                        <a:pt x="175" y="106"/>
                      </a:lnTo>
                      <a:lnTo>
                        <a:pt x="196" y="101"/>
                      </a:lnTo>
                      <a:lnTo>
                        <a:pt x="215" y="94"/>
                      </a:lnTo>
                      <a:lnTo>
                        <a:pt x="230" y="85"/>
                      </a:lnTo>
                      <a:lnTo>
                        <a:pt x="242" y="76"/>
                      </a:lnTo>
                      <a:lnTo>
                        <a:pt x="249" y="66"/>
                      </a:lnTo>
                      <a:lnTo>
                        <a:pt x="251" y="54"/>
                      </a:lnTo>
                      <a:lnTo>
                        <a:pt x="249" y="44"/>
                      </a:lnTo>
                      <a:lnTo>
                        <a:pt x="242" y="34"/>
                      </a:lnTo>
                      <a:lnTo>
                        <a:pt x="230" y="24"/>
                      </a:lnTo>
                      <a:lnTo>
                        <a:pt x="215" y="16"/>
                      </a:lnTo>
                      <a:lnTo>
                        <a:pt x="196" y="9"/>
                      </a:lnTo>
                      <a:lnTo>
                        <a:pt x="175" y="4"/>
                      </a:lnTo>
                      <a:lnTo>
                        <a:pt x="150" y="1"/>
                      </a:lnTo>
                      <a:lnTo>
                        <a:pt x="125" y="0"/>
                      </a:lnTo>
                      <a:close/>
                    </a:path>
                  </a:pathLst>
                </a:custGeom>
                <a:solidFill>
                  <a:srgbClr val="FF0000"/>
                </a:solidFill>
                <a:ln w="0">
                  <a:solidFill>
                    <a:srgbClr val="FFFFFF"/>
                  </a:solidFill>
                  <a:prstDash val="solid"/>
                  <a:round/>
                  <a:headEnd/>
                  <a:tailEnd/>
                </a:ln>
              </p:spPr>
              <p:txBody>
                <a:bodyPr/>
                <a:lstStyle/>
                <a:p>
                  <a:endParaRPr lang="en-US">
                    <a:latin typeface="Roboto" panose="02000000000000000000" pitchFamily="2" charset="0"/>
                    <a:ea typeface="Roboto" panose="02000000000000000000" pitchFamily="2" charset="0"/>
                  </a:endParaRPr>
                </a:p>
              </p:txBody>
            </p:sp>
            <p:sp>
              <p:nvSpPr>
                <p:cNvPr id="150" name="Oval 142">
                  <a:extLst>
                    <a:ext uri="{FF2B5EF4-FFF2-40B4-BE49-F238E27FC236}">
                      <a16:creationId xmlns:a16="http://schemas.microsoft.com/office/drawing/2014/main" id="{2970C78A-DC77-9081-6F53-DF0F95B1677F}"/>
                    </a:ext>
                  </a:extLst>
                </p:cNvPr>
                <p:cNvSpPr>
                  <a:spLocks noChangeArrowheads="1"/>
                </p:cNvSpPr>
                <p:nvPr/>
              </p:nvSpPr>
              <p:spPr bwMode="auto">
                <a:xfrm>
                  <a:off x="2882" y="2545"/>
                  <a:ext cx="127" cy="111"/>
                </a:xfrm>
                <a:prstGeom prst="ellipse">
                  <a:avLst/>
                </a:prstGeom>
                <a:blipFill dpi="0" rotWithShape="0">
                  <a:blip/>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51" name="Rectangle 143">
                  <a:extLst>
                    <a:ext uri="{FF2B5EF4-FFF2-40B4-BE49-F238E27FC236}">
                      <a16:creationId xmlns:a16="http://schemas.microsoft.com/office/drawing/2014/main" id="{B8C98187-38CC-D726-BF41-6C24E4AF1560}"/>
                    </a:ext>
                  </a:extLst>
                </p:cNvPr>
                <p:cNvSpPr>
                  <a:spLocks noChangeArrowheads="1"/>
                </p:cNvSpPr>
                <p:nvPr/>
              </p:nvSpPr>
              <p:spPr bwMode="auto">
                <a:xfrm>
                  <a:off x="2882" y="2545"/>
                  <a:ext cx="128" cy="112"/>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sp>
            <p:nvSpPr>
              <p:cNvPr id="147" name="Oval 144">
                <a:extLst>
                  <a:ext uri="{FF2B5EF4-FFF2-40B4-BE49-F238E27FC236}">
                    <a16:creationId xmlns:a16="http://schemas.microsoft.com/office/drawing/2014/main" id="{419ACCD9-72DA-654C-4BDB-7B661E5403E0}"/>
                  </a:ext>
                </a:extLst>
              </p:cNvPr>
              <p:cNvSpPr>
                <a:spLocks noChangeArrowheads="1"/>
              </p:cNvSpPr>
              <p:nvPr/>
            </p:nvSpPr>
            <p:spPr bwMode="auto">
              <a:xfrm>
                <a:off x="2882" y="2545"/>
                <a:ext cx="127" cy="111"/>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152" name="Group 145">
              <a:extLst>
                <a:ext uri="{FF2B5EF4-FFF2-40B4-BE49-F238E27FC236}">
                  <a16:creationId xmlns:a16="http://schemas.microsoft.com/office/drawing/2014/main" id="{21CC7C84-02AE-9B1B-FB9E-3747B67EB84D}"/>
                </a:ext>
              </a:extLst>
            </p:cNvPr>
            <p:cNvGrpSpPr>
              <a:grpSpLocks/>
            </p:cNvGrpSpPr>
            <p:nvPr/>
          </p:nvGrpSpPr>
          <p:grpSpPr bwMode="auto">
            <a:xfrm>
              <a:off x="3733800" y="2792413"/>
              <a:ext cx="201613" cy="179387"/>
              <a:chOff x="2478" y="1780"/>
              <a:chExt cx="127" cy="113"/>
            </a:xfrm>
          </p:grpSpPr>
          <p:grpSp>
            <p:nvGrpSpPr>
              <p:cNvPr id="153" name="Group 146">
                <a:extLst>
                  <a:ext uri="{FF2B5EF4-FFF2-40B4-BE49-F238E27FC236}">
                    <a16:creationId xmlns:a16="http://schemas.microsoft.com/office/drawing/2014/main" id="{61680EAD-83FC-E801-A764-8C72AB91E363}"/>
                  </a:ext>
                </a:extLst>
              </p:cNvPr>
              <p:cNvGrpSpPr>
                <a:grpSpLocks/>
              </p:cNvGrpSpPr>
              <p:nvPr/>
            </p:nvGrpSpPr>
            <p:grpSpPr bwMode="auto">
              <a:xfrm>
                <a:off x="2478" y="1780"/>
                <a:ext cx="127" cy="113"/>
                <a:chOff x="2478" y="1780"/>
                <a:chExt cx="127" cy="113"/>
              </a:xfrm>
            </p:grpSpPr>
            <p:sp>
              <p:nvSpPr>
                <p:cNvPr id="155" name="Rectangle 147">
                  <a:extLst>
                    <a:ext uri="{FF2B5EF4-FFF2-40B4-BE49-F238E27FC236}">
                      <a16:creationId xmlns:a16="http://schemas.microsoft.com/office/drawing/2014/main" id="{6E0887A5-65E9-8DF0-23E7-9E8488F7CE58}"/>
                    </a:ext>
                  </a:extLst>
                </p:cNvPr>
                <p:cNvSpPr>
                  <a:spLocks noChangeArrowheads="1"/>
                </p:cNvSpPr>
                <p:nvPr/>
              </p:nvSpPr>
              <p:spPr bwMode="auto">
                <a:xfrm>
                  <a:off x="2478" y="1780"/>
                  <a:ext cx="127" cy="1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56" name="Freeform 148">
                  <a:extLst>
                    <a:ext uri="{FF2B5EF4-FFF2-40B4-BE49-F238E27FC236}">
                      <a16:creationId xmlns:a16="http://schemas.microsoft.com/office/drawing/2014/main" id="{733FA938-D285-47C0-01E8-0A6A51BC7347}"/>
                    </a:ext>
                  </a:extLst>
                </p:cNvPr>
                <p:cNvSpPr>
                  <a:spLocks/>
                </p:cNvSpPr>
                <p:nvPr/>
              </p:nvSpPr>
              <p:spPr bwMode="auto">
                <a:xfrm>
                  <a:off x="2478" y="1780"/>
                  <a:ext cx="126" cy="111"/>
                </a:xfrm>
                <a:custGeom>
                  <a:avLst/>
                  <a:gdLst>
                    <a:gd name="T0" fmla="*/ 16 w 252"/>
                    <a:gd name="T1" fmla="*/ 0 h 111"/>
                    <a:gd name="T2" fmla="*/ 13 w 252"/>
                    <a:gd name="T3" fmla="*/ 1 h 111"/>
                    <a:gd name="T4" fmla="*/ 10 w 252"/>
                    <a:gd name="T5" fmla="*/ 5 h 111"/>
                    <a:gd name="T6" fmla="*/ 7 w 252"/>
                    <a:gd name="T7" fmla="*/ 9 h 111"/>
                    <a:gd name="T8" fmla="*/ 5 w 252"/>
                    <a:gd name="T9" fmla="*/ 16 h 111"/>
                    <a:gd name="T10" fmla="*/ 3 w 252"/>
                    <a:gd name="T11" fmla="*/ 24 h 111"/>
                    <a:gd name="T12" fmla="*/ 2 w 252"/>
                    <a:gd name="T13" fmla="*/ 34 h 111"/>
                    <a:gd name="T14" fmla="*/ 1 w 252"/>
                    <a:gd name="T15" fmla="*/ 45 h 111"/>
                    <a:gd name="T16" fmla="*/ 0 w 252"/>
                    <a:gd name="T17" fmla="*/ 55 h 111"/>
                    <a:gd name="T18" fmla="*/ 1 w 252"/>
                    <a:gd name="T19" fmla="*/ 66 h 111"/>
                    <a:gd name="T20" fmla="*/ 2 w 252"/>
                    <a:gd name="T21" fmla="*/ 77 h 111"/>
                    <a:gd name="T22" fmla="*/ 3 w 252"/>
                    <a:gd name="T23" fmla="*/ 86 h 111"/>
                    <a:gd name="T24" fmla="*/ 5 w 252"/>
                    <a:gd name="T25" fmla="*/ 95 h 111"/>
                    <a:gd name="T26" fmla="*/ 7 w 252"/>
                    <a:gd name="T27" fmla="*/ 102 h 111"/>
                    <a:gd name="T28" fmla="*/ 10 w 252"/>
                    <a:gd name="T29" fmla="*/ 106 h 111"/>
                    <a:gd name="T30" fmla="*/ 13 w 252"/>
                    <a:gd name="T31" fmla="*/ 110 h 111"/>
                    <a:gd name="T32" fmla="*/ 16 w 252"/>
                    <a:gd name="T33" fmla="*/ 111 h 111"/>
                    <a:gd name="T34" fmla="*/ 19 w 252"/>
                    <a:gd name="T35" fmla="*/ 110 h 111"/>
                    <a:gd name="T36" fmla="*/ 22 w 252"/>
                    <a:gd name="T37" fmla="*/ 106 h 111"/>
                    <a:gd name="T38" fmla="*/ 25 w 252"/>
                    <a:gd name="T39" fmla="*/ 102 h 111"/>
                    <a:gd name="T40" fmla="*/ 27 w 252"/>
                    <a:gd name="T41" fmla="*/ 95 h 111"/>
                    <a:gd name="T42" fmla="*/ 29 w 252"/>
                    <a:gd name="T43" fmla="*/ 86 h 111"/>
                    <a:gd name="T44" fmla="*/ 31 w 252"/>
                    <a:gd name="T45" fmla="*/ 77 h 111"/>
                    <a:gd name="T46" fmla="*/ 32 w 252"/>
                    <a:gd name="T47" fmla="*/ 66 h 111"/>
                    <a:gd name="T48" fmla="*/ 32 w 252"/>
                    <a:gd name="T49" fmla="*/ 55 h 111"/>
                    <a:gd name="T50" fmla="*/ 32 w 252"/>
                    <a:gd name="T51" fmla="*/ 45 h 111"/>
                    <a:gd name="T52" fmla="*/ 31 w 252"/>
                    <a:gd name="T53" fmla="*/ 34 h 111"/>
                    <a:gd name="T54" fmla="*/ 29 w 252"/>
                    <a:gd name="T55" fmla="*/ 24 h 111"/>
                    <a:gd name="T56" fmla="*/ 27 w 252"/>
                    <a:gd name="T57" fmla="*/ 16 h 111"/>
                    <a:gd name="T58" fmla="*/ 25 w 252"/>
                    <a:gd name="T59" fmla="*/ 9 h 111"/>
                    <a:gd name="T60" fmla="*/ 22 w 252"/>
                    <a:gd name="T61" fmla="*/ 5 h 111"/>
                    <a:gd name="T62" fmla="*/ 19 w 252"/>
                    <a:gd name="T63" fmla="*/ 1 h 111"/>
                    <a:gd name="T64" fmla="*/ 16 w 252"/>
                    <a:gd name="T65" fmla="*/ 0 h 11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2" h="111">
                      <a:moveTo>
                        <a:pt x="125" y="0"/>
                      </a:moveTo>
                      <a:lnTo>
                        <a:pt x="100" y="1"/>
                      </a:lnTo>
                      <a:lnTo>
                        <a:pt x="77" y="5"/>
                      </a:lnTo>
                      <a:lnTo>
                        <a:pt x="56" y="9"/>
                      </a:lnTo>
                      <a:lnTo>
                        <a:pt x="37" y="16"/>
                      </a:lnTo>
                      <a:lnTo>
                        <a:pt x="22" y="24"/>
                      </a:lnTo>
                      <a:lnTo>
                        <a:pt x="10" y="34"/>
                      </a:lnTo>
                      <a:lnTo>
                        <a:pt x="2" y="45"/>
                      </a:lnTo>
                      <a:lnTo>
                        <a:pt x="0" y="55"/>
                      </a:lnTo>
                      <a:lnTo>
                        <a:pt x="2" y="66"/>
                      </a:lnTo>
                      <a:lnTo>
                        <a:pt x="10" y="77"/>
                      </a:lnTo>
                      <a:lnTo>
                        <a:pt x="22" y="86"/>
                      </a:lnTo>
                      <a:lnTo>
                        <a:pt x="37" y="95"/>
                      </a:lnTo>
                      <a:lnTo>
                        <a:pt x="56" y="102"/>
                      </a:lnTo>
                      <a:lnTo>
                        <a:pt x="77" y="106"/>
                      </a:lnTo>
                      <a:lnTo>
                        <a:pt x="100" y="110"/>
                      </a:lnTo>
                      <a:lnTo>
                        <a:pt x="125" y="111"/>
                      </a:lnTo>
                      <a:lnTo>
                        <a:pt x="150" y="110"/>
                      </a:lnTo>
                      <a:lnTo>
                        <a:pt x="175" y="106"/>
                      </a:lnTo>
                      <a:lnTo>
                        <a:pt x="196" y="102"/>
                      </a:lnTo>
                      <a:lnTo>
                        <a:pt x="216" y="95"/>
                      </a:lnTo>
                      <a:lnTo>
                        <a:pt x="231" y="86"/>
                      </a:lnTo>
                      <a:lnTo>
                        <a:pt x="242" y="77"/>
                      </a:lnTo>
                      <a:lnTo>
                        <a:pt x="250" y="66"/>
                      </a:lnTo>
                      <a:lnTo>
                        <a:pt x="252" y="55"/>
                      </a:lnTo>
                      <a:lnTo>
                        <a:pt x="250" y="45"/>
                      </a:lnTo>
                      <a:lnTo>
                        <a:pt x="242" y="34"/>
                      </a:lnTo>
                      <a:lnTo>
                        <a:pt x="231" y="24"/>
                      </a:lnTo>
                      <a:lnTo>
                        <a:pt x="216" y="16"/>
                      </a:lnTo>
                      <a:lnTo>
                        <a:pt x="196" y="9"/>
                      </a:lnTo>
                      <a:lnTo>
                        <a:pt x="175" y="5"/>
                      </a:lnTo>
                      <a:lnTo>
                        <a:pt x="150" y="1"/>
                      </a:lnTo>
                      <a:lnTo>
                        <a:pt x="125" y="0"/>
                      </a:lnTo>
                      <a:close/>
                    </a:path>
                  </a:pathLst>
                </a:custGeom>
                <a:solidFill>
                  <a:srgbClr val="FF0000"/>
                </a:solidFill>
                <a:ln w="0">
                  <a:solidFill>
                    <a:srgbClr val="FFFFFF"/>
                  </a:solidFill>
                  <a:prstDash val="solid"/>
                  <a:round/>
                  <a:headEnd/>
                  <a:tailEnd/>
                </a:ln>
              </p:spPr>
              <p:txBody>
                <a:bodyPr/>
                <a:lstStyle/>
                <a:p>
                  <a:endParaRPr lang="en-US">
                    <a:latin typeface="Roboto" panose="02000000000000000000" pitchFamily="2" charset="0"/>
                    <a:ea typeface="Roboto" panose="02000000000000000000" pitchFamily="2" charset="0"/>
                  </a:endParaRPr>
                </a:p>
              </p:txBody>
            </p:sp>
            <p:sp>
              <p:nvSpPr>
                <p:cNvPr id="157" name="Oval 149">
                  <a:extLst>
                    <a:ext uri="{FF2B5EF4-FFF2-40B4-BE49-F238E27FC236}">
                      <a16:creationId xmlns:a16="http://schemas.microsoft.com/office/drawing/2014/main" id="{4EDE7D4D-C2F1-E64B-A55D-03DC27D2310A}"/>
                    </a:ext>
                  </a:extLst>
                </p:cNvPr>
                <p:cNvSpPr>
                  <a:spLocks noChangeArrowheads="1"/>
                </p:cNvSpPr>
                <p:nvPr/>
              </p:nvSpPr>
              <p:spPr bwMode="auto">
                <a:xfrm>
                  <a:off x="2478" y="1780"/>
                  <a:ext cx="126" cy="112"/>
                </a:xfrm>
                <a:prstGeom prst="ellipse">
                  <a:avLst/>
                </a:prstGeom>
                <a:blipFill dpi="0" rotWithShape="0">
                  <a:blip/>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58" name="Rectangle 150">
                  <a:extLst>
                    <a:ext uri="{FF2B5EF4-FFF2-40B4-BE49-F238E27FC236}">
                      <a16:creationId xmlns:a16="http://schemas.microsoft.com/office/drawing/2014/main" id="{C32EE3C3-9C1F-3C9C-8806-21D14888EAB8}"/>
                    </a:ext>
                  </a:extLst>
                </p:cNvPr>
                <p:cNvSpPr>
                  <a:spLocks noChangeArrowheads="1"/>
                </p:cNvSpPr>
                <p:nvPr/>
              </p:nvSpPr>
              <p:spPr bwMode="auto">
                <a:xfrm>
                  <a:off x="2478" y="1780"/>
                  <a:ext cx="127" cy="1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sp>
            <p:nvSpPr>
              <p:cNvPr id="154" name="Oval 151">
                <a:extLst>
                  <a:ext uri="{FF2B5EF4-FFF2-40B4-BE49-F238E27FC236}">
                    <a16:creationId xmlns:a16="http://schemas.microsoft.com/office/drawing/2014/main" id="{5D53C90C-7156-3C1D-F05C-EDB9DB9A964C}"/>
                  </a:ext>
                </a:extLst>
              </p:cNvPr>
              <p:cNvSpPr>
                <a:spLocks noChangeArrowheads="1"/>
              </p:cNvSpPr>
              <p:nvPr/>
            </p:nvSpPr>
            <p:spPr bwMode="auto">
              <a:xfrm>
                <a:off x="2478" y="1780"/>
                <a:ext cx="126" cy="112"/>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159" name="Group 152">
              <a:extLst>
                <a:ext uri="{FF2B5EF4-FFF2-40B4-BE49-F238E27FC236}">
                  <a16:creationId xmlns:a16="http://schemas.microsoft.com/office/drawing/2014/main" id="{C3F1FCA2-6FB4-D194-B168-1D0458CACAAC}"/>
                </a:ext>
              </a:extLst>
            </p:cNvPr>
            <p:cNvGrpSpPr>
              <a:grpSpLocks/>
            </p:cNvGrpSpPr>
            <p:nvPr/>
          </p:nvGrpSpPr>
          <p:grpSpPr bwMode="auto">
            <a:xfrm>
              <a:off x="3733800" y="3400425"/>
              <a:ext cx="201613" cy="177800"/>
              <a:chOff x="2478" y="2163"/>
              <a:chExt cx="127" cy="112"/>
            </a:xfrm>
          </p:grpSpPr>
          <p:grpSp>
            <p:nvGrpSpPr>
              <p:cNvPr id="160" name="Group 153">
                <a:extLst>
                  <a:ext uri="{FF2B5EF4-FFF2-40B4-BE49-F238E27FC236}">
                    <a16:creationId xmlns:a16="http://schemas.microsoft.com/office/drawing/2014/main" id="{8A2EC49B-F051-7716-3FFD-4A178F41FDDB}"/>
                  </a:ext>
                </a:extLst>
              </p:cNvPr>
              <p:cNvGrpSpPr>
                <a:grpSpLocks/>
              </p:cNvGrpSpPr>
              <p:nvPr/>
            </p:nvGrpSpPr>
            <p:grpSpPr bwMode="auto">
              <a:xfrm>
                <a:off x="2478" y="2163"/>
                <a:ext cx="127" cy="112"/>
                <a:chOff x="2478" y="2163"/>
                <a:chExt cx="127" cy="112"/>
              </a:xfrm>
            </p:grpSpPr>
            <p:sp>
              <p:nvSpPr>
                <p:cNvPr id="162" name="Rectangle 154">
                  <a:extLst>
                    <a:ext uri="{FF2B5EF4-FFF2-40B4-BE49-F238E27FC236}">
                      <a16:creationId xmlns:a16="http://schemas.microsoft.com/office/drawing/2014/main" id="{15354C97-B626-FDF9-42A9-11B679C80FF6}"/>
                    </a:ext>
                  </a:extLst>
                </p:cNvPr>
                <p:cNvSpPr>
                  <a:spLocks noChangeArrowheads="1"/>
                </p:cNvSpPr>
                <p:nvPr/>
              </p:nvSpPr>
              <p:spPr bwMode="auto">
                <a:xfrm>
                  <a:off x="2478" y="2163"/>
                  <a:ext cx="127" cy="112"/>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63" name="Freeform 155">
                  <a:extLst>
                    <a:ext uri="{FF2B5EF4-FFF2-40B4-BE49-F238E27FC236}">
                      <a16:creationId xmlns:a16="http://schemas.microsoft.com/office/drawing/2014/main" id="{74671D76-9EC5-6903-695B-A9CC55B65EFA}"/>
                    </a:ext>
                  </a:extLst>
                </p:cNvPr>
                <p:cNvSpPr>
                  <a:spLocks/>
                </p:cNvSpPr>
                <p:nvPr/>
              </p:nvSpPr>
              <p:spPr bwMode="auto">
                <a:xfrm>
                  <a:off x="2478" y="2163"/>
                  <a:ext cx="126" cy="110"/>
                </a:xfrm>
                <a:custGeom>
                  <a:avLst/>
                  <a:gdLst>
                    <a:gd name="T0" fmla="*/ 16 w 252"/>
                    <a:gd name="T1" fmla="*/ 0 h 110"/>
                    <a:gd name="T2" fmla="*/ 13 w 252"/>
                    <a:gd name="T3" fmla="*/ 1 h 110"/>
                    <a:gd name="T4" fmla="*/ 10 w 252"/>
                    <a:gd name="T5" fmla="*/ 4 h 110"/>
                    <a:gd name="T6" fmla="*/ 7 w 252"/>
                    <a:gd name="T7" fmla="*/ 9 h 110"/>
                    <a:gd name="T8" fmla="*/ 5 w 252"/>
                    <a:gd name="T9" fmla="*/ 15 h 110"/>
                    <a:gd name="T10" fmla="*/ 3 w 252"/>
                    <a:gd name="T11" fmla="*/ 23 h 110"/>
                    <a:gd name="T12" fmla="*/ 2 w 252"/>
                    <a:gd name="T13" fmla="*/ 34 h 110"/>
                    <a:gd name="T14" fmla="*/ 1 w 252"/>
                    <a:gd name="T15" fmla="*/ 44 h 110"/>
                    <a:gd name="T16" fmla="*/ 0 w 252"/>
                    <a:gd name="T17" fmla="*/ 54 h 110"/>
                    <a:gd name="T18" fmla="*/ 1 w 252"/>
                    <a:gd name="T19" fmla="*/ 66 h 110"/>
                    <a:gd name="T20" fmla="*/ 2 w 252"/>
                    <a:gd name="T21" fmla="*/ 76 h 110"/>
                    <a:gd name="T22" fmla="*/ 3 w 252"/>
                    <a:gd name="T23" fmla="*/ 85 h 110"/>
                    <a:gd name="T24" fmla="*/ 5 w 252"/>
                    <a:gd name="T25" fmla="*/ 94 h 110"/>
                    <a:gd name="T26" fmla="*/ 7 w 252"/>
                    <a:gd name="T27" fmla="*/ 101 h 110"/>
                    <a:gd name="T28" fmla="*/ 10 w 252"/>
                    <a:gd name="T29" fmla="*/ 105 h 110"/>
                    <a:gd name="T30" fmla="*/ 13 w 252"/>
                    <a:gd name="T31" fmla="*/ 109 h 110"/>
                    <a:gd name="T32" fmla="*/ 16 w 252"/>
                    <a:gd name="T33" fmla="*/ 110 h 110"/>
                    <a:gd name="T34" fmla="*/ 19 w 252"/>
                    <a:gd name="T35" fmla="*/ 109 h 110"/>
                    <a:gd name="T36" fmla="*/ 22 w 252"/>
                    <a:gd name="T37" fmla="*/ 105 h 110"/>
                    <a:gd name="T38" fmla="*/ 25 w 252"/>
                    <a:gd name="T39" fmla="*/ 101 h 110"/>
                    <a:gd name="T40" fmla="*/ 27 w 252"/>
                    <a:gd name="T41" fmla="*/ 94 h 110"/>
                    <a:gd name="T42" fmla="*/ 29 w 252"/>
                    <a:gd name="T43" fmla="*/ 85 h 110"/>
                    <a:gd name="T44" fmla="*/ 31 w 252"/>
                    <a:gd name="T45" fmla="*/ 76 h 110"/>
                    <a:gd name="T46" fmla="*/ 32 w 252"/>
                    <a:gd name="T47" fmla="*/ 66 h 110"/>
                    <a:gd name="T48" fmla="*/ 32 w 252"/>
                    <a:gd name="T49" fmla="*/ 54 h 110"/>
                    <a:gd name="T50" fmla="*/ 32 w 252"/>
                    <a:gd name="T51" fmla="*/ 44 h 110"/>
                    <a:gd name="T52" fmla="*/ 31 w 252"/>
                    <a:gd name="T53" fmla="*/ 34 h 110"/>
                    <a:gd name="T54" fmla="*/ 29 w 252"/>
                    <a:gd name="T55" fmla="*/ 23 h 110"/>
                    <a:gd name="T56" fmla="*/ 27 w 252"/>
                    <a:gd name="T57" fmla="*/ 15 h 110"/>
                    <a:gd name="T58" fmla="*/ 25 w 252"/>
                    <a:gd name="T59" fmla="*/ 9 h 110"/>
                    <a:gd name="T60" fmla="*/ 22 w 252"/>
                    <a:gd name="T61" fmla="*/ 4 h 110"/>
                    <a:gd name="T62" fmla="*/ 19 w 252"/>
                    <a:gd name="T63" fmla="*/ 1 h 110"/>
                    <a:gd name="T64" fmla="*/ 16 w 252"/>
                    <a:gd name="T65" fmla="*/ 0 h 11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2" h="110">
                      <a:moveTo>
                        <a:pt x="125" y="0"/>
                      </a:moveTo>
                      <a:lnTo>
                        <a:pt x="100" y="1"/>
                      </a:lnTo>
                      <a:lnTo>
                        <a:pt x="77" y="4"/>
                      </a:lnTo>
                      <a:lnTo>
                        <a:pt x="56" y="9"/>
                      </a:lnTo>
                      <a:lnTo>
                        <a:pt x="37" y="15"/>
                      </a:lnTo>
                      <a:lnTo>
                        <a:pt x="22" y="23"/>
                      </a:lnTo>
                      <a:lnTo>
                        <a:pt x="10" y="34"/>
                      </a:lnTo>
                      <a:lnTo>
                        <a:pt x="2" y="44"/>
                      </a:lnTo>
                      <a:lnTo>
                        <a:pt x="0" y="54"/>
                      </a:lnTo>
                      <a:lnTo>
                        <a:pt x="2" y="66"/>
                      </a:lnTo>
                      <a:lnTo>
                        <a:pt x="10" y="76"/>
                      </a:lnTo>
                      <a:lnTo>
                        <a:pt x="22" y="85"/>
                      </a:lnTo>
                      <a:lnTo>
                        <a:pt x="37" y="94"/>
                      </a:lnTo>
                      <a:lnTo>
                        <a:pt x="56" y="101"/>
                      </a:lnTo>
                      <a:lnTo>
                        <a:pt x="77" y="105"/>
                      </a:lnTo>
                      <a:lnTo>
                        <a:pt x="100" y="109"/>
                      </a:lnTo>
                      <a:lnTo>
                        <a:pt x="125" y="110"/>
                      </a:lnTo>
                      <a:lnTo>
                        <a:pt x="150" y="109"/>
                      </a:lnTo>
                      <a:lnTo>
                        <a:pt x="175" y="105"/>
                      </a:lnTo>
                      <a:lnTo>
                        <a:pt x="196" y="101"/>
                      </a:lnTo>
                      <a:lnTo>
                        <a:pt x="216" y="94"/>
                      </a:lnTo>
                      <a:lnTo>
                        <a:pt x="231" y="85"/>
                      </a:lnTo>
                      <a:lnTo>
                        <a:pt x="242" y="76"/>
                      </a:lnTo>
                      <a:lnTo>
                        <a:pt x="250" y="66"/>
                      </a:lnTo>
                      <a:lnTo>
                        <a:pt x="252" y="54"/>
                      </a:lnTo>
                      <a:lnTo>
                        <a:pt x="250" y="44"/>
                      </a:lnTo>
                      <a:lnTo>
                        <a:pt x="242" y="34"/>
                      </a:lnTo>
                      <a:lnTo>
                        <a:pt x="231" y="23"/>
                      </a:lnTo>
                      <a:lnTo>
                        <a:pt x="216" y="15"/>
                      </a:lnTo>
                      <a:lnTo>
                        <a:pt x="196" y="9"/>
                      </a:lnTo>
                      <a:lnTo>
                        <a:pt x="175" y="4"/>
                      </a:lnTo>
                      <a:lnTo>
                        <a:pt x="150" y="1"/>
                      </a:lnTo>
                      <a:lnTo>
                        <a:pt x="125" y="0"/>
                      </a:lnTo>
                      <a:close/>
                    </a:path>
                  </a:pathLst>
                </a:custGeom>
                <a:solidFill>
                  <a:srgbClr val="FF0000"/>
                </a:solidFill>
                <a:ln w="0">
                  <a:solidFill>
                    <a:srgbClr val="FFFFFF"/>
                  </a:solidFill>
                  <a:prstDash val="solid"/>
                  <a:round/>
                  <a:headEnd/>
                  <a:tailEnd/>
                </a:ln>
              </p:spPr>
              <p:txBody>
                <a:bodyPr/>
                <a:lstStyle/>
                <a:p>
                  <a:endParaRPr lang="en-US">
                    <a:latin typeface="Roboto" panose="02000000000000000000" pitchFamily="2" charset="0"/>
                    <a:ea typeface="Roboto" panose="02000000000000000000" pitchFamily="2" charset="0"/>
                  </a:endParaRPr>
                </a:p>
              </p:txBody>
            </p:sp>
            <p:sp>
              <p:nvSpPr>
                <p:cNvPr id="164" name="Oval 156">
                  <a:extLst>
                    <a:ext uri="{FF2B5EF4-FFF2-40B4-BE49-F238E27FC236}">
                      <a16:creationId xmlns:a16="http://schemas.microsoft.com/office/drawing/2014/main" id="{7F31DB0C-19E6-7A67-E979-F22EFF4CC1F7}"/>
                    </a:ext>
                  </a:extLst>
                </p:cNvPr>
                <p:cNvSpPr>
                  <a:spLocks noChangeArrowheads="1"/>
                </p:cNvSpPr>
                <p:nvPr/>
              </p:nvSpPr>
              <p:spPr bwMode="auto">
                <a:xfrm>
                  <a:off x="2478" y="2163"/>
                  <a:ext cx="126" cy="111"/>
                </a:xfrm>
                <a:prstGeom prst="ellipse">
                  <a:avLst/>
                </a:prstGeom>
                <a:blipFill dpi="0" rotWithShape="0">
                  <a:blip/>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65" name="Rectangle 157">
                  <a:extLst>
                    <a:ext uri="{FF2B5EF4-FFF2-40B4-BE49-F238E27FC236}">
                      <a16:creationId xmlns:a16="http://schemas.microsoft.com/office/drawing/2014/main" id="{67FA4A47-FF25-483B-6577-8152249503AC}"/>
                    </a:ext>
                  </a:extLst>
                </p:cNvPr>
                <p:cNvSpPr>
                  <a:spLocks noChangeArrowheads="1"/>
                </p:cNvSpPr>
                <p:nvPr/>
              </p:nvSpPr>
              <p:spPr bwMode="auto">
                <a:xfrm>
                  <a:off x="2478" y="2163"/>
                  <a:ext cx="127" cy="112"/>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sp>
            <p:nvSpPr>
              <p:cNvPr id="161" name="Oval 158">
                <a:extLst>
                  <a:ext uri="{FF2B5EF4-FFF2-40B4-BE49-F238E27FC236}">
                    <a16:creationId xmlns:a16="http://schemas.microsoft.com/office/drawing/2014/main" id="{64FFA06C-A8D5-1FF6-3F2C-E6670657E5E6}"/>
                  </a:ext>
                </a:extLst>
              </p:cNvPr>
              <p:cNvSpPr>
                <a:spLocks noChangeArrowheads="1"/>
              </p:cNvSpPr>
              <p:nvPr/>
            </p:nvSpPr>
            <p:spPr bwMode="auto">
              <a:xfrm>
                <a:off x="2478" y="2163"/>
                <a:ext cx="126" cy="111"/>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166" name="Group 159">
              <a:extLst>
                <a:ext uri="{FF2B5EF4-FFF2-40B4-BE49-F238E27FC236}">
                  <a16:creationId xmlns:a16="http://schemas.microsoft.com/office/drawing/2014/main" id="{03CCA924-CF73-724E-363C-CEC24A412552}"/>
                </a:ext>
              </a:extLst>
            </p:cNvPr>
            <p:cNvGrpSpPr>
              <a:grpSpLocks/>
            </p:cNvGrpSpPr>
            <p:nvPr/>
          </p:nvGrpSpPr>
          <p:grpSpPr bwMode="auto">
            <a:xfrm>
              <a:off x="4375150" y="4916488"/>
              <a:ext cx="203200" cy="179387"/>
              <a:chOff x="2882" y="3118"/>
              <a:chExt cx="128" cy="113"/>
            </a:xfrm>
          </p:grpSpPr>
          <p:grpSp>
            <p:nvGrpSpPr>
              <p:cNvPr id="167" name="Group 160">
                <a:extLst>
                  <a:ext uri="{FF2B5EF4-FFF2-40B4-BE49-F238E27FC236}">
                    <a16:creationId xmlns:a16="http://schemas.microsoft.com/office/drawing/2014/main" id="{56EFDB4B-5005-29BC-CDC2-9005F09DB4F5}"/>
                  </a:ext>
                </a:extLst>
              </p:cNvPr>
              <p:cNvGrpSpPr>
                <a:grpSpLocks/>
              </p:cNvGrpSpPr>
              <p:nvPr/>
            </p:nvGrpSpPr>
            <p:grpSpPr bwMode="auto">
              <a:xfrm>
                <a:off x="2882" y="3118"/>
                <a:ext cx="128" cy="113"/>
                <a:chOff x="2882" y="3118"/>
                <a:chExt cx="128" cy="113"/>
              </a:xfrm>
            </p:grpSpPr>
            <p:sp>
              <p:nvSpPr>
                <p:cNvPr id="169" name="Rectangle 161">
                  <a:extLst>
                    <a:ext uri="{FF2B5EF4-FFF2-40B4-BE49-F238E27FC236}">
                      <a16:creationId xmlns:a16="http://schemas.microsoft.com/office/drawing/2014/main" id="{67449E19-E8B0-020C-D49E-5E02356BD7C2}"/>
                    </a:ext>
                  </a:extLst>
                </p:cNvPr>
                <p:cNvSpPr>
                  <a:spLocks noChangeArrowheads="1"/>
                </p:cNvSpPr>
                <p:nvPr/>
              </p:nvSpPr>
              <p:spPr bwMode="auto">
                <a:xfrm>
                  <a:off x="2882" y="3118"/>
                  <a:ext cx="128" cy="1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70" name="Freeform 162">
                  <a:extLst>
                    <a:ext uri="{FF2B5EF4-FFF2-40B4-BE49-F238E27FC236}">
                      <a16:creationId xmlns:a16="http://schemas.microsoft.com/office/drawing/2014/main" id="{351F25C2-3553-58F2-E0C3-EFEEDA8BB9EA}"/>
                    </a:ext>
                  </a:extLst>
                </p:cNvPr>
                <p:cNvSpPr>
                  <a:spLocks/>
                </p:cNvSpPr>
                <p:nvPr/>
              </p:nvSpPr>
              <p:spPr bwMode="auto">
                <a:xfrm>
                  <a:off x="2882" y="3118"/>
                  <a:ext cx="126" cy="111"/>
                </a:xfrm>
                <a:custGeom>
                  <a:avLst/>
                  <a:gdLst>
                    <a:gd name="T0" fmla="*/ 16 w 251"/>
                    <a:gd name="T1" fmla="*/ 0 h 111"/>
                    <a:gd name="T2" fmla="*/ 13 w 251"/>
                    <a:gd name="T3" fmla="*/ 1 h 111"/>
                    <a:gd name="T4" fmla="*/ 10 w 251"/>
                    <a:gd name="T5" fmla="*/ 5 h 111"/>
                    <a:gd name="T6" fmla="*/ 7 w 251"/>
                    <a:gd name="T7" fmla="*/ 9 h 111"/>
                    <a:gd name="T8" fmla="*/ 5 w 251"/>
                    <a:gd name="T9" fmla="*/ 16 h 111"/>
                    <a:gd name="T10" fmla="*/ 3 w 251"/>
                    <a:gd name="T11" fmla="*/ 24 h 111"/>
                    <a:gd name="T12" fmla="*/ 2 w 251"/>
                    <a:gd name="T13" fmla="*/ 34 h 111"/>
                    <a:gd name="T14" fmla="*/ 1 w 251"/>
                    <a:gd name="T15" fmla="*/ 45 h 111"/>
                    <a:gd name="T16" fmla="*/ 0 w 251"/>
                    <a:gd name="T17" fmla="*/ 55 h 111"/>
                    <a:gd name="T18" fmla="*/ 1 w 251"/>
                    <a:gd name="T19" fmla="*/ 66 h 111"/>
                    <a:gd name="T20" fmla="*/ 2 w 251"/>
                    <a:gd name="T21" fmla="*/ 76 h 111"/>
                    <a:gd name="T22" fmla="*/ 3 w 251"/>
                    <a:gd name="T23" fmla="*/ 86 h 111"/>
                    <a:gd name="T24" fmla="*/ 5 w 251"/>
                    <a:gd name="T25" fmla="*/ 95 h 111"/>
                    <a:gd name="T26" fmla="*/ 7 w 251"/>
                    <a:gd name="T27" fmla="*/ 101 h 111"/>
                    <a:gd name="T28" fmla="*/ 10 w 251"/>
                    <a:gd name="T29" fmla="*/ 106 h 111"/>
                    <a:gd name="T30" fmla="*/ 13 w 251"/>
                    <a:gd name="T31" fmla="*/ 109 h 111"/>
                    <a:gd name="T32" fmla="*/ 16 w 251"/>
                    <a:gd name="T33" fmla="*/ 111 h 111"/>
                    <a:gd name="T34" fmla="*/ 19 w 251"/>
                    <a:gd name="T35" fmla="*/ 109 h 111"/>
                    <a:gd name="T36" fmla="*/ 22 w 251"/>
                    <a:gd name="T37" fmla="*/ 106 h 111"/>
                    <a:gd name="T38" fmla="*/ 25 w 251"/>
                    <a:gd name="T39" fmla="*/ 101 h 111"/>
                    <a:gd name="T40" fmla="*/ 27 w 251"/>
                    <a:gd name="T41" fmla="*/ 95 h 111"/>
                    <a:gd name="T42" fmla="*/ 29 w 251"/>
                    <a:gd name="T43" fmla="*/ 86 h 111"/>
                    <a:gd name="T44" fmla="*/ 31 w 251"/>
                    <a:gd name="T45" fmla="*/ 76 h 111"/>
                    <a:gd name="T46" fmla="*/ 32 w 251"/>
                    <a:gd name="T47" fmla="*/ 66 h 111"/>
                    <a:gd name="T48" fmla="*/ 32 w 251"/>
                    <a:gd name="T49" fmla="*/ 55 h 111"/>
                    <a:gd name="T50" fmla="*/ 32 w 251"/>
                    <a:gd name="T51" fmla="*/ 45 h 111"/>
                    <a:gd name="T52" fmla="*/ 31 w 251"/>
                    <a:gd name="T53" fmla="*/ 34 h 111"/>
                    <a:gd name="T54" fmla="*/ 29 w 251"/>
                    <a:gd name="T55" fmla="*/ 24 h 111"/>
                    <a:gd name="T56" fmla="*/ 27 w 251"/>
                    <a:gd name="T57" fmla="*/ 16 h 111"/>
                    <a:gd name="T58" fmla="*/ 25 w 251"/>
                    <a:gd name="T59" fmla="*/ 9 h 111"/>
                    <a:gd name="T60" fmla="*/ 22 w 251"/>
                    <a:gd name="T61" fmla="*/ 5 h 111"/>
                    <a:gd name="T62" fmla="*/ 19 w 251"/>
                    <a:gd name="T63" fmla="*/ 1 h 111"/>
                    <a:gd name="T64" fmla="*/ 16 w 251"/>
                    <a:gd name="T65" fmla="*/ 0 h 11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1" h="111">
                      <a:moveTo>
                        <a:pt x="125" y="0"/>
                      </a:moveTo>
                      <a:lnTo>
                        <a:pt x="100" y="1"/>
                      </a:lnTo>
                      <a:lnTo>
                        <a:pt x="77" y="5"/>
                      </a:lnTo>
                      <a:lnTo>
                        <a:pt x="55" y="9"/>
                      </a:lnTo>
                      <a:lnTo>
                        <a:pt x="36" y="16"/>
                      </a:lnTo>
                      <a:lnTo>
                        <a:pt x="21" y="24"/>
                      </a:lnTo>
                      <a:lnTo>
                        <a:pt x="9" y="34"/>
                      </a:lnTo>
                      <a:lnTo>
                        <a:pt x="2" y="45"/>
                      </a:lnTo>
                      <a:lnTo>
                        <a:pt x="0" y="55"/>
                      </a:lnTo>
                      <a:lnTo>
                        <a:pt x="2" y="66"/>
                      </a:lnTo>
                      <a:lnTo>
                        <a:pt x="9" y="76"/>
                      </a:lnTo>
                      <a:lnTo>
                        <a:pt x="21" y="86"/>
                      </a:lnTo>
                      <a:lnTo>
                        <a:pt x="36" y="95"/>
                      </a:lnTo>
                      <a:lnTo>
                        <a:pt x="55" y="101"/>
                      </a:lnTo>
                      <a:lnTo>
                        <a:pt x="77" y="106"/>
                      </a:lnTo>
                      <a:lnTo>
                        <a:pt x="100" y="109"/>
                      </a:lnTo>
                      <a:lnTo>
                        <a:pt x="125" y="111"/>
                      </a:lnTo>
                      <a:lnTo>
                        <a:pt x="150" y="109"/>
                      </a:lnTo>
                      <a:lnTo>
                        <a:pt x="175" y="106"/>
                      </a:lnTo>
                      <a:lnTo>
                        <a:pt x="196" y="101"/>
                      </a:lnTo>
                      <a:lnTo>
                        <a:pt x="215" y="95"/>
                      </a:lnTo>
                      <a:lnTo>
                        <a:pt x="230" y="86"/>
                      </a:lnTo>
                      <a:lnTo>
                        <a:pt x="242" y="76"/>
                      </a:lnTo>
                      <a:lnTo>
                        <a:pt x="249" y="66"/>
                      </a:lnTo>
                      <a:lnTo>
                        <a:pt x="251" y="55"/>
                      </a:lnTo>
                      <a:lnTo>
                        <a:pt x="249" y="45"/>
                      </a:lnTo>
                      <a:lnTo>
                        <a:pt x="242" y="34"/>
                      </a:lnTo>
                      <a:lnTo>
                        <a:pt x="230" y="24"/>
                      </a:lnTo>
                      <a:lnTo>
                        <a:pt x="215" y="16"/>
                      </a:lnTo>
                      <a:lnTo>
                        <a:pt x="196" y="9"/>
                      </a:lnTo>
                      <a:lnTo>
                        <a:pt x="175" y="5"/>
                      </a:lnTo>
                      <a:lnTo>
                        <a:pt x="150" y="1"/>
                      </a:lnTo>
                      <a:lnTo>
                        <a:pt x="125" y="0"/>
                      </a:lnTo>
                      <a:close/>
                    </a:path>
                  </a:pathLst>
                </a:custGeom>
                <a:solidFill>
                  <a:srgbClr val="FF0000"/>
                </a:solidFill>
                <a:ln w="0">
                  <a:solidFill>
                    <a:srgbClr val="FFFFFF"/>
                  </a:solidFill>
                  <a:prstDash val="solid"/>
                  <a:round/>
                  <a:headEnd/>
                  <a:tailEnd/>
                </a:ln>
              </p:spPr>
              <p:txBody>
                <a:bodyPr/>
                <a:lstStyle/>
                <a:p>
                  <a:endParaRPr lang="en-US">
                    <a:latin typeface="Roboto" panose="02000000000000000000" pitchFamily="2" charset="0"/>
                    <a:ea typeface="Roboto" panose="02000000000000000000" pitchFamily="2" charset="0"/>
                  </a:endParaRPr>
                </a:p>
              </p:txBody>
            </p:sp>
            <p:sp>
              <p:nvSpPr>
                <p:cNvPr id="171" name="Oval 163">
                  <a:extLst>
                    <a:ext uri="{FF2B5EF4-FFF2-40B4-BE49-F238E27FC236}">
                      <a16:creationId xmlns:a16="http://schemas.microsoft.com/office/drawing/2014/main" id="{9279D811-5262-563E-116C-91A03CE98263}"/>
                    </a:ext>
                  </a:extLst>
                </p:cNvPr>
                <p:cNvSpPr>
                  <a:spLocks noChangeArrowheads="1"/>
                </p:cNvSpPr>
                <p:nvPr/>
              </p:nvSpPr>
              <p:spPr bwMode="auto">
                <a:xfrm>
                  <a:off x="2882" y="3118"/>
                  <a:ext cx="127" cy="112"/>
                </a:xfrm>
                <a:prstGeom prst="ellipse">
                  <a:avLst/>
                </a:prstGeom>
                <a:blipFill dpi="0" rotWithShape="0">
                  <a:blip/>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72" name="Rectangle 164">
                  <a:extLst>
                    <a:ext uri="{FF2B5EF4-FFF2-40B4-BE49-F238E27FC236}">
                      <a16:creationId xmlns:a16="http://schemas.microsoft.com/office/drawing/2014/main" id="{DAE5EFE1-0609-8B42-982E-29E62729196F}"/>
                    </a:ext>
                  </a:extLst>
                </p:cNvPr>
                <p:cNvSpPr>
                  <a:spLocks noChangeArrowheads="1"/>
                </p:cNvSpPr>
                <p:nvPr/>
              </p:nvSpPr>
              <p:spPr bwMode="auto">
                <a:xfrm>
                  <a:off x="2882" y="3118"/>
                  <a:ext cx="128" cy="1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sp>
            <p:nvSpPr>
              <p:cNvPr id="168" name="Oval 165">
                <a:extLst>
                  <a:ext uri="{FF2B5EF4-FFF2-40B4-BE49-F238E27FC236}">
                    <a16:creationId xmlns:a16="http://schemas.microsoft.com/office/drawing/2014/main" id="{55E7A244-9B26-AA8E-B324-2E5637C86B68}"/>
                  </a:ext>
                </a:extLst>
              </p:cNvPr>
              <p:cNvSpPr>
                <a:spLocks noChangeArrowheads="1"/>
              </p:cNvSpPr>
              <p:nvPr/>
            </p:nvSpPr>
            <p:spPr bwMode="auto">
              <a:xfrm>
                <a:off x="2882" y="3118"/>
                <a:ext cx="127" cy="112"/>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173" name="Group 166">
              <a:extLst>
                <a:ext uri="{FF2B5EF4-FFF2-40B4-BE49-F238E27FC236}">
                  <a16:creationId xmlns:a16="http://schemas.microsoft.com/office/drawing/2014/main" id="{F954BA2B-7B15-D029-9A36-09E1D558B5F0}"/>
                </a:ext>
              </a:extLst>
            </p:cNvPr>
            <p:cNvGrpSpPr>
              <a:grpSpLocks/>
            </p:cNvGrpSpPr>
            <p:nvPr/>
          </p:nvGrpSpPr>
          <p:grpSpPr bwMode="auto">
            <a:xfrm>
              <a:off x="5657850" y="4916488"/>
              <a:ext cx="203200" cy="179387"/>
              <a:chOff x="3690" y="3118"/>
              <a:chExt cx="128" cy="113"/>
            </a:xfrm>
          </p:grpSpPr>
          <p:grpSp>
            <p:nvGrpSpPr>
              <p:cNvPr id="174" name="Group 167">
                <a:extLst>
                  <a:ext uri="{FF2B5EF4-FFF2-40B4-BE49-F238E27FC236}">
                    <a16:creationId xmlns:a16="http://schemas.microsoft.com/office/drawing/2014/main" id="{280F1905-140E-C73D-325A-FA2E26B96237}"/>
                  </a:ext>
                </a:extLst>
              </p:cNvPr>
              <p:cNvGrpSpPr>
                <a:grpSpLocks/>
              </p:cNvGrpSpPr>
              <p:nvPr/>
            </p:nvGrpSpPr>
            <p:grpSpPr bwMode="auto">
              <a:xfrm>
                <a:off x="3690" y="3118"/>
                <a:ext cx="128" cy="113"/>
                <a:chOff x="3690" y="3118"/>
                <a:chExt cx="128" cy="113"/>
              </a:xfrm>
            </p:grpSpPr>
            <p:sp>
              <p:nvSpPr>
                <p:cNvPr id="176" name="Rectangle 168">
                  <a:extLst>
                    <a:ext uri="{FF2B5EF4-FFF2-40B4-BE49-F238E27FC236}">
                      <a16:creationId xmlns:a16="http://schemas.microsoft.com/office/drawing/2014/main" id="{E62B6506-C17C-E93D-4F19-516D37647252}"/>
                    </a:ext>
                  </a:extLst>
                </p:cNvPr>
                <p:cNvSpPr>
                  <a:spLocks noChangeArrowheads="1"/>
                </p:cNvSpPr>
                <p:nvPr/>
              </p:nvSpPr>
              <p:spPr bwMode="auto">
                <a:xfrm>
                  <a:off x="3690" y="3118"/>
                  <a:ext cx="128" cy="1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77" name="Freeform 169">
                  <a:extLst>
                    <a:ext uri="{FF2B5EF4-FFF2-40B4-BE49-F238E27FC236}">
                      <a16:creationId xmlns:a16="http://schemas.microsoft.com/office/drawing/2014/main" id="{870BE64E-35A4-E564-B676-1DE19BCCD08A}"/>
                    </a:ext>
                  </a:extLst>
                </p:cNvPr>
                <p:cNvSpPr>
                  <a:spLocks/>
                </p:cNvSpPr>
                <p:nvPr/>
              </p:nvSpPr>
              <p:spPr bwMode="auto">
                <a:xfrm>
                  <a:off x="3690" y="3118"/>
                  <a:ext cx="126" cy="111"/>
                </a:xfrm>
                <a:custGeom>
                  <a:avLst/>
                  <a:gdLst>
                    <a:gd name="T0" fmla="*/ 16 w 252"/>
                    <a:gd name="T1" fmla="*/ 0 h 111"/>
                    <a:gd name="T2" fmla="*/ 13 w 252"/>
                    <a:gd name="T3" fmla="*/ 1 h 111"/>
                    <a:gd name="T4" fmla="*/ 10 w 252"/>
                    <a:gd name="T5" fmla="*/ 5 h 111"/>
                    <a:gd name="T6" fmla="*/ 7 w 252"/>
                    <a:gd name="T7" fmla="*/ 9 h 111"/>
                    <a:gd name="T8" fmla="*/ 5 w 252"/>
                    <a:gd name="T9" fmla="*/ 16 h 111"/>
                    <a:gd name="T10" fmla="*/ 3 w 252"/>
                    <a:gd name="T11" fmla="*/ 24 h 111"/>
                    <a:gd name="T12" fmla="*/ 2 w 252"/>
                    <a:gd name="T13" fmla="*/ 34 h 111"/>
                    <a:gd name="T14" fmla="*/ 1 w 252"/>
                    <a:gd name="T15" fmla="*/ 45 h 111"/>
                    <a:gd name="T16" fmla="*/ 0 w 252"/>
                    <a:gd name="T17" fmla="*/ 55 h 111"/>
                    <a:gd name="T18" fmla="*/ 1 w 252"/>
                    <a:gd name="T19" fmla="*/ 66 h 111"/>
                    <a:gd name="T20" fmla="*/ 2 w 252"/>
                    <a:gd name="T21" fmla="*/ 76 h 111"/>
                    <a:gd name="T22" fmla="*/ 3 w 252"/>
                    <a:gd name="T23" fmla="*/ 86 h 111"/>
                    <a:gd name="T24" fmla="*/ 5 w 252"/>
                    <a:gd name="T25" fmla="*/ 95 h 111"/>
                    <a:gd name="T26" fmla="*/ 7 w 252"/>
                    <a:gd name="T27" fmla="*/ 101 h 111"/>
                    <a:gd name="T28" fmla="*/ 10 w 252"/>
                    <a:gd name="T29" fmla="*/ 106 h 111"/>
                    <a:gd name="T30" fmla="*/ 13 w 252"/>
                    <a:gd name="T31" fmla="*/ 109 h 111"/>
                    <a:gd name="T32" fmla="*/ 16 w 252"/>
                    <a:gd name="T33" fmla="*/ 111 h 111"/>
                    <a:gd name="T34" fmla="*/ 19 w 252"/>
                    <a:gd name="T35" fmla="*/ 109 h 111"/>
                    <a:gd name="T36" fmla="*/ 22 w 252"/>
                    <a:gd name="T37" fmla="*/ 106 h 111"/>
                    <a:gd name="T38" fmla="*/ 25 w 252"/>
                    <a:gd name="T39" fmla="*/ 101 h 111"/>
                    <a:gd name="T40" fmla="*/ 27 w 252"/>
                    <a:gd name="T41" fmla="*/ 95 h 111"/>
                    <a:gd name="T42" fmla="*/ 29 w 252"/>
                    <a:gd name="T43" fmla="*/ 86 h 111"/>
                    <a:gd name="T44" fmla="*/ 31 w 252"/>
                    <a:gd name="T45" fmla="*/ 76 h 111"/>
                    <a:gd name="T46" fmla="*/ 32 w 252"/>
                    <a:gd name="T47" fmla="*/ 66 h 111"/>
                    <a:gd name="T48" fmla="*/ 32 w 252"/>
                    <a:gd name="T49" fmla="*/ 55 h 111"/>
                    <a:gd name="T50" fmla="*/ 32 w 252"/>
                    <a:gd name="T51" fmla="*/ 45 h 111"/>
                    <a:gd name="T52" fmla="*/ 31 w 252"/>
                    <a:gd name="T53" fmla="*/ 34 h 111"/>
                    <a:gd name="T54" fmla="*/ 29 w 252"/>
                    <a:gd name="T55" fmla="*/ 24 h 111"/>
                    <a:gd name="T56" fmla="*/ 27 w 252"/>
                    <a:gd name="T57" fmla="*/ 16 h 111"/>
                    <a:gd name="T58" fmla="*/ 25 w 252"/>
                    <a:gd name="T59" fmla="*/ 9 h 111"/>
                    <a:gd name="T60" fmla="*/ 22 w 252"/>
                    <a:gd name="T61" fmla="*/ 5 h 111"/>
                    <a:gd name="T62" fmla="*/ 19 w 252"/>
                    <a:gd name="T63" fmla="*/ 1 h 111"/>
                    <a:gd name="T64" fmla="*/ 16 w 252"/>
                    <a:gd name="T65" fmla="*/ 0 h 11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2" h="111">
                      <a:moveTo>
                        <a:pt x="125" y="0"/>
                      </a:moveTo>
                      <a:lnTo>
                        <a:pt x="100" y="1"/>
                      </a:lnTo>
                      <a:lnTo>
                        <a:pt x="77" y="5"/>
                      </a:lnTo>
                      <a:lnTo>
                        <a:pt x="56" y="9"/>
                      </a:lnTo>
                      <a:lnTo>
                        <a:pt x="37" y="16"/>
                      </a:lnTo>
                      <a:lnTo>
                        <a:pt x="22" y="24"/>
                      </a:lnTo>
                      <a:lnTo>
                        <a:pt x="10" y="34"/>
                      </a:lnTo>
                      <a:lnTo>
                        <a:pt x="2" y="45"/>
                      </a:lnTo>
                      <a:lnTo>
                        <a:pt x="0" y="55"/>
                      </a:lnTo>
                      <a:lnTo>
                        <a:pt x="2" y="66"/>
                      </a:lnTo>
                      <a:lnTo>
                        <a:pt x="10" y="76"/>
                      </a:lnTo>
                      <a:lnTo>
                        <a:pt x="22" y="86"/>
                      </a:lnTo>
                      <a:lnTo>
                        <a:pt x="37" y="95"/>
                      </a:lnTo>
                      <a:lnTo>
                        <a:pt x="56" y="101"/>
                      </a:lnTo>
                      <a:lnTo>
                        <a:pt x="77" y="106"/>
                      </a:lnTo>
                      <a:lnTo>
                        <a:pt x="100" y="109"/>
                      </a:lnTo>
                      <a:lnTo>
                        <a:pt x="125" y="111"/>
                      </a:lnTo>
                      <a:lnTo>
                        <a:pt x="150" y="109"/>
                      </a:lnTo>
                      <a:lnTo>
                        <a:pt x="175" y="106"/>
                      </a:lnTo>
                      <a:lnTo>
                        <a:pt x="196" y="101"/>
                      </a:lnTo>
                      <a:lnTo>
                        <a:pt x="215" y="95"/>
                      </a:lnTo>
                      <a:lnTo>
                        <a:pt x="231" y="86"/>
                      </a:lnTo>
                      <a:lnTo>
                        <a:pt x="242" y="76"/>
                      </a:lnTo>
                      <a:lnTo>
                        <a:pt x="250" y="66"/>
                      </a:lnTo>
                      <a:lnTo>
                        <a:pt x="252" y="55"/>
                      </a:lnTo>
                      <a:lnTo>
                        <a:pt x="250" y="45"/>
                      </a:lnTo>
                      <a:lnTo>
                        <a:pt x="242" y="34"/>
                      </a:lnTo>
                      <a:lnTo>
                        <a:pt x="231" y="24"/>
                      </a:lnTo>
                      <a:lnTo>
                        <a:pt x="215" y="16"/>
                      </a:lnTo>
                      <a:lnTo>
                        <a:pt x="196" y="9"/>
                      </a:lnTo>
                      <a:lnTo>
                        <a:pt x="175" y="5"/>
                      </a:lnTo>
                      <a:lnTo>
                        <a:pt x="150" y="1"/>
                      </a:lnTo>
                      <a:lnTo>
                        <a:pt x="125" y="0"/>
                      </a:lnTo>
                      <a:close/>
                    </a:path>
                  </a:pathLst>
                </a:custGeom>
                <a:solidFill>
                  <a:srgbClr val="FF0000"/>
                </a:solidFill>
                <a:ln w="0">
                  <a:solidFill>
                    <a:srgbClr val="FFFFFF"/>
                  </a:solidFill>
                  <a:prstDash val="solid"/>
                  <a:round/>
                  <a:headEnd/>
                  <a:tailEnd/>
                </a:ln>
              </p:spPr>
              <p:txBody>
                <a:bodyPr/>
                <a:lstStyle/>
                <a:p>
                  <a:endParaRPr lang="en-US">
                    <a:latin typeface="Roboto" panose="02000000000000000000" pitchFamily="2" charset="0"/>
                    <a:ea typeface="Roboto" panose="02000000000000000000" pitchFamily="2" charset="0"/>
                  </a:endParaRPr>
                </a:p>
              </p:txBody>
            </p:sp>
            <p:sp>
              <p:nvSpPr>
                <p:cNvPr id="178" name="Oval 170">
                  <a:extLst>
                    <a:ext uri="{FF2B5EF4-FFF2-40B4-BE49-F238E27FC236}">
                      <a16:creationId xmlns:a16="http://schemas.microsoft.com/office/drawing/2014/main" id="{7AD644BB-5F7D-A716-D4E9-6B58B0458521}"/>
                    </a:ext>
                  </a:extLst>
                </p:cNvPr>
                <p:cNvSpPr>
                  <a:spLocks noChangeArrowheads="1"/>
                </p:cNvSpPr>
                <p:nvPr/>
              </p:nvSpPr>
              <p:spPr bwMode="auto">
                <a:xfrm>
                  <a:off x="3690" y="3118"/>
                  <a:ext cx="127" cy="112"/>
                </a:xfrm>
                <a:prstGeom prst="ellipse">
                  <a:avLst/>
                </a:prstGeom>
                <a:blipFill dpi="0" rotWithShape="0">
                  <a:blip/>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79" name="Rectangle 171">
                  <a:extLst>
                    <a:ext uri="{FF2B5EF4-FFF2-40B4-BE49-F238E27FC236}">
                      <a16:creationId xmlns:a16="http://schemas.microsoft.com/office/drawing/2014/main" id="{8F6CE6EF-C0B5-8B76-A4EE-B5535BA5E9BA}"/>
                    </a:ext>
                  </a:extLst>
                </p:cNvPr>
                <p:cNvSpPr>
                  <a:spLocks noChangeArrowheads="1"/>
                </p:cNvSpPr>
                <p:nvPr/>
              </p:nvSpPr>
              <p:spPr bwMode="auto">
                <a:xfrm>
                  <a:off x="3690" y="3118"/>
                  <a:ext cx="128" cy="1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sp>
            <p:nvSpPr>
              <p:cNvPr id="175" name="Oval 172">
                <a:extLst>
                  <a:ext uri="{FF2B5EF4-FFF2-40B4-BE49-F238E27FC236}">
                    <a16:creationId xmlns:a16="http://schemas.microsoft.com/office/drawing/2014/main" id="{68BDE9FD-4D27-746B-25BD-9335F7CEA10C}"/>
                  </a:ext>
                </a:extLst>
              </p:cNvPr>
              <p:cNvSpPr>
                <a:spLocks noChangeArrowheads="1"/>
              </p:cNvSpPr>
              <p:nvPr/>
            </p:nvSpPr>
            <p:spPr bwMode="auto">
              <a:xfrm>
                <a:off x="3690" y="3118"/>
                <a:ext cx="127" cy="112"/>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180" name="Group 173">
              <a:extLst>
                <a:ext uri="{FF2B5EF4-FFF2-40B4-BE49-F238E27FC236}">
                  <a16:creationId xmlns:a16="http://schemas.microsoft.com/office/drawing/2014/main" id="{F4722CB5-C5E9-3470-EA6D-B6C44EF40726}"/>
                </a:ext>
              </a:extLst>
            </p:cNvPr>
            <p:cNvGrpSpPr>
              <a:grpSpLocks/>
            </p:cNvGrpSpPr>
            <p:nvPr/>
          </p:nvGrpSpPr>
          <p:grpSpPr bwMode="auto">
            <a:xfrm>
              <a:off x="5016500" y="4006850"/>
              <a:ext cx="203200" cy="177800"/>
              <a:chOff x="3286" y="2545"/>
              <a:chExt cx="128" cy="112"/>
            </a:xfrm>
          </p:grpSpPr>
          <p:grpSp>
            <p:nvGrpSpPr>
              <p:cNvPr id="181" name="Group 174">
                <a:extLst>
                  <a:ext uri="{FF2B5EF4-FFF2-40B4-BE49-F238E27FC236}">
                    <a16:creationId xmlns:a16="http://schemas.microsoft.com/office/drawing/2014/main" id="{E2AC3DCB-6F74-9B23-CF87-D2D311853032}"/>
                  </a:ext>
                </a:extLst>
              </p:cNvPr>
              <p:cNvGrpSpPr>
                <a:grpSpLocks/>
              </p:cNvGrpSpPr>
              <p:nvPr/>
            </p:nvGrpSpPr>
            <p:grpSpPr bwMode="auto">
              <a:xfrm>
                <a:off x="3286" y="2545"/>
                <a:ext cx="128" cy="112"/>
                <a:chOff x="3286" y="2545"/>
                <a:chExt cx="128" cy="112"/>
              </a:xfrm>
            </p:grpSpPr>
            <p:sp>
              <p:nvSpPr>
                <p:cNvPr id="183" name="Rectangle 175">
                  <a:extLst>
                    <a:ext uri="{FF2B5EF4-FFF2-40B4-BE49-F238E27FC236}">
                      <a16:creationId xmlns:a16="http://schemas.microsoft.com/office/drawing/2014/main" id="{C4501E6D-19A3-8596-3D95-42C8318762AB}"/>
                    </a:ext>
                  </a:extLst>
                </p:cNvPr>
                <p:cNvSpPr>
                  <a:spLocks noChangeArrowheads="1"/>
                </p:cNvSpPr>
                <p:nvPr/>
              </p:nvSpPr>
              <p:spPr bwMode="auto">
                <a:xfrm>
                  <a:off x="3286" y="2545"/>
                  <a:ext cx="128" cy="112"/>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84" name="Freeform 176">
                  <a:extLst>
                    <a:ext uri="{FF2B5EF4-FFF2-40B4-BE49-F238E27FC236}">
                      <a16:creationId xmlns:a16="http://schemas.microsoft.com/office/drawing/2014/main" id="{BBC3F2CB-A915-95B0-2874-4EBBEDCBC515}"/>
                    </a:ext>
                  </a:extLst>
                </p:cNvPr>
                <p:cNvSpPr>
                  <a:spLocks/>
                </p:cNvSpPr>
                <p:nvPr/>
              </p:nvSpPr>
              <p:spPr bwMode="auto">
                <a:xfrm>
                  <a:off x="3286" y="2545"/>
                  <a:ext cx="126" cy="110"/>
                </a:xfrm>
                <a:custGeom>
                  <a:avLst/>
                  <a:gdLst>
                    <a:gd name="T0" fmla="*/ 16 w 252"/>
                    <a:gd name="T1" fmla="*/ 0 h 110"/>
                    <a:gd name="T2" fmla="*/ 13 w 252"/>
                    <a:gd name="T3" fmla="*/ 1 h 110"/>
                    <a:gd name="T4" fmla="*/ 10 w 252"/>
                    <a:gd name="T5" fmla="*/ 4 h 110"/>
                    <a:gd name="T6" fmla="*/ 7 w 252"/>
                    <a:gd name="T7" fmla="*/ 9 h 110"/>
                    <a:gd name="T8" fmla="*/ 5 w 252"/>
                    <a:gd name="T9" fmla="*/ 16 h 110"/>
                    <a:gd name="T10" fmla="*/ 3 w 252"/>
                    <a:gd name="T11" fmla="*/ 24 h 110"/>
                    <a:gd name="T12" fmla="*/ 2 w 252"/>
                    <a:gd name="T13" fmla="*/ 34 h 110"/>
                    <a:gd name="T14" fmla="*/ 1 w 252"/>
                    <a:gd name="T15" fmla="*/ 44 h 110"/>
                    <a:gd name="T16" fmla="*/ 0 w 252"/>
                    <a:gd name="T17" fmla="*/ 54 h 110"/>
                    <a:gd name="T18" fmla="*/ 1 w 252"/>
                    <a:gd name="T19" fmla="*/ 66 h 110"/>
                    <a:gd name="T20" fmla="*/ 2 w 252"/>
                    <a:gd name="T21" fmla="*/ 76 h 110"/>
                    <a:gd name="T22" fmla="*/ 3 w 252"/>
                    <a:gd name="T23" fmla="*/ 85 h 110"/>
                    <a:gd name="T24" fmla="*/ 5 w 252"/>
                    <a:gd name="T25" fmla="*/ 94 h 110"/>
                    <a:gd name="T26" fmla="*/ 7 w 252"/>
                    <a:gd name="T27" fmla="*/ 101 h 110"/>
                    <a:gd name="T28" fmla="*/ 10 w 252"/>
                    <a:gd name="T29" fmla="*/ 106 h 110"/>
                    <a:gd name="T30" fmla="*/ 13 w 252"/>
                    <a:gd name="T31" fmla="*/ 109 h 110"/>
                    <a:gd name="T32" fmla="*/ 16 w 252"/>
                    <a:gd name="T33" fmla="*/ 110 h 110"/>
                    <a:gd name="T34" fmla="*/ 19 w 252"/>
                    <a:gd name="T35" fmla="*/ 109 h 110"/>
                    <a:gd name="T36" fmla="*/ 22 w 252"/>
                    <a:gd name="T37" fmla="*/ 106 h 110"/>
                    <a:gd name="T38" fmla="*/ 25 w 252"/>
                    <a:gd name="T39" fmla="*/ 101 h 110"/>
                    <a:gd name="T40" fmla="*/ 27 w 252"/>
                    <a:gd name="T41" fmla="*/ 94 h 110"/>
                    <a:gd name="T42" fmla="*/ 29 w 252"/>
                    <a:gd name="T43" fmla="*/ 85 h 110"/>
                    <a:gd name="T44" fmla="*/ 31 w 252"/>
                    <a:gd name="T45" fmla="*/ 76 h 110"/>
                    <a:gd name="T46" fmla="*/ 32 w 252"/>
                    <a:gd name="T47" fmla="*/ 66 h 110"/>
                    <a:gd name="T48" fmla="*/ 32 w 252"/>
                    <a:gd name="T49" fmla="*/ 54 h 110"/>
                    <a:gd name="T50" fmla="*/ 32 w 252"/>
                    <a:gd name="T51" fmla="*/ 44 h 110"/>
                    <a:gd name="T52" fmla="*/ 31 w 252"/>
                    <a:gd name="T53" fmla="*/ 34 h 110"/>
                    <a:gd name="T54" fmla="*/ 29 w 252"/>
                    <a:gd name="T55" fmla="*/ 24 h 110"/>
                    <a:gd name="T56" fmla="*/ 27 w 252"/>
                    <a:gd name="T57" fmla="*/ 16 h 110"/>
                    <a:gd name="T58" fmla="*/ 25 w 252"/>
                    <a:gd name="T59" fmla="*/ 9 h 110"/>
                    <a:gd name="T60" fmla="*/ 22 w 252"/>
                    <a:gd name="T61" fmla="*/ 4 h 110"/>
                    <a:gd name="T62" fmla="*/ 19 w 252"/>
                    <a:gd name="T63" fmla="*/ 1 h 110"/>
                    <a:gd name="T64" fmla="*/ 16 w 252"/>
                    <a:gd name="T65" fmla="*/ 0 h 11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2" h="110">
                      <a:moveTo>
                        <a:pt x="125" y="0"/>
                      </a:moveTo>
                      <a:lnTo>
                        <a:pt x="100" y="1"/>
                      </a:lnTo>
                      <a:lnTo>
                        <a:pt x="77" y="4"/>
                      </a:lnTo>
                      <a:lnTo>
                        <a:pt x="56" y="9"/>
                      </a:lnTo>
                      <a:lnTo>
                        <a:pt x="37" y="16"/>
                      </a:lnTo>
                      <a:lnTo>
                        <a:pt x="21" y="24"/>
                      </a:lnTo>
                      <a:lnTo>
                        <a:pt x="10" y="34"/>
                      </a:lnTo>
                      <a:lnTo>
                        <a:pt x="2" y="44"/>
                      </a:lnTo>
                      <a:lnTo>
                        <a:pt x="0" y="54"/>
                      </a:lnTo>
                      <a:lnTo>
                        <a:pt x="2" y="66"/>
                      </a:lnTo>
                      <a:lnTo>
                        <a:pt x="10" y="76"/>
                      </a:lnTo>
                      <a:lnTo>
                        <a:pt x="21" y="85"/>
                      </a:lnTo>
                      <a:lnTo>
                        <a:pt x="37" y="94"/>
                      </a:lnTo>
                      <a:lnTo>
                        <a:pt x="56" y="101"/>
                      </a:lnTo>
                      <a:lnTo>
                        <a:pt x="77" y="106"/>
                      </a:lnTo>
                      <a:lnTo>
                        <a:pt x="100" y="109"/>
                      </a:lnTo>
                      <a:lnTo>
                        <a:pt x="125" y="110"/>
                      </a:lnTo>
                      <a:lnTo>
                        <a:pt x="150" y="109"/>
                      </a:lnTo>
                      <a:lnTo>
                        <a:pt x="175" y="106"/>
                      </a:lnTo>
                      <a:lnTo>
                        <a:pt x="196" y="101"/>
                      </a:lnTo>
                      <a:lnTo>
                        <a:pt x="215" y="94"/>
                      </a:lnTo>
                      <a:lnTo>
                        <a:pt x="231" y="85"/>
                      </a:lnTo>
                      <a:lnTo>
                        <a:pt x="242" y="76"/>
                      </a:lnTo>
                      <a:lnTo>
                        <a:pt x="250" y="66"/>
                      </a:lnTo>
                      <a:lnTo>
                        <a:pt x="252" y="54"/>
                      </a:lnTo>
                      <a:lnTo>
                        <a:pt x="250" y="44"/>
                      </a:lnTo>
                      <a:lnTo>
                        <a:pt x="242" y="34"/>
                      </a:lnTo>
                      <a:lnTo>
                        <a:pt x="231" y="24"/>
                      </a:lnTo>
                      <a:lnTo>
                        <a:pt x="215" y="16"/>
                      </a:lnTo>
                      <a:lnTo>
                        <a:pt x="196" y="9"/>
                      </a:lnTo>
                      <a:lnTo>
                        <a:pt x="175" y="4"/>
                      </a:lnTo>
                      <a:lnTo>
                        <a:pt x="150" y="1"/>
                      </a:lnTo>
                      <a:lnTo>
                        <a:pt x="125" y="0"/>
                      </a:lnTo>
                      <a:close/>
                    </a:path>
                  </a:pathLst>
                </a:custGeom>
                <a:solidFill>
                  <a:srgbClr val="FF0000"/>
                </a:solidFill>
                <a:ln w="0">
                  <a:solidFill>
                    <a:srgbClr val="FFFFFF"/>
                  </a:solidFill>
                  <a:prstDash val="solid"/>
                  <a:round/>
                  <a:headEnd/>
                  <a:tailEnd/>
                </a:ln>
              </p:spPr>
              <p:txBody>
                <a:bodyPr/>
                <a:lstStyle/>
                <a:p>
                  <a:endParaRPr lang="en-US">
                    <a:latin typeface="Roboto" panose="02000000000000000000" pitchFamily="2" charset="0"/>
                    <a:ea typeface="Roboto" panose="02000000000000000000" pitchFamily="2" charset="0"/>
                  </a:endParaRPr>
                </a:p>
              </p:txBody>
            </p:sp>
            <p:sp>
              <p:nvSpPr>
                <p:cNvPr id="185" name="Oval 177">
                  <a:extLst>
                    <a:ext uri="{FF2B5EF4-FFF2-40B4-BE49-F238E27FC236}">
                      <a16:creationId xmlns:a16="http://schemas.microsoft.com/office/drawing/2014/main" id="{4C2D6AEC-4769-BD42-BF60-0BDE56D716A5}"/>
                    </a:ext>
                  </a:extLst>
                </p:cNvPr>
                <p:cNvSpPr>
                  <a:spLocks noChangeArrowheads="1"/>
                </p:cNvSpPr>
                <p:nvPr/>
              </p:nvSpPr>
              <p:spPr bwMode="auto">
                <a:xfrm>
                  <a:off x="3286" y="2545"/>
                  <a:ext cx="127" cy="111"/>
                </a:xfrm>
                <a:prstGeom prst="ellipse">
                  <a:avLst/>
                </a:prstGeom>
                <a:blipFill dpi="0" rotWithShape="0">
                  <a:blip/>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86" name="Rectangle 178">
                  <a:extLst>
                    <a:ext uri="{FF2B5EF4-FFF2-40B4-BE49-F238E27FC236}">
                      <a16:creationId xmlns:a16="http://schemas.microsoft.com/office/drawing/2014/main" id="{063AF703-A4B6-2C2E-B4D5-43CEF4F36096}"/>
                    </a:ext>
                  </a:extLst>
                </p:cNvPr>
                <p:cNvSpPr>
                  <a:spLocks noChangeArrowheads="1"/>
                </p:cNvSpPr>
                <p:nvPr/>
              </p:nvSpPr>
              <p:spPr bwMode="auto">
                <a:xfrm>
                  <a:off x="3286" y="2545"/>
                  <a:ext cx="128" cy="112"/>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sp>
            <p:nvSpPr>
              <p:cNvPr id="182" name="Oval 179">
                <a:extLst>
                  <a:ext uri="{FF2B5EF4-FFF2-40B4-BE49-F238E27FC236}">
                    <a16:creationId xmlns:a16="http://schemas.microsoft.com/office/drawing/2014/main" id="{8999316E-8552-965C-00F4-12A136C187C3}"/>
                  </a:ext>
                </a:extLst>
              </p:cNvPr>
              <p:cNvSpPr>
                <a:spLocks noChangeArrowheads="1"/>
              </p:cNvSpPr>
              <p:nvPr/>
            </p:nvSpPr>
            <p:spPr bwMode="auto">
              <a:xfrm>
                <a:off x="3286" y="2545"/>
                <a:ext cx="127" cy="111"/>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187" name="Group 180">
              <a:extLst>
                <a:ext uri="{FF2B5EF4-FFF2-40B4-BE49-F238E27FC236}">
                  <a16:creationId xmlns:a16="http://schemas.microsoft.com/office/drawing/2014/main" id="{75F1ABB3-C033-D847-6F14-10DCDB4F5C06}"/>
                </a:ext>
              </a:extLst>
            </p:cNvPr>
            <p:cNvGrpSpPr>
              <a:grpSpLocks/>
            </p:cNvGrpSpPr>
            <p:nvPr/>
          </p:nvGrpSpPr>
          <p:grpSpPr bwMode="auto">
            <a:xfrm>
              <a:off x="5016500" y="3095625"/>
              <a:ext cx="203200" cy="179388"/>
              <a:chOff x="3286" y="1971"/>
              <a:chExt cx="128" cy="113"/>
            </a:xfrm>
          </p:grpSpPr>
          <p:grpSp>
            <p:nvGrpSpPr>
              <p:cNvPr id="188" name="Group 181">
                <a:extLst>
                  <a:ext uri="{FF2B5EF4-FFF2-40B4-BE49-F238E27FC236}">
                    <a16:creationId xmlns:a16="http://schemas.microsoft.com/office/drawing/2014/main" id="{E7C1FB3F-831B-F2A0-B0A0-C3FBCFB87E5B}"/>
                  </a:ext>
                </a:extLst>
              </p:cNvPr>
              <p:cNvGrpSpPr>
                <a:grpSpLocks/>
              </p:cNvGrpSpPr>
              <p:nvPr/>
            </p:nvGrpSpPr>
            <p:grpSpPr bwMode="auto">
              <a:xfrm>
                <a:off x="3286" y="1971"/>
                <a:ext cx="128" cy="113"/>
                <a:chOff x="3286" y="1971"/>
                <a:chExt cx="128" cy="113"/>
              </a:xfrm>
            </p:grpSpPr>
            <p:sp>
              <p:nvSpPr>
                <p:cNvPr id="190" name="Rectangle 182">
                  <a:extLst>
                    <a:ext uri="{FF2B5EF4-FFF2-40B4-BE49-F238E27FC236}">
                      <a16:creationId xmlns:a16="http://schemas.microsoft.com/office/drawing/2014/main" id="{E6A46197-5856-397D-FD50-BB5833BE4839}"/>
                    </a:ext>
                  </a:extLst>
                </p:cNvPr>
                <p:cNvSpPr>
                  <a:spLocks noChangeArrowheads="1"/>
                </p:cNvSpPr>
                <p:nvPr/>
              </p:nvSpPr>
              <p:spPr bwMode="auto">
                <a:xfrm>
                  <a:off x="3286" y="1971"/>
                  <a:ext cx="128" cy="1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91" name="Freeform 183">
                  <a:extLst>
                    <a:ext uri="{FF2B5EF4-FFF2-40B4-BE49-F238E27FC236}">
                      <a16:creationId xmlns:a16="http://schemas.microsoft.com/office/drawing/2014/main" id="{767C0757-B4D9-979F-E347-0FA3CD0C6A27}"/>
                    </a:ext>
                  </a:extLst>
                </p:cNvPr>
                <p:cNvSpPr>
                  <a:spLocks/>
                </p:cNvSpPr>
                <p:nvPr/>
              </p:nvSpPr>
              <p:spPr bwMode="auto">
                <a:xfrm>
                  <a:off x="3286" y="1971"/>
                  <a:ext cx="126" cy="111"/>
                </a:xfrm>
                <a:custGeom>
                  <a:avLst/>
                  <a:gdLst>
                    <a:gd name="T0" fmla="*/ 16 w 252"/>
                    <a:gd name="T1" fmla="*/ 0 h 111"/>
                    <a:gd name="T2" fmla="*/ 13 w 252"/>
                    <a:gd name="T3" fmla="*/ 2 h 111"/>
                    <a:gd name="T4" fmla="*/ 10 w 252"/>
                    <a:gd name="T5" fmla="*/ 5 h 111"/>
                    <a:gd name="T6" fmla="*/ 7 w 252"/>
                    <a:gd name="T7" fmla="*/ 10 h 111"/>
                    <a:gd name="T8" fmla="*/ 5 w 252"/>
                    <a:gd name="T9" fmla="*/ 16 h 111"/>
                    <a:gd name="T10" fmla="*/ 3 w 252"/>
                    <a:gd name="T11" fmla="*/ 24 h 111"/>
                    <a:gd name="T12" fmla="*/ 2 w 252"/>
                    <a:gd name="T13" fmla="*/ 35 h 111"/>
                    <a:gd name="T14" fmla="*/ 1 w 252"/>
                    <a:gd name="T15" fmla="*/ 45 h 111"/>
                    <a:gd name="T16" fmla="*/ 0 w 252"/>
                    <a:gd name="T17" fmla="*/ 55 h 111"/>
                    <a:gd name="T18" fmla="*/ 1 w 252"/>
                    <a:gd name="T19" fmla="*/ 66 h 111"/>
                    <a:gd name="T20" fmla="*/ 2 w 252"/>
                    <a:gd name="T21" fmla="*/ 77 h 111"/>
                    <a:gd name="T22" fmla="*/ 3 w 252"/>
                    <a:gd name="T23" fmla="*/ 86 h 111"/>
                    <a:gd name="T24" fmla="*/ 5 w 252"/>
                    <a:gd name="T25" fmla="*/ 95 h 111"/>
                    <a:gd name="T26" fmla="*/ 7 w 252"/>
                    <a:gd name="T27" fmla="*/ 102 h 111"/>
                    <a:gd name="T28" fmla="*/ 10 w 252"/>
                    <a:gd name="T29" fmla="*/ 106 h 111"/>
                    <a:gd name="T30" fmla="*/ 13 w 252"/>
                    <a:gd name="T31" fmla="*/ 110 h 111"/>
                    <a:gd name="T32" fmla="*/ 16 w 252"/>
                    <a:gd name="T33" fmla="*/ 111 h 111"/>
                    <a:gd name="T34" fmla="*/ 19 w 252"/>
                    <a:gd name="T35" fmla="*/ 110 h 111"/>
                    <a:gd name="T36" fmla="*/ 22 w 252"/>
                    <a:gd name="T37" fmla="*/ 106 h 111"/>
                    <a:gd name="T38" fmla="*/ 25 w 252"/>
                    <a:gd name="T39" fmla="*/ 102 h 111"/>
                    <a:gd name="T40" fmla="*/ 27 w 252"/>
                    <a:gd name="T41" fmla="*/ 95 h 111"/>
                    <a:gd name="T42" fmla="*/ 29 w 252"/>
                    <a:gd name="T43" fmla="*/ 86 h 111"/>
                    <a:gd name="T44" fmla="*/ 31 w 252"/>
                    <a:gd name="T45" fmla="*/ 77 h 111"/>
                    <a:gd name="T46" fmla="*/ 32 w 252"/>
                    <a:gd name="T47" fmla="*/ 66 h 111"/>
                    <a:gd name="T48" fmla="*/ 32 w 252"/>
                    <a:gd name="T49" fmla="*/ 55 h 111"/>
                    <a:gd name="T50" fmla="*/ 32 w 252"/>
                    <a:gd name="T51" fmla="*/ 45 h 111"/>
                    <a:gd name="T52" fmla="*/ 31 w 252"/>
                    <a:gd name="T53" fmla="*/ 35 h 111"/>
                    <a:gd name="T54" fmla="*/ 29 w 252"/>
                    <a:gd name="T55" fmla="*/ 24 h 111"/>
                    <a:gd name="T56" fmla="*/ 27 w 252"/>
                    <a:gd name="T57" fmla="*/ 16 h 111"/>
                    <a:gd name="T58" fmla="*/ 25 w 252"/>
                    <a:gd name="T59" fmla="*/ 10 h 111"/>
                    <a:gd name="T60" fmla="*/ 22 w 252"/>
                    <a:gd name="T61" fmla="*/ 5 h 111"/>
                    <a:gd name="T62" fmla="*/ 19 w 252"/>
                    <a:gd name="T63" fmla="*/ 2 h 111"/>
                    <a:gd name="T64" fmla="*/ 16 w 252"/>
                    <a:gd name="T65" fmla="*/ 0 h 11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2" h="111">
                      <a:moveTo>
                        <a:pt x="125" y="0"/>
                      </a:moveTo>
                      <a:lnTo>
                        <a:pt x="100" y="2"/>
                      </a:lnTo>
                      <a:lnTo>
                        <a:pt x="77" y="5"/>
                      </a:lnTo>
                      <a:lnTo>
                        <a:pt x="56" y="10"/>
                      </a:lnTo>
                      <a:lnTo>
                        <a:pt x="37" y="16"/>
                      </a:lnTo>
                      <a:lnTo>
                        <a:pt x="21" y="24"/>
                      </a:lnTo>
                      <a:lnTo>
                        <a:pt x="10" y="35"/>
                      </a:lnTo>
                      <a:lnTo>
                        <a:pt x="2" y="45"/>
                      </a:lnTo>
                      <a:lnTo>
                        <a:pt x="0" y="55"/>
                      </a:lnTo>
                      <a:lnTo>
                        <a:pt x="2" y="66"/>
                      </a:lnTo>
                      <a:lnTo>
                        <a:pt x="10" y="77"/>
                      </a:lnTo>
                      <a:lnTo>
                        <a:pt x="21" y="86"/>
                      </a:lnTo>
                      <a:lnTo>
                        <a:pt x="37" y="95"/>
                      </a:lnTo>
                      <a:lnTo>
                        <a:pt x="56" y="102"/>
                      </a:lnTo>
                      <a:lnTo>
                        <a:pt x="77" y="106"/>
                      </a:lnTo>
                      <a:lnTo>
                        <a:pt x="100" y="110"/>
                      </a:lnTo>
                      <a:lnTo>
                        <a:pt x="125" y="111"/>
                      </a:lnTo>
                      <a:lnTo>
                        <a:pt x="150" y="110"/>
                      </a:lnTo>
                      <a:lnTo>
                        <a:pt x="175" y="106"/>
                      </a:lnTo>
                      <a:lnTo>
                        <a:pt x="196" y="102"/>
                      </a:lnTo>
                      <a:lnTo>
                        <a:pt x="215" y="95"/>
                      </a:lnTo>
                      <a:lnTo>
                        <a:pt x="231" y="86"/>
                      </a:lnTo>
                      <a:lnTo>
                        <a:pt x="242" y="77"/>
                      </a:lnTo>
                      <a:lnTo>
                        <a:pt x="250" y="66"/>
                      </a:lnTo>
                      <a:lnTo>
                        <a:pt x="252" y="55"/>
                      </a:lnTo>
                      <a:lnTo>
                        <a:pt x="250" y="45"/>
                      </a:lnTo>
                      <a:lnTo>
                        <a:pt x="242" y="35"/>
                      </a:lnTo>
                      <a:lnTo>
                        <a:pt x="231" y="24"/>
                      </a:lnTo>
                      <a:lnTo>
                        <a:pt x="215" y="16"/>
                      </a:lnTo>
                      <a:lnTo>
                        <a:pt x="196" y="10"/>
                      </a:lnTo>
                      <a:lnTo>
                        <a:pt x="175" y="5"/>
                      </a:lnTo>
                      <a:lnTo>
                        <a:pt x="150" y="2"/>
                      </a:lnTo>
                      <a:lnTo>
                        <a:pt x="125" y="0"/>
                      </a:lnTo>
                      <a:close/>
                    </a:path>
                  </a:pathLst>
                </a:custGeom>
                <a:solidFill>
                  <a:srgbClr val="FF0000"/>
                </a:solidFill>
                <a:ln w="0">
                  <a:solidFill>
                    <a:srgbClr val="FFFFFF"/>
                  </a:solidFill>
                  <a:prstDash val="solid"/>
                  <a:round/>
                  <a:headEnd/>
                  <a:tailEnd/>
                </a:ln>
              </p:spPr>
              <p:txBody>
                <a:bodyPr/>
                <a:lstStyle/>
                <a:p>
                  <a:endParaRPr lang="en-US">
                    <a:latin typeface="Roboto" panose="02000000000000000000" pitchFamily="2" charset="0"/>
                    <a:ea typeface="Roboto" panose="02000000000000000000" pitchFamily="2" charset="0"/>
                  </a:endParaRPr>
                </a:p>
              </p:txBody>
            </p:sp>
            <p:sp>
              <p:nvSpPr>
                <p:cNvPr id="192" name="Oval 184">
                  <a:extLst>
                    <a:ext uri="{FF2B5EF4-FFF2-40B4-BE49-F238E27FC236}">
                      <a16:creationId xmlns:a16="http://schemas.microsoft.com/office/drawing/2014/main" id="{53A1B464-7491-698A-707A-FD9CA15C7F9E}"/>
                    </a:ext>
                  </a:extLst>
                </p:cNvPr>
                <p:cNvSpPr>
                  <a:spLocks noChangeArrowheads="1"/>
                </p:cNvSpPr>
                <p:nvPr/>
              </p:nvSpPr>
              <p:spPr bwMode="auto">
                <a:xfrm>
                  <a:off x="3286" y="1971"/>
                  <a:ext cx="127" cy="112"/>
                </a:xfrm>
                <a:prstGeom prst="ellipse">
                  <a:avLst/>
                </a:prstGeom>
                <a:blipFill dpi="0" rotWithShape="0">
                  <a:blip/>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93" name="Rectangle 185">
                  <a:extLst>
                    <a:ext uri="{FF2B5EF4-FFF2-40B4-BE49-F238E27FC236}">
                      <a16:creationId xmlns:a16="http://schemas.microsoft.com/office/drawing/2014/main" id="{1B1EB3B9-F5E0-508F-B17C-52CAF541DC81}"/>
                    </a:ext>
                  </a:extLst>
                </p:cNvPr>
                <p:cNvSpPr>
                  <a:spLocks noChangeArrowheads="1"/>
                </p:cNvSpPr>
                <p:nvPr/>
              </p:nvSpPr>
              <p:spPr bwMode="auto">
                <a:xfrm>
                  <a:off x="3286" y="1971"/>
                  <a:ext cx="128" cy="1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sp>
            <p:nvSpPr>
              <p:cNvPr id="189" name="Oval 186">
                <a:extLst>
                  <a:ext uri="{FF2B5EF4-FFF2-40B4-BE49-F238E27FC236}">
                    <a16:creationId xmlns:a16="http://schemas.microsoft.com/office/drawing/2014/main" id="{81357939-A063-52D6-FEA6-00E5D316C82F}"/>
                  </a:ext>
                </a:extLst>
              </p:cNvPr>
              <p:cNvSpPr>
                <a:spLocks noChangeArrowheads="1"/>
              </p:cNvSpPr>
              <p:nvPr/>
            </p:nvSpPr>
            <p:spPr bwMode="auto">
              <a:xfrm>
                <a:off x="3286" y="1971"/>
                <a:ext cx="127" cy="112"/>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194" name="Group 187">
              <a:extLst>
                <a:ext uri="{FF2B5EF4-FFF2-40B4-BE49-F238E27FC236}">
                  <a16:creationId xmlns:a16="http://schemas.microsoft.com/office/drawing/2014/main" id="{A1B76F49-6E92-2FDF-3463-521A82F85F6B}"/>
                </a:ext>
              </a:extLst>
            </p:cNvPr>
            <p:cNvGrpSpPr>
              <a:grpSpLocks/>
            </p:cNvGrpSpPr>
            <p:nvPr/>
          </p:nvGrpSpPr>
          <p:grpSpPr bwMode="auto">
            <a:xfrm>
              <a:off x="5657850" y="3095625"/>
              <a:ext cx="203200" cy="179388"/>
              <a:chOff x="3690" y="1971"/>
              <a:chExt cx="128" cy="113"/>
            </a:xfrm>
          </p:grpSpPr>
          <p:grpSp>
            <p:nvGrpSpPr>
              <p:cNvPr id="195" name="Group 188">
                <a:extLst>
                  <a:ext uri="{FF2B5EF4-FFF2-40B4-BE49-F238E27FC236}">
                    <a16:creationId xmlns:a16="http://schemas.microsoft.com/office/drawing/2014/main" id="{C73F9122-5A5A-638C-B09D-2D4BE0500F75}"/>
                  </a:ext>
                </a:extLst>
              </p:cNvPr>
              <p:cNvGrpSpPr>
                <a:grpSpLocks/>
              </p:cNvGrpSpPr>
              <p:nvPr/>
            </p:nvGrpSpPr>
            <p:grpSpPr bwMode="auto">
              <a:xfrm>
                <a:off x="3690" y="1971"/>
                <a:ext cx="128" cy="113"/>
                <a:chOff x="3690" y="1971"/>
                <a:chExt cx="128" cy="113"/>
              </a:xfrm>
            </p:grpSpPr>
            <p:sp>
              <p:nvSpPr>
                <p:cNvPr id="197" name="Rectangle 189">
                  <a:extLst>
                    <a:ext uri="{FF2B5EF4-FFF2-40B4-BE49-F238E27FC236}">
                      <a16:creationId xmlns:a16="http://schemas.microsoft.com/office/drawing/2014/main" id="{8C18269A-4D88-CEA7-6257-22F8A2413126}"/>
                    </a:ext>
                  </a:extLst>
                </p:cNvPr>
                <p:cNvSpPr>
                  <a:spLocks noChangeArrowheads="1"/>
                </p:cNvSpPr>
                <p:nvPr/>
              </p:nvSpPr>
              <p:spPr bwMode="auto">
                <a:xfrm>
                  <a:off x="3690" y="1971"/>
                  <a:ext cx="128" cy="1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98" name="Freeform 190">
                  <a:extLst>
                    <a:ext uri="{FF2B5EF4-FFF2-40B4-BE49-F238E27FC236}">
                      <a16:creationId xmlns:a16="http://schemas.microsoft.com/office/drawing/2014/main" id="{F5D262C1-05D7-AD63-1218-3557C186C4B1}"/>
                    </a:ext>
                  </a:extLst>
                </p:cNvPr>
                <p:cNvSpPr>
                  <a:spLocks/>
                </p:cNvSpPr>
                <p:nvPr/>
              </p:nvSpPr>
              <p:spPr bwMode="auto">
                <a:xfrm>
                  <a:off x="3690" y="1971"/>
                  <a:ext cx="126" cy="111"/>
                </a:xfrm>
                <a:custGeom>
                  <a:avLst/>
                  <a:gdLst>
                    <a:gd name="T0" fmla="*/ 16 w 252"/>
                    <a:gd name="T1" fmla="*/ 0 h 111"/>
                    <a:gd name="T2" fmla="*/ 13 w 252"/>
                    <a:gd name="T3" fmla="*/ 2 h 111"/>
                    <a:gd name="T4" fmla="*/ 10 w 252"/>
                    <a:gd name="T5" fmla="*/ 5 h 111"/>
                    <a:gd name="T6" fmla="*/ 7 w 252"/>
                    <a:gd name="T7" fmla="*/ 10 h 111"/>
                    <a:gd name="T8" fmla="*/ 5 w 252"/>
                    <a:gd name="T9" fmla="*/ 16 h 111"/>
                    <a:gd name="T10" fmla="*/ 3 w 252"/>
                    <a:gd name="T11" fmla="*/ 24 h 111"/>
                    <a:gd name="T12" fmla="*/ 2 w 252"/>
                    <a:gd name="T13" fmla="*/ 35 h 111"/>
                    <a:gd name="T14" fmla="*/ 1 w 252"/>
                    <a:gd name="T15" fmla="*/ 45 h 111"/>
                    <a:gd name="T16" fmla="*/ 0 w 252"/>
                    <a:gd name="T17" fmla="*/ 55 h 111"/>
                    <a:gd name="T18" fmla="*/ 1 w 252"/>
                    <a:gd name="T19" fmla="*/ 66 h 111"/>
                    <a:gd name="T20" fmla="*/ 2 w 252"/>
                    <a:gd name="T21" fmla="*/ 77 h 111"/>
                    <a:gd name="T22" fmla="*/ 3 w 252"/>
                    <a:gd name="T23" fmla="*/ 86 h 111"/>
                    <a:gd name="T24" fmla="*/ 5 w 252"/>
                    <a:gd name="T25" fmla="*/ 95 h 111"/>
                    <a:gd name="T26" fmla="*/ 7 w 252"/>
                    <a:gd name="T27" fmla="*/ 102 h 111"/>
                    <a:gd name="T28" fmla="*/ 10 w 252"/>
                    <a:gd name="T29" fmla="*/ 106 h 111"/>
                    <a:gd name="T30" fmla="*/ 13 w 252"/>
                    <a:gd name="T31" fmla="*/ 110 h 111"/>
                    <a:gd name="T32" fmla="*/ 16 w 252"/>
                    <a:gd name="T33" fmla="*/ 111 h 111"/>
                    <a:gd name="T34" fmla="*/ 19 w 252"/>
                    <a:gd name="T35" fmla="*/ 110 h 111"/>
                    <a:gd name="T36" fmla="*/ 22 w 252"/>
                    <a:gd name="T37" fmla="*/ 106 h 111"/>
                    <a:gd name="T38" fmla="*/ 25 w 252"/>
                    <a:gd name="T39" fmla="*/ 102 h 111"/>
                    <a:gd name="T40" fmla="*/ 27 w 252"/>
                    <a:gd name="T41" fmla="*/ 95 h 111"/>
                    <a:gd name="T42" fmla="*/ 29 w 252"/>
                    <a:gd name="T43" fmla="*/ 86 h 111"/>
                    <a:gd name="T44" fmla="*/ 31 w 252"/>
                    <a:gd name="T45" fmla="*/ 77 h 111"/>
                    <a:gd name="T46" fmla="*/ 32 w 252"/>
                    <a:gd name="T47" fmla="*/ 66 h 111"/>
                    <a:gd name="T48" fmla="*/ 32 w 252"/>
                    <a:gd name="T49" fmla="*/ 55 h 111"/>
                    <a:gd name="T50" fmla="*/ 32 w 252"/>
                    <a:gd name="T51" fmla="*/ 45 h 111"/>
                    <a:gd name="T52" fmla="*/ 31 w 252"/>
                    <a:gd name="T53" fmla="*/ 35 h 111"/>
                    <a:gd name="T54" fmla="*/ 29 w 252"/>
                    <a:gd name="T55" fmla="*/ 24 h 111"/>
                    <a:gd name="T56" fmla="*/ 27 w 252"/>
                    <a:gd name="T57" fmla="*/ 16 h 111"/>
                    <a:gd name="T58" fmla="*/ 25 w 252"/>
                    <a:gd name="T59" fmla="*/ 10 h 111"/>
                    <a:gd name="T60" fmla="*/ 22 w 252"/>
                    <a:gd name="T61" fmla="*/ 5 h 111"/>
                    <a:gd name="T62" fmla="*/ 19 w 252"/>
                    <a:gd name="T63" fmla="*/ 2 h 111"/>
                    <a:gd name="T64" fmla="*/ 16 w 252"/>
                    <a:gd name="T65" fmla="*/ 0 h 11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2" h="111">
                      <a:moveTo>
                        <a:pt x="125" y="0"/>
                      </a:moveTo>
                      <a:lnTo>
                        <a:pt x="100" y="2"/>
                      </a:lnTo>
                      <a:lnTo>
                        <a:pt x="77" y="5"/>
                      </a:lnTo>
                      <a:lnTo>
                        <a:pt x="56" y="10"/>
                      </a:lnTo>
                      <a:lnTo>
                        <a:pt x="37" y="16"/>
                      </a:lnTo>
                      <a:lnTo>
                        <a:pt x="22" y="24"/>
                      </a:lnTo>
                      <a:lnTo>
                        <a:pt x="10" y="35"/>
                      </a:lnTo>
                      <a:lnTo>
                        <a:pt x="2" y="45"/>
                      </a:lnTo>
                      <a:lnTo>
                        <a:pt x="0" y="55"/>
                      </a:lnTo>
                      <a:lnTo>
                        <a:pt x="2" y="66"/>
                      </a:lnTo>
                      <a:lnTo>
                        <a:pt x="10" y="77"/>
                      </a:lnTo>
                      <a:lnTo>
                        <a:pt x="22" y="86"/>
                      </a:lnTo>
                      <a:lnTo>
                        <a:pt x="37" y="95"/>
                      </a:lnTo>
                      <a:lnTo>
                        <a:pt x="56" y="102"/>
                      </a:lnTo>
                      <a:lnTo>
                        <a:pt x="77" y="106"/>
                      </a:lnTo>
                      <a:lnTo>
                        <a:pt x="100" y="110"/>
                      </a:lnTo>
                      <a:lnTo>
                        <a:pt x="125" y="111"/>
                      </a:lnTo>
                      <a:lnTo>
                        <a:pt x="150" y="110"/>
                      </a:lnTo>
                      <a:lnTo>
                        <a:pt x="175" y="106"/>
                      </a:lnTo>
                      <a:lnTo>
                        <a:pt x="196" y="102"/>
                      </a:lnTo>
                      <a:lnTo>
                        <a:pt x="215" y="95"/>
                      </a:lnTo>
                      <a:lnTo>
                        <a:pt x="231" y="86"/>
                      </a:lnTo>
                      <a:lnTo>
                        <a:pt x="242" y="77"/>
                      </a:lnTo>
                      <a:lnTo>
                        <a:pt x="250" y="66"/>
                      </a:lnTo>
                      <a:lnTo>
                        <a:pt x="252" y="55"/>
                      </a:lnTo>
                      <a:lnTo>
                        <a:pt x="250" y="45"/>
                      </a:lnTo>
                      <a:lnTo>
                        <a:pt x="242" y="35"/>
                      </a:lnTo>
                      <a:lnTo>
                        <a:pt x="231" y="24"/>
                      </a:lnTo>
                      <a:lnTo>
                        <a:pt x="215" y="16"/>
                      </a:lnTo>
                      <a:lnTo>
                        <a:pt x="196" y="10"/>
                      </a:lnTo>
                      <a:lnTo>
                        <a:pt x="175" y="5"/>
                      </a:lnTo>
                      <a:lnTo>
                        <a:pt x="150" y="2"/>
                      </a:lnTo>
                      <a:lnTo>
                        <a:pt x="125" y="0"/>
                      </a:lnTo>
                      <a:close/>
                    </a:path>
                  </a:pathLst>
                </a:custGeom>
                <a:solidFill>
                  <a:srgbClr val="FF0000"/>
                </a:solidFill>
                <a:ln w="0">
                  <a:solidFill>
                    <a:srgbClr val="FFFFFF"/>
                  </a:solidFill>
                  <a:prstDash val="solid"/>
                  <a:round/>
                  <a:headEnd/>
                  <a:tailEnd/>
                </a:ln>
              </p:spPr>
              <p:txBody>
                <a:bodyPr/>
                <a:lstStyle/>
                <a:p>
                  <a:endParaRPr lang="en-US">
                    <a:latin typeface="Roboto" panose="02000000000000000000" pitchFamily="2" charset="0"/>
                    <a:ea typeface="Roboto" panose="02000000000000000000" pitchFamily="2" charset="0"/>
                  </a:endParaRPr>
                </a:p>
              </p:txBody>
            </p:sp>
            <p:sp>
              <p:nvSpPr>
                <p:cNvPr id="199" name="Oval 191">
                  <a:extLst>
                    <a:ext uri="{FF2B5EF4-FFF2-40B4-BE49-F238E27FC236}">
                      <a16:creationId xmlns:a16="http://schemas.microsoft.com/office/drawing/2014/main" id="{3391174F-C2C9-5B16-CC47-D80D7C9446F5}"/>
                    </a:ext>
                  </a:extLst>
                </p:cNvPr>
                <p:cNvSpPr>
                  <a:spLocks noChangeArrowheads="1"/>
                </p:cNvSpPr>
                <p:nvPr/>
              </p:nvSpPr>
              <p:spPr bwMode="auto">
                <a:xfrm>
                  <a:off x="3690" y="1971"/>
                  <a:ext cx="127" cy="112"/>
                </a:xfrm>
                <a:prstGeom prst="ellipse">
                  <a:avLst/>
                </a:prstGeom>
                <a:blipFill dpi="0" rotWithShape="0">
                  <a:blip/>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00" name="Rectangle 192">
                  <a:extLst>
                    <a:ext uri="{FF2B5EF4-FFF2-40B4-BE49-F238E27FC236}">
                      <a16:creationId xmlns:a16="http://schemas.microsoft.com/office/drawing/2014/main" id="{96CEE0E0-272B-9433-0333-FC955EA58D0B}"/>
                    </a:ext>
                  </a:extLst>
                </p:cNvPr>
                <p:cNvSpPr>
                  <a:spLocks noChangeArrowheads="1"/>
                </p:cNvSpPr>
                <p:nvPr/>
              </p:nvSpPr>
              <p:spPr bwMode="auto">
                <a:xfrm>
                  <a:off x="3690" y="1971"/>
                  <a:ext cx="128" cy="1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sp>
            <p:nvSpPr>
              <p:cNvPr id="196" name="Oval 193">
                <a:extLst>
                  <a:ext uri="{FF2B5EF4-FFF2-40B4-BE49-F238E27FC236}">
                    <a16:creationId xmlns:a16="http://schemas.microsoft.com/office/drawing/2014/main" id="{E6012285-74B2-16D4-2695-90A7B11D892C}"/>
                  </a:ext>
                </a:extLst>
              </p:cNvPr>
              <p:cNvSpPr>
                <a:spLocks noChangeArrowheads="1"/>
              </p:cNvSpPr>
              <p:nvPr/>
            </p:nvSpPr>
            <p:spPr bwMode="auto">
              <a:xfrm>
                <a:off x="3690" y="1971"/>
                <a:ext cx="127" cy="112"/>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201" name="Group 194">
              <a:extLst>
                <a:ext uri="{FF2B5EF4-FFF2-40B4-BE49-F238E27FC236}">
                  <a16:creationId xmlns:a16="http://schemas.microsoft.com/office/drawing/2014/main" id="{EA4354E2-E2C9-5233-CCF0-AF3F5F517BEE}"/>
                </a:ext>
              </a:extLst>
            </p:cNvPr>
            <p:cNvGrpSpPr>
              <a:grpSpLocks/>
            </p:cNvGrpSpPr>
            <p:nvPr/>
          </p:nvGrpSpPr>
          <p:grpSpPr bwMode="auto">
            <a:xfrm>
              <a:off x="5657850" y="4006850"/>
              <a:ext cx="203200" cy="177800"/>
              <a:chOff x="3690" y="2545"/>
              <a:chExt cx="128" cy="112"/>
            </a:xfrm>
          </p:grpSpPr>
          <p:grpSp>
            <p:nvGrpSpPr>
              <p:cNvPr id="202" name="Group 195">
                <a:extLst>
                  <a:ext uri="{FF2B5EF4-FFF2-40B4-BE49-F238E27FC236}">
                    <a16:creationId xmlns:a16="http://schemas.microsoft.com/office/drawing/2014/main" id="{2FC45C67-3F88-4B26-C271-936E28048FA2}"/>
                  </a:ext>
                </a:extLst>
              </p:cNvPr>
              <p:cNvGrpSpPr>
                <a:grpSpLocks/>
              </p:cNvGrpSpPr>
              <p:nvPr/>
            </p:nvGrpSpPr>
            <p:grpSpPr bwMode="auto">
              <a:xfrm>
                <a:off x="3690" y="2545"/>
                <a:ext cx="128" cy="112"/>
                <a:chOff x="3690" y="2545"/>
                <a:chExt cx="128" cy="112"/>
              </a:xfrm>
            </p:grpSpPr>
            <p:sp>
              <p:nvSpPr>
                <p:cNvPr id="204" name="Rectangle 196">
                  <a:extLst>
                    <a:ext uri="{FF2B5EF4-FFF2-40B4-BE49-F238E27FC236}">
                      <a16:creationId xmlns:a16="http://schemas.microsoft.com/office/drawing/2014/main" id="{C7859799-A34C-7A74-BB49-D99992915BF5}"/>
                    </a:ext>
                  </a:extLst>
                </p:cNvPr>
                <p:cNvSpPr>
                  <a:spLocks noChangeArrowheads="1"/>
                </p:cNvSpPr>
                <p:nvPr/>
              </p:nvSpPr>
              <p:spPr bwMode="auto">
                <a:xfrm>
                  <a:off x="3690" y="2545"/>
                  <a:ext cx="128" cy="112"/>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05" name="Freeform 197">
                  <a:extLst>
                    <a:ext uri="{FF2B5EF4-FFF2-40B4-BE49-F238E27FC236}">
                      <a16:creationId xmlns:a16="http://schemas.microsoft.com/office/drawing/2014/main" id="{82CC7BA7-CDA6-3D48-818A-8F5C002F21CD}"/>
                    </a:ext>
                  </a:extLst>
                </p:cNvPr>
                <p:cNvSpPr>
                  <a:spLocks/>
                </p:cNvSpPr>
                <p:nvPr/>
              </p:nvSpPr>
              <p:spPr bwMode="auto">
                <a:xfrm>
                  <a:off x="3690" y="2545"/>
                  <a:ext cx="126" cy="110"/>
                </a:xfrm>
                <a:custGeom>
                  <a:avLst/>
                  <a:gdLst>
                    <a:gd name="T0" fmla="*/ 16 w 252"/>
                    <a:gd name="T1" fmla="*/ 0 h 110"/>
                    <a:gd name="T2" fmla="*/ 13 w 252"/>
                    <a:gd name="T3" fmla="*/ 1 h 110"/>
                    <a:gd name="T4" fmla="*/ 10 w 252"/>
                    <a:gd name="T5" fmla="*/ 4 h 110"/>
                    <a:gd name="T6" fmla="*/ 7 w 252"/>
                    <a:gd name="T7" fmla="*/ 9 h 110"/>
                    <a:gd name="T8" fmla="*/ 5 w 252"/>
                    <a:gd name="T9" fmla="*/ 16 h 110"/>
                    <a:gd name="T10" fmla="*/ 3 w 252"/>
                    <a:gd name="T11" fmla="*/ 24 h 110"/>
                    <a:gd name="T12" fmla="*/ 2 w 252"/>
                    <a:gd name="T13" fmla="*/ 34 h 110"/>
                    <a:gd name="T14" fmla="*/ 1 w 252"/>
                    <a:gd name="T15" fmla="*/ 44 h 110"/>
                    <a:gd name="T16" fmla="*/ 0 w 252"/>
                    <a:gd name="T17" fmla="*/ 54 h 110"/>
                    <a:gd name="T18" fmla="*/ 1 w 252"/>
                    <a:gd name="T19" fmla="*/ 66 h 110"/>
                    <a:gd name="T20" fmla="*/ 2 w 252"/>
                    <a:gd name="T21" fmla="*/ 76 h 110"/>
                    <a:gd name="T22" fmla="*/ 3 w 252"/>
                    <a:gd name="T23" fmla="*/ 85 h 110"/>
                    <a:gd name="T24" fmla="*/ 5 w 252"/>
                    <a:gd name="T25" fmla="*/ 94 h 110"/>
                    <a:gd name="T26" fmla="*/ 7 w 252"/>
                    <a:gd name="T27" fmla="*/ 101 h 110"/>
                    <a:gd name="T28" fmla="*/ 10 w 252"/>
                    <a:gd name="T29" fmla="*/ 106 h 110"/>
                    <a:gd name="T30" fmla="*/ 13 w 252"/>
                    <a:gd name="T31" fmla="*/ 109 h 110"/>
                    <a:gd name="T32" fmla="*/ 16 w 252"/>
                    <a:gd name="T33" fmla="*/ 110 h 110"/>
                    <a:gd name="T34" fmla="*/ 19 w 252"/>
                    <a:gd name="T35" fmla="*/ 109 h 110"/>
                    <a:gd name="T36" fmla="*/ 22 w 252"/>
                    <a:gd name="T37" fmla="*/ 106 h 110"/>
                    <a:gd name="T38" fmla="*/ 25 w 252"/>
                    <a:gd name="T39" fmla="*/ 101 h 110"/>
                    <a:gd name="T40" fmla="*/ 27 w 252"/>
                    <a:gd name="T41" fmla="*/ 94 h 110"/>
                    <a:gd name="T42" fmla="*/ 29 w 252"/>
                    <a:gd name="T43" fmla="*/ 85 h 110"/>
                    <a:gd name="T44" fmla="*/ 31 w 252"/>
                    <a:gd name="T45" fmla="*/ 76 h 110"/>
                    <a:gd name="T46" fmla="*/ 32 w 252"/>
                    <a:gd name="T47" fmla="*/ 66 h 110"/>
                    <a:gd name="T48" fmla="*/ 32 w 252"/>
                    <a:gd name="T49" fmla="*/ 54 h 110"/>
                    <a:gd name="T50" fmla="*/ 32 w 252"/>
                    <a:gd name="T51" fmla="*/ 44 h 110"/>
                    <a:gd name="T52" fmla="*/ 31 w 252"/>
                    <a:gd name="T53" fmla="*/ 34 h 110"/>
                    <a:gd name="T54" fmla="*/ 29 w 252"/>
                    <a:gd name="T55" fmla="*/ 24 h 110"/>
                    <a:gd name="T56" fmla="*/ 27 w 252"/>
                    <a:gd name="T57" fmla="*/ 16 h 110"/>
                    <a:gd name="T58" fmla="*/ 25 w 252"/>
                    <a:gd name="T59" fmla="*/ 9 h 110"/>
                    <a:gd name="T60" fmla="*/ 22 w 252"/>
                    <a:gd name="T61" fmla="*/ 4 h 110"/>
                    <a:gd name="T62" fmla="*/ 19 w 252"/>
                    <a:gd name="T63" fmla="*/ 1 h 110"/>
                    <a:gd name="T64" fmla="*/ 16 w 252"/>
                    <a:gd name="T65" fmla="*/ 0 h 11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2" h="110">
                      <a:moveTo>
                        <a:pt x="125" y="0"/>
                      </a:moveTo>
                      <a:lnTo>
                        <a:pt x="100" y="1"/>
                      </a:lnTo>
                      <a:lnTo>
                        <a:pt x="77" y="4"/>
                      </a:lnTo>
                      <a:lnTo>
                        <a:pt x="56" y="9"/>
                      </a:lnTo>
                      <a:lnTo>
                        <a:pt x="37" y="16"/>
                      </a:lnTo>
                      <a:lnTo>
                        <a:pt x="22" y="24"/>
                      </a:lnTo>
                      <a:lnTo>
                        <a:pt x="10" y="34"/>
                      </a:lnTo>
                      <a:lnTo>
                        <a:pt x="2" y="44"/>
                      </a:lnTo>
                      <a:lnTo>
                        <a:pt x="0" y="54"/>
                      </a:lnTo>
                      <a:lnTo>
                        <a:pt x="2" y="66"/>
                      </a:lnTo>
                      <a:lnTo>
                        <a:pt x="10" y="76"/>
                      </a:lnTo>
                      <a:lnTo>
                        <a:pt x="22" y="85"/>
                      </a:lnTo>
                      <a:lnTo>
                        <a:pt x="37" y="94"/>
                      </a:lnTo>
                      <a:lnTo>
                        <a:pt x="56" y="101"/>
                      </a:lnTo>
                      <a:lnTo>
                        <a:pt x="77" y="106"/>
                      </a:lnTo>
                      <a:lnTo>
                        <a:pt x="100" y="109"/>
                      </a:lnTo>
                      <a:lnTo>
                        <a:pt x="125" y="110"/>
                      </a:lnTo>
                      <a:lnTo>
                        <a:pt x="150" y="109"/>
                      </a:lnTo>
                      <a:lnTo>
                        <a:pt x="175" y="106"/>
                      </a:lnTo>
                      <a:lnTo>
                        <a:pt x="196" y="101"/>
                      </a:lnTo>
                      <a:lnTo>
                        <a:pt x="215" y="94"/>
                      </a:lnTo>
                      <a:lnTo>
                        <a:pt x="231" y="85"/>
                      </a:lnTo>
                      <a:lnTo>
                        <a:pt x="242" y="76"/>
                      </a:lnTo>
                      <a:lnTo>
                        <a:pt x="250" y="66"/>
                      </a:lnTo>
                      <a:lnTo>
                        <a:pt x="252" y="54"/>
                      </a:lnTo>
                      <a:lnTo>
                        <a:pt x="250" y="44"/>
                      </a:lnTo>
                      <a:lnTo>
                        <a:pt x="242" y="34"/>
                      </a:lnTo>
                      <a:lnTo>
                        <a:pt x="231" y="24"/>
                      </a:lnTo>
                      <a:lnTo>
                        <a:pt x="215" y="16"/>
                      </a:lnTo>
                      <a:lnTo>
                        <a:pt x="196" y="9"/>
                      </a:lnTo>
                      <a:lnTo>
                        <a:pt x="175" y="4"/>
                      </a:lnTo>
                      <a:lnTo>
                        <a:pt x="150" y="1"/>
                      </a:lnTo>
                      <a:lnTo>
                        <a:pt x="125" y="0"/>
                      </a:lnTo>
                      <a:close/>
                    </a:path>
                  </a:pathLst>
                </a:custGeom>
                <a:solidFill>
                  <a:srgbClr val="FF0000"/>
                </a:solidFill>
                <a:ln w="0">
                  <a:solidFill>
                    <a:srgbClr val="FFFFFF"/>
                  </a:solidFill>
                  <a:prstDash val="solid"/>
                  <a:round/>
                  <a:headEnd/>
                  <a:tailEnd/>
                </a:ln>
              </p:spPr>
              <p:txBody>
                <a:bodyPr/>
                <a:lstStyle/>
                <a:p>
                  <a:endParaRPr lang="en-US">
                    <a:latin typeface="Roboto" panose="02000000000000000000" pitchFamily="2" charset="0"/>
                    <a:ea typeface="Roboto" panose="02000000000000000000" pitchFamily="2" charset="0"/>
                  </a:endParaRPr>
                </a:p>
              </p:txBody>
            </p:sp>
            <p:sp>
              <p:nvSpPr>
                <p:cNvPr id="206" name="Oval 198">
                  <a:extLst>
                    <a:ext uri="{FF2B5EF4-FFF2-40B4-BE49-F238E27FC236}">
                      <a16:creationId xmlns:a16="http://schemas.microsoft.com/office/drawing/2014/main" id="{8E19CAB1-5B60-86ED-FA13-AE1F35B55F13}"/>
                    </a:ext>
                  </a:extLst>
                </p:cNvPr>
                <p:cNvSpPr>
                  <a:spLocks noChangeArrowheads="1"/>
                </p:cNvSpPr>
                <p:nvPr/>
              </p:nvSpPr>
              <p:spPr bwMode="auto">
                <a:xfrm>
                  <a:off x="3690" y="2545"/>
                  <a:ext cx="127" cy="111"/>
                </a:xfrm>
                <a:prstGeom prst="ellipse">
                  <a:avLst/>
                </a:prstGeom>
                <a:blipFill dpi="0" rotWithShape="0">
                  <a:blip/>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07" name="Rectangle 199">
                  <a:extLst>
                    <a:ext uri="{FF2B5EF4-FFF2-40B4-BE49-F238E27FC236}">
                      <a16:creationId xmlns:a16="http://schemas.microsoft.com/office/drawing/2014/main" id="{FB235B87-2E8B-78B7-1EC7-4BC819DC8DEF}"/>
                    </a:ext>
                  </a:extLst>
                </p:cNvPr>
                <p:cNvSpPr>
                  <a:spLocks noChangeArrowheads="1"/>
                </p:cNvSpPr>
                <p:nvPr/>
              </p:nvSpPr>
              <p:spPr bwMode="auto">
                <a:xfrm>
                  <a:off x="3690" y="2545"/>
                  <a:ext cx="128" cy="112"/>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sp>
            <p:nvSpPr>
              <p:cNvPr id="203" name="Oval 200">
                <a:extLst>
                  <a:ext uri="{FF2B5EF4-FFF2-40B4-BE49-F238E27FC236}">
                    <a16:creationId xmlns:a16="http://schemas.microsoft.com/office/drawing/2014/main" id="{01393421-D9A4-6254-193E-2A4A56CA5FBB}"/>
                  </a:ext>
                </a:extLst>
              </p:cNvPr>
              <p:cNvSpPr>
                <a:spLocks noChangeArrowheads="1"/>
              </p:cNvSpPr>
              <p:nvPr/>
            </p:nvSpPr>
            <p:spPr bwMode="auto">
              <a:xfrm>
                <a:off x="3690" y="2545"/>
                <a:ext cx="127" cy="111"/>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208" name="Group 201">
              <a:extLst>
                <a:ext uri="{FF2B5EF4-FFF2-40B4-BE49-F238E27FC236}">
                  <a16:creationId xmlns:a16="http://schemas.microsoft.com/office/drawing/2014/main" id="{62C98C5B-E71B-AA6C-6847-537BF645ADF4}"/>
                </a:ext>
              </a:extLst>
            </p:cNvPr>
            <p:cNvGrpSpPr>
              <a:grpSpLocks/>
            </p:cNvGrpSpPr>
            <p:nvPr/>
          </p:nvGrpSpPr>
          <p:grpSpPr bwMode="auto">
            <a:xfrm>
              <a:off x="5657850" y="4310063"/>
              <a:ext cx="203200" cy="179387"/>
              <a:chOff x="3690" y="2736"/>
              <a:chExt cx="128" cy="113"/>
            </a:xfrm>
          </p:grpSpPr>
          <p:grpSp>
            <p:nvGrpSpPr>
              <p:cNvPr id="209" name="Group 202">
                <a:extLst>
                  <a:ext uri="{FF2B5EF4-FFF2-40B4-BE49-F238E27FC236}">
                    <a16:creationId xmlns:a16="http://schemas.microsoft.com/office/drawing/2014/main" id="{4CAAFC99-5B65-A29F-77A0-CDE37B6A3AB4}"/>
                  </a:ext>
                </a:extLst>
              </p:cNvPr>
              <p:cNvGrpSpPr>
                <a:grpSpLocks/>
              </p:cNvGrpSpPr>
              <p:nvPr/>
            </p:nvGrpSpPr>
            <p:grpSpPr bwMode="auto">
              <a:xfrm>
                <a:off x="3690" y="2736"/>
                <a:ext cx="128" cy="113"/>
                <a:chOff x="3690" y="2736"/>
                <a:chExt cx="128" cy="113"/>
              </a:xfrm>
            </p:grpSpPr>
            <p:sp>
              <p:nvSpPr>
                <p:cNvPr id="211" name="Rectangle 203">
                  <a:extLst>
                    <a:ext uri="{FF2B5EF4-FFF2-40B4-BE49-F238E27FC236}">
                      <a16:creationId xmlns:a16="http://schemas.microsoft.com/office/drawing/2014/main" id="{9971BFCC-EA0E-6456-A76E-805D8C7C8B82}"/>
                    </a:ext>
                  </a:extLst>
                </p:cNvPr>
                <p:cNvSpPr>
                  <a:spLocks noChangeArrowheads="1"/>
                </p:cNvSpPr>
                <p:nvPr/>
              </p:nvSpPr>
              <p:spPr bwMode="auto">
                <a:xfrm>
                  <a:off x="3690" y="2736"/>
                  <a:ext cx="128" cy="1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12" name="Freeform 204">
                  <a:extLst>
                    <a:ext uri="{FF2B5EF4-FFF2-40B4-BE49-F238E27FC236}">
                      <a16:creationId xmlns:a16="http://schemas.microsoft.com/office/drawing/2014/main" id="{9F2F0C16-A82C-5FE3-003F-3047C9C4CA91}"/>
                    </a:ext>
                  </a:extLst>
                </p:cNvPr>
                <p:cNvSpPr>
                  <a:spLocks/>
                </p:cNvSpPr>
                <p:nvPr/>
              </p:nvSpPr>
              <p:spPr bwMode="auto">
                <a:xfrm>
                  <a:off x="3690" y="2736"/>
                  <a:ext cx="126" cy="110"/>
                </a:xfrm>
                <a:custGeom>
                  <a:avLst/>
                  <a:gdLst>
                    <a:gd name="T0" fmla="*/ 16 w 252"/>
                    <a:gd name="T1" fmla="*/ 0 h 110"/>
                    <a:gd name="T2" fmla="*/ 13 w 252"/>
                    <a:gd name="T3" fmla="*/ 1 h 110"/>
                    <a:gd name="T4" fmla="*/ 10 w 252"/>
                    <a:gd name="T5" fmla="*/ 5 h 110"/>
                    <a:gd name="T6" fmla="*/ 7 w 252"/>
                    <a:gd name="T7" fmla="*/ 9 h 110"/>
                    <a:gd name="T8" fmla="*/ 5 w 252"/>
                    <a:gd name="T9" fmla="*/ 16 h 110"/>
                    <a:gd name="T10" fmla="*/ 3 w 252"/>
                    <a:gd name="T11" fmla="*/ 24 h 110"/>
                    <a:gd name="T12" fmla="*/ 2 w 252"/>
                    <a:gd name="T13" fmla="*/ 34 h 110"/>
                    <a:gd name="T14" fmla="*/ 1 w 252"/>
                    <a:gd name="T15" fmla="*/ 44 h 110"/>
                    <a:gd name="T16" fmla="*/ 0 w 252"/>
                    <a:gd name="T17" fmla="*/ 55 h 110"/>
                    <a:gd name="T18" fmla="*/ 1 w 252"/>
                    <a:gd name="T19" fmla="*/ 66 h 110"/>
                    <a:gd name="T20" fmla="*/ 2 w 252"/>
                    <a:gd name="T21" fmla="*/ 76 h 110"/>
                    <a:gd name="T22" fmla="*/ 3 w 252"/>
                    <a:gd name="T23" fmla="*/ 85 h 110"/>
                    <a:gd name="T24" fmla="*/ 5 w 252"/>
                    <a:gd name="T25" fmla="*/ 94 h 110"/>
                    <a:gd name="T26" fmla="*/ 7 w 252"/>
                    <a:gd name="T27" fmla="*/ 101 h 110"/>
                    <a:gd name="T28" fmla="*/ 10 w 252"/>
                    <a:gd name="T29" fmla="*/ 106 h 110"/>
                    <a:gd name="T30" fmla="*/ 13 w 252"/>
                    <a:gd name="T31" fmla="*/ 109 h 110"/>
                    <a:gd name="T32" fmla="*/ 16 w 252"/>
                    <a:gd name="T33" fmla="*/ 110 h 110"/>
                    <a:gd name="T34" fmla="*/ 19 w 252"/>
                    <a:gd name="T35" fmla="*/ 109 h 110"/>
                    <a:gd name="T36" fmla="*/ 22 w 252"/>
                    <a:gd name="T37" fmla="*/ 106 h 110"/>
                    <a:gd name="T38" fmla="*/ 25 w 252"/>
                    <a:gd name="T39" fmla="*/ 101 h 110"/>
                    <a:gd name="T40" fmla="*/ 27 w 252"/>
                    <a:gd name="T41" fmla="*/ 94 h 110"/>
                    <a:gd name="T42" fmla="*/ 29 w 252"/>
                    <a:gd name="T43" fmla="*/ 85 h 110"/>
                    <a:gd name="T44" fmla="*/ 31 w 252"/>
                    <a:gd name="T45" fmla="*/ 76 h 110"/>
                    <a:gd name="T46" fmla="*/ 32 w 252"/>
                    <a:gd name="T47" fmla="*/ 66 h 110"/>
                    <a:gd name="T48" fmla="*/ 32 w 252"/>
                    <a:gd name="T49" fmla="*/ 55 h 110"/>
                    <a:gd name="T50" fmla="*/ 32 w 252"/>
                    <a:gd name="T51" fmla="*/ 44 h 110"/>
                    <a:gd name="T52" fmla="*/ 31 w 252"/>
                    <a:gd name="T53" fmla="*/ 34 h 110"/>
                    <a:gd name="T54" fmla="*/ 29 w 252"/>
                    <a:gd name="T55" fmla="*/ 24 h 110"/>
                    <a:gd name="T56" fmla="*/ 27 w 252"/>
                    <a:gd name="T57" fmla="*/ 16 h 110"/>
                    <a:gd name="T58" fmla="*/ 25 w 252"/>
                    <a:gd name="T59" fmla="*/ 9 h 110"/>
                    <a:gd name="T60" fmla="*/ 22 w 252"/>
                    <a:gd name="T61" fmla="*/ 5 h 110"/>
                    <a:gd name="T62" fmla="*/ 19 w 252"/>
                    <a:gd name="T63" fmla="*/ 1 h 110"/>
                    <a:gd name="T64" fmla="*/ 16 w 252"/>
                    <a:gd name="T65" fmla="*/ 0 h 11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2" h="110">
                      <a:moveTo>
                        <a:pt x="125" y="0"/>
                      </a:moveTo>
                      <a:lnTo>
                        <a:pt x="100" y="1"/>
                      </a:lnTo>
                      <a:lnTo>
                        <a:pt x="77" y="5"/>
                      </a:lnTo>
                      <a:lnTo>
                        <a:pt x="56" y="9"/>
                      </a:lnTo>
                      <a:lnTo>
                        <a:pt x="37" y="16"/>
                      </a:lnTo>
                      <a:lnTo>
                        <a:pt x="22" y="24"/>
                      </a:lnTo>
                      <a:lnTo>
                        <a:pt x="10" y="34"/>
                      </a:lnTo>
                      <a:lnTo>
                        <a:pt x="2" y="44"/>
                      </a:lnTo>
                      <a:lnTo>
                        <a:pt x="0" y="55"/>
                      </a:lnTo>
                      <a:lnTo>
                        <a:pt x="2" y="66"/>
                      </a:lnTo>
                      <a:lnTo>
                        <a:pt x="10" y="76"/>
                      </a:lnTo>
                      <a:lnTo>
                        <a:pt x="22" y="85"/>
                      </a:lnTo>
                      <a:lnTo>
                        <a:pt x="37" y="94"/>
                      </a:lnTo>
                      <a:lnTo>
                        <a:pt x="56" y="101"/>
                      </a:lnTo>
                      <a:lnTo>
                        <a:pt x="77" y="106"/>
                      </a:lnTo>
                      <a:lnTo>
                        <a:pt x="100" y="109"/>
                      </a:lnTo>
                      <a:lnTo>
                        <a:pt x="125" y="110"/>
                      </a:lnTo>
                      <a:lnTo>
                        <a:pt x="150" y="109"/>
                      </a:lnTo>
                      <a:lnTo>
                        <a:pt x="175" y="106"/>
                      </a:lnTo>
                      <a:lnTo>
                        <a:pt x="196" y="101"/>
                      </a:lnTo>
                      <a:lnTo>
                        <a:pt x="215" y="94"/>
                      </a:lnTo>
                      <a:lnTo>
                        <a:pt x="231" y="85"/>
                      </a:lnTo>
                      <a:lnTo>
                        <a:pt x="242" y="76"/>
                      </a:lnTo>
                      <a:lnTo>
                        <a:pt x="250" y="66"/>
                      </a:lnTo>
                      <a:lnTo>
                        <a:pt x="252" y="55"/>
                      </a:lnTo>
                      <a:lnTo>
                        <a:pt x="250" y="44"/>
                      </a:lnTo>
                      <a:lnTo>
                        <a:pt x="242" y="34"/>
                      </a:lnTo>
                      <a:lnTo>
                        <a:pt x="231" y="24"/>
                      </a:lnTo>
                      <a:lnTo>
                        <a:pt x="215" y="16"/>
                      </a:lnTo>
                      <a:lnTo>
                        <a:pt x="196" y="9"/>
                      </a:lnTo>
                      <a:lnTo>
                        <a:pt x="175" y="5"/>
                      </a:lnTo>
                      <a:lnTo>
                        <a:pt x="150" y="1"/>
                      </a:lnTo>
                      <a:lnTo>
                        <a:pt x="125" y="0"/>
                      </a:lnTo>
                      <a:close/>
                    </a:path>
                  </a:pathLst>
                </a:custGeom>
                <a:solidFill>
                  <a:srgbClr val="FF0000"/>
                </a:solidFill>
                <a:ln w="0">
                  <a:solidFill>
                    <a:srgbClr val="FFFFFF"/>
                  </a:solidFill>
                  <a:prstDash val="solid"/>
                  <a:round/>
                  <a:headEnd/>
                  <a:tailEnd/>
                </a:ln>
              </p:spPr>
              <p:txBody>
                <a:bodyPr/>
                <a:lstStyle/>
                <a:p>
                  <a:endParaRPr lang="en-US">
                    <a:latin typeface="Roboto" panose="02000000000000000000" pitchFamily="2" charset="0"/>
                    <a:ea typeface="Roboto" panose="02000000000000000000" pitchFamily="2" charset="0"/>
                  </a:endParaRPr>
                </a:p>
              </p:txBody>
            </p:sp>
            <p:sp>
              <p:nvSpPr>
                <p:cNvPr id="213" name="Oval 205">
                  <a:extLst>
                    <a:ext uri="{FF2B5EF4-FFF2-40B4-BE49-F238E27FC236}">
                      <a16:creationId xmlns:a16="http://schemas.microsoft.com/office/drawing/2014/main" id="{009BAFBD-745C-83CF-995B-4B1A67A31A0C}"/>
                    </a:ext>
                  </a:extLst>
                </p:cNvPr>
                <p:cNvSpPr>
                  <a:spLocks noChangeArrowheads="1"/>
                </p:cNvSpPr>
                <p:nvPr/>
              </p:nvSpPr>
              <p:spPr bwMode="auto">
                <a:xfrm>
                  <a:off x="3690" y="2736"/>
                  <a:ext cx="127" cy="111"/>
                </a:xfrm>
                <a:prstGeom prst="ellipse">
                  <a:avLst/>
                </a:prstGeom>
                <a:blipFill dpi="0" rotWithShape="0">
                  <a:blip/>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14" name="Rectangle 206">
                  <a:extLst>
                    <a:ext uri="{FF2B5EF4-FFF2-40B4-BE49-F238E27FC236}">
                      <a16:creationId xmlns:a16="http://schemas.microsoft.com/office/drawing/2014/main" id="{0C938D56-AA13-A6E0-ACA5-04586FFFB38A}"/>
                    </a:ext>
                  </a:extLst>
                </p:cNvPr>
                <p:cNvSpPr>
                  <a:spLocks noChangeArrowheads="1"/>
                </p:cNvSpPr>
                <p:nvPr/>
              </p:nvSpPr>
              <p:spPr bwMode="auto">
                <a:xfrm>
                  <a:off x="3690" y="2736"/>
                  <a:ext cx="128" cy="1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sp>
            <p:nvSpPr>
              <p:cNvPr id="210" name="Oval 207">
                <a:extLst>
                  <a:ext uri="{FF2B5EF4-FFF2-40B4-BE49-F238E27FC236}">
                    <a16:creationId xmlns:a16="http://schemas.microsoft.com/office/drawing/2014/main" id="{207296DC-0174-D0F3-96A7-064440F8D7AC}"/>
                  </a:ext>
                </a:extLst>
              </p:cNvPr>
              <p:cNvSpPr>
                <a:spLocks noChangeArrowheads="1"/>
              </p:cNvSpPr>
              <p:nvPr/>
            </p:nvSpPr>
            <p:spPr bwMode="auto">
              <a:xfrm>
                <a:off x="3690" y="2736"/>
                <a:ext cx="127" cy="111"/>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215" name="Group 208">
              <a:extLst>
                <a:ext uri="{FF2B5EF4-FFF2-40B4-BE49-F238E27FC236}">
                  <a16:creationId xmlns:a16="http://schemas.microsoft.com/office/drawing/2014/main" id="{A00F65D8-A09F-111C-57C1-75E1C262115D}"/>
                </a:ext>
              </a:extLst>
            </p:cNvPr>
            <p:cNvGrpSpPr>
              <a:grpSpLocks/>
            </p:cNvGrpSpPr>
            <p:nvPr/>
          </p:nvGrpSpPr>
          <p:grpSpPr bwMode="auto">
            <a:xfrm>
              <a:off x="6299200" y="5522913"/>
              <a:ext cx="203200" cy="179387"/>
              <a:chOff x="4094" y="3500"/>
              <a:chExt cx="128" cy="113"/>
            </a:xfrm>
          </p:grpSpPr>
          <p:grpSp>
            <p:nvGrpSpPr>
              <p:cNvPr id="216" name="Group 209">
                <a:extLst>
                  <a:ext uri="{FF2B5EF4-FFF2-40B4-BE49-F238E27FC236}">
                    <a16:creationId xmlns:a16="http://schemas.microsoft.com/office/drawing/2014/main" id="{61549B27-2BDF-80CB-05B0-B92C84AB4157}"/>
                  </a:ext>
                </a:extLst>
              </p:cNvPr>
              <p:cNvGrpSpPr>
                <a:grpSpLocks/>
              </p:cNvGrpSpPr>
              <p:nvPr/>
            </p:nvGrpSpPr>
            <p:grpSpPr bwMode="auto">
              <a:xfrm>
                <a:off x="4094" y="3500"/>
                <a:ext cx="128" cy="113"/>
                <a:chOff x="4094" y="3500"/>
                <a:chExt cx="128" cy="113"/>
              </a:xfrm>
            </p:grpSpPr>
            <p:sp>
              <p:nvSpPr>
                <p:cNvPr id="218" name="Rectangle 210">
                  <a:extLst>
                    <a:ext uri="{FF2B5EF4-FFF2-40B4-BE49-F238E27FC236}">
                      <a16:creationId xmlns:a16="http://schemas.microsoft.com/office/drawing/2014/main" id="{9D89A79D-DD58-E41D-AC2F-486D09BBF88F}"/>
                    </a:ext>
                  </a:extLst>
                </p:cNvPr>
                <p:cNvSpPr>
                  <a:spLocks noChangeArrowheads="1"/>
                </p:cNvSpPr>
                <p:nvPr/>
              </p:nvSpPr>
              <p:spPr bwMode="auto">
                <a:xfrm>
                  <a:off x="4094" y="3500"/>
                  <a:ext cx="128" cy="1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19" name="Freeform 211">
                  <a:extLst>
                    <a:ext uri="{FF2B5EF4-FFF2-40B4-BE49-F238E27FC236}">
                      <a16:creationId xmlns:a16="http://schemas.microsoft.com/office/drawing/2014/main" id="{206F4A12-BB7C-012E-3F5C-3E7DCB7E0481}"/>
                    </a:ext>
                  </a:extLst>
                </p:cNvPr>
                <p:cNvSpPr>
                  <a:spLocks/>
                </p:cNvSpPr>
                <p:nvPr/>
              </p:nvSpPr>
              <p:spPr bwMode="auto">
                <a:xfrm>
                  <a:off x="4094" y="3500"/>
                  <a:ext cx="126" cy="111"/>
                </a:xfrm>
                <a:custGeom>
                  <a:avLst/>
                  <a:gdLst>
                    <a:gd name="T0" fmla="*/ 16 w 251"/>
                    <a:gd name="T1" fmla="*/ 0 h 111"/>
                    <a:gd name="T2" fmla="*/ 13 w 251"/>
                    <a:gd name="T3" fmla="*/ 2 h 111"/>
                    <a:gd name="T4" fmla="*/ 10 w 251"/>
                    <a:gd name="T5" fmla="*/ 5 h 111"/>
                    <a:gd name="T6" fmla="*/ 7 w 251"/>
                    <a:gd name="T7" fmla="*/ 10 h 111"/>
                    <a:gd name="T8" fmla="*/ 5 w 251"/>
                    <a:gd name="T9" fmla="*/ 16 h 111"/>
                    <a:gd name="T10" fmla="*/ 3 w 251"/>
                    <a:gd name="T11" fmla="*/ 24 h 111"/>
                    <a:gd name="T12" fmla="*/ 2 w 251"/>
                    <a:gd name="T13" fmla="*/ 35 h 111"/>
                    <a:gd name="T14" fmla="*/ 1 w 251"/>
                    <a:gd name="T15" fmla="*/ 45 h 111"/>
                    <a:gd name="T16" fmla="*/ 0 w 251"/>
                    <a:gd name="T17" fmla="*/ 55 h 111"/>
                    <a:gd name="T18" fmla="*/ 1 w 251"/>
                    <a:gd name="T19" fmla="*/ 66 h 111"/>
                    <a:gd name="T20" fmla="*/ 2 w 251"/>
                    <a:gd name="T21" fmla="*/ 77 h 111"/>
                    <a:gd name="T22" fmla="*/ 3 w 251"/>
                    <a:gd name="T23" fmla="*/ 86 h 111"/>
                    <a:gd name="T24" fmla="*/ 5 w 251"/>
                    <a:gd name="T25" fmla="*/ 95 h 111"/>
                    <a:gd name="T26" fmla="*/ 7 w 251"/>
                    <a:gd name="T27" fmla="*/ 102 h 111"/>
                    <a:gd name="T28" fmla="*/ 10 w 251"/>
                    <a:gd name="T29" fmla="*/ 106 h 111"/>
                    <a:gd name="T30" fmla="*/ 13 w 251"/>
                    <a:gd name="T31" fmla="*/ 110 h 111"/>
                    <a:gd name="T32" fmla="*/ 16 w 251"/>
                    <a:gd name="T33" fmla="*/ 111 h 111"/>
                    <a:gd name="T34" fmla="*/ 19 w 251"/>
                    <a:gd name="T35" fmla="*/ 110 h 111"/>
                    <a:gd name="T36" fmla="*/ 22 w 251"/>
                    <a:gd name="T37" fmla="*/ 106 h 111"/>
                    <a:gd name="T38" fmla="*/ 25 w 251"/>
                    <a:gd name="T39" fmla="*/ 102 h 111"/>
                    <a:gd name="T40" fmla="*/ 27 w 251"/>
                    <a:gd name="T41" fmla="*/ 95 h 111"/>
                    <a:gd name="T42" fmla="*/ 29 w 251"/>
                    <a:gd name="T43" fmla="*/ 86 h 111"/>
                    <a:gd name="T44" fmla="*/ 31 w 251"/>
                    <a:gd name="T45" fmla="*/ 77 h 111"/>
                    <a:gd name="T46" fmla="*/ 32 w 251"/>
                    <a:gd name="T47" fmla="*/ 66 h 111"/>
                    <a:gd name="T48" fmla="*/ 32 w 251"/>
                    <a:gd name="T49" fmla="*/ 55 h 111"/>
                    <a:gd name="T50" fmla="*/ 32 w 251"/>
                    <a:gd name="T51" fmla="*/ 45 h 111"/>
                    <a:gd name="T52" fmla="*/ 31 w 251"/>
                    <a:gd name="T53" fmla="*/ 35 h 111"/>
                    <a:gd name="T54" fmla="*/ 29 w 251"/>
                    <a:gd name="T55" fmla="*/ 24 h 111"/>
                    <a:gd name="T56" fmla="*/ 27 w 251"/>
                    <a:gd name="T57" fmla="*/ 16 h 111"/>
                    <a:gd name="T58" fmla="*/ 25 w 251"/>
                    <a:gd name="T59" fmla="*/ 10 h 111"/>
                    <a:gd name="T60" fmla="*/ 22 w 251"/>
                    <a:gd name="T61" fmla="*/ 5 h 111"/>
                    <a:gd name="T62" fmla="*/ 19 w 251"/>
                    <a:gd name="T63" fmla="*/ 2 h 111"/>
                    <a:gd name="T64" fmla="*/ 16 w 251"/>
                    <a:gd name="T65" fmla="*/ 0 h 11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1" h="111">
                      <a:moveTo>
                        <a:pt x="125" y="0"/>
                      </a:moveTo>
                      <a:lnTo>
                        <a:pt x="100" y="2"/>
                      </a:lnTo>
                      <a:lnTo>
                        <a:pt x="77" y="5"/>
                      </a:lnTo>
                      <a:lnTo>
                        <a:pt x="55" y="10"/>
                      </a:lnTo>
                      <a:lnTo>
                        <a:pt x="36" y="16"/>
                      </a:lnTo>
                      <a:lnTo>
                        <a:pt x="21" y="24"/>
                      </a:lnTo>
                      <a:lnTo>
                        <a:pt x="9" y="35"/>
                      </a:lnTo>
                      <a:lnTo>
                        <a:pt x="2" y="45"/>
                      </a:lnTo>
                      <a:lnTo>
                        <a:pt x="0" y="55"/>
                      </a:lnTo>
                      <a:lnTo>
                        <a:pt x="2" y="66"/>
                      </a:lnTo>
                      <a:lnTo>
                        <a:pt x="9" y="77"/>
                      </a:lnTo>
                      <a:lnTo>
                        <a:pt x="21" y="86"/>
                      </a:lnTo>
                      <a:lnTo>
                        <a:pt x="36" y="95"/>
                      </a:lnTo>
                      <a:lnTo>
                        <a:pt x="55" y="102"/>
                      </a:lnTo>
                      <a:lnTo>
                        <a:pt x="77" y="106"/>
                      </a:lnTo>
                      <a:lnTo>
                        <a:pt x="100" y="110"/>
                      </a:lnTo>
                      <a:lnTo>
                        <a:pt x="125" y="111"/>
                      </a:lnTo>
                      <a:lnTo>
                        <a:pt x="150" y="110"/>
                      </a:lnTo>
                      <a:lnTo>
                        <a:pt x="174" y="106"/>
                      </a:lnTo>
                      <a:lnTo>
                        <a:pt x="196" y="102"/>
                      </a:lnTo>
                      <a:lnTo>
                        <a:pt x="215" y="95"/>
                      </a:lnTo>
                      <a:lnTo>
                        <a:pt x="230" y="86"/>
                      </a:lnTo>
                      <a:lnTo>
                        <a:pt x="242" y="77"/>
                      </a:lnTo>
                      <a:lnTo>
                        <a:pt x="249" y="66"/>
                      </a:lnTo>
                      <a:lnTo>
                        <a:pt x="251" y="55"/>
                      </a:lnTo>
                      <a:lnTo>
                        <a:pt x="249" y="45"/>
                      </a:lnTo>
                      <a:lnTo>
                        <a:pt x="242" y="35"/>
                      </a:lnTo>
                      <a:lnTo>
                        <a:pt x="230" y="24"/>
                      </a:lnTo>
                      <a:lnTo>
                        <a:pt x="215" y="16"/>
                      </a:lnTo>
                      <a:lnTo>
                        <a:pt x="196" y="10"/>
                      </a:lnTo>
                      <a:lnTo>
                        <a:pt x="174" y="5"/>
                      </a:lnTo>
                      <a:lnTo>
                        <a:pt x="150" y="2"/>
                      </a:lnTo>
                      <a:lnTo>
                        <a:pt x="125" y="0"/>
                      </a:lnTo>
                      <a:close/>
                    </a:path>
                  </a:pathLst>
                </a:custGeom>
                <a:solidFill>
                  <a:srgbClr val="FF0000"/>
                </a:solidFill>
                <a:ln w="0">
                  <a:solidFill>
                    <a:srgbClr val="FFFFFF"/>
                  </a:solidFill>
                  <a:prstDash val="solid"/>
                  <a:round/>
                  <a:headEnd/>
                  <a:tailEnd/>
                </a:ln>
              </p:spPr>
              <p:txBody>
                <a:bodyPr/>
                <a:lstStyle/>
                <a:p>
                  <a:endParaRPr lang="en-US">
                    <a:latin typeface="Roboto" panose="02000000000000000000" pitchFamily="2" charset="0"/>
                    <a:ea typeface="Roboto" panose="02000000000000000000" pitchFamily="2" charset="0"/>
                  </a:endParaRPr>
                </a:p>
              </p:txBody>
            </p:sp>
            <p:sp>
              <p:nvSpPr>
                <p:cNvPr id="220" name="Oval 212">
                  <a:extLst>
                    <a:ext uri="{FF2B5EF4-FFF2-40B4-BE49-F238E27FC236}">
                      <a16:creationId xmlns:a16="http://schemas.microsoft.com/office/drawing/2014/main" id="{311BF4DA-29A7-E2DC-B6B5-FB9ED556466F}"/>
                    </a:ext>
                  </a:extLst>
                </p:cNvPr>
                <p:cNvSpPr>
                  <a:spLocks noChangeArrowheads="1"/>
                </p:cNvSpPr>
                <p:nvPr/>
              </p:nvSpPr>
              <p:spPr bwMode="auto">
                <a:xfrm>
                  <a:off x="4094" y="3500"/>
                  <a:ext cx="127" cy="112"/>
                </a:xfrm>
                <a:prstGeom prst="ellipse">
                  <a:avLst/>
                </a:prstGeom>
                <a:blipFill dpi="0" rotWithShape="0">
                  <a:blip/>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21" name="Rectangle 213">
                  <a:extLst>
                    <a:ext uri="{FF2B5EF4-FFF2-40B4-BE49-F238E27FC236}">
                      <a16:creationId xmlns:a16="http://schemas.microsoft.com/office/drawing/2014/main" id="{0A379F42-D626-974D-3A83-917CF37E24E4}"/>
                    </a:ext>
                  </a:extLst>
                </p:cNvPr>
                <p:cNvSpPr>
                  <a:spLocks noChangeArrowheads="1"/>
                </p:cNvSpPr>
                <p:nvPr/>
              </p:nvSpPr>
              <p:spPr bwMode="auto">
                <a:xfrm>
                  <a:off x="4094" y="3500"/>
                  <a:ext cx="128" cy="1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sp>
            <p:nvSpPr>
              <p:cNvPr id="217" name="Oval 214">
                <a:extLst>
                  <a:ext uri="{FF2B5EF4-FFF2-40B4-BE49-F238E27FC236}">
                    <a16:creationId xmlns:a16="http://schemas.microsoft.com/office/drawing/2014/main" id="{138F2488-2D0B-D99F-B8AC-737F23A9EA2B}"/>
                  </a:ext>
                </a:extLst>
              </p:cNvPr>
              <p:cNvSpPr>
                <a:spLocks noChangeArrowheads="1"/>
              </p:cNvSpPr>
              <p:nvPr/>
            </p:nvSpPr>
            <p:spPr bwMode="auto">
              <a:xfrm>
                <a:off x="4094" y="3500"/>
                <a:ext cx="127" cy="112"/>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222" name="Group 215">
              <a:extLst>
                <a:ext uri="{FF2B5EF4-FFF2-40B4-BE49-F238E27FC236}">
                  <a16:creationId xmlns:a16="http://schemas.microsoft.com/office/drawing/2014/main" id="{8DE5E76F-864C-D8BE-9265-5E6AF6DFC04E}"/>
                </a:ext>
              </a:extLst>
            </p:cNvPr>
            <p:cNvGrpSpPr>
              <a:grpSpLocks/>
            </p:cNvGrpSpPr>
            <p:nvPr/>
          </p:nvGrpSpPr>
          <p:grpSpPr bwMode="auto">
            <a:xfrm>
              <a:off x="6299200" y="5219700"/>
              <a:ext cx="203200" cy="179388"/>
              <a:chOff x="4094" y="3309"/>
              <a:chExt cx="128" cy="113"/>
            </a:xfrm>
          </p:grpSpPr>
          <p:grpSp>
            <p:nvGrpSpPr>
              <p:cNvPr id="223" name="Group 216">
                <a:extLst>
                  <a:ext uri="{FF2B5EF4-FFF2-40B4-BE49-F238E27FC236}">
                    <a16:creationId xmlns:a16="http://schemas.microsoft.com/office/drawing/2014/main" id="{4E52A415-3338-CCF1-65E2-F2F7C4819748}"/>
                  </a:ext>
                </a:extLst>
              </p:cNvPr>
              <p:cNvGrpSpPr>
                <a:grpSpLocks/>
              </p:cNvGrpSpPr>
              <p:nvPr/>
            </p:nvGrpSpPr>
            <p:grpSpPr bwMode="auto">
              <a:xfrm>
                <a:off x="4094" y="3309"/>
                <a:ext cx="128" cy="113"/>
                <a:chOff x="4094" y="3309"/>
                <a:chExt cx="128" cy="113"/>
              </a:xfrm>
            </p:grpSpPr>
            <p:sp>
              <p:nvSpPr>
                <p:cNvPr id="225" name="Rectangle 217">
                  <a:extLst>
                    <a:ext uri="{FF2B5EF4-FFF2-40B4-BE49-F238E27FC236}">
                      <a16:creationId xmlns:a16="http://schemas.microsoft.com/office/drawing/2014/main" id="{A248EF1A-07DC-B675-86E5-D7430957C117}"/>
                    </a:ext>
                  </a:extLst>
                </p:cNvPr>
                <p:cNvSpPr>
                  <a:spLocks noChangeArrowheads="1"/>
                </p:cNvSpPr>
                <p:nvPr/>
              </p:nvSpPr>
              <p:spPr bwMode="auto">
                <a:xfrm>
                  <a:off x="4094" y="3309"/>
                  <a:ext cx="128" cy="1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26" name="Freeform 218">
                  <a:extLst>
                    <a:ext uri="{FF2B5EF4-FFF2-40B4-BE49-F238E27FC236}">
                      <a16:creationId xmlns:a16="http://schemas.microsoft.com/office/drawing/2014/main" id="{FD26000A-ACDD-17D4-3A38-9165A9E00E21}"/>
                    </a:ext>
                  </a:extLst>
                </p:cNvPr>
                <p:cNvSpPr>
                  <a:spLocks/>
                </p:cNvSpPr>
                <p:nvPr/>
              </p:nvSpPr>
              <p:spPr bwMode="auto">
                <a:xfrm>
                  <a:off x="4094" y="3309"/>
                  <a:ext cx="126" cy="111"/>
                </a:xfrm>
                <a:custGeom>
                  <a:avLst/>
                  <a:gdLst>
                    <a:gd name="T0" fmla="*/ 16 w 251"/>
                    <a:gd name="T1" fmla="*/ 0 h 111"/>
                    <a:gd name="T2" fmla="*/ 13 w 251"/>
                    <a:gd name="T3" fmla="*/ 1 h 111"/>
                    <a:gd name="T4" fmla="*/ 10 w 251"/>
                    <a:gd name="T5" fmla="*/ 5 h 111"/>
                    <a:gd name="T6" fmla="*/ 7 w 251"/>
                    <a:gd name="T7" fmla="*/ 9 h 111"/>
                    <a:gd name="T8" fmla="*/ 5 w 251"/>
                    <a:gd name="T9" fmla="*/ 16 h 111"/>
                    <a:gd name="T10" fmla="*/ 3 w 251"/>
                    <a:gd name="T11" fmla="*/ 24 h 111"/>
                    <a:gd name="T12" fmla="*/ 2 w 251"/>
                    <a:gd name="T13" fmla="*/ 34 h 111"/>
                    <a:gd name="T14" fmla="*/ 1 w 251"/>
                    <a:gd name="T15" fmla="*/ 45 h 111"/>
                    <a:gd name="T16" fmla="*/ 0 w 251"/>
                    <a:gd name="T17" fmla="*/ 55 h 111"/>
                    <a:gd name="T18" fmla="*/ 1 w 251"/>
                    <a:gd name="T19" fmla="*/ 66 h 111"/>
                    <a:gd name="T20" fmla="*/ 2 w 251"/>
                    <a:gd name="T21" fmla="*/ 77 h 111"/>
                    <a:gd name="T22" fmla="*/ 3 w 251"/>
                    <a:gd name="T23" fmla="*/ 86 h 111"/>
                    <a:gd name="T24" fmla="*/ 5 w 251"/>
                    <a:gd name="T25" fmla="*/ 95 h 111"/>
                    <a:gd name="T26" fmla="*/ 7 w 251"/>
                    <a:gd name="T27" fmla="*/ 102 h 111"/>
                    <a:gd name="T28" fmla="*/ 10 w 251"/>
                    <a:gd name="T29" fmla="*/ 106 h 111"/>
                    <a:gd name="T30" fmla="*/ 13 w 251"/>
                    <a:gd name="T31" fmla="*/ 110 h 111"/>
                    <a:gd name="T32" fmla="*/ 16 w 251"/>
                    <a:gd name="T33" fmla="*/ 111 h 111"/>
                    <a:gd name="T34" fmla="*/ 19 w 251"/>
                    <a:gd name="T35" fmla="*/ 110 h 111"/>
                    <a:gd name="T36" fmla="*/ 22 w 251"/>
                    <a:gd name="T37" fmla="*/ 106 h 111"/>
                    <a:gd name="T38" fmla="*/ 25 w 251"/>
                    <a:gd name="T39" fmla="*/ 102 h 111"/>
                    <a:gd name="T40" fmla="*/ 27 w 251"/>
                    <a:gd name="T41" fmla="*/ 95 h 111"/>
                    <a:gd name="T42" fmla="*/ 29 w 251"/>
                    <a:gd name="T43" fmla="*/ 86 h 111"/>
                    <a:gd name="T44" fmla="*/ 31 w 251"/>
                    <a:gd name="T45" fmla="*/ 77 h 111"/>
                    <a:gd name="T46" fmla="*/ 32 w 251"/>
                    <a:gd name="T47" fmla="*/ 66 h 111"/>
                    <a:gd name="T48" fmla="*/ 32 w 251"/>
                    <a:gd name="T49" fmla="*/ 55 h 111"/>
                    <a:gd name="T50" fmla="*/ 32 w 251"/>
                    <a:gd name="T51" fmla="*/ 45 h 111"/>
                    <a:gd name="T52" fmla="*/ 31 w 251"/>
                    <a:gd name="T53" fmla="*/ 34 h 111"/>
                    <a:gd name="T54" fmla="*/ 29 w 251"/>
                    <a:gd name="T55" fmla="*/ 24 h 111"/>
                    <a:gd name="T56" fmla="*/ 27 w 251"/>
                    <a:gd name="T57" fmla="*/ 16 h 111"/>
                    <a:gd name="T58" fmla="*/ 25 w 251"/>
                    <a:gd name="T59" fmla="*/ 9 h 111"/>
                    <a:gd name="T60" fmla="*/ 22 w 251"/>
                    <a:gd name="T61" fmla="*/ 5 h 111"/>
                    <a:gd name="T62" fmla="*/ 19 w 251"/>
                    <a:gd name="T63" fmla="*/ 1 h 111"/>
                    <a:gd name="T64" fmla="*/ 16 w 251"/>
                    <a:gd name="T65" fmla="*/ 0 h 11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1" h="111">
                      <a:moveTo>
                        <a:pt x="125" y="0"/>
                      </a:moveTo>
                      <a:lnTo>
                        <a:pt x="100" y="1"/>
                      </a:lnTo>
                      <a:lnTo>
                        <a:pt x="77" y="5"/>
                      </a:lnTo>
                      <a:lnTo>
                        <a:pt x="55" y="9"/>
                      </a:lnTo>
                      <a:lnTo>
                        <a:pt x="36" y="16"/>
                      </a:lnTo>
                      <a:lnTo>
                        <a:pt x="21" y="24"/>
                      </a:lnTo>
                      <a:lnTo>
                        <a:pt x="9" y="34"/>
                      </a:lnTo>
                      <a:lnTo>
                        <a:pt x="2" y="45"/>
                      </a:lnTo>
                      <a:lnTo>
                        <a:pt x="0" y="55"/>
                      </a:lnTo>
                      <a:lnTo>
                        <a:pt x="2" y="66"/>
                      </a:lnTo>
                      <a:lnTo>
                        <a:pt x="9" y="77"/>
                      </a:lnTo>
                      <a:lnTo>
                        <a:pt x="21" y="86"/>
                      </a:lnTo>
                      <a:lnTo>
                        <a:pt x="36" y="95"/>
                      </a:lnTo>
                      <a:lnTo>
                        <a:pt x="55" y="102"/>
                      </a:lnTo>
                      <a:lnTo>
                        <a:pt x="77" y="106"/>
                      </a:lnTo>
                      <a:lnTo>
                        <a:pt x="100" y="110"/>
                      </a:lnTo>
                      <a:lnTo>
                        <a:pt x="125" y="111"/>
                      </a:lnTo>
                      <a:lnTo>
                        <a:pt x="150" y="110"/>
                      </a:lnTo>
                      <a:lnTo>
                        <a:pt x="174" y="106"/>
                      </a:lnTo>
                      <a:lnTo>
                        <a:pt x="196" y="102"/>
                      </a:lnTo>
                      <a:lnTo>
                        <a:pt x="215" y="95"/>
                      </a:lnTo>
                      <a:lnTo>
                        <a:pt x="230" y="86"/>
                      </a:lnTo>
                      <a:lnTo>
                        <a:pt x="242" y="77"/>
                      </a:lnTo>
                      <a:lnTo>
                        <a:pt x="249" y="66"/>
                      </a:lnTo>
                      <a:lnTo>
                        <a:pt x="251" y="55"/>
                      </a:lnTo>
                      <a:lnTo>
                        <a:pt x="249" y="45"/>
                      </a:lnTo>
                      <a:lnTo>
                        <a:pt x="242" y="34"/>
                      </a:lnTo>
                      <a:lnTo>
                        <a:pt x="230" y="24"/>
                      </a:lnTo>
                      <a:lnTo>
                        <a:pt x="215" y="16"/>
                      </a:lnTo>
                      <a:lnTo>
                        <a:pt x="196" y="9"/>
                      </a:lnTo>
                      <a:lnTo>
                        <a:pt x="174" y="5"/>
                      </a:lnTo>
                      <a:lnTo>
                        <a:pt x="150" y="1"/>
                      </a:lnTo>
                      <a:lnTo>
                        <a:pt x="125" y="0"/>
                      </a:lnTo>
                      <a:close/>
                    </a:path>
                  </a:pathLst>
                </a:custGeom>
                <a:solidFill>
                  <a:srgbClr val="FF0000"/>
                </a:solidFill>
                <a:ln w="0">
                  <a:solidFill>
                    <a:srgbClr val="FFFFFF"/>
                  </a:solidFill>
                  <a:prstDash val="solid"/>
                  <a:round/>
                  <a:headEnd/>
                  <a:tailEnd/>
                </a:ln>
              </p:spPr>
              <p:txBody>
                <a:bodyPr/>
                <a:lstStyle/>
                <a:p>
                  <a:endParaRPr lang="en-US">
                    <a:latin typeface="Roboto" panose="02000000000000000000" pitchFamily="2" charset="0"/>
                    <a:ea typeface="Roboto" panose="02000000000000000000" pitchFamily="2" charset="0"/>
                  </a:endParaRPr>
                </a:p>
              </p:txBody>
            </p:sp>
            <p:sp>
              <p:nvSpPr>
                <p:cNvPr id="227" name="Oval 219">
                  <a:extLst>
                    <a:ext uri="{FF2B5EF4-FFF2-40B4-BE49-F238E27FC236}">
                      <a16:creationId xmlns:a16="http://schemas.microsoft.com/office/drawing/2014/main" id="{A870BF02-10CD-2937-92A4-949DCCEB00DA}"/>
                    </a:ext>
                  </a:extLst>
                </p:cNvPr>
                <p:cNvSpPr>
                  <a:spLocks noChangeArrowheads="1"/>
                </p:cNvSpPr>
                <p:nvPr/>
              </p:nvSpPr>
              <p:spPr bwMode="auto">
                <a:xfrm>
                  <a:off x="4094" y="3309"/>
                  <a:ext cx="127" cy="112"/>
                </a:xfrm>
                <a:prstGeom prst="ellipse">
                  <a:avLst/>
                </a:prstGeom>
                <a:blipFill dpi="0" rotWithShape="0">
                  <a:blip/>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28" name="Rectangle 220">
                  <a:extLst>
                    <a:ext uri="{FF2B5EF4-FFF2-40B4-BE49-F238E27FC236}">
                      <a16:creationId xmlns:a16="http://schemas.microsoft.com/office/drawing/2014/main" id="{63448C92-6147-C1EA-0DD3-9996B36DB2DB}"/>
                    </a:ext>
                  </a:extLst>
                </p:cNvPr>
                <p:cNvSpPr>
                  <a:spLocks noChangeArrowheads="1"/>
                </p:cNvSpPr>
                <p:nvPr/>
              </p:nvSpPr>
              <p:spPr bwMode="auto">
                <a:xfrm>
                  <a:off x="4094" y="3309"/>
                  <a:ext cx="128" cy="1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sp>
            <p:nvSpPr>
              <p:cNvPr id="224" name="Oval 221">
                <a:extLst>
                  <a:ext uri="{FF2B5EF4-FFF2-40B4-BE49-F238E27FC236}">
                    <a16:creationId xmlns:a16="http://schemas.microsoft.com/office/drawing/2014/main" id="{F2662BF8-52ED-D251-D946-E8AABB1E1C9A}"/>
                  </a:ext>
                </a:extLst>
              </p:cNvPr>
              <p:cNvSpPr>
                <a:spLocks noChangeArrowheads="1"/>
              </p:cNvSpPr>
              <p:nvPr/>
            </p:nvSpPr>
            <p:spPr bwMode="auto">
              <a:xfrm>
                <a:off x="4094" y="3309"/>
                <a:ext cx="127" cy="112"/>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229" name="Group 222">
              <a:extLst>
                <a:ext uri="{FF2B5EF4-FFF2-40B4-BE49-F238E27FC236}">
                  <a16:creationId xmlns:a16="http://schemas.microsoft.com/office/drawing/2014/main" id="{4BC7D655-1A02-770E-B8E3-0CD8F1E0D349}"/>
                </a:ext>
              </a:extLst>
            </p:cNvPr>
            <p:cNvGrpSpPr>
              <a:grpSpLocks/>
            </p:cNvGrpSpPr>
            <p:nvPr/>
          </p:nvGrpSpPr>
          <p:grpSpPr bwMode="auto">
            <a:xfrm>
              <a:off x="6299200" y="4310063"/>
              <a:ext cx="203200" cy="179387"/>
              <a:chOff x="4094" y="2736"/>
              <a:chExt cx="128" cy="113"/>
            </a:xfrm>
          </p:grpSpPr>
          <p:grpSp>
            <p:nvGrpSpPr>
              <p:cNvPr id="230" name="Group 223">
                <a:extLst>
                  <a:ext uri="{FF2B5EF4-FFF2-40B4-BE49-F238E27FC236}">
                    <a16:creationId xmlns:a16="http://schemas.microsoft.com/office/drawing/2014/main" id="{4DECE3BD-A908-91E5-49B4-ECE9A1DF5C88}"/>
                  </a:ext>
                </a:extLst>
              </p:cNvPr>
              <p:cNvGrpSpPr>
                <a:grpSpLocks/>
              </p:cNvGrpSpPr>
              <p:nvPr/>
            </p:nvGrpSpPr>
            <p:grpSpPr bwMode="auto">
              <a:xfrm>
                <a:off x="4094" y="2736"/>
                <a:ext cx="128" cy="113"/>
                <a:chOff x="4094" y="2736"/>
                <a:chExt cx="128" cy="113"/>
              </a:xfrm>
            </p:grpSpPr>
            <p:sp>
              <p:nvSpPr>
                <p:cNvPr id="232" name="Rectangle 224">
                  <a:extLst>
                    <a:ext uri="{FF2B5EF4-FFF2-40B4-BE49-F238E27FC236}">
                      <a16:creationId xmlns:a16="http://schemas.microsoft.com/office/drawing/2014/main" id="{83AD7AE7-8CB2-05D1-3710-BAF7C66B983D}"/>
                    </a:ext>
                  </a:extLst>
                </p:cNvPr>
                <p:cNvSpPr>
                  <a:spLocks noChangeArrowheads="1"/>
                </p:cNvSpPr>
                <p:nvPr/>
              </p:nvSpPr>
              <p:spPr bwMode="auto">
                <a:xfrm>
                  <a:off x="4094" y="2736"/>
                  <a:ext cx="128" cy="1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33" name="Freeform 225">
                  <a:extLst>
                    <a:ext uri="{FF2B5EF4-FFF2-40B4-BE49-F238E27FC236}">
                      <a16:creationId xmlns:a16="http://schemas.microsoft.com/office/drawing/2014/main" id="{744F1380-7B47-EC23-AB98-DDFC25D974EC}"/>
                    </a:ext>
                  </a:extLst>
                </p:cNvPr>
                <p:cNvSpPr>
                  <a:spLocks/>
                </p:cNvSpPr>
                <p:nvPr/>
              </p:nvSpPr>
              <p:spPr bwMode="auto">
                <a:xfrm>
                  <a:off x="4094" y="2736"/>
                  <a:ext cx="126" cy="110"/>
                </a:xfrm>
                <a:custGeom>
                  <a:avLst/>
                  <a:gdLst>
                    <a:gd name="T0" fmla="*/ 16 w 251"/>
                    <a:gd name="T1" fmla="*/ 0 h 110"/>
                    <a:gd name="T2" fmla="*/ 13 w 251"/>
                    <a:gd name="T3" fmla="*/ 1 h 110"/>
                    <a:gd name="T4" fmla="*/ 10 w 251"/>
                    <a:gd name="T5" fmla="*/ 5 h 110"/>
                    <a:gd name="T6" fmla="*/ 7 w 251"/>
                    <a:gd name="T7" fmla="*/ 9 h 110"/>
                    <a:gd name="T8" fmla="*/ 5 w 251"/>
                    <a:gd name="T9" fmla="*/ 16 h 110"/>
                    <a:gd name="T10" fmla="*/ 3 w 251"/>
                    <a:gd name="T11" fmla="*/ 24 h 110"/>
                    <a:gd name="T12" fmla="*/ 2 w 251"/>
                    <a:gd name="T13" fmla="*/ 34 h 110"/>
                    <a:gd name="T14" fmla="*/ 1 w 251"/>
                    <a:gd name="T15" fmla="*/ 44 h 110"/>
                    <a:gd name="T16" fmla="*/ 0 w 251"/>
                    <a:gd name="T17" fmla="*/ 55 h 110"/>
                    <a:gd name="T18" fmla="*/ 1 w 251"/>
                    <a:gd name="T19" fmla="*/ 66 h 110"/>
                    <a:gd name="T20" fmla="*/ 2 w 251"/>
                    <a:gd name="T21" fmla="*/ 76 h 110"/>
                    <a:gd name="T22" fmla="*/ 3 w 251"/>
                    <a:gd name="T23" fmla="*/ 85 h 110"/>
                    <a:gd name="T24" fmla="*/ 5 w 251"/>
                    <a:gd name="T25" fmla="*/ 94 h 110"/>
                    <a:gd name="T26" fmla="*/ 7 w 251"/>
                    <a:gd name="T27" fmla="*/ 101 h 110"/>
                    <a:gd name="T28" fmla="*/ 10 w 251"/>
                    <a:gd name="T29" fmla="*/ 106 h 110"/>
                    <a:gd name="T30" fmla="*/ 13 w 251"/>
                    <a:gd name="T31" fmla="*/ 109 h 110"/>
                    <a:gd name="T32" fmla="*/ 16 w 251"/>
                    <a:gd name="T33" fmla="*/ 110 h 110"/>
                    <a:gd name="T34" fmla="*/ 19 w 251"/>
                    <a:gd name="T35" fmla="*/ 109 h 110"/>
                    <a:gd name="T36" fmla="*/ 22 w 251"/>
                    <a:gd name="T37" fmla="*/ 106 h 110"/>
                    <a:gd name="T38" fmla="*/ 25 w 251"/>
                    <a:gd name="T39" fmla="*/ 101 h 110"/>
                    <a:gd name="T40" fmla="*/ 27 w 251"/>
                    <a:gd name="T41" fmla="*/ 94 h 110"/>
                    <a:gd name="T42" fmla="*/ 29 w 251"/>
                    <a:gd name="T43" fmla="*/ 85 h 110"/>
                    <a:gd name="T44" fmla="*/ 31 w 251"/>
                    <a:gd name="T45" fmla="*/ 76 h 110"/>
                    <a:gd name="T46" fmla="*/ 32 w 251"/>
                    <a:gd name="T47" fmla="*/ 66 h 110"/>
                    <a:gd name="T48" fmla="*/ 32 w 251"/>
                    <a:gd name="T49" fmla="*/ 55 h 110"/>
                    <a:gd name="T50" fmla="*/ 32 w 251"/>
                    <a:gd name="T51" fmla="*/ 44 h 110"/>
                    <a:gd name="T52" fmla="*/ 31 w 251"/>
                    <a:gd name="T53" fmla="*/ 34 h 110"/>
                    <a:gd name="T54" fmla="*/ 29 w 251"/>
                    <a:gd name="T55" fmla="*/ 24 h 110"/>
                    <a:gd name="T56" fmla="*/ 27 w 251"/>
                    <a:gd name="T57" fmla="*/ 16 h 110"/>
                    <a:gd name="T58" fmla="*/ 25 w 251"/>
                    <a:gd name="T59" fmla="*/ 9 h 110"/>
                    <a:gd name="T60" fmla="*/ 22 w 251"/>
                    <a:gd name="T61" fmla="*/ 5 h 110"/>
                    <a:gd name="T62" fmla="*/ 19 w 251"/>
                    <a:gd name="T63" fmla="*/ 1 h 110"/>
                    <a:gd name="T64" fmla="*/ 16 w 251"/>
                    <a:gd name="T65" fmla="*/ 0 h 11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1" h="110">
                      <a:moveTo>
                        <a:pt x="125" y="0"/>
                      </a:moveTo>
                      <a:lnTo>
                        <a:pt x="100" y="1"/>
                      </a:lnTo>
                      <a:lnTo>
                        <a:pt x="77" y="5"/>
                      </a:lnTo>
                      <a:lnTo>
                        <a:pt x="55" y="9"/>
                      </a:lnTo>
                      <a:lnTo>
                        <a:pt x="36" y="16"/>
                      </a:lnTo>
                      <a:lnTo>
                        <a:pt x="21" y="24"/>
                      </a:lnTo>
                      <a:lnTo>
                        <a:pt x="9" y="34"/>
                      </a:lnTo>
                      <a:lnTo>
                        <a:pt x="2" y="44"/>
                      </a:lnTo>
                      <a:lnTo>
                        <a:pt x="0" y="55"/>
                      </a:lnTo>
                      <a:lnTo>
                        <a:pt x="2" y="66"/>
                      </a:lnTo>
                      <a:lnTo>
                        <a:pt x="9" y="76"/>
                      </a:lnTo>
                      <a:lnTo>
                        <a:pt x="21" y="85"/>
                      </a:lnTo>
                      <a:lnTo>
                        <a:pt x="36" y="94"/>
                      </a:lnTo>
                      <a:lnTo>
                        <a:pt x="55" y="101"/>
                      </a:lnTo>
                      <a:lnTo>
                        <a:pt x="77" y="106"/>
                      </a:lnTo>
                      <a:lnTo>
                        <a:pt x="100" y="109"/>
                      </a:lnTo>
                      <a:lnTo>
                        <a:pt x="125" y="110"/>
                      </a:lnTo>
                      <a:lnTo>
                        <a:pt x="150" y="109"/>
                      </a:lnTo>
                      <a:lnTo>
                        <a:pt x="174" y="106"/>
                      </a:lnTo>
                      <a:lnTo>
                        <a:pt x="196" y="101"/>
                      </a:lnTo>
                      <a:lnTo>
                        <a:pt x="215" y="94"/>
                      </a:lnTo>
                      <a:lnTo>
                        <a:pt x="230" y="85"/>
                      </a:lnTo>
                      <a:lnTo>
                        <a:pt x="242" y="76"/>
                      </a:lnTo>
                      <a:lnTo>
                        <a:pt x="249" y="66"/>
                      </a:lnTo>
                      <a:lnTo>
                        <a:pt x="251" y="55"/>
                      </a:lnTo>
                      <a:lnTo>
                        <a:pt x="249" y="44"/>
                      </a:lnTo>
                      <a:lnTo>
                        <a:pt x="242" y="34"/>
                      </a:lnTo>
                      <a:lnTo>
                        <a:pt x="230" y="24"/>
                      </a:lnTo>
                      <a:lnTo>
                        <a:pt x="215" y="16"/>
                      </a:lnTo>
                      <a:lnTo>
                        <a:pt x="196" y="9"/>
                      </a:lnTo>
                      <a:lnTo>
                        <a:pt x="174" y="5"/>
                      </a:lnTo>
                      <a:lnTo>
                        <a:pt x="150" y="1"/>
                      </a:lnTo>
                      <a:lnTo>
                        <a:pt x="125" y="0"/>
                      </a:lnTo>
                      <a:close/>
                    </a:path>
                  </a:pathLst>
                </a:custGeom>
                <a:solidFill>
                  <a:srgbClr val="FF0000"/>
                </a:solidFill>
                <a:ln w="0">
                  <a:solidFill>
                    <a:srgbClr val="FFFFFF"/>
                  </a:solidFill>
                  <a:prstDash val="solid"/>
                  <a:round/>
                  <a:headEnd/>
                  <a:tailEnd/>
                </a:ln>
              </p:spPr>
              <p:txBody>
                <a:bodyPr/>
                <a:lstStyle/>
                <a:p>
                  <a:endParaRPr lang="en-US">
                    <a:latin typeface="Roboto" panose="02000000000000000000" pitchFamily="2" charset="0"/>
                    <a:ea typeface="Roboto" panose="02000000000000000000" pitchFamily="2" charset="0"/>
                  </a:endParaRPr>
                </a:p>
              </p:txBody>
            </p:sp>
            <p:sp>
              <p:nvSpPr>
                <p:cNvPr id="234" name="Oval 226">
                  <a:extLst>
                    <a:ext uri="{FF2B5EF4-FFF2-40B4-BE49-F238E27FC236}">
                      <a16:creationId xmlns:a16="http://schemas.microsoft.com/office/drawing/2014/main" id="{5EFAF0EF-1257-0ACF-44DB-DD2306A733E0}"/>
                    </a:ext>
                  </a:extLst>
                </p:cNvPr>
                <p:cNvSpPr>
                  <a:spLocks noChangeArrowheads="1"/>
                </p:cNvSpPr>
                <p:nvPr/>
              </p:nvSpPr>
              <p:spPr bwMode="auto">
                <a:xfrm>
                  <a:off x="4094" y="2736"/>
                  <a:ext cx="127" cy="111"/>
                </a:xfrm>
                <a:prstGeom prst="ellipse">
                  <a:avLst/>
                </a:prstGeom>
                <a:blipFill dpi="0" rotWithShape="0">
                  <a:blip/>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35" name="Rectangle 227">
                  <a:extLst>
                    <a:ext uri="{FF2B5EF4-FFF2-40B4-BE49-F238E27FC236}">
                      <a16:creationId xmlns:a16="http://schemas.microsoft.com/office/drawing/2014/main" id="{13FE7CE9-34AD-2DCD-5CC9-2EF9EF4E57EF}"/>
                    </a:ext>
                  </a:extLst>
                </p:cNvPr>
                <p:cNvSpPr>
                  <a:spLocks noChangeArrowheads="1"/>
                </p:cNvSpPr>
                <p:nvPr/>
              </p:nvSpPr>
              <p:spPr bwMode="auto">
                <a:xfrm>
                  <a:off x="4094" y="2736"/>
                  <a:ext cx="128" cy="1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sp>
            <p:nvSpPr>
              <p:cNvPr id="231" name="Oval 228">
                <a:extLst>
                  <a:ext uri="{FF2B5EF4-FFF2-40B4-BE49-F238E27FC236}">
                    <a16:creationId xmlns:a16="http://schemas.microsoft.com/office/drawing/2014/main" id="{F19D1A95-AA1F-3CDB-C24C-1A7EC56E6520}"/>
                  </a:ext>
                </a:extLst>
              </p:cNvPr>
              <p:cNvSpPr>
                <a:spLocks noChangeArrowheads="1"/>
              </p:cNvSpPr>
              <p:nvPr/>
            </p:nvSpPr>
            <p:spPr bwMode="auto">
              <a:xfrm>
                <a:off x="4094" y="2736"/>
                <a:ext cx="127" cy="111"/>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236" name="Group 229">
              <a:extLst>
                <a:ext uri="{FF2B5EF4-FFF2-40B4-BE49-F238E27FC236}">
                  <a16:creationId xmlns:a16="http://schemas.microsoft.com/office/drawing/2014/main" id="{5D5C2E6D-E7B0-7486-C867-13155F3E8AE7}"/>
                </a:ext>
              </a:extLst>
            </p:cNvPr>
            <p:cNvGrpSpPr>
              <a:grpSpLocks/>
            </p:cNvGrpSpPr>
            <p:nvPr/>
          </p:nvGrpSpPr>
          <p:grpSpPr bwMode="auto">
            <a:xfrm>
              <a:off x="6299200" y="4006850"/>
              <a:ext cx="203200" cy="177800"/>
              <a:chOff x="4094" y="2545"/>
              <a:chExt cx="128" cy="112"/>
            </a:xfrm>
          </p:grpSpPr>
          <p:grpSp>
            <p:nvGrpSpPr>
              <p:cNvPr id="237" name="Group 230">
                <a:extLst>
                  <a:ext uri="{FF2B5EF4-FFF2-40B4-BE49-F238E27FC236}">
                    <a16:creationId xmlns:a16="http://schemas.microsoft.com/office/drawing/2014/main" id="{4BBE136A-C4D8-4A57-66D7-69C61CACA9D8}"/>
                  </a:ext>
                </a:extLst>
              </p:cNvPr>
              <p:cNvGrpSpPr>
                <a:grpSpLocks/>
              </p:cNvGrpSpPr>
              <p:nvPr/>
            </p:nvGrpSpPr>
            <p:grpSpPr bwMode="auto">
              <a:xfrm>
                <a:off x="4094" y="2545"/>
                <a:ext cx="128" cy="112"/>
                <a:chOff x="4094" y="2545"/>
                <a:chExt cx="128" cy="112"/>
              </a:xfrm>
            </p:grpSpPr>
            <p:sp>
              <p:nvSpPr>
                <p:cNvPr id="239" name="Rectangle 231">
                  <a:extLst>
                    <a:ext uri="{FF2B5EF4-FFF2-40B4-BE49-F238E27FC236}">
                      <a16:creationId xmlns:a16="http://schemas.microsoft.com/office/drawing/2014/main" id="{E529E5F4-0F5A-B55B-2A9D-4984537F6BD6}"/>
                    </a:ext>
                  </a:extLst>
                </p:cNvPr>
                <p:cNvSpPr>
                  <a:spLocks noChangeArrowheads="1"/>
                </p:cNvSpPr>
                <p:nvPr/>
              </p:nvSpPr>
              <p:spPr bwMode="auto">
                <a:xfrm>
                  <a:off x="4094" y="2545"/>
                  <a:ext cx="128" cy="112"/>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40" name="Freeform 232">
                  <a:extLst>
                    <a:ext uri="{FF2B5EF4-FFF2-40B4-BE49-F238E27FC236}">
                      <a16:creationId xmlns:a16="http://schemas.microsoft.com/office/drawing/2014/main" id="{6BFD0053-8D44-AB7D-5EDF-650C1C5E8AE0}"/>
                    </a:ext>
                  </a:extLst>
                </p:cNvPr>
                <p:cNvSpPr>
                  <a:spLocks/>
                </p:cNvSpPr>
                <p:nvPr/>
              </p:nvSpPr>
              <p:spPr bwMode="auto">
                <a:xfrm>
                  <a:off x="4094" y="2545"/>
                  <a:ext cx="126" cy="110"/>
                </a:xfrm>
                <a:custGeom>
                  <a:avLst/>
                  <a:gdLst>
                    <a:gd name="T0" fmla="*/ 16 w 251"/>
                    <a:gd name="T1" fmla="*/ 0 h 110"/>
                    <a:gd name="T2" fmla="*/ 13 w 251"/>
                    <a:gd name="T3" fmla="*/ 1 h 110"/>
                    <a:gd name="T4" fmla="*/ 10 w 251"/>
                    <a:gd name="T5" fmla="*/ 4 h 110"/>
                    <a:gd name="T6" fmla="*/ 7 w 251"/>
                    <a:gd name="T7" fmla="*/ 9 h 110"/>
                    <a:gd name="T8" fmla="*/ 5 w 251"/>
                    <a:gd name="T9" fmla="*/ 16 h 110"/>
                    <a:gd name="T10" fmla="*/ 3 w 251"/>
                    <a:gd name="T11" fmla="*/ 24 h 110"/>
                    <a:gd name="T12" fmla="*/ 2 w 251"/>
                    <a:gd name="T13" fmla="*/ 34 h 110"/>
                    <a:gd name="T14" fmla="*/ 1 w 251"/>
                    <a:gd name="T15" fmla="*/ 44 h 110"/>
                    <a:gd name="T16" fmla="*/ 0 w 251"/>
                    <a:gd name="T17" fmla="*/ 54 h 110"/>
                    <a:gd name="T18" fmla="*/ 1 w 251"/>
                    <a:gd name="T19" fmla="*/ 66 h 110"/>
                    <a:gd name="T20" fmla="*/ 2 w 251"/>
                    <a:gd name="T21" fmla="*/ 76 h 110"/>
                    <a:gd name="T22" fmla="*/ 3 w 251"/>
                    <a:gd name="T23" fmla="*/ 85 h 110"/>
                    <a:gd name="T24" fmla="*/ 5 w 251"/>
                    <a:gd name="T25" fmla="*/ 94 h 110"/>
                    <a:gd name="T26" fmla="*/ 7 w 251"/>
                    <a:gd name="T27" fmla="*/ 101 h 110"/>
                    <a:gd name="T28" fmla="*/ 10 w 251"/>
                    <a:gd name="T29" fmla="*/ 106 h 110"/>
                    <a:gd name="T30" fmla="*/ 13 w 251"/>
                    <a:gd name="T31" fmla="*/ 109 h 110"/>
                    <a:gd name="T32" fmla="*/ 16 w 251"/>
                    <a:gd name="T33" fmla="*/ 110 h 110"/>
                    <a:gd name="T34" fmla="*/ 19 w 251"/>
                    <a:gd name="T35" fmla="*/ 109 h 110"/>
                    <a:gd name="T36" fmla="*/ 22 w 251"/>
                    <a:gd name="T37" fmla="*/ 106 h 110"/>
                    <a:gd name="T38" fmla="*/ 25 w 251"/>
                    <a:gd name="T39" fmla="*/ 101 h 110"/>
                    <a:gd name="T40" fmla="*/ 27 w 251"/>
                    <a:gd name="T41" fmla="*/ 94 h 110"/>
                    <a:gd name="T42" fmla="*/ 29 w 251"/>
                    <a:gd name="T43" fmla="*/ 85 h 110"/>
                    <a:gd name="T44" fmla="*/ 31 w 251"/>
                    <a:gd name="T45" fmla="*/ 76 h 110"/>
                    <a:gd name="T46" fmla="*/ 32 w 251"/>
                    <a:gd name="T47" fmla="*/ 66 h 110"/>
                    <a:gd name="T48" fmla="*/ 32 w 251"/>
                    <a:gd name="T49" fmla="*/ 54 h 110"/>
                    <a:gd name="T50" fmla="*/ 32 w 251"/>
                    <a:gd name="T51" fmla="*/ 44 h 110"/>
                    <a:gd name="T52" fmla="*/ 31 w 251"/>
                    <a:gd name="T53" fmla="*/ 34 h 110"/>
                    <a:gd name="T54" fmla="*/ 29 w 251"/>
                    <a:gd name="T55" fmla="*/ 24 h 110"/>
                    <a:gd name="T56" fmla="*/ 27 w 251"/>
                    <a:gd name="T57" fmla="*/ 16 h 110"/>
                    <a:gd name="T58" fmla="*/ 25 w 251"/>
                    <a:gd name="T59" fmla="*/ 9 h 110"/>
                    <a:gd name="T60" fmla="*/ 22 w 251"/>
                    <a:gd name="T61" fmla="*/ 4 h 110"/>
                    <a:gd name="T62" fmla="*/ 19 w 251"/>
                    <a:gd name="T63" fmla="*/ 1 h 110"/>
                    <a:gd name="T64" fmla="*/ 16 w 251"/>
                    <a:gd name="T65" fmla="*/ 0 h 11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1" h="110">
                      <a:moveTo>
                        <a:pt x="125" y="0"/>
                      </a:moveTo>
                      <a:lnTo>
                        <a:pt x="100" y="1"/>
                      </a:lnTo>
                      <a:lnTo>
                        <a:pt x="77" y="4"/>
                      </a:lnTo>
                      <a:lnTo>
                        <a:pt x="55" y="9"/>
                      </a:lnTo>
                      <a:lnTo>
                        <a:pt x="36" y="16"/>
                      </a:lnTo>
                      <a:lnTo>
                        <a:pt x="21" y="24"/>
                      </a:lnTo>
                      <a:lnTo>
                        <a:pt x="9" y="34"/>
                      </a:lnTo>
                      <a:lnTo>
                        <a:pt x="2" y="44"/>
                      </a:lnTo>
                      <a:lnTo>
                        <a:pt x="0" y="54"/>
                      </a:lnTo>
                      <a:lnTo>
                        <a:pt x="2" y="66"/>
                      </a:lnTo>
                      <a:lnTo>
                        <a:pt x="9" y="76"/>
                      </a:lnTo>
                      <a:lnTo>
                        <a:pt x="21" y="85"/>
                      </a:lnTo>
                      <a:lnTo>
                        <a:pt x="36" y="94"/>
                      </a:lnTo>
                      <a:lnTo>
                        <a:pt x="55" y="101"/>
                      </a:lnTo>
                      <a:lnTo>
                        <a:pt x="77" y="106"/>
                      </a:lnTo>
                      <a:lnTo>
                        <a:pt x="100" y="109"/>
                      </a:lnTo>
                      <a:lnTo>
                        <a:pt x="125" y="110"/>
                      </a:lnTo>
                      <a:lnTo>
                        <a:pt x="150" y="109"/>
                      </a:lnTo>
                      <a:lnTo>
                        <a:pt x="174" y="106"/>
                      </a:lnTo>
                      <a:lnTo>
                        <a:pt x="196" y="101"/>
                      </a:lnTo>
                      <a:lnTo>
                        <a:pt x="215" y="94"/>
                      </a:lnTo>
                      <a:lnTo>
                        <a:pt x="230" y="85"/>
                      </a:lnTo>
                      <a:lnTo>
                        <a:pt x="242" y="76"/>
                      </a:lnTo>
                      <a:lnTo>
                        <a:pt x="249" y="66"/>
                      </a:lnTo>
                      <a:lnTo>
                        <a:pt x="251" y="54"/>
                      </a:lnTo>
                      <a:lnTo>
                        <a:pt x="249" y="44"/>
                      </a:lnTo>
                      <a:lnTo>
                        <a:pt x="242" y="34"/>
                      </a:lnTo>
                      <a:lnTo>
                        <a:pt x="230" y="24"/>
                      </a:lnTo>
                      <a:lnTo>
                        <a:pt x="215" y="16"/>
                      </a:lnTo>
                      <a:lnTo>
                        <a:pt x="196" y="9"/>
                      </a:lnTo>
                      <a:lnTo>
                        <a:pt x="174" y="4"/>
                      </a:lnTo>
                      <a:lnTo>
                        <a:pt x="150" y="1"/>
                      </a:lnTo>
                      <a:lnTo>
                        <a:pt x="125" y="0"/>
                      </a:lnTo>
                      <a:close/>
                    </a:path>
                  </a:pathLst>
                </a:custGeom>
                <a:solidFill>
                  <a:srgbClr val="FF0000"/>
                </a:solidFill>
                <a:ln w="0">
                  <a:solidFill>
                    <a:srgbClr val="FFFFFF"/>
                  </a:solidFill>
                  <a:prstDash val="solid"/>
                  <a:round/>
                  <a:headEnd/>
                  <a:tailEnd/>
                </a:ln>
              </p:spPr>
              <p:txBody>
                <a:bodyPr/>
                <a:lstStyle/>
                <a:p>
                  <a:endParaRPr lang="en-US">
                    <a:latin typeface="Roboto" panose="02000000000000000000" pitchFamily="2" charset="0"/>
                    <a:ea typeface="Roboto" panose="02000000000000000000" pitchFamily="2" charset="0"/>
                  </a:endParaRPr>
                </a:p>
              </p:txBody>
            </p:sp>
            <p:sp>
              <p:nvSpPr>
                <p:cNvPr id="241" name="Oval 233">
                  <a:extLst>
                    <a:ext uri="{FF2B5EF4-FFF2-40B4-BE49-F238E27FC236}">
                      <a16:creationId xmlns:a16="http://schemas.microsoft.com/office/drawing/2014/main" id="{0C43A7C2-DF17-9CC2-721B-B1B6AE99235B}"/>
                    </a:ext>
                  </a:extLst>
                </p:cNvPr>
                <p:cNvSpPr>
                  <a:spLocks noChangeArrowheads="1"/>
                </p:cNvSpPr>
                <p:nvPr/>
              </p:nvSpPr>
              <p:spPr bwMode="auto">
                <a:xfrm>
                  <a:off x="4094" y="2545"/>
                  <a:ext cx="127" cy="111"/>
                </a:xfrm>
                <a:prstGeom prst="ellipse">
                  <a:avLst/>
                </a:prstGeom>
                <a:blipFill dpi="0" rotWithShape="0">
                  <a:blip/>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42" name="Rectangle 234">
                  <a:extLst>
                    <a:ext uri="{FF2B5EF4-FFF2-40B4-BE49-F238E27FC236}">
                      <a16:creationId xmlns:a16="http://schemas.microsoft.com/office/drawing/2014/main" id="{91B4A812-62D2-4032-9808-260AE79BD029}"/>
                    </a:ext>
                  </a:extLst>
                </p:cNvPr>
                <p:cNvSpPr>
                  <a:spLocks noChangeArrowheads="1"/>
                </p:cNvSpPr>
                <p:nvPr/>
              </p:nvSpPr>
              <p:spPr bwMode="auto">
                <a:xfrm>
                  <a:off x="4094" y="2545"/>
                  <a:ext cx="128" cy="112"/>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sp>
            <p:nvSpPr>
              <p:cNvPr id="238" name="Oval 235">
                <a:extLst>
                  <a:ext uri="{FF2B5EF4-FFF2-40B4-BE49-F238E27FC236}">
                    <a16:creationId xmlns:a16="http://schemas.microsoft.com/office/drawing/2014/main" id="{BF23C4B4-48F1-E221-52A9-272931E21952}"/>
                  </a:ext>
                </a:extLst>
              </p:cNvPr>
              <p:cNvSpPr>
                <a:spLocks noChangeArrowheads="1"/>
              </p:cNvSpPr>
              <p:nvPr/>
            </p:nvSpPr>
            <p:spPr bwMode="auto">
              <a:xfrm>
                <a:off x="4094" y="2545"/>
                <a:ext cx="127" cy="111"/>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243" name="Group 236">
              <a:extLst>
                <a:ext uri="{FF2B5EF4-FFF2-40B4-BE49-F238E27FC236}">
                  <a16:creationId xmlns:a16="http://schemas.microsoft.com/office/drawing/2014/main" id="{DB83DC1F-79DA-170B-A990-41ABBC1ADB1D}"/>
                </a:ext>
              </a:extLst>
            </p:cNvPr>
            <p:cNvGrpSpPr>
              <a:grpSpLocks/>
            </p:cNvGrpSpPr>
            <p:nvPr/>
          </p:nvGrpSpPr>
          <p:grpSpPr bwMode="auto">
            <a:xfrm>
              <a:off x="6299200" y="3703638"/>
              <a:ext cx="203200" cy="177800"/>
              <a:chOff x="4094" y="2354"/>
              <a:chExt cx="128" cy="112"/>
            </a:xfrm>
          </p:grpSpPr>
          <p:grpSp>
            <p:nvGrpSpPr>
              <p:cNvPr id="244" name="Group 237">
                <a:extLst>
                  <a:ext uri="{FF2B5EF4-FFF2-40B4-BE49-F238E27FC236}">
                    <a16:creationId xmlns:a16="http://schemas.microsoft.com/office/drawing/2014/main" id="{1CD53664-9C5A-7D10-0671-6FBBADBF252E}"/>
                  </a:ext>
                </a:extLst>
              </p:cNvPr>
              <p:cNvGrpSpPr>
                <a:grpSpLocks/>
              </p:cNvGrpSpPr>
              <p:nvPr/>
            </p:nvGrpSpPr>
            <p:grpSpPr bwMode="auto">
              <a:xfrm>
                <a:off x="4094" y="2354"/>
                <a:ext cx="128" cy="112"/>
                <a:chOff x="4094" y="2354"/>
                <a:chExt cx="128" cy="112"/>
              </a:xfrm>
            </p:grpSpPr>
            <p:sp>
              <p:nvSpPr>
                <p:cNvPr id="246" name="Rectangle 238">
                  <a:extLst>
                    <a:ext uri="{FF2B5EF4-FFF2-40B4-BE49-F238E27FC236}">
                      <a16:creationId xmlns:a16="http://schemas.microsoft.com/office/drawing/2014/main" id="{FC0FBE7E-00AC-39D8-6541-A43AC3230E57}"/>
                    </a:ext>
                  </a:extLst>
                </p:cNvPr>
                <p:cNvSpPr>
                  <a:spLocks noChangeArrowheads="1"/>
                </p:cNvSpPr>
                <p:nvPr/>
              </p:nvSpPr>
              <p:spPr bwMode="auto">
                <a:xfrm>
                  <a:off x="4094" y="2354"/>
                  <a:ext cx="128" cy="112"/>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47" name="Freeform 239">
                  <a:extLst>
                    <a:ext uri="{FF2B5EF4-FFF2-40B4-BE49-F238E27FC236}">
                      <a16:creationId xmlns:a16="http://schemas.microsoft.com/office/drawing/2014/main" id="{33F7E436-C97A-E369-494A-D3901A130C7D}"/>
                    </a:ext>
                  </a:extLst>
                </p:cNvPr>
                <p:cNvSpPr>
                  <a:spLocks/>
                </p:cNvSpPr>
                <p:nvPr/>
              </p:nvSpPr>
              <p:spPr bwMode="auto">
                <a:xfrm>
                  <a:off x="4094" y="2354"/>
                  <a:ext cx="126" cy="110"/>
                </a:xfrm>
                <a:custGeom>
                  <a:avLst/>
                  <a:gdLst>
                    <a:gd name="T0" fmla="*/ 16 w 251"/>
                    <a:gd name="T1" fmla="*/ 0 h 110"/>
                    <a:gd name="T2" fmla="*/ 13 w 251"/>
                    <a:gd name="T3" fmla="*/ 1 h 110"/>
                    <a:gd name="T4" fmla="*/ 10 w 251"/>
                    <a:gd name="T5" fmla="*/ 4 h 110"/>
                    <a:gd name="T6" fmla="*/ 7 w 251"/>
                    <a:gd name="T7" fmla="*/ 9 h 110"/>
                    <a:gd name="T8" fmla="*/ 5 w 251"/>
                    <a:gd name="T9" fmla="*/ 16 h 110"/>
                    <a:gd name="T10" fmla="*/ 3 w 251"/>
                    <a:gd name="T11" fmla="*/ 24 h 110"/>
                    <a:gd name="T12" fmla="*/ 2 w 251"/>
                    <a:gd name="T13" fmla="*/ 34 h 110"/>
                    <a:gd name="T14" fmla="*/ 1 w 251"/>
                    <a:gd name="T15" fmla="*/ 44 h 110"/>
                    <a:gd name="T16" fmla="*/ 0 w 251"/>
                    <a:gd name="T17" fmla="*/ 54 h 110"/>
                    <a:gd name="T18" fmla="*/ 1 w 251"/>
                    <a:gd name="T19" fmla="*/ 66 h 110"/>
                    <a:gd name="T20" fmla="*/ 2 w 251"/>
                    <a:gd name="T21" fmla="*/ 76 h 110"/>
                    <a:gd name="T22" fmla="*/ 3 w 251"/>
                    <a:gd name="T23" fmla="*/ 85 h 110"/>
                    <a:gd name="T24" fmla="*/ 5 w 251"/>
                    <a:gd name="T25" fmla="*/ 94 h 110"/>
                    <a:gd name="T26" fmla="*/ 7 w 251"/>
                    <a:gd name="T27" fmla="*/ 101 h 110"/>
                    <a:gd name="T28" fmla="*/ 10 w 251"/>
                    <a:gd name="T29" fmla="*/ 105 h 110"/>
                    <a:gd name="T30" fmla="*/ 13 w 251"/>
                    <a:gd name="T31" fmla="*/ 109 h 110"/>
                    <a:gd name="T32" fmla="*/ 16 w 251"/>
                    <a:gd name="T33" fmla="*/ 110 h 110"/>
                    <a:gd name="T34" fmla="*/ 19 w 251"/>
                    <a:gd name="T35" fmla="*/ 109 h 110"/>
                    <a:gd name="T36" fmla="*/ 22 w 251"/>
                    <a:gd name="T37" fmla="*/ 105 h 110"/>
                    <a:gd name="T38" fmla="*/ 25 w 251"/>
                    <a:gd name="T39" fmla="*/ 101 h 110"/>
                    <a:gd name="T40" fmla="*/ 27 w 251"/>
                    <a:gd name="T41" fmla="*/ 94 h 110"/>
                    <a:gd name="T42" fmla="*/ 29 w 251"/>
                    <a:gd name="T43" fmla="*/ 85 h 110"/>
                    <a:gd name="T44" fmla="*/ 31 w 251"/>
                    <a:gd name="T45" fmla="*/ 76 h 110"/>
                    <a:gd name="T46" fmla="*/ 32 w 251"/>
                    <a:gd name="T47" fmla="*/ 66 h 110"/>
                    <a:gd name="T48" fmla="*/ 32 w 251"/>
                    <a:gd name="T49" fmla="*/ 54 h 110"/>
                    <a:gd name="T50" fmla="*/ 32 w 251"/>
                    <a:gd name="T51" fmla="*/ 44 h 110"/>
                    <a:gd name="T52" fmla="*/ 31 w 251"/>
                    <a:gd name="T53" fmla="*/ 34 h 110"/>
                    <a:gd name="T54" fmla="*/ 29 w 251"/>
                    <a:gd name="T55" fmla="*/ 24 h 110"/>
                    <a:gd name="T56" fmla="*/ 27 w 251"/>
                    <a:gd name="T57" fmla="*/ 16 h 110"/>
                    <a:gd name="T58" fmla="*/ 25 w 251"/>
                    <a:gd name="T59" fmla="*/ 9 h 110"/>
                    <a:gd name="T60" fmla="*/ 22 w 251"/>
                    <a:gd name="T61" fmla="*/ 4 h 110"/>
                    <a:gd name="T62" fmla="*/ 19 w 251"/>
                    <a:gd name="T63" fmla="*/ 1 h 110"/>
                    <a:gd name="T64" fmla="*/ 16 w 251"/>
                    <a:gd name="T65" fmla="*/ 0 h 11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1" h="110">
                      <a:moveTo>
                        <a:pt x="125" y="0"/>
                      </a:moveTo>
                      <a:lnTo>
                        <a:pt x="100" y="1"/>
                      </a:lnTo>
                      <a:lnTo>
                        <a:pt x="77" y="4"/>
                      </a:lnTo>
                      <a:lnTo>
                        <a:pt x="55" y="9"/>
                      </a:lnTo>
                      <a:lnTo>
                        <a:pt x="36" y="16"/>
                      </a:lnTo>
                      <a:lnTo>
                        <a:pt x="21" y="24"/>
                      </a:lnTo>
                      <a:lnTo>
                        <a:pt x="9" y="34"/>
                      </a:lnTo>
                      <a:lnTo>
                        <a:pt x="2" y="44"/>
                      </a:lnTo>
                      <a:lnTo>
                        <a:pt x="0" y="54"/>
                      </a:lnTo>
                      <a:lnTo>
                        <a:pt x="2" y="66"/>
                      </a:lnTo>
                      <a:lnTo>
                        <a:pt x="9" y="76"/>
                      </a:lnTo>
                      <a:lnTo>
                        <a:pt x="21" y="85"/>
                      </a:lnTo>
                      <a:lnTo>
                        <a:pt x="36" y="94"/>
                      </a:lnTo>
                      <a:lnTo>
                        <a:pt x="55" y="101"/>
                      </a:lnTo>
                      <a:lnTo>
                        <a:pt x="77" y="105"/>
                      </a:lnTo>
                      <a:lnTo>
                        <a:pt x="100" y="109"/>
                      </a:lnTo>
                      <a:lnTo>
                        <a:pt x="125" y="110"/>
                      </a:lnTo>
                      <a:lnTo>
                        <a:pt x="150" y="109"/>
                      </a:lnTo>
                      <a:lnTo>
                        <a:pt x="174" y="105"/>
                      </a:lnTo>
                      <a:lnTo>
                        <a:pt x="196" y="101"/>
                      </a:lnTo>
                      <a:lnTo>
                        <a:pt x="215" y="94"/>
                      </a:lnTo>
                      <a:lnTo>
                        <a:pt x="230" y="85"/>
                      </a:lnTo>
                      <a:lnTo>
                        <a:pt x="242" y="76"/>
                      </a:lnTo>
                      <a:lnTo>
                        <a:pt x="249" y="66"/>
                      </a:lnTo>
                      <a:lnTo>
                        <a:pt x="251" y="54"/>
                      </a:lnTo>
                      <a:lnTo>
                        <a:pt x="249" y="44"/>
                      </a:lnTo>
                      <a:lnTo>
                        <a:pt x="242" y="34"/>
                      </a:lnTo>
                      <a:lnTo>
                        <a:pt x="230" y="24"/>
                      </a:lnTo>
                      <a:lnTo>
                        <a:pt x="215" y="16"/>
                      </a:lnTo>
                      <a:lnTo>
                        <a:pt x="196" y="9"/>
                      </a:lnTo>
                      <a:lnTo>
                        <a:pt x="174" y="4"/>
                      </a:lnTo>
                      <a:lnTo>
                        <a:pt x="150" y="1"/>
                      </a:lnTo>
                      <a:lnTo>
                        <a:pt x="125" y="0"/>
                      </a:lnTo>
                      <a:close/>
                    </a:path>
                  </a:pathLst>
                </a:custGeom>
                <a:solidFill>
                  <a:srgbClr val="FF0000"/>
                </a:solidFill>
                <a:ln w="0">
                  <a:solidFill>
                    <a:srgbClr val="FFFFFF"/>
                  </a:solidFill>
                  <a:prstDash val="solid"/>
                  <a:round/>
                  <a:headEnd/>
                  <a:tailEnd/>
                </a:ln>
              </p:spPr>
              <p:txBody>
                <a:bodyPr/>
                <a:lstStyle/>
                <a:p>
                  <a:endParaRPr lang="en-US">
                    <a:latin typeface="Roboto" panose="02000000000000000000" pitchFamily="2" charset="0"/>
                    <a:ea typeface="Roboto" panose="02000000000000000000" pitchFamily="2" charset="0"/>
                  </a:endParaRPr>
                </a:p>
              </p:txBody>
            </p:sp>
            <p:sp>
              <p:nvSpPr>
                <p:cNvPr id="248" name="Oval 240">
                  <a:extLst>
                    <a:ext uri="{FF2B5EF4-FFF2-40B4-BE49-F238E27FC236}">
                      <a16:creationId xmlns:a16="http://schemas.microsoft.com/office/drawing/2014/main" id="{EC5FB09B-9AF5-6A1C-0E3F-D19F4145B3A3}"/>
                    </a:ext>
                  </a:extLst>
                </p:cNvPr>
                <p:cNvSpPr>
                  <a:spLocks noChangeArrowheads="1"/>
                </p:cNvSpPr>
                <p:nvPr/>
              </p:nvSpPr>
              <p:spPr bwMode="auto">
                <a:xfrm>
                  <a:off x="4094" y="2354"/>
                  <a:ext cx="127" cy="111"/>
                </a:xfrm>
                <a:prstGeom prst="ellipse">
                  <a:avLst/>
                </a:prstGeom>
                <a:blipFill dpi="0" rotWithShape="0">
                  <a:blip/>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49" name="Rectangle 241">
                  <a:extLst>
                    <a:ext uri="{FF2B5EF4-FFF2-40B4-BE49-F238E27FC236}">
                      <a16:creationId xmlns:a16="http://schemas.microsoft.com/office/drawing/2014/main" id="{6B9F8685-47FE-D433-4328-782147968A73}"/>
                    </a:ext>
                  </a:extLst>
                </p:cNvPr>
                <p:cNvSpPr>
                  <a:spLocks noChangeArrowheads="1"/>
                </p:cNvSpPr>
                <p:nvPr/>
              </p:nvSpPr>
              <p:spPr bwMode="auto">
                <a:xfrm>
                  <a:off x="4094" y="2354"/>
                  <a:ext cx="128" cy="112"/>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sp>
            <p:nvSpPr>
              <p:cNvPr id="245" name="Oval 242">
                <a:extLst>
                  <a:ext uri="{FF2B5EF4-FFF2-40B4-BE49-F238E27FC236}">
                    <a16:creationId xmlns:a16="http://schemas.microsoft.com/office/drawing/2014/main" id="{D773F38E-F18F-92EE-EDE0-CF8A4B26D61A}"/>
                  </a:ext>
                </a:extLst>
              </p:cNvPr>
              <p:cNvSpPr>
                <a:spLocks noChangeArrowheads="1"/>
              </p:cNvSpPr>
              <p:nvPr/>
            </p:nvSpPr>
            <p:spPr bwMode="auto">
              <a:xfrm>
                <a:off x="4094" y="2354"/>
                <a:ext cx="127" cy="111"/>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250" name="Group 243">
              <a:extLst>
                <a:ext uri="{FF2B5EF4-FFF2-40B4-BE49-F238E27FC236}">
                  <a16:creationId xmlns:a16="http://schemas.microsoft.com/office/drawing/2014/main" id="{55D7D209-6018-7DC5-7980-CE84732D3A11}"/>
                </a:ext>
              </a:extLst>
            </p:cNvPr>
            <p:cNvGrpSpPr>
              <a:grpSpLocks/>
            </p:cNvGrpSpPr>
            <p:nvPr/>
          </p:nvGrpSpPr>
          <p:grpSpPr bwMode="auto">
            <a:xfrm>
              <a:off x="6299200" y="3400425"/>
              <a:ext cx="203200" cy="177800"/>
              <a:chOff x="4094" y="2163"/>
              <a:chExt cx="128" cy="112"/>
            </a:xfrm>
          </p:grpSpPr>
          <p:grpSp>
            <p:nvGrpSpPr>
              <p:cNvPr id="251" name="Group 244">
                <a:extLst>
                  <a:ext uri="{FF2B5EF4-FFF2-40B4-BE49-F238E27FC236}">
                    <a16:creationId xmlns:a16="http://schemas.microsoft.com/office/drawing/2014/main" id="{8E504BD7-8A0B-051F-8055-86579A62B0B5}"/>
                  </a:ext>
                </a:extLst>
              </p:cNvPr>
              <p:cNvGrpSpPr>
                <a:grpSpLocks/>
              </p:cNvGrpSpPr>
              <p:nvPr/>
            </p:nvGrpSpPr>
            <p:grpSpPr bwMode="auto">
              <a:xfrm>
                <a:off x="4094" y="2163"/>
                <a:ext cx="128" cy="112"/>
                <a:chOff x="4094" y="2163"/>
                <a:chExt cx="128" cy="112"/>
              </a:xfrm>
            </p:grpSpPr>
            <p:sp>
              <p:nvSpPr>
                <p:cNvPr id="253" name="Rectangle 245">
                  <a:extLst>
                    <a:ext uri="{FF2B5EF4-FFF2-40B4-BE49-F238E27FC236}">
                      <a16:creationId xmlns:a16="http://schemas.microsoft.com/office/drawing/2014/main" id="{248D1B21-3A4D-2629-8A6E-2B9D6FD421FF}"/>
                    </a:ext>
                  </a:extLst>
                </p:cNvPr>
                <p:cNvSpPr>
                  <a:spLocks noChangeArrowheads="1"/>
                </p:cNvSpPr>
                <p:nvPr/>
              </p:nvSpPr>
              <p:spPr bwMode="auto">
                <a:xfrm>
                  <a:off x="4094" y="2163"/>
                  <a:ext cx="128" cy="112"/>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54" name="Freeform 246">
                  <a:extLst>
                    <a:ext uri="{FF2B5EF4-FFF2-40B4-BE49-F238E27FC236}">
                      <a16:creationId xmlns:a16="http://schemas.microsoft.com/office/drawing/2014/main" id="{981601F6-F61F-66CB-A233-30D91705CEBD}"/>
                    </a:ext>
                  </a:extLst>
                </p:cNvPr>
                <p:cNvSpPr>
                  <a:spLocks/>
                </p:cNvSpPr>
                <p:nvPr/>
              </p:nvSpPr>
              <p:spPr bwMode="auto">
                <a:xfrm>
                  <a:off x="4094" y="2163"/>
                  <a:ext cx="126" cy="110"/>
                </a:xfrm>
                <a:custGeom>
                  <a:avLst/>
                  <a:gdLst>
                    <a:gd name="T0" fmla="*/ 16 w 251"/>
                    <a:gd name="T1" fmla="*/ 0 h 110"/>
                    <a:gd name="T2" fmla="*/ 13 w 251"/>
                    <a:gd name="T3" fmla="*/ 1 h 110"/>
                    <a:gd name="T4" fmla="*/ 10 w 251"/>
                    <a:gd name="T5" fmla="*/ 4 h 110"/>
                    <a:gd name="T6" fmla="*/ 7 w 251"/>
                    <a:gd name="T7" fmla="*/ 9 h 110"/>
                    <a:gd name="T8" fmla="*/ 5 w 251"/>
                    <a:gd name="T9" fmla="*/ 15 h 110"/>
                    <a:gd name="T10" fmla="*/ 3 w 251"/>
                    <a:gd name="T11" fmla="*/ 23 h 110"/>
                    <a:gd name="T12" fmla="*/ 2 w 251"/>
                    <a:gd name="T13" fmla="*/ 34 h 110"/>
                    <a:gd name="T14" fmla="*/ 1 w 251"/>
                    <a:gd name="T15" fmla="*/ 44 h 110"/>
                    <a:gd name="T16" fmla="*/ 0 w 251"/>
                    <a:gd name="T17" fmla="*/ 54 h 110"/>
                    <a:gd name="T18" fmla="*/ 1 w 251"/>
                    <a:gd name="T19" fmla="*/ 66 h 110"/>
                    <a:gd name="T20" fmla="*/ 2 w 251"/>
                    <a:gd name="T21" fmla="*/ 76 h 110"/>
                    <a:gd name="T22" fmla="*/ 3 w 251"/>
                    <a:gd name="T23" fmla="*/ 85 h 110"/>
                    <a:gd name="T24" fmla="*/ 5 w 251"/>
                    <a:gd name="T25" fmla="*/ 94 h 110"/>
                    <a:gd name="T26" fmla="*/ 7 w 251"/>
                    <a:gd name="T27" fmla="*/ 101 h 110"/>
                    <a:gd name="T28" fmla="*/ 10 w 251"/>
                    <a:gd name="T29" fmla="*/ 105 h 110"/>
                    <a:gd name="T30" fmla="*/ 13 w 251"/>
                    <a:gd name="T31" fmla="*/ 109 h 110"/>
                    <a:gd name="T32" fmla="*/ 16 w 251"/>
                    <a:gd name="T33" fmla="*/ 110 h 110"/>
                    <a:gd name="T34" fmla="*/ 19 w 251"/>
                    <a:gd name="T35" fmla="*/ 109 h 110"/>
                    <a:gd name="T36" fmla="*/ 22 w 251"/>
                    <a:gd name="T37" fmla="*/ 105 h 110"/>
                    <a:gd name="T38" fmla="*/ 25 w 251"/>
                    <a:gd name="T39" fmla="*/ 101 h 110"/>
                    <a:gd name="T40" fmla="*/ 27 w 251"/>
                    <a:gd name="T41" fmla="*/ 94 h 110"/>
                    <a:gd name="T42" fmla="*/ 29 w 251"/>
                    <a:gd name="T43" fmla="*/ 85 h 110"/>
                    <a:gd name="T44" fmla="*/ 31 w 251"/>
                    <a:gd name="T45" fmla="*/ 76 h 110"/>
                    <a:gd name="T46" fmla="*/ 32 w 251"/>
                    <a:gd name="T47" fmla="*/ 66 h 110"/>
                    <a:gd name="T48" fmla="*/ 32 w 251"/>
                    <a:gd name="T49" fmla="*/ 54 h 110"/>
                    <a:gd name="T50" fmla="*/ 32 w 251"/>
                    <a:gd name="T51" fmla="*/ 44 h 110"/>
                    <a:gd name="T52" fmla="*/ 31 w 251"/>
                    <a:gd name="T53" fmla="*/ 34 h 110"/>
                    <a:gd name="T54" fmla="*/ 29 w 251"/>
                    <a:gd name="T55" fmla="*/ 23 h 110"/>
                    <a:gd name="T56" fmla="*/ 27 w 251"/>
                    <a:gd name="T57" fmla="*/ 15 h 110"/>
                    <a:gd name="T58" fmla="*/ 25 w 251"/>
                    <a:gd name="T59" fmla="*/ 9 h 110"/>
                    <a:gd name="T60" fmla="*/ 22 w 251"/>
                    <a:gd name="T61" fmla="*/ 4 h 110"/>
                    <a:gd name="T62" fmla="*/ 19 w 251"/>
                    <a:gd name="T63" fmla="*/ 1 h 110"/>
                    <a:gd name="T64" fmla="*/ 16 w 251"/>
                    <a:gd name="T65" fmla="*/ 0 h 11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1" h="110">
                      <a:moveTo>
                        <a:pt x="125" y="0"/>
                      </a:moveTo>
                      <a:lnTo>
                        <a:pt x="100" y="1"/>
                      </a:lnTo>
                      <a:lnTo>
                        <a:pt x="77" y="4"/>
                      </a:lnTo>
                      <a:lnTo>
                        <a:pt x="55" y="9"/>
                      </a:lnTo>
                      <a:lnTo>
                        <a:pt x="36" y="15"/>
                      </a:lnTo>
                      <a:lnTo>
                        <a:pt x="21" y="23"/>
                      </a:lnTo>
                      <a:lnTo>
                        <a:pt x="9" y="34"/>
                      </a:lnTo>
                      <a:lnTo>
                        <a:pt x="2" y="44"/>
                      </a:lnTo>
                      <a:lnTo>
                        <a:pt x="0" y="54"/>
                      </a:lnTo>
                      <a:lnTo>
                        <a:pt x="2" y="66"/>
                      </a:lnTo>
                      <a:lnTo>
                        <a:pt x="9" y="76"/>
                      </a:lnTo>
                      <a:lnTo>
                        <a:pt x="21" y="85"/>
                      </a:lnTo>
                      <a:lnTo>
                        <a:pt x="36" y="94"/>
                      </a:lnTo>
                      <a:lnTo>
                        <a:pt x="55" y="101"/>
                      </a:lnTo>
                      <a:lnTo>
                        <a:pt x="77" y="105"/>
                      </a:lnTo>
                      <a:lnTo>
                        <a:pt x="100" y="109"/>
                      </a:lnTo>
                      <a:lnTo>
                        <a:pt x="125" y="110"/>
                      </a:lnTo>
                      <a:lnTo>
                        <a:pt x="150" y="109"/>
                      </a:lnTo>
                      <a:lnTo>
                        <a:pt x="174" y="105"/>
                      </a:lnTo>
                      <a:lnTo>
                        <a:pt x="196" y="101"/>
                      </a:lnTo>
                      <a:lnTo>
                        <a:pt x="215" y="94"/>
                      </a:lnTo>
                      <a:lnTo>
                        <a:pt x="230" y="85"/>
                      </a:lnTo>
                      <a:lnTo>
                        <a:pt x="242" y="76"/>
                      </a:lnTo>
                      <a:lnTo>
                        <a:pt x="249" y="66"/>
                      </a:lnTo>
                      <a:lnTo>
                        <a:pt x="251" y="54"/>
                      </a:lnTo>
                      <a:lnTo>
                        <a:pt x="249" y="44"/>
                      </a:lnTo>
                      <a:lnTo>
                        <a:pt x="242" y="34"/>
                      </a:lnTo>
                      <a:lnTo>
                        <a:pt x="230" y="23"/>
                      </a:lnTo>
                      <a:lnTo>
                        <a:pt x="215" y="15"/>
                      </a:lnTo>
                      <a:lnTo>
                        <a:pt x="196" y="9"/>
                      </a:lnTo>
                      <a:lnTo>
                        <a:pt x="174" y="4"/>
                      </a:lnTo>
                      <a:lnTo>
                        <a:pt x="150" y="1"/>
                      </a:lnTo>
                      <a:lnTo>
                        <a:pt x="125" y="0"/>
                      </a:lnTo>
                      <a:close/>
                    </a:path>
                  </a:pathLst>
                </a:custGeom>
                <a:solidFill>
                  <a:srgbClr val="FF0000"/>
                </a:solidFill>
                <a:ln w="0">
                  <a:solidFill>
                    <a:srgbClr val="FFFFFF"/>
                  </a:solidFill>
                  <a:prstDash val="solid"/>
                  <a:round/>
                  <a:headEnd/>
                  <a:tailEnd/>
                </a:ln>
              </p:spPr>
              <p:txBody>
                <a:bodyPr/>
                <a:lstStyle/>
                <a:p>
                  <a:endParaRPr lang="en-US">
                    <a:latin typeface="Roboto" panose="02000000000000000000" pitchFamily="2" charset="0"/>
                    <a:ea typeface="Roboto" panose="02000000000000000000" pitchFamily="2" charset="0"/>
                  </a:endParaRPr>
                </a:p>
              </p:txBody>
            </p:sp>
            <p:sp>
              <p:nvSpPr>
                <p:cNvPr id="255" name="Oval 247">
                  <a:extLst>
                    <a:ext uri="{FF2B5EF4-FFF2-40B4-BE49-F238E27FC236}">
                      <a16:creationId xmlns:a16="http://schemas.microsoft.com/office/drawing/2014/main" id="{B9E608AE-EC89-7E20-E5C0-D961786D769D}"/>
                    </a:ext>
                  </a:extLst>
                </p:cNvPr>
                <p:cNvSpPr>
                  <a:spLocks noChangeArrowheads="1"/>
                </p:cNvSpPr>
                <p:nvPr/>
              </p:nvSpPr>
              <p:spPr bwMode="auto">
                <a:xfrm>
                  <a:off x="4094" y="2163"/>
                  <a:ext cx="127" cy="111"/>
                </a:xfrm>
                <a:prstGeom prst="ellipse">
                  <a:avLst/>
                </a:prstGeom>
                <a:blipFill dpi="0" rotWithShape="0">
                  <a:blip/>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56" name="Rectangle 248">
                  <a:extLst>
                    <a:ext uri="{FF2B5EF4-FFF2-40B4-BE49-F238E27FC236}">
                      <a16:creationId xmlns:a16="http://schemas.microsoft.com/office/drawing/2014/main" id="{BE335933-0312-1A16-6420-78989ED37838}"/>
                    </a:ext>
                  </a:extLst>
                </p:cNvPr>
                <p:cNvSpPr>
                  <a:spLocks noChangeArrowheads="1"/>
                </p:cNvSpPr>
                <p:nvPr/>
              </p:nvSpPr>
              <p:spPr bwMode="auto">
                <a:xfrm>
                  <a:off x="4094" y="2163"/>
                  <a:ext cx="128" cy="112"/>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sp>
            <p:nvSpPr>
              <p:cNvPr id="252" name="Oval 249">
                <a:extLst>
                  <a:ext uri="{FF2B5EF4-FFF2-40B4-BE49-F238E27FC236}">
                    <a16:creationId xmlns:a16="http://schemas.microsoft.com/office/drawing/2014/main" id="{6DECDD19-A29E-493D-0A9D-AC3AABD608A0}"/>
                  </a:ext>
                </a:extLst>
              </p:cNvPr>
              <p:cNvSpPr>
                <a:spLocks noChangeArrowheads="1"/>
              </p:cNvSpPr>
              <p:nvPr/>
            </p:nvSpPr>
            <p:spPr bwMode="auto">
              <a:xfrm>
                <a:off x="4094" y="2163"/>
                <a:ext cx="127" cy="111"/>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257" name="Group 250">
              <a:extLst>
                <a:ext uri="{FF2B5EF4-FFF2-40B4-BE49-F238E27FC236}">
                  <a16:creationId xmlns:a16="http://schemas.microsoft.com/office/drawing/2014/main" id="{3BCAF1FB-3252-EBD0-729C-F59F999C4138}"/>
                </a:ext>
              </a:extLst>
            </p:cNvPr>
            <p:cNvGrpSpPr>
              <a:grpSpLocks/>
            </p:cNvGrpSpPr>
            <p:nvPr/>
          </p:nvGrpSpPr>
          <p:grpSpPr bwMode="auto">
            <a:xfrm>
              <a:off x="6299200" y="3095625"/>
              <a:ext cx="203200" cy="179388"/>
              <a:chOff x="4094" y="1971"/>
              <a:chExt cx="128" cy="113"/>
            </a:xfrm>
          </p:grpSpPr>
          <p:grpSp>
            <p:nvGrpSpPr>
              <p:cNvPr id="258" name="Group 251">
                <a:extLst>
                  <a:ext uri="{FF2B5EF4-FFF2-40B4-BE49-F238E27FC236}">
                    <a16:creationId xmlns:a16="http://schemas.microsoft.com/office/drawing/2014/main" id="{48DC0E44-6895-53DF-C2B8-68DE490C5B0B}"/>
                  </a:ext>
                </a:extLst>
              </p:cNvPr>
              <p:cNvGrpSpPr>
                <a:grpSpLocks/>
              </p:cNvGrpSpPr>
              <p:nvPr/>
            </p:nvGrpSpPr>
            <p:grpSpPr bwMode="auto">
              <a:xfrm>
                <a:off x="4094" y="1971"/>
                <a:ext cx="128" cy="113"/>
                <a:chOff x="4094" y="1971"/>
                <a:chExt cx="128" cy="113"/>
              </a:xfrm>
            </p:grpSpPr>
            <p:sp>
              <p:nvSpPr>
                <p:cNvPr id="260" name="Rectangle 252">
                  <a:extLst>
                    <a:ext uri="{FF2B5EF4-FFF2-40B4-BE49-F238E27FC236}">
                      <a16:creationId xmlns:a16="http://schemas.microsoft.com/office/drawing/2014/main" id="{8FDEC06F-4800-0192-7843-D771D89FCC87}"/>
                    </a:ext>
                  </a:extLst>
                </p:cNvPr>
                <p:cNvSpPr>
                  <a:spLocks noChangeArrowheads="1"/>
                </p:cNvSpPr>
                <p:nvPr/>
              </p:nvSpPr>
              <p:spPr bwMode="auto">
                <a:xfrm>
                  <a:off x="4094" y="1971"/>
                  <a:ext cx="128" cy="1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61" name="Freeform 253">
                  <a:extLst>
                    <a:ext uri="{FF2B5EF4-FFF2-40B4-BE49-F238E27FC236}">
                      <a16:creationId xmlns:a16="http://schemas.microsoft.com/office/drawing/2014/main" id="{916E1FE0-941A-C2C9-07F5-C98725D0AC94}"/>
                    </a:ext>
                  </a:extLst>
                </p:cNvPr>
                <p:cNvSpPr>
                  <a:spLocks/>
                </p:cNvSpPr>
                <p:nvPr/>
              </p:nvSpPr>
              <p:spPr bwMode="auto">
                <a:xfrm>
                  <a:off x="4094" y="1971"/>
                  <a:ext cx="126" cy="111"/>
                </a:xfrm>
                <a:custGeom>
                  <a:avLst/>
                  <a:gdLst>
                    <a:gd name="T0" fmla="*/ 16 w 251"/>
                    <a:gd name="T1" fmla="*/ 0 h 111"/>
                    <a:gd name="T2" fmla="*/ 13 w 251"/>
                    <a:gd name="T3" fmla="*/ 2 h 111"/>
                    <a:gd name="T4" fmla="*/ 10 w 251"/>
                    <a:gd name="T5" fmla="*/ 5 h 111"/>
                    <a:gd name="T6" fmla="*/ 7 w 251"/>
                    <a:gd name="T7" fmla="*/ 10 h 111"/>
                    <a:gd name="T8" fmla="*/ 5 w 251"/>
                    <a:gd name="T9" fmla="*/ 16 h 111"/>
                    <a:gd name="T10" fmla="*/ 3 w 251"/>
                    <a:gd name="T11" fmla="*/ 24 h 111"/>
                    <a:gd name="T12" fmla="*/ 2 w 251"/>
                    <a:gd name="T13" fmla="*/ 35 h 111"/>
                    <a:gd name="T14" fmla="*/ 1 w 251"/>
                    <a:gd name="T15" fmla="*/ 45 h 111"/>
                    <a:gd name="T16" fmla="*/ 0 w 251"/>
                    <a:gd name="T17" fmla="*/ 55 h 111"/>
                    <a:gd name="T18" fmla="*/ 1 w 251"/>
                    <a:gd name="T19" fmla="*/ 66 h 111"/>
                    <a:gd name="T20" fmla="*/ 2 w 251"/>
                    <a:gd name="T21" fmla="*/ 77 h 111"/>
                    <a:gd name="T22" fmla="*/ 3 w 251"/>
                    <a:gd name="T23" fmla="*/ 86 h 111"/>
                    <a:gd name="T24" fmla="*/ 5 w 251"/>
                    <a:gd name="T25" fmla="*/ 95 h 111"/>
                    <a:gd name="T26" fmla="*/ 7 w 251"/>
                    <a:gd name="T27" fmla="*/ 102 h 111"/>
                    <a:gd name="T28" fmla="*/ 10 w 251"/>
                    <a:gd name="T29" fmla="*/ 106 h 111"/>
                    <a:gd name="T30" fmla="*/ 13 w 251"/>
                    <a:gd name="T31" fmla="*/ 110 h 111"/>
                    <a:gd name="T32" fmla="*/ 16 w 251"/>
                    <a:gd name="T33" fmla="*/ 111 h 111"/>
                    <a:gd name="T34" fmla="*/ 19 w 251"/>
                    <a:gd name="T35" fmla="*/ 110 h 111"/>
                    <a:gd name="T36" fmla="*/ 22 w 251"/>
                    <a:gd name="T37" fmla="*/ 106 h 111"/>
                    <a:gd name="T38" fmla="*/ 25 w 251"/>
                    <a:gd name="T39" fmla="*/ 102 h 111"/>
                    <a:gd name="T40" fmla="*/ 27 w 251"/>
                    <a:gd name="T41" fmla="*/ 95 h 111"/>
                    <a:gd name="T42" fmla="*/ 29 w 251"/>
                    <a:gd name="T43" fmla="*/ 86 h 111"/>
                    <a:gd name="T44" fmla="*/ 31 w 251"/>
                    <a:gd name="T45" fmla="*/ 77 h 111"/>
                    <a:gd name="T46" fmla="*/ 32 w 251"/>
                    <a:gd name="T47" fmla="*/ 66 h 111"/>
                    <a:gd name="T48" fmla="*/ 32 w 251"/>
                    <a:gd name="T49" fmla="*/ 55 h 111"/>
                    <a:gd name="T50" fmla="*/ 32 w 251"/>
                    <a:gd name="T51" fmla="*/ 45 h 111"/>
                    <a:gd name="T52" fmla="*/ 31 w 251"/>
                    <a:gd name="T53" fmla="*/ 35 h 111"/>
                    <a:gd name="T54" fmla="*/ 29 w 251"/>
                    <a:gd name="T55" fmla="*/ 24 h 111"/>
                    <a:gd name="T56" fmla="*/ 27 w 251"/>
                    <a:gd name="T57" fmla="*/ 16 h 111"/>
                    <a:gd name="T58" fmla="*/ 25 w 251"/>
                    <a:gd name="T59" fmla="*/ 10 h 111"/>
                    <a:gd name="T60" fmla="*/ 22 w 251"/>
                    <a:gd name="T61" fmla="*/ 5 h 111"/>
                    <a:gd name="T62" fmla="*/ 19 w 251"/>
                    <a:gd name="T63" fmla="*/ 2 h 111"/>
                    <a:gd name="T64" fmla="*/ 16 w 251"/>
                    <a:gd name="T65" fmla="*/ 0 h 11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1" h="111">
                      <a:moveTo>
                        <a:pt x="125" y="0"/>
                      </a:moveTo>
                      <a:lnTo>
                        <a:pt x="100" y="2"/>
                      </a:lnTo>
                      <a:lnTo>
                        <a:pt x="77" y="5"/>
                      </a:lnTo>
                      <a:lnTo>
                        <a:pt x="55" y="10"/>
                      </a:lnTo>
                      <a:lnTo>
                        <a:pt x="36" y="16"/>
                      </a:lnTo>
                      <a:lnTo>
                        <a:pt x="21" y="24"/>
                      </a:lnTo>
                      <a:lnTo>
                        <a:pt x="9" y="35"/>
                      </a:lnTo>
                      <a:lnTo>
                        <a:pt x="2" y="45"/>
                      </a:lnTo>
                      <a:lnTo>
                        <a:pt x="0" y="55"/>
                      </a:lnTo>
                      <a:lnTo>
                        <a:pt x="2" y="66"/>
                      </a:lnTo>
                      <a:lnTo>
                        <a:pt x="9" y="77"/>
                      </a:lnTo>
                      <a:lnTo>
                        <a:pt x="21" y="86"/>
                      </a:lnTo>
                      <a:lnTo>
                        <a:pt x="36" y="95"/>
                      </a:lnTo>
                      <a:lnTo>
                        <a:pt x="55" y="102"/>
                      </a:lnTo>
                      <a:lnTo>
                        <a:pt x="77" y="106"/>
                      </a:lnTo>
                      <a:lnTo>
                        <a:pt x="100" y="110"/>
                      </a:lnTo>
                      <a:lnTo>
                        <a:pt x="125" y="111"/>
                      </a:lnTo>
                      <a:lnTo>
                        <a:pt x="150" y="110"/>
                      </a:lnTo>
                      <a:lnTo>
                        <a:pt x="174" y="106"/>
                      </a:lnTo>
                      <a:lnTo>
                        <a:pt x="196" y="102"/>
                      </a:lnTo>
                      <a:lnTo>
                        <a:pt x="215" y="95"/>
                      </a:lnTo>
                      <a:lnTo>
                        <a:pt x="230" y="86"/>
                      </a:lnTo>
                      <a:lnTo>
                        <a:pt x="242" y="77"/>
                      </a:lnTo>
                      <a:lnTo>
                        <a:pt x="249" y="66"/>
                      </a:lnTo>
                      <a:lnTo>
                        <a:pt x="251" y="55"/>
                      </a:lnTo>
                      <a:lnTo>
                        <a:pt x="249" y="45"/>
                      </a:lnTo>
                      <a:lnTo>
                        <a:pt x="242" y="35"/>
                      </a:lnTo>
                      <a:lnTo>
                        <a:pt x="230" y="24"/>
                      </a:lnTo>
                      <a:lnTo>
                        <a:pt x="215" y="16"/>
                      </a:lnTo>
                      <a:lnTo>
                        <a:pt x="196" y="10"/>
                      </a:lnTo>
                      <a:lnTo>
                        <a:pt x="174" y="5"/>
                      </a:lnTo>
                      <a:lnTo>
                        <a:pt x="150" y="2"/>
                      </a:lnTo>
                      <a:lnTo>
                        <a:pt x="125" y="0"/>
                      </a:lnTo>
                      <a:close/>
                    </a:path>
                  </a:pathLst>
                </a:custGeom>
                <a:solidFill>
                  <a:srgbClr val="FF0000"/>
                </a:solidFill>
                <a:ln w="0">
                  <a:solidFill>
                    <a:srgbClr val="FFFFFF"/>
                  </a:solidFill>
                  <a:prstDash val="solid"/>
                  <a:round/>
                  <a:headEnd/>
                  <a:tailEnd/>
                </a:ln>
              </p:spPr>
              <p:txBody>
                <a:bodyPr/>
                <a:lstStyle/>
                <a:p>
                  <a:endParaRPr lang="en-US">
                    <a:latin typeface="Roboto" panose="02000000000000000000" pitchFamily="2" charset="0"/>
                    <a:ea typeface="Roboto" panose="02000000000000000000" pitchFamily="2" charset="0"/>
                  </a:endParaRPr>
                </a:p>
              </p:txBody>
            </p:sp>
            <p:sp>
              <p:nvSpPr>
                <p:cNvPr id="262" name="Oval 254">
                  <a:extLst>
                    <a:ext uri="{FF2B5EF4-FFF2-40B4-BE49-F238E27FC236}">
                      <a16:creationId xmlns:a16="http://schemas.microsoft.com/office/drawing/2014/main" id="{439F46C2-9935-46D6-A770-797E027A5BCD}"/>
                    </a:ext>
                  </a:extLst>
                </p:cNvPr>
                <p:cNvSpPr>
                  <a:spLocks noChangeArrowheads="1"/>
                </p:cNvSpPr>
                <p:nvPr/>
              </p:nvSpPr>
              <p:spPr bwMode="auto">
                <a:xfrm>
                  <a:off x="4094" y="1971"/>
                  <a:ext cx="127" cy="112"/>
                </a:xfrm>
                <a:prstGeom prst="ellipse">
                  <a:avLst/>
                </a:prstGeom>
                <a:blipFill dpi="0" rotWithShape="0">
                  <a:blip/>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63" name="Rectangle 255">
                  <a:extLst>
                    <a:ext uri="{FF2B5EF4-FFF2-40B4-BE49-F238E27FC236}">
                      <a16:creationId xmlns:a16="http://schemas.microsoft.com/office/drawing/2014/main" id="{ADCC4BD7-4DB9-146F-C589-01ED84BDE975}"/>
                    </a:ext>
                  </a:extLst>
                </p:cNvPr>
                <p:cNvSpPr>
                  <a:spLocks noChangeArrowheads="1"/>
                </p:cNvSpPr>
                <p:nvPr/>
              </p:nvSpPr>
              <p:spPr bwMode="auto">
                <a:xfrm>
                  <a:off x="4094" y="1971"/>
                  <a:ext cx="128" cy="1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sp>
            <p:nvSpPr>
              <p:cNvPr id="259" name="Oval 256">
                <a:extLst>
                  <a:ext uri="{FF2B5EF4-FFF2-40B4-BE49-F238E27FC236}">
                    <a16:creationId xmlns:a16="http://schemas.microsoft.com/office/drawing/2014/main" id="{7BC12577-AE10-6D53-C43D-0DD6FE23883E}"/>
                  </a:ext>
                </a:extLst>
              </p:cNvPr>
              <p:cNvSpPr>
                <a:spLocks noChangeArrowheads="1"/>
              </p:cNvSpPr>
              <p:nvPr/>
            </p:nvSpPr>
            <p:spPr bwMode="auto">
              <a:xfrm>
                <a:off x="4094" y="1971"/>
                <a:ext cx="127" cy="112"/>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264" name="Group 257">
              <a:extLst>
                <a:ext uri="{FF2B5EF4-FFF2-40B4-BE49-F238E27FC236}">
                  <a16:creationId xmlns:a16="http://schemas.microsoft.com/office/drawing/2014/main" id="{5A59D6C7-62B7-0DF7-BBA8-A8F6CD099BDA}"/>
                </a:ext>
              </a:extLst>
            </p:cNvPr>
            <p:cNvGrpSpPr>
              <a:grpSpLocks/>
            </p:cNvGrpSpPr>
            <p:nvPr/>
          </p:nvGrpSpPr>
          <p:grpSpPr bwMode="auto">
            <a:xfrm>
              <a:off x="6299200" y="2792413"/>
              <a:ext cx="203200" cy="179387"/>
              <a:chOff x="4094" y="1780"/>
              <a:chExt cx="128" cy="113"/>
            </a:xfrm>
          </p:grpSpPr>
          <p:grpSp>
            <p:nvGrpSpPr>
              <p:cNvPr id="265" name="Group 258">
                <a:extLst>
                  <a:ext uri="{FF2B5EF4-FFF2-40B4-BE49-F238E27FC236}">
                    <a16:creationId xmlns:a16="http://schemas.microsoft.com/office/drawing/2014/main" id="{CAD4D2A4-2DEE-7250-6874-47150C3CDA73}"/>
                  </a:ext>
                </a:extLst>
              </p:cNvPr>
              <p:cNvGrpSpPr>
                <a:grpSpLocks/>
              </p:cNvGrpSpPr>
              <p:nvPr/>
            </p:nvGrpSpPr>
            <p:grpSpPr bwMode="auto">
              <a:xfrm>
                <a:off x="4094" y="1780"/>
                <a:ext cx="128" cy="113"/>
                <a:chOff x="4094" y="1780"/>
                <a:chExt cx="128" cy="113"/>
              </a:xfrm>
            </p:grpSpPr>
            <p:sp>
              <p:nvSpPr>
                <p:cNvPr id="267" name="Rectangle 259">
                  <a:extLst>
                    <a:ext uri="{FF2B5EF4-FFF2-40B4-BE49-F238E27FC236}">
                      <a16:creationId xmlns:a16="http://schemas.microsoft.com/office/drawing/2014/main" id="{0E0E2417-F13C-5DF4-5DF3-88BB90E58607}"/>
                    </a:ext>
                  </a:extLst>
                </p:cNvPr>
                <p:cNvSpPr>
                  <a:spLocks noChangeArrowheads="1"/>
                </p:cNvSpPr>
                <p:nvPr/>
              </p:nvSpPr>
              <p:spPr bwMode="auto">
                <a:xfrm>
                  <a:off x="4094" y="1780"/>
                  <a:ext cx="128" cy="1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68" name="Freeform 260">
                  <a:extLst>
                    <a:ext uri="{FF2B5EF4-FFF2-40B4-BE49-F238E27FC236}">
                      <a16:creationId xmlns:a16="http://schemas.microsoft.com/office/drawing/2014/main" id="{FD0EE6CA-D2C0-52A1-1D52-442D9B6F2AED}"/>
                    </a:ext>
                  </a:extLst>
                </p:cNvPr>
                <p:cNvSpPr>
                  <a:spLocks/>
                </p:cNvSpPr>
                <p:nvPr/>
              </p:nvSpPr>
              <p:spPr bwMode="auto">
                <a:xfrm>
                  <a:off x="4094" y="1780"/>
                  <a:ext cx="126" cy="111"/>
                </a:xfrm>
                <a:custGeom>
                  <a:avLst/>
                  <a:gdLst>
                    <a:gd name="T0" fmla="*/ 16 w 251"/>
                    <a:gd name="T1" fmla="*/ 0 h 111"/>
                    <a:gd name="T2" fmla="*/ 13 w 251"/>
                    <a:gd name="T3" fmla="*/ 1 h 111"/>
                    <a:gd name="T4" fmla="*/ 10 w 251"/>
                    <a:gd name="T5" fmla="*/ 5 h 111"/>
                    <a:gd name="T6" fmla="*/ 7 w 251"/>
                    <a:gd name="T7" fmla="*/ 9 h 111"/>
                    <a:gd name="T8" fmla="*/ 5 w 251"/>
                    <a:gd name="T9" fmla="*/ 16 h 111"/>
                    <a:gd name="T10" fmla="*/ 3 w 251"/>
                    <a:gd name="T11" fmla="*/ 24 h 111"/>
                    <a:gd name="T12" fmla="*/ 2 w 251"/>
                    <a:gd name="T13" fmla="*/ 34 h 111"/>
                    <a:gd name="T14" fmla="*/ 1 w 251"/>
                    <a:gd name="T15" fmla="*/ 45 h 111"/>
                    <a:gd name="T16" fmla="*/ 0 w 251"/>
                    <a:gd name="T17" fmla="*/ 55 h 111"/>
                    <a:gd name="T18" fmla="*/ 1 w 251"/>
                    <a:gd name="T19" fmla="*/ 66 h 111"/>
                    <a:gd name="T20" fmla="*/ 2 w 251"/>
                    <a:gd name="T21" fmla="*/ 77 h 111"/>
                    <a:gd name="T22" fmla="*/ 3 w 251"/>
                    <a:gd name="T23" fmla="*/ 86 h 111"/>
                    <a:gd name="T24" fmla="*/ 5 w 251"/>
                    <a:gd name="T25" fmla="*/ 95 h 111"/>
                    <a:gd name="T26" fmla="*/ 7 w 251"/>
                    <a:gd name="T27" fmla="*/ 102 h 111"/>
                    <a:gd name="T28" fmla="*/ 10 w 251"/>
                    <a:gd name="T29" fmla="*/ 106 h 111"/>
                    <a:gd name="T30" fmla="*/ 13 w 251"/>
                    <a:gd name="T31" fmla="*/ 110 h 111"/>
                    <a:gd name="T32" fmla="*/ 16 w 251"/>
                    <a:gd name="T33" fmla="*/ 111 h 111"/>
                    <a:gd name="T34" fmla="*/ 19 w 251"/>
                    <a:gd name="T35" fmla="*/ 110 h 111"/>
                    <a:gd name="T36" fmla="*/ 22 w 251"/>
                    <a:gd name="T37" fmla="*/ 106 h 111"/>
                    <a:gd name="T38" fmla="*/ 25 w 251"/>
                    <a:gd name="T39" fmla="*/ 102 h 111"/>
                    <a:gd name="T40" fmla="*/ 27 w 251"/>
                    <a:gd name="T41" fmla="*/ 95 h 111"/>
                    <a:gd name="T42" fmla="*/ 29 w 251"/>
                    <a:gd name="T43" fmla="*/ 86 h 111"/>
                    <a:gd name="T44" fmla="*/ 31 w 251"/>
                    <a:gd name="T45" fmla="*/ 77 h 111"/>
                    <a:gd name="T46" fmla="*/ 32 w 251"/>
                    <a:gd name="T47" fmla="*/ 66 h 111"/>
                    <a:gd name="T48" fmla="*/ 32 w 251"/>
                    <a:gd name="T49" fmla="*/ 55 h 111"/>
                    <a:gd name="T50" fmla="*/ 32 w 251"/>
                    <a:gd name="T51" fmla="*/ 45 h 111"/>
                    <a:gd name="T52" fmla="*/ 31 w 251"/>
                    <a:gd name="T53" fmla="*/ 34 h 111"/>
                    <a:gd name="T54" fmla="*/ 29 w 251"/>
                    <a:gd name="T55" fmla="*/ 24 h 111"/>
                    <a:gd name="T56" fmla="*/ 27 w 251"/>
                    <a:gd name="T57" fmla="*/ 16 h 111"/>
                    <a:gd name="T58" fmla="*/ 25 w 251"/>
                    <a:gd name="T59" fmla="*/ 9 h 111"/>
                    <a:gd name="T60" fmla="*/ 22 w 251"/>
                    <a:gd name="T61" fmla="*/ 5 h 111"/>
                    <a:gd name="T62" fmla="*/ 19 w 251"/>
                    <a:gd name="T63" fmla="*/ 1 h 111"/>
                    <a:gd name="T64" fmla="*/ 16 w 251"/>
                    <a:gd name="T65" fmla="*/ 0 h 11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1" h="111">
                      <a:moveTo>
                        <a:pt x="125" y="0"/>
                      </a:moveTo>
                      <a:lnTo>
                        <a:pt x="100" y="1"/>
                      </a:lnTo>
                      <a:lnTo>
                        <a:pt x="77" y="5"/>
                      </a:lnTo>
                      <a:lnTo>
                        <a:pt x="55" y="9"/>
                      </a:lnTo>
                      <a:lnTo>
                        <a:pt x="36" y="16"/>
                      </a:lnTo>
                      <a:lnTo>
                        <a:pt x="21" y="24"/>
                      </a:lnTo>
                      <a:lnTo>
                        <a:pt x="9" y="34"/>
                      </a:lnTo>
                      <a:lnTo>
                        <a:pt x="2" y="45"/>
                      </a:lnTo>
                      <a:lnTo>
                        <a:pt x="0" y="55"/>
                      </a:lnTo>
                      <a:lnTo>
                        <a:pt x="2" y="66"/>
                      </a:lnTo>
                      <a:lnTo>
                        <a:pt x="9" y="77"/>
                      </a:lnTo>
                      <a:lnTo>
                        <a:pt x="21" y="86"/>
                      </a:lnTo>
                      <a:lnTo>
                        <a:pt x="36" y="95"/>
                      </a:lnTo>
                      <a:lnTo>
                        <a:pt x="55" y="102"/>
                      </a:lnTo>
                      <a:lnTo>
                        <a:pt x="77" y="106"/>
                      </a:lnTo>
                      <a:lnTo>
                        <a:pt x="100" y="110"/>
                      </a:lnTo>
                      <a:lnTo>
                        <a:pt x="125" y="111"/>
                      </a:lnTo>
                      <a:lnTo>
                        <a:pt x="150" y="110"/>
                      </a:lnTo>
                      <a:lnTo>
                        <a:pt x="174" y="106"/>
                      </a:lnTo>
                      <a:lnTo>
                        <a:pt x="196" y="102"/>
                      </a:lnTo>
                      <a:lnTo>
                        <a:pt x="215" y="95"/>
                      </a:lnTo>
                      <a:lnTo>
                        <a:pt x="230" y="86"/>
                      </a:lnTo>
                      <a:lnTo>
                        <a:pt x="242" y="77"/>
                      </a:lnTo>
                      <a:lnTo>
                        <a:pt x="249" y="66"/>
                      </a:lnTo>
                      <a:lnTo>
                        <a:pt x="251" y="55"/>
                      </a:lnTo>
                      <a:lnTo>
                        <a:pt x="249" y="45"/>
                      </a:lnTo>
                      <a:lnTo>
                        <a:pt x="242" y="34"/>
                      </a:lnTo>
                      <a:lnTo>
                        <a:pt x="230" y="24"/>
                      </a:lnTo>
                      <a:lnTo>
                        <a:pt x="215" y="16"/>
                      </a:lnTo>
                      <a:lnTo>
                        <a:pt x="196" y="9"/>
                      </a:lnTo>
                      <a:lnTo>
                        <a:pt x="174" y="5"/>
                      </a:lnTo>
                      <a:lnTo>
                        <a:pt x="150" y="1"/>
                      </a:lnTo>
                      <a:lnTo>
                        <a:pt x="125" y="0"/>
                      </a:lnTo>
                      <a:close/>
                    </a:path>
                  </a:pathLst>
                </a:custGeom>
                <a:solidFill>
                  <a:srgbClr val="FF0000"/>
                </a:solidFill>
                <a:ln w="0">
                  <a:solidFill>
                    <a:srgbClr val="FFFFFF"/>
                  </a:solidFill>
                  <a:prstDash val="solid"/>
                  <a:round/>
                  <a:headEnd/>
                  <a:tailEnd/>
                </a:ln>
              </p:spPr>
              <p:txBody>
                <a:bodyPr/>
                <a:lstStyle/>
                <a:p>
                  <a:endParaRPr lang="en-US">
                    <a:latin typeface="Roboto" panose="02000000000000000000" pitchFamily="2" charset="0"/>
                    <a:ea typeface="Roboto" panose="02000000000000000000" pitchFamily="2" charset="0"/>
                  </a:endParaRPr>
                </a:p>
              </p:txBody>
            </p:sp>
            <p:sp>
              <p:nvSpPr>
                <p:cNvPr id="269" name="Oval 261">
                  <a:extLst>
                    <a:ext uri="{FF2B5EF4-FFF2-40B4-BE49-F238E27FC236}">
                      <a16:creationId xmlns:a16="http://schemas.microsoft.com/office/drawing/2014/main" id="{D3AA356E-47E9-AF2F-CD1A-469432A204E5}"/>
                    </a:ext>
                  </a:extLst>
                </p:cNvPr>
                <p:cNvSpPr>
                  <a:spLocks noChangeArrowheads="1"/>
                </p:cNvSpPr>
                <p:nvPr/>
              </p:nvSpPr>
              <p:spPr bwMode="auto">
                <a:xfrm>
                  <a:off x="4094" y="1780"/>
                  <a:ext cx="127" cy="112"/>
                </a:xfrm>
                <a:prstGeom prst="ellipse">
                  <a:avLst/>
                </a:prstGeom>
                <a:blipFill dpi="0" rotWithShape="0">
                  <a:blip/>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70" name="Rectangle 262">
                  <a:extLst>
                    <a:ext uri="{FF2B5EF4-FFF2-40B4-BE49-F238E27FC236}">
                      <a16:creationId xmlns:a16="http://schemas.microsoft.com/office/drawing/2014/main" id="{A2DAF305-72C9-07A3-92B5-CA3FA636FFDE}"/>
                    </a:ext>
                  </a:extLst>
                </p:cNvPr>
                <p:cNvSpPr>
                  <a:spLocks noChangeArrowheads="1"/>
                </p:cNvSpPr>
                <p:nvPr/>
              </p:nvSpPr>
              <p:spPr bwMode="auto">
                <a:xfrm>
                  <a:off x="4094" y="1780"/>
                  <a:ext cx="128" cy="1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sp>
            <p:nvSpPr>
              <p:cNvPr id="266" name="Oval 263">
                <a:extLst>
                  <a:ext uri="{FF2B5EF4-FFF2-40B4-BE49-F238E27FC236}">
                    <a16:creationId xmlns:a16="http://schemas.microsoft.com/office/drawing/2014/main" id="{342C0225-DBE8-BD74-7E0B-381FE73B0881}"/>
                  </a:ext>
                </a:extLst>
              </p:cNvPr>
              <p:cNvSpPr>
                <a:spLocks noChangeArrowheads="1"/>
              </p:cNvSpPr>
              <p:nvPr/>
            </p:nvSpPr>
            <p:spPr bwMode="auto">
              <a:xfrm>
                <a:off x="4094" y="1780"/>
                <a:ext cx="127" cy="112"/>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271" name="Group 264">
              <a:extLst>
                <a:ext uri="{FF2B5EF4-FFF2-40B4-BE49-F238E27FC236}">
                  <a16:creationId xmlns:a16="http://schemas.microsoft.com/office/drawing/2014/main" id="{357B2CDD-C332-120F-DBFD-03392678287A}"/>
                </a:ext>
              </a:extLst>
            </p:cNvPr>
            <p:cNvGrpSpPr>
              <a:grpSpLocks/>
            </p:cNvGrpSpPr>
            <p:nvPr/>
          </p:nvGrpSpPr>
          <p:grpSpPr bwMode="auto">
            <a:xfrm>
              <a:off x="6942138" y="3095625"/>
              <a:ext cx="201612" cy="179388"/>
              <a:chOff x="4499" y="1971"/>
              <a:chExt cx="127" cy="113"/>
            </a:xfrm>
          </p:grpSpPr>
          <p:grpSp>
            <p:nvGrpSpPr>
              <p:cNvPr id="272" name="Group 265">
                <a:extLst>
                  <a:ext uri="{FF2B5EF4-FFF2-40B4-BE49-F238E27FC236}">
                    <a16:creationId xmlns:a16="http://schemas.microsoft.com/office/drawing/2014/main" id="{9752BA22-A6C8-5A31-8148-4242D2B9E59E}"/>
                  </a:ext>
                </a:extLst>
              </p:cNvPr>
              <p:cNvGrpSpPr>
                <a:grpSpLocks/>
              </p:cNvGrpSpPr>
              <p:nvPr/>
            </p:nvGrpSpPr>
            <p:grpSpPr bwMode="auto">
              <a:xfrm>
                <a:off x="4499" y="1971"/>
                <a:ext cx="127" cy="113"/>
                <a:chOff x="4499" y="1971"/>
                <a:chExt cx="127" cy="113"/>
              </a:xfrm>
            </p:grpSpPr>
            <p:sp>
              <p:nvSpPr>
                <p:cNvPr id="274" name="Rectangle 266">
                  <a:extLst>
                    <a:ext uri="{FF2B5EF4-FFF2-40B4-BE49-F238E27FC236}">
                      <a16:creationId xmlns:a16="http://schemas.microsoft.com/office/drawing/2014/main" id="{121F71C9-76BC-2E3E-3B47-3167D265F918}"/>
                    </a:ext>
                  </a:extLst>
                </p:cNvPr>
                <p:cNvSpPr>
                  <a:spLocks noChangeArrowheads="1"/>
                </p:cNvSpPr>
                <p:nvPr/>
              </p:nvSpPr>
              <p:spPr bwMode="auto">
                <a:xfrm>
                  <a:off x="4499" y="1971"/>
                  <a:ext cx="127" cy="1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75" name="Freeform 267">
                  <a:extLst>
                    <a:ext uri="{FF2B5EF4-FFF2-40B4-BE49-F238E27FC236}">
                      <a16:creationId xmlns:a16="http://schemas.microsoft.com/office/drawing/2014/main" id="{4F220ED2-52EF-1D8A-693B-438333674B26}"/>
                    </a:ext>
                  </a:extLst>
                </p:cNvPr>
                <p:cNvSpPr>
                  <a:spLocks/>
                </p:cNvSpPr>
                <p:nvPr/>
              </p:nvSpPr>
              <p:spPr bwMode="auto">
                <a:xfrm>
                  <a:off x="4499" y="1971"/>
                  <a:ext cx="125" cy="111"/>
                </a:xfrm>
                <a:custGeom>
                  <a:avLst/>
                  <a:gdLst>
                    <a:gd name="T0" fmla="*/ 15 w 252"/>
                    <a:gd name="T1" fmla="*/ 0 h 111"/>
                    <a:gd name="T2" fmla="*/ 12 w 252"/>
                    <a:gd name="T3" fmla="*/ 2 h 111"/>
                    <a:gd name="T4" fmla="*/ 9 w 252"/>
                    <a:gd name="T5" fmla="*/ 5 h 111"/>
                    <a:gd name="T6" fmla="*/ 7 w 252"/>
                    <a:gd name="T7" fmla="*/ 10 h 111"/>
                    <a:gd name="T8" fmla="*/ 4 w 252"/>
                    <a:gd name="T9" fmla="*/ 16 h 111"/>
                    <a:gd name="T10" fmla="*/ 2 w 252"/>
                    <a:gd name="T11" fmla="*/ 24 h 111"/>
                    <a:gd name="T12" fmla="*/ 1 w 252"/>
                    <a:gd name="T13" fmla="*/ 35 h 111"/>
                    <a:gd name="T14" fmla="*/ 0 w 252"/>
                    <a:gd name="T15" fmla="*/ 45 h 111"/>
                    <a:gd name="T16" fmla="*/ 0 w 252"/>
                    <a:gd name="T17" fmla="*/ 55 h 111"/>
                    <a:gd name="T18" fmla="*/ 0 w 252"/>
                    <a:gd name="T19" fmla="*/ 66 h 111"/>
                    <a:gd name="T20" fmla="*/ 1 w 252"/>
                    <a:gd name="T21" fmla="*/ 77 h 111"/>
                    <a:gd name="T22" fmla="*/ 2 w 252"/>
                    <a:gd name="T23" fmla="*/ 86 h 111"/>
                    <a:gd name="T24" fmla="*/ 4 w 252"/>
                    <a:gd name="T25" fmla="*/ 95 h 111"/>
                    <a:gd name="T26" fmla="*/ 7 w 252"/>
                    <a:gd name="T27" fmla="*/ 102 h 111"/>
                    <a:gd name="T28" fmla="*/ 9 w 252"/>
                    <a:gd name="T29" fmla="*/ 106 h 111"/>
                    <a:gd name="T30" fmla="*/ 12 w 252"/>
                    <a:gd name="T31" fmla="*/ 110 h 111"/>
                    <a:gd name="T32" fmla="*/ 15 w 252"/>
                    <a:gd name="T33" fmla="*/ 111 h 111"/>
                    <a:gd name="T34" fmla="*/ 18 w 252"/>
                    <a:gd name="T35" fmla="*/ 110 h 111"/>
                    <a:gd name="T36" fmla="*/ 21 w 252"/>
                    <a:gd name="T37" fmla="*/ 106 h 111"/>
                    <a:gd name="T38" fmla="*/ 24 w 252"/>
                    <a:gd name="T39" fmla="*/ 102 h 111"/>
                    <a:gd name="T40" fmla="*/ 26 w 252"/>
                    <a:gd name="T41" fmla="*/ 95 h 111"/>
                    <a:gd name="T42" fmla="*/ 28 w 252"/>
                    <a:gd name="T43" fmla="*/ 86 h 111"/>
                    <a:gd name="T44" fmla="*/ 30 w 252"/>
                    <a:gd name="T45" fmla="*/ 77 h 111"/>
                    <a:gd name="T46" fmla="*/ 31 w 252"/>
                    <a:gd name="T47" fmla="*/ 66 h 111"/>
                    <a:gd name="T48" fmla="*/ 31 w 252"/>
                    <a:gd name="T49" fmla="*/ 55 h 111"/>
                    <a:gd name="T50" fmla="*/ 31 w 252"/>
                    <a:gd name="T51" fmla="*/ 45 h 111"/>
                    <a:gd name="T52" fmla="*/ 30 w 252"/>
                    <a:gd name="T53" fmla="*/ 35 h 111"/>
                    <a:gd name="T54" fmla="*/ 28 w 252"/>
                    <a:gd name="T55" fmla="*/ 24 h 111"/>
                    <a:gd name="T56" fmla="*/ 26 w 252"/>
                    <a:gd name="T57" fmla="*/ 16 h 111"/>
                    <a:gd name="T58" fmla="*/ 24 w 252"/>
                    <a:gd name="T59" fmla="*/ 10 h 111"/>
                    <a:gd name="T60" fmla="*/ 21 w 252"/>
                    <a:gd name="T61" fmla="*/ 5 h 111"/>
                    <a:gd name="T62" fmla="*/ 18 w 252"/>
                    <a:gd name="T63" fmla="*/ 2 h 111"/>
                    <a:gd name="T64" fmla="*/ 15 w 252"/>
                    <a:gd name="T65" fmla="*/ 0 h 11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2" h="111">
                      <a:moveTo>
                        <a:pt x="125" y="0"/>
                      </a:moveTo>
                      <a:lnTo>
                        <a:pt x="100" y="2"/>
                      </a:lnTo>
                      <a:lnTo>
                        <a:pt x="77" y="5"/>
                      </a:lnTo>
                      <a:lnTo>
                        <a:pt x="56" y="10"/>
                      </a:lnTo>
                      <a:lnTo>
                        <a:pt x="37" y="16"/>
                      </a:lnTo>
                      <a:lnTo>
                        <a:pt x="21" y="24"/>
                      </a:lnTo>
                      <a:lnTo>
                        <a:pt x="10" y="35"/>
                      </a:lnTo>
                      <a:lnTo>
                        <a:pt x="2" y="45"/>
                      </a:lnTo>
                      <a:lnTo>
                        <a:pt x="0" y="55"/>
                      </a:lnTo>
                      <a:lnTo>
                        <a:pt x="2" y="66"/>
                      </a:lnTo>
                      <a:lnTo>
                        <a:pt x="10" y="77"/>
                      </a:lnTo>
                      <a:lnTo>
                        <a:pt x="21" y="86"/>
                      </a:lnTo>
                      <a:lnTo>
                        <a:pt x="37" y="95"/>
                      </a:lnTo>
                      <a:lnTo>
                        <a:pt x="56" y="102"/>
                      </a:lnTo>
                      <a:lnTo>
                        <a:pt x="77" y="106"/>
                      </a:lnTo>
                      <a:lnTo>
                        <a:pt x="100" y="110"/>
                      </a:lnTo>
                      <a:lnTo>
                        <a:pt x="125" y="111"/>
                      </a:lnTo>
                      <a:lnTo>
                        <a:pt x="150" y="110"/>
                      </a:lnTo>
                      <a:lnTo>
                        <a:pt x="175" y="106"/>
                      </a:lnTo>
                      <a:lnTo>
                        <a:pt x="196" y="102"/>
                      </a:lnTo>
                      <a:lnTo>
                        <a:pt x="215" y="95"/>
                      </a:lnTo>
                      <a:lnTo>
                        <a:pt x="230" y="86"/>
                      </a:lnTo>
                      <a:lnTo>
                        <a:pt x="242" y="77"/>
                      </a:lnTo>
                      <a:lnTo>
                        <a:pt x="250" y="66"/>
                      </a:lnTo>
                      <a:lnTo>
                        <a:pt x="252" y="55"/>
                      </a:lnTo>
                      <a:lnTo>
                        <a:pt x="250" y="45"/>
                      </a:lnTo>
                      <a:lnTo>
                        <a:pt x="242" y="35"/>
                      </a:lnTo>
                      <a:lnTo>
                        <a:pt x="230" y="24"/>
                      </a:lnTo>
                      <a:lnTo>
                        <a:pt x="215" y="16"/>
                      </a:lnTo>
                      <a:lnTo>
                        <a:pt x="196" y="10"/>
                      </a:lnTo>
                      <a:lnTo>
                        <a:pt x="175" y="5"/>
                      </a:lnTo>
                      <a:lnTo>
                        <a:pt x="150" y="2"/>
                      </a:lnTo>
                      <a:lnTo>
                        <a:pt x="125" y="0"/>
                      </a:lnTo>
                      <a:close/>
                    </a:path>
                  </a:pathLst>
                </a:custGeom>
                <a:solidFill>
                  <a:srgbClr val="FF0000"/>
                </a:solidFill>
                <a:ln w="0">
                  <a:solidFill>
                    <a:srgbClr val="FFFFFF"/>
                  </a:solidFill>
                  <a:prstDash val="solid"/>
                  <a:round/>
                  <a:headEnd/>
                  <a:tailEnd/>
                </a:ln>
              </p:spPr>
              <p:txBody>
                <a:bodyPr/>
                <a:lstStyle/>
                <a:p>
                  <a:endParaRPr lang="en-US">
                    <a:latin typeface="Roboto" panose="02000000000000000000" pitchFamily="2" charset="0"/>
                    <a:ea typeface="Roboto" panose="02000000000000000000" pitchFamily="2" charset="0"/>
                  </a:endParaRPr>
                </a:p>
              </p:txBody>
            </p:sp>
            <p:sp>
              <p:nvSpPr>
                <p:cNvPr id="276" name="Oval 268">
                  <a:extLst>
                    <a:ext uri="{FF2B5EF4-FFF2-40B4-BE49-F238E27FC236}">
                      <a16:creationId xmlns:a16="http://schemas.microsoft.com/office/drawing/2014/main" id="{35DC3E5E-A9DD-489A-E145-85010AAFD25A}"/>
                    </a:ext>
                  </a:extLst>
                </p:cNvPr>
                <p:cNvSpPr>
                  <a:spLocks noChangeArrowheads="1"/>
                </p:cNvSpPr>
                <p:nvPr/>
              </p:nvSpPr>
              <p:spPr bwMode="auto">
                <a:xfrm>
                  <a:off x="4499" y="1971"/>
                  <a:ext cx="126" cy="112"/>
                </a:xfrm>
                <a:prstGeom prst="ellipse">
                  <a:avLst/>
                </a:prstGeom>
                <a:blipFill dpi="0" rotWithShape="0">
                  <a:blip/>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77" name="Rectangle 269">
                  <a:extLst>
                    <a:ext uri="{FF2B5EF4-FFF2-40B4-BE49-F238E27FC236}">
                      <a16:creationId xmlns:a16="http://schemas.microsoft.com/office/drawing/2014/main" id="{FE73D96A-CE53-E881-E273-FAE9A16779A4}"/>
                    </a:ext>
                  </a:extLst>
                </p:cNvPr>
                <p:cNvSpPr>
                  <a:spLocks noChangeArrowheads="1"/>
                </p:cNvSpPr>
                <p:nvPr/>
              </p:nvSpPr>
              <p:spPr bwMode="auto">
                <a:xfrm>
                  <a:off x="4499" y="1971"/>
                  <a:ext cx="127" cy="1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sp>
            <p:nvSpPr>
              <p:cNvPr id="273" name="Oval 270">
                <a:extLst>
                  <a:ext uri="{FF2B5EF4-FFF2-40B4-BE49-F238E27FC236}">
                    <a16:creationId xmlns:a16="http://schemas.microsoft.com/office/drawing/2014/main" id="{FF44EC34-89B0-3070-19D1-1576E59A4699}"/>
                  </a:ext>
                </a:extLst>
              </p:cNvPr>
              <p:cNvSpPr>
                <a:spLocks noChangeArrowheads="1"/>
              </p:cNvSpPr>
              <p:nvPr/>
            </p:nvSpPr>
            <p:spPr bwMode="auto">
              <a:xfrm>
                <a:off x="4499" y="1971"/>
                <a:ext cx="126" cy="112"/>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278" name="Group 271">
              <a:extLst>
                <a:ext uri="{FF2B5EF4-FFF2-40B4-BE49-F238E27FC236}">
                  <a16:creationId xmlns:a16="http://schemas.microsoft.com/office/drawing/2014/main" id="{4CE85D3C-7B25-3711-BB05-48051C9F58E3}"/>
                </a:ext>
              </a:extLst>
            </p:cNvPr>
            <p:cNvGrpSpPr>
              <a:grpSpLocks/>
            </p:cNvGrpSpPr>
            <p:nvPr/>
          </p:nvGrpSpPr>
          <p:grpSpPr bwMode="auto">
            <a:xfrm>
              <a:off x="7583488" y="3095625"/>
              <a:ext cx="201612" cy="179388"/>
              <a:chOff x="4903" y="1971"/>
              <a:chExt cx="127" cy="113"/>
            </a:xfrm>
          </p:grpSpPr>
          <p:grpSp>
            <p:nvGrpSpPr>
              <p:cNvPr id="279" name="Group 272">
                <a:extLst>
                  <a:ext uri="{FF2B5EF4-FFF2-40B4-BE49-F238E27FC236}">
                    <a16:creationId xmlns:a16="http://schemas.microsoft.com/office/drawing/2014/main" id="{1D1C3060-1809-F8AA-3DAB-5D05D0715891}"/>
                  </a:ext>
                </a:extLst>
              </p:cNvPr>
              <p:cNvGrpSpPr>
                <a:grpSpLocks/>
              </p:cNvGrpSpPr>
              <p:nvPr/>
            </p:nvGrpSpPr>
            <p:grpSpPr bwMode="auto">
              <a:xfrm>
                <a:off x="4903" y="1971"/>
                <a:ext cx="127" cy="113"/>
                <a:chOff x="4903" y="1971"/>
                <a:chExt cx="127" cy="113"/>
              </a:xfrm>
            </p:grpSpPr>
            <p:sp>
              <p:nvSpPr>
                <p:cNvPr id="281" name="Rectangle 273">
                  <a:extLst>
                    <a:ext uri="{FF2B5EF4-FFF2-40B4-BE49-F238E27FC236}">
                      <a16:creationId xmlns:a16="http://schemas.microsoft.com/office/drawing/2014/main" id="{EA24B85C-F4BD-04F5-188F-D7A5A9DC6243}"/>
                    </a:ext>
                  </a:extLst>
                </p:cNvPr>
                <p:cNvSpPr>
                  <a:spLocks noChangeArrowheads="1"/>
                </p:cNvSpPr>
                <p:nvPr/>
              </p:nvSpPr>
              <p:spPr bwMode="auto">
                <a:xfrm>
                  <a:off x="4903" y="1971"/>
                  <a:ext cx="127" cy="1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82" name="Freeform 274">
                  <a:extLst>
                    <a:ext uri="{FF2B5EF4-FFF2-40B4-BE49-F238E27FC236}">
                      <a16:creationId xmlns:a16="http://schemas.microsoft.com/office/drawing/2014/main" id="{9A059E25-CE99-9DB9-8B00-AB5C851DCD2D}"/>
                    </a:ext>
                  </a:extLst>
                </p:cNvPr>
                <p:cNvSpPr>
                  <a:spLocks/>
                </p:cNvSpPr>
                <p:nvPr/>
              </p:nvSpPr>
              <p:spPr bwMode="auto">
                <a:xfrm>
                  <a:off x="4903" y="1971"/>
                  <a:ext cx="125" cy="111"/>
                </a:xfrm>
                <a:custGeom>
                  <a:avLst/>
                  <a:gdLst>
                    <a:gd name="T0" fmla="*/ 15 w 252"/>
                    <a:gd name="T1" fmla="*/ 0 h 111"/>
                    <a:gd name="T2" fmla="*/ 12 w 252"/>
                    <a:gd name="T3" fmla="*/ 2 h 111"/>
                    <a:gd name="T4" fmla="*/ 9 w 252"/>
                    <a:gd name="T5" fmla="*/ 5 h 111"/>
                    <a:gd name="T6" fmla="*/ 7 w 252"/>
                    <a:gd name="T7" fmla="*/ 10 h 111"/>
                    <a:gd name="T8" fmla="*/ 4 w 252"/>
                    <a:gd name="T9" fmla="*/ 16 h 111"/>
                    <a:gd name="T10" fmla="*/ 2 w 252"/>
                    <a:gd name="T11" fmla="*/ 24 h 111"/>
                    <a:gd name="T12" fmla="*/ 1 w 252"/>
                    <a:gd name="T13" fmla="*/ 35 h 111"/>
                    <a:gd name="T14" fmla="*/ 0 w 252"/>
                    <a:gd name="T15" fmla="*/ 45 h 111"/>
                    <a:gd name="T16" fmla="*/ 0 w 252"/>
                    <a:gd name="T17" fmla="*/ 55 h 111"/>
                    <a:gd name="T18" fmla="*/ 0 w 252"/>
                    <a:gd name="T19" fmla="*/ 66 h 111"/>
                    <a:gd name="T20" fmla="*/ 1 w 252"/>
                    <a:gd name="T21" fmla="*/ 77 h 111"/>
                    <a:gd name="T22" fmla="*/ 2 w 252"/>
                    <a:gd name="T23" fmla="*/ 86 h 111"/>
                    <a:gd name="T24" fmla="*/ 4 w 252"/>
                    <a:gd name="T25" fmla="*/ 95 h 111"/>
                    <a:gd name="T26" fmla="*/ 7 w 252"/>
                    <a:gd name="T27" fmla="*/ 102 h 111"/>
                    <a:gd name="T28" fmla="*/ 9 w 252"/>
                    <a:gd name="T29" fmla="*/ 106 h 111"/>
                    <a:gd name="T30" fmla="*/ 12 w 252"/>
                    <a:gd name="T31" fmla="*/ 110 h 111"/>
                    <a:gd name="T32" fmla="*/ 15 w 252"/>
                    <a:gd name="T33" fmla="*/ 111 h 111"/>
                    <a:gd name="T34" fmla="*/ 18 w 252"/>
                    <a:gd name="T35" fmla="*/ 110 h 111"/>
                    <a:gd name="T36" fmla="*/ 21 w 252"/>
                    <a:gd name="T37" fmla="*/ 106 h 111"/>
                    <a:gd name="T38" fmla="*/ 24 w 252"/>
                    <a:gd name="T39" fmla="*/ 102 h 111"/>
                    <a:gd name="T40" fmla="*/ 26 w 252"/>
                    <a:gd name="T41" fmla="*/ 95 h 111"/>
                    <a:gd name="T42" fmla="*/ 28 w 252"/>
                    <a:gd name="T43" fmla="*/ 86 h 111"/>
                    <a:gd name="T44" fmla="*/ 30 w 252"/>
                    <a:gd name="T45" fmla="*/ 77 h 111"/>
                    <a:gd name="T46" fmla="*/ 31 w 252"/>
                    <a:gd name="T47" fmla="*/ 66 h 111"/>
                    <a:gd name="T48" fmla="*/ 31 w 252"/>
                    <a:gd name="T49" fmla="*/ 55 h 111"/>
                    <a:gd name="T50" fmla="*/ 31 w 252"/>
                    <a:gd name="T51" fmla="*/ 45 h 111"/>
                    <a:gd name="T52" fmla="*/ 30 w 252"/>
                    <a:gd name="T53" fmla="*/ 35 h 111"/>
                    <a:gd name="T54" fmla="*/ 28 w 252"/>
                    <a:gd name="T55" fmla="*/ 24 h 111"/>
                    <a:gd name="T56" fmla="*/ 26 w 252"/>
                    <a:gd name="T57" fmla="*/ 16 h 111"/>
                    <a:gd name="T58" fmla="*/ 24 w 252"/>
                    <a:gd name="T59" fmla="*/ 10 h 111"/>
                    <a:gd name="T60" fmla="*/ 21 w 252"/>
                    <a:gd name="T61" fmla="*/ 5 h 111"/>
                    <a:gd name="T62" fmla="*/ 18 w 252"/>
                    <a:gd name="T63" fmla="*/ 2 h 111"/>
                    <a:gd name="T64" fmla="*/ 15 w 252"/>
                    <a:gd name="T65" fmla="*/ 0 h 11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2" h="111">
                      <a:moveTo>
                        <a:pt x="125" y="0"/>
                      </a:moveTo>
                      <a:lnTo>
                        <a:pt x="100" y="2"/>
                      </a:lnTo>
                      <a:lnTo>
                        <a:pt x="77" y="5"/>
                      </a:lnTo>
                      <a:lnTo>
                        <a:pt x="56" y="10"/>
                      </a:lnTo>
                      <a:lnTo>
                        <a:pt x="37" y="16"/>
                      </a:lnTo>
                      <a:lnTo>
                        <a:pt x="21" y="24"/>
                      </a:lnTo>
                      <a:lnTo>
                        <a:pt x="10" y="35"/>
                      </a:lnTo>
                      <a:lnTo>
                        <a:pt x="2" y="45"/>
                      </a:lnTo>
                      <a:lnTo>
                        <a:pt x="0" y="55"/>
                      </a:lnTo>
                      <a:lnTo>
                        <a:pt x="2" y="66"/>
                      </a:lnTo>
                      <a:lnTo>
                        <a:pt x="10" y="77"/>
                      </a:lnTo>
                      <a:lnTo>
                        <a:pt x="21" y="86"/>
                      </a:lnTo>
                      <a:lnTo>
                        <a:pt x="37" y="95"/>
                      </a:lnTo>
                      <a:lnTo>
                        <a:pt x="56" y="102"/>
                      </a:lnTo>
                      <a:lnTo>
                        <a:pt x="77" y="106"/>
                      </a:lnTo>
                      <a:lnTo>
                        <a:pt x="100" y="110"/>
                      </a:lnTo>
                      <a:lnTo>
                        <a:pt x="125" y="111"/>
                      </a:lnTo>
                      <a:lnTo>
                        <a:pt x="150" y="110"/>
                      </a:lnTo>
                      <a:lnTo>
                        <a:pt x="175" y="106"/>
                      </a:lnTo>
                      <a:lnTo>
                        <a:pt x="196" y="102"/>
                      </a:lnTo>
                      <a:lnTo>
                        <a:pt x="215" y="95"/>
                      </a:lnTo>
                      <a:lnTo>
                        <a:pt x="231" y="86"/>
                      </a:lnTo>
                      <a:lnTo>
                        <a:pt x="242" y="77"/>
                      </a:lnTo>
                      <a:lnTo>
                        <a:pt x="250" y="66"/>
                      </a:lnTo>
                      <a:lnTo>
                        <a:pt x="252" y="55"/>
                      </a:lnTo>
                      <a:lnTo>
                        <a:pt x="250" y="45"/>
                      </a:lnTo>
                      <a:lnTo>
                        <a:pt x="242" y="35"/>
                      </a:lnTo>
                      <a:lnTo>
                        <a:pt x="231" y="24"/>
                      </a:lnTo>
                      <a:lnTo>
                        <a:pt x="215" y="16"/>
                      </a:lnTo>
                      <a:lnTo>
                        <a:pt x="196" y="10"/>
                      </a:lnTo>
                      <a:lnTo>
                        <a:pt x="175" y="5"/>
                      </a:lnTo>
                      <a:lnTo>
                        <a:pt x="150" y="2"/>
                      </a:lnTo>
                      <a:lnTo>
                        <a:pt x="125" y="0"/>
                      </a:lnTo>
                      <a:close/>
                    </a:path>
                  </a:pathLst>
                </a:custGeom>
                <a:solidFill>
                  <a:srgbClr val="FF0000"/>
                </a:solidFill>
                <a:ln w="0">
                  <a:solidFill>
                    <a:srgbClr val="FFFFFF"/>
                  </a:solidFill>
                  <a:prstDash val="solid"/>
                  <a:round/>
                  <a:headEnd/>
                  <a:tailEnd/>
                </a:ln>
              </p:spPr>
              <p:txBody>
                <a:bodyPr/>
                <a:lstStyle/>
                <a:p>
                  <a:endParaRPr lang="en-US">
                    <a:latin typeface="Roboto" panose="02000000000000000000" pitchFamily="2" charset="0"/>
                    <a:ea typeface="Roboto" panose="02000000000000000000" pitchFamily="2" charset="0"/>
                  </a:endParaRPr>
                </a:p>
              </p:txBody>
            </p:sp>
            <p:sp>
              <p:nvSpPr>
                <p:cNvPr id="283" name="Oval 275">
                  <a:extLst>
                    <a:ext uri="{FF2B5EF4-FFF2-40B4-BE49-F238E27FC236}">
                      <a16:creationId xmlns:a16="http://schemas.microsoft.com/office/drawing/2014/main" id="{8D37C914-7750-B765-53B2-53C7D13759F5}"/>
                    </a:ext>
                  </a:extLst>
                </p:cNvPr>
                <p:cNvSpPr>
                  <a:spLocks noChangeArrowheads="1"/>
                </p:cNvSpPr>
                <p:nvPr/>
              </p:nvSpPr>
              <p:spPr bwMode="auto">
                <a:xfrm>
                  <a:off x="4903" y="1971"/>
                  <a:ext cx="126" cy="112"/>
                </a:xfrm>
                <a:prstGeom prst="ellipse">
                  <a:avLst/>
                </a:prstGeom>
                <a:blipFill dpi="0" rotWithShape="0">
                  <a:blip/>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84" name="Rectangle 276">
                  <a:extLst>
                    <a:ext uri="{FF2B5EF4-FFF2-40B4-BE49-F238E27FC236}">
                      <a16:creationId xmlns:a16="http://schemas.microsoft.com/office/drawing/2014/main" id="{1FA6970D-7110-E00E-A40A-36B630F1F9DC}"/>
                    </a:ext>
                  </a:extLst>
                </p:cNvPr>
                <p:cNvSpPr>
                  <a:spLocks noChangeArrowheads="1"/>
                </p:cNvSpPr>
                <p:nvPr/>
              </p:nvSpPr>
              <p:spPr bwMode="auto">
                <a:xfrm>
                  <a:off x="4903" y="1971"/>
                  <a:ext cx="127" cy="1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sp>
            <p:nvSpPr>
              <p:cNvPr id="280" name="Oval 277">
                <a:extLst>
                  <a:ext uri="{FF2B5EF4-FFF2-40B4-BE49-F238E27FC236}">
                    <a16:creationId xmlns:a16="http://schemas.microsoft.com/office/drawing/2014/main" id="{08860BF9-63B2-86E8-E541-C1D4930AAAEF}"/>
                  </a:ext>
                </a:extLst>
              </p:cNvPr>
              <p:cNvSpPr>
                <a:spLocks noChangeArrowheads="1"/>
              </p:cNvSpPr>
              <p:nvPr/>
            </p:nvSpPr>
            <p:spPr bwMode="auto">
              <a:xfrm>
                <a:off x="4903" y="1971"/>
                <a:ext cx="126" cy="112"/>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285" name="Group 278">
              <a:extLst>
                <a:ext uri="{FF2B5EF4-FFF2-40B4-BE49-F238E27FC236}">
                  <a16:creationId xmlns:a16="http://schemas.microsoft.com/office/drawing/2014/main" id="{D1A28410-4D94-A7FA-64F5-B0FC3E8CB649}"/>
                </a:ext>
              </a:extLst>
            </p:cNvPr>
            <p:cNvGrpSpPr>
              <a:grpSpLocks/>
            </p:cNvGrpSpPr>
            <p:nvPr/>
          </p:nvGrpSpPr>
          <p:grpSpPr bwMode="auto">
            <a:xfrm>
              <a:off x="7583488" y="4006850"/>
              <a:ext cx="201612" cy="177800"/>
              <a:chOff x="4903" y="2545"/>
              <a:chExt cx="127" cy="112"/>
            </a:xfrm>
          </p:grpSpPr>
          <p:grpSp>
            <p:nvGrpSpPr>
              <p:cNvPr id="286" name="Group 279">
                <a:extLst>
                  <a:ext uri="{FF2B5EF4-FFF2-40B4-BE49-F238E27FC236}">
                    <a16:creationId xmlns:a16="http://schemas.microsoft.com/office/drawing/2014/main" id="{D72A99F0-B95D-C587-18A1-A499CE8F9970}"/>
                  </a:ext>
                </a:extLst>
              </p:cNvPr>
              <p:cNvGrpSpPr>
                <a:grpSpLocks/>
              </p:cNvGrpSpPr>
              <p:nvPr/>
            </p:nvGrpSpPr>
            <p:grpSpPr bwMode="auto">
              <a:xfrm>
                <a:off x="4903" y="2545"/>
                <a:ext cx="127" cy="112"/>
                <a:chOff x="4903" y="2545"/>
                <a:chExt cx="127" cy="112"/>
              </a:xfrm>
            </p:grpSpPr>
            <p:sp>
              <p:nvSpPr>
                <p:cNvPr id="288" name="Rectangle 280">
                  <a:extLst>
                    <a:ext uri="{FF2B5EF4-FFF2-40B4-BE49-F238E27FC236}">
                      <a16:creationId xmlns:a16="http://schemas.microsoft.com/office/drawing/2014/main" id="{90A2EABE-6337-5A2F-1228-E0FB1283747E}"/>
                    </a:ext>
                  </a:extLst>
                </p:cNvPr>
                <p:cNvSpPr>
                  <a:spLocks noChangeArrowheads="1"/>
                </p:cNvSpPr>
                <p:nvPr/>
              </p:nvSpPr>
              <p:spPr bwMode="auto">
                <a:xfrm>
                  <a:off x="4903" y="2545"/>
                  <a:ext cx="127" cy="112"/>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89" name="Freeform 281">
                  <a:extLst>
                    <a:ext uri="{FF2B5EF4-FFF2-40B4-BE49-F238E27FC236}">
                      <a16:creationId xmlns:a16="http://schemas.microsoft.com/office/drawing/2014/main" id="{76317CD9-C1C6-2B71-7D3F-62E80112741B}"/>
                    </a:ext>
                  </a:extLst>
                </p:cNvPr>
                <p:cNvSpPr>
                  <a:spLocks/>
                </p:cNvSpPr>
                <p:nvPr/>
              </p:nvSpPr>
              <p:spPr bwMode="auto">
                <a:xfrm>
                  <a:off x="4903" y="2545"/>
                  <a:ext cx="125" cy="110"/>
                </a:xfrm>
                <a:custGeom>
                  <a:avLst/>
                  <a:gdLst>
                    <a:gd name="T0" fmla="*/ 15 w 252"/>
                    <a:gd name="T1" fmla="*/ 0 h 110"/>
                    <a:gd name="T2" fmla="*/ 12 w 252"/>
                    <a:gd name="T3" fmla="*/ 1 h 110"/>
                    <a:gd name="T4" fmla="*/ 9 w 252"/>
                    <a:gd name="T5" fmla="*/ 4 h 110"/>
                    <a:gd name="T6" fmla="*/ 7 w 252"/>
                    <a:gd name="T7" fmla="*/ 9 h 110"/>
                    <a:gd name="T8" fmla="*/ 4 w 252"/>
                    <a:gd name="T9" fmla="*/ 16 h 110"/>
                    <a:gd name="T10" fmla="*/ 2 w 252"/>
                    <a:gd name="T11" fmla="*/ 24 h 110"/>
                    <a:gd name="T12" fmla="*/ 1 w 252"/>
                    <a:gd name="T13" fmla="*/ 34 h 110"/>
                    <a:gd name="T14" fmla="*/ 0 w 252"/>
                    <a:gd name="T15" fmla="*/ 44 h 110"/>
                    <a:gd name="T16" fmla="*/ 0 w 252"/>
                    <a:gd name="T17" fmla="*/ 54 h 110"/>
                    <a:gd name="T18" fmla="*/ 0 w 252"/>
                    <a:gd name="T19" fmla="*/ 66 h 110"/>
                    <a:gd name="T20" fmla="*/ 1 w 252"/>
                    <a:gd name="T21" fmla="*/ 76 h 110"/>
                    <a:gd name="T22" fmla="*/ 2 w 252"/>
                    <a:gd name="T23" fmla="*/ 85 h 110"/>
                    <a:gd name="T24" fmla="*/ 4 w 252"/>
                    <a:gd name="T25" fmla="*/ 94 h 110"/>
                    <a:gd name="T26" fmla="*/ 7 w 252"/>
                    <a:gd name="T27" fmla="*/ 101 h 110"/>
                    <a:gd name="T28" fmla="*/ 9 w 252"/>
                    <a:gd name="T29" fmla="*/ 106 h 110"/>
                    <a:gd name="T30" fmla="*/ 12 w 252"/>
                    <a:gd name="T31" fmla="*/ 109 h 110"/>
                    <a:gd name="T32" fmla="*/ 15 w 252"/>
                    <a:gd name="T33" fmla="*/ 110 h 110"/>
                    <a:gd name="T34" fmla="*/ 18 w 252"/>
                    <a:gd name="T35" fmla="*/ 109 h 110"/>
                    <a:gd name="T36" fmla="*/ 21 w 252"/>
                    <a:gd name="T37" fmla="*/ 106 h 110"/>
                    <a:gd name="T38" fmla="*/ 24 w 252"/>
                    <a:gd name="T39" fmla="*/ 101 h 110"/>
                    <a:gd name="T40" fmla="*/ 26 w 252"/>
                    <a:gd name="T41" fmla="*/ 94 h 110"/>
                    <a:gd name="T42" fmla="*/ 28 w 252"/>
                    <a:gd name="T43" fmla="*/ 85 h 110"/>
                    <a:gd name="T44" fmla="*/ 30 w 252"/>
                    <a:gd name="T45" fmla="*/ 76 h 110"/>
                    <a:gd name="T46" fmla="*/ 31 w 252"/>
                    <a:gd name="T47" fmla="*/ 66 h 110"/>
                    <a:gd name="T48" fmla="*/ 31 w 252"/>
                    <a:gd name="T49" fmla="*/ 54 h 110"/>
                    <a:gd name="T50" fmla="*/ 31 w 252"/>
                    <a:gd name="T51" fmla="*/ 44 h 110"/>
                    <a:gd name="T52" fmla="*/ 30 w 252"/>
                    <a:gd name="T53" fmla="*/ 34 h 110"/>
                    <a:gd name="T54" fmla="*/ 28 w 252"/>
                    <a:gd name="T55" fmla="*/ 24 h 110"/>
                    <a:gd name="T56" fmla="*/ 26 w 252"/>
                    <a:gd name="T57" fmla="*/ 16 h 110"/>
                    <a:gd name="T58" fmla="*/ 24 w 252"/>
                    <a:gd name="T59" fmla="*/ 9 h 110"/>
                    <a:gd name="T60" fmla="*/ 21 w 252"/>
                    <a:gd name="T61" fmla="*/ 4 h 110"/>
                    <a:gd name="T62" fmla="*/ 18 w 252"/>
                    <a:gd name="T63" fmla="*/ 1 h 110"/>
                    <a:gd name="T64" fmla="*/ 15 w 252"/>
                    <a:gd name="T65" fmla="*/ 0 h 11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2" h="110">
                      <a:moveTo>
                        <a:pt x="125" y="0"/>
                      </a:moveTo>
                      <a:lnTo>
                        <a:pt x="100" y="1"/>
                      </a:lnTo>
                      <a:lnTo>
                        <a:pt x="77" y="4"/>
                      </a:lnTo>
                      <a:lnTo>
                        <a:pt x="56" y="9"/>
                      </a:lnTo>
                      <a:lnTo>
                        <a:pt x="37" y="16"/>
                      </a:lnTo>
                      <a:lnTo>
                        <a:pt x="21" y="24"/>
                      </a:lnTo>
                      <a:lnTo>
                        <a:pt x="10" y="34"/>
                      </a:lnTo>
                      <a:lnTo>
                        <a:pt x="2" y="44"/>
                      </a:lnTo>
                      <a:lnTo>
                        <a:pt x="0" y="54"/>
                      </a:lnTo>
                      <a:lnTo>
                        <a:pt x="2" y="66"/>
                      </a:lnTo>
                      <a:lnTo>
                        <a:pt x="10" y="76"/>
                      </a:lnTo>
                      <a:lnTo>
                        <a:pt x="21" y="85"/>
                      </a:lnTo>
                      <a:lnTo>
                        <a:pt x="37" y="94"/>
                      </a:lnTo>
                      <a:lnTo>
                        <a:pt x="56" y="101"/>
                      </a:lnTo>
                      <a:lnTo>
                        <a:pt x="77" y="106"/>
                      </a:lnTo>
                      <a:lnTo>
                        <a:pt x="100" y="109"/>
                      </a:lnTo>
                      <a:lnTo>
                        <a:pt x="125" y="110"/>
                      </a:lnTo>
                      <a:lnTo>
                        <a:pt x="150" y="109"/>
                      </a:lnTo>
                      <a:lnTo>
                        <a:pt x="175" y="106"/>
                      </a:lnTo>
                      <a:lnTo>
                        <a:pt x="196" y="101"/>
                      </a:lnTo>
                      <a:lnTo>
                        <a:pt x="215" y="94"/>
                      </a:lnTo>
                      <a:lnTo>
                        <a:pt x="231" y="85"/>
                      </a:lnTo>
                      <a:lnTo>
                        <a:pt x="242" y="76"/>
                      </a:lnTo>
                      <a:lnTo>
                        <a:pt x="250" y="66"/>
                      </a:lnTo>
                      <a:lnTo>
                        <a:pt x="252" y="54"/>
                      </a:lnTo>
                      <a:lnTo>
                        <a:pt x="250" y="44"/>
                      </a:lnTo>
                      <a:lnTo>
                        <a:pt x="242" y="34"/>
                      </a:lnTo>
                      <a:lnTo>
                        <a:pt x="231" y="24"/>
                      </a:lnTo>
                      <a:lnTo>
                        <a:pt x="215" y="16"/>
                      </a:lnTo>
                      <a:lnTo>
                        <a:pt x="196" y="9"/>
                      </a:lnTo>
                      <a:lnTo>
                        <a:pt x="175" y="4"/>
                      </a:lnTo>
                      <a:lnTo>
                        <a:pt x="150" y="1"/>
                      </a:lnTo>
                      <a:lnTo>
                        <a:pt x="125" y="0"/>
                      </a:lnTo>
                      <a:close/>
                    </a:path>
                  </a:pathLst>
                </a:custGeom>
                <a:solidFill>
                  <a:srgbClr val="FF0000"/>
                </a:solidFill>
                <a:ln w="0">
                  <a:solidFill>
                    <a:srgbClr val="FFFFFF"/>
                  </a:solidFill>
                  <a:prstDash val="solid"/>
                  <a:round/>
                  <a:headEnd/>
                  <a:tailEnd/>
                </a:ln>
              </p:spPr>
              <p:txBody>
                <a:bodyPr/>
                <a:lstStyle/>
                <a:p>
                  <a:endParaRPr lang="en-US">
                    <a:latin typeface="Roboto" panose="02000000000000000000" pitchFamily="2" charset="0"/>
                    <a:ea typeface="Roboto" panose="02000000000000000000" pitchFamily="2" charset="0"/>
                  </a:endParaRPr>
                </a:p>
              </p:txBody>
            </p:sp>
            <p:sp>
              <p:nvSpPr>
                <p:cNvPr id="290" name="Oval 282">
                  <a:extLst>
                    <a:ext uri="{FF2B5EF4-FFF2-40B4-BE49-F238E27FC236}">
                      <a16:creationId xmlns:a16="http://schemas.microsoft.com/office/drawing/2014/main" id="{9F1A5B55-3ED9-02FC-BCB8-E83F8B3D0B20}"/>
                    </a:ext>
                  </a:extLst>
                </p:cNvPr>
                <p:cNvSpPr>
                  <a:spLocks noChangeArrowheads="1"/>
                </p:cNvSpPr>
                <p:nvPr/>
              </p:nvSpPr>
              <p:spPr bwMode="auto">
                <a:xfrm>
                  <a:off x="4903" y="2545"/>
                  <a:ext cx="126" cy="111"/>
                </a:xfrm>
                <a:prstGeom prst="ellipse">
                  <a:avLst/>
                </a:prstGeom>
                <a:blipFill dpi="0" rotWithShape="0">
                  <a:blip/>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91" name="Rectangle 283">
                  <a:extLst>
                    <a:ext uri="{FF2B5EF4-FFF2-40B4-BE49-F238E27FC236}">
                      <a16:creationId xmlns:a16="http://schemas.microsoft.com/office/drawing/2014/main" id="{702B04DF-3326-3868-BC90-CA502609C0F7}"/>
                    </a:ext>
                  </a:extLst>
                </p:cNvPr>
                <p:cNvSpPr>
                  <a:spLocks noChangeArrowheads="1"/>
                </p:cNvSpPr>
                <p:nvPr/>
              </p:nvSpPr>
              <p:spPr bwMode="auto">
                <a:xfrm>
                  <a:off x="4903" y="2545"/>
                  <a:ext cx="127" cy="112"/>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sp>
            <p:nvSpPr>
              <p:cNvPr id="287" name="Oval 284">
                <a:extLst>
                  <a:ext uri="{FF2B5EF4-FFF2-40B4-BE49-F238E27FC236}">
                    <a16:creationId xmlns:a16="http://schemas.microsoft.com/office/drawing/2014/main" id="{D700CC96-9534-9164-9372-25FAC5FFA73A}"/>
                  </a:ext>
                </a:extLst>
              </p:cNvPr>
              <p:cNvSpPr>
                <a:spLocks noChangeArrowheads="1"/>
              </p:cNvSpPr>
              <p:nvPr/>
            </p:nvSpPr>
            <p:spPr bwMode="auto">
              <a:xfrm>
                <a:off x="4903" y="2545"/>
                <a:ext cx="126" cy="111"/>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292" name="Group 285">
              <a:extLst>
                <a:ext uri="{FF2B5EF4-FFF2-40B4-BE49-F238E27FC236}">
                  <a16:creationId xmlns:a16="http://schemas.microsoft.com/office/drawing/2014/main" id="{D420CEFC-F60C-81FD-6CC0-8FDFCB0D6AA8}"/>
                </a:ext>
              </a:extLst>
            </p:cNvPr>
            <p:cNvGrpSpPr>
              <a:grpSpLocks/>
            </p:cNvGrpSpPr>
            <p:nvPr/>
          </p:nvGrpSpPr>
          <p:grpSpPr bwMode="auto">
            <a:xfrm>
              <a:off x="8224838" y="4613275"/>
              <a:ext cx="203200" cy="179388"/>
              <a:chOff x="5307" y="2927"/>
              <a:chExt cx="128" cy="113"/>
            </a:xfrm>
          </p:grpSpPr>
          <p:grpSp>
            <p:nvGrpSpPr>
              <p:cNvPr id="293" name="Group 286">
                <a:extLst>
                  <a:ext uri="{FF2B5EF4-FFF2-40B4-BE49-F238E27FC236}">
                    <a16:creationId xmlns:a16="http://schemas.microsoft.com/office/drawing/2014/main" id="{62A738A9-0F9F-0B69-5F96-B938A25FC5FD}"/>
                  </a:ext>
                </a:extLst>
              </p:cNvPr>
              <p:cNvGrpSpPr>
                <a:grpSpLocks/>
              </p:cNvGrpSpPr>
              <p:nvPr/>
            </p:nvGrpSpPr>
            <p:grpSpPr bwMode="auto">
              <a:xfrm>
                <a:off x="5307" y="2927"/>
                <a:ext cx="128" cy="113"/>
                <a:chOff x="5307" y="2927"/>
                <a:chExt cx="128" cy="113"/>
              </a:xfrm>
            </p:grpSpPr>
            <p:sp>
              <p:nvSpPr>
                <p:cNvPr id="295" name="Rectangle 287">
                  <a:extLst>
                    <a:ext uri="{FF2B5EF4-FFF2-40B4-BE49-F238E27FC236}">
                      <a16:creationId xmlns:a16="http://schemas.microsoft.com/office/drawing/2014/main" id="{35D4B636-DC9A-0414-11F1-B3EDB5EE6C0E}"/>
                    </a:ext>
                  </a:extLst>
                </p:cNvPr>
                <p:cNvSpPr>
                  <a:spLocks noChangeArrowheads="1"/>
                </p:cNvSpPr>
                <p:nvPr/>
              </p:nvSpPr>
              <p:spPr bwMode="auto">
                <a:xfrm>
                  <a:off x="5307" y="2927"/>
                  <a:ext cx="128" cy="1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96" name="Freeform 288">
                  <a:extLst>
                    <a:ext uri="{FF2B5EF4-FFF2-40B4-BE49-F238E27FC236}">
                      <a16:creationId xmlns:a16="http://schemas.microsoft.com/office/drawing/2014/main" id="{F59C6623-A338-2CA6-8A42-8253E897CEC1}"/>
                    </a:ext>
                  </a:extLst>
                </p:cNvPr>
                <p:cNvSpPr>
                  <a:spLocks/>
                </p:cNvSpPr>
                <p:nvPr/>
              </p:nvSpPr>
              <p:spPr bwMode="auto">
                <a:xfrm>
                  <a:off x="5307" y="2927"/>
                  <a:ext cx="126" cy="110"/>
                </a:xfrm>
                <a:custGeom>
                  <a:avLst/>
                  <a:gdLst>
                    <a:gd name="T0" fmla="*/ 16 w 251"/>
                    <a:gd name="T1" fmla="*/ 0 h 110"/>
                    <a:gd name="T2" fmla="*/ 13 w 251"/>
                    <a:gd name="T3" fmla="*/ 1 h 110"/>
                    <a:gd name="T4" fmla="*/ 10 w 251"/>
                    <a:gd name="T5" fmla="*/ 5 h 110"/>
                    <a:gd name="T6" fmla="*/ 7 w 251"/>
                    <a:gd name="T7" fmla="*/ 9 h 110"/>
                    <a:gd name="T8" fmla="*/ 5 w 251"/>
                    <a:gd name="T9" fmla="*/ 16 h 110"/>
                    <a:gd name="T10" fmla="*/ 3 w 251"/>
                    <a:gd name="T11" fmla="*/ 24 h 110"/>
                    <a:gd name="T12" fmla="*/ 2 w 251"/>
                    <a:gd name="T13" fmla="*/ 34 h 110"/>
                    <a:gd name="T14" fmla="*/ 1 w 251"/>
                    <a:gd name="T15" fmla="*/ 44 h 110"/>
                    <a:gd name="T16" fmla="*/ 0 w 251"/>
                    <a:gd name="T17" fmla="*/ 55 h 110"/>
                    <a:gd name="T18" fmla="*/ 1 w 251"/>
                    <a:gd name="T19" fmla="*/ 66 h 110"/>
                    <a:gd name="T20" fmla="*/ 2 w 251"/>
                    <a:gd name="T21" fmla="*/ 76 h 110"/>
                    <a:gd name="T22" fmla="*/ 3 w 251"/>
                    <a:gd name="T23" fmla="*/ 85 h 110"/>
                    <a:gd name="T24" fmla="*/ 5 w 251"/>
                    <a:gd name="T25" fmla="*/ 95 h 110"/>
                    <a:gd name="T26" fmla="*/ 7 w 251"/>
                    <a:gd name="T27" fmla="*/ 101 h 110"/>
                    <a:gd name="T28" fmla="*/ 10 w 251"/>
                    <a:gd name="T29" fmla="*/ 106 h 110"/>
                    <a:gd name="T30" fmla="*/ 13 w 251"/>
                    <a:gd name="T31" fmla="*/ 109 h 110"/>
                    <a:gd name="T32" fmla="*/ 16 w 251"/>
                    <a:gd name="T33" fmla="*/ 110 h 110"/>
                    <a:gd name="T34" fmla="*/ 19 w 251"/>
                    <a:gd name="T35" fmla="*/ 109 h 110"/>
                    <a:gd name="T36" fmla="*/ 22 w 251"/>
                    <a:gd name="T37" fmla="*/ 106 h 110"/>
                    <a:gd name="T38" fmla="*/ 25 w 251"/>
                    <a:gd name="T39" fmla="*/ 101 h 110"/>
                    <a:gd name="T40" fmla="*/ 27 w 251"/>
                    <a:gd name="T41" fmla="*/ 95 h 110"/>
                    <a:gd name="T42" fmla="*/ 29 w 251"/>
                    <a:gd name="T43" fmla="*/ 85 h 110"/>
                    <a:gd name="T44" fmla="*/ 31 w 251"/>
                    <a:gd name="T45" fmla="*/ 76 h 110"/>
                    <a:gd name="T46" fmla="*/ 32 w 251"/>
                    <a:gd name="T47" fmla="*/ 66 h 110"/>
                    <a:gd name="T48" fmla="*/ 32 w 251"/>
                    <a:gd name="T49" fmla="*/ 55 h 110"/>
                    <a:gd name="T50" fmla="*/ 32 w 251"/>
                    <a:gd name="T51" fmla="*/ 44 h 110"/>
                    <a:gd name="T52" fmla="*/ 31 w 251"/>
                    <a:gd name="T53" fmla="*/ 34 h 110"/>
                    <a:gd name="T54" fmla="*/ 29 w 251"/>
                    <a:gd name="T55" fmla="*/ 24 h 110"/>
                    <a:gd name="T56" fmla="*/ 27 w 251"/>
                    <a:gd name="T57" fmla="*/ 16 h 110"/>
                    <a:gd name="T58" fmla="*/ 25 w 251"/>
                    <a:gd name="T59" fmla="*/ 9 h 110"/>
                    <a:gd name="T60" fmla="*/ 22 w 251"/>
                    <a:gd name="T61" fmla="*/ 5 h 110"/>
                    <a:gd name="T62" fmla="*/ 19 w 251"/>
                    <a:gd name="T63" fmla="*/ 1 h 110"/>
                    <a:gd name="T64" fmla="*/ 16 w 251"/>
                    <a:gd name="T65" fmla="*/ 0 h 11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1" h="110">
                      <a:moveTo>
                        <a:pt x="124" y="0"/>
                      </a:moveTo>
                      <a:lnTo>
                        <a:pt x="100" y="1"/>
                      </a:lnTo>
                      <a:lnTo>
                        <a:pt x="76" y="5"/>
                      </a:lnTo>
                      <a:lnTo>
                        <a:pt x="55" y="9"/>
                      </a:lnTo>
                      <a:lnTo>
                        <a:pt x="36" y="16"/>
                      </a:lnTo>
                      <a:lnTo>
                        <a:pt x="21" y="24"/>
                      </a:lnTo>
                      <a:lnTo>
                        <a:pt x="9" y="34"/>
                      </a:lnTo>
                      <a:lnTo>
                        <a:pt x="2" y="44"/>
                      </a:lnTo>
                      <a:lnTo>
                        <a:pt x="0" y="55"/>
                      </a:lnTo>
                      <a:lnTo>
                        <a:pt x="2" y="66"/>
                      </a:lnTo>
                      <a:lnTo>
                        <a:pt x="9" y="76"/>
                      </a:lnTo>
                      <a:lnTo>
                        <a:pt x="21" y="85"/>
                      </a:lnTo>
                      <a:lnTo>
                        <a:pt x="36" y="95"/>
                      </a:lnTo>
                      <a:lnTo>
                        <a:pt x="55" y="101"/>
                      </a:lnTo>
                      <a:lnTo>
                        <a:pt x="76" y="106"/>
                      </a:lnTo>
                      <a:lnTo>
                        <a:pt x="100" y="109"/>
                      </a:lnTo>
                      <a:lnTo>
                        <a:pt x="124" y="110"/>
                      </a:lnTo>
                      <a:lnTo>
                        <a:pt x="149" y="109"/>
                      </a:lnTo>
                      <a:lnTo>
                        <a:pt x="174" y="106"/>
                      </a:lnTo>
                      <a:lnTo>
                        <a:pt x="196" y="101"/>
                      </a:lnTo>
                      <a:lnTo>
                        <a:pt x="215" y="95"/>
                      </a:lnTo>
                      <a:lnTo>
                        <a:pt x="230" y="85"/>
                      </a:lnTo>
                      <a:lnTo>
                        <a:pt x="242" y="76"/>
                      </a:lnTo>
                      <a:lnTo>
                        <a:pt x="249" y="66"/>
                      </a:lnTo>
                      <a:lnTo>
                        <a:pt x="251" y="55"/>
                      </a:lnTo>
                      <a:lnTo>
                        <a:pt x="249" y="44"/>
                      </a:lnTo>
                      <a:lnTo>
                        <a:pt x="242" y="34"/>
                      </a:lnTo>
                      <a:lnTo>
                        <a:pt x="230" y="24"/>
                      </a:lnTo>
                      <a:lnTo>
                        <a:pt x="215" y="16"/>
                      </a:lnTo>
                      <a:lnTo>
                        <a:pt x="196" y="9"/>
                      </a:lnTo>
                      <a:lnTo>
                        <a:pt x="174" y="5"/>
                      </a:lnTo>
                      <a:lnTo>
                        <a:pt x="149" y="1"/>
                      </a:lnTo>
                      <a:lnTo>
                        <a:pt x="124" y="0"/>
                      </a:lnTo>
                      <a:close/>
                    </a:path>
                  </a:pathLst>
                </a:custGeom>
                <a:solidFill>
                  <a:srgbClr val="FF0000"/>
                </a:solidFill>
                <a:ln w="0">
                  <a:solidFill>
                    <a:srgbClr val="FFFFFF"/>
                  </a:solidFill>
                  <a:prstDash val="solid"/>
                  <a:round/>
                  <a:headEnd/>
                  <a:tailEnd/>
                </a:ln>
              </p:spPr>
              <p:txBody>
                <a:bodyPr/>
                <a:lstStyle/>
                <a:p>
                  <a:endParaRPr lang="en-US">
                    <a:latin typeface="Roboto" panose="02000000000000000000" pitchFamily="2" charset="0"/>
                    <a:ea typeface="Roboto" panose="02000000000000000000" pitchFamily="2" charset="0"/>
                  </a:endParaRPr>
                </a:p>
              </p:txBody>
            </p:sp>
            <p:sp>
              <p:nvSpPr>
                <p:cNvPr id="297" name="Oval 289">
                  <a:extLst>
                    <a:ext uri="{FF2B5EF4-FFF2-40B4-BE49-F238E27FC236}">
                      <a16:creationId xmlns:a16="http://schemas.microsoft.com/office/drawing/2014/main" id="{3F42E6DF-4251-C4DB-CD37-2A408FF25039}"/>
                    </a:ext>
                  </a:extLst>
                </p:cNvPr>
                <p:cNvSpPr>
                  <a:spLocks noChangeArrowheads="1"/>
                </p:cNvSpPr>
                <p:nvPr/>
              </p:nvSpPr>
              <p:spPr bwMode="auto">
                <a:xfrm>
                  <a:off x="5307" y="2927"/>
                  <a:ext cx="127" cy="112"/>
                </a:xfrm>
                <a:prstGeom prst="ellipse">
                  <a:avLst/>
                </a:prstGeom>
                <a:blipFill dpi="0" rotWithShape="0">
                  <a:blip/>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98" name="Rectangle 290">
                  <a:extLst>
                    <a:ext uri="{FF2B5EF4-FFF2-40B4-BE49-F238E27FC236}">
                      <a16:creationId xmlns:a16="http://schemas.microsoft.com/office/drawing/2014/main" id="{15F32630-DCCB-E182-1DC7-DF2687C884DF}"/>
                    </a:ext>
                  </a:extLst>
                </p:cNvPr>
                <p:cNvSpPr>
                  <a:spLocks noChangeArrowheads="1"/>
                </p:cNvSpPr>
                <p:nvPr/>
              </p:nvSpPr>
              <p:spPr bwMode="auto">
                <a:xfrm>
                  <a:off x="5307" y="2927"/>
                  <a:ext cx="128" cy="1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sp>
            <p:nvSpPr>
              <p:cNvPr id="294" name="Oval 291">
                <a:extLst>
                  <a:ext uri="{FF2B5EF4-FFF2-40B4-BE49-F238E27FC236}">
                    <a16:creationId xmlns:a16="http://schemas.microsoft.com/office/drawing/2014/main" id="{02A8EC16-5EC2-B9FB-8C21-428AA72AF604}"/>
                  </a:ext>
                </a:extLst>
              </p:cNvPr>
              <p:cNvSpPr>
                <a:spLocks noChangeArrowheads="1"/>
              </p:cNvSpPr>
              <p:nvPr/>
            </p:nvSpPr>
            <p:spPr bwMode="auto">
              <a:xfrm>
                <a:off x="5307" y="2927"/>
                <a:ext cx="127" cy="112"/>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nvGrpSpPr>
            <p:cNvPr id="299" name="Group 292">
              <a:extLst>
                <a:ext uri="{FF2B5EF4-FFF2-40B4-BE49-F238E27FC236}">
                  <a16:creationId xmlns:a16="http://schemas.microsoft.com/office/drawing/2014/main" id="{8A724B83-11F4-F112-9297-88698F00996B}"/>
                </a:ext>
              </a:extLst>
            </p:cNvPr>
            <p:cNvGrpSpPr>
              <a:grpSpLocks/>
            </p:cNvGrpSpPr>
            <p:nvPr/>
          </p:nvGrpSpPr>
          <p:grpSpPr bwMode="auto">
            <a:xfrm>
              <a:off x="8224838" y="5219700"/>
              <a:ext cx="203200" cy="179388"/>
              <a:chOff x="5307" y="3309"/>
              <a:chExt cx="128" cy="113"/>
            </a:xfrm>
          </p:grpSpPr>
          <p:grpSp>
            <p:nvGrpSpPr>
              <p:cNvPr id="300" name="Group 293">
                <a:extLst>
                  <a:ext uri="{FF2B5EF4-FFF2-40B4-BE49-F238E27FC236}">
                    <a16:creationId xmlns:a16="http://schemas.microsoft.com/office/drawing/2014/main" id="{069B2BCF-EB21-971A-8271-394B3D10FD10}"/>
                  </a:ext>
                </a:extLst>
              </p:cNvPr>
              <p:cNvGrpSpPr>
                <a:grpSpLocks/>
              </p:cNvGrpSpPr>
              <p:nvPr/>
            </p:nvGrpSpPr>
            <p:grpSpPr bwMode="auto">
              <a:xfrm>
                <a:off x="5307" y="3309"/>
                <a:ext cx="128" cy="113"/>
                <a:chOff x="5307" y="3309"/>
                <a:chExt cx="128" cy="113"/>
              </a:xfrm>
            </p:grpSpPr>
            <p:sp>
              <p:nvSpPr>
                <p:cNvPr id="302" name="Rectangle 294">
                  <a:extLst>
                    <a:ext uri="{FF2B5EF4-FFF2-40B4-BE49-F238E27FC236}">
                      <a16:creationId xmlns:a16="http://schemas.microsoft.com/office/drawing/2014/main" id="{5D5B392C-F084-B409-2185-30C171919331}"/>
                    </a:ext>
                  </a:extLst>
                </p:cNvPr>
                <p:cNvSpPr>
                  <a:spLocks noChangeArrowheads="1"/>
                </p:cNvSpPr>
                <p:nvPr/>
              </p:nvSpPr>
              <p:spPr bwMode="auto">
                <a:xfrm>
                  <a:off x="5307" y="3309"/>
                  <a:ext cx="128" cy="1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03" name="Freeform 295">
                  <a:extLst>
                    <a:ext uri="{FF2B5EF4-FFF2-40B4-BE49-F238E27FC236}">
                      <a16:creationId xmlns:a16="http://schemas.microsoft.com/office/drawing/2014/main" id="{B35ABE42-4AC2-6B7F-8189-FA0BC976D00F}"/>
                    </a:ext>
                  </a:extLst>
                </p:cNvPr>
                <p:cNvSpPr>
                  <a:spLocks/>
                </p:cNvSpPr>
                <p:nvPr/>
              </p:nvSpPr>
              <p:spPr bwMode="auto">
                <a:xfrm>
                  <a:off x="5307" y="3309"/>
                  <a:ext cx="126" cy="111"/>
                </a:xfrm>
                <a:custGeom>
                  <a:avLst/>
                  <a:gdLst>
                    <a:gd name="T0" fmla="*/ 16 w 251"/>
                    <a:gd name="T1" fmla="*/ 0 h 111"/>
                    <a:gd name="T2" fmla="*/ 13 w 251"/>
                    <a:gd name="T3" fmla="*/ 1 h 111"/>
                    <a:gd name="T4" fmla="*/ 10 w 251"/>
                    <a:gd name="T5" fmla="*/ 5 h 111"/>
                    <a:gd name="T6" fmla="*/ 7 w 251"/>
                    <a:gd name="T7" fmla="*/ 9 h 111"/>
                    <a:gd name="T8" fmla="*/ 5 w 251"/>
                    <a:gd name="T9" fmla="*/ 16 h 111"/>
                    <a:gd name="T10" fmla="*/ 3 w 251"/>
                    <a:gd name="T11" fmla="*/ 24 h 111"/>
                    <a:gd name="T12" fmla="*/ 2 w 251"/>
                    <a:gd name="T13" fmla="*/ 34 h 111"/>
                    <a:gd name="T14" fmla="*/ 1 w 251"/>
                    <a:gd name="T15" fmla="*/ 45 h 111"/>
                    <a:gd name="T16" fmla="*/ 0 w 251"/>
                    <a:gd name="T17" fmla="*/ 55 h 111"/>
                    <a:gd name="T18" fmla="*/ 1 w 251"/>
                    <a:gd name="T19" fmla="*/ 66 h 111"/>
                    <a:gd name="T20" fmla="*/ 2 w 251"/>
                    <a:gd name="T21" fmla="*/ 77 h 111"/>
                    <a:gd name="T22" fmla="*/ 3 w 251"/>
                    <a:gd name="T23" fmla="*/ 86 h 111"/>
                    <a:gd name="T24" fmla="*/ 5 w 251"/>
                    <a:gd name="T25" fmla="*/ 95 h 111"/>
                    <a:gd name="T26" fmla="*/ 7 w 251"/>
                    <a:gd name="T27" fmla="*/ 102 h 111"/>
                    <a:gd name="T28" fmla="*/ 10 w 251"/>
                    <a:gd name="T29" fmla="*/ 106 h 111"/>
                    <a:gd name="T30" fmla="*/ 13 w 251"/>
                    <a:gd name="T31" fmla="*/ 110 h 111"/>
                    <a:gd name="T32" fmla="*/ 16 w 251"/>
                    <a:gd name="T33" fmla="*/ 111 h 111"/>
                    <a:gd name="T34" fmla="*/ 19 w 251"/>
                    <a:gd name="T35" fmla="*/ 110 h 111"/>
                    <a:gd name="T36" fmla="*/ 22 w 251"/>
                    <a:gd name="T37" fmla="*/ 106 h 111"/>
                    <a:gd name="T38" fmla="*/ 25 w 251"/>
                    <a:gd name="T39" fmla="*/ 102 h 111"/>
                    <a:gd name="T40" fmla="*/ 27 w 251"/>
                    <a:gd name="T41" fmla="*/ 95 h 111"/>
                    <a:gd name="T42" fmla="*/ 29 w 251"/>
                    <a:gd name="T43" fmla="*/ 86 h 111"/>
                    <a:gd name="T44" fmla="*/ 31 w 251"/>
                    <a:gd name="T45" fmla="*/ 77 h 111"/>
                    <a:gd name="T46" fmla="*/ 32 w 251"/>
                    <a:gd name="T47" fmla="*/ 66 h 111"/>
                    <a:gd name="T48" fmla="*/ 32 w 251"/>
                    <a:gd name="T49" fmla="*/ 55 h 111"/>
                    <a:gd name="T50" fmla="*/ 32 w 251"/>
                    <a:gd name="T51" fmla="*/ 45 h 111"/>
                    <a:gd name="T52" fmla="*/ 31 w 251"/>
                    <a:gd name="T53" fmla="*/ 34 h 111"/>
                    <a:gd name="T54" fmla="*/ 29 w 251"/>
                    <a:gd name="T55" fmla="*/ 24 h 111"/>
                    <a:gd name="T56" fmla="*/ 27 w 251"/>
                    <a:gd name="T57" fmla="*/ 16 h 111"/>
                    <a:gd name="T58" fmla="*/ 25 w 251"/>
                    <a:gd name="T59" fmla="*/ 9 h 111"/>
                    <a:gd name="T60" fmla="*/ 22 w 251"/>
                    <a:gd name="T61" fmla="*/ 5 h 111"/>
                    <a:gd name="T62" fmla="*/ 19 w 251"/>
                    <a:gd name="T63" fmla="*/ 1 h 111"/>
                    <a:gd name="T64" fmla="*/ 16 w 251"/>
                    <a:gd name="T65" fmla="*/ 0 h 11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1" h="111">
                      <a:moveTo>
                        <a:pt x="124" y="0"/>
                      </a:moveTo>
                      <a:lnTo>
                        <a:pt x="100" y="1"/>
                      </a:lnTo>
                      <a:lnTo>
                        <a:pt x="76" y="5"/>
                      </a:lnTo>
                      <a:lnTo>
                        <a:pt x="55" y="9"/>
                      </a:lnTo>
                      <a:lnTo>
                        <a:pt x="36" y="16"/>
                      </a:lnTo>
                      <a:lnTo>
                        <a:pt x="21" y="24"/>
                      </a:lnTo>
                      <a:lnTo>
                        <a:pt x="9" y="34"/>
                      </a:lnTo>
                      <a:lnTo>
                        <a:pt x="2" y="45"/>
                      </a:lnTo>
                      <a:lnTo>
                        <a:pt x="0" y="55"/>
                      </a:lnTo>
                      <a:lnTo>
                        <a:pt x="2" y="66"/>
                      </a:lnTo>
                      <a:lnTo>
                        <a:pt x="9" y="77"/>
                      </a:lnTo>
                      <a:lnTo>
                        <a:pt x="21" y="86"/>
                      </a:lnTo>
                      <a:lnTo>
                        <a:pt x="36" y="95"/>
                      </a:lnTo>
                      <a:lnTo>
                        <a:pt x="55" y="102"/>
                      </a:lnTo>
                      <a:lnTo>
                        <a:pt x="76" y="106"/>
                      </a:lnTo>
                      <a:lnTo>
                        <a:pt x="100" y="110"/>
                      </a:lnTo>
                      <a:lnTo>
                        <a:pt x="124" y="111"/>
                      </a:lnTo>
                      <a:lnTo>
                        <a:pt x="149" y="110"/>
                      </a:lnTo>
                      <a:lnTo>
                        <a:pt x="174" y="106"/>
                      </a:lnTo>
                      <a:lnTo>
                        <a:pt x="196" y="102"/>
                      </a:lnTo>
                      <a:lnTo>
                        <a:pt x="215" y="95"/>
                      </a:lnTo>
                      <a:lnTo>
                        <a:pt x="230" y="86"/>
                      </a:lnTo>
                      <a:lnTo>
                        <a:pt x="242" y="77"/>
                      </a:lnTo>
                      <a:lnTo>
                        <a:pt x="249" y="66"/>
                      </a:lnTo>
                      <a:lnTo>
                        <a:pt x="251" y="55"/>
                      </a:lnTo>
                      <a:lnTo>
                        <a:pt x="249" y="45"/>
                      </a:lnTo>
                      <a:lnTo>
                        <a:pt x="242" y="34"/>
                      </a:lnTo>
                      <a:lnTo>
                        <a:pt x="230" y="24"/>
                      </a:lnTo>
                      <a:lnTo>
                        <a:pt x="215" y="16"/>
                      </a:lnTo>
                      <a:lnTo>
                        <a:pt x="196" y="9"/>
                      </a:lnTo>
                      <a:lnTo>
                        <a:pt x="174" y="5"/>
                      </a:lnTo>
                      <a:lnTo>
                        <a:pt x="149" y="1"/>
                      </a:lnTo>
                      <a:lnTo>
                        <a:pt x="124" y="0"/>
                      </a:lnTo>
                      <a:close/>
                    </a:path>
                  </a:pathLst>
                </a:custGeom>
                <a:solidFill>
                  <a:srgbClr val="FF0000"/>
                </a:solidFill>
                <a:ln w="0">
                  <a:solidFill>
                    <a:srgbClr val="FFFFFF"/>
                  </a:solidFill>
                  <a:prstDash val="solid"/>
                  <a:round/>
                  <a:headEnd/>
                  <a:tailEnd/>
                </a:ln>
              </p:spPr>
              <p:txBody>
                <a:bodyPr/>
                <a:lstStyle/>
                <a:p>
                  <a:endParaRPr lang="en-US">
                    <a:latin typeface="Roboto" panose="02000000000000000000" pitchFamily="2" charset="0"/>
                    <a:ea typeface="Roboto" panose="02000000000000000000" pitchFamily="2" charset="0"/>
                  </a:endParaRPr>
                </a:p>
              </p:txBody>
            </p:sp>
            <p:sp>
              <p:nvSpPr>
                <p:cNvPr id="304" name="Oval 296">
                  <a:extLst>
                    <a:ext uri="{FF2B5EF4-FFF2-40B4-BE49-F238E27FC236}">
                      <a16:creationId xmlns:a16="http://schemas.microsoft.com/office/drawing/2014/main" id="{9FABE59B-7D00-BBCD-B590-5E75EFFCF667}"/>
                    </a:ext>
                  </a:extLst>
                </p:cNvPr>
                <p:cNvSpPr>
                  <a:spLocks noChangeArrowheads="1"/>
                </p:cNvSpPr>
                <p:nvPr/>
              </p:nvSpPr>
              <p:spPr bwMode="auto">
                <a:xfrm>
                  <a:off x="5307" y="3309"/>
                  <a:ext cx="127" cy="112"/>
                </a:xfrm>
                <a:prstGeom prst="ellipse">
                  <a:avLst/>
                </a:prstGeom>
                <a:blipFill dpi="0" rotWithShape="0">
                  <a:blip/>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05" name="Rectangle 297">
                  <a:extLst>
                    <a:ext uri="{FF2B5EF4-FFF2-40B4-BE49-F238E27FC236}">
                      <a16:creationId xmlns:a16="http://schemas.microsoft.com/office/drawing/2014/main" id="{F9807DD2-64C3-BB8A-3480-9766A1998599}"/>
                    </a:ext>
                  </a:extLst>
                </p:cNvPr>
                <p:cNvSpPr>
                  <a:spLocks noChangeArrowheads="1"/>
                </p:cNvSpPr>
                <p:nvPr/>
              </p:nvSpPr>
              <p:spPr bwMode="auto">
                <a:xfrm>
                  <a:off x="5307" y="3309"/>
                  <a:ext cx="128" cy="1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sp>
            <p:nvSpPr>
              <p:cNvPr id="301" name="Oval 298">
                <a:extLst>
                  <a:ext uri="{FF2B5EF4-FFF2-40B4-BE49-F238E27FC236}">
                    <a16:creationId xmlns:a16="http://schemas.microsoft.com/office/drawing/2014/main" id="{71852FD8-D345-E35D-EEB3-7833C01E194E}"/>
                  </a:ext>
                </a:extLst>
              </p:cNvPr>
              <p:cNvSpPr>
                <a:spLocks noChangeArrowheads="1"/>
              </p:cNvSpPr>
              <p:nvPr/>
            </p:nvSpPr>
            <p:spPr bwMode="auto">
              <a:xfrm>
                <a:off x="5307" y="3309"/>
                <a:ext cx="127" cy="112"/>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sp>
          <p:nvSpPr>
            <p:cNvPr id="306" name="Oval 299">
              <a:extLst>
                <a:ext uri="{FF2B5EF4-FFF2-40B4-BE49-F238E27FC236}">
                  <a16:creationId xmlns:a16="http://schemas.microsoft.com/office/drawing/2014/main" id="{69F6CEE1-12A8-C976-0BE1-1D6A2BEF3451}"/>
                </a:ext>
              </a:extLst>
            </p:cNvPr>
            <p:cNvSpPr>
              <a:spLocks noChangeArrowheads="1"/>
            </p:cNvSpPr>
            <p:nvPr/>
          </p:nvSpPr>
          <p:spPr bwMode="auto">
            <a:xfrm>
              <a:off x="2449513" y="3400425"/>
              <a:ext cx="201612" cy="176213"/>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07" name="Oval 300">
              <a:extLst>
                <a:ext uri="{FF2B5EF4-FFF2-40B4-BE49-F238E27FC236}">
                  <a16:creationId xmlns:a16="http://schemas.microsoft.com/office/drawing/2014/main" id="{B5495C3B-6031-90CF-BFE3-5315C3A74837}"/>
                </a:ext>
              </a:extLst>
            </p:cNvPr>
            <p:cNvSpPr>
              <a:spLocks noChangeArrowheads="1"/>
            </p:cNvSpPr>
            <p:nvPr/>
          </p:nvSpPr>
          <p:spPr bwMode="auto">
            <a:xfrm>
              <a:off x="2449513" y="4310063"/>
              <a:ext cx="201612" cy="176212"/>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08" name="Oval 301">
              <a:extLst>
                <a:ext uri="{FF2B5EF4-FFF2-40B4-BE49-F238E27FC236}">
                  <a16:creationId xmlns:a16="http://schemas.microsoft.com/office/drawing/2014/main" id="{D60A460C-E65B-9F20-B4EA-A0FED43427EA}"/>
                </a:ext>
              </a:extLst>
            </p:cNvPr>
            <p:cNvSpPr>
              <a:spLocks noChangeArrowheads="1"/>
            </p:cNvSpPr>
            <p:nvPr/>
          </p:nvSpPr>
          <p:spPr bwMode="auto">
            <a:xfrm>
              <a:off x="2449513" y="4916488"/>
              <a:ext cx="201612" cy="177800"/>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09" name="Oval 302">
              <a:extLst>
                <a:ext uri="{FF2B5EF4-FFF2-40B4-BE49-F238E27FC236}">
                  <a16:creationId xmlns:a16="http://schemas.microsoft.com/office/drawing/2014/main" id="{84C45AE6-430C-873B-3FE7-5150F59C3CC1}"/>
                </a:ext>
              </a:extLst>
            </p:cNvPr>
            <p:cNvSpPr>
              <a:spLocks noChangeArrowheads="1"/>
            </p:cNvSpPr>
            <p:nvPr/>
          </p:nvSpPr>
          <p:spPr bwMode="auto">
            <a:xfrm>
              <a:off x="3092450" y="4916488"/>
              <a:ext cx="200025" cy="177800"/>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10" name="Oval 303">
              <a:extLst>
                <a:ext uri="{FF2B5EF4-FFF2-40B4-BE49-F238E27FC236}">
                  <a16:creationId xmlns:a16="http://schemas.microsoft.com/office/drawing/2014/main" id="{77CC2312-A629-7D3F-FEFA-65F197D8EFC0}"/>
                </a:ext>
              </a:extLst>
            </p:cNvPr>
            <p:cNvSpPr>
              <a:spLocks noChangeArrowheads="1"/>
            </p:cNvSpPr>
            <p:nvPr/>
          </p:nvSpPr>
          <p:spPr bwMode="auto">
            <a:xfrm>
              <a:off x="3092450" y="3703638"/>
              <a:ext cx="200025" cy="176212"/>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11" name="Oval 304">
              <a:extLst>
                <a:ext uri="{FF2B5EF4-FFF2-40B4-BE49-F238E27FC236}">
                  <a16:creationId xmlns:a16="http://schemas.microsoft.com/office/drawing/2014/main" id="{5A93B485-A14E-6A3C-8395-BBA9E519CC16}"/>
                </a:ext>
              </a:extLst>
            </p:cNvPr>
            <p:cNvSpPr>
              <a:spLocks noChangeArrowheads="1"/>
            </p:cNvSpPr>
            <p:nvPr/>
          </p:nvSpPr>
          <p:spPr bwMode="auto">
            <a:xfrm>
              <a:off x="3092450" y="3400425"/>
              <a:ext cx="200025" cy="176213"/>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12" name="Oval 305">
              <a:extLst>
                <a:ext uri="{FF2B5EF4-FFF2-40B4-BE49-F238E27FC236}">
                  <a16:creationId xmlns:a16="http://schemas.microsoft.com/office/drawing/2014/main" id="{B7676CA2-4219-6B89-EA08-5B6D9CB0E4DE}"/>
                </a:ext>
              </a:extLst>
            </p:cNvPr>
            <p:cNvSpPr>
              <a:spLocks noChangeArrowheads="1"/>
            </p:cNvSpPr>
            <p:nvPr/>
          </p:nvSpPr>
          <p:spPr bwMode="auto">
            <a:xfrm>
              <a:off x="3092450" y="2792413"/>
              <a:ext cx="200025" cy="177800"/>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13" name="Oval 306">
              <a:extLst>
                <a:ext uri="{FF2B5EF4-FFF2-40B4-BE49-F238E27FC236}">
                  <a16:creationId xmlns:a16="http://schemas.microsoft.com/office/drawing/2014/main" id="{F593300F-2765-5639-4DEC-365E9F0AC6C3}"/>
                </a:ext>
              </a:extLst>
            </p:cNvPr>
            <p:cNvSpPr>
              <a:spLocks noChangeArrowheads="1"/>
            </p:cNvSpPr>
            <p:nvPr/>
          </p:nvSpPr>
          <p:spPr bwMode="auto">
            <a:xfrm>
              <a:off x="3733800" y="3095625"/>
              <a:ext cx="200025" cy="177800"/>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14" name="Oval 307">
              <a:extLst>
                <a:ext uri="{FF2B5EF4-FFF2-40B4-BE49-F238E27FC236}">
                  <a16:creationId xmlns:a16="http://schemas.microsoft.com/office/drawing/2014/main" id="{3A31DADA-68A9-61CF-DC64-F50B0C80E0D0}"/>
                </a:ext>
              </a:extLst>
            </p:cNvPr>
            <p:cNvSpPr>
              <a:spLocks noChangeArrowheads="1"/>
            </p:cNvSpPr>
            <p:nvPr/>
          </p:nvSpPr>
          <p:spPr bwMode="auto">
            <a:xfrm>
              <a:off x="3733800" y="3703638"/>
              <a:ext cx="200025" cy="176212"/>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15" name="Oval 308">
              <a:extLst>
                <a:ext uri="{FF2B5EF4-FFF2-40B4-BE49-F238E27FC236}">
                  <a16:creationId xmlns:a16="http://schemas.microsoft.com/office/drawing/2014/main" id="{1D37E674-7DA3-7347-8AEF-85B61DCCC000}"/>
                </a:ext>
              </a:extLst>
            </p:cNvPr>
            <p:cNvSpPr>
              <a:spLocks noChangeArrowheads="1"/>
            </p:cNvSpPr>
            <p:nvPr/>
          </p:nvSpPr>
          <p:spPr bwMode="auto">
            <a:xfrm>
              <a:off x="3733800" y="4613275"/>
              <a:ext cx="200025" cy="177800"/>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16" name="Oval 309">
              <a:extLst>
                <a:ext uri="{FF2B5EF4-FFF2-40B4-BE49-F238E27FC236}">
                  <a16:creationId xmlns:a16="http://schemas.microsoft.com/office/drawing/2014/main" id="{F7F6131A-4766-A3CB-E0AB-EE73BFABA49C}"/>
                </a:ext>
              </a:extLst>
            </p:cNvPr>
            <p:cNvSpPr>
              <a:spLocks noChangeArrowheads="1"/>
            </p:cNvSpPr>
            <p:nvPr/>
          </p:nvSpPr>
          <p:spPr bwMode="auto">
            <a:xfrm>
              <a:off x="3733800" y="4916488"/>
              <a:ext cx="200025" cy="177800"/>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17" name="Oval 310">
              <a:extLst>
                <a:ext uri="{FF2B5EF4-FFF2-40B4-BE49-F238E27FC236}">
                  <a16:creationId xmlns:a16="http://schemas.microsoft.com/office/drawing/2014/main" id="{9659C0C5-AE8F-5736-9EF4-C0F3C22EE4EA}"/>
                </a:ext>
              </a:extLst>
            </p:cNvPr>
            <p:cNvSpPr>
              <a:spLocks noChangeArrowheads="1"/>
            </p:cNvSpPr>
            <p:nvPr/>
          </p:nvSpPr>
          <p:spPr bwMode="auto">
            <a:xfrm>
              <a:off x="3733800" y="5219700"/>
              <a:ext cx="200025" cy="177800"/>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18" name="Oval 311">
              <a:extLst>
                <a:ext uri="{FF2B5EF4-FFF2-40B4-BE49-F238E27FC236}">
                  <a16:creationId xmlns:a16="http://schemas.microsoft.com/office/drawing/2014/main" id="{CCB7367D-0533-18FF-9992-F5E12C6EB159}"/>
                </a:ext>
              </a:extLst>
            </p:cNvPr>
            <p:cNvSpPr>
              <a:spLocks noChangeArrowheads="1"/>
            </p:cNvSpPr>
            <p:nvPr/>
          </p:nvSpPr>
          <p:spPr bwMode="auto">
            <a:xfrm>
              <a:off x="3733800" y="5522913"/>
              <a:ext cx="200025" cy="177800"/>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19" name="Oval 312">
              <a:extLst>
                <a:ext uri="{FF2B5EF4-FFF2-40B4-BE49-F238E27FC236}">
                  <a16:creationId xmlns:a16="http://schemas.microsoft.com/office/drawing/2014/main" id="{42564E57-B5EB-3D61-7FE7-67A7081CE818}"/>
                </a:ext>
              </a:extLst>
            </p:cNvPr>
            <p:cNvSpPr>
              <a:spLocks noChangeArrowheads="1"/>
            </p:cNvSpPr>
            <p:nvPr/>
          </p:nvSpPr>
          <p:spPr bwMode="auto">
            <a:xfrm>
              <a:off x="4375150" y="2792413"/>
              <a:ext cx="201613" cy="177800"/>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20" name="Oval 313">
              <a:extLst>
                <a:ext uri="{FF2B5EF4-FFF2-40B4-BE49-F238E27FC236}">
                  <a16:creationId xmlns:a16="http://schemas.microsoft.com/office/drawing/2014/main" id="{A2B04983-77AD-3EE2-ED2E-0584F1971CA6}"/>
                </a:ext>
              </a:extLst>
            </p:cNvPr>
            <p:cNvSpPr>
              <a:spLocks noChangeArrowheads="1"/>
            </p:cNvSpPr>
            <p:nvPr/>
          </p:nvSpPr>
          <p:spPr bwMode="auto">
            <a:xfrm>
              <a:off x="4375150" y="3095625"/>
              <a:ext cx="201613" cy="177800"/>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21" name="Oval 314">
              <a:extLst>
                <a:ext uri="{FF2B5EF4-FFF2-40B4-BE49-F238E27FC236}">
                  <a16:creationId xmlns:a16="http://schemas.microsoft.com/office/drawing/2014/main" id="{627C73AC-D34C-938E-F4D2-D9DFF6C21052}"/>
                </a:ext>
              </a:extLst>
            </p:cNvPr>
            <p:cNvSpPr>
              <a:spLocks noChangeArrowheads="1"/>
            </p:cNvSpPr>
            <p:nvPr/>
          </p:nvSpPr>
          <p:spPr bwMode="auto">
            <a:xfrm>
              <a:off x="4375150" y="3400425"/>
              <a:ext cx="201613" cy="176213"/>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22" name="Oval 315">
              <a:extLst>
                <a:ext uri="{FF2B5EF4-FFF2-40B4-BE49-F238E27FC236}">
                  <a16:creationId xmlns:a16="http://schemas.microsoft.com/office/drawing/2014/main" id="{94D0D941-4D94-5532-2D0F-01884DFAA83C}"/>
                </a:ext>
              </a:extLst>
            </p:cNvPr>
            <p:cNvSpPr>
              <a:spLocks noChangeArrowheads="1"/>
            </p:cNvSpPr>
            <p:nvPr/>
          </p:nvSpPr>
          <p:spPr bwMode="auto">
            <a:xfrm>
              <a:off x="4375150" y="4310063"/>
              <a:ext cx="201613" cy="176212"/>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23" name="Oval 316">
              <a:extLst>
                <a:ext uri="{FF2B5EF4-FFF2-40B4-BE49-F238E27FC236}">
                  <a16:creationId xmlns:a16="http://schemas.microsoft.com/office/drawing/2014/main" id="{D3D256B3-735D-380D-33CF-15A863622962}"/>
                </a:ext>
              </a:extLst>
            </p:cNvPr>
            <p:cNvSpPr>
              <a:spLocks noChangeArrowheads="1"/>
            </p:cNvSpPr>
            <p:nvPr/>
          </p:nvSpPr>
          <p:spPr bwMode="auto">
            <a:xfrm>
              <a:off x="5016500" y="2792413"/>
              <a:ext cx="201613" cy="177800"/>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24" name="Oval 317">
              <a:extLst>
                <a:ext uri="{FF2B5EF4-FFF2-40B4-BE49-F238E27FC236}">
                  <a16:creationId xmlns:a16="http://schemas.microsoft.com/office/drawing/2014/main" id="{9285A03E-40AE-1ED0-2CDF-985CD351A6C6}"/>
                </a:ext>
              </a:extLst>
            </p:cNvPr>
            <p:cNvSpPr>
              <a:spLocks noChangeArrowheads="1"/>
            </p:cNvSpPr>
            <p:nvPr/>
          </p:nvSpPr>
          <p:spPr bwMode="auto">
            <a:xfrm>
              <a:off x="5016500" y="3400425"/>
              <a:ext cx="201613" cy="176213"/>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25" name="Oval 318">
              <a:extLst>
                <a:ext uri="{FF2B5EF4-FFF2-40B4-BE49-F238E27FC236}">
                  <a16:creationId xmlns:a16="http://schemas.microsoft.com/office/drawing/2014/main" id="{4163D092-393B-C84E-EEF3-A864E8CF7490}"/>
                </a:ext>
              </a:extLst>
            </p:cNvPr>
            <p:cNvSpPr>
              <a:spLocks noChangeArrowheads="1"/>
            </p:cNvSpPr>
            <p:nvPr/>
          </p:nvSpPr>
          <p:spPr bwMode="auto">
            <a:xfrm>
              <a:off x="5016500" y="3703638"/>
              <a:ext cx="201613" cy="176212"/>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26" name="Oval 319">
              <a:extLst>
                <a:ext uri="{FF2B5EF4-FFF2-40B4-BE49-F238E27FC236}">
                  <a16:creationId xmlns:a16="http://schemas.microsoft.com/office/drawing/2014/main" id="{E4E7FA79-B664-6D7C-F020-7D6069AD0853}"/>
                </a:ext>
              </a:extLst>
            </p:cNvPr>
            <p:cNvSpPr>
              <a:spLocks noChangeArrowheads="1"/>
            </p:cNvSpPr>
            <p:nvPr/>
          </p:nvSpPr>
          <p:spPr bwMode="auto">
            <a:xfrm>
              <a:off x="5016500" y="4310063"/>
              <a:ext cx="201613" cy="176212"/>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27" name="Oval 320">
              <a:extLst>
                <a:ext uri="{FF2B5EF4-FFF2-40B4-BE49-F238E27FC236}">
                  <a16:creationId xmlns:a16="http://schemas.microsoft.com/office/drawing/2014/main" id="{FA2564CF-736A-0351-B675-9288DA197E52}"/>
                </a:ext>
              </a:extLst>
            </p:cNvPr>
            <p:cNvSpPr>
              <a:spLocks noChangeArrowheads="1"/>
            </p:cNvSpPr>
            <p:nvPr/>
          </p:nvSpPr>
          <p:spPr bwMode="auto">
            <a:xfrm>
              <a:off x="5016500" y="4916488"/>
              <a:ext cx="201613" cy="177800"/>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28" name="Oval 321">
              <a:extLst>
                <a:ext uri="{FF2B5EF4-FFF2-40B4-BE49-F238E27FC236}">
                  <a16:creationId xmlns:a16="http://schemas.microsoft.com/office/drawing/2014/main" id="{74896D8E-6D47-4BAD-4D30-F972A0419E69}"/>
                </a:ext>
              </a:extLst>
            </p:cNvPr>
            <p:cNvSpPr>
              <a:spLocks noChangeArrowheads="1"/>
            </p:cNvSpPr>
            <p:nvPr/>
          </p:nvSpPr>
          <p:spPr bwMode="auto">
            <a:xfrm>
              <a:off x="5657850" y="2792413"/>
              <a:ext cx="201613" cy="177800"/>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29" name="Oval 322">
              <a:extLst>
                <a:ext uri="{FF2B5EF4-FFF2-40B4-BE49-F238E27FC236}">
                  <a16:creationId xmlns:a16="http://schemas.microsoft.com/office/drawing/2014/main" id="{25F81CCA-4A35-962F-E84C-61F7FB4AB6A4}"/>
                </a:ext>
              </a:extLst>
            </p:cNvPr>
            <p:cNvSpPr>
              <a:spLocks noChangeArrowheads="1"/>
            </p:cNvSpPr>
            <p:nvPr/>
          </p:nvSpPr>
          <p:spPr bwMode="auto">
            <a:xfrm>
              <a:off x="5657850" y="3703638"/>
              <a:ext cx="201613" cy="176212"/>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30" name="Oval 323">
              <a:extLst>
                <a:ext uri="{FF2B5EF4-FFF2-40B4-BE49-F238E27FC236}">
                  <a16:creationId xmlns:a16="http://schemas.microsoft.com/office/drawing/2014/main" id="{A40A3460-9771-BD8C-E56A-5F39A62F5B70}"/>
                </a:ext>
              </a:extLst>
            </p:cNvPr>
            <p:cNvSpPr>
              <a:spLocks noChangeArrowheads="1"/>
            </p:cNvSpPr>
            <p:nvPr/>
          </p:nvSpPr>
          <p:spPr bwMode="auto">
            <a:xfrm>
              <a:off x="6299200" y="4613275"/>
              <a:ext cx="201613" cy="177800"/>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31" name="Oval 324">
              <a:extLst>
                <a:ext uri="{FF2B5EF4-FFF2-40B4-BE49-F238E27FC236}">
                  <a16:creationId xmlns:a16="http://schemas.microsoft.com/office/drawing/2014/main" id="{241E4619-B096-490F-1FE7-E95B9168455E}"/>
                </a:ext>
              </a:extLst>
            </p:cNvPr>
            <p:cNvSpPr>
              <a:spLocks noChangeArrowheads="1"/>
            </p:cNvSpPr>
            <p:nvPr/>
          </p:nvSpPr>
          <p:spPr bwMode="auto">
            <a:xfrm>
              <a:off x="6299200" y="4916488"/>
              <a:ext cx="201613" cy="177800"/>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32" name="Oval 325">
              <a:extLst>
                <a:ext uri="{FF2B5EF4-FFF2-40B4-BE49-F238E27FC236}">
                  <a16:creationId xmlns:a16="http://schemas.microsoft.com/office/drawing/2014/main" id="{2F1DE257-A440-FE8B-99A9-EC53CEB9D7C2}"/>
                </a:ext>
              </a:extLst>
            </p:cNvPr>
            <p:cNvSpPr>
              <a:spLocks noChangeArrowheads="1"/>
            </p:cNvSpPr>
            <p:nvPr/>
          </p:nvSpPr>
          <p:spPr bwMode="auto">
            <a:xfrm>
              <a:off x="6942138" y="2792413"/>
              <a:ext cx="200025" cy="177800"/>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33" name="Oval 326">
              <a:extLst>
                <a:ext uri="{FF2B5EF4-FFF2-40B4-BE49-F238E27FC236}">
                  <a16:creationId xmlns:a16="http://schemas.microsoft.com/office/drawing/2014/main" id="{03A746E6-5F43-E7A3-89D9-868414D8054E}"/>
                </a:ext>
              </a:extLst>
            </p:cNvPr>
            <p:cNvSpPr>
              <a:spLocks noChangeArrowheads="1"/>
            </p:cNvSpPr>
            <p:nvPr/>
          </p:nvSpPr>
          <p:spPr bwMode="auto">
            <a:xfrm>
              <a:off x="6942138" y="3400425"/>
              <a:ext cx="200025" cy="176213"/>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34" name="Oval 327">
              <a:extLst>
                <a:ext uri="{FF2B5EF4-FFF2-40B4-BE49-F238E27FC236}">
                  <a16:creationId xmlns:a16="http://schemas.microsoft.com/office/drawing/2014/main" id="{31DC8AB4-3259-7076-2EF4-DD5257916210}"/>
                </a:ext>
              </a:extLst>
            </p:cNvPr>
            <p:cNvSpPr>
              <a:spLocks noChangeArrowheads="1"/>
            </p:cNvSpPr>
            <p:nvPr/>
          </p:nvSpPr>
          <p:spPr bwMode="auto">
            <a:xfrm>
              <a:off x="6942138" y="4916488"/>
              <a:ext cx="200025" cy="177800"/>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35" name="Oval 328">
              <a:extLst>
                <a:ext uri="{FF2B5EF4-FFF2-40B4-BE49-F238E27FC236}">
                  <a16:creationId xmlns:a16="http://schemas.microsoft.com/office/drawing/2014/main" id="{201DFA1D-EFE1-483F-2A22-5699BE12F749}"/>
                </a:ext>
              </a:extLst>
            </p:cNvPr>
            <p:cNvSpPr>
              <a:spLocks noChangeArrowheads="1"/>
            </p:cNvSpPr>
            <p:nvPr/>
          </p:nvSpPr>
          <p:spPr bwMode="auto">
            <a:xfrm>
              <a:off x="7583488" y="2792413"/>
              <a:ext cx="200025" cy="177800"/>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36" name="Oval 329">
              <a:extLst>
                <a:ext uri="{FF2B5EF4-FFF2-40B4-BE49-F238E27FC236}">
                  <a16:creationId xmlns:a16="http://schemas.microsoft.com/office/drawing/2014/main" id="{1B85D447-830A-7A62-3E2A-2F235240585F}"/>
                </a:ext>
              </a:extLst>
            </p:cNvPr>
            <p:cNvSpPr>
              <a:spLocks noChangeArrowheads="1"/>
            </p:cNvSpPr>
            <p:nvPr/>
          </p:nvSpPr>
          <p:spPr bwMode="auto">
            <a:xfrm>
              <a:off x="7583488" y="3400425"/>
              <a:ext cx="200025" cy="176213"/>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37" name="Oval 330">
              <a:extLst>
                <a:ext uri="{FF2B5EF4-FFF2-40B4-BE49-F238E27FC236}">
                  <a16:creationId xmlns:a16="http://schemas.microsoft.com/office/drawing/2014/main" id="{3A5064F3-5014-6F3F-E0B7-77CBF4F2826D}"/>
                </a:ext>
              </a:extLst>
            </p:cNvPr>
            <p:cNvSpPr>
              <a:spLocks noChangeArrowheads="1"/>
            </p:cNvSpPr>
            <p:nvPr/>
          </p:nvSpPr>
          <p:spPr bwMode="auto">
            <a:xfrm>
              <a:off x="7583488" y="3703638"/>
              <a:ext cx="200025" cy="176212"/>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38" name="Oval 331">
              <a:extLst>
                <a:ext uri="{FF2B5EF4-FFF2-40B4-BE49-F238E27FC236}">
                  <a16:creationId xmlns:a16="http://schemas.microsoft.com/office/drawing/2014/main" id="{92242E7E-B609-E20D-CEAF-5A5E183C2786}"/>
                </a:ext>
              </a:extLst>
            </p:cNvPr>
            <p:cNvSpPr>
              <a:spLocks noChangeArrowheads="1"/>
            </p:cNvSpPr>
            <p:nvPr/>
          </p:nvSpPr>
          <p:spPr bwMode="auto">
            <a:xfrm>
              <a:off x="7583488" y="4310063"/>
              <a:ext cx="200025" cy="176212"/>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39" name="Oval 332">
              <a:extLst>
                <a:ext uri="{FF2B5EF4-FFF2-40B4-BE49-F238E27FC236}">
                  <a16:creationId xmlns:a16="http://schemas.microsoft.com/office/drawing/2014/main" id="{88BE4D32-4864-9C56-DED1-010E4BC1B1F9}"/>
                </a:ext>
              </a:extLst>
            </p:cNvPr>
            <p:cNvSpPr>
              <a:spLocks noChangeArrowheads="1"/>
            </p:cNvSpPr>
            <p:nvPr/>
          </p:nvSpPr>
          <p:spPr bwMode="auto">
            <a:xfrm>
              <a:off x="7583488" y="4613275"/>
              <a:ext cx="200025" cy="177800"/>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40" name="Oval 333">
              <a:extLst>
                <a:ext uri="{FF2B5EF4-FFF2-40B4-BE49-F238E27FC236}">
                  <a16:creationId xmlns:a16="http://schemas.microsoft.com/office/drawing/2014/main" id="{96D3373F-DCB8-EDD3-3665-92180B4DE9BF}"/>
                </a:ext>
              </a:extLst>
            </p:cNvPr>
            <p:cNvSpPr>
              <a:spLocks noChangeArrowheads="1"/>
            </p:cNvSpPr>
            <p:nvPr/>
          </p:nvSpPr>
          <p:spPr bwMode="auto">
            <a:xfrm>
              <a:off x="7583488" y="4916488"/>
              <a:ext cx="200025" cy="177800"/>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41" name="Oval 334">
              <a:extLst>
                <a:ext uri="{FF2B5EF4-FFF2-40B4-BE49-F238E27FC236}">
                  <a16:creationId xmlns:a16="http://schemas.microsoft.com/office/drawing/2014/main" id="{264EA42D-76C2-77E7-0B8D-77AE1A3D0B05}"/>
                </a:ext>
              </a:extLst>
            </p:cNvPr>
            <p:cNvSpPr>
              <a:spLocks noChangeArrowheads="1"/>
            </p:cNvSpPr>
            <p:nvPr/>
          </p:nvSpPr>
          <p:spPr bwMode="auto">
            <a:xfrm>
              <a:off x="8224838" y="5522913"/>
              <a:ext cx="201612" cy="177800"/>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42" name="Oval 335">
              <a:extLst>
                <a:ext uri="{FF2B5EF4-FFF2-40B4-BE49-F238E27FC236}">
                  <a16:creationId xmlns:a16="http://schemas.microsoft.com/office/drawing/2014/main" id="{8EDCEF60-2955-65CA-8268-21A49FD16B2D}"/>
                </a:ext>
              </a:extLst>
            </p:cNvPr>
            <p:cNvSpPr>
              <a:spLocks noChangeArrowheads="1"/>
            </p:cNvSpPr>
            <p:nvPr/>
          </p:nvSpPr>
          <p:spPr bwMode="auto">
            <a:xfrm>
              <a:off x="8224838" y="4916488"/>
              <a:ext cx="201612" cy="177800"/>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43" name="Oval 336">
              <a:extLst>
                <a:ext uri="{FF2B5EF4-FFF2-40B4-BE49-F238E27FC236}">
                  <a16:creationId xmlns:a16="http://schemas.microsoft.com/office/drawing/2014/main" id="{EE4C807E-350A-3923-1BB3-BD1BFCC2A6EC}"/>
                </a:ext>
              </a:extLst>
            </p:cNvPr>
            <p:cNvSpPr>
              <a:spLocks noChangeArrowheads="1"/>
            </p:cNvSpPr>
            <p:nvPr/>
          </p:nvSpPr>
          <p:spPr bwMode="auto">
            <a:xfrm>
              <a:off x="5657850" y="5995988"/>
              <a:ext cx="201613" cy="176212"/>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nvGrpSpPr>
            <p:cNvPr id="344" name="Group 337">
              <a:extLst>
                <a:ext uri="{FF2B5EF4-FFF2-40B4-BE49-F238E27FC236}">
                  <a16:creationId xmlns:a16="http://schemas.microsoft.com/office/drawing/2014/main" id="{B4E58AE5-61BB-898F-C6B3-66C11359F051}"/>
                </a:ext>
              </a:extLst>
            </p:cNvPr>
            <p:cNvGrpSpPr>
              <a:grpSpLocks/>
            </p:cNvGrpSpPr>
            <p:nvPr/>
          </p:nvGrpSpPr>
          <p:grpSpPr bwMode="auto">
            <a:xfrm>
              <a:off x="2390775" y="5995988"/>
              <a:ext cx="201613" cy="177800"/>
              <a:chOff x="2074" y="3883"/>
              <a:chExt cx="127" cy="112"/>
            </a:xfrm>
          </p:grpSpPr>
          <p:grpSp>
            <p:nvGrpSpPr>
              <p:cNvPr id="345" name="Group 338">
                <a:extLst>
                  <a:ext uri="{FF2B5EF4-FFF2-40B4-BE49-F238E27FC236}">
                    <a16:creationId xmlns:a16="http://schemas.microsoft.com/office/drawing/2014/main" id="{8226B39B-BBF8-D654-80B8-3D0479A7EC84}"/>
                  </a:ext>
                </a:extLst>
              </p:cNvPr>
              <p:cNvGrpSpPr>
                <a:grpSpLocks/>
              </p:cNvGrpSpPr>
              <p:nvPr/>
            </p:nvGrpSpPr>
            <p:grpSpPr bwMode="auto">
              <a:xfrm>
                <a:off x="2074" y="3883"/>
                <a:ext cx="127" cy="112"/>
                <a:chOff x="2074" y="3883"/>
                <a:chExt cx="127" cy="112"/>
              </a:xfrm>
            </p:grpSpPr>
            <p:sp>
              <p:nvSpPr>
                <p:cNvPr id="347" name="Rectangle 339">
                  <a:extLst>
                    <a:ext uri="{FF2B5EF4-FFF2-40B4-BE49-F238E27FC236}">
                      <a16:creationId xmlns:a16="http://schemas.microsoft.com/office/drawing/2014/main" id="{74FB1271-7E51-F52E-1E24-9641B8819A21}"/>
                    </a:ext>
                  </a:extLst>
                </p:cNvPr>
                <p:cNvSpPr>
                  <a:spLocks noChangeArrowheads="1"/>
                </p:cNvSpPr>
                <p:nvPr/>
              </p:nvSpPr>
              <p:spPr bwMode="auto">
                <a:xfrm>
                  <a:off x="2074" y="3883"/>
                  <a:ext cx="127" cy="112"/>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48" name="Freeform 340">
                  <a:extLst>
                    <a:ext uri="{FF2B5EF4-FFF2-40B4-BE49-F238E27FC236}">
                      <a16:creationId xmlns:a16="http://schemas.microsoft.com/office/drawing/2014/main" id="{AFD8BDD5-A2B8-5191-7462-64DE13FCA131}"/>
                    </a:ext>
                  </a:extLst>
                </p:cNvPr>
                <p:cNvSpPr>
                  <a:spLocks/>
                </p:cNvSpPr>
                <p:nvPr/>
              </p:nvSpPr>
              <p:spPr bwMode="auto">
                <a:xfrm>
                  <a:off x="2074" y="3883"/>
                  <a:ext cx="125" cy="110"/>
                </a:xfrm>
                <a:custGeom>
                  <a:avLst/>
                  <a:gdLst>
                    <a:gd name="T0" fmla="*/ 15 w 252"/>
                    <a:gd name="T1" fmla="*/ 0 h 110"/>
                    <a:gd name="T2" fmla="*/ 12 w 252"/>
                    <a:gd name="T3" fmla="*/ 1 h 110"/>
                    <a:gd name="T4" fmla="*/ 9 w 252"/>
                    <a:gd name="T5" fmla="*/ 4 h 110"/>
                    <a:gd name="T6" fmla="*/ 7 w 252"/>
                    <a:gd name="T7" fmla="*/ 9 h 110"/>
                    <a:gd name="T8" fmla="*/ 4 w 252"/>
                    <a:gd name="T9" fmla="*/ 16 h 110"/>
                    <a:gd name="T10" fmla="*/ 2 w 252"/>
                    <a:gd name="T11" fmla="*/ 24 h 110"/>
                    <a:gd name="T12" fmla="*/ 1 w 252"/>
                    <a:gd name="T13" fmla="*/ 34 h 110"/>
                    <a:gd name="T14" fmla="*/ 0 w 252"/>
                    <a:gd name="T15" fmla="*/ 44 h 110"/>
                    <a:gd name="T16" fmla="*/ 0 w 252"/>
                    <a:gd name="T17" fmla="*/ 54 h 110"/>
                    <a:gd name="T18" fmla="*/ 0 w 252"/>
                    <a:gd name="T19" fmla="*/ 66 h 110"/>
                    <a:gd name="T20" fmla="*/ 1 w 252"/>
                    <a:gd name="T21" fmla="*/ 76 h 110"/>
                    <a:gd name="T22" fmla="*/ 2 w 252"/>
                    <a:gd name="T23" fmla="*/ 85 h 110"/>
                    <a:gd name="T24" fmla="*/ 4 w 252"/>
                    <a:gd name="T25" fmla="*/ 94 h 110"/>
                    <a:gd name="T26" fmla="*/ 7 w 252"/>
                    <a:gd name="T27" fmla="*/ 101 h 110"/>
                    <a:gd name="T28" fmla="*/ 9 w 252"/>
                    <a:gd name="T29" fmla="*/ 106 h 110"/>
                    <a:gd name="T30" fmla="*/ 12 w 252"/>
                    <a:gd name="T31" fmla="*/ 109 h 110"/>
                    <a:gd name="T32" fmla="*/ 15 w 252"/>
                    <a:gd name="T33" fmla="*/ 110 h 110"/>
                    <a:gd name="T34" fmla="*/ 18 w 252"/>
                    <a:gd name="T35" fmla="*/ 109 h 110"/>
                    <a:gd name="T36" fmla="*/ 21 w 252"/>
                    <a:gd name="T37" fmla="*/ 106 h 110"/>
                    <a:gd name="T38" fmla="*/ 24 w 252"/>
                    <a:gd name="T39" fmla="*/ 101 h 110"/>
                    <a:gd name="T40" fmla="*/ 26 w 252"/>
                    <a:gd name="T41" fmla="*/ 94 h 110"/>
                    <a:gd name="T42" fmla="*/ 28 w 252"/>
                    <a:gd name="T43" fmla="*/ 85 h 110"/>
                    <a:gd name="T44" fmla="*/ 30 w 252"/>
                    <a:gd name="T45" fmla="*/ 76 h 110"/>
                    <a:gd name="T46" fmla="*/ 31 w 252"/>
                    <a:gd name="T47" fmla="*/ 66 h 110"/>
                    <a:gd name="T48" fmla="*/ 31 w 252"/>
                    <a:gd name="T49" fmla="*/ 54 h 110"/>
                    <a:gd name="T50" fmla="*/ 31 w 252"/>
                    <a:gd name="T51" fmla="*/ 44 h 110"/>
                    <a:gd name="T52" fmla="*/ 30 w 252"/>
                    <a:gd name="T53" fmla="*/ 34 h 110"/>
                    <a:gd name="T54" fmla="*/ 28 w 252"/>
                    <a:gd name="T55" fmla="*/ 24 h 110"/>
                    <a:gd name="T56" fmla="*/ 26 w 252"/>
                    <a:gd name="T57" fmla="*/ 16 h 110"/>
                    <a:gd name="T58" fmla="*/ 24 w 252"/>
                    <a:gd name="T59" fmla="*/ 9 h 110"/>
                    <a:gd name="T60" fmla="*/ 21 w 252"/>
                    <a:gd name="T61" fmla="*/ 4 h 110"/>
                    <a:gd name="T62" fmla="*/ 18 w 252"/>
                    <a:gd name="T63" fmla="*/ 1 h 110"/>
                    <a:gd name="T64" fmla="*/ 15 w 252"/>
                    <a:gd name="T65" fmla="*/ 0 h 11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2" h="110">
                      <a:moveTo>
                        <a:pt x="125" y="0"/>
                      </a:moveTo>
                      <a:lnTo>
                        <a:pt x="100" y="1"/>
                      </a:lnTo>
                      <a:lnTo>
                        <a:pt x="77" y="4"/>
                      </a:lnTo>
                      <a:lnTo>
                        <a:pt x="56" y="9"/>
                      </a:lnTo>
                      <a:lnTo>
                        <a:pt x="37" y="16"/>
                      </a:lnTo>
                      <a:lnTo>
                        <a:pt x="21" y="24"/>
                      </a:lnTo>
                      <a:lnTo>
                        <a:pt x="10" y="34"/>
                      </a:lnTo>
                      <a:lnTo>
                        <a:pt x="2" y="44"/>
                      </a:lnTo>
                      <a:lnTo>
                        <a:pt x="0" y="54"/>
                      </a:lnTo>
                      <a:lnTo>
                        <a:pt x="2" y="66"/>
                      </a:lnTo>
                      <a:lnTo>
                        <a:pt x="10" y="76"/>
                      </a:lnTo>
                      <a:lnTo>
                        <a:pt x="21" y="85"/>
                      </a:lnTo>
                      <a:lnTo>
                        <a:pt x="37" y="94"/>
                      </a:lnTo>
                      <a:lnTo>
                        <a:pt x="56" y="101"/>
                      </a:lnTo>
                      <a:lnTo>
                        <a:pt x="77" y="106"/>
                      </a:lnTo>
                      <a:lnTo>
                        <a:pt x="100" y="109"/>
                      </a:lnTo>
                      <a:lnTo>
                        <a:pt x="125" y="110"/>
                      </a:lnTo>
                      <a:lnTo>
                        <a:pt x="150" y="109"/>
                      </a:lnTo>
                      <a:lnTo>
                        <a:pt x="175" y="106"/>
                      </a:lnTo>
                      <a:lnTo>
                        <a:pt x="196" y="101"/>
                      </a:lnTo>
                      <a:lnTo>
                        <a:pt x="215" y="94"/>
                      </a:lnTo>
                      <a:lnTo>
                        <a:pt x="231" y="85"/>
                      </a:lnTo>
                      <a:lnTo>
                        <a:pt x="242" y="76"/>
                      </a:lnTo>
                      <a:lnTo>
                        <a:pt x="250" y="66"/>
                      </a:lnTo>
                      <a:lnTo>
                        <a:pt x="252" y="54"/>
                      </a:lnTo>
                      <a:lnTo>
                        <a:pt x="250" y="44"/>
                      </a:lnTo>
                      <a:lnTo>
                        <a:pt x="242" y="34"/>
                      </a:lnTo>
                      <a:lnTo>
                        <a:pt x="231" y="24"/>
                      </a:lnTo>
                      <a:lnTo>
                        <a:pt x="215" y="16"/>
                      </a:lnTo>
                      <a:lnTo>
                        <a:pt x="196" y="9"/>
                      </a:lnTo>
                      <a:lnTo>
                        <a:pt x="175" y="4"/>
                      </a:lnTo>
                      <a:lnTo>
                        <a:pt x="150" y="1"/>
                      </a:lnTo>
                      <a:lnTo>
                        <a:pt x="125" y="0"/>
                      </a:lnTo>
                      <a:close/>
                    </a:path>
                  </a:pathLst>
                </a:custGeom>
                <a:solidFill>
                  <a:srgbClr val="FF0000"/>
                </a:solidFill>
                <a:ln w="0">
                  <a:solidFill>
                    <a:srgbClr val="FFFFFF"/>
                  </a:solidFill>
                  <a:prstDash val="solid"/>
                  <a:round/>
                  <a:headEnd/>
                  <a:tailEnd/>
                </a:ln>
              </p:spPr>
              <p:txBody>
                <a:bodyPr/>
                <a:lstStyle/>
                <a:p>
                  <a:endParaRPr lang="en-US">
                    <a:latin typeface="Roboto" panose="02000000000000000000" pitchFamily="2" charset="0"/>
                    <a:ea typeface="Roboto" panose="02000000000000000000" pitchFamily="2" charset="0"/>
                  </a:endParaRPr>
                </a:p>
              </p:txBody>
            </p:sp>
            <p:sp>
              <p:nvSpPr>
                <p:cNvPr id="349" name="Oval 341">
                  <a:extLst>
                    <a:ext uri="{FF2B5EF4-FFF2-40B4-BE49-F238E27FC236}">
                      <a16:creationId xmlns:a16="http://schemas.microsoft.com/office/drawing/2014/main" id="{DC17BD4A-ED12-60CB-C4A0-CAA453D25D4A}"/>
                    </a:ext>
                  </a:extLst>
                </p:cNvPr>
                <p:cNvSpPr>
                  <a:spLocks noChangeArrowheads="1"/>
                </p:cNvSpPr>
                <p:nvPr/>
              </p:nvSpPr>
              <p:spPr bwMode="auto">
                <a:xfrm>
                  <a:off x="2074" y="3883"/>
                  <a:ext cx="126" cy="111"/>
                </a:xfrm>
                <a:prstGeom prst="ellipse">
                  <a:avLst/>
                </a:prstGeom>
                <a:blipFill dpi="0" rotWithShape="0">
                  <a:blip/>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50" name="Rectangle 342">
                  <a:extLst>
                    <a:ext uri="{FF2B5EF4-FFF2-40B4-BE49-F238E27FC236}">
                      <a16:creationId xmlns:a16="http://schemas.microsoft.com/office/drawing/2014/main" id="{852D2B24-B8AE-8562-6202-C541D460E2ED}"/>
                    </a:ext>
                  </a:extLst>
                </p:cNvPr>
                <p:cNvSpPr>
                  <a:spLocks noChangeArrowheads="1"/>
                </p:cNvSpPr>
                <p:nvPr/>
              </p:nvSpPr>
              <p:spPr bwMode="auto">
                <a:xfrm>
                  <a:off x="2074" y="3883"/>
                  <a:ext cx="127" cy="112"/>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sp>
            <p:nvSpPr>
              <p:cNvPr id="346" name="Oval 343">
                <a:extLst>
                  <a:ext uri="{FF2B5EF4-FFF2-40B4-BE49-F238E27FC236}">
                    <a16:creationId xmlns:a16="http://schemas.microsoft.com/office/drawing/2014/main" id="{3AE39989-496D-F1DF-EF8A-00D7B9B577C3}"/>
                  </a:ext>
                </a:extLst>
              </p:cNvPr>
              <p:cNvSpPr>
                <a:spLocks noChangeArrowheads="1"/>
              </p:cNvSpPr>
              <p:nvPr/>
            </p:nvSpPr>
            <p:spPr bwMode="auto">
              <a:xfrm>
                <a:off x="2074" y="3883"/>
                <a:ext cx="126" cy="111"/>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grpSp>
    </p:spTree>
    <p:extLst>
      <p:ext uri="{BB962C8B-B14F-4D97-AF65-F5344CB8AC3E}">
        <p14:creationId xmlns:p14="http://schemas.microsoft.com/office/powerpoint/2010/main" val="36542450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36E6-2E20-1277-8A14-A320570578F1}"/>
              </a:ext>
            </a:extLst>
          </p:cNvPr>
          <p:cNvSpPr>
            <a:spLocks noGrp="1"/>
          </p:cNvSpPr>
          <p:nvPr>
            <p:ph type="title"/>
          </p:nvPr>
        </p:nvSpPr>
        <p:spPr/>
        <p:txBody>
          <a:bodyPr>
            <a:normAutofit/>
          </a:bodyPr>
          <a:lstStyle/>
          <a:p>
            <a:r>
              <a:rPr lang="en-US" sz="3600" dirty="0"/>
              <a:t>What is a Zero Defect Quality (ZDQ) System?</a:t>
            </a:r>
          </a:p>
        </p:txBody>
      </p:sp>
      <p:grpSp>
        <p:nvGrpSpPr>
          <p:cNvPr id="22" name="Group 21">
            <a:extLst>
              <a:ext uri="{FF2B5EF4-FFF2-40B4-BE49-F238E27FC236}">
                <a16:creationId xmlns:a16="http://schemas.microsoft.com/office/drawing/2014/main" id="{6C889D24-EEB6-369B-EC17-FB2BA2D2288E}"/>
              </a:ext>
            </a:extLst>
          </p:cNvPr>
          <p:cNvGrpSpPr/>
          <p:nvPr/>
        </p:nvGrpSpPr>
        <p:grpSpPr>
          <a:xfrm>
            <a:off x="1220121" y="1679575"/>
            <a:ext cx="9780196" cy="2366783"/>
            <a:chOff x="646113" y="1679575"/>
            <a:chExt cx="8189912" cy="2209800"/>
          </a:xfrm>
        </p:grpSpPr>
        <p:grpSp>
          <p:nvGrpSpPr>
            <p:cNvPr id="11" name="Group 7">
              <a:extLst>
                <a:ext uri="{FF2B5EF4-FFF2-40B4-BE49-F238E27FC236}">
                  <a16:creationId xmlns:a16="http://schemas.microsoft.com/office/drawing/2014/main" id="{5E5A045A-C515-16C8-FE83-6089A13C1D8F}"/>
                </a:ext>
              </a:extLst>
            </p:cNvPr>
            <p:cNvGrpSpPr>
              <a:grpSpLocks/>
            </p:cNvGrpSpPr>
            <p:nvPr/>
          </p:nvGrpSpPr>
          <p:grpSpPr bwMode="auto">
            <a:xfrm>
              <a:off x="646113" y="1828800"/>
              <a:ext cx="8189912" cy="466725"/>
              <a:chOff x="562" y="1785"/>
              <a:chExt cx="4831" cy="294"/>
            </a:xfrm>
          </p:grpSpPr>
          <p:sp>
            <p:nvSpPr>
              <p:cNvPr id="12" name="AutoShape 8">
                <a:extLst>
                  <a:ext uri="{FF2B5EF4-FFF2-40B4-BE49-F238E27FC236}">
                    <a16:creationId xmlns:a16="http://schemas.microsoft.com/office/drawing/2014/main" id="{42F8807A-2FB6-E5BA-31FE-40BBE7B16FD0}"/>
                  </a:ext>
                </a:extLst>
              </p:cNvPr>
              <p:cNvSpPr>
                <a:spLocks noChangeArrowheads="1"/>
              </p:cNvSpPr>
              <p:nvPr/>
            </p:nvSpPr>
            <p:spPr bwMode="auto">
              <a:xfrm>
                <a:off x="3660" y="1785"/>
                <a:ext cx="1733" cy="294"/>
              </a:xfrm>
              <a:prstGeom prst="homePlate">
                <a:avLst>
                  <a:gd name="adj" fmla="val 48603"/>
                </a:avLst>
              </a:prstGeom>
              <a:solidFill>
                <a:schemeClr val="accent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latin typeface="Roboto" panose="02000000000000000000" pitchFamily="2" charset="0"/>
                    <a:ea typeface="Roboto" panose="02000000000000000000" pitchFamily="2" charset="0"/>
                  </a:rPr>
                  <a:t>Approaches to</a:t>
                </a:r>
                <a:br>
                  <a:rPr lang="en-US" altLang="en-US" sz="1800" dirty="0">
                    <a:latin typeface="Roboto" panose="02000000000000000000" pitchFamily="2" charset="0"/>
                    <a:ea typeface="Roboto" panose="02000000000000000000" pitchFamily="2" charset="0"/>
                  </a:rPr>
                </a:br>
                <a:r>
                  <a:rPr lang="en-US" altLang="en-US" sz="1800" dirty="0">
                    <a:latin typeface="Roboto" panose="02000000000000000000" pitchFamily="2" charset="0"/>
                    <a:ea typeface="Roboto" panose="02000000000000000000" pitchFamily="2" charset="0"/>
                  </a:rPr>
                  <a:t>Inspection</a:t>
                </a:r>
              </a:p>
            </p:txBody>
          </p:sp>
          <p:sp>
            <p:nvSpPr>
              <p:cNvPr id="13" name="AutoShape 9">
                <a:extLst>
                  <a:ext uri="{FF2B5EF4-FFF2-40B4-BE49-F238E27FC236}">
                    <a16:creationId xmlns:a16="http://schemas.microsoft.com/office/drawing/2014/main" id="{307E9645-70B9-8228-5F5A-FF50BB37CCF9}"/>
                  </a:ext>
                </a:extLst>
              </p:cNvPr>
              <p:cNvSpPr>
                <a:spLocks noChangeArrowheads="1"/>
              </p:cNvSpPr>
              <p:nvPr/>
            </p:nvSpPr>
            <p:spPr bwMode="auto">
              <a:xfrm>
                <a:off x="2105" y="1785"/>
                <a:ext cx="1731" cy="294"/>
              </a:xfrm>
              <a:prstGeom prst="homePlate">
                <a:avLst>
                  <a:gd name="adj" fmla="val 48601"/>
                </a:avLst>
              </a:prstGeom>
              <a:solidFill>
                <a:schemeClr val="accent2"/>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solidFill>
                      <a:schemeClr val="tx1"/>
                    </a:solidFill>
                    <a:latin typeface="Roboto" panose="02000000000000000000" pitchFamily="2" charset="0"/>
                    <a:ea typeface="Roboto" panose="02000000000000000000" pitchFamily="2" charset="0"/>
                  </a:rPr>
                  <a:t>ZDQ Components</a:t>
                </a:r>
              </a:p>
            </p:txBody>
          </p:sp>
          <p:sp>
            <p:nvSpPr>
              <p:cNvPr id="14" name="AutoShape 10">
                <a:extLst>
                  <a:ext uri="{FF2B5EF4-FFF2-40B4-BE49-F238E27FC236}">
                    <a16:creationId xmlns:a16="http://schemas.microsoft.com/office/drawing/2014/main" id="{0FB3E811-127E-1C68-FF2A-2B98269FCF5C}"/>
                  </a:ext>
                </a:extLst>
              </p:cNvPr>
              <p:cNvSpPr>
                <a:spLocks noChangeArrowheads="1"/>
              </p:cNvSpPr>
              <p:nvPr/>
            </p:nvSpPr>
            <p:spPr bwMode="auto">
              <a:xfrm>
                <a:off x="562" y="1785"/>
                <a:ext cx="1733" cy="294"/>
              </a:xfrm>
              <a:prstGeom prst="homePlate">
                <a:avLst>
                  <a:gd name="adj" fmla="val 48603"/>
                </a:avLst>
              </a:prstGeom>
              <a:solidFill>
                <a:schemeClr val="bg2"/>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solidFill>
                      <a:schemeClr val="tx1"/>
                    </a:solidFill>
                    <a:latin typeface="Roboto" panose="02000000000000000000" pitchFamily="2" charset="0"/>
                    <a:ea typeface="Roboto" panose="02000000000000000000" pitchFamily="2" charset="0"/>
                  </a:rPr>
                  <a:t>ZDQ Definition</a:t>
                </a:r>
              </a:p>
            </p:txBody>
          </p:sp>
        </p:grpSp>
        <p:sp>
          <p:nvSpPr>
            <p:cNvPr id="15" name="Rectangle 11">
              <a:extLst>
                <a:ext uri="{FF2B5EF4-FFF2-40B4-BE49-F238E27FC236}">
                  <a16:creationId xmlns:a16="http://schemas.microsoft.com/office/drawing/2014/main" id="{4784B5A8-455A-358B-2CA3-8B6E7C77544D}"/>
                </a:ext>
              </a:extLst>
            </p:cNvPr>
            <p:cNvSpPr>
              <a:spLocks noChangeArrowheads="1"/>
            </p:cNvSpPr>
            <p:nvPr/>
          </p:nvSpPr>
          <p:spPr bwMode="auto">
            <a:xfrm>
              <a:off x="650875" y="2346325"/>
              <a:ext cx="2716213" cy="153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Aft>
                  <a:spcPct val="20000"/>
                </a:spcAft>
                <a:buClr>
                  <a:schemeClr val="tx1"/>
                </a:buClr>
                <a:buSzPct val="90000"/>
                <a:buFont typeface="Arial" panose="020B0604020202020204" pitchFamily="34" charset="0"/>
                <a:buChar char="•"/>
              </a:pPr>
              <a:r>
                <a:rPr lang="en-US" altLang="en-US" sz="1800" b="0" dirty="0">
                  <a:solidFill>
                    <a:schemeClr val="tx1"/>
                  </a:solidFill>
                  <a:latin typeface="Roboto" panose="02000000000000000000" pitchFamily="2" charset="0"/>
                  <a:ea typeface="Roboto" panose="02000000000000000000" pitchFamily="2" charset="0"/>
                </a:rPr>
                <a:t>Based on a discipline that defects are prevented</a:t>
              </a:r>
            </a:p>
            <a:p>
              <a:pPr algn="l" eaLnBrk="1" hangingPunct="1">
                <a:lnSpc>
                  <a:spcPct val="100000"/>
                </a:lnSpc>
                <a:spcAft>
                  <a:spcPct val="20000"/>
                </a:spcAft>
                <a:buClr>
                  <a:schemeClr val="tx1"/>
                </a:buClr>
                <a:buSzPct val="90000"/>
                <a:buFont typeface="Arial" panose="020B0604020202020204" pitchFamily="34" charset="0"/>
                <a:buChar char="•"/>
              </a:pPr>
              <a:r>
                <a:rPr lang="en-US" altLang="en-US" sz="1800" b="0" dirty="0">
                  <a:solidFill>
                    <a:schemeClr val="tx1"/>
                  </a:solidFill>
                  <a:latin typeface="Roboto" panose="02000000000000000000" pitchFamily="2" charset="0"/>
                  <a:ea typeface="Roboto" panose="02000000000000000000" pitchFamily="2" charset="0"/>
                </a:rPr>
                <a:t>Make certain that the required conditions are in place and controlled to make acceptable product 100% of the time</a:t>
              </a:r>
            </a:p>
          </p:txBody>
        </p:sp>
        <p:sp>
          <p:nvSpPr>
            <p:cNvPr id="16" name="Rectangle 12">
              <a:extLst>
                <a:ext uri="{FF2B5EF4-FFF2-40B4-BE49-F238E27FC236}">
                  <a16:creationId xmlns:a16="http://schemas.microsoft.com/office/drawing/2014/main" id="{8CF06C38-3DFC-BFFE-AD99-519002CFE07D}"/>
                </a:ext>
              </a:extLst>
            </p:cNvPr>
            <p:cNvSpPr>
              <a:spLocks noChangeArrowheads="1"/>
            </p:cNvSpPr>
            <p:nvPr/>
          </p:nvSpPr>
          <p:spPr bwMode="auto">
            <a:xfrm>
              <a:off x="3411538" y="2354263"/>
              <a:ext cx="2527300"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20000"/>
                </a:spcBef>
                <a:spcAft>
                  <a:spcPct val="20000"/>
                </a:spcAft>
                <a:buClr>
                  <a:schemeClr val="tx1"/>
                </a:buClr>
                <a:buFont typeface="Arial" panose="020B0604020202020204" pitchFamily="34" charset="0"/>
                <a:buChar char="•"/>
              </a:pPr>
              <a:r>
                <a:rPr lang="en-US" altLang="en-US" b="0" dirty="0">
                  <a:latin typeface="Roboto" panose="02000000000000000000" pitchFamily="2" charset="0"/>
                  <a:ea typeface="Roboto" panose="02000000000000000000" pitchFamily="2" charset="0"/>
                </a:rPr>
                <a:t>Point of Origin Inspection</a:t>
              </a:r>
            </a:p>
            <a:p>
              <a:pPr eaLnBrk="1" hangingPunct="1">
                <a:lnSpc>
                  <a:spcPct val="100000"/>
                </a:lnSpc>
                <a:spcBef>
                  <a:spcPct val="20000"/>
                </a:spcBef>
                <a:spcAft>
                  <a:spcPct val="20000"/>
                </a:spcAft>
                <a:buClr>
                  <a:schemeClr val="tx1"/>
                </a:buClr>
                <a:buFont typeface="Arial" panose="020B0604020202020204" pitchFamily="34" charset="0"/>
                <a:buChar char="•"/>
              </a:pPr>
              <a:r>
                <a:rPr lang="en-US" altLang="en-US" b="0" dirty="0">
                  <a:latin typeface="Roboto" panose="02000000000000000000" pitchFamily="2" charset="0"/>
                  <a:ea typeface="Roboto" panose="02000000000000000000" pitchFamily="2" charset="0"/>
                </a:rPr>
                <a:t>100% Inspection</a:t>
              </a:r>
            </a:p>
            <a:p>
              <a:pPr eaLnBrk="1" hangingPunct="1">
                <a:lnSpc>
                  <a:spcPct val="100000"/>
                </a:lnSpc>
                <a:spcBef>
                  <a:spcPct val="20000"/>
                </a:spcBef>
                <a:spcAft>
                  <a:spcPct val="20000"/>
                </a:spcAft>
                <a:buClr>
                  <a:schemeClr val="tx1"/>
                </a:buClr>
                <a:buFont typeface="Arial" panose="020B0604020202020204" pitchFamily="34" charset="0"/>
                <a:buChar char="•"/>
              </a:pPr>
              <a:r>
                <a:rPr lang="en-US" altLang="en-US" b="0" dirty="0">
                  <a:latin typeface="Roboto" panose="02000000000000000000" pitchFamily="2" charset="0"/>
                  <a:ea typeface="Roboto" panose="02000000000000000000" pitchFamily="2" charset="0"/>
                </a:rPr>
                <a:t>Immediate Feedback</a:t>
              </a:r>
            </a:p>
            <a:p>
              <a:pPr eaLnBrk="1" hangingPunct="1">
                <a:lnSpc>
                  <a:spcPct val="100000"/>
                </a:lnSpc>
                <a:spcBef>
                  <a:spcPct val="20000"/>
                </a:spcBef>
                <a:spcAft>
                  <a:spcPct val="20000"/>
                </a:spcAft>
                <a:buClr>
                  <a:schemeClr val="tx1"/>
                </a:buClr>
                <a:buFont typeface="Arial" panose="020B0604020202020204" pitchFamily="34" charset="0"/>
                <a:buChar char="•"/>
              </a:pPr>
              <a:r>
                <a:rPr lang="en-US" altLang="en-US" b="0" dirty="0">
                  <a:latin typeface="Roboto" panose="02000000000000000000" pitchFamily="2" charset="0"/>
                  <a:ea typeface="Roboto" panose="02000000000000000000" pitchFamily="2" charset="0"/>
                </a:rPr>
                <a:t>Poka-Yoke</a:t>
              </a:r>
            </a:p>
          </p:txBody>
        </p:sp>
        <p:sp>
          <p:nvSpPr>
            <p:cNvPr id="17" name="Rectangle 13">
              <a:extLst>
                <a:ext uri="{FF2B5EF4-FFF2-40B4-BE49-F238E27FC236}">
                  <a16:creationId xmlns:a16="http://schemas.microsoft.com/office/drawing/2014/main" id="{E3321DB4-0127-BD99-4DC9-593F0F50C4E9}"/>
                </a:ext>
              </a:extLst>
            </p:cNvPr>
            <p:cNvSpPr>
              <a:spLocks noChangeArrowheads="1"/>
            </p:cNvSpPr>
            <p:nvPr/>
          </p:nvSpPr>
          <p:spPr bwMode="auto">
            <a:xfrm>
              <a:off x="5962650" y="2354263"/>
              <a:ext cx="2759075"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Aft>
                  <a:spcPct val="20000"/>
                </a:spcAft>
                <a:buClr>
                  <a:schemeClr val="tx1"/>
                </a:buClr>
                <a:buSzPct val="90000"/>
                <a:buFont typeface="Arial" panose="020B0604020202020204" pitchFamily="34" charset="0"/>
                <a:buChar char="•"/>
              </a:pPr>
              <a:r>
                <a:rPr lang="en-US" altLang="en-US" sz="1800" b="0" dirty="0">
                  <a:solidFill>
                    <a:schemeClr val="tx1"/>
                  </a:solidFill>
                  <a:latin typeface="Roboto" panose="02000000000000000000" pitchFamily="2" charset="0"/>
                  <a:ea typeface="Roboto" panose="02000000000000000000" pitchFamily="2" charset="0"/>
                </a:rPr>
                <a:t>3 basic approaches:</a:t>
              </a:r>
            </a:p>
            <a:p>
              <a:pPr lvl="1" algn="l">
                <a:lnSpc>
                  <a:spcPct val="100000"/>
                </a:lnSpc>
                <a:spcAft>
                  <a:spcPct val="20000"/>
                </a:spcAft>
                <a:buClr>
                  <a:schemeClr val="tx1"/>
                </a:buClr>
                <a:buSzPct val="90000"/>
                <a:buFont typeface="Arial" panose="020B0604020202020204" pitchFamily="34" charset="0"/>
                <a:buChar char="•"/>
              </a:pPr>
              <a:r>
                <a:rPr lang="en-US" altLang="en-US" sz="1800" b="0" dirty="0">
                  <a:solidFill>
                    <a:schemeClr val="tx1"/>
                  </a:solidFill>
                  <a:latin typeface="Roboto" panose="02000000000000000000" pitchFamily="2" charset="0"/>
                  <a:ea typeface="Roboto" panose="02000000000000000000" pitchFamily="2" charset="0"/>
                </a:rPr>
                <a:t>Judgment – Standard Inspection</a:t>
              </a:r>
            </a:p>
            <a:p>
              <a:pPr lvl="1" algn="l">
                <a:lnSpc>
                  <a:spcPct val="100000"/>
                </a:lnSpc>
                <a:spcAft>
                  <a:spcPct val="20000"/>
                </a:spcAft>
                <a:buClr>
                  <a:schemeClr val="tx1"/>
                </a:buClr>
                <a:buSzPct val="90000"/>
                <a:buFont typeface="Arial" panose="020B0604020202020204" pitchFamily="34" charset="0"/>
                <a:buChar char="•"/>
              </a:pPr>
              <a:r>
                <a:rPr lang="en-US" altLang="en-US" sz="1800" b="0" dirty="0">
                  <a:solidFill>
                    <a:schemeClr val="tx1"/>
                  </a:solidFill>
                  <a:latin typeface="Roboto" panose="02000000000000000000" pitchFamily="2" charset="0"/>
                  <a:ea typeface="Roboto" panose="02000000000000000000" pitchFamily="2" charset="0"/>
                </a:rPr>
                <a:t>Informative Inspection</a:t>
              </a:r>
            </a:p>
            <a:p>
              <a:pPr lvl="1" algn="l">
                <a:lnSpc>
                  <a:spcPct val="100000"/>
                </a:lnSpc>
                <a:spcAft>
                  <a:spcPct val="20000"/>
                </a:spcAft>
                <a:buClr>
                  <a:schemeClr val="tx1"/>
                </a:buClr>
                <a:buSzPct val="90000"/>
                <a:buFont typeface="Arial" panose="020B0604020202020204" pitchFamily="34" charset="0"/>
                <a:buChar char="•"/>
              </a:pPr>
              <a:r>
                <a:rPr lang="en-US" altLang="en-US" sz="1800" b="0" dirty="0">
                  <a:solidFill>
                    <a:schemeClr val="tx1"/>
                  </a:solidFill>
                  <a:latin typeface="Roboto" panose="02000000000000000000" pitchFamily="2" charset="0"/>
                  <a:ea typeface="Roboto" panose="02000000000000000000" pitchFamily="2" charset="0"/>
                </a:rPr>
                <a:t>Point of Origin Inspection</a:t>
              </a:r>
            </a:p>
            <a:p>
              <a:pPr algn="l" eaLnBrk="1" hangingPunct="1">
                <a:lnSpc>
                  <a:spcPct val="100000"/>
                </a:lnSpc>
                <a:spcAft>
                  <a:spcPct val="20000"/>
                </a:spcAft>
                <a:buClr>
                  <a:schemeClr val="tx1"/>
                </a:buClr>
                <a:buSzPct val="90000"/>
                <a:buFont typeface="Arial" panose="020B0604020202020204" pitchFamily="34" charset="0"/>
                <a:buChar char="•"/>
              </a:pPr>
              <a:r>
                <a:rPr lang="en-US" altLang="en-US" sz="1800" b="0" dirty="0">
                  <a:solidFill>
                    <a:schemeClr val="tx1"/>
                  </a:solidFill>
                  <a:latin typeface="Roboto" panose="02000000000000000000" pitchFamily="2" charset="0"/>
                  <a:ea typeface="Roboto" panose="02000000000000000000" pitchFamily="2" charset="0"/>
                </a:rPr>
                <a:t>First two approaches are widely used and considered traditional</a:t>
              </a:r>
            </a:p>
          </p:txBody>
        </p:sp>
        <p:sp>
          <p:nvSpPr>
            <p:cNvPr id="18" name="Oval 14">
              <a:extLst>
                <a:ext uri="{FF2B5EF4-FFF2-40B4-BE49-F238E27FC236}">
                  <a16:creationId xmlns:a16="http://schemas.microsoft.com/office/drawing/2014/main" id="{10424D23-D6AE-D70D-D272-DB7ADC7566D8}"/>
                </a:ext>
              </a:extLst>
            </p:cNvPr>
            <p:cNvSpPr>
              <a:spLocks noChangeArrowheads="1"/>
            </p:cNvSpPr>
            <p:nvPr/>
          </p:nvSpPr>
          <p:spPr bwMode="auto">
            <a:xfrm>
              <a:off x="776288" y="1682750"/>
              <a:ext cx="323850" cy="287338"/>
            </a:xfrm>
            <a:prstGeom prst="ellipse">
              <a:avLst/>
            </a:prstGeom>
            <a:solidFill>
              <a:schemeClr val="bg1"/>
            </a:solidFill>
            <a:ln w="19050" cap="sq">
              <a:solidFill>
                <a:srgbClr val="000066"/>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a:solidFill>
                    <a:schemeClr val="tx1"/>
                  </a:solidFill>
                  <a:latin typeface="Roboto" panose="02000000000000000000" pitchFamily="2" charset="0"/>
                  <a:ea typeface="Roboto" panose="02000000000000000000" pitchFamily="2" charset="0"/>
                </a:rPr>
                <a:t>1</a:t>
              </a:r>
            </a:p>
          </p:txBody>
        </p:sp>
        <p:sp>
          <p:nvSpPr>
            <p:cNvPr id="19" name="Oval 15">
              <a:extLst>
                <a:ext uri="{FF2B5EF4-FFF2-40B4-BE49-F238E27FC236}">
                  <a16:creationId xmlns:a16="http://schemas.microsoft.com/office/drawing/2014/main" id="{94E33EDE-8EFA-4D5B-0BA1-785F41683101}"/>
                </a:ext>
              </a:extLst>
            </p:cNvPr>
            <p:cNvSpPr>
              <a:spLocks noChangeArrowheads="1"/>
            </p:cNvSpPr>
            <p:nvPr/>
          </p:nvSpPr>
          <p:spPr bwMode="auto">
            <a:xfrm>
              <a:off x="3448050" y="1690688"/>
              <a:ext cx="323850" cy="287337"/>
            </a:xfrm>
            <a:prstGeom prst="ellipse">
              <a:avLst/>
            </a:prstGeom>
            <a:solidFill>
              <a:schemeClr val="bg1"/>
            </a:solidFill>
            <a:ln w="19050" cap="sq">
              <a:solidFill>
                <a:srgbClr val="000066"/>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dirty="0">
                  <a:solidFill>
                    <a:schemeClr val="tx1"/>
                  </a:solidFill>
                  <a:latin typeface="Roboto" panose="02000000000000000000" pitchFamily="2" charset="0"/>
                  <a:ea typeface="Roboto" panose="02000000000000000000" pitchFamily="2" charset="0"/>
                </a:rPr>
                <a:t>2</a:t>
              </a:r>
            </a:p>
          </p:txBody>
        </p:sp>
        <p:sp>
          <p:nvSpPr>
            <p:cNvPr id="20" name="Oval 16">
              <a:extLst>
                <a:ext uri="{FF2B5EF4-FFF2-40B4-BE49-F238E27FC236}">
                  <a16:creationId xmlns:a16="http://schemas.microsoft.com/office/drawing/2014/main" id="{92B71777-2A2A-C40B-AF33-125E30957E60}"/>
                </a:ext>
              </a:extLst>
            </p:cNvPr>
            <p:cNvSpPr>
              <a:spLocks noChangeArrowheads="1"/>
            </p:cNvSpPr>
            <p:nvPr/>
          </p:nvSpPr>
          <p:spPr bwMode="auto">
            <a:xfrm>
              <a:off x="5970588" y="1679575"/>
              <a:ext cx="323850" cy="287338"/>
            </a:xfrm>
            <a:prstGeom prst="ellipse">
              <a:avLst/>
            </a:prstGeom>
            <a:solidFill>
              <a:schemeClr val="bg1"/>
            </a:solidFill>
            <a:ln w="19050" cap="sq">
              <a:solidFill>
                <a:srgbClr val="000066"/>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dirty="0">
                  <a:solidFill>
                    <a:schemeClr val="tx1"/>
                  </a:solidFill>
                  <a:latin typeface="Roboto" panose="02000000000000000000" pitchFamily="2" charset="0"/>
                  <a:ea typeface="Roboto" panose="02000000000000000000" pitchFamily="2" charset="0"/>
                </a:rPr>
                <a:t>3</a:t>
              </a:r>
            </a:p>
          </p:txBody>
        </p:sp>
      </p:grpSp>
      <p:grpSp>
        <p:nvGrpSpPr>
          <p:cNvPr id="3" name="Group 2">
            <a:extLst>
              <a:ext uri="{FF2B5EF4-FFF2-40B4-BE49-F238E27FC236}">
                <a16:creationId xmlns:a16="http://schemas.microsoft.com/office/drawing/2014/main" id="{5CE99262-FD8B-A139-DD63-2B3CD682A21A}"/>
              </a:ext>
            </a:extLst>
          </p:cNvPr>
          <p:cNvGrpSpPr/>
          <p:nvPr/>
        </p:nvGrpSpPr>
        <p:grpSpPr>
          <a:xfrm>
            <a:off x="838200" y="297639"/>
            <a:ext cx="4030980" cy="307138"/>
            <a:chOff x="838200" y="297639"/>
            <a:chExt cx="4030980" cy="307138"/>
          </a:xfrm>
        </p:grpSpPr>
        <p:grpSp>
          <p:nvGrpSpPr>
            <p:cNvPr id="4" name="Group 3">
              <a:extLst>
                <a:ext uri="{FF2B5EF4-FFF2-40B4-BE49-F238E27FC236}">
                  <a16:creationId xmlns:a16="http://schemas.microsoft.com/office/drawing/2014/main" id="{B42BC65C-2567-E7AD-DA85-AF7991B26012}"/>
                </a:ext>
              </a:extLst>
            </p:cNvPr>
            <p:cNvGrpSpPr/>
            <p:nvPr/>
          </p:nvGrpSpPr>
          <p:grpSpPr>
            <a:xfrm>
              <a:off x="838200" y="297639"/>
              <a:ext cx="1060167" cy="290657"/>
              <a:chOff x="826426" y="4041857"/>
              <a:chExt cx="1060167" cy="290657"/>
            </a:xfrm>
          </p:grpSpPr>
          <p:sp>
            <p:nvSpPr>
              <p:cNvPr id="6" name="AutoShape 9">
                <a:extLst>
                  <a:ext uri="{FF2B5EF4-FFF2-40B4-BE49-F238E27FC236}">
                    <a16:creationId xmlns:a16="http://schemas.microsoft.com/office/drawing/2014/main" id="{9C459492-3BD0-66EB-9E87-1E91E265C53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1">
                <a:extLst>
                  <a:ext uri="{FF2B5EF4-FFF2-40B4-BE49-F238E27FC236}">
                    <a16:creationId xmlns:a16="http://schemas.microsoft.com/office/drawing/2014/main" id="{CB36FFB2-9FB7-AA44-B91C-870A9AAC60E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10">
                <a:extLst>
                  <a:ext uri="{FF2B5EF4-FFF2-40B4-BE49-F238E27FC236}">
                    <a16:creationId xmlns:a16="http://schemas.microsoft.com/office/drawing/2014/main" id="{AFB82E08-BCBC-90FA-3C03-9D862D7E2744}"/>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5" name="TextBox 4">
              <a:extLst>
                <a:ext uri="{FF2B5EF4-FFF2-40B4-BE49-F238E27FC236}">
                  <a16:creationId xmlns:a16="http://schemas.microsoft.com/office/drawing/2014/main" id="{6323DB2C-74BE-52EB-C9C1-6AF57427A4D5}"/>
                </a:ext>
              </a:extLst>
            </p:cNvPr>
            <p:cNvSpPr txBox="1"/>
            <p:nvPr/>
          </p:nvSpPr>
          <p:spPr>
            <a:xfrm>
              <a:off x="1908497" y="313415"/>
              <a:ext cx="29606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Zero Defect Quality System</a:t>
              </a:r>
            </a:p>
          </p:txBody>
        </p:sp>
      </p:grpSp>
      <p:sp>
        <p:nvSpPr>
          <p:cNvPr id="9" name="AutoShape 17">
            <a:extLst>
              <a:ext uri="{FF2B5EF4-FFF2-40B4-BE49-F238E27FC236}">
                <a16:creationId xmlns:a16="http://schemas.microsoft.com/office/drawing/2014/main" id="{1B3ABAC4-A4FE-F04D-C60B-3288D81D9795}"/>
              </a:ext>
            </a:extLst>
          </p:cNvPr>
          <p:cNvSpPr>
            <a:spLocks noChangeArrowheads="1"/>
          </p:cNvSpPr>
          <p:nvPr/>
        </p:nvSpPr>
        <p:spPr bwMode="auto">
          <a:xfrm>
            <a:off x="1993900" y="5588001"/>
            <a:ext cx="8204200" cy="520700"/>
          </a:xfrm>
          <a:prstGeom prst="homePlate">
            <a:avLst>
              <a:gd name="adj" fmla="val 32169"/>
            </a:avLst>
          </a:prstGeom>
          <a:solidFill>
            <a:schemeClr val="accent4"/>
          </a:solidFill>
          <a:ln>
            <a:noFill/>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Only Point-of-Origin Inspection actually eliminates defects</a:t>
            </a:r>
          </a:p>
        </p:txBody>
      </p:sp>
    </p:spTree>
    <p:extLst>
      <p:ext uri="{BB962C8B-B14F-4D97-AF65-F5344CB8AC3E}">
        <p14:creationId xmlns:p14="http://schemas.microsoft.com/office/powerpoint/2010/main" val="35594613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a:bodyPr>
          <a:lstStyle/>
          <a:p>
            <a:r>
              <a:rPr lang="en-US" sz="4000" dirty="0">
                <a:solidFill>
                  <a:schemeClr val="bg2">
                    <a:lumMod val="10000"/>
                  </a:schemeClr>
                </a:solidFill>
                <a:latin typeface="Roboto Medium"/>
                <a:ea typeface="Roboto Medium"/>
                <a:cs typeface="Roboto Medium"/>
              </a:rPr>
              <a:t>ZDQ Components</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19</a:t>
            </a:fld>
            <a:endParaRPr lang="en-US"/>
          </a:p>
        </p:txBody>
      </p:sp>
      <p:sp>
        <p:nvSpPr>
          <p:cNvPr id="12" name="Rectangle 11">
            <a:extLst>
              <a:ext uri="{FF2B5EF4-FFF2-40B4-BE49-F238E27FC236}">
                <a16:creationId xmlns:a16="http://schemas.microsoft.com/office/drawing/2014/main" id="{B0B54629-2D9F-D857-EE31-4C21CDD2E4A2}"/>
              </a:ext>
            </a:extLst>
          </p:cNvPr>
          <p:cNvSpPr>
            <a:spLocks/>
          </p:cNvSpPr>
          <p:nvPr/>
        </p:nvSpPr>
        <p:spPr>
          <a:xfrm>
            <a:off x="940248" y="1934137"/>
            <a:ext cx="7654829"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Point of Origin Inspection</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940249" y="3028466"/>
            <a:ext cx="7654828"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100% Inspection</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940248" y="4122795"/>
            <a:ext cx="7654827"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Immediate Feedback</a:t>
            </a:r>
          </a:p>
        </p:txBody>
      </p:sp>
      <p:sp>
        <p:nvSpPr>
          <p:cNvPr id="16" name="Rectangle 15">
            <a:extLst>
              <a:ext uri="{FF2B5EF4-FFF2-40B4-BE49-F238E27FC236}">
                <a16:creationId xmlns:a16="http://schemas.microsoft.com/office/drawing/2014/main" id="{589CEA7D-9312-9D7A-0D93-C8AE0124D074}"/>
              </a:ext>
            </a:extLst>
          </p:cNvPr>
          <p:cNvSpPr>
            <a:spLocks/>
          </p:cNvSpPr>
          <p:nvPr/>
        </p:nvSpPr>
        <p:spPr>
          <a:xfrm>
            <a:off x="940248" y="5217125"/>
            <a:ext cx="7654825"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Poka-Yoke</a:t>
            </a:r>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grpSp>
        <p:nvGrpSpPr>
          <p:cNvPr id="7" name="Group 6">
            <a:extLst>
              <a:ext uri="{FF2B5EF4-FFF2-40B4-BE49-F238E27FC236}">
                <a16:creationId xmlns:a16="http://schemas.microsoft.com/office/drawing/2014/main" id="{0905CBB2-B971-0893-ABC8-D189345EF3A4}"/>
              </a:ext>
            </a:extLst>
          </p:cNvPr>
          <p:cNvGrpSpPr/>
          <p:nvPr/>
        </p:nvGrpSpPr>
        <p:grpSpPr>
          <a:xfrm>
            <a:off x="838200" y="297639"/>
            <a:ext cx="4030980" cy="307138"/>
            <a:chOff x="838200" y="297639"/>
            <a:chExt cx="4030980" cy="307138"/>
          </a:xfrm>
        </p:grpSpPr>
        <p:grpSp>
          <p:nvGrpSpPr>
            <p:cNvPr id="8" name="Group 7">
              <a:extLst>
                <a:ext uri="{FF2B5EF4-FFF2-40B4-BE49-F238E27FC236}">
                  <a16:creationId xmlns:a16="http://schemas.microsoft.com/office/drawing/2014/main" id="{F0603993-820D-57A2-E368-AA1A4EB07B65}"/>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247518FA-3C4F-F894-94F0-A557EBBECDE9}"/>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11">
                <a:extLst>
                  <a:ext uri="{FF2B5EF4-FFF2-40B4-BE49-F238E27FC236}">
                    <a16:creationId xmlns:a16="http://schemas.microsoft.com/office/drawing/2014/main" id="{8C52A3ED-A810-1DFD-C27A-9BEA68668FE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10">
                <a:extLst>
                  <a:ext uri="{FF2B5EF4-FFF2-40B4-BE49-F238E27FC236}">
                    <a16:creationId xmlns:a16="http://schemas.microsoft.com/office/drawing/2014/main" id="{4D40401F-0A2C-0961-FC6A-F7291F947B31}"/>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9" name="TextBox 8">
              <a:extLst>
                <a:ext uri="{FF2B5EF4-FFF2-40B4-BE49-F238E27FC236}">
                  <a16:creationId xmlns:a16="http://schemas.microsoft.com/office/drawing/2014/main" id="{82C9FA86-AA8D-2673-10E4-3EDF2C203072}"/>
                </a:ext>
              </a:extLst>
            </p:cNvPr>
            <p:cNvSpPr txBox="1"/>
            <p:nvPr/>
          </p:nvSpPr>
          <p:spPr>
            <a:xfrm>
              <a:off x="1908497" y="313415"/>
              <a:ext cx="29606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Zero Defect Quality System</a:t>
              </a:r>
            </a:p>
          </p:txBody>
        </p:sp>
      </p:grpSp>
    </p:spTree>
    <p:extLst>
      <p:ext uri="{BB962C8B-B14F-4D97-AF65-F5344CB8AC3E}">
        <p14:creationId xmlns:p14="http://schemas.microsoft.com/office/powerpoint/2010/main" val="17110932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a:bodyPr>
          <a:lstStyle/>
          <a:p>
            <a:r>
              <a:rPr lang="en-US" sz="4000" dirty="0">
                <a:solidFill>
                  <a:schemeClr val="bg2">
                    <a:lumMod val="10000"/>
                  </a:schemeClr>
                </a:solidFill>
                <a:latin typeface="Roboto Medium"/>
                <a:ea typeface="Roboto Medium"/>
                <a:cs typeface="Roboto Medium"/>
              </a:rPr>
              <a:t>ZDQ Components</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20</a:t>
            </a:fld>
            <a:endParaRPr lang="en-US"/>
          </a:p>
        </p:txBody>
      </p:sp>
      <p:sp>
        <p:nvSpPr>
          <p:cNvPr id="12" name="Rectangle 11">
            <a:extLst>
              <a:ext uri="{FF2B5EF4-FFF2-40B4-BE49-F238E27FC236}">
                <a16:creationId xmlns:a16="http://schemas.microsoft.com/office/drawing/2014/main" id="{B0B54629-2D9F-D857-EE31-4C21CDD2E4A2}"/>
              </a:ext>
            </a:extLst>
          </p:cNvPr>
          <p:cNvSpPr>
            <a:spLocks/>
          </p:cNvSpPr>
          <p:nvPr/>
        </p:nvSpPr>
        <p:spPr>
          <a:xfrm>
            <a:off x="940248" y="1934137"/>
            <a:ext cx="7654829" cy="45289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Point of Origin Inspection</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940249" y="3028466"/>
            <a:ext cx="7654828"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100% Inspection</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940248" y="4122795"/>
            <a:ext cx="7654827"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Immediate Feedback</a:t>
            </a:r>
          </a:p>
        </p:txBody>
      </p:sp>
      <p:sp>
        <p:nvSpPr>
          <p:cNvPr id="16" name="Rectangle 15">
            <a:extLst>
              <a:ext uri="{FF2B5EF4-FFF2-40B4-BE49-F238E27FC236}">
                <a16:creationId xmlns:a16="http://schemas.microsoft.com/office/drawing/2014/main" id="{589CEA7D-9312-9D7A-0D93-C8AE0124D074}"/>
              </a:ext>
            </a:extLst>
          </p:cNvPr>
          <p:cNvSpPr>
            <a:spLocks/>
          </p:cNvSpPr>
          <p:nvPr/>
        </p:nvSpPr>
        <p:spPr>
          <a:xfrm>
            <a:off x="940248" y="5217125"/>
            <a:ext cx="7654825"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Poka-Yoke</a:t>
            </a:r>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grpSp>
        <p:nvGrpSpPr>
          <p:cNvPr id="7" name="Group 6">
            <a:extLst>
              <a:ext uri="{FF2B5EF4-FFF2-40B4-BE49-F238E27FC236}">
                <a16:creationId xmlns:a16="http://schemas.microsoft.com/office/drawing/2014/main" id="{0905CBB2-B971-0893-ABC8-D189345EF3A4}"/>
              </a:ext>
            </a:extLst>
          </p:cNvPr>
          <p:cNvGrpSpPr/>
          <p:nvPr/>
        </p:nvGrpSpPr>
        <p:grpSpPr>
          <a:xfrm>
            <a:off x="838200" y="297639"/>
            <a:ext cx="4030980" cy="307138"/>
            <a:chOff x="838200" y="297639"/>
            <a:chExt cx="4030980" cy="307138"/>
          </a:xfrm>
        </p:grpSpPr>
        <p:grpSp>
          <p:nvGrpSpPr>
            <p:cNvPr id="8" name="Group 7">
              <a:extLst>
                <a:ext uri="{FF2B5EF4-FFF2-40B4-BE49-F238E27FC236}">
                  <a16:creationId xmlns:a16="http://schemas.microsoft.com/office/drawing/2014/main" id="{F0603993-820D-57A2-E368-AA1A4EB07B65}"/>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247518FA-3C4F-F894-94F0-A557EBBECDE9}"/>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11">
                <a:extLst>
                  <a:ext uri="{FF2B5EF4-FFF2-40B4-BE49-F238E27FC236}">
                    <a16:creationId xmlns:a16="http://schemas.microsoft.com/office/drawing/2014/main" id="{8C52A3ED-A810-1DFD-C27A-9BEA68668FE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10">
                <a:extLst>
                  <a:ext uri="{FF2B5EF4-FFF2-40B4-BE49-F238E27FC236}">
                    <a16:creationId xmlns:a16="http://schemas.microsoft.com/office/drawing/2014/main" id="{4D40401F-0A2C-0961-FC6A-F7291F947B31}"/>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9" name="TextBox 8">
              <a:extLst>
                <a:ext uri="{FF2B5EF4-FFF2-40B4-BE49-F238E27FC236}">
                  <a16:creationId xmlns:a16="http://schemas.microsoft.com/office/drawing/2014/main" id="{82C9FA86-AA8D-2673-10E4-3EDF2C203072}"/>
                </a:ext>
              </a:extLst>
            </p:cNvPr>
            <p:cNvSpPr txBox="1"/>
            <p:nvPr/>
          </p:nvSpPr>
          <p:spPr>
            <a:xfrm>
              <a:off x="1908497" y="313415"/>
              <a:ext cx="29606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Zero Defect Quality System</a:t>
              </a:r>
            </a:p>
          </p:txBody>
        </p:sp>
      </p:grpSp>
    </p:spTree>
    <p:extLst>
      <p:ext uri="{BB962C8B-B14F-4D97-AF65-F5344CB8AC3E}">
        <p14:creationId xmlns:p14="http://schemas.microsoft.com/office/powerpoint/2010/main" val="19854479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Point of Origin Inspection</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altLang="en-US" dirty="0"/>
              <a:t>Check for optimum process conditions before processing is done and errors can be made</a:t>
            </a:r>
          </a:p>
          <a:p>
            <a:r>
              <a:rPr lang="en-US" altLang="en-US" dirty="0"/>
              <a:t>Instant feedback</a:t>
            </a:r>
          </a:p>
          <a:p>
            <a:r>
              <a:rPr lang="en-US" altLang="en-US" dirty="0"/>
              <a:t>Corrections made before defects occur</a:t>
            </a:r>
          </a:p>
          <a:p>
            <a:endParaRPr lang="en-US" alt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21</a:t>
            </a:fld>
            <a:endParaRPr lang="en-US"/>
          </a:p>
        </p:txBody>
      </p:sp>
      <p:grpSp>
        <p:nvGrpSpPr>
          <p:cNvPr id="4" name="Group 3">
            <a:extLst>
              <a:ext uri="{FF2B5EF4-FFF2-40B4-BE49-F238E27FC236}">
                <a16:creationId xmlns:a16="http://schemas.microsoft.com/office/drawing/2014/main" id="{36178C20-9805-04E5-0347-70DB1B733C6B}"/>
              </a:ext>
            </a:extLst>
          </p:cNvPr>
          <p:cNvGrpSpPr/>
          <p:nvPr/>
        </p:nvGrpSpPr>
        <p:grpSpPr>
          <a:xfrm>
            <a:off x="838200" y="297639"/>
            <a:ext cx="4030980" cy="307138"/>
            <a:chOff x="838200" y="297639"/>
            <a:chExt cx="4030980" cy="307138"/>
          </a:xfrm>
        </p:grpSpPr>
        <p:grpSp>
          <p:nvGrpSpPr>
            <p:cNvPr id="6" name="Group 5">
              <a:extLst>
                <a:ext uri="{FF2B5EF4-FFF2-40B4-BE49-F238E27FC236}">
                  <a16:creationId xmlns:a16="http://schemas.microsoft.com/office/drawing/2014/main" id="{B806E848-D4F5-B396-329E-B16F674678FF}"/>
                </a:ext>
              </a:extLst>
            </p:cNvPr>
            <p:cNvGrpSpPr/>
            <p:nvPr/>
          </p:nvGrpSpPr>
          <p:grpSpPr>
            <a:xfrm>
              <a:off x="838200" y="297639"/>
              <a:ext cx="1060167" cy="290657"/>
              <a:chOff x="826426" y="4041857"/>
              <a:chExt cx="1060167" cy="290657"/>
            </a:xfrm>
          </p:grpSpPr>
          <p:sp>
            <p:nvSpPr>
              <p:cNvPr id="8" name="AutoShape 9">
                <a:extLst>
                  <a:ext uri="{FF2B5EF4-FFF2-40B4-BE49-F238E27FC236}">
                    <a16:creationId xmlns:a16="http://schemas.microsoft.com/office/drawing/2014/main" id="{5A27804C-8262-6CAF-F4CA-1CA5C77C017E}"/>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07CD0BAA-FD4C-DCA7-029C-2879ADF55683}"/>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0">
                <a:extLst>
                  <a:ext uri="{FF2B5EF4-FFF2-40B4-BE49-F238E27FC236}">
                    <a16:creationId xmlns:a16="http://schemas.microsoft.com/office/drawing/2014/main" id="{FC2BC8AA-8D84-55FA-A336-BA4EC25CC786}"/>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7" name="TextBox 6">
              <a:extLst>
                <a:ext uri="{FF2B5EF4-FFF2-40B4-BE49-F238E27FC236}">
                  <a16:creationId xmlns:a16="http://schemas.microsoft.com/office/drawing/2014/main" id="{2BAFFF20-E682-163A-913F-43A1DC4CD3BE}"/>
                </a:ext>
              </a:extLst>
            </p:cNvPr>
            <p:cNvSpPr txBox="1"/>
            <p:nvPr/>
          </p:nvSpPr>
          <p:spPr>
            <a:xfrm>
              <a:off x="1908497" y="313415"/>
              <a:ext cx="29606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Zero Defect Quality System</a:t>
              </a:r>
            </a:p>
          </p:txBody>
        </p:sp>
      </p:grpSp>
    </p:spTree>
    <p:extLst>
      <p:ext uri="{BB962C8B-B14F-4D97-AF65-F5344CB8AC3E}">
        <p14:creationId xmlns:p14="http://schemas.microsoft.com/office/powerpoint/2010/main" val="32332686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a:bodyPr>
          <a:lstStyle/>
          <a:p>
            <a:r>
              <a:rPr lang="en-US" sz="4000" dirty="0">
                <a:solidFill>
                  <a:schemeClr val="bg2">
                    <a:lumMod val="10000"/>
                  </a:schemeClr>
                </a:solidFill>
                <a:latin typeface="Roboto Medium"/>
                <a:ea typeface="Roboto Medium"/>
                <a:cs typeface="Roboto Medium"/>
              </a:rPr>
              <a:t>ZDQ Components</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22</a:t>
            </a:fld>
            <a:endParaRPr lang="en-US"/>
          </a:p>
        </p:txBody>
      </p:sp>
      <p:sp>
        <p:nvSpPr>
          <p:cNvPr id="12" name="Rectangle 11">
            <a:extLst>
              <a:ext uri="{FF2B5EF4-FFF2-40B4-BE49-F238E27FC236}">
                <a16:creationId xmlns:a16="http://schemas.microsoft.com/office/drawing/2014/main" id="{B0B54629-2D9F-D857-EE31-4C21CDD2E4A2}"/>
              </a:ext>
            </a:extLst>
          </p:cNvPr>
          <p:cNvSpPr>
            <a:spLocks/>
          </p:cNvSpPr>
          <p:nvPr/>
        </p:nvSpPr>
        <p:spPr>
          <a:xfrm>
            <a:off x="940248" y="1934137"/>
            <a:ext cx="7654829"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Point of Origin Inspection</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940249" y="3028466"/>
            <a:ext cx="7654828" cy="45289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100% Inspection</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940248" y="4122795"/>
            <a:ext cx="7654827"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Immediate Feedback</a:t>
            </a:r>
          </a:p>
        </p:txBody>
      </p:sp>
      <p:sp>
        <p:nvSpPr>
          <p:cNvPr id="16" name="Rectangle 15">
            <a:extLst>
              <a:ext uri="{FF2B5EF4-FFF2-40B4-BE49-F238E27FC236}">
                <a16:creationId xmlns:a16="http://schemas.microsoft.com/office/drawing/2014/main" id="{589CEA7D-9312-9D7A-0D93-C8AE0124D074}"/>
              </a:ext>
            </a:extLst>
          </p:cNvPr>
          <p:cNvSpPr>
            <a:spLocks/>
          </p:cNvSpPr>
          <p:nvPr/>
        </p:nvSpPr>
        <p:spPr>
          <a:xfrm>
            <a:off x="940248" y="5217125"/>
            <a:ext cx="7654825"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Poka-Yoke</a:t>
            </a:r>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grpSp>
        <p:nvGrpSpPr>
          <p:cNvPr id="7" name="Group 6">
            <a:extLst>
              <a:ext uri="{FF2B5EF4-FFF2-40B4-BE49-F238E27FC236}">
                <a16:creationId xmlns:a16="http://schemas.microsoft.com/office/drawing/2014/main" id="{0905CBB2-B971-0893-ABC8-D189345EF3A4}"/>
              </a:ext>
            </a:extLst>
          </p:cNvPr>
          <p:cNvGrpSpPr/>
          <p:nvPr/>
        </p:nvGrpSpPr>
        <p:grpSpPr>
          <a:xfrm>
            <a:off x="838200" y="297639"/>
            <a:ext cx="4030980" cy="307138"/>
            <a:chOff x="838200" y="297639"/>
            <a:chExt cx="4030980" cy="307138"/>
          </a:xfrm>
        </p:grpSpPr>
        <p:grpSp>
          <p:nvGrpSpPr>
            <p:cNvPr id="8" name="Group 7">
              <a:extLst>
                <a:ext uri="{FF2B5EF4-FFF2-40B4-BE49-F238E27FC236}">
                  <a16:creationId xmlns:a16="http://schemas.microsoft.com/office/drawing/2014/main" id="{F0603993-820D-57A2-E368-AA1A4EB07B65}"/>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247518FA-3C4F-F894-94F0-A557EBBECDE9}"/>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11">
                <a:extLst>
                  <a:ext uri="{FF2B5EF4-FFF2-40B4-BE49-F238E27FC236}">
                    <a16:creationId xmlns:a16="http://schemas.microsoft.com/office/drawing/2014/main" id="{8C52A3ED-A810-1DFD-C27A-9BEA68668FE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10">
                <a:extLst>
                  <a:ext uri="{FF2B5EF4-FFF2-40B4-BE49-F238E27FC236}">
                    <a16:creationId xmlns:a16="http://schemas.microsoft.com/office/drawing/2014/main" id="{4D40401F-0A2C-0961-FC6A-F7291F947B31}"/>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9" name="TextBox 8">
              <a:extLst>
                <a:ext uri="{FF2B5EF4-FFF2-40B4-BE49-F238E27FC236}">
                  <a16:creationId xmlns:a16="http://schemas.microsoft.com/office/drawing/2014/main" id="{82C9FA86-AA8D-2673-10E4-3EDF2C203072}"/>
                </a:ext>
              </a:extLst>
            </p:cNvPr>
            <p:cNvSpPr txBox="1"/>
            <p:nvPr/>
          </p:nvSpPr>
          <p:spPr>
            <a:xfrm>
              <a:off x="1908497" y="313415"/>
              <a:ext cx="29606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Zero Defect Quality System</a:t>
              </a:r>
            </a:p>
          </p:txBody>
        </p:sp>
      </p:grpSp>
    </p:spTree>
    <p:extLst>
      <p:ext uri="{BB962C8B-B14F-4D97-AF65-F5344CB8AC3E}">
        <p14:creationId xmlns:p14="http://schemas.microsoft.com/office/powerpoint/2010/main" val="6986766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100% Inspection</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altLang="en-US" dirty="0"/>
              <a:t>Point of Origin inspection on every piece</a:t>
            </a:r>
          </a:p>
          <a:p>
            <a:r>
              <a:rPr lang="en-US" altLang="en-US" dirty="0"/>
              <a:t>Differs from SQC inspection</a:t>
            </a:r>
          </a:p>
          <a:p>
            <a:pPr lvl="1"/>
            <a:r>
              <a:rPr lang="en-US" altLang="en-US" dirty="0"/>
              <a:t>Does not rely on sampling</a:t>
            </a:r>
          </a:p>
          <a:p>
            <a:pPr lvl="1"/>
            <a:r>
              <a:rPr lang="en-US" altLang="en-US" dirty="0"/>
              <a:t>Does not assume defects will statistically occur</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23</a:t>
            </a:fld>
            <a:endParaRPr lang="en-US"/>
          </a:p>
        </p:txBody>
      </p:sp>
      <p:grpSp>
        <p:nvGrpSpPr>
          <p:cNvPr id="4" name="Group 3">
            <a:extLst>
              <a:ext uri="{FF2B5EF4-FFF2-40B4-BE49-F238E27FC236}">
                <a16:creationId xmlns:a16="http://schemas.microsoft.com/office/drawing/2014/main" id="{36178C20-9805-04E5-0347-70DB1B733C6B}"/>
              </a:ext>
            </a:extLst>
          </p:cNvPr>
          <p:cNvGrpSpPr/>
          <p:nvPr/>
        </p:nvGrpSpPr>
        <p:grpSpPr>
          <a:xfrm>
            <a:off x="838200" y="297639"/>
            <a:ext cx="4030980" cy="307138"/>
            <a:chOff x="838200" y="297639"/>
            <a:chExt cx="4030980" cy="307138"/>
          </a:xfrm>
        </p:grpSpPr>
        <p:grpSp>
          <p:nvGrpSpPr>
            <p:cNvPr id="6" name="Group 5">
              <a:extLst>
                <a:ext uri="{FF2B5EF4-FFF2-40B4-BE49-F238E27FC236}">
                  <a16:creationId xmlns:a16="http://schemas.microsoft.com/office/drawing/2014/main" id="{B806E848-D4F5-B396-329E-B16F674678FF}"/>
                </a:ext>
              </a:extLst>
            </p:cNvPr>
            <p:cNvGrpSpPr/>
            <p:nvPr/>
          </p:nvGrpSpPr>
          <p:grpSpPr>
            <a:xfrm>
              <a:off x="838200" y="297639"/>
              <a:ext cx="1060167" cy="290657"/>
              <a:chOff x="826426" y="4041857"/>
              <a:chExt cx="1060167" cy="290657"/>
            </a:xfrm>
          </p:grpSpPr>
          <p:sp>
            <p:nvSpPr>
              <p:cNvPr id="8" name="AutoShape 9">
                <a:extLst>
                  <a:ext uri="{FF2B5EF4-FFF2-40B4-BE49-F238E27FC236}">
                    <a16:creationId xmlns:a16="http://schemas.microsoft.com/office/drawing/2014/main" id="{5A27804C-8262-6CAF-F4CA-1CA5C77C017E}"/>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07CD0BAA-FD4C-DCA7-029C-2879ADF55683}"/>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0">
                <a:extLst>
                  <a:ext uri="{FF2B5EF4-FFF2-40B4-BE49-F238E27FC236}">
                    <a16:creationId xmlns:a16="http://schemas.microsoft.com/office/drawing/2014/main" id="{FC2BC8AA-8D84-55FA-A336-BA4EC25CC786}"/>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7" name="TextBox 6">
              <a:extLst>
                <a:ext uri="{FF2B5EF4-FFF2-40B4-BE49-F238E27FC236}">
                  <a16:creationId xmlns:a16="http://schemas.microsoft.com/office/drawing/2014/main" id="{2BAFFF20-E682-163A-913F-43A1DC4CD3BE}"/>
                </a:ext>
              </a:extLst>
            </p:cNvPr>
            <p:cNvSpPr txBox="1"/>
            <p:nvPr/>
          </p:nvSpPr>
          <p:spPr>
            <a:xfrm>
              <a:off x="1908497" y="313415"/>
              <a:ext cx="29606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Zero Defect Quality System</a:t>
              </a:r>
            </a:p>
          </p:txBody>
        </p:sp>
      </p:grpSp>
    </p:spTree>
    <p:extLst>
      <p:ext uri="{BB962C8B-B14F-4D97-AF65-F5344CB8AC3E}">
        <p14:creationId xmlns:p14="http://schemas.microsoft.com/office/powerpoint/2010/main" val="39834198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a:bodyPr>
          <a:lstStyle/>
          <a:p>
            <a:r>
              <a:rPr lang="en-US" sz="4000" dirty="0">
                <a:solidFill>
                  <a:schemeClr val="bg2">
                    <a:lumMod val="10000"/>
                  </a:schemeClr>
                </a:solidFill>
                <a:latin typeface="Roboto Medium"/>
                <a:ea typeface="Roboto Medium"/>
                <a:cs typeface="Roboto Medium"/>
              </a:rPr>
              <a:t>ZDQ Components</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24</a:t>
            </a:fld>
            <a:endParaRPr lang="en-US"/>
          </a:p>
        </p:txBody>
      </p:sp>
      <p:sp>
        <p:nvSpPr>
          <p:cNvPr id="12" name="Rectangle 11">
            <a:extLst>
              <a:ext uri="{FF2B5EF4-FFF2-40B4-BE49-F238E27FC236}">
                <a16:creationId xmlns:a16="http://schemas.microsoft.com/office/drawing/2014/main" id="{B0B54629-2D9F-D857-EE31-4C21CDD2E4A2}"/>
              </a:ext>
            </a:extLst>
          </p:cNvPr>
          <p:cNvSpPr>
            <a:spLocks/>
          </p:cNvSpPr>
          <p:nvPr/>
        </p:nvSpPr>
        <p:spPr>
          <a:xfrm>
            <a:off x="940248" y="1934137"/>
            <a:ext cx="7654829"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Point of Origin Inspection</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940249" y="3028466"/>
            <a:ext cx="7654828"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100% Inspection</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940248" y="4122795"/>
            <a:ext cx="7654827" cy="45289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Immediate Feedback</a:t>
            </a:r>
          </a:p>
        </p:txBody>
      </p:sp>
      <p:sp>
        <p:nvSpPr>
          <p:cNvPr id="16" name="Rectangle 15">
            <a:extLst>
              <a:ext uri="{FF2B5EF4-FFF2-40B4-BE49-F238E27FC236}">
                <a16:creationId xmlns:a16="http://schemas.microsoft.com/office/drawing/2014/main" id="{589CEA7D-9312-9D7A-0D93-C8AE0124D074}"/>
              </a:ext>
            </a:extLst>
          </p:cNvPr>
          <p:cNvSpPr>
            <a:spLocks/>
          </p:cNvSpPr>
          <p:nvPr/>
        </p:nvSpPr>
        <p:spPr>
          <a:xfrm>
            <a:off x="940248" y="5217125"/>
            <a:ext cx="7654825"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Poka-Yoke</a:t>
            </a:r>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grpSp>
        <p:nvGrpSpPr>
          <p:cNvPr id="7" name="Group 6">
            <a:extLst>
              <a:ext uri="{FF2B5EF4-FFF2-40B4-BE49-F238E27FC236}">
                <a16:creationId xmlns:a16="http://schemas.microsoft.com/office/drawing/2014/main" id="{0905CBB2-B971-0893-ABC8-D189345EF3A4}"/>
              </a:ext>
            </a:extLst>
          </p:cNvPr>
          <p:cNvGrpSpPr/>
          <p:nvPr/>
        </p:nvGrpSpPr>
        <p:grpSpPr>
          <a:xfrm>
            <a:off x="838200" y="297639"/>
            <a:ext cx="4030980" cy="307138"/>
            <a:chOff x="838200" y="297639"/>
            <a:chExt cx="4030980" cy="307138"/>
          </a:xfrm>
        </p:grpSpPr>
        <p:grpSp>
          <p:nvGrpSpPr>
            <p:cNvPr id="8" name="Group 7">
              <a:extLst>
                <a:ext uri="{FF2B5EF4-FFF2-40B4-BE49-F238E27FC236}">
                  <a16:creationId xmlns:a16="http://schemas.microsoft.com/office/drawing/2014/main" id="{F0603993-820D-57A2-E368-AA1A4EB07B65}"/>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247518FA-3C4F-F894-94F0-A557EBBECDE9}"/>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11">
                <a:extLst>
                  <a:ext uri="{FF2B5EF4-FFF2-40B4-BE49-F238E27FC236}">
                    <a16:creationId xmlns:a16="http://schemas.microsoft.com/office/drawing/2014/main" id="{8C52A3ED-A810-1DFD-C27A-9BEA68668FE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10">
                <a:extLst>
                  <a:ext uri="{FF2B5EF4-FFF2-40B4-BE49-F238E27FC236}">
                    <a16:creationId xmlns:a16="http://schemas.microsoft.com/office/drawing/2014/main" id="{4D40401F-0A2C-0961-FC6A-F7291F947B31}"/>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9" name="TextBox 8">
              <a:extLst>
                <a:ext uri="{FF2B5EF4-FFF2-40B4-BE49-F238E27FC236}">
                  <a16:creationId xmlns:a16="http://schemas.microsoft.com/office/drawing/2014/main" id="{82C9FA86-AA8D-2673-10E4-3EDF2C203072}"/>
                </a:ext>
              </a:extLst>
            </p:cNvPr>
            <p:cNvSpPr txBox="1"/>
            <p:nvPr/>
          </p:nvSpPr>
          <p:spPr>
            <a:xfrm>
              <a:off x="1908497" y="313415"/>
              <a:ext cx="29606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Zero Defect Quality System</a:t>
              </a:r>
            </a:p>
          </p:txBody>
        </p:sp>
      </p:grpSp>
    </p:spTree>
    <p:extLst>
      <p:ext uri="{BB962C8B-B14F-4D97-AF65-F5344CB8AC3E}">
        <p14:creationId xmlns:p14="http://schemas.microsoft.com/office/powerpoint/2010/main" val="5819600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Immediate Feedback</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altLang="en-US" dirty="0"/>
              <a:t>Error correction as soon as possible</a:t>
            </a:r>
          </a:p>
          <a:p>
            <a:r>
              <a:rPr lang="en-US" altLang="en-US" dirty="0"/>
              <a:t>Differs from traditional inspection approaches that</a:t>
            </a:r>
          </a:p>
          <a:p>
            <a:pPr lvl="1"/>
            <a:r>
              <a:rPr lang="en-US" altLang="en-US" dirty="0"/>
              <a:t>Correct problems after the process</a:t>
            </a:r>
          </a:p>
          <a:p>
            <a:pPr lvl="1"/>
            <a:r>
              <a:rPr lang="en-US" altLang="en-US" dirty="0"/>
              <a:t>Address the problem when errors are already defects</a:t>
            </a:r>
          </a:p>
          <a:p>
            <a:pPr lvl="1"/>
            <a:r>
              <a:rPr lang="en-US" altLang="en-US" dirty="0"/>
              <a:t>In some cases never identify an error has occurred</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25</a:t>
            </a:fld>
            <a:endParaRPr lang="en-US"/>
          </a:p>
        </p:txBody>
      </p:sp>
      <p:grpSp>
        <p:nvGrpSpPr>
          <p:cNvPr id="4" name="Group 3">
            <a:extLst>
              <a:ext uri="{FF2B5EF4-FFF2-40B4-BE49-F238E27FC236}">
                <a16:creationId xmlns:a16="http://schemas.microsoft.com/office/drawing/2014/main" id="{36178C20-9805-04E5-0347-70DB1B733C6B}"/>
              </a:ext>
            </a:extLst>
          </p:cNvPr>
          <p:cNvGrpSpPr/>
          <p:nvPr/>
        </p:nvGrpSpPr>
        <p:grpSpPr>
          <a:xfrm>
            <a:off x="838200" y="297639"/>
            <a:ext cx="4030980" cy="307138"/>
            <a:chOff x="838200" y="297639"/>
            <a:chExt cx="4030980" cy="307138"/>
          </a:xfrm>
        </p:grpSpPr>
        <p:grpSp>
          <p:nvGrpSpPr>
            <p:cNvPr id="6" name="Group 5">
              <a:extLst>
                <a:ext uri="{FF2B5EF4-FFF2-40B4-BE49-F238E27FC236}">
                  <a16:creationId xmlns:a16="http://schemas.microsoft.com/office/drawing/2014/main" id="{B806E848-D4F5-B396-329E-B16F674678FF}"/>
                </a:ext>
              </a:extLst>
            </p:cNvPr>
            <p:cNvGrpSpPr/>
            <p:nvPr/>
          </p:nvGrpSpPr>
          <p:grpSpPr>
            <a:xfrm>
              <a:off x="838200" y="297639"/>
              <a:ext cx="1060167" cy="290657"/>
              <a:chOff x="826426" y="4041857"/>
              <a:chExt cx="1060167" cy="290657"/>
            </a:xfrm>
          </p:grpSpPr>
          <p:sp>
            <p:nvSpPr>
              <p:cNvPr id="8" name="AutoShape 9">
                <a:extLst>
                  <a:ext uri="{FF2B5EF4-FFF2-40B4-BE49-F238E27FC236}">
                    <a16:creationId xmlns:a16="http://schemas.microsoft.com/office/drawing/2014/main" id="{5A27804C-8262-6CAF-F4CA-1CA5C77C017E}"/>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07CD0BAA-FD4C-DCA7-029C-2879ADF55683}"/>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0">
                <a:extLst>
                  <a:ext uri="{FF2B5EF4-FFF2-40B4-BE49-F238E27FC236}">
                    <a16:creationId xmlns:a16="http://schemas.microsoft.com/office/drawing/2014/main" id="{FC2BC8AA-8D84-55FA-A336-BA4EC25CC786}"/>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7" name="TextBox 6">
              <a:extLst>
                <a:ext uri="{FF2B5EF4-FFF2-40B4-BE49-F238E27FC236}">
                  <a16:creationId xmlns:a16="http://schemas.microsoft.com/office/drawing/2014/main" id="{2BAFFF20-E682-163A-913F-43A1DC4CD3BE}"/>
                </a:ext>
              </a:extLst>
            </p:cNvPr>
            <p:cNvSpPr txBox="1"/>
            <p:nvPr/>
          </p:nvSpPr>
          <p:spPr>
            <a:xfrm>
              <a:off x="1908497" y="313415"/>
              <a:ext cx="29606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Zero Defect Quality System</a:t>
              </a:r>
            </a:p>
          </p:txBody>
        </p:sp>
      </p:grpSp>
    </p:spTree>
    <p:extLst>
      <p:ext uri="{BB962C8B-B14F-4D97-AF65-F5344CB8AC3E}">
        <p14:creationId xmlns:p14="http://schemas.microsoft.com/office/powerpoint/2010/main" val="14077498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a:bodyPr>
          <a:lstStyle/>
          <a:p>
            <a:r>
              <a:rPr lang="en-US" sz="4000" dirty="0">
                <a:solidFill>
                  <a:schemeClr val="bg2">
                    <a:lumMod val="10000"/>
                  </a:schemeClr>
                </a:solidFill>
                <a:latin typeface="Roboto Medium"/>
                <a:ea typeface="Roboto Medium"/>
                <a:cs typeface="Roboto Medium"/>
              </a:rPr>
              <a:t>ZDQ Components</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26</a:t>
            </a:fld>
            <a:endParaRPr lang="en-US"/>
          </a:p>
        </p:txBody>
      </p:sp>
      <p:sp>
        <p:nvSpPr>
          <p:cNvPr id="12" name="Rectangle 11">
            <a:extLst>
              <a:ext uri="{FF2B5EF4-FFF2-40B4-BE49-F238E27FC236}">
                <a16:creationId xmlns:a16="http://schemas.microsoft.com/office/drawing/2014/main" id="{B0B54629-2D9F-D857-EE31-4C21CDD2E4A2}"/>
              </a:ext>
            </a:extLst>
          </p:cNvPr>
          <p:cNvSpPr>
            <a:spLocks/>
          </p:cNvSpPr>
          <p:nvPr/>
        </p:nvSpPr>
        <p:spPr>
          <a:xfrm>
            <a:off x="940248" y="1934137"/>
            <a:ext cx="7654829"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Point of Origin Inspection</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940249" y="3028466"/>
            <a:ext cx="7654828"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100% Inspection</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940248" y="4122795"/>
            <a:ext cx="7654827"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Immediate Feedback</a:t>
            </a:r>
          </a:p>
        </p:txBody>
      </p:sp>
      <p:sp>
        <p:nvSpPr>
          <p:cNvPr id="16" name="Rectangle 15">
            <a:extLst>
              <a:ext uri="{FF2B5EF4-FFF2-40B4-BE49-F238E27FC236}">
                <a16:creationId xmlns:a16="http://schemas.microsoft.com/office/drawing/2014/main" id="{589CEA7D-9312-9D7A-0D93-C8AE0124D074}"/>
              </a:ext>
            </a:extLst>
          </p:cNvPr>
          <p:cNvSpPr>
            <a:spLocks/>
          </p:cNvSpPr>
          <p:nvPr/>
        </p:nvSpPr>
        <p:spPr>
          <a:xfrm>
            <a:off x="940248" y="5217125"/>
            <a:ext cx="7654825" cy="45289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Poka-Yoke</a:t>
            </a:r>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grpSp>
        <p:nvGrpSpPr>
          <p:cNvPr id="7" name="Group 6">
            <a:extLst>
              <a:ext uri="{FF2B5EF4-FFF2-40B4-BE49-F238E27FC236}">
                <a16:creationId xmlns:a16="http://schemas.microsoft.com/office/drawing/2014/main" id="{0905CBB2-B971-0893-ABC8-D189345EF3A4}"/>
              </a:ext>
            </a:extLst>
          </p:cNvPr>
          <p:cNvGrpSpPr/>
          <p:nvPr/>
        </p:nvGrpSpPr>
        <p:grpSpPr>
          <a:xfrm>
            <a:off x="838200" y="297639"/>
            <a:ext cx="4030980" cy="307138"/>
            <a:chOff x="838200" y="297639"/>
            <a:chExt cx="4030980" cy="307138"/>
          </a:xfrm>
        </p:grpSpPr>
        <p:grpSp>
          <p:nvGrpSpPr>
            <p:cNvPr id="8" name="Group 7">
              <a:extLst>
                <a:ext uri="{FF2B5EF4-FFF2-40B4-BE49-F238E27FC236}">
                  <a16:creationId xmlns:a16="http://schemas.microsoft.com/office/drawing/2014/main" id="{F0603993-820D-57A2-E368-AA1A4EB07B65}"/>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247518FA-3C4F-F894-94F0-A557EBBECDE9}"/>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11">
                <a:extLst>
                  <a:ext uri="{FF2B5EF4-FFF2-40B4-BE49-F238E27FC236}">
                    <a16:creationId xmlns:a16="http://schemas.microsoft.com/office/drawing/2014/main" id="{8C52A3ED-A810-1DFD-C27A-9BEA68668FE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10">
                <a:extLst>
                  <a:ext uri="{FF2B5EF4-FFF2-40B4-BE49-F238E27FC236}">
                    <a16:creationId xmlns:a16="http://schemas.microsoft.com/office/drawing/2014/main" id="{4D40401F-0A2C-0961-FC6A-F7291F947B31}"/>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9" name="TextBox 8">
              <a:extLst>
                <a:ext uri="{FF2B5EF4-FFF2-40B4-BE49-F238E27FC236}">
                  <a16:creationId xmlns:a16="http://schemas.microsoft.com/office/drawing/2014/main" id="{82C9FA86-AA8D-2673-10E4-3EDF2C203072}"/>
                </a:ext>
              </a:extLst>
            </p:cNvPr>
            <p:cNvSpPr txBox="1"/>
            <p:nvPr/>
          </p:nvSpPr>
          <p:spPr>
            <a:xfrm>
              <a:off x="1908497" y="313415"/>
              <a:ext cx="29606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Zero Defect Quality System</a:t>
              </a:r>
            </a:p>
          </p:txBody>
        </p:sp>
      </p:grpSp>
    </p:spTree>
    <p:extLst>
      <p:ext uri="{BB962C8B-B14F-4D97-AF65-F5344CB8AC3E}">
        <p14:creationId xmlns:p14="http://schemas.microsoft.com/office/powerpoint/2010/main" val="10860286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Poka-Yoke</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altLang="en-US" dirty="0"/>
              <a:t>Does not rely on operators catching mistakes</a:t>
            </a:r>
          </a:p>
          <a:p>
            <a:r>
              <a:rPr lang="en-US" altLang="en-US" dirty="0"/>
              <a:t>Inexpensive Point of Origin inspection</a:t>
            </a:r>
          </a:p>
          <a:p>
            <a:r>
              <a:rPr lang="en-US" altLang="en-US" dirty="0"/>
              <a:t>Quick feedback 100% of the time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27</a:t>
            </a:fld>
            <a:endParaRPr lang="en-US"/>
          </a:p>
        </p:txBody>
      </p:sp>
      <p:grpSp>
        <p:nvGrpSpPr>
          <p:cNvPr id="4" name="Group 3">
            <a:extLst>
              <a:ext uri="{FF2B5EF4-FFF2-40B4-BE49-F238E27FC236}">
                <a16:creationId xmlns:a16="http://schemas.microsoft.com/office/drawing/2014/main" id="{36178C20-9805-04E5-0347-70DB1B733C6B}"/>
              </a:ext>
            </a:extLst>
          </p:cNvPr>
          <p:cNvGrpSpPr/>
          <p:nvPr/>
        </p:nvGrpSpPr>
        <p:grpSpPr>
          <a:xfrm>
            <a:off x="838200" y="297639"/>
            <a:ext cx="4030980" cy="307138"/>
            <a:chOff x="838200" y="297639"/>
            <a:chExt cx="4030980" cy="307138"/>
          </a:xfrm>
        </p:grpSpPr>
        <p:grpSp>
          <p:nvGrpSpPr>
            <p:cNvPr id="6" name="Group 5">
              <a:extLst>
                <a:ext uri="{FF2B5EF4-FFF2-40B4-BE49-F238E27FC236}">
                  <a16:creationId xmlns:a16="http://schemas.microsoft.com/office/drawing/2014/main" id="{B806E848-D4F5-B396-329E-B16F674678FF}"/>
                </a:ext>
              </a:extLst>
            </p:cNvPr>
            <p:cNvGrpSpPr/>
            <p:nvPr/>
          </p:nvGrpSpPr>
          <p:grpSpPr>
            <a:xfrm>
              <a:off x="838200" y="297639"/>
              <a:ext cx="1060167" cy="290657"/>
              <a:chOff x="826426" y="4041857"/>
              <a:chExt cx="1060167" cy="290657"/>
            </a:xfrm>
          </p:grpSpPr>
          <p:sp>
            <p:nvSpPr>
              <p:cNvPr id="8" name="AutoShape 9">
                <a:extLst>
                  <a:ext uri="{FF2B5EF4-FFF2-40B4-BE49-F238E27FC236}">
                    <a16:creationId xmlns:a16="http://schemas.microsoft.com/office/drawing/2014/main" id="{5A27804C-8262-6CAF-F4CA-1CA5C77C017E}"/>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07CD0BAA-FD4C-DCA7-029C-2879ADF55683}"/>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0">
                <a:extLst>
                  <a:ext uri="{FF2B5EF4-FFF2-40B4-BE49-F238E27FC236}">
                    <a16:creationId xmlns:a16="http://schemas.microsoft.com/office/drawing/2014/main" id="{FC2BC8AA-8D84-55FA-A336-BA4EC25CC786}"/>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7" name="TextBox 6">
              <a:extLst>
                <a:ext uri="{FF2B5EF4-FFF2-40B4-BE49-F238E27FC236}">
                  <a16:creationId xmlns:a16="http://schemas.microsoft.com/office/drawing/2014/main" id="{2BAFFF20-E682-163A-913F-43A1DC4CD3BE}"/>
                </a:ext>
              </a:extLst>
            </p:cNvPr>
            <p:cNvSpPr txBox="1"/>
            <p:nvPr/>
          </p:nvSpPr>
          <p:spPr>
            <a:xfrm>
              <a:off x="1908497" y="313415"/>
              <a:ext cx="29606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Zero Defect Quality System</a:t>
              </a:r>
            </a:p>
          </p:txBody>
        </p:sp>
      </p:grpSp>
    </p:spTree>
    <p:extLst>
      <p:ext uri="{BB962C8B-B14F-4D97-AF65-F5344CB8AC3E}">
        <p14:creationId xmlns:p14="http://schemas.microsoft.com/office/powerpoint/2010/main" val="6679311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28</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The 7 Steps of Poka-Yoke</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dirty="0"/>
              <a:t>Identify the 7 steps of the Poka-Yoke process</a:t>
            </a:r>
          </a:p>
          <a:p>
            <a:r>
              <a:rPr lang="en-US" dirty="0"/>
              <a:t>Define and identify Red Flag conditions</a:t>
            </a:r>
          </a:p>
          <a:p>
            <a:r>
              <a:rPr lang="en-US" dirty="0"/>
              <a:t>Differentiate between prevention and detection error-proofing techniques</a:t>
            </a:r>
          </a:p>
          <a:p>
            <a:r>
              <a:rPr lang="en-US" dirty="0"/>
              <a:t>Discuss importance of developing a Process Stop Support Plan</a:t>
            </a:r>
          </a:p>
          <a:p>
            <a:r>
              <a:rPr lang="en-US" dirty="0"/>
              <a:t>Discuss use of visual controls when error-proofing is not possible</a:t>
            </a:r>
          </a:p>
          <a:p>
            <a:endParaRPr lang="en-US" dirty="0"/>
          </a:p>
          <a:p>
            <a:endParaRPr lang="en-US" dirty="0"/>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DADE2756-B973-0064-D4DD-52D3744FBA6B}"/>
              </a:ext>
            </a:extLst>
          </p:cNvPr>
          <p:cNvGrpSpPr/>
          <p:nvPr/>
        </p:nvGrpSpPr>
        <p:grpSpPr>
          <a:xfrm>
            <a:off x="699911" y="837133"/>
            <a:ext cx="4425950" cy="659879"/>
            <a:chOff x="5627530" y="641179"/>
            <a:chExt cx="6564470" cy="804977"/>
          </a:xfrm>
        </p:grpSpPr>
        <p:sp>
          <p:nvSpPr>
            <p:cNvPr id="14" name="AutoShape 9">
              <a:extLst>
                <a:ext uri="{FF2B5EF4-FFF2-40B4-BE49-F238E27FC236}">
                  <a16:creationId xmlns:a16="http://schemas.microsoft.com/office/drawing/2014/main" id="{FF83B6EB-BAFE-C193-44C8-50C54ED609A3}"/>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Poka-Yoke Examples</a:t>
              </a:r>
            </a:p>
          </p:txBody>
        </p:sp>
        <p:sp>
          <p:nvSpPr>
            <p:cNvPr id="15" name="AutoShape 10">
              <a:extLst>
                <a:ext uri="{FF2B5EF4-FFF2-40B4-BE49-F238E27FC236}">
                  <a16:creationId xmlns:a16="http://schemas.microsoft.com/office/drawing/2014/main" id="{386767CB-AD12-A8CE-F49D-60EB435EC2D3}"/>
                </a:ext>
              </a:extLst>
            </p:cNvPr>
            <p:cNvSpPr>
              <a:spLocks noChangeArrowheads="1"/>
            </p:cNvSpPr>
            <p:nvPr/>
          </p:nvSpPr>
          <p:spPr bwMode="auto">
            <a:xfrm>
              <a:off x="7737856" y="641180"/>
              <a:ext cx="2342768" cy="804976"/>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7 Steps of Poka-Yoke</a:t>
              </a:r>
            </a:p>
          </p:txBody>
        </p:sp>
        <p:sp>
          <p:nvSpPr>
            <p:cNvPr id="16" name="AutoShape 11">
              <a:extLst>
                <a:ext uri="{FF2B5EF4-FFF2-40B4-BE49-F238E27FC236}">
                  <a16:creationId xmlns:a16="http://schemas.microsoft.com/office/drawing/2014/main" id="{C2EFD1F9-72F5-1220-34C5-1283C9247686}"/>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Zero Defect</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Quality System</a:t>
              </a:r>
            </a:p>
          </p:txBody>
        </p:sp>
      </p:grpSp>
    </p:spTree>
    <p:extLst>
      <p:ext uri="{BB962C8B-B14F-4D97-AF65-F5344CB8AC3E}">
        <p14:creationId xmlns:p14="http://schemas.microsoft.com/office/powerpoint/2010/main" val="39945452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7 Steps of Poka-Yoke</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92500" lnSpcReduction="10000"/>
          </a:bodyPr>
          <a:lstStyle/>
          <a:p>
            <a:r>
              <a:rPr lang="en-US" dirty="0"/>
              <a:t>Create a process map and identify the locations at which the defects are found and made</a:t>
            </a:r>
          </a:p>
          <a:p>
            <a:r>
              <a:rPr lang="en-US" dirty="0"/>
              <a:t>Evaluate current procedures for adequacy and determine if they are </a:t>
            </a:r>
            <a:br>
              <a:rPr lang="en-US" dirty="0"/>
            </a:br>
            <a:r>
              <a:rPr lang="en-US" dirty="0"/>
              <a:t>being followed</a:t>
            </a:r>
          </a:p>
          <a:p>
            <a:r>
              <a:rPr lang="en-US" dirty="0"/>
              <a:t>Identify defect provoking conditions, or red flag conditions, at each </a:t>
            </a:r>
            <a:br>
              <a:rPr lang="en-US" dirty="0"/>
            </a:br>
            <a:r>
              <a:rPr lang="en-US" dirty="0"/>
              <a:t>process step</a:t>
            </a:r>
          </a:p>
          <a:p>
            <a:r>
              <a:rPr lang="en-US" dirty="0"/>
              <a:t>Identify the root cause(s) (error) of each type of defect and in which process step it occurs</a:t>
            </a:r>
          </a:p>
          <a:p>
            <a:r>
              <a:rPr lang="en-US" dirty="0"/>
              <a:t>Identify the type of error-proofing device required</a:t>
            </a:r>
          </a:p>
          <a:p>
            <a:r>
              <a:rPr lang="en-US" dirty="0"/>
              <a:t>Create the device and try it</a:t>
            </a:r>
          </a:p>
          <a:p>
            <a:r>
              <a:rPr lang="en-US" dirty="0"/>
              <a:t>Measure for effectiveness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29</a:t>
            </a:fld>
            <a:endParaRPr lang="en-US"/>
          </a:p>
        </p:txBody>
      </p:sp>
      <p:grpSp>
        <p:nvGrpSpPr>
          <p:cNvPr id="4" name="Group 3">
            <a:extLst>
              <a:ext uri="{FF2B5EF4-FFF2-40B4-BE49-F238E27FC236}">
                <a16:creationId xmlns:a16="http://schemas.microsoft.com/office/drawing/2014/main" id="{21B93D17-4C6C-0C68-0D84-1E5CE719B3F8}"/>
              </a:ext>
            </a:extLst>
          </p:cNvPr>
          <p:cNvGrpSpPr/>
          <p:nvPr/>
        </p:nvGrpSpPr>
        <p:grpSpPr>
          <a:xfrm>
            <a:off x="838200" y="297639"/>
            <a:ext cx="3310890" cy="307138"/>
            <a:chOff x="838200" y="297639"/>
            <a:chExt cx="3310890" cy="307138"/>
          </a:xfrm>
        </p:grpSpPr>
        <p:grpSp>
          <p:nvGrpSpPr>
            <p:cNvPr id="6" name="Group 5">
              <a:extLst>
                <a:ext uri="{FF2B5EF4-FFF2-40B4-BE49-F238E27FC236}">
                  <a16:creationId xmlns:a16="http://schemas.microsoft.com/office/drawing/2014/main" id="{C8E2C21F-D0AE-9C2E-E70C-78673A568DD4}"/>
                </a:ext>
              </a:extLst>
            </p:cNvPr>
            <p:cNvGrpSpPr/>
            <p:nvPr/>
          </p:nvGrpSpPr>
          <p:grpSpPr>
            <a:xfrm>
              <a:off x="838200" y="297639"/>
              <a:ext cx="1060167" cy="290657"/>
              <a:chOff x="826426" y="4041857"/>
              <a:chExt cx="1060167" cy="290657"/>
            </a:xfrm>
          </p:grpSpPr>
          <p:sp>
            <p:nvSpPr>
              <p:cNvPr id="8" name="AutoShape 9">
                <a:extLst>
                  <a:ext uri="{FF2B5EF4-FFF2-40B4-BE49-F238E27FC236}">
                    <a16:creationId xmlns:a16="http://schemas.microsoft.com/office/drawing/2014/main" id="{55B3E36E-B804-7CF0-2174-31CD0EA06A71}"/>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FF3C6D0D-ABFA-7EAD-CFD1-4A67DB087236}"/>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0">
                <a:extLst>
                  <a:ext uri="{FF2B5EF4-FFF2-40B4-BE49-F238E27FC236}">
                    <a16:creationId xmlns:a16="http://schemas.microsoft.com/office/drawing/2014/main" id="{0BDD0876-4214-39CD-D152-D7946C17342C}"/>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7" name="TextBox 6">
              <a:extLst>
                <a:ext uri="{FF2B5EF4-FFF2-40B4-BE49-F238E27FC236}">
                  <a16:creationId xmlns:a16="http://schemas.microsoft.com/office/drawing/2014/main" id="{1FAC0AAC-37D7-08AF-7666-8D9C5A177E3E}"/>
                </a:ext>
              </a:extLst>
            </p:cNvPr>
            <p:cNvSpPr txBox="1"/>
            <p:nvPr/>
          </p:nvSpPr>
          <p:spPr>
            <a:xfrm>
              <a:off x="1908497" y="313415"/>
              <a:ext cx="22405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7 Steps of Poka-Yoke</a:t>
              </a:r>
            </a:p>
          </p:txBody>
        </p:sp>
      </p:grpSp>
    </p:spTree>
    <p:extLst>
      <p:ext uri="{BB962C8B-B14F-4D97-AF65-F5344CB8AC3E}">
        <p14:creationId xmlns:p14="http://schemas.microsoft.com/office/powerpoint/2010/main" val="38339003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600" dirty="0"/>
              <a:t>Red Flag Conditions are conditions which normally provoke errors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Multiple steps</a:t>
            </a:r>
          </a:p>
          <a:p>
            <a:r>
              <a:rPr lang="en-US" dirty="0"/>
              <a:t>Infrequent production</a:t>
            </a:r>
          </a:p>
          <a:p>
            <a:r>
              <a:rPr lang="en-US" dirty="0"/>
              <a:t>Lack of standards</a:t>
            </a:r>
          </a:p>
          <a:p>
            <a:r>
              <a:rPr lang="en-US" dirty="0"/>
              <a:t>Rapid repetition</a:t>
            </a:r>
          </a:p>
          <a:p>
            <a:r>
              <a:rPr lang="en-US" dirty="0"/>
              <a:t>High volume</a:t>
            </a:r>
          </a:p>
          <a:p>
            <a:r>
              <a:rPr lang="en-US" dirty="0"/>
              <a:t>Environmental conditions</a:t>
            </a:r>
          </a:p>
          <a:p>
            <a:pPr lvl="1"/>
            <a:r>
              <a:rPr lang="en-US" dirty="0"/>
              <a:t>Material / process handling</a:t>
            </a:r>
          </a:p>
          <a:p>
            <a:pPr lvl="1"/>
            <a:r>
              <a:rPr lang="en-US" dirty="0"/>
              <a:t>Housekeeping</a:t>
            </a:r>
          </a:p>
          <a:p>
            <a:pPr lvl="1"/>
            <a:r>
              <a:rPr lang="en-US" dirty="0"/>
              <a:t>Ergonomics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30</a:t>
            </a:fld>
            <a:endParaRPr lang="en-US"/>
          </a:p>
        </p:txBody>
      </p:sp>
      <p:grpSp>
        <p:nvGrpSpPr>
          <p:cNvPr id="4" name="Group 3">
            <a:extLst>
              <a:ext uri="{FF2B5EF4-FFF2-40B4-BE49-F238E27FC236}">
                <a16:creationId xmlns:a16="http://schemas.microsoft.com/office/drawing/2014/main" id="{21B93D17-4C6C-0C68-0D84-1E5CE719B3F8}"/>
              </a:ext>
            </a:extLst>
          </p:cNvPr>
          <p:cNvGrpSpPr/>
          <p:nvPr/>
        </p:nvGrpSpPr>
        <p:grpSpPr>
          <a:xfrm>
            <a:off x="838200" y="297639"/>
            <a:ext cx="3310890" cy="307138"/>
            <a:chOff x="838200" y="297639"/>
            <a:chExt cx="3310890" cy="307138"/>
          </a:xfrm>
        </p:grpSpPr>
        <p:grpSp>
          <p:nvGrpSpPr>
            <p:cNvPr id="6" name="Group 5">
              <a:extLst>
                <a:ext uri="{FF2B5EF4-FFF2-40B4-BE49-F238E27FC236}">
                  <a16:creationId xmlns:a16="http://schemas.microsoft.com/office/drawing/2014/main" id="{C8E2C21F-D0AE-9C2E-E70C-78673A568DD4}"/>
                </a:ext>
              </a:extLst>
            </p:cNvPr>
            <p:cNvGrpSpPr/>
            <p:nvPr/>
          </p:nvGrpSpPr>
          <p:grpSpPr>
            <a:xfrm>
              <a:off x="838200" y="297639"/>
              <a:ext cx="1060167" cy="290657"/>
              <a:chOff x="826426" y="4041857"/>
              <a:chExt cx="1060167" cy="290657"/>
            </a:xfrm>
          </p:grpSpPr>
          <p:sp>
            <p:nvSpPr>
              <p:cNvPr id="8" name="AutoShape 9">
                <a:extLst>
                  <a:ext uri="{FF2B5EF4-FFF2-40B4-BE49-F238E27FC236}">
                    <a16:creationId xmlns:a16="http://schemas.microsoft.com/office/drawing/2014/main" id="{55B3E36E-B804-7CF0-2174-31CD0EA06A71}"/>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FF3C6D0D-ABFA-7EAD-CFD1-4A67DB087236}"/>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0">
                <a:extLst>
                  <a:ext uri="{FF2B5EF4-FFF2-40B4-BE49-F238E27FC236}">
                    <a16:creationId xmlns:a16="http://schemas.microsoft.com/office/drawing/2014/main" id="{0BDD0876-4214-39CD-D152-D7946C17342C}"/>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7" name="TextBox 6">
              <a:extLst>
                <a:ext uri="{FF2B5EF4-FFF2-40B4-BE49-F238E27FC236}">
                  <a16:creationId xmlns:a16="http://schemas.microsoft.com/office/drawing/2014/main" id="{1FAC0AAC-37D7-08AF-7666-8D9C5A177E3E}"/>
                </a:ext>
              </a:extLst>
            </p:cNvPr>
            <p:cNvSpPr txBox="1"/>
            <p:nvPr/>
          </p:nvSpPr>
          <p:spPr>
            <a:xfrm>
              <a:off x="1908497" y="313415"/>
              <a:ext cx="22405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7 Steps of Poka-Yoke</a:t>
              </a:r>
            </a:p>
          </p:txBody>
        </p:sp>
      </p:grpSp>
    </p:spTree>
    <p:extLst>
      <p:ext uri="{BB962C8B-B14F-4D97-AF65-F5344CB8AC3E}">
        <p14:creationId xmlns:p14="http://schemas.microsoft.com/office/powerpoint/2010/main" val="25529587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4000" dirty="0"/>
              <a:t>Red Flag Conditions (continued)</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Adjustments</a:t>
            </a:r>
          </a:p>
          <a:p>
            <a:pPr lvl="1"/>
            <a:r>
              <a:rPr lang="en-US" dirty="0"/>
              <a:t>Machines</a:t>
            </a:r>
          </a:p>
          <a:p>
            <a:pPr lvl="1"/>
            <a:r>
              <a:rPr lang="en-US" dirty="0"/>
              <a:t>Programs</a:t>
            </a:r>
          </a:p>
          <a:p>
            <a:r>
              <a:rPr lang="en-US" dirty="0"/>
              <a:t>Templates / template changes</a:t>
            </a:r>
          </a:p>
          <a:p>
            <a:r>
              <a:rPr lang="en-US" dirty="0"/>
              <a:t>Low tolerance</a:t>
            </a:r>
          </a:p>
          <a:p>
            <a:r>
              <a:rPr lang="en-US" dirty="0"/>
              <a:t>Many transactions / Mixed transactions</a:t>
            </a:r>
          </a:p>
          <a:p>
            <a:r>
              <a:rPr lang="en-US" dirty="0"/>
              <a:t>Symmetry / Asymmetry </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31</a:t>
            </a:fld>
            <a:endParaRPr lang="en-US"/>
          </a:p>
        </p:txBody>
      </p:sp>
      <p:grpSp>
        <p:nvGrpSpPr>
          <p:cNvPr id="4" name="Group 3">
            <a:extLst>
              <a:ext uri="{FF2B5EF4-FFF2-40B4-BE49-F238E27FC236}">
                <a16:creationId xmlns:a16="http://schemas.microsoft.com/office/drawing/2014/main" id="{21B93D17-4C6C-0C68-0D84-1E5CE719B3F8}"/>
              </a:ext>
            </a:extLst>
          </p:cNvPr>
          <p:cNvGrpSpPr/>
          <p:nvPr/>
        </p:nvGrpSpPr>
        <p:grpSpPr>
          <a:xfrm>
            <a:off x="838200" y="297639"/>
            <a:ext cx="3310890" cy="307138"/>
            <a:chOff x="838200" y="297639"/>
            <a:chExt cx="3310890" cy="307138"/>
          </a:xfrm>
        </p:grpSpPr>
        <p:grpSp>
          <p:nvGrpSpPr>
            <p:cNvPr id="6" name="Group 5">
              <a:extLst>
                <a:ext uri="{FF2B5EF4-FFF2-40B4-BE49-F238E27FC236}">
                  <a16:creationId xmlns:a16="http://schemas.microsoft.com/office/drawing/2014/main" id="{C8E2C21F-D0AE-9C2E-E70C-78673A568DD4}"/>
                </a:ext>
              </a:extLst>
            </p:cNvPr>
            <p:cNvGrpSpPr/>
            <p:nvPr/>
          </p:nvGrpSpPr>
          <p:grpSpPr>
            <a:xfrm>
              <a:off x="838200" y="297639"/>
              <a:ext cx="1060167" cy="290657"/>
              <a:chOff x="826426" y="4041857"/>
              <a:chExt cx="1060167" cy="290657"/>
            </a:xfrm>
          </p:grpSpPr>
          <p:sp>
            <p:nvSpPr>
              <p:cNvPr id="8" name="AutoShape 9">
                <a:extLst>
                  <a:ext uri="{FF2B5EF4-FFF2-40B4-BE49-F238E27FC236}">
                    <a16:creationId xmlns:a16="http://schemas.microsoft.com/office/drawing/2014/main" id="{55B3E36E-B804-7CF0-2174-31CD0EA06A71}"/>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FF3C6D0D-ABFA-7EAD-CFD1-4A67DB087236}"/>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0">
                <a:extLst>
                  <a:ext uri="{FF2B5EF4-FFF2-40B4-BE49-F238E27FC236}">
                    <a16:creationId xmlns:a16="http://schemas.microsoft.com/office/drawing/2014/main" id="{0BDD0876-4214-39CD-D152-D7946C17342C}"/>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7" name="TextBox 6">
              <a:extLst>
                <a:ext uri="{FF2B5EF4-FFF2-40B4-BE49-F238E27FC236}">
                  <a16:creationId xmlns:a16="http://schemas.microsoft.com/office/drawing/2014/main" id="{1FAC0AAC-37D7-08AF-7666-8D9C5A177E3E}"/>
                </a:ext>
              </a:extLst>
            </p:cNvPr>
            <p:cNvSpPr txBox="1"/>
            <p:nvPr/>
          </p:nvSpPr>
          <p:spPr>
            <a:xfrm>
              <a:off x="1908497" y="313415"/>
              <a:ext cx="22405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7 Steps of Poka-Yoke</a:t>
              </a:r>
            </a:p>
          </p:txBody>
        </p:sp>
      </p:grpSp>
    </p:spTree>
    <p:extLst>
      <p:ext uri="{BB962C8B-B14F-4D97-AF65-F5344CB8AC3E}">
        <p14:creationId xmlns:p14="http://schemas.microsoft.com/office/powerpoint/2010/main" val="13337607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4000" dirty="0"/>
              <a:t>Errors may either be prevented or detected</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32</a:t>
            </a:fld>
            <a:endParaRPr lang="en-US"/>
          </a:p>
        </p:txBody>
      </p:sp>
      <p:grpSp>
        <p:nvGrpSpPr>
          <p:cNvPr id="4" name="Group 3">
            <a:extLst>
              <a:ext uri="{FF2B5EF4-FFF2-40B4-BE49-F238E27FC236}">
                <a16:creationId xmlns:a16="http://schemas.microsoft.com/office/drawing/2014/main" id="{21B93D17-4C6C-0C68-0D84-1E5CE719B3F8}"/>
              </a:ext>
            </a:extLst>
          </p:cNvPr>
          <p:cNvGrpSpPr/>
          <p:nvPr/>
        </p:nvGrpSpPr>
        <p:grpSpPr>
          <a:xfrm>
            <a:off x="838200" y="297639"/>
            <a:ext cx="3310890" cy="307138"/>
            <a:chOff x="838200" y="297639"/>
            <a:chExt cx="3310890" cy="307138"/>
          </a:xfrm>
        </p:grpSpPr>
        <p:grpSp>
          <p:nvGrpSpPr>
            <p:cNvPr id="6" name="Group 5">
              <a:extLst>
                <a:ext uri="{FF2B5EF4-FFF2-40B4-BE49-F238E27FC236}">
                  <a16:creationId xmlns:a16="http://schemas.microsoft.com/office/drawing/2014/main" id="{C8E2C21F-D0AE-9C2E-E70C-78673A568DD4}"/>
                </a:ext>
              </a:extLst>
            </p:cNvPr>
            <p:cNvGrpSpPr/>
            <p:nvPr/>
          </p:nvGrpSpPr>
          <p:grpSpPr>
            <a:xfrm>
              <a:off x="838200" y="297639"/>
              <a:ext cx="1060167" cy="290657"/>
              <a:chOff x="826426" y="4041857"/>
              <a:chExt cx="1060167" cy="290657"/>
            </a:xfrm>
          </p:grpSpPr>
          <p:sp>
            <p:nvSpPr>
              <p:cNvPr id="8" name="AutoShape 9">
                <a:extLst>
                  <a:ext uri="{FF2B5EF4-FFF2-40B4-BE49-F238E27FC236}">
                    <a16:creationId xmlns:a16="http://schemas.microsoft.com/office/drawing/2014/main" id="{55B3E36E-B804-7CF0-2174-31CD0EA06A71}"/>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FF3C6D0D-ABFA-7EAD-CFD1-4A67DB087236}"/>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0">
                <a:extLst>
                  <a:ext uri="{FF2B5EF4-FFF2-40B4-BE49-F238E27FC236}">
                    <a16:creationId xmlns:a16="http://schemas.microsoft.com/office/drawing/2014/main" id="{0BDD0876-4214-39CD-D152-D7946C17342C}"/>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7" name="TextBox 6">
              <a:extLst>
                <a:ext uri="{FF2B5EF4-FFF2-40B4-BE49-F238E27FC236}">
                  <a16:creationId xmlns:a16="http://schemas.microsoft.com/office/drawing/2014/main" id="{1FAC0AAC-37D7-08AF-7666-8D9C5A177E3E}"/>
                </a:ext>
              </a:extLst>
            </p:cNvPr>
            <p:cNvSpPr txBox="1"/>
            <p:nvPr/>
          </p:nvSpPr>
          <p:spPr>
            <a:xfrm>
              <a:off x="1908497" y="313415"/>
              <a:ext cx="22405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7 Steps of Poka-Yoke</a:t>
              </a:r>
            </a:p>
          </p:txBody>
        </p:sp>
      </p:grpSp>
      <p:graphicFrame>
        <p:nvGraphicFramePr>
          <p:cNvPr id="11" name="Group 39">
            <a:extLst>
              <a:ext uri="{FF2B5EF4-FFF2-40B4-BE49-F238E27FC236}">
                <a16:creationId xmlns:a16="http://schemas.microsoft.com/office/drawing/2014/main" id="{4E195D0A-FECF-869A-9622-3040B3B3D347}"/>
              </a:ext>
            </a:extLst>
          </p:cNvPr>
          <p:cNvGraphicFramePr>
            <a:graphicFrameLocks noGrp="1"/>
          </p:cNvGraphicFramePr>
          <p:nvPr>
            <p:extLst>
              <p:ext uri="{D42A27DB-BD31-4B8C-83A1-F6EECF244321}">
                <p14:modId xmlns:p14="http://schemas.microsoft.com/office/powerpoint/2010/main" val="600919684"/>
              </p:ext>
            </p:extLst>
          </p:nvPr>
        </p:nvGraphicFramePr>
        <p:xfrm>
          <a:off x="1699507" y="2437998"/>
          <a:ext cx="8792986" cy="2809239"/>
        </p:xfrm>
        <a:graphic>
          <a:graphicData uri="http://schemas.openxmlformats.org/drawingml/2006/table">
            <a:tbl>
              <a:tblPr/>
              <a:tblGrid>
                <a:gridCol w="2931563">
                  <a:extLst>
                    <a:ext uri="{9D8B030D-6E8A-4147-A177-3AD203B41FA5}">
                      <a16:colId xmlns:a16="http://schemas.microsoft.com/office/drawing/2014/main" val="20000"/>
                    </a:ext>
                  </a:extLst>
                </a:gridCol>
                <a:gridCol w="2929860">
                  <a:extLst>
                    <a:ext uri="{9D8B030D-6E8A-4147-A177-3AD203B41FA5}">
                      <a16:colId xmlns:a16="http://schemas.microsoft.com/office/drawing/2014/main" val="20001"/>
                    </a:ext>
                  </a:extLst>
                </a:gridCol>
                <a:gridCol w="2931563">
                  <a:extLst>
                    <a:ext uri="{9D8B030D-6E8A-4147-A177-3AD203B41FA5}">
                      <a16:colId xmlns:a16="http://schemas.microsoft.com/office/drawing/2014/main" val="20002"/>
                    </a:ext>
                  </a:extLst>
                </a:gridCol>
              </a:tblGrid>
              <a:tr h="935748">
                <a:tc>
                  <a:txBody>
                    <a:bodyPr/>
                    <a:lstStyle>
                      <a:lvl1pPr>
                        <a:lnSpc>
                          <a:spcPct val="115000"/>
                        </a:lnSpc>
                        <a:spcBef>
                          <a:spcPct val="50000"/>
                        </a:spcBef>
                        <a:spcAft>
                          <a:spcPct val="50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8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Technique</a:t>
                      </a:r>
                    </a:p>
                  </a:txBody>
                  <a:tcPr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nSpc>
                          <a:spcPct val="115000"/>
                        </a:lnSpc>
                        <a:spcBef>
                          <a:spcPct val="50000"/>
                        </a:spcBef>
                        <a:spcAft>
                          <a:spcPct val="50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8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Prevention</a:t>
                      </a:r>
                    </a:p>
                  </a:txBody>
                  <a:tcPr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nSpc>
                          <a:spcPct val="115000"/>
                        </a:lnSpc>
                        <a:spcBef>
                          <a:spcPct val="50000"/>
                        </a:spcBef>
                        <a:spcAft>
                          <a:spcPct val="50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8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Detection</a:t>
                      </a:r>
                    </a:p>
                  </a:txBody>
                  <a:tcPr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937743">
                <a:tc>
                  <a:txBody>
                    <a:bodyPr/>
                    <a:lstStyle>
                      <a:lvl1pPr>
                        <a:lnSpc>
                          <a:spcPct val="115000"/>
                        </a:lnSpc>
                        <a:spcBef>
                          <a:spcPct val="50000"/>
                        </a:spcBef>
                        <a:spcAft>
                          <a:spcPct val="50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rPr>
                        <a:t>Control (shut down)</a:t>
                      </a: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5000"/>
                        </a:lnSpc>
                        <a:spcBef>
                          <a:spcPct val="50000"/>
                        </a:spcBef>
                        <a:spcAft>
                          <a:spcPct val="50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6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An error is impossible</a:t>
                      </a: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5000"/>
                        </a:lnSpc>
                        <a:spcBef>
                          <a:spcPct val="50000"/>
                        </a:spcBef>
                        <a:spcAft>
                          <a:spcPct val="50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6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Defective item can</a:t>
                      </a:r>
                      <a:r>
                        <a:rPr kumimoji="0" lang="en-US" altLang="en-US" sz="1600" b="1" i="0" u="none" strike="noStrike" cap="none" normalizeH="0" baseline="0" dirty="0">
                          <a:ln>
                            <a:noFill/>
                          </a:ln>
                          <a:solidFill>
                            <a:schemeClr val="tx1"/>
                          </a:solidFill>
                          <a:effectLst/>
                          <a:latin typeface="Roboto" panose="02000000000000000000" pitchFamily="2" charset="0"/>
                          <a:ea typeface="MS PGothic" panose="020B0600070205080204" pitchFamily="34" charset="-128"/>
                        </a:rPr>
                        <a:t>’</a:t>
                      </a:r>
                      <a:r>
                        <a:rPr kumimoji="0" lang="en-US" altLang="ja-JP" sz="16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t move on to the next step</a:t>
                      </a:r>
                      <a:endParaRPr kumimoji="0" lang="en-US" altLang="en-US" sz="1600" b="1" i="0" u="none" strike="noStrike" cap="none" normalizeH="0" baseline="0" dirty="0">
                        <a:ln>
                          <a:noFill/>
                        </a:ln>
                        <a:solidFill>
                          <a:schemeClr val="tx1"/>
                        </a:solidFill>
                        <a:effectLst/>
                        <a:latin typeface="Roboto" panose="02000000000000000000" pitchFamily="2" charset="0"/>
                        <a:ea typeface="Roboto" panose="02000000000000000000" pitchFamily="2" charset="0"/>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35748">
                <a:tc>
                  <a:txBody>
                    <a:bodyPr/>
                    <a:lstStyle>
                      <a:lvl1pPr>
                        <a:lnSpc>
                          <a:spcPct val="115000"/>
                        </a:lnSpc>
                        <a:spcBef>
                          <a:spcPct val="50000"/>
                        </a:spcBef>
                        <a:spcAft>
                          <a:spcPct val="50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rPr>
                        <a:t>Warning</a:t>
                      </a:r>
                    </a:p>
                  </a:txBody>
                  <a:tcPr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5000"/>
                        </a:lnSpc>
                        <a:spcBef>
                          <a:spcPct val="50000"/>
                        </a:spcBef>
                        <a:spcAft>
                          <a:spcPct val="50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rPr>
                        <a:t>An error is about to be made</a:t>
                      </a:r>
                    </a:p>
                  </a:txBody>
                  <a:tcPr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5000"/>
                        </a:lnSpc>
                        <a:spcBef>
                          <a:spcPct val="50000"/>
                        </a:spcBef>
                        <a:spcAft>
                          <a:spcPct val="50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6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An error has been made</a:t>
                      </a:r>
                    </a:p>
                  </a:txBody>
                  <a:tcPr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9396795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DF010-4B33-E23A-6D48-A5202A00D7EE}"/>
              </a:ext>
            </a:extLst>
          </p:cNvPr>
          <p:cNvSpPr>
            <a:spLocks noGrp="1"/>
          </p:cNvSpPr>
          <p:nvPr>
            <p:ph type="title"/>
          </p:nvPr>
        </p:nvSpPr>
        <p:spPr/>
        <p:txBody>
          <a:bodyPr>
            <a:noAutofit/>
          </a:bodyPr>
          <a:lstStyle/>
          <a:p>
            <a:r>
              <a:rPr lang="en-US" sz="3200" dirty="0"/>
              <a:t>Control (Shutdown) Prevention and Detection Examples</a:t>
            </a:r>
          </a:p>
        </p:txBody>
      </p:sp>
      <p:sp>
        <p:nvSpPr>
          <p:cNvPr id="3" name="Text Placeholder 2">
            <a:extLst>
              <a:ext uri="{FF2B5EF4-FFF2-40B4-BE49-F238E27FC236}">
                <a16:creationId xmlns:a16="http://schemas.microsoft.com/office/drawing/2014/main" id="{CCC7D271-45EA-CDC0-0051-A122F5844192}"/>
              </a:ext>
            </a:extLst>
          </p:cNvPr>
          <p:cNvSpPr>
            <a:spLocks noGrp="1"/>
          </p:cNvSpPr>
          <p:nvPr>
            <p:ph type="body" idx="1"/>
          </p:nvPr>
        </p:nvSpPr>
        <p:spPr/>
        <p:txBody>
          <a:bodyPr/>
          <a:lstStyle/>
          <a:p>
            <a:r>
              <a:rPr lang="en-US" dirty="0"/>
              <a:t>Prevention</a:t>
            </a:r>
          </a:p>
        </p:txBody>
      </p:sp>
      <p:sp>
        <p:nvSpPr>
          <p:cNvPr id="4" name="Content Placeholder 3">
            <a:extLst>
              <a:ext uri="{FF2B5EF4-FFF2-40B4-BE49-F238E27FC236}">
                <a16:creationId xmlns:a16="http://schemas.microsoft.com/office/drawing/2014/main" id="{1138C23F-850D-1146-79F3-F76898813353}"/>
              </a:ext>
            </a:extLst>
          </p:cNvPr>
          <p:cNvSpPr>
            <a:spLocks noGrp="1"/>
          </p:cNvSpPr>
          <p:nvPr>
            <p:ph sz="half" idx="2"/>
          </p:nvPr>
        </p:nvSpPr>
        <p:spPr/>
        <p:txBody>
          <a:bodyPr/>
          <a:lstStyle/>
          <a:p>
            <a:r>
              <a:rPr lang="en-US" dirty="0"/>
              <a:t>Access controlled by biometric scan</a:t>
            </a:r>
          </a:p>
          <a:p>
            <a:r>
              <a:rPr lang="en-US" dirty="0"/>
              <a:t>Vehicle won’t start unless in park and brake depressed.</a:t>
            </a:r>
          </a:p>
          <a:p>
            <a:endParaRPr lang="en-US" dirty="0"/>
          </a:p>
        </p:txBody>
      </p:sp>
      <p:sp>
        <p:nvSpPr>
          <p:cNvPr id="5" name="Text Placeholder 4">
            <a:extLst>
              <a:ext uri="{FF2B5EF4-FFF2-40B4-BE49-F238E27FC236}">
                <a16:creationId xmlns:a16="http://schemas.microsoft.com/office/drawing/2014/main" id="{4B1367AF-12A0-EA4B-6BE2-7045C256FDE0}"/>
              </a:ext>
            </a:extLst>
          </p:cNvPr>
          <p:cNvSpPr>
            <a:spLocks noGrp="1"/>
          </p:cNvSpPr>
          <p:nvPr>
            <p:ph type="body" sz="quarter" idx="3"/>
          </p:nvPr>
        </p:nvSpPr>
        <p:spPr/>
        <p:txBody>
          <a:bodyPr/>
          <a:lstStyle/>
          <a:p>
            <a:r>
              <a:rPr lang="en-US" dirty="0"/>
              <a:t>Detection</a:t>
            </a:r>
          </a:p>
        </p:txBody>
      </p:sp>
      <p:sp>
        <p:nvSpPr>
          <p:cNvPr id="6" name="Content Placeholder 5">
            <a:extLst>
              <a:ext uri="{FF2B5EF4-FFF2-40B4-BE49-F238E27FC236}">
                <a16:creationId xmlns:a16="http://schemas.microsoft.com/office/drawing/2014/main" id="{FFF9843C-C48F-F8C6-F58B-494A5B4BE1D5}"/>
              </a:ext>
            </a:extLst>
          </p:cNvPr>
          <p:cNvSpPr>
            <a:spLocks noGrp="1"/>
          </p:cNvSpPr>
          <p:nvPr>
            <p:ph sz="quarter" idx="4"/>
          </p:nvPr>
        </p:nvSpPr>
        <p:spPr/>
        <p:txBody>
          <a:bodyPr/>
          <a:lstStyle/>
          <a:p>
            <a:r>
              <a:rPr lang="en-US" dirty="0"/>
              <a:t>Laundry dryers that have a device that shuts them down when overheating is detected</a:t>
            </a:r>
          </a:p>
          <a:p>
            <a:r>
              <a:rPr lang="en-US" dirty="0"/>
              <a:t>A computer spell checker</a:t>
            </a:r>
          </a:p>
        </p:txBody>
      </p:sp>
      <p:pic>
        <p:nvPicPr>
          <p:cNvPr id="15" name="Picture 2">
            <a:extLst>
              <a:ext uri="{FF2B5EF4-FFF2-40B4-BE49-F238E27FC236}">
                <a16:creationId xmlns:a16="http://schemas.microsoft.com/office/drawing/2014/main" id="{A5D39454-4C6A-DCC4-C6EE-8A903681B65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54608" y="4191844"/>
            <a:ext cx="2193925"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3">
            <a:extLst>
              <a:ext uri="{FF2B5EF4-FFF2-40B4-BE49-F238E27FC236}">
                <a16:creationId xmlns:a16="http://schemas.microsoft.com/office/drawing/2014/main" id="{93D81882-5D79-0994-E422-BA847FF163A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807047" y="4814214"/>
            <a:ext cx="2505075"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25" descr="bigstockphoto_Laptop_Keys_10873">
            <a:extLst>
              <a:ext uri="{FF2B5EF4-FFF2-40B4-BE49-F238E27FC236}">
                <a16:creationId xmlns:a16="http://schemas.microsoft.com/office/drawing/2014/main" id="{8B2DD97E-AC4A-23C9-7E9F-B2831E5F819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51397" y="4191844"/>
            <a:ext cx="2339151" cy="1559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24" descr="02687572000?rgn=0,0,1534,2500&amp;scl=10&amp;fmt=jpeg">
            <a:extLst>
              <a:ext uri="{FF2B5EF4-FFF2-40B4-BE49-F238E27FC236}">
                <a16:creationId xmlns:a16="http://schemas.microsoft.com/office/drawing/2014/main" id="{D254552E-472C-CBFD-D034-BDCD7B092D8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13100" y="4347369"/>
            <a:ext cx="1166973" cy="19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 Box 34">
            <a:extLst>
              <a:ext uri="{FF2B5EF4-FFF2-40B4-BE49-F238E27FC236}">
                <a16:creationId xmlns:a16="http://schemas.microsoft.com/office/drawing/2014/main" id="{51C270A5-DADF-9965-970C-D40A7AFE33C6}"/>
              </a:ext>
            </a:extLst>
          </p:cNvPr>
          <p:cNvSpPr txBox="1">
            <a:spLocks noChangeArrowheads="1"/>
          </p:cNvSpPr>
          <p:nvPr/>
        </p:nvSpPr>
        <p:spPr bwMode="auto">
          <a:xfrm>
            <a:off x="427038" y="6097588"/>
            <a:ext cx="2509837"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800" b="0" i="1" dirty="0">
                <a:solidFill>
                  <a:srgbClr val="000066"/>
                </a:solidFill>
                <a:latin typeface="Roboto" panose="02000000000000000000" pitchFamily="2" charset="0"/>
                <a:ea typeface="Roboto" panose="02000000000000000000" pitchFamily="2" charset="0"/>
              </a:rPr>
              <a:t>Reprinted with permission from BigPhotoStock.com</a:t>
            </a:r>
          </a:p>
        </p:txBody>
      </p:sp>
      <p:grpSp>
        <p:nvGrpSpPr>
          <p:cNvPr id="20" name="Group 19">
            <a:extLst>
              <a:ext uri="{FF2B5EF4-FFF2-40B4-BE49-F238E27FC236}">
                <a16:creationId xmlns:a16="http://schemas.microsoft.com/office/drawing/2014/main" id="{42D99677-FED3-289C-5671-08ECD3C2C2A1}"/>
              </a:ext>
            </a:extLst>
          </p:cNvPr>
          <p:cNvGrpSpPr/>
          <p:nvPr/>
        </p:nvGrpSpPr>
        <p:grpSpPr>
          <a:xfrm>
            <a:off x="838200" y="297639"/>
            <a:ext cx="3310890" cy="307138"/>
            <a:chOff x="838200" y="297639"/>
            <a:chExt cx="3310890" cy="307138"/>
          </a:xfrm>
        </p:grpSpPr>
        <p:grpSp>
          <p:nvGrpSpPr>
            <p:cNvPr id="21" name="Group 20">
              <a:extLst>
                <a:ext uri="{FF2B5EF4-FFF2-40B4-BE49-F238E27FC236}">
                  <a16:creationId xmlns:a16="http://schemas.microsoft.com/office/drawing/2014/main" id="{FFD31D37-7F49-097A-CD03-AB0513A4155B}"/>
                </a:ext>
              </a:extLst>
            </p:cNvPr>
            <p:cNvGrpSpPr/>
            <p:nvPr/>
          </p:nvGrpSpPr>
          <p:grpSpPr>
            <a:xfrm>
              <a:off x="838200" y="297639"/>
              <a:ext cx="1060167" cy="290657"/>
              <a:chOff x="826426" y="4041857"/>
              <a:chExt cx="1060167" cy="290657"/>
            </a:xfrm>
          </p:grpSpPr>
          <p:sp>
            <p:nvSpPr>
              <p:cNvPr id="23" name="AutoShape 9">
                <a:extLst>
                  <a:ext uri="{FF2B5EF4-FFF2-40B4-BE49-F238E27FC236}">
                    <a16:creationId xmlns:a16="http://schemas.microsoft.com/office/drawing/2014/main" id="{DAC9BECE-A996-A411-180A-07B39D7BDF39}"/>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4" name="AutoShape 11">
                <a:extLst>
                  <a:ext uri="{FF2B5EF4-FFF2-40B4-BE49-F238E27FC236}">
                    <a16:creationId xmlns:a16="http://schemas.microsoft.com/office/drawing/2014/main" id="{53B1054A-DEAF-8779-312E-DFF0130596E0}"/>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5" name="AutoShape 10">
                <a:extLst>
                  <a:ext uri="{FF2B5EF4-FFF2-40B4-BE49-F238E27FC236}">
                    <a16:creationId xmlns:a16="http://schemas.microsoft.com/office/drawing/2014/main" id="{470AC360-8DBC-FB51-2D62-29014012F4C1}"/>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22" name="TextBox 21">
              <a:extLst>
                <a:ext uri="{FF2B5EF4-FFF2-40B4-BE49-F238E27FC236}">
                  <a16:creationId xmlns:a16="http://schemas.microsoft.com/office/drawing/2014/main" id="{DA6A74C8-91FC-4F0D-279E-6CA35270A04D}"/>
                </a:ext>
              </a:extLst>
            </p:cNvPr>
            <p:cNvSpPr txBox="1"/>
            <p:nvPr/>
          </p:nvSpPr>
          <p:spPr>
            <a:xfrm>
              <a:off x="1908497" y="313415"/>
              <a:ext cx="22405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7 Steps of Poka-Yoke</a:t>
              </a:r>
            </a:p>
          </p:txBody>
        </p:sp>
      </p:grpSp>
    </p:spTree>
    <p:extLst>
      <p:ext uri="{BB962C8B-B14F-4D97-AF65-F5344CB8AC3E}">
        <p14:creationId xmlns:p14="http://schemas.microsoft.com/office/powerpoint/2010/main" val="28928370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DF010-4B33-E23A-6D48-A5202A00D7EE}"/>
              </a:ext>
            </a:extLst>
          </p:cNvPr>
          <p:cNvSpPr>
            <a:spLocks noGrp="1"/>
          </p:cNvSpPr>
          <p:nvPr>
            <p:ph type="title"/>
          </p:nvPr>
        </p:nvSpPr>
        <p:spPr/>
        <p:txBody>
          <a:bodyPr>
            <a:noAutofit/>
          </a:bodyPr>
          <a:lstStyle/>
          <a:p>
            <a:r>
              <a:rPr lang="en-US" sz="3600" dirty="0"/>
              <a:t>Warning Prevention and Detection Examples</a:t>
            </a:r>
          </a:p>
        </p:txBody>
      </p:sp>
      <p:sp>
        <p:nvSpPr>
          <p:cNvPr id="3" name="Text Placeholder 2">
            <a:extLst>
              <a:ext uri="{FF2B5EF4-FFF2-40B4-BE49-F238E27FC236}">
                <a16:creationId xmlns:a16="http://schemas.microsoft.com/office/drawing/2014/main" id="{CCC7D271-45EA-CDC0-0051-A122F5844192}"/>
              </a:ext>
            </a:extLst>
          </p:cNvPr>
          <p:cNvSpPr>
            <a:spLocks noGrp="1"/>
          </p:cNvSpPr>
          <p:nvPr>
            <p:ph type="body" idx="1"/>
          </p:nvPr>
        </p:nvSpPr>
        <p:spPr/>
        <p:txBody>
          <a:bodyPr/>
          <a:lstStyle/>
          <a:p>
            <a:r>
              <a:rPr lang="en-US" dirty="0"/>
              <a:t>Prevention</a:t>
            </a:r>
          </a:p>
        </p:txBody>
      </p:sp>
      <p:sp>
        <p:nvSpPr>
          <p:cNvPr id="4" name="Content Placeholder 3">
            <a:extLst>
              <a:ext uri="{FF2B5EF4-FFF2-40B4-BE49-F238E27FC236}">
                <a16:creationId xmlns:a16="http://schemas.microsoft.com/office/drawing/2014/main" id="{1138C23F-850D-1146-79F3-F76898813353}"/>
              </a:ext>
            </a:extLst>
          </p:cNvPr>
          <p:cNvSpPr>
            <a:spLocks noGrp="1"/>
          </p:cNvSpPr>
          <p:nvPr>
            <p:ph sz="half" idx="2"/>
          </p:nvPr>
        </p:nvSpPr>
        <p:spPr/>
        <p:txBody>
          <a:bodyPr/>
          <a:lstStyle/>
          <a:p>
            <a:r>
              <a:rPr lang="en-US" dirty="0"/>
              <a:t>Warning systems in automobiles to alert driver that not all seatbelts have </a:t>
            </a:r>
            <a:br>
              <a:rPr lang="en-US" dirty="0"/>
            </a:br>
            <a:r>
              <a:rPr lang="en-US" dirty="0"/>
              <a:t>been fastened</a:t>
            </a:r>
          </a:p>
        </p:txBody>
      </p:sp>
      <p:sp>
        <p:nvSpPr>
          <p:cNvPr id="5" name="Text Placeholder 4">
            <a:extLst>
              <a:ext uri="{FF2B5EF4-FFF2-40B4-BE49-F238E27FC236}">
                <a16:creationId xmlns:a16="http://schemas.microsoft.com/office/drawing/2014/main" id="{4B1367AF-12A0-EA4B-6BE2-7045C256FDE0}"/>
              </a:ext>
            </a:extLst>
          </p:cNvPr>
          <p:cNvSpPr>
            <a:spLocks noGrp="1"/>
          </p:cNvSpPr>
          <p:nvPr>
            <p:ph type="body" sz="quarter" idx="3"/>
          </p:nvPr>
        </p:nvSpPr>
        <p:spPr/>
        <p:txBody>
          <a:bodyPr/>
          <a:lstStyle/>
          <a:p>
            <a:r>
              <a:rPr lang="en-US" dirty="0"/>
              <a:t>Detection</a:t>
            </a:r>
          </a:p>
        </p:txBody>
      </p:sp>
      <p:sp>
        <p:nvSpPr>
          <p:cNvPr id="6" name="Content Placeholder 5">
            <a:extLst>
              <a:ext uri="{FF2B5EF4-FFF2-40B4-BE49-F238E27FC236}">
                <a16:creationId xmlns:a16="http://schemas.microsoft.com/office/drawing/2014/main" id="{FFF9843C-C48F-F8C6-F58B-494A5B4BE1D5}"/>
              </a:ext>
            </a:extLst>
          </p:cNvPr>
          <p:cNvSpPr>
            <a:spLocks noGrp="1"/>
          </p:cNvSpPr>
          <p:nvPr>
            <p:ph sz="quarter" idx="4"/>
          </p:nvPr>
        </p:nvSpPr>
        <p:spPr/>
        <p:txBody>
          <a:bodyPr/>
          <a:lstStyle/>
          <a:p>
            <a:r>
              <a:rPr lang="en-US" dirty="0"/>
              <a:t>Smoke detectors</a:t>
            </a:r>
          </a:p>
        </p:txBody>
      </p:sp>
      <p:sp>
        <p:nvSpPr>
          <p:cNvPr id="19" name="Text Box 34">
            <a:extLst>
              <a:ext uri="{FF2B5EF4-FFF2-40B4-BE49-F238E27FC236}">
                <a16:creationId xmlns:a16="http://schemas.microsoft.com/office/drawing/2014/main" id="{51C270A5-DADF-9965-970C-D40A7AFE33C6}"/>
              </a:ext>
            </a:extLst>
          </p:cNvPr>
          <p:cNvSpPr txBox="1">
            <a:spLocks noChangeArrowheads="1"/>
          </p:cNvSpPr>
          <p:nvPr/>
        </p:nvSpPr>
        <p:spPr bwMode="auto">
          <a:xfrm>
            <a:off x="427038" y="6097588"/>
            <a:ext cx="2509837"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800" b="0" i="1" dirty="0">
                <a:solidFill>
                  <a:srgbClr val="000066"/>
                </a:solidFill>
                <a:latin typeface="Roboto" panose="02000000000000000000" pitchFamily="2" charset="0"/>
                <a:ea typeface="Roboto" panose="02000000000000000000" pitchFamily="2" charset="0"/>
              </a:rPr>
              <a:t>Reprinted with permission from BigPhotoStock.com</a:t>
            </a:r>
          </a:p>
        </p:txBody>
      </p:sp>
      <p:pic>
        <p:nvPicPr>
          <p:cNvPr id="20" name="Picture 15" descr="bigstockphoto_Fasten_your_seat_belt__702352">
            <a:extLst>
              <a:ext uri="{FF2B5EF4-FFF2-40B4-BE49-F238E27FC236}">
                <a16:creationId xmlns:a16="http://schemas.microsoft.com/office/drawing/2014/main" id="{70FA2531-AE5B-490E-4F49-420941353A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7144" y="4062012"/>
            <a:ext cx="2715037" cy="2035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16" descr="bigstockphoto_Smoke_Detector_1325825">
            <a:extLst>
              <a:ext uri="{FF2B5EF4-FFF2-40B4-BE49-F238E27FC236}">
                <a16:creationId xmlns:a16="http://schemas.microsoft.com/office/drawing/2014/main" id="{1A99BE6D-22A9-B2C0-7C66-78530515EF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5176" y="4062012"/>
            <a:ext cx="2722535" cy="203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5" name="Group 14">
            <a:extLst>
              <a:ext uri="{FF2B5EF4-FFF2-40B4-BE49-F238E27FC236}">
                <a16:creationId xmlns:a16="http://schemas.microsoft.com/office/drawing/2014/main" id="{4AFFEDF9-C73F-04F3-D010-C4654EED8301}"/>
              </a:ext>
            </a:extLst>
          </p:cNvPr>
          <p:cNvGrpSpPr/>
          <p:nvPr/>
        </p:nvGrpSpPr>
        <p:grpSpPr>
          <a:xfrm>
            <a:off x="838200" y="297639"/>
            <a:ext cx="3310890" cy="307138"/>
            <a:chOff x="838200" y="297639"/>
            <a:chExt cx="3310890" cy="307138"/>
          </a:xfrm>
        </p:grpSpPr>
        <p:grpSp>
          <p:nvGrpSpPr>
            <p:cNvPr id="16" name="Group 15">
              <a:extLst>
                <a:ext uri="{FF2B5EF4-FFF2-40B4-BE49-F238E27FC236}">
                  <a16:creationId xmlns:a16="http://schemas.microsoft.com/office/drawing/2014/main" id="{F32316CA-521C-EC73-5829-2D05BBF59A9E}"/>
                </a:ext>
              </a:extLst>
            </p:cNvPr>
            <p:cNvGrpSpPr/>
            <p:nvPr/>
          </p:nvGrpSpPr>
          <p:grpSpPr>
            <a:xfrm>
              <a:off x="838200" y="297639"/>
              <a:ext cx="1060167" cy="290657"/>
              <a:chOff x="826426" y="4041857"/>
              <a:chExt cx="1060167" cy="290657"/>
            </a:xfrm>
          </p:grpSpPr>
          <p:sp>
            <p:nvSpPr>
              <p:cNvPr id="18" name="AutoShape 9">
                <a:extLst>
                  <a:ext uri="{FF2B5EF4-FFF2-40B4-BE49-F238E27FC236}">
                    <a16:creationId xmlns:a16="http://schemas.microsoft.com/office/drawing/2014/main" id="{9F2C8196-A125-9E7B-49CC-0B266ABF2CF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1">
                <a:extLst>
                  <a:ext uri="{FF2B5EF4-FFF2-40B4-BE49-F238E27FC236}">
                    <a16:creationId xmlns:a16="http://schemas.microsoft.com/office/drawing/2014/main" id="{5DE72445-554E-7E4A-BFA1-449D09435D04}"/>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0">
                <a:extLst>
                  <a:ext uri="{FF2B5EF4-FFF2-40B4-BE49-F238E27FC236}">
                    <a16:creationId xmlns:a16="http://schemas.microsoft.com/office/drawing/2014/main" id="{8B238463-9CC9-340A-6FCA-8D5404B3A33B}"/>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7" name="TextBox 16">
              <a:extLst>
                <a:ext uri="{FF2B5EF4-FFF2-40B4-BE49-F238E27FC236}">
                  <a16:creationId xmlns:a16="http://schemas.microsoft.com/office/drawing/2014/main" id="{B01EAB78-9E37-DF80-7D08-8159862E318F}"/>
                </a:ext>
              </a:extLst>
            </p:cNvPr>
            <p:cNvSpPr txBox="1"/>
            <p:nvPr/>
          </p:nvSpPr>
          <p:spPr>
            <a:xfrm>
              <a:off x="1908497" y="313415"/>
              <a:ext cx="22405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7 Steps of Poka-Yoke</a:t>
              </a:r>
            </a:p>
          </p:txBody>
        </p:sp>
      </p:grpSp>
    </p:spTree>
    <p:extLst>
      <p:ext uri="{BB962C8B-B14F-4D97-AF65-F5344CB8AC3E}">
        <p14:creationId xmlns:p14="http://schemas.microsoft.com/office/powerpoint/2010/main" val="38066698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Error-Proofing Contact Methods</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normAutofit fontScale="77500" lnSpcReduction="20000"/>
          </a:bodyPr>
          <a:lstStyle/>
          <a:p>
            <a:r>
              <a:rPr lang="en-US" dirty="0"/>
              <a:t>Electrical outlets assure proper polarity – it is impossible to put a plug in the outlet incorrectly</a:t>
            </a:r>
          </a:p>
          <a:p>
            <a:r>
              <a:rPr lang="en-US" dirty="0"/>
              <a:t>Guide or guide pins that assure proper insertion</a:t>
            </a:r>
          </a:p>
          <a:p>
            <a:r>
              <a:rPr lang="en-US" dirty="0"/>
              <a:t>Magnetic contacts that assure proper positioning</a:t>
            </a:r>
          </a:p>
          <a:p>
            <a:r>
              <a:rPr lang="en-US" dirty="0"/>
              <a:t>Two handed start buttons to avoid hand accidents</a:t>
            </a:r>
          </a:p>
          <a:p>
            <a:r>
              <a:rPr lang="en-US" dirty="0"/>
              <a:t>Pressure sensitive mats that stop dangerous pinching machinery when someone steps onto the mat</a:t>
            </a:r>
          </a:p>
          <a:p>
            <a:r>
              <a:rPr lang="en-US" dirty="0"/>
              <a:t>Limit switches on fork trucks that prevent the truck from moving while the driver’s seat is unoccupied</a:t>
            </a:r>
          </a:p>
          <a:p>
            <a:endParaRPr lang="en-US" dirty="0"/>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35</a:t>
            </a:fld>
            <a:endParaRPr lang="en-US"/>
          </a:p>
        </p:txBody>
      </p:sp>
      <p:sp>
        <p:nvSpPr>
          <p:cNvPr id="15" name="Content Placeholder 14">
            <a:extLst>
              <a:ext uri="{FF2B5EF4-FFF2-40B4-BE49-F238E27FC236}">
                <a16:creationId xmlns:a16="http://schemas.microsoft.com/office/drawing/2014/main" id="{B8394AD5-D4C7-4346-71EF-15AA9F809D84}"/>
              </a:ext>
            </a:extLst>
          </p:cNvPr>
          <p:cNvSpPr>
            <a:spLocks noGrp="1"/>
          </p:cNvSpPr>
          <p:nvPr>
            <p:ph sz="half" idx="1"/>
          </p:nvPr>
        </p:nvSpPr>
        <p:spPr/>
        <p:txBody>
          <a:bodyPr>
            <a:normAutofit fontScale="77500" lnSpcReduction="20000"/>
          </a:bodyPr>
          <a:lstStyle/>
          <a:p>
            <a:pPr marL="0" indent="0">
              <a:buNone/>
            </a:pPr>
            <a:r>
              <a:rPr lang="en-US" dirty="0"/>
              <a:t>Contact Methods</a:t>
            </a:r>
          </a:p>
        </p:txBody>
      </p:sp>
      <p:pic>
        <p:nvPicPr>
          <p:cNvPr id="31" name="Picture 11" descr="bigstockphoto_Forklift_Carrying_Boxes_483192">
            <a:extLst>
              <a:ext uri="{FF2B5EF4-FFF2-40B4-BE49-F238E27FC236}">
                <a16:creationId xmlns:a16="http://schemas.microsoft.com/office/drawing/2014/main" id="{613E0C92-59B0-DDDF-5C1C-97330E759A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0812" y="2473486"/>
            <a:ext cx="4689475"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Text Box 34">
            <a:extLst>
              <a:ext uri="{FF2B5EF4-FFF2-40B4-BE49-F238E27FC236}">
                <a16:creationId xmlns:a16="http://schemas.microsoft.com/office/drawing/2014/main" id="{DADE9C6D-AD52-322F-F722-54AA336975AF}"/>
              </a:ext>
            </a:extLst>
          </p:cNvPr>
          <p:cNvSpPr txBox="1">
            <a:spLocks noChangeArrowheads="1"/>
          </p:cNvSpPr>
          <p:nvPr/>
        </p:nvSpPr>
        <p:spPr bwMode="auto">
          <a:xfrm>
            <a:off x="427038" y="6097588"/>
            <a:ext cx="2509837"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800" b="0" i="1" dirty="0">
                <a:solidFill>
                  <a:srgbClr val="000066"/>
                </a:solidFill>
                <a:latin typeface="Roboto" panose="02000000000000000000" pitchFamily="2" charset="0"/>
                <a:ea typeface="Roboto" panose="02000000000000000000" pitchFamily="2" charset="0"/>
              </a:rPr>
              <a:t>Reprinted with permission from BigPhotoStock.com</a:t>
            </a:r>
          </a:p>
        </p:txBody>
      </p:sp>
      <p:grpSp>
        <p:nvGrpSpPr>
          <p:cNvPr id="3" name="Group 2">
            <a:extLst>
              <a:ext uri="{FF2B5EF4-FFF2-40B4-BE49-F238E27FC236}">
                <a16:creationId xmlns:a16="http://schemas.microsoft.com/office/drawing/2014/main" id="{9FB78B60-3856-5949-2157-645B57A228FD}"/>
              </a:ext>
            </a:extLst>
          </p:cNvPr>
          <p:cNvGrpSpPr/>
          <p:nvPr/>
        </p:nvGrpSpPr>
        <p:grpSpPr>
          <a:xfrm>
            <a:off x="838200" y="297639"/>
            <a:ext cx="3310890" cy="307138"/>
            <a:chOff x="838200" y="297639"/>
            <a:chExt cx="3310890" cy="307138"/>
          </a:xfrm>
        </p:grpSpPr>
        <p:grpSp>
          <p:nvGrpSpPr>
            <p:cNvPr id="5" name="Group 4">
              <a:extLst>
                <a:ext uri="{FF2B5EF4-FFF2-40B4-BE49-F238E27FC236}">
                  <a16:creationId xmlns:a16="http://schemas.microsoft.com/office/drawing/2014/main" id="{33515E62-B805-303A-FC86-C8B807A97C1A}"/>
                </a:ext>
              </a:extLst>
            </p:cNvPr>
            <p:cNvGrpSpPr/>
            <p:nvPr/>
          </p:nvGrpSpPr>
          <p:grpSpPr>
            <a:xfrm>
              <a:off x="838200" y="297639"/>
              <a:ext cx="1060167" cy="290657"/>
              <a:chOff x="826426" y="4041857"/>
              <a:chExt cx="1060167" cy="290657"/>
            </a:xfrm>
          </p:grpSpPr>
          <p:sp>
            <p:nvSpPr>
              <p:cNvPr id="8" name="AutoShape 9">
                <a:extLst>
                  <a:ext uri="{FF2B5EF4-FFF2-40B4-BE49-F238E27FC236}">
                    <a16:creationId xmlns:a16="http://schemas.microsoft.com/office/drawing/2014/main" id="{8E9BD8BC-83D5-163E-F361-539F3BD9D985}"/>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001DB242-18F8-5993-1805-A60A102847CE}"/>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0">
                <a:extLst>
                  <a:ext uri="{FF2B5EF4-FFF2-40B4-BE49-F238E27FC236}">
                    <a16:creationId xmlns:a16="http://schemas.microsoft.com/office/drawing/2014/main" id="{4176EAB0-CDB6-44BC-6F50-B2A3A65026E2}"/>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7" name="TextBox 6">
              <a:extLst>
                <a:ext uri="{FF2B5EF4-FFF2-40B4-BE49-F238E27FC236}">
                  <a16:creationId xmlns:a16="http://schemas.microsoft.com/office/drawing/2014/main" id="{5EBB0916-843E-9A89-584B-366B85886CD0}"/>
                </a:ext>
              </a:extLst>
            </p:cNvPr>
            <p:cNvSpPr txBox="1"/>
            <p:nvPr/>
          </p:nvSpPr>
          <p:spPr>
            <a:xfrm>
              <a:off x="1908497" y="313415"/>
              <a:ext cx="22405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7 Steps of Poka-Yoke</a:t>
              </a:r>
            </a:p>
          </p:txBody>
        </p:sp>
      </p:grpSp>
    </p:spTree>
    <p:extLst>
      <p:ext uri="{BB962C8B-B14F-4D97-AF65-F5344CB8AC3E}">
        <p14:creationId xmlns:p14="http://schemas.microsoft.com/office/powerpoint/2010/main" val="30518287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Error-Proofing Fixed Value Methods</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normAutofit fontScale="85000" lnSpcReduction="10000"/>
          </a:bodyPr>
          <a:lstStyle/>
          <a:p>
            <a:r>
              <a:rPr lang="en-US" dirty="0"/>
              <a:t>If four labels from different rolls are needed on each shipping box, put all the labels on one roll to make it easy to spot missed labels</a:t>
            </a:r>
          </a:p>
          <a:p>
            <a:r>
              <a:rPr lang="en-US" dirty="0"/>
              <a:t>Kitting is having the exact amount of material needed for one unit in one box. Makes it easy to catch missing components</a:t>
            </a:r>
          </a:p>
          <a:p>
            <a:r>
              <a:rPr lang="en-US" dirty="0"/>
              <a:t>Sensors that count parts as they are placed in a box</a:t>
            </a:r>
          </a:p>
          <a:p>
            <a:r>
              <a:rPr lang="en-US" dirty="0"/>
              <a:t>Scales to weigh packaging documentation and alert an operator to a missed document</a:t>
            </a:r>
          </a:p>
          <a:p>
            <a:endParaRPr lang="en-US" dirty="0"/>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36</a:t>
            </a:fld>
            <a:endParaRPr lang="en-US"/>
          </a:p>
        </p:txBody>
      </p:sp>
      <p:sp>
        <p:nvSpPr>
          <p:cNvPr id="15" name="Content Placeholder 14">
            <a:extLst>
              <a:ext uri="{FF2B5EF4-FFF2-40B4-BE49-F238E27FC236}">
                <a16:creationId xmlns:a16="http://schemas.microsoft.com/office/drawing/2014/main" id="{B8394AD5-D4C7-4346-71EF-15AA9F809D84}"/>
              </a:ext>
            </a:extLst>
          </p:cNvPr>
          <p:cNvSpPr>
            <a:spLocks noGrp="1"/>
          </p:cNvSpPr>
          <p:nvPr>
            <p:ph sz="half" idx="1"/>
          </p:nvPr>
        </p:nvSpPr>
        <p:spPr/>
        <p:txBody>
          <a:bodyPr>
            <a:normAutofit fontScale="85000" lnSpcReduction="10000"/>
          </a:bodyPr>
          <a:lstStyle/>
          <a:p>
            <a:pPr marL="0" indent="0">
              <a:buNone/>
            </a:pPr>
            <a:r>
              <a:rPr lang="en-US" dirty="0"/>
              <a:t>Fixed Value Methods</a:t>
            </a:r>
          </a:p>
        </p:txBody>
      </p:sp>
      <p:pic>
        <p:nvPicPr>
          <p:cNvPr id="3" name="Picture 10" descr="bigstockphoto_Scale_292520">
            <a:extLst>
              <a:ext uri="{FF2B5EF4-FFF2-40B4-BE49-F238E27FC236}">
                <a16:creationId xmlns:a16="http://schemas.microsoft.com/office/drawing/2014/main" id="{C1BA92A7-1CD8-6256-F5F9-5C631CB923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464624"/>
            <a:ext cx="4664075" cy="326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34">
            <a:extLst>
              <a:ext uri="{FF2B5EF4-FFF2-40B4-BE49-F238E27FC236}">
                <a16:creationId xmlns:a16="http://schemas.microsoft.com/office/drawing/2014/main" id="{E517669E-5F4F-EFBF-A783-AF29FC66974E}"/>
              </a:ext>
            </a:extLst>
          </p:cNvPr>
          <p:cNvSpPr txBox="1">
            <a:spLocks noChangeArrowheads="1"/>
          </p:cNvSpPr>
          <p:nvPr/>
        </p:nvSpPr>
        <p:spPr bwMode="auto">
          <a:xfrm>
            <a:off x="427038" y="6097588"/>
            <a:ext cx="2509837"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800" b="0" i="1" dirty="0">
                <a:solidFill>
                  <a:srgbClr val="000066"/>
                </a:solidFill>
                <a:latin typeface="Roboto" panose="02000000000000000000" pitchFamily="2" charset="0"/>
                <a:ea typeface="Roboto" panose="02000000000000000000" pitchFamily="2" charset="0"/>
              </a:rPr>
              <a:t>Reprinted with permission from BigPhotoStock.com</a:t>
            </a:r>
          </a:p>
        </p:txBody>
      </p:sp>
      <p:grpSp>
        <p:nvGrpSpPr>
          <p:cNvPr id="7" name="Group 6">
            <a:extLst>
              <a:ext uri="{FF2B5EF4-FFF2-40B4-BE49-F238E27FC236}">
                <a16:creationId xmlns:a16="http://schemas.microsoft.com/office/drawing/2014/main" id="{A926732E-E82F-5126-F10D-3A3B151E6551}"/>
              </a:ext>
            </a:extLst>
          </p:cNvPr>
          <p:cNvGrpSpPr/>
          <p:nvPr/>
        </p:nvGrpSpPr>
        <p:grpSpPr>
          <a:xfrm>
            <a:off x="838200" y="297639"/>
            <a:ext cx="3310890" cy="307138"/>
            <a:chOff x="838200" y="297639"/>
            <a:chExt cx="3310890" cy="307138"/>
          </a:xfrm>
        </p:grpSpPr>
        <p:grpSp>
          <p:nvGrpSpPr>
            <p:cNvPr id="8" name="Group 7">
              <a:extLst>
                <a:ext uri="{FF2B5EF4-FFF2-40B4-BE49-F238E27FC236}">
                  <a16:creationId xmlns:a16="http://schemas.microsoft.com/office/drawing/2014/main" id="{53C757B3-1976-8FA3-5565-966D159E7C6B}"/>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FA6D7817-2B20-5231-3AAD-0304C52EAA1C}"/>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1AADC6E1-43E8-98FB-F82B-8159731EFE4E}"/>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551494D0-E9E0-4959-3679-6C691F03AA09}"/>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9" name="TextBox 8">
              <a:extLst>
                <a:ext uri="{FF2B5EF4-FFF2-40B4-BE49-F238E27FC236}">
                  <a16:creationId xmlns:a16="http://schemas.microsoft.com/office/drawing/2014/main" id="{1E0D8941-66E2-4CD8-6A35-31F80FD64849}"/>
                </a:ext>
              </a:extLst>
            </p:cNvPr>
            <p:cNvSpPr txBox="1"/>
            <p:nvPr/>
          </p:nvSpPr>
          <p:spPr>
            <a:xfrm>
              <a:off x="1908497" y="313415"/>
              <a:ext cx="22405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7 Steps of Poka-Yoke</a:t>
              </a:r>
            </a:p>
          </p:txBody>
        </p:sp>
      </p:grpSp>
    </p:spTree>
    <p:extLst>
      <p:ext uri="{BB962C8B-B14F-4D97-AF65-F5344CB8AC3E}">
        <p14:creationId xmlns:p14="http://schemas.microsoft.com/office/powerpoint/2010/main" val="22728267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Error-Proofing Motion-Step Methods</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normAutofit/>
          </a:bodyPr>
          <a:lstStyle/>
          <a:p>
            <a:r>
              <a:rPr lang="en-US" dirty="0"/>
              <a:t>Place photo-electric switches into each component bin. Beam must be broken on each bin before conveyor will move</a:t>
            </a:r>
          </a:p>
          <a:p>
            <a:r>
              <a:rPr lang="en-US" dirty="0"/>
              <a:t>Motion sensors to stop a machine to prevent safety errors</a:t>
            </a:r>
          </a:p>
          <a:p>
            <a:endParaRPr lang="en-US" dirty="0"/>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37</a:t>
            </a:fld>
            <a:endParaRPr lang="en-US"/>
          </a:p>
        </p:txBody>
      </p:sp>
      <p:sp>
        <p:nvSpPr>
          <p:cNvPr id="15" name="Content Placeholder 14">
            <a:extLst>
              <a:ext uri="{FF2B5EF4-FFF2-40B4-BE49-F238E27FC236}">
                <a16:creationId xmlns:a16="http://schemas.microsoft.com/office/drawing/2014/main" id="{B8394AD5-D4C7-4346-71EF-15AA9F809D84}"/>
              </a:ext>
            </a:extLst>
          </p:cNvPr>
          <p:cNvSpPr>
            <a:spLocks noGrp="1"/>
          </p:cNvSpPr>
          <p:nvPr>
            <p:ph sz="half" idx="1"/>
          </p:nvPr>
        </p:nvSpPr>
        <p:spPr/>
        <p:txBody>
          <a:bodyPr>
            <a:normAutofit/>
          </a:bodyPr>
          <a:lstStyle/>
          <a:p>
            <a:pPr marL="0" indent="0">
              <a:buNone/>
            </a:pPr>
            <a:r>
              <a:rPr lang="en-US" dirty="0"/>
              <a:t>Motion-Step Methods</a:t>
            </a:r>
          </a:p>
        </p:txBody>
      </p:sp>
      <p:pic>
        <p:nvPicPr>
          <p:cNvPr id="5" name="Picture 6" descr="f8ed_2">
            <a:hlinkClick r:id="" action="ppaction://noaction"/>
            <a:extLst>
              <a:ext uri="{FF2B5EF4-FFF2-40B4-BE49-F238E27FC236}">
                <a16:creationId xmlns:a16="http://schemas.microsoft.com/office/drawing/2014/main" id="{E4307C9B-5BBA-A749-8CAD-F4ED2636BF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355849"/>
            <a:ext cx="5041083" cy="3547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34">
            <a:extLst>
              <a:ext uri="{FF2B5EF4-FFF2-40B4-BE49-F238E27FC236}">
                <a16:creationId xmlns:a16="http://schemas.microsoft.com/office/drawing/2014/main" id="{5FA08002-54EE-0A5B-7F5B-823AA300855C}"/>
              </a:ext>
            </a:extLst>
          </p:cNvPr>
          <p:cNvSpPr txBox="1">
            <a:spLocks noChangeArrowheads="1"/>
          </p:cNvSpPr>
          <p:nvPr/>
        </p:nvSpPr>
        <p:spPr bwMode="auto">
          <a:xfrm>
            <a:off x="427038" y="6097588"/>
            <a:ext cx="2509837"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800" b="0" i="1" dirty="0">
                <a:solidFill>
                  <a:srgbClr val="000066"/>
                </a:solidFill>
                <a:latin typeface="Roboto" panose="02000000000000000000" pitchFamily="2" charset="0"/>
                <a:ea typeface="Roboto" panose="02000000000000000000" pitchFamily="2" charset="0"/>
              </a:rPr>
              <a:t>Reprinted with permission from BigPhotoStock.com</a:t>
            </a:r>
          </a:p>
        </p:txBody>
      </p:sp>
      <p:grpSp>
        <p:nvGrpSpPr>
          <p:cNvPr id="3" name="Group 2">
            <a:extLst>
              <a:ext uri="{FF2B5EF4-FFF2-40B4-BE49-F238E27FC236}">
                <a16:creationId xmlns:a16="http://schemas.microsoft.com/office/drawing/2014/main" id="{CC056614-D8F7-A905-711E-82992A6077FB}"/>
              </a:ext>
            </a:extLst>
          </p:cNvPr>
          <p:cNvGrpSpPr/>
          <p:nvPr/>
        </p:nvGrpSpPr>
        <p:grpSpPr>
          <a:xfrm>
            <a:off x="838200" y="297639"/>
            <a:ext cx="3310890" cy="307138"/>
            <a:chOff x="838200" y="297639"/>
            <a:chExt cx="3310890" cy="307138"/>
          </a:xfrm>
        </p:grpSpPr>
        <p:grpSp>
          <p:nvGrpSpPr>
            <p:cNvPr id="8" name="Group 7">
              <a:extLst>
                <a:ext uri="{FF2B5EF4-FFF2-40B4-BE49-F238E27FC236}">
                  <a16:creationId xmlns:a16="http://schemas.microsoft.com/office/drawing/2014/main" id="{110DD5B9-B388-9FCD-E370-EE819726499C}"/>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66E6279E-2CC9-DA14-B4D7-39EDB23C6E25}"/>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592A2DAF-C838-A2AD-B27C-1CD5CFD3F7C7}"/>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4DE7A679-9E19-3031-85AC-C15E0E7F4B41}"/>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9" name="TextBox 8">
              <a:extLst>
                <a:ext uri="{FF2B5EF4-FFF2-40B4-BE49-F238E27FC236}">
                  <a16:creationId xmlns:a16="http://schemas.microsoft.com/office/drawing/2014/main" id="{8A5F50AF-1D81-AA14-8FAC-2E57FD4F1BE2}"/>
                </a:ext>
              </a:extLst>
            </p:cNvPr>
            <p:cNvSpPr txBox="1"/>
            <p:nvPr/>
          </p:nvSpPr>
          <p:spPr>
            <a:xfrm>
              <a:off x="1908497" y="313415"/>
              <a:ext cx="22405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7 Steps of Poka-Yoke</a:t>
              </a:r>
            </a:p>
          </p:txBody>
        </p:sp>
      </p:grpSp>
    </p:spTree>
    <p:extLst>
      <p:ext uri="{BB962C8B-B14F-4D97-AF65-F5344CB8AC3E}">
        <p14:creationId xmlns:p14="http://schemas.microsoft.com/office/powerpoint/2010/main" val="22689110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Develop a Line-Stop Support Plan</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normAutofit/>
          </a:bodyPr>
          <a:lstStyle/>
          <a:p>
            <a:r>
              <a:rPr lang="en-US" dirty="0"/>
              <a:t>Establish line stop response assignments</a:t>
            </a:r>
          </a:p>
          <a:p>
            <a:r>
              <a:rPr lang="en-US" dirty="0"/>
              <a:t>Identify who does what when the line is stopped</a:t>
            </a:r>
          </a:p>
          <a:p>
            <a:r>
              <a:rPr lang="en-US" dirty="0"/>
              <a:t>Operators, Supervisors, Managers, etc.</a:t>
            </a:r>
          </a:p>
          <a:p>
            <a:endParaRPr lang="en-US" dirty="0"/>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38</a:t>
            </a:fld>
            <a:endParaRPr lang="en-US"/>
          </a:p>
        </p:txBody>
      </p:sp>
      <p:sp>
        <p:nvSpPr>
          <p:cNvPr id="15" name="Content Placeholder 14">
            <a:extLst>
              <a:ext uri="{FF2B5EF4-FFF2-40B4-BE49-F238E27FC236}">
                <a16:creationId xmlns:a16="http://schemas.microsoft.com/office/drawing/2014/main" id="{B8394AD5-D4C7-4346-71EF-15AA9F809D84}"/>
              </a:ext>
            </a:extLst>
          </p:cNvPr>
          <p:cNvSpPr>
            <a:spLocks noGrp="1"/>
          </p:cNvSpPr>
          <p:nvPr>
            <p:ph sz="half" idx="1"/>
          </p:nvPr>
        </p:nvSpPr>
        <p:spPr/>
        <p:txBody>
          <a:bodyPr>
            <a:normAutofit/>
          </a:bodyPr>
          <a:lstStyle/>
          <a:p>
            <a:pPr marL="0" indent="0">
              <a:buNone/>
            </a:pPr>
            <a:r>
              <a:rPr lang="en-US" dirty="0"/>
              <a:t>Line-Stop Support Plan</a:t>
            </a:r>
          </a:p>
        </p:txBody>
      </p:sp>
      <p:pic>
        <p:nvPicPr>
          <p:cNvPr id="3" name="Picture 9" descr="bigstockphoto_Stop_1216501">
            <a:extLst>
              <a:ext uri="{FF2B5EF4-FFF2-40B4-BE49-F238E27FC236}">
                <a16:creationId xmlns:a16="http://schemas.microsoft.com/office/drawing/2014/main" id="{2EB6111C-C2C4-D97A-75F3-979C90C027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393156"/>
            <a:ext cx="4918644" cy="3382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34">
            <a:extLst>
              <a:ext uri="{FF2B5EF4-FFF2-40B4-BE49-F238E27FC236}">
                <a16:creationId xmlns:a16="http://schemas.microsoft.com/office/drawing/2014/main" id="{1E74AAD4-597B-436D-DADF-244CC372BC52}"/>
              </a:ext>
            </a:extLst>
          </p:cNvPr>
          <p:cNvSpPr txBox="1">
            <a:spLocks noChangeArrowheads="1"/>
          </p:cNvSpPr>
          <p:nvPr/>
        </p:nvSpPr>
        <p:spPr bwMode="auto">
          <a:xfrm>
            <a:off x="427038" y="6097588"/>
            <a:ext cx="2509837"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800" b="0" i="1" dirty="0">
                <a:solidFill>
                  <a:srgbClr val="000066"/>
                </a:solidFill>
                <a:latin typeface="Roboto" panose="02000000000000000000" pitchFamily="2" charset="0"/>
                <a:ea typeface="Roboto" panose="02000000000000000000" pitchFamily="2" charset="0"/>
              </a:rPr>
              <a:t>Reprinted with permission from BigPhotoStock.com</a:t>
            </a:r>
          </a:p>
        </p:txBody>
      </p:sp>
      <p:grpSp>
        <p:nvGrpSpPr>
          <p:cNvPr id="5" name="Group 4">
            <a:extLst>
              <a:ext uri="{FF2B5EF4-FFF2-40B4-BE49-F238E27FC236}">
                <a16:creationId xmlns:a16="http://schemas.microsoft.com/office/drawing/2014/main" id="{B2719C79-52CD-596A-034C-8E1329B2C72A}"/>
              </a:ext>
            </a:extLst>
          </p:cNvPr>
          <p:cNvGrpSpPr/>
          <p:nvPr/>
        </p:nvGrpSpPr>
        <p:grpSpPr>
          <a:xfrm>
            <a:off x="838200" y="297639"/>
            <a:ext cx="3310890" cy="307138"/>
            <a:chOff x="838200" y="297639"/>
            <a:chExt cx="3310890" cy="307138"/>
          </a:xfrm>
        </p:grpSpPr>
        <p:grpSp>
          <p:nvGrpSpPr>
            <p:cNvPr id="8" name="Group 7">
              <a:extLst>
                <a:ext uri="{FF2B5EF4-FFF2-40B4-BE49-F238E27FC236}">
                  <a16:creationId xmlns:a16="http://schemas.microsoft.com/office/drawing/2014/main" id="{C266B98D-AB42-9FC6-03CE-20047B63CEB3}"/>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C083C2EE-D7E9-26D5-B9ED-6E31777BFCA4}"/>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1DEE0423-3E9A-B8F3-6B75-AE0CD15EFE15}"/>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69F573C6-5E86-EB4A-5902-4567A6DF9151}"/>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9" name="TextBox 8">
              <a:extLst>
                <a:ext uri="{FF2B5EF4-FFF2-40B4-BE49-F238E27FC236}">
                  <a16:creationId xmlns:a16="http://schemas.microsoft.com/office/drawing/2014/main" id="{2BC0932D-A989-252B-D284-C75E341E04FF}"/>
                </a:ext>
              </a:extLst>
            </p:cNvPr>
            <p:cNvSpPr txBox="1"/>
            <p:nvPr/>
          </p:nvSpPr>
          <p:spPr>
            <a:xfrm>
              <a:off x="1908497" y="313415"/>
              <a:ext cx="22405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7 Steps of Poka-Yoke</a:t>
              </a:r>
            </a:p>
          </p:txBody>
        </p:sp>
      </p:grpSp>
    </p:spTree>
    <p:extLst>
      <p:ext uri="{BB962C8B-B14F-4D97-AF65-F5344CB8AC3E}">
        <p14:creationId xmlns:p14="http://schemas.microsoft.com/office/powerpoint/2010/main" val="6251256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Autofit/>
          </a:bodyPr>
          <a:lstStyle/>
          <a:p>
            <a:r>
              <a:rPr lang="en-US" sz="3600" dirty="0"/>
              <a:t>When you can’t error-proof – Improve Visual Management</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normAutofit fontScale="92500" lnSpcReduction="10000"/>
          </a:bodyPr>
          <a:lstStyle/>
          <a:p>
            <a:r>
              <a:rPr lang="en-US" dirty="0"/>
              <a:t>Use colors and color-coding</a:t>
            </a:r>
          </a:p>
          <a:p>
            <a:pPr lvl="1"/>
            <a:r>
              <a:rPr lang="en-US" dirty="0"/>
              <a:t>Filing</a:t>
            </a:r>
          </a:p>
          <a:p>
            <a:pPr lvl="1"/>
            <a:r>
              <a:rPr lang="en-US" dirty="0"/>
              <a:t>Credit card receipts</a:t>
            </a:r>
          </a:p>
          <a:p>
            <a:r>
              <a:rPr lang="en-US" dirty="0"/>
              <a:t>Use shapes</a:t>
            </a:r>
          </a:p>
          <a:p>
            <a:pPr lvl="1"/>
            <a:r>
              <a:rPr lang="en-US" dirty="0"/>
              <a:t>Notch a stack of forms so it is easy to tell if forms are out of order</a:t>
            </a:r>
          </a:p>
          <a:p>
            <a:r>
              <a:rPr lang="en-US" dirty="0"/>
              <a:t>Make it easy to do it right</a:t>
            </a:r>
          </a:p>
          <a:p>
            <a:pPr lvl="1"/>
            <a:r>
              <a:rPr lang="en-US" dirty="0"/>
              <a:t>Checklists</a:t>
            </a:r>
          </a:p>
          <a:p>
            <a:pPr lvl="1"/>
            <a:r>
              <a:rPr lang="en-US" dirty="0"/>
              <a:t>Effective data collection formats</a:t>
            </a:r>
          </a:p>
          <a:p>
            <a:pPr lvl="1"/>
            <a:r>
              <a:rPr lang="en-US" dirty="0"/>
              <a:t>Workflow with fewer hand-offs</a:t>
            </a:r>
          </a:p>
          <a:p>
            <a:pPr lvl="1"/>
            <a:r>
              <a:rPr lang="en-US" dirty="0"/>
              <a:t>Symbols</a:t>
            </a:r>
          </a:p>
          <a:p>
            <a:pPr lvl="1"/>
            <a:endParaRPr lang="en-US" dirty="0"/>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39</a:t>
            </a:fld>
            <a:endParaRPr lang="en-US"/>
          </a:p>
        </p:txBody>
      </p:sp>
      <p:grpSp>
        <p:nvGrpSpPr>
          <p:cNvPr id="23" name="Group 22">
            <a:extLst>
              <a:ext uri="{FF2B5EF4-FFF2-40B4-BE49-F238E27FC236}">
                <a16:creationId xmlns:a16="http://schemas.microsoft.com/office/drawing/2014/main" id="{4C958784-11D3-CBFF-E36E-23B1F1319D55}"/>
              </a:ext>
            </a:extLst>
          </p:cNvPr>
          <p:cNvGrpSpPr/>
          <p:nvPr/>
        </p:nvGrpSpPr>
        <p:grpSpPr>
          <a:xfrm>
            <a:off x="838200" y="297639"/>
            <a:ext cx="4241800" cy="301303"/>
            <a:chOff x="838200" y="297639"/>
            <a:chExt cx="4241800" cy="301303"/>
          </a:xfrm>
        </p:grpSpPr>
        <p:grpSp>
          <p:nvGrpSpPr>
            <p:cNvPr id="24" name="Group 23">
              <a:extLst>
                <a:ext uri="{FF2B5EF4-FFF2-40B4-BE49-F238E27FC236}">
                  <a16:creationId xmlns:a16="http://schemas.microsoft.com/office/drawing/2014/main" id="{A1988C61-5318-9526-BC81-0781E25CCD3D}"/>
                </a:ext>
              </a:extLst>
            </p:cNvPr>
            <p:cNvGrpSpPr/>
            <p:nvPr/>
          </p:nvGrpSpPr>
          <p:grpSpPr>
            <a:xfrm>
              <a:off x="838200" y="297639"/>
              <a:ext cx="1373842" cy="290657"/>
              <a:chOff x="838200" y="297639"/>
              <a:chExt cx="1373842" cy="290657"/>
            </a:xfrm>
          </p:grpSpPr>
          <p:sp>
            <p:nvSpPr>
              <p:cNvPr id="26" name="AutoShape 9">
                <a:extLst>
                  <a:ext uri="{FF2B5EF4-FFF2-40B4-BE49-F238E27FC236}">
                    <a16:creationId xmlns:a16="http://schemas.microsoft.com/office/drawing/2014/main" id="{FAD6D85B-2A2B-8106-123B-B7CC4870028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7" name="Group 26">
                <a:extLst>
                  <a:ext uri="{FF2B5EF4-FFF2-40B4-BE49-F238E27FC236}">
                    <a16:creationId xmlns:a16="http://schemas.microsoft.com/office/drawing/2014/main" id="{680FCEAB-1A13-C6F5-26CC-FA54E3769E04}"/>
                  </a:ext>
                </a:extLst>
              </p:cNvPr>
              <p:cNvGrpSpPr/>
              <p:nvPr/>
            </p:nvGrpSpPr>
            <p:grpSpPr>
              <a:xfrm>
                <a:off x="838200" y="297639"/>
                <a:ext cx="1060167" cy="290657"/>
                <a:chOff x="826426" y="4041857"/>
                <a:chExt cx="1060167" cy="290657"/>
              </a:xfrm>
            </p:grpSpPr>
            <p:sp>
              <p:nvSpPr>
                <p:cNvPr id="28" name="AutoShape 9">
                  <a:extLst>
                    <a:ext uri="{FF2B5EF4-FFF2-40B4-BE49-F238E27FC236}">
                      <a16:creationId xmlns:a16="http://schemas.microsoft.com/office/drawing/2014/main" id="{A1359507-147F-B5C6-04F3-812293C78C62}"/>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9" name="AutoShape 11">
                  <a:extLst>
                    <a:ext uri="{FF2B5EF4-FFF2-40B4-BE49-F238E27FC236}">
                      <a16:creationId xmlns:a16="http://schemas.microsoft.com/office/drawing/2014/main" id="{8709CB51-7389-AEB8-BDBB-4C7E20DD451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30" name="AutoShape 10">
                  <a:extLst>
                    <a:ext uri="{FF2B5EF4-FFF2-40B4-BE49-F238E27FC236}">
                      <a16:creationId xmlns:a16="http://schemas.microsoft.com/office/drawing/2014/main" id="{4946D0B5-E235-6A10-3A26-459AECDFE93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25" name="TextBox 24">
              <a:extLst>
                <a:ext uri="{FF2B5EF4-FFF2-40B4-BE49-F238E27FC236}">
                  <a16:creationId xmlns:a16="http://schemas.microsoft.com/office/drawing/2014/main" id="{52601489-A126-7B80-1972-C570634B0A6E}"/>
                </a:ext>
              </a:extLst>
            </p:cNvPr>
            <p:cNvSpPr txBox="1"/>
            <p:nvPr/>
          </p:nvSpPr>
          <p:spPr>
            <a:xfrm>
              <a:off x="2212042" y="307580"/>
              <a:ext cx="286795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Building Quality Into the Cell</a:t>
              </a:r>
            </a:p>
          </p:txBody>
        </p:sp>
      </p:grpSp>
      <p:sp>
        <p:nvSpPr>
          <p:cNvPr id="7" name="Text Box 34">
            <a:extLst>
              <a:ext uri="{FF2B5EF4-FFF2-40B4-BE49-F238E27FC236}">
                <a16:creationId xmlns:a16="http://schemas.microsoft.com/office/drawing/2014/main" id="{1E74AAD4-597B-436D-DADF-244CC372BC52}"/>
              </a:ext>
            </a:extLst>
          </p:cNvPr>
          <p:cNvSpPr txBox="1">
            <a:spLocks noChangeArrowheads="1"/>
          </p:cNvSpPr>
          <p:nvPr/>
        </p:nvSpPr>
        <p:spPr bwMode="auto">
          <a:xfrm>
            <a:off x="427038" y="6097588"/>
            <a:ext cx="2509837"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800" b="0" i="1" dirty="0">
                <a:solidFill>
                  <a:srgbClr val="000066"/>
                </a:solidFill>
                <a:latin typeface="Roboto" panose="02000000000000000000" pitchFamily="2" charset="0"/>
                <a:ea typeface="Roboto" panose="02000000000000000000" pitchFamily="2" charset="0"/>
              </a:rPr>
              <a:t>Reprinted with permission from BigPhotoStock.com</a:t>
            </a:r>
          </a:p>
        </p:txBody>
      </p:sp>
      <p:pic>
        <p:nvPicPr>
          <p:cNvPr id="5" name="Picture 10" descr="bigstockphoto_Office_Files__109130">
            <a:extLst>
              <a:ext uri="{FF2B5EF4-FFF2-40B4-BE49-F238E27FC236}">
                <a16:creationId xmlns:a16="http://schemas.microsoft.com/office/drawing/2014/main" id="{422B00F2-B246-ADF3-E7DF-06EEE62623E9}"/>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838200" y="2131559"/>
            <a:ext cx="5280002" cy="3655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46253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4000" dirty="0"/>
              <a:t>Error-Proofing Summary</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Error-Proofing devices can</a:t>
            </a:r>
          </a:p>
          <a:p>
            <a:pPr lvl="1"/>
            <a:r>
              <a:rPr lang="en-US" dirty="0"/>
              <a:t>Prevent errors from occurring</a:t>
            </a:r>
          </a:p>
          <a:p>
            <a:pPr lvl="1"/>
            <a:r>
              <a:rPr lang="en-US" dirty="0"/>
              <a:t>Detect the error after it occurred</a:t>
            </a:r>
          </a:p>
          <a:p>
            <a:pPr lvl="1"/>
            <a:r>
              <a:rPr lang="en-US" dirty="0"/>
              <a:t>Detect the defect after it has been made</a:t>
            </a:r>
          </a:p>
          <a:p>
            <a:r>
              <a:rPr lang="en-US" dirty="0"/>
              <a:t>The best error-proofing devices are</a:t>
            </a:r>
          </a:p>
          <a:p>
            <a:pPr lvl="1"/>
            <a:r>
              <a:rPr lang="en-US" dirty="0"/>
              <a:t>Simple and cheap</a:t>
            </a:r>
          </a:p>
          <a:p>
            <a:pPr lvl="1"/>
            <a:r>
              <a:rPr lang="en-US" dirty="0"/>
              <a:t>Part of the regular process</a:t>
            </a:r>
          </a:p>
          <a:p>
            <a:pPr lvl="1"/>
            <a:r>
              <a:rPr lang="en-US" dirty="0"/>
              <a:t>Close to where the error is made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40</a:t>
            </a:fld>
            <a:endParaRPr lang="en-US"/>
          </a:p>
        </p:txBody>
      </p:sp>
      <p:grpSp>
        <p:nvGrpSpPr>
          <p:cNvPr id="4" name="Group 3">
            <a:extLst>
              <a:ext uri="{FF2B5EF4-FFF2-40B4-BE49-F238E27FC236}">
                <a16:creationId xmlns:a16="http://schemas.microsoft.com/office/drawing/2014/main" id="{21B93D17-4C6C-0C68-0D84-1E5CE719B3F8}"/>
              </a:ext>
            </a:extLst>
          </p:cNvPr>
          <p:cNvGrpSpPr/>
          <p:nvPr/>
        </p:nvGrpSpPr>
        <p:grpSpPr>
          <a:xfrm>
            <a:off x="838200" y="297639"/>
            <a:ext cx="3310890" cy="307138"/>
            <a:chOff x="838200" y="297639"/>
            <a:chExt cx="3310890" cy="307138"/>
          </a:xfrm>
        </p:grpSpPr>
        <p:grpSp>
          <p:nvGrpSpPr>
            <p:cNvPr id="6" name="Group 5">
              <a:extLst>
                <a:ext uri="{FF2B5EF4-FFF2-40B4-BE49-F238E27FC236}">
                  <a16:creationId xmlns:a16="http://schemas.microsoft.com/office/drawing/2014/main" id="{C8E2C21F-D0AE-9C2E-E70C-78673A568DD4}"/>
                </a:ext>
              </a:extLst>
            </p:cNvPr>
            <p:cNvGrpSpPr/>
            <p:nvPr/>
          </p:nvGrpSpPr>
          <p:grpSpPr>
            <a:xfrm>
              <a:off x="838200" y="297639"/>
              <a:ext cx="1060167" cy="290657"/>
              <a:chOff x="826426" y="4041857"/>
              <a:chExt cx="1060167" cy="290657"/>
            </a:xfrm>
          </p:grpSpPr>
          <p:sp>
            <p:nvSpPr>
              <p:cNvPr id="8" name="AutoShape 9">
                <a:extLst>
                  <a:ext uri="{FF2B5EF4-FFF2-40B4-BE49-F238E27FC236}">
                    <a16:creationId xmlns:a16="http://schemas.microsoft.com/office/drawing/2014/main" id="{55B3E36E-B804-7CF0-2174-31CD0EA06A71}"/>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FF3C6D0D-ABFA-7EAD-CFD1-4A67DB087236}"/>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0">
                <a:extLst>
                  <a:ext uri="{FF2B5EF4-FFF2-40B4-BE49-F238E27FC236}">
                    <a16:creationId xmlns:a16="http://schemas.microsoft.com/office/drawing/2014/main" id="{0BDD0876-4214-39CD-D152-D7946C17342C}"/>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7" name="TextBox 6">
              <a:extLst>
                <a:ext uri="{FF2B5EF4-FFF2-40B4-BE49-F238E27FC236}">
                  <a16:creationId xmlns:a16="http://schemas.microsoft.com/office/drawing/2014/main" id="{1FAC0AAC-37D7-08AF-7666-8D9C5A177E3E}"/>
                </a:ext>
              </a:extLst>
            </p:cNvPr>
            <p:cNvSpPr txBox="1"/>
            <p:nvPr/>
          </p:nvSpPr>
          <p:spPr>
            <a:xfrm>
              <a:off x="1908497" y="313415"/>
              <a:ext cx="22405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7 Steps of Poka-Yoke</a:t>
              </a:r>
            </a:p>
          </p:txBody>
        </p:sp>
      </p:grpSp>
    </p:spTree>
    <p:extLst>
      <p:ext uri="{BB962C8B-B14F-4D97-AF65-F5344CB8AC3E}">
        <p14:creationId xmlns:p14="http://schemas.microsoft.com/office/powerpoint/2010/main" val="12824623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41</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Poka-Yoke Examples</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dirty="0"/>
              <a:t>Identify types of poka-yokes</a:t>
            </a:r>
          </a:p>
          <a:p>
            <a:r>
              <a:rPr lang="en-US" dirty="0"/>
              <a:t>Review various poka-yoke examples</a:t>
            </a:r>
          </a:p>
          <a:p>
            <a:r>
              <a:rPr lang="en-US" dirty="0"/>
              <a:t>Review key learnings</a:t>
            </a:r>
          </a:p>
          <a:p>
            <a:endParaRPr lang="en-US" dirty="0"/>
          </a:p>
          <a:p>
            <a:endParaRPr lang="en-US" dirty="0"/>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DADE2756-B973-0064-D4DD-52D3744FBA6B}"/>
              </a:ext>
            </a:extLst>
          </p:cNvPr>
          <p:cNvGrpSpPr/>
          <p:nvPr/>
        </p:nvGrpSpPr>
        <p:grpSpPr>
          <a:xfrm>
            <a:off x="699911" y="837133"/>
            <a:ext cx="4425950" cy="659879"/>
            <a:chOff x="5627530" y="641179"/>
            <a:chExt cx="6564470" cy="804977"/>
          </a:xfrm>
        </p:grpSpPr>
        <p:sp>
          <p:nvSpPr>
            <p:cNvPr id="14" name="AutoShape 9">
              <a:extLst>
                <a:ext uri="{FF2B5EF4-FFF2-40B4-BE49-F238E27FC236}">
                  <a16:creationId xmlns:a16="http://schemas.microsoft.com/office/drawing/2014/main" id="{FF83B6EB-BAFE-C193-44C8-50C54ED609A3}"/>
                </a:ext>
              </a:extLst>
            </p:cNvPr>
            <p:cNvSpPr>
              <a:spLocks noChangeArrowheads="1"/>
            </p:cNvSpPr>
            <p:nvPr/>
          </p:nvSpPr>
          <p:spPr bwMode="auto">
            <a:xfrm>
              <a:off x="9851136" y="641179"/>
              <a:ext cx="2340864" cy="804977"/>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Poka-Yoke Examples</a:t>
              </a:r>
            </a:p>
          </p:txBody>
        </p:sp>
        <p:sp>
          <p:nvSpPr>
            <p:cNvPr id="15" name="AutoShape 10">
              <a:extLst>
                <a:ext uri="{FF2B5EF4-FFF2-40B4-BE49-F238E27FC236}">
                  <a16:creationId xmlns:a16="http://schemas.microsoft.com/office/drawing/2014/main" id="{386767CB-AD12-A8CE-F49D-60EB435EC2D3}"/>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7 Steps of Poka-Yoke</a:t>
              </a:r>
            </a:p>
          </p:txBody>
        </p:sp>
        <p:sp>
          <p:nvSpPr>
            <p:cNvPr id="16" name="AutoShape 11">
              <a:extLst>
                <a:ext uri="{FF2B5EF4-FFF2-40B4-BE49-F238E27FC236}">
                  <a16:creationId xmlns:a16="http://schemas.microsoft.com/office/drawing/2014/main" id="{C2EFD1F9-72F5-1220-34C5-1283C9247686}"/>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Zero Defect</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Quality System</a:t>
              </a:r>
            </a:p>
          </p:txBody>
        </p:sp>
      </p:grpSp>
    </p:spTree>
    <p:extLst>
      <p:ext uri="{BB962C8B-B14F-4D97-AF65-F5344CB8AC3E}">
        <p14:creationId xmlns:p14="http://schemas.microsoft.com/office/powerpoint/2010/main" val="26101313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14FCE-BAB2-D3F5-4DFE-FF8348A25B33}"/>
              </a:ext>
            </a:extLst>
          </p:cNvPr>
          <p:cNvSpPr>
            <a:spLocks noGrp="1"/>
          </p:cNvSpPr>
          <p:nvPr>
            <p:ph type="title"/>
          </p:nvPr>
        </p:nvSpPr>
        <p:spPr/>
        <p:txBody>
          <a:bodyPr/>
          <a:lstStyle/>
          <a:p>
            <a:r>
              <a:rPr lang="en-US" dirty="0"/>
              <a:t>Types of Poka-Yoke Devices</a:t>
            </a:r>
          </a:p>
        </p:txBody>
      </p:sp>
      <p:sp>
        <p:nvSpPr>
          <p:cNvPr id="3" name="Content Placeholder 2">
            <a:extLst>
              <a:ext uri="{FF2B5EF4-FFF2-40B4-BE49-F238E27FC236}">
                <a16:creationId xmlns:a16="http://schemas.microsoft.com/office/drawing/2014/main" id="{F46631C6-F91C-4E97-F1DF-7CF91F059EBC}"/>
              </a:ext>
            </a:extLst>
          </p:cNvPr>
          <p:cNvSpPr>
            <a:spLocks noGrp="1"/>
          </p:cNvSpPr>
          <p:nvPr>
            <p:ph sz="half" idx="1"/>
          </p:nvPr>
        </p:nvSpPr>
        <p:spPr/>
        <p:txBody>
          <a:bodyPr>
            <a:normAutofit/>
          </a:bodyPr>
          <a:lstStyle/>
          <a:p>
            <a:r>
              <a:rPr lang="en-US" dirty="0"/>
              <a:t>Guide/reference/</a:t>
            </a:r>
            <a:br>
              <a:rPr lang="en-US" dirty="0"/>
            </a:br>
            <a:r>
              <a:rPr lang="en-US" dirty="0"/>
              <a:t>     interference rod or pin</a:t>
            </a:r>
          </a:p>
          <a:p>
            <a:r>
              <a:rPr lang="en-US" dirty="0"/>
              <a:t>Template</a:t>
            </a:r>
          </a:p>
          <a:p>
            <a:r>
              <a:rPr lang="en-US" dirty="0"/>
              <a:t>Limit switch/micro-switch</a:t>
            </a:r>
          </a:p>
          <a:p>
            <a:r>
              <a:rPr lang="en-US" dirty="0"/>
              <a:t>Counter</a:t>
            </a:r>
          </a:p>
          <a:p>
            <a:r>
              <a:rPr lang="en-US" dirty="0"/>
              <a:t>Odd-part-out method</a:t>
            </a:r>
          </a:p>
          <a:p>
            <a:r>
              <a:rPr lang="en-US" dirty="0"/>
              <a:t>Sequence restriction</a:t>
            </a:r>
          </a:p>
          <a:p>
            <a:endParaRPr lang="en-US" dirty="0"/>
          </a:p>
        </p:txBody>
      </p:sp>
      <p:sp>
        <p:nvSpPr>
          <p:cNvPr id="4" name="Content Placeholder 3">
            <a:extLst>
              <a:ext uri="{FF2B5EF4-FFF2-40B4-BE49-F238E27FC236}">
                <a16:creationId xmlns:a16="http://schemas.microsoft.com/office/drawing/2014/main" id="{A98C1471-734B-08CA-24DE-572076B547A8}"/>
              </a:ext>
            </a:extLst>
          </p:cNvPr>
          <p:cNvSpPr>
            <a:spLocks noGrp="1"/>
          </p:cNvSpPr>
          <p:nvPr>
            <p:ph sz="half" idx="2"/>
          </p:nvPr>
        </p:nvSpPr>
        <p:spPr/>
        <p:txBody>
          <a:bodyPr>
            <a:normAutofit/>
          </a:bodyPr>
          <a:lstStyle/>
          <a:p>
            <a:r>
              <a:rPr lang="en-US" dirty="0"/>
              <a:t>Standardize and solve</a:t>
            </a:r>
          </a:p>
          <a:p>
            <a:r>
              <a:rPr lang="en-US" dirty="0"/>
              <a:t>Critical condition indicator</a:t>
            </a:r>
          </a:p>
          <a:p>
            <a:r>
              <a:rPr lang="en-US" dirty="0"/>
              <a:t>Detect delivery chute</a:t>
            </a:r>
          </a:p>
          <a:p>
            <a:r>
              <a:rPr lang="en-US" dirty="0"/>
              <a:t>Stopper/gate</a:t>
            </a:r>
          </a:p>
          <a:p>
            <a:r>
              <a:rPr lang="en-US" dirty="0"/>
              <a:t>Sensor</a:t>
            </a:r>
          </a:p>
          <a:p>
            <a:r>
              <a:rPr lang="en-US" dirty="0"/>
              <a:t>Mistake-proof your mistake-proofing  device</a:t>
            </a:r>
          </a:p>
          <a:p>
            <a:endParaRPr lang="en-US" dirty="0"/>
          </a:p>
        </p:txBody>
      </p:sp>
      <p:grpSp>
        <p:nvGrpSpPr>
          <p:cNvPr id="5" name="Group 4">
            <a:extLst>
              <a:ext uri="{FF2B5EF4-FFF2-40B4-BE49-F238E27FC236}">
                <a16:creationId xmlns:a16="http://schemas.microsoft.com/office/drawing/2014/main" id="{E1E64AAF-7D2A-AF04-88B1-F130B8D89470}"/>
              </a:ext>
            </a:extLst>
          </p:cNvPr>
          <p:cNvGrpSpPr/>
          <p:nvPr/>
        </p:nvGrpSpPr>
        <p:grpSpPr>
          <a:xfrm>
            <a:off x="838200" y="297639"/>
            <a:ext cx="3310890" cy="307138"/>
            <a:chOff x="838200" y="297639"/>
            <a:chExt cx="3310890" cy="307138"/>
          </a:xfrm>
        </p:grpSpPr>
        <p:grpSp>
          <p:nvGrpSpPr>
            <p:cNvPr id="6" name="Group 5">
              <a:extLst>
                <a:ext uri="{FF2B5EF4-FFF2-40B4-BE49-F238E27FC236}">
                  <a16:creationId xmlns:a16="http://schemas.microsoft.com/office/drawing/2014/main" id="{B4854CF5-19CA-B879-3AB0-00D46E7037AE}"/>
                </a:ext>
              </a:extLst>
            </p:cNvPr>
            <p:cNvGrpSpPr/>
            <p:nvPr/>
          </p:nvGrpSpPr>
          <p:grpSpPr>
            <a:xfrm>
              <a:off x="838200" y="297639"/>
              <a:ext cx="1060167" cy="290657"/>
              <a:chOff x="826426" y="4041857"/>
              <a:chExt cx="1060167" cy="290657"/>
            </a:xfrm>
          </p:grpSpPr>
          <p:sp>
            <p:nvSpPr>
              <p:cNvPr id="8" name="AutoShape 9">
                <a:extLst>
                  <a:ext uri="{FF2B5EF4-FFF2-40B4-BE49-F238E27FC236}">
                    <a16:creationId xmlns:a16="http://schemas.microsoft.com/office/drawing/2014/main" id="{6FB94459-72CB-CEA6-BFF2-EAD186C6678D}"/>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9" name="AutoShape 11">
                <a:extLst>
                  <a:ext uri="{FF2B5EF4-FFF2-40B4-BE49-F238E27FC236}">
                    <a16:creationId xmlns:a16="http://schemas.microsoft.com/office/drawing/2014/main" id="{12F5C6F0-1B87-F1DE-7276-F0AA238965C6}"/>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0">
                <a:extLst>
                  <a:ext uri="{FF2B5EF4-FFF2-40B4-BE49-F238E27FC236}">
                    <a16:creationId xmlns:a16="http://schemas.microsoft.com/office/drawing/2014/main" id="{C3B545BB-7844-7C58-634F-9C082880CC22}"/>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7" name="TextBox 6">
              <a:extLst>
                <a:ext uri="{FF2B5EF4-FFF2-40B4-BE49-F238E27FC236}">
                  <a16:creationId xmlns:a16="http://schemas.microsoft.com/office/drawing/2014/main" id="{C92B0B61-76D7-8779-E5E5-1A8CC7295852}"/>
                </a:ext>
              </a:extLst>
            </p:cNvPr>
            <p:cNvSpPr txBox="1"/>
            <p:nvPr/>
          </p:nvSpPr>
          <p:spPr>
            <a:xfrm>
              <a:off x="1908497" y="313415"/>
              <a:ext cx="22405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Poka-Yoke Examples</a:t>
              </a:r>
            </a:p>
          </p:txBody>
        </p:sp>
      </p:grpSp>
    </p:spTree>
    <p:extLst>
      <p:ext uri="{BB962C8B-B14F-4D97-AF65-F5344CB8AC3E}">
        <p14:creationId xmlns:p14="http://schemas.microsoft.com/office/powerpoint/2010/main" val="8258939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541B5-6FCF-44EB-7F42-1799FCC1F219}"/>
              </a:ext>
            </a:extLst>
          </p:cNvPr>
          <p:cNvSpPr>
            <a:spLocks noGrp="1"/>
          </p:cNvSpPr>
          <p:nvPr>
            <p:ph type="title"/>
          </p:nvPr>
        </p:nvSpPr>
        <p:spPr/>
        <p:txBody>
          <a:bodyPr/>
          <a:lstStyle/>
          <a:p>
            <a:r>
              <a:rPr lang="en-US" dirty="0"/>
              <a:t>Guide</a:t>
            </a:r>
          </a:p>
        </p:txBody>
      </p:sp>
      <p:grpSp>
        <p:nvGrpSpPr>
          <p:cNvPr id="3" name="Group 2">
            <a:extLst>
              <a:ext uri="{FF2B5EF4-FFF2-40B4-BE49-F238E27FC236}">
                <a16:creationId xmlns:a16="http://schemas.microsoft.com/office/drawing/2014/main" id="{D9E84803-CAE1-A3B5-9A81-D9A216B7FD44}"/>
              </a:ext>
            </a:extLst>
          </p:cNvPr>
          <p:cNvGrpSpPr/>
          <p:nvPr/>
        </p:nvGrpSpPr>
        <p:grpSpPr>
          <a:xfrm>
            <a:off x="838200" y="297639"/>
            <a:ext cx="3310890" cy="307138"/>
            <a:chOff x="838200" y="297639"/>
            <a:chExt cx="3310890" cy="307138"/>
          </a:xfrm>
        </p:grpSpPr>
        <p:grpSp>
          <p:nvGrpSpPr>
            <p:cNvPr id="4" name="Group 3">
              <a:extLst>
                <a:ext uri="{FF2B5EF4-FFF2-40B4-BE49-F238E27FC236}">
                  <a16:creationId xmlns:a16="http://schemas.microsoft.com/office/drawing/2014/main" id="{C19AFDA2-C484-5731-4029-E38F6C629005}"/>
                </a:ext>
              </a:extLst>
            </p:cNvPr>
            <p:cNvGrpSpPr/>
            <p:nvPr/>
          </p:nvGrpSpPr>
          <p:grpSpPr>
            <a:xfrm>
              <a:off x="838200" y="297639"/>
              <a:ext cx="1060167" cy="290657"/>
              <a:chOff x="826426" y="4041857"/>
              <a:chExt cx="1060167" cy="290657"/>
            </a:xfrm>
          </p:grpSpPr>
          <p:sp>
            <p:nvSpPr>
              <p:cNvPr id="6" name="AutoShape 9">
                <a:extLst>
                  <a:ext uri="{FF2B5EF4-FFF2-40B4-BE49-F238E27FC236}">
                    <a16:creationId xmlns:a16="http://schemas.microsoft.com/office/drawing/2014/main" id="{97BBEB04-56E2-66C8-7CD1-2D3F16D608D6}"/>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7" name="AutoShape 11">
                <a:extLst>
                  <a:ext uri="{FF2B5EF4-FFF2-40B4-BE49-F238E27FC236}">
                    <a16:creationId xmlns:a16="http://schemas.microsoft.com/office/drawing/2014/main" id="{4FC6F8A3-873E-D30F-ED81-15956AF4DDE1}"/>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8" name="AutoShape 10">
                <a:extLst>
                  <a:ext uri="{FF2B5EF4-FFF2-40B4-BE49-F238E27FC236}">
                    <a16:creationId xmlns:a16="http://schemas.microsoft.com/office/drawing/2014/main" id="{873F9745-BF3A-05EC-9963-006BA1E4FCB8}"/>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5" name="TextBox 4">
              <a:extLst>
                <a:ext uri="{FF2B5EF4-FFF2-40B4-BE49-F238E27FC236}">
                  <a16:creationId xmlns:a16="http://schemas.microsoft.com/office/drawing/2014/main" id="{58A720E4-B5DF-AE75-77DE-ABE1EA41CC4C}"/>
                </a:ext>
              </a:extLst>
            </p:cNvPr>
            <p:cNvSpPr txBox="1"/>
            <p:nvPr/>
          </p:nvSpPr>
          <p:spPr>
            <a:xfrm>
              <a:off x="1908497" y="313415"/>
              <a:ext cx="22405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Poka-Yoke Examples</a:t>
              </a:r>
            </a:p>
          </p:txBody>
        </p:sp>
      </p:grpSp>
      <p:grpSp>
        <p:nvGrpSpPr>
          <p:cNvPr id="151" name="Group 150">
            <a:extLst>
              <a:ext uri="{FF2B5EF4-FFF2-40B4-BE49-F238E27FC236}">
                <a16:creationId xmlns:a16="http://schemas.microsoft.com/office/drawing/2014/main" id="{F68FC0BC-6F0D-5E04-E141-57368D92FB32}"/>
              </a:ext>
            </a:extLst>
          </p:cNvPr>
          <p:cNvGrpSpPr/>
          <p:nvPr/>
        </p:nvGrpSpPr>
        <p:grpSpPr>
          <a:xfrm>
            <a:off x="1639888" y="1783429"/>
            <a:ext cx="8912225" cy="4419540"/>
            <a:chOff x="231775" y="1404938"/>
            <a:chExt cx="8912225" cy="4781550"/>
          </a:xfrm>
        </p:grpSpPr>
        <p:sp>
          <p:nvSpPr>
            <p:cNvPr id="9" name="Rectangle 2">
              <a:extLst>
                <a:ext uri="{FF2B5EF4-FFF2-40B4-BE49-F238E27FC236}">
                  <a16:creationId xmlns:a16="http://schemas.microsoft.com/office/drawing/2014/main" id="{5FF12F48-4DA3-2022-9F8D-16F81B892553}"/>
                </a:ext>
              </a:extLst>
            </p:cNvPr>
            <p:cNvSpPr>
              <a:spLocks noChangeArrowheads="1"/>
            </p:cNvSpPr>
            <p:nvPr/>
          </p:nvSpPr>
          <p:spPr bwMode="auto">
            <a:xfrm>
              <a:off x="722313" y="5757863"/>
              <a:ext cx="18446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0" name="Rectangle 3">
              <a:extLst>
                <a:ext uri="{FF2B5EF4-FFF2-40B4-BE49-F238E27FC236}">
                  <a16:creationId xmlns:a16="http://schemas.microsoft.com/office/drawing/2014/main" id="{2D2E02C6-7D71-BE87-B8AC-7270A0FE5E28}"/>
                </a:ext>
              </a:extLst>
            </p:cNvPr>
            <p:cNvSpPr>
              <a:spLocks noChangeArrowheads="1"/>
            </p:cNvSpPr>
            <p:nvPr/>
          </p:nvSpPr>
          <p:spPr bwMode="auto">
            <a:xfrm>
              <a:off x="3128963" y="5757863"/>
              <a:ext cx="28860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1" name="Line 6">
              <a:extLst>
                <a:ext uri="{FF2B5EF4-FFF2-40B4-BE49-F238E27FC236}">
                  <a16:creationId xmlns:a16="http://schemas.microsoft.com/office/drawing/2014/main" id="{44FEB1E8-D409-8721-32FC-EC4013D94E10}"/>
                </a:ext>
              </a:extLst>
            </p:cNvPr>
            <p:cNvSpPr>
              <a:spLocks noChangeShapeType="1"/>
            </p:cNvSpPr>
            <p:nvPr/>
          </p:nvSpPr>
          <p:spPr bwMode="auto">
            <a:xfrm>
              <a:off x="4572000" y="1452563"/>
              <a:ext cx="0" cy="4165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 name="Line 7">
              <a:extLst>
                <a:ext uri="{FF2B5EF4-FFF2-40B4-BE49-F238E27FC236}">
                  <a16:creationId xmlns:a16="http://schemas.microsoft.com/office/drawing/2014/main" id="{A997BBCD-F38F-EBAA-9EE0-07246944DE58}"/>
                </a:ext>
              </a:extLst>
            </p:cNvPr>
            <p:cNvSpPr>
              <a:spLocks noChangeShapeType="1"/>
            </p:cNvSpPr>
            <p:nvPr/>
          </p:nvSpPr>
          <p:spPr bwMode="auto">
            <a:xfrm>
              <a:off x="1277938" y="2403475"/>
              <a:ext cx="0" cy="523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3" name="Line 8">
              <a:extLst>
                <a:ext uri="{FF2B5EF4-FFF2-40B4-BE49-F238E27FC236}">
                  <a16:creationId xmlns:a16="http://schemas.microsoft.com/office/drawing/2014/main" id="{E52D8781-6A02-7640-9EA0-95B546747CC4}"/>
                </a:ext>
              </a:extLst>
            </p:cNvPr>
            <p:cNvSpPr>
              <a:spLocks noChangeShapeType="1"/>
            </p:cNvSpPr>
            <p:nvPr/>
          </p:nvSpPr>
          <p:spPr bwMode="auto">
            <a:xfrm>
              <a:off x="1276350" y="2460625"/>
              <a:ext cx="874713" cy="11953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4" name="Line 9">
              <a:extLst>
                <a:ext uri="{FF2B5EF4-FFF2-40B4-BE49-F238E27FC236}">
                  <a16:creationId xmlns:a16="http://schemas.microsoft.com/office/drawing/2014/main" id="{1FA85848-83A5-92F6-F77F-2317083C4085}"/>
                </a:ext>
              </a:extLst>
            </p:cNvPr>
            <p:cNvSpPr>
              <a:spLocks noChangeShapeType="1"/>
            </p:cNvSpPr>
            <p:nvPr/>
          </p:nvSpPr>
          <p:spPr bwMode="auto">
            <a:xfrm flipV="1">
              <a:off x="2154238" y="3235325"/>
              <a:ext cx="1487487" cy="4238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5" name="Line 10">
              <a:extLst>
                <a:ext uri="{FF2B5EF4-FFF2-40B4-BE49-F238E27FC236}">
                  <a16:creationId xmlns:a16="http://schemas.microsoft.com/office/drawing/2014/main" id="{904F0876-2501-AF28-3CEA-598D6FEA718E}"/>
                </a:ext>
              </a:extLst>
            </p:cNvPr>
            <p:cNvSpPr>
              <a:spLocks noChangeShapeType="1"/>
            </p:cNvSpPr>
            <p:nvPr/>
          </p:nvSpPr>
          <p:spPr bwMode="auto">
            <a:xfrm>
              <a:off x="2154238" y="3584575"/>
              <a:ext cx="0" cy="777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6" name="Line 11">
              <a:extLst>
                <a:ext uri="{FF2B5EF4-FFF2-40B4-BE49-F238E27FC236}">
                  <a16:creationId xmlns:a16="http://schemas.microsoft.com/office/drawing/2014/main" id="{FBD129C8-F796-F5FA-0158-E4E8C3845D7B}"/>
                </a:ext>
              </a:extLst>
            </p:cNvPr>
            <p:cNvSpPr>
              <a:spLocks noChangeShapeType="1"/>
            </p:cNvSpPr>
            <p:nvPr/>
          </p:nvSpPr>
          <p:spPr bwMode="auto">
            <a:xfrm>
              <a:off x="3646488" y="3159125"/>
              <a:ext cx="0" cy="714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7" name="Line 12">
              <a:extLst>
                <a:ext uri="{FF2B5EF4-FFF2-40B4-BE49-F238E27FC236}">
                  <a16:creationId xmlns:a16="http://schemas.microsoft.com/office/drawing/2014/main" id="{A3D87331-C692-8472-802A-CE721CEB24C5}"/>
                </a:ext>
              </a:extLst>
            </p:cNvPr>
            <p:cNvSpPr>
              <a:spLocks noChangeShapeType="1"/>
            </p:cNvSpPr>
            <p:nvPr/>
          </p:nvSpPr>
          <p:spPr bwMode="auto">
            <a:xfrm flipV="1">
              <a:off x="1277938" y="2035175"/>
              <a:ext cx="1347787" cy="3635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8" name="Line 13">
              <a:extLst>
                <a:ext uri="{FF2B5EF4-FFF2-40B4-BE49-F238E27FC236}">
                  <a16:creationId xmlns:a16="http://schemas.microsoft.com/office/drawing/2014/main" id="{E10CCEEA-90E3-4883-F144-7536742D227D}"/>
                </a:ext>
              </a:extLst>
            </p:cNvPr>
            <p:cNvSpPr>
              <a:spLocks noChangeShapeType="1"/>
            </p:cNvSpPr>
            <p:nvPr/>
          </p:nvSpPr>
          <p:spPr bwMode="auto">
            <a:xfrm>
              <a:off x="2622550" y="2032000"/>
              <a:ext cx="1017588" cy="11191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9" name="Line 14">
              <a:extLst>
                <a:ext uri="{FF2B5EF4-FFF2-40B4-BE49-F238E27FC236}">
                  <a16:creationId xmlns:a16="http://schemas.microsoft.com/office/drawing/2014/main" id="{159FC735-564D-BD07-6C22-7DFBAA66FFD4}"/>
                </a:ext>
              </a:extLst>
            </p:cNvPr>
            <p:cNvSpPr>
              <a:spLocks noChangeShapeType="1"/>
            </p:cNvSpPr>
            <p:nvPr/>
          </p:nvSpPr>
          <p:spPr bwMode="auto">
            <a:xfrm flipH="1">
              <a:off x="2159000" y="3152775"/>
              <a:ext cx="1484313" cy="4302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0" name="Line 15">
              <a:extLst>
                <a:ext uri="{FF2B5EF4-FFF2-40B4-BE49-F238E27FC236}">
                  <a16:creationId xmlns:a16="http://schemas.microsoft.com/office/drawing/2014/main" id="{182A3519-A116-E282-4E98-54E003E59208}"/>
                </a:ext>
              </a:extLst>
            </p:cNvPr>
            <p:cNvSpPr>
              <a:spLocks noChangeShapeType="1"/>
            </p:cNvSpPr>
            <p:nvPr/>
          </p:nvSpPr>
          <p:spPr bwMode="auto">
            <a:xfrm flipH="1" flipV="1">
              <a:off x="1276350" y="2397125"/>
              <a:ext cx="877888" cy="11826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 name="Line 16">
              <a:extLst>
                <a:ext uri="{FF2B5EF4-FFF2-40B4-BE49-F238E27FC236}">
                  <a16:creationId xmlns:a16="http://schemas.microsoft.com/office/drawing/2014/main" id="{11E5FA72-39A6-A6C3-85C6-DDDB6D2A4CAC}"/>
                </a:ext>
              </a:extLst>
            </p:cNvPr>
            <p:cNvSpPr>
              <a:spLocks noChangeShapeType="1"/>
            </p:cNvSpPr>
            <p:nvPr/>
          </p:nvSpPr>
          <p:spPr bwMode="auto">
            <a:xfrm>
              <a:off x="1792288" y="2444750"/>
              <a:ext cx="0" cy="2397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2" name="Line 17">
              <a:extLst>
                <a:ext uri="{FF2B5EF4-FFF2-40B4-BE49-F238E27FC236}">
                  <a16:creationId xmlns:a16="http://schemas.microsoft.com/office/drawing/2014/main" id="{9FF8623A-6C81-4651-F8FC-AEFF5CDB98EC}"/>
                </a:ext>
              </a:extLst>
            </p:cNvPr>
            <p:cNvSpPr>
              <a:spLocks noChangeShapeType="1"/>
            </p:cNvSpPr>
            <p:nvPr/>
          </p:nvSpPr>
          <p:spPr bwMode="auto">
            <a:xfrm>
              <a:off x="1790700" y="2682875"/>
              <a:ext cx="414338" cy="5476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3" name="Line 18">
              <a:extLst>
                <a:ext uri="{FF2B5EF4-FFF2-40B4-BE49-F238E27FC236}">
                  <a16:creationId xmlns:a16="http://schemas.microsoft.com/office/drawing/2014/main" id="{E8FFB614-CB6C-E5B1-AB60-AD1945CF23CE}"/>
                </a:ext>
              </a:extLst>
            </p:cNvPr>
            <p:cNvSpPr>
              <a:spLocks noChangeShapeType="1"/>
            </p:cNvSpPr>
            <p:nvPr/>
          </p:nvSpPr>
          <p:spPr bwMode="auto">
            <a:xfrm flipV="1">
              <a:off x="2562225" y="3133725"/>
              <a:ext cx="655638" cy="1857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4" name="Line 19">
              <a:extLst>
                <a:ext uri="{FF2B5EF4-FFF2-40B4-BE49-F238E27FC236}">
                  <a16:creationId xmlns:a16="http://schemas.microsoft.com/office/drawing/2014/main" id="{6BE3C3FE-9FF1-97CA-FD3C-311C4CF305CE}"/>
                </a:ext>
              </a:extLst>
            </p:cNvPr>
            <p:cNvSpPr>
              <a:spLocks noChangeShapeType="1"/>
            </p:cNvSpPr>
            <p:nvPr/>
          </p:nvSpPr>
          <p:spPr bwMode="auto">
            <a:xfrm flipV="1">
              <a:off x="3217863" y="2892425"/>
              <a:ext cx="0" cy="2397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5" name="Line 20">
              <a:extLst>
                <a:ext uri="{FF2B5EF4-FFF2-40B4-BE49-F238E27FC236}">
                  <a16:creationId xmlns:a16="http://schemas.microsoft.com/office/drawing/2014/main" id="{5515F7B9-8FC2-2E0D-1ABD-D2F075DFA26E}"/>
                </a:ext>
              </a:extLst>
            </p:cNvPr>
            <p:cNvSpPr>
              <a:spLocks noChangeShapeType="1"/>
            </p:cNvSpPr>
            <p:nvPr/>
          </p:nvSpPr>
          <p:spPr bwMode="auto">
            <a:xfrm flipH="1">
              <a:off x="2559050" y="2892425"/>
              <a:ext cx="655638" cy="1825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6" name="Line 21">
              <a:extLst>
                <a:ext uri="{FF2B5EF4-FFF2-40B4-BE49-F238E27FC236}">
                  <a16:creationId xmlns:a16="http://schemas.microsoft.com/office/drawing/2014/main" id="{D247DE69-F2EF-4808-0666-28DEC5A01CFC}"/>
                </a:ext>
              </a:extLst>
            </p:cNvPr>
            <p:cNvSpPr>
              <a:spLocks noChangeShapeType="1"/>
            </p:cNvSpPr>
            <p:nvPr/>
          </p:nvSpPr>
          <p:spPr bwMode="auto">
            <a:xfrm flipV="1">
              <a:off x="2560638" y="3073400"/>
              <a:ext cx="0" cy="2397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7" name="Line 22">
              <a:extLst>
                <a:ext uri="{FF2B5EF4-FFF2-40B4-BE49-F238E27FC236}">
                  <a16:creationId xmlns:a16="http://schemas.microsoft.com/office/drawing/2014/main" id="{D21F87D3-F9E2-B4BE-4D77-C3754F9EF38B}"/>
                </a:ext>
              </a:extLst>
            </p:cNvPr>
            <p:cNvSpPr>
              <a:spLocks noChangeShapeType="1"/>
            </p:cNvSpPr>
            <p:nvPr/>
          </p:nvSpPr>
          <p:spPr bwMode="auto">
            <a:xfrm>
              <a:off x="1797050" y="2447925"/>
              <a:ext cx="404813" cy="5413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8" name="Line 23">
              <a:extLst>
                <a:ext uri="{FF2B5EF4-FFF2-40B4-BE49-F238E27FC236}">
                  <a16:creationId xmlns:a16="http://schemas.microsoft.com/office/drawing/2014/main" id="{DF1106DB-BF83-DFC2-67AC-A83A3759E58F}"/>
                </a:ext>
              </a:extLst>
            </p:cNvPr>
            <p:cNvSpPr>
              <a:spLocks noChangeShapeType="1"/>
            </p:cNvSpPr>
            <p:nvPr/>
          </p:nvSpPr>
          <p:spPr bwMode="auto">
            <a:xfrm flipV="1">
              <a:off x="1793875" y="2214563"/>
              <a:ext cx="801688" cy="2238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9" name="Line 24">
              <a:extLst>
                <a:ext uri="{FF2B5EF4-FFF2-40B4-BE49-F238E27FC236}">
                  <a16:creationId xmlns:a16="http://schemas.microsoft.com/office/drawing/2014/main" id="{B6AC2B18-8D92-2699-6D19-D1C71F88CF23}"/>
                </a:ext>
              </a:extLst>
            </p:cNvPr>
            <p:cNvSpPr>
              <a:spLocks noChangeShapeType="1"/>
            </p:cNvSpPr>
            <p:nvPr/>
          </p:nvSpPr>
          <p:spPr bwMode="auto">
            <a:xfrm>
              <a:off x="2597150" y="2212975"/>
              <a:ext cx="620713" cy="6778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nvGrpSpPr>
            <p:cNvPr id="30" name="Group 25">
              <a:extLst>
                <a:ext uri="{FF2B5EF4-FFF2-40B4-BE49-F238E27FC236}">
                  <a16:creationId xmlns:a16="http://schemas.microsoft.com/office/drawing/2014/main" id="{1BE72E05-A461-98F6-B09F-7438D2BBC5D8}"/>
                </a:ext>
              </a:extLst>
            </p:cNvPr>
            <p:cNvGrpSpPr>
              <a:grpSpLocks/>
            </p:cNvGrpSpPr>
            <p:nvPr/>
          </p:nvGrpSpPr>
          <p:grpSpPr bwMode="auto">
            <a:xfrm>
              <a:off x="2817813" y="3114675"/>
              <a:ext cx="238125" cy="204788"/>
              <a:chOff x="1514" y="1979"/>
              <a:chExt cx="143" cy="137"/>
            </a:xfrm>
          </p:grpSpPr>
          <p:sp>
            <p:nvSpPr>
              <p:cNvPr id="31" name="Line 26">
                <a:extLst>
                  <a:ext uri="{FF2B5EF4-FFF2-40B4-BE49-F238E27FC236}">
                    <a16:creationId xmlns:a16="http://schemas.microsoft.com/office/drawing/2014/main" id="{570031C2-C580-D387-C52D-8B786444EA92}"/>
                  </a:ext>
                </a:extLst>
              </p:cNvPr>
              <p:cNvSpPr>
                <a:spLocks noChangeShapeType="1"/>
              </p:cNvSpPr>
              <p:nvPr/>
            </p:nvSpPr>
            <p:spPr bwMode="auto">
              <a:xfrm flipV="1">
                <a:off x="1516" y="2004"/>
                <a:ext cx="0" cy="5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2" name="Line 27">
                <a:extLst>
                  <a:ext uri="{FF2B5EF4-FFF2-40B4-BE49-F238E27FC236}">
                    <a16:creationId xmlns:a16="http://schemas.microsoft.com/office/drawing/2014/main" id="{5CE53E6F-183D-0431-7701-BF114D12F3D8}"/>
                  </a:ext>
                </a:extLst>
              </p:cNvPr>
              <p:cNvSpPr>
                <a:spLocks noChangeShapeType="1"/>
              </p:cNvSpPr>
              <p:nvPr/>
            </p:nvSpPr>
            <p:spPr bwMode="auto">
              <a:xfrm flipV="1">
                <a:off x="1514" y="1980"/>
                <a:ext cx="96" cy="2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3" name="Line 28">
                <a:extLst>
                  <a:ext uri="{FF2B5EF4-FFF2-40B4-BE49-F238E27FC236}">
                    <a16:creationId xmlns:a16="http://schemas.microsoft.com/office/drawing/2014/main" id="{EF786DF2-80FA-7EC3-A15C-38D90EC67E57}"/>
                  </a:ext>
                </a:extLst>
              </p:cNvPr>
              <p:cNvSpPr>
                <a:spLocks noChangeShapeType="1"/>
              </p:cNvSpPr>
              <p:nvPr/>
            </p:nvSpPr>
            <p:spPr bwMode="auto">
              <a:xfrm>
                <a:off x="1613" y="1979"/>
                <a:ext cx="0" cy="5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nvGrpSpPr>
              <p:cNvPr id="34" name="Group 29">
                <a:extLst>
                  <a:ext uri="{FF2B5EF4-FFF2-40B4-BE49-F238E27FC236}">
                    <a16:creationId xmlns:a16="http://schemas.microsoft.com/office/drawing/2014/main" id="{08CFB152-DFB6-2A9D-3E82-A3D473E0EB02}"/>
                  </a:ext>
                </a:extLst>
              </p:cNvPr>
              <p:cNvGrpSpPr>
                <a:grpSpLocks/>
              </p:cNvGrpSpPr>
              <p:nvPr/>
            </p:nvGrpSpPr>
            <p:grpSpPr bwMode="auto">
              <a:xfrm>
                <a:off x="1517" y="2036"/>
                <a:ext cx="140" cy="80"/>
                <a:chOff x="1517" y="2036"/>
                <a:chExt cx="140" cy="80"/>
              </a:xfrm>
            </p:grpSpPr>
            <p:sp>
              <p:nvSpPr>
                <p:cNvPr id="35" name="Line 30">
                  <a:extLst>
                    <a:ext uri="{FF2B5EF4-FFF2-40B4-BE49-F238E27FC236}">
                      <a16:creationId xmlns:a16="http://schemas.microsoft.com/office/drawing/2014/main" id="{7735D7F7-6F05-8F88-BDF3-DB26435C68AB}"/>
                    </a:ext>
                  </a:extLst>
                </p:cNvPr>
                <p:cNvSpPr>
                  <a:spLocks noChangeShapeType="1"/>
                </p:cNvSpPr>
                <p:nvPr/>
              </p:nvSpPr>
              <p:spPr bwMode="auto">
                <a:xfrm>
                  <a:off x="1517" y="2068"/>
                  <a:ext cx="47"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6" name="Line 31">
                  <a:extLst>
                    <a:ext uri="{FF2B5EF4-FFF2-40B4-BE49-F238E27FC236}">
                      <a16:creationId xmlns:a16="http://schemas.microsoft.com/office/drawing/2014/main" id="{5C0E7334-530B-CC6A-5D9C-F95CB2963C46}"/>
                    </a:ext>
                  </a:extLst>
                </p:cNvPr>
                <p:cNvSpPr>
                  <a:spLocks noChangeShapeType="1"/>
                </p:cNvSpPr>
                <p:nvPr/>
              </p:nvSpPr>
              <p:spPr bwMode="auto">
                <a:xfrm flipV="1">
                  <a:off x="1564" y="2085"/>
                  <a:ext cx="89" cy="2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7" name="Line 32">
                  <a:extLst>
                    <a:ext uri="{FF2B5EF4-FFF2-40B4-BE49-F238E27FC236}">
                      <a16:creationId xmlns:a16="http://schemas.microsoft.com/office/drawing/2014/main" id="{30162BAB-5F1F-C027-5A99-25BAD9566F75}"/>
                    </a:ext>
                  </a:extLst>
                </p:cNvPr>
                <p:cNvSpPr>
                  <a:spLocks noChangeShapeType="1"/>
                </p:cNvSpPr>
                <p:nvPr/>
              </p:nvSpPr>
              <p:spPr bwMode="auto">
                <a:xfrm>
                  <a:off x="1612" y="2036"/>
                  <a:ext cx="45" cy="4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grpSp>
        <p:grpSp>
          <p:nvGrpSpPr>
            <p:cNvPr id="38" name="Group 33">
              <a:extLst>
                <a:ext uri="{FF2B5EF4-FFF2-40B4-BE49-F238E27FC236}">
                  <a16:creationId xmlns:a16="http://schemas.microsoft.com/office/drawing/2014/main" id="{1426D39B-3214-2AB5-C418-C9B6EFD0805F}"/>
                </a:ext>
              </a:extLst>
            </p:cNvPr>
            <p:cNvGrpSpPr>
              <a:grpSpLocks/>
            </p:cNvGrpSpPr>
            <p:nvPr/>
          </p:nvGrpSpPr>
          <p:grpSpPr bwMode="auto">
            <a:xfrm>
              <a:off x="2082800" y="2057400"/>
              <a:ext cx="801688" cy="465138"/>
              <a:chOff x="1074" y="1268"/>
              <a:chExt cx="480" cy="313"/>
            </a:xfrm>
          </p:grpSpPr>
          <p:sp>
            <p:nvSpPr>
              <p:cNvPr id="39" name="Line 34">
                <a:extLst>
                  <a:ext uri="{FF2B5EF4-FFF2-40B4-BE49-F238E27FC236}">
                    <a16:creationId xmlns:a16="http://schemas.microsoft.com/office/drawing/2014/main" id="{760A98F0-8757-2FC0-3A72-36E10590E4C3}"/>
                  </a:ext>
                </a:extLst>
              </p:cNvPr>
              <p:cNvSpPr>
                <a:spLocks noChangeShapeType="1"/>
              </p:cNvSpPr>
              <p:nvPr/>
            </p:nvSpPr>
            <p:spPr bwMode="auto">
              <a:xfrm flipV="1">
                <a:off x="1379" y="1295"/>
                <a:ext cx="0" cy="7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0" name="Line 35">
                <a:extLst>
                  <a:ext uri="{FF2B5EF4-FFF2-40B4-BE49-F238E27FC236}">
                    <a16:creationId xmlns:a16="http://schemas.microsoft.com/office/drawing/2014/main" id="{2DBDE380-4C17-8E7F-EEF3-9D1D28800ECB}"/>
                  </a:ext>
                </a:extLst>
              </p:cNvPr>
              <p:cNvSpPr>
                <a:spLocks noChangeShapeType="1"/>
              </p:cNvSpPr>
              <p:nvPr/>
            </p:nvSpPr>
            <p:spPr bwMode="auto">
              <a:xfrm flipV="1">
                <a:off x="1089" y="1390"/>
                <a:ext cx="0" cy="7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1" name="Line 36">
                <a:extLst>
                  <a:ext uri="{FF2B5EF4-FFF2-40B4-BE49-F238E27FC236}">
                    <a16:creationId xmlns:a16="http://schemas.microsoft.com/office/drawing/2014/main" id="{E1BC5732-A366-DA52-B4B4-8D08BF9F69E8}"/>
                  </a:ext>
                </a:extLst>
              </p:cNvPr>
              <p:cNvSpPr>
                <a:spLocks noChangeShapeType="1"/>
              </p:cNvSpPr>
              <p:nvPr/>
            </p:nvSpPr>
            <p:spPr bwMode="auto">
              <a:xfrm flipV="1">
                <a:off x="1537" y="1477"/>
                <a:ext cx="0" cy="8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2" name="Line 37">
                <a:extLst>
                  <a:ext uri="{FF2B5EF4-FFF2-40B4-BE49-F238E27FC236}">
                    <a16:creationId xmlns:a16="http://schemas.microsoft.com/office/drawing/2014/main" id="{EDDD8E74-FA8E-44C7-81C6-FAD79554827B}"/>
                  </a:ext>
                </a:extLst>
              </p:cNvPr>
              <p:cNvSpPr>
                <a:spLocks noChangeShapeType="1"/>
              </p:cNvSpPr>
              <p:nvPr/>
            </p:nvSpPr>
            <p:spPr bwMode="auto">
              <a:xfrm flipV="1">
                <a:off x="1090" y="1298"/>
                <a:ext cx="289" cy="9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3" name="Line 38">
                <a:extLst>
                  <a:ext uri="{FF2B5EF4-FFF2-40B4-BE49-F238E27FC236}">
                    <a16:creationId xmlns:a16="http://schemas.microsoft.com/office/drawing/2014/main" id="{DE755B91-AF51-DA9E-5B14-F97D630FB729}"/>
                  </a:ext>
                </a:extLst>
              </p:cNvPr>
              <p:cNvSpPr>
                <a:spLocks noChangeShapeType="1"/>
              </p:cNvSpPr>
              <p:nvPr/>
            </p:nvSpPr>
            <p:spPr bwMode="auto">
              <a:xfrm>
                <a:off x="1378" y="1294"/>
                <a:ext cx="157" cy="18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4" name="Line 39">
                <a:extLst>
                  <a:ext uri="{FF2B5EF4-FFF2-40B4-BE49-F238E27FC236}">
                    <a16:creationId xmlns:a16="http://schemas.microsoft.com/office/drawing/2014/main" id="{F9D12BA1-A5FF-C575-F687-231D58B18F2F}"/>
                  </a:ext>
                </a:extLst>
              </p:cNvPr>
              <p:cNvSpPr>
                <a:spLocks noChangeShapeType="1"/>
              </p:cNvSpPr>
              <p:nvPr/>
            </p:nvSpPr>
            <p:spPr bwMode="auto">
              <a:xfrm flipV="1">
                <a:off x="1076" y="1271"/>
                <a:ext cx="309" cy="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5" name="Line 40">
                <a:extLst>
                  <a:ext uri="{FF2B5EF4-FFF2-40B4-BE49-F238E27FC236}">
                    <a16:creationId xmlns:a16="http://schemas.microsoft.com/office/drawing/2014/main" id="{861A124A-1768-98F4-0237-1968076F5115}"/>
                  </a:ext>
                </a:extLst>
              </p:cNvPr>
              <p:cNvSpPr>
                <a:spLocks noChangeShapeType="1"/>
              </p:cNvSpPr>
              <p:nvPr/>
            </p:nvSpPr>
            <p:spPr bwMode="auto">
              <a:xfrm>
                <a:off x="1384" y="1268"/>
                <a:ext cx="170" cy="20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6" name="Line 41">
                <a:extLst>
                  <a:ext uri="{FF2B5EF4-FFF2-40B4-BE49-F238E27FC236}">
                    <a16:creationId xmlns:a16="http://schemas.microsoft.com/office/drawing/2014/main" id="{06E79E62-E7E9-F92C-9264-1771A55D1399}"/>
                  </a:ext>
                </a:extLst>
              </p:cNvPr>
              <p:cNvSpPr>
                <a:spLocks noChangeShapeType="1"/>
              </p:cNvSpPr>
              <p:nvPr/>
            </p:nvSpPr>
            <p:spPr bwMode="auto">
              <a:xfrm flipH="1">
                <a:off x="1538" y="1469"/>
                <a:ext cx="16" cy="1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7" name="Line 42">
                <a:extLst>
                  <a:ext uri="{FF2B5EF4-FFF2-40B4-BE49-F238E27FC236}">
                    <a16:creationId xmlns:a16="http://schemas.microsoft.com/office/drawing/2014/main" id="{129F9B48-FA5E-C177-4729-1454BFC87720}"/>
                  </a:ext>
                </a:extLst>
              </p:cNvPr>
              <p:cNvSpPr>
                <a:spLocks noChangeShapeType="1"/>
              </p:cNvSpPr>
              <p:nvPr/>
            </p:nvSpPr>
            <p:spPr bwMode="auto">
              <a:xfrm>
                <a:off x="1552" y="1471"/>
                <a:ext cx="0" cy="11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8" name="Line 43">
                <a:extLst>
                  <a:ext uri="{FF2B5EF4-FFF2-40B4-BE49-F238E27FC236}">
                    <a16:creationId xmlns:a16="http://schemas.microsoft.com/office/drawing/2014/main" id="{F64E0854-BA27-199A-5889-8BDE9E5B71F2}"/>
                  </a:ext>
                </a:extLst>
              </p:cNvPr>
              <p:cNvSpPr>
                <a:spLocks noChangeShapeType="1"/>
              </p:cNvSpPr>
              <p:nvPr/>
            </p:nvSpPr>
            <p:spPr bwMode="auto">
              <a:xfrm>
                <a:off x="1075" y="1371"/>
                <a:ext cx="0" cy="9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9" name="Line 44">
                <a:extLst>
                  <a:ext uri="{FF2B5EF4-FFF2-40B4-BE49-F238E27FC236}">
                    <a16:creationId xmlns:a16="http://schemas.microsoft.com/office/drawing/2014/main" id="{BAFDF65C-93B0-F0C2-07A9-82914852D96A}"/>
                  </a:ext>
                </a:extLst>
              </p:cNvPr>
              <p:cNvSpPr>
                <a:spLocks noChangeShapeType="1"/>
              </p:cNvSpPr>
              <p:nvPr/>
            </p:nvSpPr>
            <p:spPr bwMode="auto">
              <a:xfrm flipH="1" flipV="1">
                <a:off x="1074" y="1374"/>
                <a:ext cx="15" cy="1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sp>
          <p:nvSpPr>
            <p:cNvPr id="50" name="Line 45">
              <a:extLst>
                <a:ext uri="{FF2B5EF4-FFF2-40B4-BE49-F238E27FC236}">
                  <a16:creationId xmlns:a16="http://schemas.microsoft.com/office/drawing/2014/main" id="{294A43A1-1340-0283-96BD-05D8FE35F9BD}"/>
                </a:ext>
              </a:extLst>
            </p:cNvPr>
            <p:cNvSpPr>
              <a:spLocks noChangeShapeType="1"/>
            </p:cNvSpPr>
            <p:nvPr/>
          </p:nvSpPr>
          <p:spPr bwMode="auto">
            <a:xfrm>
              <a:off x="2209800" y="2994025"/>
              <a:ext cx="354013" cy="809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51" name="Line 46">
              <a:extLst>
                <a:ext uri="{FF2B5EF4-FFF2-40B4-BE49-F238E27FC236}">
                  <a16:creationId xmlns:a16="http://schemas.microsoft.com/office/drawing/2014/main" id="{369405D2-FFEF-4804-EA21-DFD9740CC7C6}"/>
                </a:ext>
              </a:extLst>
            </p:cNvPr>
            <p:cNvSpPr>
              <a:spLocks noChangeShapeType="1"/>
            </p:cNvSpPr>
            <p:nvPr/>
          </p:nvSpPr>
          <p:spPr bwMode="auto">
            <a:xfrm flipV="1">
              <a:off x="2205038" y="2986088"/>
              <a:ext cx="0" cy="2492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52" name="Line 47">
              <a:extLst>
                <a:ext uri="{FF2B5EF4-FFF2-40B4-BE49-F238E27FC236}">
                  <a16:creationId xmlns:a16="http://schemas.microsoft.com/office/drawing/2014/main" id="{AAD26EDF-6F8E-C2C3-B8A2-A035FA0A6CD9}"/>
                </a:ext>
              </a:extLst>
            </p:cNvPr>
            <p:cNvSpPr>
              <a:spLocks noChangeShapeType="1"/>
            </p:cNvSpPr>
            <p:nvPr/>
          </p:nvSpPr>
          <p:spPr bwMode="auto">
            <a:xfrm>
              <a:off x="2203450" y="3238500"/>
              <a:ext cx="352425" cy="809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53" name="Line 48">
              <a:extLst>
                <a:ext uri="{FF2B5EF4-FFF2-40B4-BE49-F238E27FC236}">
                  <a16:creationId xmlns:a16="http://schemas.microsoft.com/office/drawing/2014/main" id="{07002CFD-7894-38C1-7B19-AA860FE5DFCE}"/>
                </a:ext>
              </a:extLst>
            </p:cNvPr>
            <p:cNvSpPr>
              <a:spLocks noChangeShapeType="1"/>
            </p:cNvSpPr>
            <p:nvPr/>
          </p:nvSpPr>
          <p:spPr bwMode="auto">
            <a:xfrm>
              <a:off x="1792288" y="4733925"/>
              <a:ext cx="0" cy="2397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54" name="Line 49">
              <a:extLst>
                <a:ext uri="{FF2B5EF4-FFF2-40B4-BE49-F238E27FC236}">
                  <a16:creationId xmlns:a16="http://schemas.microsoft.com/office/drawing/2014/main" id="{C64FD6F8-B7D6-19E6-B10C-36AB0DA9A824}"/>
                </a:ext>
              </a:extLst>
            </p:cNvPr>
            <p:cNvSpPr>
              <a:spLocks noChangeShapeType="1"/>
            </p:cNvSpPr>
            <p:nvPr/>
          </p:nvSpPr>
          <p:spPr bwMode="auto">
            <a:xfrm>
              <a:off x="1790700" y="4972050"/>
              <a:ext cx="528638" cy="7096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55" name="Line 50">
              <a:extLst>
                <a:ext uri="{FF2B5EF4-FFF2-40B4-BE49-F238E27FC236}">
                  <a16:creationId xmlns:a16="http://schemas.microsoft.com/office/drawing/2014/main" id="{6F2A7A0C-564D-EA4C-A355-6CC6EC0754BB}"/>
                </a:ext>
              </a:extLst>
            </p:cNvPr>
            <p:cNvSpPr>
              <a:spLocks noChangeShapeType="1"/>
            </p:cNvSpPr>
            <p:nvPr/>
          </p:nvSpPr>
          <p:spPr bwMode="auto">
            <a:xfrm flipV="1">
              <a:off x="2320925" y="5422900"/>
              <a:ext cx="893763" cy="258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56" name="Line 51">
              <a:extLst>
                <a:ext uri="{FF2B5EF4-FFF2-40B4-BE49-F238E27FC236}">
                  <a16:creationId xmlns:a16="http://schemas.microsoft.com/office/drawing/2014/main" id="{74935064-1D98-A435-F4F7-4155D87B8FF8}"/>
                </a:ext>
              </a:extLst>
            </p:cNvPr>
            <p:cNvSpPr>
              <a:spLocks noChangeShapeType="1"/>
            </p:cNvSpPr>
            <p:nvPr/>
          </p:nvSpPr>
          <p:spPr bwMode="auto">
            <a:xfrm flipV="1">
              <a:off x="3217863" y="5180013"/>
              <a:ext cx="0" cy="241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57" name="Line 52">
              <a:extLst>
                <a:ext uri="{FF2B5EF4-FFF2-40B4-BE49-F238E27FC236}">
                  <a16:creationId xmlns:a16="http://schemas.microsoft.com/office/drawing/2014/main" id="{834045CB-F08A-64A8-8AA0-8E7086815E5D}"/>
                </a:ext>
              </a:extLst>
            </p:cNvPr>
            <p:cNvSpPr>
              <a:spLocks noChangeShapeType="1"/>
            </p:cNvSpPr>
            <p:nvPr/>
          </p:nvSpPr>
          <p:spPr bwMode="auto">
            <a:xfrm flipH="1">
              <a:off x="2324100" y="5181600"/>
              <a:ext cx="890588" cy="258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58" name="Line 53">
              <a:extLst>
                <a:ext uri="{FF2B5EF4-FFF2-40B4-BE49-F238E27FC236}">
                  <a16:creationId xmlns:a16="http://schemas.microsoft.com/office/drawing/2014/main" id="{B2FB53BE-A8A6-5F19-5A3A-F24C60C1CA31}"/>
                </a:ext>
              </a:extLst>
            </p:cNvPr>
            <p:cNvSpPr>
              <a:spLocks noChangeShapeType="1"/>
            </p:cNvSpPr>
            <p:nvPr/>
          </p:nvSpPr>
          <p:spPr bwMode="auto">
            <a:xfrm flipV="1">
              <a:off x="2319338" y="5438775"/>
              <a:ext cx="0" cy="2397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59" name="Line 54">
              <a:extLst>
                <a:ext uri="{FF2B5EF4-FFF2-40B4-BE49-F238E27FC236}">
                  <a16:creationId xmlns:a16="http://schemas.microsoft.com/office/drawing/2014/main" id="{779176CB-4434-7D1E-E1A4-B8A635D0FCC0}"/>
                </a:ext>
              </a:extLst>
            </p:cNvPr>
            <p:cNvSpPr>
              <a:spLocks noChangeShapeType="1"/>
            </p:cNvSpPr>
            <p:nvPr/>
          </p:nvSpPr>
          <p:spPr bwMode="auto">
            <a:xfrm>
              <a:off x="1797050" y="4737100"/>
              <a:ext cx="522288" cy="7000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0" name="Line 55">
              <a:extLst>
                <a:ext uri="{FF2B5EF4-FFF2-40B4-BE49-F238E27FC236}">
                  <a16:creationId xmlns:a16="http://schemas.microsoft.com/office/drawing/2014/main" id="{7A4908BE-07D9-5D92-DAB8-294FF1990DCA}"/>
                </a:ext>
              </a:extLst>
            </p:cNvPr>
            <p:cNvSpPr>
              <a:spLocks noChangeShapeType="1"/>
            </p:cNvSpPr>
            <p:nvPr/>
          </p:nvSpPr>
          <p:spPr bwMode="auto">
            <a:xfrm flipV="1">
              <a:off x="1792288" y="4572000"/>
              <a:ext cx="571500" cy="1571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1" name="Line 56">
              <a:extLst>
                <a:ext uri="{FF2B5EF4-FFF2-40B4-BE49-F238E27FC236}">
                  <a16:creationId xmlns:a16="http://schemas.microsoft.com/office/drawing/2014/main" id="{C80D4794-2F7B-1398-E2AE-0B1CFE6E93DE}"/>
                </a:ext>
              </a:extLst>
            </p:cNvPr>
            <p:cNvSpPr>
              <a:spLocks noChangeShapeType="1"/>
            </p:cNvSpPr>
            <p:nvPr/>
          </p:nvSpPr>
          <p:spPr bwMode="auto">
            <a:xfrm>
              <a:off x="2720975" y="4648200"/>
              <a:ext cx="496888" cy="5318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2" name="Line 57">
              <a:extLst>
                <a:ext uri="{FF2B5EF4-FFF2-40B4-BE49-F238E27FC236}">
                  <a16:creationId xmlns:a16="http://schemas.microsoft.com/office/drawing/2014/main" id="{310DBD02-6AB5-B50C-E3E9-768FD42DFCA2}"/>
                </a:ext>
              </a:extLst>
            </p:cNvPr>
            <p:cNvSpPr>
              <a:spLocks noChangeShapeType="1"/>
            </p:cNvSpPr>
            <p:nvPr/>
          </p:nvSpPr>
          <p:spPr bwMode="auto">
            <a:xfrm>
              <a:off x="2371725" y="4568825"/>
              <a:ext cx="354013" cy="809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3" name="Line 58">
              <a:extLst>
                <a:ext uri="{FF2B5EF4-FFF2-40B4-BE49-F238E27FC236}">
                  <a16:creationId xmlns:a16="http://schemas.microsoft.com/office/drawing/2014/main" id="{C3AD9B00-A981-E611-FAA0-DD1E610FCDDE}"/>
                </a:ext>
              </a:extLst>
            </p:cNvPr>
            <p:cNvSpPr>
              <a:spLocks noChangeShapeType="1"/>
            </p:cNvSpPr>
            <p:nvPr/>
          </p:nvSpPr>
          <p:spPr bwMode="auto">
            <a:xfrm flipV="1">
              <a:off x="2808288" y="5445125"/>
              <a:ext cx="0" cy="873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4" name="Line 59">
              <a:extLst>
                <a:ext uri="{FF2B5EF4-FFF2-40B4-BE49-F238E27FC236}">
                  <a16:creationId xmlns:a16="http://schemas.microsoft.com/office/drawing/2014/main" id="{61EA98B4-DD52-4E4E-AE26-6D9C84262CA1}"/>
                </a:ext>
              </a:extLst>
            </p:cNvPr>
            <p:cNvSpPr>
              <a:spLocks noChangeShapeType="1"/>
            </p:cNvSpPr>
            <p:nvPr/>
          </p:nvSpPr>
          <p:spPr bwMode="auto">
            <a:xfrm flipV="1">
              <a:off x="2805113" y="5407025"/>
              <a:ext cx="160337" cy="396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5" name="Line 60">
              <a:extLst>
                <a:ext uri="{FF2B5EF4-FFF2-40B4-BE49-F238E27FC236}">
                  <a16:creationId xmlns:a16="http://schemas.microsoft.com/office/drawing/2014/main" id="{171D5D2D-6C8F-AE88-4AA1-EA6137E296CD}"/>
                </a:ext>
              </a:extLst>
            </p:cNvPr>
            <p:cNvSpPr>
              <a:spLocks noChangeShapeType="1"/>
            </p:cNvSpPr>
            <p:nvPr/>
          </p:nvSpPr>
          <p:spPr bwMode="auto">
            <a:xfrm>
              <a:off x="2968625" y="5407025"/>
              <a:ext cx="0" cy="777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nvGrpSpPr>
            <p:cNvPr id="66" name="Group 61">
              <a:extLst>
                <a:ext uri="{FF2B5EF4-FFF2-40B4-BE49-F238E27FC236}">
                  <a16:creationId xmlns:a16="http://schemas.microsoft.com/office/drawing/2014/main" id="{FF87E485-CA28-5790-6CA9-BFBA930C11B4}"/>
                </a:ext>
              </a:extLst>
            </p:cNvPr>
            <p:cNvGrpSpPr>
              <a:grpSpLocks/>
            </p:cNvGrpSpPr>
            <p:nvPr/>
          </p:nvGrpSpPr>
          <p:grpSpPr bwMode="auto">
            <a:xfrm>
              <a:off x="2809875" y="5492750"/>
              <a:ext cx="233363" cy="119063"/>
              <a:chOff x="1510" y="3576"/>
              <a:chExt cx="139" cy="81"/>
            </a:xfrm>
          </p:grpSpPr>
          <p:sp>
            <p:nvSpPr>
              <p:cNvPr id="67" name="Line 62">
                <a:extLst>
                  <a:ext uri="{FF2B5EF4-FFF2-40B4-BE49-F238E27FC236}">
                    <a16:creationId xmlns:a16="http://schemas.microsoft.com/office/drawing/2014/main" id="{7E81F429-9C80-3C43-E97F-92AFE365AA8C}"/>
                  </a:ext>
                </a:extLst>
              </p:cNvPr>
              <p:cNvSpPr>
                <a:spLocks noChangeShapeType="1"/>
              </p:cNvSpPr>
              <p:nvPr/>
            </p:nvSpPr>
            <p:spPr bwMode="auto">
              <a:xfrm>
                <a:off x="1510" y="3608"/>
                <a:ext cx="46" cy="4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8" name="Line 63">
                <a:extLst>
                  <a:ext uri="{FF2B5EF4-FFF2-40B4-BE49-F238E27FC236}">
                    <a16:creationId xmlns:a16="http://schemas.microsoft.com/office/drawing/2014/main" id="{AAABC34C-2943-5B9A-0BE4-A9D4B5592B47}"/>
                  </a:ext>
                </a:extLst>
              </p:cNvPr>
              <p:cNvSpPr>
                <a:spLocks noChangeShapeType="1"/>
              </p:cNvSpPr>
              <p:nvPr/>
            </p:nvSpPr>
            <p:spPr bwMode="auto">
              <a:xfrm flipV="1">
                <a:off x="1556" y="3625"/>
                <a:ext cx="88" cy="2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9" name="Line 64">
                <a:extLst>
                  <a:ext uri="{FF2B5EF4-FFF2-40B4-BE49-F238E27FC236}">
                    <a16:creationId xmlns:a16="http://schemas.microsoft.com/office/drawing/2014/main" id="{CCB772C6-E969-27A6-2FF1-9B623702C677}"/>
                  </a:ext>
                </a:extLst>
              </p:cNvPr>
              <p:cNvSpPr>
                <a:spLocks noChangeShapeType="1"/>
              </p:cNvSpPr>
              <p:nvPr/>
            </p:nvSpPr>
            <p:spPr bwMode="auto">
              <a:xfrm>
                <a:off x="1605" y="3576"/>
                <a:ext cx="44" cy="4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grpSp>
          <p:nvGrpSpPr>
            <p:cNvPr id="70" name="Group 65">
              <a:extLst>
                <a:ext uri="{FF2B5EF4-FFF2-40B4-BE49-F238E27FC236}">
                  <a16:creationId xmlns:a16="http://schemas.microsoft.com/office/drawing/2014/main" id="{83C8C9CD-CE46-8F97-49B9-6539DAE87F4F}"/>
                </a:ext>
              </a:extLst>
            </p:cNvPr>
            <p:cNvGrpSpPr>
              <a:grpSpLocks/>
            </p:cNvGrpSpPr>
            <p:nvPr/>
          </p:nvGrpSpPr>
          <p:grpSpPr bwMode="auto">
            <a:xfrm>
              <a:off x="2082800" y="4349750"/>
              <a:ext cx="801688" cy="465138"/>
              <a:chOff x="1074" y="2808"/>
              <a:chExt cx="480" cy="313"/>
            </a:xfrm>
          </p:grpSpPr>
          <p:sp>
            <p:nvSpPr>
              <p:cNvPr id="71" name="Line 66">
                <a:extLst>
                  <a:ext uri="{FF2B5EF4-FFF2-40B4-BE49-F238E27FC236}">
                    <a16:creationId xmlns:a16="http://schemas.microsoft.com/office/drawing/2014/main" id="{33C0A64C-54E2-D280-582F-D3F2419E1516}"/>
                  </a:ext>
                </a:extLst>
              </p:cNvPr>
              <p:cNvSpPr>
                <a:spLocks noChangeShapeType="1"/>
              </p:cNvSpPr>
              <p:nvPr/>
            </p:nvSpPr>
            <p:spPr bwMode="auto">
              <a:xfrm flipV="1">
                <a:off x="1377" y="2836"/>
                <a:ext cx="0" cy="15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72" name="Line 67">
                <a:extLst>
                  <a:ext uri="{FF2B5EF4-FFF2-40B4-BE49-F238E27FC236}">
                    <a16:creationId xmlns:a16="http://schemas.microsoft.com/office/drawing/2014/main" id="{CAD8E1D7-B6E9-A2EF-716F-8EFA4DBCD47E}"/>
                  </a:ext>
                </a:extLst>
              </p:cNvPr>
              <p:cNvSpPr>
                <a:spLocks noChangeShapeType="1"/>
              </p:cNvSpPr>
              <p:nvPr/>
            </p:nvSpPr>
            <p:spPr bwMode="auto">
              <a:xfrm flipV="1">
                <a:off x="1089" y="2927"/>
                <a:ext cx="0" cy="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73" name="Line 68">
                <a:extLst>
                  <a:ext uri="{FF2B5EF4-FFF2-40B4-BE49-F238E27FC236}">
                    <a16:creationId xmlns:a16="http://schemas.microsoft.com/office/drawing/2014/main" id="{DFE8C027-6331-5B2E-3DDC-B51573C97BDF}"/>
                  </a:ext>
                </a:extLst>
              </p:cNvPr>
              <p:cNvSpPr>
                <a:spLocks noChangeShapeType="1"/>
              </p:cNvSpPr>
              <p:nvPr/>
            </p:nvSpPr>
            <p:spPr bwMode="auto">
              <a:xfrm flipV="1">
                <a:off x="1537" y="3017"/>
                <a:ext cx="0" cy="8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74" name="Line 69">
                <a:extLst>
                  <a:ext uri="{FF2B5EF4-FFF2-40B4-BE49-F238E27FC236}">
                    <a16:creationId xmlns:a16="http://schemas.microsoft.com/office/drawing/2014/main" id="{8D393C3B-904D-4A50-C6C4-2B9AEBD247EE}"/>
                  </a:ext>
                </a:extLst>
              </p:cNvPr>
              <p:cNvSpPr>
                <a:spLocks noChangeShapeType="1"/>
              </p:cNvSpPr>
              <p:nvPr/>
            </p:nvSpPr>
            <p:spPr bwMode="auto">
              <a:xfrm flipV="1">
                <a:off x="1090" y="2838"/>
                <a:ext cx="289" cy="9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75" name="Line 70">
                <a:extLst>
                  <a:ext uri="{FF2B5EF4-FFF2-40B4-BE49-F238E27FC236}">
                    <a16:creationId xmlns:a16="http://schemas.microsoft.com/office/drawing/2014/main" id="{2D8DDA54-137D-4DA5-1624-FE4AB45E6AD6}"/>
                  </a:ext>
                </a:extLst>
              </p:cNvPr>
              <p:cNvSpPr>
                <a:spLocks noChangeShapeType="1"/>
              </p:cNvSpPr>
              <p:nvPr/>
            </p:nvSpPr>
            <p:spPr bwMode="auto">
              <a:xfrm>
                <a:off x="1378" y="2834"/>
                <a:ext cx="157" cy="18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76" name="Line 71">
                <a:extLst>
                  <a:ext uri="{FF2B5EF4-FFF2-40B4-BE49-F238E27FC236}">
                    <a16:creationId xmlns:a16="http://schemas.microsoft.com/office/drawing/2014/main" id="{160F97E8-5A2A-0131-0E20-F33633ACA79B}"/>
                  </a:ext>
                </a:extLst>
              </p:cNvPr>
              <p:cNvSpPr>
                <a:spLocks noChangeShapeType="1"/>
              </p:cNvSpPr>
              <p:nvPr/>
            </p:nvSpPr>
            <p:spPr bwMode="auto">
              <a:xfrm flipV="1">
                <a:off x="1076" y="2813"/>
                <a:ext cx="309" cy="9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77" name="Line 72">
                <a:extLst>
                  <a:ext uri="{FF2B5EF4-FFF2-40B4-BE49-F238E27FC236}">
                    <a16:creationId xmlns:a16="http://schemas.microsoft.com/office/drawing/2014/main" id="{B476BC74-31B1-DF31-BB6E-8CBE78857B95}"/>
                  </a:ext>
                </a:extLst>
              </p:cNvPr>
              <p:cNvSpPr>
                <a:spLocks noChangeShapeType="1"/>
              </p:cNvSpPr>
              <p:nvPr/>
            </p:nvSpPr>
            <p:spPr bwMode="auto">
              <a:xfrm>
                <a:off x="1384" y="2808"/>
                <a:ext cx="170" cy="20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78" name="Line 73">
                <a:extLst>
                  <a:ext uri="{FF2B5EF4-FFF2-40B4-BE49-F238E27FC236}">
                    <a16:creationId xmlns:a16="http://schemas.microsoft.com/office/drawing/2014/main" id="{30E5AD79-E0BA-E414-427E-51861C4FD433}"/>
                  </a:ext>
                </a:extLst>
              </p:cNvPr>
              <p:cNvSpPr>
                <a:spLocks noChangeShapeType="1"/>
              </p:cNvSpPr>
              <p:nvPr/>
            </p:nvSpPr>
            <p:spPr bwMode="auto">
              <a:xfrm flipH="1">
                <a:off x="1538" y="3009"/>
                <a:ext cx="16" cy="1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79" name="Line 74">
                <a:extLst>
                  <a:ext uri="{FF2B5EF4-FFF2-40B4-BE49-F238E27FC236}">
                    <a16:creationId xmlns:a16="http://schemas.microsoft.com/office/drawing/2014/main" id="{4506909E-1CB3-36BD-DB25-4B69EDC620C0}"/>
                  </a:ext>
                </a:extLst>
              </p:cNvPr>
              <p:cNvSpPr>
                <a:spLocks noChangeShapeType="1"/>
              </p:cNvSpPr>
              <p:nvPr/>
            </p:nvSpPr>
            <p:spPr bwMode="auto">
              <a:xfrm>
                <a:off x="1552" y="3011"/>
                <a:ext cx="0" cy="11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80" name="Line 75">
                <a:extLst>
                  <a:ext uri="{FF2B5EF4-FFF2-40B4-BE49-F238E27FC236}">
                    <a16:creationId xmlns:a16="http://schemas.microsoft.com/office/drawing/2014/main" id="{4BC899C7-335A-4282-0ECF-FA1747E9ADF1}"/>
                  </a:ext>
                </a:extLst>
              </p:cNvPr>
              <p:cNvSpPr>
                <a:spLocks noChangeShapeType="1"/>
              </p:cNvSpPr>
              <p:nvPr/>
            </p:nvSpPr>
            <p:spPr bwMode="auto">
              <a:xfrm>
                <a:off x="1075" y="2911"/>
                <a:ext cx="0" cy="9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81" name="Line 76">
                <a:extLst>
                  <a:ext uri="{FF2B5EF4-FFF2-40B4-BE49-F238E27FC236}">
                    <a16:creationId xmlns:a16="http://schemas.microsoft.com/office/drawing/2014/main" id="{4BC3661D-B05F-BF62-67A9-148BFBBE7572}"/>
                  </a:ext>
                </a:extLst>
              </p:cNvPr>
              <p:cNvSpPr>
                <a:spLocks noChangeShapeType="1"/>
              </p:cNvSpPr>
              <p:nvPr/>
            </p:nvSpPr>
            <p:spPr bwMode="auto">
              <a:xfrm flipH="1" flipV="1">
                <a:off x="1074" y="2914"/>
                <a:ext cx="15" cy="1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sp>
          <p:nvSpPr>
            <p:cNvPr id="82" name="Line 77">
              <a:extLst>
                <a:ext uri="{FF2B5EF4-FFF2-40B4-BE49-F238E27FC236}">
                  <a16:creationId xmlns:a16="http://schemas.microsoft.com/office/drawing/2014/main" id="{1DD4B0A4-F6EF-41E3-7A7F-E11F4966CF21}"/>
                </a:ext>
              </a:extLst>
            </p:cNvPr>
            <p:cNvSpPr>
              <a:spLocks noChangeShapeType="1"/>
            </p:cNvSpPr>
            <p:nvPr/>
          </p:nvSpPr>
          <p:spPr bwMode="auto">
            <a:xfrm>
              <a:off x="1277938" y="4695825"/>
              <a:ext cx="0" cy="523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83" name="Line 78">
              <a:extLst>
                <a:ext uri="{FF2B5EF4-FFF2-40B4-BE49-F238E27FC236}">
                  <a16:creationId xmlns:a16="http://schemas.microsoft.com/office/drawing/2014/main" id="{BF992E20-BF91-8A52-EF76-F1CA09DC19E3}"/>
                </a:ext>
              </a:extLst>
            </p:cNvPr>
            <p:cNvSpPr>
              <a:spLocks noChangeShapeType="1"/>
            </p:cNvSpPr>
            <p:nvPr/>
          </p:nvSpPr>
          <p:spPr bwMode="auto">
            <a:xfrm>
              <a:off x="1276350" y="4752975"/>
              <a:ext cx="874713" cy="11953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84" name="Line 79">
              <a:extLst>
                <a:ext uri="{FF2B5EF4-FFF2-40B4-BE49-F238E27FC236}">
                  <a16:creationId xmlns:a16="http://schemas.microsoft.com/office/drawing/2014/main" id="{F9554BEE-CFE5-2F41-0472-CE27F4CBB732}"/>
                </a:ext>
              </a:extLst>
            </p:cNvPr>
            <p:cNvSpPr>
              <a:spLocks noChangeShapeType="1"/>
            </p:cNvSpPr>
            <p:nvPr/>
          </p:nvSpPr>
          <p:spPr bwMode="auto">
            <a:xfrm flipV="1">
              <a:off x="2154238" y="5527675"/>
              <a:ext cx="1487487" cy="4206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85" name="Line 80">
              <a:extLst>
                <a:ext uri="{FF2B5EF4-FFF2-40B4-BE49-F238E27FC236}">
                  <a16:creationId xmlns:a16="http://schemas.microsoft.com/office/drawing/2014/main" id="{9642015D-AE00-0D61-C7D4-9D54CA607289}"/>
                </a:ext>
              </a:extLst>
            </p:cNvPr>
            <p:cNvSpPr>
              <a:spLocks noChangeShapeType="1"/>
            </p:cNvSpPr>
            <p:nvPr/>
          </p:nvSpPr>
          <p:spPr bwMode="auto">
            <a:xfrm>
              <a:off x="2154238" y="5876925"/>
              <a:ext cx="0" cy="714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86" name="Line 81">
              <a:extLst>
                <a:ext uri="{FF2B5EF4-FFF2-40B4-BE49-F238E27FC236}">
                  <a16:creationId xmlns:a16="http://schemas.microsoft.com/office/drawing/2014/main" id="{1BBDF8DD-B92D-5745-74D1-45ABEE765550}"/>
                </a:ext>
              </a:extLst>
            </p:cNvPr>
            <p:cNvSpPr>
              <a:spLocks noChangeShapeType="1"/>
            </p:cNvSpPr>
            <p:nvPr/>
          </p:nvSpPr>
          <p:spPr bwMode="auto">
            <a:xfrm>
              <a:off x="3646488" y="5451475"/>
              <a:ext cx="0" cy="714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87" name="Line 82">
              <a:extLst>
                <a:ext uri="{FF2B5EF4-FFF2-40B4-BE49-F238E27FC236}">
                  <a16:creationId xmlns:a16="http://schemas.microsoft.com/office/drawing/2014/main" id="{81C0AC92-FB14-0FB2-5D92-736644C1E1E3}"/>
                </a:ext>
              </a:extLst>
            </p:cNvPr>
            <p:cNvSpPr>
              <a:spLocks noChangeShapeType="1"/>
            </p:cNvSpPr>
            <p:nvPr/>
          </p:nvSpPr>
          <p:spPr bwMode="auto">
            <a:xfrm flipV="1">
              <a:off x="1277938" y="4325938"/>
              <a:ext cx="1347787" cy="3635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88" name="Line 83">
              <a:extLst>
                <a:ext uri="{FF2B5EF4-FFF2-40B4-BE49-F238E27FC236}">
                  <a16:creationId xmlns:a16="http://schemas.microsoft.com/office/drawing/2014/main" id="{02E2BB49-711A-9E63-053C-187FC8953925}"/>
                </a:ext>
              </a:extLst>
            </p:cNvPr>
            <p:cNvSpPr>
              <a:spLocks noChangeShapeType="1"/>
            </p:cNvSpPr>
            <p:nvPr/>
          </p:nvSpPr>
          <p:spPr bwMode="auto">
            <a:xfrm>
              <a:off x="2622550" y="4324350"/>
              <a:ext cx="1017588" cy="11191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89" name="Line 84">
              <a:extLst>
                <a:ext uri="{FF2B5EF4-FFF2-40B4-BE49-F238E27FC236}">
                  <a16:creationId xmlns:a16="http://schemas.microsoft.com/office/drawing/2014/main" id="{C001AE8D-9627-43E4-E5DA-E7542CAFDA4B}"/>
                </a:ext>
              </a:extLst>
            </p:cNvPr>
            <p:cNvSpPr>
              <a:spLocks noChangeShapeType="1"/>
            </p:cNvSpPr>
            <p:nvPr/>
          </p:nvSpPr>
          <p:spPr bwMode="auto">
            <a:xfrm flipH="1">
              <a:off x="2159000" y="5445125"/>
              <a:ext cx="1484313" cy="4302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90" name="Line 85">
              <a:extLst>
                <a:ext uri="{FF2B5EF4-FFF2-40B4-BE49-F238E27FC236}">
                  <a16:creationId xmlns:a16="http://schemas.microsoft.com/office/drawing/2014/main" id="{E386DD1C-BCBA-19ED-3102-2CFCD3FF5323}"/>
                </a:ext>
              </a:extLst>
            </p:cNvPr>
            <p:cNvSpPr>
              <a:spLocks noChangeShapeType="1"/>
            </p:cNvSpPr>
            <p:nvPr/>
          </p:nvSpPr>
          <p:spPr bwMode="auto">
            <a:xfrm flipH="1" flipV="1">
              <a:off x="1276350" y="4687888"/>
              <a:ext cx="877888" cy="11826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91" name="Rectangle 86">
              <a:extLst>
                <a:ext uri="{FF2B5EF4-FFF2-40B4-BE49-F238E27FC236}">
                  <a16:creationId xmlns:a16="http://schemas.microsoft.com/office/drawing/2014/main" id="{C9E8DE01-F661-28EF-AD44-C305332CD350}"/>
                </a:ext>
              </a:extLst>
            </p:cNvPr>
            <p:cNvSpPr>
              <a:spLocks noChangeArrowheads="1"/>
            </p:cNvSpPr>
            <p:nvPr/>
          </p:nvSpPr>
          <p:spPr bwMode="auto">
            <a:xfrm>
              <a:off x="654050" y="2987675"/>
              <a:ext cx="9032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Aft>
                  <a:spcPct val="0"/>
                </a:spcAft>
                <a:buClrTx/>
                <a:buSzTx/>
                <a:buFontTx/>
                <a:buNone/>
              </a:pPr>
              <a:r>
                <a:rPr lang="en-US" altLang="en-US" sz="1600">
                  <a:latin typeface="Roboto" panose="02000000000000000000" pitchFamily="2" charset="0"/>
                  <a:ea typeface="Roboto" panose="02000000000000000000" pitchFamily="2" charset="0"/>
                </a:rPr>
                <a:t>Correct</a:t>
              </a:r>
            </a:p>
          </p:txBody>
        </p:sp>
        <p:sp>
          <p:nvSpPr>
            <p:cNvPr id="92" name="Rectangle 87">
              <a:extLst>
                <a:ext uri="{FF2B5EF4-FFF2-40B4-BE49-F238E27FC236}">
                  <a16:creationId xmlns:a16="http://schemas.microsoft.com/office/drawing/2014/main" id="{FEDC9278-C044-0898-0663-F666C21826E0}"/>
                </a:ext>
              </a:extLst>
            </p:cNvPr>
            <p:cNvSpPr>
              <a:spLocks noChangeArrowheads="1"/>
            </p:cNvSpPr>
            <p:nvPr/>
          </p:nvSpPr>
          <p:spPr bwMode="auto">
            <a:xfrm>
              <a:off x="654050" y="5451475"/>
              <a:ext cx="10509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Aft>
                  <a:spcPct val="0"/>
                </a:spcAft>
                <a:buClrTx/>
                <a:buSzTx/>
                <a:buFontTx/>
                <a:buNone/>
              </a:pPr>
              <a:r>
                <a:rPr lang="en-US" altLang="en-US" sz="1600">
                  <a:latin typeface="Roboto" panose="02000000000000000000" pitchFamily="2" charset="0"/>
                  <a:ea typeface="Roboto" panose="02000000000000000000" pitchFamily="2" charset="0"/>
                </a:rPr>
                <a:t>Incorrect</a:t>
              </a:r>
            </a:p>
          </p:txBody>
        </p:sp>
        <p:sp>
          <p:nvSpPr>
            <p:cNvPr id="93" name="Rectangle 88">
              <a:extLst>
                <a:ext uri="{FF2B5EF4-FFF2-40B4-BE49-F238E27FC236}">
                  <a16:creationId xmlns:a16="http://schemas.microsoft.com/office/drawing/2014/main" id="{42A168C5-6A5B-9FB3-098B-E724D85CF954}"/>
                </a:ext>
              </a:extLst>
            </p:cNvPr>
            <p:cNvSpPr>
              <a:spLocks noChangeArrowheads="1"/>
            </p:cNvSpPr>
            <p:nvPr/>
          </p:nvSpPr>
          <p:spPr bwMode="auto">
            <a:xfrm>
              <a:off x="3251474" y="2033588"/>
              <a:ext cx="928140"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sz="1400">
                  <a:latin typeface="Roboto" panose="02000000000000000000" pitchFamily="2" charset="0"/>
                  <a:ea typeface="Roboto" panose="02000000000000000000" pitchFamily="2" charset="0"/>
                </a:rPr>
                <a:t>Locating </a:t>
              </a: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Angles</a:t>
              </a:r>
            </a:p>
          </p:txBody>
        </p:sp>
        <p:sp>
          <p:nvSpPr>
            <p:cNvPr id="94" name="Line 89">
              <a:extLst>
                <a:ext uri="{FF2B5EF4-FFF2-40B4-BE49-F238E27FC236}">
                  <a16:creationId xmlns:a16="http://schemas.microsoft.com/office/drawing/2014/main" id="{59EFA407-DB71-472B-AC4C-F00DED02AF64}"/>
                </a:ext>
              </a:extLst>
            </p:cNvPr>
            <p:cNvSpPr>
              <a:spLocks noChangeShapeType="1"/>
            </p:cNvSpPr>
            <p:nvPr/>
          </p:nvSpPr>
          <p:spPr bwMode="auto">
            <a:xfrm flipH="1" flipV="1">
              <a:off x="2790825" y="2197100"/>
              <a:ext cx="588963" cy="84138"/>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95" name="Line 90">
              <a:extLst>
                <a:ext uri="{FF2B5EF4-FFF2-40B4-BE49-F238E27FC236}">
                  <a16:creationId xmlns:a16="http://schemas.microsoft.com/office/drawing/2014/main" id="{85B1703E-DE6A-7672-C59E-A0F05B6CA173}"/>
                </a:ext>
              </a:extLst>
            </p:cNvPr>
            <p:cNvSpPr>
              <a:spLocks noChangeShapeType="1"/>
            </p:cNvSpPr>
            <p:nvPr/>
          </p:nvSpPr>
          <p:spPr bwMode="auto">
            <a:xfrm flipH="1">
              <a:off x="2917825" y="2279650"/>
              <a:ext cx="468313" cy="779463"/>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96" name="Rectangle 91">
              <a:extLst>
                <a:ext uri="{FF2B5EF4-FFF2-40B4-BE49-F238E27FC236}">
                  <a16:creationId xmlns:a16="http://schemas.microsoft.com/office/drawing/2014/main" id="{15ECEFE5-59E3-48C7-1BE2-47A10BDD99CB}"/>
                </a:ext>
              </a:extLst>
            </p:cNvPr>
            <p:cNvSpPr>
              <a:spLocks noChangeArrowheads="1"/>
            </p:cNvSpPr>
            <p:nvPr/>
          </p:nvSpPr>
          <p:spPr bwMode="auto">
            <a:xfrm>
              <a:off x="3257824" y="4332288"/>
              <a:ext cx="928140"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sz="1400">
                  <a:latin typeface="Roboto" panose="02000000000000000000" pitchFamily="2" charset="0"/>
                  <a:ea typeface="Roboto" panose="02000000000000000000" pitchFamily="2" charset="0"/>
                </a:rPr>
                <a:t>Locating </a:t>
              </a: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Angles</a:t>
              </a:r>
            </a:p>
          </p:txBody>
        </p:sp>
        <p:sp>
          <p:nvSpPr>
            <p:cNvPr id="97" name="Line 92">
              <a:extLst>
                <a:ext uri="{FF2B5EF4-FFF2-40B4-BE49-F238E27FC236}">
                  <a16:creationId xmlns:a16="http://schemas.microsoft.com/office/drawing/2014/main" id="{28306C3D-D44B-DF95-D9D4-BE9C91B03E1D}"/>
                </a:ext>
              </a:extLst>
            </p:cNvPr>
            <p:cNvSpPr>
              <a:spLocks noChangeShapeType="1"/>
            </p:cNvSpPr>
            <p:nvPr/>
          </p:nvSpPr>
          <p:spPr bwMode="auto">
            <a:xfrm flipH="1" flipV="1">
              <a:off x="2795588" y="4494213"/>
              <a:ext cx="588962" cy="87312"/>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98" name="Line 93">
              <a:extLst>
                <a:ext uri="{FF2B5EF4-FFF2-40B4-BE49-F238E27FC236}">
                  <a16:creationId xmlns:a16="http://schemas.microsoft.com/office/drawing/2014/main" id="{627855E7-30E1-C21F-36CD-485A0D9A3CB8}"/>
                </a:ext>
              </a:extLst>
            </p:cNvPr>
            <p:cNvSpPr>
              <a:spLocks noChangeShapeType="1"/>
            </p:cNvSpPr>
            <p:nvPr/>
          </p:nvSpPr>
          <p:spPr bwMode="auto">
            <a:xfrm flipH="1">
              <a:off x="2924175" y="4578350"/>
              <a:ext cx="468313" cy="779463"/>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99" name="Line 94">
              <a:extLst>
                <a:ext uri="{FF2B5EF4-FFF2-40B4-BE49-F238E27FC236}">
                  <a16:creationId xmlns:a16="http://schemas.microsoft.com/office/drawing/2014/main" id="{9C7D5F83-10A0-A76A-C1B6-4F7751693A90}"/>
                </a:ext>
              </a:extLst>
            </p:cNvPr>
            <p:cNvSpPr>
              <a:spLocks noChangeShapeType="1"/>
            </p:cNvSpPr>
            <p:nvPr/>
          </p:nvSpPr>
          <p:spPr bwMode="auto">
            <a:xfrm>
              <a:off x="5440363" y="2781300"/>
              <a:ext cx="0" cy="650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00" name="Line 95">
              <a:extLst>
                <a:ext uri="{FF2B5EF4-FFF2-40B4-BE49-F238E27FC236}">
                  <a16:creationId xmlns:a16="http://schemas.microsoft.com/office/drawing/2014/main" id="{064ACF0C-5561-3544-CDBD-C85940189A78}"/>
                </a:ext>
              </a:extLst>
            </p:cNvPr>
            <p:cNvSpPr>
              <a:spLocks noChangeShapeType="1"/>
            </p:cNvSpPr>
            <p:nvPr/>
          </p:nvSpPr>
          <p:spPr bwMode="auto">
            <a:xfrm>
              <a:off x="5437188" y="2852738"/>
              <a:ext cx="1095375" cy="14938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01" name="Line 96">
              <a:extLst>
                <a:ext uri="{FF2B5EF4-FFF2-40B4-BE49-F238E27FC236}">
                  <a16:creationId xmlns:a16="http://schemas.microsoft.com/office/drawing/2014/main" id="{2B5ADD2A-7AAF-178B-689A-DD583D777BC9}"/>
                </a:ext>
              </a:extLst>
            </p:cNvPr>
            <p:cNvSpPr>
              <a:spLocks noChangeShapeType="1"/>
            </p:cNvSpPr>
            <p:nvPr/>
          </p:nvSpPr>
          <p:spPr bwMode="auto">
            <a:xfrm flipV="1">
              <a:off x="6537325" y="3821113"/>
              <a:ext cx="1857375" cy="5302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02" name="Line 97">
              <a:extLst>
                <a:ext uri="{FF2B5EF4-FFF2-40B4-BE49-F238E27FC236}">
                  <a16:creationId xmlns:a16="http://schemas.microsoft.com/office/drawing/2014/main" id="{EAF4B1C6-A890-1F53-6DC1-CAE835EF842B}"/>
                </a:ext>
              </a:extLst>
            </p:cNvPr>
            <p:cNvSpPr>
              <a:spLocks noChangeShapeType="1"/>
            </p:cNvSpPr>
            <p:nvPr/>
          </p:nvSpPr>
          <p:spPr bwMode="auto">
            <a:xfrm>
              <a:off x="6537325" y="4257675"/>
              <a:ext cx="0" cy="968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03" name="Line 98">
              <a:extLst>
                <a:ext uri="{FF2B5EF4-FFF2-40B4-BE49-F238E27FC236}">
                  <a16:creationId xmlns:a16="http://schemas.microsoft.com/office/drawing/2014/main" id="{ACFAAD2B-9523-EFBA-07E1-F25688769244}"/>
                </a:ext>
              </a:extLst>
            </p:cNvPr>
            <p:cNvSpPr>
              <a:spLocks noChangeShapeType="1"/>
            </p:cNvSpPr>
            <p:nvPr/>
          </p:nvSpPr>
          <p:spPr bwMode="auto">
            <a:xfrm>
              <a:off x="8397875" y="3722688"/>
              <a:ext cx="0" cy="889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04" name="Line 99">
              <a:extLst>
                <a:ext uri="{FF2B5EF4-FFF2-40B4-BE49-F238E27FC236}">
                  <a16:creationId xmlns:a16="http://schemas.microsoft.com/office/drawing/2014/main" id="{E63C0CBA-5131-F1F7-8DE6-2178AC2D9C2A}"/>
                </a:ext>
              </a:extLst>
            </p:cNvPr>
            <p:cNvSpPr>
              <a:spLocks noChangeShapeType="1"/>
            </p:cNvSpPr>
            <p:nvPr/>
          </p:nvSpPr>
          <p:spPr bwMode="auto">
            <a:xfrm flipV="1">
              <a:off x="5440363" y="2317750"/>
              <a:ext cx="1684337" cy="4556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05" name="Line 100">
              <a:extLst>
                <a:ext uri="{FF2B5EF4-FFF2-40B4-BE49-F238E27FC236}">
                  <a16:creationId xmlns:a16="http://schemas.microsoft.com/office/drawing/2014/main" id="{97014643-5E58-E04E-DCB9-67B3D5F23BB9}"/>
                </a:ext>
              </a:extLst>
            </p:cNvPr>
            <p:cNvSpPr>
              <a:spLocks noChangeShapeType="1"/>
            </p:cNvSpPr>
            <p:nvPr/>
          </p:nvSpPr>
          <p:spPr bwMode="auto">
            <a:xfrm>
              <a:off x="7119938" y="2316163"/>
              <a:ext cx="1273175" cy="1400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06" name="Line 101">
              <a:extLst>
                <a:ext uri="{FF2B5EF4-FFF2-40B4-BE49-F238E27FC236}">
                  <a16:creationId xmlns:a16="http://schemas.microsoft.com/office/drawing/2014/main" id="{BB77D7D9-407A-44EA-E7E7-83EE2502873D}"/>
                </a:ext>
              </a:extLst>
            </p:cNvPr>
            <p:cNvSpPr>
              <a:spLocks noChangeShapeType="1"/>
            </p:cNvSpPr>
            <p:nvPr/>
          </p:nvSpPr>
          <p:spPr bwMode="auto">
            <a:xfrm flipH="1">
              <a:off x="6542088" y="3717925"/>
              <a:ext cx="1854200" cy="5381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07" name="Line 102">
              <a:extLst>
                <a:ext uri="{FF2B5EF4-FFF2-40B4-BE49-F238E27FC236}">
                  <a16:creationId xmlns:a16="http://schemas.microsoft.com/office/drawing/2014/main" id="{AA055B69-6825-4B43-9E0D-81D67126C2E0}"/>
                </a:ext>
              </a:extLst>
            </p:cNvPr>
            <p:cNvSpPr>
              <a:spLocks noChangeShapeType="1"/>
            </p:cNvSpPr>
            <p:nvPr/>
          </p:nvSpPr>
          <p:spPr bwMode="auto">
            <a:xfrm flipH="1" flipV="1">
              <a:off x="5435600" y="2771775"/>
              <a:ext cx="1100138" cy="14827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08" name="Line 103">
              <a:extLst>
                <a:ext uri="{FF2B5EF4-FFF2-40B4-BE49-F238E27FC236}">
                  <a16:creationId xmlns:a16="http://schemas.microsoft.com/office/drawing/2014/main" id="{4AFD0D5B-D4F9-7BCE-87B7-35F6AAFD875D}"/>
                </a:ext>
              </a:extLst>
            </p:cNvPr>
            <p:cNvSpPr>
              <a:spLocks noChangeShapeType="1"/>
            </p:cNvSpPr>
            <p:nvPr/>
          </p:nvSpPr>
          <p:spPr bwMode="auto">
            <a:xfrm>
              <a:off x="6084888" y="2832100"/>
              <a:ext cx="0" cy="3000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09" name="Line 104">
              <a:extLst>
                <a:ext uri="{FF2B5EF4-FFF2-40B4-BE49-F238E27FC236}">
                  <a16:creationId xmlns:a16="http://schemas.microsoft.com/office/drawing/2014/main" id="{0C76912E-41BE-D7B9-177B-D8DE03BB213C}"/>
                </a:ext>
              </a:extLst>
            </p:cNvPr>
            <p:cNvSpPr>
              <a:spLocks noChangeShapeType="1"/>
            </p:cNvSpPr>
            <p:nvPr/>
          </p:nvSpPr>
          <p:spPr bwMode="auto">
            <a:xfrm>
              <a:off x="6080125" y="3130550"/>
              <a:ext cx="520700" cy="6842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10" name="Line 105">
              <a:extLst>
                <a:ext uri="{FF2B5EF4-FFF2-40B4-BE49-F238E27FC236}">
                  <a16:creationId xmlns:a16="http://schemas.microsoft.com/office/drawing/2014/main" id="{97D40FE3-13DE-E5E9-0823-7232A7065D98}"/>
                </a:ext>
              </a:extLst>
            </p:cNvPr>
            <p:cNvSpPr>
              <a:spLocks noChangeShapeType="1"/>
            </p:cNvSpPr>
            <p:nvPr/>
          </p:nvSpPr>
          <p:spPr bwMode="auto">
            <a:xfrm flipV="1">
              <a:off x="7045325" y="3692525"/>
              <a:ext cx="819150" cy="2317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11" name="Line 106">
              <a:extLst>
                <a:ext uri="{FF2B5EF4-FFF2-40B4-BE49-F238E27FC236}">
                  <a16:creationId xmlns:a16="http://schemas.microsoft.com/office/drawing/2014/main" id="{5A6F629B-33BC-FFD9-A9F2-0F14F822B98D}"/>
                </a:ext>
              </a:extLst>
            </p:cNvPr>
            <p:cNvSpPr>
              <a:spLocks noChangeShapeType="1"/>
            </p:cNvSpPr>
            <p:nvPr/>
          </p:nvSpPr>
          <p:spPr bwMode="auto">
            <a:xfrm flipV="1">
              <a:off x="7866063" y="3390900"/>
              <a:ext cx="0" cy="3000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12" name="Line 107">
              <a:extLst>
                <a:ext uri="{FF2B5EF4-FFF2-40B4-BE49-F238E27FC236}">
                  <a16:creationId xmlns:a16="http://schemas.microsoft.com/office/drawing/2014/main" id="{FD80ADC3-A4DE-5FDF-FF8B-9617C88169E4}"/>
                </a:ext>
              </a:extLst>
            </p:cNvPr>
            <p:cNvSpPr>
              <a:spLocks noChangeShapeType="1"/>
            </p:cNvSpPr>
            <p:nvPr/>
          </p:nvSpPr>
          <p:spPr bwMode="auto">
            <a:xfrm flipH="1">
              <a:off x="7042150" y="3392488"/>
              <a:ext cx="820738" cy="228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13" name="Line 108">
              <a:extLst>
                <a:ext uri="{FF2B5EF4-FFF2-40B4-BE49-F238E27FC236}">
                  <a16:creationId xmlns:a16="http://schemas.microsoft.com/office/drawing/2014/main" id="{3C9FCE2E-58D5-2AEC-4316-49566989A33A}"/>
                </a:ext>
              </a:extLst>
            </p:cNvPr>
            <p:cNvSpPr>
              <a:spLocks noChangeShapeType="1"/>
            </p:cNvSpPr>
            <p:nvPr/>
          </p:nvSpPr>
          <p:spPr bwMode="auto">
            <a:xfrm flipV="1">
              <a:off x="7045325" y="3616325"/>
              <a:ext cx="0" cy="3063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14" name="Line 109">
              <a:extLst>
                <a:ext uri="{FF2B5EF4-FFF2-40B4-BE49-F238E27FC236}">
                  <a16:creationId xmlns:a16="http://schemas.microsoft.com/office/drawing/2014/main" id="{43EE9E99-8F3E-D6C9-AB37-F9BD10DA9733}"/>
                </a:ext>
              </a:extLst>
            </p:cNvPr>
            <p:cNvSpPr>
              <a:spLocks noChangeShapeType="1"/>
            </p:cNvSpPr>
            <p:nvPr/>
          </p:nvSpPr>
          <p:spPr bwMode="auto">
            <a:xfrm>
              <a:off x="6089650" y="2836863"/>
              <a:ext cx="506413" cy="6762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15" name="Line 110">
              <a:extLst>
                <a:ext uri="{FF2B5EF4-FFF2-40B4-BE49-F238E27FC236}">
                  <a16:creationId xmlns:a16="http://schemas.microsoft.com/office/drawing/2014/main" id="{2EE4A24B-E4CE-C0DE-7714-97EF3A3DDFBB}"/>
                </a:ext>
              </a:extLst>
            </p:cNvPr>
            <p:cNvSpPr>
              <a:spLocks noChangeShapeType="1"/>
            </p:cNvSpPr>
            <p:nvPr/>
          </p:nvSpPr>
          <p:spPr bwMode="auto">
            <a:xfrm flipV="1">
              <a:off x="6086475" y="2546350"/>
              <a:ext cx="1000125" cy="2809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16" name="Line 111">
              <a:extLst>
                <a:ext uri="{FF2B5EF4-FFF2-40B4-BE49-F238E27FC236}">
                  <a16:creationId xmlns:a16="http://schemas.microsoft.com/office/drawing/2014/main" id="{45EDB2C3-1C2F-AF70-AF49-9E49122E1DB4}"/>
                </a:ext>
              </a:extLst>
            </p:cNvPr>
            <p:cNvSpPr>
              <a:spLocks noChangeShapeType="1"/>
            </p:cNvSpPr>
            <p:nvPr/>
          </p:nvSpPr>
          <p:spPr bwMode="auto">
            <a:xfrm>
              <a:off x="7088188" y="2543175"/>
              <a:ext cx="777875" cy="8477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nvGrpSpPr>
            <p:cNvPr id="117" name="Group 112">
              <a:extLst>
                <a:ext uri="{FF2B5EF4-FFF2-40B4-BE49-F238E27FC236}">
                  <a16:creationId xmlns:a16="http://schemas.microsoft.com/office/drawing/2014/main" id="{C9D29172-87F7-950E-933F-7BEF4A3CA141}"/>
                </a:ext>
              </a:extLst>
            </p:cNvPr>
            <p:cNvGrpSpPr>
              <a:grpSpLocks/>
            </p:cNvGrpSpPr>
            <p:nvPr/>
          </p:nvGrpSpPr>
          <p:grpSpPr bwMode="auto">
            <a:xfrm>
              <a:off x="7366000" y="3670300"/>
              <a:ext cx="296863" cy="255588"/>
              <a:chOff x="4236" y="2352"/>
              <a:chExt cx="178" cy="172"/>
            </a:xfrm>
          </p:grpSpPr>
          <p:sp>
            <p:nvSpPr>
              <p:cNvPr id="118" name="Line 113">
                <a:extLst>
                  <a:ext uri="{FF2B5EF4-FFF2-40B4-BE49-F238E27FC236}">
                    <a16:creationId xmlns:a16="http://schemas.microsoft.com/office/drawing/2014/main" id="{CC2A9175-B365-AAA8-FF64-018A95117D06}"/>
                  </a:ext>
                </a:extLst>
              </p:cNvPr>
              <p:cNvSpPr>
                <a:spLocks noChangeShapeType="1"/>
              </p:cNvSpPr>
              <p:nvPr/>
            </p:nvSpPr>
            <p:spPr bwMode="auto">
              <a:xfrm flipV="1">
                <a:off x="4238" y="2383"/>
                <a:ext cx="0" cy="7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19" name="Line 114">
                <a:extLst>
                  <a:ext uri="{FF2B5EF4-FFF2-40B4-BE49-F238E27FC236}">
                    <a16:creationId xmlns:a16="http://schemas.microsoft.com/office/drawing/2014/main" id="{62FB4AC1-FAC6-AEA3-B9E7-2D5341EA30B9}"/>
                  </a:ext>
                </a:extLst>
              </p:cNvPr>
              <p:cNvSpPr>
                <a:spLocks noChangeShapeType="1"/>
              </p:cNvSpPr>
              <p:nvPr/>
            </p:nvSpPr>
            <p:spPr bwMode="auto">
              <a:xfrm flipV="1">
                <a:off x="4236" y="2354"/>
                <a:ext cx="120" cy="3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0" name="Line 115">
                <a:extLst>
                  <a:ext uri="{FF2B5EF4-FFF2-40B4-BE49-F238E27FC236}">
                    <a16:creationId xmlns:a16="http://schemas.microsoft.com/office/drawing/2014/main" id="{753DA702-5718-9E86-57C5-8FF5D3C2F8B6}"/>
                  </a:ext>
                </a:extLst>
              </p:cNvPr>
              <p:cNvSpPr>
                <a:spLocks noChangeShapeType="1"/>
              </p:cNvSpPr>
              <p:nvPr/>
            </p:nvSpPr>
            <p:spPr bwMode="auto">
              <a:xfrm>
                <a:off x="4359" y="2352"/>
                <a:ext cx="0" cy="6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nvGrpSpPr>
              <p:cNvPr id="121" name="Group 116">
                <a:extLst>
                  <a:ext uri="{FF2B5EF4-FFF2-40B4-BE49-F238E27FC236}">
                    <a16:creationId xmlns:a16="http://schemas.microsoft.com/office/drawing/2014/main" id="{0D23E3D2-50BF-A51F-296C-966E5B464BFD}"/>
                  </a:ext>
                </a:extLst>
              </p:cNvPr>
              <p:cNvGrpSpPr>
                <a:grpSpLocks/>
              </p:cNvGrpSpPr>
              <p:nvPr/>
            </p:nvGrpSpPr>
            <p:grpSpPr bwMode="auto">
              <a:xfrm>
                <a:off x="4239" y="2423"/>
                <a:ext cx="175" cy="101"/>
                <a:chOff x="4239" y="2423"/>
                <a:chExt cx="175" cy="101"/>
              </a:xfrm>
            </p:grpSpPr>
            <p:sp>
              <p:nvSpPr>
                <p:cNvPr id="122" name="Line 117">
                  <a:extLst>
                    <a:ext uri="{FF2B5EF4-FFF2-40B4-BE49-F238E27FC236}">
                      <a16:creationId xmlns:a16="http://schemas.microsoft.com/office/drawing/2014/main" id="{E3956749-FCF0-9B08-A62E-A6D6CB11B7C5}"/>
                    </a:ext>
                  </a:extLst>
                </p:cNvPr>
                <p:cNvSpPr>
                  <a:spLocks noChangeShapeType="1"/>
                </p:cNvSpPr>
                <p:nvPr/>
              </p:nvSpPr>
              <p:spPr bwMode="auto">
                <a:xfrm>
                  <a:off x="4239" y="2464"/>
                  <a:ext cx="58"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3" name="Line 118">
                  <a:extLst>
                    <a:ext uri="{FF2B5EF4-FFF2-40B4-BE49-F238E27FC236}">
                      <a16:creationId xmlns:a16="http://schemas.microsoft.com/office/drawing/2014/main" id="{B948EB99-450B-7593-1384-E820C236D93A}"/>
                    </a:ext>
                  </a:extLst>
                </p:cNvPr>
                <p:cNvSpPr>
                  <a:spLocks noChangeShapeType="1"/>
                </p:cNvSpPr>
                <p:nvPr/>
              </p:nvSpPr>
              <p:spPr bwMode="auto">
                <a:xfrm flipV="1">
                  <a:off x="4298" y="2484"/>
                  <a:ext cx="111" cy="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4" name="Line 119">
                  <a:extLst>
                    <a:ext uri="{FF2B5EF4-FFF2-40B4-BE49-F238E27FC236}">
                      <a16:creationId xmlns:a16="http://schemas.microsoft.com/office/drawing/2014/main" id="{480402E3-8170-6FAE-A85C-6D697CBE07A4}"/>
                    </a:ext>
                  </a:extLst>
                </p:cNvPr>
                <p:cNvSpPr>
                  <a:spLocks noChangeShapeType="1"/>
                </p:cNvSpPr>
                <p:nvPr/>
              </p:nvSpPr>
              <p:spPr bwMode="auto">
                <a:xfrm>
                  <a:off x="4358" y="2423"/>
                  <a:ext cx="56" cy="5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grpSp>
        <p:grpSp>
          <p:nvGrpSpPr>
            <p:cNvPr id="125" name="Group 120">
              <a:extLst>
                <a:ext uri="{FF2B5EF4-FFF2-40B4-BE49-F238E27FC236}">
                  <a16:creationId xmlns:a16="http://schemas.microsoft.com/office/drawing/2014/main" id="{6847F897-6D86-64E6-8F41-FD038FBCF11F}"/>
                </a:ext>
              </a:extLst>
            </p:cNvPr>
            <p:cNvGrpSpPr>
              <a:grpSpLocks/>
            </p:cNvGrpSpPr>
            <p:nvPr/>
          </p:nvGrpSpPr>
          <p:grpSpPr bwMode="auto">
            <a:xfrm>
              <a:off x="6445250" y="2347913"/>
              <a:ext cx="1004888" cy="582612"/>
              <a:chOff x="3685" y="1463"/>
              <a:chExt cx="601" cy="392"/>
            </a:xfrm>
          </p:grpSpPr>
          <p:sp>
            <p:nvSpPr>
              <p:cNvPr id="126" name="Line 121">
                <a:extLst>
                  <a:ext uri="{FF2B5EF4-FFF2-40B4-BE49-F238E27FC236}">
                    <a16:creationId xmlns:a16="http://schemas.microsoft.com/office/drawing/2014/main" id="{A83593C4-EAD1-5244-6306-9E3CD6B88431}"/>
                  </a:ext>
                </a:extLst>
              </p:cNvPr>
              <p:cNvSpPr>
                <a:spLocks noChangeShapeType="1"/>
              </p:cNvSpPr>
              <p:nvPr/>
            </p:nvSpPr>
            <p:spPr bwMode="auto">
              <a:xfrm flipV="1">
                <a:off x="4067" y="1499"/>
                <a:ext cx="0" cy="9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7" name="Line 122">
                <a:extLst>
                  <a:ext uri="{FF2B5EF4-FFF2-40B4-BE49-F238E27FC236}">
                    <a16:creationId xmlns:a16="http://schemas.microsoft.com/office/drawing/2014/main" id="{8163A17A-075F-0016-1836-53BA604B12C4}"/>
                  </a:ext>
                </a:extLst>
              </p:cNvPr>
              <p:cNvSpPr>
                <a:spLocks noChangeShapeType="1"/>
              </p:cNvSpPr>
              <p:nvPr/>
            </p:nvSpPr>
            <p:spPr bwMode="auto">
              <a:xfrm flipV="1">
                <a:off x="3704" y="1615"/>
                <a:ext cx="0" cy="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8" name="Line 123">
                <a:extLst>
                  <a:ext uri="{FF2B5EF4-FFF2-40B4-BE49-F238E27FC236}">
                    <a16:creationId xmlns:a16="http://schemas.microsoft.com/office/drawing/2014/main" id="{3FDE98C6-57A5-4D8F-95CE-345CD70DEE00}"/>
                  </a:ext>
                </a:extLst>
              </p:cNvPr>
              <p:cNvSpPr>
                <a:spLocks noChangeShapeType="1"/>
              </p:cNvSpPr>
              <p:nvPr/>
            </p:nvSpPr>
            <p:spPr bwMode="auto">
              <a:xfrm flipV="1">
                <a:off x="4264" y="1725"/>
                <a:ext cx="0" cy="10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9" name="Line 124">
                <a:extLst>
                  <a:ext uri="{FF2B5EF4-FFF2-40B4-BE49-F238E27FC236}">
                    <a16:creationId xmlns:a16="http://schemas.microsoft.com/office/drawing/2014/main" id="{DC81C71C-3321-D6B4-6267-D8C4557BB5D9}"/>
                  </a:ext>
                </a:extLst>
              </p:cNvPr>
              <p:cNvSpPr>
                <a:spLocks noChangeShapeType="1"/>
              </p:cNvSpPr>
              <p:nvPr/>
            </p:nvSpPr>
            <p:spPr bwMode="auto">
              <a:xfrm flipV="1">
                <a:off x="3704" y="1500"/>
                <a:ext cx="362" cy="11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30" name="Line 125">
                <a:extLst>
                  <a:ext uri="{FF2B5EF4-FFF2-40B4-BE49-F238E27FC236}">
                    <a16:creationId xmlns:a16="http://schemas.microsoft.com/office/drawing/2014/main" id="{0073F52B-ACF2-FA53-6FDA-DC9695223300}"/>
                  </a:ext>
                </a:extLst>
              </p:cNvPr>
              <p:cNvSpPr>
                <a:spLocks noChangeShapeType="1"/>
              </p:cNvSpPr>
              <p:nvPr/>
            </p:nvSpPr>
            <p:spPr bwMode="auto">
              <a:xfrm>
                <a:off x="4066" y="1495"/>
                <a:ext cx="197" cy="2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31" name="Line 126">
                <a:extLst>
                  <a:ext uri="{FF2B5EF4-FFF2-40B4-BE49-F238E27FC236}">
                    <a16:creationId xmlns:a16="http://schemas.microsoft.com/office/drawing/2014/main" id="{AE82DEBA-82AB-1843-3D42-B4563F96687D}"/>
                  </a:ext>
                </a:extLst>
              </p:cNvPr>
              <p:cNvSpPr>
                <a:spLocks noChangeShapeType="1"/>
              </p:cNvSpPr>
              <p:nvPr/>
            </p:nvSpPr>
            <p:spPr bwMode="auto">
              <a:xfrm flipV="1">
                <a:off x="3687" y="1469"/>
                <a:ext cx="386" cy="1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32" name="Line 127">
                <a:extLst>
                  <a:ext uri="{FF2B5EF4-FFF2-40B4-BE49-F238E27FC236}">
                    <a16:creationId xmlns:a16="http://schemas.microsoft.com/office/drawing/2014/main" id="{7A2EBC4F-4974-75DA-7431-587DFAC10743}"/>
                  </a:ext>
                </a:extLst>
              </p:cNvPr>
              <p:cNvSpPr>
                <a:spLocks noChangeShapeType="1"/>
              </p:cNvSpPr>
              <p:nvPr/>
            </p:nvSpPr>
            <p:spPr bwMode="auto">
              <a:xfrm>
                <a:off x="4073" y="1463"/>
                <a:ext cx="213" cy="25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33" name="Line 128">
                <a:extLst>
                  <a:ext uri="{FF2B5EF4-FFF2-40B4-BE49-F238E27FC236}">
                    <a16:creationId xmlns:a16="http://schemas.microsoft.com/office/drawing/2014/main" id="{1AF8C06A-172A-F2D7-09E5-0CCEF291552A}"/>
                  </a:ext>
                </a:extLst>
              </p:cNvPr>
              <p:cNvSpPr>
                <a:spLocks noChangeShapeType="1"/>
              </p:cNvSpPr>
              <p:nvPr/>
            </p:nvSpPr>
            <p:spPr bwMode="auto">
              <a:xfrm flipH="1">
                <a:off x="4265" y="1714"/>
                <a:ext cx="21" cy="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34" name="Line 129">
                <a:extLst>
                  <a:ext uri="{FF2B5EF4-FFF2-40B4-BE49-F238E27FC236}">
                    <a16:creationId xmlns:a16="http://schemas.microsoft.com/office/drawing/2014/main" id="{24126102-5D0B-A3B2-F387-D2844F80D931}"/>
                  </a:ext>
                </a:extLst>
              </p:cNvPr>
              <p:cNvSpPr>
                <a:spLocks noChangeShapeType="1"/>
              </p:cNvSpPr>
              <p:nvPr/>
            </p:nvSpPr>
            <p:spPr bwMode="auto">
              <a:xfrm>
                <a:off x="4283" y="1717"/>
                <a:ext cx="0" cy="1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35" name="Line 130">
                <a:extLst>
                  <a:ext uri="{FF2B5EF4-FFF2-40B4-BE49-F238E27FC236}">
                    <a16:creationId xmlns:a16="http://schemas.microsoft.com/office/drawing/2014/main" id="{0FEB651A-AAC8-2A77-A70C-96E2B0C237F1}"/>
                  </a:ext>
                </a:extLst>
              </p:cNvPr>
              <p:cNvSpPr>
                <a:spLocks noChangeShapeType="1"/>
              </p:cNvSpPr>
              <p:nvPr/>
            </p:nvSpPr>
            <p:spPr bwMode="auto">
              <a:xfrm>
                <a:off x="3687" y="1591"/>
                <a:ext cx="0" cy="12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36" name="Line 131">
                <a:extLst>
                  <a:ext uri="{FF2B5EF4-FFF2-40B4-BE49-F238E27FC236}">
                    <a16:creationId xmlns:a16="http://schemas.microsoft.com/office/drawing/2014/main" id="{97CE8CAE-A108-C9B3-A96B-464E4EC0F877}"/>
                  </a:ext>
                </a:extLst>
              </p:cNvPr>
              <p:cNvSpPr>
                <a:spLocks noChangeShapeType="1"/>
              </p:cNvSpPr>
              <p:nvPr/>
            </p:nvSpPr>
            <p:spPr bwMode="auto">
              <a:xfrm flipH="1" flipV="1">
                <a:off x="3685" y="1597"/>
                <a:ext cx="18" cy="1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sp>
          <p:nvSpPr>
            <p:cNvPr id="137" name="Line 132">
              <a:extLst>
                <a:ext uri="{FF2B5EF4-FFF2-40B4-BE49-F238E27FC236}">
                  <a16:creationId xmlns:a16="http://schemas.microsoft.com/office/drawing/2014/main" id="{52666F78-FFF1-D237-0FFA-D315E818667C}"/>
                </a:ext>
              </a:extLst>
            </p:cNvPr>
            <p:cNvSpPr>
              <a:spLocks noChangeShapeType="1"/>
            </p:cNvSpPr>
            <p:nvPr/>
          </p:nvSpPr>
          <p:spPr bwMode="auto">
            <a:xfrm>
              <a:off x="6605588" y="3519488"/>
              <a:ext cx="442912" cy="101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38" name="Line 133">
              <a:extLst>
                <a:ext uri="{FF2B5EF4-FFF2-40B4-BE49-F238E27FC236}">
                  <a16:creationId xmlns:a16="http://schemas.microsoft.com/office/drawing/2014/main" id="{ACC55046-FC7C-0443-BC9C-C335A167DDB1}"/>
                </a:ext>
              </a:extLst>
            </p:cNvPr>
            <p:cNvSpPr>
              <a:spLocks noChangeShapeType="1"/>
            </p:cNvSpPr>
            <p:nvPr/>
          </p:nvSpPr>
          <p:spPr bwMode="auto">
            <a:xfrm flipV="1">
              <a:off x="6600825" y="3511550"/>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39" name="Line 134">
              <a:extLst>
                <a:ext uri="{FF2B5EF4-FFF2-40B4-BE49-F238E27FC236}">
                  <a16:creationId xmlns:a16="http://schemas.microsoft.com/office/drawing/2014/main" id="{302A13D2-981B-9166-29D0-80F0F0A90478}"/>
                </a:ext>
              </a:extLst>
            </p:cNvPr>
            <p:cNvSpPr>
              <a:spLocks noChangeShapeType="1"/>
            </p:cNvSpPr>
            <p:nvPr/>
          </p:nvSpPr>
          <p:spPr bwMode="auto">
            <a:xfrm>
              <a:off x="6597650" y="3824288"/>
              <a:ext cx="442913" cy="101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40" name="Rectangle 135">
              <a:extLst>
                <a:ext uri="{FF2B5EF4-FFF2-40B4-BE49-F238E27FC236}">
                  <a16:creationId xmlns:a16="http://schemas.microsoft.com/office/drawing/2014/main" id="{C42A5750-8A2F-CB41-7278-0E05C325FCD6}"/>
                </a:ext>
              </a:extLst>
            </p:cNvPr>
            <p:cNvSpPr>
              <a:spLocks noChangeArrowheads="1"/>
            </p:cNvSpPr>
            <p:nvPr/>
          </p:nvSpPr>
          <p:spPr bwMode="auto">
            <a:xfrm>
              <a:off x="7793311" y="2330450"/>
              <a:ext cx="928140"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sz="1400">
                  <a:latin typeface="Roboto" panose="02000000000000000000" pitchFamily="2" charset="0"/>
                  <a:ea typeface="Roboto" panose="02000000000000000000" pitchFamily="2" charset="0"/>
                </a:rPr>
                <a:t>Locating </a:t>
              </a: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Angles</a:t>
              </a:r>
            </a:p>
          </p:txBody>
        </p:sp>
        <p:sp>
          <p:nvSpPr>
            <p:cNvPr id="141" name="Line 136">
              <a:extLst>
                <a:ext uri="{FF2B5EF4-FFF2-40B4-BE49-F238E27FC236}">
                  <a16:creationId xmlns:a16="http://schemas.microsoft.com/office/drawing/2014/main" id="{04A9B21E-F6C0-6695-7280-8B7994E1419E}"/>
                </a:ext>
              </a:extLst>
            </p:cNvPr>
            <p:cNvSpPr>
              <a:spLocks noChangeShapeType="1"/>
            </p:cNvSpPr>
            <p:nvPr/>
          </p:nvSpPr>
          <p:spPr bwMode="auto">
            <a:xfrm flipH="1" flipV="1">
              <a:off x="7305675" y="2487613"/>
              <a:ext cx="593725" cy="87312"/>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42" name="Line 137">
              <a:extLst>
                <a:ext uri="{FF2B5EF4-FFF2-40B4-BE49-F238E27FC236}">
                  <a16:creationId xmlns:a16="http://schemas.microsoft.com/office/drawing/2014/main" id="{9F7E2F29-B3A9-F1AF-2375-AC3483170F3B}"/>
                </a:ext>
              </a:extLst>
            </p:cNvPr>
            <p:cNvSpPr>
              <a:spLocks noChangeShapeType="1"/>
            </p:cNvSpPr>
            <p:nvPr/>
          </p:nvSpPr>
          <p:spPr bwMode="auto">
            <a:xfrm flipH="1">
              <a:off x="7491413" y="2570163"/>
              <a:ext cx="411162" cy="1065212"/>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nvGrpSpPr>
            <p:cNvPr id="143" name="Group 138">
              <a:extLst>
                <a:ext uri="{FF2B5EF4-FFF2-40B4-BE49-F238E27FC236}">
                  <a16:creationId xmlns:a16="http://schemas.microsoft.com/office/drawing/2014/main" id="{8CB113ED-1A3F-1CD2-8D9E-A37E7249CDA0}"/>
                </a:ext>
              </a:extLst>
            </p:cNvPr>
            <p:cNvGrpSpPr>
              <a:grpSpLocks/>
            </p:cNvGrpSpPr>
            <p:nvPr/>
          </p:nvGrpSpPr>
          <p:grpSpPr bwMode="auto">
            <a:xfrm>
              <a:off x="6715125" y="3622675"/>
              <a:ext cx="146050" cy="311150"/>
              <a:chOff x="3847" y="2320"/>
              <a:chExt cx="87" cy="209"/>
            </a:xfrm>
          </p:grpSpPr>
          <p:sp>
            <p:nvSpPr>
              <p:cNvPr id="144" name="Rectangle 139">
                <a:extLst>
                  <a:ext uri="{FF2B5EF4-FFF2-40B4-BE49-F238E27FC236}">
                    <a16:creationId xmlns:a16="http://schemas.microsoft.com/office/drawing/2014/main" id="{65252CDF-3B4E-4603-5A39-3CF7C29AC232}"/>
                  </a:ext>
                </a:extLst>
              </p:cNvPr>
              <p:cNvSpPr>
                <a:spLocks noChangeArrowheads="1"/>
              </p:cNvSpPr>
              <p:nvPr/>
            </p:nvSpPr>
            <p:spPr bwMode="auto">
              <a:xfrm>
                <a:off x="3849" y="2358"/>
                <a:ext cx="83" cy="147"/>
              </a:xfrm>
              <a:prstGeom prst="rect">
                <a:avLst/>
              </a:prstGeom>
              <a:solidFill>
                <a:schemeClr val="tx1"/>
              </a:solidFill>
              <a:ln w="12700">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45" name="Oval 140">
                <a:extLst>
                  <a:ext uri="{FF2B5EF4-FFF2-40B4-BE49-F238E27FC236}">
                    <a16:creationId xmlns:a16="http://schemas.microsoft.com/office/drawing/2014/main" id="{B85F681B-B029-F069-1BE9-C7A36791D3A3}"/>
                  </a:ext>
                </a:extLst>
              </p:cNvPr>
              <p:cNvSpPr>
                <a:spLocks noChangeArrowheads="1"/>
              </p:cNvSpPr>
              <p:nvPr/>
            </p:nvSpPr>
            <p:spPr bwMode="auto">
              <a:xfrm>
                <a:off x="3847" y="2320"/>
                <a:ext cx="87" cy="51"/>
              </a:xfrm>
              <a:prstGeom prst="ellipse">
                <a:avLst/>
              </a:prstGeom>
              <a:solidFill>
                <a:schemeClr val="accent1"/>
              </a:solidFill>
              <a:ln w="12700">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46" name="Oval 141">
                <a:extLst>
                  <a:ext uri="{FF2B5EF4-FFF2-40B4-BE49-F238E27FC236}">
                    <a16:creationId xmlns:a16="http://schemas.microsoft.com/office/drawing/2014/main" id="{866199B3-3E98-0916-887A-EFEAA5EE6705}"/>
                  </a:ext>
                </a:extLst>
              </p:cNvPr>
              <p:cNvSpPr>
                <a:spLocks noChangeArrowheads="1"/>
              </p:cNvSpPr>
              <p:nvPr/>
            </p:nvSpPr>
            <p:spPr bwMode="auto">
              <a:xfrm>
                <a:off x="3847" y="2478"/>
                <a:ext cx="87" cy="51"/>
              </a:xfrm>
              <a:prstGeom prst="ellipse">
                <a:avLst/>
              </a:prstGeom>
              <a:solidFill>
                <a:schemeClr val="tx1"/>
              </a:solidFill>
              <a:ln w="12700">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sp>
          <p:nvSpPr>
            <p:cNvPr id="147" name="Rectangle 142">
              <a:extLst>
                <a:ext uri="{FF2B5EF4-FFF2-40B4-BE49-F238E27FC236}">
                  <a16:creationId xmlns:a16="http://schemas.microsoft.com/office/drawing/2014/main" id="{76FB9939-722C-129C-8E77-E4F366F85930}"/>
                </a:ext>
              </a:extLst>
            </p:cNvPr>
            <p:cNvSpPr>
              <a:spLocks noChangeArrowheads="1"/>
            </p:cNvSpPr>
            <p:nvPr/>
          </p:nvSpPr>
          <p:spPr bwMode="auto">
            <a:xfrm>
              <a:off x="7116080" y="4330700"/>
              <a:ext cx="961803"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sz="1400">
                  <a:latin typeface="Roboto" panose="02000000000000000000" pitchFamily="2" charset="0"/>
                  <a:ea typeface="Roboto" panose="02000000000000000000" pitchFamily="2" charset="0"/>
                </a:rPr>
                <a:t>Guide Pin</a:t>
              </a:r>
            </a:p>
          </p:txBody>
        </p:sp>
        <p:sp>
          <p:nvSpPr>
            <p:cNvPr id="148" name="Line 143">
              <a:extLst>
                <a:ext uri="{FF2B5EF4-FFF2-40B4-BE49-F238E27FC236}">
                  <a16:creationId xmlns:a16="http://schemas.microsoft.com/office/drawing/2014/main" id="{C67560E5-BF15-F011-F49D-D9A6037AA917}"/>
                </a:ext>
              </a:extLst>
            </p:cNvPr>
            <p:cNvSpPr>
              <a:spLocks noChangeShapeType="1"/>
            </p:cNvSpPr>
            <p:nvPr/>
          </p:nvSpPr>
          <p:spPr bwMode="auto">
            <a:xfrm flipH="1" flipV="1">
              <a:off x="6931025" y="3990975"/>
              <a:ext cx="527050" cy="347663"/>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49" name="Rectangle 146">
              <a:extLst>
                <a:ext uri="{FF2B5EF4-FFF2-40B4-BE49-F238E27FC236}">
                  <a16:creationId xmlns:a16="http://schemas.microsoft.com/office/drawing/2014/main" id="{21ED7027-2302-BB7B-3DFC-F2C9D4815CBC}"/>
                </a:ext>
              </a:extLst>
            </p:cNvPr>
            <p:cNvSpPr>
              <a:spLocks noChangeArrowheads="1"/>
            </p:cNvSpPr>
            <p:nvPr/>
          </p:nvSpPr>
          <p:spPr bwMode="auto">
            <a:xfrm>
              <a:off x="231775" y="1404938"/>
              <a:ext cx="4264025"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20000"/>
                </a:spcBef>
                <a:spcAft>
                  <a:spcPct val="0"/>
                </a:spcAft>
                <a:buClrTx/>
                <a:buSzTx/>
                <a:buFontTx/>
                <a:buNone/>
              </a:pPr>
              <a:r>
                <a:rPr lang="en-US" altLang="en-US" sz="1800">
                  <a:latin typeface="Roboto" panose="02000000000000000000" pitchFamily="2" charset="0"/>
                  <a:ea typeface="Roboto" panose="02000000000000000000" pitchFamily="2" charset="0"/>
                </a:rPr>
                <a:t>Before Poka-yoke</a:t>
              </a:r>
            </a:p>
          </p:txBody>
        </p:sp>
        <p:sp>
          <p:nvSpPr>
            <p:cNvPr id="150" name="Rectangle 147">
              <a:extLst>
                <a:ext uri="{FF2B5EF4-FFF2-40B4-BE49-F238E27FC236}">
                  <a16:creationId xmlns:a16="http://schemas.microsoft.com/office/drawing/2014/main" id="{093E9283-5C02-73C4-4629-E7E641AAAA62}"/>
                </a:ext>
              </a:extLst>
            </p:cNvPr>
            <p:cNvSpPr>
              <a:spLocks noChangeArrowheads="1"/>
            </p:cNvSpPr>
            <p:nvPr/>
          </p:nvSpPr>
          <p:spPr bwMode="auto">
            <a:xfrm>
              <a:off x="4660900" y="1404938"/>
              <a:ext cx="44831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20000"/>
                </a:spcBef>
                <a:spcAft>
                  <a:spcPct val="0"/>
                </a:spcAft>
                <a:buClrTx/>
                <a:buSzTx/>
                <a:buFontTx/>
                <a:buNone/>
              </a:pPr>
              <a:r>
                <a:rPr lang="en-US" altLang="en-US" sz="1800">
                  <a:latin typeface="Roboto" panose="02000000000000000000" pitchFamily="2" charset="0"/>
                  <a:ea typeface="Roboto" panose="02000000000000000000" pitchFamily="2" charset="0"/>
                </a:rPr>
                <a:t>After Poka-yoke</a:t>
              </a:r>
            </a:p>
          </p:txBody>
        </p:sp>
      </p:grpSp>
    </p:spTree>
    <p:extLst>
      <p:ext uri="{BB962C8B-B14F-4D97-AF65-F5344CB8AC3E}">
        <p14:creationId xmlns:p14="http://schemas.microsoft.com/office/powerpoint/2010/main" val="40146513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541B5-6FCF-44EB-7F42-1799FCC1F219}"/>
              </a:ext>
            </a:extLst>
          </p:cNvPr>
          <p:cNvSpPr>
            <a:spLocks noGrp="1"/>
          </p:cNvSpPr>
          <p:nvPr>
            <p:ph type="title"/>
          </p:nvPr>
        </p:nvSpPr>
        <p:spPr/>
        <p:txBody>
          <a:bodyPr/>
          <a:lstStyle/>
          <a:p>
            <a:r>
              <a:rPr lang="en-US" dirty="0"/>
              <a:t>Template</a:t>
            </a:r>
          </a:p>
        </p:txBody>
      </p:sp>
      <p:grpSp>
        <p:nvGrpSpPr>
          <p:cNvPr id="3" name="Group 2">
            <a:extLst>
              <a:ext uri="{FF2B5EF4-FFF2-40B4-BE49-F238E27FC236}">
                <a16:creationId xmlns:a16="http://schemas.microsoft.com/office/drawing/2014/main" id="{D9E84803-CAE1-A3B5-9A81-D9A216B7FD44}"/>
              </a:ext>
            </a:extLst>
          </p:cNvPr>
          <p:cNvGrpSpPr/>
          <p:nvPr/>
        </p:nvGrpSpPr>
        <p:grpSpPr>
          <a:xfrm>
            <a:off x="838200" y="297639"/>
            <a:ext cx="3310890" cy="307138"/>
            <a:chOff x="838200" y="297639"/>
            <a:chExt cx="3310890" cy="307138"/>
          </a:xfrm>
        </p:grpSpPr>
        <p:grpSp>
          <p:nvGrpSpPr>
            <p:cNvPr id="4" name="Group 3">
              <a:extLst>
                <a:ext uri="{FF2B5EF4-FFF2-40B4-BE49-F238E27FC236}">
                  <a16:creationId xmlns:a16="http://schemas.microsoft.com/office/drawing/2014/main" id="{C19AFDA2-C484-5731-4029-E38F6C629005}"/>
                </a:ext>
              </a:extLst>
            </p:cNvPr>
            <p:cNvGrpSpPr/>
            <p:nvPr/>
          </p:nvGrpSpPr>
          <p:grpSpPr>
            <a:xfrm>
              <a:off x="838200" y="297639"/>
              <a:ext cx="1060167" cy="290657"/>
              <a:chOff x="826426" y="4041857"/>
              <a:chExt cx="1060167" cy="290657"/>
            </a:xfrm>
          </p:grpSpPr>
          <p:sp>
            <p:nvSpPr>
              <p:cNvPr id="6" name="AutoShape 9">
                <a:extLst>
                  <a:ext uri="{FF2B5EF4-FFF2-40B4-BE49-F238E27FC236}">
                    <a16:creationId xmlns:a16="http://schemas.microsoft.com/office/drawing/2014/main" id="{97BBEB04-56E2-66C8-7CD1-2D3F16D608D6}"/>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7" name="AutoShape 11">
                <a:extLst>
                  <a:ext uri="{FF2B5EF4-FFF2-40B4-BE49-F238E27FC236}">
                    <a16:creationId xmlns:a16="http://schemas.microsoft.com/office/drawing/2014/main" id="{4FC6F8A3-873E-D30F-ED81-15956AF4DDE1}"/>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8" name="AutoShape 10">
                <a:extLst>
                  <a:ext uri="{FF2B5EF4-FFF2-40B4-BE49-F238E27FC236}">
                    <a16:creationId xmlns:a16="http://schemas.microsoft.com/office/drawing/2014/main" id="{873F9745-BF3A-05EC-9963-006BA1E4FCB8}"/>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5" name="TextBox 4">
              <a:extLst>
                <a:ext uri="{FF2B5EF4-FFF2-40B4-BE49-F238E27FC236}">
                  <a16:creationId xmlns:a16="http://schemas.microsoft.com/office/drawing/2014/main" id="{58A720E4-B5DF-AE75-77DE-ABE1EA41CC4C}"/>
                </a:ext>
              </a:extLst>
            </p:cNvPr>
            <p:cNvSpPr txBox="1"/>
            <p:nvPr/>
          </p:nvSpPr>
          <p:spPr>
            <a:xfrm>
              <a:off x="1908497" y="313415"/>
              <a:ext cx="22405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Poka-Yoke Examples</a:t>
              </a:r>
            </a:p>
          </p:txBody>
        </p:sp>
      </p:grpSp>
      <p:grpSp>
        <p:nvGrpSpPr>
          <p:cNvPr id="260" name="Group 259">
            <a:extLst>
              <a:ext uri="{FF2B5EF4-FFF2-40B4-BE49-F238E27FC236}">
                <a16:creationId xmlns:a16="http://schemas.microsoft.com/office/drawing/2014/main" id="{20D3CBCE-787B-0E35-600C-A82FC7524A1D}"/>
              </a:ext>
            </a:extLst>
          </p:cNvPr>
          <p:cNvGrpSpPr/>
          <p:nvPr/>
        </p:nvGrpSpPr>
        <p:grpSpPr>
          <a:xfrm>
            <a:off x="1639887" y="1935163"/>
            <a:ext cx="8912225" cy="4241800"/>
            <a:chOff x="231775" y="1404938"/>
            <a:chExt cx="8912225" cy="4241800"/>
          </a:xfrm>
        </p:grpSpPr>
        <p:sp>
          <p:nvSpPr>
            <p:cNvPr id="152" name="Rectangle 4">
              <a:extLst>
                <a:ext uri="{FF2B5EF4-FFF2-40B4-BE49-F238E27FC236}">
                  <a16:creationId xmlns:a16="http://schemas.microsoft.com/office/drawing/2014/main" id="{1F284874-AD23-2554-5AAD-A801FD2DCAFB}"/>
                </a:ext>
              </a:extLst>
            </p:cNvPr>
            <p:cNvSpPr>
              <a:spLocks noChangeArrowheads="1"/>
            </p:cNvSpPr>
            <p:nvPr/>
          </p:nvSpPr>
          <p:spPr bwMode="auto">
            <a:xfrm>
              <a:off x="231775" y="1404938"/>
              <a:ext cx="4264025"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20000"/>
                </a:spcBef>
                <a:spcAft>
                  <a:spcPct val="0"/>
                </a:spcAft>
                <a:buClrTx/>
                <a:buSzTx/>
                <a:buFontTx/>
                <a:buNone/>
              </a:pPr>
              <a:r>
                <a:rPr lang="en-US" altLang="en-US" sz="1800">
                  <a:latin typeface="Roboto" panose="02000000000000000000" pitchFamily="2" charset="0"/>
                  <a:ea typeface="Roboto" panose="02000000000000000000" pitchFamily="2" charset="0"/>
                </a:rPr>
                <a:t>Before Poka-yoke</a:t>
              </a:r>
            </a:p>
          </p:txBody>
        </p:sp>
        <p:sp>
          <p:nvSpPr>
            <p:cNvPr id="153" name="Rectangle 5">
              <a:extLst>
                <a:ext uri="{FF2B5EF4-FFF2-40B4-BE49-F238E27FC236}">
                  <a16:creationId xmlns:a16="http://schemas.microsoft.com/office/drawing/2014/main" id="{09131F54-C3BD-A6A9-4DB3-3D03DEB8688F}"/>
                </a:ext>
              </a:extLst>
            </p:cNvPr>
            <p:cNvSpPr>
              <a:spLocks noChangeArrowheads="1"/>
            </p:cNvSpPr>
            <p:nvPr/>
          </p:nvSpPr>
          <p:spPr bwMode="auto">
            <a:xfrm>
              <a:off x="4660900" y="1404938"/>
              <a:ext cx="44831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20000"/>
                </a:spcBef>
                <a:spcAft>
                  <a:spcPct val="0"/>
                </a:spcAft>
                <a:buClrTx/>
                <a:buSzTx/>
                <a:buFontTx/>
                <a:buNone/>
              </a:pPr>
              <a:r>
                <a:rPr lang="en-US" altLang="en-US" sz="1800">
                  <a:latin typeface="Roboto" panose="02000000000000000000" pitchFamily="2" charset="0"/>
                  <a:ea typeface="Roboto" panose="02000000000000000000" pitchFamily="2" charset="0"/>
                </a:rPr>
                <a:t>After Poka-yoke</a:t>
              </a:r>
            </a:p>
          </p:txBody>
        </p:sp>
        <p:sp>
          <p:nvSpPr>
            <p:cNvPr id="154" name="Line 6">
              <a:extLst>
                <a:ext uri="{FF2B5EF4-FFF2-40B4-BE49-F238E27FC236}">
                  <a16:creationId xmlns:a16="http://schemas.microsoft.com/office/drawing/2014/main" id="{CA55596C-13C3-7686-BE16-CD57431B0178}"/>
                </a:ext>
              </a:extLst>
            </p:cNvPr>
            <p:cNvSpPr>
              <a:spLocks noChangeShapeType="1"/>
            </p:cNvSpPr>
            <p:nvPr/>
          </p:nvSpPr>
          <p:spPr bwMode="auto">
            <a:xfrm>
              <a:off x="4572000" y="1557338"/>
              <a:ext cx="0" cy="4089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55" name="Line 7">
              <a:extLst>
                <a:ext uri="{FF2B5EF4-FFF2-40B4-BE49-F238E27FC236}">
                  <a16:creationId xmlns:a16="http://schemas.microsoft.com/office/drawing/2014/main" id="{AF0B7CE5-8C6A-77A9-42BC-AF45DB130A07}"/>
                </a:ext>
              </a:extLst>
            </p:cNvPr>
            <p:cNvSpPr>
              <a:spLocks noChangeShapeType="1"/>
            </p:cNvSpPr>
            <p:nvPr/>
          </p:nvSpPr>
          <p:spPr bwMode="auto">
            <a:xfrm>
              <a:off x="1108075" y="4418013"/>
              <a:ext cx="0" cy="1825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56" name="Line 8">
              <a:extLst>
                <a:ext uri="{FF2B5EF4-FFF2-40B4-BE49-F238E27FC236}">
                  <a16:creationId xmlns:a16="http://schemas.microsoft.com/office/drawing/2014/main" id="{312D4BD2-485C-0249-2306-F53BC529AF53}"/>
                </a:ext>
              </a:extLst>
            </p:cNvPr>
            <p:cNvSpPr>
              <a:spLocks noChangeShapeType="1"/>
            </p:cNvSpPr>
            <p:nvPr/>
          </p:nvSpPr>
          <p:spPr bwMode="auto">
            <a:xfrm>
              <a:off x="1109663" y="4603750"/>
              <a:ext cx="21320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57" name="Line 9">
              <a:extLst>
                <a:ext uri="{FF2B5EF4-FFF2-40B4-BE49-F238E27FC236}">
                  <a16:creationId xmlns:a16="http://schemas.microsoft.com/office/drawing/2014/main" id="{83F1EC35-4F88-AA11-ABCF-C4533AA457E7}"/>
                </a:ext>
              </a:extLst>
            </p:cNvPr>
            <p:cNvSpPr>
              <a:spLocks noChangeShapeType="1"/>
            </p:cNvSpPr>
            <p:nvPr/>
          </p:nvSpPr>
          <p:spPr bwMode="auto">
            <a:xfrm flipV="1">
              <a:off x="3241675" y="3587750"/>
              <a:ext cx="709613" cy="10175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58" name="Line 10">
              <a:extLst>
                <a:ext uri="{FF2B5EF4-FFF2-40B4-BE49-F238E27FC236}">
                  <a16:creationId xmlns:a16="http://schemas.microsoft.com/office/drawing/2014/main" id="{F8527F06-5817-B1C9-3BE3-9C050B30C596}"/>
                </a:ext>
              </a:extLst>
            </p:cNvPr>
            <p:cNvSpPr>
              <a:spLocks noChangeShapeType="1"/>
            </p:cNvSpPr>
            <p:nvPr/>
          </p:nvSpPr>
          <p:spPr bwMode="auto">
            <a:xfrm>
              <a:off x="3949700" y="3417888"/>
              <a:ext cx="0" cy="173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59" name="Line 11">
              <a:extLst>
                <a:ext uri="{FF2B5EF4-FFF2-40B4-BE49-F238E27FC236}">
                  <a16:creationId xmlns:a16="http://schemas.microsoft.com/office/drawing/2014/main" id="{B1777441-8600-709D-22B5-3BF8D55680A3}"/>
                </a:ext>
              </a:extLst>
            </p:cNvPr>
            <p:cNvSpPr>
              <a:spLocks noChangeShapeType="1"/>
            </p:cNvSpPr>
            <p:nvPr/>
          </p:nvSpPr>
          <p:spPr bwMode="auto">
            <a:xfrm>
              <a:off x="3244850" y="4418013"/>
              <a:ext cx="0" cy="1825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nvGrpSpPr>
            <p:cNvPr id="160" name="Group 12">
              <a:extLst>
                <a:ext uri="{FF2B5EF4-FFF2-40B4-BE49-F238E27FC236}">
                  <a16:creationId xmlns:a16="http://schemas.microsoft.com/office/drawing/2014/main" id="{D8C81DAB-D9E4-7AF4-9406-AD47929C6551}"/>
                </a:ext>
              </a:extLst>
            </p:cNvPr>
            <p:cNvGrpSpPr>
              <a:grpSpLocks/>
            </p:cNvGrpSpPr>
            <p:nvPr/>
          </p:nvGrpSpPr>
          <p:grpSpPr bwMode="auto">
            <a:xfrm>
              <a:off x="1109663" y="3414713"/>
              <a:ext cx="2840037" cy="1004887"/>
              <a:chOff x="630" y="2013"/>
              <a:chExt cx="1699" cy="675"/>
            </a:xfrm>
          </p:grpSpPr>
          <p:sp>
            <p:nvSpPr>
              <p:cNvPr id="161" name="Line 13">
                <a:extLst>
                  <a:ext uri="{FF2B5EF4-FFF2-40B4-BE49-F238E27FC236}">
                    <a16:creationId xmlns:a16="http://schemas.microsoft.com/office/drawing/2014/main" id="{788D7832-3662-0FE0-1E46-A6B62175612A}"/>
                  </a:ext>
                </a:extLst>
              </p:cNvPr>
              <p:cNvSpPr>
                <a:spLocks noChangeShapeType="1"/>
              </p:cNvSpPr>
              <p:nvPr/>
            </p:nvSpPr>
            <p:spPr bwMode="auto">
              <a:xfrm flipH="1">
                <a:off x="632" y="2013"/>
                <a:ext cx="573" cy="6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62" name="Line 14">
                <a:extLst>
                  <a:ext uri="{FF2B5EF4-FFF2-40B4-BE49-F238E27FC236}">
                    <a16:creationId xmlns:a16="http://schemas.microsoft.com/office/drawing/2014/main" id="{67342ABA-DE6E-76E5-7DFD-23B143251AA9}"/>
                  </a:ext>
                </a:extLst>
              </p:cNvPr>
              <p:cNvSpPr>
                <a:spLocks noChangeShapeType="1"/>
              </p:cNvSpPr>
              <p:nvPr/>
            </p:nvSpPr>
            <p:spPr bwMode="auto">
              <a:xfrm>
                <a:off x="1198" y="2016"/>
                <a:ext cx="112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63" name="Line 15">
                <a:extLst>
                  <a:ext uri="{FF2B5EF4-FFF2-40B4-BE49-F238E27FC236}">
                    <a16:creationId xmlns:a16="http://schemas.microsoft.com/office/drawing/2014/main" id="{52CE50AF-3386-A57F-29C2-66871C346A0F}"/>
                  </a:ext>
                </a:extLst>
              </p:cNvPr>
              <p:cNvSpPr>
                <a:spLocks noChangeShapeType="1"/>
              </p:cNvSpPr>
              <p:nvPr/>
            </p:nvSpPr>
            <p:spPr bwMode="auto">
              <a:xfrm>
                <a:off x="630" y="2688"/>
                <a:ext cx="127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64" name="Line 16">
                <a:extLst>
                  <a:ext uri="{FF2B5EF4-FFF2-40B4-BE49-F238E27FC236}">
                    <a16:creationId xmlns:a16="http://schemas.microsoft.com/office/drawing/2014/main" id="{A51F6B1D-828E-17B8-A227-0E4DAB8F5472}"/>
                  </a:ext>
                </a:extLst>
              </p:cNvPr>
              <p:cNvSpPr>
                <a:spLocks noChangeShapeType="1"/>
              </p:cNvSpPr>
              <p:nvPr/>
            </p:nvSpPr>
            <p:spPr bwMode="auto">
              <a:xfrm flipH="1">
                <a:off x="1903" y="2015"/>
                <a:ext cx="426" cy="67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sp>
          <p:nvSpPr>
            <p:cNvPr id="165" name="Oval 17">
              <a:extLst>
                <a:ext uri="{FF2B5EF4-FFF2-40B4-BE49-F238E27FC236}">
                  <a16:creationId xmlns:a16="http://schemas.microsoft.com/office/drawing/2014/main" id="{2AD57EFD-E470-0A88-006D-032E00952185}"/>
                </a:ext>
              </a:extLst>
            </p:cNvPr>
            <p:cNvSpPr>
              <a:spLocks noChangeArrowheads="1"/>
            </p:cNvSpPr>
            <p:nvPr/>
          </p:nvSpPr>
          <p:spPr bwMode="auto">
            <a:xfrm>
              <a:off x="3035300" y="4232275"/>
              <a:ext cx="115888" cy="82550"/>
            </a:xfrm>
            <a:prstGeom prst="ellipse">
              <a:avLst/>
            </a:prstGeom>
            <a:solidFill>
              <a:schemeClr val="bg1"/>
            </a:solidFill>
            <a:ln w="12700">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66" name="Oval 18">
              <a:extLst>
                <a:ext uri="{FF2B5EF4-FFF2-40B4-BE49-F238E27FC236}">
                  <a16:creationId xmlns:a16="http://schemas.microsoft.com/office/drawing/2014/main" id="{7C65156F-6232-345F-6ACD-64FE173B0E1D}"/>
                </a:ext>
              </a:extLst>
            </p:cNvPr>
            <p:cNvSpPr>
              <a:spLocks noChangeArrowheads="1"/>
            </p:cNvSpPr>
            <p:nvPr/>
          </p:nvSpPr>
          <p:spPr bwMode="auto">
            <a:xfrm>
              <a:off x="3598863" y="3487738"/>
              <a:ext cx="109537" cy="77787"/>
            </a:xfrm>
            <a:prstGeom prst="ellipse">
              <a:avLst/>
            </a:prstGeom>
            <a:solidFill>
              <a:schemeClr val="bg1"/>
            </a:solidFill>
            <a:ln w="12700">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nvGrpSpPr>
            <p:cNvPr id="167" name="Group 19">
              <a:extLst>
                <a:ext uri="{FF2B5EF4-FFF2-40B4-BE49-F238E27FC236}">
                  <a16:creationId xmlns:a16="http://schemas.microsoft.com/office/drawing/2014/main" id="{FF1BF29B-A087-43CF-4A3F-335BCFBA0B59}"/>
                </a:ext>
              </a:extLst>
            </p:cNvPr>
            <p:cNvGrpSpPr>
              <a:grpSpLocks/>
            </p:cNvGrpSpPr>
            <p:nvPr/>
          </p:nvGrpSpPr>
          <p:grpSpPr bwMode="auto">
            <a:xfrm>
              <a:off x="1281113" y="3459163"/>
              <a:ext cx="2532062" cy="896937"/>
              <a:chOff x="732" y="2043"/>
              <a:chExt cx="1516" cy="602"/>
            </a:xfrm>
          </p:grpSpPr>
          <p:sp>
            <p:nvSpPr>
              <p:cNvPr id="168" name="Line 20">
                <a:extLst>
                  <a:ext uri="{FF2B5EF4-FFF2-40B4-BE49-F238E27FC236}">
                    <a16:creationId xmlns:a16="http://schemas.microsoft.com/office/drawing/2014/main" id="{396350FB-ABDD-710E-1938-DC328D41D776}"/>
                  </a:ext>
                </a:extLst>
              </p:cNvPr>
              <p:cNvSpPr>
                <a:spLocks noChangeShapeType="1"/>
              </p:cNvSpPr>
              <p:nvPr/>
            </p:nvSpPr>
            <p:spPr bwMode="auto">
              <a:xfrm flipH="1">
                <a:off x="732" y="2043"/>
                <a:ext cx="512" cy="602"/>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69" name="Line 21">
                <a:extLst>
                  <a:ext uri="{FF2B5EF4-FFF2-40B4-BE49-F238E27FC236}">
                    <a16:creationId xmlns:a16="http://schemas.microsoft.com/office/drawing/2014/main" id="{310D4C28-DC7A-62C5-D10F-D70914A8350B}"/>
                  </a:ext>
                </a:extLst>
              </p:cNvPr>
              <p:cNvSpPr>
                <a:spLocks noChangeShapeType="1"/>
              </p:cNvSpPr>
              <p:nvPr/>
            </p:nvSpPr>
            <p:spPr bwMode="auto">
              <a:xfrm>
                <a:off x="1237" y="2045"/>
                <a:ext cx="1009" cy="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70" name="Line 22">
                <a:extLst>
                  <a:ext uri="{FF2B5EF4-FFF2-40B4-BE49-F238E27FC236}">
                    <a16:creationId xmlns:a16="http://schemas.microsoft.com/office/drawing/2014/main" id="{C05BF05B-3AC9-51D5-F184-78E3E1620BCB}"/>
                  </a:ext>
                </a:extLst>
              </p:cNvPr>
              <p:cNvSpPr>
                <a:spLocks noChangeShapeType="1"/>
              </p:cNvSpPr>
              <p:nvPr/>
            </p:nvSpPr>
            <p:spPr bwMode="auto">
              <a:xfrm flipH="1">
                <a:off x="1867" y="2045"/>
                <a:ext cx="381" cy="598"/>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71" name="Line 23">
                <a:extLst>
                  <a:ext uri="{FF2B5EF4-FFF2-40B4-BE49-F238E27FC236}">
                    <a16:creationId xmlns:a16="http://schemas.microsoft.com/office/drawing/2014/main" id="{0D2D3993-9045-D8D7-CBEE-196C9ED53971}"/>
                  </a:ext>
                </a:extLst>
              </p:cNvPr>
              <p:cNvSpPr>
                <a:spLocks noChangeShapeType="1"/>
              </p:cNvSpPr>
              <p:nvPr/>
            </p:nvSpPr>
            <p:spPr bwMode="auto">
              <a:xfrm>
                <a:off x="736" y="2641"/>
                <a:ext cx="117" cy="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72" name="Line 24">
                <a:extLst>
                  <a:ext uri="{FF2B5EF4-FFF2-40B4-BE49-F238E27FC236}">
                    <a16:creationId xmlns:a16="http://schemas.microsoft.com/office/drawing/2014/main" id="{22A3CC9E-AAB2-167F-FBD4-2E4E9E0BD4D8}"/>
                  </a:ext>
                </a:extLst>
              </p:cNvPr>
              <p:cNvSpPr>
                <a:spLocks noChangeShapeType="1"/>
              </p:cNvSpPr>
              <p:nvPr/>
            </p:nvSpPr>
            <p:spPr bwMode="auto">
              <a:xfrm flipV="1">
                <a:off x="852" y="2589"/>
                <a:ext cx="41" cy="51"/>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73" name="Line 25">
                <a:extLst>
                  <a:ext uri="{FF2B5EF4-FFF2-40B4-BE49-F238E27FC236}">
                    <a16:creationId xmlns:a16="http://schemas.microsoft.com/office/drawing/2014/main" id="{61A0E9DE-DABF-EF53-875C-CC26325C7D6E}"/>
                  </a:ext>
                </a:extLst>
              </p:cNvPr>
              <p:cNvSpPr>
                <a:spLocks noChangeShapeType="1"/>
              </p:cNvSpPr>
              <p:nvPr/>
            </p:nvSpPr>
            <p:spPr bwMode="auto">
              <a:xfrm>
                <a:off x="892" y="2589"/>
                <a:ext cx="293" cy="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74" name="Line 26">
                <a:extLst>
                  <a:ext uri="{FF2B5EF4-FFF2-40B4-BE49-F238E27FC236}">
                    <a16:creationId xmlns:a16="http://schemas.microsoft.com/office/drawing/2014/main" id="{FC444EA3-5B85-FD75-694E-B55DD13603F2}"/>
                  </a:ext>
                </a:extLst>
              </p:cNvPr>
              <p:cNvSpPr>
                <a:spLocks noChangeShapeType="1"/>
              </p:cNvSpPr>
              <p:nvPr/>
            </p:nvSpPr>
            <p:spPr bwMode="auto">
              <a:xfrm flipH="1">
                <a:off x="1147" y="2587"/>
                <a:ext cx="37" cy="53"/>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75" name="Line 27">
                <a:extLst>
                  <a:ext uri="{FF2B5EF4-FFF2-40B4-BE49-F238E27FC236}">
                    <a16:creationId xmlns:a16="http://schemas.microsoft.com/office/drawing/2014/main" id="{24F6BCD6-EA7D-C4D2-96BB-63F692FF9A1A}"/>
                  </a:ext>
                </a:extLst>
              </p:cNvPr>
              <p:cNvSpPr>
                <a:spLocks noChangeShapeType="1"/>
              </p:cNvSpPr>
              <p:nvPr/>
            </p:nvSpPr>
            <p:spPr bwMode="auto">
              <a:xfrm>
                <a:off x="1152" y="2641"/>
                <a:ext cx="199" cy="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76" name="Line 28">
                <a:extLst>
                  <a:ext uri="{FF2B5EF4-FFF2-40B4-BE49-F238E27FC236}">
                    <a16:creationId xmlns:a16="http://schemas.microsoft.com/office/drawing/2014/main" id="{56168385-66E8-3127-2071-9A8C8C44260B}"/>
                  </a:ext>
                </a:extLst>
              </p:cNvPr>
              <p:cNvSpPr>
                <a:spLocks noChangeShapeType="1"/>
              </p:cNvSpPr>
              <p:nvPr/>
            </p:nvSpPr>
            <p:spPr bwMode="auto">
              <a:xfrm flipV="1">
                <a:off x="1350" y="2590"/>
                <a:ext cx="39" cy="5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77" name="Line 29">
                <a:extLst>
                  <a:ext uri="{FF2B5EF4-FFF2-40B4-BE49-F238E27FC236}">
                    <a16:creationId xmlns:a16="http://schemas.microsoft.com/office/drawing/2014/main" id="{9673F96D-773C-A2A4-DA80-7E3F9B563D71}"/>
                  </a:ext>
                </a:extLst>
              </p:cNvPr>
              <p:cNvSpPr>
                <a:spLocks noChangeShapeType="1"/>
              </p:cNvSpPr>
              <p:nvPr/>
            </p:nvSpPr>
            <p:spPr bwMode="auto">
              <a:xfrm>
                <a:off x="1390" y="2589"/>
                <a:ext cx="299" cy="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78" name="Line 30">
                <a:extLst>
                  <a:ext uri="{FF2B5EF4-FFF2-40B4-BE49-F238E27FC236}">
                    <a16:creationId xmlns:a16="http://schemas.microsoft.com/office/drawing/2014/main" id="{EE638E42-2CAE-8C68-D138-CAC50ACDFAC4}"/>
                  </a:ext>
                </a:extLst>
              </p:cNvPr>
              <p:cNvSpPr>
                <a:spLocks noChangeShapeType="1"/>
              </p:cNvSpPr>
              <p:nvPr/>
            </p:nvSpPr>
            <p:spPr bwMode="auto">
              <a:xfrm flipH="1">
                <a:off x="1660" y="2587"/>
                <a:ext cx="31" cy="53"/>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79" name="Line 31">
                <a:extLst>
                  <a:ext uri="{FF2B5EF4-FFF2-40B4-BE49-F238E27FC236}">
                    <a16:creationId xmlns:a16="http://schemas.microsoft.com/office/drawing/2014/main" id="{C2A2ED30-7E2B-8E6B-CD4F-74320FC48D4A}"/>
                  </a:ext>
                </a:extLst>
              </p:cNvPr>
              <p:cNvSpPr>
                <a:spLocks noChangeShapeType="1"/>
              </p:cNvSpPr>
              <p:nvPr/>
            </p:nvSpPr>
            <p:spPr bwMode="auto">
              <a:xfrm>
                <a:off x="1662" y="2641"/>
                <a:ext cx="206" cy="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sp>
          <p:nvSpPr>
            <p:cNvPr id="180" name="Line 32">
              <a:extLst>
                <a:ext uri="{FF2B5EF4-FFF2-40B4-BE49-F238E27FC236}">
                  <a16:creationId xmlns:a16="http://schemas.microsoft.com/office/drawing/2014/main" id="{2F19F5AC-F10E-28BF-E548-1A141D5D1B93}"/>
                </a:ext>
              </a:extLst>
            </p:cNvPr>
            <p:cNvSpPr>
              <a:spLocks noChangeShapeType="1"/>
            </p:cNvSpPr>
            <p:nvPr/>
          </p:nvSpPr>
          <p:spPr bwMode="auto">
            <a:xfrm flipV="1">
              <a:off x="2109788" y="3071813"/>
              <a:ext cx="271462" cy="2873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81" name="Line 33">
              <a:extLst>
                <a:ext uri="{FF2B5EF4-FFF2-40B4-BE49-F238E27FC236}">
                  <a16:creationId xmlns:a16="http://schemas.microsoft.com/office/drawing/2014/main" id="{D524C877-9DC7-2939-78E4-6D083D8EFC3C}"/>
                </a:ext>
              </a:extLst>
            </p:cNvPr>
            <p:cNvSpPr>
              <a:spLocks noChangeShapeType="1"/>
            </p:cNvSpPr>
            <p:nvPr/>
          </p:nvSpPr>
          <p:spPr bwMode="auto">
            <a:xfrm flipV="1">
              <a:off x="2260600" y="3071813"/>
              <a:ext cx="271463" cy="2873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82" name="Line 34">
              <a:extLst>
                <a:ext uri="{FF2B5EF4-FFF2-40B4-BE49-F238E27FC236}">
                  <a16:creationId xmlns:a16="http://schemas.microsoft.com/office/drawing/2014/main" id="{B47BC8D3-9325-742A-1B5E-BE597D9CE219}"/>
                </a:ext>
              </a:extLst>
            </p:cNvPr>
            <p:cNvSpPr>
              <a:spLocks noChangeShapeType="1"/>
            </p:cNvSpPr>
            <p:nvPr/>
          </p:nvSpPr>
          <p:spPr bwMode="auto">
            <a:xfrm flipV="1">
              <a:off x="3979863" y="3071813"/>
              <a:ext cx="204787" cy="2873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83" name="Line 35">
              <a:extLst>
                <a:ext uri="{FF2B5EF4-FFF2-40B4-BE49-F238E27FC236}">
                  <a16:creationId xmlns:a16="http://schemas.microsoft.com/office/drawing/2014/main" id="{CEE5E6BE-D1EC-4DD0-6C4C-796D42EF4A6F}"/>
                </a:ext>
              </a:extLst>
            </p:cNvPr>
            <p:cNvSpPr>
              <a:spLocks noChangeShapeType="1"/>
            </p:cNvSpPr>
            <p:nvPr/>
          </p:nvSpPr>
          <p:spPr bwMode="auto">
            <a:xfrm flipV="1">
              <a:off x="512763" y="4667250"/>
              <a:ext cx="369887" cy="384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84" name="Line 36">
              <a:extLst>
                <a:ext uri="{FF2B5EF4-FFF2-40B4-BE49-F238E27FC236}">
                  <a16:creationId xmlns:a16="http://schemas.microsoft.com/office/drawing/2014/main" id="{9856B3BF-30CF-F1F4-A4EF-BB01975376F4}"/>
                </a:ext>
              </a:extLst>
            </p:cNvPr>
            <p:cNvSpPr>
              <a:spLocks noChangeShapeType="1"/>
            </p:cNvSpPr>
            <p:nvPr/>
          </p:nvSpPr>
          <p:spPr bwMode="auto">
            <a:xfrm flipH="1">
              <a:off x="2884488" y="4668838"/>
              <a:ext cx="198437" cy="2873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85" name="Line 37">
              <a:extLst>
                <a:ext uri="{FF2B5EF4-FFF2-40B4-BE49-F238E27FC236}">
                  <a16:creationId xmlns:a16="http://schemas.microsoft.com/office/drawing/2014/main" id="{CAFB3079-EA5E-551D-F45E-D1D1218A6FEE}"/>
                </a:ext>
              </a:extLst>
            </p:cNvPr>
            <p:cNvSpPr>
              <a:spLocks noChangeShapeType="1"/>
            </p:cNvSpPr>
            <p:nvPr/>
          </p:nvSpPr>
          <p:spPr bwMode="auto">
            <a:xfrm flipV="1">
              <a:off x="2925763" y="4667250"/>
              <a:ext cx="255587" cy="384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86" name="Line 38">
              <a:extLst>
                <a:ext uri="{FF2B5EF4-FFF2-40B4-BE49-F238E27FC236}">
                  <a16:creationId xmlns:a16="http://schemas.microsoft.com/office/drawing/2014/main" id="{B23EDEA2-7E18-F7E7-51F8-FC094D1E0EC2}"/>
                </a:ext>
              </a:extLst>
            </p:cNvPr>
            <p:cNvSpPr>
              <a:spLocks noChangeShapeType="1"/>
            </p:cNvSpPr>
            <p:nvPr/>
          </p:nvSpPr>
          <p:spPr bwMode="auto">
            <a:xfrm flipH="1">
              <a:off x="1319213" y="4668838"/>
              <a:ext cx="198437" cy="2873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87" name="Line 39">
              <a:extLst>
                <a:ext uri="{FF2B5EF4-FFF2-40B4-BE49-F238E27FC236}">
                  <a16:creationId xmlns:a16="http://schemas.microsoft.com/office/drawing/2014/main" id="{466B264F-47AB-803D-0B96-A587662729F7}"/>
                </a:ext>
              </a:extLst>
            </p:cNvPr>
            <p:cNvSpPr>
              <a:spLocks noChangeShapeType="1"/>
            </p:cNvSpPr>
            <p:nvPr/>
          </p:nvSpPr>
          <p:spPr bwMode="auto">
            <a:xfrm flipV="1">
              <a:off x="1420813" y="4668838"/>
              <a:ext cx="195262" cy="2841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88" name="Line 40">
              <a:extLst>
                <a:ext uri="{FF2B5EF4-FFF2-40B4-BE49-F238E27FC236}">
                  <a16:creationId xmlns:a16="http://schemas.microsoft.com/office/drawing/2014/main" id="{A71F567E-B1C2-4B0E-65C6-38CA89B78FB3}"/>
                </a:ext>
              </a:extLst>
            </p:cNvPr>
            <p:cNvSpPr>
              <a:spLocks noChangeShapeType="1"/>
            </p:cNvSpPr>
            <p:nvPr/>
          </p:nvSpPr>
          <p:spPr bwMode="auto">
            <a:xfrm flipH="1">
              <a:off x="2005013" y="4668838"/>
              <a:ext cx="198437" cy="2873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89" name="Line 41">
              <a:extLst>
                <a:ext uri="{FF2B5EF4-FFF2-40B4-BE49-F238E27FC236}">
                  <a16:creationId xmlns:a16="http://schemas.microsoft.com/office/drawing/2014/main" id="{03997F28-B7A1-2685-B708-A1849A863BD7}"/>
                </a:ext>
              </a:extLst>
            </p:cNvPr>
            <p:cNvSpPr>
              <a:spLocks noChangeShapeType="1"/>
            </p:cNvSpPr>
            <p:nvPr/>
          </p:nvSpPr>
          <p:spPr bwMode="auto">
            <a:xfrm flipV="1">
              <a:off x="2185988" y="4668838"/>
              <a:ext cx="195262" cy="2841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90" name="Line 42">
              <a:extLst>
                <a:ext uri="{FF2B5EF4-FFF2-40B4-BE49-F238E27FC236}">
                  <a16:creationId xmlns:a16="http://schemas.microsoft.com/office/drawing/2014/main" id="{FFA08AB5-8546-A1BA-3A75-9ACDFF03364E}"/>
                </a:ext>
              </a:extLst>
            </p:cNvPr>
            <p:cNvSpPr>
              <a:spLocks noChangeShapeType="1"/>
            </p:cNvSpPr>
            <p:nvPr/>
          </p:nvSpPr>
          <p:spPr bwMode="auto">
            <a:xfrm flipH="1">
              <a:off x="515938" y="5051425"/>
              <a:ext cx="925512"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91" name="Line 43">
              <a:extLst>
                <a:ext uri="{FF2B5EF4-FFF2-40B4-BE49-F238E27FC236}">
                  <a16:creationId xmlns:a16="http://schemas.microsoft.com/office/drawing/2014/main" id="{70D8F9D9-7EF7-D390-F6A5-1C46458D6C48}"/>
                </a:ext>
              </a:extLst>
            </p:cNvPr>
            <p:cNvSpPr>
              <a:spLocks noChangeShapeType="1"/>
            </p:cNvSpPr>
            <p:nvPr/>
          </p:nvSpPr>
          <p:spPr bwMode="auto">
            <a:xfrm>
              <a:off x="1947863" y="5051425"/>
              <a:ext cx="979487"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92" name="Line 44">
              <a:extLst>
                <a:ext uri="{FF2B5EF4-FFF2-40B4-BE49-F238E27FC236}">
                  <a16:creationId xmlns:a16="http://schemas.microsoft.com/office/drawing/2014/main" id="{5BAAC91C-D021-D31C-3166-1733D81E5215}"/>
                </a:ext>
              </a:extLst>
            </p:cNvPr>
            <p:cNvSpPr>
              <a:spLocks noChangeShapeType="1"/>
            </p:cNvSpPr>
            <p:nvPr/>
          </p:nvSpPr>
          <p:spPr bwMode="auto">
            <a:xfrm flipH="1">
              <a:off x="3116263" y="4830763"/>
              <a:ext cx="252412"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93" name="Line 45">
              <a:extLst>
                <a:ext uri="{FF2B5EF4-FFF2-40B4-BE49-F238E27FC236}">
                  <a16:creationId xmlns:a16="http://schemas.microsoft.com/office/drawing/2014/main" id="{AE37A4F2-F9E0-D344-0C5C-67DF1E18A5B2}"/>
                </a:ext>
              </a:extLst>
            </p:cNvPr>
            <p:cNvSpPr>
              <a:spLocks noChangeShapeType="1"/>
            </p:cNvSpPr>
            <p:nvPr/>
          </p:nvSpPr>
          <p:spPr bwMode="auto">
            <a:xfrm>
              <a:off x="2262188" y="4830763"/>
              <a:ext cx="690562" cy="0"/>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94" name="Line 46">
              <a:extLst>
                <a:ext uri="{FF2B5EF4-FFF2-40B4-BE49-F238E27FC236}">
                  <a16:creationId xmlns:a16="http://schemas.microsoft.com/office/drawing/2014/main" id="{89CB716B-FEFF-C063-61B9-00AE19A71173}"/>
                </a:ext>
              </a:extLst>
            </p:cNvPr>
            <p:cNvSpPr>
              <a:spLocks noChangeShapeType="1"/>
            </p:cNvSpPr>
            <p:nvPr/>
          </p:nvSpPr>
          <p:spPr bwMode="auto">
            <a:xfrm>
              <a:off x="1547813" y="4830763"/>
              <a:ext cx="506412" cy="0"/>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95" name="Line 47">
              <a:extLst>
                <a:ext uri="{FF2B5EF4-FFF2-40B4-BE49-F238E27FC236}">
                  <a16:creationId xmlns:a16="http://schemas.microsoft.com/office/drawing/2014/main" id="{ECBD7D2F-D4FE-A97E-5273-DCA2A83DF59B}"/>
                </a:ext>
              </a:extLst>
            </p:cNvPr>
            <p:cNvSpPr>
              <a:spLocks noChangeShapeType="1"/>
            </p:cNvSpPr>
            <p:nvPr/>
          </p:nvSpPr>
          <p:spPr bwMode="auto">
            <a:xfrm>
              <a:off x="1125538" y="4830763"/>
              <a:ext cx="252412"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96" name="Line 48">
              <a:extLst>
                <a:ext uri="{FF2B5EF4-FFF2-40B4-BE49-F238E27FC236}">
                  <a16:creationId xmlns:a16="http://schemas.microsoft.com/office/drawing/2014/main" id="{215975EA-C8A1-ACB9-C954-0DD61946CE0D}"/>
                </a:ext>
              </a:extLst>
            </p:cNvPr>
            <p:cNvSpPr>
              <a:spLocks noChangeShapeType="1"/>
            </p:cNvSpPr>
            <p:nvPr/>
          </p:nvSpPr>
          <p:spPr bwMode="auto">
            <a:xfrm flipH="1">
              <a:off x="2538413" y="3133725"/>
              <a:ext cx="544512"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97" name="Line 49">
              <a:extLst>
                <a:ext uri="{FF2B5EF4-FFF2-40B4-BE49-F238E27FC236}">
                  <a16:creationId xmlns:a16="http://schemas.microsoft.com/office/drawing/2014/main" id="{40D91E59-25F4-C852-74D4-0D6E3925A7AF}"/>
                </a:ext>
              </a:extLst>
            </p:cNvPr>
            <p:cNvSpPr>
              <a:spLocks noChangeShapeType="1"/>
            </p:cNvSpPr>
            <p:nvPr/>
          </p:nvSpPr>
          <p:spPr bwMode="auto">
            <a:xfrm>
              <a:off x="3541713" y="3133725"/>
              <a:ext cx="528637"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98" name="Line 50">
              <a:extLst>
                <a:ext uri="{FF2B5EF4-FFF2-40B4-BE49-F238E27FC236}">
                  <a16:creationId xmlns:a16="http://schemas.microsoft.com/office/drawing/2014/main" id="{6241DB05-E4E5-08DA-E30D-670143FEABF8}"/>
                </a:ext>
              </a:extLst>
            </p:cNvPr>
            <p:cNvSpPr>
              <a:spLocks noChangeShapeType="1"/>
            </p:cNvSpPr>
            <p:nvPr/>
          </p:nvSpPr>
          <p:spPr bwMode="auto">
            <a:xfrm>
              <a:off x="1992313" y="3133725"/>
              <a:ext cx="252412"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99" name="Line 51">
              <a:extLst>
                <a:ext uri="{FF2B5EF4-FFF2-40B4-BE49-F238E27FC236}">
                  <a16:creationId xmlns:a16="http://schemas.microsoft.com/office/drawing/2014/main" id="{46A5830A-761C-881F-4AB3-CB9B98223FA4}"/>
                </a:ext>
              </a:extLst>
            </p:cNvPr>
            <p:cNvSpPr>
              <a:spLocks noChangeShapeType="1"/>
            </p:cNvSpPr>
            <p:nvPr/>
          </p:nvSpPr>
          <p:spPr bwMode="auto">
            <a:xfrm flipH="1">
              <a:off x="1801813" y="3409950"/>
              <a:ext cx="1857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00" name="Line 52">
              <a:extLst>
                <a:ext uri="{FF2B5EF4-FFF2-40B4-BE49-F238E27FC236}">
                  <a16:creationId xmlns:a16="http://schemas.microsoft.com/office/drawing/2014/main" id="{B0655946-3596-C87B-8AD1-124D19870C46}"/>
                </a:ext>
              </a:extLst>
            </p:cNvPr>
            <p:cNvSpPr>
              <a:spLocks noChangeShapeType="1"/>
            </p:cNvSpPr>
            <p:nvPr/>
          </p:nvSpPr>
          <p:spPr bwMode="auto">
            <a:xfrm flipH="1">
              <a:off x="1751013" y="3448050"/>
              <a:ext cx="1857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01" name="Line 53">
              <a:extLst>
                <a:ext uri="{FF2B5EF4-FFF2-40B4-BE49-F238E27FC236}">
                  <a16:creationId xmlns:a16="http://schemas.microsoft.com/office/drawing/2014/main" id="{C44E4E11-5536-2C7A-7867-5092293B3140}"/>
                </a:ext>
              </a:extLst>
            </p:cNvPr>
            <p:cNvSpPr>
              <a:spLocks noChangeShapeType="1"/>
            </p:cNvSpPr>
            <p:nvPr/>
          </p:nvSpPr>
          <p:spPr bwMode="auto">
            <a:xfrm flipH="1">
              <a:off x="900113" y="4349750"/>
              <a:ext cx="1857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02" name="Line 54">
              <a:extLst>
                <a:ext uri="{FF2B5EF4-FFF2-40B4-BE49-F238E27FC236}">
                  <a16:creationId xmlns:a16="http://schemas.microsoft.com/office/drawing/2014/main" id="{53B05562-D476-85BA-EAF1-6EABE6AE7468}"/>
                </a:ext>
              </a:extLst>
            </p:cNvPr>
            <p:cNvSpPr>
              <a:spLocks noChangeShapeType="1"/>
            </p:cNvSpPr>
            <p:nvPr/>
          </p:nvSpPr>
          <p:spPr bwMode="auto">
            <a:xfrm flipH="1">
              <a:off x="846138" y="4410075"/>
              <a:ext cx="1857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03" name="Line 55">
              <a:extLst>
                <a:ext uri="{FF2B5EF4-FFF2-40B4-BE49-F238E27FC236}">
                  <a16:creationId xmlns:a16="http://schemas.microsoft.com/office/drawing/2014/main" id="{EC7B6BEE-BE2B-D65B-004D-8564B646D31B}"/>
                </a:ext>
              </a:extLst>
            </p:cNvPr>
            <p:cNvSpPr>
              <a:spLocks noChangeShapeType="1"/>
            </p:cNvSpPr>
            <p:nvPr/>
          </p:nvSpPr>
          <p:spPr bwMode="auto">
            <a:xfrm flipH="1">
              <a:off x="1938338" y="3189288"/>
              <a:ext cx="163512" cy="195262"/>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04" name="Line 56">
              <a:extLst>
                <a:ext uri="{FF2B5EF4-FFF2-40B4-BE49-F238E27FC236}">
                  <a16:creationId xmlns:a16="http://schemas.microsoft.com/office/drawing/2014/main" id="{C9607A09-98D2-590A-13E4-410446821F71}"/>
                </a:ext>
              </a:extLst>
            </p:cNvPr>
            <p:cNvSpPr>
              <a:spLocks noChangeShapeType="1"/>
            </p:cNvSpPr>
            <p:nvPr/>
          </p:nvSpPr>
          <p:spPr bwMode="auto">
            <a:xfrm flipH="1">
              <a:off x="1039813" y="4100513"/>
              <a:ext cx="163512" cy="195262"/>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05" name="Line 57">
              <a:extLst>
                <a:ext uri="{FF2B5EF4-FFF2-40B4-BE49-F238E27FC236}">
                  <a16:creationId xmlns:a16="http://schemas.microsoft.com/office/drawing/2014/main" id="{92155209-C104-655E-E210-6ED893922C4C}"/>
                </a:ext>
              </a:extLst>
            </p:cNvPr>
            <p:cNvSpPr>
              <a:spLocks noChangeShapeType="1"/>
            </p:cNvSpPr>
            <p:nvPr/>
          </p:nvSpPr>
          <p:spPr bwMode="auto">
            <a:xfrm flipV="1">
              <a:off x="1703388" y="3478213"/>
              <a:ext cx="166687" cy="192087"/>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06" name="Line 58">
              <a:extLst>
                <a:ext uri="{FF2B5EF4-FFF2-40B4-BE49-F238E27FC236}">
                  <a16:creationId xmlns:a16="http://schemas.microsoft.com/office/drawing/2014/main" id="{444D8892-EF73-7448-989D-3DCF2D53DA63}"/>
                </a:ext>
              </a:extLst>
            </p:cNvPr>
            <p:cNvSpPr>
              <a:spLocks noChangeShapeType="1"/>
            </p:cNvSpPr>
            <p:nvPr/>
          </p:nvSpPr>
          <p:spPr bwMode="auto">
            <a:xfrm flipV="1">
              <a:off x="773113" y="4445000"/>
              <a:ext cx="165100" cy="192088"/>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07" name="Line 59">
              <a:extLst>
                <a:ext uri="{FF2B5EF4-FFF2-40B4-BE49-F238E27FC236}">
                  <a16:creationId xmlns:a16="http://schemas.microsoft.com/office/drawing/2014/main" id="{FC1F282C-2E4C-2ADF-567C-2AA3EEEDA07B}"/>
                </a:ext>
              </a:extLst>
            </p:cNvPr>
            <p:cNvSpPr>
              <a:spLocks noChangeShapeType="1"/>
            </p:cNvSpPr>
            <p:nvPr/>
          </p:nvSpPr>
          <p:spPr bwMode="auto">
            <a:xfrm flipH="1" flipV="1">
              <a:off x="947738" y="3302000"/>
              <a:ext cx="706437" cy="6461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08" name="Line 60">
              <a:extLst>
                <a:ext uri="{FF2B5EF4-FFF2-40B4-BE49-F238E27FC236}">
                  <a16:creationId xmlns:a16="http://schemas.microsoft.com/office/drawing/2014/main" id="{16CFC7D0-E1F4-3207-A9E6-D41DBAAFCF22}"/>
                </a:ext>
              </a:extLst>
            </p:cNvPr>
            <p:cNvSpPr>
              <a:spLocks noChangeShapeType="1"/>
            </p:cNvSpPr>
            <p:nvPr/>
          </p:nvSpPr>
          <p:spPr bwMode="auto">
            <a:xfrm>
              <a:off x="3662363" y="3532188"/>
              <a:ext cx="357187" cy="6080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09" name="Line 61">
              <a:extLst>
                <a:ext uri="{FF2B5EF4-FFF2-40B4-BE49-F238E27FC236}">
                  <a16:creationId xmlns:a16="http://schemas.microsoft.com/office/drawing/2014/main" id="{F16ED47D-4C8F-3F08-48B5-F110D6A5657E}"/>
                </a:ext>
              </a:extLst>
            </p:cNvPr>
            <p:cNvSpPr>
              <a:spLocks noChangeShapeType="1"/>
            </p:cNvSpPr>
            <p:nvPr/>
          </p:nvSpPr>
          <p:spPr bwMode="auto">
            <a:xfrm>
              <a:off x="3097213" y="4278313"/>
              <a:ext cx="655637" cy="15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0" name="Rectangle 62">
              <a:extLst>
                <a:ext uri="{FF2B5EF4-FFF2-40B4-BE49-F238E27FC236}">
                  <a16:creationId xmlns:a16="http://schemas.microsoft.com/office/drawing/2014/main" id="{C91CBF25-6561-CB2F-AAC3-42048C8FA3F9}"/>
                </a:ext>
              </a:extLst>
            </p:cNvPr>
            <p:cNvSpPr>
              <a:spLocks noChangeArrowheads="1"/>
            </p:cNvSpPr>
            <p:nvPr/>
          </p:nvSpPr>
          <p:spPr bwMode="auto">
            <a:xfrm>
              <a:off x="3487738" y="4129088"/>
              <a:ext cx="1127125"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sz="1200">
                  <a:latin typeface="Roboto" panose="02000000000000000000" pitchFamily="2" charset="0"/>
                  <a:ea typeface="Roboto" panose="02000000000000000000" pitchFamily="2" charset="0"/>
                </a:rPr>
                <a:t>Locating </a:t>
              </a:r>
              <a:br>
                <a:rPr lang="en-US" altLang="en-US" sz="1200">
                  <a:latin typeface="Roboto" panose="02000000000000000000" pitchFamily="2" charset="0"/>
                  <a:ea typeface="Roboto" panose="02000000000000000000" pitchFamily="2" charset="0"/>
                </a:rPr>
              </a:br>
              <a:r>
                <a:rPr lang="en-US" altLang="en-US" sz="1200">
                  <a:latin typeface="Roboto" panose="02000000000000000000" pitchFamily="2" charset="0"/>
                  <a:ea typeface="Roboto" panose="02000000000000000000" pitchFamily="2" charset="0"/>
                </a:rPr>
                <a:t>Holes</a:t>
              </a:r>
            </a:p>
          </p:txBody>
        </p:sp>
        <p:sp>
          <p:nvSpPr>
            <p:cNvPr id="211" name="Rectangle 63">
              <a:extLst>
                <a:ext uri="{FF2B5EF4-FFF2-40B4-BE49-F238E27FC236}">
                  <a16:creationId xmlns:a16="http://schemas.microsoft.com/office/drawing/2014/main" id="{8A1DA3DF-C497-EC28-C4B7-012EC0773FAD}"/>
                </a:ext>
              </a:extLst>
            </p:cNvPr>
            <p:cNvSpPr>
              <a:spLocks noChangeArrowheads="1"/>
            </p:cNvSpPr>
            <p:nvPr/>
          </p:nvSpPr>
          <p:spPr bwMode="auto">
            <a:xfrm>
              <a:off x="354013" y="2846388"/>
              <a:ext cx="1127125"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sz="1200">
                  <a:latin typeface="Roboto" panose="02000000000000000000" pitchFamily="2" charset="0"/>
                  <a:ea typeface="Roboto" panose="02000000000000000000" pitchFamily="2" charset="0"/>
                </a:rPr>
                <a:t>Panel Trim Lines</a:t>
              </a:r>
            </a:p>
          </p:txBody>
        </p:sp>
        <p:sp>
          <p:nvSpPr>
            <p:cNvPr id="212" name="Rectangle 64">
              <a:extLst>
                <a:ext uri="{FF2B5EF4-FFF2-40B4-BE49-F238E27FC236}">
                  <a16:creationId xmlns:a16="http://schemas.microsoft.com/office/drawing/2014/main" id="{E2EE9D0C-5817-B3AB-5FDB-8164F9F4B7C0}"/>
                </a:ext>
              </a:extLst>
            </p:cNvPr>
            <p:cNvSpPr>
              <a:spLocks noChangeArrowheads="1"/>
            </p:cNvSpPr>
            <p:nvPr/>
          </p:nvSpPr>
          <p:spPr bwMode="auto">
            <a:xfrm>
              <a:off x="398463" y="2208213"/>
              <a:ext cx="4371975"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Aft>
                  <a:spcPct val="0"/>
                </a:spcAft>
                <a:buClrTx/>
                <a:buSzTx/>
                <a:buFontTx/>
                <a:buNone/>
              </a:pPr>
              <a:r>
                <a:rPr lang="en-US" altLang="en-US" sz="1400">
                  <a:latin typeface="Roboto" panose="02000000000000000000" pitchFamily="2" charset="0"/>
                  <a:ea typeface="Roboto" panose="02000000000000000000" pitchFamily="2" charset="0"/>
                </a:rPr>
                <a:t>Manual measuring and layout of trim periphery</a:t>
              </a:r>
            </a:p>
          </p:txBody>
        </p:sp>
        <p:sp>
          <p:nvSpPr>
            <p:cNvPr id="213" name="Line 65">
              <a:extLst>
                <a:ext uri="{FF2B5EF4-FFF2-40B4-BE49-F238E27FC236}">
                  <a16:creationId xmlns:a16="http://schemas.microsoft.com/office/drawing/2014/main" id="{905A99B5-7F14-4A7E-A09B-F665A03D7E24}"/>
                </a:ext>
              </a:extLst>
            </p:cNvPr>
            <p:cNvSpPr>
              <a:spLocks noChangeShapeType="1"/>
            </p:cNvSpPr>
            <p:nvPr/>
          </p:nvSpPr>
          <p:spPr bwMode="auto">
            <a:xfrm>
              <a:off x="5681663" y="5103813"/>
              <a:ext cx="0" cy="1825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4" name="Line 66">
              <a:extLst>
                <a:ext uri="{FF2B5EF4-FFF2-40B4-BE49-F238E27FC236}">
                  <a16:creationId xmlns:a16="http://schemas.microsoft.com/office/drawing/2014/main" id="{57BD9AF9-299F-0569-5491-BDA792AB1B54}"/>
                </a:ext>
              </a:extLst>
            </p:cNvPr>
            <p:cNvSpPr>
              <a:spLocks noChangeShapeType="1"/>
            </p:cNvSpPr>
            <p:nvPr/>
          </p:nvSpPr>
          <p:spPr bwMode="auto">
            <a:xfrm>
              <a:off x="5683250" y="5289550"/>
              <a:ext cx="213201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5" name="Line 67">
              <a:extLst>
                <a:ext uri="{FF2B5EF4-FFF2-40B4-BE49-F238E27FC236}">
                  <a16:creationId xmlns:a16="http://schemas.microsoft.com/office/drawing/2014/main" id="{75093059-3D1E-3919-815A-41C74DC70ADC}"/>
                </a:ext>
              </a:extLst>
            </p:cNvPr>
            <p:cNvSpPr>
              <a:spLocks noChangeShapeType="1"/>
            </p:cNvSpPr>
            <p:nvPr/>
          </p:nvSpPr>
          <p:spPr bwMode="auto">
            <a:xfrm flipV="1">
              <a:off x="7816850" y="4273550"/>
              <a:ext cx="711200" cy="10175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6" name="Line 68">
              <a:extLst>
                <a:ext uri="{FF2B5EF4-FFF2-40B4-BE49-F238E27FC236}">
                  <a16:creationId xmlns:a16="http://schemas.microsoft.com/office/drawing/2014/main" id="{D2696443-64F1-C93B-69CD-A88FC2E4FDF0}"/>
                </a:ext>
              </a:extLst>
            </p:cNvPr>
            <p:cNvSpPr>
              <a:spLocks noChangeShapeType="1"/>
            </p:cNvSpPr>
            <p:nvPr/>
          </p:nvSpPr>
          <p:spPr bwMode="auto">
            <a:xfrm>
              <a:off x="8523288" y="4103688"/>
              <a:ext cx="0" cy="173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7" name="Line 69">
              <a:extLst>
                <a:ext uri="{FF2B5EF4-FFF2-40B4-BE49-F238E27FC236}">
                  <a16:creationId xmlns:a16="http://schemas.microsoft.com/office/drawing/2014/main" id="{AD252E92-D22E-355C-98F4-66D698DFCDE2}"/>
                </a:ext>
              </a:extLst>
            </p:cNvPr>
            <p:cNvSpPr>
              <a:spLocks noChangeShapeType="1"/>
            </p:cNvSpPr>
            <p:nvPr/>
          </p:nvSpPr>
          <p:spPr bwMode="auto">
            <a:xfrm>
              <a:off x="7818438" y="5103813"/>
              <a:ext cx="0" cy="1825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8" name="Line 70">
              <a:extLst>
                <a:ext uri="{FF2B5EF4-FFF2-40B4-BE49-F238E27FC236}">
                  <a16:creationId xmlns:a16="http://schemas.microsoft.com/office/drawing/2014/main" id="{99BF284E-D7B5-5CE8-1B67-AB8405A1C4A3}"/>
                </a:ext>
              </a:extLst>
            </p:cNvPr>
            <p:cNvSpPr>
              <a:spLocks noChangeShapeType="1"/>
            </p:cNvSpPr>
            <p:nvPr/>
          </p:nvSpPr>
          <p:spPr bwMode="auto">
            <a:xfrm flipH="1">
              <a:off x="5686425" y="4100513"/>
              <a:ext cx="957263" cy="10048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9" name="Line 71">
              <a:extLst>
                <a:ext uri="{FF2B5EF4-FFF2-40B4-BE49-F238E27FC236}">
                  <a16:creationId xmlns:a16="http://schemas.microsoft.com/office/drawing/2014/main" id="{922BDE6F-DAA1-0FC5-837A-B727ED0FA722}"/>
                </a:ext>
              </a:extLst>
            </p:cNvPr>
            <p:cNvSpPr>
              <a:spLocks noChangeShapeType="1"/>
            </p:cNvSpPr>
            <p:nvPr/>
          </p:nvSpPr>
          <p:spPr bwMode="auto">
            <a:xfrm>
              <a:off x="6632575" y="4105275"/>
              <a:ext cx="18875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20" name="Line 72">
              <a:extLst>
                <a:ext uri="{FF2B5EF4-FFF2-40B4-BE49-F238E27FC236}">
                  <a16:creationId xmlns:a16="http://schemas.microsoft.com/office/drawing/2014/main" id="{6C9E9A7E-D5EA-24D1-BF7B-687308F652DD}"/>
                </a:ext>
              </a:extLst>
            </p:cNvPr>
            <p:cNvSpPr>
              <a:spLocks noChangeShapeType="1"/>
            </p:cNvSpPr>
            <p:nvPr/>
          </p:nvSpPr>
          <p:spPr bwMode="auto">
            <a:xfrm>
              <a:off x="5683250" y="5105400"/>
              <a:ext cx="21351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21" name="Line 73">
              <a:extLst>
                <a:ext uri="{FF2B5EF4-FFF2-40B4-BE49-F238E27FC236}">
                  <a16:creationId xmlns:a16="http://schemas.microsoft.com/office/drawing/2014/main" id="{5469C01F-28AC-AE76-877C-1D498670A2B4}"/>
                </a:ext>
              </a:extLst>
            </p:cNvPr>
            <p:cNvSpPr>
              <a:spLocks noChangeShapeType="1"/>
            </p:cNvSpPr>
            <p:nvPr/>
          </p:nvSpPr>
          <p:spPr bwMode="auto">
            <a:xfrm flipH="1">
              <a:off x="7820025" y="4103688"/>
              <a:ext cx="703263" cy="9985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22" name="Oval 74">
              <a:extLst>
                <a:ext uri="{FF2B5EF4-FFF2-40B4-BE49-F238E27FC236}">
                  <a16:creationId xmlns:a16="http://schemas.microsoft.com/office/drawing/2014/main" id="{00E20D9A-498F-64E0-6EC1-E6F757276241}"/>
                </a:ext>
              </a:extLst>
            </p:cNvPr>
            <p:cNvSpPr>
              <a:spLocks noChangeArrowheads="1"/>
            </p:cNvSpPr>
            <p:nvPr/>
          </p:nvSpPr>
          <p:spPr bwMode="auto">
            <a:xfrm>
              <a:off x="7610475" y="4918075"/>
              <a:ext cx="115888" cy="84138"/>
            </a:xfrm>
            <a:prstGeom prst="ellipse">
              <a:avLst/>
            </a:prstGeom>
            <a:solidFill>
              <a:schemeClr val="bg1"/>
            </a:solidFill>
            <a:ln w="12700">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23" name="Oval 75">
              <a:extLst>
                <a:ext uri="{FF2B5EF4-FFF2-40B4-BE49-F238E27FC236}">
                  <a16:creationId xmlns:a16="http://schemas.microsoft.com/office/drawing/2014/main" id="{3B53ED65-3CE1-829C-0C12-3E5F1A961238}"/>
                </a:ext>
              </a:extLst>
            </p:cNvPr>
            <p:cNvSpPr>
              <a:spLocks noChangeArrowheads="1"/>
            </p:cNvSpPr>
            <p:nvPr/>
          </p:nvSpPr>
          <p:spPr bwMode="auto">
            <a:xfrm>
              <a:off x="8170863" y="4171950"/>
              <a:ext cx="111125" cy="79375"/>
            </a:xfrm>
            <a:prstGeom prst="ellipse">
              <a:avLst/>
            </a:prstGeom>
            <a:solidFill>
              <a:schemeClr val="bg1"/>
            </a:solidFill>
            <a:ln w="12700">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nvGrpSpPr>
            <p:cNvPr id="224" name="Group 76">
              <a:extLst>
                <a:ext uri="{FF2B5EF4-FFF2-40B4-BE49-F238E27FC236}">
                  <a16:creationId xmlns:a16="http://schemas.microsoft.com/office/drawing/2014/main" id="{8B0C4AB3-8BF2-DC60-F085-F9E4E1BC7693}"/>
                </a:ext>
              </a:extLst>
            </p:cNvPr>
            <p:cNvGrpSpPr>
              <a:grpSpLocks/>
            </p:cNvGrpSpPr>
            <p:nvPr/>
          </p:nvGrpSpPr>
          <p:grpSpPr bwMode="auto">
            <a:xfrm>
              <a:off x="5854700" y="4144963"/>
              <a:ext cx="2532063" cy="896937"/>
              <a:chOff x="3256" y="2503"/>
              <a:chExt cx="1515" cy="603"/>
            </a:xfrm>
          </p:grpSpPr>
          <p:sp>
            <p:nvSpPr>
              <p:cNvPr id="225" name="Line 77">
                <a:extLst>
                  <a:ext uri="{FF2B5EF4-FFF2-40B4-BE49-F238E27FC236}">
                    <a16:creationId xmlns:a16="http://schemas.microsoft.com/office/drawing/2014/main" id="{DA29F7FE-258E-72ED-8E26-D8E02855B44D}"/>
                  </a:ext>
                </a:extLst>
              </p:cNvPr>
              <p:cNvSpPr>
                <a:spLocks noChangeShapeType="1"/>
              </p:cNvSpPr>
              <p:nvPr/>
            </p:nvSpPr>
            <p:spPr bwMode="auto">
              <a:xfrm flipH="1">
                <a:off x="3256" y="2503"/>
                <a:ext cx="511" cy="603"/>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26" name="Line 78">
                <a:extLst>
                  <a:ext uri="{FF2B5EF4-FFF2-40B4-BE49-F238E27FC236}">
                    <a16:creationId xmlns:a16="http://schemas.microsoft.com/office/drawing/2014/main" id="{C7812D9A-B2F6-A28A-9591-6A3C83B9A3A5}"/>
                  </a:ext>
                </a:extLst>
              </p:cNvPr>
              <p:cNvSpPr>
                <a:spLocks noChangeShapeType="1"/>
              </p:cNvSpPr>
              <p:nvPr/>
            </p:nvSpPr>
            <p:spPr bwMode="auto">
              <a:xfrm>
                <a:off x="3760" y="2506"/>
                <a:ext cx="1009" cy="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27" name="Line 79">
                <a:extLst>
                  <a:ext uri="{FF2B5EF4-FFF2-40B4-BE49-F238E27FC236}">
                    <a16:creationId xmlns:a16="http://schemas.microsoft.com/office/drawing/2014/main" id="{C00CC09F-5751-696C-8314-2B95BF4DA6E7}"/>
                  </a:ext>
                </a:extLst>
              </p:cNvPr>
              <p:cNvSpPr>
                <a:spLocks noChangeShapeType="1"/>
              </p:cNvSpPr>
              <p:nvPr/>
            </p:nvSpPr>
            <p:spPr bwMode="auto">
              <a:xfrm flipH="1">
                <a:off x="4390" y="2506"/>
                <a:ext cx="381" cy="598"/>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28" name="Line 80">
                <a:extLst>
                  <a:ext uri="{FF2B5EF4-FFF2-40B4-BE49-F238E27FC236}">
                    <a16:creationId xmlns:a16="http://schemas.microsoft.com/office/drawing/2014/main" id="{D045C536-917D-DBBE-246E-00ECBAB3701D}"/>
                  </a:ext>
                </a:extLst>
              </p:cNvPr>
              <p:cNvSpPr>
                <a:spLocks noChangeShapeType="1"/>
              </p:cNvSpPr>
              <p:nvPr/>
            </p:nvSpPr>
            <p:spPr bwMode="auto">
              <a:xfrm>
                <a:off x="3260" y="3102"/>
                <a:ext cx="116" cy="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29" name="Line 81">
                <a:extLst>
                  <a:ext uri="{FF2B5EF4-FFF2-40B4-BE49-F238E27FC236}">
                    <a16:creationId xmlns:a16="http://schemas.microsoft.com/office/drawing/2014/main" id="{A7E5940D-5A13-6FE6-D639-7E5F584B4744}"/>
                  </a:ext>
                </a:extLst>
              </p:cNvPr>
              <p:cNvSpPr>
                <a:spLocks noChangeShapeType="1"/>
              </p:cNvSpPr>
              <p:nvPr/>
            </p:nvSpPr>
            <p:spPr bwMode="auto">
              <a:xfrm flipV="1">
                <a:off x="3375" y="3049"/>
                <a:ext cx="41" cy="51"/>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30" name="Line 82">
                <a:extLst>
                  <a:ext uri="{FF2B5EF4-FFF2-40B4-BE49-F238E27FC236}">
                    <a16:creationId xmlns:a16="http://schemas.microsoft.com/office/drawing/2014/main" id="{0F8CE3AE-A1D2-0348-1921-417B8B1EFE23}"/>
                  </a:ext>
                </a:extLst>
              </p:cNvPr>
              <p:cNvSpPr>
                <a:spLocks noChangeShapeType="1"/>
              </p:cNvSpPr>
              <p:nvPr/>
            </p:nvSpPr>
            <p:spPr bwMode="auto">
              <a:xfrm>
                <a:off x="3415" y="3049"/>
                <a:ext cx="293" cy="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31" name="Line 83">
                <a:extLst>
                  <a:ext uri="{FF2B5EF4-FFF2-40B4-BE49-F238E27FC236}">
                    <a16:creationId xmlns:a16="http://schemas.microsoft.com/office/drawing/2014/main" id="{CDAE6281-2B44-488B-6CFB-D76DB729774A}"/>
                  </a:ext>
                </a:extLst>
              </p:cNvPr>
              <p:cNvSpPr>
                <a:spLocks noChangeShapeType="1"/>
              </p:cNvSpPr>
              <p:nvPr/>
            </p:nvSpPr>
            <p:spPr bwMode="auto">
              <a:xfrm flipH="1">
                <a:off x="3670" y="3047"/>
                <a:ext cx="37" cy="54"/>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32" name="Line 84">
                <a:extLst>
                  <a:ext uri="{FF2B5EF4-FFF2-40B4-BE49-F238E27FC236}">
                    <a16:creationId xmlns:a16="http://schemas.microsoft.com/office/drawing/2014/main" id="{51517788-05B3-1CE7-B06E-97D737857A60}"/>
                  </a:ext>
                </a:extLst>
              </p:cNvPr>
              <p:cNvSpPr>
                <a:spLocks noChangeShapeType="1"/>
              </p:cNvSpPr>
              <p:nvPr/>
            </p:nvSpPr>
            <p:spPr bwMode="auto">
              <a:xfrm>
                <a:off x="3676" y="3102"/>
                <a:ext cx="199" cy="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33" name="Line 85">
                <a:extLst>
                  <a:ext uri="{FF2B5EF4-FFF2-40B4-BE49-F238E27FC236}">
                    <a16:creationId xmlns:a16="http://schemas.microsoft.com/office/drawing/2014/main" id="{A6BCA07C-62B5-A609-51E6-B2A205B2D864}"/>
                  </a:ext>
                </a:extLst>
              </p:cNvPr>
              <p:cNvSpPr>
                <a:spLocks noChangeShapeType="1"/>
              </p:cNvSpPr>
              <p:nvPr/>
            </p:nvSpPr>
            <p:spPr bwMode="auto">
              <a:xfrm flipV="1">
                <a:off x="3873" y="3051"/>
                <a:ext cx="39" cy="5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34" name="Line 86">
                <a:extLst>
                  <a:ext uri="{FF2B5EF4-FFF2-40B4-BE49-F238E27FC236}">
                    <a16:creationId xmlns:a16="http://schemas.microsoft.com/office/drawing/2014/main" id="{136C7196-500F-B500-C002-1FF809942221}"/>
                  </a:ext>
                </a:extLst>
              </p:cNvPr>
              <p:cNvSpPr>
                <a:spLocks noChangeShapeType="1"/>
              </p:cNvSpPr>
              <p:nvPr/>
            </p:nvSpPr>
            <p:spPr bwMode="auto">
              <a:xfrm>
                <a:off x="3913" y="3049"/>
                <a:ext cx="298" cy="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35" name="Line 87">
                <a:extLst>
                  <a:ext uri="{FF2B5EF4-FFF2-40B4-BE49-F238E27FC236}">
                    <a16:creationId xmlns:a16="http://schemas.microsoft.com/office/drawing/2014/main" id="{50220505-26E0-8B0F-10B4-A98F6845036F}"/>
                  </a:ext>
                </a:extLst>
              </p:cNvPr>
              <p:cNvSpPr>
                <a:spLocks noChangeShapeType="1"/>
              </p:cNvSpPr>
              <p:nvPr/>
            </p:nvSpPr>
            <p:spPr bwMode="auto">
              <a:xfrm flipH="1">
                <a:off x="4183" y="3047"/>
                <a:ext cx="31" cy="54"/>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36" name="Line 88">
                <a:extLst>
                  <a:ext uri="{FF2B5EF4-FFF2-40B4-BE49-F238E27FC236}">
                    <a16:creationId xmlns:a16="http://schemas.microsoft.com/office/drawing/2014/main" id="{09A466B5-CFEE-1872-82BA-E7B4E2F8292D}"/>
                  </a:ext>
                </a:extLst>
              </p:cNvPr>
              <p:cNvSpPr>
                <a:spLocks noChangeShapeType="1"/>
              </p:cNvSpPr>
              <p:nvPr/>
            </p:nvSpPr>
            <p:spPr bwMode="auto">
              <a:xfrm>
                <a:off x="4185" y="3102"/>
                <a:ext cx="206" cy="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sp>
          <p:nvSpPr>
            <p:cNvPr id="237" name="Oval 89">
              <a:extLst>
                <a:ext uri="{FF2B5EF4-FFF2-40B4-BE49-F238E27FC236}">
                  <a16:creationId xmlns:a16="http://schemas.microsoft.com/office/drawing/2014/main" id="{1FCBE4D7-C678-02D1-FCA3-1C84E4BF5F9F}"/>
                </a:ext>
              </a:extLst>
            </p:cNvPr>
            <p:cNvSpPr>
              <a:spLocks noChangeArrowheads="1"/>
            </p:cNvSpPr>
            <p:nvPr/>
          </p:nvSpPr>
          <p:spPr bwMode="auto">
            <a:xfrm>
              <a:off x="7621588" y="3902075"/>
              <a:ext cx="117475" cy="82550"/>
            </a:xfrm>
            <a:prstGeom prst="ellipse">
              <a:avLst/>
            </a:prstGeom>
            <a:solidFill>
              <a:schemeClr val="bg1"/>
            </a:solidFill>
            <a:ln w="12700">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38" name="Oval 90">
              <a:extLst>
                <a:ext uri="{FF2B5EF4-FFF2-40B4-BE49-F238E27FC236}">
                  <a16:creationId xmlns:a16="http://schemas.microsoft.com/office/drawing/2014/main" id="{A93DDB4D-EE88-49E9-5FE4-9DA29CDCB74A}"/>
                </a:ext>
              </a:extLst>
            </p:cNvPr>
            <p:cNvSpPr>
              <a:spLocks noChangeArrowheads="1"/>
            </p:cNvSpPr>
            <p:nvPr/>
          </p:nvSpPr>
          <p:spPr bwMode="auto">
            <a:xfrm>
              <a:off x="8185150" y="3157538"/>
              <a:ext cx="109538" cy="79375"/>
            </a:xfrm>
            <a:prstGeom prst="ellipse">
              <a:avLst/>
            </a:prstGeom>
            <a:solidFill>
              <a:schemeClr val="bg1"/>
            </a:solidFill>
            <a:ln w="12700">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nvGrpSpPr>
            <p:cNvPr id="239" name="Group 91">
              <a:extLst>
                <a:ext uri="{FF2B5EF4-FFF2-40B4-BE49-F238E27FC236}">
                  <a16:creationId xmlns:a16="http://schemas.microsoft.com/office/drawing/2014/main" id="{8E40A1A4-9D6D-3290-43AC-24B17814956F}"/>
                </a:ext>
              </a:extLst>
            </p:cNvPr>
            <p:cNvGrpSpPr>
              <a:grpSpLocks/>
            </p:cNvGrpSpPr>
            <p:nvPr/>
          </p:nvGrpSpPr>
          <p:grpSpPr bwMode="auto">
            <a:xfrm>
              <a:off x="5867400" y="3128963"/>
              <a:ext cx="2533650" cy="896937"/>
              <a:chOff x="3263" y="1821"/>
              <a:chExt cx="1516" cy="602"/>
            </a:xfrm>
          </p:grpSpPr>
          <p:sp>
            <p:nvSpPr>
              <p:cNvPr id="240" name="Line 92">
                <a:extLst>
                  <a:ext uri="{FF2B5EF4-FFF2-40B4-BE49-F238E27FC236}">
                    <a16:creationId xmlns:a16="http://schemas.microsoft.com/office/drawing/2014/main" id="{B0C7E256-E577-5366-6B62-E1BA2B77EB11}"/>
                  </a:ext>
                </a:extLst>
              </p:cNvPr>
              <p:cNvSpPr>
                <a:spLocks noChangeShapeType="1"/>
              </p:cNvSpPr>
              <p:nvPr/>
            </p:nvSpPr>
            <p:spPr bwMode="auto">
              <a:xfrm flipH="1">
                <a:off x="3263" y="1821"/>
                <a:ext cx="511" cy="60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41" name="Line 93">
                <a:extLst>
                  <a:ext uri="{FF2B5EF4-FFF2-40B4-BE49-F238E27FC236}">
                    <a16:creationId xmlns:a16="http://schemas.microsoft.com/office/drawing/2014/main" id="{1F6D7B9C-AEC8-4DFA-C819-6240CBFD1293}"/>
                  </a:ext>
                </a:extLst>
              </p:cNvPr>
              <p:cNvSpPr>
                <a:spLocks noChangeShapeType="1"/>
              </p:cNvSpPr>
              <p:nvPr/>
            </p:nvSpPr>
            <p:spPr bwMode="auto">
              <a:xfrm>
                <a:off x="3768" y="1823"/>
                <a:ext cx="100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42" name="Line 94">
                <a:extLst>
                  <a:ext uri="{FF2B5EF4-FFF2-40B4-BE49-F238E27FC236}">
                    <a16:creationId xmlns:a16="http://schemas.microsoft.com/office/drawing/2014/main" id="{23E8F715-2328-F7EB-A04C-81651F624E35}"/>
                  </a:ext>
                </a:extLst>
              </p:cNvPr>
              <p:cNvSpPr>
                <a:spLocks noChangeShapeType="1"/>
              </p:cNvSpPr>
              <p:nvPr/>
            </p:nvSpPr>
            <p:spPr bwMode="auto">
              <a:xfrm flipH="1">
                <a:off x="4398" y="1823"/>
                <a:ext cx="381" cy="59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43" name="Line 95">
                <a:extLst>
                  <a:ext uri="{FF2B5EF4-FFF2-40B4-BE49-F238E27FC236}">
                    <a16:creationId xmlns:a16="http://schemas.microsoft.com/office/drawing/2014/main" id="{89FBB821-FC8C-D207-CFC6-D85CE3A0533B}"/>
                  </a:ext>
                </a:extLst>
              </p:cNvPr>
              <p:cNvSpPr>
                <a:spLocks noChangeShapeType="1"/>
              </p:cNvSpPr>
              <p:nvPr/>
            </p:nvSpPr>
            <p:spPr bwMode="auto">
              <a:xfrm>
                <a:off x="3267" y="2419"/>
                <a:ext cx="11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44" name="Line 96">
                <a:extLst>
                  <a:ext uri="{FF2B5EF4-FFF2-40B4-BE49-F238E27FC236}">
                    <a16:creationId xmlns:a16="http://schemas.microsoft.com/office/drawing/2014/main" id="{B087DE7D-5A9A-E25A-41C7-93DE07E1E12F}"/>
                  </a:ext>
                </a:extLst>
              </p:cNvPr>
              <p:cNvSpPr>
                <a:spLocks noChangeShapeType="1"/>
              </p:cNvSpPr>
              <p:nvPr/>
            </p:nvSpPr>
            <p:spPr bwMode="auto">
              <a:xfrm flipV="1">
                <a:off x="3383" y="2367"/>
                <a:ext cx="41" cy="5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45" name="Line 97">
                <a:extLst>
                  <a:ext uri="{FF2B5EF4-FFF2-40B4-BE49-F238E27FC236}">
                    <a16:creationId xmlns:a16="http://schemas.microsoft.com/office/drawing/2014/main" id="{10B08DF1-67AB-18BC-4CD8-C4379C3537F5}"/>
                  </a:ext>
                </a:extLst>
              </p:cNvPr>
              <p:cNvSpPr>
                <a:spLocks noChangeShapeType="1"/>
              </p:cNvSpPr>
              <p:nvPr/>
            </p:nvSpPr>
            <p:spPr bwMode="auto">
              <a:xfrm>
                <a:off x="3423" y="2367"/>
                <a:ext cx="29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46" name="Line 98">
                <a:extLst>
                  <a:ext uri="{FF2B5EF4-FFF2-40B4-BE49-F238E27FC236}">
                    <a16:creationId xmlns:a16="http://schemas.microsoft.com/office/drawing/2014/main" id="{FFC6EEE2-C139-27C4-4A3B-A9A1B1995A80}"/>
                  </a:ext>
                </a:extLst>
              </p:cNvPr>
              <p:cNvSpPr>
                <a:spLocks noChangeShapeType="1"/>
              </p:cNvSpPr>
              <p:nvPr/>
            </p:nvSpPr>
            <p:spPr bwMode="auto">
              <a:xfrm flipH="1">
                <a:off x="3678" y="2365"/>
                <a:ext cx="37" cy="5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47" name="Line 99">
                <a:extLst>
                  <a:ext uri="{FF2B5EF4-FFF2-40B4-BE49-F238E27FC236}">
                    <a16:creationId xmlns:a16="http://schemas.microsoft.com/office/drawing/2014/main" id="{42D8AF3A-E09A-7DDF-AEF4-3667794CAAE4}"/>
                  </a:ext>
                </a:extLst>
              </p:cNvPr>
              <p:cNvSpPr>
                <a:spLocks noChangeShapeType="1"/>
              </p:cNvSpPr>
              <p:nvPr/>
            </p:nvSpPr>
            <p:spPr bwMode="auto">
              <a:xfrm>
                <a:off x="3683" y="2419"/>
                <a:ext cx="19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48" name="Line 100">
                <a:extLst>
                  <a:ext uri="{FF2B5EF4-FFF2-40B4-BE49-F238E27FC236}">
                    <a16:creationId xmlns:a16="http://schemas.microsoft.com/office/drawing/2014/main" id="{9D18BC67-B9EE-19E4-9C06-7C2ED30508EE}"/>
                  </a:ext>
                </a:extLst>
              </p:cNvPr>
              <p:cNvSpPr>
                <a:spLocks noChangeShapeType="1"/>
              </p:cNvSpPr>
              <p:nvPr/>
            </p:nvSpPr>
            <p:spPr bwMode="auto">
              <a:xfrm flipV="1">
                <a:off x="3881" y="2368"/>
                <a:ext cx="39"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49" name="Line 101">
                <a:extLst>
                  <a:ext uri="{FF2B5EF4-FFF2-40B4-BE49-F238E27FC236}">
                    <a16:creationId xmlns:a16="http://schemas.microsoft.com/office/drawing/2014/main" id="{AE13645B-22C9-AA20-726B-409C4F9B036E}"/>
                  </a:ext>
                </a:extLst>
              </p:cNvPr>
              <p:cNvSpPr>
                <a:spLocks noChangeShapeType="1"/>
              </p:cNvSpPr>
              <p:nvPr/>
            </p:nvSpPr>
            <p:spPr bwMode="auto">
              <a:xfrm>
                <a:off x="3921" y="2367"/>
                <a:ext cx="29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50" name="Line 102">
                <a:extLst>
                  <a:ext uri="{FF2B5EF4-FFF2-40B4-BE49-F238E27FC236}">
                    <a16:creationId xmlns:a16="http://schemas.microsoft.com/office/drawing/2014/main" id="{03B865D3-274D-D977-A8B3-6B96E3E31B19}"/>
                  </a:ext>
                </a:extLst>
              </p:cNvPr>
              <p:cNvSpPr>
                <a:spLocks noChangeShapeType="1"/>
              </p:cNvSpPr>
              <p:nvPr/>
            </p:nvSpPr>
            <p:spPr bwMode="auto">
              <a:xfrm flipH="1">
                <a:off x="4191" y="2365"/>
                <a:ext cx="31" cy="5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51" name="Line 103">
                <a:extLst>
                  <a:ext uri="{FF2B5EF4-FFF2-40B4-BE49-F238E27FC236}">
                    <a16:creationId xmlns:a16="http://schemas.microsoft.com/office/drawing/2014/main" id="{E137D251-90DA-C0A3-7F07-E5516A8CAFE6}"/>
                  </a:ext>
                </a:extLst>
              </p:cNvPr>
              <p:cNvSpPr>
                <a:spLocks noChangeShapeType="1"/>
              </p:cNvSpPr>
              <p:nvPr/>
            </p:nvSpPr>
            <p:spPr bwMode="auto">
              <a:xfrm>
                <a:off x="4192" y="2419"/>
                <a:ext cx="20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sp>
          <p:nvSpPr>
            <p:cNvPr id="252" name="Line 104">
              <a:extLst>
                <a:ext uri="{FF2B5EF4-FFF2-40B4-BE49-F238E27FC236}">
                  <a16:creationId xmlns:a16="http://schemas.microsoft.com/office/drawing/2014/main" id="{8EEDB55E-FBCA-BCC5-7E6D-6B82B7D5BB3B}"/>
                </a:ext>
              </a:extLst>
            </p:cNvPr>
            <p:cNvSpPr>
              <a:spLocks noChangeShapeType="1"/>
            </p:cNvSpPr>
            <p:nvPr/>
          </p:nvSpPr>
          <p:spPr bwMode="auto">
            <a:xfrm flipH="1" flipV="1">
              <a:off x="5711825" y="4357688"/>
              <a:ext cx="530225" cy="2651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53" name="Rectangle 105">
              <a:extLst>
                <a:ext uri="{FF2B5EF4-FFF2-40B4-BE49-F238E27FC236}">
                  <a16:creationId xmlns:a16="http://schemas.microsoft.com/office/drawing/2014/main" id="{96EB4433-E792-8269-08ED-354E4001FB98}"/>
                </a:ext>
              </a:extLst>
            </p:cNvPr>
            <p:cNvSpPr>
              <a:spLocks noChangeArrowheads="1"/>
            </p:cNvSpPr>
            <p:nvPr/>
          </p:nvSpPr>
          <p:spPr bwMode="auto">
            <a:xfrm>
              <a:off x="4918075" y="4040188"/>
              <a:ext cx="1127125"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sz="1200">
                  <a:latin typeface="Roboto" panose="02000000000000000000" pitchFamily="2" charset="0"/>
                  <a:ea typeface="Roboto" panose="02000000000000000000" pitchFamily="2" charset="0"/>
                </a:rPr>
                <a:t>Panel Trim Lines</a:t>
              </a:r>
            </a:p>
          </p:txBody>
        </p:sp>
        <p:sp>
          <p:nvSpPr>
            <p:cNvPr id="254" name="Rectangle 106">
              <a:extLst>
                <a:ext uri="{FF2B5EF4-FFF2-40B4-BE49-F238E27FC236}">
                  <a16:creationId xmlns:a16="http://schemas.microsoft.com/office/drawing/2014/main" id="{C3A0C294-0764-1322-7F67-F94695B7E0F3}"/>
                </a:ext>
              </a:extLst>
            </p:cNvPr>
            <p:cNvSpPr>
              <a:spLocks noChangeArrowheads="1"/>
            </p:cNvSpPr>
            <p:nvPr/>
          </p:nvSpPr>
          <p:spPr bwMode="auto">
            <a:xfrm>
              <a:off x="6391275" y="3548063"/>
              <a:ext cx="1127125"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sz="1200">
                  <a:latin typeface="Roboto" panose="02000000000000000000" pitchFamily="2" charset="0"/>
                  <a:ea typeface="Roboto" panose="02000000000000000000" pitchFamily="2" charset="0"/>
                </a:rPr>
                <a:t>Trim Template</a:t>
              </a:r>
            </a:p>
          </p:txBody>
        </p:sp>
        <p:sp>
          <p:nvSpPr>
            <p:cNvPr id="255" name="Rectangle 107">
              <a:extLst>
                <a:ext uri="{FF2B5EF4-FFF2-40B4-BE49-F238E27FC236}">
                  <a16:creationId xmlns:a16="http://schemas.microsoft.com/office/drawing/2014/main" id="{55BCD790-01F9-FF67-8023-4F25E899737C}"/>
                </a:ext>
              </a:extLst>
            </p:cNvPr>
            <p:cNvSpPr>
              <a:spLocks noChangeArrowheads="1"/>
            </p:cNvSpPr>
            <p:nvPr/>
          </p:nvSpPr>
          <p:spPr bwMode="auto">
            <a:xfrm>
              <a:off x="7394575" y="2371725"/>
              <a:ext cx="1127125"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sz="1200">
                  <a:latin typeface="Roboto" panose="02000000000000000000" pitchFamily="2" charset="0"/>
                  <a:ea typeface="Roboto" panose="02000000000000000000" pitchFamily="2" charset="0"/>
                </a:rPr>
                <a:t>Locating Holes</a:t>
              </a:r>
            </a:p>
          </p:txBody>
        </p:sp>
        <p:sp>
          <p:nvSpPr>
            <p:cNvPr id="256" name="Line 108">
              <a:extLst>
                <a:ext uri="{FF2B5EF4-FFF2-40B4-BE49-F238E27FC236}">
                  <a16:creationId xmlns:a16="http://schemas.microsoft.com/office/drawing/2014/main" id="{6F490C48-1FEE-0CCA-9B4E-E1B7C3BFC083}"/>
                </a:ext>
              </a:extLst>
            </p:cNvPr>
            <p:cNvSpPr>
              <a:spLocks noChangeShapeType="1"/>
            </p:cNvSpPr>
            <p:nvPr/>
          </p:nvSpPr>
          <p:spPr bwMode="auto">
            <a:xfrm flipV="1">
              <a:off x="8229600" y="3370263"/>
              <a:ext cx="0" cy="8016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57" name="Line 109">
              <a:extLst>
                <a:ext uri="{FF2B5EF4-FFF2-40B4-BE49-F238E27FC236}">
                  <a16:creationId xmlns:a16="http://schemas.microsoft.com/office/drawing/2014/main" id="{38FE48D0-DC61-7EE0-2E07-5A923146A65E}"/>
                </a:ext>
              </a:extLst>
            </p:cNvPr>
            <p:cNvSpPr>
              <a:spLocks noChangeShapeType="1"/>
            </p:cNvSpPr>
            <p:nvPr/>
          </p:nvSpPr>
          <p:spPr bwMode="auto">
            <a:xfrm flipV="1">
              <a:off x="7670800" y="4021138"/>
              <a:ext cx="0" cy="8937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58" name="Line 110">
              <a:extLst>
                <a:ext uri="{FF2B5EF4-FFF2-40B4-BE49-F238E27FC236}">
                  <a16:creationId xmlns:a16="http://schemas.microsoft.com/office/drawing/2014/main" id="{CEFE365A-B2C6-517A-48FC-281C49DFD257}"/>
                </a:ext>
              </a:extLst>
            </p:cNvPr>
            <p:cNvSpPr>
              <a:spLocks noChangeShapeType="1"/>
            </p:cNvSpPr>
            <p:nvPr/>
          </p:nvSpPr>
          <p:spPr bwMode="auto">
            <a:xfrm flipV="1">
              <a:off x="8229600" y="2646363"/>
              <a:ext cx="0" cy="515937"/>
            </a:xfrm>
            <a:prstGeom prst="line">
              <a:avLst/>
            </a:prstGeom>
            <a:noFill/>
            <a:ln w="127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59" name="Line 111">
              <a:extLst>
                <a:ext uri="{FF2B5EF4-FFF2-40B4-BE49-F238E27FC236}">
                  <a16:creationId xmlns:a16="http://schemas.microsoft.com/office/drawing/2014/main" id="{799C908F-590A-6E90-D44D-D10AE808D76C}"/>
                </a:ext>
              </a:extLst>
            </p:cNvPr>
            <p:cNvSpPr>
              <a:spLocks noChangeShapeType="1"/>
            </p:cNvSpPr>
            <p:nvPr/>
          </p:nvSpPr>
          <p:spPr bwMode="auto">
            <a:xfrm flipV="1">
              <a:off x="7670800" y="2644775"/>
              <a:ext cx="0" cy="1258888"/>
            </a:xfrm>
            <a:prstGeom prst="line">
              <a:avLst/>
            </a:prstGeom>
            <a:noFill/>
            <a:ln w="127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23752879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541B5-6FCF-44EB-7F42-1799FCC1F219}"/>
              </a:ext>
            </a:extLst>
          </p:cNvPr>
          <p:cNvSpPr>
            <a:spLocks noGrp="1"/>
          </p:cNvSpPr>
          <p:nvPr>
            <p:ph type="title"/>
          </p:nvPr>
        </p:nvSpPr>
        <p:spPr/>
        <p:txBody>
          <a:bodyPr/>
          <a:lstStyle/>
          <a:p>
            <a:r>
              <a:rPr lang="en-US" dirty="0"/>
              <a:t>Limit Switch</a:t>
            </a:r>
          </a:p>
        </p:txBody>
      </p:sp>
      <p:grpSp>
        <p:nvGrpSpPr>
          <p:cNvPr id="3" name="Group 2">
            <a:extLst>
              <a:ext uri="{FF2B5EF4-FFF2-40B4-BE49-F238E27FC236}">
                <a16:creationId xmlns:a16="http://schemas.microsoft.com/office/drawing/2014/main" id="{D9E84803-CAE1-A3B5-9A81-D9A216B7FD44}"/>
              </a:ext>
            </a:extLst>
          </p:cNvPr>
          <p:cNvGrpSpPr/>
          <p:nvPr/>
        </p:nvGrpSpPr>
        <p:grpSpPr>
          <a:xfrm>
            <a:off x="838200" y="297639"/>
            <a:ext cx="3310890" cy="307138"/>
            <a:chOff x="838200" y="297639"/>
            <a:chExt cx="3310890" cy="307138"/>
          </a:xfrm>
        </p:grpSpPr>
        <p:grpSp>
          <p:nvGrpSpPr>
            <p:cNvPr id="4" name="Group 3">
              <a:extLst>
                <a:ext uri="{FF2B5EF4-FFF2-40B4-BE49-F238E27FC236}">
                  <a16:creationId xmlns:a16="http://schemas.microsoft.com/office/drawing/2014/main" id="{C19AFDA2-C484-5731-4029-E38F6C629005}"/>
                </a:ext>
              </a:extLst>
            </p:cNvPr>
            <p:cNvGrpSpPr/>
            <p:nvPr/>
          </p:nvGrpSpPr>
          <p:grpSpPr>
            <a:xfrm>
              <a:off x="838200" y="297639"/>
              <a:ext cx="1060167" cy="290657"/>
              <a:chOff x="826426" y="4041857"/>
              <a:chExt cx="1060167" cy="290657"/>
            </a:xfrm>
          </p:grpSpPr>
          <p:sp>
            <p:nvSpPr>
              <p:cNvPr id="6" name="AutoShape 9">
                <a:extLst>
                  <a:ext uri="{FF2B5EF4-FFF2-40B4-BE49-F238E27FC236}">
                    <a16:creationId xmlns:a16="http://schemas.microsoft.com/office/drawing/2014/main" id="{97BBEB04-56E2-66C8-7CD1-2D3F16D608D6}"/>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7" name="AutoShape 11">
                <a:extLst>
                  <a:ext uri="{FF2B5EF4-FFF2-40B4-BE49-F238E27FC236}">
                    <a16:creationId xmlns:a16="http://schemas.microsoft.com/office/drawing/2014/main" id="{4FC6F8A3-873E-D30F-ED81-15956AF4DDE1}"/>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8" name="AutoShape 10">
                <a:extLst>
                  <a:ext uri="{FF2B5EF4-FFF2-40B4-BE49-F238E27FC236}">
                    <a16:creationId xmlns:a16="http://schemas.microsoft.com/office/drawing/2014/main" id="{873F9745-BF3A-05EC-9963-006BA1E4FCB8}"/>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5" name="TextBox 4">
              <a:extLst>
                <a:ext uri="{FF2B5EF4-FFF2-40B4-BE49-F238E27FC236}">
                  <a16:creationId xmlns:a16="http://schemas.microsoft.com/office/drawing/2014/main" id="{58A720E4-B5DF-AE75-77DE-ABE1EA41CC4C}"/>
                </a:ext>
              </a:extLst>
            </p:cNvPr>
            <p:cNvSpPr txBox="1"/>
            <p:nvPr/>
          </p:nvSpPr>
          <p:spPr>
            <a:xfrm>
              <a:off x="1908497" y="313415"/>
              <a:ext cx="22405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Poka-Yoke Examples</a:t>
              </a:r>
            </a:p>
          </p:txBody>
        </p:sp>
      </p:grpSp>
      <p:grpSp>
        <p:nvGrpSpPr>
          <p:cNvPr id="16" name="Group 15">
            <a:extLst>
              <a:ext uri="{FF2B5EF4-FFF2-40B4-BE49-F238E27FC236}">
                <a16:creationId xmlns:a16="http://schemas.microsoft.com/office/drawing/2014/main" id="{5C62207F-9300-BE72-D76A-3CB7CF48E4F6}"/>
              </a:ext>
            </a:extLst>
          </p:cNvPr>
          <p:cNvGrpSpPr/>
          <p:nvPr/>
        </p:nvGrpSpPr>
        <p:grpSpPr>
          <a:xfrm>
            <a:off x="1688458" y="1981200"/>
            <a:ext cx="8815085" cy="3916680"/>
            <a:chOff x="1143000" y="1676400"/>
            <a:chExt cx="7162800" cy="2895600"/>
          </a:xfrm>
        </p:grpSpPr>
        <p:sp>
          <p:nvSpPr>
            <p:cNvPr id="9" name="Text Box 2">
              <a:extLst>
                <a:ext uri="{FF2B5EF4-FFF2-40B4-BE49-F238E27FC236}">
                  <a16:creationId xmlns:a16="http://schemas.microsoft.com/office/drawing/2014/main" id="{8DBC53E3-0344-3DBD-4840-A03CABFA3525}"/>
                </a:ext>
              </a:extLst>
            </p:cNvPr>
            <p:cNvSpPr txBox="1">
              <a:spLocks noChangeArrowheads="1"/>
            </p:cNvSpPr>
            <p:nvPr/>
          </p:nvSpPr>
          <p:spPr bwMode="auto">
            <a:xfrm>
              <a:off x="1905000" y="1843088"/>
              <a:ext cx="10668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Aft>
                  <a:spcPct val="0"/>
                </a:spcAft>
                <a:buClrTx/>
                <a:buSzTx/>
                <a:buFontTx/>
                <a:buNone/>
              </a:pPr>
              <a:endParaRPr lang="en-US" altLang="en-US" sz="3200">
                <a:latin typeface="Roboto" panose="02000000000000000000" pitchFamily="2" charset="0"/>
                <a:ea typeface="Roboto" panose="02000000000000000000" pitchFamily="2" charset="0"/>
              </a:endParaRPr>
            </a:p>
          </p:txBody>
        </p:sp>
        <p:pic>
          <p:nvPicPr>
            <p:cNvPr id="10" name="Picture 4" descr="ls">
              <a:extLst>
                <a:ext uri="{FF2B5EF4-FFF2-40B4-BE49-F238E27FC236}">
                  <a16:creationId xmlns:a16="http://schemas.microsoft.com/office/drawing/2014/main" id="{3DAD028A-715A-11D7-9F25-15CD68A1E8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2209800"/>
              <a:ext cx="1778000" cy="177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5">
              <a:extLst>
                <a:ext uri="{FF2B5EF4-FFF2-40B4-BE49-F238E27FC236}">
                  <a16:creationId xmlns:a16="http://schemas.microsoft.com/office/drawing/2014/main" id="{5FDD3F61-94CB-D198-6D3D-101698AAFF74}"/>
                </a:ext>
              </a:extLst>
            </p:cNvPr>
            <p:cNvSpPr txBox="1">
              <a:spLocks noChangeArrowheads="1"/>
            </p:cNvSpPr>
            <p:nvPr/>
          </p:nvSpPr>
          <p:spPr bwMode="auto">
            <a:xfrm>
              <a:off x="1143000" y="4191000"/>
              <a:ext cx="1981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sz="1800">
                  <a:latin typeface="Roboto" panose="02000000000000000000" pitchFamily="2" charset="0"/>
                  <a:ea typeface="Roboto" panose="02000000000000000000" pitchFamily="2" charset="0"/>
                </a:rPr>
                <a:t>Limit Switches</a:t>
              </a:r>
            </a:p>
          </p:txBody>
        </p:sp>
        <p:pic>
          <p:nvPicPr>
            <p:cNvPr id="12" name="Picture 6" descr="lr2img">
              <a:extLst>
                <a:ext uri="{FF2B5EF4-FFF2-40B4-BE49-F238E27FC236}">
                  <a16:creationId xmlns:a16="http://schemas.microsoft.com/office/drawing/2014/main" id="{C768D585-FDC8-92EA-9F68-5D7EC103FB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1200" y="1905000"/>
              <a:ext cx="2286000" cy="149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 Box 7">
              <a:extLst>
                <a:ext uri="{FF2B5EF4-FFF2-40B4-BE49-F238E27FC236}">
                  <a16:creationId xmlns:a16="http://schemas.microsoft.com/office/drawing/2014/main" id="{59F65918-95DA-9E96-1E30-7306478E8042}"/>
                </a:ext>
              </a:extLst>
            </p:cNvPr>
            <p:cNvSpPr txBox="1">
              <a:spLocks noChangeArrowheads="1"/>
            </p:cNvSpPr>
            <p:nvPr/>
          </p:nvSpPr>
          <p:spPr bwMode="auto">
            <a:xfrm>
              <a:off x="5715000" y="3581400"/>
              <a:ext cx="2590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Aft>
                  <a:spcPct val="0"/>
                </a:spcAft>
                <a:buClrTx/>
                <a:buSzTx/>
                <a:buFontTx/>
                <a:buNone/>
              </a:pPr>
              <a:r>
                <a:rPr lang="en-US" altLang="en-US" sz="1800">
                  <a:latin typeface="Roboto" panose="02000000000000000000" pitchFamily="2" charset="0"/>
                  <a:ea typeface="Roboto" panose="02000000000000000000" pitchFamily="2" charset="0"/>
                </a:rPr>
                <a:t>Toggle Switches</a:t>
              </a:r>
            </a:p>
          </p:txBody>
        </p:sp>
        <p:pic>
          <p:nvPicPr>
            <p:cNvPr id="14" name="Picture 8" descr="ab2img">
              <a:extLst>
                <a:ext uri="{FF2B5EF4-FFF2-40B4-BE49-F238E27FC236}">
                  <a16:creationId xmlns:a16="http://schemas.microsoft.com/office/drawing/2014/main" id="{124C1758-6D70-AAC2-961C-B6E2661B260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81400" y="1676400"/>
              <a:ext cx="15240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9" descr="fb2img">
              <a:extLst>
                <a:ext uri="{FF2B5EF4-FFF2-40B4-BE49-F238E27FC236}">
                  <a16:creationId xmlns:a16="http://schemas.microsoft.com/office/drawing/2014/main" id="{8568CBC9-438B-0817-99E5-E4802BC0F24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81400" y="3200400"/>
              <a:ext cx="15240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1309953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541B5-6FCF-44EB-7F42-1799FCC1F219}"/>
              </a:ext>
            </a:extLst>
          </p:cNvPr>
          <p:cNvSpPr>
            <a:spLocks noGrp="1"/>
          </p:cNvSpPr>
          <p:nvPr>
            <p:ph type="title"/>
          </p:nvPr>
        </p:nvSpPr>
        <p:spPr/>
        <p:txBody>
          <a:bodyPr/>
          <a:lstStyle/>
          <a:p>
            <a:r>
              <a:rPr lang="en-US" dirty="0"/>
              <a:t>Counting Method</a:t>
            </a:r>
          </a:p>
        </p:txBody>
      </p:sp>
      <p:grpSp>
        <p:nvGrpSpPr>
          <p:cNvPr id="3" name="Group 2">
            <a:extLst>
              <a:ext uri="{FF2B5EF4-FFF2-40B4-BE49-F238E27FC236}">
                <a16:creationId xmlns:a16="http://schemas.microsoft.com/office/drawing/2014/main" id="{D9E84803-CAE1-A3B5-9A81-D9A216B7FD44}"/>
              </a:ext>
            </a:extLst>
          </p:cNvPr>
          <p:cNvGrpSpPr/>
          <p:nvPr/>
        </p:nvGrpSpPr>
        <p:grpSpPr>
          <a:xfrm>
            <a:off x="838200" y="297639"/>
            <a:ext cx="3310890" cy="307138"/>
            <a:chOff x="838200" y="297639"/>
            <a:chExt cx="3310890" cy="307138"/>
          </a:xfrm>
        </p:grpSpPr>
        <p:grpSp>
          <p:nvGrpSpPr>
            <p:cNvPr id="4" name="Group 3">
              <a:extLst>
                <a:ext uri="{FF2B5EF4-FFF2-40B4-BE49-F238E27FC236}">
                  <a16:creationId xmlns:a16="http://schemas.microsoft.com/office/drawing/2014/main" id="{C19AFDA2-C484-5731-4029-E38F6C629005}"/>
                </a:ext>
              </a:extLst>
            </p:cNvPr>
            <p:cNvGrpSpPr/>
            <p:nvPr/>
          </p:nvGrpSpPr>
          <p:grpSpPr>
            <a:xfrm>
              <a:off x="838200" y="297639"/>
              <a:ext cx="1060167" cy="290657"/>
              <a:chOff x="826426" y="4041857"/>
              <a:chExt cx="1060167" cy="290657"/>
            </a:xfrm>
          </p:grpSpPr>
          <p:sp>
            <p:nvSpPr>
              <p:cNvPr id="6" name="AutoShape 9">
                <a:extLst>
                  <a:ext uri="{FF2B5EF4-FFF2-40B4-BE49-F238E27FC236}">
                    <a16:creationId xmlns:a16="http://schemas.microsoft.com/office/drawing/2014/main" id="{97BBEB04-56E2-66C8-7CD1-2D3F16D608D6}"/>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7" name="AutoShape 11">
                <a:extLst>
                  <a:ext uri="{FF2B5EF4-FFF2-40B4-BE49-F238E27FC236}">
                    <a16:creationId xmlns:a16="http://schemas.microsoft.com/office/drawing/2014/main" id="{4FC6F8A3-873E-D30F-ED81-15956AF4DDE1}"/>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8" name="AutoShape 10">
                <a:extLst>
                  <a:ext uri="{FF2B5EF4-FFF2-40B4-BE49-F238E27FC236}">
                    <a16:creationId xmlns:a16="http://schemas.microsoft.com/office/drawing/2014/main" id="{873F9745-BF3A-05EC-9963-006BA1E4FCB8}"/>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5" name="TextBox 4">
              <a:extLst>
                <a:ext uri="{FF2B5EF4-FFF2-40B4-BE49-F238E27FC236}">
                  <a16:creationId xmlns:a16="http://schemas.microsoft.com/office/drawing/2014/main" id="{58A720E4-B5DF-AE75-77DE-ABE1EA41CC4C}"/>
                </a:ext>
              </a:extLst>
            </p:cNvPr>
            <p:cNvSpPr txBox="1"/>
            <p:nvPr/>
          </p:nvSpPr>
          <p:spPr>
            <a:xfrm>
              <a:off x="1908497" y="313415"/>
              <a:ext cx="22405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Poka-Yoke Examples</a:t>
              </a:r>
            </a:p>
          </p:txBody>
        </p:sp>
      </p:grpSp>
      <p:grpSp>
        <p:nvGrpSpPr>
          <p:cNvPr id="19" name="Group 18">
            <a:extLst>
              <a:ext uri="{FF2B5EF4-FFF2-40B4-BE49-F238E27FC236}">
                <a16:creationId xmlns:a16="http://schemas.microsoft.com/office/drawing/2014/main" id="{0F97ED53-9112-3A57-3083-DC7C24FA7C60}"/>
              </a:ext>
            </a:extLst>
          </p:cNvPr>
          <p:cNvGrpSpPr/>
          <p:nvPr/>
        </p:nvGrpSpPr>
        <p:grpSpPr>
          <a:xfrm>
            <a:off x="1271016" y="1924050"/>
            <a:ext cx="9106217" cy="4092893"/>
            <a:chOff x="1271016" y="1924050"/>
            <a:chExt cx="9106217" cy="4092893"/>
          </a:xfrm>
        </p:grpSpPr>
        <p:sp>
          <p:nvSpPr>
            <p:cNvPr id="17" name="Text Box 6">
              <a:extLst>
                <a:ext uri="{FF2B5EF4-FFF2-40B4-BE49-F238E27FC236}">
                  <a16:creationId xmlns:a16="http://schemas.microsoft.com/office/drawing/2014/main" id="{71C4C83E-650C-96E0-C827-F39C12DAEF7C}"/>
                </a:ext>
              </a:extLst>
            </p:cNvPr>
            <p:cNvSpPr txBox="1">
              <a:spLocks noChangeArrowheads="1"/>
            </p:cNvSpPr>
            <p:nvPr/>
          </p:nvSpPr>
          <p:spPr bwMode="auto">
            <a:xfrm>
              <a:off x="1271016" y="1924050"/>
              <a:ext cx="4535423" cy="3077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Aft>
                  <a:spcPct val="0"/>
                </a:spcAft>
                <a:buClrTx/>
                <a:buSzTx/>
                <a:buFontTx/>
                <a:buNone/>
              </a:pPr>
              <a:r>
                <a:rPr lang="en-US" altLang="en-US" sz="2000" dirty="0">
                  <a:latin typeface="Roboto" panose="02000000000000000000" pitchFamily="2" charset="0"/>
                  <a:ea typeface="Roboto" panose="02000000000000000000" pitchFamily="2" charset="0"/>
                </a:rPr>
                <a:t>Used when a </a:t>
              </a:r>
              <a:r>
                <a:rPr lang="en-US" altLang="en-US" sz="2400" i="1" dirty="0">
                  <a:latin typeface="Roboto" panose="02000000000000000000" pitchFamily="2" charset="0"/>
                  <a:ea typeface="Roboto" panose="02000000000000000000" pitchFamily="2" charset="0"/>
                </a:rPr>
                <a:t>fixed</a:t>
              </a:r>
              <a:r>
                <a:rPr lang="en-US" altLang="en-US" sz="2400" dirty="0">
                  <a:latin typeface="Roboto" panose="02000000000000000000" pitchFamily="2" charset="0"/>
                  <a:ea typeface="Roboto" panose="02000000000000000000" pitchFamily="2" charset="0"/>
                </a:rPr>
                <a:t> </a:t>
              </a:r>
              <a:r>
                <a:rPr lang="en-US" altLang="en-US" sz="2000" dirty="0">
                  <a:latin typeface="Roboto" panose="02000000000000000000" pitchFamily="2" charset="0"/>
                  <a:ea typeface="Roboto" panose="02000000000000000000" pitchFamily="2" charset="0"/>
                </a:rPr>
                <a:t>number of operations are required within a process, or when a product has a fixed number of parts that are attached to it.</a:t>
              </a:r>
              <a:r>
                <a:rPr lang="en-US" altLang="en-US" sz="2000" i="1" u="sng" dirty="0">
                  <a:latin typeface="Roboto" panose="02000000000000000000" pitchFamily="2" charset="0"/>
                  <a:ea typeface="Roboto" panose="02000000000000000000" pitchFamily="2" charset="0"/>
                </a:rPr>
                <a:t> </a:t>
              </a:r>
            </a:p>
            <a:p>
              <a:pPr>
                <a:lnSpc>
                  <a:spcPct val="100000"/>
                </a:lnSpc>
                <a:spcAft>
                  <a:spcPct val="0"/>
                </a:spcAft>
                <a:buClrTx/>
                <a:buSzTx/>
                <a:buFontTx/>
                <a:buNone/>
              </a:pPr>
              <a:r>
                <a:rPr lang="en-US" altLang="en-US" sz="2000" dirty="0">
                  <a:latin typeface="Roboto" panose="02000000000000000000" pitchFamily="2" charset="0"/>
                  <a:ea typeface="Roboto" panose="02000000000000000000" pitchFamily="2" charset="0"/>
                </a:rPr>
                <a:t>A sensor counts the number of times a part is used or a process is completed and releases the part only when the right count is reached.</a:t>
              </a:r>
            </a:p>
          </p:txBody>
        </p:sp>
        <p:pic>
          <p:nvPicPr>
            <p:cNvPr id="18" name="Picture 19" descr="counting method">
              <a:extLst>
                <a:ext uri="{FF2B5EF4-FFF2-40B4-BE49-F238E27FC236}">
                  <a16:creationId xmlns:a16="http://schemas.microsoft.com/office/drawing/2014/main" id="{F1E92925-59F0-F507-2360-DE4B1D89E9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6234" y="2286493"/>
              <a:ext cx="4190999" cy="373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4788248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541B5-6FCF-44EB-7F42-1799FCC1F219}"/>
              </a:ext>
            </a:extLst>
          </p:cNvPr>
          <p:cNvSpPr>
            <a:spLocks noGrp="1"/>
          </p:cNvSpPr>
          <p:nvPr>
            <p:ph type="title"/>
          </p:nvPr>
        </p:nvSpPr>
        <p:spPr/>
        <p:txBody>
          <a:bodyPr/>
          <a:lstStyle/>
          <a:p>
            <a:r>
              <a:rPr lang="en-US" dirty="0"/>
              <a:t>Odd Part Out</a:t>
            </a:r>
          </a:p>
        </p:txBody>
      </p:sp>
      <p:grpSp>
        <p:nvGrpSpPr>
          <p:cNvPr id="3" name="Group 2">
            <a:extLst>
              <a:ext uri="{FF2B5EF4-FFF2-40B4-BE49-F238E27FC236}">
                <a16:creationId xmlns:a16="http://schemas.microsoft.com/office/drawing/2014/main" id="{D9E84803-CAE1-A3B5-9A81-D9A216B7FD44}"/>
              </a:ext>
            </a:extLst>
          </p:cNvPr>
          <p:cNvGrpSpPr/>
          <p:nvPr/>
        </p:nvGrpSpPr>
        <p:grpSpPr>
          <a:xfrm>
            <a:off x="838200" y="297639"/>
            <a:ext cx="3310890" cy="307138"/>
            <a:chOff x="838200" y="297639"/>
            <a:chExt cx="3310890" cy="307138"/>
          </a:xfrm>
        </p:grpSpPr>
        <p:grpSp>
          <p:nvGrpSpPr>
            <p:cNvPr id="4" name="Group 3">
              <a:extLst>
                <a:ext uri="{FF2B5EF4-FFF2-40B4-BE49-F238E27FC236}">
                  <a16:creationId xmlns:a16="http://schemas.microsoft.com/office/drawing/2014/main" id="{C19AFDA2-C484-5731-4029-E38F6C629005}"/>
                </a:ext>
              </a:extLst>
            </p:cNvPr>
            <p:cNvGrpSpPr/>
            <p:nvPr/>
          </p:nvGrpSpPr>
          <p:grpSpPr>
            <a:xfrm>
              <a:off x="838200" y="297639"/>
              <a:ext cx="1060167" cy="290657"/>
              <a:chOff x="826426" y="4041857"/>
              <a:chExt cx="1060167" cy="290657"/>
            </a:xfrm>
          </p:grpSpPr>
          <p:sp>
            <p:nvSpPr>
              <p:cNvPr id="6" name="AutoShape 9">
                <a:extLst>
                  <a:ext uri="{FF2B5EF4-FFF2-40B4-BE49-F238E27FC236}">
                    <a16:creationId xmlns:a16="http://schemas.microsoft.com/office/drawing/2014/main" id="{97BBEB04-56E2-66C8-7CD1-2D3F16D608D6}"/>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7" name="AutoShape 11">
                <a:extLst>
                  <a:ext uri="{FF2B5EF4-FFF2-40B4-BE49-F238E27FC236}">
                    <a16:creationId xmlns:a16="http://schemas.microsoft.com/office/drawing/2014/main" id="{4FC6F8A3-873E-D30F-ED81-15956AF4DDE1}"/>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8" name="AutoShape 10">
                <a:extLst>
                  <a:ext uri="{FF2B5EF4-FFF2-40B4-BE49-F238E27FC236}">
                    <a16:creationId xmlns:a16="http://schemas.microsoft.com/office/drawing/2014/main" id="{873F9745-BF3A-05EC-9963-006BA1E4FCB8}"/>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5" name="TextBox 4">
              <a:extLst>
                <a:ext uri="{FF2B5EF4-FFF2-40B4-BE49-F238E27FC236}">
                  <a16:creationId xmlns:a16="http://schemas.microsoft.com/office/drawing/2014/main" id="{58A720E4-B5DF-AE75-77DE-ABE1EA41CC4C}"/>
                </a:ext>
              </a:extLst>
            </p:cNvPr>
            <p:cNvSpPr txBox="1"/>
            <p:nvPr/>
          </p:nvSpPr>
          <p:spPr>
            <a:xfrm>
              <a:off x="1908497" y="313415"/>
              <a:ext cx="22405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Poka-Yoke Examples</a:t>
              </a:r>
            </a:p>
          </p:txBody>
        </p:sp>
      </p:grpSp>
      <p:grpSp>
        <p:nvGrpSpPr>
          <p:cNvPr id="39" name="Group 38">
            <a:extLst>
              <a:ext uri="{FF2B5EF4-FFF2-40B4-BE49-F238E27FC236}">
                <a16:creationId xmlns:a16="http://schemas.microsoft.com/office/drawing/2014/main" id="{4CC80903-4A03-089E-6656-811CE708ED9A}"/>
              </a:ext>
            </a:extLst>
          </p:cNvPr>
          <p:cNvGrpSpPr/>
          <p:nvPr/>
        </p:nvGrpSpPr>
        <p:grpSpPr>
          <a:xfrm>
            <a:off x="1862138" y="1783429"/>
            <a:ext cx="8467725" cy="4453414"/>
            <a:chOff x="361950" y="1509713"/>
            <a:chExt cx="8467725" cy="4453414"/>
          </a:xfrm>
        </p:grpSpPr>
        <p:sp>
          <p:nvSpPr>
            <p:cNvPr id="9" name="Text Box 2">
              <a:extLst>
                <a:ext uri="{FF2B5EF4-FFF2-40B4-BE49-F238E27FC236}">
                  <a16:creationId xmlns:a16="http://schemas.microsoft.com/office/drawing/2014/main" id="{5B902F0E-609C-5B82-7CE0-86E6FB5E3BDF}"/>
                </a:ext>
              </a:extLst>
            </p:cNvPr>
            <p:cNvSpPr txBox="1">
              <a:spLocks noChangeArrowheads="1"/>
            </p:cNvSpPr>
            <p:nvPr/>
          </p:nvSpPr>
          <p:spPr bwMode="auto">
            <a:xfrm>
              <a:off x="1447800" y="1843088"/>
              <a:ext cx="10668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Aft>
                  <a:spcPct val="0"/>
                </a:spcAft>
                <a:buClrTx/>
                <a:buSzTx/>
                <a:buFontTx/>
                <a:buNone/>
              </a:pPr>
              <a:endParaRPr lang="en-US" altLang="en-US" sz="3200">
                <a:latin typeface="Roboto" panose="02000000000000000000" pitchFamily="2" charset="0"/>
                <a:ea typeface="Roboto" panose="02000000000000000000" pitchFamily="2" charset="0"/>
              </a:endParaRPr>
            </a:p>
          </p:txBody>
        </p:sp>
        <p:sp>
          <p:nvSpPr>
            <p:cNvPr id="10" name="Text Box 4">
              <a:extLst>
                <a:ext uri="{FF2B5EF4-FFF2-40B4-BE49-F238E27FC236}">
                  <a16:creationId xmlns:a16="http://schemas.microsoft.com/office/drawing/2014/main" id="{316CC355-23CE-2298-C267-240CF9C982F3}"/>
                </a:ext>
              </a:extLst>
            </p:cNvPr>
            <p:cNvSpPr txBox="1">
              <a:spLocks noChangeArrowheads="1"/>
            </p:cNvSpPr>
            <p:nvPr/>
          </p:nvSpPr>
          <p:spPr bwMode="auto">
            <a:xfrm>
              <a:off x="361950" y="1509713"/>
              <a:ext cx="7924800"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Aft>
                  <a:spcPct val="0"/>
                </a:spcAft>
                <a:buClrTx/>
                <a:buSzTx/>
                <a:buFontTx/>
                <a:buNone/>
              </a:pPr>
              <a:r>
                <a:rPr lang="en-US" altLang="en-US" sz="1800" dirty="0">
                  <a:latin typeface="Roboto" panose="02000000000000000000" pitchFamily="2" charset="0"/>
                  <a:ea typeface="Roboto" panose="02000000000000000000" pitchFamily="2" charset="0"/>
                </a:rPr>
                <a:t>A contact method functions by detecting whether a sensing device makes </a:t>
              </a:r>
              <a:r>
                <a:rPr lang="en-US" altLang="en-US" sz="2000" dirty="0">
                  <a:latin typeface="Roboto" panose="02000000000000000000" pitchFamily="2" charset="0"/>
                  <a:ea typeface="Roboto" panose="02000000000000000000" pitchFamily="2" charset="0"/>
                </a:rPr>
                <a:t>contact</a:t>
              </a:r>
              <a:r>
                <a:rPr lang="en-US" altLang="en-US" sz="2400" dirty="0">
                  <a:latin typeface="Roboto" panose="02000000000000000000" pitchFamily="2" charset="0"/>
                  <a:ea typeface="Roboto" panose="02000000000000000000" pitchFamily="2" charset="0"/>
                </a:rPr>
                <a:t> </a:t>
              </a:r>
              <a:r>
                <a:rPr lang="en-US" altLang="en-US" sz="1800" dirty="0">
                  <a:latin typeface="Roboto" panose="02000000000000000000" pitchFamily="2" charset="0"/>
                  <a:ea typeface="Roboto" panose="02000000000000000000" pitchFamily="2" charset="0"/>
                </a:rPr>
                <a:t>with a part or object within the process.</a:t>
              </a:r>
            </a:p>
          </p:txBody>
        </p:sp>
        <p:sp>
          <p:nvSpPr>
            <p:cNvPr id="11" name="AutoShape 5">
              <a:extLst>
                <a:ext uri="{FF2B5EF4-FFF2-40B4-BE49-F238E27FC236}">
                  <a16:creationId xmlns:a16="http://schemas.microsoft.com/office/drawing/2014/main" id="{00874397-F153-15CB-7556-3636ECB092C6}"/>
                </a:ext>
              </a:extLst>
            </p:cNvPr>
            <p:cNvSpPr>
              <a:spLocks noChangeArrowheads="1"/>
            </p:cNvSpPr>
            <p:nvPr/>
          </p:nvSpPr>
          <p:spPr bwMode="auto">
            <a:xfrm>
              <a:off x="4638675" y="4081463"/>
              <a:ext cx="381000" cy="1066800"/>
            </a:xfrm>
            <a:prstGeom prst="can">
              <a:avLst>
                <a:gd name="adj" fmla="val 70000"/>
              </a:avLst>
            </a:prstGeom>
            <a:solidFill>
              <a:schemeClr val="accent4"/>
            </a:solidFill>
            <a:ln w="952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2" name="Text Box 6">
              <a:extLst>
                <a:ext uri="{FF2B5EF4-FFF2-40B4-BE49-F238E27FC236}">
                  <a16:creationId xmlns:a16="http://schemas.microsoft.com/office/drawing/2014/main" id="{896806B7-847C-E42B-F7EE-2F753DAC8A79}"/>
                </a:ext>
              </a:extLst>
            </p:cNvPr>
            <p:cNvSpPr txBox="1">
              <a:spLocks noChangeArrowheads="1"/>
            </p:cNvSpPr>
            <p:nvPr/>
          </p:nvSpPr>
          <p:spPr bwMode="auto">
            <a:xfrm>
              <a:off x="6543675" y="2481263"/>
              <a:ext cx="228600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Aft>
                  <a:spcPct val="0"/>
                </a:spcAft>
                <a:buClrTx/>
                <a:buSzTx/>
                <a:buFontTx/>
                <a:buNone/>
              </a:pPr>
              <a:r>
                <a:rPr lang="en-US" altLang="en-US" sz="1400">
                  <a:latin typeface="Roboto" panose="02000000000000000000" pitchFamily="2" charset="0"/>
                  <a:ea typeface="Roboto" panose="02000000000000000000" pitchFamily="2" charset="0"/>
                </a:rPr>
                <a:t>Missing cylinder;piston fully extended alarm sounds</a:t>
              </a:r>
            </a:p>
          </p:txBody>
        </p:sp>
        <p:sp>
          <p:nvSpPr>
            <p:cNvPr id="13" name="Line 7">
              <a:extLst>
                <a:ext uri="{FF2B5EF4-FFF2-40B4-BE49-F238E27FC236}">
                  <a16:creationId xmlns:a16="http://schemas.microsoft.com/office/drawing/2014/main" id="{24377F7E-51BD-A53D-1378-01415CF4EEEF}"/>
                </a:ext>
              </a:extLst>
            </p:cNvPr>
            <p:cNvSpPr>
              <a:spLocks noChangeShapeType="1"/>
            </p:cNvSpPr>
            <p:nvPr/>
          </p:nvSpPr>
          <p:spPr bwMode="auto">
            <a:xfrm flipH="1">
              <a:off x="6238875" y="2786063"/>
              <a:ext cx="3048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4" name="Text Box 8">
              <a:extLst>
                <a:ext uri="{FF2B5EF4-FFF2-40B4-BE49-F238E27FC236}">
                  <a16:creationId xmlns:a16="http://schemas.microsoft.com/office/drawing/2014/main" id="{34A4701F-30DF-EE6D-7D5B-4F42C06034C8}"/>
                </a:ext>
              </a:extLst>
            </p:cNvPr>
            <p:cNvSpPr txBox="1">
              <a:spLocks noChangeArrowheads="1"/>
            </p:cNvSpPr>
            <p:nvPr/>
          </p:nvSpPr>
          <p:spPr bwMode="auto">
            <a:xfrm>
              <a:off x="4867275" y="5224463"/>
              <a:ext cx="251460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sz="1400">
                  <a:latin typeface="Roboto" panose="02000000000000000000" pitchFamily="2" charset="0"/>
                  <a:ea typeface="Roboto" panose="02000000000000000000" pitchFamily="2" charset="0"/>
                </a:rPr>
                <a:t>Contact Method using limit switches identifies missing cylinder.</a:t>
              </a:r>
            </a:p>
          </p:txBody>
        </p:sp>
        <p:sp>
          <p:nvSpPr>
            <p:cNvPr id="15" name="Line 9">
              <a:extLst>
                <a:ext uri="{FF2B5EF4-FFF2-40B4-BE49-F238E27FC236}">
                  <a16:creationId xmlns:a16="http://schemas.microsoft.com/office/drawing/2014/main" id="{0832F17F-148E-F1BD-637D-C4DE89B0BFB7}"/>
                </a:ext>
              </a:extLst>
            </p:cNvPr>
            <p:cNvSpPr>
              <a:spLocks noChangeShapeType="1"/>
            </p:cNvSpPr>
            <p:nvPr/>
          </p:nvSpPr>
          <p:spPr bwMode="auto">
            <a:xfrm flipH="1" flipV="1">
              <a:off x="4486275" y="4462463"/>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6" name="AutoShape 10">
              <a:extLst>
                <a:ext uri="{FF2B5EF4-FFF2-40B4-BE49-F238E27FC236}">
                  <a16:creationId xmlns:a16="http://schemas.microsoft.com/office/drawing/2014/main" id="{16C3EC36-5A62-1D81-F51A-402CBF523285}"/>
                </a:ext>
              </a:extLst>
            </p:cNvPr>
            <p:cNvSpPr>
              <a:spLocks noChangeArrowheads="1"/>
            </p:cNvSpPr>
            <p:nvPr/>
          </p:nvSpPr>
          <p:spPr bwMode="auto">
            <a:xfrm>
              <a:off x="5248275" y="4081463"/>
              <a:ext cx="381000" cy="1066800"/>
            </a:xfrm>
            <a:prstGeom prst="can">
              <a:avLst>
                <a:gd name="adj" fmla="val 70000"/>
              </a:avLst>
            </a:prstGeom>
            <a:solidFill>
              <a:schemeClr val="accent4"/>
            </a:solidFill>
            <a:ln w="952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0" name="AutoShape 11">
              <a:extLst>
                <a:ext uri="{FF2B5EF4-FFF2-40B4-BE49-F238E27FC236}">
                  <a16:creationId xmlns:a16="http://schemas.microsoft.com/office/drawing/2014/main" id="{5221E880-8F5E-BE19-A7FC-7ED5BDF756BC}"/>
                </a:ext>
              </a:extLst>
            </p:cNvPr>
            <p:cNvSpPr>
              <a:spLocks noChangeArrowheads="1"/>
            </p:cNvSpPr>
            <p:nvPr/>
          </p:nvSpPr>
          <p:spPr bwMode="auto">
            <a:xfrm>
              <a:off x="5934075" y="3319463"/>
              <a:ext cx="381000" cy="1828800"/>
            </a:xfrm>
            <a:prstGeom prst="can">
              <a:avLst>
                <a:gd name="adj" fmla="val 120000"/>
              </a:avLst>
            </a:prstGeom>
            <a:solidFill>
              <a:schemeClr val="accent4"/>
            </a:solidFill>
            <a:ln w="952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1" name="AutoShape 12">
              <a:extLst>
                <a:ext uri="{FF2B5EF4-FFF2-40B4-BE49-F238E27FC236}">
                  <a16:creationId xmlns:a16="http://schemas.microsoft.com/office/drawing/2014/main" id="{A234DA77-5E6A-B730-1FFF-3D4999B19DB5}"/>
                </a:ext>
              </a:extLst>
            </p:cNvPr>
            <p:cNvSpPr>
              <a:spLocks noChangeArrowheads="1"/>
            </p:cNvSpPr>
            <p:nvPr/>
          </p:nvSpPr>
          <p:spPr bwMode="auto">
            <a:xfrm>
              <a:off x="6619875" y="4081463"/>
              <a:ext cx="381000" cy="1066800"/>
            </a:xfrm>
            <a:prstGeom prst="can">
              <a:avLst>
                <a:gd name="adj" fmla="val 70000"/>
              </a:avLst>
            </a:prstGeom>
            <a:solidFill>
              <a:schemeClr val="accent4"/>
            </a:solidFill>
            <a:ln w="952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2" name="Line 13">
              <a:extLst>
                <a:ext uri="{FF2B5EF4-FFF2-40B4-BE49-F238E27FC236}">
                  <a16:creationId xmlns:a16="http://schemas.microsoft.com/office/drawing/2014/main" id="{3DAF046C-8E3A-7359-39C4-516BD8746BF9}"/>
                </a:ext>
              </a:extLst>
            </p:cNvPr>
            <p:cNvSpPr>
              <a:spLocks noChangeShapeType="1"/>
            </p:cNvSpPr>
            <p:nvPr/>
          </p:nvSpPr>
          <p:spPr bwMode="auto">
            <a:xfrm flipV="1">
              <a:off x="5095875" y="4462463"/>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23" name="Line 14">
              <a:extLst>
                <a:ext uri="{FF2B5EF4-FFF2-40B4-BE49-F238E27FC236}">
                  <a16:creationId xmlns:a16="http://schemas.microsoft.com/office/drawing/2014/main" id="{3CFF15E0-468D-5449-25A0-2B7E37E59099}"/>
                </a:ext>
              </a:extLst>
            </p:cNvPr>
            <p:cNvSpPr>
              <a:spLocks noChangeShapeType="1"/>
            </p:cNvSpPr>
            <p:nvPr/>
          </p:nvSpPr>
          <p:spPr bwMode="auto">
            <a:xfrm flipV="1">
              <a:off x="5781675" y="4462463"/>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24" name="Line 15">
              <a:extLst>
                <a:ext uri="{FF2B5EF4-FFF2-40B4-BE49-F238E27FC236}">
                  <a16:creationId xmlns:a16="http://schemas.microsoft.com/office/drawing/2014/main" id="{790973A6-A72D-E56B-8392-E3916AF15164}"/>
                </a:ext>
              </a:extLst>
            </p:cNvPr>
            <p:cNvSpPr>
              <a:spLocks noChangeShapeType="1"/>
            </p:cNvSpPr>
            <p:nvPr/>
          </p:nvSpPr>
          <p:spPr bwMode="auto">
            <a:xfrm flipV="1">
              <a:off x="6467475" y="4462463"/>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25" name="AutoShape 16">
              <a:extLst>
                <a:ext uri="{FF2B5EF4-FFF2-40B4-BE49-F238E27FC236}">
                  <a16:creationId xmlns:a16="http://schemas.microsoft.com/office/drawing/2014/main" id="{348EFB77-E979-25CF-06C1-D5A46C91F0B5}"/>
                </a:ext>
              </a:extLst>
            </p:cNvPr>
            <p:cNvSpPr>
              <a:spLocks noChangeArrowheads="1"/>
            </p:cNvSpPr>
            <p:nvPr/>
          </p:nvSpPr>
          <p:spPr bwMode="auto">
            <a:xfrm>
              <a:off x="4714875" y="3319463"/>
              <a:ext cx="228600" cy="914400"/>
            </a:xfrm>
            <a:custGeom>
              <a:avLst/>
              <a:gdLst>
                <a:gd name="T0" fmla="*/ 2116931 w 21600"/>
                <a:gd name="T1" fmla="*/ 19354800 h 21600"/>
                <a:gd name="T2" fmla="*/ 1209675 w 21600"/>
                <a:gd name="T3" fmla="*/ 38709600 h 21600"/>
                <a:gd name="T4" fmla="*/ 302419 w 21600"/>
                <a:gd name="T5" fmla="*/ 19354800 h 21600"/>
                <a:gd name="T6" fmla="*/ 1209675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0000"/>
            </a:solidFill>
            <a:ln w="9525">
              <a:solidFill>
                <a:schemeClr val="tx1"/>
              </a:solidFill>
              <a:miter lim="800000"/>
              <a:headEnd/>
              <a:tailEnd/>
            </a:ln>
          </p:spPr>
          <p:txBody>
            <a:bodyPr wrap="none" anchor="ctr"/>
            <a:lstStyle/>
            <a:p>
              <a:endParaRPr lang="en-US">
                <a:latin typeface="Roboto" panose="02000000000000000000" pitchFamily="2" charset="0"/>
                <a:ea typeface="Roboto" panose="02000000000000000000" pitchFamily="2" charset="0"/>
              </a:endParaRPr>
            </a:p>
          </p:txBody>
        </p:sp>
        <p:sp>
          <p:nvSpPr>
            <p:cNvPr id="26" name="AutoShape 17">
              <a:extLst>
                <a:ext uri="{FF2B5EF4-FFF2-40B4-BE49-F238E27FC236}">
                  <a16:creationId xmlns:a16="http://schemas.microsoft.com/office/drawing/2014/main" id="{43276CFB-36EB-A1DE-D59B-017B838906CC}"/>
                </a:ext>
              </a:extLst>
            </p:cNvPr>
            <p:cNvSpPr>
              <a:spLocks noChangeArrowheads="1"/>
            </p:cNvSpPr>
            <p:nvPr/>
          </p:nvSpPr>
          <p:spPr bwMode="auto">
            <a:xfrm>
              <a:off x="5324475" y="3319463"/>
              <a:ext cx="228600" cy="914400"/>
            </a:xfrm>
            <a:custGeom>
              <a:avLst/>
              <a:gdLst>
                <a:gd name="T0" fmla="*/ 2116931 w 21600"/>
                <a:gd name="T1" fmla="*/ 19354800 h 21600"/>
                <a:gd name="T2" fmla="*/ 1209675 w 21600"/>
                <a:gd name="T3" fmla="*/ 38709600 h 21600"/>
                <a:gd name="T4" fmla="*/ 302419 w 21600"/>
                <a:gd name="T5" fmla="*/ 19354800 h 21600"/>
                <a:gd name="T6" fmla="*/ 1209675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0000"/>
            </a:solidFill>
            <a:ln w="9525">
              <a:solidFill>
                <a:schemeClr val="tx1"/>
              </a:solidFill>
              <a:miter lim="800000"/>
              <a:headEnd/>
              <a:tailEnd/>
            </a:ln>
          </p:spPr>
          <p:txBody>
            <a:bodyPr wrap="none" anchor="ctr"/>
            <a:lstStyle/>
            <a:p>
              <a:endParaRPr lang="en-US">
                <a:latin typeface="Roboto" panose="02000000000000000000" pitchFamily="2" charset="0"/>
                <a:ea typeface="Roboto" panose="02000000000000000000" pitchFamily="2" charset="0"/>
              </a:endParaRPr>
            </a:p>
          </p:txBody>
        </p:sp>
        <p:sp>
          <p:nvSpPr>
            <p:cNvPr id="27" name="AutoShape 18">
              <a:extLst>
                <a:ext uri="{FF2B5EF4-FFF2-40B4-BE49-F238E27FC236}">
                  <a16:creationId xmlns:a16="http://schemas.microsoft.com/office/drawing/2014/main" id="{FCCECE10-0000-70C5-1221-3F74D629F17D}"/>
                </a:ext>
              </a:extLst>
            </p:cNvPr>
            <p:cNvSpPr>
              <a:spLocks noChangeArrowheads="1"/>
            </p:cNvSpPr>
            <p:nvPr/>
          </p:nvSpPr>
          <p:spPr bwMode="auto">
            <a:xfrm>
              <a:off x="6696075" y="3319463"/>
              <a:ext cx="228600" cy="914400"/>
            </a:xfrm>
            <a:custGeom>
              <a:avLst/>
              <a:gdLst>
                <a:gd name="T0" fmla="*/ 2116931 w 21600"/>
                <a:gd name="T1" fmla="*/ 19354800 h 21600"/>
                <a:gd name="T2" fmla="*/ 1209675 w 21600"/>
                <a:gd name="T3" fmla="*/ 38709600 h 21600"/>
                <a:gd name="T4" fmla="*/ 302419 w 21600"/>
                <a:gd name="T5" fmla="*/ 19354800 h 21600"/>
                <a:gd name="T6" fmla="*/ 1209675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0000"/>
            </a:solidFill>
            <a:ln w="9525">
              <a:solidFill>
                <a:schemeClr val="tx1"/>
              </a:solidFill>
              <a:miter lim="800000"/>
              <a:headEnd/>
              <a:tailEnd/>
            </a:ln>
          </p:spPr>
          <p:txBody>
            <a:bodyPr wrap="none" anchor="ctr"/>
            <a:lstStyle/>
            <a:p>
              <a:endParaRPr lang="en-US">
                <a:latin typeface="Roboto" panose="02000000000000000000" pitchFamily="2" charset="0"/>
                <a:ea typeface="Roboto" panose="02000000000000000000" pitchFamily="2" charset="0"/>
              </a:endParaRPr>
            </a:p>
          </p:txBody>
        </p:sp>
        <p:sp>
          <p:nvSpPr>
            <p:cNvPr id="28" name="Line 19">
              <a:extLst>
                <a:ext uri="{FF2B5EF4-FFF2-40B4-BE49-F238E27FC236}">
                  <a16:creationId xmlns:a16="http://schemas.microsoft.com/office/drawing/2014/main" id="{DA301B27-6AA2-7F7B-D95E-7CF4496C80B7}"/>
                </a:ext>
              </a:extLst>
            </p:cNvPr>
            <p:cNvSpPr>
              <a:spLocks noChangeShapeType="1"/>
            </p:cNvSpPr>
            <p:nvPr/>
          </p:nvSpPr>
          <p:spPr bwMode="auto">
            <a:xfrm>
              <a:off x="7381875" y="4157663"/>
              <a:ext cx="1219200" cy="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29" name="Text Box 20">
              <a:extLst>
                <a:ext uri="{FF2B5EF4-FFF2-40B4-BE49-F238E27FC236}">
                  <a16:creationId xmlns:a16="http://schemas.microsoft.com/office/drawing/2014/main" id="{53D7F0C5-B58F-832A-C6FD-F84F77AC2CB2}"/>
                </a:ext>
              </a:extLst>
            </p:cNvPr>
            <p:cNvSpPr txBox="1">
              <a:spLocks noChangeArrowheads="1"/>
            </p:cNvSpPr>
            <p:nvPr/>
          </p:nvSpPr>
          <p:spPr bwMode="auto">
            <a:xfrm>
              <a:off x="457200" y="2938463"/>
              <a:ext cx="3810000" cy="2057400"/>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Aft>
                  <a:spcPct val="0"/>
                </a:spcAft>
                <a:buClrTx/>
                <a:buSzTx/>
                <a:buFontTx/>
                <a:buNone/>
              </a:pPr>
              <a:r>
                <a:rPr lang="en-US" altLang="en-US" sz="1600" dirty="0">
                  <a:latin typeface="Roboto" panose="02000000000000000000" pitchFamily="2" charset="0"/>
                  <a:ea typeface="Roboto" panose="02000000000000000000" pitchFamily="2" charset="0"/>
                </a:rPr>
                <a:t>An example of  a physical contact method is limit switches that are pressed when cylinders are driven into a piston.  The switches are connected to pistons that hold the part in place.  In this example, a cylinder is missing and the part is not released to the next process.</a:t>
              </a:r>
            </a:p>
          </p:txBody>
        </p:sp>
        <p:sp>
          <p:nvSpPr>
            <p:cNvPr id="30" name="Text Box 21">
              <a:extLst>
                <a:ext uri="{FF2B5EF4-FFF2-40B4-BE49-F238E27FC236}">
                  <a16:creationId xmlns:a16="http://schemas.microsoft.com/office/drawing/2014/main" id="{43FE0979-2751-EA03-0A8B-FFDF8884D8A5}"/>
                </a:ext>
              </a:extLst>
            </p:cNvPr>
            <p:cNvSpPr txBox="1">
              <a:spLocks noChangeArrowheads="1"/>
            </p:cNvSpPr>
            <p:nvPr/>
          </p:nvSpPr>
          <p:spPr bwMode="auto">
            <a:xfrm>
              <a:off x="7251700" y="4530725"/>
              <a:ext cx="1577975"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sz="1600">
                  <a:latin typeface="Roboto" panose="02000000000000000000" pitchFamily="2" charset="0"/>
                  <a:ea typeface="Roboto" panose="02000000000000000000" pitchFamily="2" charset="0"/>
                </a:rPr>
                <a:t>Cannot proceed  to next step</a:t>
              </a:r>
            </a:p>
          </p:txBody>
        </p:sp>
        <p:sp>
          <p:nvSpPr>
            <p:cNvPr id="31" name="Text Box 22">
              <a:extLst>
                <a:ext uri="{FF2B5EF4-FFF2-40B4-BE49-F238E27FC236}">
                  <a16:creationId xmlns:a16="http://schemas.microsoft.com/office/drawing/2014/main" id="{AE3E9810-B5B6-38CE-4FF5-27F8413A16FB}"/>
                </a:ext>
              </a:extLst>
            </p:cNvPr>
            <p:cNvSpPr txBox="1">
              <a:spLocks noChangeArrowheads="1"/>
            </p:cNvSpPr>
            <p:nvPr/>
          </p:nvSpPr>
          <p:spPr bwMode="auto">
            <a:xfrm>
              <a:off x="4105275" y="2411413"/>
              <a:ext cx="1676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Aft>
                  <a:spcPct val="0"/>
                </a:spcAft>
                <a:buClrTx/>
                <a:buSzTx/>
                <a:buFontTx/>
                <a:buNone/>
              </a:pPr>
              <a:r>
                <a:rPr lang="en-US" altLang="en-US" sz="1400">
                  <a:latin typeface="Roboto" panose="02000000000000000000" pitchFamily="2" charset="0"/>
                  <a:ea typeface="Roboto" panose="02000000000000000000" pitchFamily="2" charset="0"/>
                </a:rPr>
                <a:t>Cylinder present</a:t>
              </a:r>
            </a:p>
          </p:txBody>
        </p:sp>
        <p:sp>
          <p:nvSpPr>
            <p:cNvPr id="32" name="Line 23">
              <a:extLst>
                <a:ext uri="{FF2B5EF4-FFF2-40B4-BE49-F238E27FC236}">
                  <a16:creationId xmlns:a16="http://schemas.microsoft.com/office/drawing/2014/main" id="{85DEA707-E874-B37E-CCE8-B43D46ABC997}"/>
                </a:ext>
              </a:extLst>
            </p:cNvPr>
            <p:cNvSpPr>
              <a:spLocks noChangeShapeType="1"/>
            </p:cNvSpPr>
            <p:nvPr/>
          </p:nvSpPr>
          <p:spPr bwMode="auto">
            <a:xfrm>
              <a:off x="4333875" y="2709863"/>
              <a:ext cx="3810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33" name="Line 24">
              <a:extLst>
                <a:ext uri="{FF2B5EF4-FFF2-40B4-BE49-F238E27FC236}">
                  <a16:creationId xmlns:a16="http://schemas.microsoft.com/office/drawing/2014/main" id="{BD513D0D-4F47-95AB-9BF4-47AED0F47310}"/>
                </a:ext>
              </a:extLst>
            </p:cNvPr>
            <p:cNvSpPr>
              <a:spLocks noChangeShapeType="1"/>
            </p:cNvSpPr>
            <p:nvPr/>
          </p:nvSpPr>
          <p:spPr bwMode="auto">
            <a:xfrm>
              <a:off x="4791075" y="2709863"/>
              <a:ext cx="5334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34" name="Line 25">
              <a:extLst>
                <a:ext uri="{FF2B5EF4-FFF2-40B4-BE49-F238E27FC236}">
                  <a16:creationId xmlns:a16="http://schemas.microsoft.com/office/drawing/2014/main" id="{B2E33CB4-22AA-4665-1058-0570AE81C4DE}"/>
                </a:ext>
              </a:extLst>
            </p:cNvPr>
            <p:cNvSpPr>
              <a:spLocks noChangeShapeType="1"/>
            </p:cNvSpPr>
            <p:nvPr/>
          </p:nvSpPr>
          <p:spPr bwMode="auto">
            <a:xfrm>
              <a:off x="5095875" y="2633663"/>
              <a:ext cx="16002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35" name="AutoShape 26">
              <a:extLst>
                <a:ext uri="{FF2B5EF4-FFF2-40B4-BE49-F238E27FC236}">
                  <a16:creationId xmlns:a16="http://schemas.microsoft.com/office/drawing/2014/main" id="{ED3A8593-816D-27E6-AFC3-99E3C2445E39}"/>
                </a:ext>
              </a:extLst>
            </p:cNvPr>
            <p:cNvSpPr>
              <a:spLocks noChangeArrowheads="1"/>
            </p:cNvSpPr>
            <p:nvPr/>
          </p:nvSpPr>
          <p:spPr bwMode="auto">
            <a:xfrm>
              <a:off x="7534275" y="3700463"/>
              <a:ext cx="762000" cy="838200"/>
            </a:xfrm>
            <a:custGeom>
              <a:avLst/>
              <a:gdLst>
                <a:gd name="T0" fmla="*/ 13440833 w 21600"/>
                <a:gd name="T1" fmla="*/ 0 h 21600"/>
                <a:gd name="T2" fmla="*/ 3936436 w 21600"/>
                <a:gd name="T3" fmla="*/ 4763072 h 21600"/>
                <a:gd name="T4" fmla="*/ 0 w 21600"/>
                <a:gd name="T5" fmla="*/ 16263408 h 21600"/>
                <a:gd name="T6" fmla="*/ 3936436 w 21600"/>
                <a:gd name="T7" fmla="*/ 27763745 h 21600"/>
                <a:gd name="T8" fmla="*/ 13440833 w 21600"/>
                <a:gd name="T9" fmla="*/ 32526817 h 21600"/>
                <a:gd name="T10" fmla="*/ 22945231 w 21600"/>
                <a:gd name="T11" fmla="*/ 27763745 h 21600"/>
                <a:gd name="T12" fmla="*/ 26881667 w 21600"/>
                <a:gd name="T13" fmla="*/ 16263408 h 21600"/>
                <a:gd name="T14" fmla="*/ 22945231 w 21600"/>
                <a:gd name="T15" fmla="*/ 4763072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401" y="15493"/>
                  </a:moveTo>
                  <a:cubicBezTo>
                    <a:pt x="18376" y="14122"/>
                    <a:pt x="18900" y="12482"/>
                    <a:pt x="18900" y="10800"/>
                  </a:cubicBezTo>
                  <a:cubicBezTo>
                    <a:pt x="18900" y="6326"/>
                    <a:pt x="15273" y="2700"/>
                    <a:pt x="10800" y="2700"/>
                  </a:cubicBezTo>
                  <a:cubicBezTo>
                    <a:pt x="9117" y="2699"/>
                    <a:pt x="7477" y="3223"/>
                    <a:pt x="6106" y="4198"/>
                  </a:cubicBezTo>
                  <a:lnTo>
                    <a:pt x="17401" y="15493"/>
                  </a:lnTo>
                  <a:close/>
                  <a:moveTo>
                    <a:pt x="4198" y="6106"/>
                  </a:moveTo>
                  <a:cubicBezTo>
                    <a:pt x="3223" y="7477"/>
                    <a:pt x="2699" y="9117"/>
                    <a:pt x="2699" y="10799"/>
                  </a:cubicBezTo>
                  <a:cubicBezTo>
                    <a:pt x="2700" y="15273"/>
                    <a:pt x="6326" y="18900"/>
                    <a:pt x="10800" y="18900"/>
                  </a:cubicBezTo>
                  <a:cubicBezTo>
                    <a:pt x="12482" y="18900"/>
                    <a:pt x="14122" y="18376"/>
                    <a:pt x="15493" y="17401"/>
                  </a:cubicBezTo>
                  <a:lnTo>
                    <a:pt x="4198" y="6106"/>
                  </a:lnTo>
                  <a:close/>
                </a:path>
              </a:pathLst>
            </a:custGeom>
            <a:solidFill>
              <a:srgbClr val="FF0000"/>
            </a:solidFill>
            <a:ln w="9525">
              <a:solidFill>
                <a:schemeClr val="tx1"/>
              </a:solidFill>
              <a:miter lim="800000"/>
              <a:headEnd/>
              <a:tailEnd/>
            </a:ln>
          </p:spPr>
          <p:txBody>
            <a:bodyPr wrap="none" anchor="ctr"/>
            <a:lstStyle/>
            <a:p>
              <a:endParaRPr lang="en-US">
                <a:latin typeface="Roboto" panose="02000000000000000000" pitchFamily="2" charset="0"/>
                <a:ea typeface="Roboto" panose="02000000000000000000" pitchFamily="2" charset="0"/>
              </a:endParaRPr>
            </a:p>
          </p:txBody>
        </p:sp>
        <p:sp>
          <p:nvSpPr>
            <p:cNvPr id="36" name="Line 27">
              <a:extLst>
                <a:ext uri="{FF2B5EF4-FFF2-40B4-BE49-F238E27FC236}">
                  <a16:creationId xmlns:a16="http://schemas.microsoft.com/office/drawing/2014/main" id="{F08721A6-200B-BD2D-559E-49E023DDFCEE}"/>
                </a:ext>
              </a:extLst>
            </p:cNvPr>
            <p:cNvSpPr>
              <a:spLocks noChangeShapeType="1"/>
            </p:cNvSpPr>
            <p:nvPr/>
          </p:nvSpPr>
          <p:spPr bwMode="auto">
            <a:xfrm>
              <a:off x="4562475" y="3319463"/>
              <a:ext cx="533400"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37" name="Line 28">
              <a:extLst>
                <a:ext uri="{FF2B5EF4-FFF2-40B4-BE49-F238E27FC236}">
                  <a16:creationId xmlns:a16="http://schemas.microsoft.com/office/drawing/2014/main" id="{5659B664-9A30-0BEC-C463-F507D67F4254}"/>
                </a:ext>
              </a:extLst>
            </p:cNvPr>
            <p:cNvSpPr>
              <a:spLocks noChangeShapeType="1"/>
            </p:cNvSpPr>
            <p:nvPr/>
          </p:nvSpPr>
          <p:spPr bwMode="auto">
            <a:xfrm>
              <a:off x="5172075" y="3319463"/>
              <a:ext cx="533400"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38" name="Line 29">
              <a:extLst>
                <a:ext uri="{FF2B5EF4-FFF2-40B4-BE49-F238E27FC236}">
                  <a16:creationId xmlns:a16="http://schemas.microsoft.com/office/drawing/2014/main" id="{756E3D53-D495-1695-7D7C-3F1599953C65}"/>
                </a:ext>
              </a:extLst>
            </p:cNvPr>
            <p:cNvSpPr>
              <a:spLocks noChangeShapeType="1"/>
            </p:cNvSpPr>
            <p:nvPr/>
          </p:nvSpPr>
          <p:spPr bwMode="auto">
            <a:xfrm>
              <a:off x="6543675" y="3319463"/>
              <a:ext cx="533400"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38202199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541B5-6FCF-44EB-7F42-1799FCC1F219}"/>
              </a:ext>
            </a:extLst>
          </p:cNvPr>
          <p:cNvSpPr>
            <a:spLocks noGrp="1"/>
          </p:cNvSpPr>
          <p:nvPr>
            <p:ph type="title"/>
          </p:nvPr>
        </p:nvSpPr>
        <p:spPr/>
        <p:txBody>
          <a:bodyPr/>
          <a:lstStyle/>
          <a:p>
            <a:r>
              <a:rPr lang="en-US" dirty="0"/>
              <a:t>Sequence Restriction</a:t>
            </a:r>
          </a:p>
        </p:txBody>
      </p:sp>
      <p:grpSp>
        <p:nvGrpSpPr>
          <p:cNvPr id="3" name="Group 2">
            <a:extLst>
              <a:ext uri="{FF2B5EF4-FFF2-40B4-BE49-F238E27FC236}">
                <a16:creationId xmlns:a16="http://schemas.microsoft.com/office/drawing/2014/main" id="{D9E84803-CAE1-A3B5-9A81-D9A216B7FD44}"/>
              </a:ext>
            </a:extLst>
          </p:cNvPr>
          <p:cNvGrpSpPr/>
          <p:nvPr/>
        </p:nvGrpSpPr>
        <p:grpSpPr>
          <a:xfrm>
            <a:off x="838200" y="297639"/>
            <a:ext cx="3310890" cy="307138"/>
            <a:chOff x="838200" y="297639"/>
            <a:chExt cx="3310890" cy="307138"/>
          </a:xfrm>
        </p:grpSpPr>
        <p:grpSp>
          <p:nvGrpSpPr>
            <p:cNvPr id="4" name="Group 3">
              <a:extLst>
                <a:ext uri="{FF2B5EF4-FFF2-40B4-BE49-F238E27FC236}">
                  <a16:creationId xmlns:a16="http://schemas.microsoft.com/office/drawing/2014/main" id="{C19AFDA2-C484-5731-4029-E38F6C629005}"/>
                </a:ext>
              </a:extLst>
            </p:cNvPr>
            <p:cNvGrpSpPr/>
            <p:nvPr/>
          </p:nvGrpSpPr>
          <p:grpSpPr>
            <a:xfrm>
              <a:off x="838200" y="297639"/>
              <a:ext cx="1060167" cy="290657"/>
              <a:chOff x="826426" y="4041857"/>
              <a:chExt cx="1060167" cy="290657"/>
            </a:xfrm>
          </p:grpSpPr>
          <p:sp>
            <p:nvSpPr>
              <p:cNvPr id="6" name="AutoShape 9">
                <a:extLst>
                  <a:ext uri="{FF2B5EF4-FFF2-40B4-BE49-F238E27FC236}">
                    <a16:creationId xmlns:a16="http://schemas.microsoft.com/office/drawing/2014/main" id="{97BBEB04-56E2-66C8-7CD1-2D3F16D608D6}"/>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7" name="AutoShape 11">
                <a:extLst>
                  <a:ext uri="{FF2B5EF4-FFF2-40B4-BE49-F238E27FC236}">
                    <a16:creationId xmlns:a16="http://schemas.microsoft.com/office/drawing/2014/main" id="{4FC6F8A3-873E-D30F-ED81-15956AF4DDE1}"/>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8" name="AutoShape 10">
                <a:extLst>
                  <a:ext uri="{FF2B5EF4-FFF2-40B4-BE49-F238E27FC236}">
                    <a16:creationId xmlns:a16="http://schemas.microsoft.com/office/drawing/2014/main" id="{873F9745-BF3A-05EC-9963-006BA1E4FCB8}"/>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5" name="TextBox 4">
              <a:extLst>
                <a:ext uri="{FF2B5EF4-FFF2-40B4-BE49-F238E27FC236}">
                  <a16:creationId xmlns:a16="http://schemas.microsoft.com/office/drawing/2014/main" id="{58A720E4-B5DF-AE75-77DE-ABE1EA41CC4C}"/>
                </a:ext>
              </a:extLst>
            </p:cNvPr>
            <p:cNvSpPr txBox="1"/>
            <p:nvPr/>
          </p:nvSpPr>
          <p:spPr>
            <a:xfrm>
              <a:off x="1908497" y="313415"/>
              <a:ext cx="22405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Poka-Yoke Examples</a:t>
              </a:r>
            </a:p>
          </p:txBody>
        </p:sp>
      </p:grpSp>
      <p:grpSp>
        <p:nvGrpSpPr>
          <p:cNvPr id="41" name="Group 40">
            <a:extLst>
              <a:ext uri="{FF2B5EF4-FFF2-40B4-BE49-F238E27FC236}">
                <a16:creationId xmlns:a16="http://schemas.microsoft.com/office/drawing/2014/main" id="{5F014423-C46E-CA22-32A8-5D0C52E581FB}"/>
              </a:ext>
            </a:extLst>
          </p:cNvPr>
          <p:cNvGrpSpPr/>
          <p:nvPr/>
        </p:nvGrpSpPr>
        <p:grpSpPr>
          <a:xfrm>
            <a:off x="2286000" y="2030413"/>
            <a:ext cx="7620000" cy="4146550"/>
            <a:chOff x="1908497" y="2030413"/>
            <a:chExt cx="7620000" cy="4146550"/>
          </a:xfrm>
        </p:grpSpPr>
        <p:pic>
          <p:nvPicPr>
            <p:cNvPr id="17" name="Picture 4" descr="Mx-015">
              <a:extLst>
                <a:ext uri="{FF2B5EF4-FFF2-40B4-BE49-F238E27FC236}">
                  <a16:creationId xmlns:a16="http://schemas.microsoft.com/office/drawing/2014/main" id="{9A61BDB3-0128-4C40-D5D6-6240E37AC6C2}"/>
                </a:ext>
              </a:extLst>
            </p:cNvPr>
            <p:cNvPicPr>
              <a:picLocks noChangeAspect="1" noChangeArrowheads="1"/>
            </p:cNvPicPr>
            <p:nvPr/>
          </p:nvPicPr>
          <p:blipFill>
            <a:blip r:embed="rId3">
              <a:lum bright="20000" contrast="20000"/>
              <a:extLst>
                <a:ext uri="{28A0092B-C50C-407E-A947-70E740481C1C}">
                  <a14:useLocalDpi xmlns:a14="http://schemas.microsoft.com/office/drawing/2010/main" val="0"/>
                </a:ext>
              </a:extLst>
            </a:blip>
            <a:srcRect/>
            <a:stretch>
              <a:fillRect/>
            </a:stretch>
          </p:blipFill>
          <p:spPr bwMode="auto">
            <a:xfrm>
              <a:off x="6251897" y="3325813"/>
              <a:ext cx="3276600" cy="245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ext Box 5">
              <a:extLst>
                <a:ext uri="{FF2B5EF4-FFF2-40B4-BE49-F238E27FC236}">
                  <a16:creationId xmlns:a16="http://schemas.microsoft.com/office/drawing/2014/main" id="{5DFE5E49-B79F-4E66-62D1-51CC94DE4C43}"/>
                </a:ext>
              </a:extLst>
            </p:cNvPr>
            <p:cNvSpPr txBox="1">
              <a:spLocks noChangeArrowheads="1"/>
            </p:cNvSpPr>
            <p:nvPr/>
          </p:nvSpPr>
          <p:spPr bwMode="auto">
            <a:xfrm>
              <a:off x="6175697" y="5840413"/>
              <a:ext cx="3200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sz="1600">
                  <a:latin typeface="Roboto" panose="02000000000000000000" pitchFamily="2" charset="0"/>
                  <a:ea typeface="Roboto" panose="02000000000000000000" pitchFamily="2" charset="0"/>
                </a:rPr>
                <a:t>Indicator Board</a:t>
              </a:r>
            </a:p>
          </p:txBody>
        </p:sp>
        <p:pic>
          <p:nvPicPr>
            <p:cNvPr id="19" name="Picture 6" descr="Acroloc">
              <a:extLst>
                <a:ext uri="{FF2B5EF4-FFF2-40B4-BE49-F238E27FC236}">
                  <a16:creationId xmlns:a16="http://schemas.microsoft.com/office/drawing/2014/main" id="{8DEDDBDB-3B44-5A77-EE21-D80CE185DA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8497" y="2030413"/>
              <a:ext cx="3810000" cy="256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 name="Text Box 7">
              <a:extLst>
                <a:ext uri="{FF2B5EF4-FFF2-40B4-BE49-F238E27FC236}">
                  <a16:creationId xmlns:a16="http://schemas.microsoft.com/office/drawing/2014/main" id="{4247B9F5-0F42-0352-3598-F9C6B05D5C61}"/>
                </a:ext>
              </a:extLst>
            </p:cNvPr>
            <p:cNvSpPr txBox="1">
              <a:spLocks noChangeArrowheads="1"/>
            </p:cNvSpPr>
            <p:nvPr/>
          </p:nvSpPr>
          <p:spPr bwMode="auto">
            <a:xfrm>
              <a:off x="2289497" y="4773613"/>
              <a:ext cx="2667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sz="1600">
                  <a:latin typeface="Roboto" panose="02000000000000000000" pitchFamily="2" charset="0"/>
                  <a:ea typeface="Roboto" panose="02000000000000000000" pitchFamily="2" charset="0"/>
                </a:rPr>
                <a:t>Machine</a:t>
              </a:r>
            </a:p>
          </p:txBody>
        </p:sp>
      </p:grpSp>
    </p:spTree>
    <p:extLst>
      <p:ext uri="{BB962C8B-B14F-4D97-AF65-F5344CB8AC3E}">
        <p14:creationId xmlns:p14="http://schemas.microsoft.com/office/powerpoint/2010/main" val="11431383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541B5-6FCF-44EB-7F42-1799FCC1F219}"/>
              </a:ext>
            </a:extLst>
          </p:cNvPr>
          <p:cNvSpPr>
            <a:spLocks noGrp="1"/>
          </p:cNvSpPr>
          <p:nvPr>
            <p:ph type="title"/>
          </p:nvPr>
        </p:nvSpPr>
        <p:spPr/>
        <p:txBody>
          <a:bodyPr/>
          <a:lstStyle/>
          <a:p>
            <a:r>
              <a:rPr lang="en-US" dirty="0"/>
              <a:t>Standardize and Solve</a:t>
            </a:r>
          </a:p>
        </p:txBody>
      </p:sp>
      <p:grpSp>
        <p:nvGrpSpPr>
          <p:cNvPr id="3" name="Group 2">
            <a:extLst>
              <a:ext uri="{FF2B5EF4-FFF2-40B4-BE49-F238E27FC236}">
                <a16:creationId xmlns:a16="http://schemas.microsoft.com/office/drawing/2014/main" id="{D9E84803-CAE1-A3B5-9A81-D9A216B7FD44}"/>
              </a:ext>
            </a:extLst>
          </p:cNvPr>
          <p:cNvGrpSpPr/>
          <p:nvPr/>
        </p:nvGrpSpPr>
        <p:grpSpPr>
          <a:xfrm>
            <a:off x="838200" y="297639"/>
            <a:ext cx="3310890" cy="307138"/>
            <a:chOff x="838200" y="297639"/>
            <a:chExt cx="3310890" cy="307138"/>
          </a:xfrm>
        </p:grpSpPr>
        <p:grpSp>
          <p:nvGrpSpPr>
            <p:cNvPr id="4" name="Group 3">
              <a:extLst>
                <a:ext uri="{FF2B5EF4-FFF2-40B4-BE49-F238E27FC236}">
                  <a16:creationId xmlns:a16="http://schemas.microsoft.com/office/drawing/2014/main" id="{C19AFDA2-C484-5731-4029-E38F6C629005}"/>
                </a:ext>
              </a:extLst>
            </p:cNvPr>
            <p:cNvGrpSpPr/>
            <p:nvPr/>
          </p:nvGrpSpPr>
          <p:grpSpPr>
            <a:xfrm>
              <a:off x="838200" y="297639"/>
              <a:ext cx="1060167" cy="290657"/>
              <a:chOff x="826426" y="4041857"/>
              <a:chExt cx="1060167" cy="290657"/>
            </a:xfrm>
          </p:grpSpPr>
          <p:sp>
            <p:nvSpPr>
              <p:cNvPr id="6" name="AutoShape 9">
                <a:extLst>
                  <a:ext uri="{FF2B5EF4-FFF2-40B4-BE49-F238E27FC236}">
                    <a16:creationId xmlns:a16="http://schemas.microsoft.com/office/drawing/2014/main" id="{97BBEB04-56E2-66C8-7CD1-2D3F16D608D6}"/>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7" name="AutoShape 11">
                <a:extLst>
                  <a:ext uri="{FF2B5EF4-FFF2-40B4-BE49-F238E27FC236}">
                    <a16:creationId xmlns:a16="http://schemas.microsoft.com/office/drawing/2014/main" id="{4FC6F8A3-873E-D30F-ED81-15956AF4DDE1}"/>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8" name="AutoShape 10">
                <a:extLst>
                  <a:ext uri="{FF2B5EF4-FFF2-40B4-BE49-F238E27FC236}">
                    <a16:creationId xmlns:a16="http://schemas.microsoft.com/office/drawing/2014/main" id="{873F9745-BF3A-05EC-9963-006BA1E4FCB8}"/>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5" name="TextBox 4">
              <a:extLst>
                <a:ext uri="{FF2B5EF4-FFF2-40B4-BE49-F238E27FC236}">
                  <a16:creationId xmlns:a16="http://schemas.microsoft.com/office/drawing/2014/main" id="{58A720E4-B5DF-AE75-77DE-ABE1EA41CC4C}"/>
                </a:ext>
              </a:extLst>
            </p:cNvPr>
            <p:cNvSpPr txBox="1"/>
            <p:nvPr/>
          </p:nvSpPr>
          <p:spPr>
            <a:xfrm>
              <a:off x="1908497" y="313415"/>
              <a:ext cx="22405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Poka-Yoke Examples</a:t>
              </a:r>
            </a:p>
          </p:txBody>
        </p:sp>
      </p:grpSp>
      <p:grpSp>
        <p:nvGrpSpPr>
          <p:cNvPr id="140" name="Group 139">
            <a:extLst>
              <a:ext uri="{FF2B5EF4-FFF2-40B4-BE49-F238E27FC236}">
                <a16:creationId xmlns:a16="http://schemas.microsoft.com/office/drawing/2014/main" id="{1D722416-4D49-FAA1-AB38-0F34937CB7FC}"/>
              </a:ext>
            </a:extLst>
          </p:cNvPr>
          <p:cNvGrpSpPr/>
          <p:nvPr/>
        </p:nvGrpSpPr>
        <p:grpSpPr>
          <a:xfrm>
            <a:off x="1639887" y="1888705"/>
            <a:ext cx="8912225" cy="4246563"/>
            <a:chOff x="1639887" y="1888705"/>
            <a:chExt cx="8912225" cy="4246563"/>
          </a:xfrm>
        </p:grpSpPr>
        <p:grpSp>
          <p:nvGrpSpPr>
            <p:cNvPr id="138" name="Group 137">
              <a:extLst>
                <a:ext uri="{FF2B5EF4-FFF2-40B4-BE49-F238E27FC236}">
                  <a16:creationId xmlns:a16="http://schemas.microsoft.com/office/drawing/2014/main" id="{F0B533AB-987D-8930-68F9-470592C559C0}"/>
                </a:ext>
              </a:extLst>
            </p:cNvPr>
            <p:cNvGrpSpPr/>
            <p:nvPr/>
          </p:nvGrpSpPr>
          <p:grpSpPr>
            <a:xfrm>
              <a:off x="1639887" y="2022158"/>
              <a:ext cx="8912225" cy="4028871"/>
              <a:chOff x="231775" y="1404938"/>
              <a:chExt cx="8912225" cy="4028871"/>
            </a:xfrm>
          </p:grpSpPr>
          <p:sp>
            <p:nvSpPr>
              <p:cNvPr id="9" name="Oval 7">
                <a:extLst>
                  <a:ext uri="{FF2B5EF4-FFF2-40B4-BE49-F238E27FC236}">
                    <a16:creationId xmlns:a16="http://schemas.microsoft.com/office/drawing/2014/main" id="{62B8D2A3-65DA-188B-7FF6-4EFDAD4F2A26}"/>
                  </a:ext>
                </a:extLst>
              </p:cNvPr>
              <p:cNvSpPr>
                <a:spLocks noChangeArrowheads="1"/>
              </p:cNvSpPr>
              <p:nvPr/>
            </p:nvSpPr>
            <p:spPr bwMode="auto">
              <a:xfrm>
                <a:off x="1512888" y="1828800"/>
                <a:ext cx="925512" cy="928688"/>
              </a:xfrm>
              <a:prstGeom prst="ellipse">
                <a:avLst/>
              </a:prstGeom>
              <a:gradFill rotWithShape="0">
                <a:gsLst>
                  <a:gs pos="0">
                    <a:srgbClr val="FFFFFF"/>
                  </a:gs>
                  <a:gs pos="100000">
                    <a:schemeClr val="accent5"/>
                  </a:gs>
                </a:gsLst>
                <a:lin ang="2700000" scaled="1"/>
              </a:gradFill>
              <a:ln w="12700">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nvGrpSpPr>
              <p:cNvPr id="10" name="Group 8">
                <a:extLst>
                  <a:ext uri="{FF2B5EF4-FFF2-40B4-BE49-F238E27FC236}">
                    <a16:creationId xmlns:a16="http://schemas.microsoft.com/office/drawing/2014/main" id="{3D46DFD2-9FB2-C414-3B47-6900DE8E9272}"/>
                  </a:ext>
                </a:extLst>
              </p:cNvPr>
              <p:cNvGrpSpPr>
                <a:grpSpLocks/>
              </p:cNvGrpSpPr>
              <p:nvPr/>
            </p:nvGrpSpPr>
            <p:grpSpPr bwMode="auto">
              <a:xfrm>
                <a:off x="1638300" y="2667000"/>
                <a:ext cx="120650" cy="142875"/>
                <a:chOff x="980" y="1882"/>
                <a:chExt cx="73" cy="96"/>
              </a:xfrm>
            </p:grpSpPr>
            <p:sp>
              <p:nvSpPr>
                <p:cNvPr id="11" name="Arc 9">
                  <a:extLst>
                    <a:ext uri="{FF2B5EF4-FFF2-40B4-BE49-F238E27FC236}">
                      <a16:creationId xmlns:a16="http://schemas.microsoft.com/office/drawing/2014/main" id="{B218E789-7B5E-447C-BE25-EFFE6CB91781}"/>
                    </a:ext>
                  </a:extLst>
                </p:cNvPr>
                <p:cNvSpPr>
                  <a:spLocks/>
                </p:cNvSpPr>
                <p:nvPr/>
              </p:nvSpPr>
              <p:spPr bwMode="auto">
                <a:xfrm rot="8220000">
                  <a:off x="980" y="1882"/>
                  <a:ext cx="57" cy="96"/>
                </a:xfrm>
                <a:custGeom>
                  <a:avLst/>
                  <a:gdLst>
                    <a:gd name="T0" fmla="*/ 0 w 21600"/>
                    <a:gd name="T1" fmla="*/ 0 h 21831"/>
                    <a:gd name="T2" fmla="*/ 0 w 21600"/>
                    <a:gd name="T3" fmla="*/ 0 h 21831"/>
                    <a:gd name="T4" fmla="*/ 0 w 21600"/>
                    <a:gd name="T5" fmla="*/ 0 h 21831"/>
                    <a:gd name="T6" fmla="*/ 0 60000 65536"/>
                    <a:gd name="T7" fmla="*/ 0 60000 65536"/>
                    <a:gd name="T8" fmla="*/ 0 60000 65536"/>
                  </a:gdLst>
                  <a:ahLst/>
                  <a:cxnLst>
                    <a:cxn ang="T6">
                      <a:pos x="T0" y="T1"/>
                    </a:cxn>
                    <a:cxn ang="T7">
                      <a:pos x="T2" y="T3"/>
                    </a:cxn>
                    <a:cxn ang="T8">
                      <a:pos x="T4" y="T5"/>
                    </a:cxn>
                  </a:cxnLst>
                  <a:rect l="0" t="0" r="r" b="b"/>
                  <a:pathLst>
                    <a:path w="21600" h="21831" fill="none" extrusionOk="0">
                      <a:moveTo>
                        <a:pt x="21598" y="0"/>
                      </a:moveTo>
                      <a:cubicBezTo>
                        <a:pt x="21599" y="76"/>
                        <a:pt x="21600" y="153"/>
                        <a:pt x="21600" y="231"/>
                      </a:cubicBezTo>
                      <a:cubicBezTo>
                        <a:pt x="21600" y="12160"/>
                        <a:pt x="11929" y="21831"/>
                        <a:pt x="-1" y="21831"/>
                      </a:cubicBezTo>
                    </a:path>
                    <a:path w="21600" h="21831" stroke="0" extrusionOk="0">
                      <a:moveTo>
                        <a:pt x="21598" y="0"/>
                      </a:moveTo>
                      <a:cubicBezTo>
                        <a:pt x="21599" y="76"/>
                        <a:pt x="21600" y="153"/>
                        <a:pt x="21600" y="231"/>
                      </a:cubicBezTo>
                      <a:cubicBezTo>
                        <a:pt x="21600" y="12160"/>
                        <a:pt x="11929" y="21831"/>
                        <a:pt x="-1" y="21831"/>
                      </a:cubicBezTo>
                      <a:lnTo>
                        <a:pt x="0" y="231"/>
                      </a:lnTo>
                      <a:lnTo>
                        <a:pt x="21598" y="0"/>
                      </a:lnTo>
                      <a:close/>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12" name="Arc 10">
                  <a:extLst>
                    <a:ext uri="{FF2B5EF4-FFF2-40B4-BE49-F238E27FC236}">
                      <a16:creationId xmlns:a16="http://schemas.microsoft.com/office/drawing/2014/main" id="{5791638B-794D-8C45-ABA4-AFA50FCD2B4F}"/>
                    </a:ext>
                  </a:extLst>
                </p:cNvPr>
                <p:cNvSpPr>
                  <a:spLocks/>
                </p:cNvSpPr>
                <p:nvPr/>
              </p:nvSpPr>
              <p:spPr bwMode="auto">
                <a:xfrm rot="8220000">
                  <a:off x="1021" y="1900"/>
                  <a:ext cx="32" cy="53"/>
                </a:xfrm>
                <a:custGeom>
                  <a:avLst/>
                  <a:gdLst>
                    <a:gd name="T0" fmla="*/ 0 w 21600"/>
                    <a:gd name="T1" fmla="*/ 0 h 22029"/>
                    <a:gd name="T2" fmla="*/ 0 w 21600"/>
                    <a:gd name="T3" fmla="*/ 0 h 22029"/>
                    <a:gd name="T4" fmla="*/ 0 w 21600"/>
                    <a:gd name="T5" fmla="*/ 0 h 22029"/>
                    <a:gd name="T6" fmla="*/ 0 60000 65536"/>
                    <a:gd name="T7" fmla="*/ 0 60000 65536"/>
                    <a:gd name="T8" fmla="*/ 0 60000 65536"/>
                  </a:gdLst>
                  <a:ahLst/>
                  <a:cxnLst>
                    <a:cxn ang="T6">
                      <a:pos x="T0" y="T1"/>
                    </a:cxn>
                    <a:cxn ang="T7">
                      <a:pos x="T2" y="T3"/>
                    </a:cxn>
                    <a:cxn ang="T8">
                      <a:pos x="T4" y="T5"/>
                    </a:cxn>
                  </a:cxnLst>
                  <a:rect l="0" t="0" r="r" b="b"/>
                  <a:pathLst>
                    <a:path w="21600" h="22029" fill="none" extrusionOk="0">
                      <a:moveTo>
                        <a:pt x="21595" y="0"/>
                      </a:moveTo>
                      <a:cubicBezTo>
                        <a:pt x="21598" y="142"/>
                        <a:pt x="21600" y="285"/>
                        <a:pt x="21600" y="429"/>
                      </a:cubicBezTo>
                      <a:cubicBezTo>
                        <a:pt x="21600" y="12358"/>
                        <a:pt x="11929" y="22029"/>
                        <a:pt x="-1" y="22029"/>
                      </a:cubicBezTo>
                    </a:path>
                    <a:path w="21600" h="22029" stroke="0" extrusionOk="0">
                      <a:moveTo>
                        <a:pt x="21595" y="0"/>
                      </a:moveTo>
                      <a:cubicBezTo>
                        <a:pt x="21598" y="142"/>
                        <a:pt x="21600" y="285"/>
                        <a:pt x="21600" y="429"/>
                      </a:cubicBezTo>
                      <a:cubicBezTo>
                        <a:pt x="21600" y="12358"/>
                        <a:pt x="11929" y="22029"/>
                        <a:pt x="-1" y="22029"/>
                      </a:cubicBezTo>
                      <a:lnTo>
                        <a:pt x="0" y="429"/>
                      </a:lnTo>
                      <a:lnTo>
                        <a:pt x="21595" y="0"/>
                      </a:lnTo>
                      <a:close/>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grpSp>
          <p:grpSp>
            <p:nvGrpSpPr>
              <p:cNvPr id="13" name="Group 11">
                <a:extLst>
                  <a:ext uri="{FF2B5EF4-FFF2-40B4-BE49-F238E27FC236}">
                    <a16:creationId xmlns:a16="http://schemas.microsoft.com/office/drawing/2014/main" id="{3E200137-CC6E-5CE5-8217-8A3AEA19DD64}"/>
                  </a:ext>
                </a:extLst>
              </p:cNvPr>
              <p:cNvGrpSpPr>
                <a:grpSpLocks/>
              </p:cNvGrpSpPr>
              <p:nvPr/>
            </p:nvGrpSpPr>
            <p:grpSpPr bwMode="auto">
              <a:xfrm>
                <a:off x="2130425" y="2717800"/>
                <a:ext cx="158750" cy="117475"/>
                <a:chOff x="1275" y="1916"/>
                <a:chExt cx="95" cy="79"/>
              </a:xfrm>
            </p:grpSpPr>
            <p:sp>
              <p:nvSpPr>
                <p:cNvPr id="14" name="Arc 12">
                  <a:extLst>
                    <a:ext uri="{FF2B5EF4-FFF2-40B4-BE49-F238E27FC236}">
                      <a16:creationId xmlns:a16="http://schemas.microsoft.com/office/drawing/2014/main" id="{1527B305-6F43-4264-C6C3-6C23E53DF84F}"/>
                    </a:ext>
                  </a:extLst>
                </p:cNvPr>
                <p:cNvSpPr>
                  <a:spLocks/>
                </p:cNvSpPr>
                <p:nvPr/>
              </p:nvSpPr>
              <p:spPr bwMode="auto">
                <a:xfrm rot="5280000">
                  <a:off x="1294" y="1919"/>
                  <a:ext cx="58" cy="95"/>
                </a:xfrm>
                <a:custGeom>
                  <a:avLst/>
                  <a:gdLst>
                    <a:gd name="T0" fmla="*/ 0 w 22379"/>
                    <a:gd name="T1" fmla="*/ 0 h 21600"/>
                    <a:gd name="T2" fmla="*/ 0 w 22379"/>
                    <a:gd name="T3" fmla="*/ 0 h 21600"/>
                    <a:gd name="T4" fmla="*/ 0 w 22379"/>
                    <a:gd name="T5" fmla="*/ 0 h 21600"/>
                    <a:gd name="T6" fmla="*/ 0 60000 65536"/>
                    <a:gd name="T7" fmla="*/ 0 60000 65536"/>
                    <a:gd name="T8" fmla="*/ 0 60000 65536"/>
                  </a:gdLst>
                  <a:ahLst/>
                  <a:cxnLst>
                    <a:cxn ang="T6">
                      <a:pos x="T0" y="T1"/>
                    </a:cxn>
                    <a:cxn ang="T7">
                      <a:pos x="T2" y="T3"/>
                    </a:cxn>
                    <a:cxn ang="T8">
                      <a:pos x="T4" y="T5"/>
                    </a:cxn>
                  </a:cxnLst>
                  <a:rect l="0" t="0" r="r" b="b"/>
                  <a:pathLst>
                    <a:path w="22379" h="21600" fill="none" extrusionOk="0">
                      <a:moveTo>
                        <a:pt x="22379" y="0"/>
                      </a:moveTo>
                      <a:cubicBezTo>
                        <a:pt x="22379" y="11929"/>
                        <a:pt x="12708" y="21600"/>
                        <a:pt x="779" y="21600"/>
                      </a:cubicBezTo>
                      <a:cubicBezTo>
                        <a:pt x="519" y="21599"/>
                        <a:pt x="259" y="21595"/>
                        <a:pt x="0" y="21585"/>
                      </a:cubicBezTo>
                    </a:path>
                    <a:path w="22379" h="21600" stroke="0" extrusionOk="0">
                      <a:moveTo>
                        <a:pt x="22379" y="0"/>
                      </a:moveTo>
                      <a:cubicBezTo>
                        <a:pt x="22379" y="11929"/>
                        <a:pt x="12708" y="21600"/>
                        <a:pt x="779" y="21600"/>
                      </a:cubicBezTo>
                      <a:cubicBezTo>
                        <a:pt x="519" y="21599"/>
                        <a:pt x="259" y="21595"/>
                        <a:pt x="0" y="21585"/>
                      </a:cubicBezTo>
                      <a:lnTo>
                        <a:pt x="779" y="0"/>
                      </a:lnTo>
                      <a:lnTo>
                        <a:pt x="22379" y="0"/>
                      </a:lnTo>
                      <a:close/>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15" name="Arc 13">
                  <a:extLst>
                    <a:ext uri="{FF2B5EF4-FFF2-40B4-BE49-F238E27FC236}">
                      <a16:creationId xmlns:a16="http://schemas.microsoft.com/office/drawing/2014/main" id="{E16329ED-F2D8-5E2B-B042-BA66FA25A956}"/>
                    </a:ext>
                  </a:extLst>
                </p:cNvPr>
                <p:cNvSpPr>
                  <a:spLocks/>
                </p:cNvSpPr>
                <p:nvPr/>
              </p:nvSpPr>
              <p:spPr bwMode="auto">
                <a:xfrm rot="5940000">
                  <a:off x="1318" y="1906"/>
                  <a:ext cx="32" cy="51"/>
                </a:xfrm>
                <a:custGeom>
                  <a:avLst/>
                  <a:gdLst>
                    <a:gd name="T0" fmla="*/ 0 w 21600"/>
                    <a:gd name="T1" fmla="*/ 0 h 22037"/>
                    <a:gd name="T2" fmla="*/ 0 w 21600"/>
                    <a:gd name="T3" fmla="*/ 0 h 22037"/>
                    <a:gd name="T4" fmla="*/ 0 w 21600"/>
                    <a:gd name="T5" fmla="*/ 0 h 22037"/>
                    <a:gd name="T6" fmla="*/ 0 60000 65536"/>
                    <a:gd name="T7" fmla="*/ 0 60000 65536"/>
                    <a:gd name="T8" fmla="*/ 0 60000 65536"/>
                  </a:gdLst>
                  <a:ahLst/>
                  <a:cxnLst>
                    <a:cxn ang="T6">
                      <a:pos x="T0" y="T1"/>
                    </a:cxn>
                    <a:cxn ang="T7">
                      <a:pos x="T2" y="T3"/>
                    </a:cxn>
                    <a:cxn ang="T8">
                      <a:pos x="T4" y="T5"/>
                    </a:cxn>
                  </a:cxnLst>
                  <a:rect l="0" t="0" r="r" b="b"/>
                  <a:pathLst>
                    <a:path w="21600" h="22037" fill="none" extrusionOk="0">
                      <a:moveTo>
                        <a:pt x="21595" y="0"/>
                      </a:moveTo>
                      <a:cubicBezTo>
                        <a:pt x="21598" y="145"/>
                        <a:pt x="21600" y="291"/>
                        <a:pt x="21600" y="437"/>
                      </a:cubicBezTo>
                      <a:cubicBezTo>
                        <a:pt x="21600" y="12366"/>
                        <a:pt x="11929" y="22037"/>
                        <a:pt x="-1" y="22037"/>
                      </a:cubicBezTo>
                    </a:path>
                    <a:path w="21600" h="22037" stroke="0" extrusionOk="0">
                      <a:moveTo>
                        <a:pt x="21595" y="0"/>
                      </a:moveTo>
                      <a:cubicBezTo>
                        <a:pt x="21598" y="145"/>
                        <a:pt x="21600" y="291"/>
                        <a:pt x="21600" y="437"/>
                      </a:cubicBezTo>
                      <a:cubicBezTo>
                        <a:pt x="21600" y="12366"/>
                        <a:pt x="11929" y="22037"/>
                        <a:pt x="-1" y="22037"/>
                      </a:cubicBezTo>
                      <a:lnTo>
                        <a:pt x="0" y="437"/>
                      </a:lnTo>
                      <a:lnTo>
                        <a:pt x="21595" y="0"/>
                      </a:lnTo>
                      <a:close/>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grpSp>
          <p:sp>
            <p:nvSpPr>
              <p:cNvPr id="16" name="Oval 14">
                <a:extLst>
                  <a:ext uri="{FF2B5EF4-FFF2-40B4-BE49-F238E27FC236}">
                    <a16:creationId xmlns:a16="http://schemas.microsoft.com/office/drawing/2014/main" id="{39127177-4E58-090D-691C-66BBABBB216F}"/>
                  </a:ext>
                </a:extLst>
              </p:cNvPr>
              <p:cNvSpPr>
                <a:spLocks noChangeArrowheads="1"/>
              </p:cNvSpPr>
              <p:nvPr/>
            </p:nvSpPr>
            <p:spPr bwMode="auto">
              <a:xfrm>
                <a:off x="1390650" y="4092575"/>
                <a:ext cx="927100" cy="927100"/>
              </a:xfrm>
              <a:prstGeom prst="ellipse">
                <a:avLst/>
              </a:prstGeom>
              <a:gradFill rotWithShape="0">
                <a:gsLst>
                  <a:gs pos="0">
                    <a:srgbClr val="FFFFFF"/>
                  </a:gs>
                  <a:gs pos="100000">
                    <a:schemeClr val="accent5"/>
                  </a:gs>
                </a:gsLst>
                <a:lin ang="2700000" scaled="1"/>
              </a:gradFill>
              <a:ln w="12700">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nvGrpSpPr>
              <p:cNvPr id="17" name="Group 15">
                <a:extLst>
                  <a:ext uri="{FF2B5EF4-FFF2-40B4-BE49-F238E27FC236}">
                    <a16:creationId xmlns:a16="http://schemas.microsoft.com/office/drawing/2014/main" id="{FD18A7E1-FD1C-FA77-6423-A4C26A904093}"/>
                  </a:ext>
                </a:extLst>
              </p:cNvPr>
              <p:cNvGrpSpPr>
                <a:grpSpLocks/>
              </p:cNvGrpSpPr>
              <p:nvPr/>
            </p:nvGrpSpPr>
            <p:grpSpPr bwMode="auto">
              <a:xfrm>
                <a:off x="1517650" y="4930775"/>
                <a:ext cx="122238" cy="142875"/>
                <a:chOff x="908" y="3191"/>
                <a:chExt cx="73" cy="96"/>
              </a:xfrm>
            </p:grpSpPr>
            <p:sp>
              <p:nvSpPr>
                <p:cNvPr id="18" name="Arc 16">
                  <a:extLst>
                    <a:ext uri="{FF2B5EF4-FFF2-40B4-BE49-F238E27FC236}">
                      <a16:creationId xmlns:a16="http://schemas.microsoft.com/office/drawing/2014/main" id="{66771F43-36AF-D120-8A35-2C8D21C08654}"/>
                    </a:ext>
                  </a:extLst>
                </p:cNvPr>
                <p:cNvSpPr>
                  <a:spLocks/>
                </p:cNvSpPr>
                <p:nvPr/>
              </p:nvSpPr>
              <p:spPr bwMode="auto">
                <a:xfrm rot="8220000">
                  <a:off x="908" y="3191"/>
                  <a:ext cx="57" cy="96"/>
                </a:xfrm>
                <a:custGeom>
                  <a:avLst/>
                  <a:gdLst>
                    <a:gd name="T0" fmla="*/ 0 w 21600"/>
                    <a:gd name="T1" fmla="*/ 0 h 21831"/>
                    <a:gd name="T2" fmla="*/ 0 w 21600"/>
                    <a:gd name="T3" fmla="*/ 0 h 21831"/>
                    <a:gd name="T4" fmla="*/ 0 w 21600"/>
                    <a:gd name="T5" fmla="*/ 0 h 21831"/>
                    <a:gd name="T6" fmla="*/ 0 60000 65536"/>
                    <a:gd name="T7" fmla="*/ 0 60000 65536"/>
                    <a:gd name="T8" fmla="*/ 0 60000 65536"/>
                  </a:gdLst>
                  <a:ahLst/>
                  <a:cxnLst>
                    <a:cxn ang="T6">
                      <a:pos x="T0" y="T1"/>
                    </a:cxn>
                    <a:cxn ang="T7">
                      <a:pos x="T2" y="T3"/>
                    </a:cxn>
                    <a:cxn ang="T8">
                      <a:pos x="T4" y="T5"/>
                    </a:cxn>
                  </a:cxnLst>
                  <a:rect l="0" t="0" r="r" b="b"/>
                  <a:pathLst>
                    <a:path w="21600" h="21831" fill="none" extrusionOk="0">
                      <a:moveTo>
                        <a:pt x="21598" y="0"/>
                      </a:moveTo>
                      <a:cubicBezTo>
                        <a:pt x="21599" y="76"/>
                        <a:pt x="21600" y="153"/>
                        <a:pt x="21600" y="231"/>
                      </a:cubicBezTo>
                      <a:cubicBezTo>
                        <a:pt x="21600" y="12160"/>
                        <a:pt x="11929" y="21831"/>
                        <a:pt x="-1" y="21831"/>
                      </a:cubicBezTo>
                    </a:path>
                    <a:path w="21600" h="21831" stroke="0" extrusionOk="0">
                      <a:moveTo>
                        <a:pt x="21598" y="0"/>
                      </a:moveTo>
                      <a:cubicBezTo>
                        <a:pt x="21599" y="76"/>
                        <a:pt x="21600" y="153"/>
                        <a:pt x="21600" y="231"/>
                      </a:cubicBezTo>
                      <a:cubicBezTo>
                        <a:pt x="21600" y="12160"/>
                        <a:pt x="11929" y="21831"/>
                        <a:pt x="-1" y="21831"/>
                      </a:cubicBezTo>
                      <a:lnTo>
                        <a:pt x="0" y="231"/>
                      </a:lnTo>
                      <a:lnTo>
                        <a:pt x="21598" y="0"/>
                      </a:lnTo>
                      <a:close/>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19" name="Arc 17">
                  <a:extLst>
                    <a:ext uri="{FF2B5EF4-FFF2-40B4-BE49-F238E27FC236}">
                      <a16:creationId xmlns:a16="http://schemas.microsoft.com/office/drawing/2014/main" id="{F6E93652-A74D-F8F3-774D-FF3D77461F35}"/>
                    </a:ext>
                  </a:extLst>
                </p:cNvPr>
                <p:cNvSpPr>
                  <a:spLocks/>
                </p:cNvSpPr>
                <p:nvPr/>
              </p:nvSpPr>
              <p:spPr bwMode="auto">
                <a:xfrm rot="8220000">
                  <a:off x="947" y="3209"/>
                  <a:ext cx="34" cy="54"/>
                </a:xfrm>
                <a:custGeom>
                  <a:avLst/>
                  <a:gdLst>
                    <a:gd name="T0" fmla="*/ 0 w 22973"/>
                    <a:gd name="T1" fmla="*/ 0 h 22021"/>
                    <a:gd name="T2" fmla="*/ 0 w 22973"/>
                    <a:gd name="T3" fmla="*/ 0 h 22021"/>
                    <a:gd name="T4" fmla="*/ 0 w 22973"/>
                    <a:gd name="T5" fmla="*/ 0 h 22021"/>
                    <a:gd name="T6" fmla="*/ 0 60000 65536"/>
                    <a:gd name="T7" fmla="*/ 0 60000 65536"/>
                    <a:gd name="T8" fmla="*/ 0 60000 65536"/>
                  </a:gdLst>
                  <a:ahLst/>
                  <a:cxnLst>
                    <a:cxn ang="T6">
                      <a:pos x="T0" y="T1"/>
                    </a:cxn>
                    <a:cxn ang="T7">
                      <a:pos x="T2" y="T3"/>
                    </a:cxn>
                    <a:cxn ang="T8">
                      <a:pos x="T4" y="T5"/>
                    </a:cxn>
                  </a:cxnLst>
                  <a:rect l="0" t="0" r="r" b="b"/>
                  <a:pathLst>
                    <a:path w="22973" h="22021" fill="none" extrusionOk="0">
                      <a:moveTo>
                        <a:pt x="22968" y="0"/>
                      </a:moveTo>
                      <a:cubicBezTo>
                        <a:pt x="22971" y="140"/>
                        <a:pt x="22973" y="280"/>
                        <a:pt x="22973" y="421"/>
                      </a:cubicBezTo>
                      <a:cubicBezTo>
                        <a:pt x="22973" y="12350"/>
                        <a:pt x="13302" y="22021"/>
                        <a:pt x="1373" y="22021"/>
                      </a:cubicBezTo>
                      <a:cubicBezTo>
                        <a:pt x="914" y="22020"/>
                        <a:pt x="457" y="22006"/>
                        <a:pt x="-1" y="21977"/>
                      </a:cubicBezTo>
                    </a:path>
                    <a:path w="22973" h="22021" stroke="0" extrusionOk="0">
                      <a:moveTo>
                        <a:pt x="22968" y="0"/>
                      </a:moveTo>
                      <a:cubicBezTo>
                        <a:pt x="22971" y="140"/>
                        <a:pt x="22973" y="280"/>
                        <a:pt x="22973" y="421"/>
                      </a:cubicBezTo>
                      <a:cubicBezTo>
                        <a:pt x="22973" y="12350"/>
                        <a:pt x="13302" y="22021"/>
                        <a:pt x="1373" y="22021"/>
                      </a:cubicBezTo>
                      <a:cubicBezTo>
                        <a:pt x="914" y="22020"/>
                        <a:pt x="457" y="22006"/>
                        <a:pt x="-1" y="21977"/>
                      </a:cubicBezTo>
                      <a:lnTo>
                        <a:pt x="1373" y="421"/>
                      </a:lnTo>
                      <a:lnTo>
                        <a:pt x="22968" y="0"/>
                      </a:lnTo>
                      <a:close/>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grpSp>
          <p:grpSp>
            <p:nvGrpSpPr>
              <p:cNvPr id="20" name="Group 18">
                <a:extLst>
                  <a:ext uri="{FF2B5EF4-FFF2-40B4-BE49-F238E27FC236}">
                    <a16:creationId xmlns:a16="http://schemas.microsoft.com/office/drawing/2014/main" id="{8CA025C2-0AE8-9A3D-CDBD-2FE6DE4D2CE1}"/>
                  </a:ext>
                </a:extLst>
              </p:cNvPr>
              <p:cNvGrpSpPr>
                <a:grpSpLocks/>
              </p:cNvGrpSpPr>
              <p:nvPr/>
            </p:nvGrpSpPr>
            <p:grpSpPr bwMode="auto">
              <a:xfrm>
                <a:off x="2009775" y="4981575"/>
                <a:ext cx="158750" cy="117475"/>
                <a:chOff x="1203" y="3226"/>
                <a:chExt cx="95" cy="79"/>
              </a:xfrm>
            </p:grpSpPr>
            <p:sp>
              <p:nvSpPr>
                <p:cNvPr id="21" name="Arc 19">
                  <a:extLst>
                    <a:ext uri="{FF2B5EF4-FFF2-40B4-BE49-F238E27FC236}">
                      <a16:creationId xmlns:a16="http://schemas.microsoft.com/office/drawing/2014/main" id="{62EDF911-C173-7976-8C89-C04E912FF0CE}"/>
                    </a:ext>
                  </a:extLst>
                </p:cNvPr>
                <p:cNvSpPr>
                  <a:spLocks/>
                </p:cNvSpPr>
                <p:nvPr/>
              </p:nvSpPr>
              <p:spPr bwMode="auto">
                <a:xfrm rot="5280000">
                  <a:off x="1222" y="3229"/>
                  <a:ext cx="58" cy="95"/>
                </a:xfrm>
                <a:custGeom>
                  <a:avLst/>
                  <a:gdLst>
                    <a:gd name="T0" fmla="*/ 0 w 22379"/>
                    <a:gd name="T1" fmla="*/ 0 h 21600"/>
                    <a:gd name="T2" fmla="*/ 0 w 22379"/>
                    <a:gd name="T3" fmla="*/ 0 h 21600"/>
                    <a:gd name="T4" fmla="*/ 0 w 22379"/>
                    <a:gd name="T5" fmla="*/ 0 h 21600"/>
                    <a:gd name="T6" fmla="*/ 0 60000 65536"/>
                    <a:gd name="T7" fmla="*/ 0 60000 65536"/>
                    <a:gd name="T8" fmla="*/ 0 60000 65536"/>
                  </a:gdLst>
                  <a:ahLst/>
                  <a:cxnLst>
                    <a:cxn ang="T6">
                      <a:pos x="T0" y="T1"/>
                    </a:cxn>
                    <a:cxn ang="T7">
                      <a:pos x="T2" y="T3"/>
                    </a:cxn>
                    <a:cxn ang="T8">
                      <a:pos x="T4" y="T5"/>
                    </a:cxn>
                  </a:cxnLst>
                  <a:rect l="0" t="0" r="r" b="b"/>
                  <a:pathLst>
                    <a:path w="22379" h="21600" fill="none" extrusionOk="0">
                      <a:moveTo>
                        <a:pt x="22379" y="0"/>
                      </a:moveTo>
                      <a:cubicBezTo>
                        <a:pt x="22379" y="11929"/>
                        <a:pt x="12708" y="21600"/>
                        <a:pt x="779" y="21600"/>
                      </a:cubicBezTo>
                      <a:cubicBezTo>
                        <a:pt x="519" y="21599"/>
                        <a:pt x="259" y="21595"/>
                        <a:pt x="0" y="21585"/>
                      </a:cubicBezTo>
                    </a:path>
                    <a:path w="22379" h="21600" stroke="0" extrusionOk="0">
                      <a:moveTo>
                        <a:pt x="22379" y="0"/>
                      </a:moveTo>
                      <a:cubicBezTo>
                        <a:pt x="22379" y="11929"/>
                        <a:pt x="12708" y="21600"/>
                        <a:pt x="779" y="21600"/>
                      </a:cubicBezTo>
                      <a:cubicBezTo>
                        <a:pt x="519" y="21599"/>
                        <a:pt x="259" y="21595"/>
                        <a:pt x="0" y="21585"/>
                      </a:cubicBezTo>
                      <a:lnTo>
                        <a:pt x="779" y="0"/>
                      </a:lnTo>
                      <a:lnTo>
                        <a:pt x="22379" y="0"/>
                      </a:lnTo>
                      <a:close/>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22" name="Arc 20">
                  <a:extLst>
                    <a:ext uri="{FF2B5EF4-FFF2-40B4-BE49-F238E27FC236}">
                      <a16:creationId xmlns:a16="http://schemas.microsoft.com/office/drawing/2014/main" id="{AF376A07-E1A0-CDEC-EA84-74D0C334F6F7}"/>
                    </a:ext>
                  </a:extLst>
                </p:cNvPr>
                <p:cNvSpPr>
                  <a:spLocks/>
                </p:cNvSpPr>
                <p:nvPr/>
              </p:nvSpPr>
              <p:spPr bwMode="auto">
                <a:xfrm rot="5940000">
                  <a:off x="1246" y="3216"/>
                  <a:ext cx="32" cy="51"/>
                </a:xfrm>
                <a:custGeom>
                  <a:avLst/>
                  <a:gdLst>
                    <a:gd name="T0" fmla="*/ 0 w 21600"/>
                    <a:gd name="T1" fmla="*/ 0 h 22037"/>
                    <a:gd name="T2" fmla="*/ 0 w 21600"/>
                    <a:gd name="T3" fmla="*/ 0 h 22037"/>
                    <a:gd name="T4" fmla="*/ 0 w 21600"/>
                    <a:gd name="T5" fmla="*/ 0 h 22037"/>
                    <a:gd name="T6" fmla="*/ 0 60000 65536"/>
                    <a:gd name="T7" fmla="*/ 0 60000 65536"/>
                    <a:gd name="T8" fmla="*/ 0 60000 65536"/>
                  </a:gdLst>
                  <a:ahLst/>
                  <a:cxnLst>
                    <a:cxn ang="T6">
                      <a:pos x="T0" y="T1"/>
                    </a:cxn>
                    <a:cxn ang="T7">
                      <a:pos x="T2" y="T3"/>
                    </a:cxn>
                    <a:cxn ang="T8">
                      <a:pos x="T4" y="T5"/>
                    </a:cxn>
                  </a:cxnLst>
                  <a:rect l="0" t="0" r="r" b="b"/>
                  <a:pathLst>
                    <a:path w="21600" h="22037" fill="none" extrusionOk="0">
                      <a:moveTo>
                        <a:pt x="21595" y="0"/>
                      </a:moveTo>
                      <a:cubicBezTo>
                        <a:pt x="21598" y="145"/>
                        <a:pt x="21600" y="291"/>
                        <a:pt x="21600" y="437"/>
                      </a:cubicBezTo>
                      <a:cubicBezTo>
                        <a:pt x="21600" y="12366"/>
                        <a:pt x="11929" y="22037"/>
                        <a:pt x="-1" y="22037"/>
                      </a:cubicBezTo>
                    </a:path>
                    <a:path w="21600" h="22037" stroke="0" extrusionOk="0">
                      <a:moveTo>
                        <a:pt x="21595" y="0"/>
                      </a:moveTo>
                      <a:cubicBezTo>
                        <a:pt x="21598" y="145"/>
                        <a:pt x="21600" y="291"/>
                        <a:pt x="21600" y="437"/>
                      </a:cubicBezTo>
                      <a:cubicBezTo>
                        <a:pt x="21600" y="12366"/>
                        <a:pt x="11929" y="22037"/>
                        <a:pt x="-1" y="22037"/>
                      </a:cubicBezTo>
                      <a:lnTo>
                        <a:pt x="0" y="437"/>
                      </a:lnTo>
                      <a:lnTo>
                        <a:pt x="21595" y="0"/>
                      </a:lnTo>
                      <a:close/>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grpSp>
          <p:sp>
            <p:nvSpPr>
              <p:cNvPr id="23" name="Rectangle 21">
                <a:extLst>
                  <a:ext uri="{FF2B5EF4-FFF2-40B4-BE49-F238E27FC236}">
                    <a16:creationId xmlns:a16="http://schemas.microsoft.com/office/drawing/2014/main" id="{11EEE6F2-A6F7-E332-3116-C455E739388C}"/>
                  </a:ext>
                </a:extLst>
              </p:cNvPr>
              <p:cNvSpPr>
                <a:spLocks noChangeArrowheads="1"/>
              </p:cNvSpPr>
              <p:nvPr/>
            </p:nvSpPr>
            <p:spPr bwMode="auto">
              <a:xfrm rot="1680000">
                <a:off x="1643063" y="2678113"/>
                <a:ext cx="109537" cy="42862"/>
              </a:xfrm>
              <a:prstGeom prst="rect">
                <a:avLst/>
              </a:prstGeom>
              <a:solidFill>
                <a:schemeClr val="bg1"/>
              </a:solidFill>
              <a:ln w="12700">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4" name="Rectangle 22">
                <a:extLst>
                  <a:ext uri="{FF2B5EF4-FFF2-40B4-BE49-F238E27FC236}">
                    <a16:creationId xmlns:a16="http://schemas.microsoft.com/office/drawing/2014/main" id="{F7DEFC09-18D1-8AB9-C05B-F5F7849F9B35}"/>
                  </a:ext>
                </a:extLst>
              </p:cNvPr>
              <p:cNvSpPr>
                <a:spLocks noChangeArrowheads="1"/>
              </p:cNvSpPr>
              <p:nvPr/>
            </p:nvSpPr>
            <p:spPr bwMode="auto">
              <a:xfrm rot="20160000">
                <a:off x="2125663" y="2719388"/>
                <a:ext cx="107950" cy="42862"/>
              </a:xfrm>
              <a:prstGeom prst="rect">
                <a:avLst/>
              </a:prstGeom>
              <a:solidFill>
                <a:schemeClr val="bg1"/>
              </a:solidFill>
              <a:ln w="12700">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5" name="Rectangle 23">
                <a:extLst>
                  <a:ext uri="{FF2B5EF4-FFF2-40B4-BE49-F238E27FC236}">
                    <a16:creationId xmlns:a16="http://schemas.microsoft.com/office/drawing/2014/main" id="{372CC464-FA3E-1756-AC26-66F046CEB12B}"/>
                  </a:ext>
                </a:extLst>
              </p:cNvPr>
              <p:cNvSpPr>
                <a:spLocks noChangeArrowheads="1"/>
              </p:cNvSpPr>
              <p:nvPr/>
            </p:nvSpPr>
            <p:spPr bwMode="auto">
              <a:xfrm rot="1920000">
                <a:off x="1514475" y="4932363"/>
                <a:ext cx="107950" cy="44450"/>
              </a:xfrm>
              <a:prstGeom prst="rect">
                <a:avLst/>
              </a:prstGeom>
              <a:solidFill>
                <a:schemeClr val="bg1"/>
              </a:solidFill>
              <a:ln w="12700">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6" name="Rectangle 24">
                <a:extLst>
                  <a:ext uri="{FF2B5EF4-FFF2-40B4-BE49-F238E27FC236}">
                    <a16:creationId xmlns:a16="http://schemas.microsoft.com/office/drawing/2014/main" id="{01A89A7E-9A97-FAAC-1C59-9AD1D3D00407}"/>
                  </a:ext>
                </a:extLst>
              </p:cNvPr>
              <p:cNvSpPr>
                <a:spLocks noChangeArrowheads="1"/>
              </p:cNvSpPr>
              <p:nvPr/>
            </p:nvSpPr>
            <p:spPr bwMode="auto">
              <a:xfrm rot="20160000">
                <a:off x="2001838" y="4981575"/>
                <a:ext cx="107950" cy="46038"/>
              </a:xfrm>
              <a:prstGeom prst="rect">
                <a:avLst/>
              </a:prstGeom>
              <a:solidFill>
                <a:schemeClr val="bg1"/>
              </a:solidFill>
              <a:ln w="12700">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7" name="Rectangle 25">
                <a:extLst>
                  <a:ext uri="{FF2B5EF4-FFF2-40B4-BE49-F238E27FC236}">
                    <a16:creationId xmlns:a16="http://schemas.microsoft.com/office/drawing/2014/main" id="{97A172EF-97BE-352E-99FA-0E9773627D20}"/>
                  </a:ext>
                </a:extLst>
              </p:cNvPr>
              <p:cNvSpPr>
                <a:spLocks noChangeArrowheads="1"/>
              </p:cNvSpPr>
              <p:nvPr/>
            </p:nvSpPr>
            <p:spPr bwMode="auto">
              <a:xfrm>
                <a:off x="2247900" y="2738438"/>
                <a:ext cx="17463" cy="119062"/>
              </a:xfrm>
              <a:prstGeom prst="rect">
                <a:avLst/>
              </a:prstGeom>
              <a:solidFill>
                <a:schemeClr val="bg1"/>
              </a:solidFill>
              <a:ln w="12700">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8" name="Rectangle 26">
                <a:extLst>
                  <a:ext uri="{FF2B5EF4-FFF2-40B4-BE49-F238E27FC236}">
                    <a16:creationId xmlns:a16="http://schemas.microsoft.com/office/drawing/2014/main" id="{CB355799-CCC5-252A-EC01-45CEE01CF637}"/>
                  </a:ext>
                </a:extLst>
              </p:cNvPr>
              <p:cNvSpPr>
                <a:spLocks noChangeArrowheads="1"/>
              </p:cNvSpPr>
              <p:nvPr/>
            </p:nvSpPr>
            <p:spPr bwMode="auto">
              <a:xfrm>
                <a:off x="2124075" y="5010150"/>
                <a:ext cx="17463" cy="117475"/>
              </a:xfrm>
              <a:prstGeom prst="rect">
                <a:avLst/>
              </a:prstGeom>
              <a:solidFill>
                <a:schemeClr val="bg1"/>
              </a:solidFill>
              <a:ln w="12700">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9" name="Arc 27">
                <a:extLst>
                  <a:ext uri="{FF2B5EF4-FFF2-40B4-BE49-F238E27FC236}">
                    <a16:creationId xmlns:a16="http://schemas.microsoft.com/office/drawing/2014/main" id="{757524CD-2FF2-2C9A-9825-C20CC8C76409}"/>
                  </a:ext>
                </a:extLst>
              </p:cNvPr>
              <p:cNvSpPr>
                <a:spLocks/>
              </p:cNvSpPr>
              <p:nvPr/>
            </p:nvSpPr>
            <p:spPr bwMode="auto">
              <a:xfrm>
                <a:off x="2501900" y="4767263"/>
                <a:ext cx="746125" cy="554037"/>
              </a:xfrm>
              <a:custGeom>
                <a:avLst/>
                <a:gdLst>
                  <a:gd name="T0" fmla="*/ 25658041 w 21697"/>
                  <a:gd name="T1" fmla="*/ 0 h 21658"/>
                  <a:gd name="T2" fmla="*/ 0 w 21697"/>
                  <a:gd name="T3" fmla="*/ 14172915 h 21658"/>
                  <a:gd name="T4" fmla="*/ 114720 w 21697"/>
                  <a:gd name="T5" fmla="*/ 37962 h 21658"/>
                  <a:gd name="T6" fmla="*/ 0 60000 65536"/>
                  <a:gd name="T7" fmla="*/ 0 60000 65536"/>
                  <a:gd name="T8" fmla="*/ 0 60000 65536"/>
                </a:gdLst>
                <a:ahLst/>
                <a:cxnLst>
                  <a:cxn ang="T6">
                    <a:pos x="T0" y="T1"/>
                  </a:cxn>
                  <a:cxn ang="T7">
                    <a:pos x="T2" y="T3"/>
                  </a:cxn>
                  <a:cxn ang="T8">
                    <a:pos x="T4" y="T5"/>
                  </a:cxn>
                </a:cxnLst>
                <a:rect l="0" t="0" r="r" b="b"/>
                <a:pathLst>
                  <a:path w="21697" h="21658" fill="none" extrusionOk="0">
                    <a:moveTo>
                      <a:pt x="21696" y="0"/>
                    </a:moveTo>
                    <a:cubicBezTo>
                      <a:pt x="21696" y="19"/>
                      <a:pt x="21697" y="38"/>
                      <a:pt x="21697" y="58"/>
                    </a:cubicBezTo>
                    <a:cubicBezTo>
                      <a:pt x="21697" y="11987"/>
                      <a:pt x="12026" y="21658"/>
                      <a:pt x="97" y="21658"/>
                    </a:cubicBezTo>
                    <a:cubicBezTo>
                      <a:pt x="64" y="21657"/>
                      <a:pt x="32" y="21657"/>
                      <a:pt x="0" y="21657"/>
                    </a:cubicBezTo>
                  </a:path>
                  <a:path w="21697" h="21658" stroke="0" extrusionOk="0">
                    <a:moveTo>
                      <a:pt x="21696" y="0"/>
                    </a:moveTo>
                    <a:cubicBezTo>
                      <a:pt x="21696" y="19"/>
                      <a:pt x="21697" y="38"/>
                      <a:pt x="21697" y="58"/>
                    </a:cubicBezTo>
                    <a:cubicBezTo>
                      <a:pt x="21697" y="11987"/>
                      <a:pt x="12026" y="21658"/>
                      <a:pt x="97" y="21658"/>
                    </a:cubicBezTo>
                    <a:cubicBezTo>
                      <a:pt x="64" y="21657"/>
                      <a:pt x="32" y="21657"/>
                      <a:pt x="0" y="21657"/>
                    </a:cubicBezTo>
                    <a:lnTo>
                      <a:pt x="97" y="58"/>
                    </a:lnTo>
                    <a:lnTo>
                      <a:pt x="21696" y="0"/>
                    </a:lnTo>
                    <a:close/>
                  </a:path>
                </a:pathLst>
              </a:custGeom>
              <a:noFill/>
              <a:ln w="50800" cap="rnd">
                <a:solidFill>
                  <a:srgbClr val="33CC33"/>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30" name="Arc 28">
                <a:extLst>
                  <a:ext uri="{FF2B5EF4-FFF2-40B4-BE49-F238E27FC236}">
                    <a16:creationId xmlns:a16="http://schemas.microsoft.com/office/drawing/2014/main" id="{1F91ADDC-4D56-1D2A-7D30-29BDC54AE9D7}"/>
                  </a:ext>
                </a:extLst>
              </p:cNvPr>
              <p:cNvSpPr>
                <a:spLocks/>
              </p:cNvSpPr>
              <p:nvPr/>
            </p:nvSpPr>
            <p:spPr bwMode="auto">
              <a:xfrm>
                <a:off x="1558925" y="5032375"/>
                <a:ext cx="966788" cy="285750"/>
              </a:xfrm>
              <a:custGeom>
                <a:avLst/>
                <a:gdLst>
                  <a:gd name="T0" fmla="*/ 43121923 w 21600"/>
                  <a:gd name="T1" fmla="*/ 3780234 h 21600"/>
                  <a:gd name="T2" fmla="*/ 0 w 21600"/>
                  <a:gd name="T3" fmla="*/ 0 h 21600"/>
                  <a:gd name="T4" fmla="*/ 43272178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525" y="21599"/>
                    </a:moveTo>
                    <a:cubicBezTo>
                      <a:pt x="9625" y="21558"/>
                      <a:pt x="-1" y="11900"/>
                      <a:pt x="-1" y="-1"/>
                    </a:cubicBezTo>
                  </a:path>
                  <a:path w="21600" h="21600" stroke="0" extrusionOk="0">
                    <a:moveTo>
                      <a:pt x="21525" y="21599"/>
                    </a:moveTo>
                    <a:cubicBezTo>
                      <a:pt x="9625" y="21558"/>
                      <a:pt x="-1" y="11900"/>
                      <a:pt x="-1" y="-1"/>
                    </a:cubicBezTo>
                    <a:lnTo>
                      <a:pt x="21600" y="0"/>
                    </a:lnTo>
                    <a:lnTo>
                      <a:pt x="21525" y="21599"/>
                    </a:lnTo>
                    <a:close/>
                  </a:path>
                </a:pathLst>
              </a:custGeom>
              <a:noFill/>
              <a:ln w="50800" cap="rnd">
                <a:solidFill>
                  <a:srgbClr val="33CC33"/>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31" name="Arc 29">
                <a:extLst>
                  <a:ext uri="{FF2B5EF4-FFF2-40B4-BE49-F238E27FC236}">
                    <a16:creationId xmlns:a16="http://schemas.microsoft.com/office/drawing/2014/main" id="{636C2604-D5A9-040F-5185-24F624249CEB}"/>
                  </a:ext>
                </a:extLst>
              </p:cNvPr>
              <p:cNvSpPr>
                <a:spLocks/>
              </p:cNvSpPr>
              <p:nvPr/>
            </p:nvSpPr>
            <p:spPr bwMode="auto">
              <a:xfrm>
                <a:off x="3051175" y="4813300"/>
                <a:ext cx="603250" cy="157163"/>
              </a:xfrm>
              <a:custGeom>
                <a:avLst/>
                <a:gdLst>
                  <a:gd name="T0" fmla="*/ 16846929 w 21600"/>
                  <a:gd name="T1" fmla="*/ 0 h 21806"/>
                  <a:gd name="T2" fmla="*/ 0 w 21600"/>
                  <a:gd name="T3" fmla="*/ 1132725 h 21806"/>
                  <a:gd name="T4" fmla="*/ 0 w 21600"/>
                  <a:gd name="T5" fmla="*/ 10703 h 21806"/>
                  <a:gd name="T6" fmla="*/ 0 60000 65536"/>
                  <a:gd name="T7" fmla="*/ 0 60000 65536"/>
                  <a:gd name="T8" fmla="*/ 0 60000 65536"/>
                </a:gdLst>
                <a:ahLst/>
                <a:cxnLst>
                  <a:cxn ang="T6">
                    <a:pos x="T0" y="T1"/>
                  </a:cxn>
                  <a:cxn ang="T7">
                    <a:pos x="T2" y="T3"/>
                  </a:cxn>
                  <a:cxn ang="T8">
                    <a:pos x="T4" y="T5"/>
                  </a:cxn>
                </a:cxnLst>
                <a:rect l="0" t="0" r="r" b="b"/>
                <a:pathLst>
                  <a:path w="21600" h="21806" fill="none" extrusionOk="0">
                    <a:moveTo>
                      <a:pt x="21599" y="-1"/>
                    </a:moveTo>
                    <a:cubicBezTo>
                      <a:pt x="21599" y="68"/>
                      <a:pt x="21600" y="137"/>
                      <a:pt x="21600" y="206"/>
                    </a:cubicBezTo>
                    <a:cubicBezTo>
                      <a:pt x="21600" y="12135"/>
                      <a:pt x="11929" y="21806"/>
                      <a:pt x="-1" y="21806"/>
                    </a:cubicBezTo>
                  </a:path>
                  <a:path w="21600" h="21806" stroke="0" extrusionOk="0">
                    <a:moveTo>
                      <a:pt x="21599" y="-1"/>
                    </a:moveTo>
                    <a:cubicBezTo>
                      <a:pt x="21599" y="68"/>
                      <a:pt x="21600" y="137"/>
                      <a:pt x="21600" y="206"/>
                    </a:cubicBezTo>
                    <a:cubicBezTo>
                      <a:pt x="21600" y="12135"/>
                      <a:pt x="11929" y="21806"/>
                      <a:pt x="-1" y="21806"/>
                    </a:cubicBezTo>
                    <a:lnTo>
                      <a:pt x="0" y="206"/>
                    </a:lnTo>
                    <a:lnTo>
                      <a:pt x="21599" y="-1"/>
                    </a:lnTo>
                    <a:close/>
                  </a:path>
                </a:pathLst>
              </a:custGeom>
              <a:noFill/>
              <a:ln w="50800" cap="rnd">
                <a:solidFill>
                  <a:srgbClr val="FF0033"/>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32" name="Arc 30">
                <a:extLst>
                  <a:ext uri="{FF2B5EF4-FFF2-40B4-BE49-F238E27FC236}">
                    <a16:creationId xmlns:a16="http://schemas.microsoft.com/office/drawing/2014/main" id="{29979BE7-A48A-BAB9-AD53-8F5FF570769C}"/>
                  </a:ext>
                </a:extLst>
              </p:cNvPr>
              <p:cNvSpPr>
                <a:spLocks/>
              </p:cNvSpPr>
              <p:nvPr/>
            </p:nvSpPr>
            <p:spPr bwMode="auto">
              <a:xfrm>
                <a:off x="2149475" y="4983163"/>
                <a:ext cx="595313" cy="111125"/>
              </a:xfrm>
              <a:custGeom>
                <a:avLst/>
                <a:gdLst>
                  <a:gd name="T0" fmla="*/ 16405779 w 21600"/>
                  <a:gd name="T1" fmla="*/ 0 h 21897"/>
                  <a:gd name="T2" fmla="*/ 0 w 21600"/>
                  <a:gd name="T3" fmla="*/ 563948 h 21897"/>
                  <a:gd name="T4" fmla="*/ 0 w 21600"/>
                  <a:gd name="T5" fmla="*/ 7648 h 21897"/>
                  <a:gd name="T6" fmla="*/ 0 60000 65536"/>
                  <a:gd name="T7" fmla="*/ 0 60000 65536"/>
                  <a:gd name="T8" fmla="*/ 0 60000 65536"/>
                </a:gdLst>
                <a:ahLst/>
                <a:cxnLst>
                  <a:cxn ang="T6">
                    <a:pos x="T0" y="T1"/>
                  </a:cxn>
                  <a:cxn ang="T7">
                    <a:pos x="T2" y="T3"/>
                  </a:cxn>
                  <a:cxn ang="T8">
                    <a:pos x="T4" y="T5"/>
                  </a:cxn>
                </a:cxnLst>
                <a:rect l="0" t="0" r="r" b="b"/>
                <a:pathLst>
                  <a:path w="21600" h="21897" fill="none" extrusionOk="0">
                    <a:moveTo>
                      <a:pt x="21597" y="0"/>
                    </a:moveTo>
                    <a:cubicBezTo>
                      <a:pt x="21599" y="98"/>
                      <a:pt x="21600" y="197"/>
                      <a:pt x="21600" y="297"/>
                    </a:cubicBezTo>
                    <a:cubicBezTo>
                      <a:pt x="21600" y="12226"/>
                      <a:pt x="11929" y="21897"/>
                      <a:pt x="-1" y="21897"/>
                    </a:cubicBezTo>
                  </a:path>
                  <a:path w="21600" h="21897" stroke="0" extrusionOk="0">
                    <a:moveTo>
                      <a:pt x="21597" y="0"/>
                    </a:moveTo>
                    <a:cubicBezTo>
                      <a:pt x="21599" y="98"/>
                      <a:pt x="21600" y="197"/>
                      <a:pt x="21600" y="297"/>
                    </a:cubicBezTo>
                    <a:cubicBezTo>
                      <a:pt x="21600" y="12226"/>
                      <a:pt x="11929" y="21897"/>
                      <a:pt x="-1" y="21897"/>
                    </a:cubicBezTo>
                    <a:lnTo>
                      <a:pt x="0" y="297"/>
                    </a:lnTo>
                    <a:lnTo>
                      <a:pt x="21597" y="0"/>
                    </a:lnTo>
                    <a:close/>
                  </a:path>
                </a:pathLst>
              </a:custGeom>
              <a:noFill/>
              <a:ln w="50800" cap="rnd">
                <a:solidFill>
                  <a:srgbClr val="FF0033"/>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33" name="Arc 31">
                <a:extLst>
                  <a:ext uri="{FF2B5EF4-FFF2-40B4-BE49-F238E27FC236}">
                    <a16:creationId xmlns:a16="http://schemas.microsoft.com/office/drawing/2014/main" id="{43E94829-C47F-6DF9-AE90-4FFDD1B5CD60}"/>
                  </a:ext>
                </a:extLst>
              </p:cNvPr>
              <p:cNvSpPr>
                <a:spLocks/>
              </p:cNvSpPr>
              <p:nvPr/>
            </p:nvSpPr>
            <p:spPr bwMode="auto">
              <a:xfrm>
                <a:off x="2663825" y="4937125"/>
                <a:ext cx="450850" cy="101600"/>
              </a:xfrm>
              <a:custGeom>
                <a:avLst/>
                <a:gdLst>
                  <a:gd name="T0" fmla="*/ 0 w 21598"/>
                  <a:gd name="T1" fmla="*/ 470860 h 21600"/>
                  <a:gd name="T2" fmla="*/ 9376461 w 21598"/>
                  <a:gd name="T3" fmla="*/ 0 h 21600"/>
                  <a:gd name="T4" fmla="*/ 9411322 w 21598"/>
                  <a:gd name="T5" fmla="*/ 477896 h 21600"/>
                  <a:gd name="T6" fmla="*/ 0 60000 65536"/>
                  <a:gd name="T7" fmla="*/ 0 60000 65536"/>
                  <a:gd name="T8" fmla="*/ 0 60000 65536"/>
                </a:gdLst>
                <a:ahLst/>
                <a:cxnLst>
                  <a:cxn ang="T6">
                    <a:pos x="T0" y="T1"/>
                  </a:cxn>
                  <a:cxn ang="T7">
                    <a:pos x="T2" y="T3"/>
                  </a:cxn>
                  <a:cxn ang="T8">
                    <a:pos x="T4" y="T5"/>
                  </a:cxn>
                </a:cxnLst>
                <a:rect l="0" t="0" r="r" b="b"/>
                <a:pathLst>
                  <a:path w="21598" h="21600" fill="none" extrusionOk="0">
                    <a:moveTo>
                      <a:pt x="0" y="21282"/>
                    </a:moveTo>
                    <a:cubicBezTo>
                      <a:pt x="173" y="9509"/>
                      <a:pt x="9743" y="43"/>
                      <a:pt x="21518" y="0"/>
                    </a:cubicBezTo>
                  </a:path>
                  <a:path w="21598" h="21600" stroke="0" extrusionOk="0">
                    <a:moveTo>
                      <a:pt x="0" y="21282"/>
                    </a:moveTo>
                    <a:cubicBezTo>
                      <a:pt x="173" y="9509"/>
                      <a:pt x="9743" y="43"/>
                      <a:pt x="21518" y="0"/>
                    </a:cubicBezTo>
                    <a:lnTo>
                      <a:pt x="21598" y="21600"/>
                    </a:lnTo>
                    <a:lnTo>
                      <a:pt x="0" y="21282"/>
                    </a:lnTo>
                    <a:close/>
                  </a:path>
                </a:pathLst>
              </a:custGeom>
              <a:noFill/>
              <a:ln w="50800" cap="rnd">
                <a:solidFill>
                  <a:srgbClr val="FF0033"/>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34" name="Rectangle 32">
                <a:extLst>
                  <a:ext uri="{FF2B5EF4-FFF2-40B4-BE49-F238E27FC236}">
                    <a16:creationId xmlns:a16="http://schemas.microsoft.com/office/drawing/2014/main" id="{280D953F-C1E0-B2F8-6CA9-BD9F53584DAF}"/>
                  </a:ext>
                </a:extLst>
              </p:cNvPr>
              <p:cNvSpPr>
                <a:spLocks noChangeArrowheads="1"/>
              </p:cNvSpPr>
              <p:nvPr/>
            </p:nvSpPr>
            <p:spPr bwMode="auto">
              <a:xfrm rot="3660000">
                <a:off x="1578769" y="4987131"/>
                <a:ext cx="15875" cy="131763"/>
              </a:xfrm>
              <a:prstGeom prst="rect">
                <a:avLst/>
              </a:prstGeom>
              <a:solidFill>
                <a:schemeClr val="bg1"/>
              </a:solidFill>
              <a:ln w="12700">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5" name="Arc 33">
                <a:extLst>
                  <a:ext uri="{FF2B5EF4-FFF2-40B4-BE49-F238E27FC236}">
                    <a16:creationId xmlns:a16="http://schemas.microsoft.com/office/drawing/2014/main" id="{06FA543B-1AAB-B265-0665-90510929C86C}"/>
                  </a:ext>
                </a:extLst>
              </p:cNvPr>
              <p:cNvSpPr>
                <a:spLocks/>
              </p:cNvSpPr>
              <p:nvPr/>
            </p:nvSpPr>
            <p:spPr bwMode="auto">
              <a:xfrm>
                <a:off x="3178175" y="2543175"/>
                <a:ext cx="603250" cy="157163"/>
              </a:xfrm>
              <a:custGeom>
                <a:avLst/>
                <a:gdLst>
                  <a:gd name="T0" fmla="*/ 16846929 w 21600"/>
                  <a:gd name="T1" fmla="*/ 0 h 21806"/>
                  <a:gd name="T2" fmla="*/ 0 w 21600"/>
                  <a:gd name="T3" fmla="*/ 1132725 h 21806"/>
                  <a:gd name="T4" fmla="*/ 0 w 21600"/>
                  <a:gd name="T5" fmla="*/ 10703 h 21806"/>
                  <a:gd name="T6" fmla="*/ 0 60000 65536"/>
                  <a:gd name="T7" fmla="*/ 0 60000 65536"/>
                  <a:gd name="T8" fmla="*/ 0 60000 65536"/>
                </a:gdLst>
                <a:ahLst/>
                <a:cxnLst>
                  <a:cxn ang="T6">
                    <a:pos x="T0" y="T1"/>
                  </a:cxn>
                  <a:cxn ang="T7">
                    <a:pos x="T2" y="T3"/>
                  </a:cxn>
                  <a:cxn ang="T8">
                    <a:pos x="T4" y="T5"/>
                  </a:cxn>
                </a:cxnLst>
                <a:rect l="0" t="0" r="r" b="b"/>
                <a:pathLst>
                  <a:path w="21600" h="21806" fill="none" extrusionOk="0">
                    <a:moveTo>
                      <a:pt x="21599" y="-1"/>
                    </a:moveTo>
                    <a:cubicBezTo>
                      <a:pt x="21599" y="68"/>
                      <a:pt x="21600" y="137"/>
                      <a:pt x="21600" y="206"/>
                    </a:cubicBezTo>
                    <a:cubicBezTo>
                      <a:pt x="21600" y="12135"/>
                      <a:pt x="11929" y="21806"/>
                      <a:pt x="-1" y="21806"/>
                    </a:cubicBezTo>
                  </a:path>
                  <a:path w="21600" h="21806" stroke="0" extrusionOk="0">
                    <a:moveTo>
                      <a:pt x="21599" y="-1"/>
                    </a:moveTo>
                    <a:cubicBezTo>
                      <a:pt x="21599" y="68"/>
                      <a:pt x="21600" y="137"/>
                      <a:pt x="21600" y="206"/>
                    </a:cubicBezTo>
                    <a:cubicBezTo>
                      <a:pt x="21600" y="12135"/>
                      <a:pt x="11929" y="21806"/>
                      <a:pt x="-1" y="21806"/>
                    </a:cubicBezTo>
                    <a:lnTo>
                      <a:pt x="0" y="206"/>
                    </a:lnTo>
                    <a:lnTo>
                      <a:pt x="21599" y="-1"/>
                    </a:lnTo>
                    <a:close/>
                  </a:path>
                </a:pathLst>
              </a:custGeom>
              <a:noFill/>
              <a:ln w="50800" cap="rnd">
                <a:solidFill>
                  <a:srgbClr val="33CC33"/>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36" name="Arc 34">
                <a:extLst>
                  <a:ext uri="{FF2B5EF4-FFF2-40B4-BE49-F238E27FC236}">
                    <a16:creationId xmlns:a16="http://schemas.microsoft.com/office/drawing/2014/main" id="{2D6435FA-7DA3-BC1A-2948-AB58A8727428}"/>
                  </a:ext>
                </a:extLst>
              </p:cNvPr>
              <p:cNvSpPr>
                <a:spLocks/>
              </p:cNvSpPr>
              <p:nvPr/>
            </p:nvSpPr>
            <p:spPr bwMode="auto">
              <a:xfrm>
                <a:off x="2276475" y="2713038"/>
                <a:ext cx="595313" cy="111125"/>
              </a:xfrm>
              <a:custGeom>
                <a:avLst/>
                <a:gdLst>
                  <a:gd name="T0" fmla="*/ 16405779 w 21600"/>
                  <a:gd name="T1" fmla="*/ 0 h 21897"/>
                  <a:gd name="T2" fmla="*/ 0 w 21600"/>
                  <a:gd name="T3" fmla="*/ 563948 h 21897"/>
                  <a:gd name="T4" fmla="*/ 0 w 21600"/>
                  <a:gd name="T5" fmla="*/ 7648 h 21897"/>
                  <a:gd name="T6" fmla="*/ 0 60000 65536"/>
                  <a:gd name="T7" fmla="*/ 0 60000 65536"/>
                  <a:gd name="T8" fmla="*/ 0 60000 65536"/>
                </a:gdLst>
                <a:ahLst/>
                <a:cxnLst>
                  <a:cxn ang="T6">
                    <a:pos x="T0" y="T1"/>
                  </a:cxn>
                  <a:cxn ang="T7">
                    <a:pos x="T2" y="T3"/>
                  </a:cxn>
                  <a:cxn ang="T8">
                    <a:pos x="T4" y="T5"/>
                  </a:cxn>
                </a:cxnLst>
                <a:rect l="0" t="0" r="r" b="b"/>
                <a:pathLst>
                  <a:path w="21600" h="21897" fill="none" extrusionOk="0">
                    <a:moveTo>
                      <a:pt x="21597" y="0"/>
                    </a:moveTo>
                    <a:cubicBezTo>
                      <a:pt x="21599" y="98"/>
                      <a:pt x="21600" y="197"/>
                      <a:pt x="21600" y="297"/>
                    </a:cubicBezTo>
                    <a:cubicBezTo>
                      <a:pt x="21600" y="12226"/>
                      <a:pt x="11929" y="21897"/>
                      <a:pt x="-1" y="21897"/>
                    </a:cubicBezTo>
                  </a:path>
                  <a:path w="21600" h="21897" stroke="0" extrusionOk="0">
                    <a:moveTo>
                      <a:pt x="21597" y="0"/>
                    </a:moveTo>
                    <a:cubicBezTo>
                      <a:pt x="21599" y="98"/>
                      <a:pt x="21600" y="197"/>
                      <a:pt x="21600" y="297"/>
                    </a:cubicBezTo>
                    <a:cubicBezTo>
                      <a:pt x="21600" y="12226"/>
                      <a:pt x="11929" y="21897"/>
                      <a:pt x="-1" y="21897"/>
                    </a:cubicBezTo>
                    <a:lnTo>
                      <a:pt x="0" y="297"/>
                    </a:lnTo>
                    <a:lnTo>
                      <a:pt x="21597" y="0"/>
                    </a:lnTo>
                    <a:close/>
                  </a:path>
                </a:pathLst>
              </a:custGeom>
              <a:noFill/>
              <a:ln w="50800" cap="rnd">
                <a:solidFill>
                  <a:srgbClr val="33CC33"/>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37" name="Arc 35">
                <a:extLst>
                  <a:ext uri="{FF2B5EF4-FFF2-40B4-BE49-F238E27FC236}">
                    <a16:creationId xmlns:a16="http://schemas.microsoft.com/office/drawing/2014/main" id="{6E711AE9-00F8-CDFF-0420-1F0E0587B713}"/>
                  </a:ext>
                </a:extLst>
              </p:cNvPr>
              <p:cNvSpPr>
                <a:spLocks/>
              </p:cNvSpPr>
              <p:nvPr/>
            </p:nvSpPr>
            <p:spPr bwMode="auto">
              <a:xfrm>
                <a:off x="2790825" y="2654300"/>
                <a:ext cx="450850" cy="101600"/>
              </a:xfrm>
              <a:custGeom>
                <a:avLst/>
                <a:gdLst>
                  <a:gd name="T0" fmla="*/ 0 w 21598"/>
                  <a:gd name="T1" fmla="*/ 470860 h 21600"/>
                  <a:gd name="T2" fmla="*/ 9376461 w 21598"/>
                  <a:gd name="T3" fmla="*/ 0 h 21600"/>
                  <a:gd name="T4" fmla="*/ 9411322 w 21598"/>
                  <a:gd name="T5" fmla="*/ 477896 h 21600"/>
                  <a:gd name="T6" fmla="*/ 0 60000 65536"/>
                  <a:gd name="T7" fmla="*/ 0 60000 65536"/>
                  <a:gd name="T8" fmla="*/ 0 60000 65536"/>
                </a:gdLst>
                <a:ahLst/>
                <a:cxnLst>
                  <a:cxn ang="T6">
                    <a:pos x="T0" y="T1"/>
                  </a:cxn>
                  <a:cxn ang="T7">
                    <a:pos x="T2" y="T3"/>
                  </a:cxn>
                  <a:cxn ang="T8">
                    <a:pos x="T4" y="T5"/>
                  </a:cxn>
                </a:cxnLst>
                <a:rect l="0" t="0" r="r" b="b"/>
                <a:pathLst>
                  <a:path w="21598" h="21600" fill="none" extrusionOk="0">
                    <a:moveTo>
                      <a:pt x="0" y="21282"/>
                    </a:moveTo>
                    <a:cubicBezTo>
                      <a:pt x="173" y="9509"/>
                      <a:pt x="9743" y="43"/>
                      <a:pt x="21518" y="0"/>
                    </a:cubicBezTo>
                  </a:path>
                  <a:path w="21598" h="21600" stroke="0" extrusionOk="0">
                    <a:moveTo>
                      <a:pt x="0" y="21282"/>
                    </a:moveTo>
                    <a:cubicBezTo>
                      <a:pt x="173" y="9509"/>
                      <a:pt x="9743" y="43"/>
                      <a:pt x="21518" y="0"/>
                    </a:cubicBezTo>
                    <a:lnTo>
                      <a:pt x="21598" y="21600"/>
                    </a:lnTo>
                    <a:lnTo>
                      <a:pt x="0" y="21282"/>
                    </a:lnTo>
                    <a:close/>
                  </a:path>
                </a:pathLst>
              </a:custGeom>
              <a:noFill/>
              <a:ln w="50800" cap="rnd">
                <a:solidFill>
                  <a:srgbClr val="33CC33"/>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38" name="Arc 36">
                <a:extLst>
                  <a:ext uri="{FF2B5EF4-FFF2-40B4-BE49-F238E27FC236}">
                    <a16:creationId xmlns:a16="http://schemas.microsoft.com/office/drawing/2014/main" id="{1E45D7F4-1D67-2A94-C2C2-B823C94FEC94}"/>
                  </a:ext>
                </a:extLst>
              </p:cNvPr>
              <p:cNvSpPr>
                <a:spLocks/>
              </p:cNvSpPr>
              <p:nvPr/>
            </p:nvSpPr>
            <p:spPr bwMode="auto">
              <a:xfrm>
                <a:off x="1701800" y="2782888"/>
                <a:ext cx="508000" cy="263525"/>
              </a:xfrm>
              <a:custGeom>
                <a:avLst/>
                <a:gdLst>
                  <a:gd name="T0" fmla="*/ 11908131 w 21600"/>
                  <a:gd name="T1" fmla="*/ 3178717 h 21847"/>
                  <a:gd name="T2" fmla="*/ 564 w 21600"/>
                  <a:gd name="T3" fmla="*/ 0 h 21847"/>
                  <a:gd name="T4" fmla="*/ 11947407 w 21600"/>
                  <a:gd name="T5" fmla="*/ 35934 h 21847"/>
                  <a:gd name="T6" fmla="*/ 0 60000 65536"/>
                  <a:gd name="T7" fmla="*/ 0 60000 65536"/>
                  <a:gd name="T8" fmla="*/ 0 60000 65536"/>
                </a:gdLst>
                <a:ahLst/>
                <a:cxnLst>
                  <a:cxn ang="T6">
                    <a:pos x="T0" y="T1"/>
                  </a:cxn>
                  <a:cxn ang="T7">
                    <a:pos x="T2" y="T3"/>
                  </a:cxn>
                  <a:cxn ang="T8">
                    <a:pos x="T4" y="T5"/>
                  </a:cxn>
                </a:cxnLst>
                <a:rect l="0" t="0" r="r" b="b"/>
                <a:pathLst>
                  <a:path w="21600" h="21847" fill="none" extrusionOk="0">
                    <a:moveTo>
                      <a:pt x="21529" y="21846"/>
                    </a:moveTo>
                    <a:cubicBezTo>
                      <a:pt x="9627" y="21807"/>
                      <a:pt x="0" y="12148"/>
                      <a:pt x="0" y="247"/>
                    </a:cubicBezTo>
                    <a:cubicBezTo>
                      <a:pt x="0" y="164"/>
                      <a:pt x="0" y="82"/>
                      <a:pt x="1" y="0"/>
                    </a:cubicBezTo>
                  </a:path>
                  <a:path w="21600" h="21847" stroke="0" extrusionOk="0">
                    <a:moveTo>
                      <a:pt x="21529" y="21846"/>
                    </a:moveTo>
                    <a:cubicBezTo>
                      <a:pt x="9627" y="21807"/>
                      <a:pt x="0" y="12148"/>
                      <a:pt x="0" y="247"/>
                    </a:cubicBezTo>
                    <a:cubicBezTo>
                      <a:pt x="0" y="164"/>
                      <a:pt x="0" y="82"/>
                      <a:pt x="1" y="0"/>
                    </a:cubicBezTo>
                    <a:lnTo>
                      <a:pt x="21600" y="247"/>
                    </a:lnTo>
                    <a:lnTo>
                      <a:pt x="21529" y="21846"/>
                    </a:lnTo>
                    <a:close/>
                  </a:path>
                </a:pathLst>
              </a:custGeom>
              <a:noFill/>
              <a:ln w="50800" cap="rnd">
                <a:solidFill>
                  <a:srgbClr val="FF0033"/>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39" name="Arc 37">
                <a:extLst>
                  <a:ext uri="{FF2B5EF4-FFF2-40B4-BE49-F238E27FC236}">
                    <a16:creationId xmlns:a16="http://schemas.microsoft.com/office/drawing/2014/main" id="{3892B477-E6DA-8956-67D2-77819643B808}"/>
                  </a:ext>
                </a:extLst>
              </p:cNvPr>
              <p:cNvSpPr>
                <a:spLocks/>
              </p:cNvSpPr>
              <p:nvPr/>
            </p:nvSpPr>
            <p:spPr bwMode="auto">
              <a:xfrm>
                <a:off x="2190750" y="2998788"/>
                <a:ext cx="752475" cy="385762"/>
              </a:xfrm>
              <a:custGeom>
                <a:avLst/>
                <a:gdLst>
                  <a:gd name="T0" fmla="*/ 0 w 21600"/>
                  <a:gd name="T1" fmla="*/ 0 h 21600"/>
                  <a:gd name="T2" fmla="*/ 26213825 w 21600"/>
                  <a:gd name="T3" fmla="*/ 6862670 h 21600"/>
                  <a:gd name="T4" fmla="*/ 0 w 21600"/>
                  <a:gd name="T5" fmla="*/ 6889459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896" y="-1"/>
                      <a:pt x="21553" y="9619"/>
                      <a:pt x="21599" y="21516"/>
                    </a:cubicBezTo>
                  </a:path>
                  <a:path w="21600" h="21600" stroke="0" extrusionOk="0">
                    <a:moveTo>
                      <a:pt x="0" y="-1"/>
                    </a:moveTo>
                    <a:cubicBezTo>
                      <a:pt x="11896" y="-1"/>
                      <a:pt x="21553" y="9619"/>
                      <a:pt x="21599" y="21516"/>
                    </a:cubicBezTo>
                    <a:lnTo>
                      <a:pt x="0" y="21600"/>
                    </a:lnTo>
                    <a:lnTo>
                      <a:pt x="0" y="-1"/>
                    </a:lnTo>
                    <a:close/>
                  </a:path>
                </a:pathLst>
              </a:custGeom>
              <a:noFill/>
              <a:ln w="50800" cap="rnd">
                <a:solidFill>
                  <a:srgbClr val="FF0033"/>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40" name="Rectangle 38">
                <a:extLst>
                  <a:ext uri="{FF2B5EF4-FFF2-40B4-BE49-F238E27FC236}">
                    <a16:creationId xmlns:a16="http://schemas.microsoft.com/office/drawing/2014/main" id="{7E9C430C-9A81-7640-A593-1BD8657B46F0}"/>
                  </a:ext>
                </a:extLst>
              </p:cNvPr>
              <p:cNvSpPr>
                <a:spLocks noChangeArrowheads="1"/>
              </p:cNvSpPr>
              <p:nvPr/>
            </p:nvSpPr>
            <p:spPr bwMode="auto">
              <a:xfrm rot="3660000">
                <a:off x="1704181" y="2717007"/>
                <a:ext cx="15875" cy="131762"/>
              </a:xfrm>
              <a:prstGeom prst="rect">
                <a:avLst/>
              </a:prstGeom>
              <a:solidFill>
                <a:schemeClr val="bg1"/>
              </a:solidFill>
              <a:ln w="12700">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41" name="Rectangle 39">
                <a:extLst>
                  <a:ext uri="{FF2B5EF4-FFF2-40B4-BE49-F238E27FC236}">
                    <a16:creationId xmlns:a16="http://schemas.microsoft.com/office/drawing/2014/main" id="{2AA19DDA-869D-5F93-7FCA-093DEBEE2E76}"/>
                  </a:ext>
                </a:extLst>
              </p:cNvPr>
              <p:cNvSpPr>
                <a:spLocks noChangeArrowheads="1"/>
              </p:cNvSpPr>
              <p:nvPr/>
            </p:nvSpPr>
            <p:spPr bwMode="auto">
              <a:xfrm>
                <a:off x="2909888" y="3257550"/>
                <a:ext cx="1322387"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sz="1200">
                    <a:latin typeface="Roboto" panose="02000000000000000000" pitchFamily="2" charset="0"/>
                    <a:ea typeface="Roboto" panose="02000000000000000000" pitchFamily="2" charset="0"/>
                  </a:rPr>
                  <a:t>Hose to Area B</a:t>
                </a:r>
              </a:p>
            </p:txBody>
          </p:sp>
          <p:sp>
            <p:nvSpPr>
              <p:cNvPr id="42" name="Rectangle 40">
                <a:extLst>
                  <a:ext uri="{FF2B5EF4-FFF2-40B4-BE49-F238E27FC236}">
                    <a16:creationId xmlns:a16="http://schemas.microsoft.com/office/drawing/2014/main" id="{60D027BF-6932-F484-B827-83775AAF6631}"/>
                  </a:ext>
                </a:extLst>
              </p:cNvPr>
              <p:cNvSpPr>
                <a:spLocks noChangeArrowheads="1"/>
              </p:cNvSpPr>
              <p:nvPr/>
            </p:nvSpPr>
            <p:spPr bwMode="auto">
              <a:xfrm>
                <a:off x="496888" y="5159375"/>
                <a:ext cx="1373187"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sz="1200">
                    <a:latin typeface="Roboto" panose="02000000000000000000" pitchFamily="2" charset="0"/>
                    <a:ea typeface="Roboto" panose="02000000000000000000" pitchFamily="2" charset="0"/>
                  </a:rPr>
                  <a:t>Hose to Area A</a:t>
                </a:r>
              </a:p>
            </p:txBody>
          </p:sp>
          <p:sp>
            <p:nvSpPr>
              <p:cNvPr id="43" name="Rectangle 41">
                <a:extLst>
                  <a:ext uri="{FF2B5EF4-FFF2-40B4-BE49-F238E27FC236}">
                    <a16:creationId xmlns:a16="http://schemas.microsoft.com/office/drawing/2014/main" id="{9ECCE113-E34E-CD96-3142-9CD81A08FAC8}"/>
                  </a:ext>
                </a:extLst>
              </p:cNvPr>
              <p:cNvSpPr>
                <a:spLocks noChangeArrowheads="1"/>
              </p:cNvSpPr>
              <p:nvPr/>
            </p:nvSpPr>
            <p:spPr bwMode="auto">
              <a:xfrm>
                <a:off x="2046288" y="4498975"/>
                <a:ext cx="1127125"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sz="1200">
                    <a:latin typeface="Roboto" panose="02000000000000000000" pitchFamily="2" charset="0"/>
                    <a:ea typeface="Roboto" panose="02000000000000000000" pitchFamily="2" charset="0"/>
                  </a:rPr>
                  <a:t>Hose to </a:t>
                </a:r>
                <a:br>
                  <a:rPr lang="en-US" altLang="en-US" sz="1200">
                    <a:latin typeface="Roboto" panose="02000000000000000000" pitchFamily="2" charset="0"/>
                    <a:ea typeface="Roboto" panose="02000000000000000000" pitchFamily="2" charset="0"/>
                  </a:rPr>
                </a:br>
                <a:r>
                  <a:rPr lang="en-US" altLang="en-US" sz="1200">
                    <a:latin typeface="Roboto" panose="02000000000000000000" pitchFamily="2" charset="0"/>
                    <a:ea typeface="Roboto" panose="02000000000000000000" pitchFamily="2" charset="0"/>
                  </a:rPr>
                  <a:t>Area B</a:t>
                </a:r>
              </a:p>
            </p:txBody>
          </p:sp>
          <p:sp>
            <p:nvSpPr>
              <p:cNvPr id="44" name="Rectangle 42">
                <a:extLst>
                  <a:ext uri="{FF2B5EF4-FFF2-40B4-BE49-F238E27FC236}">
                    <a16:creationId xmlns:a16="http://schemas.microsoft.com/office/drawing/2014/main" id="{72456921-21DA-A07D-F416-B06DF77FE169}"/>
                  </a:ext>
                </a:extLst>
              </p:cNvPr>
              <p:cNvSpPr>
                <a:spLocks noChangeArrowheads="1"/>
              </p:cNvSpPr>
              <p:nvPr/>
            </p:nvSpPr>
            <p:spPr bwMode="auto">
              <a:xfrm>
                <a:off x="2840038" y="2203450"/>
                <a:ext cx="1355725"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sz="1200">
                    <a:latin typeface="Roboto" panose="02000000000000000000" pitchFamily="2" charset="0"/>
                    <a:ea typeface="Roboto" panose="02000000000000000000" pitchFamily="2" charset="0"/>
                  </a:rPr>
                  <a:t>Hose to Area A</a:t>
                </a:r>
              </a:p>
            </p:txBody>
          </p:sp>
          <p:sp>
            <p:nvSpPr>
              <p:cNvPr id="45" name="Rectangle 43">
                <a:extLst>
                  <a:ext uri="{FF2B5EF4-FFF2-40B4-BE49-F238E27FC236}">
                    <a16:creationId xmlns:a16="http://schemas.microsoft.com/office/drawing/2014/main" id="{8974D46B-9DC5-5703-C539-AB65F2B0D65C}"/>
                  </a:ext>
                </a:extLst>
              </p:cNvPr>
              <p:cNvSpPr>
                <a:spLocks noChangeArrowheads="1"/>
              </p:cNvSpPr>
              <p:nvPr/>
            </p:nvSpPr>
            <p:spPr bwMode="auto">
              <a:xfrm>
                <a:off x="403225" y="1847850"/>
                <a:ext cx="917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20000"/>
                  </a:spcBef>
                  <a:spcAft>
                    <a:spcPct val="0"/>
                  </a:spcAft>
                  <a:buClrTx/>
                  <a:buSzTx/>
                  <a:buFontTx/>
                  <a:buNone/>
                </a:pPr>
                <a:r>
                  <a:rPr lang="en-US" altLang="en-US" sz="1600">
                    <a:latin typeface="Roboto" panose="02000000000000000000" pitchFamily="2" charset="0"/>
                    <a:ea typeface="Roboto" panose="02000000000000000000" pitchFamily="2" charset="0"/>
                  </a:rPr>
                  <a:t>Correct</a:t>
                </a:r>
              </a:p>
            </p:txBody>
          </p:sp>
          <p:sp>
            <p:nvSpPr>
              <p:cNvPr id="46" name="Rectangle 44">
                <a:extLst>
                  <a:ext uri="{FF2B5EF4-FFF2-40B4-BE49-F238E27FC236}">
                    <a16:creationId xmlns:a16="http://schemas.microsoft.com/office/drawing/2014/main" id="{2EB7FECA-DB92-2497-C0DF-A17BAA4DAF97}"/>
                  </a:ext>
                </a:extLst>
              </p:cNvPr>
              <p:cNvSpPr>
                <a:spLocks noChangeArrowheads="1"/>
              </p:cNvSpPr>
              <p:nvPr/>
            </p:nvSpPr>
            <p:spPr bwMode="auto">
              <a:xfrm>
                <a:off x="425450" y="3925888"/>
                <a:ext cx="1095375"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20000"/>
                  </a:spcBef>
                  <a:spcAft>
                    <a:spcPct val="0"/>
                  </a:spcAft>
                  <a:buClrTx/>
                  <a:buSzTx/>
                  <a:buFontTx/>
                  <a:buNone/>
                </a:pPr>
                <a:r>
                  <a:rPr lang="en-US" altLang="en-US" sz="1600">
                    <a:latin typeface="Roboto" panose="02000000000000000000" pitchFamily="2" charset="0"/>
                    <a:ea typeface="Roboto" panose="02000000000000000000" pitchFamily="2" charset="0"/>
                  </a:rPr>
                  <a:t>Incorrect</a:t>
                </a:r>
              </a:p>
            </p:txBody>
          </p:sp>
          <p:sp>
            <p:nvSpPr>
              <p:cNvPr id="47" name="Rectangle 45">
                <a:extLst>
                  <a:ext uri="{FF2B5EF4-FFF2-40B4-BE49-F238E27FC236}">
                    <a16:creationId xmlns:a16="http://schemas.microsoft.com/office/drawing/2014/main" id="{C451E6D3-BAF4-16C3-33F6-3D521C4DFF42}"/>
                  </a:ext>
                </a:extLst>
              </p:cNvPr>
              <p:cNvSpPr>
                <a:spLocks noChangeArrowheads="1"/>
              </p:cNvSpPr>
              <p:nvPr/>
            </p:nvSpPr>
            <p:spPr bwMode="auto">
              <a:xfrm>
                <a:off x="1427163" y="1911350"/>
                <a:ext cx="1095375" cy="762000"/>
              </a:xfrm>
              <a:prstGeom prst="rect">
                <a:avLst/>
              </a:prstGeom>
              <a:noFill/>
              <a:ln>
                <a:noFill/>
              </a:ln>
              <a:effectLst/>
            </p:spPr>
            <p:txBody>
              <a:bodyPr lIns="90488" tIns="44450" rIns="90488" bIns="44450">
                <a:spAutoFit/>
              </a:bodyPr>
              <a:lstStyle>
                <a:lvl1pPr>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ctr">
                  <a:spcBef>
                    <a:spcPct val="50000"/>
                  </a:spcBef>
                  <a:defRPr/>
                </a:pPr>
                <a:r>
                  <a:rPr lang="en-US" altLang="en-US" sz="1100" dirty="0">
                    <a:solidFill>
                      <a:schemeClr val="tx1"/>
                    </a:solidFill>
                    <a:effectLst>
                      <a:outerShdw blurRad="38100" dist="38100" dir="2700000" algn="tl">
                        <a:srgbClr val="C0C0C0"/>
                      </a:outerShdw>
                    </a:effectLst>
                    <a:latin typeface="Roboto" panose="02000000000000000000" pitchFamily="2" charset="0"/>
                    <a:ea typeface="Roboto" panose="02000000000000000000" pitchFamily="2" charset="0"/>
                  </a:rPr>
                  <a:t>Fire Extinguisher Reservoir Bottles</a:t>
                </a:r>
              </a:p>
            </p:txBody>
          </p:sp>
          <p:sp>
            <p:nvSpPr>
              <p:cNvPr id="48" name="Rectangle 46">
                <a:extLst>
                  <a:ext uri="{FF2B5EF4-FFF2-40B4-BE49-F238E27FC236}">
                    <a16:creationId xmlns:a16="http://schemas.microsoft.com/office/drawing/2014/main" id="{4E06E105-DE23-F939-FC1E-42DCCBE3C1A5}"/>
                  </a:ext>
                </a:extLst>
              </p:cNvPr>
              <p:cNvSpPr>
                <a:spLocks noChangeArrowheads="1"/>
              </p:cNvSpPr>
              <p:nvPr/>
            </p:nvSpPr>
            <p:spPr bwMode="auto">
              <a:xfrm>
                <a:off x="1279525" y="4206875"/>
                <a:ext cx="1173163" cy="762000"/>
              </a:xfrm>
              <a:prstGeom prst="rect">
                <a:avLst/>
              </a:prstGeom>
              <a:noFill/>
              <a:ln>
                <a:noFill/>
              </a:ln>
              <a:effectLst/>
            </p:spPr>
            <p:txBody>
              <a:bodyPr lIns="90488" tIns="44450" rIns="90488" bIns="44450">
                <a:spAutoFit/>
              </a:bodyPr>
              <a:lstStyle>
                <a:lvl1pPr>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ctr">
                  <a:spcBef>
                    <a:spcPct val="50000"/>
                  </a:spcBef>
                  <a:defRPr/>
                </a:pPr>
                <a:r>
                  <a:rPr lang="en-US" altLang="en-US" sz="1100">
                    <a:solidFill>
                      <a:schemeClr val="tx1"/>
                    </a:solidFill>
                    <a:effectLst>
                      <a:outerShdw blurRad="38100" dist="38100" dir="2700000" algn="tl">
                        <a:srgbClr val="C0C0C0"/>
                      </a:outerShdw>
                    </a:effectLst>
                    <a:latin typeface="Roboto" panose="02000000000000000000" pitchFamily="2" charset="0"/>
                    <a:ea typeface="Roboto" panose="02000000000000000000" pitchFamily="2" charset="0"/>
                  </a:rPr>
                  <a:t>Fire Extinguisher Reservoir Bottles</a:t>
                </a:r>
              </a:p>
            </p:txBody>
          </p:sp>
          <p:sp>
            <p:nvSpPr>
              <p:cNvPr id="49" name="Arc 47">
                <a:extLst>
                  <a:ext uri="{FF2B5EF4-FFF2-40B4-BE49-F238E27FC236}">
                    <a16:creationId xmlns:a16="http://schemas.microsoft.com/office/drawing/2014/main" id="{13BE81C9-88D0-86AE-13DE-A203A822404E}"/>
                  </a:ext>
                </a:extLst>
              </p:cNvPr>
              <p:cNvSpPr>
                <a:spLocks/>
              </p:cNvSpPr>
              <p:nvPr/>
            </p:nvSpPr>
            <p:spPr bwMode="auto">
              <a:xfrm>
                <a:off x="6275388" y="3783013"/>
                <a:ext cx="209550" cy="166687"/>
              </a:xfrm>
              <a:custGeom>
                <a:avLst/>
                <a:gdLst>
                  <a:gd name="T0" fmla="*/ 2000233 w 21952"/>
                  <a:gd name="T1" fmla="*/ 0 h 21796"/>
                  <a:gd name="T2" fmla="*/ 0 w 21952"/>
                  <a:gd name="T3" fmla="*/ 1274579 h 21796"/>
                  <a:gd name="T4" fmla="*/ 32074 w 21952"/>
                  <a:gd name="T5" fmla="*/ 11464 h 21796"/>
                  <a:gd name="T6" fmla="*/ 0 60000 65536"/>
                  <a:gd name="T7" fmla="*/ 0 60000 65536"/>
                  <a:gd name="T8" fmla="*/ 0 60000 65536"/>
                </a:gdLst>
                <a:ahLst/>
                <a:cxnLst>
                  <a:cxn ang="T6">
                    <a:pos x="T0" y="T1"/>
                  </a:cxn>
                  <a:cxn ang="T7">
                    <a:pos x="T2" y="T3"/>
                  </a:cxn>
                  <a:cxn ang="T8">
                    <a:pos x="T4" y="T5"/>
                  </a:cxn>
                </a:cxnLst>
                <a:rect l="0" t="0" r="r" b="b"/>
                <a:pathLst>
                  <a:path w="21952" h="21796" fill="none" extrusionOk="0">
                    <a:moveTo>
                      <a:pt x="21951" y="-1"/>
                    </a:moveTo>
                    <a:cubicBezTo>
                      <a:pt x="21951" y="65"/>
                      <a:pt x="21952" y="130"/>
                      <a:pt x="21952" y="196"/>
                    </a:cubicBezTo>
                    <a:cubicBezTo>
                      <a:pt x="21952" y="12125"/>
                      <a:pt x="12281" y="21796"/>
                      <a:pt x="352" y="21796"/>
                    </a:cubicBezTo>
                    <a:cubicBezTo>
                      <a:pt x="234" y="21795"/>
                      <a:pt x="117" y="21795"/>
                      <a:pt x="-1" y="21793"/>
                    </a:cubicBezTo>
                  </a:path>
                  <a:path w="21952" h="21796" stroke="0" extrusionOk="0">
                    <a:moveTo>
                      <a:pt x="21951" y="-1"/>
                    </a:moveTo>
                    <a:cubicBezTo>
                      <a:pt x="21951" y="65"/>
                      <a:pt x="21952" y="130"/>
                      <a:pt x="21952" y="196"/>
                    </a:cubicBezTo>
                    <a:cubicBezTo>
                      <a:pt x="21952" y="12125"/>
                      <a:pt x="12281" y="21796"/>
                      <a:pt x="352" y="21796"/>
                    </a:cubicBezTo>
                    <a:cubicBezTo>
                      <a:pt x="234" y="21795"/>
                      <a:pt x="117" y="21795"/>
                      <a:pt x="-1" y="21793"/>
                    </a:cubicBezTo>
                    <a:lnTo>
                      <a:pt x="352" y="196"/>
                    </a:lnTo>
                    <a:lnTo>
                      <a:pt x="21951" y="-1"/>
                    </a:lnTo>
                    <a:close/>
                  </a:path>
                </a:pathLst>
              </a:custGeom>
              <a:noFill/>
              <a:ln w="508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50" name="Oval 48">
                <a:extLst>
                  <a:ext uri="{FF2B5EF4-FFF2-40B4-BE49-F238E27FC236}">
                    <a16:creationId xmlns:a16="http://schemas.microsoft.com/office/drawing/2014/main" id="{10CA2394-2AD9-4B66-034E-C392D03E128D}"/>
                  </a:ext>
                </a:extLst>
              </p:cNvPr>
              <p:cNvSpPr>
                <a:spLocks noChangeArrowheads="1"/>
              </p:cNvSpPr>
              <p:nvPr/>
            </p:nvSpPr>
            <p:spPr bwMode="auto">
              <a:xfrm>
                <a:off x="6237288" y="2608263"/>
                <a:ext cx="1255712" cy="1255712"/>
              </a:xfrm>
              <a:prstGeom prst="ellipse">
                <a:avLst/>
              </a:prstGeom>
              <a:gradFill rotWithShape="0">
                <a:gsLst>
                  <a:gs pos="0">
                    <a:srgbClr val="FFFFFF"/>
                  </a:gs>
                  <a:gs pos="100000">
                    <a:schemeClr val="accent5"/>
                  </a:gs>
                </a:gsLst>
                <a:lin ang="2700000" scaled="1"/>
              </a:gradFill>
              <a:ln w="12700">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grpSp>
            <p:nvGrpSpPr>
              <p:cNvPr id="51" name="Group 49">
                <a:extLst>
                  <a:ext uri="{FF2B5EF4-FFF2-40B4-BE49-F238E27FC236}">
                    <a16:creationId xmlns:a16="http://schemas.microsoft.com/office/drawing/2014/main" id="{B36B7415-C256-76EA-19BB-C1C77C23149B}"/>
                  </a:ext>
                </a:extLst>
              </p:cNvPr>
              <p:cNvGrpSpPr>
                <a:grpSpLocks/>
              </p:cNvGrpSpPr>
              <p:nvPr/>
            </p:nvGrpSpPr>
            <p:grpSpPr bwMode="auto">
              <a:xfrm>
                <a:off x="7073900" y="3808413"/>
                <a:ext cx="214313" cy="157162"/>
                <a:chOff x="4233" y="2649"/>
                <a:chExt cx="128" cy="105"/>
              </a:xfrm>
            </p:grpSpPr>
            <p:sp>
              <p:nvSpPr>
                <p:cNvPr id="52" name="Arc 50">
                  <a:extLst>
                    <a:ext uri="{FF2B5EF4-FFF2-40B4-BE49-F238E27FC236}">
                      <a16:creationId xmlns:a16="http://schemas.microsoft.com/office/drawing/2014/main" id="{5FA717A7-0C57-CC79-CFA5-0770347064CB}"/>
                    </a:ext>
                  </a:extLst>
                </p:cNvPr>
                <p:cNvSpPr>
                  <a:spLocks/>
                </p:cNvSpPr>
                <p:nvPr/>
              </p:nvSpPr>
              <p:spPr bwMode="auto">
                <a:xfrm rot="5280000">
                  <a:off x="4259" y="2652"/>
                  <a:ext cx="76" cy="128"/>
                </a:xfrm>
                <a:custGeom>
                  <a:avLst/>
                  <a:gdLst>
                    <a:gd name="T0" fmla="*/ 0 w 21600"/>
                    <a:gd name="T1" fmla="*/ 0 h 21600"/>
                    <a:gd name="T2" fmla="*/ 0 w 21600"/>
                    <a:gd name="T3" fmla="*/ 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599"/>
                      </a:cubicBezTo>
                    </a:path>
                    <a:path w="21600" h="21600" stroke="0" extrusionOk="0">
                      <a:moveTo>
                        <a:pt x="21600" y="0"/>
                      </a:moveTo>
                      <a:cubicBezTo>
                        <a:pt x="21600" y="11929"/>
                        <a:pt x="11929" y="21599"/>
                        <a:pt x="0" y="21599"/>
                      </a:cubicBezTo>
                      <a:lnTo>
                        <a:pt x="0" y="0"/>
                      </a:lnTo>
                      <a:lnTo>
                        <a:pt x="21600" y="0"/>
                      </a:lnTo>
                      <a:close/>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53" name="Arc 51">
                  <a:extLst>
                    <a:ext uri="{FF2B5EF4-FFF2-40B4-BE49-F238E27FC236}">
                      <a16:creationId xmlns:a16="http://schemas.microsoft.com/office/drawing/2014/main" id="{530E2AFA-2A7D-EE47-1BDB-A4B537EF2D7F}"/>
                    </a:ext>
                  </a:extLst>
                </p:cNvPr>
                <p:cNvSpPr>
                  <a:spLocks/>
                </p:cNvSpPr>
                <p:nvPr/>
              </p:nvSpPr>
              <p:spPr bwMode="auto">
                <a:xfrm rot="5940000">
                  <a:off x="4293" y="2636"/>
                  <a:ext cx="43" cy="69"/>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599"/>
                      </a:cubicBezTo>
                    </a:path>
                    <a:path w="21600" h="21600" stroke="0" extrusionOk="0">
                      <a:moveTo>
                        <a:pt x="21600" y="0"/>
                      </a:moveTo>
                      <a:cubicBezTo>
                        <a:pt x="21600" y="11929"/>
                        <a:pt x="11929" y="21599"/>
                        <a:pt x="0" y="21599"/>
                      </a:cubicBezTo>
                      <a:lnTo>
                        <a:pt x="0" y="0"/>
                      </a:lnTo>
                      <a:lnTo>
                        <a:pt x="21600" y="0"/>
                      </a:lnTo>
                      <a:close/>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grpSp>
          <p:sp>
            <p:nvSpPr>
              <p:cNvPr id="54" name="Rectangle 52">
                <a:extLst>
                  <a:ext uri="{FF2B5EF4-FFF2-40B4-BE49-F238E27FC236}">
                    <a16:creationId xmlns:a16="http://schemas.microsoft.com/office/drawing/2014/main" id="{D374E5AB-99E3-67DE-AEB2-F933927987DA}"/>
                  </a:ext>
                </a:extLst>
              </p:cNvPr>
              <p:cNvSpPr>
                <a:spLocks noChangeArrowheads="1"/>
              </p:cNvSpPr>
              <p:nvPr/>
            </p:nvSpPr>
            <p:spPr bwMode="auto">
              <a:xfrm rot="1920000">
                <a:off x="6403975" y="3740150"/>
                <a:ext cx="149225" cy="65088"/>
              </a:xfrm>
              <a:prstGeom prst="rect">
                <a:avLst/>
              </a:prstGeom>
              <a:solidFill>
                <a:schemeClr val="bg1"/>
              </a:solidFill>
              <a:ln w="12700">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55" name="Rectangle 53">
                <a:extLst>
                  <a:ext uri="{FF2B5EF4-FFF2-40B4-BE49-F238E27FC236}">
                    <a16:creationId xmlns:a16="http://schemas.microsoft.com/office/drawing/2014/main" id="{F761DD58-6364-E88F-5CC2-2B5F307D92F7}"/>
                  </a:ext>
                </a:extLst>
              </p:cNvPr>
              <p:cNvSpPr>
                <a:spLocks noChangeArrowheads="1"/>
              </p:cNvSpPr>
              <p:nvPr/>
            </p:nvSpPr>
            <p:spPr bwMode="auto">
              <a:xfrm rot="20160000">
                <a:off x="7062788" y="3808413"/>
                <a:ext cx="152400" cy="66675"/>
              </a:xfrm>
              <a:prstGeom prst="rect">
                <a:avLst/>
              </a:prstGeom>
              <a:solidFill>
                <a:schemeClr val="bg1"/>
              </a:solidFill>
              <a:ln w="12700">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56" name="Rectangle 54">
                <a:extLst>
                  <a:ext uri="{FF2B5EF4-FFF2-40B4-BE49-F238E27FC236}">
                    <a16:creationId xmlns:a16="http://schemas.microsoft.com/office/drawing/2014/main" id="{031F129B-8628-BF93-85CD-F5A43D06C144}"/>
                  </a:ext>
                </a:extLst>
              </p:cNvPr>
              <p:cNvSpPr>
                <a:spLocks noChangeArrowheads="1"/>
              </p:cNvSpPr>
              <p:nvPr/>
            </p:nvSpPr>
            <p:spPr bwMode="auto">
              <a:xfrm>
                <a:off x="7262813" y="3843338"/>
                <a:ext cx="30162" cy="163512"/>
              </a:xfrm>
              <a:prstGeom prst="rect">
                <a:avLst/>
              </a:prstGeom>
              <a:solidFill>
                <a:schemeClr val="bg1"/>
              </a:solidFill>
              <a:ln w="12700">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57" name="Rectangle 55">
                <a:extLst>
                  <a:ext uri="{FF2B5EF4-FFF2-40B4-BE49-F238E27FC236}">
                    <a16:creationId xmlns:a16="http://schemas.microsoft.com/office/drawing/2014/main" id="{70374264-E7E9-5362-9A41-017209163D2A}"/>
                  </a:ext>
                </a:extLst>
              </p:cNvPr>
              <p:cNvSpPr>
                <a:spLocks noChangeArrowheads="1"/>
              </p:cNvSpPr>
              <p:nvPr/>
            </p:nvSpPr>
            <p:spPr bwMode="auto">
              <a:xfrm rot="21120000">
                <a:off x="6291263" y="3835400"/>
                <a:ext cx="30162" cy="165100"/>
              </a:xfrm>
              <a:prstGeom prst="rect">
                <a:avLst/>
              </a:prstGeom>
              <a:solidFill>
                <a:schemeClr val="bg1"/>
              </a:solidFill>
              <a:ln w="12700">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58" name="Arc 56">
                <a:extLst>
                  <a:ext uri="{FF2B5EF4-FFF2-40B4-BE49-F238E27FC236}">
                    <a16:creationId xmlns:a16="http://schemas.microsoft.com/office/drawing/2014/main" id="{0704E2E4-E3A6-BFFA-41C4-2D050512642E}"/>
                  </a:ext>
                </a:extLst>
              </p:cNvPr>
              <p:cNvSpPr>
                <a:spLocks/>
              </p:cNvSpPr>
              <p:nvPr/>
            </p:nvSpPr>
            <p:spPr bwMode="auto">
              <a:xfrm>
                <a:off x="7292975" y="2806700"/>
                <a:ext cx="750888" cy="1149350"/>
              </a:xfrm>
              <a:custGeom>
                <a:avLst/>
                <a:gdLst>
                  <a:gd name="T0" fmla="*/ 25986670 w 21697"/>
                  <a:gd name="T1" fmla="*/ 0 h 21600"/>
                  <a:gd name="T2" fmla="*/ 0 w 21697"/>
                  <a:gd name="T3" fmla="*/ 61157658 h 21600"/>
                  <a:gd name="T4" fmla="*/ 116179 w 21697"/>
                  <a:gd name="T5" fmla="*/ 0 h 21600"/>
                  <a:gd name="T6" fmla="*/ 0 60000 65536"/>
                  <a:gd name="T7" fmla="*/ 0 60000 65536"/>
                  <a:gd name="T8" fmla="*/ 0 60000 65536"/>
                </a:gdLst>
                <a:ahLst/>
                <a:cxnLst>
                  <a:cxn ang="T6">
                    <a:pos x="T0" y="T1"/>
                  </a:cxn>
                  <a:cxn ang="T7">
                    <a:pos x="T2" y="T3"/>
                  </a:cxn>
                  <a:cxn ang="T8">
                    <a:pos x="T4" y="T5"/>
                  </a:cxn>
                </a:cxnLst>
                <a:rect l="0" t="0" r="r" b="b"/>
                <a:pathLst>
                  <a:path w="21697" h="21600" fill="none" extrusionOk="0">
                    <a:moveTo>
                      <a:pt x="21697" y="0"/>
                    </a:moveTo>
                    <a:cubicBezTo>
                      <a:pt x="21697" y="11929"/>
                      <a:pt x="12026" y="21600"/>
                      <a:pt x="97" y="21600"/>
                    </a:cubicBezTo>
                    <a:cubicBezTo>
                      <a:pt x="64" y="21599"/>
                      <a:pt x="32" y="21599"/>
                      <a:pt x="0" y="21599"/>
                    </a:cubicBezTo>
                  </a:path>
                  <a:path w="21697" h="21600" stroke="0" extrusionOk="0">
                    <a:moveTo>
                      <a:pt x="21697" y="0"/>
                    </a:moveTo>
                    <a:cubicBezTo>
                      <a:pt x="21697" y="11929"/>
                      <a:pt x="12026" y="21600"/>
                      <a:pt x="97" y="21600"/>
                    </a:cubicBezTo>
                    <a:cubicBezTo>
                      <a:pt x="64" y="21599"/>
                      <a:pt x="32" y="21599"/>
                      <a:pt x="0" y="21599"/>
                    </a:cubicBezTo>
                    <a:lnTo>
                      <a:pt x="97" y="0"/>
                    </a:lnTo>
                    <a:lnTo>
                      <a:pt x="21697" y="0"/>
                    </a:lnTo>
                    <a:close/>
                  </a:path>
                </a:pathLst>
              </a:custGeom>
              <a:noFill/>
              <a:ln w="50800" cap="rnd">
                <a:solidFill>
                  <a:srgbClr val="33CC33"/>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59" name="Arc 57">
                <a:extLst>
                  <a:ext uri="{FF2B5EF4-FFF2-40B4-BE49-F238E27FC236}">
                    <a16:creationId xmlns:a16="http://schemas.microsoft.com/office/drawing/2014/main" id="{7BD3B9B9-E981-5D13-8146-606DE5F446D7}"/>
                  </a:ext>
                </a:extLst>
              </p:cNvPr>
              <p:cNvSpPr>
                <a:spLocks/>
              </p:cNvSpPr>
              <p:nvPr/>
            </p:nvSpPr>
            <p:spPr bwMode="auto">
              <a:xfrm>
                <a:off x="7997825" y="2252663"/>
                <a:ext cx="285750" cy="561975"/>
              </a:xfrm>
              <a:custGeom>
                <a:avLst/>
                <a:gdLst>
                  <a:gd name="T0" fmla="*/ 0 w 21600"/>
                  <a:gd name="T1" fmla="*/ 14543939 h 21600"/>
                  <a:gd name="T2" fmla="*/ 3758181 w 21600"/>
                  <a:gd name="T3" fmla="*/ 0 h 21600"/>
                  <a:gd name="T4" fmla="*/ 3780234 w 21600"/>
                  <a:gd name="T5" fmla="*/ 1462110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21486"/>
                    </a:moveTo>
                    <a:cubicBezTo>
                      <a:pt x="62" y="9650"/>
                      <a:pt x="9638" y="69"/>
                      <a:pt x="21474" y="0"/>
                    </a:cubicBezTo>
                  </a:path>
                  <a:path w="21600" h="21600" stroke="0" extrusionOk="0">
                    <a:moveTo>
                      <a:pt x="0" y="21486"/>
                    </a:moveTo>
                    <a:cubicBezTo>
                      <a:pt x="62" y="9650"/>
                      <a:pt x="9638" y="69"/>
                      <a:pt x="21474" y="0"/>
                    </a:cubicBezTo>
                    <a:lnTo>
                      <a:pt x="21600" y="21600"/>
                    </a:lnTo>
                    <a:lnTo>
                      <a:pt x="0" y="21486"/>
                    </a:lnTo>
                    <a:close/>
                  </a:path>
                </a:pathLst>
              </a:custGeom>
              <a:noFill/>
              <a:ln w="50800" cap="rnd">
                <a:solidFill>
                  <a:srgbClr val="33CC33"/>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60" name="Arc 58">
                <a:extLst>
                  <a:ext uri="{FF2B5EF4-FFF2-40B4-BE49-F238E27FC236}">
                    <a16:creationId xmlns:a16="http://schemas.microsoft.com/office/drawing/2014/main" id="{F371038B-EDD4-8612-9E6F-B0CE4D756955}"/>
                  </a:ext>
                </a:extLst>
              </p:cNvPr>
              <p:cNvSpPr>
                <a:spLocks/>
              </p:cNvSpPr>
              <p:nvPr/>
            </p:nvSpPr>
            <p:spPr bwMode="auto">
              <a:xfrm>
                <a:off x="5534025" y="2798763"/>
                <a:ext cx="750888" cy="1149350"/>
              </a:xfrm>
              <a:custGeom>
                <a:avLst/>
                <a:gdLst>
                  <a:gd name="T0" fmla="*/ 25987365 w 21600"/>
                  <a:gd name="T1" fmla="*/ 61157658 h 21600"/>
                  <a:gd name="T2" fmla="*/ 0 w 21600"/>
                  <a:gd name="T3" fmla="*/ 0 h 21600"/>
                  <a:gd name="T4" fmla="*/ 2610337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504" y="21599"/>
                    </a:moveTo>
                    <a:cubicBezTo>
                      <a:pt x="9612" y="21546"/>
                      <a:pt x="-1" y="11891"/>
                      <a:pt x="-1" y="-1"/>
                    </a:cubicBezTo>
                  </a:path>
                  <a:path w="21600" h="21600" stroke="0" extrusionOk="0">
                    <a:moveTo>
                      <a:pt x="21504" y="21599"/>
                    </a:moveTo>
                    <a:cubicBezTo>
                      <a:pt x="9612" y="21546"/>
                      <a:pt x="-1" y="11891"/>
                      <a:pt x="-1" y="-1"/>
                    </a:cubicBezTo>
                    <a:lnTo>
                      <a:pt x="21600" y="0"/>
                    </a:lnTo>
                    <a:lnTo>
                      <a:pt x="21504" y="21599"/>
                    </a:lnTo>
                    <a:close/>
                  </a:path>
                </a:pathLst>
              </a:custGeom>
              <a:noFill/>
              <a:ln w="50800" cap="rnd">
                <a:solidFill>
                  <a:srgbClr val="FF0033"/>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61" name="Arc 59">
                <a:extLst>
                  <a:ext uri="{FF2B5EF4-FFF2-40B4-BE49-F238E27FC236}">
                    <a16:creationId xmlns:a16="http://schemas.microsoft.com/office/drawing/2014/main" id="{0B63700D-580B-0D24-7553-58AF15554C39}"/>
                  </a:ext>
                </a:extLst>
              </p:cNvPr>
              <p:cNvSpPr>
                <a:spLocks/>
              </p:cNvSpPr>
              <p:nvPr/>
            </p:nvSpPr>
            <p:spPr bwMode="auto">
              <a:xfrm>
                <a:off x="5291138" y="2246313"/>
                <a:ext cx="287337" cy="561975"/>
              </a:xfrm>
              <a:custGeom>
                <a:avLst/>
                <a:gdLst>
                  <a:gd name="T0" fmla="*/ 0 w 21726"/>
                  <a:gd name="T1" fmla="*/ 0 h 21600"/>
                  <a:gd name="T2" fmla="*/ 3800173 w 21726"/>
                  <a:gd name="T3" fmla="*/ 14582523 h 21600"/>
                  <a:gd name="T4" fmla="*/ 22034 w 21726"/>
                  <a:gd name="T5" fmla="*/ 14621107 h 21600"/>
                  <a:gd name="T6" fmla="*/ 0 60000 65536"/>
                  <a:gd name="T7" fmla="*/ 0 60000 65536"/>
                  <a:gd name="T8" fmla="*/ 0 60000 65536"/>
                </a:gdLst>
                <a:ahLst/>
                <a:cxnLst>
                  <a:cxn ang="T6">
                    <a:pos x="T0" y="T1"/>
                  </a:cxn>
                  <a:cxn ang="T7">
                    <a:pos x="T2" y="T3"/>
                  </a:cxn>
                  <a:cxn ang="T8">
                    <a:pos x="T4" y="T5"/>
                  </a:cxn>
                </a:cxnLst>
                <a:rect l="0" t="0" r="r" b="b"/>
                <a:pathLst>
                  <a:path w="21726" h="21600" fill="none" extrusionOk="0">
                    <a:moveTo>
                      <a:pt x="0" y="0"/>
                    </a:moveTo>
                    <a:cubicBezTo>
                      <a:pt x="42" y="0"/>
                      <a:pt x="84" y="-1"/>
                      <a:pt x="126" y="-1"/>
                    </a:cubicBezTo>
                    <a:cubicBezTo>
                      <a:pt x="12033" y="-1"/>
                      <a:pt x="21694" y="9635"/>
                      <a:pt x="21725" y="21543"/>
                    </a:cubicBezTo>
                  </a:path>
                  <a:path w="21726" h="21600" stroke="0" extrusionOk="0">
                    <a:moveTo>
                      <a:pt x="0" y="0"/>
                    </a:moveTo>
                    <a:cubicBezTo>
                      <a:pt x="42" y="0"/>
                      <a:pt x="84" y="-1"/>
                      <a:pt x="126" y="-1"/>
                    </a:cubicBezTo>
                    <a:cubicBezTo>
                      <a:pt x="12033" y="-1"/>
                      <a:pt x="21694" y="9635"/>
                      <a:pt x="21725" y="21543"/>
                    </a:cubicBezTo>
                    <a:lnTo>
                      <a:pt x="126" y="21600"/>
                    </a:lnTo>
                    <a:lnTo>
                      <a:pt x="0" y="0"/>
                    </a:lnTo>
                    <a:close/>
                  </a:path>
                </a:pathLst>
              </a:custGeom>
              <a:noFill/>
              <a:ln w="50800" cap="rnd">
                <a:solidFill>
                  <a:srgbClr val="FF0033"/>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62" name="Rectangle 60">
                <a:extLst>
                  <a:ext uri="{FF2B5EF4-FFF2-40B4-BE49-F238E27FC236}">
                    <a16:creationId xmlns:a16="http://schemas.microsoft.com/office/drawing/2014/main" id="{616244B4-F62A-51B4-7CB2-3F5739AA0CFC}"/>
                  </a:ext>
                </a:extLst>
              </p:cNvPr>
              <p:cNvSpPr>
                <a:spLocks noChangeArrowheads="1"/>
              </p:cNvSpPr>
              <p:nvPr/>
            </p:nvSpPr>
            <p:spPr bwMode="auto">
              <a:xfrm>
                <a:off x="4960938" y="1938338"/>
                <a:ext cx="140335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sz="1200">
                    <a:latin typeface="Roboto" panose="02000000000000000000" pitchFamily="2" charset="0"/>
                    <a:ea typeface="Roboto" panose="02000000000000000000" pitchFamily="2" charset="0"/>
                  </a:rPr>
                  <a:t>Hose to Area B</a:t>
                </a:r>
              </a:p>
            </p:txBody>
          </p:sp>
          <p:sp>
            <p:nvSpPr>
              <p:cNvPr id="63" name="Rectangle 61">
                <a:extLst>
                  <a:ext uri="{FF2B5EF4-FFF2-40B4-BE49-F238E27FC236}">
                    <a16:creationId xmlns:a16="http://schemas.microsoft.com/office/drawing/2014/main" id="{81385E97-7BB5-F88F-316A-0ADCC562F9F4}"/>
                  </a:ext>
                </a:extLst>
              </p:cNvPr>
              <p:cNvSpPr>
                <a:spLocks noChangeArrowheads="1"/>
              </p:cNvSpPr>
              <p:nvPr/>
            </p:nvSpPr>
            <p:spPr bwMode="auto">
              <a:xfrm>
                <a:off x="7500938" y="1938338"/>
                <a:ext cx="130175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sz="1200">
                    <a:latin typeface="Roboto" panose="02000000000000000000" pitchFamily="2" charset="0"/>
                    <a:ea typeface="Roboto" panose="02000000000000000000" pitchFamily="2" charset="0"/>
                  </a:rPr>
                  <a:t>Hose to Area A</a:t>
                </a:r>
              </a:p>
            </p:txBody>
          </p:sp>
          <p:sp>
            <p:nvSpPr>
              <p:cNvPr id="128" name="Rectangle 62">
                <a:extLst>
                  <a:ext uri="{FF2B5EF4-FFF2-40B4-BE49-F238E27FC236}">
                    <a16:creationId xmlns:a16="http://schemas.microsoft.com/office/drawing/2014/main" id="{163E5C77-438E-4CE9-443D-0FDA9994412B}"/>
                  </a:ext>
                </a:extLst>
              </p:cNvPr>
              <p:cNvSpPr>
                <a:spLocks noChangeArrowheads="1"/>
              </p:cNvSpPr>
              <p:nvPr/>
            </p:nvSpPr>
            <p:spPr bwMode="auto">
              <a:xfrm>
                <a:off x="6210300" y="2939235"/>
                <a:ext cx="1346200" cy="643766"/>
              </a:xfrm>
              <a:prstGeom prst="rect">
                <a:avLst/>
              </a:prstGeom>
              <a:noFill/>
              <a:ln>
                <a:noFill/>
              </a:ln>
              <a:effectLst/>
            </p:spPr>
            <p:txBody>
              <a:bodyPr lIns="90488" tIns="44450" rIns="90488" bIns="44450">
                <a:spAutoFit/>
              </a:bodyPr>
              <a:lstStyle>
                <a:lvl1pPr>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ctr">
                  <a:spcBef>
                    <a:spcPct val="50000"/>
                  </a:spcBef>
                  <a:defRPr/>
                </a:pPr>
                <a:r>
                  <a:rPr lang="en-US" altLang="en-US" sz="1200" dirty="0">
                    <a:solidFill>
                      <a:schemeClr val="tx1"/>
                    </a:solidFill>
                    <a:effectLst>
                      <a:outerShdw blurRad="38100" dist="38100" dir="2700000" algn="tl">
                        <a:srgbClr val="C0C0C0"/>
                      </a:outerShdw>
                    </a:effectLst>
                    <a:latin typeface="Roboto" panose="02000000000000000000" pitchFamily="2" charset="0"/>
                    <a:ea typeface="Roboto" panose="02000000000000000000" pitchFamily="2" charset="0"/>
                  </a:rPr>
                  <a:t>Fire Extinguisher Reservoir Bottles</a:t>
                </a:r>
              </a:p>
            </p:txBody>
          </p:sp>
          <p:sp>
            <p:nvSpPr>
              <p:cNvPr id="129" name="Rectangle 63">
                <a:extLst>
                  <a:ext uri="{FF2B5EF4-FFF2-40B4-BE49-F238E27FC236}">
                    <a16:creationId xmlns:a16="http://schemas.microsoft.com/office/drawing/2014/main" id="{A3CBF05D-C1DA-504B-1ADC-753EE30D496B}"/>
                  </a:ext>
                </a:extLst>
              </p:cNvPr>
              <p:cNvSpPr>
                <a:spLocks noChangeArrowheads="1"/>
              </p:cNvSpPr>
              <p:nvPr/>
            </p:nvSpPr>
            <p:spPr bwMode="auto">
              <a:xfrm>
                <a:off x="6300788" y="4440238"/>
                <a:ext cx="1127125"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sz="1200">
                    <a:latin typeface="Roboto" panose="02000000000000000000" pitchFamily="2" charset="0"/>
                    <a:ea typeface="Roboto" panose="02000000000000000000" pitchFamily="2" charset="0"/>
                  </a:rPr>
                  <a:t>Different size connectors</a:t>
                </a:r>
              </a:p>
            </p:txBody>
          </p:sp>
          <p:sp>
            <p:nvSpPr>
              <p:cNvPr id="130" name="Rectangle 64">
                <a:extLst>
                  <a:ext uri="{FF2B5EF4-FFF2-40B4-BE49-F238E27FC236}">
                    <a16:creationId xmlns:a16="http://schemas.microsoft.com/office/drawing/2014/main" id="{CAD2FF0E-8E76-05D6-061E-128E6FCC67DC}"/>
                  </a:ext>
                </a:extLst>
              </p:cNvPr>
              <p:cNvSpPr>
                <a:spLocks noChangeArrowheads="1"/>
              </p:cNvSpPr>
              <p:nvPr/>
            </p:nvSpPr>
            <p:spPr bwMode="auto">
              <a:xfrm>
                <a:off x="4960938" y="4262438"/>
                <a:ext cx="1127125"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sz="1200">
                    <a:latin typeface="Roboto" panose="02000000000000000000" pitchFamily="2" charset="0"/>
                    <a:ea typeface="Roboto" panose="02000000000000000000" pitchFamily="2" charset="0"/>
                  </a:rPr>
                  <a:t>Female</a:t>
                </a:r>
              </a:p>
            </p:txBody>
          </p:sp>
          <p:sp>
            <p:nvSpPr>
              <p:cNvPr id="131" name="Rectangle 65">
                <a:extLst>
                  <a:ext uri="{FF2B5EF4-FFF2-40B4-BE49-F238E27FC236}">
                    <a16:creationId xmlns:a16="http://schemas.microsoft.com/office/drawing/2014/main" id="{BF5B054D-0350-1262-F190-CDC2E6097282}"/>
                  </a:ext>
                </a:extLst>
              </p:cNvPr>
              <p:cNvSpPr>
                <a:spLocks noChangeArrowheads="1"/>
              </p:cNvSpPr>
              <p:nvPr/>
            </p:nvSpPr>
            <p:spPr bwMode="auto">
              <a:xfrm>
                <a:off x="7640638" y="4262438"/>
                <a:ext cx="1127125"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sz="1200">
                    <a:latin typeface="Roboto" panose="02000000000000000000" pitchFamily="2" charset="0"/>
                    <a:ea typeface="Roboto" panose="02000000000000000000" pitchFamily="2" charset="0"/>
                  </a:rPr>
                  <a:t>Male</a:t>
                </a:r>
              </a:p>
            </p:txBody>
          </p:sp>
          <p:sp>
            <p:nvSpPr>
              <p:cNvPr id="132" name="Line 66">
                <a:extLst>
                  <a:ext uri="{FF2B5EF4-FFF2-40B4-BE49-F238E27FC236}">
                    <a16:creationId xmlns:a16="http://schemas.microsoft.com/office/drawing/2014/main" id="{29F0CDE0-9EF7-275B-5714-8FA1944A4C5F}"/>
                  </a:ext>
                </a:extLst>
              </p:cNvPr>
              <p:cNvSpPr>
                <a:spLocks noChangeShapeType="1"/>
              </p:cNvSpPr>
              <p:nvPr/>
            </p:nvSpPr>
            <p:spPr bwMode="auto">
              <a:xfrm flipV="1">
                <a:off x="5816600" y="4071938"/>
                <a:ext cx="392113" cy="227012"/>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33" name="Line 67">
                <a:extLst>
                  <a:ext uri="{FF2B5EF4-FFF2-40B4-BE49-F238E27FC236}">
                    <a16:creationId xmlns:a16="http://schemas.microsoft.com/office/drawing/2014/main" id="{6D2A8DC9-6F51-CD4B-326C-2059EB4D49DE}"/>
                  </a:ext>
                </a:extLst>
              </p:cNvPr>
              <p:cNvSpPr>
                <a:spLocks noChangeShapeType="1"/>
              </p:cNvSpPr>
              <p:nvPr/>
            </p:nvSpPr>
            <p:spPr bwMode="auto">
              <a:xfrm flipH="1" flipV="1">
                <a:off x="7454900" y="4060825"/>
                <a:ext cx="493713" cy="239713"/>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34" name="Line 68">
                <a:extLst>
                  <a:ext uri="{FF2B5EF4-FFF2-40B4-BE49-F238E27FC236}">
                    <a16:creationId xmlns:a16="http://schemas.microsoft.com/office/drawing/2014/main" id="{3521B1D9-DDD7-DFCE-7DDF-81966E97F7B6}"/>
                  </a:ext>
                </a:extLst>
              </p:cNvPr>
              <p:cNvSpPr>
                <a:spLocks noChangeShapeType="1"/>
              </p:cNvSpPr>
              <p:nvPr/>
            </p:nvSpPr>
            <p:spPr bwMode="auto">
              <a:xfrm flipH="1" flipV="1">
                <a:off x="6511925" y="4105275"/>
                <a:ext cx="261938" cy="350838"/>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35" name="Line 69">
                <a:extLst>
                  <a:ext uri="{FF2B5EF4-FFF2-40B4-BE49-F238E27FC236}">
                    <a16:creationId xmlns:a16="http://schemas.microsoft.com/office/drawing/2014/main" id="{2500E71E-2BD2-D86E-D748-E173822B0649}"/>
                  </a:ext>
                </a:extLst>
              </p:cNvPr>
              <p:cNvSpPr>
                <a:spLocks noChangeShapeType="1"/>
              </p:cNvSpPr>
              <p:nvPr/>
            </p:nvSpPr>
            <p:spPr bwMode="auto">
              <a:xfrm flipV="1">
                <a:off x="6880225" y="4094163"/>
                <a:ext cx="246063" cy="363537"/>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36" name="Rectangle 72">
                <a:extLst>
                  <a:ext uri="{FF2B5EF4-FFF2-40B4-BE49-F238E27FC236}">
                    <a16:creationId xmlns:a16="http://schemas.microsoft.com/office/drawing/2014/main" id="{8602F8A2-437B-30F5-5362-E2454A1B9604}"/>
                  </a:ext>
                </a:extLst>
              </p:cNvPr>
              <p:cNvSpPr>
                <a:spLocks noChangeArrowheads="1"/>
              </p:cNvSpPr>
              <p:nvPr/>
            </p:nvSpPr>
            <p:spPr bwMode="auto">
              <a:xfrm>
                <a:off x="231775" y="1404938"/>
                <a:ext cx="4264025"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20000"/>
                  </a:spcBef>
                  <a:spcAft>
                    <a:spcPct val="0"/>
                  </a:spcAft>
                  <a:buClrTx/>
                  <a:buSzTx/>
                  <a:buFontTx/>
                  <a:buNone/>
                </a:pPr>
                <a:r>
                  <a:rPr lang="en-US" altLang="en-US" sz="1800">
                    <a:latin typeface="Roboto" panose="02000000000000000000" pitchFamily="2" charset="0"/>
                    <a:ea typeface="Roboto" panose="02000000000000000000" pitchFamily="2" charset="0"/>
                  </a:rPr>
                  <a:t>Before Poka-yoke</a:t>
                </a:r>
              </a:p>
            </p:txBody>
          </p:sp>
          <p:sp>
            <p:nvSpPr>
              <p:cNvPr id="137" name="Rectangle 73">
                <a:extLst>
                  <a:ext uri="{FF2B5EF4-FFF2-40B4-BE49-F238E27FC236}">
                    <a16:creationId xmlns:a16="http://schemas.microsoft.com/office/drawing/2014/main" id="{103AFFF4-B9F1-651A-315B-B94305C8F1DB}"/>
                  </a:ext>
                </a:extLst>
              </p:cNvPr>
              <p:cNvSpPr>
                <a:spLocks noChangeArrowheads="1"/>
              </p:cNvSpPr>
              <p:nvPr/>
            </p:nvSpPr>
            <p:spPr bwMode="auto">
              <a:xfrm>
                <a:off x="4660900" y="1404938"/>
                <a:ext cx="44831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20000"/>
                  </a:spcBef>
                  <a:spcAft>
                    <a:spcPct val="0"/>
                  </a:spcAft>
                  <a:buClrTx/>
                  <a:buSzTx/>
                  <a:buFontTx/>
                  <a:buNone/>
                </a:pPr>
                <a:r>
                  <a:rPr lang="en-US" altLang="en-US" sz="1800">
                    <a:latin typeface="Roboto" panose="02000000000000000000" pitchFamily="2" charset="0"/>
                    <a:ea typeface="Roboto" panose="02000000000000000000" pitchFamily="2" charset="0"/>
                  </a:rPr>
                  <a:t>After Poka-yoke</a:t>
                </a:r>
              </a:p>
            </p:txBody>
          </p:sp>
        </p:grpSp>
        <p:sp>
          <p:nvSpPr>
            <p:cNvPr id="139" name="Line 6">
              <a:extLst>
                <a:ext uri="{FF2B5EF4-FFF2-40B4-BE49-F238E27FC236}">
                  <a16:creationId xmlns:a16="http://schemas.microsoft.com/office/drawing/2014/main" id="{974506F6-D36A-CF1B-DAAD-85C354237C76}"/>
                </a:ext>
              </a:extLst>
            </p:cNvPr>
            <p:cNvSpPr>
              <a:spLocks noChangeShapeType="1"/>
            </p:cNvSpPr>
            <p:nvPr/>
          </p:nvSpPr>
          <p:spPr bwMode="auto">
            <a:xfrm>
              <a:off x="6096000" y="1888705"/>
              <a:ext cx="0" cy="42465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Tree>
    <p:extLst>
      <p:ext uri="{BB962C8B-B14F-4D97-AF65-F5344CB8AC3E}">
        <p14:creationId xmlns:p14="http://schemas.microsoft.com/office/powerpoint/2010/main" val="344948203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541B5-6FCF-44EB-7F42-1799FCC1F219}"/>
              </a:ext>
            </a:extLst>
          </p:cNvPr>
          <p:cNvSpPr>
            <a:spLocks noGrp="1"/>
          </p:cNvSpPr>
          <p:nvPr>
            <p:ph type="title"/>
          </p:nvPr>
        </p:nvSpPr>
        <p:spPr/>
        <p:txBody>
          <a:bodyPr/>
          <a:lstStyle/>
          <a:p>
            <a:r>
              <a:rPr lang="en-US" dirty="0"/>
              <a:t>Critical Condition Detector</a:t>
            </a:r>
          </a:p>
        </p:txBody>
      </p:sp>
      <p:grpSp>
        <p:nvGrpSpPr>
          <p:cNvPr id="3" name="Group 2">
            <a:extLst>
              <a:ext uri="{FF2B5EF4-FFF2-40B4-BE49-F238E27FC236}">
                <a16:creationId xmlns:a16="http://schemas.microsoft.com/office/drawing/2014/main" id="{D9E84803-CAE1-A3B5-9A81-D9A216B7FD44}"/>
              </a:ext>
            </a:extLst>
          </p:cNvPr>
          <p:cNvGrpSpPr/>
          <p:nvPr/>
        </p:nvGrpSpPr>
        <p:grpSpPr>
          <a:xfrm>
            <a:off x="838200" y="297639"/>
            <a:ext cx="3310890" cy="307138"/>
            <a:chOff x="838200" y="297639"/>
            <a:chExt cx="3310890" cy="307138"/>
          </a:xfrm>
        </p:grpSpPr>
        <p:grpSp>
          <p:nvGrpSpPr>
            <p:cNvPr id="4" name="Group 3">
              <a:extLst>
                <a:ext uri="{FF2B5EF4-FFF2-40B4-BE49-F238E27FC236}">
                  <a16:creationId xmlns:a16="http://schemas.microsoft.com/office/drawing/2014/main" id="{C19AFDA2-C484-5731-4029-E38F6C629005}"/>
                </a:ext>
              </a:extLst>
            </p:cNvPr>
            <p:cNvGrpSpPr/>
            <p:nvPr/>
          </p:nvGrpSpPr>
          <p:grpSpPr>
            <a:xfrm>
              <a:off x="838200" y="297639"/>
              <a:ext cx="1060167" cy="290657"/>
              <a:chOff x="826426" y="4041857"/>
              <a:chExt cx="1060167" cy="290657"/>
            </a:xfrm>
          </p:grpSpPr>
          <p:sp>
            <p:nvSpPr>
              <p:cNvPr id="6" name="AutoShape 9">
                <a:extLst>
                  <a:ext uri="{FF2B5EF4-FFF2-40B4-BE49-F238E27FC236}">
                    <a16:creationId xmlns:a16="http://schemas.microsoft.com/office/drawing/2014/main" id="{97BBEB04-56E2-66C8-7CD1-2D3F16D608D6}"/>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7" name="AutoShape 11">
                <a:extLst>
                  <a:ext uri="{FF2B5EF4-FFF2-40B4-BE49-F238E27FC236}">
                    <a16:creationId xmlns:a16="http://schemas.microsoft.com/office/drawing/2014/main" id="{4FC6F8A3-873E-D30F-ED81-15956AF4DDE1}"/>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8" name="AutoShape 10">
                <a:extLst>
                  <a:ext uri="{FF2B5EF4-FFF2-40B4-BE49-F238E27FC236}">
                    <a16:creationId xmlns:a16="http://schemas.microsoft.com/office/drawing/2014/main" id="{873F9745-BF3A-05EC-9963-006BA1E4FCB8}"/>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5" name="TextBox 4">
              <a:extLst>
                <a:ext uri="{FF2B5EF4-FFF2-40B4-BE49-F238E27FC236}">
                  <a16:creationId xmlns:a16="http://schemas.microsoft.com/office/drawing/2014/main" id="{58A720E4-B5DF-AE75-77DE-ABE1EA41CC4C}"/>
                </a:ext>
              </a:extLst>
            </p:cNvPr>
            <p:cNvSpPr txBox="1"/>
            <p:nvPr/>
          </p:nvSpPr>
          <p:spPr>
            <a:xfrm>
              <a:off x="1908497" y="313415"/>
              <a:ext cx="22405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Poka-Yoke Examples</a:t>
              </a:r>
            </a:p>
          </p:txBody>
        </p:sp>
      </p:grpSp>
      <p:pic>
        <p:nvPicPr>
          <p:cNvPr id="142" name="Picture 32" descr="gage">
            <a:extLst>
              <a:ext uri="{FF2B5EF4-FFF2-40B4-BE49-F238E27FC236}">
                <a16:creationId xmlns:a16="http://schemas.microsoft.com/office/drawing/2014/main" id="{D521AAE6-83B1-85F3-1D6B-05FD706EB2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86112" y="2149793"/>
            <a:ext cx="5819775" cy="303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 name="Rectangle 5">
            <a:extLst>
              <a:ext uri="{FF2B5EF4-FFF2-40B4-BE49-F238E27FC236}">
                <a16:creationId xmlns:a16="http://schemas.microsoft.com/office/drawing/2014/main" id="{FC8EC3A4-8C2B-8F29-EB7F-72DD3CC00AED}"/>
              </a:ext>
            </a:extLst>
          </p:cNvPr>
          <p:cNvSpPr>
            <a:spLocks noChangeArrowheads="1"/>
          </p:cNvSpPr>
          <p:nvPr/>
        </p:nvSpPr>
        <p:spPr bwMode="auto">
          <a:xfrm>
            <a:off x="3089274" y="4827905"/>
            <a:ext cx="250983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800">
                <a:latin typeface="Roboto" panose="02000000000000000000" pitchFamily="2" charset="0"/>
                <a:ea typeface="Roboto" panose="02000000000000000000" pitchFamily="2" charset="0"/>
              </a:rPr>
              <a:t>Is this gauge  reading reliable?</a:t>
            </a:r>
          </a:p>
        </p:txBody>
      </p:sp>
    </p:spTree>
    <p:extLst>
      <p:ext uri="{BB962C8B-B14F-4D97-AF65-F5344CB8AC3E}">
        <p14:creationId xmlns:p14="http://schemas.microsoft.com/office/powerpoint/2010/main" val="25146381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541B5-6FCF-44EB-7F42-1799FCC1F219}"/>
              </a:ext>
            </a:extLst>
          </p:cNvPr>
          <p:cNvSpPr>
            <a:spLocks noGrp="1"/>
          </p:cNvSpPr>
          <p:nvPr>
            <p:ph type="title"/>
          </p:nvPr>
        </p:nvSpPr>
        <p:spPr/>
        <p:txBody>
          <a:bodyPr/>
          <a:lstStyle/>
          <a:p>
            <a:r>
              <a:rPr lang="en-US" dirty="0"/>
              <a:t>Delivery (Detect) Chute</a:t>
            </a:r>
          </a:p>
        </p:txBody>
      </p:sp>
      <p:grpSp>
        <p:nvGrpSpPr>
          <p:cNvPr id="3" name="Group 2">
            <a:extLst>
              <a:ext uri="{FF2B5EF4-FFF2-40B4-BE49-F238E27FC236}">
                <a16:creationId xmlns:a16="http://schemas.microsoft.com/office/drawing/2014/main" id="{D9E84803-CAE1-A3B5-9A81-D9A216B7FD44}"/>
              </a:ext>
            </a:extLst>
          </p:cNvPr>
          <p:cNvGrpSpPr/>
          <p:nvPr/>
        </p:nvGrpSpPr>
        <p:grpSpPr>
          <a:xfrm>
            <a:off x="838200" y="297639"/>
            <a:ext cx="3310890" cy="307138"/>
            <a:chOff x="838200" y="297639"/>
            <a:chExt cx="3310890" cy="307138"/>
          </a:xfrm>
        </p:grpSpPr>
        <p:grpSp>
          <p:nvGrpSpPr>
            <p:cNvPr id="4" name="Group 3">
              <a:extLst>
                <a:ext uri="{FF2B5EF4-FFF2-40B4-BE49-F238E27FC236}">
                  <a16:creationId xmlns:a16="http://schemas.microsoft.com/office/drawing/2014/main" id="{C19AFDA2-C484-5731-4029-E38F6C629005}"/>
                </a:ext>
              </a:extLst>
            </p:cNvPr>
            <p:cNvGrpSpPr/>
            <p:nvPr/>
          </p:nvGrpSpPr>
          <p:grpSpPr>
            <a:xfrm>
              <a:off x="838200" y="297639"/>
              <a:ext cx="1060167" cy="290657"/>
              <a:chOff x="826426" y="4041857"/>
              <a:chExt cx="1060167" cy="290657"/>
            </a:xfrm>
          </p:grpSpPr>
          <p:sp>
            <p:nvSpPr>
              <p:cNvPr id="6" name="AutoShape 9">
                <a:extLst>
                  <a:ext uri="{FF2B5EF4-FFF2-40B4-BE49-F238E27FC236}">
                    <a16:creationId xmlns:a16="http://schemas.microsoft.com/office/drawing/2014/main" id="{97BBEB04-56E2-66C8-7CD1-2D3F16D608D6}"/>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7" name="AutoShape 11">
                <a:extLst>
                  <a:ext uri="{FF2B5EF4-FFF2-40B4-BE49-F238E27FC236}">
                    <a16:creationId xmlns:a16="http://schemas.microsoft.com/office/drawing/2014/main" id="{4FC6F8A3-873E-D30F-ED81-15956AF4DDE1}"/>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8" name="AutoShape 10">
                <a:extLst>
                  <a:ext uri="{FF2B5EF4-FFF2-40B4-BE49-F238E27FC236}">
                    <a16:creationId xmlns:a16="http://schemas.microsoft.com/office/drawing/2014/main" id="{873F9745-BF3A-05EC-9963-006BA1E4FCB8}"/>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5" name="TextBox 4">
              <a:extLst>
                <a:ext uri="{FF2B5EF4-FFF2-40B4-BE49-F238E27FC236}">
                  <a16:creationId xmlns:a16="http://schemas.microsoft.com/office/drawing/2014/main" id="{58A720E4-B5DF-AE75-77DE-ABE1EA41CC4C}"/>
                </a:ext>
              </a:extLst>
            </p:cNvPr>
            <p:cNvSpPr txBox="1"/>
            <p:nvPr/>
          </p:nvSpPr>
          <p:spPr>
            <a:xfrm>
              <a:off x="1908497" y="313415"/>
              <a:ext cx="22405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Poka-Yoke Examples</a:t>
              </a:r>
            </a:p>
          </p:txBody>
        </p:sp>
      </p:grpSp>
      <p:grpSp>
        <p:nvGrpSpPr>
          <p:cNvPr id="160" name="Group 159">
            <a:extLst>
              <a:ext uri="{FF2B5EF4-FFF2-40B4-BE49-F238E27FC236}">
                <a16:creationId xmlns:a16="http://schemas.microsoft.com/office/drawing/2014/main" id="{5D56FBA9-8417-95B0-66CD-AF91EC858201}"/>
              </a:ext>
            </a:extLst>
          </p:cNvPr>
          <p:cNvGrpSpPr/>
          <p:nvPr/>
        </p:nvGrpSpPr>
        <p:grpSpPr>
          <a:xfrm>
            <a:off x="2031206" y="1690688"/>
            <a:ext cx="8129587" cy="4686300"/>
            <a:chOff x="538163" y="1431925"/>
            <a:chExt cx="8129587" cy="4686300"/>
          </a:xfrm>
        </p:grpSpPr>
        <p:pic>
          <p:nvPicPr>
            <p:cNvPr id="141" name="Picture 35" descr="pic2">
              <a:extLst>
                <a:ext uri="{FF2B5EF4-FFF2-40B4-BE49-F238E27FC236}">
                  <a16:creationId xmlns:a16="http://schemas.microsoft.com/office/drawing/2014/main" id="{6A184040-FEDA-0845-3BAC-602B875F48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3013" y="1431925"/>
              <a:ext cx="3038475" cy="458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2" name="Picture 34" descr="pic1">
              <a:extLst>
                <a:ext uri="{FF2B5EF4-FFF2-40B4-BE49-F238E27FC236}">
                  <a16:creationId xmlns:a16="http://schemas.microsoft.com/office/drawing/2014/main" id="{57F10ADF-BD52-5921-56A3-0042C60EAC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39838" y="2112963"/>
              <a:ext cx="2543175" cy="303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 name="Rectangle 3">
              <a:extLst>
                <a:ext uri="{FF2B5EF4-FFF2-40B4-BE49-F238E27FC236}">
                  <a16:creationId xmlns:a16="http://schemas.microsoft.com/office/drawing/2014/main" id="{D25E32FD-DF09-E872-581B-5E9F093AB8B9}"/>
                </a:ext>
              </a:extLst>
            </p:cNvPr>
            <p:cNvSpPr txBox="1">
              <a:spLocks noChangeArrowheads="1"/>
            </p:cNvSpPr>
            <p:nvPr/>
          </p:nvSpPr>
          <p:spPr>
            <a:xfrm>
              <a:off x="538163" y="1490663"/>
              <a:ext cx="3975100" cy="4627562"/>
            </a:xfrm>
            <a:prstGeom prst="rect">
              <a:avLst/>
            </a:prstGeom>
            <a:ln w="12700">
              <a:solidFill>
                <a:schemeClr val="tx1"/>
              </a:solidFill>
              <a:miter lim="800000"/>
              <a:headEnd/>
              <a:tailEnd/>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Wingdings" charset="0"/>
                <a:buNone/>
                <a:defRPr/>
              </a:pPr>
              <a:r>
                <a:rPr lang="en-US" sz="1600"/>
                <a:t> </a:t>
              </a:r>
            </a:p>
          </p:txBody>
        </p:sp>
        <p:sp>
          <p:nvSpPr>
            <p:cNvPr id="144" name="Rectangle 4">
              <a:extLst>
                <a:ext uri="{FF2B5EF4-FFF2-40B4-BE49-F238E27FC236}">
                  <a16:creationId xmlns:a16="http://schemas.microsoft.com/office/drawing/2014/main" id="{D6B787B1-173E-DED4-B2D7-97BFA0228B81}"/>
                </a:ext>
              </a:extLst>
            </p:cNvPr>
            <p:cNvSpPr txBox="1">
              <a:spLocks noChangeArrowheads="1"/>
            </p:cNvSpPr>
            <p:nvPr/>
          </p:nvSpPr>
          <p:spPr>
            <a:xfrm>
              <a:off x="4691063" y="1490663"/>
              <a:ext cx="3976687" cy="4611687"/>
            </a:xfrm>
            <a:prstGeom prst="rect">
              <a:avLst/>
            </a:prstGeom>
            <a:ln w="12700">
              <a:solidFill>
                <a:schemeClr val="tx1"/>
              </a:solidFill>
              <a:miter lim="800000"/>
              <a:headEnd/>
              <a:tailEnd/>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Wingdings" charset="0"/>
                <a:buNone/>
                <a:defRPr/>
              </a:pPr>
              <a:r>
                <a:rPr lang="en-US" sz="1600"/>
                <a:t> </a:t>
              </a:r>
            </a:p>
          </p:txBody>
        </p:sp>
        <p:sp>
          <p:nvSpPr>
            <p:cNvPr id="145" name="Rectangle 7">
              <a:extLst>
                <a:ext uri="{FF2B5EF4-FFF2-40B4-BE49-F238E27FC236}">
                  <a16:creationId xmlns:a16="http://schemas.microsoft.com/office/drawing/2014/main" id="{AD53AE46-BAA1-6A61-C52A-6E5466AF4872}"/>
                </a:ext>
              </a:extLst>
            </p:cNvPr>
            <p:cNvSpPr>
              <a:spLocks noChangeArrowheads="1"/>
            </p:cNvSpPr>
            <p:nvPr/>
          </p:nvSpPr>
          <p:spPr bwMode="auto">
            <a:xfrm>
              <a:off x="4900613" y="1520825"/>
              <a:ext cx="1247136"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a:latin typeface="Roboto" panose="02000000000000000000" pitchFamily="2" charset="0"/>
                  <a:ea typeface="Roboto" panose="02000000000000000000" pitchFamily="2" charset="0"/>
                </a:rPr>
                <a:t>from welding</a:t>
              </a:r>
            </a:p>
          </p:txBody>
        </p:sp>
        <p:sp>
          <p:nvSpPr>
            <p:cNvPr id="146" name="Rectangle 8">
              <a:extLst>
                <a:ext uri="{FF2B5EF4-FFF2-40B4-BE49-F238E27FC236}">
                  <a16:creationId xmlns:a16="http://schemas.microsoft.com/office/drawing/2014/main" id="{68539E77-5A09-D15F-9A87-8D36BEA219E9}"/>
                </a:ext>
              </a:extLst>
            </p:cNvPr>
            <p:cNvSpPr>
              <a:spLocks noChangeArrowheads="1"/>
            </p:cNvSpPr>
            <p:nvPr/>
          </p:nvSpPr>
          <p:spPr bwMode="auto">
            <a:xfrm>
              <a:off x="6894513" y="2425700"/>
              <a:ext cx="639599"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a:latin typeface="Roboto" panose="02000000000000000000" pitchFamily="2" charset="0"/>
                  <a:ea typeface="Roboto" panose="02000000000000000000" pitchFamily="2" charset="0"/>
                </a:rPr>
                <a:t>chute</a:t>
              </a:r>
            </a:p>
          </p:txBody>
        </p:sp>
        <p:sp>
          <p:nvSpPr>
            <p:cNvPr id="147" name="Rectangle 9">
              <a:extLst>
                <a:ext uri="{FF2B5EF4-FFF2-40B4-BE49-F238E27FC236}">
                  <a16:creationId xmlns:a16="http://schemas.microsoft.com/office/drawing/2014/main" id="{71D407BD-FB99-E806-80AA-4C1C7362FEC3}"/>
                </a:ext>
              </a:extLst>
            </p:cNvPr>
            <p:cNvSpPr>
              <a:spLocks noChangeArrowheads="1"/>
            </p:cNvSpPr>
            <p:nvPr/>
          </p:nvSpPr>
          <p:spPr bwMode="auto">
            <a:xfrm>
              <a:off x="7377113" y="3770313"/>
              <a:ext cx="968375"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a:latin typeface="Roboto" panose="02000000000000000000" pitchFamily="2" charset="0"/>
                  <a:ea typeface="Roboto" panose="02000000000000000000" pitchFamily="2" charset="0"/>
                </a:rPr>
                <a:t>to next process</a:t>
              </a:r>
            </a:p>
          </p:txBody>
        </p:sp>
        <p:sp>
          <p:nvSpPr>
            <p:cNvPr id="148" name="Rectangle 10">
              <a:extLst>
                <a:ext uri="{FF2B5EF4-FFF2-40B4-BE49-F238E27FC236}">
                  <a16:creationId xmlns:a16="http://schemas.microsoft.com/office/drawing/2014/main" id="{CAD96018-0D63-4601-4F07-16ED55A9BE67}"/>
                </a:ext>
              </a:extLst>
            </p:cNvPr>
            <p:cNvSpPr>
              <a:spLocks noChangeArrowheads="1"/>
            </p:cNvSpPr>
            <p:nvPr/>
          </p:nvSpPr>
          <p:spPr bwMode="auto">
            <a:xfrm>
              <a:off x="4938713" y="3549650"/>
              <a:ext cx="904875"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400">
                  <a:latin typeface="Roboto" panose="02000000000000000000" pitchFamily="2" charset="0"/>
                  <a:ea typeface="Roboto" panose="02000000000000000000" pitchFamily="2" charset="0"/>
                </a:rPr>
                <a:t>retrieval bin</a:t>
              </a:r>
            </a:p>
          </p:txBody>
        </p:sp>
        <p:sp>
          <p:nvSpPr>
            <p:cNvPr id="149" name="Rectangle 11">
              <a:extLst>
                <a:ext uri="{FF2B5EF4-FFF2-40B4-BE49-F238E27FC236}">
                  <a16:creationId xmlns:a16="http://schemas.microsoft.com/office/drawing/2014/main" id="{DD489F1E-5E0B-7A99-FA54-3C74DC5FD21D}"/>
                </a:ext>
              </a:extLst>
            </p:cNvPr>
            <p:cNvSpPr>
              <a:spLocks noChangeArrowheads="1"/>
            </p:cNvSpPr>
            <p:nvPr/>
          </p:nvSpPr>
          <p:spPr bwMode="auto">
            <a:xfrm>
              <a:off x="4976813" y="2822575"/>
              <a:ext cx="11205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a:latin typeface="Roboto" panose="02000000000000000000" pitchFamily="2" charset="0"/>
                  <a:ea typeface="Roboto" panose="02000000000000000000" pitchFamily="2" charset="0"/>
                </a:rPr>
                <a:t>sorting arm</a:t>
              </a:r>
            </a:p>
          </p:txBody>
        </p:sp>
        <p:sp>
          <p:nvSpPr>
            <p:cNvPr id="150" name="Rectangle 12">
              <a:extLst>
                <a:ext uri="{FF2B5EF4-FFF2-40B4-BE49-F238E27FC236}">
                  <a16:creationId xmlns:a16="http://schemas.microsoft.com/office/drawing/2014/main" id="{BC5FF013-2919-8FD3-EA7F-D25B57B5BF76}"/>
                </a:ext>
              </a:extLst>
            </p:cNvPr>
            <p:cNvSpPr>
              <a:spLocks noChangeArrowheads="1"/>
            </p:cNvSpPr>
            <p:nvPr/>
          </p:nvSpPr>
          <p:spPr bwMode="auto">
            <a:xfrm>
              <a:off x="5472113" y="4659313"/>
              <a:ext cx="11205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a:latin typeface="Roboto" panose="02000000000000000000" pitchFamily="2" charset="0"/>
                  <a:ea typeface="Roboto" panose="02000000000000000000" pitchFamily="2" charset="0"/>
                </a:rPr>
                <a:t>sorting arm</a:t>
              </a:r>
            </a:p>
          </p:txBody>
        </p:sp>
        <p:sp>
          <p:nvSpPr>
            <p:cNvPr id="151" name="Rectangle 13">
              <a:extLst>
                <a:ext uri="{FF2B5EF4-FFF2-40B4-BE49-F238E27FC236}">
                  <a16:creationId xmlns:a16="http://schemas.microsoft.com/office/drawing/2014/main" id="{3C1E0D09-8681-9A0F-BA67-06C3B6AEC665}"/>
                </a:ext>
              </a:extLst>
            </p:cNvPr>
            <p:cNvSpPr>
              <a:spLocks noChangeArrowheads="1"/>
            </p:cNvSpPr>
            <p:nvPr/>
          </p:nvSpPr>
          <p:spPr bwMode="auto">
            <a:xfrm>
              <a:off x="7173913" y="4862513"/>
              <a:ext cx="639599"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a:latin typeface="Roboto" panose="02000000000000000000" pitchFamily="2" charset="0"/>
                  <a:ea typeface="Roboto" panose="02000000000000000000" pitchFamily="2" charset="0"/>
                </a:rPr>
                <a:t>chute</a:t>
              </a:r>
            </a:p>
          </p:txBody>
        </p:sp>
        <p:sp>
          <p:nvSpPr>
            <p:cNvPr id="152" name="Rectangle 14">
              <a:extLst>
                <a:ext uri="{FF2B5EF4-FFF2-40B4-BE49-F238E27FC236}">
                  <a16:creationId xmlns:a16="http://schemas.microsoft.com/office/drawing/2014/main" id="{5680B32A-F0E5-06C4-4FF4-A2F6CD3AD58F}"/>
                </a:ext>
              </a:extLst>
            </p:cNvPr>
            <p:cNvSpPr>
              <a:spLocks noChangeArrowheads="1"/>
            </p:cNvSpPr>
            <p:nvPr/>
          </p:nvSpPr>
          <p:spPr bwMode="auto">
            <a:xfrm>
              <a:off x="6348413" y="5538788"/>
              <a:ext cx="739775"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400">
                  <a:latin typeface="Roboto" panose="02000000000000000000" pitchFamily="2" charset="0"/>
                  <a:ea typeface="Roboto" panose="02000000000000000000" pitchFamily="2" charset="0"/>
                </a:rPr>
                <a:t>good item</a:t>
              </a:r>
            </a:p>
          </p:txBody>
        </p:sp>
        <p:sp>
          <p:nvSpPr>
            <p:cNvPr id="153" name="Rectangle 15">
              <a:extLst>
                <a:ext uri="{FF2B5EF4-FFF2-40B4-BE49-F238E27FC236}">
                  <a16:creationId xmlns:a16="http://schemas.microsoft.com/office/drawing/2014/main" id="{93AF168D-83BC-99EE-1A92-239CC9BBD07C}"/>
                </a:ext>
              </a:extLst>
            </p:cNvPr>
            <p:cNvSpPr>
              <a:spLocks noChangeArrowheads="1"/>
            </p:cNvSpPr>
            <p:nvPr/>
          </p:nvSpPr>
          <p:spPr bwMode="auto">
            <a:xfrm>
              <a:off x="5357813" y="5538788"/>
              <a:ext cx="1120775"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400">
                  <a:latin typeface="Roboto" panose="02000000000000000000" pitchFamily="2" charset="0"/>
                  <a:ea typeface="Roboto" panose="02000000000000000000" pitchFamily="2" charset="0"/>
                </a:rPr>
                <a:t>unwelded bushing</a:t>
              </a:r>
            </a:p>
          </p:txBody>
        </p:sp>
        <p:sp>
          <p:nvSpPr>
            <p:cNvPr id="154" name="Rectangle 16">
              <a:extLst>
                <a:ext uri="{FF2B5EF4-FFF2-40B4-BE49-F238E27FC236}">
                  <a16:creationId xmlns:a16="http://schemas.microsoft.com/office/drawing/2014/main" id="{D56E5BEB-C364-D178-26D8-3A063F33851A}"/>
                </a:ext>
              </a:extLst>
            </p:cNvPr>
            <p:cNvSpPr>
              <a:spLocks noChangeArrowheads="1"/>
            </p:cNvSpPr>
            <p:nvPr/>
          </p:nvSpPr>
          <p:spPr bwMode="auto">
            <a:xfrm>
              <a:off x="7046913" y="2578100"/>
              <a:ext cx="639599"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a:latin typeface="Roboto" panose="02000000000000000000" pitchFamily="2" charset="0"/>
                  <a:ea typeface="Roboto" panose="02000000000000000000" pitchFamily="2" charset="0"/>
                </a:rPr>
                <a:t>chute</a:t>
              </a:r>
            </a:p>
          </p:txBody>
        </p:sp>
        <p:sp>
          <p:nvSpPr>
            <p:cNvPr id="155" name="Rectangle 18">
              <a:extLst>
                <a:ext uri="{FF2B5EF4-FFF2-40B4-BE49-F238E27FC236}">
                  <a16:creationId xmlns:a16="http://schemas.microsoft.com/office/drawing/2014/main" id="{E994E786-4DF5-8377-D05C-C16DDDCDA22A}"/>
                </a:ext>
              </a:extLst>
            </p:cNvPr>
            <p:cNvSpPr>
              <a:spLocks noChangeArrowheads="1"/>
            </p:cNvSpPr>
            <p:nvPr/>
          </p:nvSpPr>
          <p:spPr bwMode="auto">
            <a:xfrm>
              <a:off x="2653503" y="1794456"/>
              <a:ext cx="949325"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400" dirty="0">
                  <a:latin typeface="Roboto" panose="02000000000000000000" pitchFamily="2" charset="0"/>
                  <a:ea typeface="Roboto" panose="02000000000000000000" pitchFamily="2" charset="0"/>
                </a:rPr>
                <a:t>right side up</a:t>
              </a:r>
            </a:p>
          </p:txBody>
        </p:sp>
        <p:sp>
          <p:nvSpPr>
            <p:cNvPr id="156" name="Rectangle 19">
              <a:extLst>
                <a:ext uri="{FF2B5EF4-FFF2-40B4-BE49-F238E27FC236}">
                  <a16:creationId xmlns:a16="http://schemas.microsoft.com/office/drawing/2014/main" id="{B5971D35-9D01-BF45-6E3B-8D47DAC53959}"/>
                </a:ext>
              </a:extLst>
            </p:cNvPr>
            <p:cNvSpPr>
              <a:spLocks noChangeArrowheads="1"/>
            </p:cNvSpPr>
            <p:nvPr/>
          </p:nvSpPr>
          <p:spPr bwMode="auto">
            <a:xfrm>
              <a:off x="1931988" y="1999810"/>
              <a:ext cx="949325"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400" dirty="0">
                  <a:latin typeface="Roboto" panose="02000000000000000000" pitchFamily="2" charset="0"/>
                  <a:ea typeface="Roboto" panose="02000000000000000000" pitchFamily="2" charset="0"/>
                </a:rPr>
                <a:t>upside down</a:t>
              </a:r>
            </a:p>
          </p:txBody>
        </p:sp>
        <p:sp>
          <p:nvSpPr>
            <p:cNvPr id="157" name="Rectangle 20">
              <a:extLst>
                <a:ext uri="{FF2B5EF4-FFF2-40B4-BE49-F238E27FC236}">
                  <a16:creationId xmlns:a16="http://schemas.microsoft.com/office/drawing/2014/main" id="{DDF797D8-3A44-26A0-A8AD-FF9890329F9F}"/>
                </a:ext>
              </a:extLst>
            </p:cNvPr>
            <p:cNvSpPr>
              <a:spLocks noChangeArrowheads="1"/>
            </p:cNvSpPr>
            <p:nvPr/>
          </p:nvSpPr>
          <p:spPr bwMode="auto">
            <a:xfrm>
              <a:off x="2498884" y="3488087"/>
              <a:ext cx="642805"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400" dirty="0">
                  <a:latin typeface="Roboto" panose="02000000000000000000" pitchFamily="2" charset="0"/>
                  <a:ea typeface="Roboto" panose="02000000000000000000" pitchFamily="2" charset="0"/>
                </a:rPr>
                <a:t>notch</a:t>
              </a:r>
            </a:p>
          </p:txBody>
        </p:sp>
        <p:sp>
          <p:nvSpPr>
            <p:cNvPr id="158" name="Oval 21">
              <a:extLst>
                <a:ext uri="{FF2B5EF4-FFF2-40B4-BE49-F238E27FC236}">
                  <a16:creationId xmlns:a16="http://schemas.microsoft.com/office/drawing/2014/main" id="{02C55DD1-25D1-7F19-9AB1-83E86F8F4494}"/>
                </a:ext>
              </a:extLst>
            </p:cNvPr>
            <p:cNvSpPr>
              <a:spLocks noChangeArrowheads="1"/>
            </p:cNvSpPr>
            <p:nvPr/>
          </p:nvSpPr>
          <p:spPr bwMode="auto">
            <a:xfrm>
              <a:off x="7424738" y="1720850"/>
              <a:ext cx="576262" cy="54292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tIns="0" bIns="91440" anchor="b"/>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4800" baseline="-25000">
                  <a:solidFill>
                    <a:schemeClr val="bg1"/>
                  </a:solidFill>
                  <a:latin typeface="Roboto" panose="02000000000000000000" pitchFamily="2" charset="0"/>
                  <a:ea typeface="Roboto" panose="02000000000000000000" pitchFamily="2" charset="0"/>
                </a:rPr>
                <a:t>B</a:t>
              </a:r>
            </a:p>
          </p:txBody>
        </p:sp>
        <p:sp>
          <p:nvSpPr>
            <p:cNvPr id="159" name="Oval 22">
              <a:extLst>
                <a:ext uri="{FF2B5EF4-FFF2-40B4-BE49-F238E27FC236}">
                  <a16:creationId xmlns:a16="http://schemas.microsoft.com/office/drawing/2014/main" id="{B8C3886E-F548-EB36-B500-5452034E8DC0}"/>
                </a:ext>
              </a:extLst>
            </p:cNvPr>
            <p:cNvSpPr>
              <a:spLocks noChangeArrowheads="1"/>
            </p:cNvSpPr>
            <p:nvPr/>
          </p:nvSpPr>
          <p:spPr bwMode="auto">
            <a:xfrm>
              <a:off x="590550" y="4146550"/>
              <a:ext cx="576263" cy="54133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tIns="0" bIns="91440" anchor="b"/>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4800" baseline="-25000">
                  <a:solidFill>
                    <a:schemeClr val="bg1"/>
                  </a:solidFill>
                  <a:latin typeface="Roboto" panose="02000000000000000000" pitchFamily="2" charset="0"/>
                  <a:ea typeface="Roboto" panose="02000000000000000000" pitchFamily="2" charset="0"/>
                </a:rPr>
                <a:t>A</a:t>
              </a:r>
            </a:p>
          </p:txBody>
        </p:sp>
      </p:grpSp>
    </p:spTree>
    <p:extLst>
      <p:ext uri="{BB962C8B-B14F-4D97-AF65-F5344CB8AC3E}">
        <p14:creationId xmlns:p14="http://schemas.microsoft.com/office/powerpoint/2010/main" val="40773489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541B5-6FCF-44EB-7F42-1799FCC1F219}"/>
              </a:ext>
            </a:extLst>
          </p:cNvPr>
          <p:cNvSpPr>
            <a:spLocks noGrp="1"/>
          </p:cNvSpPr>
          <p:nvPr>
            <p:ph type="title"/>
          </p:nvPr>
        </p:nvSpPr>
        <p:spPr/>
        <p:txBody>
          <a:bodyPr/>
          <a:lstStyle/>
          <a:p>
            <a:r>
              <a:rPr lang="en-US" dirty="0"/>
              <a:t>Sensor</a:t>
            </a:r>
          </a:p>
        </p:txBody>
      </p:sp>
      <p:grpSp>
        <p:nvGrpSpPr>
          <p:cNvPr id="3" name="Group 2">
            <a:extLst>
              <a:ext uri="{FF2B5EF4-FFF2-40B4-BE49-F238E27FC236}">
                <a16:creationId xmlns:a16="http://schemas.microsoft.com/office/drawing/2014/main" id="{D9E84803-CAE1-A3B5-9A81-D9A216B7FD44}"/>
              </a:ext>
            </a:extLst>
          </p:cNvPr>
          <p:cNvGrpSpPr/>
          <p:nvPr/>
        </p:nvGrpSpPr>
        <p:grpSpPr>
          <a:xfrm>
            <a:off x="838200" y="297639"/>
            <a:ext cx="3310890" cy="307138"/>
            <a:chOff x="838200" y="297639"/>
            <a:chExt cx="3310890" cy="307138"/>
          </a:xfrm>
        </p:grpSpPr>
        <p:grpSp>
          <p:nvGrpSpPr>
            <p:cNvPr id="4" name="Group 3">
              <a:extLst>
                <a:ext uri="{FF2B5EF4-FFF2-40B4-BE49-F238E27FC236}">
                  <a16:creationId xmlns:a16="http://schemas.microsoft.com/office/drawing/2014/main" id="{C19AFDA2-C484-5731-4029-E38F6C629005}"/>
                </a:ext>
              </a:extLst>
            </p:cNvPr>
            <p:cNvGrpSpPr/>
            <p:nvPr/>
          </p:nvGrpSpPr>
          <p:grpSpPr>
            <a:xfrm>
              <a:off x="838200" y="297639"/>
              <a:ext cx="1060167" cy="290657"/>
              <a:chOff x="826426" y="4041857"/>
              <a:chExt cx="1060167" cy="290657"/>
            </a:xfrm>
          </p:grpSpPr>
          <p:sp>
            <p:nvSpPr>
              <p:cNvPr id="6" name="AutoShape 9">
                <a:extLst>
                  <a:ext uri="{FF2B5EF4-FFF2-40B4-BE49-F238E27FC236}">
                    <a16:creationId xmlns:a16="http://schemas.microsoft.com/office/drawing/2014/main" id="{97BBEB04-56E2-66C8-7CD1-2D3F16D608D6}"/>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7" name="AutoShape 11">
                <a:extLst>
                  <a:ext uri="{FF2B5EF4-FFF2-40B4-BE49-F238E27FC236}">
                    <a16:creationId xmlns:a16="http://schemas.microsoft.com/office/drawing/2014/main" id="{4FC6F8A3-873E-D30F-ED81-15956AF4DDE1}"/>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8" name="AutoShape 10">
                <a:extLst>
                  <a:ext uri="{FF2B5EF4-FFF2-40B4-BE49-F238E27FC236}">
                    <a16:creationId xmlns:a16="http://schemas.microsoft.com/office/drawing/2014/main" id="{873F9745-BF3A-05EC-9963-006BA1E4FCB8}"/>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5" name="TextBox 4">
              <a:extLst>
                <a:ext uri="{FF2B5EF4-FFF2-40B4-BE49-F238E27FC236}">
                  <a16:creationId xmlns:a16="http://schemas.microsoft.com/office/drawing/2014/main" id="{58A720E4-B5DF-AE75-77DE-ABE1EA41CC4C}"/>
                </a:ext>
              </a:extLst>
            </p:cNvPr>
            <p:cNvSpPr txBox="1"/>
            <p:nvPr/>
          </p:nvSpPr>
          <p:spPr>
            <a:xfrm>
              <a:off x="1908497" y="313415"/>
              <a:ext cx="22405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Poka-Yoke Examples</a:t>
              </a:r>
            </a:p>
          </p:txBody>
        </p:sp>
      </p:grpSp>
      <p:grpSp>
        <p:nvGrpSpPr>
          <p:cNvPr id="20" name="Group 19">
            <a:extLst>
              <a:ext uri="{FF2B5EF4-FFF2-40B4-BE49-F238E27FC236}">
                <a16:creationId xmlns:a16="http://schemas.microsoft.com/office/drawing/2014/main" id="{A69D6465-9F0F-EAE9-FC7B-CD53ACA816B7}"/>
              </a:ext>
            </a:extLst>
          </p:cNvPr>
          <p:cNvGrpSpPr/>
          <p:nvPr/>
        </p:nvGrpSpPr>
        <p:grpSpPr>
          <a:xfrm>
            <a:off x="1229678" y="1783428"/>
            <a:ext cx="9732645" cy="4269745"/>
            <a:chOff x="371475" y="1462088"/>
            <a:chExt cx="8458200" cy="4484684"/>
          </a:xfrm>
        </p:grpSpPr>
        <p:sp>
          <p:nvSpPr>
            <p:cNvPr id="9" name="Text Box 2">
              <a:extLst>
                <a:ext uri="{FF2B5EF4-FFF2-40B4-BE49-F238E27FC236}">
                  <a16:creationId xmlns:a16="http://schemas.microsoft.com/office/drawing/2014/main" id="{2A54CA20-606A-EE6F-69D3-5BD5586604C5}"/>
                </a:ext>
              </a:extLst>
            </p:cNvPr>
            <p:cNvSpPr txBox="1">
              <a:spLocks noChangeArrowheads="1"/>
            </p:cNvSpPr>
            <p:nvPr/>
          </p:nvSpPr>
          <p:spPr bwMode="auto">
            <a:xfrm>
              <a:off x="2895600" y="1476375"/>
              <a:ext cx="1066800" cy="61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Aft>
                  <a:spcPct val="0"/>
                </a:spcAft>
                <a:buClrTx/>
                <a:buSzTx/>
                <a:buFontTx/>
                <a:buNone/>
              </a:pPr>
              <a:endParaRPr lang="en-US" altLang="en-US" sz="3200">
                <a:latin typeface="Roboto" panose="02000000000000000000" pitchFamily="2" charset="0"/>
                <a:ea typeface="Roboto" panose="02000000000000000000" pitchFamily="2" charset="0"/>
              </a:endParaRPr>
            </a:p>
          </p:txBody>
        </p:sp>
        <p:pic>
          <p:nvPicPr>
            <p:cNvPr id="10" name="Picture 4" descr="photoelecsensor">
              <a:extLst>
                <a:ext uri="{FF2B5EF4-FFF2-40B4-BE49-F238E27FC236}">
                  <a16:creationId xmlns:a16="http://schemas.microsoft.com/office/drawing/2014/main" id="{F45E09CB-091B-9CF1-2D3B-AB33323E71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1462088"/>
              <a:ext cx="1778000" cy="177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5" descr="photoelecsensor">
              <a:extLst>
                <a:ext uri="{FF2B5EF4-FFF2-40B4-BE49-F238E27FC236}">
                  <a16:creationId xmlns:a16="http://schemas.microsoft.com/office/drawing/2014/main" id="{C828CF6F-CFC1-52F6-8643-3B601E3B1B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0" y="1462088"/>
              <a:ext cx="19050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Line 6">
              <a:extLst>
                <a:ext uri="{FF2B5EF4-FFF2-40B4-BE49-F238E27FC236}">
                  <a16:creationId xmlns:a16="http://schemas.microsoft.com/office/drawing/2014/main" id="{9685FC01-7909-AF1F-5515-868C7257DCB2}"/>
                </a:ext>
              </a:extLst>
            </p:cNvPr>
            <p:cNvSpPr>
              <a:spLocks noChangeShapeType="1"/>
            </p:cNvSpPr>
            <p:nvPr/>
          </p:nvSpPr>
          <p:spPr bwMode="auto">
            <a:xfrm flipH="1">
              <a:off x="3581400" y="2071688"/>
              <a:ext cx="1828800" cy="0"/>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3" name="Text Box 7">
              <a:extLst>
                <a:ext uri="{FF2B5EF4-FFF2-40B4-BE49-F238E27FC236}">
                  <a16:creationId xmlns:a16="http://schemas.microsoft.com/office/drawing/2014/main" id="{02A05FF2-245C-2A76-F8B4-71F7817A45DC}"/>
                </a:ext>
              </a:extLst>
            </p:cNvPr>
            <p:cNvSpPr txBox="1">
              <a:spLocks noChangeArrowheads="1"/>
            </p:cNvSpPr>
            <p:nvPr/>
          </p:nvSpPr>
          <p:spPr bwMode="auto">
            <a:xfrm>
              <a:off x="3733800" y="1614488"/>
              <a:ext cx="1600200" cy="355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sz="1600">
                  <a:solidFill>
                    <a:srgbClr val="FF0000"/>
                  </a:solidFill>
                  <a:latin typeface="Roboto" panose="02000000000000000000" pitchFamily="2" charset="0"/>
                  <a:ea typeface="Roboto" panose="02000000000000000000" pitchFamily="2" charset="0"/>
                </a:rPr>
                <a:t>Light</a:t>
              </a:r>
            </a:p>
          </p:txBody>
        </p:sp>
        <p:sp>
          <p:nvSpPr>
            <p:cNvPr id="14" name="Text Box 8">
              <a:extLst>
                <a:ext uri="{FF2B5EF4-FFF2-40B4-BE49-F238E27FC236}">
                  <a16:creationId xmlns:a16="http://schemas.microsoft.com/office/drawing/2014/main" id="{D48C22C8-A4BB-26A1-4536-B703D1BBE776}"/>
                </a:ext>
              </a:extLst>
            </p:cNvPr>
            <p:cNvSpPr txBox="1">
              <a:spLocks noChangeArrowheads="1"/>
            </p:cNvSpPr>
            <p:nvPr/>
          </p:nvSpPr>
          <p:spPr bwMode="auto">
            <a:xfrm>
              <a:off x="2286000" y="3214688"/>
              <a:ext cx="1447800" cy="323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Aft>
                  <a:spcPct val="0"/>
                </a:spcAft>
                <a:buClrTx/>
                <a:buSzTx/>
                <a:buFontTx/>
                <a:buNone/>
              </a:pPr>
              <a:r>
                <a:rPr lang="en-US" altLang="en-US" sz="1400">
                  <a:latin typeface="Roboto" panose="02000000000000000000" pitchFamily="2" charset="0"/>
                  <a:ea typeface="Roboto" panose="02000000000000000000" pitchFamily="2" charset="0"/>
                </a:rPr>
                <a:t>Transmitter</a:t>
              </a:r>
            </a:p>
          </p:txBody>
        </p:sp>
        <p:sp>
          <p:nvSpPr>
            <p:cNvPr id="15" name="Text Box 9">
              <a:extLst>
                <a:ext uri="{FF2B5EF4-FFF2-40B4-BE49-F238E27FC236}">
                  <a16:creationId xmlns:a16="http://schemas.microsoft.com/office/drawing/2014/main" id="{4B78CBCB-58F8-7D3A-53B0-7DE6797E6C5A}"/>
                </a:ext>
              </a:extLst>
            </p:cNvPr>
            <p:cNvSpPr txBox="1">
              <a:spLocks noChangeArrowheads="1"/>
            </p:cNvSpPr>
            <p:nvPr/>
          </p:nvSpPr>
          <p:spPr bwMode="auto">
            <a:xfrm>
              <a:off x="5638800" y="3214688"/>
              <a:ext cx="1828800" cy="743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Aft>
                  <a:spcPct val="0"/>
                </a:spcAft>
                <a:buClrTx/>
                <a:buSzTx/>
                <a:buFontTx/>
                <a:buNone/>
              </a:pPr>
              <a:r>
                <a:rPr lang="en-US" altLang="en-US" sz="1600">
                  <a:latin typeface="Roboto" panose="02000000000000000000" pitchFamily="2" charset="0"/>
                  <a:ea typeface="Roboto" panose="02000000000000000000" pitchFamily="2" charset="0"/>
                </a:rPr>
                <a:t>Receiver</a:t>
              </a:r>
            </a:p>
            <a:p>
              <a:pPr>
                <a:lnSpc>
                  <a:spcPct val="100000"/>
                </a:lnSpc>
                <a:spcAft>
                  <a:spcPct val="0"/>
                </a:spcAft>
                <a:buClrTx/>
                <a:buSzTx/>
                <a:buFontTx/>
                <a:buNone/>
              </a:pPr>
              <a:endParaRPr lang="en-US" altLang="en-US" sz="1600">
                <a:latin typeface="Roboto" panose="02000000000000000000" pitchFamily="2" charset="0"/>
                <a:ea typeface="Roboto" panose="02000000000000000000" pitchFamily="2" charset="0"/>
              </a:endParaRPr>
            </a:p>
          </p:txBody>
        </p:sp>
        <p:sp>
          <p:nvSpPr>
            <p:cNvPr id="16" name="AutoShape 10">
              <a:extLst>
                <a:ext uri="{FF2B5EF4-FFF2-40B4-BE49-F238E27FC236}">
                  <a16:creationId xmlns:a16="http://schemas.microsoft.com/office/drawing/2014/main" id="{93931370-818E-0CF1-8903-8BC97D230786}"/>
                </a:ext>
              </a:extLst>
            </p:cNvPr>
            <p:cNvSpPr>
              <a:spLocks noChangeArrowheads="1"/>
            </p:cNvSpPr>
            <p:nvPr/>
          </p:nvSpPr>
          <p:spPr bwMode="auto">
            <a:xfrm>
              <a:off x="3886200" y="3976688"/>
              <a:ext cx="1219200" cy="1371600"/>
            </a:xfrm>
            <a:prstGeom prst="cube">
              <a:avLst>
                <a:gd name="adj" fmla="val 25000"/>
              </a:avLst>
            </a:prstGeom>
            <a:solidFill>
              <a:srgbClr val="FF0000"/>
            </a:solidFill>
            <a:ln w="38100">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7" name="Line 11">
              <a:extLst>
                <a:ext uri="{FF2B5EF4-FFF2-40B4-BE49-F238E27FC236}">
                  <a16:creationId xmlns:a16="http://schemas.microsoft.com/office/drawing/2014/main" id="{339460A5-1250-F261-379E-A57976AA576D}"/>
                </a:ext>
              </a:extLst>
            </p:cNvPr>
            <p:cNvSpPr>
              <a:spLocks noChangeShapeType="1"/>
            </p:cNvSpPr>
            <p:nvPr/>
          </p:nvSpPr>
          <p:spPr bwMode="auto">
            <a:xfrm flipV="1">
              <a:off x="4495800" y="2224088"/>
              <a:ext cx="0" cy="17526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8" name="Text Box 12">
              <a:extLst>
                <a:ext uri="{FF2B5EF4-FFF2-40B4-BE49-F238E27FC236}">
                  <a16:creationId xmlns:a16="http://schemas.microsoft.com/office/drawing/2014/main" id="{BB1E9BFA-5B79-B63D-3D1C-7EA0D14712F6}"/>
                </a:ext>
              </a:extLst>
            </p:cNvPr>
            <p:cNvSpPr txBox="1">
              <a:spLocks noChangeArrowheads="1"/>
            </p:cNvSpPr>
            <p:nvPr/>
          </p:nvSpPr>
          <p:spPr bwMode="auto">
            <a:xfrm>
              <a:off x="3886200" y="4614938"/>
              <a:ext cx="914400" cy="323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Object</a:t>
              </a:r>
            </a:p>
          </p:txBody>
        </p:sp>
        <p:sp>
          <p:nvSpPr>
            <p:cNvPr id="19" name="Text Box 13">
              <a:extLst>
                <a:ext uri="{FF2B5EF4-FFF2-40B4-BE49-F238E27FC236}">
                  <a16:creationId xmlns:a16="http://schemas.microsoft.com/office/drawing/2014/main" id="{681C5D9A-9BCA-EA20-E884-FDCA14962FF8}"/>
                </a:ext>
              </a:extLst>
            </p:cNvPr>
            <p:cNvSpPr txBox="1">
              <a:spLocks noChangeArrowheads="1"/>
            </p:cNvSpPr>
            <p:nvPr/>
          </p:nvSpPr>
          <p:spPr bwMode="auto">
            <a:xfrm>
              <a:off x="371475" y="5591175"/>
              <a:ext cx="8458200" cy="355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sz="1600" dirty="0">
                  <a:latin typeface="Roboto" panose="02000000000000000000" pitchFamily="2" charset="0"/>
                  <a:ea typeface="Roboto" panose="02000000000000000000" pitchFamily="2" charset="0"/>
                </a:rPr>
                <a:t>If object breaks the transmission, the machine is signaled to shut down</a:t>
              </a:r>
              <a:endParaRPr lang="en-US" altLang="en-US" sz="2000" b="0" dirty="0">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8874509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4000" dirty="0"/>
              <a:t>Review Exercise</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sz="3600" dirty="0"/>
              <a:t>2 Minute Review</a:t>
            </a:r>
          </a:p>
          <a:p>
            <a:pPr lvl="1"/>
            <a:r>
              <a:rPr lang="en-US" sz="3200" dirty="0"/>
              <a:t>In pairs, or in small groups, spend 5 minutes discussing key learnings and take-aways from this Poka-yoke Event thus far</a:t>
            </a:r>
          </a:p>
          <a:p>
            <a:pPr lvl="1"/>
            <a:r>
              <a:rPr lang="en-US" sz="3200" dirty="0"/>
              <a:t>One person from each group will share one learning that was discussed with the rest of the class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53</a:t>
            </a:fld>
            <a:endParaRPr lang="en-US"/>
          </a:p>
        </p:txBody>
      </p:sp>
      <p:grpSp>
        <p:nvGrpSpPr>
          <p:cNvPr id="11" name="Group 10">
            <a:extLst>
              <a:ext uri="{FF2B5EF4-FFF2-40B4-BE49-F238E27FC236}">
                <a16:creationId xmlns:a16="http://schemas.microsoft.com/office/drawing/2014/main" id="{2AF5B0C8-B3F1-80B5-17CD-6AE217CA3879}"/>
              </a:ext>
            </a:extLst>
          </p:cNvPr>
          <p:cNvGrpSpPr/>
          <p:nvPr/>
        </p:nvGrpSpPr>
        <p:grpSpPr>
          <a:xfrm>
            <a:off x="838200" y="297639"/>
            <a:ext cx="3310890" cy="307138"/>
            <a:chOff x="838200" y="297639"/>
            <a:chExt cx="3310890" cy="307138"/>
          </a:xfrm>
        </p:grpSpPr>
        <p:grpSp>
          <p:nvGrpSpPr>
            <p:cNvPr id="12" name="Group 11">
              <a:extLst>
                <a:ext uri="{FF2B5EF4-FFF2-40B4-BE49-F238E27FC236}">
                  <a16:creationId xmlns:a16="http://schemas.microsoft.com/office/drawing/2014/main" id="{B09C654A-FAB3-79B3-ADA0-03FEAA5B2D80}"/>
                </a:ext>
              </a:extLst>
            </p:cNvPr>
            <p:cNvGrpSpPr/>
            <p:nvPr/>
          </p:nvGrpSpPr>
          <p:grpSpPr>
            <a:xfrm>
              <a:off x="838200" y="297639"/>
              <a:ext cx="1060167" cy="290657"/>
              <a:chOff x="826426" y="4041857"/>
              <a:chExt cx="1060167" cy="290657"/>
            </a:xfrm>
          </p:grpSpPr>
          <p:sp>
            <p:nvSpPr>
              <p:cNvPr id="14" name="AutoShape 9">
                <a:extLst>
                  <a:ext uri="{FF2B5EF4-FFF2-40B4-BE49-F238E27FC236}">
                    <a16:creationId xmlns:a16="http://schemas.microsoft.com/office/drawing/2014/main" id="{91BC1AB0-E9E6-6850-A2BB-4C1E1B583130}"/>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5" name="AutoShape 11">
                <a:extLst>
                  <a:ext uri="{FF2B5EF4-FFF2-40B4-BE49-F238E27FC236}">
                    <a16:creationId xmlns:a16="http://schemas.microsoft.com/office/drawing/2014/main" id="{1A0B6771-3CC5-2F83-2235-4D34702F1A2A}"/>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6" name="AutoShape 10">
                <a:extLst>
                  <a:ext uri="{FF2B5EF4-FFF2-40B4-BE49-F238E27FC236}">
                    <a16:creationId xmlns:a16="http://schemas.microsoft.com/office/drawing/2014/main" id="{D979357B-A0C3-4A8F-18A9-914A3339CDF8}"/>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3" name="TextBox 12">
              <a:extLst>
                <a:ext uri="{FF2B5EF4-FFF2-40B4-BE49-F238E27FC236}">
                  <a16:creationId xmlns:a16="http://schemas.microsoft.com/office/drawing/2014/main" id="{BCCBB8D9-3B24-DD44-D93C-956822655688}"/>
                </a:ext>
              </a:extLst>
            </p:cNvPr>
            <p:cNvSpPr txBox="1"/>
            <p:nvPr/>
          </p:nvSpPr>
          <p:spPr>
            <a:xfrm>
              <a:off x="1908497" y="313415"/>
              <a:ext cx="22405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Poka-Yoke Examples</a:t>
              </a:r>
            </a:p>
          </p:txBody>
        </p:sp>
      </p:grpSp>
    </p:spTree>
    <p:extLst>
      <p:ext uri="{BB962C8B-B14F-4D97-AF65-F5344CB8AC3E}">
        <p14:creationId xmlns:p14="http://schemas.microsoft.com/office/powerpoint/2010/main" val="203416492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4000" dirty="0"/>
              <a:t>Summary</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sz="3600" dirty="0"/>
              <a:t>Zero defects is possible</a:t>
            </a:r>
          </a:p>
          <a:p>
            <a:r>
              <a:rPr lang="en-US" sz="3600" dirty="0"/>
              <a:t>All processes can become error free</a:t>
            </a:r>
          </a:p>
          <a:p>
            <a:r>
              <a:rPr lang="en-US" sz="3600" dirty="0"/>
              <a:t>Seek out the root cause</a:t>
            </a:r>
          </a:p>
          <a:p>
            <a:r>
              <a:rPr lang="en-US" sz="3600" dirty="0"/>
              <a:t>Look for Red Flag Conditions</a:t>
            </a:r>
          </a:p>
          <a:p>
            <a:r>
              <a:rPr lang="en-US" sz="3600"/>
              <a:t>Poka-yoke is a change in attitude</a:t>
            </a:r>
            <a:endParaRPr lang="en-US" sz="3600"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54</a:t>
            </a:fld>
            <a:endParaRPr lang="en-US"/>
          </a:p>
        </p:txBody>
      </p:sp>
      <p:grpSp>
        <p:nvGrpSpPr>
          <p:cNvPr id="11" name="Group 10">
            <a:extLst>
              <a:ext uri="{FF2B5EF4-FFF2-40B4-BE49-F238E27FC236}">
                <a16:creationId xmlns:a16="http://schemas.microsoft.com/office/drawing/2014/main" id="{2AF5B0C8-B3F1-80B5-17CD-6AE217CA3879}"/>
              </a:ext>
            </a:extLst>
          </p:cNvPr>
          <p:cNvGrpSpPr/>
          <p:nvPr/>
        </p:nvGrpSpPr>
        <p:grpSpPr>
          <a:xfrm>
            <a:off x="838200" y="297639"/>
            <a:ext cx="3310890" cy="307138"/>
            <a:chOff x="838200" y="297639"/>
            <a:chExt cx="3310890" cy="307138"/>
          </a:xfrm>
        </p:grpSpPr>
        <p:grpSp>
          <p:nvGrpSpPr>
            <p:cNvPr id="12" name="Group 11">
              <a:extLst>
                <a:ext uri="{FF2B5EF4-FFF2-40B4-BE49-F238E27FC236}">
                  <a16:creationId xmlns:a16="http://schemas.microsoft.com/office/drawing/2014/main" id="{B09C654A-FAB3-79B3-ADA0-03FEAA5B2D80}"/>
                </a:ext>
              </a:extLst>
            </p:cNvPr>
            <p:cNvGrpSpPr/>
            <p:nvPr/>
          </p:nvGrpSpPr>
          <p:grpSpPr>
            <a:xfrm>
              <a:off x="838200" y="297639"/>
              <a:ext cx="1060167" cy="290657"/>
              <a:chOff x="826426" y="4041857"/>
              <a:chExt cx="1060167" cy="290657"/>
            </a:xfrm>
          </p:grpSpPr>
          <p:sp>
            <p:nvSpPr>
              <p:cNvPr id="14" name="AutoShape 9">
                <a:extLst>
                  <a:ext uri="{FF2B5EF4-FFF2-40B4-BE49-F238E27FC236}">
                    <a16:creationId xmlns:a16="http://schemas.microsoft.com/office/drawing/2014/main" id="{91BC1AB0-E9E6-6850-A2BB-4C1E1B583130}"/>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5" name="AutoShape 11">
                <a:extLst>
                  <a:ext uri="{FF2B5EF4-FFF2-40B4-BE49-F238E27FC236}">
                    <a16:creationId xmlns:a16="http://schemas.microsoft.com/office/drawing/2014/main" id="{1A0B6771-3CC5-2F83-2235-4D34702F1A2A}"/>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6" name="AutoShape 10">
                <a:extLst>
                  <a:ext uri="{FF2B5EF4-FFF2-40B4-BE49-F238E27FC236}">
                    <a16:creationId xmlns:a16="http://schemas.microsoft.com/office/drawing/2014/main" id="{D979357B-A0C3-4A8F-18A9-914A3339CDF8}"/>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3" name="TextBox 12">
              <a:extLst>
                <a:ext uri="{FF2B5EF4-FFF2-40B4-BE49-F238E27FC236}">
                  <a16:creationId xmlns:a16="http://schemas.microsoft.com/office/drawing/2014/main" id="{BCCBB8D9-3B24-DD44-D93C-956822655688}"/>
                </a:ext>
              </a:extLst>
            </p:cNvPr>
            <p:cNvSpPr txBox="1"/>
            <p:nvPr/>
          </p:nvSpPr>
          <p:spPr>
            <a:xfrm>
              <a:off x="1908497" y="313415"/>
              <a:ext cx="22405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Poka-Yoke Examples</a:t>
              </a:r>
            </a:p>
          </p:txBody>
        </p:sp>
      </p:grpSp>
    </p:spTree>
    <p:extLst>
      <p:ext uri="{BB962C8B-B14F-4D97-AF65-F5344CB8AC3E}">
        <p14:creationId xmlns:p14="http://schemas.microsoft.com/office/powerpoint/2010/main" val="41132160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a:cs typeface="Roboto"/>
              </a:rPr>
              <a:t>Other</a:t>
            </a:r>
            <a:r>
              <a:rPr lang="en-US" dirty="0">
                <a:solidFill>
                  <a:schemeClr val="tx1"/>
                </a:solidFill>
                <a:latin typeface="Roboto Medium"/>
                <a:cs typeface="Roboto Medium"/>
              </a:rPr>
              <a:t>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3"/>
          <a:stretch>
            <a:fillRect/>
          </a:stretch>
        </p:blipFill>
        <p:spPr>
          <a:xfrm>
            <a:off x="605117" y="1638489"/>
            <a:ext cx="3939240" cy="45719"/>
          </a:xfrm>
          <a:prstGeom prst="rect">
            <a:avLst/>
          </a:prstGeom>
        </p:spPr>
      </p:pic>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583925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pic>
        <p:nvPicPr>
          <p:cNvPr id="11" name="Picture 10">
            <a:extLst>
              <a:ext uri="{FF2B5EF4-FFF2-40B4-BE49-F238E27FC236}">
                <a16:creationId xmlns:a16="http://schemas.microsoft.com/office/drawing/2014/main" id="{11F73560-3A07-DDBC-A93D-9C2969C3C8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
        <p:nvSpPr>
          <p:cNvPr id="18" name="Slide Number Placeholder 17">
            <a:extLst>
              <a:ext uri="{FF2B5EF4-FFF2-40B4-BE49-F238E27FC236}">
                <a16:creationId xmlns:a16="http://schemas.microsoft.com/office/drawing/2014/main" id="{F71C8E8F-D781-AA13-E1D1-E5284A242753}"/>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55</a:t>
            </a:fld>
            <a:endParaRPr lang="en-US" dirty="0"/>
          </a:p>
        </p:txBody>
      </p:sp>
    </p:spTree>
    <p:extLst>
      <p:ext uri="{BB962C8B-B14F-4D97-AF65-F5344CB8AC3E}">
        <p14:creationId xmlns:p14="http://schemas.microsoft.com/office/powerpoint/2010/main" val="3535763947"/>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EE3228"/>
      </a:accent1>
      <a:accent2>
        <a:srgbClr val="FDCA40"/>
      </a:accent2>
      <a:accent3>
        <a:srgbClr val="939598"/>
      </a:accent3>
      <a:accent4>
        <a:srgbClr val="76939F"/>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14116</TotalTime>
  <Words>4251</Words>
  <Application>Microsoft Office PowerPoint</Application>
  <PresentationFormat>Widescreen</PresentationFormat>
  <Paragraphs>691</Paragraphs>
  <Slides>55</Slides>
  <Notes>55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55</vt:i4>
      </vt:variant>
    </vt:vector>
  </HeadingPairs>
  <TitlesOfParts>
    <vt:vector size="63" baseType="lpstr">
      <vt:lpstr>Arial</vt:lpstr>
      <vt:lpstr>Baskerville</vt:lpstr>
      <vt:lpstr>Calibri</vt:lpstr>
      <vt:lpstr>Roboto</vt:lpstr>
      <vt:lpstr>Roboto Medium</vt:lpstr>
      <vt:lpstr>Wingdings</vt:lpstr>
      <vt:lpstr>Wingdings 2</vt:lpstr>
      <vt:lpstr>Office Theme</vt:lpstr>
      <vt:lpstr>PowerPoint Presentation</vt:lpstr>
      <vt:lpstr>PowerPoint Presentation</vt:lpstr>
      <vt:lpstr>PowerPoint Presentation</vt:lpstr>
      <vt:lpstr>Ground Rules for Event</vt:lpstr>
      <vt:lpstr>Goal of Poka-Yoke Module</vt:lpstr>
      <vt:lpstr>How did we get here?</vt:lpstr>
      <vt:lpstr>How did we get here?</vt:lpstr>
      <vt:lpstr>Poka-Yoke: Error-Proofing</vt:lpstr>
      <vt:lpstr>Poka-Yoke Philosophy</vt:lpstr>
      <vt:lpstr>The Five Elements of Production</vt:lpstr>
      <vt:lpstr>Why is Poka-Yoke an important concept?</vt:lpstr>
      <vt:lpstr>Error-Proofing</vt:lpstr>
      <vt:lpstr>Exercise: Poka-Yoke Charter Review</vt:lpstr>
      <vt:lpstr>Zero Defect Quality System</vt:lpstr>
      <vt:lpstr>Discussion</vt:lpstr>
      <vt:lpstr>What causes defects?</vt:lpstr>
      <vt:lpstr>Defects and Human Errors</vt:lpstr>
      <vt:lpstr>What is a Zero Defect Quality (ZDQ) System?</vt:lpstr>
      <vt:lpstr>ZDQ Components</vt:lpstr>
      <vt:lpstr>ZDQ Components</vt:lpstr>
      <vt:lpstr>Point of Origin Inspection</vt:lpstr>
      <vt:lpstr>ZDQ Components</vt:lpstr>
      <vt:lpstr>100% Inspection</vt:lpstr>
      <vt:lpstr>ZDQ Components</vt:lpstr>
      <vt:lpstr>Immediate Feedback</vt:lpstr>
      <vt:lpstr>ZDQ Components</vt:lpstr>
      <vt:lpstr>Poka-Yoke</vt:lpstr>
      <vt:lpstr>The 7 Steps of Poka-Yoke</vt:lpstr>
      <vt:lpstr>7 Steps of Poka-Yoke</vt:lpstr>
      <vt:lpstr>Red Flag Conditions are conditions which normally provoke errors</vt:lpstr>
      <vt:lpstr>Red Flag Conditions (continued)</vt:lpstr>
      <vt:lpstr>Errors may either be prevented or detected</vt:lpstr>
      <vt:lpstr>Control (Shutdown) Prevention and Detection Examples</vt:lpstr>
      <vt:lpstr>Warning Prevention and Detection Examples</vt:lpstr>
      <vt:lpstr>Error-Proofing Contact Methods</vt:lpstr>
      <vt:lpstr>Error-Proofing Fixed Value Methods</vt:lpstr>
      <vt:lpstr>Error-Proofing Motion-Step Methods</vt:lpstr>
      <vt:lpstr>Develop a Line-Stop Support Plan</vt:lpstr>
      <vt:lpstr>When you can’t error-proof – Improve Visual Management</vt:lpstr>
      <vt:lpstr>Error-Proofing Summary</vt:lpstr>
      <vt:lpstr>Poka-Yoke Examples</vt:lpstr>
      <vt:lpstr>Types of Poka-Yoke Devices</vt:lpstr>
      <vt:lpstr>Guide</vt:lpstr>
      <vt:lpstr>Template</vt:lpstr>
      <vt:lpstr>Limit Switch</vt:lpstr>
      <vt:lpstr>Counting Method</vt:lpstr>
      <vt:lpstr>Odd Part Out</vt:lpstr>
      <vt:lpstr>Sequence Restriction</vt:lpstr>
      <vt:lpstr>Standardize and Solve</vt:lpstr>
      <vt:lpstr>Critical Condition Detector</vt:lpstr>
      <vt:lpstr>Delivery (Detect) Chute</vt:lpstr>
      <vt:lpstr>Sensor</vt:lpstr>
      <vt:lpstr>Review Exercise</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Justin Santiago</dc:creator>
  <cp:lastModifiedBy>Scott DeLuzio</cp:lastModifiedBy>
  <cp:revision>420</cp:revision>
  <dcterms:created xsi:type="dcterms:W3CDTF">2023-02-08T22:10:20Z</dcterms:created>
  <dcterms:modified xsi:type="dcterms:W3CDTF">2023-09-29T22:23:59Z</dcterms:modified>
</cp:coreProperties>
</file>